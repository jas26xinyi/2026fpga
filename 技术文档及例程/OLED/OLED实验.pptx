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23"/>
  </p:notesMasterIdLst>
  <p:sldIdLst>
    <p:sldId id="257" r:id="rId2"/>
    <p:sldId id="258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23" r:id="rId11"/>
    <p:sldId id="327" r:id="rId12"/>
    <p:sldId id="324" r:id="rId13"/>
    <p:sldId id="325" r:id="rId14"/>
    <p:sldId id="328" r:id="rId15"/>
    <p:sldId id="318" r:id="rId16"/>
    <p:sldId id="319" r:id="rId17"/>
    <p:sldId id="320" r:id="rId18"/>
    <p:sldId id="322" r:id="rId19"/>
    <p:sldId id="329" r:id="rId20"/>
    <p:sldId id="330" r:id="rId21"/>
    <p:sldId id="26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7" autoAdjust="0"/>
    <p:restoredTop sz="70888" autoAdjust="0"/>
  </p:normalViewPr>
  <p:slideViewPr>
    <p:cSldViewPr snapToGrid="0">
      <p:cViewPr varScale="1">
        <p:scale>
          <a:sx n="115" d="100"/>
          <a:sy n="115" d="100"/>
        </p:scale>
        <p:origin x="11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15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0ACD3-AF1A-4431-809B-C7256590095B}" type="datetimeFigureOut">
              <a:rPr lang="zh-CN" altLang="en-US" smtClean="0"/>
              <a:t>2024/8/24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F6323-2A76-44A2-8495-CD733F432C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1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3-wire serial interface consists of serial clock SCLK, serial data SDIN and CS#.</a:t>
            </a:r>
            <a:br>
              <a:rPr lang="en-US" altLang="zh-CN" dirty="0"/>
            </a:br>
            <a:r>
              <a:rPr lang="en-US" altLang="zh-CN" dirty="0"/>
              <a:t>In 3-wire SPI mode, D0 acts as SCLK, D1 acts as SDIN. For the unused data pins, D2 should be left open.</a:t>
            </a:r>
            <a:br>
              <a:rPr lang="en-US" altLang="zh-CN" dirty="0"/>
            </a:br>
            <a:r>
              <a:rPr lang="en-US" altLang="zh-CN" dirty="0"/>
              <a:t>The pins from D3 to D7, R/W# (WR#)#, E and D/C# can be connected to an external ground.</a:t>
            </a:r>
            <a:br>
              <a:rPr lang="en-US" altLang="zh-CN" dirty="0"/>
            </a:br>
            <a:r>
              <a:rPr lang="en-US" altLang="zh-CN" dirty="0"/>
              <a:t>The operation is similar to 4-wire serial interface while D/C# pin is not used. There are altogether 9-bits will</a:t>
            </a:r>
            <a:br>
              <a:rPr lang="en-US" altLang="zh-CN" dirty="0"/>
            </a:br>
            <a:r>
              <a:rPr lang="en-US" altLang="zh-CN" dirty="0"/>
              <a:t>be shifted into the shift register on every ninth clock in sequence: D/C# bit, D7 to D0 bit. The D/C# bit (first</a:t>
            </a:r>
            <a:br>
              <a:rPr lang="en-US" altLang="zh-CN" dirty="0"/>
            </a:br>
            <a:r>
              <a:rPr lang="en-US" altLang="zh-CN" dirty="0"/>
              <a:t>bit of the sequential data) will determine the following data byte in the shift register is written to the Display</a:t>
            </a:r>
            <a:br>
              <a:rPr lang="en-US" altLang="zh-CN" dirty="0"/>
            </a:br>
            <a:r>
              <a:rPr lang="en-US" altLang="zh-CN" dirty="0"/>
              <a:t>Data RAM (D/C# bit = 1) or the command register (D/C# bit = 0). Under serial mode, only write operations</a:t>
            </a:r>
            <a:br>
              <a:rPr lang="en-US" altLang="zh-CN" dirty="0"/>
            </a:br>
            <a:r>
              <a:rPr lang="en-US" altLang="zh-CN" dirty="0"/>
              <a:t>are allowed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6323-2A76-44A2-8495-CD733F432C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9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6323-2A76-44A2-8495-CD733F432C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80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9" t="2" b="-143"/>
          <a:stretch>
            <a:fillRect/>
          </a:stretch>
        </p:blipFill>
        <p:spPr bwMode="auto">
          <a:xfrm>
            <a:off x="-15875" y="-39688"/>
            <a:ext cx="12207875" cy="456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5307013"/>
            <a:ext cx="2322512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11"/>
          <p:cNvCxnSpPr>
            <a:cxnSpLocks noChangeShapeType="1"/>
          </p:cNvCxnSpPr>
          <p:nvPr/>
        </p:nvCxnSpPr>
        <p:spPr bwMode="auto">
          <a:xfrm flipH="1">
            <a:off x="3100388" y="5273675"/>
            <a:ext cx="1587" cy="612775"/>
          </a:xfrm>
          <a:prstGeom prst="line">
            <a:avLst/>
          </a:prstGeom>
          <a:noFill/>
          <a:ln w="9525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Rectangle 13"/>
          <p:cNvSpPr>
            <a:spLocks noChangeArrowheads="1"/>
          </p:cNvSpPr>
          <p:nvPr/>
        </p:nvSpPr>
        <p:spPr bwMode="auto">
          <a:xfrm flipV="1">
            <a:off x="0" y="4476750"/>
            <a:ext cx="12192000" cy="26988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图片 7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63" y="5224463"/>
            <a:ext cx="690562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7300" y="5055935"/>
            <a:ext cx="7124700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9729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2297113"/>
            <a:ext cx="12206288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4"/>
          <p:cNvSpPr>
            <a:spLocks noChangeArrowheads="1"/>
          </p:cNvSpPr>
          <p:nvPr/>
        </p:nvSpPr>
        <p:spPr bwMode="auto">
          <a:xfrm flipV="1">
            <a:off x="-14288" y="2297113"/>
            <a:ext cx="147638" cy="205263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>
            <a:spLocks noChangeAspect="1" noChangeArrowheads="1"/>
          </p:cNvSpPr>
          <p:nvPr/>
        </p:nvSpPr>
        <p:spPr bwMode="auto">
          <a:xfrm>
            <a:off x="0" y="0"/>
            <a:ext cx="12192000" cy="323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984736"/>
            <a:ext cx="109728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noProof="1"/>
              <a:t>Click to edit Master title style</a:t>
            </a:r>
            <a:endParaRPr lang="en-US" noProof="1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72637A9-7A9D-4326-80E1-8DBE95A1BA0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64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4420"/>
            <a:ext cx="10978195" cy="5154929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355">
              <a:lnSpc>
                <a:spcPct val="110000"/>
              </a:lnSpc>
              <a:defRPr sz="1400"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5281"/>
            <a:ext cx="109728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noProof="1"/>
              <a:t>Click to edit Master title style</a:t>
            </a:r>
            <a:endParaRPr lang="en-US" noProof="1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3E779-047E-4F8E-A1E6-6D4A4DA0D3F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609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627063" y="160338"/>
            <a:ext cx="5205412" cy="369887"/>
          </a:xfrm>
          <a:prstGeom prst="rect">
            <a:avLst/>
          </a:prstGeom>
          <a:solidFill>
            <a:srgbClr val="D9D9D9">
              <a:alpha val="84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642938" y="5411788"/>
            <a:ext cx="5205412" cy="230187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noProof="1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808038"/>
            <a:ext cx="248602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78F6A29C-7CFA-4A20-887F-0A0D650A83F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25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20408B3-FEBC-4F60-AB3C-AF4EC4D3A0E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2932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5281"/>
            <a:ext cx="10972800" cy="5327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altLang="zh-CN" noProof="1"/>
              <a:t>Click to edit Master title style</a:t>
            </a:r>
            <a:endParaRPr lang="en-US" noProof="1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45E4708-4C24-48A0-8EFA-DF0BB683E4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967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5302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600200"/>
            <a:ext cx="10566400" cy="4419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5C514-A25F-49D5-A4F3-88E9F326335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4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58140"/>
            <a:ext cx="10972800" cy="5302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2E498-119F-4A00-B797-CBB57BD1809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21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87033"/>
            <a:ext cx="10972800" cy="5302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5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838200" y="4076700"/>
            <a:ext cx="10515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6C861-0A58-411C-9904-F3EEB648CE2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3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noProof="1"/>
              <a:t>Click to edit Master title style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noProof="1"/>
              <a:t>Click to edit Master subtitle style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9D5E6-0779-4FBE-A349-DA9496993E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7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 fontAlgn="auto"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fontAlgn="auto"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DDAD1-500F-4609-B313-3E734B29CB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4067"/>
      </p:ext>
    </p:extLst>
  </p:cSld>
  <p:clrMapOvr>
    <a:masterClrMapping/>
  </p:clrMapOvr>
  <p:transition>
    <p:pull dir="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3"/>
          <p:cNvSpPr>
            <a:spLocks noChangeArrowheads="1"/>
          </p:cNvSpPr>
          <p:nvPr/>
        </p:nvSpPr>
        <p:spPr bwMode="auto">
          <a:xfrm>
            <a:off x="641350" y="0"/>
            <a:ext cx="11550650" cy="15240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346075"/>
            <a:ext cx="109728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ChangeArrowheads="1"/>
          </p:cNvSpPr>
          <p:nvPr/>
        </p:nvSpPr>
        <p:spPr bwMode="auto">
          <a:xfrm>
            <a:off x="0" y="0"/>
            <a:ext cx="641350" cy="1524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00" y="6577013"/>
            <a:ext cx="11176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800" kern="1200" noProof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CF2A3872-F5B4-4042-85E5-C5E005278C2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0" name="矩形 5"/>
          <p:cNvSpPr>
            <a:spLocks noChangeArrowheads="1"/>
          </p:cNvSpPr>
          <p:nvPr userDrawn="1"/>
        </p:nvSpPr>
        <p:spPr bwMode="auto">
          <a:xfrm>
            <a:off x="9077325" y="6529388"/>
            <a:ext cx="2982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大学合作部 </a:t>
            </a:r>
            <a:r>
              <a:rPr lang="en-US" altLang="zh-CN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6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</a:t>
            </a:r>
            <a:endParaRPr lang="zh-CN" altLang="en-US" sz="16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40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eaLnBrk="0" fontAlgn="base" hangingPunct="0">
        <a:lnSpc>
          <a:spcPct val="98000"/>
        </a:lnSpc>
        <a:spcBef>
          <a:spcPct val="0"/>
        </a:spcBef>
        <a:spcAft>
          <a:spcPct val="0"/>
        </a:spcAft>
        <a:defRPr lang="en-US" sz="3200" dirty="0">
          <a:solidFill>
            <a:srgbClr val="40404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lnSpc>
          <a:spcPct val="98000"/>
        </a:lnSpc>
        <a:spcBef>
          <a:spcPct val="0"/>
        </a:spcBef>
        <a:spcAft>
          <a:spcPct val="0"/>
        </a:spcAft>
        <a:defRPr sz="3200"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rtl="0" eaLnBrk="0" fontAlgn="base" hangingPunct="0">
        <a:lnSpc>
          <a:spcPct val="98000"/>
        </a:lnSpc>
        <a:spcBef>
          <a:spcPct val="0"/>
        </a:spcBef>
        <a:spcAft>
          <a:spcPct val="0"/>
        </a:spcAft>
        <a:defRPr sz="3200"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rtl="0" eaLnBrk="0" fontAlgn="base" hangingPunct="0">
        <a:lnSpc>
          <a:spcPct val="98000"/>
        </a:lnSpc>
        <a:spcBef>
          <a:spcPct val="0"/>
        </a:spcBef>
        <a:spcAft>
          <a:spcPct val="0"/>
        </a:spcAft>
        <a:defRPr sz="3200"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rtl="0" eaLnBrk="0" fontAlgn="base" hangingPunct="0">
        <a:lnSpc>
          <a:spcPct val="98000"/>
        </a:lnSpc>
        <a:spcBef>
          <a:spcPct val="0"/>
        </a:spcBef>
        <a:spcAft>
          <a:spcPct val="0"/>
        </a:spcAft>
        <a:defRPr sz="3200"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anose="05000000000000000000" pitchFamily="2" charset="2"/>
        <a:buBlip>
          <a:blip r:embed="rId13"/>
        </a:buBlip>
        <a:defRPr lang="en-US" sz="2000" b="1" dirty="0">
          <a:solidFill>
            <a:srgbClr val="3F3F3F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dirty="0">
          <a:solidFill>
            <a:schemeClr val="tx1"/>
          </a:solidFill>
          <a:latin typeface="+mn-lt"/>
          <a:ea typeface="+mn-ea"/>
          <a:cs typeface="+mn-cs"/>
        </a:defRPr>
      </a:lvl2pPr>
      <a:lvl3pPr marL="855980" indent="-1701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dirty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lang="en-US" sz="1600" dirty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dirty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28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255137" y="1059868"/>
            <a:ext cx="5427518" cy="2504214"/>
          </a:xfrm>
        </p:spPr>
        <p:txBody>
          <a:bodyPr/>
          <a:lstStyle/>
          <a:p>
            <a:pPr algn="r">
              <a:lnSpc>
                <a:spcPct val="100000"/>
              </a:lnSpc>
              <a:spcBef>
                <a:spcPts val="2400"/>
              </a:spcBef>
            </a:pPr>
            <a:r>
              <a:rPr lang="zh-CN" altLang="en-US" sz="4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搭建你的数字积木</a:t>
            </a:r>
            <a:br>
              <a:rPr lang="en-US" altLang="zh-CN" sz="4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  <a:br>
              <a:rPr lang="en-US" altLang="zh-CN" sz="3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3200" b="1" dirty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Verilog </a:t>
            </a:r>
            <a:r>
              <a:rPr lang="en-US" altLang="zh-CN" sz="3200" b="1" dirty="0" err="1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HDL&amp;Vivado</a:t>
            </a:r>
            <a:r>
              <a:rPr lang="zh-CN" altLang="en-US" sz="3200" b="1" dirty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版</a:t>
            </a:r>
            <a:r>
              <a:rPr lang="zh-CN" altLang="en-US" sz="32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br>
              <a:rPr lang="en-US" altLang="zh-CN" sz="32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482436" y="3958938"/>
            <a:ext cx="5427518" cy="675409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东南大学 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Xilinx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大学计划部</a:t>
            </a: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46" y="978526"/>
            <a:ext cx="3449782" cy="4833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0322" y="4396421"/>
            <a:ext cx="2396683" cy="10144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741" y="4655269"/>
            <a:ext cx="2582914" cy="496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OLED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显示实验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C05513-E98A-4AB1-8C38-A7CC6FB54E1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，即有机发光二极管（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Organic Light-Emitting Diode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），又称为有机电激光显示（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Organic </a:t>
            </a:r>
            <a:r>
              <a:rPr lang="en-US" altLang="zh-CN" sz="2000" dirty="0" err="1">
                <a:solidFill>
                  <a:schemeClr val="tx1"/>
                </a:solidFill>
                <a:cs typeface="+mn-ea"/>
                <a:sym typeface="+mn-lt"/>
              </a:rPr>
              <a:t>Electroluminesence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 Display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， 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OELD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）。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由于同时具备自发光，不需背光源、对比度高、厚度薄、视角广、反应速度快、可用于挠曲性面板、使用温度范围广、构造及制程较简单等优异之特性，被认为是下一代的平面显示器新兴</a:t>
            </a:r>
            <a:r>
              <a:rPr lang="zh-CN" altLang="en-US" sz="2000">
                <a:solidFill>
                  <a:schemeClr val="tx1"/>
                </a:solidFill>
                <a:cs typeface="+mn-ea"/>
                <a:sym typeface="+mn-lt"/>
              </a:rPr>
              <a:t>应用技术。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显示技术具有自发光的特性，采用非常薄的有机材料涂层和玻璃基板，当有电流通过时，这些有机材料就会发光，而且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显示屏幕可视角度大，并且能够节省电能，从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2003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年开始这种显示设备在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MP3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播放器上得到了应用。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LCD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都需要背光，而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不需要，因为它是自发光的。这样同样的显示，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效果要来得好一些。以目前的技术，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OLED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的尺寸还难以大型化，但是分辨率确可以做到很高。</a:t>
            </a:r>
          </a:p>
          <a:p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OLED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1026" name="Picture 2" descr="查看源图像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93"/>
          <a:stretch/>
        </p:blipFill>
        <p:spPr bwMode="auto">
          <a:xfrm>
            <a:off x="1909761" y="1290914"/>
            <a:ext cx="7768706" cy="48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 bwMode="auto">
          <a:xfrm>
            <a:off x="3274325" y="1771610"/>
            <a:ext cx="131132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kern="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阴极</a:t>
            </a:r>
          </a:p>
        </p:txBody>
      </p:sp>
      <p:sp>
        <p:nvSpPr>
          <p:cNvPr id="7" name="文本框 6"/>
          <p:cNvSpPr txBox="1"/>
          <p:nvPr/>
        </p:nvSpPr>
        <p:spPr bwMode="auto">
          <a:xfrm>
            <a:off x="2402005" y="2532473"/>
            <a:ext cx="2456597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800" kern="0" spc="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pc="0" dirty="0"/>
              <a:t>发光层（有机分子或聚合物）</a:t>
            </a:r>
          </a:p>
        </p:txBody>
      </p:sp>
      <p:sp>
        <p:nvSpPr>
          <p:cNvPr id="8" name="文本框 7"/>
          <p:cNvSpPr txBox="1"/>
          <p:nvPr/>
        </p:nvSpPr>
        <p:spPr bwMode="auto">
          <a:xfrm>
            <a:off x="2251880" y="3536389"/>
            <a:ext cx="2456597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800" kern="0" spc="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pc="0" dirty="0"/>
              <a:t>导电层（有机分子或聚合物）</a:t>
            </a:r>
          </a:p>
        </p:txBody>
      </p:sp>
      <p:sp>
        <p:nvSpPr>
          <p:cNvPr id="9" name="文本框 8"/>
          <p:cNvSpPr txBox="1"/>
          <p:nvPr/>
        </p:nvSpPr>
        <p:spPr bwMode="auto">
          <a:xfrm>
            <a:off x="3083256" y="4797893"/>
            <a:ext cx="131132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kern="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阳极</a:t>
            </a:r>
          </a:p>
        </p:txBody>
      </p:sp>
      <p:sp>
        <p:nvSpPr>
          <p:cNvPr id="10" name="文本框 9"/>
          <p:cNvSpPr txBox="1"/>
          <p:nvPr/>
        </p:nvSpPr>
        <p:spPr bwMode="auto">
          <a:xfrm>
            <a:off x="3124198" y="5528129"/>
            <a:ext cx="131132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kern="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基质</a:t>
            </a:r>
          </a:p>
        </p:txBody>
      </p:sp>
    </p:spTree>
    <p:extLst>
      <p:ext uri="{BB962C8B-B14F-4D97-AF65-F5344CB8AC3E}">
        <p14:creationId xmlns:p14="http://schemas.microsoft.com/office/powerpoint/2010/main" val="24580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2050" name="Picture 2" descr="查看源图像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8" t="17808" r="18354"/>
          <a:stretch/>
        </p:blipFill>
        <p:spPr bwMode="auto">
          <a:xfrm>
            <a:off x="2387600" y="1142854"/>
            <a:ext cx="7416800" cy="543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395205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1" y="1074420"/>
            <a:ext cx="6863644" cy="5154929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）模块有蓝色和白色两种。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）尺寸小，显示尺寸为</a:t>
            </a:r>
            <a:r>
              <a:rPr lang="en-US" altLang="zh-CN" dirty="0"/>
              <a:t>1.3</a:t>
            </a:r>
            <a:r>
              <a:rPr lang="zh-CN" altLang="en-US" dirty="0"/>
              <a:t>寸，。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）高分辨率，该模块的分辨率为</a:t>
            </a:r>
            <a:r>
              <a:rPr lang="en-US" altLang="zh-CN" dirty="0"/>
              <a:t>128*64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b="1" dirty="0">
                <a:solidFill>
                  <a:schemeClr val="bg2"/>
                </a:solidFill>
              </a:rPr>
              <a:t>OLED </a:t>
            </a:r>
            <a:r>
              <a:rPr lang="zh-CN" altLang="en-US" b="1" dirty="0">
                <a:solidFill>
                  <a:schemeClr val="bg2"/>
                </a:solidFill>
              </a:rPr>
              <a:t>显示屏不同于 </a:t>
            </a:r>
            <a:r>
              <a:rPr lang="en-US" altLang="zh-CN" b="1" dirty="0">
                <a:solidFill>
                  <a:schemeClr val="bg2"/>
                </a:solidFill>
              </a:rPr>
              <a:t>LCD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dirty="0">
                <a:solidFill>
                  <a:schemeClr val="bg2"/>
                </a:solidFill>
              </a:rPr>
              <a:t>OLED </a:t>
            </a:r>
            <a:r>
              <a:rPr lang="zh-CN" altLang="en-US" b="1" dirty="0">
                <a:solidFill>
                  <a:schemeClr val="bg2"/>
                </a:solidFill>
              </a:rPr>
              <a:t>上电是没有反应的，需要程序驱动才会有显示！ </a:t>
            </a:r>
            <a:br>
              <a:rPr lang="zh-CN" altLang="en-US" dirty="0"/>
            </a:b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6E178F-4B6B-4F0F-BD86-93343EC3A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84" y="3544099"/>
            <a:ext cx="6443177" cy="315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55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65633"/>
            <a:ext cx="12192001" cy="4813031"/>
          </a:xfr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模块原理图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55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 </a:t>
            </a:r>
            <a:r>
              <a:rPr lang="zh-CN" altLang="en-US" dirty="0"/>
              <a:t>接口信号线说明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GND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：电源地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VCC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2.2V~5.5V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SCL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D0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）：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CLK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时钟 （高电平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2.2V~5.5V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SDA(D1)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MOSI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数据（高电平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2.2V~5.5V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RST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：复位（高电平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2.2V~5.5V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D/C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：数据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命令（高电平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2.2V~5.5V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CS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：片选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低电平有效（高电平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2.2V~5.5V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</a:rPr>
              <a:t>）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67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4" y="2007975"/>
            <a:ext cx="10977563" cy="25871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读写过程（</a:t>
            </a:r>
            <a:r>
              <a:rPr lang="en-US" altLang="zh-CN" dirty="0"/>
              <a:t>4-wire Serial interface mode</a:t>
            </a:r>
            <a:r>
              <a:rPr lang="zh-CN" altLang="en-US" dirty="0"/>
              <a:t>）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2142594" y="5826566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写时序图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8623652" y="5737442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读时序图</a:t>
            </a:r>
          </a:p>
        </p:txBody>
      </p:sp>
    </p:spTree>
    <p:extLst>
      <p:ext uri="{BB962C8B-B14F-4D97-AF65-F5344CB8AC3E}">
        <p14:creationId xmlns:p14="http://schemas.microsoft.com/office/powerpoint/2010/main" val="266574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读写过程（</a:t>
            </a:r>
            <a:r>
              <a:rPr lang="en-US" altLang="zh-CN" dirty="0"/>
              <a:t>4-wire Serial interface mode</a:t>
            </a:r>
            <a:r>
              <a:rPr lang="zh-CN" altLang="en-US" dirty="0"/>
              <a:t>）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2142594" y="5826566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写时序图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8623652" y="5737442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读时序图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43" y="2720185"/>
            <a:ext cx="9279247" cy="36563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42" y="948535"/>
            <a:ext cx="115252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2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读写过程（</a:t>
            </a:r>
            <a:r>
              <a:rPr lang="en-US" altLang="zh-CN" dirty="0"/>
              <a:t>3-wire SPI</a:t>
            </a:r>
            <a:r>
              <a:rPr lang="zh-CN" altLang="en-US" dirty="0"/>
              <a:t>）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70" y="1028171"/>
            <a:ext cx="11649860" cy="582982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 bwMode="auto">
          <a:xfrm>
            <a:off x="7394768" y="4334188"/>
            <a:ext cx="1647631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kern="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1Mhz</a:t>
            </a:r>
            <a:endParaRPr lang="zh-CN" altLang="en-US" sz="2800" b="1" kern="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140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1116" y="1074738"/>
            <a:ext cx="9154530" cy="515461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模块显存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73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332" y="865633"/>
            <a:ext cx="8989687" cy="595585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模块显存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62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400" y="1266649"/>
            <a:ext cx="9372681" cy="515461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SSD1306</a:t>
            </a:r>
            <a:r>
              <a:rPr lang="zh-CN" altLang="en-US" dirty="0"/>
              <a:t>写数据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460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1399479"/>
            <a:ext cx="3601156" cy="2379979"/>
          </a:xfrm>
        </p:spPr>
        <p:txBody>
          <a:bodyPr/>
          <a:lstStyle/>
          <a:p>
            <a:r>
              <a:rPr lang="zh-CN" altLang="en-US" dirty="0"/>
              <a:t>命令</a:t>
            </a:r>
            <a:r>
              <a:rPr lang="en-US" altLang="zh-CN" dirty="0"/>
              <a:t>0X81</a:t>
            </a:r>
            <a:r>
              <a:rPr lang="zh-CN" altLang="en-US" dirty="0"/>
              <a:t>：设置对比度。包含两个字节，第一个</a:t>
            </a:r>
            <a:r>
              <a:rPr lang="en-US" altLang="zh-CN" dirty="0"/>
              <a:t>0X81</a:t>
            </a:r>
            <a:r>
              <a:rPr lang="zh-CN" altLang="en-US" dirty="0"/>
              <a:t>为命令，随后发送的一个字节为要设置的对比度的值。这个值设置得越大屏幕就越亮。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SSD1306</a:t>
            </a:r>
            <a:r>
              <a:rPr lang="zh-CN" altLang="en-US" dirty="0"/>
              <a:t>的命令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222" y="335281"/>
            <a:ext cx="7721600" cy="3233629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1"/>
          <p:cNvSpPr txBox="1">
            <a:spLocks/>
          </p:cNvSpPr>
          <p:nvPr/>
        </p:nvSpPr>
        <p:spPr>
          <a:xfrm>
            <a:off x="609600" y="3663188"/>
            <a:ext cx="10978195" cy="3028335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3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173355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73355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9530" indent="-34798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/>
              <a:t>命令</a:t>
            </a:r>
            <a:r>
              <a:rPr lang="en-US" altLang="zh-CN" kern="0" dirty="0"/>
              <a:t>0XAE/0XAF</a:t>
            </a:r>
            <a:r>
              <a:rPr lang="zh-CN" altLang="en-US" kern="0" dirty="0"/>
              <a:t>：</a:t>
            </a:r>
            <a:r>
              <a:rPr lang="en-US" altLang="zh-CN" kern="0" dirty="0"/>
              <a:t>0XAE</a:t>
            </a:r>
            <a:r>
              <a:rPr lang="zh-CN" altLang="en-US" kern="0" dirty="0"/>
              <a:t>为关闭显示命令；</a:t>
            </a:r>
            <a:r>
              <a:rPr lang="en-US" altLang="zh-CN" kern="0" dirty="0"/>
              <a:t>0XAF</a:t>
            </a:r>
            <a:r>
              <a:rPr lang="zh-CN" altLang="en-US" kern="0" dirty="0"/>
              <a:t>为开启显示命令。</a:t>
            </a:r>
          </a:p>
          <a:p>
            <a:r>
              <a:rPr lang="zh-CN" altLang="en-US" kern="0" dirty="0"/>
              <a:t>命令</a:t>
            </a:r>
            <a:r>
              <a:rPr lang="en-US" altLang="zh-CN" kern="0" dirty="0"/>
              <a:t>0X8D</a:t>
            </a:r>
            <a:r>
              <a:rPr lang="zh-CN" altLang="en-US" kern="0" dirty="0"/>
              <a:t>：包含</a:t>
            </a:r>
            <a:r>
              <a:rPr lang="en-US" altLang="zh-CN" kern="0" dirty="0"/>
              <a:t>2</a:t>
            </a:r>
            <a:r>
              <a:rPr lang="zh-CN" altLang="en-US" kern="0" dirty="0"/>
              <a:t>个字节，第一个为命令字，第二个为设置值，第二个字节的</a:t>
            </a:r>
            <a:r>
              <a:rPr lang="en-US" altLang="zh-CN" kern="0" dirty="0"/>
              <a:t>BIT2</a:t>
            </a:r>
            <a:r>
              <a:rPr lang="zh-CN" altLang="en-US" kern="0" dirty="0"/>
              <a:t>表示电荷泵的开关状态，该位为</a:t>
            </a:r>
            <a:r>
              <a:rPr lang="en-US" altLang="zh-CN" kern="0" dirty="0"/>
              <a:t>1</a:t>
            </a:r>
            <a:r>
              <a:rPr lang="zh-CN" altLang="en-US" kern="0" dirty="0"/>
              <a:t>，则开启电荷泵，为</a:t>
            </a:r>
            <a:r>
              <a:rPr lang="en-US" altLang="zh-CN" kern="0" dirty="0"/>
              <a:t>0</a:t>
            </a:r>
            <a:r>
              <a:rPr lang="zh-CN" altLang="en-US" kern="0" dirty="0"/>
              <a:t>则关闭。在模块初始化的时候，这个必须要开启，否则是看不到屏幕显示的。</a:t>
            </a:r>
          </a:p>
          <a:p>
            <a:r>
              <a:rPr lang="zh-CN" altLang="en-US" kern="0" dirty="0"/>
              <a:t>命令</a:t>
            </a:r>
            <a:r>
              <a:rPr lang="en-US" altLang="zh-CN" kern="0" dirty="0"/>
              <a:t>0XB0~B7</a:t>
            </a:r>
            <a:r>
              <a:rPr lang="zh-CN" altLang="en-US" kern="0" dirty="0"/>
              <a:t>：用于设置页地址，其低三位的值对应着</a:t>
            </a:r>
            <a:r>
              <a:rPr lang="en-US" altLang="zh-CN" kern="0" dirty="0"/>
              <a:t>GRAM</a:t>
            </a:r>
            <a:r>
              <a:rPr lang="zh-CN" altLang="en-US" kern="0" dirty="0"/>
              <a:t>的页地址。</a:t>
            </a:r>
          </a:p>
          <a:p>
            <a:r>
              <a:rPr lang="zh-CN" altLang="en-US" kern="0" dirty="0"/>
              <a:t>命令</a:t>
            </a:r>
            <a:r>
              <a:rPr lang="en-US" altLang="zh-CN" kern="0" dirty="0"/>
              <a:t>0X00~0X0F</a:t>
            </a:r>
            <a:r>
              <a:rPr lang="zh-CN" altLang="en-US" kern="0" dirty="0"/>
              <a:t>：用于设置显示时的起始列地址低四位。</a:t>
            </a:r>
          </a:p>
          <a:p>
            <a:r>
              <a:rPr lang="zh-CN" altLang="en-US" kern="0" dirty="0"/>
              <a:t>命令</a:t>
            </a:r>
            <a:r>
              <a:rPr lang="en-US" altLang="zh-CN" kern="0" dirty="0"/>
              <a:t>0X10~0X1F</a:t>
            </a:r>
            <a:r>
              <a:rPr lang="zh-CN" altLang="en-US" kern="0" dirty="0"/>
              <a:t>：用于设置显示时的起始列地址高四位。</a:t>
            </a:r>
          </a:p>
          <a:p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75229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563" y="1223610"/>
            <a:ext cx="7864874" cy="515461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初始化过程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00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99" y="1681283"/>
            <a:ext cx="5825567" cy="5140205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221574"/>
            <a:ext cx="9042400" cy="148501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2"/>
          <p:cNvSpPr txBox="1">
            <a:spLocks/>
          </p:cNvSpPr>
          <p:nvPr/>
        </p:nvSpPr>
        <p:spPr bwMode="auto">
          <a:xfrm>
            <a:off x="67482" y="433728"/>
            <a:ext cx="10972800" cy="53035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/>
          <a:lstStyle>
            <a:lvl1pPr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lang="en-US" sz="32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4572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kern="0" dirty="0"/>
              <a:t>OLED</a:t>
            </a:r>
            <a:r>
              <a:rPr lang="zh-CN" altLang="en-US" kern="0" dirty="0"/>
              <a:t>更新缓存</a:t>
            </a:r>
            <a:endParaRPr lang="en-US" altLang="zh-CN" kern="0" dirty="0"/>
          </a:p>
          <a:p>
            <a:r>
              <a:rPr lang="zh-CN" altLang="en-US" kern="0" dirty="0"/>
              <a:t>显示内容</a:t>
            </a:r>
          </a:p>
        </p:txBody>
      </p:sp>
    </p:spTree>
    <p:extLst>
      <p:ext uri="{BB962C8B-B14F-4D97-AF65-F5344CB8AC3E}">
        <p14:creationId xmlns:p14="http://schemas.microsoft.com/office/powerpoint/2010/main" val="3950533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1912" y="1074420"/>
            <a:ext cx="5000978" cy="5154929"/>
          </a:xfrm>
        </p:spPr>
        <p:txBody>
          <a:bodyPr/>
          <a:lstStyle/>
          <a:p>
            <a:r>
              <a:rPr lang="zh-CN" altLang="en-US" sz="1800" dirty="0"/>
              <a:t>这里以取一个 </a:t>
            </a:r>
            <a:r>
              <a:rPr lang="en-US" altLang="zh-CN" sz="1800" dirty="0"/>
              <a:t>14*16</a:t>
            </a:r>
            <a:r>
              <a:rPr lang="zh-CN" altLang="en-US" sz="1800" dirty="0"/>
              <a:t>（宽*高）的点阵“北”字的设置为例说明。</a:t>
            </a:r>
          </a:p>
          <a:p>
            <a:r>
              <a:rPr lang="en-US" altLang="zh-CN" sz="1800" dirty="0"/>
              <a:t>1</a:t>
            </a:r>
            <a:r>
              <a:rPr lang="zh-CN" altLang="en-US" sz="1800" dirty="0"/>
              <a:t>、点开①的设置按钮，弹开图中设置界面</a:t>
            </a:r>
          </a:p>
          <a:p>
            <a:r>
              <a:rPr lang="en-US" altLang="zh-CN" sz="1800" dirty="0"/>
              <a:t>2</a:t>
            </a:r>
            <a:r>
              <a:rPr lang="zh-CN" altLang="en-US" sz="1800" dirty="0"/>
              <a:t>、按照框中的设置，设置好就可以了</a:t>
            </a:r>
          </a:p>
          <a:p>
            <a:r>
              <a:rPr lang="en-US" altLang="zh-CN" sz="1800" dirty="0"/>
              <a:t>3</a:t>
            </a:r>
            <a:r>
              <a:rPr lang="zh-CN" altLang="en-US" sz="1800" dirty="0"/>
              <a:t>、字模设置完成后，输入“北”字，调整字宽为 </a:t>
            </a:r>
            <a:r>
              <a:rPr lang="en-US" altLang="zh-CN" sz="1800" dirty="0"/>
              <a:t>14</a:t>
            </a:r>
            <a:r>
              <a:rPr lang="zh-CN" altLang="en-US" sz="1800" dirty="0"/>
              <a:t>，字高为 </a:t>
            </a:r>
            <a:r>
              <a:rPr lang="en-US" altLang="zh-CN" sz="1800" dirty="0"/>
              <a:t>16</a:t>
            </a:r>
            <a:r>
              <a:rPr lang="zh-CN" altLang="en-US" sz="1800" dirty="0"/>
              <a:t>（见图中绿框标出部分），</a:t>
            </a:r>
          </a:p>
          <a:p>
            <a:r>
              <a:rPr lang="zh-CN" altLang="en-US" sz="1800" dirty="0"/>
              <a:t>注意英文字要看上面一点的显示，图中“对应英文长高比”</a:t>
            </a:r>
          </a:p>
          <a:p>
            <a:r>
              <a:rPr lang="en-US" altLang="zh-CN" sz="1800" dirty="0"/>
              <a:t>4</a:t>
            </a:r>
            <a:r>
              <a:rPr lang="zh-CN" altLang="en-US" sz="1800" dirty="0"/>
              <a:t>、取模方式要选择“列行式”（你不能一次性控制一个点阵，只能一次性控制 </a:t>
            </a:r>
            <a:r>
              <a:rPr lang="en-US" altLang="zh-CN" sz="1800" dirty="0"/>
              <a:t>8 </a:t>
            </a:r>
            <a:r>
              <a:rPr lang="zh-CN" altLang="en-US" sz="1800" dirty="0"/>
              <a:t>位点阵，即一列点阵）</a:t>
            </a:r>
            <a:endParaRPr lang="en-US" altLang="zh-CN" sz="1800" dirty="0"/>
          </a:p>
          <a:p>
            <a:r>
              <a:rPr lang="en-US" altLang="zh-CN" sz="1800" dirty="0"/>
              <a:t>5</a:t>
            </a:r>
            <a:r>
              <a:rPr lang="zh-CN" altLang="en-US" sz="1800" dirty="0"/>
              <a:t>、图中标出③的部分的设置，为什么选择 </a:t>
            </a:r>
            <a:r>
              <a:rPr lang="en-US" altLang="zh-CN" sz="1800" dirty="0"/>
              <a:t>14</a:t>
            </a:r>
            <a:r>
              <a:rPr lang="zh-CN" altLang="en-US" sz="1800" dirty="0"/>
              <a:t>，这个在下面的说明里会提到，这个跟软件有关。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取字模软件（汉字）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999" y="158044"/>
            <a:ext cx="6884002" cy="671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98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1" y="1074420"/>
            <a:ext cx="4188178" cy="5154929"/>
          </a:xfrm>
        </p:spPr>
        <p:txBody>
          <a:bodyPr/>
          <a:lstStyle/>
          <a:p>
            <a:r>
              <a:rPr lang="zh-CN" altLang="en-US" dirty="0"/>
              <a:t>取小写字母“</a:t>
            </a:r>
            <a:r>
              <a:rPr lang="en-US" altLang="zh-CN" dirty="0"/>
              <a:t>c”,</a:t>
            </a:r>
            <a:r>
              <a:rPr lang="zh-CN" altLang="en-US" dirty="0"/>
              <a:t>宽 </a:t>
            </a:r>
            <a:r>
              <a:rPr lang="en-US" altLang="zh-CN" dirty="0"/>
              <a:t>6</a:t>
            </a:r>
            <a:r>
              <a:rPr lang="zh-CN" altLang="en-US" dirty="0"/>
              <a:t>，高 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、注意图中用红色标出的部分，选择框中显示的是字宽 </a:t>
            </a:r>
            <a:r>
              <a:rPr lang="en-US" altLang="zh-CN" dirty="0"/>
              <a:t>13</a:t>
            </a:r>
            <a:r>
              <a:rPr lang="zh-CN" altLang="en-US" dirty="0"/>
              <a:t>，字高 </a:t>
            </a:r>
            <a:r>
              <a:rPr lang="en-US" altLang="zh-CN" dirty="0"/>
              <a:t>8</a:t>
            </a:r>
            <a:r>
              <a:rPr lang="zh-CN" altLang="en-US" dirty="0"/>
              <a:t>，这个是中文的字宽字高，现在是英文要看上一行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、根据图中标出的，设置一下取模设置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、每行显示的点阵数据个数，怎么设置，将在下面做详细描述，这跟取到的数组大小有关，跟打点顺序有关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取字模软件（数字及英文字母）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E779-047E-4F8E-A1E6-6D4A4DA0D3F1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b="7885"/>
          <a:stretch/>
        </p:blipFill>
        <p:spPr>
          <a:xfrm>
            <a:off x="5133265" y="865633"/>
            <a:ext cx="7058735" cy="599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91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B3EC8-6D0F-4296-8160-3F48A0C1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约束文件中管脚的连接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17EFDE-CE0D-4D15-80D8-4657EDFE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2E498-119F-4A00-B797-CBB57BD1809B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68B33D6-D919-4308-8BA4-774A1D7A1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192842"/>
              </p:ext>
            </p:extLst>
          </p:nvPr>
        </p:nvGraphicFramePr>
        <p:xfrm>
          <a:off x="993588" y="1173480"/>
          <a:ext cx="9882692" cy="4554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1346">
                  <a:extLst>
                    <a:ext uri="{9D8B030D-6E8A-4147-A177-3AD203B41FA5}">
                      <a16:colId xmlns:a16="http://schemas.microsoft.com/office/drawing/2014/main" val="2736492582"/>
                    </a:ext>
                  </a:extLst>
                </a:gridCol>
                <a:gridCol w="4941346">
                  <a:extLst>
                    <a:ext uri="{9D8B030D-6E8A-4147-A177-3AD203B41FA5}">
                      <a16:colId xmlns:a16="http://schemas.microsoft.com/office/drawing/2014/main" val="3452519942"/>
                    </a:ext>
                  </a:extLst>
                </a:gridCol>
              </a:tblGrid>
              <a:tr h="4584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OLED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J2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63656"/>
                  </a:ext>
                </a:extLst>
              </a:tr>
              <a:tr h="5533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1—GND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30--GND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1896"/>
                  </a:ext>
                </a:extLst>
              </a:tr>
              <a:tr h="590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2—VCC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29--3.3V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729086"/>
                  </a:ext>
                </a:extLst>
              </a:tr>
              <a:tr h="590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3—D0(</a:t>
                      </a:r>
                      <a:r>
                        <a:rPr lang="en-US" altLang="zh-CN" sz="2400" dirty="0" err="1"/>
                        <a:t>sck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31—T4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20549"/>
                  </a:ext>
                </a:extLst>
              </a:tr>
              <a:tr h="590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4—D1(</a:t>
                      </a:r>
                      <a:r>
                        <a:rPr lang="en-US" altLang="zh-CN" sz="2400" dirty="0" err="1"/>
                        <a:t>mosi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32—T6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047633"/>
                  </a:ext>
                </a:extLst>
              </a:tr>
              <a:tr h="590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5—RES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33—U5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892111"/>
                  </a:ext>
                </a:extLst>
              </a:tr>
              <a:tr h="590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6—DC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34—W6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00595"/>
                  </a:ext>
                </a:extLst>
              </a:tr>
              <a:tr h="590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6—CS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35—W5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63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573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75" y="2506663"/>
            <a:ext cx="3843338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5"/>
          <p:cNvSpPr txBox="1"/>
          <p:nvPr/>
        </p:nvSpPr>
        <p:spPr>
          <a:xfrm>
            <a:off x="7064375" y="4445000"/>
            <a:ext cx="2241550" cy="754063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4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980" indent="-1701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6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34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altLang="zh-CN" kern="0" noProof="1">
                <a:solidFill>
                  <a:schemeClr val="tx1"/>
                </a:solidFill>
              </a:rPr>
              <a:t>xup@xilinx.com</a:t>
            </a:r>
            <a:endParaRPr lang="zh-CN" altLang="en-US" kern="0" noProof="1">
              <a:solidFill>
                <a:schemeClr val="tx1"/>
              </a:solidFill>
            </a:endParaRPr>
          </a:p>
        </p:txBody>
      </p:sp>
      <p:pic>
        <p:nvPicPr>
          <p:cNvPr id="407556" name="Picture 7" descr="logo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2278063"/>
            <a:ext cx="2152650" cy="216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37A16B-BF8F-4C9B-B46C-B7ADE1EADA5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</a:spPr>
      <a:bodyPr vert="horz" wrap="square" lIns="0" tIns="45720" rIns="91440" bIns="45720" numCol="1" rtlCol="0" anchor="t" anchorCtr="0" compatLnSpc="1">
        <a:spAutoFit/>
      </a:bodyPr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Xilinx All Programmable">
    <a:dk1>
      <a:srgbClr val="000000"/>
    </a:dk1>
    <a:lt1>
      <a:srgbClr val="FFFFFF"/>
    </a:lt1>
    <a:dk2>
      <a:srgbClr val="EC891D"/>
    </a:dk2>
    <a:lt2>
      <a:srgbClr val="EE3424"/>
    </a:lt2>
    <a:accent1>
      <a:srgbClr val="008CA8"/>
    </a:accent1>
    <a:accent2>
      <a:srgbClr val="B20838"/>
    </a:accent2>
    <a:accent3>
      <a:srgbClr val="6D7076"/>
    </a:accent3>
    <a:accent4>
      <a:srgbClr val="3F3F3F"/>
    </a:accent4>
    <a:accent5>
      <a:srgbClr val="D9DA56"/>
    </a:accent5>
    <a:accent6>
      <a:srgbClr val="8B8D09"/>
    </a:accent6>
    <a:hlink>
      <a:srgbClr val="008CA8"/>
    </a:hlink>
    <a:folHlink>
      <a:srgbClr val="004654"/>
    </a:folHlink>
  </a:clrScheme>
</a:themeOverride>
</file>

<file path=ppt/theme/themeOverride2.xml><?xml version="1.0" encoding="utf-8"?>
<a:themeOverride xmlns:a="http://schemas.openxmlformats.org/drawingml/2006/main">
  <a:clrScheme name="Xilinx All Programmable">
    <a:dk1>
      <a:srgbClr val="000000"/>
    </a:dk1>
    <a:lt1>
      <a:srgbClr val="FFFFFF"/>
    </a:lt1>
    <a:dk2>
      <a:srgbClr val="EC891D"/>
    </a:dk2>
    <a:lt2>
      <a:srgbClr val="EE3424"/>
    </a:lt2>
    <a:accent1>
      <a:srgbClr val="008CA8"/>
    </a:accent1>
    <a:accent2>
      <a:srgbClr val="B20838"/>
    </a:accent2>
    <a:accent3>
      <a:srgbClr val="6D7076"/>
    </a:accent3>
    <a:accent4>
      <a:srgbClr val="3F3F3F"/>
    </a:accent4>
    <a:accent5>
      <a:srgbClr val="D9DA56"/>
    </a:accent5>
    <a:accent6>
      <a:srgbClr val="8B8D09"/>
    </a:accent6>
    <a:hlink>
      <a:srgbClr val="008CA8"/>
    </a:hlink>
    <a:folHlink>
      <a:srgbClr val="004654"/>
    </a:folHlink>
  </a:clrScheme>
</a:themeOverride>
</file>

<file path=ppt/theme/themeOverride3.xml><?xml version="1.0" encoding="utf-8"?>
<a:themeOverride xmlns:a="http://schemas.openxmlformats.org/drawingml/2006/main">
  <a:clrScheme name="Xilinx All Programmable">
    <a:dk1>
      <a:srgbClr val="000000"/>
    </a:dk1>
    <a:lt1>
      <a:srgbClr val="FFFFFF"/>
    </a:lt1>
    <a:dk2>
      <a:srgbClr val="EC891D"/>
    </a:dk2>
    <a:lt2>
      <a:srgbClr val="EE3424"/>
    </a:lt2>
    <a:accent1>
      <a:srgbClr val="008CA8"/>
    </a:accent1>
    <a:accent2>
      <a:srgbClr val="B20838"/>
    </a:accent2>
    <a:accent3>
      <a:srgbClr val="6D7076"/>
    </a:accent3>
    <a:accent4>
      <a:srgbClr val="3F3F3F"/>
    </a:accent4>
    <a:accent5>
      <a:srgbClr val="D9DA56"/>
    </a:accent5>
    <a:accent6>
      <a:srgbClr val="8B8D09"/>
    </a:accent6>
    <a:hlink>
      <a:srgbClr val="008CA8"/>
    </a:hlink>
    <a:folHlink>
      <a:srgbClr val="004654"/>
    </a:folHlink>
  </a:clrScheme>
</a:themeOverride>
</file>

<file path=ppt/theme/themeOverride4.xml><?xml version="1.0" encoding="utf-8"?>
<a:themeOverride xmlns:a="http://schemas.openxmlformats.org/drawingml/2006/main">
  <a:clrScheme name="Xilinx All Programmable">
    <a:dk1>
      <a:srgbClr val="000000"/>
    </a:dk1>
    <a:lt1>
      <a:srgbClr val="FFFFFF"/>
    </a:lt1>
    <a:dk2>
      <a:srgbClr val="EC891D"/>
    </a:dk2>
    <a:lt2>
      <a:srgbClr val="EE3424"/>
    </a:lt2>
    <a:accent1>
      <a:srgbClr val="008CA8"/>
    </a:accent1>
    <a:accent2>
      <a:srgbClr val="B20838"/>
    </a:accent2>
    <a:accent3>
      <a:srgbClr val="6D7076"/>
    </a:accent3>
    <a:accent4>
      <a:srgbClr val="3F3F3F"/>
    </a:accent4>
    <a:accent5>
      <a:srgbClr val="D9DA56"/>
    </a:accent5>
    <a:accent6>
      <a:srgbClr val="8B8D09"/>
    </a:accent6>
    <a:hlink>
      <a:srgbClr val="008CA8"/>
    </a:hlink>
    <a:folHlink>
      <a:srgbClr val="00465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</TotalTime>
  <Words>1156</Words>
  <Application>Microsoft Office PowerPoint</Application>
  <PresentationFormat>宽屏</PresentationFormat>
  <Paragraphs>101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 Unicode MS</vt:lpstr>
      <vt:lpstr>等线</vt:lpstr>
      <vt:lpstr>宋体</vt:lpstr>
      <vt:lpstr>微软雅黑</vt:lpstr>
      <vt:lpstr>Arial</vt:lpstr>
      <vt:lpstr>Calibri</vt:lpstr>
      <vt:lpstr>Wingdings</vt:lpstr>
      <vt:lpstr>1_Xilinx_All_Programmable_Template_08-01-12</vt:lpstr>
      <vt:lpstr>搭建你的数字积木 —数字电路与逻辑设计 （Verilog HDL&amp;Vivado版） </vt:lpstr>
      <vt:lpstr>OLED显示实验</vt:lpstr>
      <vt:lpstr>OLED</vt:lpstr>
      <vt:lpstr>OLED结构</vt:lpstr>
      <vt:lpstr>OLED结构</vt:lpstr>
      <vt:lpstr>PowerPoint 演示文稿</vt:lpstr>
      <vt:lpstr>OLED模块原理图</vt:lpstr>
      <vt:lpstr>OLED 接口信号线说明 </vt:lpstr>
      <vt:lpstr>OLED读写过程（4-wire Serial interface mode）  </vt:lpstr>
      <vt:lpstr>OLED读写过程（4-wire Serial interface mode） </vt:lpstr>
      <vt:lpstr>OLED读写过程（3-wire SPI） </vt:lpstr>
      <vt:lpstr>OLED模块显存 </vt:lpstr>
      <vt:lpstr>OLED模块显存</vt:lpstr>
      <vt:lpstr>SSD1306写数据</vt:lpstr>
      <vt:lpstr>SSD1306的命令 </vt:lpstr>
      <vt:lpstr>OLED初始化过程 </vt:lpstr>
      <vt:lpstr>PowerPoint 演示文稿</vt:lpstr>
      <vt:lpstr>取字模软件（汉字）</vt:lpstr>
      <vt:lpstr>取字模软件（数字及英文字母）</vt:lpstr>
      <vt:lpstr>约束文件中管脚的连接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解 康辉</dc:creator>
  <cp:lastModifiedBy>lab</cp:lastModifiedBy>
  <cp:revision>118</cp:revision>
  <dcterms:created xsi:type="dcterms:W3CDTF">2018-11-25T04:28:00Z</dcterms:created>
  <dcterms:modified xsi:type="dcterms:W3CDTF">2024-08-24T07:39:27Z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</Properties>
</file>
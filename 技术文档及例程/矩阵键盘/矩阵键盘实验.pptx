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19"/>
  </p:notesMasterIdLst>
  <p:sldIdLst>
    <p:sldId id="257" r:id="rId2"/>
    <p:sldId id="258" r:id="rId3"/>
    <p:sldId id="314" r:id="rId4"/>
    <p:sldId id="313" r:id="rId5"/>
    <p:sldId id="315" r:id="rId6"/>
    <p:sldId id="316" r:id="rId7"/>
    <p:sldId id="312" r:id="rId8"/>
    <p:sldId id="317" r:id="rId9"/>
    <p:sldId id="318" r:id="rId10"/>
    <p:sldId id="319" r:id="rId11"/>
    <p:sldId id="320" r:id="rId12"/>
    <p:sldId id="321" r:id="rId13"/>
    <p:sldId id="322" r:id="rId14"/>
    <p:sldId id="323" r:id="rId15"/>
    <p:sldId id="324" r:id="rId16"/>
    <p:sldId id="325" r:id="rId17"/>
    <p:sldId id="260"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6" autoAdjust="0"/>
    <p:restoredTop sz="70888" autoAdjust="0"/>
  </p:normalViewPr>
  <p:slideViewPr>
    <p:cSldViewPr snapToGrid="0">
      <p:cViewPr varScale="1">
        <p:scale>
          <a:sx n="96" d="100"/>
          <a:sy n="96" d="100"/>
        </p:scale>
        <p:origin x="176" y="48"/>
      </p:cViewPr>
      <p:guideLst/>
    </p:cSldViewPr>
  </p:slideViewPr>
  <p:notesTextViewPr>
    <p:cViewPr>
      <p:scale>
        <a:sx n="1" d="1"/>
        <a:sy n="1" d="1"/>
      </p:scale>
      <p:origin x="0" y="0"/>
    </p:cViewPr>
  </p:notesTextViewPr>
  <p:notesViewPr>
    <p:cSldViewPr snapToGrid="0">
      <p:cViewPr varScale="1">
        <p:scale>
          <a:sx n="121" d="100"/>
          <a:sy n="121" d="100"/>
        </p:scale>
        <p:origin x="1542"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D0ACD3-AF1A-4431-809B-C7256590095B}" type="datetimeFigureOut">
              <a:rPr lang="zh-CN" altLang="en-US" smtClean="0"/>
              <a:t>2025/9/1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EF6323-2A76-44A2-8495-CD733F432C00}" type="slidenum">
              <a:rPr lang="zh-CN" altLang="en-US" smtClean="0"/>
              <a:t>‹#›</a:t>
            </a:fld>
            <a:endParaRPr lang="zh-CN" altLang="en-US"/>
          </a:p>
        </p:txBody>
      </p:sp>
    </p:spTree>
    <p:extLst>
      <p:ext uri="{BB962C8B-B14F-4D97-AF65-F5344CB8AC3E}">
        <p14:creationId xmlns:p14="http://schemas.microsoft.com/office/powerpoint/2010/main" val="25560197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pic>
        <p:nvPicPr>
          <p:cNvPr id="3" name="Picture 6"/>
          <p:cNvPicPr>
            <a:picLocks noChangeAspect="1" noChangeArrowheads="1"/>
          </p:cNvPicPr>
          <p:nvPr/>
        </p:nvPicPr>
        <p:blipFill>
          <a:blip r:embed="rId2">
            <a:extLst>
              <a:ext uri="{28A0092B-C50C-407E-A947-70E740481C1C}">
                <a14:useLocalDpi xmlns:a14="http://schemas.microsoft.com/office/drawing/2010/main" val="0"/>
              </a:ext>
            </a:extLst>
          </a:blip>
          <a:srcRect l="9979" t="2" b="-143"/>
          <a:stretch>
            <a:fillRect/>
          </a:stretch>
        </p:blipFill>
        <p:spPr bwMode="auto">
          <a:xfrm>
            <a:off x="-15875" y="-39688"/>
            <a:ext cx="12207875" cy="456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9763" y="5307013"/>
            <a:ext cx="2322512" cy="55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Straight Connector 11"/>
          <p:cNvCxnSpPr>
            <a:cxnSpLocks noChangeShapeType="1"/>
          </p:cNvCxnSpPr>
          <p:nvPr/>
        </p:nvCxnSpPr>
        <p:spPr bwMode="auto">
          <a:xfrm flipH="1">
            <a:off x="3100388" y="5273675"/>
            <a:ext cx="1587" cy="612775"/>
          </a:xfrm>
          <a:prstGeom prst="line">
            <a:avLst/>
          </a:prstGeom>
          <a:noFill/>
          <a:ln w="9525">
            <a:solidFill>
              <a:srgbClr val="BFBFBF"/>
            </a:solidFill>
            <a:round/>
          </a:ln>
          <a:extLst>
            <a:ext uri="{909E8E84-426E-40DD-AFC4-6F175D3DCCD1}">
              <a14:hiddenFill xmlns:a14="http://schemas.microsoft.com/office/drawing/2010/main">
                <a:noFill/>
              </a14:hiddenFill>
            </a:ext>
          </a:extLst>
        </p:spPr>
      </p:cxnSp>
      <p:sp>
        <p:nvSpPr>
          <p:cNvPr id="6" name="Rectangle 13"/>
          <p:cNvSpPr>
            <a:spLocks noChangeArrowheads="1"/>
          </p:cNvSpPr>
          <p:nvPr/>
        </p:nvSpPr>
        <p:spPr bwMode="auto">
          <a:xfrm flipV="1">
            <a:off x="0" y="4476750"/>
            <a:ext cx="12192000" cy="26988"/>
          </a:xfrm>
          <a:prstGeom prst="rect">
            <a:avLst/>
          </a:prstGeom>
          <a:solidFill>
            <a:srgbClr val="C00000"/>
          </a:solidFill>
          <a:ln>
            <a:noFill/>
          </a:ln>
          <a:extLst>
            <a:ext uri="{91240B29-F687-4F45-9708-019B960494DF}">
              <a14:hiddenLine xmlns:a14="http://schemas.microsoft.com/office/drawing/2010/main" w="762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pic>
        <p:nvPicPr>
          <p:cNvPr id="7" name="图片 7"/>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230563" y="5224463"/>
            <a:ext cx="690562" cy="69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5067300" y="5055935"/>
            <a:ext cx="7124700" cy="530352"/>
          </a:xfrm>
        </p:spPr>
        <p:txBody>
          <a:bodyPr/>
          <a:lstStyle>
            <a:lvl1pPr>
              <a:defRPr>
                <a:solidFill>
                  <a:schemeClr val="tx1">
                    <a:lumMod val="75000"/>
                    <a:lumOff val="25000"/>
                  </a:schemeClr>
                </a:solidFill>
              </a:defRPr>
            </a:lvl1pPr>
          </a:lstStyle>
          <a:p>
            <a:r>
              <a:rPr lang="zh-CN" altLang="en-US" noProof="1"/>
              <a:t>单击此处编辑母版标题样式</a:t>
            </a:r>
            <a:endParaRPr lang="en-US" noProof="1"/>
          </a:p>
        </p:txBody>
      </p:sp>
    </p:spTree>
    <p:extLst>
      <p:ext uri="{BB962C8B-B14F-4D97-AF65-F5344CB8AC3E}">
        <p14:creationId xmlns:p14="http://schemas.microsoft.com/office/powerpoint/2010/main" val="2597297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sistion slide">
    <p:spTree>
      <p:nvGrpSpPr>
        <p:cNvPr id="1" name=""/>
        <p:cNvGrpSpPr/>
        <p:nvPr/>
      </p:nvGrpSpPr>
      <p:grpSpPr>
        <a:xfrm>
          <a:off x="0" y="0"/>
          <a:ext cx="0" cy="0"/>
          <a:chOff x="0" y="0"/>
          <a:chExt cx="0" cy="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2297113"/>
            <a:ext cx="12206288" cy="2052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14"/>
          <p:cNvSpPr>
            <a:spLocks noChangeArrowheads="1"/>
          </p:cNvSpPr>
          <p:nvPr/>
        </p:nvSpPr>
        <p:spPr bwMode="auto">
          <a:xfrm flipV="1">
            <a:off x="-14288" y="2297113"/>
            <a:ext cx="147638" cy="2052637"/>
          </a:xfrm>
          <a:prstGeom prst="rect">
            <a:avLst/>
          </a:prstGeom>
          <a:solidFill>
            <a:srgbClr val="FF0000"/>
          </a:solidFill>
          <a:ln>
            <a:noFill/>
          </a:ln>
          <a:extLst>
            <a:ext uri="{91240B29-F687-4F45-9708-019B960494DF}">
              <a14:hiddenLine xmlns:a14="http://schemas.microsoft.com/office/drawing/2010/main" w="762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sp>
        <p:nvSpPr>
          <p:cNvPr id="5" name="Rectangle 3"/>
          <p:cNvSpPr>
            <a:spLocks noChangeAspect="1" noChangeArrowheads="1"/>
          </p:cNvSpPr>
          <p:nvPr/>
        </p:nvSpPr>
        <p:spPr bwMode="auto">
          <a:xfrm>
            <a:off x="0" y="0"/>
            <a:ext cx="12192000" cy="323850"/>
          </a:xfrm>
          <a:prstGeom prst="rect">
            <a:avLst/>
          </a:prstGeom>
          <a:solidFill>
            <a:schemeClr val="bg1"/>
          </a:solidFill>
          <a:ln>
            <a:noFill/>
          </a:ln>
          <a:extLst>
            <a:ext uri="{91240B29-F687-4F45-9708-019B960494DF}">
              <a14:hiddenLine xmlns:a14="http://schemas.microsoft.com/office/drawing/2010/main" w="762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sp>
        <p:nvSpPr>
          <p:cNvPr id="6" name="矩形 5"/>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8" name="Rectangle 11"/>
          <p:cNvSpPr>
            <a:spLocks noGrp="1" noChangeArrowheads="1"/>
          </p:cNvSpPr>
          <p:nvPr>
            <p:ph type="title"/>
          </p:nvPr>
        </p:nvSpPr>
        <p:spPr bwMode="auto">
          <a:xfrm>
            <a:off x="609600" y="2984736"/>
            <a:ext cx="10972800" cy="530352"/>
          </a:xfrm>
          <a:prstGeom prst="rect">
            <a:avLst/>
          </a:prstGeom>
          <a:noFill/>
          <a:ln w="9525">
            <a:noFill/>
            <a:miter lim="800000"/>
          </a:ln>
        </p:spPr>
        <p:txBody>
          <a:bodyPr/>
          <a:lstStyle>
            <a:lvl1pPr>
              <a:defRPr sz="3600">
                <a:solidFill>
                  <a:schemeClr val="bg1"/>
                </a:solidFill>
                <a:effectLst>
                  <a:outerShdw blurRad="38100" dist="38100" dir="2700000" algn="tl">
                    <a:srgbClr val="000000">
                      <a:alpha val="43137"/>
                    </a:srgbClr>
                  </a:outerShdw>
                </a:effectLst>
              </a:defRPr>
            </a:lvl1pPr>
          </a:lstStyle>
          <a:p>
            <a:pPr lvl="0"/>
            <a:r>
              <a:rPr lang="en-US" altLang="zh-CN" noProof="1"/>
              <a:t>Click to edit Master title style</a:t>
            </a:r>
            <a:endParaRPr lang="en-US" noProof="1"/>
          </a:p>
        </p:txBody>
      </p:sp>
      <p:sp>
        <p:nvSpPr>
          <p:cNvPr id="7" name="Rectangle 23"/>
          <p:cNvSpPr>
            <a:spLocks noGrp="1" noChangeArrowheads="1"/>
          </p:cNvSpPr>
          <p:nvPr>
            <p:ph type="sldNum" sz="quarter" idx="10"/>
          </p:nvPr>
        </p:nvSpPr>
        <p:spPr/>
        <p:txBody>
          <a:bodyPr/>
          <a:lstStyle>
            <a:lvl1pPr algn="l" rtl="0" fontAlgn="base">
              <a:spcBef>
                <a:spcPct val="0"/>
              </a:spcBef>
              <a:spcAft>
                <a:spcPct val="0"/>
              </a:spcAft>
              <a:defRPr lang="en-US" sz="800" kern="1200">
                <a:solidFill>
                  <a:schemeClr val="tx1"/>
                </a:solidFill>
                <a:latin typeface="Arial" panose="020B0604020202020204" pitchFamily="34" charset="0"/>
                <a:ea typeface="+mn-ea"/>
                <a:cs typeface="+mn-cs"/>
              </a:defRPr>
            </a:lvl1pPr>
          </a:lstStyle>
          <a:p>
            <a:pPr>
              <a:defRPr/>
            </a:pPr>
            <a:fld id="{972637A9-7A9D-4326-80E1-8DBE95A1BA08}" type="slidenum">
              <a:rPr lang="zh-CN" altLang="en-US"/>
              <a:t>‹#›</a:t>
            </a:fld>
            <a:endParaRPr lang="zh-CN" altLang="en-US"/>
          </a:p>
        </p:txBody>
      </p:sp>
    </p:spTree>
    <p:extLst>
      <p:ext uri="{BB962C8B-B14F-4D97-AF65-F5344CB8AC3E}">
        <p14:creationId xmlns:p14="http://schemas.microsoft.com/office/powerpoint/2010/main" val="1922647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Standard">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3" name="Content Placeholder 2"/>
          <p:cNvSpPr>
            <a:spLocks noGrp="1"/>
          </p:cNvSpPr>
          <p:nvPr>
            <p:ph idx="1"/>
          </p:nvPr>
        </p:nvSpPr>
        <p:spPr>
          <a:xfrm>
            <a:off x="609600" y="1074420"/>
            <a:ext cx="10978195" cy="5154929"/>
          </a:xfrm>
          <a:prstGeom prst="rect">
            <a:avLst/>
          </a:prstGeom>
        </p:spPr>
        <p:txBody>
          <a:bodyPr/>
          <a:lstStyle>
            <a:lvl1pPr marL="290830" indent="-290830" algn="l" rtl="0" eaLnBrk="0" fontAlgn="base" hangingPunct="0">
              <a:lnSpc>
                <a:spcPct val="110000"/>
              </a:lnSpc>
              <a:spcBef>
                <a:spcPts val="800"/>
              </a:spcBef>
              <a:spcAft>
                <a:spcPct val="0"/>
              </a:spcAft>
              <a:buClr>
                <a:schemeClr val="tx2"/>
              </a:buClr>
              <a:buSzPct val="88000"/>
              <a:buFont typeface="Wingdings" panose="05000000000000000000" pitchFamily="2" charset="2"/>
              <a:buBlip>
                <a:blip r:embed="rId2"/>
              </a:buBlip>
              <a:defRPr lang="en-US" sz="2200" b="0" dirty="0" smtClean="0">
                <a:solidFill>
                  <a:schemeClr val="accent4"/>
                </a:solidFill>
                <a:latin typeface="+mn-lt"/>
                <a:ea typeface="+mn-ea"/>
                <a:cs typeface="+mn-cs"/>
              </a:defRPr>
            </a:lvl1pPr>
            <a:lvl2pPr marL="463550" indent="-174625">
              <a:lnSpc>
                <a:spcPct val="110000"/>
              </a:lnSpc>
              <a:defRPr sz="1600"/>
            </a:lvl2pPr>
            <a:lvl3pPr marL="682625" indent="-173355">
              <a:lnSpc>
                <a:spcPct val="110000"/>
              </a:lnSpc>
              <a:defRPr sz="1400"/>
            </a:lvl3pPr>
            <a:lvl4pPr marL="914400" indent="-173355">
              <a:lnSpc>
                <a:spcPct val="110000"/>
              </a:lnSpc>
              <a:buFont typeface="Arial" panose="020B0604020202020204" pitchFamily="34" charset="0"/>
              <a:buChar char="–"/>
              <a:defRPr sz="1400"/>
            </a:lvl4pPr>
            <a:lvl5pPr marL="1319530" indent="-347980">
              <a:defRPr/>
            </a:lvl5pPr>
          </a:lstStyle>
          <a:p>
            <a:pPr lvl="0"/>
            <a:r>
              <a:rPr lang="en-US" altLang="zh-CN" noProof="1"/>
              <a:t>Click to edit Master text styles</a:t>
            </a:r>
          </a:p>
          <a:p>
            <a:pPr lvl="1"/>
            <a:r>
              <a:rPr lang="en-US" altLang="zh-CN" noProof="1"/>
              <a:t>Second level</a:t>
            </a:r>
          </a:p>
          <a:p>
            <a:pPr lvl="2"/>
            <a:r>
              <a:rPr lang="en-US" altLang="zh-CN" noProof="1"/>
              <a:t>Third level</a:t>
            </a:r>
          </a:p>
        </p:txBody>
      </p:sp>
      <p:sp>
        <p:nvSpPr>
          <p:cNvPr id="6" name="Rectangle 11"/>
          <p:cNvSpPr>
            <a:spLocks noGrp="1" noChangeArrowheads="1"/>
          </p:cNvSpPr>
          <p:nvPr>
            <p:ph type="title"/>
          </p:nvPr>
        </p:nvSpPr>
        <p:spPr bwMode="auto">
          <a:xfrm>
            <a:off x="609600" y="335281"/>
            <a:ext cx="10972800" cy="530352"/>
          </a:xfrm>
          <a:prstGeom prst="rect">
            <a:avLst/>
          </a:prstGeom>
          <a:noFill/>
          <a:ln w="9525">
            <a:noFill/>
            <a:miter lim="800000"/>
          </a:ln>
        </p:spPr>
        <p:txBody>
          <a:bodyPr/>
          <a:lstStyle>
            <a:lvl1pPr>
              <a:defRPr b="1">
                <a:latin typeface="微软雅黑" panose="020B0503020204020204" pitchFamily="34" charset="-122"/>
                <a:ea typeface="微软雅黑" panose="020B0503020204020204" pitchFamily="34" charset="-122"/>
              </a:defRPr>
            </a:lvl1pPr>
          </a:lstStyle>
          <a:p>
            <a:pPr lvl="0"/>
            <a:r>
              <a:rPr lang="en-US" altLang="zh-CN" noProof="1"/>
              <a:t>Click to edit Master title style</a:t>
            </a:r>
            <a:endParaRPr lang="en-US" noProof="1"/>
          </a:p>
        </p:txBody>
      </p:sp>
      <p:sp>
        <p:nvSpPr>
          <p:cNvPr id="5" name="Rectangle 23"/>
          <p:cNvSpPr>
            <a:spLocks noGrp="1" noChangeArrowheads="1"/>
          </p:cNvSpPr>
          <p:nvPr>
            <p:ph type="sldNum" sz="quarter" idx="10"/>
          </p:nvPr>
        </p:nvSpPr>
        <p:spPr/>
        <p:txBody>
          <a:bodyPr/>
          <a:lstStyle>
            <a:lvl1pPr>
              <a:defRPr/>
            </a:lvl1pPr>
          </a:lstStyle>
          <a:p>
            <a:pPr>
              <a:defRPr/>
            </a:pPr>
            <a:fld id="{BA73E779-047E-4F8E-A1E6-6D4A4DA0D3F1}" type="slidenum">
              <a:rPr lang="zh-CN" altLang="en-US"/>
              <a:t>‹#›</a:t>
            </a:fld>
            <a:endParaRPr lang="zh-CN" altLang="en-US"/>
          </a:p>
        </p:txBody>
      </p:sp>
    </p:spTree>
    <p:extLst>
      <p:ext uri="{BB962C8B-B14F-4D97-AF65-F5344CB8AC3E}">
        <p14:creationId xmlns:p14="http://schemas.microsoft.com/office/powerpoint/2010/main" val="1543609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Subhead">
    <p:spTree>
      <p:nvGrpSpPr>
        <p:cNvPr id="1" name=""/>
        <p:cNvGrpSpPr/>
        <p:nvPr/>
      </p:nvGrpSpPr>
      <p:grpSpPr>
        <a:xfrm>
          <a:off x="0" y="0"/>
          <a:ext cx="0" cy="0"/>
          <a:chOff x="0" y="0"/>
          <a:chExt cx="0" cy="0"/>
        </a:xfrm>
      </p:grpSpPr>
      <p:sp>
        <p:nvSpPr>
          <p:cNvPr id="2" name="Rectangle 5"/>
          <p:cNvSpPr>
            <a:spLocks noChangeArrowheads="1"/>
          </p:cNvSpPr>
          <p:nvPr/>
        </p:nvSpPr>
        <p:spPr bwMode="auto">
          <a:xfrm>
            <a:off x="627063" y="160338"/>
            <a:ext cx="5205412" cy="369887"/>
          </a:xfrm>
          <a:prstGeom prst="rect">
            <a:avLst/>
          </a:prstGeom>
          <a:solidFill>
            <a:srgbClr val="D9D9D9">
              <a:alpha val="84000"/>
            </a:srgbClr>
          </a:solidFill>
          <a:ln>
            <a:noFill/>
          </a:ln>
          <a:extLs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sp>
        <p:nvSpPr>
          <p:cNvPr id="3" name="Rectangle 7"/>
          <p:cNvSpPr/>
          <p:nvPr/>
        </p:nvSpPr>
        <p:spPr>
          <a:xfrm>
            <a:off x="642938" y="5411788"/>
            <a:ext cx="5205412" cy="230187"/>
          </a:xfrm>
          <a:prstGeom prst="rect">
            <a:avLst/>
          </a:prstGeom>
          <a:solidFill>
            <a:srgbClr val="CF23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457200" eaLnBrk="1" fontAlgn="auto" hangingPunct="1">
              <a:spcBef>
                <a:spcPts val="0"/>
              </a:spcBef>
              <a:spcAft>
                <a:spcPts val="0"/>
              </a:spcAft>
              <a:buFont typeface="Arial" panose="020B0604020202020204" pitchFamily="34" charset="0"/>
              <a:buNone/>
              <a:defRPr/>
            </a:pPr>
            <a:endParaRPr lang="en-US" noProof="1">
              <a:solidFill>
                <a:prstClr val="white"/>
              </a:solidFill>
            </a:endParaRPr>
          </a:p>
        </p:txBody>
      </p:sp>
      <p:pic>
        <p:nvPicPr>
          <p:cNvPr id="4"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9913" y="808038"/>
            <a:ext cx="2486025" cy="595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3"/>
          <p:cNvSpPr>
            <a:spLocks noGrp="1" noChangeArrowheads="1"/>
          </p:cNvSpPr>
          <p:nvPr>
            <p:ph type="sldNum" sz="quarter" idx="10"/>
          </p:nvPr>
        </p:nvSpPr>
        <p:spPr/>
        <p:txBody>
          <a:bodyPr/>
          <a:lstStyle>
            <a:lvl1pPr algn="l" rtl="0" fontAlgn="base">
              <a:spcBef>
                <a:spcPct val="0"/>
              </a:spcBef>
              <a:spcAft>
                <a:spcPct val="0"/>
              </a:spcAft>
              <a:defRPr lang="en-US" sz="800" kern="1200">
                <a:solidFill>
                  <a:schemeClr val="tx1"/>
                </a:solidFill>
                <a:latin typeface="Arial" panose="020B0604020202020204" pitchFamily="34" charset="0"/>
                <a:ea typeface="+mn-ea"/>
                <a:cs typeface="+mn-cs"/>
              </a:defRPr>
            </a:lvl1pPr>
          </a:lstStyle>
          <a:p>
            <a:pPr>
              <a:defRPr/>
            </a:pPr>
            <a:fld id="{78F6A29C-7CFA-4A20-887F-0A0D650A83F2}" type="slidenum">
              <a:rPr lang="zh-CN" altLang="en-US"/>
              <a:t>‹#›</a:t>
            </a:fld>
            <a:endParaRPr lang="zh-CN" altLang="en-US"/>
          </a:p>
        </p:txBody>
      </p:sp>
    </p:spTree>
    <p:extLst>
      <p:ext uri="{BB962C8B-B14F-4D97-AF65-F5344CB8AC3E}">
        <p14:creationId xmlns:p14="http://schemas.microsoft.com/office/powerpoint/2010/main" val="20592537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No Body Copy">
    <p:spTree>
      <p:nvGrpSpPr>
        <p:cNvPr id="1" name=""/>
        <p:cNvGrpSpPr/>
        <p:nvPr/>
      </p:nvGrpSpPr>
      <p:grpSpPr>
        <a:xfrm>
          <a:off x="0" y="0"/>
          <a:ext cx="0" cy="0"/>
          <a:chOff x="0" y="0"/>
          <a:chExt cx="0" cy="0"/>
        </a:xfrm>
      </p:grpSpPr>
      <p:sp>
        <p:nvSpPr>
          <p:cNvPr id="2" name="矩形 1"/>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3" name="Rectangle 23"/>
          <p:cNvSpPr>
            <a:spLocks noGrp="1" noChangeArrowheads="1"/>
          </p:cNvSpPr>
          <p:nvPr>
            <p:ph type="sldNum" sz="quarter" idx="10"/>
          </p:nvPr>
        </p:nvSpPr>
        <p:spPr/>
        <p:txBody>
          <a:bodyPr/>
          <a:lstStyle>
            <a:lvl1pPr algn="l" rtl="0" fontAlgn="base">
              <a:spcBef>
                <a:spcPct val="0"/>
              </a:spcBef>
              <a:spcAft>
                <a:spcPct val="0"/>
              </a:spcAft>
              <a:defRPr lang="en-US" sz="800" kern="1200">
                <a:solidFill>
                  <a:schemeClr val="tx1"/>
                </a:solidFill>
                <a:latin typeface="Arial" panose="020B0604020202020204" pitchFamily="34" charset="0"/>
                <a:ea typeface="+mn-ea"/>
                <a:cs typeface="+mn-cs"/>
              </a:defRPr>
            </a:lvl1pPr>
          </a:lstStyle>
          <a:p>
            <a:pPr>
              <a:defRPr/>
            </a:pPr>
            <a:fld id="{020408B3-FEBC-4F60-AB3C-AF4EC4D3A0EB}" type="slidenum">
              <a:rPr lang="zh-CN" altLang="en-US"/>
              <a:t>‹#›</a:t>
            </a:fld>
            <a:endParaRPr lang="zh-CN" altLang="en-US"/>
          </a:p>
        </p:txBody>
      </p:sp>
    </p:spTree>
    <p:extLst>
      <p:ext uri="{BB962C8B-B14F-4D97-AF65-F5344CB8AC3E}">
        <p14:creationId xmlns:p14="http://schemas.microsoft.com/office/powerpoint/2010/main" val="77629325"/>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Title No Body Copy">
    <p:spTree>
      <p:nvGrpSpPr>
        <p:cNvPr id="1" name=""/>
        <p:cNvGrpSpPr/>
        <p:nvPr/>
      </p:nvGrpSpPr>
      <p:grpSpPr>
        <a:xfrm>
          <a:off x="0" y="0"/>
          <a:ext cx="0" cy="0"/>
          <a:chOff x="0" y="0"/>
          <a:chExt cx="0" cy="0"/>
        </a:xfrm>
      </p:grpSpPr>
      <p:sp>
        <p:nvSpPr>
          <p:cNvPr id="3" name="矩形 2"/>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10" name="Rectangle 11"/>
          <p:cNvSpPr>
            <a:spLocks noGrp="1" noChangeArrowheads="1"/>
          </p:cNvSpPr>
          <p:nvPr>
            <p:ph type="title"/>
          </p:nvPr>
        </p:nvSpPr>
        <p:spPr bwMode="auto">
          <a:xfrm>
            <a:off x="609600" y="335281"/>
            <a:ext cx="10972800" cy="532727"/>
          </a:xfrm>
          <a:prstGeom prst="rect">
            <a:avLst/>
          </a:prstGeom>
          <a:noFill/>
          <a:ln w="9525">
            <a:noFill/>
            <a:miter lim="800000"/>
          </a:ln>
        </p:spPr>
        <p:txBody>
          <a:bodyPr/>
          <a:lstStyle>
            <a:lvl1pPr>
              <a:defRPr baseline="0"/>
            </a:lvl1pPr>
          </a:lstStyle>
          <a:p>
            <a:pPr lvl="0"/>
            <a:r>
              <a:rPr lang="en-US" altLang="zh-CN" noProof="1"/>
              <a:t>Click to edit Master title style</a:t>
            </a:r>
            <a:endParaRPr lang="en-US" noProof="1"/>
          </a:p>
        </p:txBody>
      </p:sp>
      <p:sp>
        <p:nvSpPr>
          <p:cNvPr id="4" name="Rectangle 23"/>
          <p:cNvSpPr>
            <a:spLocks noGrp="1" noChangeArrowheads="1"/>
          </p:cNvSpPr>
          <p:nvPr>
            <p:ph type="sldNum" sz="quarter" idx="10"/>
          </p:nvPr>
        </p:nvSpPr>
        <p:spPr/>
        <p:txBody>
          <a:bodyPr/>
          <a:lstStyle>
            <a:lvl1pPr algn="l" rtl="0" fontAlgn="base">
              <a:spcBef>
                <a:spcPct val="0"/>
              </a:spcBef>
              <a:spcAft>
                <a:spcPct val="0"/>
              </a:spcAft>
              <a:defRPr lang="en-US" sz="800" kern="1200">
                <a:solidFill>
                  <a:schemeClr val="tx1"/>
                </a:solidFill>
                <a:latin typeface="Arial" panose="020B0604020202020204" pitchFamily="34" charset="0"/>
                <a:ea typeface="+mn-ea"/>
                <a:cs typeface="+mn-cs"/>
              </a:defRPr>
            </a:lvl1pPr>
          </a:lstStyle>
          <a:p>
            <a:pPr>
              <a:defRPr/>
            </a:pPr>
            <a:fld id="{445E4708-4C24-48A0-8EFA-DF0BB683E4BB}" type="slidenum">
              <a:rPr lang="zh-CN" altLang="en-US"/>
              <a:t>‹#›</a:t>
            </a:fld>
            <a:endParaRPr lang="zh-CN" altLang="en-US"/>
          </a:p>
        </p:txBody>
      </p:sp>
    </p:spTree>
    <p:extLst>
      <p:ext uri="{BB962C8B-B14F-4D97-AF65-F5344CB8AC3E}">
        <p14:creationId xmlns:p14="http://schemas.microsoft.com/office/powerpoint/2010/main" val="101029679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矩形 3"/>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2" name="标题 1"/>
          <p:cNvSpPr>
            <a:spLocks noGrp="1"/>
          </p:cNvSpPr>
          <p:nvPr>
            <p:ph type="title"/>
          </p:nvPr>
        </p:nvSpPr>
        <p:spPr>
          <a:xfrm>
            <a:off x="609600" y="381000"/>
            <a:ext cx="10972800" cy="530225"/>
          </a:xfrm>
        </p:spPr>
        <p:txBody>
          <a:bodyPr/>
          <a:lstStyle/>
          <a:p>
            <a:r>
              <a:rPr lang="zh-CN" altLang="en-US" noProof="1"/>
              <a:t>单击此处编辑母版标题样式</a:t>
            </a:r>
          </a:p>
        </p:txBody>
      </p:sp>
      <p:sp>
        <p:nvSpPr>
          <p:cNvPr id="3" name="内容占位符 2"/>
          <p:cNvSpPr>
            <a:spLocks noGrp="1"/>
          </p:cNvSpPr>
          <p:nvPr>
            <p:ph idx="1"/>
          </p:nvPr>
        </p:nvSpPr>
        <p:spPr>
          <a:xfrm>
            <a:off x="812800" y="1600200"/>
            <a:ext cx="10566400" cy="4419600"/>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a:xfrm>
            <a:off x="609600" y="6248400"/>
            <a:ext cx="2844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6" name="页脚占位符 4"/>
          <p:cNvSpPr>
            <a:spLocks noGrp="1"/>
          </p:cNvSpPr>
          <p:nvPr>
            <p:ph type="ftr" sz="quarter" idx="11"/>
          </p:nvPr>
        </p:nvSpPr>
        <p:spPr>
          <a:xfrm>
            <a:off x="4165600" y="6248400"/>
            <a:ext cx="3860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E615C514-A25F-49D5-A4F3-88E9F3263352}" type="slidenum">
              <a:rPr lang="zh-CN" altLang="en-US"/>
              <a:t>‹#›</a:t>
            </a:fld>
            <a:endParaRPr lang="zh-CN" altLang="en-US"/>
          </a:p>
        </p:txBody>
      </p:sp>
    </p:spTree>
    <p:extLst>
      <p:ext uri="{BB962C8B-B14F-4D97-AF65-F5344CB8AC3E}">
        <p14:creationId xmlns:p14="http://schemas.microsoft.com/office/powerpoint/2010/main" val="32197498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358140"/>
            <a:ext cx="10972800" cy="530225"/>
          </a:xfrm>
        </p:spPr>
        <p:txBody>
          <a:bodyPr/>
          <a:lstStyle/>
          <a:p>
            <a:r>
              <a:rPr lang="zh-CN" altLang="en-US" noProof="1"/>
              <a:t>单击此处编辑母版标题样式</a:t>
            </a:r>
          </a:p>
        </p:txBody>
      </p:sp>
      <p:sp>
        <p:nvSpPr>
          <p:cNvPr id="3" name="日期占位符 2"/>
          <p:cNvSpPr>
            <a:spLocks noGrp="1"/>
          </p:cNvSpPr>
          <p:nvPr>
            <p:ph type="dt" sz="half" idx="10"/>
          </p:nvPr>
        </p:nvSpPr>
        <p:spPr>
          <a:xfrm>
            <a:off x="609600" y="6248400"/>
            <a:ext cx="2844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4" name="页脚占位符 3"/>
          <p:cNvSpPr>
            <a:spLocks noGrp="1"/>
          </p:cNvSpPr>
          <p:nvPr>
            <p:ph type="ftr" sz="quarter" idx="11"/>
          </p:nvPr>
        </p:nvSpPr>
        <p:spPr>
          <a:xfrm>
            <a:off x="4165600" y="6248400"/>
            <a:ext cx="3860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5" name="灯片编号占位符 4"/>
          <p:cNvSpPr>
            <a:spLocks noGrp="1"/>
          </p:cNvSpPr>
          <p:nvPr>
            <p:ph type="sldNum" sz="quarter" idx="12"/>
          </p:nvPr>
        </p:nvSpPr>
        <p:spPr/>
        <p:txBody>
          <a:bodyPr/>
          <a:lstStyle>
            <a:lvl1pPr>
              <a:defRPr/>
            </a:lvl1pPr>
          </a:lstStyle>
          <a:p>
            <a:pPr>
              <a:defRPr/>
            </a:pPr>
            <a:fld id="{7102E498-119F-4A00-B797-CBB57BD1809B}" type="slidenum">
              <a:rPr lang="zh-CN" altLang="en-US"/>
              <a:t>‹#›</a:t>
            </a:fld>
            <a:endParaRPr lang="zh-CN" altLang="en-US"/>
          </a:p>
        </p:txBody>
      </p:sp>
    </p:spTree>
    <p:extLst>
      <p:ext uri="{BB962C8B-B14F-4D97-AF65-F5344CB8AC3E}">
        <p14:creationId xmlns:p14="http://schemas.microsoft.com/office/powerpoint/2010/main" val="3924219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标题和两项内容在文本之上">
    <p:spTree>
      <p:nvGrpSpPr>
        <p:cNvPr id="1" name=""/>
        <p:cNvGrpSpPr/>
        <p:nvPr/>
      </p:nvGrpSpPr>
      <p:grpSpPr>
        <a:xfrm>
          <a:off x="0" y="0"/>
          <a:ext cx="0" cy="0"/>
          <a:chOff x="0" y="0"/>
          <a:chExt cx="0" cy="0"/>
        </a:xfrm>
      </p:grpSpPr>
      <p:sp>
        <p:nvSpPr>
          <p:cNvPr id="6" name="矩形 5"/>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
        <p:nvSpPr>
          <p:cNvPr id="2" name="标题 1"/>
          <p:cNvSpPr>
            <a:spLocks noGrp="1"/>
          </p:cNvSpPr>
          <p:nvPr>
            <p:ph type="title"/>
          </p:nvPr>
        </p:nvSpPr>
        <p:spPr>
          <a:xfrm>
            <a:off x="609600" y="387033"/>
            <a:ext cx="10972800" cy="530225"/>
          </a:xfrm>
        </p:spPr>
        <p:txBody>
          <a:bodyPr/>
          <a:lstStyle/>
          <a:p>
            <a:r>
              <a:rPr lang="zh-CN" altLang="en-US" noProof="1"/>
              <a:t>单击此处编辑母版标题样式</a:t>
            </a:r>
          </a:p>
        </p:txBody>
      </p:sp>
      <p:sp>
        <p:nvSpPr>
          <p:cNvPr id="3" name="内容占位符 2"/>
          <p:cNvSpPr>
            <a:spLocks noGrp="1"/>
          </p:cNvSpPr>
          <p:nvPr>
            <p:ph sz="quarter" idx="1"/>
          </p:nvPr>
        </p:nvSpPr>
        <p:spPr>
          <a:xfrm>
            <a:off x="838200" y="1825625"/>
            <a:ext cx="51816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6172200" y="1825625"/>
            <a:ext cx="5181600" cy="2098675"/>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half" idx="3"/>
          </p:nvPr>
        </p:nvSpPr>
        <p:spPr>
          <a:xfrm>
            <a:off x="838200" y="4076700"/>
            <a:ext cx="10515600" cy="210026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609600" y="6248400"/>
            <a:ext cx="2844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8" name="页脚占位符 6"/>
          <p:cNvSpPr>
            <a:spLocks noGrp="1"/>
          </p:cNvSpPr>
          <p:nvPr>
            <p:ph type="ftr" sz="quarter" idx="11"/>
          </p:nvPr>
        </p:nvSpPr>
        <p:spPr>
          <a:xfrm>
            <a:off x="4165600" y="6248400"/>
            <a:ext cx="3860800" cy="457200"/>
          </a:xfrm>
        </p:spPr>
        <p:txBody>
          <a:bodyPr/>
          <a:lstStyle>
            <a:lvl1pPr eaLnBrk="1" fontAlgn="auto" hangingPunct="1">
              <a:buFont typeface="Arial" panose="020B0604020202020204" pitchFamily="34" charset="0"/>
              <a:buNone/>
              <a:defRPr noProof="1"/>
            </a:lvl1pPr>
          </a:lstStyle>
          <a:p>
            <a:pPr>
              <a:defRPr/>
            </a:pPr>
            <a:endParaRPr lang="zh-CN" altLang="en-US"/>
          </a:p>
        </p:txBody>
      </p:sp>
      <p:sp>
        <p:nvSpPr>
          <p:cNvPr id="9" name="灯片编号占位符 7"/>
          <p:cNvSpPr>
            <a:spLocks noGrp="1"/>
          </p:cNvSpPr>
          <p:nvPr>
            <p:ph type="sldNum" sz="quarter" idx="12"/>
          </p:nvPr>
        </p:nvSpPr>
        <p:spPr/>
        <p:txBody>
          <a:bodyPr/>
          <a:lstStyle>
            <a:lvl1pPr>
              <a:defRPr/>
            </a:lvl1pPr>
          </a:lstStyle>
          <a:p>
            <a:pPr>
              <a:defRPr/>
            </a:pPr>
            <a:fld id="{CE26C861-0A58-411C-9904-F3EEB648CE2F}" type="slidenum">
              <a:rPr lang="zh-CN" altLang="en-US"/>
              <a:t>‹#›</a:t>
            </a:fld>
            <a:endParaRPr lang="zh-CN" altLang="en-US"/>
          </a:p>
        </p:txBody>
      </p:sp>
    </p:spTree>
    <p:extLst>
      <p:ext uri="{BB962C8B-B14F-4D97-AF65-F5344CB8AC3E}">
        <p14:creationId xmlns:p14="http://schemas.microsoft.com/office/powerpoint/2010/main" val="536313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ltLang="zh-CN" noProof="1"/>
              <a:t>Click to edit Master title style</a:t>
            </a:r>
            <a:endParaRPr lang="en-US" noProof="1"/>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noProof="1"/>
              <a:t>Click to edit Master subtitle style</a:t>
            </a:r>
            <a:endParaRPr lang="en-US" noProof="1"/>
          </a:p>
        </p:txBody>
      </p:sp>
      <p:sp>
        <p:nvSpPr>
          <p:cNvPr id="5" name="Date Placeholder 3"/>
          <p:cNvSpPr>
            <a:spLocks noGrp="1"/>
          </p:cNvSpPr>
          <p:nvPr>
            <p:ph type="dt" sz="half" idx="10"/>
          </p:nvPr>
        </p:nvSpPr>
        <p:spPr>
          <a:xfrm>
            <a:off x="838200" y="6356350"/>
            <a:ext cx="2743200" cy="365125"/>
          </a:xfrm>
          <a:prstGeom prst="rect">
            <a:avLst/>
          </a:prstGeom>
        </p:spPr>
        <p:txBody>
          <a:bodyPr/>
          <a:lstStyle>
            <a:lvl1pPr>
              <a:defRPr>
                <a:latin typeface="+mn-lt"/>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989D5E6-0779-4FBE-A349-DA9496993E7E}" type="slidenum">
              <a:rPr lang="en-US"/>
              <a:t>‹#›</a:t>
            </a:fld>
            <a:endParaRPr lang="en-US"/>
          </a:p>
        </p:txBody>
      </p:sp>
    </p:spTree>
    <p:extLst>
      <p:ext uri="{BB962C8B-B14F-4D97-AF65-F5344CB8AC3E}">
        <p14:creationId xmlns:p14="http://schemas.microsoft.com/office/powerpoint/2010/main" val="3332070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609600" y="6248400"/>
            <a:ext cx="2844800" cy="457200"/>
          </a:xfrm>
        </p:spPr>
        <p:txBody>
          <a:bodyPr/>
          <a:lstStyle>
            <a:lvl1pPr fontAlgn="auto">
              <a:defRPr noProof="1"/>
            </a:lvl1pPr>
          </a:lstStyle>
          <a:p>
            <a:pPr>
              <a:defRPr/>
            </a:pPr>
            <a:endParaRPr lang="zh-CN" altLang="en-US"/>
          </a:p>
        </p:txBody>
      </p:sp>
      <p:sp>
        <p:nvSpPr>
          <p:cNvPr id="3" name="页脚占位符 2"/>
          <p:cNvSpPr>
            <a:spLocks noGrp="1"/>
          </p:cNvSpPr>
          <p:nvPr>
            <p:ph type="ftr" sz="quarter" idx="11"/>
          </p:nvPr>
        </p:nvSpPr>
        <p:spPr>
          <a:xfrm>
            <a:off x="4165600" y="6248400"/>
            <a:ext cx="3860800" cy="457200"/>
          </a:xfrm>
        </p:spPr>
        <p:txBody>
          <a:bodyPr/>
          <a:lstStyle>
            <a:lvl1pPr fontAlgn="auto">
              <a:defRPr noProof="1"/>
            </a:lvl1pPr>
          </a:lstStyle>
          <a:p>
            <a:pPr>
              <a:defRPr/>
            </a:pPr>
            <a:endParaRPr lang="zh-CN" altLang="en-US"/>
          </a:p>
        </p:txBody>
      </p:sp>
      <p:sp>
        <p:nvSpPr>
          <p:cNvPr id="4" name="灯片编号占位符 3"/>
          <p:cNvSpPr>
            <a:spLocks noGrp="1"/>
          </p:cNvSpPr>
          <p:nvPr>
            <p:ph type="sldNum" sz="quarter" idx="12"/>
          </p:nvPr>
        </p:nvSpPr>
        <p:spPr/>
        <p:txBody>
          <a:bodyPr/>
          <a:lstStyle>
            <a:lvl1pPr>
              <a:defRPr/>
            </a:lvl1pPr>
          </a:lstStyle>
          <a:p>
            <a:pPr>
              <a:defRPr/>
            </a:pPr>
            <a:fld id="{0ABDDAD1-500F-4609-B313-3E734B29CBF3}" type="slidenum">
              <a:rPr lang="zh-CN" altLang="en-US"/>
              <a:t>‹#›</a:t>
            </a:fld>
            <a:endParaRPr lang="zh-CN" altLang="en-US"/>
          </a:p>
        </p:txBody>
      </p:sp>
    </p:spTree>
    <p:extLst>
      <p:ext uri="{BB962C8B-B14F-4D97-AF65-F5344CB8AC3E}">
        <p14:creationId xmlns:p14="http://schemas.microsoft.com/office/powerpoint/2010/main" val="420744067"/>
      </p:ext>
    </p:extLst>
  </p:cSld>
  <p:clrMapOvr>
    <a:masterClrMapping/>
  </p:clrMapOvr>
  <p:transition>
    <p:pull dir="d"/>
  </p:transition>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13"/>
          <p:cNvSpPr>
            <a:spLocks noChangeArrowheads="1"/>
          </p:cNvSpPr>
          <p:nvPr/>
        </p:nvSpPr>
        <p:spPr bwMode="auto">
          <a:xfrm>
            <a:off x="641350" y="0"/>
            <a:ext cx="11550650" cy="152400"/>
          </a:xfrm>
          <a:prstGeom prst="rect">
            <a:avLst/>
          </a:prstGeom>
          <a:solidFill>
            <a:srgbClr val="595959"/>
          </a:solidFill>
          <a:ln>
            <a:noFill/>
          </a:ln>
          <a:extLst>
            <a:ext uri="{91240B29-F687-4F45-9708-019B960494DF}">
              <a14:hiddenLine xmlns:a14="http://schemas.microsoft.com/office/drawing/2010/main" w="762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sp>
        <p:nvSpPr>
          <p:cNvPr id="1027" name="Rectangle 11"/>
          <p:cNvSpPr>
            <a:spLocks noGrp="1" noChangeArrowheads="1"/>
          </p:cNvSpPr>
          <p:nvPr>
            <p:ph type="title" idx="4294967295"/>
          </p:nvPr>
        </p:nvSpPr>
        <p:spPr bwMode="auto">
          <a:xfrm>
            <a:off x="609600" y="346075"/>
            <a:ext cx="109728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91440" bIns="45720" numCol="1" anchor="t" anchorCtr="0" compatLnSpc="1"/>
          <a:lstStyle/>
          <a:p>
            <a:pPr lvl="0"/>
            <a:r>
              <a:rPr lang="en-US" altLang="zh-CN"/>
              <a:t>Click to edit Master title style</a:t>
            </a:r>
          </a:p>
        </p:txBody>
      </p:sp>
      <p:sp>
        <p:nvSpPr>
          <p:cNvPr id="1028" name="Rectangle 10"/>
          <p:cNvSpPr>
            <a:spLocks noChangeArrowheads="1"/>
          </p:cNvSpPr>
          <p:nvPr/>
        </p:nvSpPr>
        <p:spPr bwMode="auto">
          <a:xfrm>
            <a:off x="0" y="0"/>
            <a:ext cx="641350" cy="152400"/>
          </a:xfrm>
          <a:prstGeom prst="rect">
            <a:avLst/>
          </a:prstGeom>
          <a:solidFill>
            <a:srgbClr val="FF0000"/>
          </a:solidFill>
          <a:ln>
            <a:noFill/>
          </a:ln>
          <a:extLst>
            <a:ext uri="{91240B29-F687-4F45-9708-019B960494DF}">
              <a14:hiddenLine xmlns:a14="http://schemas.microsoft.com/office/drawing/2010/main" w="76200">
                <a:solidFill>
                  <a:srgbClr val="000000"/>
                </a:solidFill>
                <a:miter lim="800000"/>
                <a:headEnd/>
                <a:tailEnd/>
              </a14:hiddenLine>
            </a:ext>
          </a:extLst>
        </p:spPr>
        <p:txBody>
          <a:bodyPr anchor="ct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eaLnBrk="1" hangingPunct="1">
              <a:buFont typeface="Arial" panose="020B0604020202020204" pitchFamily="34" charset="0"/>
              <a:buNone/>
              <a:defRPr/>
            </a:pPr>
            <a:endParaRPr lang="en-US" altLang="zh-CN">
              <a:solidFill>
                <a:srgbClr val="000000"/>
              </a:solidFill>
              <a:ea typeface="宋体" panose="02010600030101010101" pitchFamily="2" charset="-122"/>
            </a:endParaRPr>
          </a:p>
        </p:txBody>
      </p:sp>
      <p:sp>
        <p:nvSpPr>
          <p:cNvPr id="10" name="Rectangle 23"/>
          <p:cNvSpPr>
            <a:spLocks noGrp="1" noChangeArrowheads="1"/>
          </p:cNvSpPr>
          <p:nvPr>
            <p:ph type="sldNum" sz="quarter" idx="10"/>
          </p:nvPr>
        </p:nvSpPr>
        <p:spPr>
          <a:xfrm>
            <a:off x="609600" y="6577013"/>
            <a:ext cx="1117600" cy="244475"/>
          </a:xfrm>
          <a:prstGeom prst="rect">
            <a:avLst/>
          </a:prstGeom>
          <a:noFill/>
          <a:ln w="9525" algn="ctr">
            <a:noFill/>
            <a:miter lim="800000"/>
          </a:ln>
          <a:effectLst/>
        </p:spPr>
        <p:txBody>
          <a:bodyPr vert="horz" wrap="square" lIns="91440" tIns="45720" rIns="91440" bIns="45720" numCol="1" anchor="t" anchorCtr="0" compatLnSpc="1"/>
          <a:lstStyle>
            <a:lvl1pPr algn="l" rtl="0" eaLnBrk="1" fontAlgn="base" hangingPunct="1">
              <a:spcBef>
                <a:spcPct val="0"/>
              </a:spcBef>
              <a:spcAft>
                <a:spcPct val="0"/>
              </a:spcAft>
              <a:buFont typeface="Arial" panose="020B0604020202020204" pitchFamily="34" charset="0"/>
              <a:buNone/>
              <a:defRPr lang="en-US" sz="800" kern="1200" noProof="1">
                <a:solidFill>
                  <a:schemeClr val="tx1"/>
                </a:solidFill>
                <a:latin typeface="Arial" panose="020B0604020202020204" pitchFamily="34" charset="0"/>
                <a:ea typeface="+mn-ea"/>
                <a:cs typeface="+mn-cs"/>
              </a:defRPr>
            </a:lvl1pPr>
          </a:lstStyle>
          <a:p>
            <a:pPr>
              <a:defRPr/>
            </a:pPr>
            <a:fld id="{CF2A3872-F5B4-4042-85E5-C5E005278C2C}" type="slidenum">
              <a:rPr lang="zh-CN" altLang="en-US"/>
              <a:t>‹#›</a:t>
            </a:fld>
            <a:endParaRPr lang="zh-CN" altLang="en-US"/>
          </a:p>
        </p:txBody>
      </p:sp>
      <p:sp>
        <p:nvSpPr>
          <p:cNvPr id="1030" name="矩形 5"/>
          <p:cNvSpPr>
            <a:spLocks noChangeArrowheads="1"/>
          </p:cNvSpPr>
          <p:nvPr userDrawn="1"/>
        </p:nvSpPr>
        <p:spPr bwMode="auto">
          <a:xfrm>
            <a:off x="9077325" y="6529388"/>
            <a:ext cx="298291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defRPr/>
            </a:pPr>
            <a:r>
              <a:rPr lang="en-US" altLang="zh-CN" sz="1600" b="1">
                <a:solidFill>
                  <a:srgbClr val="404040"/>
                </a:solidFill>
                <a:latin typeface="微软雅黑" panose="020B0503020204020204" pitchFamily="34" charset="-122"/>
                <a:ea typeface="微软雅黑" panose="020B0503020204020204" pitchFamily="34" charset="-122"/>
              </a:rPr>
              <a:t>Xilinx </a:t>
            </a:r>
            <a:r>
              <a:rPr lang="zh-CN" altLang="en-US" sz="1600" b="1">
                <a:solidFill>
                  <a:srgbClr val="404040"/>
                </a:solidFill>
                <a:latin typeface="微软雅黑" panose="020B0503020204020204" pitchFamily="34" charset="-122"/>
                <a:ea typeface="微软雅黑" panose="020B0503020204020204" pitchFamily="34" charset="-122"/>
              </a:rPr>
              <a:t>大学合作部 </a:t>
            </a:r>
            <a:r>
              <a:rPr lang="en-US" altLang="zh-CN" sz="1600" b="1">
                <a:solidFill>
                  <a:srgbClr val="404040"/>
                </a:solidFill>
                <a:latin typeface="微软雅黑" panose="020B0503020204020204" pitchFamily="34" charset="-122"/>
                <a:ea typeface="微软雅黑" panose="020B0503020204020204" pitchFamily="34" charset="-122"/>
              </a:rPr>
              <a:t>&amp; </a:t>
            </a:r>
            <a:r>
              <a:rPr lang="zh-CN" altLang="en-US" sz="1600" b="1">
                <a:solidFill>
                  <a:srgbClr val="404040"/>
                </a:solidFill>
                <a:latin typeface="微软雅黑" panose="020B0503020204020204" pitchFamily="34" charset="-122"/>
                <a:ea typeface="微软雅黑" panose="020B0503020204020204" pitchFamily="34" charset="-122"/>
              </a:rPr>
              <a:t>东南大学</a:t>
            </a:r>
            <a:endParaRPr lang="zh-CN" altLang="en-US" sz="1600">
              <a:ea typeface="宋体" panose="02010600030101010101" pitchFamily="2" charset="-122"/>
            </a:endParaRPr>
          </a:p>
        </p:txBody>
      </p:sp>
    </p:spTree>
    <p:extLst>
      <p:ext uri="{BB962C8B-B14F-4D97-AF65-F5344CB8AC3E}">
        <p14:creationId xmlns:p14="http://schemas.microsoft.com/office/powerpoint/2010/main" val="294940367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hdr="0" ftr="0" dt="0"/>
  <p:txStyles>
    <p:titleStyle>
      <a:lvl1pPr algn="l" rtl="0" eaLnBrk="0" fontAlgn="base" hangingPunct="0">
        <a:lnSpc>
          <a:spcPct val="98000"/>
        </a:lnSpc>
        <a:spcBef>
          <a:spcPct val="0"/>
        </a:spcBef>
        <a:spcAft>
          <a:spcPct val="0"/>
        </a:spcAft>
        <a:defRPr lang="en-US" sz="3200" dirty="0">
          <a:solidFill>
            <a:srgbClr val="404040"/>
          </a:solidFill>
          <a:latin typeface="Calibri" panose="020F0502020204030204" pitchFamily="34" charset="0"/>
          <a:ea typeface="+mj-ea"/>
          <a:cs typeface="Calibri" panose="020F0502020204030204" pitchFamily="34" charset="0"/>
        </a:defRPr>
      </a:lvl1pPr>
      <a:lvl2pPr algn="l" rtl="0" eaLnBrk="0" fontAlgn="base" hangingPunct="0">
        <a:lnSpc>
          <a:spcPct val="98000"/>
        </a:lnSpc>
        <a:spcBef>
          <a:spcPct val="0"/>
        </a:spcBef>
        <a:spcAft>
          <a:spcPct val="0"/>
        </a:spcAft>
        <a:defRPr sz="3200">
          <a:solidFill>
            <a:srgbClr val="404040"/>
          </a:solidFill>
          <a:latin typeface="Calibri" panose="020F0502020204030204" pitchFamily="34" charset="0"/>
          <a:cs typeface="Calibri" panose="020F0502020204030204" pitchFamily="34" charset="0"/>
        </a:defRPr>
      </a:lvl2pPr>
      <a:lvl3pPr algn="l" rtl="0" eaLnBrk="0" fontAlgn="base" hangingPunct="0">
        <a:lnSpc>
          <a:spcPct val="98000"/>
        </a:lnSpc>
        <a:spcBef>
          <a:spcPct val="0"/>
        </a:spcBef>
        <a:spcAft>
          <a:spcPct val="0"/>
        </a:spcAft>
        <a:defRPr sz="3200">
          <a:solidFill>
            <a:srgbClr val="404040"/>
          </a:solidFill>
          <a:latin typeface="Calibri" panose="020F0502020204030204" pitchFamily="34" charset="0"/>
          <a:cs typeface="Calibri" panose="020F0502020204030204" pitchFamily="34" charset="0"/>
        </a:defRPr>
      </a:lvl3pPr>
      <a:lvl4pPr algn="l" rtl="0" eaLnBrk="0" fontAlgn="base" hangingPunct="0">
        <a:lnSpc>
          <a:spcPct val="98000"/>
        </a:lnSpc>
        <a:spcBef>
          <a:spcPct val="0"/>
        </a:spcBef>
        <a:spcAft>
          <a:spcPct val="0"/>
        </a:spcAft>
        <a:defRPr sz="3200">
          <a:solidFill>
            <a:srgbClr val="404040"/>
          </a:solidFill>
          <a:latin typeface="Calibri" panose="020F0502020204030204" pitchFamily="34" charset="0"/>
          <a:cs typeface="Calibri" panose="020F0502020204030204" pitchFamily="34" charset="0"/>
        </a:defRPr>
      </a:lvl4pPr>
      <a:lvl5pPr algn="l" rtl="0" eaLnBrk="0" fontAlgn="base" hangingPunct="0">
        <a:lnSpc>
          <a:spcPct val="98000"/>
        </a:lnSpc>
        <a:spcBef>
          <a:spcPct val="0"/>
        </a:spcBef>
        <a:spcAft>
          <a:spcPct val="0"/>
        </a:spcAft>
        <a:defRPr sz="3200">
          <a:solidFill>
            <a:srgbClr val="404040"/>
          </a:solidFill>
          <a:latin typeface="Calibri" panose="020F0502020204030204" pitchFamily="34" charset="0"/>
          <a:cs typeface="Calibri" panose="020F0502020204030204" pitchFamily="34" charset="0"/>
        </a:defRPr>
      </a:lvl5pPr>
      <a:lvl6pPr marL="457200" algn="l" rtl="0" eaLnBrk="1" fontAlgn="base" hangingPunct="1">
        <a:lnSpc>
          <a:spcPct val="115000"/>
        </a:lnSpc>
        <a:spcBef>
          <a:spcPct val="0"/>
        </a:spcBef>
        <a:spcAft>
          <a:spcPct val="0"/>
        </a:spcAft>
        <a:defRPr sz="2800" b="1">
          <a:solidFill>
            <a:schemeClr val="bg1"/>
          </a:solidFill>
          <a:latin typeface="Arial" panose="020B0604020202020204" pitchFamily="34" charset="0"/>
        </a:defRPr>
      </a:lvl6pPr>
      <a:lvl7pPr marL="914400" algn="l" rtl="0" eaLnBrk="1" fontAlgn="base" hangingPunct="1">
        <a:lnSpc>
          <a:spcPct val="115000"/>
        </a:lnSpc>
        <a:spcBef>
          <a:spcPct val="0"/>
        </a:spcBef>
        <a:spcAft>
          <a:spcPct val="0"/>
        </a:spcAft>
        <a:defRPr sz="2800" b="1">
          <a:solidFill>
            <a:schemeClr val="bg1"/>
          </a:solidFill>
          <a:latin typeface="Arial" panose="020B0604020202020204" pitchFamily="34" charset="0"/>
        </a:defRPr>
      </a:lvl7pPr>
      <a:lvl8pPr marL="1371600" algn="l" rtl="0" eaLnBrk="1" fontAlgn="base" hangingPunct="1">
        <a:lnSpc>
          <a:spcPct val="115000"/>
        </a:lnSpc>
        <a:spcBef>
          <a:spcPct val="0"/>
        </a:spcBef>
        <a:spcAft>
          <a:spcPct val="0"/>
        </a:spcAft>
        <a:defRPr sz="2800" b="1">
          <a:solidFill>
            <a:schemeClr val="bg1"/>
          </a:solidFill>
          <a:latin typeface="Arial" panose="020B0604020202020204" pitchFamily="34" charset="0"/>
        </a:defRPr>
      </a:lvl8pPr>
      <a:lvl9pPr marL="1828800" algn="l" rtl="0" eaLnBrk="1" fontAlgn="base" hangingPunct="1">
        <a:lnSpc>
          <a:spcPct val="115000"/>
        </a:lnSpc>
        <a:spcBef>
          <a:spcPct val="0"/>
        </a:spcBef>
        <a:spcAft>
          <a:spcPct val="0"/>
        </a:spcAft>
        <a:defRPr sz="2800" b="1">
          <a:solidFill>
            <a:schemeClr val="bg1"/>
          </a:solidFill>
          <a:latin typeface="Arial" panose="020B0604020202020204" pitchFamily="34" charset="0"/>
        </a:defRPr>
      </a:lvl9pPr>
    </p:titleStyle>
    <p:bodyStyle>
      <a:lvl1pPr marL="228600" indent="-228600" algn="l" rtl="0" eaLnBrk="0" fontAlgn="base" hangingPunct="0">
        <a:lnSpc>
          <a:spcPct val="110000"/>
        </a:lnSpc>
        <a:spcBef>
          <a:spcPts val="800"/>
        </a:spcBef>
        <a:spcAft>
          <a:spcPct val="0"/>
        </a:spcAft>
        <a:buClr>
          <a:schemeClr val="tx2"/>
        </a:buClr>
        <a:buSzPct val="88000"/>
        <a:buFont typeface="Wingdings" panose="05000000000000000000" pitchFamily="2" charset="2"/>
        <a:buBlip>
          <a:blip r:embed="rId13"/>
        </a:buBlip>
        <a:defRPr lang="en-US" sz="2000" b="1" dirty="0">
          <a:solidFill>
            <a:srgbClr val="3F3F3F"/>
          </a:solidFill>
          <a:latin typeface="+mn-lt"/>
          <a:ea typeface="+mn-ea"/>
          <a:cs typeface="+mn-cs"/>
        </a:defRPr>
      </a:lvl1pPr>
      <a:lvl2pPr marL="571500" indent="-228600" algn="l" rtl="0" eaLnBrk="0" fontAlgn="base" hangingPunct="0">
        <a:lnSpc>
          <a:spcPct val="110000"/>
        </a:lnSpc>
        <a:spcBef>
          <a:spcPct val="20000"/>
        </a:spcBef>
        <a:spcAft>
          <a:spcPct val="0"/>
        </a:spcAft>
        <a:buClr>
          <a:schemeClr val="tx1"/>
        </a:buClr>
        <a:buChar char="–"/>
        <a:defRPr lang="en-US" dirty="0">
          <a:solidFill>
            <a:schemeClr val="tx1"/>
          </a:solidFill>
          <a:latin typeface="+mn-lt"/>
          <a:ea typeface="+mn-ea"/>
          <a:cs typeface="+mn-cs"/>
        </a:defRPr>
      </a:lvl2pPr>
      <a:lvl3pPr marL="855980" indent="-170180" algn="l" rtl="0" eaLnBrk="0" fontAlgn="base" hangingPunct="0">
        <a:lnSpc>
          <a:spcPct val="110000"/>
        </a:lnSpc>
        <a:spcBef>
          <a:spcPct val="20000"/>
        </a:spcBef>
        <a:spcAft>
          <a:spcPct val="0"/>
        </a:spcAft>
        <a:buClr>
          <a:schemeClr val="tx1"/>
        </a:buClr>
        <a:buChar char="•"/>
        <a:defRPr lang="en-US" sz="1600" dirty="0">
          <a:solidFill>
            <a:schemeClr val="tx1"/>
          </a:solidFill>
          <a:latin typeface="+mn-lt"/>
          <a:ea typeface="+mn-ea"/>
          <a:cs typeface="+mn-cs"/>
        </a:defRPr>
      </a:lvl3pPr>
      <a:lvl4pPr marL="1546225" indent="-174625" algn="l" rtl="0" eaLnBrk="0" fontAlgn="base" hangingPunct="0">
        <a:lnSpc>
          <a:spcPct val="110000"/>
        </a:lnSpc>
        <a:spcBef>
          <a:spcPct val="20000"/>
        </a:spcBef>
        <a:spcAft>
          <a:spcPct val="0"/>
        </a:spcAft>
        <a:buClr>
          <a:schemeClr val="tx1"/>
        </a:buClr>
        <a:buFont typeface="Wingdings" panose="05000000000000000000" pitchFamily="2" charset="2"/>
        <a:buChar char="§"/>
        <a:defRPr lang="en-US" sz="1600" dirty="0">
          <a:solidFill>
            <a:schemeClr val="tx1"/>
          </a:solidFill>
          <a:latin typeface="+mn-lt"/>
          <a:ea typeface="+mn-ea"/>
          <a:cs typeface="+mn-cs"/>
        </a:defRPr>
      </a:lvl4pPr>
      <a:lvl5pPr marL="2003425" indent="-174625" algn="l" rtl="0" eaLnBrk="0" fontAlgn="base" hangingPunct="0">
        <a:lnSpc>
          <a:spcPct val="110000"/>
        </a:lnSpc>
        <a:spcBef>
          <a:spcPct val="20000"/>
        </a:spcBef>
        <a:spcAft>
          <a:spcPct val="0"/>
        </a:spcAft>
        <a:buClr>
          <a:schemeClr val="tx1"/>
        </a:buClr>
        <a:buChar char="»"/>
        <a:defRPr lang="en-US" sz="1600" dirty="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10.xml"/><Relationship Id="rId1" Type="http://schemas.openxmlformats.org/officeDocument/2006/relationships/themeOverride" Target="../theme/themeOverride1.xml"/><Relationship Id="rId5" Type="http://schemas.openxmlformats.org/officeDocument/2006/relationships/image" Target="../media/image9.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image" Target="../media/image16.emf"/><Relationship Id="rId1" Type="http://schemas.openxmlformats.org/officeDocument/2006/relationships/slideLayout" Target="../slideLayouts/slideLayout3.xml"/><Relationship Id="rId4" Type="http://schemas.openxmlformats.org/officeDocument/2006/relationships/image" Target="../media/image18.emf"/></Relationships>
</file>

<file path=ppt/slides/_rels/slide12.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image" Target="../media/image19.emf"/><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slideLayout" Target="../slideLayouts/slideLayout5.xml"/><Relationship Id="rId1" Type="http://schemas.openxmlformats.org/officeDocument/2006/relationships/themeOverride" Target="../theme/themeOverride3.xml"/><Relationship Id="rId5" Type="http://schemas.openxmlformats.org/officeDocument/2006/relationships/image" Target="../media/image22.jpe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3"/>
          <p:cNvSpPr>
            <a:spLocks noGrp="1"/>
          </p:cNvSpPr>
          <p:nvPr>
            <p:ph type="ctrTitle"/>
          </p:nvPr>
        </p:nvSpPr>
        <p:spPr>
          <a:xfrm>
            <a:off x="1255137" y="1059868"/>
            <a:ext cx="5427518" cy="2504214"/>
          </a:xfrm>
        </p:spPr>
        <p:txBody>
          <a:bodyPr/>
          <a:lstStyle/>
          <a:p>
            <a:pPr algn="r">
              <a:lnSpc>
                <a:spcPct val="100000"/>
              </a:lnSpc>
              <a:spcBef>
                <a:spcPts val="2400"/>
              </a:spcBef>
            </a:pPr>
            <a:r>
              <a:rPr lang="zh-CN" altLang="en-US" sz="4800" b="1" dirty="0">
                <a:solidFill>
                  <a:srgbClr val="7030A0"/>
                </a:solidFill>
                <a:latin typeface="微软雅黑" panose="020B0503020204020204" pitchFamily="34" charset="-122"/>
                <a:ea typeface="微软雅黑" panose="020B0503020204020204" pitchFamily="34" charset="-122"/>
              </a:rPr>
              <a:t>搭建你的数字积木</a:t>
            </a:r>
            <a:br>
              <a:rPr lang="en-US" altLang="zh-CN" sz="4800" b="1" dirty="0">
                <a:solidFill>
                  <a:srgbClr val="7030A0"/>
                </a:solidFill>
                <a:latin typeface="微软雅黑" panose="020B0503020204020204" pitchFamily="34" charset="-122"/>
                <a:ea typeface="微软雅黑" panose="020B0503020204020204" pitchFamily="34" charset="-122"/>
              </a:rPr>
            </a:br>
            <a:r>
              <a:rPr lang="en-US" altLang="zh-CN" sz="3800" b="1" dirty="0">
                <a:solidFill>
                  <a:srgbClr val="7030A0"/>
                </a:solidFill>
                <a:latin typeface="微软雅黑" panose="020B0503020204020204" pitchFamily="34" charset="-122"/>
                <a:ea typeface="微软雅黑" panose="020B0503020204020204" pitchFamily="34" charset="-122"/>
              </a:rPr>
              <a:t>—</a:t>
            </a:r>
            <a:r>
              <a:rPr lang="zh-CN" altLang="en-US" sz="3800" b="1" dirty="0">
                <a:solidFill>
                  <a:srgbClr val="7030A0"/>
                </a:solidFill>
                <a:latin typeface="微软雅黑" panose="020B0503020204020204" pitchFamily="34" charset="-122"/>
                <a:ea typeface="微软雅黑" panose="020B0503020204020204" pitchFamily="34" charset="-122"/>
              </a:rPr>
              <a:t>数字电路与逻辑设计</a:t>
            </a:r>
            <a:br>
              <a:rPr lang="en-US" altLang="zh-CN" sz="3600" b="1" dirty="0">
                <a:solidFill>
                  <a:srgbClr val="7030A0"/>
                </a:solidFill>
                <a:latin typeface="微软雅黑" panose="020B0503020204020204" pitchFamily="34" charset="-122"/>
                <a:ea typeface="微软雅黑" panose="020B0503020204020204" pitchFamily="34" charset="-122"/>
              </a:rPr>
            </a:br>
            <a:r>
              <a:rPr lang="zh-CN" altLang="en-US" sz="3200" b="1" dirty="0">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3200" b="1" dirty="0">
                <a:latin typeface="Arial" panose="020B0604020202020204" pitchFamily="34" charset="0"/>
                <a:ea typeface="Arial Unicode MS" panose="020B0604020202020204" pitchFamily="34" charset="-122"/>
                <a:cs typeface="Arial" panose="020B0604020202020204" pitchFamily="34" charset="0"/>
              </a:rPr>
              <a:t>Verilog </a:t>
            </a:r>
            <a:r>
              <a:rPr lang="en-US" altLang="zh-CN" sz="3200" b="1" dirty="0" err="1">
                <a:latin typeface="Arial" panose="020B0604020202020204" pitchFamily="34" charset="0"/>
                <a:ea typeface="Arial Unicode MS" panose="020B0604020202020204" pitchFamily="34" charset="-122"/>
                <a:cs typeface="Arial" panose="020B0604020202020204" pitchFamily="34" charset="0"/>
              </a:rPr>
              <a:t>HDL&amp;Vivado</a:t>
            </a:r>
            <a:r>
              <a:rPr lang="zh-CN" altLang="en-US" sz="3200" b="1" dirty="0">
                <a:latin typeface="Arial" panose="020B0604020202020204" pitchFamily="34" charset="0"/>
                <a:ea typeface="Arial Unicode MS" panose="020B0604020202020204" pitchFamily="34" charset="-122"/>
                <a:cs typeface="Arial" panose="020B0604020202020204" pitchFamily="34" charset="0"/>
              </a:rPr>
              <a:t>版</a:t>
            </a:r>
            <a:r>
              <a:rPr lang="zh-CN" altLang="en-US" sz="3200" b="1" dirty="0">
                <a:latin typeface="Arial Unicode MS" panose="020B0604020202020204" pitchFamily="34" charset="-122"/>
                <a:ea typeface="Arial Unicode MS" panose="020B0604020202020204" pitchFamily="34" charset="-122"/>
                <a:cs typeface="Arial Unicode MS" panose="020B0604020202020204" pitchFamily="34" charset="-122"/>
              </a:rPr>
              <a:t>）</a:t>
            </a:r>
            <a:br>
              <a:rPr lang="en-US" altLang="zh-CN" sz="3200" b="1" dirty="0">
                <a:latin typeface="Arial Unicode MS" panose="020B0604020202020204" pitchFamily="34" charset="-122"/>
                <a:ea typeface="Arial Unicode MS" panose="020B0604020202020204" pitchFamily="34" charset="-122"/>
                <a:cs typeface="Arial Unicode MS" panose="020B0604020202020204" pitchFamily="34" charset="-122"/>
              </a:rPr>
            </a:br>
            <a:endParaRPr lang="zh-CN" altLang="en-US" sz="3200" b="1" dirty="0">
              <a:solidFill>
                <a:srgbClr val="C00000"/>
              </a:solidFill>
              <a:latin typeface="微软雅黑" panose="020B0503020204020204" pitchFamily="34" charset="-122"/>
              <a:ea typeface="微软雅黑" panose="020B0503020204020204" pitchFamily="34" charset="-122"/>
              <a:cs typeface="Arial Unicode MS" panose="020B0604020202020204" pitchFamily="34" charset="-122"/>
            </a:endParaRPr>
          </a:p>
        </p:txBody>
      </p:sp>
      <p:sp>
        <p:nvSpPr>
          <p:cNvPr id="5" name="副标题 4"/>
          <p:cNvSpPr>
            <a:spLocks noGrp="1"/>
          </p:cNvSpPr>
          <p:nvPr>
            <p:ph type="subTitle" idx="1"/>
          </p:nvPr>
        </p:nvSpPr>
        <p:spPr>
          <a:xfrm>
            <a:off x="1482436" y="3958938"/>
            <a:ext cx="5427518" cy="675409"/>
          </a:xfrm>
        </p:spPr>
        <p:txBody>
          <a:bodyPr/>
          <a:lstStyle/>
          <a:p>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rPr>
              <a:t>东南大学 </a:t>
            </a:r>
            <a:r>
              <a:rPr lang="en-US" altLang="zh-CN" sz="2800" b="1" dirty="0">
                <a:solidFill>
                  <a:schemeClr val="tx1">
                    <a:lumMod val="50000"/>
                    <a:lumOff val="50000"/>
                  </a:schemeClr>
                </a:solidFill>
                <a:latin typeface="微软雅黑" panose="020B0503020204020204" pitchFamily="34" charset="-122"/>
                <a:ea typeface="微软雅黑" panose="020B0503020204020204" pitchFamily="34" charset="-122"/>
              </a:rPr>
              <a:t>&amp; Xilinx</a:t>
            </a:r>
            <a:r>
              <a:rPr lang="zh-CN" altLang="en-US" sz="2800" b="1" dirty="0">
                <a:solidFill>
                  <a:schemeClr val="tx1">
                    <a:lumMod val="50000"/>
                    <a:lumOff val="50000"/>
                  </a:schemeClr>
                </a:solidFill>
                <a:latin typeface="微软雅黑" panose="020B0503020204020204" pitchFamily="34" charset="-122"/>
                <a:ea typeface="微软雅黑" panose="020B0503020204020204" pitchFamily="34" charset="-122"/>
              </a:rPr>
              <a:t>大学计划部</a:t>
            </a:r>
          </a:p>
        </p:txBody>
      </p:sp>
      <p:pic>
        <p:nvPicPr>
          <p:cNvPr id="6" name="图片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148946" y="978526"/>
            <a:ext cx="3449782" cy="4833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p:cNvPicPr>
            <a:picLocks noChangeAspect="1"/>
          </p:cNvPicPr>
          <p:nvPr/>
        </p:nvPicPr>
        <p:blipFill>
          <a:blip r:embed="rId4">
            <a:clrChange>
              <a:clrFrom>
                <a:srgbClr val="F5F5F5"/>
              </a:clrFrom>
              <a:clrTo>
                <a:srgbClr val="F5F5F5">
                  <a:alpha val="0"/>
                </a:srgbClr>
              </a:clrTo>
            </a:clrChange>
          </a:blip>
          <a:stretch>
            <a:fillRect/>
          </a:stretch>
        </p:blipFill>
        <p:spPr>
          <a:xfrm>
            <a:off x="1630322" y="4396421"/>
            <a:ext cx="2396683" cy="1014410"/>
          </a:xfrm>
          <a:prstGeom prst="rect">
            <a:avLst/>
          </a:prstGeom>
        </p:spPr>
      </p:pic>
      <p:pic>
        <p:nvPicPr>
          <p:cNvPr id="8" name="图片 7"/>
          <p:cNvPicPr>
            <a:picLocks noChangeAspect="1"/>
          </p:cNvPicPr>
          <p:nvPr/>
        </p:nvPicPr>
        <p:blipFill>
          <a:blip r:embed="rId5"/>
          <a:stretch>
            <a:fillRect/>
          </a:stretch>
        </p:blipFill>
        <p:spPr>
          <a:xfrm>
            <a:off x="4099741" y="4655269"/>
            <a:ext cx="2582914" cy="496714"/>
          </a:xfrm>
          <a:prstGeom prst="rect">
            <a:avLst/>
          </a:prstGeom>
        </p:spPr>
      </p:pic>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pPr>
              <a:defRPr/>
            </a:pPr>
            <a:r>
              <a:rPr lang="zh-CN" altLang="en-US" b="1" dirty="0">
                <a:latin typeface="微软雅黑" panose="020B0503020204020204" pitchFamily="34" charset="-122"/>
                <a:ea typeface="微软雅黑" panose="020B0503020204020204" pitchFamily="34" charset="-122"/>
              </a:rPr>
              <a:t>矩阵键盘实验</a:t>
            </a:r>
          </a:p>
        </p:txBody>
      </p:sp>
      <p:sp>
        <p:nvSpPr>
          <p:cNvPr id="3" name="灯片编号占位符 2"/>
          <p:cNvSpPr>
            <a:spLocks noGrp="1"/>
          </p:cNvSpPr>
          <p:nvPr>
            <p:ph type="sldNum" sz="quarter" idx="10"/>
          </p:nvPr>
        </p:nvSpPr>
        <p:spPr/>
        <p:txBody>
          <a:bodyPr/>
          <a:lstStyle/>
          <a:p>
            <a:pPr>
              <a:defRPr/>
            </a:pPr>
            <a:fld id="{94C05513-E98A-4AB1-8C38-A7CC6FB54E11}" type="slidenum">
              <a:rPr lang="zh-CN" altLang="en-US" smtClean="0"/>
              <a:t>2</a:t>
            </a:fld>
            <a:endParaRPr lang="zh-CN" altLang="en-US"/>
          </a:p>
        </p:txBody>
      </p:sp>
    </p:spTree>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键盘是一组按键的组合，它是最常用的单片机输入设备，操作人员可以通过键盘输入数据或命令，实现简单的人机对话。</a:t>
            </a:r>
            <a:endParaRPr lang="en-US" altLang="zh-CN" dirty="0"/>
          </a:p>
          <a:p>
            <a:r>
              <a:rPr lang="zh-CN" altLang="en-US" dirty="0"/>
              <a:t>按键按照结构原理可分为两类，</a:t>
            </a:r>
            <a:endParaRPr lang="en-US" altLang="zh-CN" dirty="0"/>
          </a:p>
          <a:p>
            <a:pPr lvl="1"/>
            <a:r>
              <a:rPr lang="zh-CN" altLang="en-US" dirty="0"/>
              <a:t>触点式开关按键，如机械式开关等。</a:t>
            </a:r>
            <a:endParaRPr lang="en-US" altLang="zh-CN" dirty="0"/>
          </a:p>
          <a:p>
            <a:pPr lvl="1"/>
            <a:r>
              <a:rPr lang="zh-CN" altLang="en-US" dirty="0"/>
              <a:t>无触点式开关按键，如磁感应按键。</a:t>
            </a:r>
            <a:endParaRPr lang="en-US" altLang="zh-CN" dirty="0"/>
          </a:p>
          <a:p>
            <a:pPr lvl="1"/>
            <a:r>
              <a:rPr lang="zh-CN" altLang="en-US" dirty="0"/>
              <a:t>前者造价低，后者寿命长。目前，最常见的是触点式开关按键</a:t>
            </a:r>
            <a:r>
              <a:rPr lang="en-US" altLang="zh-CN" dirty="0"/>
              <a:t>.</a:t>
            </a:r>
          </a:p>
          <a:p>
            <a:r>
              <a:rPr lang="zh-CN" altLang="en-US" dirty="0"/>
              <a:t>键盘按其结构形式可分为两种：</a:t>
            </a:r>
            <a:endParaRPr lang="en-US" altLang="zh-CN" dirty="0"/>
          </a:p>
          <a:p>
            <a:pPr lvl="1"/>
            <a:r>
              <a:rPr lang="zh-CN" altLang="en-US" dirty="0"/>
              <a:t>编码键盘：由硬件逻辑自动提供与键对应的编码。使用方便，但电路复杂，价格较贵，在嵌入式应用系统中较少采用。</a:t>
            </a:r>
          </a:p>
          <a:p>
            <a:pPr lvl="1"/>
            <a:r>
              <a:rPr lang="zh-CN" altLang="en-US" dirty="0"/>
              <a:t>非编码键盘：由软件来实现键盘的定义与识别。结构简单、成本低廉，在嵌入式应用系统中被普遍采用</a:t>
            </a:r>
          </a:p>
        </p:txBody>
      </p:sp>
      <p:sp>
        <p:nvSpPr>
          <p:cNvPr id="3" name="标题 2"/>
          <p:cNvSpPr>
            <a:spLocks noGrp="1"/>
          </p:cNvSpPr>
          <p:nvPr>
            <p:ph type="title"/>
          </p:nvPr>
        </p:nvSpPr>
        <p:spPr/>
        <p:txBody>
          <a:bodyPr/>
          <a:lstStyle/>
          <a:p>
            <a:r>
              <a:rPr lang="zh-CN" altLang="en-US" dirty="0">
                <a:cs typeface="+mn-ea"/>
                <a:sym typeface="+mn-lt"/>
              </a:rPr>
              <a:t>矩阵键盘</a:t>
            </a: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3</a:t>
            </a:fld>
            <a:endParaRPr lang="zh-CN" altLang="en-US"/>
          </a:p>
        </p:txBody>
      </p:sp>
    </p:spTree>
    <p:extLst>
      <p:ext uri="{BB962C8B-B14F-4D97-AF65-F5344CB8AC3E}">
        <p14:creationId xmlns:p14="http://schemas.microsoft.com/office/powerpoint/2010/main" val="13200517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由于通常的按键所用的开关是</a:t>
            </a:r>
            <a:r>
              <a:rPr lang="zh-CN" altLang="en-US" dirty="0">
                <a:solidFill>
                  <a:srgbClr val="FF0000"/>
                </a:solidFill>
              </a:rPr>
              <a:t>机械开关，</a:t>
            </a:r>
            <a:r>
              <a:rPr lang="zh-CN" altLang="en-US" dirty="0"/>
              <a:t>当开关闭合、断开时并不是马上稳定地接通和断开，而是在</a:t>
            </a:r>
            <a:r>
              <a:rPr lang="zh-CN" altLang="en-US" dirty="0">
                <a:solidFill>
                  <a:srgbClr val="FF0000"/>
                </a:solidFill>
              </a:rPr>
              <a:t>闭合与断开瞬间均伴随有一连串的抖动</a:t>
            </a:r>
            <a:r>
              <a:rPr lang="zh-CN" altLang="en-US" dirty="0"/>
              <a:t>。</a:t>
            </a:r>
          </a:p>
          <a:p>
            <a:r>
              <a:rPr lang="zh-CN" altLang="en-US" dirty="0"/>
              <a:t>当扫描表明有键被按下之后，紧接着应进行</a:t>
            </a:r>
            <a:r>
              <a:rPr lang="zh-CN" altLang="en-US" dirty="0">
                <a:solidFill>
                  <a:srgbClr val="FF0000"/>
                </a:solidFill>
              </a:rPr>
              <a:t>去抖动处理</a:t>
            </a:r>
            <a:r>
              <a:rPr lang="zh-CN" altLang="en-US" dirty="0"/>
              <a:t>。抖动时间长、短与键的机械特性有关，一般为</a:t>
            </a:r>
            <a:r>
              <a:rPr lang="en-US" altLang="zh-CN" dirty="0">
                <a:solidFill>
                  <a:srgbClr val="FF0000"/>
                </a:solidFill>
              </a:rPr>
              <a:t>5~10ms</a:t>
            </a:r>
          </a:p>
          <a:p>
            <a:endParaRPr lang="zh-CN" altLang="en-US" dirty="0"/>
          </a:p>
        </p:txBody>
      </p:sp>
      <p:sp>
        <p:nvSpPr>
          <p:cNvPr id="3" name="标题 2"/>
          <p:cNvSpPr>
            <a:spLocks noGrp="1"/>
          </p:cNvSpPr>
          <p:nvPr>
            <p:ph type="title"/>
          </p:nvPr>
        </p:nvSpPr>
        <p:spPr/>
        <p:txBody>
          <a:bodyPr/>
          <a:lstStyle/>
          <a:p>
            <a:r>
              <a:rPr lang="zh-CN" altLang="en-US" dirty="0"/>
              <a:t>按键去抖动处理</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4</a:t>
            </a:fld>
            <a:endParaRPr lang="zh-CN" altLang="en-US"/>
          </a:p>
        </p:txBody>
      </p:sp>
      <p:pic>
        <p:nvPicPr>
          <p:cNvPr id="5" name="图片 4"/>
          <p:cNvPicPr>
            <a:picLocks noChangeAspect="1"/>
          </p:cNvPicPr>
          <p:nvPr/>
        </p:nvPicPr>
        <p:blipFill>
          <a:blip r:embed="rId2"/>
          <a:stretch>
            <a:fillRect/>
          </a:stretch>
        </p:blipFill>
        <p:spPr>
          <a:xfrm>
            <a:off x="1727200" y="2861828"/>
            <a:ext cx="7445057" cy="3837422"/>
          </a:xfrm>
          <a:prstGeom prst="rect">
            <a:avLst/>
          </a:prstGeom>
        </p:spPr>
      </p:pic>
    </p:spTree>
    <p:extLst>
      <p:ext uri="{BB962C8B-B14F-4D97-AF65-F5344CB8AC3E}">
        <p14:creationId xmlns:p14="http://schemas.microsoft.com/office/powerpoint/2010/main" val="548249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zh-CN" altLang="en-US" b="1" dirty="0">
                <a:solidFill>
                  <a:srgbClr val="FF0000"/>
                </a:solidFill>
              </a:rPr>
              <a:t>请思考</a:t>
            </a:r>
          </a:p>
          <a:p>
            <a:r>
              <a:rPr lang="zh-CN" altLang="en-US" dirty="0"/>
              <a:t>什么是键抖动？</a:t>
            </a:r>
          </a:p>
          <a:p>
            <a:r>
              <a:rPr lang="zh-CN" altLang="en-US" dirty="0"/>
              <a:t>为什么键盘要考虑去抖动？</a:t>
            </a:r>
            <a:endParaRPr lang="en-US" altLang="zh-CN" dirty="0"/>
          </a:p>
          <a:p>
            <a:pPr lvl="1"/>
            <a:r>
              <a:rPr lang="zh-CN" altLang="en-US" dirty="0"/>
              <a:t>键抖动可能导致计算机将人工按一次键操作识别为多次，为了消除干扰，证在按键闭合稳定状态下读取键值，要对键盘进行消抖处理。</a:t>
            </a:r>
          </a:p>
          <a:p>
            <a:r>
              <a:rPr lang="zh-CN" altLang="en-US" dirty="0"/>
              <a:t>一般常用去抖动的方法有哪些？</a:t>
            </a:r>
            <a:endParaRPr lang="en-US" altLang="zh-CN" dirty="0"/>
          </a:p>
          <a:p>
            <a:pPr lvl="1"/>
            <a:r>
              <a:rPr lang="zh-CN" altLang="en-US" dirty="0"/>
              <a:t>常用的消抖措施有硬件消抖和软件消抖</a:t>
            </a:r>
            <a:endParaRPr lang="en-US" altLang="zh-CN" dirty="0"/>
          </a:p>
          <a:p>
            <a:pPr lvl="1"/>
            <a:r>
              <a:rPr lang="zh-CN" altLang="en-US" dirty="0"/>
              <a:t>硬件方法就是在键盘中附加去抖动电路从根本上消除抖动产生的可能性；</a:t>
            </a:r>
            <a:endParaRPr lang="en-US" altLang="zh-CN" dirty="0"/>
          </a:p>
          <a:p>
            <a:pPr lvl="1"/>
            <a:r>
              <a:rPr lang="zh-CN" altLang="en-US" dirty="0"/>
              <a:t>软件方法则是采用时间延迟以躲过抖动（大约延时</a:t>
            </a:r>
            <a:r>
              <a:rPr lang="en-US" altLang="zh-CN" dirty="0"/>
              <a:t>10~30ms</a:t>
            </a:r>
            <a:r>
              <a:rPr lang="zh-CN" altLang="en-US" dirty="0"/>
              <a:t>即可），待行线上状态稳定之后，再进行状态输入。</a:t>
            </a:r>
            <a:endParaRPr lang="en-US" altLang="zh-CN" dirty="0"/>
          </a:p>
          <a:p>
            <a:pPr lvl="1"/>
            <a:r>
              <a:rPr lang="zh-CN" altLang="en-US" dirty="0"/>
              <a:t>就是在第一次检测到有键按下时先不动作，延时一段时间（一般为</a:t>
            </a:r>
            <a:r>
              <a:rPr lang="en-US" altLang="zh-CN" dirty="0"/>
              <a:t>10ms</a:t>
            </a:r>
            <a:r>
              <a:rPr lang="zh-CN" altLang="en-US" dirty="0"/>
              <a:t>），再次检测按键的状态，如果仍保持闭合状态，则确认真正有键按下。当检测到按键释放后，也要给</a:t>
            </a:r>
            <a:r>
              <a:rPr lang="en-US" altLang="zh-CN" dirty="0"/>
              <a:t>5ms~10ms</a:t>
            </a:r>
            <a:r>
              <a:rPr lang="zh-CN" altLang="en-US" dirty="0"/>
              <a:t>的延时，待后沿抖动消失后才能转入按键的处理程序。</a:t>
            </a:r>
            <a:endParaRPr lang="en-US" altLang="zh-CN" dirty="0"/>
          </a:p>
          <a:p>
            <a:pPr lvl="1"/>
            <a:r>
              <a:rPr lang="zh-CN" altLang="en-US" dirty="0"/>
              <a:t>对于</a:t>
            </a:r>
            <a:r>
              <a:rPr lang="zh-CN" altLang="en-US" dirty="0">
                <a:solidFill>
                  <a:srgbClr val="FF0000"/>
                </a:solidFill>
              </a:rPr>
              <a:t>两个或多个按键同时按下的重键问题</a:t>
            </a:r>
            <a:r>
              <a:rPr lang="zh-CN" altLang="en-US" dirty="0"/>
              <a:t>，可以采用“</a:t>
            </a:r>
            <a:r>
              <a:rPr lang="zh-CN" altLang="en-US" dirty="0">
                <a:solidFill>
                  <a:srgbClr val="FF0000"/>
                </a:solidFill>
              </a:rPr>
              <a:t>先入有效</a:t>
            </a:r>
            <a:r>
              <a:rPr lang="zh-CN" altLang="en-US" dirty="0"/>
              <a:t>”或“</a:t>
            </a:r>
            <a:r>
              <a:rPr lang="zh-CN" altLang="en-US" dirty="0">
                <a:solidFill>
                  <a:srgbClr val="FF0000"/>
                </a:solidFill>
              </a:rPr>
              <a:t>后留有效</a:t>
            </a:r>
            <a:r>
              <a:rPr lang="zh-CN" altLang="en-US" dirty="0"/>
              <a:t>”的原则加以处理。“先入有效”指当多个按键同时按下时，只有第一个按下的键有效，其它键无效。“后留有效”指当多个按键同时按下时，只有最后松开的按键有效，其它键均无效。</a:t>
            </a:r>
            <a:endParaRPr lang="en-US" altLang="zh-CN" dirty="0"/>
          </a:p>
          <a:p>
            <a:pPr lvl="1"/>
            <a:r>
              <a:rPr lang="en-US" altLang="zh-CN" dirty="0" err="1"/>
              <a:t>i</a:t>
            </a:r>
            <a:endParaRPr lang="zh-CN" altLang="en-US" dirty="0"/>
          </a:p>
        </p:txBody>
      </p:sp>
      <p:sp>
        <p:nvSpPr>
          <p:cNvPr id="3" name="标题 2"/>
          <p:cNvSpPr>
            <a:spLocks noGrp="1"/>
          </p:cNvSpPr>
          <p:nvPr>
            <p:ph type="title"/>
          </p:nvPr>
        </p:nvSpPr>
        <p:spPr/>
        <p:txBody>
          <a:bodyPr/>
          <a:lstStyle/>
          <a:p>
            <a:r>
              <a:rPr lang="zh-CN" altLang="en-US" dirty="0"/>
              <a:t>按键去抖动处理</a:t>
            </a:r>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5</a:t>
            </a:fld>
            <a:endParaRPr lang="zh-CN" altLang="en-US"/>
          </a:p>
        </p:txBody>
      </p:sp>
    </p:spTree>
    <p:extLst>
      <p:ext uri="{BB962C8B-B14F-4D97-AF65-F5344CB8AC3E}">
        <p14:creationId xmlns:p14="http://schemas.microsoft.com/office/powerpoint/2010/main" val="3653336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键盘接口的操作功能：</a:t>
            </a:r>
            <a:endParaRPr lang="en-US" altLang="zh-CN" dirty="0"/>
          </a:p>
          <a:p>
            <a:r>
              <a:rPr lang="en-US" altLang="zh-CN" dirty="0"/>
              <a:t>1</a:t>
            </a:r>
            <a:r>
              <a:rPr lang="zh-CN" altLang="en-US" dirty="0"/>
              <a:t>、</a:t>
            </a:r>
            <a:r>
              <a:rPr lang="zh-CN" altLang="en-US" b="1" dirty="0">
                <a:solidFill>
                  <a:srgbClr val="FF0000"/>
                </a:solidFill>
              </a:rPr>
              <a:t>键盘扫描</a:t>
            </a:r>
            <a:r>
              <a:rPr lang="zh-CN" altLang="en-US" dirty="0"/>
              <a:t>，以判定是否有键被按下（称之为“闭合键”）。</a:t>
            </a:r>
          </a:p>
          <a:p>
            <a:r>
              <a:rPr lang="en-US" altLang="zh-CN" dirty="0"/>
              <a:t>2</a:t>
            </a:r>
            <a:r>
              <a:rPr lang="zh-CN" altLang="en-US" dirty="0"/>
              <a:t>、</a:t>
            </a:r>
            <a:r>
              <a:rPr lang="zh-CN" altLang="en-US" b="1" dirty="0">
                <a:solidFill>
                  <a:srgbClr val="FF0000"/>
                </a:solidFill>
              </a:rPr>
              <a:t>键识别</a:t>
            </a:r>
            <a:r>
              <a:rPr lang="zh-CN" altLang="en-US" dirty="0"/>
              <a:t>，以确定闭合键的行列位置。</a:t>
            </a:r>
          </a:p>
          <a:p>
            <a:r>
              <a:rPr lang="en-US" altLang="zh-CN" dirty="0"/>
              <a:t>3</a:t>
            </a:r>
            <a:r>
              <a:rPr lang="zh-CN" altLang="en-US" dirty="0"/>
              <a:t>、产生闭合键的</a:t>
            </a:r>
            <a:r>
              <a:rPr lang="zh-CN" altLang="en-US" b="1" dirty="0">
                <a:solidFill>
                  <a:srgbClr val="FF0000"/>
                </a:solidFill>
              </a:rPr>
              <a:t>键码</a:t>
            </a:r>
          </a:p>
          <a:p>
            <a:r>
              <a:rPr lang="en-US" altLang="zh-CN" dirty="0"/>
              <a:t>4</a:t>
            </a:r>
            <a:r>
              <a:rPr lang="zh-CN" altLang="en-US" dirty="0"/>
              <a:t>、排除多键、窜键（复按）及去抖动。</a:t>
            </a:r>
          </a:p>
        </p:txBody>
      </p:sp>
      <p:sp>
        <p:nvSpPr>
          <p:cNvPr id="3" name="标题 2"/>
          <p:cNvSpPr>
            <a:spLocks noGrp="1"/>
          </p:cNvSpPr>
          <p:nvPr>
            <p:ph type="title"/>
          </p:nvPr>
        </p:nvSpPr>
        <p:spPr/>
        <p:txBody>
          <a:bodyPr/>
          <a:lstStyle/>
          <a:p>
            <a:r>
              <a:rPr lang="zh-CN" altLang="en-US" dirty="0"/>
              <a:t>键盘操作</a:t>
            </a:r>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6</a:t>
            </a:fld>
            <a:endParaRPr lang="zh-CN" altLang="en-US"/>
          </a:p>
        </p:txBody>
      </p:sp>
    </p:spTree>
    <p:extLst>
      <p:ext uri="{BB962C8B-B14F-4D97-AF65-F5344CB8AC3E}">
        <p14:creationId xmlns:p14="http://schemas.microsoft.com/office/powerpoint/2010/main" val="3470321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cs typeface="+mn-ea"/>
                <a:sym typeface="+mn-lt"/>
              </a:rPr>
              <a:t>矩阵键盘</a:t>
            </a: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7</a:t>
            </a:fld>
            <a:endParaRPr lang="zh-CN" altLang="en-US"/>
          </a:p>
        </p:txBody>
      </p:sp>
      <p:pic>
        <p:nvPicPr>
          <p:cNvPr id="7" name="图片 6">
            <a:extLst>
              <a:ext uri="{FF2B5EF4-FFF2-40B4-BE49-F238E27FC236}">
                <a16:creationId xmlns:a16="http://schemas.microsoft.com/office/drawing/2014/main" id="{FDB06CBF-6FDF-4BEB-9251-326A86D24AAC}"/>
              </a:ext>
            </a:extLst>
          </p:cNvPr>
          <p:cNvPicPr>
            <a:picLocks noChangeAspect="1"/>
          </p:cNvPicPr>
          <p:nvPr/>
        </p:nvPicPr>
        <p:blipFill>
          <a:blip r:embed="rId2"/>
          <a:stretch>
            <a:fillRect/>
          </a:stretch>
        </p:blipFill>
        <p:spPr>
          <a:xfrm>
            <a:off x="452322" y="1989437"/>
            <a:ext cx="3539827" cy="3072303"/>
          </a:xfrm>
          <a:prstGeom prst="rect">
            <a:avLst/>
          </a:prstGeom>
        </p:spPr>
      </p:pic>
      <p:pic>
        <p:nvPicPr>
          <p:cNvPr id="10" name="图片 9">
            <a:extLst>
              <a:ext uri="{FF2B5EF4-FFF2-40B4-BE49-F238E27FC236}">
                <a16:creationId xmlns:a16="http://schemas.microsoft.com/office/drawing/2014/main" id="{63698CF9-0731-4847-86DE-507F3209A7A4}"/>
              </a:ext>
            </a:extLst>
          </p:cNvPr>
          <p:cNvPicPr>
            <a:picLocks noChangeAspect="1"/>
          </p:cNvPicPr>
          <p:nvPr/>
        </p:nvPicPr>
        <p:blipFill>
          <a:blip r:embed="rId3"/>
          <a:stretch>
            <a:fillRect/>
          </a:stretch>
        </p:blipFill>
        <p:spPr>
          <a:xfrm>
            <a:off x="5432508" y="377552"/>
            <a:ext cx="4830814" cy="2281218"/>
          </a:xfrm>
          <a:prstGeom prst="rect">
            <a:avLst/>
          </a:prstGeom>
        </p:spPr>
      </p:pic>
      <p:pic>
        <p:nvPicPr>
          <p:cNvPr id="11" name="图片 10">
            <a:extLst>
              <a:ext uri="{FF2B5EF4-FFF2-40B4-BE49-F238E27FC236}">
                <a16:creationId xmlns:a16="http://schemas.microsoft.com/office/drawing/2014/main" id="{597E755C-0435-4F67-8888-FF2EA1712FB5}"/>
              </a:ext>
            </a:extLst>
          </p:cNvPr>
          <p:cNvPicPr>
            <a:picLocks noChangeAspect="1"/>
          </p:cNvPicPr>
          <p:nvPr/>
        </p:nvPicPr>
        <p:blipFill>
          <a:blip r:embed="rId4"/>
          <a:stretch>
            <a:fillRect/>
          </a:stretch>
        </p:blipFill>
        <p:spPr>
          <a:xfrm>
            <a:off x="5142984" y="2971869"/>
            <a:ext cx="3741524" cy="3346156"/>
          </a:xfrm>
          <a:prstGeom prst="rect">
            <a:avLst/>
          </a:prstGeom>
        </p:spPr>
      </p:pic>
    </p:spTree>
    <p:extLst>
      <p:ext uri="{BB962C8B-B14F-4D97-AF65-F5344CB8AC3E}">
        <p14:creationId xmlns:p14="http://schemas.microsoft.com/office/powerpoint/2010/main" val="1546784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上拉电阻</a:t>
            </a:r>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8</a:t>
            </a:fld>
            <a:endParaRPr lang="zh-CN" altLang="en-US"/>
          </a:p>
        </p:txBody>
      </p:sp>
      <p:pic>
        <p:nvPicPr>
          <p:cNvPr id="1026" name="Picture 2" descr="https://view-cache.book118.com/view9/M02/1A/24/wKh2CV3hYECAA0ytAAEHubRTOq892__41446%7C1407__d8d737b3f746d79a85ce5f2d357eb4a1165657618.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630057" y="600457"/>
            <a:ext cx="6952343" cy="5785604"/>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p:cNvSpPr txBox="1"/>
          <p:nvPr/>
        </p:nvSpPr>
        <p:spPr bwMode="auto">
          <a:xfrm>
            <a:off x="5780315" y="415791"/>
            <a:ext cx="647782" cy="369332"/>
          </a:xfrm>
          <a:prstGeom prst="rect">
            <a:avLst/>
          </a:prstGeom>
          <a:solidFill>
            <a:schemeClr val="bg1"/>
          </a:solidFill>
          <a:ln>
            <a:noFill/>
          </a:ln>
        </p:spPr>
        <p:txBody>
          <a:bodyPr vert="horz" wrap="square" lIns="0" tIns="45720" rIns="91440" bIns="45720" numCol="1" rtlCol="0" anchor="t" anchorCtr="0" compatLnSpc="1">
            <a:spAutoFit/>
          </a:bodyPr>
          <a:lstStyle/>
          <a:p>
            <a:pPr>
              <a:lnSpc>
                <a:spcPct val="100000"/>
              </a:lnSpc>
            </a:pPr>
            <a:r>
              <a:rPr lang="en-US" altLang="zh-CN" b="1" kern="0" dirty="0">
                <a:solidFill>
                  <a:srgbClr val="FF0000"/>
                </a:solidFill>
              </a:rPr>
              <a:t>3.3V</a:t>
            </a:r>
            <a:endParaRPr lang="zh-CN" altLang="en-US" b="1" kern="0" dirty="0">
              <a:solidFill>
                <a:srgbClr val="FF0000"/>
              </a:solidFill>
            </a:endParaRPr>
          </a:p>
        </p:txBody>
      </p:sp>
      <p:sp>
        <p:nvSpPr>
          <p:cNvPr id="6" name="文本框 5"/>
          <p:cNvSpPr txBox="1"/>
          <p:nvPr/>
        </p:nvSpPr>
        <p:spPr bwMode="auto">
          <a:xfrm>
            <a:off x="5227093" y="1759153"/>
            <a:ext cx="520564" cy="4811574"/>
          </a:xfrm>
          <a:prstGeom prst="rect">
            <a:avLst/>
          </a:prstGeom>
          <a:solidFill>
            <a:schemeClr val="bg1"/>
          </a:solidFill>
          <a:ln>
            <a:noFill/>
          </a:ln>
        </p:spPr>
        <p:txBody>
          <a:bodyPr vert="horz" wrap="square" lIns="0" tIns="45720" rIns="91440" bIns="45720" numCol="1" rtlCol="0" anchor="t" anchorCtr="0" compatLnSpc="1">
            <a:spAutoFit/>
          </a:bodyPr>
          <a:lstStyle/>
          <a:p>
            <a:pPr>
              <a:lnSpc>
                <a:spcPts val="4600"/>
              </a:lnSpc>
            </a:pPr>
            <a:r>
              <a:rPr lang="zh-CN" altLang="en-US" sz="2000" b="1" kern="0" dirty="0">
                <a:solidFill>
                  <a:srgbClr val="FF0000"/>
                </a:solidFill>
              </a:rPr>
              <a:t>行</a:t>
            </a:r>
            <a:r>
              <a:rPr lang="en-US" altLang="zh-CN" sz="2000" b="1" kern="0" dirty="0">
                <a:solidFill>
                  <a:srgbClr val="FF0000"/>
                </a:solidFill>
              </a:rPr>
              <a:t>0</a:t>
            </a:r>
          </a:p>
          <a:p>
            <a:pPr>
              <a:lnSpc>
                <a:spcPts val="4600"/>
              </a:lnSpc>
            </a:pPr>
            <a:r>
              <a:rPr lang="zh-CN" altLang="en-US" sz="2000" b="1" kern="0" dirty="0">
                <a:solidFill>
                  <a:srgbClr val="FF0000"/>
                </a:solidFill>
              </a:rPr>
              <a:t>行</a:t>
            </a:r>
            <a:r>
              <a:rPr lang="en-US" altLang="zh-CN" sz="2000" b="1" kern="0" dirty="0">
                <a:solidFill>
                  <a:srgbClr val="FF0000"/>
                </a:solidFill>
              </a:rPr>
              <a:t>1</a:t>
            </a:r>
          </a:p>
          <a:p>
            <a:pPr>
              <a:lnSpc>
                <a:spcPts val="4600"/>
              </a:lnSpc>
            </a:pPr>
            <a:r>
              <a:rPr lang="zh-CN" altLang="en-US" sz="2000" b="1" kern="0" dirty="0">
                <a:solidFill>
                  <a:srgbClr val="FF0000"/>
                </a:solidFill>
              </a:rPr>
              <a:t>行</a:t>
            </a:r>
            <a:r>
              <a:rPr lang="en-US" altLang="zh-CN" sz="2000" b="1" kern="0" dirty="0">
                <a:solidFill>
                  <a:srgbClr val="FF0000"/>
                </a:solidFill>
              </a:rPr>
              <a:t>2</a:t>
            </a:r>
          </a:p>
          <a:p>
            <a:pPr>
              <a:lnSpc>
                <a:spcPts val="4600"/>
              </a:lnSpc>
            </a:pPr>
            <a:r>
              <a:rPr lang="zh-CN" altLang="en-US" sz="2000" b="1" kern="0" dirty="0">
                <a:solidFill>
                  <a:srgbClr val="FF0000"/>
                </a:solidFill>
              </a:rPr>
              <a:t>行</a:t>
            </a:r>
            <a:r>
              <a:rPr lang="en-US" altLang="zh-CN" sz="2000" b="1" kern="0" dirty="0">
                <a:solidFill>
                  <a:srgbClr val="FF0000"/>
                </a:solidFill>
              </a:rPr>
              <a:t>3</a:t>
            </a:r>
          </a:p>
          <a:p>
            <a:pPr>
              <a:lnSpc>
                <a:spcPts val="4600"/>
              </a:lnSpc>
            </a:pPr>
            <a:r>
              <a:rPr lang="zh-CN" altLang="en-US" sz="2000" b="1" kern="0" dirty="0">
                <a:solidFill>
                  <a:srgbClr val="FF0000"/>
                </a:solidFill>
              </a:rPr>
              <a:t>列</a:t>
            </a:r>
            <a:r>
              <a:rPr lang="en-US" altLang="zh-CN" sz="2000" b="1" kern="0" dirty="0">
                <a:solidFill>
                  <a:srgbClr val="FF0000"/>
                </a:solidFill>
              </a:rPr>
              <a:t>0</a:t>
            </a:r>
          </a:p>
          <a:p>
            <a:pPr>
              <a:lnSpc>
                <a:spcPts val="4600"/>
              </a:lnSpc>
            </a:pPr>
            <a:r>
              <a:rPr lang="zh-CN" altLang="en-US" sz="2000" b="1" kern="0" dirty="0">
                <a:solidFill>
                  <a:srgbClr val="FF0000"/>
                </a:solidFill>
              </a:rPr>
              <a:t>列</a:t>
            </a:r>
            <a:r>
              <a:rPr lang="en-US" altLang="zh-CN" sz="2000" b="1" kern="0" dirty="0">
                <a:solidFill>
                  <a:srgbClr val="FF0000"/>
                </a:solidFill>
              </a:rPr>
              <a:t>1</a:t>
            </a:r>
          </a:p>
          <a:p>
            <a:pPr>
              <a:lnSpc>
                <a:spcPts val="4600"/>
              </a:lnSpc>
            </a:pPr>
            <a:r>
              <a:rPr lang="zh-CN" altLang="en-US" sz="2000" b="1" kern="0" dirty="0">
                <a:solidFill>
                  <a:srgbClr val="FF0000"/>
                </a:solidFill>
              </a:rPr>
              <a:t>列</a:t>
            </a:r>
            <a:r>
              <a:rPr lang="en-US" altLang="zh-CN" sz="2000" b="1" kern="0" dirty="0">
                <a:solidFill>
                  <a:srgbClr val="FF0000"/>
                </a:solidFill>
              </a:rPr>
              <a:t>2</a:t>
            </a:r>
          </a:p>
          <a:p>
            <a:pPr>
              <a:lnSpc>
                <a:spcPts val="4600"/>
              </a:lnSpc>
            </a:pPr>
            <a:r>
              <a:rPr lang="zh-CN" altLang="en-US" sz="2000" b="1" kern="0" dirty="0">
                <a:solidFill>
                  <a:srgbClr val="FF0000"/>
                </a:solidFill>
              </a:rPr>
              <a:t>列</a:t>
            </a:r>
            <a:r>
              <a:rPr lang="en-US" altLang="zh-CN" sz="2000" b="1" kern="0" dirty="0">
                <a:solidFill>
                  <a:srgbClr val="FF0000"/>
                </a:solidFill>
              </a:rPr>
              <a:t>3</a:t>
            </a:r>
          </a:p>
        </p:txBody>
      </p:sp>
    </p:spTree>
    <p:extLst>
      <p:ext uri="{BB962C8B-B14F-4D97-AF65-F5344CB8AC3E}">
        <p14:creationId xmlns:p14="http://schemas.microsoft.com/office/powerpoint/2010/main" val="31645814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1207911"/>
            <a:ext cx="10978195" cy="5021438"/>
          </a:xfrm>
        </p:spPr>
        <p:txBody>
          <a:bodyPr/>
          <a:lstStyle/>
          <a:p>
            <a:r>
              <a:rPr lang="zh-CN" altLang="en-US" dirty="0">
                <a:solidFill>
                  <a:srgbClr val="FF0000"/>
                </a:solidFill>
              </a:rPr>
              <a:t>无键按下</a:t>
            </a:r>
            <a:r>
              <a:rPr lang="zh-CN" altLang="en-US" dirty="0"/>
              <a:t>，该</a:t>
            </a:r>
            <a:r>
              <a:rPr lang="zh-CN" altLang="en-US" dirty="0">
                <a:solidFill>
                  <a:srgbClr val="FF0000"/>
                </a:solidFill>
              </a:rPr>
              <a:t>输入（行）线</a:t>
            </a:r>
            <a:r>
              <a:rPr lang="zh-CN" altLang="en-US" dirty="0"/>
              <a:t>为</a:t>
            </a:r>
            <a:r>
              <a:rPr lang="zh-CN" altLang="en-US" b="1" dirty="0">
                <a:solidFill>
                  <a:srgbClr val="FF0000"/>
                </a:solidFill>
              </a:rPr>
              <a:t>高</a:t>
            </a:r>
            <a:r>
              <a:rPr lang="zh-CN" altLang="en-US" dirty="0"/>
              <a:t>电平，当</a:t>
            </a:r>
            <a:r>
              <a:rPr lang="zh-CN" altLang="en-US" dirty="0">
                <a:solidFill>
                  <a:srgbClr val="FF0000"/>
                </a:solidFill>
              </a:rPr>
              <a:t>有键按下</a:t>
            </a:r>
            <a:r>
              <a:rPr lang="zh-CN" altLang="en-US" dirty="0"/>
              <a:t>时，输入（行）线电平由</a:t>
            </a:r>
            <a:r>
              <a:rPr lang="zh-CN" altLang="en-US" dirty="0">
                <a:solidFill>
                  <a:srgbClr val="FF0000"/>
                </a:solidFill>
              </a:rPr>
              <a:t>输出（列）线的电平</a:t>
            </a:r>
            <a:r>
              <a:rPr lang="zh-CN" altLang="en-US" dirty="0"/>
              <a:t>来决定。</a:t>
            </a:r>
          </a:p>
          <a:p>
            <a:r>
              <a:rPr lang="zh-CN" altLang="en-US" dirty="0"/>
              <a:t>由于</a:t>
            </a:r>
            <a:r>
              <a:rPr lang="zh-CN" altLang="en-US" dirty="0">
                <a:solidFill>
                  <a:srgbClr val="FF0000"/>
                </a:solidFill>
              </a:rPr>
              <a:t>行、列线为多键共用</a:t>
            </a:r>
            <a:r>
              <a:rPr lang="zh-CN" altLang="en-US" dirty="0"/>
              <a:t>，各按键彼此将相互发生影响，必须</a:t>
            </a:r>
            <a:r>
              <a:rPr lang="zh-CN" altLang="en-US" dirty="0">
                <a:solidFill>
                  <a:srgbClr val="C00000"/>
                </a:solidFill>
              </a:rPr>
              <a:t>将行、列线信号配合起来并作适当的处理，才能确定闭合键的位置。</a:t>
            </a:r>
            <a:endParaRPr lang="en-US" altLang="zh-CN" dirty="0">
              <a:solidFill>
                <a:srgbClr val="C00000"/>
              </a:solidFill>
            </a:endParaRPr>
          </a:p>
          <a:p>
            <a:pPr marL="0" indent="0">
              <a:buNone/>
            </a:pPr>
            <a:r>
              <a:rPr lang="zh-CN" altLang="en-US" b="1" dirty="0">
                <a:solidFill>
                  <a:srgbClr val="FF0000"/>
                </a:solidFill>
              </a:rPr>
              <a:t>常用识别方法</a:t>
            </a:r>
            <a:endParaRPr lang="en-US" altLang="zh-CN" b="1" dirty="0">
              <a:solidFill>
                <a:srgbClr val="FF0000"/>
              </a:solidFill>
            </a:endParaRPr>
          </a:p>
          <a:p>
            <a:r>
              <a:rPr lang="zh-CN" altLang="en-US" dirty="0"/>
              <a:t>扫描法</a:t>
            </a:r>
            <a:endParaRPr lang="en-US" altLang="zh-CN" dirty="0"/>
          </a:p>
          <a:p>
            <a:r>
              <a:rPr lang="zh-CN" altLang="en-US" dirty="0"/>
              <a:t>线反转法</a:t>
            </a:r>
          </a:p>
        </p:txBody>
      </p:sp>
      <p:sp>
        <p:nvSpPr>
          <p:cNvPr id="3" name="标题 2"/>
          <p:cNvSpPr>
            <a:spLocks noGrp="1"/>
          </p:cNvSpPr>
          <p:nvPr>
            <p:ph type="title"/>
          </p:nvPr>
        </p:nvSpPr>
        <p:spPr/>
        <p:txBody>
          <a:bodyPr/>
          <a:lstStyle/>
          <a:p>
            <a:r>
              <a:rPr lang="zh-CN" altLang="en-US" dirty="0"/>
              <a:t>矩阵式键盘工作原理</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9</a:t>
            </a:fld>
            <a:endParaRPr lang="zh-CN" altLang="en-US"/>
          </a:p>
        </p:txBody>
      </p:sp>
    </p:spTree>
    <p:extLst>
      <p:ext uri="{BB962C8B-B14F-4D97-AF65-F5344CB8AC3E}">
        <p14:creationId xmlns:p14="http://schemas.microsoft.com/office/powerpoint/2010/main" val="32682979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09600" y="1074420"/>
            <a:ext cx="6638693" cy="5154929"/>
          </a:xfrm>
        </p:spPr>
        <p:txBody>
          <a:bodyPr/>
          <a:lstStyle/>
          <a:p>
            <a:r>
              <a:rPr lang="zh-CN" altLang="en-US" dirty="0"/>
              <a:t>第</a:t>
            </a:r>
            <a:r>
              <a:rPr lang="en-US" altLang="zh-CN" dirty="0"/>
              <a:t>1</a:t>
            </a:r>
            <a:r>
              <a:rPr lang="zh-CN" altLang="en-US" dirty="0"/>
              <a:t>步：识别键盘有无键按下。</a:t>
            </a:r>
          </a:p>
          <a:p>
            <a:r>
              <a:rPr lang="zh-CN" altLang="en-US" dirty="0"/>
              <a:t>第</a:t>
            </a:r>
            <a:r>
              <a:rPr lang="en-US" altLang="zh-CN" dirty="0"/>
              <a:t>2</a:t>
            </a:r>
            <a:r>
              <a:rPr lang="zh-CN" altLang="en-US" dirty="0"/>
              <a:t>步：如有键被按下，识别出具体的按键。</a:t>
            </a:r>
          </a:p>
          <a:p>
            <a:r>
              <a:rPr lang="zh-CN" altLang="en-US" dirty="0"/>
              <a:t>把所有列线置</a:t>
            </a:r>
            <a:r>
              <a:rPr lang="en-US" altLang="zh-CN" dirty="0"/>
              <a:t>0</a:t>
            </a:r>
            <a:r>
              <a:rPr lang="zh-CN" altLang="en-US" dirty="0"/>
              <a:t>，检查各行线电平是否有变化，如有变化，说明有键按下，如无变化，则无键按下。</a:t>
            </a:r>
            <a:endParaRPr lang="en-US" altLang="zh-CN" dirty="0"/>
          </a:p>
          <a:p>
            <a:pPr lvl="1"/>
            <a:r>
              <a:rPr lang="zh-CN" altLang="en-US" sz="2000" dirty="0"/>
              <a:t>列线输出</a:t>
            </a:r>
            <a:r>
              <a:rPr lang="en-US" altLang="zh-CN" sz="2000" b="1" dirty="0">
                <a:solidFill>
                  <a:srgbClr val="FF0000"/>
                </a:solidFill>
              </a:rPr>
              <a:t>0000</a:t>
            </a:r>
            <a:r>
              <a:rPr lang="zh-CN" altLang="en-US" sz="2000" dirty="0"/>
              <a:t>，然后输入行线状态：</a:t>
            </a:r>
            <a:endParaRPr lang="en-US" altLang="zh-CN" sz="2000" dirty="0"/>
          </a:p>
          <a:p>
            <a:pPr lvl="1"/>
            <a:r>
              <a:rPr lang="zh-CN" altLang="en-US" sz="2000" dirty="0"/>
              <a:t>若</a:t>
            </a:r>
            <a:r>
              <a:rPr lang="zh-CN" altLang="en-US" sz="2000" dirty="0">
                <a:solidFill>
                  <a:srgbClr val="FF0000"/>
                </a:solidFill>
              </a:rPr>
              <a:t>没有键按下</a:t>
            </a:r>
            <a:r>
              <a:rPr lang="zh-CN" altLang="en-US" sz="2000" dirty="0"/>
              <a:t>，则行线状态为</a:t>
            </a:r>
            <a:r>
              <a:rPr lang="zh-CN" altLang="en-US" sz="2000" dirty="0">
                <a:solidFill>
                  <a:srgbClr val="FF0000"/>
                </a:solidFill>
              </a:rPr>
              <a:t>全</a:t>
            </a:r>
            <a:r>
              <a:rPr lang="en-US" altLang="zh-CN" sz="2000" dirty="0">
                <a:solidFill>
                  <a:srgbClr val="FF0000"/>
                </a:solidFill>
              </a:rPr>
              <a:t>1</a:t>
            </a:r>
            <a:r>
              <a:rPr lang="zh-CN" altLang="en-US" sz="2000" dirty="0">
                <a:solidFill>
                  <a:srgbClr val="FF0000"/>
                </a:solidFill>
              </a:rPr>
              <a:t>（</a:t>
            </a:r>
            <a:r>
              <a:rPr lang="en-US" altLang="zh-CN" sz="2000" dirty="0">
                <a:solidFill>
                  <a:srgbClr val="FF0000"/>
                </a:solidFill>
              </a:rPr>
              <a:t>1111</a:t>
            </a:r>
            <a:r>
              <a:rPr lang="zh-CN" altLang="en-US" sz="2000" dirty="0">
                <a:solidFill>
                  <a:srgbClr val="FF0000"/>
                </a:solidFill>
              </a:rPr>
              <a:t>）</a:t>
            </a:r>
          </a:p>
          <a:p>
            <a:pPr lvl="1"/>
            <a:r>
              <a:rPr lang="zh-CN" altLang="en-US" sz="2000" dirty="0"/>
              <a:t>若</a:t>
            </a:r>
            <a:r>
              <a:rPr lang="zh-CN" altLang="en-US" sz="2000" dirty="0">
                <a:solidFill>
                  <a:srgbClr val="FF0000"/>
                </a:solidFill>
              </a:rPr>
              <a:t>有任一键按下</a:t>
            </a:r>
            <a:r>
              <a:rPr lang="zh-CN" altLang="en-US" sz="2000" dirty="0"/>
              <a:t>，则行线状态</a:t>
            </a:r>
            <a:r>
              <a:rPr lang="zh-CN" altLang="en-US" sz="2000" dirty="0">
                <a:solidFill>
                  <a:srgbClr val="FF0000"/>
                </a:solidFill>
              </a:rPr>
              <a:t>不为全</a:t>
            </a:r>
            <a:r>
              <a:rPr lang="en-US" altLang="zh-CN" sz="2000" dirty="0">
                <a:solidFill>
                  <a:srgbClr val="FF0000"/>
                </a:solidFill>
              </a:rPr>
              <a:t>1</a:t>
            </a:r>
            <a:r>
              <a:rPr lang="zh-CN" altLang="en-US" sz="2000" dirty="0"/>
              <a:t>。</a:t>
            </a:r>
            <a:endParaRPr lang="en-US" altLang="zh-CN" sz="2000" dirty="0"/>
          </a:p>
          <a:p>
            <a:r>
              <a:rPr lang="zh-CN" altLang="en-US" dirty="0"/>
              <a:t>也就是：先把某一列置低电平其余各列为高电平，检查各行线电平的变化，如果某行线电平为低，可确定此</a:t>
            </a:r>
            <a:r>
              <a:rPr lang="zh-CN" altLang="en-US" b="1" dirty="0">
                <a:solidFill>
                  <a:srgbClr val="C00000"/>
                </a:solidFill>
              </a:rPr>
              <a:t>行列交叉点</a:t>
            </a:r>
            <a:r>
              <a:rPr lang="zh-CN" altLang="en-US" dirty="0"/>
              <a:t>处的按键被按下。</a:t>
            </a:r>
          </a:p>
          <a:p>
            <a:endParaRPr lang="zh-CN" altLang="en-US" dirty="0"/>
          </a:p>
          <a:p>
            <a:endParaRPr lang="zh-CN" altLang="en-US" dirty="0"/>
          </a:p>
        </p:txBody>
      </p:sp>
      <p:sp>
        <p:nvSpPr>
          <p:cNvPr id="3" name="标题 2"/>
          <p:cNvSpPr>
            <a:spLocks noGrp="1"/>
          </p:cNvSpPr>
          <p:nvPr>
            <p:ph type="title"/>
          </p:nvPr>
        </p:nvSpPr>
        <p:spPr/>
        <p:txBody>
          <a:bodyPr/>
          <a:lstStyle/>
          <a:p>
            <a:r>
              <a:rPr lang="zh-CN" altLang="en-US" dirty="0"/>
              <a:t>扫描法</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10</a:t>
            </a:fld>
            <a:endParaRPr lang="zh-CN" altLang="en-US"/>
          </a:p>
        </p:txBody>
      </p:sp>
      <p:grpSp>
        <p:nvGrpSpPr>
          <p:cNvPr id="7" name="组合 6"/>
          <p:cNvGrpSpPr/>
          <p:nvPr/>
        </p:nvGrpSpPr>
        <p:grpSpPr>
          <a:xfrm>
            <a:off x="7462837" y="2602264"/>
            <a:ext cx="3817733" cy="3627085"/>
            <a:chOff x="6638748" y="2811051"/>
            <a:chExt cx="3817733" cy="3627085"/>
          </a:xfrm>
        </p:grpSpPr>
        <p:pic>
          <p:nvPicPr>
            <p:cNvPr id="5" name="图片 4"/>
            <p:cNvPicPr>
              <a:picLocks noChangeAspect="1"/>
            </p:cNvPicPr>
            <p:nvPr/>
          </p:nvPicPr>
          <p:blipFill>
            <a:blip r:embed="rId2"/>
            <a:stretch>
              <a:fillRect/>
            </a:stretch>
          </p:blipFill>
          <p:spPr>
            <a:xfrm>
              <a:off x="6638748" y="2811051"/>
              <a:ext cx="3817733" cy="3627085"/>
            </a:xfrm>
            <a:prstGeom prst="rect">
              <a:avLst/>
            </a:prstGeom>
          </p:spPr>
        </p:pic>
        <p:sp>
          <p:nvSpPr>
            <p:cNvPr id="6" name="矩形 5"/>
            <p:cNvSpPr/>
            <p:nvPr/>
          </p:nvSpPr>
          <p:spPr bwMode="auto">
            <a:xfrm>
              <a:off x="7597422" y="3160889"/>
              <a:ext cx="2494845" cy="203200"/>
            </a:xfrm>
            <a:prstGeom prst="rect">
              <a:avLst/>
            </a:prstGeom>
            <a:solidFill>
              <a:schemeClr val="bg1"/>
            </a:solidFill>
            <a:ln w="76200" cap="flat" cmpd="sng" algn="ctr">
              <a:noFill/>
              <a:prstDash val="solid"/>
              <a:round/>
              <a:headEnd type="none" w="med" len="med"/>
              <a:tailEnd type="none" w="med" len="med"/>
            </a:ln>
          </p:spPr>
          <p:txBody>
            <a:bodyPr vert="horz" wrap="square" lIns="91440" tIns="45720" rIns="91440" bIns="45720" numCol="1" rtlCol="0" anchor="ctr" anchorCtr="0" compatLnSpc="1">
              <a:noAutofit/>
            </a:bodyPr>
            <a:lstStyle/>
            <a:p>
              <a:pPr algn="ctr"/>
              <a:endParaRPr lang="zh-CN" altLang="en-US" dirty="0">
                <a:solidFill>
                  <a:srgbClr val="000000"/>
                </a:solidFill>
              </a:endParaRPr>
            </a:p>
          </p:txBody>
        </p:sp>
      </p:grpSp>
    </p:spTree>
    <p:extLst>
      <p:ext uri="{BB962C8B-B14F-4D97-AF65-F5344CB8AC3E}">
        <p14:creationId xmlns:p14="http://schemas.microsoft.com/office/powerpoint/2010/main" val="13953462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idx="1"/>
          </p:nvPr>
        </p:nvPicPr>
        <p:blipFill>
          <a:blip r:embed="rId2"/>
          <a:stretch>
            <a:fillRect/>
          </a:stretch>
        </p:blipFill>
        <p:spPr>
          <a:xfrm>
            <a:off x="189571" y="1459791"/>
            <a:ext cx="3856510" cy="3455819"/>
          </a:xfrm>
          <a:prstGeom prst="rect">
            <a:avLst/>
          </a:prstGeom>
        </p:spPr>
      </p:pic>
      <p:sp>
        <p:nvSpPr>
          <p:cNvPr id="3" name="标题 2"/>
          <p:cNvSpPr>
            <a:spLocks noGrp="1"/>
          </p:cNvSpPr>
          <p:nvPr>
            <p:ph type="title"/>
          </p:nvPr>
        </p:nvSpPr>
        <p:spPr/>
        <p:txBody>
          <a:bodyPr/>
          <a:lstStyle/>
          <a:p>
            <a:r>
              <a:rPr lang="zh-CN" altLang="en-US" dirty="0"/>
              <a:t>扫描法</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11</a:t>
            </a:fld>
            <a:endParaRPr lang="zh-CN" altLang="en-US"/>
          </a:p>
        </p:txBody>
      </p:sp>
      <p:pic>
        <p:nvPicPr>
          <p:cNvPr id="6" name="图片 5"/>
          <p:cNvPicPr>
            <a:picLocks noChangeAspect="1"/>
          </p:cNvPicPr>
          <p:nvPr/>
        </p:nvPicPr>
        <p:blipFill>
          <a:blip r:embed="rId3"/>
          <a:stretch>
            <a:fillRect/>
          </a:stretch>
        </p:blipFill>
        <p:spPr>
          <a:xfrm>
            <a:off x="4159223" y="1475713"/>
            <a:ext cx="3791599" cy="3439897"/>
          </a:xfrm>
          <a:prstGeom prst="rect">
            <a:avLst/>
          </a:prstGeom>
        </p:spPr>
      </p:pic>
      <p:pic>
        <p:nvPicPr>
          <p:cNvPr id="7" name="图片 6"/>
          <p:cNvPicPr>
            <a:picLocks noChangeAspect="1"/>
          </p:cNvPicPr>
          <p:nvPr/>
        </p:nvPicPr>
        <p:blipFill>
          <a:blip r:embed="rId4"/>
          <a:stretch>
            <a:fillRect/>
          </a:stretch>
        </p:blipFill>
        <p:spPr>
          <a:xfrm>
            <a:off x="8374574" y="1475713"/>
            <a:ext cx="3791413" cy="3434799"/>
          </a:xfrm>
          <a:prstGeom prst="rect">
            <a:avLst/>
          </a:prstGeom>
        </p:spPr>
      </p:pic>
    </p:spTree>
    <p:extLst>
      <p:ext uri="{BB962C8B-B14F-4D97-AF65-F5344CB8AC3E}">
        <p14:creationId xmlns:p14="http://schemas.microsoft.com/office/powerpoint/2010/main" val="17415563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只需两步便能获得此按键所在的行列值。</a:t>
            </a:r>
            <a:endParaRPr lang="en-US" altLang="zh-CN" dirty="0"/>
          </a:p>
          <a:p>
            <a:r>
              <a:rPr lang="zh-CN" altLang="en-US" dirty="0"/>
              <a:t>第</a:t>
            </a:r>
            <a:r>
              <a:rPr lang="en-US" altLang="zh-CN" dirty="0"/>
              <a:t>1</a:t>
            </a:r>
            <a:r>
              <a:rPr lang="zh-CN" altLang="en-US" dirty="0"/>
              <a:t>步：</a:t>
            </a:r>
            <a:r>
              <a:rPr lang="zh-CN" altLang="en-US" b="1" dirty="0">
                <a:solidFill>
                  <a:srgbClr val="FF0000"/>
                </a:solidFill>
              </a:rPr>
              <a:t>列线输出为全低电平</a:t>
            </a:r>
            <a:r>
              <a:rPr lang="zh-CN" altLang="en-US" dirty="0"/>
              <a:t>，则</a:t>
            </a:r>
            <a:r>
              <a:rPr lang="zh-CN" altLang="en-US" dirty="0">
                <a:solidFill>
                  <a:srgbClr val="C00000"/>
                </a:solidFill>
              </a:rPr>
              <a:t>行线中电平由高变低的所在行为按键所在行</a:t>
            </a:r>
            <a:r>
              <a:rPr lang="zh-CN" altLang="en-US" dirty="0"/>
              <a:t>。</a:t>
            </a:r>
          </a:p>
          <a:p>
            <a:r>
              <a:rPr lang="zh-CN" altLang="en-US" dirty="0"/>
              <a:t>第</a:t>
            </a:r>
            <a:r>
              <a:rPr lang="en-US" altLang="zh-CN" dirty="0"/>
              <a:t>2</a:t>
            </a:r>
            <a:r>
              <a:rPr lang="zh-CN" altLang="en-US" dirty="0"/>
              <a:t>步：</a:t>
            </a:r>
            <a:r>
              <a:rPr lang="zh-CN" altLang="en-US" b="1" dirty="0">
                <a:solidFill>
                  <a:srgbClr val="FF0000"/>
                </a:solidFill>
              </a:rPr>
              <a:t>行线输出为全低电平</a:t>
            </a:r>
            <a:r>
              <a:rPr lang="zh-CN" altLang="en-US" dirty="0"/>
              <a:t>，则</a:t>
            </a:r>
            <a:r>
              <a:rPr lang="zh-CN" altLang="en-US" dirty="0">
                <a:solidFill>
                  <a:srgbClr val="C00000"/>
                </a:solidFill>
              </a:rPr>
              <a:t>列线中电平由高变低所在列为按键所在列</a:t>
            </a:r>
            <a:r>
              <a:rPr lang="zh-CN" altLang="en-US" dirty="0"/>
              <a:t>。</a:t>
            </a:r>
          </a:p>
        </p:txBody>
      </p:sp>
      <p:sp>
        <p:nvSpPr>
          <p:cNvPr id="3" name="标题 2"/>
          <p:cNvSpPr>
            <a:spLocks noGrp="1"/>
          </p:cNvSpPr>
          <p:nvPr>
            <p:ph type="title"/>
          </p:nvPr>
        </p:nvSpPr>
        <p:spPr/>
        <p:txBody>
          <a:bodyPr/>
          <a:lstStyle/>
          <a:p>
            <a:r>
              <a:rPr lang="zh-CN" altLang="en-US" dirty="0"/>
              <a:t>线反转法</a:t>
            </a:r>
            <a:br>
              <a:rPr lang="zh-CN" altLang="en-US"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12</a:t>
            </a:fld>
            <a:endParaRPr lang="zh-CN" altLang="en-US"/>
          </a:p>
        </p:txBody>
      </p:sp>
      <p:pic>
        <p:nvPicPr>
          <p:cNvPr id="5" name="图片 4"/>
          <p:cNvPicPr>
            <a:picLocks noChangeAspect="1"/>
          </p:cNvPicPr>
          <p:nvPr/>
        </p:nvPicPr>
        <p:blipFill>
          <a:blip r:embed="rId2"/>
          <a:stretch>
            <a:fillRect/>
          </a:stretch>
        </p:blipFill>
        <p:spPr>
          <a:xfrm>
            <a:off x="826094" y="2784110"/>
            <a:ext cx="4104743" cy="3654026"/>
          </a:xfrm>
          <a:prstGeom prst="rect">
            <a:avLst/>
          </a:prstGeom>
        </p:spPr>
      </p:pic>
      <p:pic>
        <p:nvPicPr>
          <p:cNvPr id="6" name="图片 5"/>
          <p:cNvPicPr>
            <a:picLocks noChangeAspect="1"/>
          </p:cNvPicPr>
          <p:nvPr/>
        </p:nvPicPr>
        <p:blipFill>
          <a:blip r:embed="rId3"/>
          <a:stretch>
            <a:fillRect/>
          </a:stretch>
        </p:blipFill>
        <p:spPr>
          <a:xfrm>
            <a:off x="6004679" y="2784110"/>
            <a:ext cx="3994231" cy="3654026"/>
          </a:xfrm>
          <a:prstGeom prst="rect">
            <a:avLst/>
          </a:prstGeom>
        </p:spPr>
      </p:pic>
    </p:spTree>
    <p:extLst>
      <p:ext uri="{BB962C8B-B14F-4D97-AF65-F5344CB8AC3E}">
        <p14:creationId xmlns:p14="http://schemas.microsoft.com/office/powerpoint/2010/main" val="730885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a:t>
            </a:r>
            <a:r>
              <a:rPr lang="zh-CN" altLang="en-US" dirty="0"/>
              <a:t>扫描法对键的识别采用逐列扫描的方法获得键的位置，当被按下的键在最后一列时需要扫描</a:t>
            </a:r>
            <a:r>
              <a:rPr lang="en-US" altLang="zh-CN" dirty="0"/>
              <a:t>N</a:t>
            </a:r>
            <a:r>
              <a:rPr lang="zh-CN" altLang="en-US" dirty="0"/>
              <a:t>次（</a:t>
            </a:r>
            <a:r>
              <a:rPr lang="en-US" altLang="zh-CN" dirty="0"/>
              <a:t>N</a:t>
            </a:r>
            <a:r>
              <a:rPr lang="zh-CN" altLang="en-US" dirty="0"/>
              <a:t>为列数）。当</a:t>
            </a:r>
            <a:r>
              <a:rPr lang="en-US" altLang="zh-CN" dirty="0"/>
              <a:t>N</a:t>
            </a:r>
            <a:r>
              <a:rPr lang="zh-CN" altLang="en-US" dirty="0"/>
              <a:t>比较大时键盘工作速度较慢</a:t>
            </a:r>
          </a:p>
          <a:p>
            <a:r>
              <a:rPr lang="en-US" altLang="zh-CN" dirty="0"/>
              <a:t>-</a:t>
            </a:r>
            <a:r>
              <a:rPr lang="zh-CN" altLang="en-US" dirty="0"/>
              <a:t>而线反转法则不论键盘有多少行和多少列只需经过两步即可获得键的位置。</a:t>
            </a:r>
          </a:p>
        </p:txBody>
      </p:sp>
      <p:sp>
        <p:nvSpPr>
          <p:cNvPr id="3" name="标题 2"/>
          <p:cNvSpPr>
            <a:spLocks noGrp="1"/>
          </p:cNvSpPr>
          <p:nvPr>
            <p:ph type="title"/>
          </p:nvPr>
        </p:nvSpPr>
        <p:spPr/>
        <p:txBody>
          <a:bodyPr/>
          <a:lstStyle/>
          <a:p>
            <a:br>
              <a:rPr lang="en-US" altLang="zh-CN" dirty="0"/>
            </a:br>
            <a:endParaRPr lang="zh-CN" altLang="en-US" dirty="0"/>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13</a:t>
            </a:fld>
            <a:endParaRPr lang="zh-CN" altLang="en-US"/>
          </a:p>
        </p:txBody>
      </p:sp>
    </p:spTree>
    <p:extLst>
      <p:ext uri="{BB962C8B-B14F-4D97-AF65-F5344CB8AC3E}">
        <p14:creationId xmlns:p14="http://schemas.microsoft.com/office/powerpoint/2010/main" val="1589954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负逻辑表示</a:t>
            </a:r>
            <a:r>
              <a:rPr lang="en-US" altLang="zh-CN" dirty="0"/>
              <a:t>-</a:t>
            </a:r>
            <a:r>
              <a:rPr lang="zh-CN" altLang="en-US" dirty="0"/>
              <a:t>行列线数据直接组合，例中的各键值分别为：</a:t>
            </a:r>
          </a:p>
          <a:p>
            <a:r>
              <a:rPr lang="en-US" altLang="zh-CN" dirty="0"/>
              <a:t>77H</a:t>
            </a:r>
            <a:r>
              <a:rPr lang="zh-CN" altLang="en-US" dirty="0"/>
              <a:t>，</a:t>
            </a:r>
            <a:r>
              <a:rPr lang="en-US" altLang="zh-CN" dirty="0"/>
              <a:t>7BH</a:t>
            </a:r>
            <a:r>
              <a:rPr lang="zh-CN" altLang="en-US" dirty="0"/>
              <a:t>，</a:t>
            </a:r>
            <a:r>
              <a:rPr lang="en-US" altLang="zh-CN" dirty="0"/>
              <a:t>7DH</a:t>
            </a:r>
            <a:r>
              <a:rPr lang="zh-CN" altLang="en-US" dirty="0"/>
              <a:t>，</a:t>
            </a:r>
            <a:r>
              <a:rPr lang="el-GR" altLang="zh-CN" dirty="0"/>
              <a:t>7Ε</a:t>
            </a:r>
            <a:r>
              <a:rPr lang="en-US" altLang="zh-CN" dirty="0"/>
              <a:t>H</a:t>
            </a:r>
            <a:r>
              <a:rPr lang="zh-CN" altLang="en-US" dirty="0"/>
              <a:t>、</a:t>
            </a:r>
            <a:endParaRPr lang="en-US" altLang="zh-CN" dirty="0"/>
          </a:p>
          <a:p>
            <a:r>
              <a:rPr lang="en-US" altLang="zh-CN" dirty="0"/>
              <a:t>B7H</a:t>
            </a:r>
            <a:r>
              <a:rPr lang="zh-CN" altLang="en-US" dirty="0"/>
              <a:t>，</a:t>
            </a:r>
            <a:r>
              <a:rPr lang="en-US" altLang="zh-CN" dirty="0"/>
              <a:t>BBH</a:t>
            </a:r>
            <a:r>
              <a:rPr lang="zh-CN" altLang="en-US" dirty="0"/>
              <a:t>，</a:t>
            </a:r>
            <a:r>
              <a:rPr lang="en-US" altLang="zh-CN" dirty="0"/>
              <a:t>BDH</a:t>
            </a:r>
            <a:r>
              <a:rPr lang="zh-CN" altLang="en-US" dirty="0"/>
              <a:t>，</a:t>
            </a:r>
            <a:r>
              <a:rPr lang="en-US" altLang="zh-CN" dirty="0"/>
              <a:t>BEH.</a:t>
            </a:r>
            <a:endParaRPr lang="zh-CN" altLang="en-US" dirty="0"/>
          </a:p>
          <a:p>
            <a:r>
              <a:rPr lang="en-US" altLang="zh-CN" dirty="0"/>
              <a:t>D7H</a:t>
            </a:r>
            <a:r>
              <a:rPr lang="zh-CN" altLang="en-US" dirty="0"/>
              <a:t>，</a:t>
            </a:r>
            <a:r>
              <a:rPr lang="en-US" altLang="zh-CN" dirty="0"/>
              <a:t>DBH</a:t>
            </a:r>
            <a:r>
              <a:rPr lang="zh-CN" altLang="en-US" dirty="0"/>
              <a:t>，</a:t>
            </a:r>
            <a:r>
              <a:rPr lang="en-US" altLang="zh-CN" dirty="0"/>
              <a:t>DDH</a:t>
            </a:r>
            <a:r>
              <a:rPr lang="zh-CN" altLang="en-US" dirty="0"/>
              <a:t>，</a:t>
            </a:r>
            <a:r>
              <a:rPr lang="en-US" altLang="zh-CN" dirty="0"/>
              <a:t>DEH</a:t>
            </a:r>
          </a:p>
          <a:p>
            <a:r>
              <a:rPr lang="el-GR" altLang="zh-CN" dirty="0"/>
              <a:t>Ε7Η</a:t>
            </a:r>
            <a:r>
              <a:rPr lang="zh-CN" altLang="en-US" dirty="0"/>
              <a:t>，</a:t>
            </a:r>
            <a:r>
              <a:rPr lang="el-GR" altLang="zh-CN" dirty="0"/>
              <a:t>ΕΒΗ</a:t>
            </a:r>
            <a:r>
              <a:rPr lang="zh-CN" altLang="en-US" dirty="0"/>
              <a:t>，</a:t>
            </a:r>
            <a:r>
              <a:rPr lang="el-GR" altLang="zh-CN" dirty="0"/>
              <a:t>Ε</a:t>
            </a:r>
            <a:r>
              <a:rPr lang="en-US" altLang="zh-CN" dirty="0"/>
              <a:t>D</a:t>
            </a:r>
            <a:r>
              <a:rPr lang="el-GR" altLang="zh-CN" dirty="0"/>
              <a:t>Η</a:t>
            </a:r>
            <a:r>
              <a:rPr lang="zh-CN" altLang="en-US" dirty="0"/>
              <a:t>，</a:t>
            </a:r>
            <a:r>
              <a:rPr lang="el-GR" altLang="zh-CN" dirty="0"/>
              <a:t>ΕΕΗ</a:t>
            </a:r>
            <a:endParaRPr lang="zh-CN" altLang="en-US" dirty="0"/>
          </a:p>
          <a:p>
            <a:r>
              <a:rPr lang="zh-CN" altLang="en-US" dirty="0"/>
              <a:t>■正逻辑表示一行列线数据求反组合，例中的各键值分别为：</a:t>
            </a:r>
            <a:endParaRPr lang="en-US" altLang="zh-CN" dirty="0"/>
          </a:p>
          <a:p>
            <a:r>
              <a:rPr lang="en-US" altLang="zh-CN" dirty="0"/>
              <a:t>88H</a:t>
            </a:r>
            <a:r>
              <a:rPr lang="zh-CN" altLang="en-US" dirty="0"/>
              <a:t>、</a:t>
            </a:r>
            <a:r>
              <a:rPr lang="en-US" altLang="zh-CN" dirty="0"/>
              <a:t>84H</a:t>
            </a:r>
            <a:r>
              <a:rPr lang="zh-CN" altLang="en-US" dirty="0"/>
              <a:t>、</a:t>
            </a:r>
            <a:r>
              <a:rPr lang="en-US" altLang="zh-CN" dirty="0"/>
              <a:t>82H</a:t>
            </a:r>
            <a:r>
              <a:rPr lang="zh-CN" altLang="en-US" dirty="0"/>
              <a:t>、</a:t>
            </a:r>
            <a:r>
              <a:rPr lang="en-US" altLang="zh-CN" dirty="0"/>
              <a:t>81H</a:t>
            </a:r>
            <a:r>
              <a:rPr lang="zh-CN" altLang="en-US" dirty="0"/>
              <a:t>，</a:t>
            </a:r>
          </a:p>
          <a:p>
            <a:r>
              <a:rPr lang="en-US" altLang="zh-CN" dirty="0"/>
              <a:t>48H</a:t>
            </a:r>
            <a:r>
              <a:rPr lang="zh-CN" altLang="en-US" dirty="0"/>
              <a:t>、</a:t>
            </a:r>
            <a:r>
              <a:rPr lang="en-US" altLang="zh-CN" dirty="0"/>
              <a:t>44H</a:t>
            </a:r>
            <a:r>
              <a:rPr lang="zh-CN" altLang="en-US" dirty="0"/>
              <a:t>、</a:t>
            </a:r>
            <a:r>
              <a:rPr lang="en-US" altLang="zh-CN" dirty="0"/>
              <a:t>42H</a:t>
            </a:r>
            <a:r>
              <a:rPr lang="zh-CN" altLang="en-US" dirty="0"/>
              <a:t>，</a:t>
            </a:r>
            <a:r>
              <a:rPr lang="en-US" altLang="zh-CN" dirty="0"/>
              <a:t>41H</a:t>
            </a:r>
            <a:r>
              <a:rPr lang="zh-CN" altLang="en-US" dirty="0"/>
              <a:t>，</a:t>
            </a:r>
          </a:p>
          <a:p>
            <a:r>
              <a:rPr lang="en-US" altLang="zh-CN" dirty="0"/>
              <a:t>28H</a:t>
            </a:r>
            <a:r>
              <a:rPr lang="zh-CN" altLang="en-US" dirty="0"/>
              <a:t>，</a:t>
            </a:r>
            <a:r>
              <a:rPr lang="en-US" altLang="zh-CN" dirty="0"/>
              <a:t>24H</a:t>
            </a:r>
            <a:r>
              <a:rPr lang="zh-CN" altLang="en-US" dirty="0"/>
              <a:t>，</a:t>
            </a:r>
            <a:r>
              <a:rPr lang="en-US" altLang="zh-CN" dirty="0"/>
              <a:t>22H</a:t>
            </a:r>
            <a:r>
              <a:rPr lang="zh-CN" altLang="en-US" dirty="0"/>
              <a:t>，</a:t>
            </a:r>
            <a:r>
              <a:rPr lang="en-US" altLang="zh-CN" dirty="0"/>
              <a:t>21H</a:t>
            </a:r>
            <a:r>
              <a:rPr lang="zh-CN" altLang="en-US" dirty="0"/>
              <a:t>，</a:t>
            </a:r>
          </a:p>
          <a:p>
            <a:r>
              <a:rPr lang="en-US" altLang="zh-CN" dirty="0"/>
              <a:t>18H</a:t>
            </a:r>
            <a:r>
              <a:rPr lang="zh-CN" altLang="en-US" dirty="0"/>
              <a:t>，</a:t>
            </a:r>
            <a:r>
              <a:rPr lang="en-US" altLang="zh-CN" dirty="0"/>
              <a:t>14H</a:t>
            </a:r>
            <a:r>
              <a:rPr lang="zh-CN" altLang="en-US" dirty="0"/>
              <a:t>，</a:t>
            </a:r>
            <a:r>
              <a:rPr lang="en-US" altLang="zh-CN" dirty="0"/>
              <a:t>12H</a:t>
            </a:r>
            <a:r>
              <a:rPr lang="zh-CN" altLang="en-US" dirty="0"/>
              <a:t>，</a:t>
            </a:r>
            <a:r>
              <a:rPr lang="en-US" altLang="zh-CN" dirty="0"/>
              <a:t>11H</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键值确定</a:t>
            </a:r>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14</a:t>
            </a:fld>
            <a:endParaRPr lang="zh-CN" altLang="en-US"/>
          </a:p>
        </p:txBody>
      </p:sp>
    </p:spTree>
    <p:extLst>
      <p:ext uri="{BB962C8B-B14F-4D97-AF65-F5344CB8AC3E}">
        <p14:creationId xmlns:p14="http://schemas.microsoft.com/office/powerpoint/2010/main" val="2950511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nSpc>
                <a:spcPct val="150000"/>
              </a:lnSpc>
            </a:pPr>
            <a:r>
              <a:rPr lang="zh-CN" altLang="en-US" dirty="0"/>
              <a:t>一个完整的键盘控制程序应解决以下任务：</a:t>
            </a:r>
          </a:p>
          <a:p>
            <a:pPr lvl="1">
              <a:lnSpc>
                <a:spcPct val="150000"/>
              </a:lnSpc>
            </a:pPr>
            <a:r>
              <a:rPr lang="zh-CN" altLang="en-US" dirty="0"/>
              <a:t>检测有无按键按下</a:t>
            </a:r>
          </a:p>
          <a:p>
            <a:pPr lvl="1">
              <a:lnSpc>
                <a:spcPct val="150000"/>
              </a:lnSpc>
            </a:pPr>
            <a:r>
              <a:rPr lang="zh-CN" altLang="en-US" dirty="0"/>
              <a:t>有键按下，在无硬件去抖得情况下，应有软件延时除去抖动影响</a:t>
            </a:r>
          </a:p>
          <a:p>
            <a:pPr lvl="1">
              <a:lnSpc>
                <a:spcPct val="150000"/>
              </a:lnSpc>
            </a:pPr>
            <a:r>
              <a:rPr lang="zh-CN" altLang="en-US" dirty="0"/>
              <a:t>键扫描程序</a:t>
            </a:r>
          </a:p>
          <a:p>
            <a:pPr lvl="1">
              <a:lnSpc>
                <a:spcPct val="150000"/>
              </a:lnSpc>
            </a:pPr>
            <a:r>
              <a:rPr lang="zh-CN" altLang="en-US" dirty="0"/>
              <a:t>将键编码转换成相应建值</a:t>
            </a:r>
          </a:p>
          <a:p>
            <a:pPr>
              <a:lnSpc>
                <a:spcPct val="150000"/>
              </a:lnSpc>
            </a:pPr>
            <a:r>
              <a:rPr lang="zh-CN" altLang="en-US" dirty="0"/>
              <a:t>整个设计程序包括三个模块：时钟分频、键盘扫描和键译码转换。为了显示，还必须在顶层添加显示部分。</a:t>
            </a:r>
          </a:p>
        </p:txBody>
      </p:sp>
      <p:sp>
        <p:nvSpPr>
          <p:cNvPr id="3" name="标题 2"/>
          <p:cNvSpPr>
            <a:spLocks noGrp="1"/>
          </p:cNvSpPr>
          <p:nvPr>
            <p:ph type="title"/>
          </p:nvPr>
        </p:nvSpPr>
        <p:spPr/>
        <p:txBody>
          <a:bodyPr/>
          <a:lstStyle/>
          <a:p>
            <a:r>
              <a:rPr lang="en-US" altLang="zh-CN" dirty="0"/>
              <a:t>FPGA</a:t>
            </a:r>
            <a:r>
              <a:rPr lang="zh-CN" altLang="en-US" dirty="0"/>
              <a:t>实现</a:t>
            </a:r>
          </a:p>
        </p:txBody>
      </p:sp>
      <p:sp>
        <p:nvSpPr>
          <p:cNvPr id="4" name="灯片编号占位符 3"/>
          <p:cNvSpPr>
            <a:spLocks noGrp="1"/>
          </p:cNvSpPr>
          <p:nvPr>
            <p:ph type="sldNum" sz="quarter" idx="10"/>
          </p:nvPr>
        </p:nvSpPr>
        <p:spPr/>
        <p:txBody>
          <a:bodyPr/>
          <a:lstStyle/>
          <a:p>
            <a:pPr>
              <a:defRPr/>
            </a:pPr>
            <a:fld id="{BA73E779-047E-4F8E-A1E6-6D4A4DA0D3F1}" type="slidenum">
              <a:rPr lang="zh-CN" altLang="en-US" smtClean="0"/>
              <a:t>15</a:t>
            </a:fld>
            <a:endParaRPr lang="zh-CN" altLang="en-US"/>
          </a:p>
        </p:txBody>
      </p:sp>
    </p:spTree>
    <p:extLst>
      <p:ext uri="{BB962C8B-B14F-4D97-AF65-F5344CB8AC3E}">
        <p14:creationId xmlns:p14="http://schemas.microsoft.com/office/powerpoint/2010/main" val="2282912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2B3EC8-6D0F-4296-8160-3F48A0C11FEA}"/>
              </a:ext>
            </a:extLst>
          </p:cNvPr>
          <p:cNvSpPr>
            <a:spLocks noGrp="1"/>
          </p:cNvSpPr>
          <p:nvPr>
            <p:ph type="title"/>
          </p:nvPr>
        </p:nvSpPr>
        <p:spPr/>
        <p:txBody>
          <a:bodyPr/>
          <a:lstStyle/>
          <a:p>
            <a:r>
              <a:rPr lang="zh-CN" altLang="en-US" dirty="0"/>
              <a:t>约束文件中管脚的连接</a:t>
            </a:r>
          </a:p>
        </p:txBody>
      </p:sp>
      <p:sp>
        <p:nvSpPr>
          <p:cNvPr id="3" name="灯片编号占位符 2">
            <a:extLst>
              <a:ext uri="{FF2B5EF4-FFF2-40B4-BE49-F238E27FC236}">
                <a16:creationId xmlns:a16="http://schemas.microsoft.com/office/drawing/2014/main" id="{6E17EFDE-CE0D-4D15-80D8-4657EDFEC9B3}"/>
              </a:ext>
            </a:extLst>
          </p:cNvPr>
          <p:cNvSpPr>
            <a:spLocks noGrp="1"/>
          </p:cNvSpPr>
          <p:nvPr>
            <p:ph type="sldNum" sz="quarter" idx="12"/>
          </p:nvPr>
        </p:nvSpPr>
        <p:spPr/>
        <p:txBody>
          <a:bodyPr/>
          <a:lstStyle/>
          <a:p>
            <a:pPr>
              <a:defRPr/>
            </a:pPr>
            <a:fld id="{7102E498-119F-4A00-B797-CBB57BD1809B}" type="slidenum">
              <a:rPr lang="zh-CN" altLang="en-US" smtClean="0"/>
              <a:t>16</a:t>
            </a:fld>
            <a:endParaRPr lang="zh-CN" altLang="en-US"/>
          </a:p>
        </p:txBody>
      </p:sp>
      <p:graphicFrame>
        <p:nvGraphicFramePr>
          <p:cNvPr id="5" name="表格 4">
            <a:extLst>
              <a:ext uri="{FF2B5EF4-FFF2-40B4-BE49-F238E27FC236}">
                <a16:creationId xmlns:a16="http://schemas.microsoft.com/office/drawing/2014/main" id="{B68B33D6-D919-4308-8BA4-774A1D7A11AA}"/>
              </a:ext>
            </a:extLst>
          </p:cNvPr>
          <p:cNvGraphicFramePr>
            <a:graphicFrameLocks noGrp="1"/>
          </p:cNvGraphicFramePr>
          <p:nvPr>
            <p:extLst>
              <p:ext uri="{D42A27DB-BD31-4B8C-83A1-F6EECF244321}">
                <p14:modId xmlns:p14="http://schemas.microsoft.com/office/powerpoint/2010/main" val="4083316922"/>
              </p:ext>
            </p:extLst>
          </p:nvPr>
        </p:nvGraphicFramePr>
        <p:xfrm>
          <a:off x="993588" y="1187248"/>
          <a:ext cx="9481672" cy="5131433"/>
        </p:xfrm>
        <a:graphic>
          <a:graphicData uri="http://schemas.openxmlformats.org/drawingml/2006/table">
            <a:tbl>
              <a:tblPr firstRow="1" bandRow="1">
                <a:tableStyleId>{5C22544A-7EE6-4342-B048-85BDC9FD1C3A}</a:tableStyleId>
              </a:tblPr>
              <a:tblGrid>
                <a:gridCol w="4740836">
                  <a:extLst>
                    <a:ext uri="{9D8B030D-6E8A-4147-A177-3AD203B41FA5}">
                      <a16:colId xmlns:a16="http://schemas.microsoft.com/office/drawing/2014/main" val="2736492582"/>
                    </a:ext>
                  </a:extLst>
                </a:gridCol>
                <a:gridCol w="4740836">
                  <a:extLst>
                    <a:ext uri="{9D8B030D-6E8A-4147-A177-3AD203B41FA5}">
                      <a16:colId xmlns:a16="http://schemas.microsoft.com/office/drawing/2014/main" val="3452519942"/>
                    </a:ext>
                  </a:extLst>
                </a:gridCol>
              </a:tblGrid>
              <a:tr h="0">
                <a:tc>
                  <a:txBody>
                    <a:bodyPr/>
                    <a:lstStyle/>
                    <a:p>
                      <a:pPr algn="ctr"/>
                      <a:r>
                        <a:rPr lang="zh-CN" altLang="en-US" sz="2400" dirty="0"/>
                        <a:t>键盘</a:t>
                      </a:r>
                    </a:p>
                  </a:txBody>
                  <a:tcPr/>
                </a:tc>
                <a:tc>
                  <a:txBody>
                    <a:bodyPr/>
                    <a:lstStyle/>
                    <a:p>
                      <a:pPr algn="ctr"/>
                      <a:r>
                        <a:rPr lang="en-US" altLang="zh-CN" sz="2400" dirty="0"/>
                        <a:t>J2</a:t>
                      </a:r>
                      <a:endParaRPr lang="zh-CN" altLang="en-US" sz="2400" dirty="0"/>
                    </a:p>
                  </a:txBody>
                  <a:tcPr/>
                </a:tc>
                <a:extLst>
                  <a:ext uri="{0D108BD9-81ED-4DB2-BD59-A6C34878D82A}">
                    <a16:rowId xmlns:a16="http://schemas.microsoft.com/office/drawing/2014/main" val="2997063656"/>
                  </a:ext>
                </a:extLst>
              </a:tr>
              <a:tr h="551905">
                <a:tc>
                  <a:txBody>
                    <a:bodyPr/>
                    <a:lstStyle/>
                    <a:p>
                      <a:pPr algn="ctr"/>
                      <a:r>
                        <a:rPr lang="en-US" altLang="zh-CN" sz="2400" dirty="0"/>
                        <a:t>1—C4</a:t>
                      </a:r>
                      <a:endParaRPr lang="zh-CN" altLang="en-US" sz="2400" dirty="0"/>
                    </a:p>
                  </a:txBody>
                  <a:tcPr/>
                </a:tc>
                <a:tc>
                  <a:txBody>
                    <a:bodyPr/>
                    <a:lstStyle/>
                    <a:p>
                      <a:pPr algn="ctr"/>
                      <a:r>
                        <a:rPr lang="en-US" altLang="zh-CN" sz="2400"/>
                        <a:t>J2.8—</a:t>
                      </a:r>
                      <a:r>
                        <a:rPr lang="en-US" altLang="zh-CN" sz="2400" dirty="0"/>
                        <a:t>W2</a:t>
                      </a:r>
                      <a:endParaRPr lang="zh-CN" altLang="en-US" sz="2400" dirty="0"/>
                    </a:p>
                  </a:txBody>
                  <a:tcPr/>
                </a:tc>
                <a:extLst>
                  <a:ext uri="{0D108BD9-81ED-4DB2-BD59-A6C34878D82A}">
                    <a16:rowId xmlns:a16="http://schemas.microsoft.com/office/drawing/2014/main" val="2474091896"/>
                  </a:ext>
                </a:extLst>
              </a:tr>
              <a:tr h="588904">
                <a:tc>
                  <a:txBody>
                    <a:bodyPr/>
                    <a:lstStyle/>
                    <a:p>
                      <a:pPr algn="ctr"/>
                      <a:r>
                        <a:rPr lang="en-US" altLang="zh-CN" sz="2400" dirty="0"/>
                        <a:t>2—C3</a:t>
                      </a:r>
                      <a:endParaRPr lang="zh-CN" altLang="en-US" sz="2400" dirty="0"/>
                    </a:p>
                  </a:txBody>
                  <a:tcPr/>
                </a:tc>
                <a:tc>
                  <a:txBody>
                    <a:bodyPr/>
                    <a:lstStyle/>
                    <a:p>
                      <a:pPr algn="ctr"/>
                      <a:r>
                        <a:rPr lang="en-US" altLang="zh-CN" sz="2400" dirty="0"/>
                        <a:t>J2.7—R2</a:t>
                      </a:r>
                      <a:endParaRPr lang="zh-CN" altLang="en-US" sz="2400" dirty="0"/>
                    </a:p>
                  </a:txBody>
                  <a:tcPr/>
                </a:tc>
                <a:extLst>
                  <a:ext uri="{0D108BD9-81ED-4DB2-BD59-A6C34878D82A}">
                    <a16:rowId xmlns:a16="http://schemas.microsoft.com/office/drawing/2014/main" val="2113729086"/>
                  </a:ext>
                </a:extLst>
              </a:tr>
              <a:tr h="588904">
                <a:tc>
                  <a:txBody>
                    <a:bodyPr/>
                    <a:lstStyle/>
                    <a:p>
                      <a:pPr algn="ctr"/>
                      <a:r>
                        <a:rPr lang="en-US" altLang="zh-CN" sz="2400" dirty="0"/>
                        <a:t>3—C2</a:t>
                      </a:r>
                      <a:endParaRPr lang="zh-CN" altLang="en-US" sz="2400" dirty="0"/>
                    </a:p>
                  </a:txBody>
                  <a:tcPr/>
                </a:tc>
                <a:tc>
                  <a:txBody>
                    <a:bodyPr/>
                    <a:lstStyle/>
                    <a:p>
                      <a:pPr algn="ctr"/>
                      <a:r>
                        <a:rPr lang="en-US" altLang="zh-CN" sz="2400" dirty="0"/>
                        <a:t>J2.6—R3</a:t>
                      </a:r>
                      <a:endParaRPr lang="zh-CN" altLang="en-US" sz="2400" dirty="0"/>
                    </a:p>
                  </a:txBody>
                  <a:tcPr/>
                </a:tc>
                <a:extLst>
                  <a:ext uri="{0D108BD9-81ED-4DB2-BD59-A6C34878D82A}">
                    <a16:rowId xmlns:a16="http://schemas.microsoft.com/office/drawing/2014/main" val="215420549"/>
                  </a:ext>
                </a:extLst>
              </a:tr>
              <a:tr h="588904">
                <a:tc>
                  <a:txBody>
                    <a:bodyPr/>
                    <a:lstStyle/>
                    <a:p>
                      <a:pPr algn="ctr"/>
                      <a:r>
                        <a:rPr lang="en-US" altLang="zh-CN" sz="2400" dirty="0"/>
                        <a:t>4—C1</a:t>
                      </a:r>
                      <a:endParaRPr lang="zh-CN" altLang="en-US" sz="2400" dirty="0"/>
                    </a:p>
                  </a:txBody>
                  <a:tcPr/>
                </a:tc>
                <a:tc>
                  <a:txBody>
                    <a:bodyPr/>
                    <a:lstStyle/>
                    <a:p>
                      <a:pPr algn="ctr"/>
                      <a:r>
                        <a:rPr lang="en-US" altLang="zh-CN" sz="2400" dirty="0"/>
                        <a:t>J2.5—V2</a:t>
                      </a:r>
                      <a:endParaRPr lang="zh-CN" altLang="en-US" sz="2400" dirty="0"/>
                    </a:p>
                  </a:txBody>
                  <a:tcPr/>
                </a:tc>
                <a:extLst>
                  <a:ext uri="{0D108BD9-81ED-4DB2-BD59-A6C34878D82A}">
                    <a16:rowId xmlns:a16="http://schemas.microsoft.com/office/drawing/2014/main" val="2589047633"/>
                  </a:ext>
                </a:extLst>
              </a:tr>
              <a:tr h="588904">
                <a:tc>
                  <a:txBody>
                    <a:bodyPr/>
                    <a:lstStyle/>
                    <a:p>
                      <a:pPr algn="ctr"/>
                      <a:r>
                        <a:rPr lang="en-US" altLang="zh-CN" sz="2400" dirty="0"/>
                        <a:t>5—R1</a:t>
                      </a:r>
                      <a:endParaRPr lang="zh-CN" altLang="en-US" sz="2400" dirty="0"/>
                    </a:p>
                  </a:txBody>
                  <a:tcPr/>
                </a:tc>
                <a:tc>
                  <a:txBody>
                    <a:bodyPr/>
                    <a:lstStyle/>
                    <a:p>
                      <a:pPr algn="ctr"/>
                      <a:r>
                        <a:rPr lang="en-US" altLang="zh-CN" sz="2400" dirty="0"/>
                        <a:t>J2.1—T3</a:t>
                      </a:r>
                      <a:endParaRPr lang="zh-CN" altLang="en-US" sz="2400" dirty="0"/>
                    </a:p>
                  </a:txBody>
                  <a:tcPr/>
                </a:tc>
                <a:extLst>
                  <a:ext uri="{0D108BD9-81ED-4DB2-BD59-A6C34878D82A}">
                    <a16:rowId xmlns:a16="http://schemas.microsoft.com/office/drawing/2014/main" val="1855892111"/>
                  </a:ext>
                </a:extLst>
              </a:tr>
              <a:tr h="588904">
                <a:tc>
                  <a:txBody>
                    <a:bodyPr/>
                    <a:lstStyle/>
                    <a:p>
                      <a:pPr algn="ctr"/>
                      <a:r>
                        <a:rPr lang="en-US" altLang="zh-CN" sz="2400" dirty="0"/>
                        <a:t>6—R2</a:t>
                      </a:r>
                      <a:endParaRPr lang="zh-CN" altLang="en-US" sz="2400" dirty="0"/>
                    </a:p>
                  </a:txBody>
                  <a:tcPr/>
                </a:tc>
                <a:tc>
                  <a:txBody>
                    <a:bodyPr/>
                    <a:lstStyle/>
                    <a:p>
                      <a:pPr algn="ctr"/>
                      <a:r>
                        <a:rPr lang="en-US" altLang="zh-CN" sz="2400" dirty="0"/>
                        <a:t>J2.2—T1</a:t>
                      </a:r>
                      <a:endParaRPr lang="zh-CN" altLang="en-US" sz="2400" dirty="0"/>
                    </a:p>
                  </a:txBody>
                  <a:tcPr/>
                </a:tc>
                <a:extLst>
                  <a:ext uri="{0D108BD9-81ED-4DB2-BD59-A6C34878D82A}">
                    <a16:rowId xmlns:a16="http://schemas.microsoft.com/office/drawing/2014/main" val="3693400595"/>
                  </a:ext>
                </a:extLst>
              </a:tr>
              <a:tr h="588904">
                <a:tc>
                  <a:txBody>
                    <a:bodyPr/>
                    <a:lstStyle/>
                    <a:p>
                      <a:pPr algn="ctr"/>
                      <a:r>
                        <a:rPr lang="en-US" altLang="zh-CN" sz="2400" dirty="0"/>
                        <a:t>7—R3</a:t>
                      </a:r>
                      <a:endParaRPr lang="zh-CN" altLang="en-US" sz="2400" dirty="0"/>
                    </a:p>
                  </a:txBody>
                  <a:tcPr/>
                </a:tc>
                <a:tc>
                  <a:txBody>
                    <a:bodyPr/>
                    <a:lstStyle/>
                    <a:p>
                      <a:pPr algn="ctr"/>
                      <a:r>
                        <a:rPr lang="en-US" altLang="zh-CN" sz="2400" dirty="0"/>
                        <a:t>J2.3—U1</a:t>
                      </a:r>
                      <a:endParaRPr lang="zh-CN" altLang="en-US" sz="2400" dirty="0"/>
                    </a:p>
                  </a:txBody>
                  <a:tcPr/>
                </a:tc>
                <a:extLst>
                  <a:ext uri="{0D108BD9-81ED-4DB2-BD59-A6C34878D82A}">
                    <a16:rowId xmlns:a16="http://schemas.microsoft.com/office/drawing/2014/main" val="2586233688"/>
                  </a:ext>
                </a:extLst>
              </a:tr>
              <a:tr h="588904">
                <a:tc>
                  <a:txBody>
                    <a:bodyPr/>
                    <a:lstStyle/>
                    <a:p>
                      <a:pPr algn="ctr"/>
                      <a:r>
                        <a:rPr lang="en-US" altLang="zh-CN" sz="2400" dirty="0"/>
                        <a:t>8—R4</a:t>
                      </a:r>
                      <a:endParaRPr lang="zh-CN" altLang="en-US" sz="2400" dirty="0"/>
                    </a:p>
                  </a:txBody>
                  <a:tcPr/>
                </a:tc>
                <a:tc>
                  <a:txBody>
                    <a:bodyPr/>
                    <a:lstStyle/>
                    <a:p>
                      <a:pPr algn="ctr"/>
                      <a:r>
                        <a:rPr lang="en-US" altLang="zh-CN" sz="2400" dirty="0"/>
                        <a:t>J2.4—U2</a:t>
                      </a:r>
                      <a:endParaRPr lang="zh-CN" altLang="en-US" sz="2400" dirty="0"/>
                    </a:p>
                  </a:txBody>
                  <a:tcPr/>
                </a:tc>
                <a:extLst>
                  <a:ext uri="{0D108BD9-81ED-4DB2-BD59-A6C34878D82A}">
                    <a16:rowId xmlns:a16="http://schemas.microsoft.com/office/drawing/2014/main" val="3805898603"/>
                  </a:ext>
                </a:extLst>
              </a:tr>
            </a:tbl>
          </a:graphicData>
        </a:graphic>
      </p:graphicFrame>
    </p:spTree>
    <p:extLst>
      <p:ext uri="{BB962C8B-B14F-4D97-AF65-F5344CB8AC3E}">
        <p14:creationId xmlns:p14="http://schemas.microsoft.com/office/powerpoint/2010/main" val="2143573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75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4275" y="2506663"/>
            <a:ext cx="3843338" cy="183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p:cNvSpPr txBox="1"/>
          <p:nvPr/>
        </p:nvSpPr>
        <p:spPr>
          <a:xfrm>
            <a:off x="7064375" y="4445000"/>
            <a:ext cx="2241550" cy="754063"/>
          </a:xfrm>
          <a:prstGeom prst="rect">
            <a:avLst/>
          </a:prstGeom>
        </p:spPr>
        <p:txBody>
          <a:bodyPr/>
          <a:lstStyle>
            <a:lvl1pPr marL="228600" indent="-228600" algn="l" rtl="0" eaLnBrk="1" fontAlgn="base" hangingPunct="1">
              <a:lnSpc>
                <a:spcPct val="110000"/>
              </a:lnSpc>
              <a:spcBef>
                <a:spcPts val="800"/>
              </a:spcBef>
              <a:spcAft>
                <a:spcPct val="0"/>
              </a:spcAft>
              <a:buClr>
                <a:schemeClr val="tx2"/>
              </a:buClr>
              <a:buSzPct val="88000"/>
              <a:buFont typeface="Wingdings" panose="05000000000000000000" pitchFamily="2" charset="2"/>
              <a:buBlip>
                <a:blip r:embed="rId4"/>
              </a:buBlip>
              <a:defRPr lang="en-US" sz="2000" b="1" dirty="0" smtClean="0">
                <a:solidFill>
                  <a:schemeClr val="accent4"/>
                </a:solidFill>
                <a:latin typeface="+mn-lt"/>
                <a:ea typeface="+mn-ea"/>
                <a:cs typeface="+mn-cs"/>
              </a:defRPr>
            </a:lvl1pPr>
            <a:lvl2pPr marL="571500" indent="-228600" algn="l" rtl="0" eaLnBrk="1" fontAlgn="base" hangingPunct="1">
              <a:lnSpc>
                <a:spcPct val="110000"/>
              </a:lnSpc>
              <a:spcBef>
                <a:spcPct val="20000"/>
              </a:spcBef>
              <a:spcAft>
                <a:spcPct val="0"/>
              </a:spcAft>
              <a:buClr>
                <a:schemeClr val="tx1"/>
              </a:buClr>
              <a:buChar char="–"/>
              <a:defRPr lang="en-US" sz="1800" b="0" dirty="0" smtClean="0">
                <a:solidFill>
                  <a:schemeClr val="tx1"/>
                </a:solidFill>
                <a:latin typeface="+mn-lt"/>
                <a:ea typeface="+mn-ea"/>
                <a:cs typeface="+mn-cs"/>
              </a:defRPr>
            </a:lvl2pPr>
            <a:lvl3pPr marL="855980" indent="-170180"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3pPr>
            <a:lvl4pPr marL="1546225" indent="-174625" algn="l" rtl="0" eaLnBrk="1" fontAlgn="base" hangingPunct="1">
              <a:lnSpc>
                <a:spcPct val="110000"/>
              </a:lnSpc>
              <a:spcBef>
                <a:spcPct val="20000"/>
              </a:spcBef>
              <a:spcAft>
                <a:spcPct val="0"/>
              </a:spcAft>
              <a:buClr>
                <a:schemeClr val="tx1"/>
              </a:buClr>
              <a:buFont typeface="Wingdings" panose="05000000000000000000" pitchFamily="2" charset="2"/>
              <a:buChar char="§"/>
              <a:defRPr lang="en-US" sz="1600" b="0" dirty="0" smtClean="0">
                <a:solidFill>
                  <a:schemeClr val="tx1"/>
                </a:solidFill>
                <a:latin typeface="+mn-lt"/>
                <a:ea typeface="+mn-ea"/>
                <a:cs typeface="+mn-cs"/>
              </a:defRPr>
            </a:lvl4pPr>
            <a:lvl5pPr marL="2003425" indent="-174625" algn="l" rtl="0" eaLnBrk="1" fontAlgn="base" hangingPunct="1">
              <a:lnSpc>
                <a:spcPct val="110000"/>
              </a:lnSpc>
              <a:spcBef>
                <a:spcPct val="20000"/>
              </a:spcBef>
              <a:spcAft>
                <a:spcPct val="0"/>
              </a:spcAft>
              <a:buClr>
                <a:schemeClr val="tx1"/>
              </a:buClr>
              <a:buChar char="»"/>
              <a:defRPr lang="en-US" sz="1600" b="0" dirty="0" smtClean="0">
                <a:solidFill>
                  <a:schemeClr val="tx1"/>
                </a:solidFill>
                <a:latin typeface="+mn-lt"/>
                <a:ea typeface="+mn-ea"/>
                <a:cs typeface="+mn-cs"/>
              </a:defRPr>
            </a:lvl5pPr>
            <a:lvl6pPr marL="2460625" indent="-174625" algn="l" rtl="0" eaLnBrk="1" fontAlgn="base" hangingPunct="1">
              <a:lnSpc>
                <a:spcPct val="110000"/>
              </a:lnSpc>
              <a:spcBef>
                <a:spcPct val="20000"/>
              </a:spcBef>
              <a:spcAft>
                <a:spcPct val="0"/>
              </a:spcAft>
              <a:buChar char="»"/>
              <a:defRPr sz="1200">
                <a:solidFill>
                  <a:schemeClr val="tx1"/>
                </a:solidFill>
                <a:latin typeface="+mn-lt"/>
              </a:defRPr>
            </a:lvl6pPr>
            <a:lvl7pPr marL="2917825" indent="-174625" algn="l" rtl="0" eaLnBrk="1" fontAlgn="base" hangingPunct="1">
              <a:lnSpc>
                <a:spcPct val="110000"/>
              </a:lnSpc>
              <a:spcBef>
                <a:spcPct val="20000"/>
              </a:spcBef>
              <a:spcAft>
                <a:spcPct val="0"/>
              </a:spcAft>
              <a:buChar char="»"/>
              <a:defRPr sz="1200">
                <a:solidFill>
                  <a:schemeClr val="tx1"/>
                </a:solidFill>
                <a:latin typeface="+mn-lt"/>
              </a:defRPr>
            </a:lvl7pPr>
            <a:lvl8pPr marL="3375025" indent="-174625" algn="l" rtl="0" eaLnBrk="1" fontAlgn="base" hangingPunct="1">
              <a:lnSpc>
                <a:spcPct val="110000"/>
              </a:lnSpc>
              <a:spcBef>
                <a:spcPct val="20000"/>
              </a:spcBef>
              <a:spcAft>
                <a:spcPct val="0"/>
              </a:spcAft>
              <a:buChar char="»"/>
              <a:defRPr sz="1200">
                <a:solidFill>
                  <a:schemeClr val="tx1"/>
                </a:solidFill>
                <a:latin typeface="+mn-lt"/>
              </a:defRPr>
            </a:lvl8pPr>
            <a:lvl9pPr marL="3832225" indent="-174625" algn="l" rtl="0" eaLnBrk="1" fontAlgn="base" hangingPunct="1">
              <a:lnSpc>
                <a:spcPct val="110000"/>
              </a:lnSpc>
              <a:spcBef>
                <a:spcPct val="20000"/>
              </a:spcBef>
              <a:spcAft>
                <a:spcPct val="0"/>
              </a:spcAft>
              <a:buChar char="»"/>
              <a:defRPr sz="1200">
                <a:solidFill>
                  <a:schemeClr val="tx1"/>
                </a:solidFill>
                <a:latin typeface="+mn-lt"/>
              </a:defRPr>
            </a:lvl9pPr>
          </a:lstStyle>
          <a:p>
            <a:pPr marL="0" indent="0" algn="ctr">
              <a:buFont typeface="Wingdings" panose="05000000000000000000" pitchFamily="2" charset="2"/>
              <a:buNone/>
              <a:defRPr/>
            </a:pPr>
            <a:r>
              <a:rPr altLang="zh-CN" kern="0" noProof="1">
                <a:solidFill>
                  <a:schemeClr val="tx1"/>
                </a:solidFill>
              </a:rPr>
              <a:t>xup@xilinx.com</a:t>
            </a:r>
            <a:endParaRPr lang="zh-CN" altLang="en-US" kern="0" noProof="1">
              <a:solidFill>
                <a:schemeClr val="tx1"/>
              </a:solidFill>
            </a:endParaRPr>
          </a:p>
        </p:txBody>
      </p:sp>
      <p:pic>
        <p:nvPicPr>
          <p:cNvPr id="407556" name="Picture 7" descr="logo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22475" y="2278063"/>
            <a:ext cx="2152650" cy="2166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灯片编号占位符 1"/>
          <p:cNvSpPr>
            <a:spLocks noGrp="1"/>
          </p:cNvSpPr>
          <p:nvPr>
            <p:ph type="sldNum" sz="quarter" idx="10"/>
          </p:nvPr>
        </p:nvSpPr>
        <p:spPr/>
        <p:txBody>
          <a:bodyPr/>
          <a:lstStyle/>
          <a:p>
            <a:pPr>
              <a:defRPr/>
            </a:pPr>
            <a:fld id="{BC37A16B-BF8F-4C9B-B46C-B7ADE1EADA55}" type="slidenum">
              <a:rPr lang="zh-CN" altLang="en-US" smtClean="0"/>
              <a:t>17</a:t>
            </a:fld>
            <a:endParaRPr lang="zh-CN" altLang="en-US"/>
          </a:p>
        </p:txBody>
      </p:sp>
    </p:spTree>
  </p:cSld>
  <p:clrMapOvr>
    <a:overrideClrMapping bg1="lt1" tx1="dk1" bg2="lt2" tx2="dk2" accent1="accent1" accent2="accent2" accent3="accent3" accent4="accent4" accent5="accent5" accent6="accent6" hlink="hlink" folHlink="folHlink"/>
  </p:clrMapOvr>
  <p:transition/>
</p:sld>
</file>

<file path=ppt/theme/theme1.xml><?xml version="1.0" encoding="utf-8"?>
<a:theme xmlns:a="http://schemas.openxmlformats.org/drawingml/2006/main" name="1_Xilinx_All_Programmable_Template_08-01-12">
  <a:themeElements>
    <a:clrScheme name="Xilinx All Programmable">
      <a:dk1>
        <a:srgbClr val="000000"/>
      </a:dk1>
      <a:lt1>
        <a:srgbClr val="FFFFFF"/>
      </a:lt1>
      <a:dk2>
        <a:srgbClr val="EC891D"/>
      </a:dk2>
      <a:lt2>
        <a:srgbClr val="EE3424"/>
      </a:lt2>
      <a:accent1>
        <a:srgbClr val="008CA8"/>
      </a:accent1>
      <a:accent2>
        <a:srgbClr val="B20838"/>
      </a:accent2>
      <a:accent3>
        <a:srgbClr val="6D7076"/>
      </a:accent3>
      <a:accent4>
        <a:srgbClr val="3F3F3F"/>
      </a:accent4>
      <a:accent5>
        <a:srgbClr val="D9DA56"/>
      </a:accent5>
      <a:accent6>
        <a:srgbClr val="8B8D09"/>
      </a:accent6>
      <a:hlink>
        <a:srgbClr val="008CA8"/>
      </a:hlink>
      <a:folHlink>
        <a:srgbClr val="004654"/>
      </a:folHlink>
    </a:clrScheme>
    <a:fontScheme name="Xilinx Template_ligh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76200" cap="flat" cmpd="sng" algn="ctr">
          <a:noFill/>
          <a:prstDash val="solid"/>
          <a:round/>
          <a:headEnd type="none" w="med" len="med"/>
          <a:tailEnd type="none" w="med" len="med"/>
        </a:ln>
      </a:spPr>
      <a:bodyPr vert="horz" wrap="square" lIns="91440" tIns="45720" rIns="91440" bIns="45720" numCol="1" rtlCol="0" anchor="ctr" anchorCtr="0" compatLnSpc="1">
        <a:noAutofit/>
      </a:bodyPr>
      <a:lstStyle>
        <a:defPPr algn="ctr">
          <a:defRPr dirty="0" smtClean="0">
            <a:solidFill>
              <a:srgbClr val="000000"/>
            </a:solidFill>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spPr>
      <a:bodyPr vert="horz" wrap="none" lIns="91440" tIns="45720" rIns="91440" bIns="45720" numCol="1" anchor="ctr"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txDef>
      <a:spPr bwMode="auto">
        <a:noFill/>
        <a:ln>
          <a:noFill/>
        </a:ln>
      </a:spPr>
      <a:bodyPr vert="horz" wrap="square" lIns="0" tIns="45720" rIns="91440" bIns="45720" numCol="1" rtlCol="0" anchor="t" anchorCtr="0" compatLnSpc="1">
        <a:spAutoFit/>
      </a:bodyPr>
      <a:lstStyle>
        <a:defPPr>
          <a:lnSpc>
            <a:spcPct val="100000"/>
          </a:lnSpc>
          <a:defRPr kern="0" dirty="0" smtClean="0">
            <a:solidFill>
              <a:schemeClr val="tx1">
                <a:lumMod val="75000"/>
                <a:lumOff val="25000"/>
              </a:schemeClr>
            </a:solidFill>
          </a:defRPr>
        </a:defPPr>
      </a:lstStyle>
    </a:txDef>
  </a:objectDefaults>
  <a:extraClrSchemeLst>
    <a:extraClrScheme>
      <a:clrScheme name="Xilinx Template_light 1">
        <a:dk1>
          <a:srgbClr val="000000"/>
        </a:dk1>
        <a:lt1>
          <a:srgbClr val="FFFFFF"/>
        </a:lt1>
        <a:dk2>
          <a:srgbClr val="008CA8"/>
        </a:dk2>
        <a:lt2>
          <a:srgbClr val="EE3424"/>
        </a:lt2>
        <a:accent1>
          <a:srgbClr val="EC891D"/>
        </a:accent1>
        <a:accent2>
          <a:srgbClr val="B20838"/>
        </a:accent2>
        <a:accent3>
          <a:srgbClr val="FFFFFF"/>
        </a:accent3>
        <a:accent4>
          <a:srgbClr val="000000"/>
        </a:accent4>
        <a:accent5>
          <a:srgbClr val="F4C4AB"/>
        </a:accent5>
        <a:accent6>
          <a:srgbClr val="A10632"/>
        </a:accent6>
        <a:hlink>
          <a:srgbClr val="D9DA56"/>
        </a:hlink>
        <a:folHlink>
          <a:srgbClr val="8B8D09"/>
        </a:folHlink>
      </a:clrScheme>
      <a:clrMap bg1="lt1" tx1="dk1" bg2="lt2" tx2="dk2" accent1="accent1" accent2="accent2" accent3="accent3" accent4="accent4" accent5="accent5" accent6="accent6" hlink="hlink" folHlink="folHlink"/>
    </a:extraClrScheme>
    <a:extraClrScheme>
      <a:clrScheme name="Xilinx Template_light 2">
        <a:dk1>
          <a:srgbClr val="EE3423"/>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
      <a:clrScheme name="Xilinx Template_light 3">
        <a:dk1>
          <a:srgbClr val="EE3424"/>
        </a:dk1>
        <a:lt1>
          <a:srgbClr val="FFFFFF"/>
        </a:lt1>
        <a:dk2>
          <a:srgbClr val="333333"/>
        </a:dk2>
        <a:lt2>
          <a:srgbClr val="008CA8"/>
        </a:lt2>
        <a:accent1>
          <a:srgbClr val="EC891D"/>
        </a:accent1>
        <a:accent2>
          <a:srgbClr val="B20838"/>
        </a:accent2>
        <a:accent3>
          <a:srgbClr val="ADADAD"/>
        </a:accent3>
        <a:accent4>
          <a:srgbClr val="DADADA"/>
        </a:accent4>
        <a:accent5>
          <a:srgbClr val="F4C4AB"/>
        </a:accent5>
        <a:accent6>
          <a:srgbClr val="A10632"/>
        </a:accent6>
        <a:hlink>
          <a:srgbClr val="D9DA56"/>
        </a:hlink>
        <a:folHlink>
          <a:srgbClr val="8B8D09"/>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Xilinx All Programmable">
    <a:dk1>
      <a:srgbClr val="000000"/>
    </a:dk1>
    <a:lt1>
      <a:srgbClr val="FFFFFF"/>
    </a:lt1>
    <a:dk2>
      <a:srgbClr val="EC891D"/>
    </a:dk2>
    <a:lt2>
      <a:srgbClr val="EE3424"/>
    </a:lt2>
    <a:accent1>
      <a:srgbClr val="008CA8"/>
    </a:accent1>
    <a:accent2>
      <a:srgbClr val="B20838"/>
    </a:accent2>
    <a:accent3>
      <a:srgbClr val="6D7076"/>
    </a:accent3>
    <a:accent4>
      <a:srgbClr val="3F3F3F"/>
    </a:accent4>
    <a:accent5>
      <a:srgbClr val="D9DA56"/>
    </a:accent5>
    <a:accent6>
      <a:srgbClr val="8B8D09"/>
    </a:accent6>
    <a:hlink>
      <a:srgbClr val="008CA8"/>
    </a:hlink>
    <a:folHlink>
      <a:srgbClr val="004654"/>
    </a:folHlink>
  </a:clrScheme>
</a:themeOverride>
</file>

<file path=ppt/theme/themeOverride2.xml><?xml version="1.0" encoding="utf-8"?>
<a:themeOverride xmlns:a="http://schemas.openxmlformats.org/drawingml/2006/main">
  <a:clrScheme name="Xilinx All Programmable">
    <a:dk1>
      <a:srgbClr val="000000"/>
    </a:dk1>
    <a:lt1>
      <a:srgbClr val="FFFFFF"/>
    </a:lt1>
    <a:dk2>
      <a:srgbClr val="EC891D"/>
    </a:dk2>
    <a:lt2>
      <a:srgbClr val="EE3424"/>
    </a:lt2>
    <a:accent1>
      <a:srgbClr val="008CA8"/>
    </a:accent1>
    <a:accent2>
      <a:srgbClr val="B20838"/>
    </a:accent2>
    <a:accent3>
      <a:srgbClr val="6D7076"/>
    </a:accent3>
    <a:accent4>
      <a:srgbClr val="3F3F3F"/>
    </a:accent4>
    <a:accent5>
      <a:srgbClr val="D9DA56"/>
    </a:accent5>
    <a:accent6>
      <a:srgbClr val="8B8D09"/>
    </a:accent6>
    <a:hlink>
      <a:srgbClr val="008CA8"/>
    </a:hlink>
    <a:folHlink>
      <a:srgbClr val="004654"/>
    </a:folHlink>
  </a:clrScheme>
</a:themeOverride>
</file>

<file path=ppt/theme/themeOverride3.xml><?xml version="1.0" encoding="utf-8"?>
<a:themeOverride xmlns:a="http://schemas.openxmlformats.org/drawingml/2006/main">
  <a:clrScheme name="Xilinx All Programmable">
    <a:dk1>
      <a:srgbClr val="000000"/>
    </a:dk1>
    <a:lt1>
      <a:srgbClr val="FFFFFF"/>
    </a:lt1>
    <a:dk2>
      <a:srgbClr val="EC891D"/>
    </a:dk2>
    <a:lt2>
      <a:srgbClr val="EE3424"/>
    </a:lt2>
    <a:accent1>
      <a:srgbClr val="008CA8"/>
    </a:accent1>
    <a:accent2>
      <a:srgbClr val="B20838"/>
    </a:accent2>
    <a:accent3>
      <a:srgbClr val="6D7076"/>
    </a:accent3>
    <a:accent4>
      <a:srgbClr val="3F3F3F"/>
    </a:accent4>
    <a:accent5>
      <a:srgbClr val="D9DA56"/>
    </a:accent5>
    <a:accent6>
      <a:srgbClr val="8B8D09"/>
    </a:accent6>
    <a:hlink>
      <a:srgbClr val="008CA8"/>
    </a:hlink>
    <a:folHlink>
      <a:srgbClr val="004654"/>
    </a:folHlink>
  </a:clrScheme>
</a:themeOverride>
</file>

<file path=docProps/app.xml><?xml version="1.0" encoding="utf-8"?>
<Properties xmlns="http://schemas.openxmlformats.org/officeDocument/2006/extended-properties" xmlns:vt="http://schemas.openxmlformats.org/officeDocument/2006/docPropsVTypes">
  <Template/>
  <TotalTime>1046</TotalTime>
  <Words>1771</Words>
  <Application>Microsoft Office PowerPoint</Application>
  <PresentationFormat>宽屏</PresentationFormat>
  <Paragraphs>120</Paragraphs>
  <Slides>17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17</vt:i4>
      </vt:variant>
    </vt:vector>
  </HeadingPairs>
  <TitlesOfParts>
    <vt:vector size="25" baseType="lpstr">
      <vt:lpstr>Arial Unicode MS</vt:lpstr>
      <vt:lpstr>等线</vt:lpstr>
      <vt:lpstr>宋体</vt:lpstr>
      <vt:lpstr>微软雅黑</vt:lpstr>
      <vt:lpstr>Arial</vt:lpstr>
      <vt:lpstr>Calibri</vt:lpstr>
      <vt:lpstr>Wingdings</vt:lpstr>
      <vt:lpstr>1_Xilinx_All_Programmable_Template_08-01-12</vt:lpstr>
      <vt:lpstr>搭建你的数字积木 —数字电路与逻辑设计 （Verilog HDL&amp;Vivado版） </vt:lpstr>
      <vt:lpstr>矩阵键盘实验</vt:lpstr>
      <vt:lpstr>矩阵键盘</vt:lpstr>
      <vt:lpstr>按键去抖动处理 </vt:lpstr>
      <vt:lpstr>按键去抖动处理</vt:lpstr>
      <vt:lpstr>键盘操作</vt:lpstr>
      <vt:lpstr>矩阵键盘</vt:lpstr>
      <vt:lpstr>上拉电阻</vt:lpstr>
      <vt:lpstr>矩阵式键盘工作原理 </vt:lpstr>
      <vt:lpstr>扫描法 </vt:lpstr>
      <vt:lpstr>扫描法 </vt:lpstr>
      <vt:lpstr>线反转法 </vt:lpstr>
      <vt:lpstr> </vt:lpstr>
      <vt:lpstr>键值确定</vt:lpstr>
      <vt:lpstr>FPGA实现</vt:lpstr>
      <vt:lpstr>约束文件中管脚的连接</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解 康辉</dc:creator>
  <cp:lastModifiedBy>Tianyi Chen</cp:lastModifiedBy>
  <cp:revision>128</cp:revision>
  <dcterms:created xsi:type="dcterms:W3CDTF">2018-11-25T04:28:00Z</dcterms:created>
  <dcterms:modified xsi:type="dcterms:W3CDTF">2025-09-01T07:31:16Z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2052-10.1.0.7668</vt:lpwstr>
  </property>
</Properties>
</file>
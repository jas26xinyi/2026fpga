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340" r:id="rId11"/>
    <p:sldId id="341"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Lst>
  <p:sldSz cx="10693400" cy="7562850"/>
  <p:notesSz cx="10693400" cy="7562850"/>
  <p:custDataLst>
    <p:tags r:id="rId89"/>
  </p:custDataLst>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957" autoAdjust="0"/>
  </p:normalViewPr>
  <p:slideViewPr>
    <p:cSldViewPr>
      <p:cViewPr varScale="1">
        <p:scale>
          <a:sx n="75" d="100"/>
          <a:sy n="75" d="100"/>
        </p:scale>
        <p:origin x="1544" y="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3EC83EFB-A9D6-4B03-BCA7-5D4FF4D739D0}" type="datetimeFigureOut">
              <a:rPr lang="zh-CN" altLang="en-US" smtClean="0"/>
              <a:t>2026/8/19</a:t>
            </a:fld>
            <a:endParaRPr lang="zh-CN" altLang="en-US"/>
          </a:p>
        </p:txBody>
      </p:sp>
      <p:sp>
        <p:nvSpPr>
          <p:cNvPr id="4" name="幻灯片图像占位符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ABEA40BC-CC03-4899-B7D8-0BE793BC00A3}" type="slidenum">
              <a:rPr lang="zh-CN" altLang="en-US" smtClean="0"/>
              <a:t>‹#›</a:t>
            </a:fld>
            <a:endParaRPr lang="zh-CN" altLang="en-US"/>
          </a:p>
        </p:txBody>
      </p:sp>
    </p:spTree>
    <p:extLst>
      <p:ext uri="{BB962C8B-B14F-4D97-AF65-F5344CB8AC3E}">
        <p14:creationId xmlns:p14="http://schemas.microsoft.com/office/powerpoint/2010/main" val="1219175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这个例子有点傻，主要是为了说明过程赋值语句的左值必须是</a:t>
            </a:r>
            <a:r>
              <a:rPr lang="en-US" altLang="zh-CN" dirty="0"/>
              <a:t>reg</a:t>
            </a:r>
            <a:r>
              <a:rPr lang="zh-CN" altLang="en-US" dirty="0"/>
              <a:t>类型的变量，以及阻塞过程赋值语句在</a:t>
            </a:r>
            <a:r>
              <a:rPr lang="en-US" altLang="zh-CN" dirty="0"/>
              <a:t>begin</a:t>
            </a:r>
            <a:r>
              <a:rPr lang="zh-CN" altLang="en-US" dirty="0"/>
              <a:t>和</a:t>
            </a:r>
            <a:r>
              <a:rPr lang="en-US" altLang="zh-CN" dirty="0"/>
              <a:t>end</a:t>
            </a:r>
            <a:r>
              <a:rPr lang="zh-CN" altLang="en-US" dirty="0"/>
              <a:t>块语句中是顺序执行的；实际看真值表，比较器的功能完全可以通过同或运算实现</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14</a:t>
            </a:fld>
            <a:endParaRPr lang="zh-CN" altLang="en-US"/>
          </a:p>
        </p:txBody>
      </p:sp>
    </p:spTree>
    <p:extLst>
      <p:ext uri="{BB962C8B-B14F-4D97-AF65-F5344CB8AC3E}">
        <p14:creationId xmlns:p14="http://schemas.microsoft.com/office/powerpoint/2010/main" val="2906476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EA40BC-CC03-4899-B7D8-0BE793BC00A3}" type="slidenum">
              <a:rPr lang="zh-CN" altLang="en-US" smtClean="0"/>
              <a:t>28</a:t>
            </a:fld>
            <a:endParaRPr lang="zh-CN" altLang="en-US"/>
          </a:p>
        </p:txBody>
      </p:sp>
    </p:spTree>
    <p:extLst>
      <p:ext uri="{BB962C8B-B14F-4D97-AF65-F5344CB8AC3E}">
        <p14:creationId xmlns:p14="http://schemas.microsoft.com/office/powerpoint/2010/main" val="3606495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Verilog</a:t>
            </a:r>
            <a:r>
              <a:rPr lang="zh-CN" altLang="en-US" dirty="0"/>
              <a:t>作为硬件描述语言，用于对硬件电路进行描述与建模，最终目标都是要综合出可以实际实现的硬件数字电路结构；就是不单单是用</a:t>
            </a:r>
            <a:r>
              <a:rPr lang="en-US" altLang="zh-CN" dirty="0"/>
              <a:t>verilog</a:t>
            </a:r>
            <a:r>
              <a:rPr lang="zh-CN" altLang="en-US" dirty="0"/>
              <a:t>语言编写一段代码来实现软件算法的功能，你所编写的代码必须保证通过编译、逻辑综合、布局布线最终能映射到实际的</a:t>
            </a:r>
            <a:r>
              <a:rPr lang="en-US" altLang="zh-CN" dirty="0" err="1"/>
              <a:t>fpga</a:t>
            </a:r>
            <a:r>
              <a:rPr lang="zh-CN" altLang="en-US" dirty="0"/>
              <a:t>平台上的硬件资源里；这就要求我们在编写</a:t>
            </a:r>
            <a:r>
              <a:rPr lang="en-US" altLang="zh-CN" dirty="0"/>
              <a:t>verilog</a:t>
            </a:r>
            <a:r>
              <a:rPr lang="zh-CN" altLang="en-US" dirty="0"/>
              <a:t>代码的时候需要注意一些细节，下面我们就这些注意事项做一些讨论和说明</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42</a:t>
            </a:fld>
            <a:endParaRPr lang="zh-CN" altLang="en-US"/>
          </a:p>
        </p:txBody>
      </p:sp>
    </p:spTree>
    <p:extLst>
      <p:ext uri="{BB962C8B-B14F-4D97-AF65-F5344CB8AC3E}">
        <p14:creationId xmlns:p14="http://schemas.microsoft.com/office/powerpoint/2010/main" val="975944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Verilog</a:t>
            </a:r>
            <a:r>
              <a:rPr lang="zh-CN" altLang="en-US" dirty="0"/>
              <a:t>中有两种常用的定义常数的方式，一种是用关键字</a:t>
            </a:r>
            <a:r>
              <a:rPr lang="en-US" altLang="zh-CN" dirty="0" err="1"/>
              <a:t>localparam</a:t>
            </a:r>
            <a:r>
              <a:rPr lang="zh-CN" altLang="en-US" dirty="0"/>
              <a:t>声明局部参数，这种主要是用于对模块内部多次重复出现的固定的常量进行统一的定义，以使得代码更清晰，更利于维护和修改。</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52</a:t>
            </a:fld>
            <a:endParaRPr lang="zh-CN" altLang="en-US"/>
          </a:p>
        </p:txBody>
      </p:sp>
    </p:spTree>
    <p:extLst>
      <p:ext uri="{BB962C8B-B14F-4D97-AF65-F5344CB8AC3E}">
        <p14:creationId xmlns:p14="http://schemas.microsoft.com/office/powerpoint/2010/main" val="4148746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另一种定义常数的方式就是我们之前讲的，通过关键字</a:t>
            </a:r>
            <a:r>
              <a:rPr lang="en-US" altLang="zh-CN" dirty="0"/>
              <a:t>parameter</a:t>
            </a:r>
            <a:r>
              <a:rPr lang="zh-CN" altLang="en-US" dirty="0"/>
              <a:t>来定义一个参数。</a:t>
            </a:r>
            <a:r>
              <a:rPr lang="en-US" altLang="zh-CN" dirty="0"/>
              <a:t>Parameter</a:t>
            </a:r>
            <a:r>
              <a:rPr lang="zh-CN" altLang="en-US" dirty="0"/>
              <a:t>定义的参数在模块内部是一个常量，但是在模块实例化的时候，</a:t>
            </a:r>
            <a:r>
              <a:rPr lang="en-US" altLang="zh-CN" dirty="0"/>
              <a:t>verilog</a:t>
            </a:r>
            <a:r>
              <a:rPr lang="zh-CN" altLang="en-US" dirty="0"/>
              <a:t>提供了重载机制，可以对</a:t>
            </a:r>
            <a:r>
              <a:rPr lang="en-US" altLang="zh-CN" dirty="0"/>
              <a:t>parameter</a:t>
            </a:r>
            <a:r>
              <a:rPr lang="zh-CN" altLang="en-US" dirty="0"/>
              <a:t>的具体数值进行修改，通过这种方式可以使得模块的定义更加灵活</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55</a:t>
            </a:fld>
            <a:endParaRPr lang="zh-CN" altLang="en-US"/>
          </a:p>
        </p:txBody>
      </p:sp>
    </p:spTree>
    <p:extLst>
      <p:ext uri="{BB962C8B-B14F-4D97-AF65-F5344CB8AC3E}">
        <p14:creationId xmlns:p14="http://schemas.microsoft.com/office/powerpoint/2010/main" val="2852019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Case</a:t>
            </a:r>
            <a:r>
              <a:rPr lang="zh-CN" altLang="en-US" dirty="0"/>
              <a:t>类多路分支语句是不是通常需要做到</a:t>
            </a:r>
            <a:r>
              <a:rPr lang="en-US" altLang="zh-CN" dirty="0"/>
              <a:t>full case</a:t>
            </a:r>
            <a:r>
              <a:rPr lang="zh-CN" altLang="en-US" dirty="0"/>
              <a:t>和</a:t>
            </a:r>
            <a:r>
              <a:rPr lang="en-US" altLang="zh-CN" dirty="0"/>
              <a:t>parallel case</a:t>
            </a:r>
            <a:r>
              <a:rPr lang="zh-CN" altLang="en-US" dirty="0"/>
              <a:t>以确保不会综合出所存器？</a:t>
            </a:r>
            <a:endParaRPr lang="en-US" altLang="zh-CN" dirty="0"/>
          </a:p>
          <a:p>
            <a:r>
              <a:rPr lang="zh-CN" altLang="en-US" dirty="0"/>
              <a:t>在上面的例子中是不是少了对</a:t>
            </a:r>
            <a:r>
              <a:rPr lang="en-US" altLang="zh-CN" dirty="0"/>
              <a:t>case 8’b0000_0000</a:t>
            </a:r>
            <a:r>
              <a:rPr lang="zh-CN" altLang="en-US" dirty="0"/>
              <a:t>的分支，会有影响吗？</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71</a:t>
            </a:fld>
            <a:endParaRPr lang="zh-CN" altLang="en-US"/>
          </a:p>
        </p:txBody>
      </p:sp>
    </p:spTree>
    <p:extLst>
      <p:ext uri="{BB962C8B-B14F-4D97-AF65-F5344CB8AC3E}">
        <p14:creationId xmlns:p14="http://schemas.microsoft.com/office/powerpoint/2010/main" val="1598514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为什么第一个译码结果前两位是</a:t>
            </a:r>
            <a:r>
              <a:rPr lang="en-US" altLang="zh-CN" dirty="0"/>
              <a:t>XX</a:t>
            </a:r>
            <a:r>
              <a:rPr lang="zh-CN" altLang="en-US" dirty="0"/>
              <a:t>？</a:t>
            </a:r>
            <a:endParaRPr lang="en-US" altLang="zh-CN" dirty="0"/>
          </a:p>
          <a:p>
            <a:r>
              <a:rPr lang="zh-CN" altLang="en-US" dirty="0"/>
              <a:t>最后一个译码结果是不是错的？</a:t>
            </a:r>
          </a:p>
        </p:txBody>
      </p:sp>
      <p:sp>
        <p:nvSpPr>
          <p:cNvPr id="4" name="灯片编号占位符 3"/>
          <p:cNvSpPr>
            <a:spLocks noGrp="1"/>
          </p:cNvSpPr>
          <p:nvPr>
            <p:ph type="sldNum" sz="quarter" idx="5"/>
          </p:nvPr>
        </p:nvSpPr>
        <p:spPr/>
        <p:txBody>
          <a:bodyPr/>
          <a:lstStyle/>
          <a:p>
            <a:fld id="{ABEA40BC-CC03-4899-B7D8-0BE793BC00A3}" type="slidenum">
              <a:rPr lang="zh-CN" altLang="en-US" smtClean="0"/>
              <a:t>80</a:t>
            </a:fld>
            <a:endParaRPr lang="zh-CN" altLang="en-US"/>
          </a:p>
        </p:txBody>
      </p:sp>
    </p:spTree>
    <p:extLst>
      <p:ext uri="{BB962C8B-B14F-4D97-AF65-F5344CB8AC3E}">
        <p14:creationId xmlns:p14="http://schemas.microsoft.com/office/powerpoint/2010/main" val="286221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800" b="0" i="0">
                <a:solidFill>
                  <a:srgbClr val="3F3F3F"/>
                </a:solidFill>
                <a:latin typeface="微软雅黑"/>
                <a:cs typeface="微软雅黑"/>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21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sz="half" idx="2"/>
          </p:nvPr>
        </p:nvSpPr>
        <p:spPr>
          <a:xfrm>
            <a:off x="566299" y="1869440"/>
            <a:ext cx="3564254" cy="4447540"/>
          </a:xfrm>
          <a:prstGeom prst="rect">
            <a:avLst/>
          </a:prstGeom>
        </p:spPr>
        <p:txBody>
          <a:bodyPr wrap="square" lIns="0" tIns="0" rIns="0" bIns="0">
            <a:spAutoFit/>
          </a:bodyPr>
          <a:lstStyle>
            <a:lvl1pPr>
              <a:defRPr sz="1550" b="1" i="0">
                <a:solidFill>
                  <a:srgbClr val="FF0000"/>
                </a:solidFill>
                <a:latin typeface="微软雅黑"/>
                <a:cs typeface="微软雅黑"/>
              </a:defRPr>
            </a:lvl1pPr>
          </a:lstStyle>
          <a:p>
            <a:endParaRPr/>
          </a:p>
        </p:txBody>
      </p:sp>
      <p:sp>
        <p:nvSpPr>
          <p:cNvPr id="4" name="Holder 4"/>
          <p:cNvSpPr>
            <a:spLocks noGrp="1"/>
          </p:cNvSpPr>
          <p:nvPr>
            <p:ph sz="half" idx="3"/>
          </p:nvPr>
        </p:nvSpPr>
        <p:spPr>
          <a:xfrm>
            <a:off x="5808852" y="1723593"/>
            <a:ext cx="4278630" cy="4462780"/>
          </a:xfrm>
          <a:prstGeom prst="rect">
            <a:avLst/>
          </a:prstGeom>
        </p:spPr>
        <p:txBody>
          <a:bodyPr wrap="square" lIns="0" tIns="0" rIns="0" bIns="0">
            <a:spAutoFit/>
          </a:bodyPr>
          <a:lstStyle>
            <a:lvl1pPr>
              <a:defRPr sz="1550" b="1" i="0">
                <a:solidFill>
                  <a:srgbClr val="FF0000"/>
                </a:solidFill>
                <a:latin typeface="微软雅黑"/>
                <a:cs typeface="微软雅黑"/>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7" name="Holder 7"/>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403" y="2786633"/>
            <a:ext cx="10691622" cy="1799844"/>
          </a:xfrm>
          <a:prstGeom prst="rect">
            <a:avLst/>
          </a:prstGeom>
        </p:spPr>
      </p:pic>
      <p:sp>
        <p:nvSpPr>
          <p:cNvPr id="19" name="bg object 19"/>
          <p:cNvSpPr/>
          <p:nvPr/>
        </p:nvSpPr>
        <p:spPr>
          <a:xfrm>
            <a:off x="761" y="2786633"/>
            <a:ext cx="118110" cy="1800225"/>
          </a:xfrm>
          <a:custGeom>
            <a:avLst/>
            <a:gdLst/>
            <a:ahLst/>
            <a:cxnLst/>
            <a:rect l="l" t="t" r="r" b="b"/>
            <a:pathLst>
              <a:path w="118110" h="1800225">
                <a:moveTo>
                  <a:pt x="117990" y="1799844"/>
                </a:moveTo>
                <a:lnTo>
                  <a:pt x="117990" y="0"/>
                </a:lnTo>
                <a:lnTo>
                  <a:pt x="0" y="0"/>
                </a:lnTo>
                <a:lnTo>
                  <a:pt x="0" y="1799844"/>
                </a:lnTo>
                <a:lnTo>
                  <a:pt x="117990" y="1799844"/>
                </a:lnTo>
                <a:close/>
              </a:path>
            </a:pathLst>
          </a:custGeom>
          <a:solidFill>
            <a:srgbClr val="FF0000"/>
          </a:solidFill>
        </p:spPr>
        <p:txBody>
          <a:bodyPr wrap="square" lIns="0" tIns="0" rIns="0" bIns="0" rtlCol="0"/>
          <a:lstStyle/>
          <a:p>
            <a:endParaRPr/>
          </a:p>
        </p:txBody>
      </p:sp>
      <p:sp>
        <p:nvSpPr>
          <p:cNvPr id="20" name="bg object 20"/>
          <p:cNvSpPr/>
          <p:nvPr/>
        </p:nvSpPr>
        <p:spPr>
          <a:xfrm>
            <a:off x="1403" y="771905"/>
            <a:ext cx="10692130" cy="284480"/>
          </a:xfrm>
          <a:custGeom>
            <a:avLst/>
            <a:gdLst/>
            <a:ahLst/>
            <a:cxnLst/>
            <a:rect l="l" t="t" r="r" b="b"/>
            <a:pathLst>
              <a:path w="10692130" h="284480">
                <a:moveTo>
                  <a:pt x="10691749" y="284225"/>
                </a:moveTo>
                <a:lnTo>
                  <a:pt x="10691749" y="0"/>
                </a:lnTo>
                <a:lnTo>
                  <a:pt x="0" y="0"/>
                </a:lnTo>
                <a:lnTo>
                  <a:pt x="0" y="284226"/>
                </a:lnTo>
                <a:lnTo>
                  <a:pt x="10691749" y="284225"/>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5" name="Holder 5"/>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5491619" y="2999719"/>
            <a:ext cx="3326181" cy="1562926"/>
          </a:xfrm>
          <a:prstGeom prst="rect">
            <a:avLst/>
          </a:prstGeom>
        </p:spPr>
      </p:pic>
      <p:sp>
        <p:nvSpPr>
          <p:cNvPr id="2" name="Holder 2"/>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4" name="Holder 4"/>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523627" y="1112012"/>
            <a:ext cx="5094605" cy="453390"/>
          </a:xfrm>
          <a:prstGeom prst="rect">
            <a:avLst/>
          </a:prstGeom>
        </p:spPr>
        <p:txBody>
          <a:bodyPr wrap="square" lIns="0" tIns="0" rIns="0" bIns="0">
            <a:spAutoFit/>
          </a:bodyPr>
          <a:lstStyle>
            <a:lvl1pPr>
              <a:defRPr sz="2800" b="0" i="0">
                <a:solidFill>
                  <a:srgbClr val="3F3F3F"/>
                </a:solidFill>
                <a:latin typeface="微软雅黑"/>
                <a:cs typeface="微软雅黑"/>
              </a:defRPr>
            </a:lvl1pPr>
          </a:lstStyle>
          <a:p>
            <a:endParaRPr/>
          </a:p>
        </p:txBody>
      </p:sp>
      <p:sp>
        <p:nvSpPr>
          <p:cNvPr id="3" name="Holder 3"/>
          <p:cNvSpPr>
            <a:spLocks noGrp="1"/>
          </p:cNvSpPr>
          <p:nvPr>
            <p:ph type="body" idx="1"/>
          </p:nvPr>
        </p:nvSpPr>
        <p:spPr>
          <a:xfrm>
            <a:off x="567174" y="1775858"/>
            <a:ext cx="9559051" cy="3105150"/>
          </a:xfrm>
          <a:prstGeom prst="rect">
            <a:avLst/>
          </a:prstGeom>
        </p:spPr>
        <p:txBody>
          <a:bodyPr wrap="square" lIns="0" tIns="0" rIns="0" bIns="0">
            <a:spAutoFit/>
          </a:bodyPr>
          <a:lstStyle>
            <a:lvl1pPr>
              <a:defRPr sz="21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a:xfrm>
            <a:off x="8029327" y="6508039"/>
            <a:ext cx="2454909" cy="260984"/>
          </a:xfrm>
          <a:prstGeom prst="rect">
            <a:avLst/>
          </a:prstGeom>
        </p:spPr>
        <p:txBody>
          <a:bodyPr wrap="square" lIns="0" tIns="0" rIns="0" bIns="0">
            <a:spAutoFit/>
          </a:bodyPr>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6" name="Holder 6"/>
          <p:cNvSpPr>
            <a:spLocks noGrp="1"/>
          </p:cNvSpPr>
          <p:nvPr>
            <p:ph type="sldNum" sz="quarter" idx="7"/>
          </p:nvPr>
        </p:nvSpPr>
        <p:spPr>
          <a:xfrm>
            <a:off x="578999" y="6574090"/>
            <a:ext cx="139065" cy="125095"/>
          </a:xfrm>
          <a:prstGeom prst="rect">
            <a:avLst/>
          </a:prstGeom>
        </p:spPr>
        <p:txBody>
          <a:bodyPr wrap="square" lIns="0" tIns="0" rIns="0" bIns="0">
            <a:spAutoFit/>
          </a:bodyPr>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5.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8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86.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hyperlink" Target="mailto:xup@xilinx.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9081" y="1819910"/>
            <a:ext cx="4302760" cy="667385"/>
          </a:xfrm>
          <a:prstGeom prst="rect">
            <a:avLst/>
          </a:prstGeom>
        </p:spPr>
        <p:txBody>
          <a:bodyPr vert="horz" wrap="square" lIns="0" tIns="13970" rIns="0" bIns="0" rtlCol="0">
            <a:spAutoFit/>
          </a:bodyPr>
          <a:lstStyle/>
          <a:p>
            <a:pPr marL="12700">
              <a:lnSpc>
                <a:spcPct val="100000"/>
              </a:lnSpc>
              <a:spcBef>
                <a:spcPts val="110"/>
              </a:spcBef>
            </a:pPr>
            <a:r>
              <a:rPr sz="4200" b="1" spc="-20" dirty="0">
                <a:solidFill>
                  <a:srgbClr val="6F2FA0"/>
                </a:solidFill>
                <a:latin typeface="微软雅黑"/>
                <a:cs typeface="微软雅黑"/>
              </a:rPr>
              <a:t>搭建你的数字积木</a:t>
            </a:r>
            <a:endParaRPr sz="4200">
              <a:latin typeface="微软雅黑"/>
              <a:cs typeface="微软雅黑"/>
            </a:endParaRPr>
          </a:p>
        </p:txBody>
      </p:sp>
      <p:sp>
        <p:nvSpPr>
          <p:cNvPr id="3" name="object 3"/>
          <p:cNvSpPr txBox="1"/>
          <p:nvPr/>
        </p:nvSpPr>
        <p:spPr>
          <a:xfrm>
            <a:off x="1234573" y="2466086"/>
            <a:ext cx="4558030" cy="2202815"/>
          </a:xfrm>
          <a:prstGeom prst="rect">
            <a:avLst/>
          </a:prstGeom>
        </p:spPr>
        <p:txBody>
          <a:bodyPr vert="horz" wrap="square" lIns="0" tIns="16510" rIns="0" bIns="0" rtlCol="0">
            <a:spAutoFit/>
          </a:bodyPr>
          <a:lstStyle/>
          <a:p>
            <a:pPr marL="281940">
              <a:lnSpc>
                <a:spcPct val="100000"/>
              </a:lnSpc>
              <a:spcBef>
                <a:spcPts val="130"/>
              </a:spcBef>
            </a:pPr>
            <a:r>
              <a:rPr sz="3300" b="1" spc="-15" dirty="0">
                <a:solidFill>
                  <a:srgbClr val="6F2FA0"/>
                </a:solidFill>
                <a:latin typeface="微软雅黑"/>
                <a:cs typeface="微软雅黑"/>
              </a:rPr>
              <a:t>—数字电路与逻辑设计</a:t>
            </a:r>
            <a:endParaRPr sz="3300">
              <a:latin typeface="微软雅黑"/>
              <a:cs typeface="微软雅黑"/>
            </a:endParaRPr>
          </a:p>
          <a:p>
            <a:pPr marL="12700">
              <a:lnSpc>
                <a:spcPct val="100000"/>
              </a:lnSpc>
              <a:spcBef>
                <a:spcPts val="35"/>
              </a:spcBef>
            </a:pPr>
            <a:r>
              <a:rPr sz="2800" b="1" dirty="0">
                <a:solidFill>
                  <a:srgbClr val="3F3F3F"/>
                </a:solidFill>
                <a:latin typeface="微软雅黑"/>
                <a:cs typeface="微软雅黑"/>
              </a:rPr>
              <a:t>（</a:t>
            </a:r>
            <a:r>
              <a:rPr sz="2800" b="1" dirty="0">
                <a:solidFill>
                  <a:srgbClr val="3F3F3F"/>
                </a:solidFill>
                <a:latin typeface="Arial"/>
                <a:cs typeface="Arial"/>
              </a:rPr>
              <a:t>Verilog</a:t>
            </a:r>
            <a:r>
              <a:rPr sz="2800" b="1" spc="-20" dirty="0">
                <a:solidFill>
                  <a:srgbClr val="3F3F3F"/>
                </a:solidFill>
                <a:latin typeface="Arial"/>
                <a:cs typeface="Arial"/>
              </a:rPr>
              <a:t> </a:t>
            </a:r>
            <a:r>
              <a:rPr sz="2800" b="1" spc="-10" dirty="0">
                <a:solidFill>
                  <a:srgbClr val="3F3F3F"/>
                </a:solidFill>
                <a:latin typeface="Arial"/>
                <a:cs typeface="Arial"/>
              </a:rPr>
              <a:t>HDL&amp;Vivado</a:t>
            </a:r>
            <a:r>
              <a:rPr sz="2800" b="1" spc="-10" dirty="0">
                <a:solidFill>
                  <a:srgbClr val="3F3F3F"/>
                </a:solidFill>
                <a:latin typeface="微软雅黑"/>
                <a:cs typeface="微软雅黑"/>
              </a:rPr>
              <a:t>版</a:t>
            </a:r>
            <a:r>
              <a:rPr sz="2800" b="1" spc="-50" dirty="0">
                <a:solidFill>
                  <a:srgbClr val="3F3F3F"/>
                </a:solidFill>
                <a:latin typeface="微软雅黑"/>
                <a:cs typeface="微软雅黑"/>
              </a:rPr>
              <a:t>）</a:t>
            </a:r>
            <a:endParaRPr sz="2800">
              <a:latin typeface="微软雅黑"/>
              <a:cs typeface="微软雅黑"/>
            </a:endParaRPr>
          </a:p>
          <a:p>
            <a:pPr marL="1935480">
              <a:lnSpc>
                <a:spcPct val="100000"/>
              </a:lnSpc>
            </a:pPr>
            <a:r>
              <a:rPr sz="2800" b="1" spc="-10" dirty="0">
                <a:solidFill>
                  <a:srgbClr val="C00000"/>
                </a:solidFill>
                <a:latin typeface="微软雅黑"/>
                <a:cs typeface="微软雅黑"/>
              </a:rPr>
              <a:t>— 参考课件</a:t>
            </a:r>
            <a:r>
              <a:rPr sz="2800" b="1" spc="-25" dirty="0">
                <a:solidFill>
                  <a:srgbClr val="C00000"/>
                </a:solidFill>
                <a:latin typeface="微软雅黑"/>
                <a:cs typeface="微软雅黑"/>
              </a:rPr>
              <a:t>PPT</a:t>
            </a:r>
            <a:endParaRPr sz="2800">
              <a:latin typeface="微软雅黑"/>
              <a:cs typeface="微软雅黑"/>
            </a:endParaRPr>
          </a:p>
          <a:p>
            <a:pPr marL="368935">
              <a:lnSpc>
                <a:spcPct val="100000"/>
              </a:lnSpc>
              <a:spcBef>
                <a:spcPts val="3454"/>
              </a:spcBef>
            </a:pPr>
            <a:r>
              <a:rPr sz="2450" b="1" spc="-5" dirty="0">
                <a:solidFill>
                  <a:srgbClr val="7E7E7E"/>
                </a:solidFill>
                <a:latin typeface="微软雅黑"/>
                <a:cs typeface="微软雅黑"/>
              </a:rPr>
              <a:t>东南大学 </a:t>
            </a:r>
            <a:r>
              <a:rPr sz="2450" b="1" dirty="0">
                <a:solidFill>
                  <a:srgbClr val="7E7E7E"/>
                </a:solidFill>
                <a:latin typeface="微软雅黑"/>
                <a:cs typeface="微软雅黑"/>
              </a:rPr>
              <a:t>&amp;</a:t>
            </a:r>
            <a:r>
              <a:rPr sz="2450" b="1" spc="-10" dirty="0">
                <a:solidFill>
                  <a:srgbClr val="7E7E7E"/>
                </a:solidFill>
                <a:latin typeface="微软雅黑"/>
                <a:cs typeface="微软雅黑"/>
              </a:rPr>
              <a:t> </a:t>
            </a:r>
            <a:r>
              <a:rPr sz="2450" b="1" dirty="0">
                <a:solidFill>
                  <a:srgbClr val="7E7E7E"/>
                </a:solidFill>
                <a:latin typeface="微软雅黑"/>
                <a:cs typeface="微软雅黑"/>
              </a:rPr>
              <a:t>Xilinx</a:t>
            </a:r>
            <a:r>
              <a:rPr sz="2450" b="1" spc="-10" dirty="0">
                <a:solidFill>
                  <a:srgbClr val="7E7E7E"/>
                </a:solidFill>
                <a:latin typeface="微软雅黑"/>
                <a:cs typeface="微软雅黑"/>
              </a:rPr>
              <a:t>大学计划部</a:t>
            </a:r>
            <a:endParaRPr sz="2450">
              <a:latin typeface="微软雅黑"/>
              <a:cs typeface="微软雅黑"/>
            </a:endParaRPr>
          </a:p>
        </p:txBody>
      </p:sp>
      <p:pic>
        <p:nvPicPr>
          <p:cNvPr id="4" name="object 4"/>
          <p:cNvPicPr/>
          <p:nvPr/>
        </p:nvPicPr>
        <p:blipFill>
          <a:blip r:embed="rId2" cstate="print"/>
          <a:stretch>
            <a:fillRect/>
          </a:stretch>
        </p:blipFill>
        <p:spPr>
          <a:xfrm>
            <a:off x="6302893" y="1630679"/>
            <a:ext cx="2993379" cy="4238244"/>
          </a:xfrm>
          <a:prstGeom prst="rect">
            <a:avLst/>
          </a:prstGeom>
        </p:spPr>
      </p:pic>
      <p:pic>
        <p:nvPicPr>
          <p:cNvPr id="5" name="object 5"/>
          <p:cNvPicPr/>
          <p:nvPr/>
        </p:nvPicPr>
        <p:blipFill>
          <a:blip r:embed="rId3" cstate="print"/>
          <a:stretch>
            <a:fillRect/>
          </a:stretch>
        </p:blipFill>
        <p:spPr>
          <a:xfrm>
            <a:off x="1426349" y="4620005"/>
            <a:ext cx="2112264" cy="902969"/>
          </a:xfrm>
          <a:prstGeom prst="rect">
            <a:avLst/>
          </a:prstGeom>
        </p:spPr>
      </p:pic>
      <p:pic>
        <p:nvPicPr>
          <p:cNvPr id="6" name="object 6"/>
          <p:cNvPicPr/>
          <p:nvPr/>
        </p:nvPicPr>
        <p:blipFill>
          <a:blip r:embed="rId4" cstate="print"/>
          <a:stretch>
            <a:fillRect/>
          </a:stretch>
        </p:blipFill>
        <p:spPr>
          <a:xfrm>
            <a:off x="3664289" y="4854702"/>
            <a:ext cx="2197662" cy="429158"/>
          </a:xfrm>
          <a:prstGeom prst="rect">
            <a:avLst/>
          </a:prstGeom>
        </p:spPr>
      </p:pic>
      <p:sp>
        <p:nvSpPr>
          <p:cNvPr id="7" name="object 7"/>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8" name="object 8"/>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3391153"/>
            <a:ext cx="4033520" cy="506730"/>
          </a:xfrm>
          <a:prstGeom prst="rect">
            <a:avLst/>
          </a:prstGeom>
        </p:spPr>
        <p:txBody>
          <a:bodyPr vert="horz" wrap="square" lIns="0" tIns="13335" rIns="0" bIns="0" rtlCol="0">
            <a:spAutoFit/>
          </a:bodyPr>
          <a:lstStyle/>
          <a:p>
            <a:pPr marL="12700">
              <a:lnSpc>
                <a:spcPct val="100000"/>
              </a:lnSpc>
              <a:spcBef>
                <a:spcPts val="105"/>
              </a:spcBef>
            </a:pPr>
            <a:r>
              <a:rPr sz="3150" b="1" spc="-5" dirty="0">
                <a:solidFill>
                  <a:srgbClr val="FFFFFF"/>
                </a:solidFill>
                <a:latin typeface="微软雅黑"/>
                <a:cs typeface="微软雅黑"/>
              </a:rPr>
              <a:t>组合逻辑电路设计基础</a:t>
            </a:r>
            <a:endParaRPr sz="3150">
              <a:latin typeface="微软雅黑"/>
              <a:cs typeface="微软雅黑"/>
            </a:endParaRPr>
          </a:p>
        </p:txBody>
      </p:sp>
      <p:sp>
        <p:nvSpPr>
          <p:cNvPr id="3" name="object 3"/>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0202" y="1865278"/>
            <a:ext cx="146324" cy="133066"/>
          </a:xfrm>
          <a:prstGeom prst="rect">
            <a:avLst/>
          </a:prstGeom>
        </p:spPr>
      </p:pic>
      <p:sp>
        <p:nvSpPr>
          <p:cNvPr id="3" name="object 3"/>
          <p:cNvSpPr txBox="1"/>
          <p:nvPr/>
        </p:nvSpPr>
        <p:spPr>
          <a:xfrm>
            <a:off x="859670" y="1686858"/>
            <a:ext cx="9044940" cy="2863028"/>
          </a:xfrm>
          <a:prstGeom prst="rect">
            <a:avLst/>
          </a:prstGeom>
        </p:spPr>
        <p:txBody>
          <a:bodyPr vert="horz" wrap="square" lIns="0" tIns="12700" rIns="0" bIns="0" rtlCol="0">
            <a:spAutoFit/>
          </a:bodyPr>
          <a:lstStyle/>
          <a:p>
            <a:pPr marL="12700" marR="5080" algn="just">
              <a:lnSpc>
                <a:spcPct val="150300"/>
              </a:lnSpc>
              <a:spcBef>
                <a:spcPts val="100"/>
              </a:spcBef>
            </a:pPr>
            <a:r>
              <a:rPr sz="1750" b="1" spc="-5" dirty="0" err="1">
                <a:solidFill>
                  <a:srgbClr val="C00000"/>
                </a:solidFill>
                <a:latin typeface="微软雅黑"/>
                <a:cs typeface="微软雅黑"/>
              </a:rPr>
              <a:t>组合逻辑电路在任一时刻的输出状态只取决于该时刻的输入状态的组合，而与电路以前</a:t>
            </a:r>
            <a:r>
              <a:rPr lang="zh-CN" altLang="en-US" sz="1750" b="1" spc="-5" dirty="0">
                <a:solidFill>
                  <a:srgbClr val="C00000"/>
                </a:solidFill>
                <a:latin typeface="微软雅黑"/>
                <a:cs typeface="微软雅黑"/>
              </a:rPr>
              <a:t>的</a:t>
            </a:r>
            <a:r>
              <a:rPr sz="1750" b="1" spc="-5" dirty="0" err="1">
                <a:solidFill>
                  <a:srgbClr val="C00000"/>
                </a:solidFill>
                <a:latin typeface="微软雅黑"/>
                <a:cs typeface="微软雅黑"/>
              </a:rPr>
              <a:t>状</a:t>
            </a:r>
            <a:r>
              <a:rPr sz="1750" b="1" dirty="0" err="1">
                <a:solidFill>
                  <a:srgbClr val="C00000"/>
                </a:solidFill>
                <a:latin typeface="微软雅黑"/>
                <a:cs typeface="微软雅黑"/>
              </a:rPr>
              <a:t>态无关。</a:t>
            </a:r>
            <a:r>
              <a:rPr sz="1750" spc="-5" dirty="0" err="1">
                <a:solidFill>
                  <a:srgbClr val="3E3E3E"/>
                </a:solidFill>
                <a:latin typeface="微软雅黑"/>
                <a:cs typeface="微软雅黑"/>
              </a:rPr>
              <a:t>电路只是由门电路组成，没有记忆单元，也没有反馈电路。本章主要介绍常用中等</a:t>
            </a:r>
            <a:r>
              <a:rPr sz="1750" dirty="0" err="1">
                <a:solidFill>
                  <a:srgbClr val="3E3E3E"/>
                </a:solidFill>
                <a:latin typeface="微软雅黑"/>
                <a:cs typeface="微软雅黑"/>
              </a:rPr>
              <a:t>规模组合</a:t>
            </a:r>
            <a:r>
              <a:rPr lang="zh-CN" altLang="en-US" sz="1750" dirty="0">
                <a:solidFill>
                  <a:srgbClr val="3E3E3E"/>
                </a:solidFill>
                <a:latin typeface="微软雅黑"/>
                <a:cs typeface="微软雅黑"/>
              </a:rPr>
              <a:t>逻辑</a:t>
            </a:r>
            <a:r>
              <a:rPr sz="1750" dirty="0" err="1">
                <a:solidFill>
                  <a:srgbClr val="3E3E3E"/>
                </a:solidFill>
                <a:latin typeface="微软雅黑"/>
                <a:cs typeface="微软雅黑"/>
              </a:rPr>
              <a:t>电路的</a:t>
            </a:r>
            <a:r>
              <a:rPr sz="1750" spc="-10" dirty="0" err="1">
                <a:solidFill>
                  <a:srgbClr val="3E3E3E"/>
                </a:solidFill>
                <a:latin typeface="Arial"/>
                <a:cs typeface="Arial"/>
              </a:rPr>
              <a:t>HDL</a:t>
            </a:r>
            <a:r>
              <a:rPr sz="1750" spc="-5" dirty="0" err="1">
                <a:solidFill>
                  <a:srgbClr val="3E3E3E"/>
                </a:solidFill>
                <a:latin typeface="微软雅黑"/>
                <a:cs typeface="微软雅黑"/>
              </a:rPr>
              <a:t>描述，例如：加法器、比较器和多路复用器等</a:t>
            </a:r>
            <a:r>
              <a:rPr sz="1750" spc="-5" dirty="0">
                <a:solidFill>
                  <a:srgbClr val="3E3E3E"/>
                </a:solidFill>
                <a:latin typeface="微软雅黑"/>
                <a:cs typeface="微软雅黑"/>
              </a:rPr>
              <a:t>。</a:t>
            </a:r>
            <a:endParaRPr sz="1750" dirty="0">
              <a:latin typeface="微软雅黑"/>
              <a:cs typeface="微软雅黑"/>
            </a:endParaRPr>
          </a:p>
          <a:p>
            <a:pPr>
              <a:lnSpc>
                <a:spcPct val="100000"/>
              </a:lnSpc>
              <a:spcBef>
                <a:spcPts val="1550"/>
              </a:spcBef>
            </a:pPr>
            <a:endParaRPr sz="1750" dirty="0">
              <a:latin typeface="微软雅黑"/>
              <a:cs typeface="微软雅黑"/>
            </a:endParaRPr>
          </a:p>
          <a:p>
            <a:pPr marL="12700" marR="5080" algn="just">
              <a:lnSpc>
                <a:spcPct val="150300"/>
              </a:lnSpc>
            </a:pPr>
            <a:r>
              <a:rPr sz="1750" spc="-5" dirty="0">
                <a:solidFill>
                  <a:srgbClr val="3E3E3E"/>
                </a:solidFill>
                <a:latin typeface="微软雅黑"/>
                <a:cs typeface="微软雅黑"/>
              </a:rPr>
              <a:t>本章的教学目的是给出组合逻辑电路基本概念，内容安排先介绍用于组合逻辑设计的条件语</a:t>
            </a:r>
            <a:r>
              <a:rPr sz="1750" dirty="0">
                <a:solidFill>
                  <a:srgbClr val="3E3E3E"/>
                </a:solidFill>
                <a:latin typeface="微软雅黑"/>
                <a:cs typeface="微软雅黑"/>
              </a:rPr>
              <a:t>句和循环语句等基本</a:t>
            </a:r>
            <a:r>
              <a:rPr sz="1750" dirty="0">
                <a:solidFill>
                  <a:srgbClr val="3E3E3E"/>
                </a:solidFill>
                <a:latin typeface="Arial"/>
                <a:cs typeface="Arial"/>
              </a:rPr>
              <a:t>Verilog HDL</a:t>
            </a:r>
            <a:r>
              <a:rPr sz="1750" spc="-5" dirty="0">
                <a:solidFill>
                  <a:srgbClr val="3E3E3E"/>
                </a:solidFill>
                <a:latin typeface="微软雅黑"/>
                <a:cs typeface="微软雅黑"/>
              </a:rPr>
              <a:t>语言要素，之后分别给出比较器、多路选择器等常见组合逻</a:t>
            </a:r>
            <a:r>
              <a:rPr sz="1750" dirty="0">
                <a:solidFill>
                  <a:srgbClr val="3E3E3E"/>
                </a:solidFill>
                <a:latin typeface="微软雅黑"/>
                <a:cs typeface="微软雅黑"/>
              </a:rPr>
              <a:t>辑电路单元的介绍及其</a:t>
            </a:r>
            <a:r>
              <a:rPr sz="1750" dirty="0">
                <a:solidFill>
                  <a:srgbClr val="3E3E3E"/>
                </a:solidFill>
                <a:latin typeface="Arial"/>
                <a:cs typeface="Arial"/>
              </a:rPr>
              <a:t>Verilog</a:t>
            </a:r>
            <a:r>
              <a:rPr sz="1750" spc="20" dirty="0">
                <a:solidFill>
                  <a:srgbClr val="3E3E3E"/>
                </a:solidFill>
                <a:latin typeface="Arial"/>
                <a:cs typeface="Arial"/>
              </a:rPr>
              <a:t> </a:t>
            </a:r>
            <a:r>
              <a:rPr sz="1750" dirty="0">
                <a:solidFill>
                  <a:srgbClr val="3E3E3E"/>
                </a:solidFill>
                <a:latin typeface="Arial"/>
                <a:cs typeface="Arial"/>
              </a:rPr>
              <a:t>HDL</a:t>
            </a:r>
            <a:r>
              <a:rPr sz="1750" spc="-20" dirty="0">
                <a:solidFill>
                  <a:srgbClr val="3E3E3E"/>
                </a:solidFill>
                <a:latin typeface="微软雅黑"/>
                <a:cs typeface="微软雅黑"/>
              </a:rPr>
              <a:t>实现。</a:t>
            </a:r>
            <a:endParaRPr sz="1750" dirty="0">
              <a:latin typeface="微软雅黑"/>
              <a:cs typeface="微软雅黑"/>
            </a:endParaRPr>
          </a:p>
        </p:txBody>
      </p:sp>
      <p:pic>
        <p:nvPicPr>
          <p:cNvPr id="4" name="object 4"/>
          <p:cNvPicPr/>
          <p:nvPr/>
        </p:nvPicPr>
        <p:blipFill>
          <a:blip r:embed="rId3" cstate="print"/>
          <a:stretch>
            <a:fillRect/>
          </a:stretch>
        </p:blipFill>
        <p:spPr>
          <a:xfrm>
            <a:off x="540202" y="3523119"/>
            <a:ext cx="146324" cy="137225"/>
          </a:xfrm>
          <a:prstGeom prst="rect">
            <a:avLst/>
          </a:prstGeom>
        </p:spPr>
      </p:pic>
      <p:sp>
        <p:nvSpPr>
          <p:cNvPr id="5" name="object 5"/>
          <p:cNvSpPr txBox="1">
            <a:spLocks noGrp="1"/>
          </p:cNvSpPr>
          <p:nvPr>
            <p:ph type="title"/>
          </p:nvPr>
        </p:nvSpPr>
        <p:spPr>
          <a:xfrm>
            <a:off x="523627" y="1072387"/>
            <a:ext cx="2165350" cy="453390"/>
          </a:xfrm>
          <a:prstGeom prst="rect">
            <a:avLst/>
          </a:prstGeom>
        </p:spPr>
        <p:txBody>
          <a:bodyPr vert="horz" wrap="square" lIns="0" tIns="13335" rIns="0" bIns="0" rtlCol="0">
            <a:spAutoFit/>
          </a:bodyPr>
          <a:lstStyle/>
          <a:p>
            <a:pPr marL="12700">
              <a:lnSpc>
                <a:spcPct val="100000"/>
              </a:lnSpc>
              <a:spcBef>
                <a:spcPts val="105"/>
              </a:spcBef>
            </a:pPr>
            <a:r>
              <a:rPr b="1" spc="-10" dirty="0">
                <a:latin typeface="微软雅黑"/>
                <a:cs typeface="微软雅黑"/>
              </a:rPr>
              <a:t>本章学习导言</a:t>
            </a:r>
          </a:p>
        </p:txBody>
      </p:sp>
      <p:sp>
        <p:nvSpPr>
          <p:cNvPr id="6" name="object 6"/>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4399" y="2163135"/>
            <a:ext cx="166914" cy="162741"/>
          </a:xfrm>
          <a:prstGeom prst="rect">
            <a:avLst/>
          </a:prstGeom>
        </p:spPr>
      </p:pic>
      <p:sp>
        <p:nvSpPr>
          <p:cNvPr id="3" name="object 3"/>
          <p:cNvSpPr txBox="1"/>
          <p:nvPr/>
        </p:nvSpPr>
        <p:spPr>
          <a:xfrm>
            <a:off x="859670" y="1835150"/>
            <a:ext cx="3234055" cy="3147593"/>
          </a:xfrm>
          <a:prstGeom prst="rect">
            <a:avLst/>
          </a:prstGeom>
        </p:spPr>
        <p:txBody>
          <a:bodyPr vert="horz" wrap="square" lIns="0" tIns="13335" rIns="0" bIns="0" rtlCol="0">
            <a:spAutoFit/>
          </a:bodyPr>
          <a:lstStyle/>
          <a:p>
            <a:pPr marL="12700">
              <a:lnSpc>
                <a:spcPct val="200000"/>
              </a:lnSpc>
            </a:pPr>
            <a:r>
              <a:rPr sz="2100" dirty="0">
                <a:solidFill>
                  <a:srgbClr val="3E3E3E"/>
                </a:solidFill>
                <a:latin typeface="微软雅黑"/>
                <a:cs typeface="微软雅黑"/>
              </a:rPr>
              <a:t>组合逻辑中的</a:t>
            </a:r>
            <a:r>
              <a:rPr sz="2100" spc="-10" dirty="0">
                <a:solidFill>
                  <a:srgbClr val="3E3E3E"/>
                </a:solidFill>
                <a:latin typeface="Arial"/>
                <a:cs typeface="Arial"/>
              </a:rPr>
              <a:t>always</a:t>
            </a:r>
            <a:r>
              <a:rPr sz="2100" spc="-50" dirty="0">
                <a:solidFill>
                  <a:srgbClr val="3E3E3E"/>
                </a:solidFill>
                <a:latin typeface="微软雅黑"/>
                <a:cs typeface="微软雅黑"/>
              </a:rPr>
              <a:t>块</a:t>
            </a:r>
            <a:endParaRPr sz="2100" dirty="0">
              <a:latin typeface="微软雅黑"/>
              <a:cs typeface="微软雅黑"/>
            </a:endParaRPr>
          </a:p>
          <a:p>
            <a:pPr marL="12700">
              <a:lnSpc>
                <a:spcPct val="200000"/>
              </a:lnSpc>
            </a:pPr>
            <a:r>
              <a:rPr sz="2100" spc="-10" dirty="0">
                <a:solidFill>
                  <a:srgbClr val="3E3E3E"/>
                </a:solidFill>
                <a:latin typeface="微软雅黑"/>
                <a:cs typeface="微软雅黑"/>
              </a:rPr>
              <a:t>条件语句和循环语句</a:t>
            </a:r>
            <a:endParaRPr sz="2100" dirty="0">
              <a:latin typeface="微软雅黑"/>
              <a:cs typeface="微软雅黑"/>
            </a:endParaRPr>
          </a:p>
          <a:p>
            <a:pPr marL="12700" marR="255904">
              <a:lnSpc>
                <a:spcPct val="200000"/>
              </a:lnSpc>
            </a:pPr>
            <a:r>
              <a:rPr sz="2100" spc="-10" dirty="0">
                <a:solidFill>
                  <a:srgbClr val="3E3E3E"/>
                </a:solidFill>
                <a:latin typeface="Arial"/>
                <a:cs typeface="Arial"/>
              </a:rPr>
              <a:t>always</a:t>
            </a:r>
            <a:r>
              <a:rPr sz="2100" spc="-10" dirty="0">
                <a:solidFill>
                  <a:srgbClr val="3E3E3E"/>
                </a:solidFill>
                <a:latin typeface="微软雅黑"/>
                <a:cs typeface="微软雅黑"/>
              </a:rPr>
              <a:t>块的一般编码原则参数和常数</a:t>
            </a:r>
            <a:endParaRPr sz="2100" dirty="0">
              <a:latin typeface="微软雅黑"/>
              <a:cs typeface="微软雅黑"/>
            </a:endParaRPr>
          </a:p>
          <a:p>
            <a:pPr marL="12700">
              <a:lnSpc>
                <a:spcPct val="200000"/>
              </a:lnSpc>
            </a:pPr>
            <a:r>
              <a:rPr sz="2100" spc="-15" dirty="0">
                <a:solidFill>
                  <a:srgbClr val="3E3E3E"/>
                </a:solidFill>
                <a:latin typeface="微软雅黑"/>
                <a:cs typeface="微软雅黑"/>
              </a:rPr>
              <a:t>常用组合逻辑电路设计实例</a:t>
            </a:r>
            <a:endParaRPr sz="2100" dirty="0">
              <a:latin typeface="微软雅黑"/>
              <a:cs typeface="微软雅黑"/>
            </a:endParaRPr>
          </a:p>
        </p:txBody>
      </p:sp>
      <p:pic>
        <p:nvPicPr>
          <p:cNvPr id="4" name="object 4"/>
          <p:cNvPicPr/>
          <p:nvPr/>
        </p:nvPicPr>
        <p:blipFill>
          <a:blip r:embed="rId3" cstate="print"/>
          <a:stretch>
            <a:fillRect/>
          </a:stretch>
        </p:blipFill>
        <p:spPr>
          <a:xfrm>
            <a:off x="604399" y="2800005"/>
            <a:ext cx="166914" cy="163448"/>
          </a:xfrm>
          <a:prstGeom prst="rect">
            <a:avLst/>
          </a:prstGeom>
        </p:spPr>
      </p:pic>
      <p:pic>
        <p:nvPicPr>
          <p:cNvPr id="5" name="object 5"/>
          <p:cNvPicPr/>
          <p:nvPr/>
        </p:nvPicPr>
        <p:blipFill>
          <a:blip r:embed="rId4" cstate="print"/>
          <a:stretch>
            <a:fillRect/>
          </a:stretch>
        </p:blipFill>
        <p:spPr>
          <a:xfrm>
            <a:off x="604399" y="3437582"/>
            <a:ext cx="166914" cy="162741"/>
          </a:xfrm>
          <a:prstGeom prst="rect">
            <a:avLst/>
          </a:prstGeom>
        </p:spPr>
      </p:pic>
      <p:pic>
        <p:nvPicPr>
          <p:cNvPr id="6" name="object 6"/>
          <p:cNvPicPr/>
          <p:nvPr/>
        </p:nvPicPr>
        <p:blipFill>
          <a:blip r:embed="rId5" cstate="print"/>
          <a:stretch>
            <a:fillRect/>
          </a:stretch>
        </p:blipFill>
        <p:spPr>
          <a:xfrm>
            <a:off x="604399" y="4074452"/>
            <a:ext cx="166914" cy="162741"/>
          </a:xfrm>
          <a:prstGeom prst="rect">
            <a:avLst/>
          </a:prstGeom>
        </p:spPr>
      </p:pic>
      <p:pic>
        <p:nvPicPr>
          <p:cNvPr id="7" name="object 7"/>
          <p:cNvPicPr/>
          <p:nvPr/>
        </p:nvPicPr>
        <p:blipFill>
          <a:blip r:embed="rId6" cstate="print"/>
          <a:stretch>
            <a:fillRect/>
          </a:stretch>
        </p:blipFill>
        <p:spPr>
          <a:xfrm>
            <a:off x="604399" y="4711323"/>
            <a:ext cx="166914" cy="162361"/>
          </a:xfrm>
          <a:prstGeom prst="rect">
            <a:avLst/>
          </a:prstGeom>
        </p:spPr>
      </p:pic>
      <p:sp>
        <p:nvSpPr>
          <p:cNvPr id="8" name="object 8"/>
          <p:cNvSpPr txBox="1">
            <a:spLocks noGrp="1"/>
          </p:cNvSpPr>
          <p:nvPr>
            <p:ph type="title"/>
          </p:nvPr>
        </p:nvSpPr>
        <p:spPr>
          <a:xfrm>
            <a:off x="523627" y="1071625"/>
            <a:ext cx="1452245" cy="453390"/>
          </a:xfrm>
          <a:prstGeom prst="rect">
            <a:avLst/>
          </a:prstGeom>
        </p:spPr>
        <p:txBody>
          <a:bodyPr vert="horz" wrap="square" lIns="0" tIns="13335" rIns="0" bIns="0" rtlCol="0">
            <a:spAutoFit/>
          </a:bodyPr>
          <a:lstStyle/>
          <a:p>
            <a:pPr marL="12700">
              <a:lnSpc>
                <a:spcPct val="100000"/>
              </a:lnSpc>
              <a:spcBef>
                <a:spcPts val="105"/>
              </a:spcBef>
            </a:pPr>
            <a:r>
              <a:rPr b="1" spc="-15" dirty="0">
                <a:latin typeface="微软雅黑"/>
                <a:cs typeface="微软雅黑"/>
              </a:rPr>
              <a:t>主要内容</a:t>
            </a:r>
          </a:p>
        </p:txBody>
      </p:sp>
      <p:sp>
        <p:nvSpPr>
          <p:cNvPr id="9" name="object 9"/>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10" name="object 10"/>
          <p:cNvSpPr txBox="1"/>
          <p:nvPr/>
        </p:nvSpPr>
        <p:spPr>
          <a:xfrm>
            <a:off x="604399" y="6574090"/>
            <a:ext cx="75565" cy="125095"/>
          </a:xfrm>
          <a:prstGeom prst="rect">
            <a:avLst/>
          </a:prstGeom>
        </p:spPr>
        <p:txBody>
          <a:bodyPr vert="horz" wrap="square" lIns="0" tIns="4445" rIns="0" bIns="0" rtlCol="0">
            <a:spAutoFit/>
          </a:bodyPr>
          <a:lstStyle/>
          <a:p>
            <a:pPr marL="12700">
              <a:lnSpc>
                <a:spcPct val="100000"/>
              </a:lnSpc>
              <a:spcBef>
                <a:spcPts val="35"/>
              </a:spcBef>
            </a:pPr>
            <a:r>
              <a:rPr sz="700" spc="-50" dirty="0">
                <a:latin typeface="Arial"/>
                <a:cs typeface="Arial"/>
              </a:rPr>
              <a:t>4</a:t>
            </a:r>
            <a:endParaRPr sz="7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42037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a:t>
            </a:r>
            <a:r>
              <a:rPr spc="10" dirty="0">
                <a:latin typeface="Arial"/>
                <a:cs typeface="Arial"/>
              </a:rPr>
              <a:t> </a:t>
            </a:r>
            <a:r>
              <a:rPr dirty="0"/>
              <a:t>组合电路中的</a:t>
            </a:r>
            <a:r>
              <a:rPr spc="-10" dirty="0">
                <a:latin typeface="Arial"/>
                <a:cs typeface="Arial"/>
              </a:rPr>
              <a:t>always</a:t>
            </a:r>
            <a:r>
              <a:rPr spc="-50" dirty="0"/>
              <a:t>块</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717937" y="2082944"/>
            <a:ext cx="9261475" cy="3001010"/>
          </a:xfrm>
          <a:prstGeom prst="rect">
            <a:avLst/>
          </a:prstGeom>
        </p:spPr>
        <p:txBody>
          <a:bodyPr vert="horz" wrap="square" lIns="0" tIns="12700" rIns="0" bIns="0" rtlCol="0">
            <a:spAutoFit/>
          </a:bodyPr>
          <a:lstStyle/>
          <a:p>
            <a:pPr marL="212725" marR="5080" indent="-202565" algn="just">
              <a:lnSpc>
                <a:spcPct val="150400"/>
              </a:lnSpc>
              <a:spcBef>
                <a:spcPts val="100"/>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Verilog </a:t>
            </a:r>
            <a:r>
              <a:rPr sz="2100" b="1" spc="-10" dirty="0">
                <a:solidFill>
                  <a:srgbClr val="3E3E3E"/>
                </a:solidFill>
                <a:latin typeface="Arial"/>
                <a:cs typeface="Arial"/>
              </a:rPr>
              <a:t>HDL</a:t>
            </a:r>
            <a:r>
              <a:rPr sz="2100" b="1" spc="-15" dirty="0">
                <a:solidFill>
                  <a:srgbClr val="3E3E3E"/>
                </a:solidFill>
                <a:latin typeface="微软雅黑"/>
                <a:cs typeface="微软雅黑"/>
              </a:rPr>
              <a:t>使用一些顺序执行的过程语句来进行行为描述。这些语句封装在</a:t>
            </a:r>
            <a:r>
              <a:rPr sz="2100" b="1" dirty="0">
                <a:solidFill>
                  <a:srgbClr val="3E3E3E"/>
                </a:solidFill>
                <a:latin typeface="微软雅黑"/>
                <a:cs typeface="微软雅黑"/>
              </a:rPr>
              <a:t>一个</a:t>
            </a:r>
            <a:r>
              <a:rPr sz="2100" b="1" dirty="0">
                <a:solidFill>
                  <a:srgbClr val="3E3E3E"/>
                </a:solidFill>
                <a:latin typeface="Arial"/>
                <a:cs typeface="Arial"/>
              </a:rPr>
              <a:t>always</a:t>
            </a:r>
            <a:r>
              <a:rPr sz="2100" b="1" dirty="0">
                <a:solidFill>
                  <a:srgbClr val="3E3E3E"/>
                </a:solidFill>
                <a:latin typeface="微软雅黑"/>
                <a:cs typeface="微软雅黑"/>
              </a:rPr>
              <a:t>块或</a:t>
            </a:r>
            <a:r>
              <a:rPr sz="2100" b="1" spc="-10" dirty="0">
                <a:solidFill>
                  <a:srgbClr val="3E3E3E"/>
                </a:solidFill>
                <a:latin typeface="Arial"/>
                <a:cs typeface="Arial"/>
              </a:rPr>
              <a:t>initial</a:t>
            </a:r>
            <a:r>
              <a:rPr sz="2100" b="1" dirty="0">
                <a:solidFill>
                  <a:srgbClr val="3E3E3E"/>
                </a:solidFill>
                <a:latin typeface="微软雅黑"/>
                <a:cs typeface="微软雅黑"/>
              </a:rPr>
              <a:t>块中，但只有</a:t>
            </a:r>
            <a:r>
              <a:rPr sz="2100" b="1" dirty="0">
                <a:solidFill>
                  <a:srgbClr val="3E3E3E"/>
                </a:solidFill>
                <a:latin typeface="Arial"/>
                <a:cs typeface="Arial"/>
              </a:rPr>
              <a:t>always</a:t>
            </a:r>
            <a:r>
              <a:rPr sz="2100" b="1" spc="-5" dirty="0">
                <a:solidFill>
                  <a:srgbClr val="3E3E3E"/>
                </a:solidFill>
                <a:latin typeface="微软雅黑"/>
                <a:cs typeface="微软雅黑"/>
              </a:rPr>
              <a:t>块能够进行综合，生成能够执行</a:t>
            </a:r>
            <a:r>
              <a:rPr sz="2100" b="1" spc="-15" dirty="0">
                <a:solidFill>
                  <a:srgbClr val="3E3E3E"/>
                </a:solidFill>
                <a:latin typeface="微软雅黑"/>
                <a:cs typeface="微软雅黑"/>
              </a:rPr>
              <a:t>逻辑运算或控制的电路模块；</a:t>
            </a:r>
            <a:endParaRPr sz="2100">
              <a:latin typeface="微软雅黑"/>
              <a:cs typeface="微软雅黑"/>
            </a:endParaRPr>
          </a:p>
          <a:p>
            <a:pPr marL="212725" marR="6350" indent="-202565" algn="just">
              <a:lnSpc>
                <a:spcPct val="150200"/>
              </a:lnSpc>
              <a:spcBef>
                <a:spcPts val="700"/>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always</a:t>
            </a:r>
            <a:r>
              <a:rPr sz="2100" b="1" spc="-5" dirty="0">
                <a:solidFill>
                  <a:srgbClr val="3E3E3E"/>
                </a:solidFill>
                <a:latin typeface="微软雅黑"/>
                <a:cs typeface="微软雅黑"/>
              </a:rPr>
              <a:t>块可以看成一个包含内部过程描述语句的黑盒子，过程语句包含多种</a:t>
            </a:r>
            <a:r>
              <a:rPr sz="2100" b="1" dirty="0">
                <a:solidFill>
                  <a:srgbClr val="3E3E3E"/>
                </a:solidFill>
                <a:latin typeface="微软雅黑"/>
                <a:cs typeface="微软雅黑"/>
              </a:rPr>
              <a:t>结构，但是很多都没有对应的硬件，编码不佳的</a:t>
            </a:r>
            <a:r>
              <a:rPr sz="2100" b="1" dirty="0">
                <a:solidFill>
                  <a:srgbClr val="3E3E3E"/>
                </a:solidFill>
                <a:latin typeface="Arial"/>
                <a:cs typeface="Arial"/>
              </a:rPr>
              <a:t>always</a:t>
            </a:r>
            <a:r>
              <a:rPr sz="2100" b="1" spc="-10" dirty="0">
                <a:solidFill>
                  <a:srgbClr val="3E3E3E"/>
                </a:solidFill>
                <a:latin typeface="微软雅黑"/>
                <a:cs typeface="微软雅黑"/>
              </a:rPr>
              <a:t>块通常会导致不必要</a:t>
            </a:r>
            <a:r>
              <a:rPr sz="2100" b="1" spc="-15" dirty="0">
                <a:solidFill>
                  <a:srgbClr val="3E3E3E"/>
                </a:solidFill>
                <a:latin typeface="微软雅黑"/>
                <a:cs typeface="微软雅黑"/>
              </a:rPr>
              <a:t>的复杂实施或者根本无法综合。</a:t>
            </a:r>
            <a:endParaRPr sz="2100">
              <a:latin typeface="微软雅黑"/>
              <a:cs typeface="微软雅黑"/>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30543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3.1.1</a:t>
            </a:r>
            <a:r>
              <a:rPr spc="-45" dirty="0">
                <a:latin typeface="Arial"/>
                <a:cs typeface="Arial"/>
              </a:rPr>
              <a:t> </a:t>
            </a:r>
            <a:r>
              <a:rPr spc="-10" dirty="0"/>
              <a:t>基本语法格式</a:t>
            </a:r>
          </a:p>
        </p:txBody>
      </p:sp>
      <p:grpSp>
        <p:nvGrpSpPr>
          <p:cNvPr id="3" name="object 3"/>
          <p:cNvGrpSpPr/>
          <p:nvPr/>
        </p:nvGrpSpPr>
        <p:grpSpPr>
          <a:xfrm>
            <a:off x="3135515" y="2370582"/>
            <a:ext cx="3529329" cy="2680970"/>
            <a:chOff x="3135515" y="2370582"/>
            <a:chExt cx="3529329" cy="2680970"/>
          </a:xfrm>
        </p:grpSpPr>
        <p:sp>
          <p:nvSpPr>
            <p:cNvPr id="4" name="object 4"/>
            <p:cNvSpPr/>
            <p:nvPr/>
          </p:nvSpPr>
          <p:spPr>
            <a:xfrm>
              <a:off x="3139325" y="2375154"/>
              <a:ext cx="3520440" cy="2672080"/>
            </a:xfrm>
            <a:custGeom>
              <a:avLst/>
              <a:gdLst/>
              <a:ahLst/>
              <a:cxnLst/>
              <a:rect l="l" t="t" r="r" b="b"/>
              <a:pathLst>
                <a:path w="3520440" h="2672079">
                  <a:moveTo>
                    <a:pt x="3520439" y="2671571"/>
                  </a:moveTo>
                  <a:lnTo>
                    <a:pt x="3520439" y="0"/>
                  </a:lnTo>
                  <a:lnTo>
                    <a:pt x="0" y="0"/>
                  </a:lnTo>
                  <a:lnTo>
                    <a:pt x="0" y="2671572"/>
                  </a:lnTo>
                  <a:lnTo>
                    <a:pt x="3520439" y="2671571"/>
                  </a:lnTo>
                  <a:close/>
                </a:path>
              </a:pathLst>
            </a:custGeom>
            <a:solidFill>
              <a:srgbClr val="F9FABA"/>
            </a:solidFill>
          </p:spPr>
          <p:txBody>
            <a:bodyPr wrap="square" lIns="0" tIns="0" rIns="0" bIns="0" rtlCol="0"/>
            <a:lstStyle/>
            <a:p>
              <a:endParaRPr/>
            </a:p>
          </p:txBody>
        </p:sp>
        <p:sp>
          <p:nvSpPr>
            <p:cNvPr id="5" name="object 5"/>
            <p:cNvSpPr/>
            <p:nvPr/>
          </p:nvSpPr>
          <p:spPr>
            <a:xfrm>
              <a:off x="3135515" y="2370582"/>
              <a:ext cx="3529329" cy="2680970"/>
            </a:xfrm>
            <a:custGeom>
              <a:avLst/>
              <a:gdLst/>
              <a:ahLst/>
              <a:cxnLst/>
              <a:rect l="l" t="t" r="r" b="b"/>
              <a:pathLst>
                <a:path w="3529329" h="2680970">
                  <a:moveTo>
                    <a:pt x="3528822" y="2679191"/>
                  </a:moveTo>
                  <a:lnTo>
                    <a:pt x="3528822" y="2285"/>
                  </a:lnTo>
                  <a:lnTo>
                    <a:pt x="3526536" y="0"/>
                  </a:lnTo>
                  <a:lnTo>
                    <a:pt x="1523" y="0"/>
                  </a:lnTo>
                  <a:lnTo>
                    <a:pt x="0" y="2286"/>
                  </a:lnTo>
                  <a:lnTo>
                    <a:pt x="0" y="2679192"/>
                  </a:lnTo>
                  <a:lnTo>
                    <a:pt x="1524" y="2680716"/>
                  </a:lnTo>
                  <a:lnTo>
                    <a:pt x="3810" y="2680716"/>
                  </a:lnTo>
                  <a:lnTo>
                    <a:pt x="3810" y="8382"/>
                  </a:lnTo>
                  <a:lnTo>
                    <a:pt x="8382" y="4572"/>
                  </a:lnTo>
                  <a:lnTo>
                    <a:pt x="8382" y="8382"/>
                  </a:lnTo>
                  <a:lnTo>
                    <a:pt x="3520440" y="8381"/>
                  </a:lnTo>
                  <a:lnTo>
                    <a:pt x="3520440" y="4571"/>
                  </a:lnTo>
                  <a:lnTo>
                    <a:pt x="3524250" y="8381"/>
                  </a:lnTo>
                  <a:lnTo>
                    <a:pt x="3524250" y="2680716"/>
                  </a:lnTo>
                  <a:lnTo>
                    <a:pt x="3526536" y="2680716"/>
                  </a:lnTo>
                  <a:lnTo>
                    <a:pt x="3528822" y="2679191"/>
                  </a:lnTo>
                  <a:close/>
                </a:path>
                <a:path w="3529329" h="2680970">
                  <a:moveTo>
                    <a:pt x="8382" y="8382"/>
                  </a:moveTo>
                  <a:lnTo>
                    <a:pt x="8382" y="4572"/>
                  </a:lnTo>
                  <a:lnTo>
                    <a:pt x="3810" y="8382"/>
                  </a:lnTo>
                  <a:lnTo>
                    <a:pt x="8382" y="8382"/>
                  </a:lnTo>
                  <a:close/>
                </a:path>
                <a:path w="3529329" h="2680970">
                  <a:moveTo>
                    <a:pt x="8382" y="2672334"/>
                  </a:moveTo>
                  <a:lnTo>
                    <a:pt x="8382" y="8382"/>
                  </a:lnTo>
                  <a:lnTo>
                    <a:pt x="3810" y="8382"/>
                  </a:lnTo>
                  <a:lnTo>
                    <a:pt x="3810" y="2672334"/>
                  </a:lnTo>
                  <a:lnTo>
                    <a:pt x="8382" y="2672334"/>
                  </a:lnTo>
                  <a:close/>
                </a:path>
                <a:path w="3529329" h="2680970">
                  <a:moveTo>
                    <a:pt x="3524250" y="2672334"/>
                  </a:moveTo>
                  <a:lnTo>
                    <a:pt x="3810" y="2672334"/>
                  </a:lnTo>
                  <a:lnTo>
                    <a:pt x="8382" y="2676144"/>
                  </a:lnTo>
                  <a:lnTo>
                    <a:pt x="8382" y="2680716"/>
                  </a:lnTo>
                  <a:lnTo>
                    <a:pt x="3520440" y="2680716"/>
                  </a:lnTo>
                  <a:lnTo>
                    <a:pt x="3520440" y="2676144"/>
                  </a:lnTo>
                  <a:lnTo>
                    <a:pt x="3524250" y="2672334"/>
                  </a:lnTo>
                  <a:close/>
                </a:path>
                <a:path w="3529329" h="2680970">
                  <a:moveTo>
                    <a:pt x="8382" y="2680716"/>
                  </a:moveTo>
                  <a:lnTo>
                    <a:pt x="8382" y="2676144"/>
                  </a:lnTo>
                  <a:lnTo>
                    <a:pt x="3810" y="2672334"/>
                  </a:lnTo>
                  <a:lnTo>
                    <a:pt x="3810" y="2680716"/>
                  </a:lnTo>
                  <a:lnTo>
                    <a:pt x="8382" y="2680716"/>
                  </a:lnTo>
                  <a:close/>
                </a:path>
                <a:path w="3529329" h="2680970">
                  <a:moveTo>
                    <a:pt x="3524250" y="8381"/>
                  </a:moveTo>
                  <a:lnTo>
                    <a:pt x="3520440" y="4571"/>
                  </a:lnTo>
                  <a:lnTo>
                    <a:pt x="3520440" y="8381"/>
                  </a:lnTo>
                  <a:lnTo>
                    <a:pt x="3524250" y="8381"/>
                  </a:lnTo>
                  <a:close/>
                </a:path>
                <a:path w="3529329" h="2680970">
                  <a:moveTo>
                    <a:pt x="3524250" y="2672334"/>
                  </a:moveTo>
                  <a:lnTo>
                    <a:pt x="3524250" y="8381"/>
                  </a:lnTo>
                  <a:lnTo>
                    <a:pt x="3520440" y="8381"/>
                  </a:lnTo>
                  <a:lnTo>
                    <a:pt x="3520440" y="2672334"/>
                  </a:lnTo>
                  <a:lnTo>
                    <a:pt x="3524250" y="2672334"/>
                  </a:lnTo>
                  <a:close/>
                </a:path>
                <a:path w="3529329" h="2680970">
                  <a:moveTo>
                    <a:pt x="3524250" y="2680716"/>
                  </a:moveTo>
                  <a:lnTo>
                    <a:pt x="3524250" y="2672334"/>
                  </a:lnTo>
                  <a:lnTo>
                    <a:pt x="3520440" y="2676144"/>
                  </a:lnTo>
                  <a:lnTo>
                    <a:pt x="3520440" y="2680716"/>
                  </a:lnTo>
                  <a:lnTo>
                    <a:pt x="3524250" y="2680716"/>
                  </a:lnTo>
                  <a:close/>
                </a:path>
              </a:pathLst>
            </a:custGeom>
            <a:solidFill>
              <a:srgbClr val="000000"/>
            </a:solidFill>
          </p:spPr>
          <p:txBody>
            <a:bodyPr wrap="square" lIns="0" tIns="0" rIns="0" bIns="0" rtlCol="0"/>
            <a:lstStyle/>
            <a:p>
              <a:endParaRPr/>
            </a:p>
          </p:txBody>
        </p:sp>
      </p:grpSp>
      <p:sp>
        <p:nvSpPr>
          <p:cNvPr id="6" name="object 6"/>
          <p:cNvSpPr txBox="1"/>
          <p:nvPr/>
        </p:nvSpPr>
        <p:spPr>
          <a:xfrm>
            <a:off x="713321" y="1877066"/>
            <a:ext cx="9664700" cy="4195445"/>
          </a:xfrm>
          <a:prstGeom prst="rect">
            <a:avLst/>
          </a:prstGeom>
        </p:spPr>
        <p:txBody>
          <a:bodyPr vert="horz" wrap="square" lIns="0" tIns="13335" rIns="0" bIns="0" rtlCol="0">
            <a:spAutoFit/>
          </a:bodyPr>
          <a:lstStyle/>
          <a:p>
            <a:pPr marL="250190" indent="-240029">
              <a:lnSpc>
                <a:spcPct val="100000"/>
              </a:lnSpc>
              <a:spcBef>
                <a:spcPts val="105"/>
              </a:spcBef>
              <a:buClr>
                <a:srgbClr val="FFC000"/>
              </a:buClr>
              <a:buSzPct val="95238"/>
              <a:buFont typeface="Wingdings"/>
              <a:buChar char=""/>
              <a:tabLst>
                <a:tab pos="250190" algn="l"/>
              </a:tabLst>
            </a:pPr>
            <a:r>
              <a:rPr sz="2100" dirty="0">
                <a:latin typeface="微软雅黑"/>
                <a:cs typeface="微软雅黑"/>
              </a:rPr>
              <a:t>敏感信号列表的</a:t>
            </a:r>
            <a:r>
              <a:rPr sz="2100" spc="-10" dirty="0">
                <a:latin typeface="Arial"/>
                <a:cs typeface="Arial"/>
              </a:rPr>
              <a:t>always</a:t>
            </a:r>
            <a:r>
              <a:rPr sz="2100" spc="-15" dirty="0">
                <a:latin typeface="微软雅黑"/>
                <a:cs typeface="微软雅黑"/>
              </a:rPr>
              <a:t>块的简化使用格式如下：</a:t>
            </a:r>
            <a:endParaRPr sz="2100" dirty="0">
              <a:latin typeface="微软雅黑"/>
              <a:cs typeface="微软雅黑"/>
            </a:endParaRPr>
          </a:p>
          <a:p>
            <a:pPr marL="2505710">
              <a:lnSpc>
                <a:spcPct val="100000"/>
              </a:lnSpc>
              <a:spcBef>
                <a:spcPts val="1535"/>
              </a:spcBef>
            </a:pPr>
            <a:r>
              <a:rPr sz="2100" b="1" dirty="0">
                <a:latin typeface="Arial"/>
                <a:cs typeface="Arial"/>
              </a:rPr>
              <a:t>always</a:t>
            </a:r>
            <a:r>
              <a:rPr sz="2100" b="1" spc="-20" dirty="0">
                <a:latin typeface="Arial"/>
                <a:cs typeface="Arial"/>
              </a:rPr>
              <a:t> </a:t>
            </a:r>
            <a:r>
              <a:rPr sz="2100" spc="-20" dirty="0">
                <a:latin typeface="Arial"/>
                <a:cs typeface="Arial"/>
              </a:rPr>
              <a:t>@([</a:t>
            </a:r>
            <a:r>
              <a:rPr sz="2100" dirty="0">
                <a:latin typeface="微软雅黑"/>
                <a:cs typeface="微软雅黑"/>
              </a:rPr>
              <a:t>敏感信号列表</a:t>
            </a:r>
            <a:r>
              <a:rPr sz="2100" spc="-25" dirty="0">
                <a:latin typeface="Arial"/>
                <a:cs typeface="Arial"/>
              </a:rPr>
              <a:t>])</a:t>
            </a:r>
            <a:endParaRPr sz="2100" dirty="0">
              <a:latin typeface="Arial"/>
              <a:cs typeface="Arial"/>
            </a:endParaRPr>
          </a:p>
          <a:p>
            <a:pPr>
              <a:lnSpc>
                <a:spcPct val="100000"/>
              </a:lnSpc>
              <a:spcBef>
                <a:spcPts val="114"/>
              </a:spcBef>
            </a:pPr>
            <a:endParaRPr sz="2100" dirty="0">
              <a:latin typeface="Arial"/>
              <a:cs typeface="Arial"/>
            </a:endParaRPr>
          </a:p>
          <a:p>
            <a:pPr marL="2505710">
              <a:lnSpc>
                <a:spcPct val="100000"/>
              </a:lnSpc>
              <a:spcBef>
                <a:spcPts val="5"/>
              </a:spcBef>
            </a:pPr>
            <a:r>
              <a:rPr sz="2100" b="1" dirty="0">
                <a:latin typeface="Arial"/>
                <a:cs typeface="Arial"/>
              </a:rPr>
              <a:t>begin</a:t>
            </a:r>
            <a:r>
              <a:rPr sz="2100" b="1" spc="-40" dirty="0">
                <a:latin typeface="Arial"/>
                <a:cs typeface="Arial"/>
              </a:rPr>
              <a:t> </a:t>
            </a:r>
            <a:r>
              <a:rPr sz="2100" spc="-10" dirty="0">
                <a:solidFill>
                  <a:schemeClr val="bg1">
                    <a:lumMod val="65000"/>
                  </a:schemeClr>
                </a:solidFill>
                <a:latin typeface="Arial"/>
                <a:cs typeface="Arial"/>
              </a:rPr>
              <a:t>[</a:t>
            </a:r>
            <a:r>
              <a:rPr sz="2100" dirty="0" err="1">
                <a:solidFill>
                  <a:schemeClr val="bg1">
                    <a:lumMod val="65000"/>
                  </a:schemeClr>
                </a:solidFill>
                <a:latin typeface="微软雅黑"/>
                <a:cs typeface="微软雅黑"/>
              </a:rPr>
              <a:t>可选的</a:t>
            </a:r>
            <a:r>
              <a:rPr lang="zh-CN" altLang="en-US" sz="2100" dirty="0">
                <a:solidFill>
                  <a:schemeClr val="bg1">
                    <a:lumMod val="65000"/>
                  </a:schemeClr>
                </a:solidFill>
                <a:latin typeface="微软雅黑"/>
                <a:cs typeface="微软雅黑"/>
              </a:rPr>
              <a:t>块语句</a:t>
            </a:r>
            <a:r>
              <a:rPr sz="2100" dirty="0">
                <a:solidFill>
                  <a:schemeClr val="bg1">
                    <a:lumMod val="65000"/>
                  </a:schemeClr>
                </a:solidFill>
                <a:latin typeface="微软雅黑"/>
                <a:cs typeface="微软雅黑"/>
              </a:rPr>
              <a:t>名</a:t>
            </a:r>
            <a:r>
              <a:rPr sz="2100" spc="-50" dirty="0">
                <a:solidFill>
                  <a:schemeClr val="bg1">
                    <a:lumMod val="65000"/>
                  </a:schemeClr>
                </a:solidFill>
                <a:latin typeface="Arial"/>
                <a:cs typeface="Arial"/>
              </a:rPr>
              <a:t>]</a:t>
            </a:r>
            <a:endParaRPr sz="2100" dirty="0">
              <a:solidFill>
                <a:schemeClr val="bg1">
                  <a:lumMod val="65000"/>
                </a:schemeClr>
              </a:solidFill>
              <a:latin typeface="Arial"/>
              <a:cs typeface="Arial"/>
            </a:endParaRPr>
          </a:p>
          <a:p>
            <a:pPr marL="3244215" marR="3783965">
              <a:lnSpc>
                <a:spcPct val="100000"/>
              </a:lnSpc>
              <a:spcBef>
                <a:spcPts val="5"/>
              </a:spcBef>
            </a:pPr>
            <a:r>
              <a:rPr sz="2100" spc="-10" dirty="0">
                <a:solidFill>
                  <a:schemeClr val="bg1">
                    <a:lumMod val="65000"/>
                  </a:schemeClr>
                </a:solidFill>
                <a:latin typeface="Arial"/>
                <a:cs typeface="Arial"/>
              </a:rPr>
              <a:t>[</a:t>
            </a:r>
            <a:r>
              <a:rPr sz="2100" spc="-10" dirty="0">
                <a:solidFill>
                  <a:schemeClr val="bg1">
                    <a:lumMod val="65000"/>
                  </a:schemeClr>
                </a:solidFill>
                <a:latin typeface="微软雅黑"/>
                <a:cs typeface="微软雅黑"/>
              </a:rPr>
              <a:t>可选的本地变量声明</a:t>
            </a:r>
            <a:r>
              <a:rPr sz="2100" spc="-25" dirty="0">
                <a:solidFill>
                  <a:schemeClr val="bg1">
                    <a:lumMod val="65000"/>
                  </a:schemeClr>
                </a:solidFill>
                <a:latin typeface="Arial"/>
                <a:cs typeface="Arial"/>
              </a:rPr>
              <a:t>]; </a:t>
            </a:r>
            <a:r>
              <a:rPr sz="2100" spc="-10" dirty="0">
                <a:latin typeface="Arial"/>
                <a:cs typeface="Arial"/>
              </a:rPr>
              <a:t>[</a:t>
            </a:r>
            <a:r>
              <a:rPr sz="2100" spc="-10" dirty="0">
                <a:latin typeface="微软雅黑"/>
                <a:cs typeface="微软雅黑"/>
              </a:rPr>
              <a:t>顺序执行语句</a:t>
            </a:r>
            <a:r>
              <a:rPr sz="2100" spc="-25" dirty="0">
                <a:latin typeface="Arial"/>
                <a:cs typeface="Arial"/>
              </a:rPr>
              <a:t>];</a:t>
            </a:r>
            <a:endParaRPr sz="2100" dirty="0">
              <a:latin typeface="Arial"/>
              <a:cs typeface="Arial"/>
            </a:endParaRPr>
          </a:p>
          <a:p>
            <a:pPr marL="3244215">
              <a:lnSpc>
                <a:spcPct val="100000"/>
              </a:lnSpc>
              <a:spcBef>
                <a:spcPts val="5"/>
              </a:spcBef>
            </a:pPr>
            <a:r>
              <a:rPr sz="2100" spc="-10" dirty="0">
                <a:latin typeface="Arial"/>
                <a:cs typeface="Arial"/>
              </a:rPr>
              <a:t>[</a:t>
            </a:r>
            <a:r>
              <a:rPr sz="2100" spc="-10" dirty="0">
                <a:latin typeface="微软雅黑"/>
                <a:cs typeface="微软雅黑"/>
              </a:rPr>
              <a:t>顺序执行语句</a:t>
            </a:r>
            <a:r>
              <a:rPr sz="2100" spc="-20" dirty="0">
                <a:latin typeface="Arial"/>
                <a:cs typeface="Arial"/>
              </a:rPr>
              <a:t>] ;</a:t>
            </a:r>
            <a:endParaRPr sz="2100" dirty="0">
              <a:latin typeface="Arial"/>
              <a:cs typeface="Arial"/>
            </a:endParaRPr>
          </a:p>
          <a:p>
            <a:pPr marL="2801620">
              <a:lnSpc>
                <a:spcPct val="100000"/>
              </a:lnSpc>
              <a:spcBef>
                <a:spcPts val="25"/>
              </a:spcBef>
            </a:pPr>
            <a:r>
              <a:rPr sz="2100" spc="-25" dirty="0">
                <a:latin typeface="Arial"/>
                <a:cs typeface="Arial"/>
              </a:rPr>
              <a:t>ꞏꞏꞏ</a:t>
            </a:r>
            <a:endParaRPr sz="2100" dirty="0">
              <a:latin typeface="Arial"/>
              <a:cs typeface="Arial"/>
            </a:endParaRPr>
          </a:p>
          <a:p>
            <a:pPr marL="2505710">
              <a:lnSpc>
                <a:spcPct val="100000"/>
              </a:lnSpc>
              <a:spcBef>
                <a:spcPts val="5"/>
              </a:spcBef>
            </a:pPr>
            <a:r>
              <a:rPr sz="2100" b="1" spc="-25" dirty="0">
                <a:latin typeface="Arial"/>
                <a:cs typeface="Arial"/>
              </a:rPr>
              <a:t>end</a:t>
            </a:r>
            <a:endParaRPr sz="2100" dirty="0">
              <a:latin typeface="Arial"/>
              <a:cs typeface="Arial"/>
            </a:endParaRPr>
          </a:p>
          <a:p>
            <a:pPr marL="12700" marR="5080" indent="-2540">
              <a:lnSpc>
                <a:spcPct val="150500"/>
              </a:lnSpc>
              <a:spcBef>
                <a:spcPts val="969"/>
              </a:spcBef>
              <a:buClr>
                <a:srgbClr val="FFC000"/>
              </a:buClr>
              <a:buSzPct val="95238"/>
              <a:buFont typeface="Wingdings"/>
              <a:buChar char=""/>
              <a:tabLst>
                <a:tab pos="250190" algn="l"/>
              </a:tabLst>
            </a:pPr>
            <a:r>
              <a:rPr sz="2100" dirty="0">
                <a:latin typeface="微软雅黑"/>
                <a:cs typeface="微软雅黑"/>
              </a:rPr>
              <a:t>	敏感信号列表是</a:t>
            </a:r>
            <a:r>
              <a:rPr sz="2100" dirty="0">
                <a:latin typeface="Arial"/>
                <a:cs typeface="Arial"/>
              </a:rPr>
              <a:t>always</a:t>
            </a:r>
            <a:r>
              <a:rPr sz="2100" spc="-5" dirty="0">
                <a:latin typeface="微软雅黑"/>
                <a:cs typeface="微软雅黑"/>
              </a:rPr>
              <a:t>块响应的信号和事件列表，对于</a:t>
            </a:r>
            <a:r>
              <a:rPr sz="2100" spc="-5" dirty="0">
                <a:solidFill>
                  <a:srgbClr val="C00000"/>
                </a:solidFill>
                <a:latin typeface="微软雅黑"/>
                <a:cs typeface="微软雅黑"/>
              </a:rPr>
              <a:t>组合电路</a:t>
            </a:r>
            <a:r>
              <a:rPr sz="2100" spc="-5" dirty="0">
                <a:latin typeface="微软雅黑"/>
                <a:cs typeface="微软雅黑"/>
              </a:rPr>
              <a:t>，应该包含</a:t>
            </a:r>
            <a:r>
              <a:rPr sz="2100" spc="-5" dirty="0">
                <a:solidFill>
                  <a:srgbClr val="C00000"/>
                </a:solidFill>
                <a:latin typeface="微软雅黑"/>
                <a:cs typeface="微软雅黑"/>
              </a:rPr>
              <a:t>所有</a:t>
            </a:r>
            <a:r>
              <a:rPr sz="2100" spc="-10" dirty="0">
                <a:latin typeface="微软雅黑"/>
                <a:cs typeface="微软雅黑"/>
              </a:rPr>
              <a:t>的输入信号。</a:t>
            </a:r>
            <a:endParaRPr sz="2100" dirty="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30543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3.1.1</a:t>
            </a:r>
            <a:r>
              <a:rPr spc="-45" dirty="0">
                <a:latin typeface="Arial"/>
                <a:cs typeface="Arial"/>
              </a:rPr>
              <a:t> </a:t>
            </a:r>
            <a:r>
              <a:rPr spc="-10" dirty="0"/>
              <a:t>基本语法格式</a:t>
            </a:r>
          </a:p>
        </p:txBody>
      </p:sp>
      <p:grpSp>
        <p:nvGrpSpPr>
          <p:cNvPr id="3" name="object 3"/>
          <p:cNvGrpSpPr/>
          <p:nvPr/>
        </p:nvGrpSpPr>
        <p:grpSpPr>
          <a:xfrm>
            <a:off x="3130943" y="2545079"/>
            <a:ext cx="3218815" cy="575310"/>
            <a:chOff x="3130943" y="2545079"/>
            <a:chExt cx="3218815" cy="575310"/>
          </a:xfrm>
        </p:grpSpPr>
        <p:sp>
          <p:nvSpPr>
            <p:cNvPr id="4" name="object 4"/>
            <p:cNvSpPr/>
            <p:nvPr/>
          </p:nvSpPr>
          <p:spPr>
            <a:xfrm>
              <a:off x="3135515" y="2548889"/>
              <a:ext cx="3210560" cy="567055"/>
            </a:xfrm>
            <a:custGeom>
              <a:avLst/>
              <a:gdLst/>
              <a:ahLst/>
              <a:cxnLst/>
              <a:rect l="l" t="t" r="r" b="b"/>
              <a:pathLst>
                <a:path w="3210560" h="567055">
                  <a:moveTo>
                    <a:pt x="3210306" y="566928"/>
                  </a:moveTo>
                  <a:lnTo>
                    <a:pt x="3210306" y="0"/>
                  </a:lnTo>
                  <a:lnTo>
                    <a:pt x="0" y="0"/>
                  </a:lnTo>
                  <a:lnTo>
                    <a:pt x="0" y="566928"/>
                  </a:lnTo>
                  <a:lnTo>
                    <a:pt x="3210306" y="566928"/>
                  </a:lnTo>
                  <a:close/>
                </a:path>
              </a:pathLst>
            </a:custGeom>
            <a:solidFill>
              <a:srgbClr val="F9FABA"/>
            </a:solidFill>
          </p:spPr>
          <p:txBody>
            <a:bodyPr wrap="square" lIns="0" tIns="0" rIns="0" bIns="0" rtlCol="0"/>
            <a:lstStyle/>
            <a:p>
              <a:endParaRPr/>
            </a:p>
          </p:txBody>
        </p:sp>
        <p:sp>
          <p:nvSpPr>
            <p:cNvPr id="5" name="object 5"/>
            <p:cNvSpPr/>
            <p:nvPr/>
          </p:nvSpPr>
          <p:spPr>
            <a:xfrm>
              <a:off x="3130943" y="2545079"/>
              <a:ext cx="3218815" cy="575310"/>
            </a:xfrm>
            <a:custGeom>
              <a:avLst/>
              <a:gdLst/>
              <a:ahLst/>
              <a:cxnLst/>
              <a:rect l="l" t="t" r="r" b="b"/>
              <a:pathLst>
                <a:path w="3218815" h="575310">
                  <a:moveTo>
                    <a:pt x="3218688" y="573024"/>
                  </a:moveTo>
                  <a:lnTo>
                    <a:pt x="3218688" y="1523"/>
                  </a:lnTo>
                  <a:lnTo>
                    <a:pt x="3217164" y="0"/>
                  </a:lnTo>
                  <a:lnTo>
                    <a:pt x="2285" y="0"/>
                  </a:lnTo>
                  <a:lnTo>
                    <a:pt x="0" y="1524"/>
                  </a:lnTo>
                  <a:lnTo>
                    <a:pt x="0" y="573024"/>
                  </a:lnTo>
                  <a:lnTo>
                    <a:pt x="2286" y="575310"/>
                  </a:lnTo>
                  <a:lnTo>
                    <a:pt x="4572" y="575310"/>
                  </a:lnTo>
                  <a:lnTo>
                    <a:pt x="4572" y="8382"/>
                  </a:lnTo>
                  <a:lnTo>
                    <a:pt x="8381" y="3810"/>
                  </a:lnTo>
                  <a:lnTo>
                    <a:pt x="8381" y="8382"/>
                  </a:lnTo>
                  <a:lnTo>
                    <a:pt x="3210306" y="8381"/>
                  </a:lnTo>
                  <a:lnTo>
                    <a:pt x="3210306" y="3809"/>
                  </a:lnTo>
                  <a:lnTo>
                    <a:pt x="3214878" y="8381"/>
                  </a:lnTo>
                  <a:lnTo>
                    <a:pt x="3214878" y="575310"/>
                  </a:lnTo>
                  <a:lnTo>
                    <a:pt x="3217164" y="575310"/>
                  </a:lnTo>
                  <a:lnTo>
                    <a:pt x="3218688" y="573024"/>
                  </a:lnTo>
                  <a:close/>
                </a:path>
                <a:path w="3218815" h="575310">
                  <a:moveTo>
                    <a:pt x="8381" y="8382"/>
                  </a:moveTo>
                  <a:lnTo>
                    <a:pt x="8381" y="3810"/>
                  </a:lnTo>
                  <a:lnTo>
                    <a:pt x="4572" y="8382"/>
                  </a:lnTo>
                  <a:lnTo>
                    <a:pt x="8381" y="8382"/>
                  </a:lnTo>
                  <a:close/>
                </a:path>
                <a:path w="3218815" h="575310">
                  <a:moveTo>
                    <a:pt x="8381" y="566928"/>
                  </a:moveTo>
                  <a:lnTo>
                    <a:pt x="8381" y="8382"/>
                  </a:lnTo>
                  <a:lnTo>
                    <a:pt x="4572" y="8382"/>
                  </a:lnTo>
                  <a:lnTo>
                    <a:pt x="4572" y="566928"/>
                  </a:lnTo>
                  <a:lnTo>
                    <a:pt x="8381" y="566928"/>
                  </a:lnTo>
                  <a:close/>
                </a:path>
                <a:path w="3218815" h="575310">
                  <a:moveTo>
                    <a:pt x="3214878" y="566928"/>
                  </a:moveTo>
                  <a:lnTo>
                    <a:pt x="4572" y="566928"/>
                  </a:lnTo>
                  <a:lnTo>
                    <a:pt x="8381" y="570738"/>
                  </a:lnTo>
                  <a:lnTo>
                    <a:pt x="8382" y="575310"/>
                  </a:lnTo>
                  <a:lnTo>
                    <a:pt x="3210306" y="575310"/>
                  </a:lnTo>
                  <a:lnTo>
                    <a:pt x="3210306" y="570738"/>
                  </a:lnTo>
                  <a:lnTo>
                    <a:pt x="3214878" y="566928"/>
                  </a:lnTo>
                  <a:close/>
                </a:path>
                <a:path w="3218815" h="575310">
                  <a:moveTo>
                    <a:pt x="8382" y="575310"/>
                  </a:moveTo>
                  <a:lnTo>
                    <a:pt x="8381" y="570738"/>
                  </a:lnTo>
                  <a:lnTo>
                    <a:pt x="4572" y="566928"/>
                  </a:lnTo>
                  <a:lnTo>
                    <a:pt x="4572" y="575310"/>
                  </a:lnTo>
                  <a:lnTo>
                    <a:pt x="8382" y="575310"/>
                  </a:lnTo>
                  <a:close/>
                </a:path>
                <a:path w="3218815" h="575310">
                  <a:moveTo>
                    <a:pt x="3214878" y="8381"/>
                  </a:moveTo>
                  <a:lnTo>
                    <a:pt x="3210306" y="3809"/>
                  </a:lnTo>
                  <a:lnTo>
                    <a:pt x="3210306" y="8381"/>
                  </a:lnTo>
                  <a:lnTo>
                    <a:pt x="3214878" y="8381"/>
                  </a:lnTo>
                  <a:close/>
                </a:path>
                <a:path w="3218815" h="575310">
                  <a:moveTo>
                    <a:pt x="3214878" y="566928"/>
                  </a:moveTo>
                  <a:lnTo>
                    <a:pt x="3214878" y="8381"/>
                  </a:lnTo>
                  <a:lnTo>
                    <a:pt x="3210306" y="8381"/>
                  </a:lnTo>
                  <a:lnTo>
                    <a:pt x="3210306" y="566928"/>
                  </a:lnTo>
                  <a:lnTo>
                    <a:pt x="3214878" y="566928"/>
                  </a:lnTo>
                  <a:close/>
                </a:path>
                <a:path w="3218815" h="575310">
                  <a:moveTo>
                    <a:pt x="3214878" y="575310"/>
                  </a:moveTo>
                  <a:lnTo>
                    <a:pt x="3214878" y="566928"/>
                  </a:lnTo>
                  <a:lnTo>
                    <a:pt x="3210306" y="570738"/>
                  </a:lnTo>
                  <a:lnTo>
                    <a:pt x="3210306" y="575310"/>
                  </a:lnTo>
                  <a:lnTo>
                    <a:pt x="3214878" y="575310"/>
                  </a:lnTo>
                  <a:close/>
                </a:path>
              </a:pathLst>
            </a:custGeom>
            <a:solidFill>
              <a:srgbClr val="000000"/>
            </a:solidFill>
          </p:spPr>
          <p:txBody>
            <a:bodyPr wrap="square" lIns="0" tIns="0" rIns="0" bIns="0" rtlCol="0"/>
            <a:lstStyle/>
            <a:p>
              <a:endParaRPr/>
            </a:p>
          </p:txBody>
        </p:sp>
      </p:grpSp>
      <p:grpSp>
        <p:nvGrpSpPr>
          <p:cNvPr id="6" name="object 6"/>
          <p:cNvGrpSpPr/>
          <p:nvPr/>
        </p:nvGrpSpPr>
        <p:grpSpPr>
          <a:xfrm>
            <a:off x="3130943" y="4133088"/>
            <a:ext cx="3218815" cy="575310"/>
            <a:chOff x="3130943" y="4133088"/>
            <a:chExt cx="3218815" cy="575310"/>
          </a:xfrm>
        </p:grpSpPr>
        <p:sp>
          <p:nvSpPr>
            <p:cNvPr id="7" name="object 7"/>
            <p:cNvSpPr/>
            <p:nvPr/>
          </p:nvSpPr>
          <p:spPr>
            <a:xfrm>
              <a:off x="3135515" y="4137660"/>
              <a:ext cx="3210560" cy="567055"/>
            </a:xfrm>
            <a:custGeom>
              <a:avLst/>
              <a:gdLst/>
              <a:ahLst/>
              <a:cxnLst/>
              <a:rect l="l" t="t" r="r" b="b"/>
              <a:pathLst>
                <a:path w="3210560" h="567054">
                  <a:moveTo>
                    <a:pt x="3210305" y="566927"/>
                  </a:moveTo>
                  <a:lnTo>
                    <a:pt x="3210305" y="0"/>
                  </a:lnTo>
                  <a:lnTo>
                    <a:pt x="0" y="0"/>
                  </a:lnTo>
                  <a:lnTo>
                    <a:pt x="0" y="566928"/>
                  </a:lnTo>
                  <a:lnTo>
                    <a:pt x="3210305" y="566927"/>
                  </a:lnTo>
                  <a:close/>
                </a:path>
              </a:pathLst>
            </a:custGeom>
            <a:solidFill>
              <a:srgbClr val="F9FABA"/>
            </a:solidFill>
          </p:spPr>
          <p:txBody>
            <a:bodyPr wrap="square" lIns="0" tIns="0" rIns="0" bIns="0" rtlCol="0"/>
            <a:lstStyle/>
            <a:p>
              <a:endParaRPr/>
            </a:p>
          </p:txBody>
        </p:sp>
        <p:sp>
          <p:nvSpPr>
            <p:cNvPr id="8" name="object 8"/>
            <p:cNvSpPr/>
            <p:nvPr/>
          </p:nvSpPr>
          <p:spPr>
            <a:xfrm>
              <a:off x="3130943" y="4133088"/>
              <a:ext cx="3218815" cy="575310"/>
            </a:xfrm>
            <a:custGeom>
              <a:avLst/>
              <a:gdLst/>
              <a:ahLst/>
              <a:cxnLst/>
              <a:rect l="l" t="t" r="r" b="b"/>
              <a:pathLst>
                <a:path w="3218815" h="575310">
                  <a:moveTo>
                    <a:pt x="3218688" y="573786"/>
                  </a:moveTo>
                  <a:lnTo>
                    <a:pt x="3218688" y="2285"/>
                  </a:lnTo>
                  <a:lnTo>
                    <a:pt x="3217164" y="0"/>
                  </a:lnTo>
                  <a:lnTo>
                    <a:pt x="2285" y="0"/>
                  </a:lnTo>
                  <a:lnTo>
                    <a:pt x="0" y="2286"/>
                  </a:lnTo>
                  <a:lnTo>
                    <a:pt x="0" y="573786"/>
                  </a:lnTo>
                  <a:lnTo>
                    <a:pt x="2286" y="575310"/>
                  </a:lnTo>
                  <a:lnTo>
                    <a:pt x="4572" y="575310"/>
                  </a:lnTo>
                  <a:lnTo>
                    <a:pt x="4572" y="8382"/>
                  </a:lnTo>
                  <a:lnTo>
                    <a:pt x="8381" y="4572"/>
                  </a:lnTo>
                  <a:lnTo>
                    <a:pt x="8381" y="8382"/>
                  </a:lnTo>
                  <a:lnTo>
                    <a:pt x="3210306" y="8381"/>
                  </a:lnTo>
                  <a:lnTo>
                    <a:pt x="3210306" y="4571"/>
                  </a:lnTo>
                  <a:lnTo>
                    <a:pt x="3214878" y="8381"/>
                  </a:lnTo>
                  <a:lnTo>
                    <a:pt x="3214878" y="575310"/>
                  </a:lnTo>
                  <a:lnTo>
                    <a:pt x="3217164" y="575310"/>
                  </a:lnTo>
                  <a:lnTo>
                    <a:pt x="3218688" y="573786"/>
                  </a:lnTo>
                  <a:close/>
                </a:path>
                <a:path w="3218815" h="575310">
                  <a:moveTo>
                    <a:pt x="8381" y="8382"/>
                  </a:moveTo>
                  <a:lnTo>
                    <a:pt x="8381" y="4572"/>
                  </a:lnTo>
                  <a:lnTo>
                    <a:pt x="4572" y="8382"/>
                  </a:lnTo>
                  <a:lnTo>
                    <a:pt x="8381" y="8382"/>
                  </a:lnTo>
                  <a:close/>
                </a:path>
                <a:path w="3218815" h="575310">
                  <a:moveTo>
                    <a:pt x="8381" y="566928"/>
                  </a:moveTo>
                  <a:lnTo>
                    <a:pt x="8381" y="8382"/>
                  </a:lnTo>
                  <a:lnTo>
                    <a:pt x="4572" y="8382"/>
                  </a:lnTo>
                  <a:lnTo>
                    <a:pt x="4572" y="566928"/>
                  </a:lnTo>
                  <a:lnTo>
                    <a:pt x="8381" y="566928"/>
                  </a:lnTo>
                  <a:close/>
                </a:path>
                <a:path w="3218815" h="575310">
                  <a:moveTo>
                    <a:pt x="3214878" y="566928"/>
                  </a:moveTo>
                  <a:lnTo>
                    <a:pt x="4572" y="566928"/>
                  </a:lnTo>
                  <a:lnTo>
                    <a:pt x="8381" y="571500"/>
                  </a:lnTo>
                  <a:lnTo>
                    <a:pt x="8382" y="575310"/>
                  </a:lnTo>
                  <a:lnTo>
                    <a:pt x="3210306" y="575310"/>
                  </a:lnTo>
                  <a:lnTo>
                    <a:pt x="3210306" y="571500"/>
                  </a:lnTo>
                  <a:lnTo>
                    <a:pt x="3214878" y="566928"/>
                  </a:lnTo>
                  <a:close/>
                </a:path>
                <a:path w="3218815" h="575310">
                  <a:moveTo>
                    <a:pt x="8382" y="575310"/>
                  </a:moveTo>
                  <a:lnTo>
                    <a:pt x="8381" y="571500"/>
                  </a:lnTo>
                  <a:lnTo>
                    <a:pt x="4572" y="566928"/>
                  </a:lnTo>
                  <a:lnTo>
                    <a:pt x="4572" y="575310"/>
                  </a:lnTo>
                  <a:lnTo>
                    <a:pt x="8382" y="575310"/>
                  </a:lnTo>
                  <a:close/>
                </a:path>
                <a:path w="3218815" h="575310">
                  <a:moveTo>
                    <a:pt x="3214878" y="8381"/>
                  </a:moveTo>
                  <a:lnTo>
                    <a:pt x="3210306" y="4571"/>
                  </a:lnTo>
                  <a:lnTo>
                    <a:pt x="3210306" y="8381"/>
                  </a:lnTo>
                  <a:lnTo>
                    <a:pt x="3214878" y="8381"/>
                  </a:lnTo>
                  <a:close/>
                </a:path>
                <a:path w="3218815" h="575310">
                  <a:moveTo>
                    <a:pt x="3214878" y="566928"/>
                  </a:moveTo>
                  <a:lnTo>
                    <a:pt x="3214878" y="8381"/>
                  </a:lnTo>
                  <a:lnTo>
                    <a:pt x="3210306" y="8381"/>
                  </a:lnTo>
                  <a:lnTo>
                    <a:pt x="3210306" y="566928"/>
                  </a:lnTo>
                  <a:lnTo>
                    <a:pt x="3214878" y="566928"/>
                  </a:lnTo>
                  <a:close/>
                </a:path>
                <a:path w="3218815" h="575310">
                  <a:moveTo>
                    <a:pt x="3214878" y="575310"/>
                  </a:moveTo>
                  <a:lnTo>
                    <a:pt x="3214878" y="566928"/>
                  </a:lnTo>
                  <a:lnTo>
                    <a:pt x="3210306" y="571500"/>
                  </a:lnTo>
                  <a:lnTo>
                    <a:pt x="3210306" y="575310"/>
                  </a:lnTo>
                  <a:lnTo>
                    <a:pt x="3214878" y="575310"/>
                  </a:lnTo>
                  <a:close/>
                </a:path>
              </a:pathLst>
            </a:custGeom>
            <a:solidFill>
              <a:srgbClr val="000000"/>
            </a:solidFill>
          </p:spPr>
          <p:txBody>
            <a:bodyPr wrap="square" lIns="0" tIns="0" rIns="0" bIns="0" rtlCol="0"/>
            <a:lstStyle/>
            <a:p>
              <a:endParaRPr/>
            </a:p>
          </p:txBody>
        </p:sp>
      </p:grpSp>
      <p:sp>
        <p:nvSpPr>
          <p:cNvPr id="9" name="object 9"/>
          <p:cNvSpPr txBox="1"/>
          <p:nvPr/>
        </p:nvSpPr>
        <p:spPr>
          <a:xfrm>
            <a:off x="739267" y="1748426"/>
            <a:ext cx="9081135" cy="3696970"/>
          </a:xfrm>
          <a:prstGeom prst="rect">
            <a:avLst/>
          </a:prstGeom>
        </p:spPr>
        <p:txBody>
          <a:bodyPr vert="horz" wrap="square" lIns="0" tIns="12065" rIns="0" bIns="0" rtlCol="0">
            <a:spAutoFit/>
          </a:bodyPr>
          <a:lstStyle/>
          <a:p>
            <a:pPr marL="12700" marR="5080" indent="-2540">
              <a:lnSpc>
                <a:spcPct val="150500"/>
              </a:lnSpc>
              <a:spcBef>
                <a:spcPts val="95"/>
              </a:spcBef>
              <a:buClr>
                <a:srgbClr val="FFC000"/>
              </a:buClr>
              <a:buSzPct val="95238"/>
              <a:buFont typeface="Wingdings"/>
              <a:buChar char=""/>
              <a:tabLst>
                <a:tab pos="250190" algn="l"/>
              </a:tabLst>
            </a:pPr>
            <a:r>
              <a:rPr sz="2100" dirty="0">
                <a:latin typeface="微软雅黑"/>
                <a:cs typeface="微软雅黑"/>
              </a:rPr>
              <a:t>	如有两个或者两个以上的信号时：在</a:t>
            </a:r>
            <a:r>
              <a:rPr sz="2100" spc="-25" dirty="0">
                <a:latin typeface="Arial"/>
                <a:cs typeface="Arial"/>
              </a:rPr>
              <a:t>Verilog-</a:t>
            </a:r>
            <a:r>
              <a:rPr sz="2100" dirty="0">
                <a:latin typeface="Arial"/>
                <a:cs typeface="Arial"/>
              </a:rPr>
              <a:t>1995</a:t>
            </a:r>
            <a:r>
              <a:rPr sz="2100" spc="-5" dirty="0">
                <a:latin typeface="微软雅黑"/>
                <a:cs typeface="微软雅黑"/>
              </a:rPr>
              <a:t>中，它们之间可以用关键</a:t>
            </a:r>
            <a:r>
              <a:rPr sz="2100" dirty="0">
                <a:latin typeface="微软雅黑"/>
                <a:cs typeface="微软雅黑"/>
              </a:rPr>
              <a:t>字</a:t>
            </a:r>
            <a:r>
              <a:rPr sz="2100" spc="-10" dirty="0">
                <a:latin typeface="Arial"/>
                <a:cs typeface="Arial"/>
              </a:rPr>
              <a:t>or</a:t>
            </a:r>
            <a:r>
              <a:rPr sz="2100" spc="-10" dirty="0">
                <a:latin typeface="微软雅黑"/>
                <a:cs typeface="微软雅黑"/>
              </a:rPr>
              <a:t>来连接，如：</a:t>
            </a:r>
            <a:endParaRPr sz="2100">
              <a:latin typeface="微软雅黑"/>
              <a:cs typeface="微软雅黑"/>
            </a:endParaRPr>
          </a:p>
          <a:p>
            <a:pPr marL="2475230">
              <a:lnSpc>
                <a:spcPts val="2195"/>
              </a:lnSpc>
              <a:tabLst>
                <a:tab pos="3441700" algn="l"/>
              </a:tabLst>
            </a:pPr>
            <a:r>
              <a:rPr sz="2100" spc="-10" dirty="0">
                <a:latin typeface="Arial"/>
                <a:cs typeface="Arial"/>
              </a:rPr>
              <a:t>always</a:t>
            </a:r>
            <a:r>
              <a:rPr sz="2100" dirty="0">
                <a:latin typeface="Arial"/>
                <a:cs typeface="Arial"/>
              </a:rPr>
              <a:t>	@</a:t>
            </a:r>
            <a:r>
              <a:rPr sz="2100" dirty="0">
                <a:latin typeface="微软雅黑"/>
                <a:cs typeface="微软雅黑"/>
              </a:rPr>
              <a:t>（</a:t>
            </a:r>
            <a:r>
              <a:rPr sz="2100" dirty="0">
                <a:latin typeface="Arial"/>
                <a:cs typeface="Arial"/>
              </a:rPr>
              <a:t>a</a:t>
            </a:r>
            <a:r>
              <a:rPr sz="2100" spc="-20" dirty="0">
                <a:latin typeface="Arial"/>
                <a:cs typeface="Arial"/>
              </a:rPr>
              <a:t> </a:t>
            </a:r>
            <a:r>
              <a:rPr sz="2100" dirty="0">
                <a:latin typeface="Arial"/>
                <a:cs typeface="Arial"/>
              </a:rPr>
              <a:t>or</a:t>
            </a:r>
            <a:r>
              <a:rPr sz="2100" spc="-10" dirty="0">
                <a:latin typeface="Arial"/>
                <a:cs typeface="Arial"/>
              </a:rPr>
              <a:t> </a:t>
            </a:r>
            <a:r>
              <a:rPr sz="2100" dirty="0">
                <a:latin typeface="Arial"/>
                <a:cs typeface="Arial"/>
              </a:rPr>
              <a:t>b</a:t>
            </a:r>
            <a:r>
              <a:rPr sz="2100" spc="-10" dirty="0">
                <a:latin typeface="Arial"/>
                <a:cs typeface="Arial"/>
              </a:rPr>
              <a:t> </a:t>
            </a:r>
            <a:r>
              <a:rPr sz="2100" dirty="0">
                <a:latin typeface="Arial"/>
                <a:cs typeface="Arial"/>
              </a:rPr>
              <a:t>or</a:t>
            </a:r>
            <a:r>
              <a:rPr sz="2100" spc="-10" dirty="0">
                <a:latin typeface="Arial"/>
                <a:cs typeface="Arial"/>
              </a:rPr>
              <a:t> </a:t>
            </a:r>
            <a:r>
              <a:rPr sz="2100" spc="-25" dirty="0">
                <a:latin typeface="Arial"/>
                <a:cs typeface="Arial"/>
              </a:rPr>
              <a:t>c</a:t>
            </a:r>
            <a:r>
              <a:rPr sz="2100" spc="-25" dirty="0">
                <a:latin typeface="微软雅黑"/>
                <a:cs typeface="微软雅黑"/>
              </a:rPr>
              <a:t>）</a:t>
            </a:r>
            <a:endParaRPr sz="2100">
              <a:latin typeface="微软雅黑"/>
              <a:cs typeface="微软雅黑"/>
            </a:endParaRPr>
          </a:p>
          <a:p>
            <a:pPr>
              <a:lnSpc>
                <a:spcPct val="100000"/>
              </a:lnSpc>
              <a:spcBef>
                <a:spcPts val="1245"/>
              </a:spcBef>
            </a:pPr>
            <a:endParaRPr sz="2100">
              <a:latin typeface="微软雅黑"/>
              <a:cs typeface="微软雅黑"/>
            </a:endParaRPr>
          </a:p>
          <a:p>
            <a:pPr marL="250190" indent="-240029">
              <a:lnSpc>
                <a:spcPct val="100000"/>
              </a:lnSpc>
              <a:buClr>
                <a:srgbClr val="FFC000"/>
              </a:buClr>
              <a:buSzPct val="95238"/>
              <a:buFont typeface="Wingdings"/>
              <a:buChar char=""/>
              <a:tabLst>
                <a:tab pos="250190" algn="l"/>
              </a:tabLst>
            </a:pPr>
            <a:r>
              <a:rPr sz="2100" dirty="0">
                <a:latin typeface="Arial"/>
                <a:cs typeface="Arial"/>
              </a:rPr>
              <a:t>Verilog</a:t>
            </a:r>
            <a:r>
              <a:rPr sz="2100" spc="-70" dirty="0">
                <a:latin typeface="Arial"/>
                <a:cs typeface="Arial"/>
              </a:rPr>
              <a:t> </a:t>
            </a:r>
            <a:r>
              <a:rPr sz="2100" dirty="0">
                <a:latin typeface="Arial"/>
                <a:cs typeface="Arial"/>
              </a:rPr>
              <a:t>HDL</a:t>
            </a:r>
            <a:r>
              <a:rPr sz="2100" spc="-125" dirty="0">
                <a:latin typeface="Arial"/>
                <a:cs typeface="Arial"/>
              </a:rPr>
              <a:t> </a:t>
            </a:r>
            <a:r>
              <a:rPr sz="2100" spc="-10" dirty="0">
                <a:latin typeface="Arial"/>
                <a:cs typeface="Arial"/>
              </a:rPr>
              <a:t>2001</a:t>
            </a:r>
            <a:r>
              <a:rPr sz="2100" dirty="0">
                <a:latin typeface="微软雅黑"/>
                <a:cs typeface="微软雅黑"/>
              </a:rPr>
              <a:t>规范中，可以使用</a:t>
            </a:r>
            <a:r>
              <a:rPr sz="2100" dirty="0">
                <a:latin typeface="Arial"/>
                <a:cs typeface="Arial"/>
              </a:rPr>
              <a:t>“</a:t>
            </a:r>
            <a:r>
              <a:rPr sz="2100" dirty="0">
                <a:latin typeface="微软雅黑"/>
                <a:cs typeface="微软雅黑"/>
              </a:rPr>
              <a:t>，</a:t>
            </a:r>
            <a:r>
              <a:rPr sz="2100" dirty="0">
                <a:latin typeface="Arial"/>
                <a:cs typeface="Arial"/>
              </a:rPr>
              <a:t>”</a:t>
            </a:r>
            <a:r>
              <a:rPr sz="2100" spc="-10" dirty="0">
                <a:latin typeface="微软雅黑"/>
                <a:cs typeface="微软雅黑"/>
              </a:rPr>
              <a:t>来区分，如：</a:t>
            </a:r>
            <a:endParaRPr sz="2100">
              <a:latin typeface="微软雅黑"/>
              <a:cs typeface="微软雅黑"/>
            </a:endParaRPr>
          </a:p>
          <a:p>
            <a:pPr marL="2475230">
              <a:lnSpc>
                <a:spcPct val="100000"/>
              </a:lnSpc>
              <a:spcBef>
                <a:spcPts val="2620"/>
              </a:spcBef>
              <a:tabLst>
                <a:tab pos="3441700" algn="l"/>
              </a:tabLst>
            </a:pPr>
            <a:r>
              <a:rPr sz="2100" spc="-10" dirty="0">
                <a:latin typeface="Arial"/>
                <a:cs typeface="Arial"/>
              </a:rPr>
              <a:t>always</a:t>
            </a:r>
            <a:r>
              <a:rPr sz="2100" dirty="0">
                <a:latin typeface="Arial"/>
                <a:cs typeface="Arial"/>
              </a:rPr>
              <a:t>	@</a:t>
            </a:r>
            <a:r>
              <a:rPr sz="2100" dirty="0">
                <a:latin typeface="微软雅黑"/>
                <a:cs typeface="微软雅黑"/>
              </a:rPr>
              <a:t>（</a:t>
            </a:r>
            <a:r>
              <a:rPr sz="2100" dirty="0">
                <a:latin typeface="Arial"/>
                <a:cs typeface="Arial"/>
              </a:rPr>
              <a:t>a</a:t>
            </a:r>
            <a:r>
              <a:rPr sz="2100" spc="-20" dirty="0">
                <a:latin typeface="Arial"/>
                <a:cs typeface="Arial"/>
              </a:rPr>
              <a:t> </a:t>
            </a:r>
            <a:r>
              <a:rPr sz="2100" dirty="0">
                <a:latin typeface="微软雅黑"/>
                <a:cs typeface="微软雅黑"/>
              </a:rPr>
              <a:t>，</a:t>
            </a:r>
            <a:r>
              <a:rPr sz="2100" spc="-50" dirty="0">
                <a:latin typeface="微软雅黑"/>
                <a:cs typeface="微软雅黑"/>
              </a:rPr>
              <a:t> </a:t>
            </a:r>
            <a:r>
              <a:rPr sz="2100" dirty="0">
                <a:latin typeface="Arial"/>
                <a:cs typeface="Arial"/>
              </a:rPr>
              <a:t>b</a:t>
            </a:r>
            <a:r>
              <a:rPr sz="2100" spc="-10" dirty="0">
                <a:latin typeface="Arial"/>
                <a:cs typeface="Arial"/>
              </a:rPr>
              <a:t> </a:t>
            </a:r>
            <a:r>
              <a:rPr sz="2100" dirty="0">
                <a:latin typeface="微软雅黑"/>
                <a:cs typeface="微软雅黑"/>
              </a:rPr>
              <a:t>，</a:t>
            </a:r>
            <a:r>
              <a:rPr sz="2100" spc="-40" dirty="0">
                <a:latin typeface="微软雅黑"/>
                <a:cs typeface="微软雅黑"/>
              </a:rPr>
              <a:t> </a:t>
            </a:r>
            <a:r>
              <a:rPr sz="2100" spc="-25" dirty="0">
                <a:latin typeface="Arial"/>
                <a:cs typeface="Arial"/>
              </a:rPr>
              <a:t>c</a:t>
            </a:r>
            <a:r>
              <a:rPr sz="2100" spc="-25" dirty="0">
                <a:latin typeface="微软雅黑"/>
                <a:cs typeface="微软雅黑"/>
              </a:rPr>
              <a:t>）</a:t>
            </a:r>
            <a:endParaRPr sz="2100">
              <a:latin typeface="微软雅黑"/>
              <a:cs typeface="微软雅黑"/>
            </a:endParaRPr>
          </a:p>
          <a:p>
            <a:pPr>
              <a:lnSpc>
                <a:spcPct val="100000"/>
              </a:lnSpc>
              <a:spcBef>
                <a:spcPts val="500"/>
              </a:spcBef>
            </a:pPr>
            <a:endParaRPr sz="2100">
              <a:latin typeface="微软雅黑"/>
              <a:cs typeface="微软雅黑"/>
            </a:endParaRPr>
          </a:p>
          <a:p>
            <a:pPr marL="250190" indent="-240029">
              <a:lnSpc>
                <a:spcPct val="100000"/>
              </a:lnSpc>
              <a:buClr>
                <a:srgbClr val="FFC000"/>
              </a:buClr>
              <a:buSzPct val="95238"/>
              <a:buFont typeface="Wingdings"/>
              <a:buChar char=""/>
              <a:tabLst>
                <a:tab pos="250190" algn="l"/>
              </a:tabLst>
            </a:pPr>
            <a:r>
              <a:rPr sz="2100" dirty="0">
                <a:latin typeface="微软雅黑"/>
                <a:cs typeface="微软雅黑"/>
              </a:rPr>
              <a:t>在本书中，我们都使用</a:t>
            </a:r>
            <a:r>
              <a:rPr sz="2100" spc="-10" dirty="0">
                <a:latin typeface="Arial"/>
                <a:cs typeface="Arial"/>
              </a:rPr>
              <a:t>Verilog</a:t>
            </a:r>
            <a:r>
              <a:rPr sz="2100" spc="-55" dirty="0">
                <a:latin typeface="Arial"/>
                <a:cs typeface="Arial"/>
              </a:rPr>
              <a:t> </a:t>
            </a:r>
            <a:r>
              <a:rPr sz="2100" dirty="0">
                <a:latin typeface="Arial"/>
                <a:cs typeface="Arial"/>
              </a:rPr>
              <a:t>HDL</a:t>
            </a:r>
            <a:r>
              <a:rPr sz="2100" spc="-100" dirty="0">
                <a:latin typeface="Arial"/>
                <a:cs typeface="Arial"/>
              </a:rPr>
              <a:t> </a:t>
            </a:r>
            <a:r>
              <a:rPr sz="2100" spc="-10" dirty="0">
                <a:latin typeface="Arial"/>
                <a:cs typeface="Arial"/>
              </a:rPr>
              <a:t>2001</a:t>
            </a:r>
            <a:r>
              <a:rPr sz="2100" spc="-20" dirty="0">
                <a:latin typeface="微软雅黑"/>
                <a:cs typeface="微软雅黑"/>
              </a:rPr>
              <a:t>规范。</a:t>
            </a:r>
            <a:endParaRPr sz="2100">
              <a:latin typeface="微软雅黑"/>
              <a:cs typeface="微软雅黑"/>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pic>
        <p:nvPicPr>
          <p:cNvPr id="12" name="object 9">
            <a:extLst>
              <a:ext uri="{FF2B5EF4-FFF2-40B4-BE49-F238E27FC236}">
                <a16:creationId xmlns:a16="http://schemas.microsoft.com/office/drawing/2014/main" id="{EF74B59A-1D14-01CF-A3A8-FA3786FC66D5}"/>
              </a:ext>
            </a:extLst>
          </p:cNvPr>
          <p:cNvPicPr/>
          <p:nvPr/>
        </p:nvPicPr>
        <p:blipFill>
          <a:blip r:embed="rId2" cstate="print"/>
          <a:stretch>
            <a:fillRect/>
          </a:stretch>
        </p:blipFill>
        <p:spPr>
          <a:xfrm>
            <a:off x="3413106" y="5628420"/>
            <a:ext cx="2945669" cy="9125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30543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3.1.1</a:t>
            </a:r>
            <a:r>
              <a:rPr spc="-45" dirty="0">
                <a:latin typeface="Arial"/>
                <a:cs typeface="Arial"/>
              </a:rPr>
              <a:t> </a:t>
            </a:r>
            <a:r>
              <a:rPr spc="-10" dirty="0"/>
              <a:t>基本语法格式</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416185" y="1613552"/>
            <a:ext cx="9857105" cy="5474640"/>
          </a:xfrm>
          <a:prstGeom prst="rect">
            <a:avLst/>
          </a:prstGeom>
        </p:spPr>
        <p:txBody>
          <a:bodyPr vert="horz" wrap="square" lIns="0" tIns="12700" rIns="0" bIns="0" rtlCol="0">
            <a:spAutoFit/>
          </a:bodyPr>
          <a:lstStyle/>
          <a:p>
            <a:pPr marL="212725" marR="234315" indent="-202565" algn="just">
              <a:lnSpc>
                <a:spcPct val="150400"/>
              </a:lnSpc>
              <a:spcBef>
                <a:spcPts val="100"/>
              </a:spcBef>
              <a:buClr>
                <a:schemeClr val="accent6"/>
              </a:buClr>
              <a:buSzPct val="83333"/>
              <a:buFont typeface="Wingdings"/>
              <a:buChar char=""/>
              <a:tabLst>
                <a:tab pos="212725" algn="l"/>
                <a:tab pos="221615" algn="l"/>
              </a:tabLst>
            </a:pPr>
            <a:r>
              <a:rPr lang="en-US" altLang="zh-CN" sz="2100" b="1" spc="-5" dirty="0">
                <a:solidFill>
                  <a:srgbClr val="C00000"/>
                </a:solidFill>
                <a:latin typeface="Arial"/>
                <a:cs typeface="Arial"/>
              </a:rPr>
              <a:t>begin</a:t>
            </a:r>
            <a:r>
              <a:rPr lang="zh-CN" altLang="en-US" sz="2100" b="1" spc="-25" dirty="0">
                <a:solidFill>
                  <a:srgbClr val="3E3E3E"/>
                </a:solidFill>
                <a:latin typeface="宋体"/>
              </a:rPr>
              <a:t>和</a:t>
            </a:r>
            <a:r>
              <a:rPr lang="en-US" altLang="zh-CN" sz="2100" b="1" spc="-5" dirty="0">
                <a:solidFill>
                  <a:srgbClr val="C00000"/>
                </a:solidFill>
                <a:latin typeface="Arial"/>
                <a:cs typeface="Arial"/>
              </a:rPr>
              <a:t>end</a:t>
            </a:r>
            <a:r>
              <a:rPr lang="zh-CN" altLang="en-US" sz="2100" b="1" spc="-25" dirty="0">
                <a:solidFill>
                  <a:srgbClr val="3E3E3E"/>
                </a:solidFill>
                <a:latin typeface="宋体"/>
              </a:rPr>
              <a:t>用于将多条语句合并成一组，构成顺序块语句。块语句包含任意数目的过程语句，当块语句只有一条语句时，定界符</a:t>
            </a:r>
            <a:r>
              <a:rPr lang="en-US" altLang="zh-CN" sz="2100" b="1" spc="-5" dirty="0">
                <a:solidFill>
                  <a:srgbClr val="C00000"/>
                </a:solidFill>
                <a:latin typeface="Arial"/>
                <a:cs typeface="Arial"/>
              </a:rPr>
              <a:t>begin</a:t>
            </a:r>
            <a:r>
              <a:rPr lang="zh-CN" altLang="en-US" sz="2100" b="1" spc="-25" dirty="0">
                <a:solidFill>
                  <a:srgbClr val="3E3E3E"/>
                </a:solidFill>
                <a:latin typeface="宋体"/>
              </a:rPr>
              <a:t>和</a:t>
            </a:r>
            <a:r>
              <a:rPr lang="en-US" altLang="zh-CN" sz="2100" b="1" spc="-5" dirty="0">
                <a:solidFill>
                  <a:srgbClr val="C00000"/>
                </a:solidFill>
                <a:latin typeface="Arial"/>
                <a:cs typeface="Arial"/>
              </a:rPr>
              <a:t>end</a:t>
            </a:r>
            <a:r>
              <a:rPr lang="zh-CN" altLang="en-US" sz="2100" b="1" spc="-25" dirty="0">
                <a:solidFill>
                  <a:srgbClr val="3E3E3E"/>
                </a:solidFill>
                <a:latin typeface="宋体"/>
              </a:rPr>
              <a:t>可以省略。</a:t>
            </a:r>
            <a:endParaRPr lang="en-US" altLang="zh-CN" sz="2100" b="1" spc="-25" dirty="0">
              <a:solidFill>
                <a:srgbClr val="3E3E3E"/>
              </a:solidFill>
              <a:latin typeface="宋体"/>
            </a:endParaRPr>
          </a:p>
          <a:p>
            <a:pPr marL="212725" marR="234315" indent="-202565" algn="just">
              <a:lnSpc>
                <a:spcPct val="150400"/>
              </a:lnSpc>
              <a:spcBef>
                <a:spcPts val="100"/>
              </a:spcBef>
              <a:buClr>
                <a:schemeClr val="accent6"/>
              </a:buClr>
              <a:buSzPct val="83333"/>
              <a:buFont typeface="Wingdings"/>
              <a:buChar char=""/>
              <a:tabLst>
                <a:tab pos="212725" algn="l"/>
                <a:tab pos="221615" algn="l"/>
              </a:tabLst>
            </a:pPr>
            <a:r>
              <a:rPr lang="en-US" altLang="zh-CN" sz="2100" b="1" spc="-10" dirty="0">
                <a:solidFill>
                  <a:srgbClr val="C00000"/>
                </a:solidFill>
                <a:latin typeface="Arial"/>
                <a:cs typeface="Arial"/>
              </a:rPr>
              <a:t>@([</a:t>
            </a:r>
            <a:r>
              <a:rPr lang="zh-CN" altLang="en-US" sz="2100" b="1" spc="-30" dirty="0">
                <a:solidFill>
                  <a:srgbClr val="C00000"/>
                </a:solidFill>
                <a:latin typeface="宋体"/>
                <a:cs typeface="宋体"/>
              </a:rPr>
              <a:t>敏感信号列表</a:t>
            </a:r>
            <a:r>
              <a:rPr lang="en-US" altLang="zh-CN" sz="2100" b="1" dirty="0">
                <a:solidFill>
                  <a:srgbClr val="C00000"/>
                </a:solidFill>
                <a:latin typeface="Arial"/>
                <a:cs typeface="Arial"/>
              </a:rPr>
              <a:t>])</a:t>
            </a:r>
            <a:r>
              <a:rPr lang="zh-CN" altLang="en-US" sz="2100" b="1" spc="-25" dirty="0">
                <a:solidFill>
                  <a:srgbClr val="3E3E3E"/>
                </a:solidFill>
                <a:latin typeface="宋体"/>
                <a:cs typeface="宋体"/>
              </a:rPr>
              <a:t>项实际上是一个时序控制结构，它是可综合</a:t>
            </a:r>
            <a:r>
              <a:rPr lang="en-US" altLang="zh-CN" sz="2100" b="1" spc="-10" dirty="0">
                <a:solidFill>
                  <a:srgbClr val="3E3E3E"/>
                </a:solidFill>
                <a:latin typeface="Arial"/>
                <a:cs typeface="Arial"/>
              </a:rPr>
              <a:t>always</a:t>
            </a:r>
            <a:r>
              <a:rPr lang="zh-CN" altLang="en-US" sz="2100" b="1" spc="-30" dirty="0">
                <a:solidFill>
                  <a:srgbClr val="3E3E3E"/>
                </a:solidFill>
                <a:latin typeface="宋体"/>
                <a:cs typeface="宋体"/>
              </a:rPr>
              <a:t>块中的唯一时序控制结构。</a:t>
            </a:r>
          </a:p>
          <a:p>
            <a:pPr marL="212725" marR="5080" indent="-202565" algn="just">
              <a:lnSpc>
                <a:spcPct val="150200"/>
              </a:lnSpc>
              <a:spcBef>
                <a:spcPts val="700"/>
              </a:spcBef>
              <a:buSzPct val="83333"/>
              <a:buFont typeface="Wingdings"/>
              <a:buChar char=""/>
              <a:tabLst>
                <a:tab pos="212725" algn="l"/>
                <a:tab pos="221615" algn="l"/>
                <a:tab pos="8758555" algn="l"/>
              </a:tabLst>
            </a:pPr>
            <a:r>
              <a:rPr sz="2100" dirty="0">
                <a:solidFill>
                  <a:srgbClr val="EC891C"/>
                </a:solidFill>
                <a:latin typeface="宋体"/>
                <a:cs typeface="宋体"/>
              </a:rPr>
              <a:t>	</a:t>
            </a:r>
            <a:r>
              <a:rPr sz="2100" b="1" spc="-20" dirty="0" err="1">
                <a:solidFill>
                  <a:srgbClr val="3E3E3E"/>
                </a:solidFill>
                <a:latin typeface="宋体"/>
                <a:cs typeface="宋体"/>
              </a:rPr>
              <a:t>敏感信号可分为两种类型</a:t>
            </a:r>
            <a:r>
              <a:rPr lang="zh-CN" altLang="en-US" sz="2100" b="1" spc="-20" dirty="0">
                <a:solidFill>
                  <a:srgbClr val="3E3E3E"/>
                </a:solidFill>
                <a:latin typeface="宋体"/>
                <a:cs typeface="宋体"/>
              </a:rPr>
              <a:t>：</a:t>
            </a:r>
            <a:r>
              <a:rPr sz="2100" b="1" spc="-20" dirty="0" err="1">
                <a:solidFill>
                  <a:srgbClr val="3E3E3E"/>
                </a:solidFill>
                <a:latin typeface="宋体"/>
                <a:cs typeface="宋体"/>
              </a:rPr>
              <a:t>一种是</a:t>
            </a:r>
            <a:r>
              <a:rPr sz="2100" b="1" spc="-20" dirty="0" err="1">
                <a:solidFill>
                  <a:srgbClr val="C00000"/>
                </a:solidFill>
                <a:latin typeface="宋体"/>
                <a:cs typeface="宋体"/>
              </a:rPr>
              <a:t>电平敏感</a:t>
            </a:r>
            <a:r>
              <a:rPr sz="2100" b="1" spc="-15" dirty="0" err="1">
                <a:solidFill>
                  <a:srgbClr val="C00000"/>
                </a:solidFill>
                <a:latin typeface="宋体"/>
                <a:cs typeface="宋体"/>
              </a:rPr>
              <a:t>型</a:t>
            </a:r>
            <a:r>
              <a:rPr lang="zh-CN" altLang="en-US" sz="2100" b="1" spc="-20" dirty="0">
                <a:solidFill>
                  <a:srgbClr val="3E3E3E"/>
                </a:solidFill>
                <a:latin typeface="宋体"/>
                <a:cs typeface="宋体"/>
              </a:rPr>
              <a:t>，</a:t>
            </a:r>
            <a:r>
              <a:rPr sz="2100" b="1" spc="-20" dirty="0" err="1">
                <a:solidFill>
                  <a:srgbClr val="3E3E3E"/>
                </a:solidFill>
                <a:latin typeface="宋体"/>
                <a:cs typeface="宋体"/>
              </a:rPr>
              <a:t>一种</a:t>
            </a:r>
            <a:r>
              <a:rPr sz="2100" b="1" spc="-15" dirty="0" err="1">
                <a:solidFill>
                  <a:srgbClr val="3E3E3E"/>
                </a:solidFill>
                <a:latin typeface="宋体"/>
                <a:cs typeface="宋体"/>
              </a:rPr>
              <a:t>是</a:t>
            </a:r>
            <a:r>
              <a:rPr sz="2100" b="1" spc="-20" dirty="0" err="1">
                <a:solidFill>
                  <a:srgbClr val="C00000"/>
                </a:solidFill>
                <a:latin typeface="宋体"/>
                <a:cs typeface="宋体"/>
              </a:rPr>
              <a:t>边缘敏感型</a:t>
            </a:r>
            <a:r>
              <a:rPr lang="zh-CN" altLang="en-US" sz="2100" b="1" spc="-20" dirty="0">
                <a:solidFill>
                  <a:srgbClr val="3E3E3E"/>
                </a:solidFill>
                <a:latin typeface="宋体"/>
                <a:cs typeface="宋体"/>
              </a:rPr>
              <a:t>。</a:t>
            </a:r>
            <a:r>
              <a:rPr sz="2100" b="1" spc="-20" dirty="0" err="1">
                <a:solidFill>
                  <a:srgbClr val="3E3E3E"/>
                </a:solidFill>
                <a:latin typeface="宋体"/>
                <a:cs typeface="宋体"/>
              </a:rPr>
              <a:t>对于组合电</a:t>
            </a:r>
            <a:r>
              <a:rPr lang="zh-CN" altLang="en-US" sz="2100" b="1" spc="-20" dirty="0">
                <a:solidFill>
                  <a:srgbClr val="3E3E3E"/>
                </a:solidFill>
                <a:latin typeface="宋体"/>
                <a:cs typeface="宋体"/>
              </a:rPr>
              <a:t>路，</a:t>
            </a:r>
            <a:r>
              <a:rPr sz="2100" b="1" spc="-20" dirty="0">
                <a:solidFill>
                  <a:srgbClr val="3E3E3E"/>
                </a:solidFill>
                <a:latin typeface="宋体"/>
                <a:cs typeface="宋体"/>
              </a:rPr>
              <a:t>一般采用电平触发；对于时序电路，一般由时钟边沿触发</a:t>
            </a:r>
            <a:r>
              <a:rPr sz="2100" b="1" spc="-25" dirty="0">
                <a:solidFill>
                  <a:srgbClr val="3E3E3E"/>
                </a:solidFill>
                <a:latin typeface="宋体"/>
                <a:cs typeface="宋体"/>
              </a:rPr>
              <a:t>，</a:t>
            </a:r>
            <a:r>
              <a:rPr sz="2100" b="1" spc="-25" dirty="0">
                <a:solidFill>
                  <a:srgbClr val="3E3E3E"/>
                </a:solidFill>
                <a:latin typeface="Arial"/>
                <a:cs typeface="Arial"/>
              </a:rPr>
              <a:t>Verilog</a:t>
            </a:r>
            <a:r>
              <a:rPr lang="en-US" sz="2100" b="1" dirty="0">
                <a:solidFill>
                  <a:srgbClr val="3E3E3E"/>
                </a:solidFill>
                <a:latin typeface="Arial"/>
                <a:cs typeface="Arial"/>
              </a:rPr>
              <a:t> </a:t>
            </a:r>
            <a:r>
              <a:rPr sz="2100" b="1" spc="-5" dirty="0" err="1">
                <a:solidFill>
                  <a:srgbClr val="3E3E3E"/>
                </a:solidFill>
                <a:latin typeface="Arial"/>
                <a:cs typeface="Arial"/>
              </a:rPr>
              <a:t>HDL</a:t>
            </a:r>
            <a:r>
              <a:rPr sz="2100" b="1" spc="-20" dirty="0" err="1">
                <a:solidFill>
                  <a:srgbClr val="3E3E3E"/>
                </a:solidFill>
                <a:latin typeface="宋体"/>
                <a:cs typeface="宋体"/>
              </a:rPr>
              <a:t>提供了</a:t>
            </a:r>
            <a:r>
              <a:rPr sz="2100" b="1" spc="-5" dirty="0" err="1">
                <a:solidFill>
                  <a:srgbClr val="C00000"/>
                </a:solidFill>
                <a:latin typeface="Arial"/>
                <a:cs typeface="Arial"/>
              </a:rPr>
              <a:t>posedg</a:t>
            </a:r>
            <a:r>
              <a:rPr sz="2100" b="1" dirty="0" err="1">
                <a:solidFill>
                  <a:srgbClr val="C00000"/>
                </a:solidFill>
                <a:latin typeface="Arial"/>
                <a:cs typeface="Arial"/>
              </a:rPr>
              <a:t>e</a:t>
            </a:r>
            <a:r>
              <a:rPr sz="2100" b="1" spc="-20" dirty="0" err="1">
                <a:solidFill>
                  <a:srgbClr val="3E3E3E"/>
                </a:solidFill>
                <a:latin typeface="宋体"/>
                <a:cs typeface="宋体"/>
              </a:rPr>
              <a:t>和</a:t>
            </a:r>
            <a:r>
              <a:rPr sz="2100" b="1" spc="-5" dirty="0" err="1">
                <a:solidFill>
                  <a:srgbClr val="C00000"/>
                </a:solidFill>
                <a:latin typeface="Arial"/>
                <a:cs typeface="Arial"/>
              </a:rPr>
              <a:t>negedg</a:t>
            </a:r>
            <a:r>
              <a:rPr sz="2100" b="1" dirty="0" err="1">
                <a:solidFill>
                  <a:srgbClr val="C00000"/>
                </a:solidFill>
                <a:latin typeface="Arial"/>
                <a:cs typeface="Arial"/>
              </a:rPr>
              <a:t>e</a:t>
            </a:r>
            <a:r>
              <a:rPr sz="2100" b="1" spc="-20" dirty="0" err="1">
                <a:solidFill>
                  <a:srgbClr val="3E3E3E"/>
                </a:solidFill>
                <a:latin typeface="宋体"/>
                <a:cs typeface="宋体"/>
              </a:rPr>
              <a:t>两个关键词来分别描述上升沿和下降沿</a:t>
            </a:r>
            <a:r>
              <a:rPr sz="2100" b="1" spc="-20" dirty="0">
                <a:solidFill>
                  <a:srgbClr val="3E3E3E"/>
                </a:solidFill>
                <a:latin typeface="宋体"/>
                <a:cs typeface="宋体"/>
              </a:rPr>
              <a:t>。</a:t>
            </a:r>
            <a:endParaRPr sz="2100" dirty="0">
              <a:latin typeface="宋体"/>
              <a:cs typeface="宋体"/>
            </a:endParaRPr>
          </a:p>
          <a:p>
            <a:pPr marL="212725" marR="154940" indent="-202565" algn="just">
              <a:lnSpc>
                <a:spcPct val="150300"/>
              </a:lnSpc>
              <a:spcBef>
                <a:spcPts val="705"/>
              </a:spcBef>
              <a:buSzPct val="83333"/>
              <a:buFont typeface="Wingdings"/>
              <a:buChar char=""/>
              <a:tabLst>
                <a:tab pos="212725" algn="l"/>
                <a:tab pos="221615" algn="l"/>
              </a:tabLst>
            </a:pPr>
            <a:r>
              <a:rPr sz="2100" dirty="0">
                <a:solidFill>
                  <a:srgbClr val="EC891C"/>
                </a:solidFill>
                <a:latin typeface="Arial"/>
                <a:cs typeface="Arial"/>
              </a:rPr>
              <a:t>	</a:t>
            </a:r>
            <a:r>
              <a:rPr sz="2100" b="1" spc="-10" dirty="0">
                <a:solidFill>
                  <a:srgbClr val="3E3E3E"/>
                </a:solidFill>
                <a:latin typeface="Arial"/>
                <a:cs typeface="Arial"/>
              </a:rPr>
              <a:t>always</a:t>
            </a:r>
            <a:r>
              <a:rPr sz="2100" b="1" spc="-30" dirty="0">
                <a:solidFill>
                  <a:srgbClr val="3E3E3E"/>
                </a:solidFill>
                <a:latin typeface="宋体"/>
                <a:cs typeface="宋体"/>
              </a:rPr>
              <a:t>块可以看作一个复杂的电路部分，可以被中止和激活。当敏感列表中的信号发生变化或某一事件发生时，该部分被激活并执行内部过程语句，由于没有其</a:t>
            </a:r>
            <a:r>
              <a:rPr sz="2100" b="1" spc="-25" dirty="0">
                <a:solidFill>
                  <a:srgbClr val="3E3E3E"/>
                </a:solidFill>
                <a:latin typeface="宋体"/>
                <a:cs typeface="宋体"/>
              </a:rPr>
              <a:t>他时序控制结构，执行会一直持续到</a:t>
            </a:r>
            <a:r>
              <a:rPr sz="2100" b="1" spc="-10" dirty="0">
                <a:solidFill>
                  <a:srgbClr val="3E3E3E"/>
                </a:solidFill>
                <a:latin typeface="Arial"/>
                <a:cs typeface="Arial"/>
              </a:rPr>
              <a:t>end</a:t>
            </a:r>
            <a:r>
              <a:rPr lang="zh-CN" altLang="en-US" sz="2100" b="1" spc="-10" dirty="0">
                <a:solidFill>
                  <a:srgbClr val="3E3E3E"/>
                </a:solidFill>
                <a:latin typeface="Arial"/>
                <a:cs typeface="Arial"/>
              </a:rPr>
              <a:t>，</a:t>
            </a:r>
            <a:r>
              <a:rPr lang="en-US" altLang="zh-CN" sz="2100" b="1" spc="-10" dirty="0">
                <a:solidFill>
                  <a:srgbClr val="3E3E3E"/>
                </a:solidFill>
                <a:latin typeface="Arial"/>
                <a:cs typeface="Arial"/>
              </a:rPr>
              <a:t> always</a:t>
            </a:r>
            <a:r>
              <a:rPr lang="zh-CN" altLang="en-US" sz="2100" b="1" spc="-25" dirty="0">
                <a:solidFill>
                  <a:srgbClr val="3E3E3E"/>
                </a:solidFill>
                <a:latin typeface="宋体"/>
                <a:cs typeface="宋体"/>
              </a:rPr>
              <a:t>块</a:t>
            </a:r>
            <a:r>
              <a:rPr sz="2100" b="1" spc="-25" dirty="0">
                <a:solidFill>
                  <a:srgbClr val="3E3E3E"/>
                </a:solidFill>
                <a:latin typeface="宋体"/>
                <a:cs typeface="宋体"/>
              </a:rPr>
              <a:t>才会终止，因此，</a:t>
            </a:r>
            <a:r>
              <a:rPr sz="2100" b="1" spc="-10" dirty="0">
                <a:solidFill>
                  <a:srgbClr val="3E3E3E"/>
                </a:solidFill>
                <a:latin typeface="Arial"/>
                <a:cs typeface="Arial"/>
              </a:rPr>
              <a:t>always</a:t>
            </a:r>
            <a:r>
              <a:rPr sz="2100" b="1" spc="-30" dirty="0">
                <a:solidFill>
                  <a:srgbClr val="3E3E3E"/>
                </a:solidFill>
                <a:latin typeface="宋体"/>
                <a:cs typeface="宋体"/>
              </a:rPr>
              <a:t>块实际上</a:t>
            </a:r>
            <a:r>
              <a:rPr sz="2100" b="1" spc="-25" dirty="0">
                <a:solidFill>
                  <a:srgbClr val="3E3E3E"/>
                </a:solidFill>
                <a:latin typeface="宋体"/>
                <a:cs typeface="宋体"/>
              </a:rPr>
              <a:t>是个</a:t>
            </a:r>
            <a:r>
              <a:rPr sz="2100" b="1" dirty="0">
                <a:solidFill>
                  <a:srgbClr val="3E3E3E"/>
                </a:solidFill>
                <a:latin typeface="Arial"/>
                <a:cs typeface="Arial"/>
              </a:rPr>
              <a:t>“</a:t>
            </a:r>
            <a:r>
              <a:rPr sz="2100" b="1" spc="-25" dirty="0">
                <a:solidFill>
                  <a:srgbClr val="3E3E3E"/>
                </a:solidFill>
                <a:latin typeface="宋体"/>
                <a:cs typeface="宋体"/>
              </a:rPr>
              <a:t>永远循环</a:t>
            </a:r>
            <a:r>
              <a:rPr sz="2100" b="1" spc="-10" dirty="0">
                <a:solidFill>
                  <a:srgbClr val="3E3E3E"/>
                </a:solidFill>
                <a:latin typeface="Arial"/>
                <a:cs typeface="Arial"/>
              </a:rPr>
              <a:t>”</a:t>
            </a:r>
            <a:r>
              <a:rPr sz="2100" b="1" spc="-30" dirty="0">
                <a:solidFill>
                  <a:srgbClr val="3E3E3E"/>
                </a:solidFill>
                <a:latin typeface="宋体"/>
                <a:cs typeface="宋体"/>
              </a:rPr>
              <a:t>，每次的循环由敏感信号列表触发。</a:t>
            </a:r>
            <a:endParaRPr sz="2100" dirty="0">
              <a:latin typeface="宋体"/>
              <a:cs typeface="宋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3.1.2</a:t>
            </a:r>
            <a:r>
              <a:rPr spc="-45" dirty="0">
                <a:latin typeface="Arial"/>
                <a:cs typeface="Arial"/>
              </a:rPr>
              <a:t> </a:t>
            </a:r>
            <a:r>
              <a:rPr spc="-15" dirty="0"/>
              <a:t>过程赋值</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362844" y="1656791"/>
            <a:ext cx="9936855" cy="4967450"/>
          </a:xfrm>
          <a:prstGeom prst="rect">
            <a:avLst/>
          </a:prstGeom>
        </p:spPr>
        <p:txBody>
          <a:bodyPr vert="horz" wrap="square" lIns="0" tIns="12065" rIns="0" bIns="0" rtlCol="0">
            <a:spAutoFit/>
          </a:bodyPr>
          <a:lstStyle/>
          <a:p>
            <a:pPr marL="212725" marR="115570" indent="-202565">
              <a:lnSpc>
                <a:spcPct val="150500"/>
              </a:lnSpc>
              <a:spcBef>
                <a:spcPts val="95"/>
              </a:spcBef>
              <a:buSzPct val="83333"/>
              <a:buFont typeface="Wingdings"/>
              <a:buChar char=""/>
              <a:tabLst>
                <a:tab pos="212725" algn="l"/>
                <a:tab pos="221615" algn="l"/>
              </a:tabLst>
            </a:pPr>
            <a:r>
              <a:rPr sz="2100" dirty="0">
                <a:solidFill>
                  <a:srgbClr val="EC891C"/>
                </a:solidFill>
                <a:latin typeface="宋体"/>
                <a:cs typeface="宋体"/>
              </a:rPr>
              <a:t>	</a:t>
            </a:r>
            <a:r>
              <a:rPr sz="2100" b="1" spc="-25" dirty="0">
                <a:solidFill>
                  <a:srgbClr val="3E3E3E"/>
                </a:solidFill>
                <a:latin typeface="宋体"/>
                <a:cs typeface="宋体"/>
              </a:rPr>
              <a:t>过程赋值只能用在</a:t>
            </a:r>
            <a:r>
              <a:rPr sz="2100" b="1" spc="-10" dirty="0">
                <a:solidFill>
                  <a:srgbClr val="3E3E3E"/>
                </a:solidFill>
                <a:latin typeface="Arial"/>
                <a:cs typeface="Arial"/>
              </a:rPr>
              <a:t>always</a:t>
            </a:r>
            <a:r>
              <a:rPr sz="2100" b="1" spc="-25" dirty="0">
                <a:solidFill>
                  <a:srgbClr val="3E3E3E"/>
                </a:solidFill>
                <a:latin typeface="宋体"/>
                <a:cs typeface="宋体"/>
              </a:rPr>
              <a:t>块或</a:t>
            </a:r>
            <a:r>
              <a:rPr sz="2100" b="1" spc="-10" dirty="0">
                <a:solidFill>
                  <a:srgbClr val="3E3E3E"/>
                </a:solidFill>
                <a:latin typeface="Arial"/>
                <a:cs typeface="Arial"/>
              </a:rPr>
              <a:t>initial</a:t>
            </a:r>
            <a:r>
              <a:rPr sz="2100" b="1" spc="-30" dirty="0">
                <a:solidFill>
                  <a:srgbClr val="3E3E3E"/>
                </a:solidFill>
                <a:latin typeface="宋体"/>
                <a:cs typeface="宋体"/>
              </a:rPr>
              <a:t>块中，有两种赋值方式：阻塞赋值和非阻塞赋值，其基本语法格式如下：</a:t>
            </a:r>
            <a:endParaRPr sz="2100" dirty="0">
              <a:latin typeface="宋体"/>
              <a:cs typeface="宋体"/>
            </a:endParaRPr>
          </a:p>
          <a:p>
            <a:pPr marL="1193165">
              <a:lnSpc>
                <a:spcPct val="100000"/>
              </a:lnSpc>
              <a:spcBef>
                <a:spcPts val="600"/>
              </a:spcBef>
              <a:spcAft>
                <a:spcPts val="600"/>
              </a:spcAft>
            </a:pPr>
            <a:r>
              <a:rPr sz="2100" b="1" dirty="0">
                <a:solidFill>
                  <a:schemeClr val="tx1"/>
                </a:solidFill>
                <a:latin typeface="微软雅黑"/>
                <a:cs typeface="微软雅黑"/>
              </a:rPr>
              <a:t>阻塞赋值：</a:t>
            </a:r>
            <a:r>
              <a:rPr sz="2100" b="1" dirty="0">
                <a:solidFill>
                  <a:schemeClr val="tx1"/>
                </a:solidFill>
                <a:latin typeface="Arial"/>
                <a:cs typeface="Arial"/>
              </a:rPr>
              <a:t>[</a:t>
            </a:r>
            <a:r>
              <a:rPr sz="2100" b="1" spc="-10" dirty="0">
                <a:solidFill>
                  <a:schemeClr val="tx1"/>
                </a:solidFill>
                <a:latin typeface="微软雅黑"/>
                <a:cs typeface="微软雅黑"/>
              </a:rPr>
              <a:t>变量名</a:t>
            </a:r>
            <a:r>
              <a:rPr sz="2100" b="1" spc="-10" dirty="0">
                <a:solidFill>
                  <a:schemeClr val="tx1"/>
                </a:solidFill>
                <a:latin typeface="Arial"/>
                <a:cs typeface="Arial"/>
              </a:rPr>
              <a:t>] </a:t>
            </a:r>
            <a:r>
              <a:rPr sz="2100" b="1" spc="-10" dirty="0">
                <a:solidFill>
                  <a:srgbClr val="C00000"/>
                </a:solidFill>
                <a:latin typeface="Arial"/>
                <a:cs typeface="Arial"/>
              </a:rPr>
              <a:t>=</a:t>
            </a:r>
            <a:r>
              <a:rPr sz="2100" b="1" spc="-10" dirty="0">
                <a:solidFill>
                  <a:schemeClr val="tx1"/>
                </a:solidFill>
                <a:latin typeface="Arial"/>
                <a:cs typeface="Arial"/>
              </a:rPr>
              <a:t> [</a:t>
            </a:r>
            <a:r>
              <a:rPr sz="2100" b="1" dirty="0">
                <a:solidFill>
                  <a:schemeClr val="tx1"/>
                </a:solidFill>
                <a:latin typeface="微软雅黑"/>
                <a:cs typeface="微软雅黑"/>
              </a:rPr>
              <a:t>表达式</a:t>
            </a:r>
            <a:r>
              <a:rPr sz="2100" b="1" spc="-20" dirty="0">
                <a:solidFill>
                  <a:schemeClr val="tx1"/>
                </a:solidFill>
                <a:latin typeface="Arial"/>
                <a:cs typeface="Arial"/>
              </a:rPr>
              <a:t>] ;</a:t>
            </a:r>
            <a:endParaRPr sz="2100" dirty="0">
              <a:solidFill>
                <a:schemeClr val="tx1"/>
              </a:solidFill>
              <a:latin typeface="Arial"/>
              <a:cs typeface="Arial"/>
            </a:endParaRPr>
          </a:p>
          <a:p>
            <a:pPr marL="1193165">
              <a:lnSpc>
                <a:spcPct val="100000"/>
              </a:lnSpc>
              <a:spcBef>
                <a:spcPts val="600"/>
              </a:spcBef>
              <a:spcAft>
                <a:spcPts val="600"/>
              </a:spcAft>
            </a:pPr>
            <a:r>
              <a:rPr sz="2100" b="1" dirty="0">
                <a:solidFill>
                  <a:schemeClr val="tx1"/>
                </a:solidFill>
                <a:latin typeface="微软雅黑"/>
                <a:cs typeface="微软雅黑"/>
              </a:rPr>
              <a:t>非阻塞赋值：</a:t>
            </a:r>
            <a:r>
              <a:rPr sz="2100" b="1" dirty="0">
                <a:solidFill>
                  <a:schemeClr val="tx1"/>
                </a:solidFill>
                <a:latin typeface="Arial"/>
                <a:cs typeface="Arial"/>
              </a:rPr>
              <a:t>[</a:t>
            </a:r>
            <a:r>
              <a:rPr sz="2100" b="1" spc="-10" dirty="0">
                <a:solidFill>
                  <a:schemeClr val="tx1"/>
                </a:solidFill>
                <a:latin typeface="微软雅黑"/>
                <a:cs typeface="微软雅黑"/>
              </a:rPr>
              <a:t>变量名</a:t>
            </a:r>
            <a:r>
              <a:rPr sz="2100" b="1" spc="-10" dirty="0">
                <a:solidFill>
                  <a:schemeClr val="tx1"/>
                </a:solidFill>
                <a:latin typeface="Arial"/>
                <a:cs typeface="Arial"/>
              </a:rPr>
              <a:t>] </a:t>
            </a:r>
            <a:r>
              <a:rPr sz="2100" b="1" spc="-10" dirty="0">
                <a:solidFill>
                  <a:srgbClr val="C00000"/>
                </a:solidFill>
                <a:latin typeface="Arial"/>
                <a:cs typeface="Arial"/>
              </a:rPr>
              <a:t>&lt;=</a:t>
            </a:r>
            <a:r>
              <a:rPr sz="2100" b="1" spc="-10" dirty="0">
                <a:solidFill>
                  <a:schemeClr val="tx1"/>
                </a:solidFill>
                <a:latin typeface="Arial"/>
                <a:cs typeface="Arial"/>
              </a:rPr>
              <a:t> [</a:t>
            </a:r>
            <a:r>
              <a:rPr sz="2100" b="1" dirty="0">
                <a:solidFill>
                  <a:schemeClr val="tx1"/>
                </a:solidFill>
                <a:latin typeface="微软雅黑"/>
                <a:cs typeface="微软雅黑"/>
              </a:rPr>
              <a:t>表达式</a:t>
            </a:r>
            <a:r>
              <a:rPr sz="2100" b="1" spc="-20" dirty="0">
                <a:solidFill>
                  <a:schemeClr val="tx1"/>
                </a:solidFill>
                <a:latin typeface="Arial"/>
                <a:cs typeface="Arial"/>
              </a:rPr>
              <a:t>] ;</a:t>
            </a:r>
            <a:endParaRPr sz="2100" dirty="0">
              <a:solidFill>
                <a:schemeClr val="tx1"/>
              </a:solidFill>
              <a:latin typeface="Arial"/>
              <a:cs typeface="Arial"/>
            </a:endParaRPr>
          </a:p>
          <a:p>
            <a:pPr marL="212725" marR="74295" indent="-202565">
              <a:lnSpc>
                <a:spcPct val="150200"/>
              </a:lnSpc>
              <a:spcBef>
                <a:spcPts val="700"/>
              </a:spcBef>
              <a:buSzPct val="83333"/>
              <a:buFont typeface="Wingdings"/>
              <a:buChar char=""/>
              <a:tabLst>
                <a:tab pos="212725" algn="l"/>
                <a:tab pos="221615" algn="l"/>
              </a:tabLst>
            </a:pPr>
            <a:r>
              <a:rPr sz="2100" dirty="0">
                <a:solidFill>
                  <a:srgbClr val="EC891C"/>
                </a:solidFill>
                <a:latin typeface="宋体"/>
                <a:cs typeface="宋体"/>
              </a:rPr>
              <a:t>	</a:t>
            </a:r>
            <a:r>
              <a:rPr sz="2100" b="1" spc="-30" dirty="0" err="1">
                <a:solidFill>
                  <a:srgbClr val="3E3E3E"/>
                </a:solidFill>
                <a:latin typeface="宋体"/>
                <a:cs typeface="宋体"/>
              </a:rPr>
              <a:t>阻塞赋值</a:t>
            </a:r>
            <a:r>
              <a:rPr lang="zh-CN" altLang="en-US" sz="2100" b="1" spc="-30" dirty="0">
                <a:solidFill>
                  <a:srgbClr val="3E3E3E"/>
                </a:solidFill>
                <a:latin typeface="宋体"/>
                <a:cs typeface="宋体"/>
              </a:rPr>
              <a:t>：按顺序执行，一条阻塞赋值语句执行结束后，才能继续执行下一条阻塞赋值语句（或者其他行为语句）；阻塞赋值语句执行结束后，左侧值会立刻改变；</a:t>
            </a:r>
            <a:r>
              <a:rPr sz="2100" b="1" spc="-25" dirty="0" err="1">
                <a:solidFill>
                  <a:srgbClr val="3E3E3E"/>
                </a:solidFill>
                <a:latin typeface="宋体"/>
                <a:cs typeface="宋体"/>
              </a:rPr>
              <a:t>可以理解为赋值阻断了其他语句的执行，与</a:t>
            </a:r>
            <a:r>
              <a:rPr sz="2100" b="1" dirty="0" err="1">
                <a:solidFill>
                  <a:srgbClr val="3E3E3E"/>
                </a:solidFill>
                <a:latin typeface="Arial"/>
                <a:cs typeface="Arial"/>
              </a:rPr>
              <a:t>C</a:t>
            </a:r>
            <a:r>
              <a:rPr sz="2100" b="1" spc="-30" dirty="0" err="1">
                <a:solidFill>
                  <a:srgbClr val="3E3E3E"/>
                </a:solidFill>
                <a:latin typeface="宋体"/>
                <a:cs typeface="宋体"/>
              </a:rPr>
              <a:t>语言中的正常变量赋值行为相似</a:t>
            </a:r>
            <a:r>
              <a:rPr sz="2100" b="1" spc="-30" dirty="0">
                <a:solidFill>
                  <a:srgbClr val="3E3E3E"/>
                </a:solidFill>
                <a:latin typeface="宋体"/>
                <a:cs typeface="宋体"/>
              </a:rPr>
              <a:t>。</a:t>
            </a:r>
            <a:endParaRPr sz="2100" dirty="0">
              <a:latin typeface="宋体"/>
              <a:cs typeface="宋体"/>
            </a:endParaRPr>
          </a:p>
          <a:p>
            <a:pPr marL="212725" marR="5080" indent="-202565">
              <a:lnSpc>
                <a:spcPct val="150200"/>
              </a:lnSpc>
              <a:spcBef>
                <a:spcPts val="705"/>
              </a:spcBef>
              <a:buSzPct val="83333"/>
              <a:buFont typeface="Wingdings"/>
              <a:buChar char=""/>
              <a:tabLst>
                <a:tab pos="212725" algn="l"/>
                <a:tab pos="221615" algn="l"/>
              </a:tabLst>
            </a:pPr>
            <a:r>
              <a:rPr sz="2100" dirty="0">
                <a:solidFill>
                  <a:srgbClr val="EC891C"/>
                </a:solidFill>
                <a:latin typeface="宋体"/>
                <a:cs typeface="宋体"/>
              </a:rPr>
              <a:t>	</a:t>
            </a:r>
            <a:r>
              <a:rPr sz="2100" b="1" spc="-25" dirty="0" err="1">
                <a:solidFill>
                  <a:srgbClr val="3E3E3E"/>
                </a:solidFill>
                <a:latin typeface="宋体"/>
                <a:cs typeface="宋体"/>
              </a:rPr>
              <a:t>非阻塞赋值</a:t>
            </a:r>
            <a:r>
              <a:rPr lang="zh-CN" altLang="en-US" sz="2100" b="1" spc="-25" dirty="0">
                <a:solidFill>
                  <a:srgbClr val="3E3E3E"/>
                </a:solidFill>
                <a:latin typeface="宋体"/>
                <a:cs typeface="宋体"/>
              </a:rPr>
              <a:t>：非阻塞赋值与其后的语句并行执行；同一时间点，前面语句的赋值不能立刻被后面语句使用；赋值是在一个时间点结束的时候统一完成的；</a:t>
            </a:r>
            <a:r>
              <a:rPr sz="2100" b="1" spc="-30" dirty="0" err="1">
                <a:solidFill>
                  <a:srgbClr val="3E3E3E"/>
                </a:solidFill>
                <a:latin typeface="宋体"/>
                <a:cs typeface="宋体"/>
              </a:rPr>
              <a:t>这种情况下赋值没有阻断其他语句的执行</a:t>
            </a:r>
            <a:r>
              <a:rPr sz="2100" b="1" spc="-30" dirty="0">
                <a:solidFill>
                  <a:srgbClr val="3E3E3E"/>
                </a:solidFill>
                <a:latin typeface="宋体"/>
                <a:cs typeface="宋体"/>
              </a:rPr>
              <a:t>。</a:t>
            </a:r>
            <a:endParaRPr sz="2100" dirty="0">
              <a:latin typeface="宋体"/>
              <a:cs typeface="宋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145FE-2925-288B-AFFB-B8AFB90D538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545E72-54D6-3FD8-956D-7EDAD07EAD15}"/>
              </a:ext>
            </a:extLst>
          </p:cNvPr>
          <p:cNvSpPr txBox="1">
            <a:spLocks noGrp="1"/>
          </p:cNvSpPr>
          <p:nvPr>
            <p:ph type="title"/>
          </p:nvPr>
        </p:nvSpPr>
        <p:spPr>
          <a:xfrm>
            <a:off x="523627" y="1112012"/>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3.1.2</a:t>
            </a:r>
            <a:r>
              <a:rPr spc="-45" dirty="0">
                <a:latin typeface="Arial"/>
                <a:cs typeface="Arial"/>
              </a:rPr>
              <a:t> </a:t>
            </a:r>
            <a:r>
              <a:rPr spc="-15" dirty="0"/>
              <a:t>过程赋值</a:t>
            </a:r>
          </a:p>
        </p:txBody>
      </p:sp>
      <p:sp>
        <p:nvSpPr>
          <p:cNvPr id="4" name="object 4">
            <a:extLst>
              <a:ext uri="{FF2B5EF4-FFF2-40B4-BE49-F238E27FC236}">
                <a16:creationId xmlns:a16="http://schemas.microsoft.com/office/drawing/2014/main" id="{4B190EED-B396-B220-D406-A39EE09E54DC}"/>
              </a:ext>
            </a:extLst>
          </p:cNvPr>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内容占位符 2" descr="Rectangle: Click to edit Master text styles&#10;Second level&#10;Third level&#10;Fourth level&#10;Fifth level">
            <a:extLst>
              <a:ext uri="{FF2B5EF4-FFF2-40B4-BE49-F238E27FC236}">
                <a16:creationId xmlns:a16="http://schemas.microsoft.com/office/drawing/2014/main" id="{EAB4FA0D-29E8-768A-1E5C-496CCA52186F}"/>
              </a:ext>
            </a:extLst>
          </p:cNvPr>
          <p:cNvSpPr txBox="1">
            <a:spLocks/>
          </p:cNvSpPr>
          <p:nvPr/>
        </p:nvSpPr>
        <p:spPr>
          <a:xfrm>
            <a:off x="850900" y="1712452"/>
            <a:ext cx="4711700" cy="4755148"/>
          </a:xfrm>
          <a:prstGeom prst="rect">
            <a:avLst/>
          </a:prstGeom>
        </p:spPr>
        <p:txBody>
          <a:bodyPr wrap="square" lIns="0" tIns="0" rIns="0" bIns="0" anchor="t">
            <a:spAutoFit/>
          </a:bodyPr>
          <a:lstStyle>
            <a:lvl1pPr marL="0">
              <a:defRPr sz="2100" b="0" i="0">
                <a:solidFill>
                  <a:schemeClr val="tx1"/>
                </a:solidFill>
                <a:latin typeface="微软雅黑"/>
                <a:ea typeface="+mn-ea"/>
                <a:cs typeface="微软雅黑"/>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pPr>
            <a:r>
              <a:rPr lang="zh-CN" altLang="en-US" b="1" spc="-25" noProof="1">
                <a:solidFill>
                  <a:srgbClr val="3E3E3E"/>
                </a:solidFill>
                <a:latin typeface="宋体"/>
              </a:rPr>
              <a:t>例</a:t>
            </a:r>
            <a:r>
              <a:rPr lang="en-US" altLang="zh-CN" b="1" spc="-25" noProof="1">
                <a:solidFill>
                  <a:srgbClr val="3E3E3E"/>
                </a:solidFill>
                <a:latin typeface="宋体"/>
              </a:rPr>
              <a:t>1</a:t>
            </a:r>
            <a:r>
              <a:rPr lang="zh-CN" altLang="en-US" b="1" spc="-25" noProof="1">
                <a:solidFill>
                  <a:srgbClr val="3E3E3E"/>
                </a:solidFill>
                <a:latin typeface="宋体"/>
              </a:rPr>
              <a:t>：非阻塞赋值</a:t>
            </a:r>
          </a:p>
          <a:p>
            <a:pPr lvl="1" algn="l" rtl="0" eaLnBrk="0" fontAlgn="base" hangingPunct="0">
              <a:spcBef>
                <a:spcPct val="20000"/>
              </a:spcBef>
              <a:spcAft>
                <a:spcPct val="0"/>
              </a:spcAft>
              <a:buClr>
                <a:schemeClr val="tx1"/>
              </a:buClr>
              <a:buSzPct val="60000"/>
            </a:pPr>
            <a:r>
              <a:rPr kumimoji="1" lang="en-US" altLang="zh-CN" sz="2400" noProof="1">
                <a:solidFill>
                  <a:srgbClr val="4B51A5"/>
                </a:solidFill>
                <a:cs typeface="+mn-ea"/>
              </a:rPr>
              <a:t>module n_block(clk,a,b,c);</a:t>
            </a:r>
          </a:p>
          <a:p>
            <a:pPr lvl="1" algn="l" rtl="0" eaLnBrk="0" fontAlgn="base" hangingPunct="0">
              <a:spcBef>
                <a:spcPct val="20000"/>
              </a:spcBef>
              <a:spcAft>
                <a:spcPct val="0"/>
              </a:spcAft>
              <a:buClr>
                <a:schemeClr val="tx1"/>
              </a:buClr>
              <a:buSzPct val="60000"/>
            </a:pPr>
            <a:r>
              <a:rPr kumimoji="1" lang="en-US" altLang="zh-CN" sz="2400" noProof="1">
                <a:solidFill>
                  <a:srgbClr val="4B51A5"/>
                </a:solidFill>
                <a:cs typeface="+mn-ea"/>
              </a:rPr>
              <a:t>	input clk,a;</a:t>
            </a:r>
          </a:p>
          <a:p>
            <a:pPr lvl="1" algn="l" rtl="0" eaLnBrk="0" fontAlgn="base" hangingPunct="0">
              <a:spcBef>
                <a:spcPct val="20000"/>
              </a:spcBef>
              <a:spcAft>
                <a:spcPct val="0"/>
              </a:spcAft>
              <a:buClr>
                <a:schemeClr val="tx1"/>
              </a:buClr>
              <a:buSzPct val="60000"/>
            </a:pPr>
            <a:r>
              <a:rPr kumimoji="1" lang="en-US" altLang="zh-CN" sz="2400" noProof="1">
                <a:solidFill>
                  <a:srgbClr val="4B51A5"/>
                </a:solidFill>
                <a:cs typeface="+mn-ea"/>
              </a:rPr>
              <a:t>	output b,c;</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reg b,c;</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always @(posedge clk)</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begin</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b&lt;=a;</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c&lt;=b;</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	end;</a:t>
            </a:r>
          </a:p>
          <a:p>
            <a:pPr lvl="1" algn="l" rtl="0" eaLnBrk="0" fontAlgn="base" hangingPunct="0">
              <a:spcBef>
                <a:spcPct val="20000"/>
              </a:spcBef>
              <a:spcAft>
                <a:spcPct val="0"/>
              </a:spcAft>
              <a:buClr>
                <a:schemeClr val="tx1"/>
              </a:buClr>
              <a:buSzPct val="60000"/>
              <a:buFont typeface="Wingdings" panose="05000000000000000000" pitchFamily="2" charset="2"/>
              <a:buNone/>
            </a:pPr>
            <a:r>
              <a:rPr kumimoji="1" lang="en-US" altLang="zh-CN" sz="2400" noProof="1">
                <a:solidFill>
                  <a:srgbClr val="4B51A5"/>
                </a:solidFill>
                <a:cs typeface="+mn-ea"/>
              </a:rPr>
              <a:t>endmodule</a:t>
            </a:r>
            <a:endParaRPr kumimoji="1" lang="zh-CN" altLang="en-US" sz="3600" noProof="1">
              <a:solidFill>
                <a:srgbClr val="4B51A5"/>
              </a:solidFill>
              <a:latin typeface="+mn-lt"/>
              <a:cs typeface="+mn-cs"/>
            </a:endParaRPr>
          </a:p>
        </p:txBody>
      </p:sp>
      <p:sp>
        <p:nvSpPr>
          <p:cNvPr id="6" name="内容占位符 2" descr="Rectangle: Click to edit Master text styles&#10;Second level&#10;Third level&#10;Fourth level&#10;Fifth level">
            <a:extLst>
              <a:ext uri="{FF2B5EF4-FFF2-40B4-BE49-F238E27FC236}">
                <a16:creationId xmlns:a16="http://schemas.microsoft.com/office/drawing/2014/main" id="{A8577ED0-EB2A-5E00-1773-D6D94A049E2A}"/>
              </a:ext>
            </a:extLst>
          </p:cNvPr>
          <p:cNvSpPr>
            <a:spLocks noGrp="1"/>
          </p:cNvSpPr>
          <p:nvPr/>
        </p:nvSpPr>
        <p:spPr>
          <a:xfrm>
            <a:off x="5265738" y="1712452"/>
            <a:ext cx="4491038" cy="4676775"/>
          </a:xfrm>
          <a:prstGeom prst="rect">
            <a:avLst/>
          </a:prstGeom>
          <a:noFill/>
          <a:ln w="9525">
            <a:noFill/>
          </a:ln>
        </p:spPr>
        <p:txBody>
          <a:bodyPr anchor="t"/>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fontAlgn="base"/>
            <a:r>
              <a:rPr lang="zh-CN" altLang="en-US" sz="2100" b="1" spc="-25" noProof="1">
                <a:solidFill>
                  <a:srgbClr val="3E3E3E"/>
                </a:solidFill>
                <a:latin typeface="宋体"/>
              </a:rPr>
              <a:t>例</a:t>
            </a:r>
            <a:r>
              <a:rPr lang="en-US" altLang="zh-CN" sz="2100" b="1" spc="-25" noProof="1">
                <a:solidFill>
                  <a:srgbClr val="3E3E3E"/>
                </a:solidFill>
                <a:latin typeface="宋体"/>
              </a:rPr>
              <a:t>2</a:t>
            </a:r>
            <a:r>
              <a:rPr lang="zh-CN" altLang="en-US" sz="2100" b="1" spc="-25" noProof="1">
                <a:solidFill>
                  <a:srgbClr val="3E3E3E"/>
                </a:solidFill>
                <a:latin typeface="宋体"/>
              </a:rPr>
              <a:t>：阻塞赋值</a:t>
            </a:r>
          </a:p>
          <a:p>
            <a:pPr marL="457200" lvl="1" indent="0" fontAlgn="base">
              <a:buNone/>
            </a:pPr>
            <a:r>
              <a:rPr lang="en-US" altLang="zh-CN" sz="2400" strike="noStrike" noProof="1">
                <a:latin typeface="+mn-lt"/>
                <a:ea typeface="+mn-ea"/>
                <a:cs typeface="+mn-cs"/>
              </a:rPr>
              <a:t>module block(clk,a,b,c);</a:t>
            </a:r>
            <a:endParaRPr lang="en-US" altLang="zh-CN" sz="2400" strike="noStrike" noProof="1"/>
          </a:p>
          <a:p>
            <a:pPr marL="457200" lvl="1" indent="0" fontAlgn="base">
              <a:buNone/>
            </a:pPr>
            <a:r>
              <a:rPr lang="en-US" altLang="zh-CN" sz="2400" strike="noStrike" noProof="1">
                <a:latin typeface="+mn-lt"/>
                <a:ea typeface="+mn-ea"/>
                <a:cs typeface="+mn-cs"/>
              </a:rPr>
              <a:t>	input clk,a;</a:t>
            </a:r>
            <a:endParaRPr lang="en-US" altLang="zh-CN" sz="2400" strike="noStrike" noProof="1"/>
          </a:p>
          <a:p>
            <a:pPr marL="457200" lvl="1" indent="0" fontAlgn="base">
              <a:buNone/>
            </a:pPr>
            <a:r>
              <a:rPr lang="en-US" altLang="zh-CN" sz="2400" strike="noStrike" noProof="1">
                <a:latin typeface="+mn-lt"/>
                <a:ea typeface="+mn-ea"/>
                <a:cs typeface="+mn-cs"/>
              </a:rPr>
              <a:t>	output b,c;</a:t>
            </a:r>
            <a:endParaRPr lang="en-US" altLang="zh-CN" sz="2400" strike="noStrike" noProof="1"/>
          </a:p>
          <a:p>
            <a:pPr marL="457200" lvl="1" indent="0" fontAlgn="base">
              <a:buNone/>
            </a:pPr>
            <a:r>
              <a:rPr lang="en-US" altLang="zh-CN" sz="2400" strike="noStrike" noProof="1">
                <a:latin typeface="+mn-lt"/>
                <a:ea typeface="+mn-ea"/>
                <a:cs typeface="+mn-cs"/>
              </a:rPr>
              <a:t>	reg b,c;</a:t>
            </a:r>
            <a:endParaRPr lang="en-US" altLang="zh-CN" sz="2400" strike="noStrike" noProof="1"/>
          </a:p>
          <a:p>
            <a:pPr marL="457200" lvl="1" indent="0" fontAlgn="base">
              <a:buNone/>
            </a:pPr>
            <a:r>
              <a:rPr lang="en-US" altLang="zh-CN" sz="2400" strike="noStrike" noProof="1">
                <a:latin typeface="+mn-lt"/>
                <a:ea typeface="+mn-ea"/>
                <a:cs typeface="+mn-cs"/>
              </a:rPr>
              <a:t>	always @(posedge clk)</a:t>
            </a:r>
            <a:endParaRPr lang="en-US" altLang="zh-CN" sz="2400" strike="noStrike" noProof="1"/>
          </a:p>
          <a:p>
            <a:pPr marL="457200" lvl="1" indent="0" fontAlgn="base">
              <a:buNone/>
            </a:pPr>
            <a:r>
              <a:rPr lang="en-US" altLang="zh-CN" sz="2400" strike="noStrike" noProof="1">
                <a:latin typeface="+mn-lt"/>
                <a:ea typeface="+mn-ea"/>
                <a:cs typeface="+mn-cs"/>
              </a:rPr>
              <a:t>	begin</a:t>
            </a:r>
            <a:endParaRPr lang="en-US" altLang="zh-CN" sz="2400" strike="noStrike" noProof="1"/>
          </a:p>
          <a:p>
            <a:pPr marL="457200" lvl="1" indent="0" fontAlgn="base">
              <a:buNone/>
            </a:pPr>
            <a:r>
              <a:rPr lang="en-US" altLang="zh-CN" sz="2400" strike="noStrike" noProof="1">
                <a:latin typeface="+mn-lt"/>
                <a:ea typeface="+mn-ea"/>
                <a:cs typeface="+mn-cs"/>
              </a:rPr>
              <a:t>		b=a;</a:t>
            </a:r>
            <a:endParaRPr lang="en-US" altLang="zh-CN" sz="2400" strike="noStrike" noProof="1"/>
          </a:p>
          <a:p>
            <a:pPr marL="457200" lvl="1" indent="0" fontAlgn="base">
              <a:buNone/>
            </a:pPr>
            <a:r>
              <a:rPr lang="en-US" altLang="zh-CN" sz="2400" strike="noStrike" noProof="1">
                <a:latin typeface="+mn-lt"/>
                <a:ea typeface="+mn-ea"/>
                <a:cs typeface="+mn-cs"/>
              </a:rPr>
              <a:t>		c=b;</a:t>
            </a:r>
            <a:endParaRPr lang="en-US" altLang="zh-CN" sz="2400" strike="noStrike" noProof="1"/>
          </a:p>
          <a:p>
            <a:pPr marL="457200" lvl="1" indent="0" fontAlgn="base">
              <a:buNone/>
            </a:pPr>
            <a:r>
              <a:rPr lang="en-US" altLang="zh-CN" sz="2400" strike="noStrike" noProof="1">
                <a:latin typeface="+mn-lt"/>
                <a:ea typeface="+mn-ea"/>
                <a:cs typeface="+mn-cs"/>
              </a:rPr>
              <a:t>	end;</a:t>
            </a:r>
            <a:endParaRPr lang="en-US" altLang="zh-CN" sz="2400" strike="noStrike" noProof="1"/>
          </a:p>
          <a:p>
            <a:pPr lvl="1">
              <a:buNone/>
            </a:pPr>
            <a:r>
              <a:rPr lang="en-US" altLang="zh-CN" sz="2400" strike="noStrike" noProof="1">
                <a:latin typeface="+mn-lt"/>
                <a:ea typeface="+mn-ea"/>
                <a:cs typeface="+mn-cs"/>
              </a:rPr>
              <a:t>endmodule</a:t>
            </a:r>
            <a:endParaRPr lang="zh-CN" altLang="en-US" strike="noStrike" noProof="1"/>
          </a:p>
        </p:txBody>
      </p:sp>
      <p:sp>
        <p:nvSpPr>
          <p:cNvPr id="8" name="内容占位符 2" descr="Rectangle: Click to edit Master text styles&#10;Second level&#10;Third level&#10;Fourth level&#10;Fifth level">
            <a:extLst>
              <a:ext uri="{FF2B5EF4-FFF2-40B4-BE49-F238E27FC236}">
                <a16:creationId xmlns:a16="http://schemas.microsoft.com/office/drawing/2014/main" id="{C90FD4B4-F254-9886-4852-AEA9CE9B7B7D}"/>
              </a:ext>
            </a:extLst>
          </p:cNvPr>
          <p:cNvSpPr txBox="1">
            <a:spLocks/>
          </p:cNvSpPr>
          <p:nvPr/>
        </p:nvSpPr>
        <p:spPr>
          <a:xfrm>
            <a:off x="825499" y="6731981"/>
            <a:ext cx="4711700" cy="646331"/>
          </a:xfrm>
          <a:prstGeom prst="rect">
            <a:avLst/>
          </a:prstGeom>
        </p:spPr>
        <p:txBody>
          <a:bodyPr wrap="square" lIns="0" tIns="0" rIns="0" bIns="0" anchor="t">
            <a:spAutoFit/>
          </a:bodyPr>
          <a:lstStyle>
            <a:lvl1pPr marL="0">
              <a:defRPr sz="2100" b="0" i="0">
                <a:solidFill>
                  <a:schemeClr val="tx1"/>
                </a:solidFill>
                <a:latin typeface="微软雅黑"/>
                <a:ea typeface="+mn-ea"/>
                <a:cs typeface="微软雅黑"/>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lgn="l" rtl="0" eaLnBrk="0" fontAlgn="base" hangingPunct="0">
              <a:spcBef>
                <a:spcPct val="20000"/>
              </a:spcBef>
              <a:spcAft>
                <a:spcPct val="0"/>
              </a:spcAft>
              <a:buClr>
                <a:schemeClr val="tx1"/>
              </a:buClr>
              <a:buSzPct val="60000"/>
              <a:buFont typeface="Wingdings" panose="05000000000000000000" pitchFamily="2" charset="2"/>
              <a:buNone/>
            </a:pPr>
            <a:r>
              <a:rPr lang="zh-CN" altLang="en-US" sz="2100" b="1" spc="-25" noProof="1">
                <a:solidFill>
                  <a:srgbClr val="3E3E3E"/>
                </a:solidFill>
                <a:latin typeface="宋体"/>
              </a:rPr>
              <a:t>结果：</a:t>
            </a:r>
            <a:r>
              <a:rPr kumimoji="1" lang="en-US" altLang="zh-CN" sz="2100" b="1" noProof="1">
                <a:solidFill>
                  <a:srgbClr val="C00000"/>
                </a:solidFill>
                <a:cs typeface="+mn-ea"/>
              </a:rPr>
              <a:t>b</a:t>
            </a:r>
            <a:r>
              <a:rPr kumimoji="1" lang="zh-CN" altLang="en-US" sz="2100" b="1" noProof="1">
                <a:solidFill>
                  <a:srgbClr val="C00000"/>
                </a:solidFill>
                <a:cs typeface="+mn-ea"/>
              </a:rPr>
              <a:t>更新为</a:t>
            </a:r>
            <a:r>
              <a:rPr kumimoji="1" lang="en-US" altLang="zh-CN" sz="2100" b="1" noProof="1">
                <a:solidFill>
                  <a:srgbClr val="C00000"/>
                </a:solidFill>
                <a:cs typeface="+mn-ea"/>
              </a:rPr>
              <a:t>a</a:t>
            </a:r>
            <a:r>
              <a:rPr kumimoji="1" lang="zh-CN" altLang="en-US" sz="2100" b="1" noProof="1">
                <a:solidFill>
                  <a:srgbClr val="C00000"/>
                </a:solidFill>
                <a:cs typeface="+mn-ea"/>
              </a:rPr>
              <a:t>的值，</a:t>
            </a:r>
            <a:r>
              <a:rPr kumimoji="1" lang="en-US" altLang="zh-CN" sz="2100" b="1" noProof="1">
                <a:solidFill>
                  <a:srgbClr val="C00000"/>
                </a:solidFill>
                <a:cs typeface="+mn-ea"/>
              </a:rPr>
              <a:t>c</a:t>
            </a:r>
            <a:r>
              <a:rPr kumimoji="1" lang="zh-CN" altLang="en-US" sz="2100" b="1" noProof="1">
                <a:solidFill>
                  <a:srgbClr val="C00000"/>
                </a:solidFill>
                <a:cs typeface="+mn-ea"/>
              </a:rPr>
              <a:t>为上个时钟周期</a:t>
            </a:r>
            <a:r>
              <a:rPr kumimoji="1" lang="en-US" altLang="zh-CN" sz="2100" b="1" noProof="1">
                <a:solidFill>
                  <a:srgbClr val="C00000"/>
                </a:solidFill>
                <a:cs typeface="+mn-ea"/>
              </a:rPr>
              <a:t>b</a:t>
            </a:r>
            <a:r>
              <a:rPr kumimoji="1" lang="zh-CN" altLang="en-US" sz="2100" b="1" noProof="1">
                <a:solidFill>
                  <a:srgbClr val="C00000"/>
                </a:solidFill>
                <a:cs typeface="+mn-ea"/>
              </a:rPr>
              <a:t>的值。</a:t>
            </a:r>
            <a:endParaRPr kumimoji="1" lang="zh-CN" altLang="en-US" sz="3600" noProof="1">
              <a:solidFill>
                <a:srgbClr val="4B51A5"/>
              </a:solidFill>
              <a:latin typeface="+mn-lt"/>
              <a:cs typeface="+mn-cs"/>
            </a:endParaRPr>
          </a:p>
        </p:txBody>
      </p:sp>
      <p:sp>
        <p:nvSpPr>
          <p:cNvPr id="10" name="内容占位符 2" descr="Rectangle: Click to edit Master text styles&#10;Second level&#10;Third level&#10;Fourth level&#10;Fifth level">
            <a:extLst>
              <a:ext uri="{FF2B5EF4-FFF2-40B4-BE49-F238E27FC236}">
                <a16:creationId xmlns:a16="http://schemas.microsoft.com/office/drawing/2014/main" id="{B4B861C6-64EF-01F3-B0CB-27653BB8C53D}"/>
              </a:ext>
            </a:extLst>
          </p:cNvPr>
          <p:cNvSpPr>
            <a:spLocks noGrp="1"/>
          </p:cNvSpPr>
          <p:nvPr/>
        </p:nvSpPr>
        <p:spPr>
          <a:xfrm>
            <a:off x="5202767" y="6677025"/>
            <a:ext cx="4491038" cy="508137"/>
          </a:xfrm>
          <a:prstGeom prst="rect">
            <a:avLst/>
          </a:prstGeom>
          <a:noFill/>
          <a:ln w="9525">
            <a:noFill/>
          </a:ln>
        </p:spPr>
        <p:txBody>
          <a:bodyPr anchor="t"/>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lvl="1">
              <a:spcBef>
                <a:spcPts val="0"/>
              </a:spcBef>
              <a:buNone/>
            </a:pPr>
            <a:r>
              <a:rPr lang="zh-CN" altLang="en-US" sz="2100" b="1" spc="-25" noProof="1">
                <a:solidFill>
                  <a:srgbClr val="3E3E3E"/>
                </a:solidFill>
                <a:latin typeface="宋体"/>
              </a:rPr>
              <a:t>结果：</a:t>
            </a:r>
            <a:r>
              <a:rPr lang="en-US" altLang="zh-CN" sz="2100" b="1" strike="noStrike" noProof="1">
                <a:solidFill>
                  <a:srgbClr val="C00000"/>
                </a:solidFill>
                <a:latin typeface="+mn-lt"/>
                <a:ea typeface="+mn-ea"/>
                <a:cs typeface="+mn-cs"/>
              </a:rPr>
              <a:t>b</a:t>
            </a:r>
            <a:r>
              <a:rPr lang="zh-CN" altLang="en-US" sz="2100" b="1" strike="noStrike" noProof="1">
                <a:solidFill>
                  <a:srgbClr val="C00000"/>
                </a:solidFill>
                <a:latin typeface="+mn-lt"/>
                <a:ea typeface="+mn-ea"/>
                <a:cs typeface="+mn-cs"/>
              </a:rPr>
              <a:t>、</a:t>
            </a:r>
            <a:r>
              <a:rPr lang="en-US" altLang="zh-CN" sz="2100" b="1" strike="noStrike" noProof="1">
                <a:solidFill>
                  <a:srgbClr val="C00000"/>
                </a:solidFill>
                <a:latin typeface="+mn-lt"/>
                <a:ea typeface="+mn-ea"/>
                <a:cs typeface="+mn-cs"/>
              </a:rPr>
              <a:t>c</a:t>
            </a:r>
            <a:r>
              <a:rPr lang="zh-CN" altLang="en-US" sz="2100" b="1" strike="noStrike" noProof="1">
                <a:solidFill>
                  <a:srgbClr val="C00000"/>
                </a:solidFill>
                <a:latin typeface="+mn-lt"/>
                <a:ea typeface="+mn-ea"/>
                <a:cs typeface="+mn-cs"/>
              </a:rPr>
              <a:t>更新为</a:t>
            </a:r>
            <a:r>
              <a:rPr lang="en-US" altLang="zh-CN" sz="2100" b="1" strike="noStrike" noProof="1">
                <a:solidFill>
                  <a:srgbClr val="C00000"/>
                </a:solidFill>
                <a:latin typeface="+mn-lt"/>
                <a:ea typeface="+mn-ea"/>
                <a:cs typeface="+mn-cs"/>
              </a:rPr>
              <a:t>a</a:t>
            </a:r>
            <a:r>
              <a:rPr lang="zh-CN" altLang="en-US" sz="2100" b="1" strike="noStrike" noProof="1">
                <a:solidFill>
                  <a:srgbClr val="C00000"/>
                </a:solidFill>
                <a:latin typeface="+mn-lt"/>
                <a:ea typeface="+mn-ea"/>
                <a:cs typeface="+mn-cs"/>
              </a:rPr>
              <a:t>的值。</a:t>
            </a:r>
            <a:endParaRPr lang="zh-CN" altLang="en-US" strike="noStrike" noProof="1"/>
          </a:p>
        </p:txBody>
      </p:sp>
    </p:spTree>
    <p:extLst>
      <p:ext uri="{BB962C8B-B14F-4D97-AF65-F5344CB8AC3E}">
        <p14:creationId xmlns:p14="http://schemas.microsoft.com/office/powerpoint/2010/main" val="553031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3C639-6FEC-5161-FC7F-C19ED13D15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D8D5ADE-3EC7-2426-3489-5DB456DAA168}"/>
              </a:ext>
            </a:extLst>
          </p:cNvPr>
          <p:cNvSpPr txBox="1">
            <a:spLocks noGrp="1"/>
          </p:cNvSpPr>
          <p:nvPr>
            <p:ph type="title"/>
          </p:nvPr>
        </p:nvSpPr>
        <p:spPr>
          <a:xfrm>
            <a:off x="523627" y="1112012"/>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3.1.2</a:t>
            </a:r>
            <a:r>
              <a:rPr spc="-45" dirty="0">
                <a:latin typeface="Arial"/>
                <a:cs typeface="Arial"/>
              </a:rPr>
              <a:t> </a:t>
            </a:r>
            <a:r>
              <a:rPr spc="-15" dirty="0"/>
              <a:t>过程赋值</a:t>
            </a:r>
          </a:p>
        </p:txBody>
      </p:sp>
      <p:sp>
        <p:nvSpPr>
          <p:cNvPr id="4" name="object 4">
            <a:extLst>
              <a:ext uri="{FF2B5EF4-FFF2-40B4-BE49-F238E27FC236}">
                <a16:creationId xmlns:a16="http://schemas.microsoft.com/office/drawing/2014/main" id="{89AB5112-18DF-33C3-D0B2-769FFC9D8DC3}"/>
              </a:ext>
            </a:extLst>
          </p:cNvPr>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流程图: 资料带 60">
            <a:extLst>
              <a:ext uri="{FF2B5EF4-FFF2-40B4-BE49-F238E27FC236}">
                <a16:creationId xmlns:a16="http://schemas.microsoft.com/office/drawing/2014/main" id="{22FD63A9-2570-B0A8-A43A-AB49C8FC1AA6}"/>
              </a:ext>
            </a:extLst>
          </p:cNvPr>
          <p:cNvSpPr/>
          <p:nvPr/>
        </p:nvSpPr>
        <p:spPr>
          <a:xfrm>
            <a:off x="2366432" y="6622611"/>
            <a:ext cx="3240088" cy="504825"/>
          </a:xfrm>
          <a:prstGeom prst="flowChartPunchedTape">
            <a:avLst/>
          </a:prstGeom>
          <a:solidFill>
            <a:srgbClr val="FFC000"/>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sp>
        <p:nvSpPr>
          <p:cNvPr id="7" name="流程图: 资料带 57">
            <a:extLst>
              <a:ext uri="{FF2B5EF4-FFF2-40B4-BE49-F238E27FC236}">
                <a16:creationId xmlns:a16="http://schemas.microsoft.com/office/drawing/2014/main" id="{A84E2295-5B9A-9CFD-2E4E-BD58746DB8F5}"/>
              </a:ext>
            </a:extLst>
          </p:cNvPr>
          <p:cNvSpPr/>
          <p:nvPr/>
        </p:nvSpPr>
        <p:spPr>
          <a:xfrm>
            <a:off x="2314575" y="4458357"/>
            <a:ext cx="3240088" cy="504825"/>
          </a:xfrm>
          <a:prstGeom prst="flowChartPunchedTape">
            <a:avLst/>
          </a:prstGeom>
          <a:solidFill>
            <a:srgbClr val="FFC000"/>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solidFill>
                <a:srgbClr val="FFC000"/>
              </a:solidFill>
              <a:latin typeface="Tahoma" panose="020B0604030504040204" pitchFamily="34" charset="0"/>
              <a:ea typeface="宋体" panose="02010600030101010101" pitchFamily="2" charset="-122"/>
            </a:endParaRPr>
          </a:p>
        </p:txBody>
      </p:sp>
      <p:sp>
        <p:nvSpPr>
          <p:cNvPr id="11" name="矩形 10">
            <a:extLst>
              <a:ext uri="{FF2B5EF4-FFF2-40B4-BE49-F238E27FC236}">
                <a16:creationId xmlns:a16="http://schemas.microsoft.com/office/drawing/2014/main" id="{47872290-7BC0-70D6-B403-9BC4352D650A}"/>
              </a:ext>
            </a:extLst>
          </p:cNvPr>
          <p:cNvSpPr/>
          <p:nvPr/>
        </p:nvSpPr>
        <p:spPr>
          <a:xfrm>
            <a:off x="5418138" y="2807357"/>
            <a:ext cx="936625" cy="9366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noProof="1">
              <a:ln>
                <a:noFill/>
              </a:ln>
              <a:solidFill>
                <a:schemeClr val="tx1"/>
              </a:solidFill>
              <a:effectLst/>
              <a:latin typeface="Tahoma" panose="020B0604030504040204" pitchFamily="34" charset="0"/>
              <a:ea typeface="宋体" panose="02010600030101010101" pitchFamily="2" charset="-122"/>
            </a:endParaRPr>
          </a:p>
        </p:txBody>
      </p:sp>
      <p:cxnSp>
        <p:nvCxnSpPr>
          <p:cNvPr id="12" name="直接连接符 5">
            <a:extLst>
              <a:ext uri="{FF2B5EF4-FFF2-40B4-BE49-F238E27FC236}">
                <a16:creationId xmlns:a16="http://schemas.microsoft.com/office/drawing/2014/main" id="{D729BA58-DAF5-6750-A980-BA64415605C8}"/>
              </a:ext>
            </a:extLst>
          </p:cNvPr>
          <p:cNvCxnSpPr/>
          <p:nvPr/>
        </p:nvCxnSpPr>
        <p:spPr>
          <a:xfrm flipV="1">
            <a:off x="1984375" y="3093107"/>
            <a:ext cx="822325" cy="19050"/>
          </a:xfrm>
          <a:prstGeom prst="line">
            <a:avLst/>
          </a:prstGeom>
          <a:ln w="9525" cap="flat" cmpd="sng">
            <a:solidFill>
              <a:schemeClr val="tx1"/>
            </a:solidFill>
            <a:prstDash val="solid"/>
            <a:round/>
            <a:headEnd type="none" w="med" len="med"/>
            <a:tailEnd type="none" w="med" len="med"/>
          </a:ln>
        </p:spPr>
      </p:cxnSp>
      <p:cxnSp>
        <p:nvCxnSpPr>
          <p:cNvPr id="13" name="直接连接符 7">
            <a:extLst>
              <a:ext uri="{FF2B5EF4-FFF2-40B4-BE49-F238E27FC236}">
                <a16:creationId xmlns:a16="http://schemas.microsoft.com/office/drawing/2014/main" id="{9D22F21E-CC4E-E22E-E545-FAD19CA80B8E}"/>
              </a:ext>
            </a:extLst>
          </p:cNvPr>
          <p:cNvCxnSpPr/>
          <p:nvPr/>
        </p:nvCxnSpPr>
        <p:spPr>
          <a:xfrm flipV="1">
            <a:off x="3743325" y="3528082"/>
            <a:ext cx="1655763" cy="14287"/>
          </a:xfrm>
          <a:prstGeom prst="line">
            <a:avLst/>
          </a:prstGeom>
          <a:ln w="9525" cap="flat" cmpd="sng">
            <a:solidFill>
              <a:schemeClr val="tx1"/>
            </a:solidFill>
            <a:prstDash val="solid"/>
            <a:round/>
            <a:headEnd type="none" w="med" len="med"/>
            <a:tailEnd type="none" w="med" len="med"/>
          </a:ln>
        </p:spPr>
      </p:cxnSp>
      <p:cxnSp>
        <p:nvCxnSpPr>
          <p:cNvPr id="14" name="直接连接符 8">
            <a:extLst>
              <a:ext uri="{FF2B5EF4-FFF2-40B4-BE49-F238E27FC236}">
                <a16:creationId xmlns:a16="http://schemas.microsoft.com/office/drawing/2014/main" id="{7C444FDD-3A4F-5705-CD8B-7E8315FB2540}"/>
              </a:ext>
            </a:extLst>
          </p:cNvPr>
          <p:cNvCxnSpPr/>
          <p:nvPr/>
        </p:nvCxnSpPr>
        <p:spPr>
          <a:xfrm flipV="1">
            <a:off x="6354763" y="3542369"/>
            <a:ext cx="820737" cy="17463"/>
          </a:xfrm>
          <a:prstGeom prst="line">
            <a:avLst/>
          </a:prstGeom>
          <a:ln w="9525" cap="flat" cmpd="sng">
            <a:solidFill>
              <a:schemeClr val="tx1"/>
            </a:solidFill>
            <a:prstDash val="solid"/>
            <a:round/>
            <a:headEnd type="none" w="med" len="med"/>
            <a:tailEnd type="none" w="med" len="med"/>
          </a:ln>
        </p:spPr>
      </p:cxnSp>
      <p:cxnSp>
        <p:nvCxnSpPr>
          <p:cNvPr id="15" name="直接连接符 10">
            <a:extLst>
              <a:ext uri="{FF2B5EF4-FFF2-40B4-BE49-F238E27FC236}">
                <a16:creationId xmlns:a16="http://schemas.microsoft.com/office/drawing/2014/main" id="{A907F157-8F49-9F35-F179-CF6E5D0C3D37}"/>
              </a:ext>
            </a:extLst>
          </p:cNvPr>
          <p:cNvCxnSpPr/>
          <p:nvPr/>
        </p:nvCxnSpPr>
        <p:spPr>
          <a:xfrm flipV="1">
            <a:off x="2463800" y="2520019"/>
            <a:ext cx="2432050" cy="22225"/>
          </a:xfrm>
          <a:prstGeom prst="line">
            <a:avLst/>
          </a:prstGeom>
          <a:ln w="9525" cap="flat" cmpd="sng">
            <a:solidFill>
              <a:schemeClr val="tx1"/>
            </a:solidFill>
            <a:prstDash val="solid"/>
            <a:round/>
            <a:headEnd type="none" w="med" len="med"/>
            <a:tailEnd type="none" w="med" len="med"/>
          </a:ln>
        </p:spPr>
      </p:cxnSp>
      <p:cxnSp>
        <p:nvCxnSpPr>
          <p:cNvPr id="16" name="直接连接符 11">
            <a:extLst>
              <a:ext uri="{FF2B5EF4-FFF2-40B4-BE49-F238E27FC236}">
                <a16:creationId xmlns:a16="http://schemas.microsoft.com/office/drawing/2014/main" id="{8B836A39-90DE-9760-A7CF-5D7C0A5E4853}"/>
              </a:ext>
            </a:extLst>
          </p:cNvPr>
          <p:cNvCxnSpPr/>
          <p:nvPr/>
        </p:nvCxnSpPr>
        <p:spPr>
          <a:xfrm flipH="1">
            <a:off x="4895850" y="2491444"/>
            <a:ext cx="0" cy="603250"/>
          </a:xfrm>
          <a:prstGeom prst="line">
            <a:avLst/>
          </a:prstGeom>
          <a:ln w="9525" cap="flat" cmpd="sng">
            <a:solidFill>
              <a:schemeClr val="tx1"/>
            </a:solidFill>
            <a:prstDash val="solid"/>
            <a:round/>
            <a:headEnd type="none" w="med" len="med"/>
            <a:tailEnd type="none" w="med" len="med"/>
          </a:ln>
        </p:spPr>
      </p:cxnSp>
      <p:cxnSp>
        <p:nvCxnSpPr>
          <p:cNvPr id="17" name="直接连接符 13">
            <a:extLst>
              <a:ext uri="{FF2B5EF4-FFF2-40B4-BE49-F238E27FC236}">
                <a16:creationId xmlns:a16="http://schemas.microsoft.com/office/drawing/2014/main" id="{F53AEAC1-1D5E-6236-FEB8-F50A0D1F1AA0}"/>
              </a:ext>
            </a:extLst>
          </p:cNvPr>
          <p:cNvCxnSpPr/>
          <p:nvPr/>
        </p:nvCxnSpPr>
        <p:spPr>
          <a:xfrm flipV="1">
            <a:off x="4864100" y="3102632"/>
            <a:ext cx="554038" cy="9525"/>
          </a:xfrm>
          <a:prstGeom prst="line">
            <a:avLst/>
          </a:prstGeom>
          <a:ln w="9525" cap="flat" cmpd="sng">
            <a:solidFill>
              <a:schemeClr val="tx1"/>
            </a:solidFill>
            <a:prstDash val="solid"/>
            <a:round/>
            <a:headEnd type="none" w="med" len="med"/>
            <a:tailEnd type="none" w="med" len="med"/>
          </a:ln>
        </p:spPr>
      </p:cxnSp>
      <p:cxnSp>
        <p:nvCxnSpPr>
          <p:cNvPr id="18" name="直接连接符 15">
            <a:extLst>
              <a:ext uri="{FF2B5EF4-FFF2-40B4-BE49-F238E27FC236}">
                <a16:creationId xmlns:a16="http://schemas.microsoft.com/office/drawing/2014/main" id="{991D6C4F-F9B6-30CB-81E3-33CA952543BE}"/>
              </a:ext>
            </a:extLst>
          </p:cNvPr>
          <p:cNvCxnSpPr/>
          <p:nvPr/>
        </p:nvCxnSpPr>
        <p:spPr>
          <a:xfrm>
            <a:off x="4895850" y="4320244"/>
            <a:ext cx="2303463" cy="0"/>
          </a:xfrm>
          <a:prstGeom prst="line">
            <a:avLst/>
          </a:prstGeom>
          <a:ln w="9525" cap="flat" cmpd="sng">
            <a:solidFill>
              <a:schemeClr val="tx1"/>
            </a:solidFill>
            <a:prstDash val="solid"/>
            <a:round/>
            <a:headEnd type="none" w="med" len="med"/>
            <a:tailEnd type="none" w="med" len="med"/>
          </a:ln>
        </p:spPr>
      </p:cxnSp>
      <p:cxnSp>
        <p:nvCxnSpPr>
          <p:cNvPr id="19" name="直接连接符 16">
            <a:extLst>
              <a:ext uri="{FF2B5EF4-FFF2-40B4-BE49-F238E27FC236}">
                <a16:creationId xmlns:a16="http://schemas.microsoft.com/office/drawing/2014/main" id="{DF536412-15AD-17C1-BBE7-8AA28975F70A}"/>
              </a:ext>
            </a:extLst>
          </p:cNvPr>
          <p:cNvCxnSpPr/>
          <p:nvPr/>
        </p:nvCxnSpPr>
        <p:spPr>
          <a:xfrm>
            <a:off x="4895850" y="3528082"/>
            <a:ext cx="0" cy="795337"/>
          </a:xfrm>
          <a:prstGeom prst="line">
            <a:avLst/>
          </a:prstGeom>
          <a:ln w="9525" cap="flat" cmpd="sng">
            <a:solidFill>
              <a:schemeClr val="tx1"/>
            </a:solidFill>
            <a:prstDash val="solid"/>
            <a:round/>
            <a:headEnd type="none" w="med" len="med"/>
            <a:tailEnd type="none" w="med" len="med"/>
          </a:ln>
        </p:spPr>
      </p:cxnSp>
      <p:sp>
        <p:nvSpPr>
          <p:cNvPr id="20" name="文本框 20">
            <a:extLst>
              <a:ext uri="{FF2B5EF4-FFF2-40B4-BE49-F238E27FC236}">
                <a16:creationId xmlns:a16="http://schemas.microsoft.com/office/drawing/2014/main" id="{3637AF5B-63CF-A992-4968-AB5624915EB7}"/>
              </a:ext>
            </a:extLst>
          </p:cNvPr>
          <p:cNvSpPr txBox="1"/>
          <p:nvPr/>
        </p:nvSpPr>
        <p:spPr>
          <a:xfrm>
            <a:off x="5399088" y="3283607"/>
            <a:ext cx="936625"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D   Q</a:t>
            </a:r>
          </a:p>
        </p:txBody>
      </p:sp>
      <p:sp>
        <p:nvSpPr>
          <p:cNvPr id="21" name="文本框 21">
            <a:extLst>
              <a:ext uri="{FF2B5EF4-FFF2-40B4-BE49-F238E27FC236}">
                <a16:creationId xmlns:a16="http://schemas.microsoft.com/office/drawing/2014/main" id="{2517CA43-DC00-B5CD-CFE9-3E56FFAC5C5B}"/>
              </a:ext>
            </a:extLst>
          </p:cNvPr>
          <p:cNvSpPr txBox="1"/>
          <p:nvPr/>
        </p:nvSpPr>
        <p:spPr>
          <a:xfrm>
            <a:off x="7175500" y="3332819"/>
            <a:ext cx="715963"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c</a:t>
            </a:r>
          </a:p>
        </p:txBody>
      </p:sp>
      <p:sp>
        <p:nvSpPr>
          <p:cNvPr id="22" name="文本框 22">
            <a:extLst>
              <a:ext uri="{FF2B5EF4-FFF2-40B4-BE49-F238E27FC236}">
                <a16:creationId xmlns:a16="http://schemas.microsoft.com/office/drawing/2014/main" id="{6F13ADAD-7195-87BC-A061-383ACD056A20}"/>
              </a:ext>
            </a:extLst>
          </p:cNvPr>
          <p:cNvSpPr txBox="1"/>
          <p:nvPr/>
        </p:nvSpPr>
        <p:spPr>
          <a:xfrm>
            <a:off x="7175500" y="4090057"/>
            <a:ext cx="715963"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b</a:t>
            </a:r>
          </a:p>
        </p:txBody>
      </p:sp>
      <p:grpSp>
        <p:nvGrpSpPr>
          <p:cNvPr id="23" name="组合 35">
            <a:extLst>
              <a:ext uri="{FF2B5EF4-FFF2-40B4-BE49-F238E27FC236}">
                <a16:creationId xmlns:a16="http://schemas.microsoft.com/office/drawing/2014/main" id="{B07D3742-B874-9144-D03A-43692FDE4C53}"/>
              </a:ext>
            </a:extLst>
          </p:cNvPr>
          <p:cNvGrpSpPr/>
          <p:nvPr/>
        </p:nvGrpSpPr>
        <p:grpSpPr>
          <a:xfrm>
            <a:off x="1366838" y="2542244"/>
            <a:ext cx="2376487" cy="1238250"/>
            <a:chOff x="1418" y="3055"/>
            <a:chExt cx="3742" cy="1951"/>
          </a:xfrm>
        </p:grpSpPr>
        <p:sp>
          <p:nvSpPr>
            <p:cNvPr id="24" name="矩形 23">
              <a:extLst>
                <a:ext uri="{FF2B5EF4-FFF2-40B4-BE49-F238E27FC236}">
                  <a16:creationId xmlns:a16="http://schemas.microsoft.com/office/drawing/2014/main" id="{79EF64F7-16F9-055A-F5FA-566EA8DD7B08}"/>
                </a:ext>
              </a:extLst>
            </p:cNvPr>
            <p:cNvSpPr/>
            <p:nvPr/>
          </p:nvSpPr>
          <p:spPr>
            <a:xfrm>
              <a:off x="3685" y="3473"/>
              <a:ext cx="1474" cy="147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noProof="1">
                <a:ln>
                  <a:noFill/>
                </a:ln>
                <a:solidFill>
                  <a:schemeClr val="tx1"/>
                </a:solidFill>
                <a:effectLst/>
                <a:latin typeface="Tahoma" panose="020B0604030504040204" pitchFamily="34" charset="0"/>
                <a:ea typeface="宋体" panose="02010600030101010101" pitchFamily="2" charset="-122"/>
              </a:endParaRPr>
            </a:p>
          </p:txBody>
        </p:sp>
        <p:cxnSp>
          <p:nvCxnSpPr>
            <p:cNvPr id="25" name="直接连接符 6">
              <a:extLst>
                <a:ext uri="{FF2B5EF4-FFF2-40B4-BE49-F238E27FC236}">
                  <a16:creationId xmlns:a16="http://schemas.microsoft.com/office/drawing/2014/main" id="{F067CD85-EAFC-241B-DDE5-E9FDA8181355}"/>
                </a:ext>
              </a:extLst>
            </p:cNvPr>
            <p:cNvCxnSpPr/>
            <p:nvPr/>
          </p:nvCxnSpPr>
          <p:spPr>
            <a:xfrm flipV="1">
              <a:off x="2391" y="4571"/>
              <a:ext cx="1294" cy="29"/>
            </a:xfrm>
            <a:prstGeom prst="line">
              <a:avLst/>
            </a:prstGeom>
            <a:ln w="9525" cap="flat" cmpd="sng">
              <a:solidFill>
                <a:schemeClr val="tx1"/>
              </a:solidFill>
              <a:prstDash val="solid"/>
              <a:round/>
              <a:headEnd type="none" w="med" len="med"/>
              <a:tailEnd type="none" w="med" len="med"/>
            </a:ln>
          </p:spPr>
        </p:cxnSp>
        <p:cxnSp>
          <p:nvCxnSpPr>
            <p:cNvPr id="26" name="直接连接符 9">
              <a:extLst>
                <a:ext uri="{FF2B5EF4-FFF2-40B4-BE49-F238E27FC236}">
                  <a16:creationId xmlns:a16="http://schemas.microsoft.com/office/drawing/2014/main" id="{A8ABE804-C06C-4D7F-C335-64D068E12B3A}"/>
                </a:ext>
              </a:extLst>
            </p:cNvPr>
            <p:cNvCxnSpPr/>
            <p:nvPr/>
          </p:nvCxnSpPr>
          <p:spPr>
            <a:xfrm>
              <a:off x="3207" y="3055"/>
              <a:ext cx="24" cy="871"/>
            </a:xfrm>
            <a:prstGeom prst="line">
              <a:avLst/>
            </a:prstGeom>
            <a:ln w="9525" cap="flat" cmpd="sng">
              <a:solidFill>
                <a:schemeClr val="tx1"/>
              </a:solidFill>
              <a:prstDash val="solid"/>
              <a:round/>
              <a:headEnd type="none" w="med" len="med"/>
              <a:tailEnd type="none" w="med" len="med"/>
            </a:ln>
          </p:spPr>
        </p:cxnSp>
        <p:sp>
          <p:nvSpPr>
            <p:cNvPr id="27" name="文本框 17">
              <a:extLst>
                <a:ext uri="{FF2B5EF4-FFF2-40B4-BE49-F238E27FC236}">
                  <a16:creationId xmlns:a16="http://schemas.microsoft.com/office/drawing/2014/main" id="{8780BAB8-DA79-0573-DCD8-0CBBA9D9AEB0}"/>
                </a:ext>
              </a:extLst>
            </p:cNvPr>
            <p:cNvSpPr txBox="1"/>
            <p:nvPr/>
          </p:nvSpPr>
          <p:spPr>
            <a:xfrm>
              <a:off x="1464" y="4281"/>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a</a:t>
              </a:r>
            </a:p>
          </p:txBody>
        </p:sp>
        <p:sp>
          <p:nvSpPr>
            <p:cNvPr id="28" name="文本框 18">
              <a:extLst>
                <a:ext uri="{FF2B5EF4-FFF2-40B4-BE49-F238E27FC236}">
                  <a16:creationId xmlns:a16="http://schemas.microsoft.com/office/drawing/2014/main" id="{E868DC7E-1C41-5C0F-4090-64B271832C46}"/>
                </a:ext>
              </a:extLst>
            </p:cNvPr>
            <p:cNvSpPr txBox="1"/>
            <p:nvPr/>
          </p:nvSpPr>
          <p:spPr>
            <a:xfrm>
              <a:off x="1418" y="3575"/>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clk</a:t>
              </a:r>
            </a:p>
          </p:txBody>
        </p:sp>
        <p:sp>
          <p:nvSpPr>
            <p:cNvPr id="29" name="文本框 19">
              <a:extLst>
                <a:ext uri="{FF2B5EF4-FFF2-40B4-BE49-F238E27FC236}">
                  <a16:creationId xmlns:a16="http://schemas.microsoft.com/office/drawing/2014/main" id="{3C4E6591-0041-D409-6F30-8A26FFD91577}"/>
                </a:ext>
              </a:extLst>
            </p:cNvPr>
            <p:cNvSpPr txBox="1"/>
            <p:nvPr/>
          </p:nvSpPr>
          <p:spPr>
            <a:xfrm>
              <a:off x="3685" y="4256"/>
              <a:ext cx="1475"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D   Q</a:t>
              </a:r>
            </a:p>
          </p:txBody>
        </p:sp>
        <p:sp>
          <p:nvSpPr>
            <p:cNvPr id="30" name="文本框 23">
              <a:extLst>
                <a:ext uri="{FF2B5EF4-FFF2-40B4-BE49-F238E27FC236}">
                  <a16:creationId xmlns:a16="http://schemas.microsoft.com/office/drawing/2014/main" id="{52C3C708-F4E9-0EC9-DA8E-10F638544AE8}"/>
                </a:ext>
              </a:extLst>
            </p:cNvPr>
            <p:cNvSpPr txBox="1"/>
            <p:nvPr/>
          </p:nvSpPr>
          <p:spPr>
            <a:xfrm>
              <a:off x="3562" y="3582"/>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&gt;</a:t>
              </a:r>
            </a:p>
          </p:txBody>
        </p:sp>
      </p:grpSp>
      <p:sp>
        <p:nvSpPr>
          <p:cNvPr id="31" name="文本框 24">
            <a:extLst>
              <a:ext uri="{FF2B5EF4-FFF2-40B4-BE49-F238E27FC236}">
                <a16:creationId xmlns:a16="http://schemas.microsoft.com/office/drawing/2014/main" id="{EEAC4E04-C8B1-7D4B-875D-FB0FE340D27D}"/>
              </a:ext>
            </a:extLst>
          </p:cNvPr>
          <p:cNvSpPr txBox="1"/>
          <p:nvPr/>
        </p:nvSpPr>
        <p:spPr>
          <a:xfrm>
            <a:off x="5346700" y="2877207"/>
            <a:ext cx="715963"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&gt;</a:t>
            </a:r>
          </a:p>
        </p:txBody>
      </p:sp>
      <p:sp>
        <p:nvSpPr>
          <p:cNvPr id="32" name="文本框 25">
            <a:extLst>
              <a:ext uri="{FF2B5EF4-FFF2-40B4-BE49-F238E27FC236}">
                <a16:creationId xmlns:a16="http://schemas.microsoft.com/office/drawing/2014/main" id="{E4616B4C-AFCD-8C12-CECB-96E6CCA3D877}"/>
              </a:ext>
            </a:extLst>
          </p:cNvPr>
          <p:cNvSpPr txBox="1"/>
          <p:nvPr/>
        </p:nvSpPr>
        <p:spPr>
          <a:xfrm>
            <a:off x="2503005" y="4526483"/>
            <a:ext cx="3290888" cy="369332"/>
          </a:xfrm>
          <a:prstGeom prst="rect">
            <a:avLst/>
          </a:prstGeom>
          <a:noFill/>
          <a:ln w="9525">
            <a:noFill/>
          </a:ln>
        </p:spPr>
        <p:txBody>
          <a:bodyPr wrap="square" anchor="t">
            <a:spAutoFit/>
          </a:bodyPr>
          <a:lstStyle/>
          <a:p>
            <a:r>
              <a:rPr lang="zh-CN" altLang="en-US" b="1" dirty="0">
                <a:solidFill>
                  <a:srgbClr val="C00000"/>
                </a:solidFill>
                <a:latin typeface="Tahoma" panose="020B0604030504040204" pitchFamily="34" charset="0"/>
                <a:ea typeface="宋体" panose="02010600030101010101" pitchFamily="2" charset="-122"/>
              </a:rPr>
              <a:t>例</a:t>
            </a:r>
            <a:r>
              <a:rPr lang="en-US" altLang="zh-CN" b="1" dirty="0">
                <a:solidFill>
                  <a:srgbClr val="C00000"/>
                </a:solidFill>
                <a:latin typeface="Tahoma" panose="020B0604030504040204" pitchFamily="34" charset="0"/>
                <a:ea typeface="宋体" panose="02010600030101010101" pitchFamily="2" charset="-122"/>
              </a:rPr>
              <a:t>1 </a:t>
            </a:r>
            <a:r>
              <a:rPr lang="zh-CN" altLang="en-US" b="1" dirty="0">
                <a:solidFill>
                  <a:srgbClr val="C00000"/>
                </a:solidFill>
                <a:latin typeface="Tahoma" panose="020B0604030504040204" pitchFamily="34" charset="0"/>
                <a:ea typeface="宋体" panose="02010600030101010101" pitchFamily="2" charset="-122"/>
              </a:rPr>
              <a:t>非阻塞赋值的综合</a:t>
            </a:r>
          </a:p>
        </p:txBody>
      </p:sp>
      <p:grpSp>
        <p:nvGrpSpPr>
          <p:cNvPr id="33" name="组合 36">
            <a:extLst>
              <a:ext uri="{FF2B5EF4-FFF2-40B4-BE49-F238E27FC236}">
                <a16:creationId xmlns:a16="http://schemas.microsoft.com/office/drawing/2014/main" id="{009D7E86-8E17-862A-1F22-0D608E25F073}"/>
              </a:ext>
            </a:extLst>
          </p:cNvPr>
          <p:cNvGrpSpPr/>
          <p:nvPr/>
        </p:nvGrpSpPr>
        <p:grpSpPr>
          <a:xfrm>
            <a:off x="1570038" y="5256869"/>
            <a:ext cx="3182937" cy="984250"/>
            <a:chOff x="1418" y="3458"/>
            <a:chExt cx="5012" cy="1548"/>
          </a:xfrm>
        </p:grpSpPr>
        <p:sp>
          <p:nvSpPr>
            <p:cNvPr id="34" name="矩形 33">
              <a:extLst>
                <a:ext uri="{FF2B5EF4-FFF2-40B4-BE49-F238E27FC236}">
                  <a16:creationId xmlns:a16="http://schemas.microsoft.com/office/drawing/2014/main" id="{9A9F8A31-EB61-ED65-DA7F-4EAA7F374CC2}"/>
                </a:ext>
              </a:extLst>
            </p:cNvPr>
            <p:cNvSpPr/>
            <p:nvPr/>
          </p:nvSpPr>
          <p:spPr>
            <a:xfrm>
              <a:off x="3685" y="3473"/>
              <a:ext cx="1474" cy="147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noProof="1">
                <a:ln>
                  <a:noFill/>
                </a:ln>
                <a:solidFill>
                  <a:schemeClr val="tx1"/>
                </a:solidFill>
                <a:effectLst/>
                <a:latin typeface="Tahoma" panose="020B0604030504040204" pitchFamily="34" charset="0"/>
                <a:ea typeface="宋体" panose="02010600030101010101" pitchFamily="2" charset="-122"/>
              </a:endParaRPr>
            </a:p>
          </p:txBody>
        </p:sp>
        <p:cxnSp>
          <p:nvCxnSpPr>
            <p:cNvPr id="35" name="直接连接符 38">
              <a:extLst>
                <a:ext uri="{FF2B5EF4-FFF2-40B4-BE49-F238E27FC236}">
                  <a16:creationId xmlns:a16="http://schemas.microsoft.com/office/drawing/2014/main" id="{04DD30A5-B74E-2D8F-3909-A6833AD71E8C}"/>
                </a:ext>
              </a:extLst>
            </p:cNvPr>
            <p:cNvCxnSpPr/>
            <p:nvPr/>
          </p:nvCxnSpPr>
          <p:spPr>
            <a:xfrm flipV="1">
              <a:off x="2391" y="4571"/>
              <a:ext cx="1294" cy="29"/>
            </a:xfrm>
            <a:prstGeom prst="line">
              <a:avLst/>
            </a:prstGeom>
            <a:ln w="9525" cap="flat" cmpd="sng">
              <a:solidFill>
                <a:schemeClr val="tx1"/>
              </a:solidFill>
              <a:prstDash val="solid"/>
              <a:round/>
              <a:headEnd type="none" w="med" len="med"/>
              <a:tailEnd type="none" w="med" len="med"/>
            </a:ln>
          </p:spPr>
        </p:cxnSp>
        <p:cxnSp>
          <p:nvCxnSpPr>
            <p:cNvPr id="36" name="直接连接符 39">
              <a:extLst>
                <a:ext uri="{FF2B5EF4-FFF2-40B4-BE49-F238E27FC236}">
                  <a16:creationId xmlns:a16="http://schemas.microsoft.com/office/drawing/2014/main" id="{0DADB521-2856-5C0F-6BE2-926B61331418}"/>
                </a:ext>
              </a:extLst>
            </p:cNvPr>
            <p:cNvCxnSpPr/>
            <p:nvPr/>
          </p:nvCxnSpPr>
          <p:spPr>
            <a:xfrm flipH="1">
              <a:off x="6428" y="3458"/>
              <a:ext cx="2" cy="1358"/>
            </a:xfrm>
            <a:prstGeom prst="line">
              <a:avLst/>
            </a:prstGeom>
            <a:ln w="9525" cap="flat" cmpd="sng">
              <a:solidFill>
                <a:schemeClr val="tx1"/>
              </a:solidFill>
              <a:prstDash val="solid"/>
              <a:round/>
              <a:headEnd type="none" w="med" len="med"/>
              <a:tailEnd type="none" w="med" len="med"/>
            </a:ln>
          </p:spPr>
        </p:cxnSp>
        <p:sp>
          <p:nvSpPr>
            <p:cNvPr id="37" name="文本框 40">
              <a:extLst>
                <a:ext uri="{FF2B5EF4-FFF2-40B4-BE49-F238E27FC236}">
                  <a16:creationId xmlns:a16="http://schemas.microsoft.com/office/drawing/2014/main" id="{FC7F36F4-00CF-787D-2E7F-6CA773113409}"/>
                </a:ext>
              </a:extLst>
            </p:cNvPr>
            <p:cNvSpPr txBox="1"/>
            <p:nvPr/>
          </p:nvSpPr>
          <p:spPr>
            <a:xfrm>
              <a:off x="1464" y="4281"/>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a</a:t>
              </a:r>
            </a:p>
          </p:txBody>
        </p:sp>
        <p:sp>
          <p:nvSpPr>
            <p:cNvPr id="38" name="文本框 41">
              <a:extLst>
                <a:ext uri="{FF2B5EF4-FFF2-40B4-BE49-F238E27FC236}">
                  <a16:creationId xmlns:a16="http://schemas.microsoft.com/office/drawing/2014/main" id="{F25E2145-DC07-1D2D-D410-BC56496A89C5}"/>
                </a:ext>
              </a:extLst>
            </p:cNvPr>
            <p:cNvSpPr txBox="1"/>
            <p:nvPr/>
          </p:nvSpPr>
          <p:spPr>
            <a:xfrm>
              <a:off x="1418" y="3575"/>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clk</a:t>
              </a:r>
            </a:p>
          </p:txBody>
        </p:sp>
        <p:sp>
          <p:nvSpPr>
            <p:cNvPr id="39" name="文本框 42">
              <a:extLst>
                <a:ext uri="{FF2B5EF4-FFF2-40B4-BE49-F238E27FC236}">
                  <a16:creationId xmlns:a16="http://schemas.microsoft.com/office/drawing/2014/main" id="{BB3AF4D8-D3DA-ECA1-CB86-B8175636109E}"/>
                </a:ext>
              </a:extLst>
            </p:cNvPr>
            <p:cNvSpPr txBox="1"/>
            <p:nvPr/>
          </p:nvSpPr>
          <p:spPr>
            <a:xfrm>
              <a:off x="3685" y="4256"/>
              <a:ext cx="1475"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D   Q</a:t>
              </a:r>
            </a:p>
          </p:txBody>
        </p:sp>
        <p:sp>
          <p:nvSpPr>
            <p:cNvPr id="40" name="文本框 43">
              <a:extLst>
                <a:ext uri="{FF2B5EF4-FFF2-40B4-BE49-F238E27FC236}">
                  <a16:creationId xmlns:a16="http://schemas.microsoft.com/office/drawing/2014/main" id="{A3F99653-6828-E5F3-89AC-E5DB431C47D7}"/>
                </a:ext>
              </a:extLst>
            </p:cNvPr>
            <p:cNvSpPr txBox="1"/>
            <p:nvPr/>
          </p:nvSpPr>
          <p:spPr>
            <a:xfrm>
              <a:off x="3539" y="3597"/>
              <a:ext cx="1127" cy="72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&gt;</a:t>
              </a:r>
            </a:p>
          </p:txBody>
        </p:sp>
      </p:grpSp>
      <p:cxnSp>
        <p:nvCxnSpPr>
          <p:cNvPr id="41" name="直接连接符 44">
            <a:extLst>
              <a:ext uri="{FF2B5EF4-FFF2-40B4-BE49-F238E27FC236}">
                <a16:creationId xmlns:a16="http://schemas.microsoft.com/office/drawing/2014/main" id="{DE3C299B-BC10-88D9-881D-548C6E933BB0}"/>
              </a:ext>
            </a:extLst>
          </p:cNvPr>
          <p:cNvCxnSpPr/>
          <p:nvPr/>
        </p:nvCxnSpPr>
        <p:spPr>
          <a:xfrm flipV="1">
            <a:off x="2187575" y="5555319"/>
            <a:ext cx="822325" cy="17463"/>
          </a:xfrm>
          <a:prstGeom prst="line">
            <a:avLst/>
          </a:prstGeom>
          <a:ln w="9525" cap="flat" cmpd="sng">
            <a:solidFill>
              <a:schemeClr val="tx1"/>
            </a:solidFill>
            <a:prstDash val="solid"/>
            <a:round/>
            <a:headEnd type="none" w="med" len="med"/>
            <a:tailEnd type="none" w="med" len="med"/>
          </a:ln>
        </p:spPr>
      </p:cxnSp>
      <p:cxnSp>
        <p:nvCxnSpPr>
          <p:cNvPr id="42" name="直接连接符 45">
            <a:extLst>
              <a:ext uri="{FF2B5EF4-FFF2-40B4-BE49-F238E27FC236}">
                <a16:creationId xmlns:a16="http://schemas.microsoft.com/office/drawing/2014/main" id="{E86673DB-3CAD-6530-A873-E91911DCD694}"/>
              </a:ext>
            </a:extLst>
          </p:cNvPr>
          <p:cNvCxnSpPr/>
          <p:nvPr/>
        </p:nvCxnSpPr>
        <p:spPr>
          <a:xfrm flipV="1">
            <a:off x="3946525" y="5945844"/>
            <a:ext cx="820738" cy="19050"/>
          </a:xfrm>
          <a:prstGeom prst="line">
            <a:avLst/>
          </a:prstGeom>
          <a:ln w="9525" cap="flat" cmpd="sng">
            <a:solidFill>
              <a:schemeClr val="tx1"/>
            </a:solidFill>
            <a:prstDash val="solid"/>
            <a:round/>
            <a:headEnd type="none" w="med" len="med"/>
            <a:tailEnd type="none" w="med" len="med"/>
          </a:ln>
        </p:spPr>
      </p:cxnSp>
      <p:cxnSp>
        <p:nvCxnSpPr>
          <p:cNvPr id="43" name="直接连接符 46">
            <a:extLst>
              <a:ext uri="{FF2B5EF4-FFF2-40B4-BE49-F238E27FC236}">
                <a16:creationId xmlns:a16="http://schemas.microsoft.com/office/drawing/2014/main" id="{81EC4DF7-D299-4B12-4D96-66425116B315}"/>
              </a:ext>
            </a:extLst>
          </p:cNvPr>
          <p:cNvCxnSpPr/>
          <p:nvPr/>
        </p:nvCxnSpPr>
        <p:spPr>
          <a:xfrm flipV="1">
            <a:off x="4752975" y="5239407"/>
            <a:ext cx="820738" cy="17462"/>
          </a:xfrm>
          <a:prstGeom prst="line">
            <a:avLst/>
          </a:prstGeom>
          <a:ln w="9525" cap="flat" cmpd="sng">
            <a:solidFill>
              <a:schemeClr val="tx1"/>
            </a:solidFill>
            <a:prstDash val="solid"/>
            <a:round/>
            <a:headEnd type="none" w="med" len="med"/>
            <a:tailEnd type="none" w="med" len="med"/>
          </a:ln>
        </p:spPr>
      </p:cxnSp>
      <p:cxnSp>
        <p:nvCxnSpPr>
          <p:cNvPr id="44" name="直接连接符 47">
            <a:extLst>
              <a:ext uri="{FF2B5EF4-FFF2-40B4-BE49-F238E27FC236}">
                <a16:creationId xmlns:a16="http://schemas.microsoft.com/office/drawing/2014/main" id="{7CD1F9AD-C655-1BF0-834F-D9B7089F44FE}"/>
              </a:ext>
            </a:extLst>
          </p:cNvPr>
          <p:cNvCxnSpPr/>
          <p:nvPr/>
        </p:nvCxnSpPr>
        <p:spPr>
          <a:xfrm flipV="1">
            <a:off x="4767263" y="6095069"/>
            <a:ext cx="822325" cy="19050"/>
          </a:xfrm>
          <a:prstGeom prst="line">
            <a:avLst/>
          </a:prstGeom>
          <a:ln w="9525" cap="flat" cmpd="sng">
            <a:solidFill>
              <a:schemeClr val="tx1"/>
            </a:solidFill>
            <a:prstDash val="solid"/>
            <a:round/>
            <a:headEnd type="none" w="med" len="med"/>
            <a:tailEnd type="none" w="med" len="med"/>
          </a:ln>
        </p:spPr>
      </p:cxnSp>
      <p:sp>
        <p:nvSpPr>
          <p:cNvPr id="45" name="等腰三角形 48">
            <a:extLst>
              <a:ext uri="{FF2B5EF4-FFF2-40B4-BE49-F238E27FC236}">
                <a16:creationId xmlns:a16="http://schemas.microsoft.com/office/drawing/2014/main" id="{227DD716-2CD7-C0E4-B5C8-EE8F02C95307}"/>
              </a:ext>
            </a:extLst>
          </p:cNvPr>
          <p:cNvSpPr/>
          <p:nvPr/>
        </p:nvSpPr>
        <p:spPr>
          <a:xfrm rot="5400000">
            <a:off x="5526088" y="5023507"/>
            <a:ext cx="596900" cy="474662"/>
          </a:xfrm>
          <a:prstGeom prst="triangle">
            <a:avLst>
              <a:gd name="adj" fmla="val 50000"/>
            </a:avLst>
          </a:prstGeom>
          <a:solidFill>
            <a:schemeClr val="bg1"/>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sp>
        <p:nvSpPr>
          <p:cNvPr id="46" name="等腰三角形 49">
            <a:extLst>
              <a:ext uri="{FF2B5EF4-FFF2-40B4-BE49-F238E27FC236}">
                <a16:creationId xmlns:a16="http://schemas.microsoft.com/office/drawing/2014/main" id="{68CF2C6C-C001-E277-4A22-0DE00B641A9A}"/>
              </a:ext>
            </a:extLst>
          </p:cNvPr>
          <p:cNvSpPr/>
          <p:nvPr/>
        </p:nvSpPr>
        <p:spPr>
          <a:xfrm rot="5400000">
            <a:off x="5543550" y="5868057"/>
            <a:ext cx="596900" cy="473075"/>
          </a:xfrm>
          <a:prstGeom prst="triangle">
            <a:avLst>
              <a:gd name="adj" fmla="val 50000"/>
            </a:avLst>
          </a:prstGeom>
          <a:solidFill>
            <a:schemeClr val="bg1"/>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cxnSp>
        <p:nvCxnSpPr>
          <p:cNvPr id="47" name="直接连接符 50">
            <a:extLst>
              <a:ext uri="{FF2B5EF4-FFF2-40B4-BE49-F238E27FC236}">
                <a16:creationId xmlns:a16="http://schemas.microsoft.com/office/drawing/2014/main" id="{7AEE1231-5332-2E04-7523-1E9937F0F58F}"/>
              </a:ext>
            </a:extLst>
          </p:cNvPr>
          <p:cNvCxnSpPr>
            <a:stCxn id="45" idx="0"/>
          </p:cNvCxnSpPr>
          <p:nvPr/>
        </p:nvCxnSpPr>
        <p:spPr>
          <a:xfrm flipV="1">
            <a:off x="6062663" y="5255282"/>
            <a:ext cx="920750" cy="6350"/>
          </a:xfrm>
          <a:prstGeom prst="line">
            <a:avLst/>
          </a:prstGeom>
          <a:ln w="9525" cap="flat" cmpd="sng">
            <a:solidFill>
              <a:schemeClr val="tx1"/>
            </a:solidFill>
            <a:prstDash val="solid"/>
            <a:round/>
            <a:headEnd type="none" w="med" len="med"/>
            <a:tailEnd type="none" w="med" len="med"/>
          </a:ln>
        </p:spPr>
      </p:cxnSp>
      <p:cxnSp>
        <p:nvCxnSpPr>
          <p:cNvPr id="48" name="直接连接符 52">
            <a:extLst>
              <a:ext uri="{FF2B5EF4-FFF2-40B4-BE49-F238E27FC236}">
                <a16:creationId xmlns:a16="http://schemas.microsoft.com/office/drawing/2014/main" id="{818D6618-BCEC-9F6B-A64F-D7452F7BFE86}"/>
              </a:ext>
            </a:extLst>
          </p:cNvPr>
          <p:cNvCxnSpPr>
            <a:stCxn id="45" idx="0"/>
          </p:cNvCxnSpPr>
          <p:nvPr/>
        </p:nvCxnSpPr>
        <p:spPr>
          <a:xfrm flipV="1">
            <a:off x="6062663" y="6107769"/>
            <a:ext cx="920750" cy="6350"/>
          </a:xfrm>
          <a:prstGeom prst="line">
            <a:avLst/>
          </a:prstGeom>
          <a:ln w="9525" cap="flat" cmpd="sng">
            <a:solidFill>
              <a:schemeClr val="tx1"/>
            </a:solidFill>
            <a:prstDash val="solid"/>
            <a:round/>
            <a:headEnd type="none" w="med" len="med"/>
            <a:tailEnd type="none" w="med" len="med"/>
          </a:ln>
        </p:spPr>
      </p:cxnSp>
      <p:sp>
        <p:nvSpPr>
          <p:cNvPr id="49" name="文本框 53">
            <a:extLst>
              <a:ext uri="{FF2B5EF4-FFF2-40B4-BE49-F238E27FC236}">
                <a16:creationId xmlns:a16="http://schemas.microsoft.com/office/drawing/2014/main" id="{E6C09EEE-F630-2139-AB6F-C37823E6D533}"/>
              </a:ext>
            </a:extLst>
          </p:cNvPr>
          <p:cNvSpPr txBox="1"/>
          <p:nvPr/>
        </p:nvSpPr>
        <p:spPr>
          <a:xfrm>
            <a:off x="7199313" y="5031444"/>
            <a:ext cx="715962"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c</a:t>
            </a:r>
          </a:p>
        </p:txBody>
      </p:sp>
      <p:sp>
        <p:nvSpPr>
          <p:cNvPr id="50" name="文本框 54">
            <a:extLst>
              <a:ext uri="{FF2B5EF4-FFF2-40B4-BE49-F238E27FC236}">
                <a16:creationId xmlns:a16="http://schemas.microsoft.com/office/drawing/2014/main" id="{C16E4712-BEC7-D237-F923-29A8260AE511}"/>
              </a:ext>
            </a:extLst>
          </p:cNvPr>
          <p:cNvSpPr txBox="1"/>
          <p:nvPr/>
        </p:nvSpPr>
        <p:spPr>
          <a:xfrm>
            <a:off x="7199313" y="5942669"/>
            <a:ext cx="715962" cy="460375"/>
          </a:xfrm>
          <a:prstGeom prst="rect">
            <a:avLst/>
          </a:prstGeom>
          <a:noFill/>
          <a:ln w="9525">
            <a:noFill/>
          </a:ln>
        </p:spPr>
        <p:txBody>
          <a:bodyPr wrap="square" anchor="t">
            <a:spAutoFit/>
          </a:bodyPr>
          <a:lstStyle/>
          <a:p>
            <a:r>
              <a:rPr lang="en-US" altLang="zh-CN">
                <a:latin typeface="Tahoma" panose="020B0604030504040204" pitchFamily="34" charset="0"/>
                <a:ea typeface="宋体" panose="02010600030101010101" pitchFamily="2" charset="-122"/>
              </a:rPr>
              <a:t>b</a:t>
            </a:r>
          </a:p>
        </p:txBody>
      </p:sp>
      <p:sp>
        <p:nvSpPr>
          <p:cNvPr id="51" name="文本框 55">
            <a:extLst>
              <a:ext uri="{FF2B5EF4-FFF2-40B4-BE49-F238E27FC236}">
                <a16:creationId xmlns:a16="http://schemas.microsoft.com/office/drawing/2014/main" id="{588E0BDC-F3C0-E752-54BB-9FEAB72FB3A1}"/>
              </a:ext>
            </a:extLst>
          </p:cNvPr>
          <p:cNvSpPr txBox="1"/>
          <p:nvPr/>
        </p:nvSpPr>
        <p:spPr>
          <a:xfrm>
            <a:off x="2606145" y="6693692"/>
            <a:ext cx="3290888" cy="369332"/>
          </a:xfrm>
          <a:prstGeom prst="rect">
            <a:avLst/>
          </a:prstGeom>
          <a:noFill/>
          <a:ln w="9525">
            <a:noFill/>
          </a:ln>
        </p:spPr>
        <p:txBody>
          <a:bodyPr wrap="square" anchor="t">
            <a:spAutoFit/>
          </a:bodyPr>
          <a:lstStyle/>
          <a:p>
            <a:r>
              <a:rPr lang="zh-CN" altLang="en-US" b="1" dirty="0">
                <a:solidFill>
                  <a:srgbClr val="C00000"/>
                </a:solidFill>
                <a:latin typeface="Tahoma" panose="020B0604030504040204" pitchFamily="34" charset="0"/>
                <a:ea typeface="宋体" panose="02010600030101010101" pitchFamily="2" charset="-122"/>
              </a:rPr>
              <a:t>例</a:t>
            </a:r>
            <a:r>
              <a:rPr lang="en-US" altLang="zh-CN" b="1" dirty="0">
                <a:solidFill>
                  <a:srgbClr val="C00000"/>
                </a:solidFill>
                <a:latin typeface="Tahoma" panose="020B0604030504040204" pitchFamily="34" charset="0"/>
                <a:ea typeface="宋体" panose="02010600030101010101" pitchFamily="2" charset="-122"/>
              </a:rPr>
              <a:t>2 </a:t>
            </a:r>
            <a:r>
              <a:rPr lang="zh-CN" altLang="en-US" b="1" dirty="0">
                <a:solidFill>
                  <a:srgbClr val="C00000"/>
                </a:solidFill>
                <a:latin typeface="Tahoma" panose="020B0604030504040204" pitchFamily="34" charset="0"/>
                <a:ea typeface="宋体" panose="02010600030101010101" pitchFamily="2" charset="-122"/>
              </a:rPr>
              <a:t>阻塞赋值的综合</a:t>
            </a:r>
          </a:p>
        </p:txBody>
      </p:sp>
      <p:sp>
        <p:nvSpPr>
          <p:cNvPr id="52" name="流程图: 联系 61">
            <a:extLst>
              <a:ext uri="{FF2B5EF4-FFF2-40B4-BE49-F238E27FC236}">
                <a16:creationId xmlns:a16="http://schemas.microsoft.com/office/drawing/2014/main" id="{8678D9B0-6F24-E9A0-6917-9994081FF9D1}"/>
              </a:ext>
            </a:extLst>
          </p:cNvPr>
          <p:cNvSpPr/>
          <p:nvPr/>
        </p:nvSpPr>
        <p:spPr>
          <a:xfrm>
            <a:off x="2473325" y="3055007"/>
            <a:ext cx="76200" cy="95250"/>
          </a:xfrm>
          <a:prstGeom prst="flowChartConnector">
            <a:avLst/>
          </a:prstGeom>
          <a:solidFill>
            <a:schemeClr val="tx1"/>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sp>
        <p:nvSpPr>
          <p:cNvPr id="53" name="流程图: 联系 62">
            <a:extLst>
              <a:ext uri="{FF2B5EF4-FFF2-40B4-BE49-F238E27FC236}">
                <a16:creationId xmlns:a16="http://schemas.microsoft.com/office/drawing/2014/main" id="{E2F8909A-9FBD-6297-9A3F-48284BDA908B}"/>
              </a:ext>
            </a:extLst>
          </p:cNvPr>
          <p:cNvSpPr/>
          <p:nvPr/>
        </p:nvSpPr>
        <p:spPr>
          <a:xfrm>
            <a:off x="4857750" y="3488394"/>
            <a:ext cx="76200" cy="93663"/>
          </a:xfrm>
          <a:prstGeom prst="flowChartConnector">
            <a:avLst/>
          </a:prstGeom>
          <a:solidFill>
            <a:schemeClr val="tx1"/>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sp>
        <p:nvSpPr>
          <p:cNvPr id="54" name="流程图: 联系 63">
            <a:extLst>
              <a:ext uri="{FF2B5EF4-FFF2-40B4-BE49-F238E27FC236}">
                <a16:creationId xmlns:a16="http://schemas.microsoft.com/office/drawing/2014/main" id="{0A902BBD-6D78-4599-DD39-296017599073}"/>
              </a:ext>
            </a:extLst>
          </p:cNvPr>
          <p:cNvSpPr/>
          <p:nvPr/>
        </p:nvSpPr>
        <p:spPr>
          <a:xfrm>
            <a:off x="4713288" y="5888694"/>
            <a:ext cx="76200" cy="93663"/>
          </a:xfrm>
          <a:prstGeom prst="flowChartConnector">
            <a:avLst/>
          </a:prstGeom>
          <a:solidFill>
            <a:schemeClr val="tx1"/>
          </a:solidFill>
          <a:ln w="9525" cap="flat" cmpd="sng">
            <a:solidFill>
              <a:schemeClr val="tx1"/>
            </a:solidFill>
            <a:prstDash val="solid"/>
            <a:round/>
            <a:headEnd type="none" w="med" len="med"/>
            <a:tailEnd type="none" w="med" len="med"/>
          </a:ln>
        </p:spPr>
        <p:txBody>
          <a:bodyPr wrap="none" lIns="91440" tIns="45720" rIns="91440" bIns="45720" anchor="t"/>
          <a:lstStyle/>
          <a:p>
            <a:pPr>
              <a:buSzTx/>
            </a:pPr>
            <a:endParaRPr lang="zh-CN" altLang="en-US">
              <a:latin typeface="Tahoma" panose="020B0604030504040204" pitchFamily="34" charset="0"/>
              <a:ea typeface="宋体" panose="02010600030101010101" pitchFamily="2" charset="-122"/>
            </a:endParaRPr>
          </a:p>
        </p:txBody>
      </p:sp>
      <p:sp>
        <p:nvSpPr>
          <p:cNvPr id="56" name="object 3">
            <a:extLst>
              <a:ext uri="{FF2B5EF4-FFF2-40B4-BE49-F238E27FC236}">
                <a16:creationId xmlns:a16="http://schemas.microsoft.com/office/drawing/2014/main" id="{9EDC7793-8F98-5ED2-AEDF-CFCE64478041}"/>
              </a:ext>
            </a:extLst>
          </p:cNvPr>
          <p:cNvSpPr txBox="1"/>
          <p:nvPr/>
        </p:nvSpPr>
        <p:spPr>
          <a:xfrm>
            <a:off x="918022" y="1581904"/>
            <a:ext cx="9936855" cy="924420"/>
          </a:xfrm>
          <a:prstGeom prst="rect">
            <a:avLst/>
          </a:prstGeom>
        </p:spPr>
        <p:txBody>
          <a:bodyPr vert="horz" wrap="square" lIns="0" tIns="12065" rIns="0" bIns="0" rtlCol="0">
            <a:spAutoFit/>
          </a:bodyPr>
          <a:lstStyle/>
          <a:p>
            <a:pPr marL="212725" marR="115570" indent="-202565">
              <a:lnSpc>
                <a:spcPct val="150500"/>
              </a:lnSpc>
              <a:spcBef>
                <a:spcPts val="95"/>
              </a:spcBef>
              <a:buSzPct val="83333"/>
              <a:buFont typeface="Wingdings"/>
              <a:buChar char=""/>
              <a:tabLst>
                <a:tab pos="212725" algn="l"/>
                <a:tab pos="221615" algn="l"/>
              </a:tabLst>
            </a:pPr>
            <a:r>
              <a:rPr sz="2100" dirty="0">
                <a:solidFill>
                  <a:srgbClr val="EC891C"/>
                </a:solidFill>
                <a:latin typeface="宋体"/>
                <a:cs typeface="宋体"/>
              </a:rPr>
              <a:t>	</a:t>
            </a:r>
            <a:r>
              <a:rPr sz="2100" b="1" spc="-25" dirty="0" err="1">
                <a:solidFill>
                  <a:srgbClr val="3E3E3E"/>
                </a:solidFill>
                <a:latin typeface="宋体"/>
                <a:cs typeface="宋体"/>
              </a:rPr>
              <a:t>过程</a:t>
            </a:r>
            <a:r>
              <a:rPr lang="zh-CN" altLang="en-US" sz="2100" b="1" spc="-25" dirty="0">
                <a:solidFill>
                  <a:srgbClr val="3E3E3E"/>
                </a:solidFill>
                <a:latin typeface="宋体"/>
                <a:cs typeface="宋体"/>
              </a:rPr>
              <a:t>两个程序进行逻辑综合后的结果如下：</a:t>
            </a:r>
          </a:p>
          <a:p>
            <a:pPr marL="212725" marR="115570" indent="-202565">
              <a:lnSpc>
                <a:spcPct val="150500"/>
              </a:lnSpc>
              <a:spcBef>
                <a:spcPts val="95"/>
              </a:spcBef>
              <a:buSzPct val="83333"/>
              <a:buFont typeface="Wingdings"/>
              <a:buChar char=""/>
              <a:tabLst>
                <a:tab pos="212725" algn="l"/>
                <a:tab pos="221615" algn="l"/>
              </a:tabLst>
            </a:pPr>
            <a:endParaRPr sz="2100" dirty="0">
              <a:latin typeface="宋体"/>
              <a:cs typeface="宋体"/>
            </a:endParaRPr>
          </a:p>
        </p:txBody>
      </p:sp>
    </p:spTree>
    <p:extLst>
      <p:ext uri="{BB962C8B-B14F-4D97-AF65-F5344CB8AC3E}">
        <p14:creationId xmlns:p14="http://schemas.microsoft.com/office/powerpoint/2010/main" val="260543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3.1.2</a:t>
            </a:r>
            <a:r>
              <a:rPr spc="-45" dirty="0">
                <a:latin typeface="Arial"/>
                <a:cs typeface="Arial"/>
              </a:rPr>
              <a:t> </a:t>
            </a:r>
            <a:r>
              <a:rPr spc="-15" dirty="0"/>
              <a:t>过程赋值</a:t>
            </a: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03637" y="2016650"/>
            <a:ext cx="9452610" cy="988694"/>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宋体"/>
                <a:cs typeface="宋体"/>
              </a:rPr>
              <a:t>	</a:t>
            </a:r>
            <a:r>
              <a:rPr sz="2100" b="1" spc="-25" dirty="0">
                <a:solidFill>
                  <a:srgbClr val="3E3E3E"/>
                </a:solidFill>
                <a:latin typeface="宋体"/>
                <a:cs typeface="宋体"/>
              </a:rPr>
              <a:t>在</a:t>
            </a:r>
            <a:r>
              <a:rPr sz="2100" b="1" spc="-30" dirty="0">
                <a:solidFill>
                  <a:srgbClr val="3E3E3E"/>
                </a:solidFill>
                <a:latin typeface="Arial"/>
                <a:cs typeface="Arial"/>
              </a:rPr>
              <a:t>Verilog</a:t>
            </a:r>
            <a:r>
              <a:rPr sz="2100" b="1" spc="-30" dirty="0">
                <a:solidFill>
                  <a:srgbClr val="3E3E3E"/>
                </a:solidFill>
                <a:latin typeface="宋体"/>
                <a:cs typeface="宋体"/>
              </a:rPr>
              <a:t>的初学者经常会混淆阻塞赋值和非阻塞赋值，不能正确理解它们的区别可能会导致意外的行为或竞争条件，它们的基本使用原则是：</a:t>
            </a:r>
            <a:endParaRPr sz="2100">
              <a:latin typeface="宋体"/>
              <a:cs typeface="宋体"/>
            </a:endParaRPr>
          </a:p>
        </p:txBody>
      </p:sp>
      <p:sp>
        <p:nvSpPr>
          <p:cNvPr id="4" name="object 4"/>
          <p:cNvSpPr txBox="1"/>
          <p:nvPr/>
        </p:nvSpPr>
        <p:spPr>
          <a:xfrm>
            <a:off x="603637" y="4368800"/>
            <a:ext cx="6947534" cy="34671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30" dirty="0">
                <a:solidFill>
                  <a:srgbClr val="3E3E3E"/>
                </a:solidFill>
                <a:latin typeface="宋体"/>
                <a:cs typeface="宋体"/>
              </a:rPr>
              <a:t>本章我们关注的是组合电路，因此只使用阻塞赋值语句。</a:t>
            </a:r>
            <a:endParaRPr sz="2100">
              <a:latin typeface="宋体"/>
              <a:cs typeface="宋体"/>
            </a:endParaRPr>
          </a:p>
        </p:txBody>
      </p:sp>
      <p:sp>
        <p:nvSpPr>
          <p:cNvPr id="5" name="object 5"/>
          <p:cNvSpPr txBox="1"/>
          <p:nvPr/>
        </p:nvSpPr>
        <p:spPr>
          <a:xfrm>
            <a:off x="2087003" y="3109722"/>
            <a:ext cx="6522084" cy="1053465"/>
          </a:xfrm>
          <a:prstGeom prst="rect">
            <a:avLst/>
          </a:prstGeom>
          <a:solidFill>
            <a:srgbClr val="F9FABA"/>
          </a:solidFill>
        </p:spPr>
        <p:txBody>
          <a:bodyPr vert="horz" wrap="square" lIns="0" tIns="133985" rIns="0" bIns="0" rtlCol="0">
            <a:spAutoFit/>
          </a:bodyPr>
          <a:lstStyle/>
          <a:p>
            <a:pPr marL="736600" indent="-657860">
              <a:lnSpc>
                <a:spcPct val="100000"/>
              </a:lnSpc>
              <a:spcBef>
                <a:spcPts val="1055"/>
              </a:spcBef>
              <a:buSzPct val="95238"/>
              <a:buAutoNum type="arabicPlain"/>
              <a:tabLst>
                <a:tab pos="736600" algn="l"/>
              </a:tabLst>
            </a:pPr>
            <a:r>
              <a:rPr sz="2100" b="1" spc="-15" dirty="0">
                <a:latin typeface="华文楷体"/>
                <a:cs typeface="华文楷体"/>
              </a:rPr>
              <a:t>组合电路建议使用阻塞赋值；</a:t>
            </a:r>
            <a:endParaRPr sz="2100">
              <a:latin typeface="华文楷体"/>
              <a:cs typeface="华文楷体"/>
            </a:endParaRPr>
          </a:p>
          <a:p>
            <a:pPr marL="736600" indent="-657860">
              <a:lnSpc>
                <a:spcPct val="100000"/>
              </a:lnSpc>
              <a:spcBef>
                <a:spcPts val="1270"/>
              </a:spcBef>
              <a:buSzPct val="95238"/>
              <a:buAutoNum type="arabicPlain"/>
              <a:tabLst>
                <a:tab pos="736600" algn="l"/>
              </a:tabLst>
            </a:pPr>
            <a:r>
              <a:rPr sz="2100" b="1" spc="-15" dirty="0">
                <a:latin typeface="华文楷体"/>
                <a:cs typeface="华文楷体"/>
              </a:rPr>
              <a:t>时序电路建议使用非阻塞赋值。</a:t>
            </a:r>
            <a:endParaRPr sz="2100">
              <a:latin typeface="华文楷体"/>
              <a:cs typeface="华文楷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341122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3.1.3</a:t>
            </a:r>
            <a:r>
              <a:rPr spc="-35" dirty="0">
                <a:latin typeface="Arial"/>
                <a:cs typeface="Arial"/>
              </a:rPr>
              <a:t> </a:t>
            </a:r>
            <a:r>
              <a:rPr spc="-10" dirty="0"/>
              <a:t>变量的数据类型</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28021" y="1804052"/>
            <a:ext cx="9443079" cy="5003293"/>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宋体"/>
                <a:cs typeface="宋体"/>
              </a:rPr>
              <a:t>	</a:t>
            </a:r>
            <a:r>
              <a:rPr lang="zh-CN" altLang="en-US" sz="2100" b="1" spc="-25" dirty="0">
                <a:solidFill>
                  <a:srgbClr val="3E3E3E"/>
                </a:solidFill>
                <a:latin typeface="宋体"/>
                <a:cs typeface="宋体"/>
              </a:rPr>
              <a:t>在</a:t>
            </a:r>
            <a:r>
              <a:rPr lang="en-US" altLang="zh-CN" sz="2100" b="1" spc="-10" dirty="0">
                <a:solidFill>
                  <a:srgbClr val="3E3E3E"/>
                </a:solidFill>
                <a:latin typeface="Arial"/>
                <a:cs typeface="Arial"/>
              </a:rPr>
              <a:t>always</a:t>
            </a:r>
            <a:r>
              <a:rPr lang="zh-CN" altLang="en-US" sz="2100" b="1" spc="-25" dirty="0">
                <a:solidFill>
                  <a:srgbClr val="3E3E3E"/>
                </a:solidFill>
                <a:latin typeface="宋体"/>
                <a:cs typeface="宋体"/>
              </a:rPr>
              <a:t>块或</a:t>
            </a:r>
            <a:r>
              <a:rPr lang="en-US" altLang="zh-CN" sz="2100" b="1" spc="-10" dirty="0">
                <a:solidFill>
                  <a:srgbClr val="3E3E3E"/>
                </a:solidFill>
                <a:latin typeface="Arial"/>
                <a:cs typeface="Arial"/>
              </a:rPr>
              <a:t>initial</a:t>
            </a:r>
            <a:r>
              <a:rPr lang="zh-CN" altLang="en-US" sz="2100" b="1" spc="-30" dirty="0">
                <a:solidFill>
                  <a:srgbClr val="3E3E3E"/>
                </a:solidFill>
                <a:latin typeface="宋体"/>
                <a:cs typeface="宋体"/>
              </a:rPr>
              <a:t>块中所用到的赋值语句都是</a:t>
            </a:r>
            <a:r>
              <a:rPr sz="2100" b="1" spc="-30" dirty="0" err="1">
                <a:solidFill>
                  <a:srgbClr val="3E3E3E"/>
                </a:solidFill>
                <a:latin typeface="宋体"/>
                <a:cs typeface="宋体"/>
              </a:rPr>
              <a:t>过程赋值</a:t>
            </a:r>
            <a:r>
              <a:rPr lang="zh-CN" altLang="en-US" sz="2100" b="1" spc="-30" dirty="0">
                <a:solidFill>
                  <a:srgbClr val="3E3E3E"/>
                </a:solidFill>
                <a:latin typeface="宋体"/>
                <a:cs typeface="宋体"/>
              </a:rPr>
              <a:t>语句，其赋值的对象必须是</a:t>
            </a:r>
            <a:r>
              <a:rPr lang="zh-CN" altLang="en-US" sz="2100" b="1" spc="-30" dirty="0">
                <a:solidFill>
                  <a:srgbClr val="C00000"/>
                </a:solidFill>
                <a:latin typeface="宋体"/>
                <a:cs typeface="宋体"/>
              </a:rPr>
              <a:t>寄存器数据类型</a:t>
            </a:r>
            <a:r>
              <a:rPr lang="zh-CN" altLang="en-US" sz="2100" b="1" spc="-30" dirty="0">
                <a:solidFill>
                  <a:srgbClr val="3E3E3E"/>
                </a:solidFill>
                <a:latin typeface="宋体"/>
                <a:cs typeface="宋体"/>
              </a:rPr>
              <a:t>的变量；</a:t>
            </a:r>
            <a:r>
              <a:rPr sz="2100" b="1" spc="-30" dirty="0" err="1">
                <a:solidFill>
                  <a:srgbClr val="3E3E3E"/>
                </a:solidFill>
                <a:latin typeface="宋体"/>
                <a:cs typeface="宋体"/>
              </a:rPr>
              <a:t>一个表达式只能赋给一种变量数据类型的输出</a:t>
            </a:r>
            <a:r>
              <a:rPr lang="zh-CN" altLang="en-US" sz="2100" b="1" spc="-30" dirty="0">
                <a:solidFill>
                  <a:srgbClr val="3E3E3E"/>
                </a:solidFill>
                <a:latin typeface="宋体"/>
                <a:cs typeface="宋体"/>
              </a:rPr>
              <a:t>，</a:t>
            </a:r>
            <a:r>
              <a:rPr sz="2100" b="1" spc="-30" dirty="0" err="1">
                <a:solidFill>
                  <a:srgbClr val="3E3E3E"/>
                </a:solidFill>
                <a:latin typeface="宋体"/>
                <a:cs typeface="宋体"/>
              </a:rPr>
              <a:t>这些变量数据</a:t>
            </a:r>
            <a:r>
              <a:rPr sz="2100" b="1" spc="-25" dirty="0" err="1">
                <a:solidFill>
                  <a:srgbClr val="3E3E3E"/>
                </a:solidFill>
                <a:latin typeface="宋体"/>
                <a:cs typeface="宋体"/>
              </a:rPr>
              <a:t>类型是</a:t>
            </a:r>
            <a:r>
              <a:rPr sz="2100" b="1" spc="-10" dirty="0" err="1">
                <a:solidFill>
                  <a:srgbClr val="C00000"/>
                </a:solidFill>
                <a:latin typeface="Arial"/>
                <a:cs typeface="Arial"/>
              </a:rPr>
              <a:t>reg</a:t>
            </a:r>
            <a:r>
              <a:rPr sz="2100" b="1" spc="-25" dirty="0" err="1">
                <a:solidFill>
                  <a:srgbClr val="3E3E3E"/>
                </a:solidFill>
                <a:latin typeface="宋体"/>
                <a:cs typeface="宋体"/>
              </a:rPr>
              <a:t>型、</a:t>
            </a:r>
            <a:r>
              <a:rPr sz="2100" b="1" spc="-10" dirty="0" err="1">
                <a:solidFill>
                  <a:schemeClr val="accent2">
                    <a:lumMod val="60000"/>
                    <a:lumOff val="40000"/>
                  </a:schemeClr>
                </a:solidFill>
                <a:latin typeface="Arial"/>
                <a:cs typeface="Arial"/>
              </a:rPr>
              <a:t>integer</a:t>
            </a:r>
            <a:r>
              <a:rPr sz="2100" b="1" spc="-25" dirty="0" err="1">
                <a:solidFill>
                  <a:srgbClr val="3E3E3E"/>
                </a:solidFill>
                <a:latin typeface="宋体"/>
                <a:cs typeface="宋体"/>
              </a:rPr>
              <a:t>型、</a:t>
            </a:r>
            <a:r>
              <a:rPr sz="2100" b="1" spc="-10" dirty="0" err="1">
                <a:solidFill>
                  <a:schemeClr val="accent2">
                    <a:lumMod val="60000"/>
                    <a:lumOff val="40000"/>
                  </a:schemeClr>
                </a:solidFill>
                <a:latin typeface="Arial"/>
                <a:cs typeface="Arial"/>
              </a:rPr>
              <a:t>real</a:t>
            </a:r>
            <a:r>
              <a:rPr sz="2100" b="1" spc="-25" dirty="0" err="1">
                <a:solidFill>
                  <a:srgbClr val="3E3E3E"/>
                </a:solidFill>
                <a:latin typeface="宋体"/>
                <a:cs typeface="宋体"/>
              </a:rPr>
              <a:t>型、</a:t>
            </a:r>
            <a:r>
              <a:rPr sz="2100" b="1" dirty="0" err="1">
                <a:solidFill>
                  <a:schemeClr val="accent2">
                    <a:lumMod val="60000"/>
                    <a:lumOff val="40000"/>
                  </a:schemeClr>
                </a:solidFill>
                <a:latin typeface="Arial"/>
                <a:cs typeface="Arial"/>
              </a:rPr>
              <a:t>time</a:t>
            </a:r>
            <a:r>
              <a:rPr sz="2100" b="1" spc="-25" dirty="0" err="1">
                <a:solidFill>
                  <a:srgbClr val="3E3E3E"/>
                </a:solidFill>
                <a:latin typeface="宋体"/>
                <a:cs typeface="宋体"/>
              </a:rPr>
              <a:t>型和</a:t>
            </a:r>
            <a:r>
              <a:rPr sz="2100" b="1" dirty="0" err="1">
                <a:solidFill>
                  <a:schemeClr val="accent2">
                    <a:lumMod val="60000"/>
                    <a:lumOff val="40000"/>
                  </a:schemeClr>
                </a:solidFill>
                <a:latin typeface="Arial"/>
                <a:cs typeface="Arial"/>
              </a:rPr>
              <a:t>realtime</a:t>
            </a:r>
            <a:r>
              <a:rPr sz="2100" b="1" spc="-35" dirty="0" err="1">
                <a:solidFill>
                  <a:srgbClr val="3E3E3E"/>
                </a:solidFill>
                <a:latin typeface="宋体"/>
                <a:cs typeface="宋体"/>
              </a:rPr>
              <a:t>型等</a:t>
            </a:r>
            <a:r>
              <a:rPr lang="zh-CN" altLang="en-US" sz="2100" b="1" spc="-35" dirty="0">
                <a:solidFill>
                  <a:srgbClr val="3E3E3E"/>
                </a:solidFill>
                <a:latin typeface="宋体"/>
                <a:cs typeface="宋体"/>
              </a:rPr>
              <a:t>。</a:t>
            </a:r>
            <a:endParaRPr lang="en-US" sz="2100" b="1" spc="-35" dirty="0">
              <a:solidFill>
                <a:srgbClr val="3E3E3E"/>
              </a:solidFill>
              <a:latin typeface="宋体"/>
              <a:cs typeface="宋体"/>
            </a:endParaRPr>
          </a:p>
          <a:p>
            <a:pPr marL="10160" marR="5080" algn="ctr">
              <a:lnSpc>
                <a:spcPct val="150500"/>
              </a:lnSpc>
              <a:spcBef>
                <a:spcPts val="95"/>
              </a:spcBef>
              <a:buSzPct val="83333"/>
              <a:tabLst>
                <a:tab pos="212725" algn="l"/>
                <a:tab pos="221615" algn="l"/>
              </a:tabLst>
            </a:pPr>
            <a:r>
              <a:rPr lang="en-US" altLang="zh-CN" sz="2100" b="1" dirty="0">
                <a:solidFill>
                  <a:schemeClr val="tx1"/>
                </a:solidFill>
                <a:latin typeface="Arial"/>
                <a:cs typeface="Arial"/>
              </a:rPr>
              <a:t>[</a:t>
            </a:r>
            <a:r>
              <a:rPr lang="zh-CN" altLang="en-US" sz="2100" b="1" spc="-10" dirty="0">
                <a:solidFill>
                  <a:schemeClr val="tx1"/>
                </a:solidFill>
                <a:latin typeface="微软雅黑"/>
                <a:cs typeface="微软雅黑"/>
              </a:rPr>
              <a:t>变量名</a:t>
            </a:r>
            <a:r>
              <a:rPr lang="en-US" altLang="zh-CN" sz="2100" b="1" spc="-10" dirty="0">
                <a:solidFill>
                  <a:schemeClr val="tx1"/>
                </a:solidFill>
                <a:latin typeface="Arial"/>
                <a:cs typeface="Arial"/>
              </a:rPr>
              <a:t>] =</a:t>
            </a:r>
            <a:r>
              <a:rPr lang="zh-CN" altLang="en-US" sz="2100" b="1" spc="-10" dirty="0">
                <a:solidFill>
                  <a:schemeClr val="tx1"/>
                </a:solidFill>
                <a:latin typeface="Arial"/>
                <a:cs typeface="Arial"/>
              </a:rPr>
              <a:t> </a:t>
            </a:r>
            <a:r>
              <a:rPr lang="en-US" altLang="zh-CN" sz="2100" b="1" spc="-10" dirty="0">
                <a:solidFill>
                  <a:schemeClr val="tx1"/>
                </a:solidFill>
                <a:latin typeface="Arial"/>
                <a:cs typeface="Arial"/>
              </a:rPr>
              <a:t>[</a:t>
            </a:r>
            <a:r>
              <a:rPr lang="zh-CN" altLang="en-US" sz="2100" b="1" dirty="0">
                <a:solidFill>
                  <a:schemeClr val="tx1"/>
                </a:solidFill>
                <a:latin typeface="微软雅黑"/>
                <a:cs typeface="微软雅黑"/>
              </a:rPr>
              <a:t>表达式</a:t>
            </a:r>
            <a:r>
              <a:rPr lang="en-US" altLang="zh-CN" sz="2100" b="1" spc="-20" dirty="0">
                <a:solidFill>
                  <a:schemeClr val="tx1"/>
                </a:solidFill>
                <a:latin typeface="Arial"/>
                <a:cs typeface="Arial"/>
              </a:rPr>
              <a:t>]</a:t>
            </a:r>
            <a:endParaRPr sz="2100" dirty="0">
              <a:latin typeface="宋体"/>
              <a:cs typeface="宋体"/>
            </a:endParaRPr>
          </a:p>
          <a:p>
            <a:pPr marL="222250" indent="-211454">
              <a:lnSpc>
                <a:spcPct val="100000"/>
              </a:lnSpc>
              <a:spcBef>
                <a:spcPts val="1970"/>
              </a:spcBef>
              <a:buClr>
                <a:srgbClr val="EC891C"/>
              </a:buClr>
              <a:buSzPct val="83333"/>
              <a:buFont typeface="Wingdings"/>
              <a:buChar char=""/>
              <a:tabLst>
                <a:tab pos="222250" algn="l"/>
              </a:tabLst>
            </a:pPr>
            <a:r>
              <a:rPr lang="zh-CN" altLang="en-US" sz="2100" b="1" spc="-25" dirty="0">
                <a:solidFill>
                  <a:srgbClr val="3E3E3E"/>
                </a:solidFill>
                <a:latin typeface="宋体"/>
                <a:cs typeface="宋体"/>
              </a:rPr>
              <a:t>在</a:t>
            </a:r>
            <a:r>
              <a:rPr lang="en-US" altLang="zh-CN" sz="2100" b="1" spc="-10" dirty="0">
                <a:solidFill>
                  <a:srgbClr val="3E3E3E"/>
                </a:solidFill>
                <a:latin typeface="Arial"/>
                <a:cs typeface="Arial"/>
              </a:rPr>
              <a:t>always</a:t>
            </a:r>
            <a:r>
              <a:rPr lang="zh-CN" altLang="en-US" sz="2100" b="1" spc="-25" dirty="0">
                <a:solidFill>
                  <a:srgbClr val="3E3E3E"/>
                </a:solidFill>
                <a:latin typeface="宋体"/>
                <a:cs typeface="宋体"/>
              </a:rPr>
              <a:t>块或</a:t>
            </a:r>
            <a:r>
              <a:rPr lang="en-US" altLang="zh-CN" sz="2100" b="1" spc="-10" dirty="0">
                <a:solidFill>
                  <a:srgbClr val="3E3E3E"/>
                </a:solidFill>
                <a:latin typeface="Arial"/>
                <a:cs typeface="Arial"/>
              </a:rPr>
              <a:t>initial</a:t>
            </a:r>
            <a:r>
              <a:rPr lang="zh-CN" altLang="en-US" sz="2100" b="1" spc="-30" dirty="0">
                <a:solidFill>
                  <a:srgbClr val="3E3E3E"/>
                </a:solidFill>
                <a:latin typeface="宋体"/>
                <a:cs typeface="宋体"/>
              </a:rPr>
              <a:t>块中用过程赋值语句赋值变量时，过程赋值语句的左值</a:t>
            </a:r>
            <a:r>
              <a:rPr lang="zh-CN" altLang="en-US" sz="2100" b="1" spc="-30" dirty="0">
                <a:solidFill>
                  <a:srgbClr val="C00000"/>
                </a:solidFill>
                <a:latin typeface="宋体"/>
                <a:cs typeface="宋体"/>
              </a:rPr>
              <a:t>一定不能是</a:t>
            </a:r>
            <a:r>
              <a:rPr sz="2100" b="1" spc="-10" dirty="0" err="1">
                <a:solidFill>
                  <a:srgbClr val="3E3E3E"/>
                </a:solidFill>
                <a:latin typeface="Arial"/>
                <a:cs typeface="Arial"/>
              </a:rPr>
              <a:t>wire</a:t>
            </a:r>
            <a:r>
              <a:rPr sz="2100" b="1" spc="-30" dirty="0" err="1">
                <a:solidFill>
                  <a:srgbClr val="3E3E3E"/>
                </a:solidFill>
                <a:latin typeface="宋体"/>
                <a:cs typeface="宋体"/>
              </a:rPr>
              <a:t>数据类型</a:t>
            </a:r>
            <a:r>
              <a:rPr lang="zh-CN" altLang="en-US" sz="2100" b="1" spc="-30" dirty="0">
                <a:solidFill>
                  <a:srgbClr val="3E3E3E"/>
                </a:solidFill>
                <a:latin typeface="宋体"/>
                <a:cs typeface="宋体"/>
              </a:rPr>
              <a:t>的变量</a:t>
            </a:r>
            <a:r>
              <a:rPr sz="2100" b="1" spc="-30" dirty="0">
                <a:solidFill>
                  <a:srgbClr val="3E3E3E"/>
                </a:solidFill>
                <a:latin typeface="宋体"/>
                <a:cs typeface="宋体"/>
              </a:rPr>
              <a:t>；</a:t>
            </a:r>
            <a:endParaRPr sz="2100" dirty="0">
              <a:latin typeface="宋体"/>
              <a:cs typeface="宋体"/>
            </a:endParaRPr>
          </a:p>
          <a:p>
            <a:pPr marL="212725" marR="158750" indent="-202565">
              <a:lnSpc>
                <a:spcPct val="150200"/>
              </a:lnSpc>
              <a:spcBef>
                <a:spcPts val="705"/>
              </a:spcBef>
              <a:buSzPct val="83333"/>
              <a:buFont typeface="Wingdings"/>
              <a:buChar char=""/>
              <a:tabLst>
                <a:tab pos="212725" algn="l"/>
                <a:tab pos="221615" algn="l"/>
              </a:tabLst>
            </a:pPr>
            <a:r>
              <a:rPr sz="2100" dirty="0">
                <a:solidFill>
                  <a:srgbClr val="EC891C"/>
                </a:solidFill>
                <a:latin typeface="Arial"/>
                <a:cs typeface="Arial"/>
              </a:rPr>
              <a:t>	</a:t>
            </a:r>
            <a:r>
              <a:rPr lang="zh-CN" altLang="en-US" sz="2100" b="1" spc="-30" dirty="0">
                <a:solidFill>
                  <a:srgbClr val="3E3E3E"/>
                </a:solidFill>
                <a:latin typeface="宋体"/>
                <a:cs typeface="宋体"/>
              </a:rPr>
              <a:t>过程赋值语句中用的最多的还是</a:t>
            </a:r>
            <a:r>
              <a:rPr lang="en-US" altLang="zh-CN" sz="2100" b="1" spc="-10" dirty="0">
                <a:solidFill>
                  <a:schemeClr val="tx1"/>
                </a:solidFill>
                <a:latin typeface="Arial"/>
                <a:cs typeface="Arial"/>
              </a:rPr>
              <a:t>reg</a:t>
            </a:r>
            <a:r>
              <a:rPr lang="zh-CN" altLang="en-US" sz="2100" b="1" spc="-25" dirty="0">
                <a:solidFill>
                  <a:srgbClr val="3E3E3E"/>
                </a:solidFill>
                <a:latin typeface="宋体"/>
                <a:cs typeface="宋体"/>
              </a:rPr>
              <a:t>型的变量；</a:t>
            </a:r>
            <a:r>
              <a:rPr lang="en-US" altLang="zh-CN" sz="2100" b="1" spc="-10" dirty="0">
                <a:solidFill>
                  <a:srgbClr val="3E3E3E"/>
                </a:solidFill>
                <a:latin typeface="Arial"/>
                <a:cs typeface="Arial"/>
              </a:rPr>
              <a:t>integer</a:t>
            </a:r>
            <a:r>
              <a:rPr sz="2100" b="1" spc="-25" dirty="0">
                <a:solidFill>
                  <a:srgbClr val="3E3E3E"/>
                </a:solidFill>
                <a:latin typeface="宋体"/>
                <a:cs typeface="宋体"/>
              </a:rPr>
              <a:t>数据类型表示固定大小（</a:t>
            </a:r>
            <a:r>
              <a:rPr sz="2100" b="1" spc="-30" dirty="0">
                <a:solidFill>
                  <a:srgbClr val="3E3E3E"/>
                </a:solidFill>
                <a:latin typeface="宋体"/>
                <a:cs typeface="宋体"/>
              </a:rPr>
              <a:t>通常是</a:t>
            </a:r>
            <a:r>
              <a:rPr sz="2100" b="1" dirty="0">
                <a:solidFill>
                  <a:srgbClr val="3E3E3E"/>
                </a:solidFill>
                <a:latin typeface="Arial"/>
                <a:cs typeface="Arial"/>
              </a:rPr>
              <a:t>32</a:t>
            </a:r>
            <a:r>
              <a:rPr sz="2100" b="1" spc="-25" dirty="0">
                <a:solidFill>
                  <a:srgbClr val="3E3E3E"/>
                </a:solidFill>
                <a:latin typeface="宋体"/>
                <a:cs typeface="宋体"/>
              </a:rPr>
              <a:t>位）</a:t>
            </a:r>
            <a:r>
              <a:rPr sz="2100" b="1" spc="-30" dirty="0">
                <a:solidFill>
                  <a:srgbClr val="3E3E3E"/>
                </a:solidFill>
                <a:latin typeface="宋体"/>
                <a:cs typeface="宋体"/>
              </a:rPr>
              <a:t>有符号二进制补码格式，由于大小固定，在综合中</a:t>
            </a:r>
            <a:r>
              <a:rPr lang="zh-CN" altLang="en-US" sz="2100" b="1" spc="-30" dirty="0">
                <a:solidFill>
                  <a:srgbClr val="3E3E3E"/>
                </a:solidFill>
                <a:latin typeface="宋体"/>
                <a:cs typeface="宋体"/>
              </a:rPr>
              <a:t>也没有</a:t>
            </a:r>
            <a:r>
              <a:rPr lang="en-US" altLang="zh-CN" sz="2100" b="1" spc="-10" dirty="0">
                <a:solidFill>
                  <a:schemeClr val="tx1"/>
                </a:solidFill>
                <a:latin typeface="Arial"/>
                <a:cs typeface="Arial"/>
              </a:rPr>
              <a:t>reg</a:t>
            </a:r>
            <a:r>
              <a:rPr lang="zh-CN" altLang="en-US" sz="2100" b="1" spc="-25" dirty="0">
                <a:solidFill>
                  <a:srgbClr val="3E3E3E"/>
                </a:solidFill>
                <a:latin typeface="宋体"/>
                <a:cs typeface="宋体"/>
              </a:rPr>
              <a:t>型</a:t>
            </a:r>
            <a:r>
              <a:rPr sz="2100" b="1" spc="-30" dirty="0" err="1">
                <a:solidFill>
                  <a:srgbClr val="3E3E3E"/>
                </a:solidFill>
                <a:latin typeface="宋体"/>
                <a:cs typeface="宋体"/>
              </a:rPr>
              <a:t>常用</a:t>
            </a:r>
            <a:r>
              <a:rPr lang="zh-CN" altLang="en-US" sz="2100" b="1" spc="-30" dirty="0">
                <a:solidFill>
                  <a:srgbClr val="3E3E3E"/>
                </a:solidFill>
                <a:latin typeface="宋体"/>
                <a:cs typeface="宋体"/>
              </a:rPr>
              <a:t>；</a:t>
            </a:r>
            <a:endParaRPr sz="2100" dirty="0">
              <a:latin typeface="宋体"/>
              <a:cs typeface="宋体"/>
            </a:endParaRPr>
          </a:p>
          <a:p>
            <a:pPr marL="222250" indent="-211454">
              <a:lnSpc>
                <a:spcPct val="100000"/>
              </a:lnSpc>
              <a:spcBef>
                <a:spcPts val="1964"/>
              </a:spcBef>
              <a:buClr>
                <a:srgbClr val="EC891C"/>
              </a:buClr>
              <a:buSzPct val="83333"/>
              <a:buFont typeface="Wingdings"/>
              <a:buChar char=""/>
              <a:tabLst>
                <a:tab pos="222250" algn="l"/>
              </a:tabLst>
            </a:pPr>
            <a:r>
              <a:rPr sz="2100" b="1" spc="-30" dirty="0">
                <a:solidFill>
                  <a:srgbClr val="3E3E3E"/>
                </a:solidFill>
                <a:latin typeface="宋体"/>
                <a:cs typeface="宋体"/>
              </a:rPr>
              <a:t>其他几种数据类型用于建模和仿真，无法被综合。</a:t>
            </a:r>
            <a:endParaRPr sz="2100" dirty="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9421" y="1061720"/>
            <a:ext cx="4991100" cy="506730"/>
          </a:xfrm>
          <a:prstGeom prst="rect">
            <a:avLst/>
          </a:prstGeom>
        </p:spPr>
        <p:txBody>
          <a:bodyPr vert="horz" wrap="square" lIns="0" tIns="13335" rIns="0" bIns="0" rtlCol="0">
            <a:spAutoFit/>
          </a:bodyPr>
          <a:lstStyle/>
          <a:p>
            <a:pPr marL="12700">
              <a:lnSpc>
                <a:spcPct val="100000"/>
              </a:lnSpc>
              <a:spcBef>
                <a:spcPts val="105"/>
              </a:spcBef>
            </a:pPr>
            <a:r>
              <a:rPr sz="3150" dirty="0">
                <a:latin typeface="Arial"/>
                <a:cs typeface="Arial"/>
              </a:rPr>
              <a:t>3.1.4 </a:t>
            </a:r>
            <a:r>
              <a:rPr sz="3150" dirty="0"/>
              <a:t>简单实例</a:t>
            </a:r>
            <a:r>
              <a:rPr sz="3150" spc="-10" dirty="0">
                <a:latin typeface="Arial"/>
                <a:cs typeface="Arial"/>
              </a:rPr>
              <a:t>----</a:t>
            </a:r>
            <a:r>
              <a:rPr sz="3150" dirty="0">
                <a:latin typeface="Arial"/>
                <a:cs typeface="Arial"/>
              </a:rPr>
              <a:t>1</a:t>
            </a:r>
            <a:r>
              <a:rPr sz="3150" spc="-15" dirty="0">
                <a:latin typeface="宋体"/>
                <a:cs typeface="宋体"/>
              </a:rPr>
              <a:t>位比较器</a:t>
            </a:r>
            <a:endParaRPr sz="3150">
              <a:latin typeface="宋体"/>
              <a:cs typeface="宋体"/>
            </a:endParaRPr>
          </a:p>
        </p:txBody>
      </p:sp>
      <p:sp>
        <p:nvSpPr>
          <p:cNvPr id="3" name="object 3"/>
          <p:cNvSpPr txBox="1"/>
          <p:nvPr/>
        </p:nvSpPr>
        <p:spPr>
          <a:xfrm>
            <a:off x="1015879" y="2754884"/>
            <a:ext cx="2051685" cy="346710"/>
          </a:xfrm>
          <a:prstGeom prst="rect">
            <a:avLst/>
          </a:prstGeom>
        </p:spPr>
        <p:txBody>
          <a:bodyPr vert="horz" wrap="square" lIns="0" tIns="13335" rIns="0" bIns="0" rtlCol="0">
            <a:spAutoFit/>
          </a:bodyPr>
          <a:lstStyle/>
          <a:p>
            <a:pPr marL="12700">
              <a:lnSpc>
                <a:spcPct val="100000"/>
              </a:lnSpc>
              <a:spcBef>
                <a:spcPts val="105"/>
              </a:spcBef>
            </a:pPr>
            <a:r>
              <a:rPr sz="2100" b="1" spc="-10" dirty="0">
                <a:solidFill>
                  <a:srgbClr val="3E3E3E"/>
                </a:solidFill>
                <a:latin typeface="Arial"/>
                <a:cs typeface="Arial"/>
              </a:rPr>
              <a:t>1</a:t>
            </a:r>
            <a:r>
              <a:rPr sz="2100" b="1" spc="-30" dirty="0">
                <a:solidFill>
                  <a:srgbClr val="3E3E3E"/>
                </a:solidFill>
                <a:latin typeface="宋体"/>
                <a:cs typeface="宋体"/>
              </a:rPr>
              <a:t>位比较器真值表</a:t>
            </a:r>
            <a:endParaRPr sz="2100">
              <a:latin typeface="宋体"/>
              <a:cs typeface="宋体"/>
            </a:endParaRPr>
          </a:p>
        </p:txBody>
      </p:sp>
      <p:grpSp>
        <p:nvGrpSpPr>
          <p:cNvPr id="4" name="object 4"/>
          <p:cNvGrpSpPr/>
          <p:nvPr/>
        </p:nvGrpSpPr>
        <p:grpSpPr>
          <a:xfrm>
            <a:off x="5321693" y="2033016"/>
            <a:ext cx="5186680" cy="4170045"/>
            <a:chOff x="5321693" y="2033016"/>
            <a:chExt cx="5186680" cy="4170045"/>
          </a:xfrm>
        </p:grpSpPr>
        <p:sp>
          <p:nvSpPr>
            <p:cNvPr id="5" name="object 5"/>
            <p:cNvSpPr/>
            <p:nvPr/>
          </p:nvSpPr>
          <p:spPr>
            <a:xfrm>
              <a:off x="5325503" y="2036826"/>
              <a:ext cx="5177790" cy="4162425"/>
            </a:xfrm>
            <a:custGeom>
              <a:avLst/>
              <a:gdLst/>
              <a:ahLst/>
              <a:cxnLst/>
              <a:rect l="l" t="t" r="r" b="b"/>
              <a:pathLst>
                <a:path w="5177790" h="4162425">
                  <a:moveTo>
                    <a:pt x="5177789" y="4162044"/>
                  </a:moveTo>
                  <a:lnTo>
                    <a:pt x="5177789" y="0"/>
                  </a:lnTo>
                  <a:lnTo>
                    <a:pt x="0" y="0"/>
                  </a:lnTo>
                  <a:lnTo>
                    <a:pt x="0" y="4162044"/>
                  </a:lnTo>
                  <a:lnTo>
                    <a:pt x="5177789" y="4162044"/>
                  </a:lnTo>
                  <a:close/>
                </a:path>
              </a:pathLst>
            </a:custGeom>
            <a:solidFill>
              <a:srgbClr val="F9FABA"/>
            </a:solidFill>
          </p:spPr>
          <p:txBody>
            <a:bodyPr wrap="square" lIns="0" tIns="0" rIns="0" bIns="0" rtlCol="0"/>
            <a:lstStyle/>
            <a:p>
              <a:endParaRPr/>
            </a:p>
          </p:txBody>
        </p:sp>
        <p:sp>
          <p:nvSpPr>
            <p:cNvPr id="6" name="object 6"/>
            <p:cNvSpPr/>
            <p:nvPr/>
          </p:nvSpPr>
          <p:spPr>
            <a:xfrm>
              <a:off x="5321693" y="2033016"/>
              <a:ext cx="5186680" cy="4170045"/>
            </a:xfrm>
            <a:custGeom>
              <a:avLst/>
              <a:gdLst/>
              <a:ahLst/>
              <a:cxnLst/>
              <a:rect l="l" t="t" r="r" b="b"/>
              <a:pathLst>
                <a:path w="5186680" h="4170045">
                  <a:moveTo>
                    <a:pt x="5186172" y="4168140"/>
                  </a:moveTo>
                  <a:lnTo>
                    <a:pt x="5186172" y="1523"/>
                  </a:lnTo>
                  <a:lnTo>
                    <a:pt x="5183886" y="0"/>
                  </a:lnTo>
                  <a:lnTo>
                    <a:pt x="1523" y="0"/>
                  </a:lnTo>
                  <a:lnTo>
                    <a:pt x="0" y="1524"/>
                  </a:lnTo>
                  <a:lnTo>
                    <a:pt x="0" y="4168140"/>
                  </a:lnTo>
                  <a:lnTo>
                    <a:pt x="1524" y="4169664"/>
                  </a:lnTo>
                  <a:lnTo>
                    <a:pt x="3810" y="4169664"/>
                  </a:lnTo>
                  <a:lnTo>
                    <a:pt x="3810" y="8382"/>
                  </a:lnTo>
                  <a:lnTo>
                    <a:pt x="8381" y="3810"/>
                  </a:lnTo>
                  <a:lnTo>
                    <a:pt x="8381" y="8382"/>
                  </a:lnTo>
                  <a:lnTo>
                    <a:pt x="5177789" y="8381"/>
                  </a:lnTo>
                  <a:lnTo>
                    <a:pt x="5177789" y="3809"/>
                  </a:lnTo>
                  <a:lnTo>
                    <a:pt x="5181600" y="8381"/>
                  </a:lnTo>
                  <a:lnTo>
                    <a:pt x="5181600" y="4169664"/>
                  </a:lnTo>
                  <a:lnTo>
                    <a:pt x="5183886" y="4169664"/>
                  </a:lnTo>
                  <a:lnTo>
                    <a:pt x="5186172" y="4168140"/>
                  </a:lnTo>
                  <a:close/>
                </a:path>
                <a:path w="5186680" h="4170045">
                  <a:moveTo>
                    <a:pt x="8381" y="8382"/>
                  </a:moveTo>
                  <a:lnTo>
                    <a:pt x="8381" y="3810"/>
                  </a:lnTo>
                  <a:lnTo>
                    <a:pt x="3810" y="8382"/>
                  </a:lnTo>
                  <a:lnTo>
                    <a:pt x="8381" y="8382"/>
                  </a:lnTo>
                  <a:close/>
                </a:path>
                <a:path w="5186680" h="4170045">
                  <a:moveTo>
                    <a:pt x="8381" y="4161282"/>
                  </a:moveTo>
                  <a:lnTo>
                    <a:pt x="8381" y="8382"/>
                  </a:lnTo>
                  <a:lnTo>
                    <a:pt x="3810" y="8382"/>
                  </a:lnTo>
                  <a:lnTo>
                    <a:pt x="3810" y="4161282"/>
                  </a:lnTo>
                  <a:lnTo>
                    <a:pt x="8381" y="4161282"/>
                  </a:lnTo>
                  <a:close/>
                </a:path>
                <a:path w="5186680" h="4170045">
                  <a:moveTo>
                    <a:pt x="5181600" y="4161282"/>
                  </a:moveTo>
                  <a:lnTo>
                    <a:pt x="3810" y="4161282"/>
                  </a:lnTo>
                  <a:lnTo>
                    <a:pt x="8381" y="4165854"/>
                  </a:lnTo>
                  <a:lnTo>
                    <a:pt x="8381" y="4169664"/>
                  </a:lnTo>
                  <a:lnTo>
                    <a:pt x="5177789" y="4169664"/>
                  </a:lnTo>
                  <a:lnTo>
                    <a:pt x="5177789" y="4165854"/>
                  </a:lnTo>
                  <a:lnTo>
                    <a:pt x="5181600" y="4161282"/>
                  </a:lnTo>
                  <a:close/>
                </a:path>
                <a:path w="5186680" h="4170045">
                  <a:moveTo>
                    <a:pt x="8381" y="4169664"/>
                  </a:moveTo>
                  <a:lnTo>
                    <a:pt x="8381" y="4165854"/>
                  </a:lnTo>
                  <a:lnTo>
                    <a:pt x="3810" y="4161282"/>
                  </a:lnTo>
                  <a:lnTo>
                    <a:pt x="3810" y="4169664"/>
                  </a:lnTo>
                  <a:lnTo>
                    <a:pt x="8381" y="4169664"/>
                  </a:lnTo>
                  <a:close/>
                </a:path>
                <a:path w="5186680" h="4170045">
                  <a:moveTo>
                    <a:pt x="5181600" y="8381"/>
                  </a:moveTo>
                  <a:lnTo>
                    <a:pt x="5177789" y="3809"/>
                  </a:lnTo>
                  <a:lnTo>
                    <a:pt x="5177789" y="8381"/>
                  </a:lnTo>
                  <a:lnTo>
                    <a:pt x="5181600" y="8381"/>
                  </a:lnTo>
                  <a:close/>
                </a:path>
                <a:path w="5186680" h="4170045">
                  <a:moveTo>
                    <a:pt x="5181600" y="4161282"/>
                  </a:moveTo>
                  <a:lnTo>
                    <a:pt x="5181600" y="8381"/>
                  </a:lnTo>
                  <a:lnTo>
                    <a:pt x="5177789" y="8381"/>
                  </a:lnTo>
                  <a:lnTo>
                    <a:pt x="5177789" y="4161282"/>
                  </a:lnTo>
                  <a:lnTo>
                    <a:pt x="5181600" y="4161282"/>
                  </a:lnTo>
                  <a:close/>
                </a:path>
                <a:path w="5186680" h="4170045">
                  <a:moveTo>
                    <a:pt x="5181600" y="4169664"/>
                  </a:moveTo>
                  <a:lnTo>
                    <a:pt x="5181600" y="4161282"/>
                  </a:lnTo>
                  <a:lnTo>
                    <a:pt x="5177789" y="4165854"/>
                  </a:lnTo>
                  <a:lnTo>
                    <a:pt x="5177789" y="4169664"/>
                  </a:lnTo>
                  <a:lnTo>
                    <a:pt x="5181600" y="4169664"/>
                  </a:lnTo>
                  <a:close/>
                </a:path>
              </a:pathLst>
            </a:custGeom>
            <a:solidFill>
              <a:srgbClr val="000000"/>
            </a:solidFill>
          </p:spPr>
          <p:txBody>
            <a:bodyPr wrap="square" lIns="0" tIns="0" rIns="0" bIns="0" rtlCol="0"/>
            <a:lstStyle/>
            <a:p>
              <a:endParaRPr/>
            </a:p>
          </p:txBody>
        </p:sp>
      </p:grpSp>
      <p:sp>
        <p:nvSpPr>
          <p:cNvPr id="7" name="object 7"/>
          <p:cNvSpPr txBox="1"/>
          <p:nvPr/>
        </p:nvSpPr>
        <p:spPr>
          <a:xfrm>
            <a:off x="5451227" y="2031434"/>
            <a:ext cx="1826895" cy="603250"/>
          </a:xfrm>
          <a:prstGeom prst="rect">
            <a:avLst/>
          </a:prstGeom>
        </p:spPr>
        <p:txBody>
          <a:bodyPr vert="horz" wrap="square" lIns="0" tIns="11430" rIns="0" bIns="0" rtlCol="0">
            <a:spAutoFit/>
          </a:bodyPr>
          <a:lstStyle/>
          <a:p>
            <a:pPr marL="287655" indent="-288290">
              <a:lnSpc>
                <a:spcPct val="122300"/>
              </a:lnSpc>
              <a:spcBef>
                <a:spcPts val="90"/>
              </a:spcBef>
            </a:pPr>
            <a:r>
              <a:rPr sz="1550" b="1" dirty="0">
                <a:latin typeface="Arial"/>
                <a:cs typeface="Arial"/>
              </a:rPr>
              <a:t>module</a:t>
            </a:r>
            <a:r>
              <a:rPr sz="1550" b="1" spc="60" dirty="0">
                <a:latin typeface="Arial"/>
                <a:cs typeface="Arial"/>
              </a:rPr>
              <a:t> </a:t>
            </a:r>
            <a:r>
              <a:rPr sz="1550" spc="-10" dirty="0">
                <a:latin typeface="Arial"/>
                <a:cs typeface="Arial"/>
              </a:rPr>
              <a:t>eq1_always </a:t>
            </a:r>
            <a:r>
              <a:rPr sz="1550" spc="-50" dirty="0">
                <a:latin typeface="Arial"/>
                <a:cs typeface="Arial"/>
              </a:rPr>
              <a:t>(</a:t>
            </a:r>
            <a:endParaRPr sz="1550">
              <a:latin typeface="Arial"/>
              <a:cs typeface="Arial"/>
            </a:endParaRPr>
          </a:p>
        </p:txBody>
      </p:sp>
      <p:sp>
        <p:nvSpPr>
          <p:cNvPr id="8" name="object 8"/>
          <p:cNvSpPr txBox="1"/>
          <p:nvPr/>
        </p:nvSpPr>
        <p:spPr>
          <a:xfrm>
            <a:off x="7553090" y="2934009"/>
            <a:ext cx="1706880" cy="280035"/>
          </a:xfrm>
          <a:prstGeom prst="rect">
            <a:avLst/>
          </a:prstGeom>
        </p:spPr>
        <p:txBody>
          <a:bodyPr vert="horz" wrap="square" lIns="0" tIns="14604" rIns="0" bIns="0" rtlCol="0">
            <a:spAutoFit/>
          </a:bodyPr>
          <a:lstStyle/>
          <a:p>
            <a:pPr marL="12700">
              <a:lnSpc>
                <a:spcPct val="100000"/>
              </a:lnSpc>
              <a:spcBef>
                <a:spcPts val="114"/>
              </a:spcBef>
            </a:pPr>
            <a:r>
              <a:rPr sz="1550" spc="25" dirty="0">
                <a:solidFill>
                  <a:srgbClr val="00B0EF"/>
                </a:solidFill>
                <a:latin typeface="Arial"/>
                <a:cs typeface="Arial"/>
              </a:rPr>
              <a:t>// </a:t>
            </a:r>
            <a:r>
              <a:rPr sz="1550" i="1" dirty="0">
                <a:solidFill>
                  <a:srgbClr val="00B0EF"/>
                </a:solidFill>
                <a:latin typeface="Arial"/>
                <a:cs typeface="Arial"/>
              </a:rPr>
              <a:t>eq</a:t>
            </a:r>
            <a:r>
              <a:rPr sz="1650" i="1" spc="-90" dirty="0">
                <a:solidFill>
                  <a:srgbClr val="00B0EF"/>
                </a:solidFill>
                <a:latin typeface="宋体"/>
                <a:cs typeface="宋体"/>
              </a:rPr>
              <a:t>声明为</a:t>
            </a:r>
            <a:r>
              <a:rPr sz="1550" i="1" dirty="0">
                <a:solidFill>
                  <a:srgbClr val="00B0EF"/>
                </a:solidFill>
                <a:latin typeface="Arial"/>
                <a:cs typeface="Arial"/>
              </a:rPr>
              <a:t>reg</a:t>
            </a:r>
            <a:r>
              <a:rPr sz="1650" i="1" spc="-70" dirty="0">
                <a:solidFill>
                  <a:srgbClr val="00B0EF"/>
                </a:solidFill>
                <a:latin typeface="宋体"/>
                <a:cs typeface="宋体"/>
              </a:rPr>
              <a:t>类型</a:t>
            </a:r>
            <a:endParaRPr sz="1650">
              <a:latin typeface="宋体"/>
              <a:cs typeface="宋体"/>
            </a:endParaRPr>
          </a:p>
        </p:txBody>
      </p:sp>
      <p:sp>
        <p:nvSpPr>
          <p:cNvPr id="9" name="object 9"/>
          <p:cNvSpPr txBox="1"/>
          <p:nvPr/>
        </p:nvSpPr>
        <p:spPr>
          <a:xfrm>
            <a:off x="7533267" y="3475431"/>
            <a:ext cx="2708275" cy="601980"/>
          </a:xfrm>
          <a:prstGeom prst="rect">
            <a:avLst/>
          </a:prstGeom>
        </p:spPr>
        <p:txBody>
          <a:bodyPr vert="horz" wrap="square" lIns="0" tIns="63500" rIns="0" bIns="0" rtlCol="0">
            <a:spAutoFit/>
          </a:bodyPr>
          <a:lstStyle/>
          <a:p>
            <a:pPr marL="20955">
              <a:lnSpc>
                <a:spcPct val="100000"/>
              </a:lnSpc>
              <a:spcBef>
                <a:spcPts val="500"/>
              </a:spcBef>
            </a:pPr>
            <a:r>
              <a:rPr sz="1550" spc="20" dirty="0">
                <a:solidFill>
                  <a:srgbClr val="00B0EF"/>
                </a:solidFill>
                <a:latin typeface="Arial"/>
                <a:cs typeface="Arial"/>
              </a:rPr>
              <a:t>// </a:t>
            </a:r>
            <a:r>
              <a:rPr sz="1550" dirty="0">
                <a:solidFill>
                  <a:srgbClr val="00B0EF"/>
                </a:solidFill>
                <a:latin typeface="Arial"/>
                <a:cs typeface="Arial"/>
              </a:rPr>
              <a:t>p0</a:t>
            </a:r>
            <a:r>
              <a:rPr sz="1550" dirty="0">
                <a:solidFill>
                  <a:srgbClr val="00B0EF"/>
                </a:solidFill>
                <a:latin typeface="宋体"/>
                <a:cs typeface="宋体"/>
              </a:rPr>
              <a:t>和</a:t>
            </a:r>
            <a:r>
              <a:rPr sz="1550" dirty="0">
                <a:solidFill>
                  <a:srgbClr val="00B0EF"/>
                </a:solidFill>
                <a:latin typeface="Arial"/>
                <a:cs typeface="Arial"/>
              </a:rPr>
              <a:t>p1</a:t>
            </a:r>
            <a:r>
              <a:rPr sz="1550" spc="75" dirty="0">
                <a:solidFill>
                  <a:srgbClr val="00B0EF"/>
                </a:solidFill>
                <a:latin typeface="Arial"/>
                <a:cs typeface="Arial"/>
              </a:rPr>
              <a:t> </a:t>
            </a:r>
            <a:r>
              <a:rPr sz="1550" dirty="0">
                <a:solidFill>
                  <a:srgbClr val="00B0EF"/>
                </a:solidFill>
                <a:latin typeface="宋体"/>
                <a:cs typeface="宋体"/>
              </a:rPr>
              <a:t>声明为</a:t>
            </a:r>
            <a:r>
              <a:rPr sz="1550" dirty="0">
                <a:solidFill>
                  <a:srgbClr val="00B0EF"/>
                </a:solidFill>
                <a:latin typeface="Arial"/>
                <a:cs typeface="Arial"/>
              </a:rPr>
              <a:t>reg</a:t>
            </a:r>
            <a:r>
              <a:rPr sz="1550" spc="-25" dirty="0">
                <a:solidFill>
                  <a:srgbClr val="00B0EF"/>
                </a:solidFill>
                <a:latin typeface="宋体"/>
                <a:cs typeface="宋体"/>
              </a:rPr>
              <a:t>类型</a:t>
            </a:r>
            <a:endParaRPr sz="1550">
              <a:latin typeface="宋体"/>
              <a:cs typeface="宋体"/>
            </a:endParaRPr>
          </a:p>
          <a:p>
            <a:pPr marL="12700">
              <a:lnSpc>
                <a:spcPct val="100000"/>
              </a:lnSpc>
              <a:spcBef>
                <a:spcPts val="409"/>
              </a:spcBef>
            </a:pPr>
            <a:r>
              <a:rPr sz="1550" spc="60" dirty="0">
                <a:solidFill>
                  <a:srgbClr val="00B0EF"/>
                </a:solidFill>
                <a:latin typeface="Arial"/>
                <a:cs typeface="Arial"/>
              </a:rPr>
              <a:t>// </a:t>
            </a:r>
            <a:r>
              <a:rPr sz="1550" dirty="0">
                <a:solidFill>
                  <a:srgbClr val="00B0EF"/>
                </a:solidFill>
                <a:latin typeface="Arial"/>
                <a:cs typeface="Arial"/>
              </a:rPr>
              <a:t>i0</a:t>
            </a:r>
            <a:r>
              <a:rPr sz="1550" dirty="0">
                <a:solidFill>
                  <a:srgbClr val="00B0EF"/>
                </a:solidFill>
                <a:latin typeface="宋体"/>
                <a:cs typeface="宋体"/>
              </a:rPr>
              <a:t>和</a:t>
            </a:r>
            <a:r>
              <a:rPr sz="1550" dirty="0">
                <a:solidFill>
                  <a:srgbClr val="00B0EF"/>
                </a:solidFill>
                <a:latin typeface="Arial"/>
                <a:cs typeface="Arial"/>
              </a:rPr>
              <a:t>i1</a:t>
            </a:r>
            <a:r>
              <a:rPr sz="1550" spc="-5" dirty="0">
                <a:solidFill>
                  <a:srgbClr val="00B0EF"/>
                </a:solidFill>
                <a:latin typeface="宋体"/>
                <a:cs typeface="宋体"/>
              </a:rPr>
              <a:t>必须在敏感信号列表中</a:t>
            </a:r>
            <a:endParaRPr sz="1550">
              <a:latin typeface="宋体"/>
              <a:cs typeface="宋体"/>
            </a:endParaRPr>
          </a:p>
        </p:txBody>
      </p:sp>
      <p:sp>
        <p:nvSpPr>
          <p:cNvPr id="10" name="object 10"/>
          <p:cNvSpPr txBox="1"/>
          <p:nvPr/>
        </p:nvSpPr>
        <p:spPr>
          <a:xfrm>
            <a:off x="5739267" y="2608282"/>
            <a:ext cx="1492250" cy="1757680"/>
          </a:xfrm>
          <a:prstGeom prst="rect">
            <a:avLst/>
          </a:prstGeom>
        </p:spPr>
        <p:txBody>
          <a:bodyPr vert="horz" wrap="square" lIns="0" tIns="64135" rIns="0" bIns="0" rtlCol="0">
            <a:spAutoFit/>
          </a:bodyPr>
          <a:lstStyle/>
          <a:p>
            <a:pPr marL="111125">
              <a:lnSpc>
                <a:spcPct val="100000"/>
              </a:lnSpc>
              <a:spcBef>
                <a:spcPts val="505"/>
              </a:spcBef>
            </a:pPr>
            <a:r>
              <a:rPr sz="1550" b="1" dirty="0">
                <a:latin typeface="Arial"/>
                <a:cs typeface="Arial"/>
              </a:rPr>
              <a:t>input</a:t>
            </a:r>
            <a:r>
              <a:rPr sz="1550" b="1" spc="459"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a:t>
            </a:r>
            <a:endParaRPr sz="1550" dirty="0">
              <a:latin typeface="Arial"/>
              <a:cs typeface="Arial"/>
            </a:endParaRPr>
          </a:p>
          <a:p>
            <a:pPr marL="111125">
              <a:lnSpc>
                <a:spcPct val="100000"/>
              </a:lnSpc>
              <a:spcBef>
                <a:spcPts val="415"/>
              </a:spcBef>
            </a:pPr>
            <a:r>
              <a:rPr sz="1550" b="1" dirty="0">
                <a:latin typeface="Arial"/>
                <a:cs typeface="Arial"/>
              </a:rPr>
              <a:t>output</a:t>
            </a:r>
            <a:r>
              <a:rPr sz="1550" b="1" spc="470" dirty="0">
                <a:latin typeface="Arial"/>
                <a:cs typeface="Arial"/>
              </a:rPr>
              <a:t> </a:t>
            </a:r>
            <a:r>
              <a:rPr sz="1550" b="1" dirty="0">
                <a:latin typeface="Arial"/>
                <a:cs typeface="Arial"/>
              </a:rPr>
              <a:t>reg</a:t>
            </a:r>
            <a:r>
              <a:rPr sz="1550" b="1" spc="475" dirty="0">
                <a:latin typeface="Arial"/>
                <a:cs typeface="Arial"/>
              </a:rPr>
              <a:t> </a:t>
            </a:r>
            <a:r>
              <a:rPr sz="1550" spc="-25" dirty="0">
                <a:latin typeface="Arial"/>
                <a:cs typeface="Arial"/>
              </a:rPr>
              <a:t>eq</a:t>
            </a:r>
            <a:endParaRPr sz="1550" dirty="0">
              <a:latin typeface="Arial"/>
              <a:cs typeface="Arial"/>
            </a:endParaRPr>
          </a:p>
          <a:p>
            <a:pPr marL="5715">
              <a:lnSpc>
                <a:spcPct val="100000"/>
              </a:lnSpc>
              <a:spcBef>
                <a:spcPts val="415"/>
              </a:spcBef>
            </a:pPr>
            <a:r>
              <a:rPr sz="1550" spc="-25" dirty="0">
                <a:latin typeface="Arial"/>
                <a:cs typeface="Arial"/>
              </a:rPr>
              <a:t>);</a:t>
            </a:r>
            <a:endParaRPr sz="1550" dirty="0">
              <a:latin typeface="Arial"/>
              <a:cs typeface="Arial"/>
            </a:endParaRPr>
          </a:p>
          <a:p>
            <a:pPr marR="12065">
              <a:lnSpc>
                <a:spcPct val="122100"/>
              </a:lnSpc>
              <a:spcBef>
                <a:spcPts val="5"/>
              </a:spcBef>
            </a:pPr>
            <a:r>
              <a:rPr sz="1550" b="1" dirty="0">
                <a:latin typeface="Arial"/>
                <a:cs typeface="Arial"/>
              </a:rPr>
              <a:t>reg</a:t>
            </a:r>
            <a:r>
              <a:rPr sz="1550" b="1" spc="35" dirty="0">
                <a:latin typeface="Arial"/>
                <a:cs typeface="Arial"/>
              </a:rPr>
              <a:t> </a:t>
            </a:r>
            <a:r>
              <a:rPr sz="1550" dirty="0">
                <a:latin typeface="Arial"/>
                <a:cs typeface="Arial"/>
              </a:rPr>
              <a:t>p0,</a:t>
            </a:r>
            <a:r>
              <a:rPr sz="1550" spc="35" dirty="0">
                <a:latin typeface="Arial"/>
                <a:cs typeface="Arial"/>
              </a:rPr>
              <a:t> </a:t>
            </a:r>
            <a:r>
              <a:rPr sz="1550" spc="-25" dirty="0">
                <a:latin typeface="Arial"/>
                <a:cs typeface="Arial"/>
              </a:rPr>
              <a:t>p1; </a:t>
            </a:r>
            <a:r>
              <a:rPr sz="1550" b="1" dirty="0">
                <a:latin typeface="Arial"/>
                <a:cs typeface="Arial"/>
              </a:rPr>
              <a:t>always</a:t>
            </a:r>
            <a:r>
              <a:rPr sz="1550" b="1" spc="25"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 </a:t>
            </a:r>
            <a:r>
              <a:rPr sz="1550" b="1" spc="-10" dirty="0">
                <a:latin typeface="Arial"/>
                <a:cs typeface="Arial"/>
              </a:rPr>
              <a:t>begin</a:t>
            </a:r>
            <a:endParaRPr sz="1550" dirty="0">
              <a:latin typeface="Arial"/>
              <a:cs typeface="Arial"/>
            </a:endParaRPr>
          </a:p>
        </p:txBody>
      </p:sp>
      <p:sp>
        <p:nvSpPr>
          <p:cNvPr id="11" name="object 11"/>
          <p:cNvSpPr txBox="1"/>
          <p:nvPr/>
        </p:nvSpPr>
        <p:spPr>
          <a:xfrm>
            <a:off x="5509386" y="4340323"/>
            <a:ext cx="2569845" cy="1757045"/>
          </a:xfrm>
          <a:prstGeom prst="rect">
            <a:avLst/>
          </a:prstGeom>
        </p:spPr>
        <p:txBody>
          <a:bodyPr vert="horz" wrap="square" lIns="0" tIns="11430" rIns="0" bIns="0" rtlCol="0">
            <a:spAutoFit/>
          </a:bodyPr>
          <a:lstStyle/>
          <a:p>
            <a:pPr marL="452755" marR="5080" indent="-11430">
              <a:lnSpc>
                <a:spcPct val="122300"/>
              </a:lnSpc>
              <a:spcBef>
                <a:spcPts val="90"/>
              </a:spcBef>
            </a:pPr>
            <a:r>
              <a:rPr sz="1550" dirty="0">
                <a:solidFill>
                  <a:srgbClr val="00B0EF"/>
                </a:solidFill>
                <a:latin typeface="Arial"/>
                <a:cs typeface="Arial"/>
              </a:rPr>
              <a:t>//</a:t>
            </a:r>
            <a:r>
              <a:rPr sz="1550" spc="-5" dirty="0">
                <a:solidFill>
                  <a:srgbClr val="00B0EF"/>
                </a:solidFill>
                <a:latin typeface="宋体"/>
                <a:cs typeface="宋体"/>
              </a:rPr>
              <a:t>语句的顺序是很重要的</a:t>
            </a:r>
            <a:r>
              <a:rPr sz="1550" spc="-50" dirty="0">
                <a:solidFill>
                  <a:srgbClr val="00B0EF"/>
                </a:solidFill>
                <a:latin typeface="宋体"/>
                <a:cs typeface="宋体"/>
              </a:rPr>
              <a:t> </a:t>
            </a:r>
            <a:r>
              <a:rPr sz="1550" dirty="0">
                <a:latin typeface="Arial"/>
                <a:cs typeface="Arial"/>
              </a:rPr>
              <a:t>p0</a:t>
            </a:r>
            <a:r>
              <a:rPr sz="1550" spc="10" dirty="0">
                <a:latin typeface="Arial"/>
                <a:cs typeface="Arial"/>
              </a:rPr>
              <a:t> = </a:t>
            </a:r>
            <a:r>
              <a:rPr sz="1550" dirty="0">
                <a:latin typeface="Arial"/>
                <a:cs typeface="Arial"/>
              </a:rPr>
              <a:t>~i0</a:t>
            </a:r>
            <a:r>
              <a:rPr sz="1550" spc="15" dirty="0">
                <a:latin typeface="Arial"/>
                <a:cs typeface="Arial"/>
              </a:rPr>
              <a:t> </a:t>
            </a:r>
            <a:r>
              <a:rPr sz="1550" dirty="0">
                <a:latin typeface="Arial"/>
                <a:cs typeface="Arial"/>
              </a:rPr>
              <a:t>&amp;</a:t>
            </a:r>
            <a:r>
              <a:rPr sz="1550" spc="20" dirty="0">
                <a:latin typeface="Arial"/>
                <a:cs typeface="Arial"/>
              </a:rPr>
              <a:t> </a:t>
            </a:r>
            <a:r>
              <a:rPr sz="1550" spc="-20" dirty="0">
                <a:latin typeface="Arial"/>
                <a:cs typeface="Arial"/>
              </a:rPr>
              <a:t>~i1;</a:t>
            </a:r>
            <a:endParaRPr sz="1550" dirty="0">
              <a:latin typeface="Arial"/>
              <a:cs typeface="Arial"/>
            </a:endParaRPr>
          </a:p>
          <a:p>
            <a:pPr marL="452755" marR="939165">
              <a:lnSpc>
                <a:spcPts val="2270"/>
              </a:lnSpc>
              <a:spcBef>
                <a:spcPts val="145"/>
              </a:spcBef>
            </a:pPr>
            <a:r>
              <a:rPr sz="1550" dirty="0">
                <a:latin typeface="Arial"/>
                <a:cs typeface="Arial"/>
              </a:rPr>
              <a:t>p1</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i0</a:t>
            </a:r>
            <a:r>
              <a:rPr sz="1550" spc="20" dirty="0">
                <a:latin typeface="Arial"/>
                <a:cs typeface="Arial"/>
              </a:rPr>
              <a:t> </a:t>
            </a:r>
            <a:r>
              <a:rPr sz="1550" dirty="0">
                <a:latin typeface="Arial"/>
                <a:cs typeface="Arial"/>
              </a:rPr>
              <a:t>&amp;</a:t>
            </a:r>
            <a:r>
              <a:rPr sz="1550" spc="15" dirty="0">
                <a:latin typeface="Arial"/>
                <a:cs typeface="Arial"/>
              </a:rPr>
              <a:t> </a:t>
            </a:r>
            <a:r>
              <a:rPr sz="1550" spc="-25" dirty="0">
                <a:latin typeface="Arial"/>
                <a:cs typeface="Arial"/>
              </a:rPr>
              <a:t>i1; </a:t>
            </a:r>
            <a:r>
              <a:rPr sz="1550" dirty="0">
                <a:latin typeface="Arial"/>
                <a:cs typeface="Arial"/>
              </a:rPr>
              <a:t>eq</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p0</a:t>
            </a:r>
            <a:r>
              <a:rPr sz="1550" spc="2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p1</a:t>
            </a:r>
            <a:r>
              <a:rPr sz="1550" spc="10" dirty="0">
                <a:latin typeface="Arial"/>
                <a:cs typeface="Arial"/>
              </a:rPr>
              <a:t> </a:t>
            </a:r>
            <a:r>
              <a:rPr sz="1550" spc="-50" dirty="0">
                <a:latin typeface="Arial"/>
                <a:cs typeface="Arial"/>
              </a:rPr>
              <a:t>;</a:t>
            </a:r>
            <a:endParaRPr sz="1550" dirty="0">
              <a:latin typeface="Arial"/>
              <a:cs typeface="Arial"/>
            </a:endParaRPr>
          </a:p>
          <a:p>
            <a:pPr marL="12700" marR="1479550" indent="217170">
              <a:lnSpc>
                <a:spcPts val="2270"/>
              </a:lnSpc>
            </a:pPr>
            <a:r>
              <a:rPr sz="1550" b="1" spc="-25" dirty="0">
                <a:latin typeface="Arial"/>
                <a:cs typeface="Arial"/>
              </a:rPr>
              <a:t>end </a:t>
            </a:r>
            <a:r>
              <a:rPr sz="1550" b="1" spc="-10" dirty="0">
                <a:latin typeface="Arial"/>
                <a:cs typeface="Arial"/>
              </a:rPr>
              <a:t>endmodule</a:t>
            </a:r>
            <a:endParaRPr sz="1550" dirty="0">
              <a:latin typeface="Arial"/>
              <a:cs typeface="Arial"/>
            </a:endParaRPr>
          </a:p>
        </p:txBody>
      </p:sp>
      <p:sp>
        <p:nvSpPr>
          <p:cNvPr id="12" name="object 12"/>
          <p:cNvSpPr txBox="1"/>
          <p:nvPr/>
        </p:nvSpPr>
        <p:spPr>
          <a:xfrm>
            <a:off x="9637909" y="5794502"/>
            <a:ext cx="665480" cy="346710"/>
          </a:xfrm>
          <a:prstGeom prst="rect">
            <a:avLst/>
          </a:prstGeom>
        </p:spPr>
        <p:txBody>
          <a:bodyPr vert="horz" wrap="square" lIns="0" tIns="13335" rIns="0" bIns="0" rtlCol="0">
            <a:spAutoFit/>
          </a:bodyPr>
          <a:lstStyle/>
          <a:p>
            <a:pPr marL="12700">
              <a:lnSpc>
                <a:spcPct val="100000"/>
              </a:lnSpc>
              <a:spcBef>
                <a:spcPts val="105"/>
              </a:spcBef>
            </a:pPr>
            <a:r>
              <a:rPr sz="2100" dirty="0">
                <a:solidFill>
                  <a:srgbClr val="FF0000"/>
                </a:solidFill>
                <a:latin typeface="宋体"/>
                <a:cs typeface="宋体"/>
              </a:rPr>
              <a:t>例</a:t>
            </a:r>
            <a:r>
              <a:rPr sz="2100" spc="-25" dirty="0">
                <a:solidFill>
                  <a:srgbClr val="FF0000"/>
                </a:solidFill>
                <a:latin typeface="Arial"/>
                <a:cs typeface="Arial"/>
              </a:rPr>
              <a:t>3.1</a:t>
            </a:r>
            <a:endParaRPr sz="2100">
              <a:latin typeface="Arial"/>
              <a:cs typeface="Arial"/>
            </a:endParaRPr>
          </a:p>
        </p:txBody>
      </p:sp>
      <p:pic>
        <p:nvPicPr>
          <p:cNvPr id="13" name="object 13"/>
          <p:cNvPicPr/>
          <p:nvPr/>
        </p:nvPicPr>
        <p:blipFill>
          <a:blip r:embed="rId3" cstate="print"/>
          <a:stretch>
            <a:fillRect/>
          </a:stretch>
        </p:blipFill>
        <p:spPr>
          <a:xfrm>
            <a:off x="607961" y="3681984"/>
            <a:ext cx="3467861" cy="2089404"/>
          </a:xfrm>
          <a:prstGeom prst="rect">
            <a:avLst/>
          </a:prstGeom>
        </p:spPr>
      </p:pic>
      <p:graphicFrame>
        <p:nvGraphicFramePr>
          <p:cNvPr id="14" name="object 14"/>
          <p:cNvGraphicFramePr>
            <a:graphicFrameLocks noGrp="1"/>
          </p:cNvGraphicFramePr>
          <p:nvPr/>
        </p:nvGraphicFramePr>
        <p:xfrm>
          <a:off x="602392" y="3676415"/>
          <a:ext cx="3468370" cy="2087245"/>
        </p:xfrm>
        <a:graphic>
          <a:graphicData uri="http://schemas.openxmlformats.org/drawingml/2006/table">
            <a:tbl>
              <a:tblPr firstRow="1" bandRow="1">
                <a:tableStyleId>{2D5ABB26-0587-4C30-8999-92F81FD0307C}</a:tableStyleId>
              </a:tblPr>
              <a:tblGrid>
                <a:gridCol w="1934845">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417830">
                <a:tc>
                  <a:txBody>
                    <a:bodyPr/>
                    <a:lstStyle/>
                    <a:p>
                      <a:pPr algn="ctr">
                        <a:lnSpc>
                          <a:spcPct val="100000"/>
                        </a:lnSpc>
                        <a:spcBef>
                          <a:spcPts val="175"/>
                        </a:spcBef>
                        <a:tabLst>
                          <a:tab pos="431165" algn="l"/>
                        </a:tabLst>
                      </a:pPr>
                      <a:r>
                        <a:rPr sz="2100" spc="-25" dirty="0">
                          <a:latin typeface="Arial"/>
                          <a:cs typeface="Arial"/>
                        </a:rPr>
                        <a:t>i0</a:t>
                      </a:r>
                      <a:r>
                        <a:rPr sz="2100" dirty="0">
                          <a:latin typeface="Arial"/>
                          <a:cs typeface="Arial"/>
                        </a:rPr>
                        <a:t>	</a:t>
                      </a:r>
                      <a:r>
                        <a:rPr sz="2100" spc="-25" dirty="0">
                          <a:latin typeface="Arial"/>
                          <a:cs typeface="Arial"/>
                        </a:rPr>
                        <a:t>i1</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25" dirty="0">
                          <a:latin typeface="Arial"/>
                          <a:cs typeface="Arial"/>
                        </a:rPr>
                        <a:t>eq</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17195">
                <a:tc>
                  <a:txBody>
                    <a:bodyPr/>
                    <a:lstStyle/>
                    <a:p>
                      <a:pPr marL="633730">
                        <a:lnSpc>
                          <a:spcPct val="100000"/>
                        </a:lnSpc>
                        <a:spcBef>
                          <a:spcPts val="165"/>
                        </a:spcBef>
                        <a:tabLst>
                          <a:tab pos="1151255" algn="l"/>
                        </a:tabLst>
                      </a:pPr>
                      <a:r>
                        <a:rPr sz="2100" spc="-50" dirty="0">
                          <a:latin typeface="Arial"/>
                          <a:cs typeface="Arial"/>
                        </a:rPr>
                        <a:t>0</a:t>
                      </a:r>
                      <a:r>
                        <a:rPr sz="2100" dirty="0">
                          <a:latin typeface="Arial"/>
                          <a:cs typeface="Arial"/>
                        </a:rPr>
                        <a:t>	</a:t>
                      </a:r>
                      <a:r>
                        <a:rPr sz="2100" spc="-50" dirty="0">
                          <a:latin typeface="Arial"/>
                          <a:cs typeface="Arial"/>
                        </a:rPr>
                        <a:t>0</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5"/>
                        </a:spcBef>
                      </a:pPr>
                      <a:r>
                        <a:rPr sz="2100" spc="-50" dirty="0">
                          <a:latin typeface="Arial"/>
                          <a:cs typeface="Arial"/>
                        </a:rPr>
                        <a:t>1</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17830">
                <a:tc>
                  <a:txBody>
                    <a:bodyPr/>
                    <a:lstStyle/>
                    <a:p>
                      <a:pPr marL="669290">
                        <a:lnSpc>
                          <a:spcPct val="100000"/>
                        </a:lnSpc>
                        <a:spcBef>
                          <a:spcPts val="175"/>
                        </a:spcBef>
                        <a:tabLst>
                          <a:tab pos="1114425" algn="l"/>
                        </a:tabLst>
                      </a:pPr>
                      <a:r>
                        <a:rPr sz="2100" spc="-50" dirty="0">
                          <a:latin typeface="Arial"/>
                          <a:cs typeface="Arial"/>
                        </a:rPr>
                        <a:t>0</a:t>
                      </a:r>
                      <a:r>
                        <a:rPr sz="2100" dirty="0">
                          <a:latin typeface="Arial"/>
                          <a:cs typeface="Arial"/>
                        </a:rPr>
                        <a:t>	</a:t>
                      </a:r>
                      <a:r>
                        <a:rPr sz="2100" spc="-50" dirty="0">
                          <a:latin typeface="Arial"/>
                          <a:cs typeface="Arial"/>
                        </a:rPr>
                        <a:t>1</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50" dirty="0">
                          <a:latin typeface="Arial"/>
                          <a:cs typeface="Arial"/>
                        </a:rPr>
                        <a:t>0</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17195">
                <a:tc>
                  <a:txBody>
                    <a:bodyPr/>
                    <a:lstStyle/>
                    <a:p>
                      <a:pPr marL="669290">
                        <a:lnSpc>
                          <a:spcPct val="100000"/>
                        </a:lnSpc>
                        <a:spcBef>
                          <a:spcPts val="165"/>
                        </a:spcBef>
                        <a:tabLst>
                          <a:tab pos="1114425" algn="l"/>
                        </a:tabLst>
                      </a:pPr>
                      <a:r>
                        <a:rPr sz="2100" spc="-50" dirty="0">
                          <a:latin typeface="Arial"/>
                          <a:cs typeface="Arial"/>
                        </a:rPr>
                        <a:t>1</a:t>
                      </a:r>
                      <a:r>
                        <a:rPr sz="2100" dirty="0">
                          <a:latin typeface="Arial"/>
                          <a:cs typeface="Arial"/>
                        </a:rPr>
                        <a:t>	</a:t>
                      </a:r>
                      <a:r>
                        <a:rPr sz="2100" spc="-50" dirty="0">
                          <a:latin typeface="Arial"/>
                          <a:cs typeface="Arial"/>
                        </a:rPr>
                        <a:t>0</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5"/>
                        </a:spcBef>
                      </a:pPr>
                      <a:r>
                        <a:rPr sz="2100" spc="-50" dirty="0">
                          <a:latin typeface="Arial"/>
                          <a:cs typeface="Arial"/>
                        </a:rPr>
                        <a:t>0</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17195">
                <a:tc>
                  <a:txBody>
                    <a:bodyPr/>
                    <a:lstStyle/>
                    <a:p>
                      <a:pPr marL="633730">
                        <a:lnSpc>
                          <a:spcPct val="100000"/>
                        </a:lnSpc>
                        <a:spcBef>
                          <a:spcPts val="175"/>
                        </a:spcBef>
                        <a:tabLst>
                          <a:tab pos="1151255" algn="l"/>
                        </a:tabLst>
                      </a:pPr>
                      <a:r>
                        <a:rPr sz="2100" spc="-50" dirty="0">
                          <a:latin typeface="Arial"/>
                          <a:cs typeface="Arial"/>
                        </a:rPr>
                        <a:t>1</a:t>
                      </a:r>
                      <a:r>
                        <a:rPr sz="2100" dirty="0">
                          <a:latin typeface="Arial"/>
                          <a:cs typeface="Arial"/>
                        </a:rPr>
                        <a:t>	</a:t>
                      </a:r>
                      <a:r>
                        <a:rPr sz="2100" spc="-50" dirty="0">
                          <a:latin typeface="Arial"/>
                          <a:cs typeface="Arial"/>
                        </a:rPr>
                        <a:t>1</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50" dirty="0">
                          <a:latin typeface="Arial"/>
                          <a:cs typeface="Arial"/>
                        </a:rPr>
                        <a:t>1</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8201"/>
            <a:ext cx="438277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3.1.4</a:t>
            </a:r>
            <a:r>
              <a:rPr spc="10" dirty="0">
                <a:latin typeface="Arial"/>
                <a:cs typeface="Arial"/>
              </a:rPr>
              <a:t> </a:t>
            </a:r>
            <a:r>
              <a:rPr dirty="0"/>
              <a:t>简单实例</a:t>
            </a:r>
            <a:r>
              <a:rPr spc="-20" dirty="0">
                <a:latin typeface="Calibri"/>
                <a:cs typeface="Calibri"/>
              </a:rPr>
              <a:t>----</a:t>
            </a:r>
            <a:r>
              <a:rPr spc="-25" dirty="0">
                <a:latin typeface="Calibri"/>
                <a:cs typeface="Calibri"/>
              </a:rPr>
              <a:t>1</a:t>
            </a:r>
            <a:r>
              <a:rPr spc="-20" dirty="0">
                <a:latin typeface="宋体"/>
                <a:cs typeface="宋体"/>
              </a:rPr>
              <a:t>位比较器</a:t>
            </a:r>
          </a:p>
        </p:txBody>
      </p:sp>
      <p:sp>
        <p:nvSpPr>
          <p:cNvPr id="3" name="object 3"/>
          <p:cNvSpPr txBox="1"/>
          <p:nvPr/>
        </p:nvSpPr>
        <p:spPr>
          <a:xfrm>
            <a:off x="603637" y="1793384"/>
            <a:ext cx="9658350" cy="2039620"/>
          </a:xfrm>
          <a:prstGeom prst="rect">
            <a:avLst/>
          </a:prstGeom>
        </p:spPr>
        <p:txBody>
          <a:bodyPr vert="horz" wrap="square" lIns="0" tIns="173990" rIns="0" bIns="0" rtlCol="0">
            <a:spAutoFit/>
          </a:bodyPr>
          <a:lstStyle/>
          <a:p>
            <a:pPr marL="222250" indent="-211454">
              <a:lnSpc>
                <a:spcPct val="100000"/>
              </a:lnSpc>
              <a:spcBef>
                <a:spcPts val="1370"/>
              </a:spcBef>
              <a:buClr>
                <a:srgbClr val="EC891C"/>
              </a:buClr>
              <a:buSzPct val="83333"/>
              <a:buFont typeface="Wingdings"/>
              <a:buChar char=""/>
              <a:tabLst>
                <a:tab pos="222250" algn="l"/>
              </a:tabLst>
            </a:pPr>
            <a:r>
              <a:rPr sz="2100" b="1" spc="-25" dirty="0">
                <a:solidFill>
                  <a:srgbClr val="3E3E3E"/>
                </a:solidFill>
                <a:latin typeface="宋体"/>
                <a:cs typeface="宋体"/>
              </a:rPr>
              <a:t>三条阻塞赋值语句顺序执行，和</a:t>
            </a:r>
            <a:r>
              <a:rPr sz="2100" b="1" dirty="0">
                <a:solidFill>
                  <a:srgbClr val="3E3E3E"/>
                </a:solidFill>
                <a:latin typeface="Arial"/>
                <a:cs typeface="Arial"/>
              </a:rPr>
              <a:t>C</a:t>
            </a:r>
            <a:r>
              <a:rPr sz="2100" b="1" spc="-30" dirty="0">
                <a:solidFill>
                  <a:srgbClr val="3E3E3E"/>
                </a:solidFill>
                <a:latin typeface="宋体"/>
                <a:cs typeface="宋体"/>
              </a:rPr>
              <a:t>程序中的语句非常类似，语句的顺序十分重要</a:t>
            </a:r>
            <a:endParaRPr sz="2100">
              <a:latin typeface="宋体"/>
              <a:cs typeface="宋体"/>
            </a:endParaRPr>
          </a:p>
          <a:p>
            <a:pPr marL="212725">
              <a:lnSpc>
                <a:spcPct val="100000"/>
              </a:lnSpc>
              <a:spcBef>
                <a:spcPts val="1270"/>
              </a:spcBef>
            </a:pPr>
            <a:r>
              <a:rPr sz="2100" b="1" spc="-25" dirty="0">
                <a:solidFill>
                  <a:srgbClr val="3E3E3E"/>
                </a:solidFill>
                <a:latin typeface="宋体"/>
                <a:cs typeface="宋体"/>
              </a:rPr>
              <a:t>，在使用前</a:t>
            </a:r>
            <a:r>
              <a:rPr sz="2100" b="1" spc="-10" dirty="0">
                <a:solidFill>
                  <a:srgbClr val="3E3E3E"/>
                </a:solidFill>
                <a:latin typeface="Arial"/>
                <a:cs typeface="Arial"/>
              </a:rPr>
              <a:t>p0</a:t>
            </a:r>
            <a:r>
              <a:rPr sz="2100" b="1" spc="-25" dirty="0">
                <a:solidFill>
                  <a:srgbClr val="3E3E3E"/>
                </a:solidFill>
                <a:latin typeface="宋体"/>
                <a:cs typeface="宋体"/>
              </a:rPr>
              <a:t>和</a:t>
            </a:r>
            <a:r>
              <a:rPr sz="2100" b="1" spc="-10" dirty="0">
                <a:solidFill>
                  <a:srgbClr val="3E3E3E"/>
                </a:solidFill>
                <a:latin typeface="Arial"/>
                <a:cs typeface="Arial"/>
              </a:rPr>
              <a:t>p1</a:t>
            </a:r>
            <a:r>
              <a:rPr sz="2100" b="1" spc="-30" dirty="0">
                <a:solidFill>
                  <a:srgbClr val="3E3E3E"/>
                </a:solidFill>
                <a:latin typeface="宋体"/>
                <a:cs typeface="宋体"/>
              </a:rPr>
              <a:t>必须赋值。</a:t>
            </a:r>
            <a:endParaRPr sz="2100">
              <a:latin typeface="宋体"/>
              <a:cs typeface="宋体"/>
            </a:endParaRPr>
          </a:p>
          <a:p>
            <a:pPr marL="212725" marR="5080" indent="-202565">
              <a:lnSpc>
                <a:spcPct val="150200"/>
              </a:lnSpc>
              <a:spcBef>
                <a:spcPts val="705"/>
              </a:spcBef>
              <a:buSzPct val="83333"/>
              <a:buFont typeface="Wingdings"/>
              <a:buChar char=""/>
              <a:tabLst>
                <a:tab pos="212725" algn="l"/>
                <a:tab pos="221615" algn="l"/>
              </a:tabLst>
            </a:pPr>
            <a:r>
              <a:rPr sz="2100" dirty="0">
                <a:solidFill>
                  <a:srgbClr val="EC891C"/>
                </a:solidFill>
                <a:latin typeface="宋体"/>
                <a:cs typeface="宋体"/>
              </a:rPr>
              <a:t>	</a:t>
            </a:r>
            <a:r>
              <a:rPr sz="2100" b="1" spc="-25" dirty="0">
                <a:solidFill>
                  <a:srgbClr val="3E3E3E"/>
                </a:solidFill>
                <a:latin typeface="宋体"/>
                <a:cs typeface="宋体"/>
              </a:rPr>
              <a:t>要正确建立所需的行为模型，组合电路的敏感列表</a:t>
            </a:r>
            <a:r>
              <a:rPr sz="2100" b="1" spc="-25" dirty="0">
                <a:solidFill>
                  <a:srgbClr val="FF0000"/>
                </a:solidFill>
                <a:latin typeface="宋体"/>
                <a:cs typeface="宋体"/>
              </a:rPr>
              <a:t>必须包含所有的输入信号</a:t>
            </a:r>
            <a:r>
              <a:rPr sz="2100" b="1" spc="-35" dirty="0">
                <a:solidFill>
                  <a:srgbClr val="3E3E3E"/>
                </a:solidFill>
                <a:latin typeface="宋体"/>
                <a:cs typeface="宋体"/>
              </a:rPr>
              <a:t>，忽</a:t>
            </a:r>
            <a:r>
              <a:rPr sz="2100" b="1" spc="-25" dirty="0">
                <a:solidFill>
                  <a:srgbClr val="3E3E3E"/>
                </a:solidFill>
                <a:latin typeface="宋体"/>
                <a:cs typeface="宋体"/>
              </a:rPr>
              <a:t>略一个信号就可能导致综合和仿真结果不一致，在</a:t>
            </a:r>
            <a:r>
              <a:rPr sz="2100" b="1" dirty="0">
                <a:solidFill>
                  <a:srgbClr val="3E3E3E"/>
                </a:solidFill>
                <a:latin typeface="Arial"/>
                <a:cs typeface="Arial"/>
              </a:rPr>
              <a:t>Verilog</a:t>
            </a:r>
            <a:r>
              <a:rPr sz="2100" b="1" spc="50" dirty="0">
                <a:solidFill>
                  <a:srgbClr val="3E3E3E"/>
                </a:solidFill>
                <a:latin typeface="Arial"/>
                <a:cs typeface="Arial"/>
              </a:rPr>
              <a:t> </a:t>
            </a:r>
            <a:r>
              <a:rPr sz="2100" b="1" dirty="0">
                <a:solidFill>
                  <a:srgbClr val="3E3E3E"/>
                </a:solidFill>
                <a:latin typeface="Arial"/>
                <a:cs typeface="Arial"/>
              </a:rPr>
              <a:t>HDL</a:t>
            </a:r>
            <a:r>
              <a:rPr sz="2100" b="1" spc="10" dirty="0">
                <a:solidFill>
                  <a:srgbClr val="3E3E3E"/>
                </a:solidFill>
                <a:latin typeface="Arial"/>
                <a:cs typeface="Arial"/>
              </a:rPr>
              <a:t> </a:t>
            </a:r>
            <a:r>
              <a:rPr sz="2100" b="1" spc="-10" dirty="0">
                <a:solidFill>
                  <a:srgbClr val="3E3E3E"/>
                </a:solidFill>
                <a:latin typeface="Arial"/>
                <a:cs typeface="Arial"/>
              </a:rPr>
              <a:t>2001</a:t>
            </a:r>
            <a:r>
              <a:rPr sz="2100" b="1" spc="-30" dirty="0">
                <a:solidFill>
                  <a:srgbClr val="3E3E3E"/>
                </a:solidFill>
                <a:latin typeface="宋体"/>
                <a:cs typeface="宋体"/>
              </a:rPr>
              <a:t>中，我们可</a:t>
            </a:r>
            <a:endParaRPr sz="2100">
              <a:latin typeface="宋体"/>
              <a:cs typeface="宋体"/>
            </a:endParaRPr>
          </a:p>
        </p:txBody>
      </p:sp>
      <p:sp>
        <p:nvSpPr>
          <p:cNvPr id="4" name="object 4"/>
          <p:cNvSpPr txBox="1"/>
          <p:nvPr/>
        </p:nvSpPr>
        <p:spPr>
          <a:xfrm>
            <a:off x="804053" y="3967214"/>
            <a:ext cx="2171700" cy="346710"/>
          </a:xfrm>
          <a:prstGeom prst="rect">
            <a:avLst/>
          </a:prstGeom>
        </p:spPr>
        <p:txBody>
          <a:bodyPr vert="horz" wrap="square" lIns="0" tIns="13335" rIns="0" bIns="0" rtlCol="0">
            <a:spAutoFit/>
          </a:bodyPr>
          <a:lstStyle/>
          <a:p>
            <a:pPr marL="12700">
              <a:lnSpc>
                <a:spcPct val="100000"/>
              </a:lnSpc>
              <a:spcBef>
                <a:spcPts val="105"/>
              </a:spcBef>
            </a:pPr>
            <a:r>
              <a:rPr sz="2100" b="1" spc="-30" dirty="0">
                <a:solidFill>
                  <a:srgbClr val="3E3E3E"/>
                </a:solidFill>
                <a:latin typeface="宋体"/>
                <a:cs typeface="宋体"/>
              </a:rPr>
              <a:t>以用下面的符号：</a:t>
            </a:r>
            <a:endParaRPr sz="2100">
              <a:latin typeface="宋体"/>
              <a:cs typeface="宋体"/>
            </a:endParaRPr>
          </a:p>
        </p:txBody>
      </p:sp>
      <p:sp>
        <p:nvSpPr>
          <p:cNvPr id="5" name="object 5"/>
          <p:cNvSpPr txBox="1"/>
          <p:nvPr/>
        </p:nvSpPr>
        <p:spPr>
          <a:xfrm>
            <a:off x="824621" y="4537202"/>
            <a:ext cx="9424035" cy="346710"/>
          </a:xfrm>
          <a:prstGeom prst="rect">
            <a:avLst/>
          </a:prstGeom>
        </p:spPr>
        <p:txBody>
          <a:bodyPr vert="horz" wrap="square" lIns="0" tIns="13335" rIns="0" bIns="0" rtlCol="0">
            <a:spAutoFit/>
          </a:bodyPr>
          <a:lstStyle/>
          <a:p>
            <a:pPr marL="12700">
              <a:lnSpc>
                <a:spcPct val="100000"/>
              </a:lnSpc>
              <a:spcBef>
                <a:spcPts val="105"/>
              </a:spcBef>
            </a:pPr>
            <a:r>
              <a:rPr sz="2100" b="1" spc="-30" dirty="0">
                <a:solidFill>
                  <a:srgbClr val="3E3E3E"/>
                </a:solidFill>
                <a:latin typeface="宋体"/>
                <a:cs typeface="宋体"/>
              </a:rPr>
              <a:t>来隐式地包含所有输入信号，在本书中，我们在组合电路描述中使用这种结构。</a:t>
            </a:r>
            <a:endParaRPr sz="2100">
              <a:latin typeface="宋体"/>
              <a:cs typeface="宋体"/>
            </a:endParaRPr>
          </a:p>
        </p:txBody>
      </p:sp>
      <p:grpSp>
        <p:nvGrpSpPr>
          <p:cNvPr id="6" name="object 6"/>
          <p:cNvGrpSpPr/>
          <p:nvPr/>
        </p:nvGrpSpPr>
        <p:grpSpPr>
          <a:xfrm>
            <a:off x="3143897" y="3932682"/>
            <a:ext cx="1711960" cy="494665"/>
            <a:chOff x="3143897" y="3932682"/>
            <a:chExt cx="1711960" cy="494665"/>
          </a:xfrm>
        </p:grpSpPr>
        <p:sp>
          <p:nvSpPr>
            <p:cNvPr id="7" name="object 7"/>
            <p:cNvSpPr/>
            <p:nvPr/>
          </p:nvSpPr>
          <p:spPr>
            <a:xfrm>
              <a:off x="3147707" y="3937254"/>
              <a:ext cx="1704339" cy="485775"/>
            </a:xfrm>
            <a:custGeom>
              <a:avLst/>
              <a:gdLst/>
              <a:ahLst/>
              <a:cxnLst/>
              <a:rect l="l" t="t" r="r" b="b"/>
              <a:pathLst>
                <a:path w="1704339" h="485775">
                  <a:moveTo>
                    <a:pt x="1703831" y="485394"/>
                  </a:moveTo>
                  <a:lnTo>
                    <a:pt x="1703831" y="0"/>
                  </a:lnTo>
                  <a:lnTo>
                    <a:pt x="0" y="0"/>
                  </a:lnTo>
                  <a:lnTo>
                    <a:pt x="0" y="485394"/>
                  </a:lnTo>
                  <a:lnTo>
                    <a:pt x="1703831" y="485394"/>
                  </a:lnTo>
                  <a:close/>
                </a:path>
              </a:pathLst>
            </a:custGeom>
            <a:solidFill>
              <a:srgbClr val="F9FABA"/>
            </a:solidFill>
          </p:spPr>
          <p:txBody>
            <a:bodyPr wrap="square" lIns="0" tIns="0" rIns="0" bIns="0" rtlCol="0"/>
            <a:lstStyle/>
            <a:p>
              <a:endParaRPr/>
            </a:p>
          </p:txBody>
        </p:sp>
        <p:sp>
          <p:nvSpPr>
            <p:cNvPr id="8" name="object 8"/>
            <p:cNvSpPr/>
            <p:nvPr/>
          </p:nvSpPr>
          <p:spPr>
            <a:xfrm>
              <a:off x="3143897" y="3932682"/>
              <a:ext cx="1711960" cy="494665"/>
            </a:xfrm>
            <a:custGeom>
              <a:avLst/>
              <a:gdLst/>
              <a:ahLst/>
              <a:cxnLst/>
              <a:rect l="l" t="t" r="r" b="b"/>
              <a:pathLst>
                <a:path w="1711960" h="494664">
                  <a:moveTo>
                    <a:pt x="1711452" y="492252"/>
                  </a:moveTo>
                  <a:lnTo>
                    <a:pt x="1711452" y="2286"/>
                  </a:lnTo>
                  <a:lnTo>
                    <a:pt x="1709927" y="0"/>
                  </a:lnTo>
                  <a:lnTo>
                    <a:pt x="1523" y="0"/>
                  </a:lnTo>
                  <a:lnTo>
                    <a:pt x="0" y="2286"/>
                  </a:lnTo>
                  <a:lnTo>
                    <a:pt x="0" y="492252"/>
                  </a:lnTo>
                  <a:lnTo>
                    <a:pt x="1524" y="494538"/>
                  </a:lnTo>
                  <a:lnTo>
                    <a:pt x="3810" y="494538"/>
                  </a:lnTo>
                  <a:lnTo>
                    <a:pt x="3810" y="8382"/>
                  </a:lnTo>
                  <a:lnTo>
                    <a:pt x="7619" y="4572"/>
                  </a:lnTo>
                  <a:lnTo>
                    <a:pt x="7619" y="8382"/>
                  </a:lnTo>
                  <a:lnTo>
                    <a:pt x="1703070" y="8382"/>
                  </a:lnTo>
                  <a:lnTo>
                    <a:pt x="1703070" y="4572"/>
                  </a:lnTo>
                  <a:lnTo>
                    <a:pt x="1707642" y="8382"/>
                  </a:lnTo>
                  <a:lnTo>
                    <a:pt x="1707642" y="494538"/>
                  </a:lnTo>
                  <a:lnTo>
                    <a:pt x="1709927" y="494538"/>
                  </a:lnTo>
                  <a:lnTo>
                    <a:pt x="1711452" y="492252"/>
                  </a:lnTo>
                  <a:close/>
                </a:path>
                <a:path w="1711960" h="494664">
                  <a:moveTo>
                    <a:pt x="7619" y="8382"/>
                  </a:moveTo>
                  <a:lnTo>
                    <a:pt x="7619" y="4572"/>
                  </a:lnTo>
                  <a:lnTo>
                    <a:pt x="3810" y="8382"/>
                  </a:lnTo>
                  <a:lnTo>
                    <a:pt x="7619" y="8382"/>
                  </a:lnTo>
                  <a:close/>
                </a:path>
                <a:path w="1711960" h="494664">
                  <a:moveTo>
                    <a:pt x="7619" y="486156"/>
                  </a:moveTo>
                  <a:lnTo>
                    <a:pt x="7619" y="8382"/>
                  </a:lnTo>
                  <a:lnTo>
                    <a:pt x="3810" y="8382"/>
                  </a:lnTo>
                  <a:lnTo>
                    <a:pt x="3810" y="486156"/>
                  </a:lnTo>
                  <a:lnTo>
                    <a:pt x="7619" y="486156"/>
                  </a:lnTo>
                  <a:close/>
                </a:path>
                <a:path w="1711960" h="494664">
                  <a:moveTo>
                    <a:pt x="1707642" y="486156"/>
                  </a:moveTo>
                  <a:lnTo>
                    <a:pt x="3810" y="486156"/>
                  </a:lnTo>
                  <a:lnTo>
                    <a:pt x="7619" y="489966"/>
                  </a:lnTo>
                  <a:lnTo>
                    <a:pt x="7619" y="494538"/>
                  </a:lnTo>
                  <a:lnTo>
                    <a:pt x="1703070" y="494538"/>
                  </a:lnTo>
                  <a:lnTo>
                    <a:pt x="1703070" y="489966"/>
                  </a:lnTo>
                  <a:lnTo>
                    <a:pt x="1707642" y="486156"/>
                  </a:lnTo>
                  <a:close/>
                </a:path>
                <a:path w="1711960" h="494664">
                  <a:moveTo>
                    <a:pt x="7619" y="494538"/>
                  </a:moveTo>
                  <a:lnTo>
                    <a:pt x="7619" y="489966"/>
                  </a:lnTo>
                  <a:lnTo>
                    <a:pt x="3810" y="486156"/>
                  </a:lnTo>
                  <a:lnTo>
                    <a:pt x="3810" y="494538"/>
                  </a:lnTo>
                  <a:lnTo>
                    <a:pt x="7619" y="494538"/>
                  </a:lnTo>
                  <a:close/>
                </a:path>
                <a:path w="1711960" h="494664">
                  <a:moveTo>
                    <a:pt x="1707642" y="8382"/>
                  </a:moveTo>
                  <a:lnTo>
                    <a:pt x="1703070" y="4572"/>
                  </a:lnTo>
                  <a:lnTo>
                    <a:pt x="1703070" y="8382"/>
                  </a:lnTo>
                  <a:lnTo>
                    <a:pt x="1707642" y="8382"/>
                  </a:lnTo>
                  <a:close/>
                </a:path>
                <a:path w="1711960" h="494664">
                  <a:moveTo>
                    <a:pt x="1707642" y="486156"/>
                  </a:moveTo>
                  <a:lnTo>
                    <a:pt x="1707642" y="8382"/>
                  </a:lnTo>
                  <a:lnTo>
                    <a:pt x="1703070" y="8382"/>
                  </a:lnTo>
                  <a:lnTo>
                    <a:pt x="1703070" y="486156"/>
                  </a:lnTo>
                  <a:lnTo>
                    <a:pt x="1707642" y="486156"/>
                  </a:lnTo>
                  <a:close/>
                </a:path>
                <a:path w="1711960" h="494664">
                  <a:moveTo>
                    <a:pt x="1707642" y="494538"/>
                  </a:moveTo>
                  <a:lnTo>
                    <a:pt x="1707642" y="486156"/>
                  </a:lnTo>
                  <a:lnTo>
                    <a:pt x="1703070" y="489966"/>
                  </a:lnTo>
                  <a:lnTo>
                    <a:pt x="1703070" y="494538"/>
                  </a:lnTo>
                  <a:lnTo>
                    <a:pt x="1707642" y="494538"/>
                  </a:lnTo>
                  <a:close/>
                </a:path>
              </a:pathLst>
            </a:custGeom>
            <a:solidFill>
              <a:srgbClr val="000000"/>
            </a:solidFill>
          </p:spPr>
          <p:txBody>
            <a:bodyPr wrap="square" lIns="0" tIns="0" rIns="0" bIns="0" rtlCol="0"/>
            <a:lstStyle/>
            <a:p>
              <a:endParaRPr/>
            </a:p>
          </p:txBody>
        </p:sp>
      </p:grpSp>
      <p:sp>
        <p:nvSpPr>
          <p:cNvPr id="9" name="object 9"/>
          <p:cNvSpPr txBox="1"/>
          <p:nvPr/>
        </p:nvSpPr>
        <p:spPr>
          <a:xfrm>
            <a:off x="3427609" y="4042664"/>
            <a:ext cx="1142365" cy="292735"/>
          </a:xfrm>
          <a:prstGeom prst="rect">
            <a:avLst/>
          </a:prstGeom>
        </p:spPr>
        <p:txBody>
          <a:bodyPr vert="horz" wrap="square" lIns="0" tIns="12700" rIns="0" bIns="0" rtlCol="0">
            <a:spAutoFit/>
          </a:bodyPr>
          <a:lstStyle/>
          <a:p>
            <a:pPr marL="12700">
              <a:lnSpc>
                <a:spcPct val="100000"/>
              </a:lnSpc>
              <a:spcBef>
                <a:spcPts val="100"/>
              </a:spcBef>
            </a:pPr>
            <a:r>
              <a:rPr sz="1750" dirty="0">
                <a:latin typeface="Arial"/>
                <a:cs typeface="Arial"/>
              </a:rPr>
              <a:t>always</a:t>
            </a:r>
            <a:r>
              <a:rPr sz="1750" spc="459" dirty="0">
                <a:latin typeface="Arial"/>
                <a:cs typeface="Arial"/>
              </a:rPr>
              <a:t> </a:t>
            </a:r>
            <a:r>
              <a:rPr sz="1750" spc="-25" dirty="0">
                <a:latin typeface="Arial"/>
                <a:cs typeface="Arial"/>
              </a:rPr>
              <a:t>@*</a:t>
            </a:r>
            <a:endParaRPr sz="175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74085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3.1.4</a:t>
            </a:r>
            <a:r>
              <a:rPr spc="50" dirty="0">
                <a:latin typeface="Arial"/>
                <a:cs typeface="Arial"/>
              </a:rPr>
              <a:t> </a:t>
            </a:r>
            <a:r>
              <a:rPr dirty="0"/>
              <a:t>简单实例</a:t>
            </a:r>
            <a:r>
              <a:rPr spc="-25" dirty="0">
                <a:latin typeface="Calibri"/>
                <a:cs typeface="Calibri"/>
              </a:rPr>
              <a:t>----</a:t>
            </a:r>
            <a:r>
              <a:rPr spc="-15" dirty="0"/>
              <a:t>过程赋值语句和持续赋值语句</a:t>
            </a:r>
          </a:p>
        </p:txBody>
      </p:sp>
      <p:sp>
        <p:nvSpPr>
          <p:cNvPr id="3" name="object 3"/>
          <p:cNvSpPr txBox="1"/>
          <p:nvPr/>
        </p:nvSpPr>
        <p:spPr>
          <a:xfrm>
            <a:off x="529723" y="1778906"/>
            <a:ext cx="9563100" cy="988694"/>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例</a:t>
            </a:r>
            <a:r>
              <a:rPr sz="2100" b="1" dirty="0">
                <a:solidFill>
                  <a:srgbClr val="3E3E3E"/>
                </a:solidFill>
                <a:latin typeface="Arial"/>
                <a:cs typeface="Arial"/>
              </a:rPr>
              <a:t>3.2</a:t>
            </a:r>
            <a:r>
              <a:rPr sz="2100" b="1" dirty="0">
                <a:solidFill>
                  <a:srgbClr val="3E3E3E"/>
                </a:solidFill>
                <a:latin typeface="微软雅黑"/>
                <a:cs typeface="微软雅黑"/>
              </a:rPr>
              <a:t>中的代码，使用的是过程赋值语句，它完成的功能是执行</a:t>
            </a:r>
            <a:r>
              <a:rPr sz="2100" b="1" dirty="0">
                <a:solidFill>
                  <a:srgbClr val="3E3E3E"/>
                </a:solidFill>
                <a:latin typeface="Arial"/>
                <a:cs typeface="Arial"/>
              </a:rPr>
              <a:t>a</a:t>
            </a:r>
            <a:r>
              <a:rPr sz="2100" b="1" dirty="0">
                <a:solidFill>
                  <a:srgbClr val="3E3E3E"/>
                </a:solidFill>
                <a:latin typeface="微软雅黑"/>
                <a:cs typeface="微软雅黑"/>
              </a:rPr>
              <a:t>，</a:t>
            </a:r>
            <a:r>
              <a:rPr sz="2100" b="1" dirty="0">
                <a:solidFill>
                  <a:srgbClr val="3E3E3E"/>
                </a:solidFill>
                <a:latin typeface="Arial"/>
                <a:cs typeface="Arial"/>
              </a:rPr>
              <a:t>b</a:t>
            </a:r>
            <a:r>
              <a:rPr sz="2100" b="1" dirty="0">
                <a:solidFill>
                  <a:srgbClr val="3E3E3E"/>
                </a:solidFill>
                <a:latin typeface="微软雅黑"/>
                <a:cs typeface="微软雅黑"/>
              </a:rPr>
              <a:t>和</a:t>
            </a:r>
            <a:r>
              <a:rPr sz="2100" b="1" dirty="0">
                <a:solidFill>
                  <a:srgbClr val="3E3E3E"/>
                </a:solidFill>
                <a:latin typeface="Arial"/>
                <a:cs typeface="Arial"/>
              </a:rPr>
              <a:t>c</a:t>
            </a:r>
            <a:r>
              <a:rPr sz="2100" b="1" spc="30" dirty="0">
                <a:solidFill>
                  <a:srgbClr val="3E3E3E"/>
                </a:solidFill>
                <a:latin typeface="微软雅黑"/>
                <a:cs typeface="微软雅黑"/>
              </a:rPr>
              <a:t>的逻辑</a:t>
            </a:r>
            <a:r>
              <a:rPr sz="2100" b="1" dirty="0">
                <a:solidFill>
                  <a:srgbClr val="3E3E3E"/>
                </a:solidFill>
                <a:latin typeface="微软雅黑"/>
                <a:cs typeface="微软雅黑"/>
              </a:rPr>
              <a:t>与运算（即</a:t>
            </a:r>
            <a:r>
              <a:rPr sz="2100" b="1" spc="-10" dirty="0">
                <a:solidFill>
                  <a:srgbClr val="3E3E3E"/>
                </a:solidFill>
                <a:latin typeface="Arial"/>
                <a:cs typeface="Arial"/>
              </a:rPr>
              <a:t>a&amp;b&amp;c</a:t>
            </a:r>
            <a:r>
              <a:rPr sz="2100" b="1" spc="-10" dirty="0">
                <a:solidFill>
                  <a:srgbClr val="3E3E3E"/>
                </a:solidFill>
                <a:latin typeface="微软雅黑"/>
                <a:cs typeface="微软雅黑"/>
              </a:rPr>
              <a:t>），</a:t>
            </a:r>
            <a:r>
              <a:rPr sz="2100" b="1" dirty="0">
                <a:solidFill>
                  <a:srgbClr val="3E3E3E"/>
                </a:solidFill>
                <a:latin typeface="微软雅黑"/>
                <a:cs typeface="微软雅黑"/>
              </a:rPr>
              <a:t>综合的电路如图</a:t>
            </a:r>
            <a:r>
              <a:rPr sz="2100" b="1" spc="-10" dirty="0">
                <a:solidFill>
                  <a:srgbClr val="3E3E3E"/>
                </a:solidFill>
                <a:latin typeface="Arial"/>
                <a:cs typeface="Arial"/>
              </a:rPr>
              <a:t>3.1(a)</a:t>
            </a:r>
            <a:r>
              <a:rPr sz="2100" b="1" spc="-20" dirty="0">
                <a:solidFill>
                  <a:srgbClr val="3E3E3E"/>
                </a:solidFill>
                <a:latin typeface="微软雅黑"/>
                <a:cs typeface="微软雅黑"/>
              </a:rPr>
              <a:t>所示。</a:t>
            </a:r>
            <a:endParaRPr sz="2100">
              <a:latin typeface="微软雅黑"/>
              <a:cs typeface="微软雅黑"/>
            </a:endParaRPr>
          </a:p>
        </p:txBody>
      </p:sp>
      <p:grpSp>
        <p:nvGrpSpPr>
          <p:cNvPr id="4" name="object 4"/>
          <p:cNvGrpSpPr/>
          <p:nvPr/>
        </p:nvGrpSpPr>
        <p:grpSpPr>
          <a:xfrm>
            <a:off x="843419" y="3292602"/>
            <a:ext cx="4752975" cy="2664460"/>
            <a:chOff x="843419" y="3292602"/>
            <a:chExt cx="4752975" cy="2664460"/>
          </a:xfrm>
        </p:grpSpPr>
        <p:sp>
          <p:nvSpPr>
            <p:cNvPr id="5" name="object 5"/>
            <p:cNvSpPr/>
            <p:nvPr/>
          </p:nvSpPr>
          <p:spPr>
            <a:xfrm>
              <a:off x="847229" y="3296412"/>
              <a:ext cx="4745355" cy="2655570"/>
            </a:xfrm>
            <a:custGeom>
              <a:avLst/>
              <a:gdLst/>
              <a:ahLst/>
              <a:cxnLst/>
              <a:rect l="l" t="t" r="r" b="b"/>
              <a:pathLst>
                <a:path w="4745355" h="2655570">
                  <a:moveTo>
                    <a:pt x="4744974" y="2655569"/>
                  </a:moveTo>
                  <a:lnTo>
                    <a:pt x="4744974" y="0"/>
                  </a:lnTo>
                  <a:lnTo>
                    <a:pt x="0" y="0"/>
                  </a:lnTo>
                  <a:lnTo>
                    <a:pt x="0" y="2655569"/>
                  </a:lnTo>
                  <a:lnTo>
                    <a:pt x="4744974" y="2655569"/>
                  </a:lnTo>
                  <a:close/>
                </a:path>
              </a:pathLst>
            </a:custGeom>
            <a:solidFill>
              <a:srgbClr val="F9FABA"/>
            </a:solidFill>
          </p:spPr>
          <p:txBody>
            <a:bodyPr wrap="square" lIns="0" tIns="0" rIns="0" bIns="0" rtlCol="0"/>
            <a:lstStyle/>
            <a:p>
              <a:endParaRPr/>
            </a:p>
          </p:txBody>
        </p:sp>
        <p:sp>
          <p:nvSpPr>
            <p:cNvPr id="6" name="object 6"/>
            <p:cNvSpPr/>
            <p:nvPr/>
          </p:nvSpPr>
          <p:spPr>
            <a:xfrm>
              <a:off x="843419" y="3292602"/>
              <a:ext cx="4752975" cy="2664460"/>
            </a:xfrm>
            <a:custGeom>
              <a:avLst/>
              <a:gdLst/>
              <a:ahLst/>
              <a:cxnLst/>
              <a:rect l="l" t="t" r="r" b="b"/>
              <a:pathLst>
                <a:path w="4752975" h="2664460">
                  <a:moveTo>
                    <a:pt x="4752594" y="2662428"/>
                  </a:moveTo>
                  <a:lnTo>
                    <a:pt x="4752594" y="1523"/>
                  </a:lnTo>
                  <a:lnTo>
                    <a:pt x="4751070" y="0"/>
                  </a:lnTo>
                  <a:lnTo>
                    <a:pt x="1523" y="0"/>
                  </a:lnTo>
                  <a:lnTo>
                    <a:pt x="0" y="1524"/>
                  </a:lnTo>
                  <a:lnTo>
                    <a:pt x="0" y="2662428"/>
                  </a:lnTo>
                  <a:lnTo>
                    <a:pt x="1524" y="2663952"/>
                  </a:lnTo>
                  <a:lnTo>
                    <a:pt x="3810" y="2663952"/>
                  </a:lnTo>
                  <a:lnTo>
                    <a:pt x="3810" y="8382"/>
                  </a:lnTo>
                  <a:lnTo>
                    <a:pt x="8382" y="3810"/>
                  </a:lnTo>
                  <a:lnTo>
                    <a:pt x="8382" y="8382"/>
                  </a:lnTo>
                  <a:lnTo>
                    <a:pt x="4744212" y="8381"/>
                  </a:lnTo>
                  <a:lnTo>
                    <a:pt x="4744212" y="3809"/>
                  </a:lnTo>
                  <a:lnTo>
                    <a:pt x="4748784" y="8381"/>
                  </a:lnTo>
                  <a:lnTo>
                    <a:pt x="4748784" y="2663952"/>
                  </a:lnTo>
                  <a:lnTo>
                    <a:pt x="4751070" y="2663952"/>
                  </a:lnTo>
                  <a:lnTo>
                    <a:pt x="4752594" y="2662428"/>
                  </a:lnTo>
                  <a:close/>
                </a:path>
                <a:path w="4752975" h="2664460">
                  <a:moveTo>
                    <a:pt x="8382" y="8382"/>
                  </a:moveTo>
                  <a:lnTo>
                    <a:pt x="8382" y="3810"/>
                  </a:lnTo>
                  <a:lnTo>
                    <a:pt x="3810" y="8382"/>
                  </a:lnTo>
                  <a:lnTo>
                    <a:pt x="8382" y="8382"/>
                  </a:lnTo>
                  <a:close/>
                </a:path>
                <a:path w="4752975" h="2664460">
                  <a:moveTo>
                    <a:pt x="8382" y="2655570"/>
                  </a:moveTo>
                  <a:lnTo>
                    <a:pt x="8382" y="8382"/>
                  </a:lnTo>
                  <a:lnTo>
                    <a:pt x="3810" y="8382"/>
                  </a:lnTo>
                  <a:lnTo>
                    <a:pt x="3810" y="2655570"/>
                  </a:lnTo>
                  <a:lnTo>
                    <a:pt x="8382" y="2655570"/>
                  </a:lnTo>
                  <a:close/>
                </a:path>
                <a:path w="4752975" h="2664460">
                  <a:moveTo>
                    <a:pt x="4748784" y="2655570"/>
                  </a:moveTo>
                  <a:lnTo>
                    <a:pt x="3810" y="2655570"/>
                  </a:lnTo>
                  <a:lnTo>
                    <a:pt x="8382" y="2659380"/>
                  </a:lnTo>
                  <a:lnTo>
                    <a:pt x="8382" y="2663952"/>
                  </a:lnTo>
                  <a:lnTo>
                    <a:pt x="4744212" y="2663952"/>
                  </a:lnTo>
                  <a:lnTo>
                    <a:pt x="4744212" y="2659379"/>
                  </a:lnTo>
                  <a:lnTo>
                    <a:pt x="4748784" y="2655570"/>
                  </a:lnTo>
                  <a:close/>
                </a:path>
                <a:path w="4752975" h="2664460">
                  <a:moveTo>
                    <a:pt x="8382" y="2663952"/>
                  </a:moveTo>
                  <a:lnTo>
                    <a:pt x="8382" y="2659380"/>
                  </a:lnTo>
                  <a:lnTo>
                    <a:pt x="3810" y="2655570"/>
                  </a:lnTo>
                  <a:lnTo>
                    <a:pt x="3810" y="2663952"/>
                  </a:lnTo>
                  <a:lnTo>
                    <a:pt x="8382" y="2663952"/>
                  </a:lnTo>
                  <a:close/>
                </a:path>
                <a:path w="4752975" h="2664460">
                  <a:moveTo>
                    <a:pt x="4748784" y="8381"/>
                  </a:moveTo>
                  <a:lnTo>
                    <a:pt x="4744212" y="3809"/>
                  </a:lnTo>
                  <a:lnTo>
                    <a:pt x="4744212" y="8381"/>
                  </a:lnTo>
                  <a:lnTo>
                    <a:pt x="4748784" y="8381"/>
                  </a:lnTo>
                  <a:close/>
                </a:path>
                <a:path w="4752975" h="2664460">
                  <a:moveTo>
                    <a:pt x="4748784" y="2655570"/>
                  </a:moveTo>
                  <a:lnTo>
                    <a:pt x="4748784" y="8381"/>
                  </a:lnTo>
                  <a:lnTo>
                    <a:pt x="4744212" y="8381"/>
                  </a:lnTo>
                  <a:lnTo>
                    <a:pt x="4744212" y="2655570"/>
                  </a:lnTo>
                  <a:lnTo>
                    <a:pt x="4748784" y="2655570"/>
                  </a:lnTo>
                  <a:close/>
                </a:path>
                <a:path w="4752975" h="2664460">
                  <a:moveTo>
                    <a:pt x="4748784" y="2663952"/>
                  </a:moveTo>
                  <a:lnTo>
                    <a:pt x="4748784" y="2655570"/>
                  </a:lnTo>
                  <a:lnTo>
                    <a:pt x="4744212" y="2659379"/>
                  </a:lnTo>
                  <a:lnTo>
                    <a:pt x="4744212" y="2663952"/>
                  </a:lnTo>
                  <a:lnTo>
                    <a:pt x="4748784" y="2663952"/>
                  </a:lnTo>
                  <a:close/>
                </a:path>
              </a:pathLst>
            </a:custGeom>
            <a:solidFill>
              <a:srgbClr val="000000"/>
            </a:solidFill>
          </p:spPr>
          <p:txBody>
            <a:bodyPr wrap="square" lIns="0" tIns="0" rIns="0" bIns="0" rtlCol="0"/>
            <a:lstStyle/>
            <a:p>
              <a:endParaRPr/>
            </a:p>
          </p:txBody>
        </p:sp>
      </p:grpSp>
      <p:sp>
        <p:nvSpPr>
          <p:cNvPr id="7" name="object 7"/>
          <p:cNvSpPr txBox="1"/>
          <p:nvPr/>
        </p:nvSpPr>
        <p:spPr>
          <a:xfrm>
            <a:off x="4065416" y="3339338"/>
            <a:ext cx="739140"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Arial"/>
                <a:cs typeface="Arial"/>
              </a:rPr>
              <a:t>a</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b</a:t>
            </a:r>
            <a:r>
              <a:rPr sz="1550" spc="15" dirty="0">
                <a:latin typeface="Arial"/>
                <a:cs typeface="Arial"/>
              </a:rPr>
              <a:t> </a:t>
            </a:r>
            <a:r>
              <a:rPr sz="1550" dirty="0">
                <a:latin typeface="Arial"/>
                <a:cs typeface="Arial"/>
              </a:rPr>
              <a:t>,</a:t>
            </a:r>
            <a:r>
              <a:rPr sz="1550" spc="15" dirty="0">
                <a:latin typeface="Arial"/>
                <a:cs typeface="Arial"/>
              </a:rPr>
              <a:t> </a:t>
            </a:r>
            <a:r>
              <a:rPr sz="1550" spc="-25" dirty="0">
                <a:latin typeface="Arial"/>
                <a:cs typeface="Arial"/>
              </a:rPr>
              <a:t>c,</a:t>
            </a:r>
            <a:endParaRPr sz="1550">
              <a:latin typeface="Arial"/>
              <a:cs typeface="Arial"/>
            </a:endParaRPr>
          </a:p>
        </p:txBody>
      </p:sp>
      <p:sp>
        <p:nvSpPr>
          <p:cNvPr id="8" name="object 8"/>
          <p:cNvSpPr txBox="1"/>
          <p:nvPr/>
        </p:nvSpPr>
        <p:spPr>
          <a:xfrm>
            <a:off x="914533" y="2834589"/>
            <a:ext cx="3010535" cy="3057525"/>
          </a:xfrm>
          <a:prstGeom prst="rect">
            <a:avLst/>
          </a:prstGeom>
        </p:spPr>
        <p:txBody>
          <a:bodyPr vert="horz" wrap="square" lIns="0" tIns="147955" rIns="0" bIns="0" rtlCol="0">
            <a:spAutoFit/>
          </a:bodyPr>
          <a:lstStyle/>
          <a:p>
            <a:pPr marL="38100">
              <a:lnSpc>
                <a:spcPct val="100000"/>
              </a:lnSpc>
              <a:spcBef>
                <a:spcPts val="1165"/>
              </a:spcBef>
            </a:pPr>
            <a:r>
              <a:rPr sz="1550" b="1" spc="-110" dirty="0">
                <a:solidFill>
                  <a:srgbClr val="FF0000"/>
                </a:solidFill>
                <a:latin typeface="宋体"/>
                <a:cs typeface="宋体"/>
              </a:rPr>
              <a:t>例 </a:t>
            </a:r>
            <a:r>
              <a:rPr sz="1550" b="1" dirty="0">
                <a:solidFill>
                  <a:srgbClr val="FF0000"/>
                </a:solidFill>
                <a:latin typeface="Arial"/>
                <a:cs typeface="Arial"/>
              </a:rPr>
              <a:t>3.2</a:t>
            </a:r>
            <a:r>
              <a:rPr sz="1550" b="1" spc="120" dirty="0">
                <a:solidFill>
                  <a:srgbClr val="FF0000"/>
                </a:solidFill>
                <a:latin typeface="Arial"/>
                <a:cs typeface="Arial"/>
              </a:rPr>
              <a:t> </a:t>
            </a:r>
            <a:r>
              <a:rPr sz="1550" b="1" spc="-5" dirty="0">
                <a:solidFill>
                  <a:srgbClr val="FF0000"/>
                </a:solidFill>
                <a:latin typeface="宋体"/>
                <a:cs typeface="宋体"/>
              </a:rPr>
              <a:t>使用一个变量的与电路</a:t>
            </a:r>
            <a:endParaRPr sz="1550">
              <a:latin typeface="宋体"/>
              <a:cs typeface="宋体"/>
            </a:endParaRPr>
          </a:p>
          <a:p>
            <a:pPr marL="346075" marR="5080" indent="-334010">
              <a:lnSpc>
                <a:spcPct val="122300"/>
              </a:lnSpc>
              <a:spcBef>
                <a:spcPts val="660"/>
              </a:spcBef>
            </a:pPr>
            <a:r>
              <a:rPr sz="1550" b="1" dirty="0">
                <a:latin typeface="Arial"/>
                <a:cs typeface="Arial"/>
              </a:rPr>
              <a:t>module</a:t>
            </a:r>
            <a:r>
              <a:rPr sz="1550" b="1" spc="55" dirty="0">
                <a:latin typeface="Arial"/>
                <a:cs typeface="Arial"/>
              </a:rPr>
              <a:t> </a:t>
            </a:r>
            <a:r>
              <a:rPr sz="1550" dirty="0">
                <a:latin typeface="Arial"/>
                <a:cs typeface="Arial"/>
              </a:rPr>
              <a:t>and_block_assign(</a:t>
            </a:r>
            <a:r>
              <a:rPr sz="1550" spc="60" dirty="0">
                <a:latin typeface="Arial"/>
                <a:cs typeface="Arial"/>
              </a:rPr>
              <a:t> </a:t>
            </a:r>
            <a:r>
              <a:rPr sz="1550" b="1" spc="-10" dirty="0">
                <a:latin typeface="Arial"/>
                <a:cs typeface="Arial"/>
              </a:rPr>
              <a:t>input </a:t>
            </a:r>
            <a:r>
              <a:rPr sz="1550" b="1" dirty="0">
                <a:latin typeface="Arial"/>
                <a:cs typeface="Arial"/>
              </a:rPr>
              <a:t>output</a:t>
            </a:r>
            <a:r>
              <a:rPr sz="1550" b="1" spc="15" dirty="0">
                <a:latin typeface="Arial"/>
                <a:cs typeface="Arial"/>
              </a:rPr>
              <a:t> </a:t>
            </a:r>
            <a:r>
              <a:rPr sz="1550" b="1" dirty="0">
                <a:latin typeface="Arial"/>
                <a:cs typeface="Arial"/>
              </a:rPr>
              <a:t>reg</a:t>
            </a:r>
            <a:r>
              <a:rPr sz="1550" b="1" spc="484" dirty="0">
                <a:latin typeface="Arial"/>
                <a:cs typeface="Arial"/>
              </a:rPr>
              <a:t> </a:t>
            </a:r>
            <a:r>
              <a:rPr sz="1550" dirty="0">
                <a:latin typeface="Arial"/>
                <a:cs typeface="Arial"/>
              </a:rPr>
              <a:t>y</a:t>
            </a:r>
            <a:r>
              <a:rPr sz="1550" spc="20" dirty="0">
                <a:latin typeface="Arial"/>
                <a:cs typeface="Arial"/>
              </a:rPr>
              <a:t> </a:t>
            </a:r>
            <a:r>
              <a:rPr sz="1550" spc="-25" dirty="0">
                <a:latin typeface="Arial"/>
                <a:cs typeface="Arial"/>
              </a:rPr>
              <a:t>);</a:t>
            </a:r>
            <a:endParaRPr sz="1550">
              <a:latin typeface="Arial"/>
              <a:cs typeface="Arial"/>
            </a:endParaRPr>
          </a:p>
          <a:p>
            <a:pPr marL="346075">
              <a:lnSpc>
                <a:spcPct val="100000"/>
              </a:lnSpc>
              <a:spcBef>
                <a:spcPts val="409"/>
              </a:spcBef>
            </a:pPr>
            <a:r>
              <a:rPr sz="1550" b="1" dirty="0">
                <a:latin typeface="Arial"/>
                <a:cs typeface="Arial"/>
              </a:rPr>
              <a:t>always</a:t>
            </a:r>
            <a:r>
              <a:rPr sz="1550" b="1" spc="470" dirty="0">
                <a:latin typeface="Arial"/>
                <a:cs typeface="Arial"/>
              </a:rPr>
              <a:t> </a:t>
            </a:r>
            <a:r>
              <a:rPr sz="1550" dirty="0">
                <a:latin typeface="Arial"/>
                <a:cs typeface="Arial"/>
              </a:rPr>
              <a:t>@</a:t>
            </a:r>
            <a:r>
              <a:rPr sz="1550" spc="15" dirty="0">
                <a:latin typeface="Arial"/>
                <a:cs typeface="Arial"/>
              </a:rPr>
              <a:t> </a:t>
            </a:r>
            <a:r>
              <a:rPr sz="1550" spc="-50" dirty="0">
                <a:latin typeface="Arial"/>
                <a:cs typeface="Arial"/>
              </a:rPr>
              <a:t>*</a:t>
            </a:r>
            <a:endParaRPr sz="1550">
              <a:latin typeface="Arial"/>
              <a:cs typeface="Arial"/>
            </a:endParaRPr>
          </a:p>
          <a:p>
            <a:pPr marL="346075">
              <a:lnSpc>
                <a:spcPct val="100000"/>
              </a:lnSpc>
              <a:spcBef>
                <a:spcPts val="414"/>
              </a:spcBef>
            </a:pPr>
            <a:r>
              <a:rPr sz="1550" b="1" spc="-10" dirty="0">
                <a:latin typeface="Arial"/>
                <a:cs typeface="Arial"/>
              </a:rPr>
              <a:t>begin</a:t>
            </a:r>
            <a:endParaRPr sz="1550">
              <a:latin typeface="Arial"/>
              <a:cs typeface="Arial"/>
            </a:endParaRPr>
          </a:p>
          <a:p>
            <a:pPr marL="624840" marR="1757680">
              <a:lnSpc>
                <a:spcPct val="122100"/>
              </a:lnSpc>
            </a:pPr>
            <a:r>
              <a:rPr sz="1550" dirty="0">
                <a:latin typeface="Arial"/>
                <a:cs typeface="Arial"/>
              </a:rPr>
              <a:t>y</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a</a:t>
            </a:r>
            <a:r>
              <a:rPr sz="1550" spc="15" dirty="0">
                <a:latin typeface="Arial"/>
                <a:cs typeface="Arial"/>
              </a:rPr>
              <a:t> </a:t>
            </a:r>
            <a:r>
              <a:rPr sz="1550" spc="-50" dirty="0">
                <a:latin typeface="Arial"/>
                <a:cs typeface="Arial"/>
              </a:rPr>
              <a:t>; </a:t>
            </a:r>
            <a:r>
              <a:rPr sz="1550" spc="-10" dirty="0">
                <a:latin typeface="Arial"/>
                <a:cs typeface="Arial"/>
              </a:rPr>
              <a:t>y=y&amp;b; y=y&amp;c;</a:t>
            </a:r>
            <a:endParaRPr sz="1550">
              <a:latin typeface="Arial"/>
              <a:cs typeface="Arial"/>
            </a:endParaRPr>
          </a:p>
          <a:p>
            <a:pPr marL="12700" marR="1919605" indent="333375">
              <a:lnSpc>
                <a:spcPct val="112900"/>
              </a:lnSpc>
              <a:spcBef>
                <a:spcPts val="175"/>
              </a:spcBef>
            </a:pPr>
            <a:r>
              <a:rPr sz="1550" b="1" spc="-25" dirty="0">
                <a:latin typeface="Arial"/>
                <a:cs typeface="Arial"/>
              </a:rPr>
              <a:t>end </a:t>
            </a:r>
            <a:r>
              <a:rPr sz="1550" b="1" spc="-10" dirty="0">
                <a:latin typeface="Arial"/>
                <a:cs typeface="Arial"/>
              </a:rPr>
              <a:t>endmodule</a:t>
            </a:r>
            <a:endParaRPr sz="1550">
              <a:latin typeface="Arial"/>
              <a:cs typeface="Arial"/>
            </a:endParaRPr>
          </a:p>
        </p:txBody>
      </p:sp>
      <p:pic>
        <p:nvPicPr>
          <p:cNvPr id="9" name="object 9"/>
          <p:cNvPicPr/>
          <p:nvPr/>
        </p:nvPicPr>
        <p:blipFill>
          <a:blip r:embed="rId2" cstate="print"/>
          <a:stretch>
            <a:fillRect/>
          </a:stretch>
        </p:blipFill>
        <p:spPr>
          <a:xfrm>
            <a:off x="6247499" y="3980343"/>
            <a:ext cx="2945669" cy="912584"/>
          </a:xfrm>
          <a:prstGeom prst="rect">
            <a:avLst/>
          </a:prstGeom>
        </p:spPr>
      </p:pic>
      <p:sp>
        <p:nvSpPr>
          <p:cNvPr id="10" name="object 10"/>
          <p:cNvSpPr txBox="1"/>
          <p:nvPr/>
        </p:nvSpPr>
        <p:spPr>
          <a:xfrm>
            <a:off x="6307969" y="2983484"/>
            <a:ext cx="1944370" cy="266065"/>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FF0000"/>
                </a:solidFill>
                <a:latin typeface="宋体"/>
                <a:cs typeface="宋体"/>
              </a:rPr>
              <a:t>图3.1(a</a:t>
            </a:r>
            <a:r>
              <a:rPr sz="1550" b="1" spc="15" dirty="0">
                <a:solidFill>
                  <a:srgbClr val="FF0000"/>
                </a:solidFill>
                <a:latin typeface="宋体"/>
                <a:cs typeface="宋体"/>
              </a:rPr>
              <a:t>) 综合的电路</a:t>
            </a:r>
            <a:endParaRPr sz="1550">
              <a:latin typeface="宋体"/>
              <a:cs typeface="宋体"/>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74085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3.1.4</a:t>
            </a:r>
            <a:r>
              <a:rPr spc="50" dirty="0">
                <a:latin typeface="Arial"/>
                <a:cs typeface="Arial"/>
              </a:rPr>
              <a:t> </a:t>
            </a:r>
            <a:r>
              <a:rPr dirty="0"/>
              <a:t>简单实例</a:t>
            </a:r>
            <a:r>
              <a:rPr spc="-25" dirty="0">
                <a:latin typeface="Calibri"/>
                <a:cs typeface="Calibri"/>
              </a:rPr>
              <a:t>----</a:t>
            </a:r>
            <a:r>
              <a:rPr spc="-15" dirty="0"/>
              <a:t>过程赋值语句和持续赋值语句</a:t>
            </a:r>
          </a:p>
        </p:txBody>
      </p:sp>
      <p:sp>
        <p:nvSpPr>
          <p:cNvPr id="3" name="object 3"/>
          <p:cNvSpPr txBox="1"/>
          <p:nvPr/>
        </p:nvSpPr>
        <p:spPr>
          <a:xfrm>
            <a:off x="1132465" y="3484117"/>
            <a:ext cx="2430780" cy="266065"/>
          </a:xfrm>
          <a:prstGeom prst="rect">
            <a:avLst/>
          </a:prstGeom>
        </p:spPr>
        <p:txBody>
          <a:bodyPr vert="horz" wrap="square" lIns="0" tIns="15875" rIns="0" bIns="0" rtlCol="0">
            <a:spAutoFit/>
          </a:bodyPr>
          <a:lstStyle/>
          <a:p>
            <a:pPr marL="12700">
              <a:lnSpc>
                <a:spcPct val="100000"/>
              </a:lnSpc>
              <a:spcBef>
                <a:spcPts val="125"/>
              </a:spcBef>
            </a:pPr>
            <a:r>
              <a:rPr sz="1550" b="1" spc="-114" dirty="0">
                <a:solidFill>
                  <a:srgbClr val="FF0000"/>
                </a:solidFill>
                <a:latin typeface="宋体"/>
                <a:cs typeface="宋体"/>
              </a:rPr>
              <a:t>例 </a:t>
            </a:r>
            <a:r>
              <a:rPr sz="1550" b="1" dirty="0">
                <a:solidFill>
                  <a:srgbClr val="FF0000"/>
                </a:solidFill>
                <a:latin typeface="Arial"/>
                <a:cs typeface="Arial"/>
              </a:rPr>
              <a:t>3.3</a:t>
            </a:r>
            <a:r>
              <a:rPr sz="1550" b="1" spc="110" dirty="0">
                <a:solidFill>
                  <a:srgbClr val="FF0000"/>
                </a:solidFill>
                <a:latin typeface="Arial"/>
                <a:cs typeface="Arial"/>
              </a:rPr>
              <a:t> </a:t>
            </a:r>
            <a:r>
              <a:rPr sz="1550" b="1" spc="-10" dirty="0">
                <a:solidFill>
                  <a:srgbClr val="FF0000"/>
                </a:solidFill>
                <a:latin typeface="宋体"/>
                <a:cs typeface="宋体"/>
              </a:rPr>
              <a:t>与电路的不正确代码</a:t>
            </a:r>
            <a:endParaRPr sz="1550">
              <a:latin typeface="宋体"/>
              <a:cs typeface="宋体"/>
            </a:endParaRPr>
          </a:p>
        </p:txBody>
      </p:sp>
      <p:sp>
        <p:nvSpPr>
          <p:cNvPr id="4" name="object 4"/>
          <p:cNvSpPr txBox="1"/>
          <p:nvPr/>
        </p:nvSpPr>
        <p:spPr>
          <a:xfrm>
            <a:off x="1040777" y="3845814"/>
            <a:ext cx="3934460" cy="2072639"/>
          </a:xfrm>
          <a:prstGeom prst="rect">
            <a:avLst/>
          </a:prstGeom>
          <a:solidFill>
            <a:srgbClr val="BAF3FF"/>
          </a:solidFill>
        </p:spPr>
        <p:txBody>
          <a:bodyPr vert="horz" wrap="square" lIns="0" tIns="59055" rIns="0" bIns="0" rtlCol="0">
            <a:spAutoFit/>
          </a:bodyPr>
          <a:lstStyle/>
          <a:p>
            <a:pPr marL="79375">
              <a:lnSpc>
                <a:spcPct val="100000"/>
              </a:lnSpc>
              <a:spcBef>
                <a:spcPts val="465"/>
              </a:spcBef>
            </a:pPr>
            <a:r>
              <a:rPr sz="1550" b="1" dirty="0">
                <a:latin typeface="Arial"/>
                <a:cs typeface="Arial"/>
              </a:rPr>
              <a:t>module</a:t>
            </a:r>
            <a:r>
              <a:rPr sz="1550" b="1" spc="50" dirty="0">
                <a:latin typeface="Arial"/>
                <a:cs typeface="Arial"/>
              </a:rPr>
              <a:t> </a:t>
            </a:r>
            <a:r>
              <a:rPr sz="1550" dirty="0">
                <a:latin typeface="Arial"/>
                <a:cs typeface="Arial"/>
              </a:rPr>
              <a:t>and_cont_assign(</a:t>
            </a:r>
            <a:r>
              <a:rPr sz="1550" spc="55" dirty="0">
                <a:latin typeface="Arial"/>
                <a:cs typeface="Arial"/>
              </a:rPr>
              <a:t> </a:t>
            </a:r>
            <a:r>
              <a:rPr sz="1550" b="1" dirty="0">
                <a:latin typeface="Arial"/>
                <a:cs typeface="Arial"/>
              </a:rPr>
              <a:t>input</a:t>
            </a:r>
            <a:r>
              <a:rPr sz="1550" b="1" spc="50" dirty="0">
                <a:latin typeface="Arial"/>
                <a:cs typeface="Arial"/>
              </a:rPr>
              <a:t> </a:t>
            </a:r>
            <a:r>
              <a:rPr sz="1550" spc="-10" dirty="0">
                <a:latin typeface="Arial"/>
                <a:cs typeface="Arial"/>
              </a:rPr>
              <a:t>a,b,c,</a:t>
            </a:r>
            <a:endParaRPr sz="1550">
              <a:latin typeface="Arial"/>
              <a:cs typeface="Arial"/>
            </a:endParaRPr>
          </a:p>
          <a:p>
            <a:pPr marL="469265">
              <a:lnSpc>
                <a:spcPct val="100000"/>
              </a:lnSpc>
              <a:spcBef>
                <a:spcPts val="415"/>
              </a:spcBef>
            </a:pPr>
            <a:r>
              <a:rPr sz="1550" b="1" dirty="0">
                <a:latin typeface="Arial"/>
                <a:cs typeface="Arial"/>
              </a:rPr>
              <a:t>output</a:t>
            </a:r>
            <a:r>
              <a:rPr sz="1550" b="1" spc="480" dirty="0">
                <a:latin typeface="Arial"/>
                <a:cs typeface="Arial"/>
              </a:rPr>
              <a:t> </a:t>
            </a:r>
            <a:r>
              <a:rPr sz="1550" spc="-50" dirty="0">
                <a:latin typeface="Arial"/>
                <a:cs typeface="Arial"/>
              </a:rPr>
              <a:t>y</a:t>
            </a:r>
            <a:endParaRPr sz="1550">
              <a:latin typeface="Arial"/>
              <a:cs typeface="Arial"/>
            </a:endParaRPr>
          </a:p>
          <a:p>
            <a:pPr marL="530225">
              <a:lnSpc>
                <a:spcPct val="100000"/>
              </a:lnSpc>
              <a:spcBef>
                <a:spcPts val="405"/>
              </a:spcBef>
            </a:pPr>
            <a:r>
              <a:rPr sz="1550" spc="-25" dirty="0">
                <a:latin typeface="Arial"/>
                <a:cs typeface="Arial"/>
              </a:rPr>
              <a:t>);</a:t>
            </a:r>
            <a:endParaRPr sz="1550">
              <a:latin typeface="Arial"/>
              <a:cs typeface="Arial"/>
            </a:endParaRPr>
          </a:p>
          <a:p>
            <a:pPr marL="469265" marR="1880870">
              <a:lnSpc>
                <a:spcPct val="122300"/>
              </a:lnSpc>
            </a:pPr>
            <a:r>
              <a:rPr sz="1550" b="1" dirty="0">
                <a:latin typeface="Arial"/>
                <a:cs typeface="Arial"/>
              </a:rPr>
              <a:t>assign</a:t>
            </a:r>
            <a:r>
              <a:rPr sz="1550" b="1" spc="20" dirty="0">
                <a:latin typeface="Arial"/>
                <a:cs typeface="Arial"/>
              </a:rPr>
              <a:t> </a:t>
            </a:r>
            <a:r>
              <a:rPr sz="1550" dirty="0">
                <a:latin typeface="Arial"/>
                <a:cs typeface="Arial"/>
              </a:rPr>
              <a:t>y</a:t>
            </a:r>
            <a:r>
              <a:rPr sz="1550" spc="30"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a; </a:t>
            </a:r>
            <a:r>
              <a:rPr sz="1550" b="1" dirty="0">
                <a:latin typeface="Arial"/>
                <a:cs typeface="Arial"/>
              </a:rPr>
              <a:t>assign</a:t>
            </a:r>
            <a:r>
              <a:rPr sz="1550" b="1" spc="15" dirty="0">
                <a:latin typeface="Arial"/>
                <a:cs typeface="Arial"/>
              </a:rPr>
              <a:t> </a:t>
            </a:r>
            <a:r>
              <a:rPr sz="1550" dirty="0">
                <a:latin typeface="Arial"/>
                <a:cs typeface="Arial"/>
              </a:rPr>
              <a:t>y</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&amp;</a:t>
            </a:r>
            <a:r>
              <a:rPr sz="1550" spc="25" dirty="0">
                <a:latin typeface="Arial"/>
                <a:cs typeface="Arial"/>
              </a:rPr>
              <a:t> </a:t>
            </a:r>
            <a:r>
              <a:rPr sz="1550" spc="-25" dirty="0">
                <a:latin typeface="Arial"/>
                <a:cs typeface="Arial"/>
              </a:rPr>
              <a:t>b; </a:t>
            </a:r>
            <a:r>
              <a:rPr sz="1550" b="1" dirty="0">
                <a:latin typeface="Arial"/>
                <a:cs typeface="Arial"/>
              </a:rPr>
              <a:t>assign</a:t>
            </a:r>
            <a:r>
              <a:rPr sz="1550" b="1"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&amp;</a:t>
            </a:r>
            <a:r>
              <a:rPr sz="1550" spc="20" dirty="0">
                <a:latin typeface="Arial"/>
                <a:cs typeface="Arial"/>
              </a:rPr>
              <a:t> </a:t>
            </a:r>
            <a:r>
              <a:rPr sz="1550" dirty="0">
                <a:latin typeface="Arial"/>
                <a:cs typeface="Arial"/>
              </a:rPr>
              <a:t>c</a:t>
            </a:r>
            <a:r>
              <a:rPr sz="1550" spc="25" dirty="0">
                <a:latin typeface="Arial"/>
                <a:cs typeface="Arial"/>
              </a:rPr>
              <a:t> </a:t>
            </a:r>
            <a:r>
              <a:rPr sz="1550" spc="-50" dirty="0">
                <a:latin typeface="Arial"/>
                <a:cs typeface="Arial"/>
              </a:rPr>
              <a:t>;</a:t>
            </a:r>
            <a:endParaRPr sz="1550">
              <a:latin typeface="Arial"/>
              <a:cs typeface="Arial"/>
            </a:endParaRPr>
          </a:p>
          <a:p>
            <a:pPr marL="191135">
              <a:lnSpc>
                <a:spcPct val="100000"/>
              </a:lnSpc>
              <a:spcBef>
                <a:spcPts val="240"/>
              </a:spcBef>
            </a:pPr>
            <a:r>
              <a:rPr sz="1550" b="1" spc="-10" dirty="0">
                <a:latin typeface="Arial"/>
                <a:cs typeface="Arial"/>
              </a:rPr>
              <a:t>endmodule</a:t>
            </a:r>
            <a:endParaRPr sz="1550">
              <a:latin typeface="Arial"/>
              <a:cs typeface="Arial"/>
            </a:endParaRPr>
          </a:p>
        </p:txBody>
      </p:sp>
      <p:sp>
        <p:nvSpPr>
          <p:cNvPr id="5" name="object 5"/>
          <p:cNvSpPr txBox="1"/>
          <p:nvPr/>
        </p:nvSpPr>
        <p:spPr>
          <a:xfrm>
            <a:off x="603637" y="1753760"/>
            <a:ext cx="9697720" cy="1470025"/>
          </a:xfrm>
          <a:prstGeom prst="rect">
            <a:avLst/>
          </a:prstGeom>
        </p:spPr>
        <p:txBody>
          <a:bodyPr vert="horz" wrap="square" lIns="0" tIns="173990" rIns="0" bIns="0" rtlCol="0">
            <a:spAutoFit/>
          </a:bodyPr>
          <a:lstStyle/>
          <a:p>
            <a:pPr marL="250190" indent="-240029">
              <a:lnSpc>
                <a:spcPct val="100000"/>
              </a:lnSpc>
              <a:spcBef>
                <a:spcPts val="1370"/>
              </a:spcBef>
              <a:buSzPct val="95238"/>
              <a:buFont typeface="Wingdings"/>
              <a:buChar char=""/>
              <a:tabLst>
                <a:tab pos="250190" algn="l"/>
              </a:tabLst>
            </a:pPr>
            <a:r>
              <a:rPr sz="2100" dirty="0">
                <a:latin typeface="微软雅黑"/>
                <a:cs typeface="微软雅黑"/>
              </a:rPr>
              <a:t>如果我们采用类似如例</a:t>
            </a:r>
            <a:r>
              <a:rPr sz="2100" spc="-10" dirty="0">
                <a:latin typeface="Arial"/>
                <a:cs typeface="Arial"/>
              </a:rPr>
              <a:t>3.3</a:t>
            </a:r>
            <a:r>
              <a:rPr sz="2100" spc="-15" dirty="0">
                <a:latin typeface="微软雅黑"/>
                <a:cs typeface="微软雅黑"/>
              </a:rPr>
              <a:t>中的持续赋值语句，则描述结果不正确。</a:t>
            </a:r>
            <a:endParaRPr sz="2100">
              <a:latin typeface="微软雅黑"/>
              <a:cs typeface="微软雅黑"/>
            </a:endParaRPr>
          </a:p>
          <a:p>
            <a:pPr marL="12700" marR="5080" indent="-3175">
              <a:lnSpc>
                <a:spcPct val="150200"/>
              </a:lnSpc>
              <a:spcBef>
                <a:spcPts val="5"/>
              </a:spcBef>
              <a:buSzPct val="95238"/>
              <a:buFont typeface="Wingdings"/>
              <a:buChar char=""/>
              <a:tabLst>
                <a:tab pos="12700" algn="l"/>
                <a:tab pos="249554" algn="l"/>
              </a:tabLst>
            </a:pPr>
            <a:r>
              <a:rPr sz="2100" spc="50" dirty="0">
                <a:latin typeface="微软雅黑"/>
                <a:cs typeface="微软雅黑"/>
              </a:rPr>
              <a:t>	在例</a:t>
            </a:r>
            <a:r>
              <a:rPr sz="2100" dirty="0">
                <a:latin typeface="Arial"/>
                <a:cs typeface="Arial"/>
              </a:rPr>
              <a:t>3.3</a:t>
            </a:r>
            <a:r>
              <a:rPr sz="2100" spc="50" dirty="0">
                <a:latin typeface="微软雅黑"/>
                <a:cs typeface="微软雅黑"/>
              </a:rPr>
              <a:t>的代码中，每条程序赋值综合一部分电路，左端</a:t>
            </a:r>
            <a:r>
              <a:rPr sz="2100" spc="50" dirty="0">
                <a:latin typeface="Arial"/>
                <a:cs typeface="Arial"/>
              </a:rPr>
              <a:t>3</a:t>
            </a:r>
            <a:r>
              <a:rPr sz="2100" spc="10" dirty="0">
                <a:latin typeface="微软雅黑"/>
                <a:cs typeface="微软雅黑"/>
              </a:rPr>
              <a:t>次出现的</a:t>
            </a:r>
            <a:r>
              <a:rPr sz="2100" spc="50" dirty="0">
                <a:latin typeface="Arial"/>
                <a:cs typeface="Arial"/>
              </a:rPr>
              <a:t>y</a:t>
            </a:r>
            <a:r>
              <a:rPr sz="2100" dirty="0">
                <a:latin typeface="微软雅黑"/>
                <a:cs typeface="微软雅黑"/>
              </a:rPr>
              <a:t>表明三个输</a:t>
            </a:r>
            <a:r>
              <a:rPr sz="2100" spc="-10" dirty="0">
                <a:latin typeface="微软雅黑"/>
                <a:cs typeface="微软雅黑"/>
              </a:rPr>
              <a:t>出捆绑在一起，对应的电路如图</a:t>
            </a:r>
            <a:r>
              <a:rPr sz="2100" spc="-10" dirty="0">
                <a:latin typeface="Arial"/>
                <a:cs typeface="Arial"/>
              </a:rPr>
              <a:t>3.1(b)</a:t>
            </a:r>
            <a:r>
              <a:rPr sz="2100" spc="-15" dirty="0">
                <a:latin typeface="微软雅黑"/>
                <a:cs typeface="微软雅黑"/>
              </a:rPr>
              <a:t>所示，这显然不是我们想要的设计结果。</a:t>
            </a:r>
            <a:endParaRPr sz="2100">
              <a:latin typeface="微软雅黑"/>
              <a:cs typeface="微软雅黑"/>
            </a:endParaRPr>
          </a:p>
        </p:txBody>
      </p:sp>
      <p:sp>
        <p:nvSpPr>
          <p:cNvPr id="6" name="object 6"/>
          <p:cNvSpPr txBox="1"/>
          <p:nvPr/>
        </p:nvSpPr>
        <p:spPr>
          <a:xfrm>
            <a:off x="5995549" y="3511550"/>
            <a:ext cx="2548255" cy="266065"/>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FF0000"/>
                </a:solidFill>
                <a:latin typeface="宋体"/>
                <a:cs typeface="宋体"/>
              </a:rPr>
              <a:t>图3.1（b）</a:t>
            </a:r>
            <a:r>
              <a:rPr sz="1550" b="1" spc="20" dirty="0">
                <a:solidFill>
                  <a:srgbClr val="FF0000"/>
                </a:solidFill>
                <a:latin typeface="宋体"/>
                <a:cs typeface="宋体"/>
              </a:rPr>
              <a:t> 不正确的电路图</a:t>
            </a:r>
            <a:endParaRPr sz="1550">
              <a:latin typeface="宋体"/>
              <a:cs typeface="宋体"/>
            </a:endParaRPr>
          </a:p>
        </p:txBody>
      </p:sp>
      <p:pic>
        <p:nvPicPr>
          <p:cNvPr id="7" name="object 7"/>
          <p:cNvPicPr/>
          <p:nvPr/>
        </p:nvPicPr>
        <p:blipFill>
          <a:blip r:embed="rId2" cstate="print"/>
          <a:stretch>
            <a:fillRect/>
          </a:stretch>
        </p:blipFill>
        <p:spPr>
          <a:xfrm>
            <a:off x="6312446" y="4141261"/>
            <a:ext cx="2054641" cy="1436484"/>
          </a:xfrm>
          <a:prstGeom prst="rect">
            <a:avLst/>
          </a:prstGeom>
        </p:spPr>
      </p:pic>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0447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a:t>
            </a:r>
            <a:r>
              <a:rPr spc="-25" dirty="0">
                <a:latin typeface="Arial"/>
                <a:cs typeface="Arial"/>
              </a:rPr>
              <a:t> </a:t>
            </a:r>
            <a:r>
              <a:rPr spc="-15" dirty="0"/>
              <a:t>条件语句</a:t>
            </a: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826903" y="2315209"/>
            <a:ext cx="5153660" cy="346710"/>
          </a:xfrm>
          <a:prstGeom prst="rect">
            <a:avLst/>
          </a:prstGeom>
        </p:spPr>
        <p:txBody>
          <a:bodyPr vert="horz" wrap="square" lIns="0" tIns="13335" rIns="0" bIns="0" rtlCol="0">
            <a:spAutoFit/>
          </a:bodyPr>
          <a:lstStyle/>
          <a:p>
            <a:pPr marL="295910" indent="-283210">
              <a:lnSpc>
                <a:spcPct val="100000"/>
              </a:lnSpc>
              <a:spcBef>
                <a:spcPts val="105"/>
              </a:spcBef>
              <a:buClr>
                <a:srgbClr val="EC891C"/>
              </a:buClr>
              <a:buSzPct val="88095"/>
              <a:buFont typeface="Wingdings"/>
              <a:buChar char=""/>
              <a:tabLst>
                <a:tab pos="295910" algn="l"/>
              </a:tabLst>
            </a:pPr>
            <a:r>
              <a:rPr sz="2100" b="1" dirty="0">
                <a:solidFill>
                  <a:srgbClr val="3E3E3E"/>
                </a:solidFill>
                <a:latin typeface="微软雅黑"/>
                <a:cs typeface="微软雅黑"/>
              </a:rPr>
              <a:t>条件语句有</a:t>
            </a:r>
            <a:r>
              <a:rPr sz="2100" b="1" spc="-10" dirty="0">
                <a:solidFill>
                  <a:srgbClr val="FF0000"/>
                </a:solidFill>
                <a:latin typeface="Arial"/>
                <a:cs typeface="Arial"/>
              </a:rPr>
              <a:t>if-else</a:t>
            </a:r>
            <a:r>
              <a:rPr sz="2100" b="1" dirty="0">
                <a:solidFill>
                  <a:srgbClr val="3E3E3E"/>
                </a:solidFill>
                <a:latin typeface="微软雅黑"/>
                <a:cs typeface="微软雅黑"/>
              </a:rPr>
              <a:t>语句和</a:t>
            </a:r>
            <a:r>
              <a:rPr sz="2100" b="1" spc="-10" dirty="0">
                <a:solidFill>
                  <a:srgbClr val="FF0000"/>
                </a:solidFill>
                <a:latin typeface="Arial"/>
                <a:cs typeface="Arial"/>
              </a:rPr>
              <a:t>case</a:t>
            </a:r>
            <a:r>
              <a:rPr sz="2100" b="1" spc="-10" dirty="0">
                <a:solidFill>
                  <a:srgbClr val="3E3E3E"/>
                </a:solidFill>
                <a:latin typeface="微软雅黑"/>
                <a:cs typeface="微软雅黑"/>
              </a:rPr>
              <a:t>语句两种。</a:t>
            </a:r>
            <a:endParaRPr sz="2100">
              <a:latin typeface="微软雅黑"/>
              <a:cs typeface="微软雅黑"/>
            </a:endParaRPr>
          </a:p>
        </p:txBody>
      </p:sp>
      <p:sp>
        <p:nvSpPr>
          <p:cNvPr id="4" name="object 4"/>
          <p:cNvSpPr txBox="1"/>
          <p:nvPr/>
        </p:nvSpPr>
        <p:spPr>
          <a:xfrm>
            <a:off x="826903" y="3455923"/>
            <a:ext cx="5998845" cy="346710"/>
          </a:xfrm>
          <a:prstGeom prst="rect">
            <a:avLst/>
          </a:prstGeom>
        </p:spPr>
        <p:txBody>
          <a:bodyPr vert="horz" wrap="square" lIns="0" tIns="13335" rIns="0" bIns="0" rtlCol="0">
            <a:spAutoFit/>
          </a:bodyPr>
          <a:lstStyle/>
          <a:p>
            <a:pPr marL="295910" indent="-283210">
              <a:lnSpc>
                <a:spcPct val="100000"/>
              </a:lnSpc>
              <a:spcBef>
                <a:spcPts val="105"/>
              </a:spcBef>
              <a:buClr>
                <a:srgbClr val="EC891C"/>
              </a:buClr>
              <a:buSzPct val="88095"/>
              <a:buFont typeface="Wingdings"/>
              <a:buChar char=""/>
              <a:tabLst>
                <a:tab pos="295910" algn="l"/>
              </a:tabLst>
            </a:pPr>
            <a:r>
              <a:rPr sz="2100" b="1" spc="-10" dirty="0">
                <a:solidFill>
                  <a:srgbClr val="3E3E3E"/>
                </a:solidFill>
                <a:latin typeface="微软雅黑"/>
                <a:cs typeface="微软雅黑"/>
              </a:rPr>
              <a:t>它们都是顺序语句，应该放在</a:t>
            </a:r>
            <a:r>
              <a:rPr sz="2100" b="1" spc="-10" dirty="0">
                <a:solidFill>
                  <a:srgbClr val="FF0000"/>
                </a:solidFill>
                <a:latin typeface="Arial"/>
                <a:cs typeface="Arial"/>
              </a:rPr>
              <a:t>always</a:t>
            </a:r>
            <a:r>
              <a:rPr sz="2100" b="1" dirty="0">
                <a:solidFill>
                  <a:srgbClr val="FF0000"/>
                </a:solidFill>
                <a:latin typeface="微软雅黑"/>
                <a:cs typeface="微软雅黑"/>
              </a:rPr>
              <a:t>块内</a:t>
            </a:r>
            <a:r>
              <a:rPr sz="2100" b="1" spc="-20" dirty="0">
                <a:solidFill>
                  <a:srgbClr val="3E3E3E"/>
                </a:solidFill>
                <a:latin typeface="微软雅黑"/>
                <a:cs typeface="微软雅黑"/>
              </a:rPr>
              <a:t>使用。</a:t>
            </a:r>
            <a:endParaRPr sz="2100">
              <a:latin typeface="微软雅黑"/>
              <a:cs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6899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20"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25" dirty="0"/>
              <a:t>语法</a:t>
            </a: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89743" y="2022602"/>
            <a:ext cx="3683000" cy="34671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dirty="0">
                <a:solidFill>
                  <a:srgbClr val="3E3E3E"/>
                </a:solidFill>
                <a:latin typeface="Arial"/>
                <a:cs typeface="Arial"/>
              </a:rPr>
              <a:t>If-else</a:t>
            </a:r>
            <a:r>
              <a:rPr sz="2100" b="1" spc="-15" dirty="0">
                <a:solidFill>
                  <a:srgbClr val="3E3E3E"/>
                </a:solidFill>
                <a:latin typeface="微软雅黑"/>
                <a:cs typeface="微软雅黑"/>
              </a:rPr>
              <a:t>语句的简化语法如下：</a:t>
            </a:r>
            <a:endParaRPr sz="2100">
              <a:latin typeface="微软雅黑"/>
              <a:cs typeface="微软雅黑"/>
            </a:endParaRPr>
          </a:p>
        </p:txBody>
      </p:sp>
      <p:sp>
        <p:nvSpPr>
          <p:cNvPr id="4" name="object 4"/>
          <p:cNvSpPr txBox="1"/>
          <p:nvPr/>
        </p:nvSpPr>
        <p:spPr>
          <a:xfrm>
            <a:off x="853325" y="2795777"/>
            <a:ext cx="2417445" cy="3320415"/>
          </a:xfrm>
          <a:prstGeom prst="rect">
            <a:avLst/>
          </a:prstGeom>
          <a:solidFill>
            <a:srgbClr val="F9FABA"/>
          </a:solidFill>
        </p:spPr>
        <p:txBody>
          <a:bodyPr vert="horz" wrap="square" lIns="0" tIns="57785" rIns="0" bIns="0" rtlCol="0">
            <a:spAutoFit/>
          </a:bodyPr>
          <a:lstStyle/>
          <a:p>
            <a:pPr marL="130175">
              <a:lnSpc>
                <a:spcPct val="100000"/>
              </a:lnSpc>
              <a:spcBef>
                <a:spcPts val="455"/>
              </a:spcBef>
            </a:pPr>
            <a:r>
              <a:rPr sz="1750" b="1" dirty="0">
                <a:latin typeface="Arial"/>
                <a:cs typeface="Arial"/>
              </a:rPr>
              <a:t>if</a:t>
            </a:r>
            <a:r>
              <a:rPr sz="1750" b="1" spc="450" dirty="0">
                <a:latin typeface="Arial"/>
                <a:cs typeface="Arial"/>
              </a:rPr>
              <a:t> </a:t>
            </a:r>
            <a:r>
              <a:rPr sz="1750" spc="-10" dirty="0">
                <a:latin typeface="Arial"/>
                <a:cs typeface="Arial"/>
              </a:rPr>
              <a:t>[</a:t>
            </a:r>
            <a:r>
              <a:rPr sz="1750" dirty="0">
                <a:latin typeface="微软雅黑"/>
                <a:cs typeface="微软雅黑"/>
              </a:rPr>
              <a:t>表达式</a:t>
            </a:r>
            <a:r>
              <a:rPr sz="1750" spc="-50" dirty="0">
                <a:latin typeface="Arial"/>
                <a:cs typeface="Arial"/>
              </a:rPr>
              <a:t>]</a:t>
            </a:r>
            <a:endParaRPr sz="1750">
              <a:latin typeface="Arial"/>
              <a:cs typeface="Arial"/>
            </a:endParaRPr>
          </a:p>
          <a:p>
            <a:pPr marL="330200">
              <a:lnSpc>
                <a:spcPct val="100000"/>
              </a:lnSpc>
              <a:spcBef>
                <a:spcPts val="420"/>
              </a:spcBef>
            </a:pPr>
            <a:r>
              <a:rPr sz="1750" b="1" spc="-10" dirty="0">
                <a:latin typeface="Calibri"/>
                <a:cs typeface="Calibri"/>
              </a:rPr>
              <a:t>begin</a:t>
            </a:r>
            <a:endParaRPr sz="1750">
              <a:latin typeface="Calibri"/>
              <a:cs typeface="Calibri"/>
            </a:endParaRPr>
          </a:p>
          <a:p>
            <a:pPr marL="530860">
              <a:lnSpc>
                <a:spcPct val="100000"/>
              </a:lnSpc>
              <a:spcBef>
                <a:spcPts val="430"/>
              </a:spcBef>
            </a:pPr>
            <a:r>
              <a:rPr sz="1750" spc="-10" dirty="0">
                <a:latin typeface="Arial"/>
                <a:cs typeface="Arial"/>
              </a:rPr>
              <a:t>[</a:t>
            </a:r>
            <a:r>
              <a:rPr sz="1750" dirty="0">
                <a:latin typeface="宋体"/>
                <a:cs typeface="宋体"/>
              </a:rPr>
              <a:t>顺序执行语句</a:t>
            </a:r>
            <a:r>
              <a:rPr sz="1750" spc="-25" dirty="0">
                <a:latin typeface="Arial"/>
                <a:cs typeface="Arial"/>
              </a:rPr>
              <a:t>] ;</a:t>
            </a:r>
            <a:endParaRPr sz="1750">
              <a:latin typeface="Arial"/>
              <a:cs typeface="Arial"/>
            </a:endParaRPr>
          </a:p>
          <a:p>
            <a:pPr marL="508634">
              <a:lnSpc>
                <a:spcPct val="100000"/>
              </a:lnSpc>
              <a:spcBef>
                <a:spcPts val="425"/>
              </a:spcBef>
            </a:pPr>
            <a:r>
              <a:rPr sz="1750" spc="-10" dirty="0">
                <a:latin typeface="Arial"/>
                <a:cs typeface="Arial"/>
              </a:rPr>
              <a:t>[</a:t>
            </a:r>
            <a:r>
              <a:rPr sz="1750" dirty="0">
                <a:latin typeface="宋体"/>
                <a:cs typeface="宋体"/>
              </a:rPr>
              <a:t>顺序执行语句</a:t>
            </a:r>
            <a:r>
              <a:rPr sz="1750" spc="-25" dirty="0">
                <a:latin typeface="Arial"/>
                <a:cs typeface="Arial"/>
              </a:rPr>
              <a:t>] ;</a:t>
            </a:r>
            <a:endParaRPr sz="1750">
              <a:latin typeface="Arial"/>
              <a:cs typeface="Arial"/>
            </a:endParaRPr>
          </a:p>
          <a:p>
            <a:pPr marL="140970" marR="1566545" indent="306705">
              <a:lnSpc>
                <a:spcPct val="120300"/>
              </a:lnSpc>
            </a:pPr>
            <a:r>
              <a:rPr sz="1750" b="1" spc="-25" dirty="0">
                <a:latin typeface="Arial"/>
                <a:cs typeface="Arial"/>
              </a:rPr>
              <a:t>end </a:t>
            </a:r>
            <a:r>
              <a:rPr sz="1750" b="1" spc="-20" dirty="0">
                <a:latin typeface="Arial"/>
                <a:cs typeface="Arial"/>
              </a:rPr>
              <a:t>else</a:t>
            </a:r>
            <a:endParaRPr sz="1750">
              <a:latin typeface="Arial"/>
              <a:cs typeface="Arial"/>
            </a:endParaRPr>
          </a:p>
          <a:p>
            <a:pPr marL="447675">
              <a:lnSpc>
                <a:spcPct val="100000"/>
              </a:lnSpc>
              <a:spcBef>
                <a:spcPts val="420"/>
              </a:spcBef>
            </a:pPr>
            <a:r>
              <a:rPr sz="1750" b="1" spc="-10" dirty="0">
                <a:latin typeface="Arial"/>
                <a:cs typeface="Arial"/>
              </a:rPr>
              <a:t>begin</a:t>
            </a:r>
            <a:endParaRPr sz="1750">
              <a:latin typeface="Arial"/>
              <a:cs typeface="Arial"/>
            </a:endParaRPr>
          </a:p>
          <a:p>
            <a:pPr marL="570230">
              <a:lnSpc>
                <a:spcPct val="100000"/>
              </a:lnSpc>
              <a:spcBef>
                <a:spcPts val="425"/>
              </a:spcBef>
            </a:pPr>
            <a:r>
              <a:rPr sz="1750" spc="-10" dirty="0">
                <a:latin typeface="Arial"/>
                <a:cs typeface="Arial"/>
              </a:rPr>
              <a:t>[</a:t>
            </a:r>
            <a:r>
              <a:rPr sz="1750" dirty="0">
                <a:latin typeface="宋体"/>
                <a:cs typeface="宋体"/>
              </a:rPr>
              <a:t>顺序执行语句</a:t>
            </a:r>
            <a:r>
              <a:rPr sz="1750" spc="-30" dirty="0">
                <a:latin typeface="Arial"/>
                <a:cs typeface="Arial"/>
              </a:rPr>
              <a:t>] ;</a:t>
            </a:r>
            <a:endParaRPr sz="1750">
              <a:latin typeface="Arial"/>
              <a:cs typeface="Arial"/>
            </a:endParaRPr>
          </a:p>
          <a:p>
            <a:pPr marL="558800">
              <a:lnSpc>
                <a:spcPct val="100000"/>
              </a:lnSpc>
              <a:spcBef>
                <a:spcPts val="425"/>
              </a:spcBef>
            </a:pPr>
            <a:r>
              <a:rPr sz="1750" spc="-10" dirty="0">
                <a:latin typeface="Arial"/>
                <a:cs typeface="Arial"/>
              </a:rPr>
              <a:t>[</a:t>
            </a:r>
            <a:r>
              <a:rPr sz="1750" dirty="0">
                <a:latin typeface="宋体"/>
                <a:cs typeface="宋体"/>
              </a:rPr>
              <a:t>顺序执行语句</a:t>
            </a:r>
            <a:r>
              <a:rPr sz="1750" spc="204" dirty="0">
                <a:latin typeface="Arial"/>
                <a:cs typeface="Arial"/>
              </a:rPr>
              <a:t>]; </a:t>
            </a:r>
            <a:endParaRPr sz="1750">
              <a:latin typeface="Arial"/>
              <a:cs typeface="Arial"/>
            </a:endParaRPr>
          </a:p>
          <a:p>
            <a:pPr marL="431800">
              <a:lnSpc>
                <a:spcPct val="100000"/>
              </a:lnSpc>
              <a:spcBef>
                <a:spcPts val="425"/>
              </a:spcBef>
            </a:pPr>
            <a:r>
              <a:rPr sz="1750" b="1" spc="-25" dirty="0">
                <a:latin typeface="Calibri"/>
                <a:cs typeface="Calibri"/>
              </a:rPr>
              <a:t>end</a:t>
            </a:r>
            <a:endParaRPr sz="1750">
              <a:latin typeface="Calibri"/>
              <a:cs typeface="Calibri"/>
            </a:endParaRPr>
          </a:p>
        </p:txBody>
      </p:sp>
      <p:sp>
        <p:nvSpPr>
          <p:cNvPr id="5" name="object 5"/>
          <p:cNvSpPr txBox="1"/>
          <p:nvPr/>
        </p:nvSpPr>
        <p:spPr>
          <a:xfrm>
            <a:off x="3650114" y="2767430"/>
            <a:ext cx="6463030" cy="1228090"/>
          </a:xfrm>
          <a:prstGeom prst="rect">
            <a:avLst/>
          </a:prstGeom>
        </p:spPr>
        <p:txBody>
          <a:bodyPr vert="horz" wrap="square" lIns="0" tIns="12700" rIns="0" bIns="0" rtlCol="0">
            <a:spAutoFit/>
          </a:bodyPr>
          <a:lstStyle/>
          <a:p>
            <a:pPr marL="212725" marR="5080" indent="-200660">
              <a:lnSpc>
                <a:spcPct val="150300"/>
              </a:lnSpc>
              <a:spcBef>
                <a:spcPts val="100"/>
              </a:spcBef>
              <a:buFont typeface="Wingdings"/>
              <a:buChar char=""/>
              <a:tabLst>
                <a:tab pos="212725" algn="l"/>
              </a:tabLst>
            </a:pPr>
            <a:r>
              <a:rPr sz="1750" spc="-20" dirty="0">
                <a:latin typeface="Arial"/>
                <a:cs typeface="Arial"/>
              </a:rPr>
              <a:t>[</a:t>
            </a:r>
            <a:r>
              <a:rPr sz="1750" dirty="0">
                <a:latin typeface="宋体"/>
                <a:cs typeface="宋体"/>
              </a:rPr>
              <a:t>表达式</a:t>
            </a:r>
            <a:r>
              <a:rPr sz="1750" spc="-20" dirty="0">
                <a:latin typeface="Arial"/>
                <a:cs typeface="Arial"/>
              </a:rPr>
              <a:t>]</a:t>
            </a:r>
            <a:r>
              <a:rPr sz="1750" spc="-5" dirty="0">
                <a:latin typeface="宋体"/>
                <a:cs typeface="宋体"/>
              </a:rPr>
              <a:t>项一般为逻辑表达式或者关系表达式，也可以是一位的变量。语句先对表达式判断，如果表达式为真，则执行下面分支</a:t>
            </a:r>
            <a:r>
              <a:rPr sz="1750" dirty="0">
                <a:latin typeface="宋体"/>
                <a:cs typeface="宋体"/>
              </a:rPr>
              <a:t>的语句，否则执行</a:t>
            </a:r>
            <a:r>
              <a:rPr sz="1750" spc="-10" dirty="0">
                <a:latin typeface="Arial"/>
                <a:cs typeface="Arial"/>
              </a:rPr>
              <a:t>else</a:t>
            </a:r>
            <a:r>
              <a:rPr sz="1750" spc="-10" dirty="0">
                <a:latin typeface="宋体"/>
                <a:cs typeface="宋体"/>
              </a:rPr>
              <a:t>分支的语句。</a:t>
            </a:r>
            <a:endParaRPr sz="1750">
              <a:latin typeface="宋体"/>
              <a:cs typeface="宋体"/>
            </a:endParaRPr>
          </a:p>
        </p:txBody>
      </p:sp>
      <p:sp>
        <p:nvSpPr>
          <p:cNvPr id="6" name="object 6"/>
          <p:cNvSpPr txBox="1"/>
          <p:nvPr/>
        </p:nvSpPr>
        <p:spPr>
          <a:xfrm>
            <a:off x="3650114" y="4090961"/>
            <a:ext cx="6426835" cy="886460"/>
          </a:xfrm>
          <a:prstGeom prst="rect">
            <a:avLst/>
          </a:prstGeom>
        </p:spPr>
        <p:txBody>
          <a:bodyPr vert="horz" wrap="square" lIns="0" tIns="136525" rIns="0" bIns="0" rtlCol="0">
            <a:spAutoFit/>
          </a:bodyPr>
          <a:lstStyle/>
          <a:p>
            <a:pPr marL="212725" indent="-200025">
              <a:lnSpc>
                <a:spcPct val="100000"/>
              </a:lnSpc>
              <a:spcBef>
                <a:spcPts val="1075"/>
              </a:spcBef>
              <a:buFont typeface="Wingdings"/>
              <a:buChar char=""/>
              <a:tabLst>
                <a:tab pos="212725" algn="l"/>
              </a:tabLst>
            </a:pPr>
            <a:r>
              <a:rPr sz="1750" dirty="0">
                <a:latin typeface="Arial"/>
                <a:cs typeface="Arial"/>
              </a:rPr>
              <a:t>else</a:t>
            </a:r>
            <a:r>
              <a:rPr sz="1750" spc="-5" dirty="0">
                <a:latin typeface="宋体"/>
                <a:cs typeface="宋体"/>
              </a:rPr>
              <a:t>分支具有选择性，可以省略。如果分支里只有一条语句，则</a:t>
            </a:r>
            <a:endParaRPr sz="1750">
              <a:latin typeface="宋体"/>
              <a:cs typeface="宋体"/>
            </a:endParaRPr>
          </a:p>
          <a:p>
            <a:pPr marL="212725">
              <a:lnSpc>
                <a:spcPct val="100000"/>
              </a:lnSpc>
              <a:spcBef>
                <a:spcPts val="1180"/>
              </a:spcBef>
            </a:pPr>
            <a:r>
              <a:rPr sz="1750" dirty="0">
                <a:latin typeface="宋体"/>
                <a:cs typeface="宋体"/>
              </a:rPr>
              <a:t>定界符</a:t>
            </a:r>
            <a:r>
              <a:rPr sz="1750" spc="-20" dirty="0">
                <a:latin typeface="Arial"/>
                <a:cs typeface="Arial"/>
              </a:rPr>
              <a:t>begin</a:t>
            </a:r>
            <a:r>
              <a:rPr sz="1750" dirty="0">
                <a:latin typeface="宋体"/>
                <a:cs typeface="宋体"/>
              </a:rPr>
              <a:t>和</a:t>
            </a:r>
            <a:r>
              <a:rPr sz="1750" spc="-20" dirty="0">
                <a:latin typeface="Arial"/>
                <a:cs typeface="Arial"/>
              </a:rPr>
              <a:t>end</a:t>
            </a:r>
            <a:r>
              <a:rPr sz="1750" spc="-5" dirty="0">
                <a:latin typeface="宋体"/>
                <a:cs typeface="宋体"/>
              </a:rPr>
              <a:t>可以省略</a:t>
            </a:r>
            <a:r>
              <a:rPr sz="2100" spc="-50" dirty="0">
                <a:latin typeface="宋体"/>
                <a:cs typeface="宋体"/>
              </a:rPr>
              <a:t>。</a:t>
            </a:r>
            <a:endParaRPr sz="2100">
              <a:latin typeface="宋体"/>
              <a:cs typeface="宋体"/>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6899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20"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25" dirty="0"/>
              <a:t>语法</a:t>
            </a: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03637" y="2060702"/>
            <a:ext cx="8418195" cy="34671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dirty="0">
                <a:solidFill>
                  <a:srgbClr val="3E3E3E"/>
                </a:solidFill>
                <a:latin typeface="微软雅黑"/>
                <a:cs typeface="微软雅黑"/>
              </a:rPr>
              <a:t>多条</a:t>
            </a:r>
            <a:r>
              <a:rPr sz="2100" b="1" spc="-10" dirty="0">
                <a:solidFill>
                  <a:srgbClr val="3E3E3E"/>
                </a:solidFill>
                <a:latin typeface="Arial"/>
                <a:cs typeface="Arial"/>
              </a:rPr>
              <a:t>if</a:t>
            </a:r>
            <a:r>
              <a:rPr sz="2100" b="1" dirty="0">
                <a:solidFill>
                  <a:srgbClr val="3E3E3E"/>
                </a:solidFill>
                <a:latin typeface="微软雅黑"/>
                <a:cs typeface="微软雅黑"/>
              </a:rPr>
              <a:t>语句可以</a:t>
            </a:r>
            <a:r>
              <a:rPr sz="2100" b="1" spc="-10" dirty="0">
                <a:solidFill>
                  <a:srgbClr val="3E3E3E"/>
                </a:solidFill>
                <a:latin typeface="Arial"/>
                <a:cs typeface="Arial"/>
              </a:rPr>
              <a:t>“</a:t>
            </a:r>
            <a:r>
              <a:rPr sz="2100" b="1" spc="-5" dirty="0">
                <a:solidFill>
                  <a:srgbClr val="3E3E3E"/>
                </a:solidFill>
                <a:latin typeface="微软雅黑"/>
                <a:cs typeface="微软雅黑"/>
              </a:rPr>
              <a:t>级联</a:t>
            </a:r>
            <a:r>
              <a:rPr sz="2100" b="1" spc="-10" dirty="0">
                <a:solidFill>
                  <a:srgbClr val="3E3E3E"/>
                </a:solidFill>
                <a:latin typeface="Arial"/>
                <a:cs typeface="Arial"/>
              </a:rPr>
              <a:t>”</a:t>
            </a:r>
            <a:r>
              <a:rPr sz="2100" b="1" spc="-15" dirty="0">
                <a:solidFill>
                  <a:srgbClr val="3E3E3E"/>
                </a:solidFill>
                <a:latin typeface="微软雅黑"/>
                <a:cs typeface="微软雅黑"/>
              </a:rPr>
              <a:t>，以执行多布尔条件并建立优先级，如下所示：</a:t>
            </a:r>
            <a:endParaRPr sz="2100">
              <a:latin typeface="微软雅黑"/>
              <a:cs typeface="微软雅黑"/>
            </a:endParaRPr>
          </a:p>
        </p:txBody>
      </p:sp>
      <p:sp>
        <p:nvSpPr>
          <p:cNvPr id="4" name="object 4"/>
          <p:cNvSpPr txBox="1"/>
          <p:nvPr/>
        </p:nvSpPr>
        <p:spPr>
          <a:xfrm>
            <a:off x="3414407" y="2876550"/>
            <a:ext cx="2801620" cy="2377440"/>
          </a:xfrm>
          <a:prstGeom prst="rect">
            <a:avLst/>
          </a:prstGeom>
          <a:solidFill>
            <a:srgbClr val="F9FABA"/>
          </a:solidFill>
        </p:spPr>
        <p:txBody>
          <a:bodyPr vert="horz" wrap="square" lIns="0" tIns="61594" rIns="0" bIns="0" rtlCol="0">
            <a:spAutoFit/>
          </a:bodyPr>
          <a:lstStyle/>
          <a:p>
            <a:pPr marL="153670">
              <a:lnSpc>
                <a:spcPct val="100000"/>
              </a:lnSpc>
              <a:spcBef>
                <a:spcPts val="484"/>
              </a:spcBef>
              <a:tabLst>
                <a:tab pos="464184" algn="l"/>
              </a:tabLst>
            </a:pPr>
            <a:r>
              <a:rPr sz="2100" b="1" spc="-25" dirty="0">
                <a:latin typeface="Arial"/>
                <a:cs typeface="Arial"/>
              </a:rPr>
              <a:t>if</a:t>
            </a:r>
            <a:r>
              <a:rPr sz="2100" b="1" dirty="0">
                <a:latin typeface="Arial"/>
                <a:cs typeface="Arial"/>
              </a:rPr>
              <a:t>	</a:t>
            </a:r>
            <a:r>
              <a:rPr sz="2100" spc="-10" dirty="0">
                <a:latin typeface="Arial"/>
                <a:cs typeface="Arial"/>
              </a:rPr>
              <a:t>[</a:t>
            </a:r>
            <a:r>
              <a:rPr sz="2100" dirty="0">
                <a:latin typeface="宋体"/>
                <a:cs typeface="宋体"/>
              </a:rPr>
              <a:t>表达式</a:t>
            </a:r>
            <a:r>
              <a:rPr sz="2100" spc="-25" dirty="0">
                <a:latin typeface="Arial"/>
                <a:cs typeface="Arial"/>
              </a:rPr>
              <a:t>1]</a:t>
            </a:r>
            <a:endParaRPr sz="2100">
              <a:latin typeface="Arial"/>
              <a:cs typeface="Arial"/>
            </a:endParaRPr>
          </a:p>
          <a:p>
            <a:pPr marL="375285">
              <a:lnSpc>
                <a:spcPct val="100000"/>
              </a:lnSpc>
              <a:spcBef>
                <a:spcPts val="509"/>
              </a:spcBef>
            </a:pPr>
            <a:r>
              <a:rPr sz="2100" dirty="0">
                <a:latin typeface="Arial"/>
                <a:cs typeface="Arial"/>
              </a:rPr>
              <a:t>.</a:t>
            </a:r>
            <a:r>
              <a:rPr sz="2100" spc="-20" dirty="0">
                <a:latin typeface="Arial"/>
                <a:cs typeface="Arial"/>
              </a:rPr>
              <a:t> </a:t>
            </a:r>
            <a:r>
              <a:rPr sz="2100" dirty="0">
                <a:latin typeface="Arial"/>
                <a:cs typeface="Arial"/>
              </a:rPr>
              <a:t>.</a:t>
            </a:r>
            <a:r>
              <a:rPr sz="2100" spc="-15" dirty="0">
                <a:latin typeface="Arial"/>
                <a:cs typeface="Arial"/>
              </a:rPr>
              <a:t> </a:t>
            </a:r>
            <a:r>
              <a:rPr sz="2100" spc="-60" dirty="0">
                <a:latin typeface="Arial"/>
                <a:cs typeface="Arial"/>
              </a:rPr>
              <a:t>.</a:t>
            </a:r>
            <a:endParaRPr sz="2100">
              <a:latin typeface="Arial"/>
              <a:cs typeface="Arial"/>
            </a:endParaRPr>
          </a:p>
          <a:p>
            <a:pPr marL="153670">
              <a:lnSpc>
                <a:spcPct val="100000"/>
              </a:lnSpc>
              <a:spcBef>
                <a:spcPts val="509"/>
              </a:spcBef>
              <a:tabLst>
                <a:tab pos="1058545" algn="l"/>
              </a:tabLst>
            </a:pPr>
            <a:r>
              <a:rPr sz="2100" b="1" dirty="0">
                <a:latin typeface="Arial"/>
                <a:cs typeface="Arial"/>
              </a:rPr>
              <a:t>else</a:t>
            </a:r>
            <a:r>
              <a:rPr sz="2100" b="1" spc="-5" dirty="0">
                <a:latin typeface="Arial"/>
                <a:cs typeface="Arial"/>
              </a:rPr>
              <a:t> </a:t>
            </a:r>
            <a:r>
              <a:rPr sz="2100" b="1" spc="-25" dirty="0">
                <a:latin typeface="Arial"/>
                <a:cs typeface="Arial"/>
              </a:rPr>
              <a:t>if</a:t>
            </a:r>
            <a:r>
              <a:rPr sz="2100" b="1" dirty="0">
                <a:latin typeface="Arial"/>
                <a:cs typeface="Arial"/>
              </a:rPr>
              <a:t>	</a:t>
            </a:r>
            <a:r>
              <a:rPr sz="2100" spc="-10" dirty="0">
                <a:latin typeface="Arial"/>
                <a:cs typeface="Arial"/>
              </a:rPr>
              <a:t>[</a:t>
            </a:r>
            <a:r>
              <a:rPr sz="2100" dirty="0">
                <a:latin typeface="宋体"/>
                <a:cs typeface="宋体"/>
              </a:rPr>
              <a:t>表达式</a:t>
            </a:r>
            <a:r>
              <a:rPr sz="2100" spc="-25" dirty="0">
                <a:latin typeface="Arial"/>
                <a:cs typeface="Arial"/>
              </a:rPr>
              <a:t>2]</a:t>
            </a:r>
            <a:endParaRPr sz="2100">
              <a:latin typeface="Arial"/>
              <a:cs typeface="Arial"/>
            </a:endParaRPr>
          </a:p>
          <a:p>
            <a:pPr marL="153670">
              <a:lnSpc>
                <a:spcPct val="100000"/>
              </a:lnSpc>
              <a:spcBef>
                <a:spcPts val="509"/>
              </a:spcBef>
              <a:tabLst>
                <a:tab pos="1058545" algn="l"/>
              </a:tabLst>
            </a:pPr>
            <a:r>
              <a:rPr sz="2100" b="1" dirty="0">
                <a:latin typeface="Arial"/>
                <a:cs typeface="Arial"/>
              </a:rPr>
              <a:t>else</a:t>
            </a:r>
            <a:r>
              <a:rPr sz="2100" b="1" spc="-5" dirty="0">
                <a:latin typeface="Arial"/>
                <a:cs typeface="Arial"/>
              </a:rPr>
              <a:t> </a:t>
            </a:r>
            <a:r>
              <a:rPr sz="2100" b="1" spc="-25" dirty="0">
                <a:latin typeface="Arial"/>
                <a:cs typeface="Arial"/>
              </a:rPr>
              <a:t>if</a:t>
            </a:r>
            <a:r>
              <a:rPr sz="2100" b="1" dirty="0">
                <a:latin typeface="Arial"/>
                <a:cs typeface="Arial"/>
              </a:rPr>
              <a:t>	</a:t>
            </a:r>
            <a:r>
              <a:rPr sz="2100" spc="-10" dirty="0">
                <a:latin typeface="Arial"/>
                <a:cs typeface="Arial"/>
              </a:rPr>
              <a:t>[</a:t>
            </a:r>
            <a:r>
              <a:rPr sz="2100" dirty="0">
                <a:latin typeface="宋体"/>
                <a:cs typeface="宋体"/>
              </a:rPr>
              <a:t>表达式</a:t>
            </a:r>
            <a:r>
              <a:rPr sz="2100" spc="-25" dirty="0">
                <a:latin typeface="Arial"/>
                <a:cs typeface="Arial"/>
              </a:rPr>
              <a:t>3]</a:t>
            </a:r>
            <a:endParaRPr sz="2100">
              <a:latin typeface="Arial"/>
              <a:cs typeface="Arial"/>
            </a:endParaRPr>
          </a:p>
          <a:p>
            <a:pPr marR="2195830" algn="r">
              <a:lnSpc>
                <a:spcPct val="100000"/>
              </a:lnSpc>
              <a:spcBef>
                <a:spcPts val="509"/>
              </a:spcBef>
            </a:pPr>
            <a:r>
              <a:rPr sz="2100" dirty="0">
                <a:latin typeface="Arial"/>
                <a:cs typeface="Arial"/>
              </a:rPr>
              <a:t>.</a:t>
            </a:r>
            <a:r>
              <a:rPr sz="2100" spc="-20" dirty="0">
                <a:latin typeface="Arial"/>
                <a:cs typeface="Arial"/>
              </a:rPr>
              <a:t> </a:t>
            </a:r>
            <a:r>
              <a:rPr sz="2100" spc="-50" dirty="0">
                <a:latin typeface="Arial"/>
                <a:cs typeface="Arial"/>
              </a:rPr>
              <a:t>.</a:t>
            </a:r>
            <a:endParaRPr sz="2100">
              <a:latin typeface="Arial"/>
              <a:cs typeface="Arial"/>
            </a:endParaRPr>
          </a:p>
          <a:p>
            <a:pPr marR="2192655" algn="r">
              <a:lnSpc>
                <a:spcPct val="100000"/>
              </a:lnSpc>
              <a:spcBef>
                <a:spcPts val="509"/>
              </a:spcBef>
            </a:pPr>
            <a:r>
              <a:rPr sz="2100" b="1" spc="-20" dirty="0">
                <a:latin typeface="Arial"/>
                <a:cs typeface="Arial"/>
              </a:rPr>
              <a:t>else</a:t>
            </a:r>
            <a:endParaRPr sz="21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67373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75"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30" dirty="0">
                <a:latin typeface="Arial"/>
                <a:cs typeface="Arial"/>
              </a:rPr>
              <a:t>1</a:t>
            </a:r>
            <a:r>
              <a:rPr spc="-15" dirty="0"/>
              <a:t>位比较器的另一种实现</a:t>
            </a:r>
          </a:p>
        </p:txBody>
      </p:sp>
      <p:grpSp>
        <p:nvGrpSpPr>
          <p:cNvPr id="3" name="object 3"/>
          <p:cNvGrpSpPr/>
          <p:nvPr/>
        </p:nvGrpSpPr>
        <p:grpSpPr>
          <a:xfrm>
            <a:off x="5321693" y="2033016"/>
            <a:ext cx="5186680" cy="3851910"/>
            <a:chOff x="5321693" y="2033016"/>
            <a:chExt cx="5186680" cy="3851910"/>
          </a:xfrm>
        </p:grpSpPr>
        <p:sp>
          <p:nvSpPr>
            <p:cNvPr id="4" name="object 4"/>
            <p:cNvSpPr/>
            <p:nvPr/>
          </p:nvSpPr>
          <p:spPr>
            <a:xfrm>
              <a:off x="5325503" y="2036826"/>
              <a:ext cx="5177790" cy="3843654"/>
            </a:xfrm>
            <a:custGeom>
              <a:avLst/>
              <a:gdLst/>
              <a:ahLst/>
              <a:cxnLst/>
              <a:rect l="l" t="t" r="r" b="b"/>
              <a:pathLst>
                <a:path w="5177790" h="3843654">
                  <a:moveTo>
                    <a:pt x="5177789" y="3843528"/>
                  </a:moveTo>
                  <a:lnTo>
                    <a:pt x="5177789" y="0"/>
                  </a:lnTo>
                  <a:lnTo>
                    <a:pt x="0" y="0"/>
                  </a:lnTo>
                  <a:lnTo>
                    <a:pt x="0" y="3843528"/>
                  </a:lnTo>
                  <a:lnTo>
                    <a:pt x="5177789" y="3843528"/>
                  </a:lnTo>
                  <a:close/>
                </a:path>
              </a:pathLst>
            </a:custGeom>
            <a:solidFill>
              <a:srgbClr val="F9FABA"/>
            </a:solidFill>
          </p:spPr>
          <p:txBody>
            <a:bodyPr wrap="square" lIns="0" tIns="0" rIns="0" bIns="0" rtlCol="0"/>
            <a:lstStyle/>
            <a:p>
              <a:endParaRPr/>
            </a:p>
          </p:txBody>
        </p:sp>
        <p:sp>
          <p:nvSpPr>
            <p:cNvPr id="5" name="object 5"/>
            <p:cNvSpPr/>
            <p:nvPr/>
          </p:nvSpPr>
          <p:spPr>
            <a:xfrm>
              <a:off x="5321693" y="2033016"/>
              <a:ext cx="5186680" cy="3851910"/>
            </a:xfrm>
            <a:custGeom>
              <a:avLst/>
              <a:gdLst/>
              <a:ahLst/>
              <a:cxnLst/>
              <a:rect l="l" t="t" r="r" b="b"/>
              <a:pathLst>
                <a:path w="5186680" h="3851910">
                  <a:moveTo>
                    <a:pt x="5186172" y="3849624"/>
                  </a:moveTo>
                  <a:lnTo>
                    <a:pt x="5186172" y="1523"/>
                  </a:lnTo>
                  <a:lnTo>
                    <a:pt x="5183886" y="0"/>
                  </a:lnTo>
                  <a:lnTo>
                    <a:pt x="1523" y="0"/>
                  </a:lnTo>
                  <a:lnTo>
                    <a:pt x="0" y="1524"/>
                  </a:lnTo>
                  <a:lnTo>
                    <a:pt x="0" y="3849624"/>
                  </a:lnTo>
                  <a:lnTo>
                    <a:pt x="1524" y="3851910"/>
                  </a:lnTo>
                  <a:lnTo>
                    <a:pt x="3810" y="3851910"/>
                  </a:lnTo>
                  <a:lnTo>
                    <a:pt x="3810" y="8382"/>
                  </a:lnTo>
                  <a:lnTo>
                    <a:pt x="8381" y="3810"/>
                  </a:lnTo>
                  <a:lnTo>
                    <a:pt x="8381" y="8382"/>
                  </a:lnTo>
                  <a:lnTo>
                    <a:pt x="5177790" y="8381"/>
                  </a:lnTo>
                  <a:lnTo>
                    <a:pt x="5177790" y="3809"/>
                  </a:lnTo>
                  <a:lnTo>
                    <a:pt x="5181600" y="8381"/>
                  </a:lnTo>
                  <a:lnTo>
                    <a:pt x="5181600" y="3851910"/>
                  </a:lnTo>
                  <a:lnTo>
                    <a:pt x="5183886" y="3851910"/>
                  </a:lnTo>
                  <a:lnTo>
                    <a:pt x="5186172" y="3849624"/>
                  </a:lnTo>
                  <a:close/>
                </a:path>
                <a:path w="5186680" h="3851910">
                  <a:moveTo>
                    <a:pt x="8381" y="8382"/>
                  </a:moveTo>
                  <a:lnTo>
                    <a:pt x="8381" y="3810"/>
                  </a:lnTo>
                  <a:lnTo>
                    <a:pt x="3810" y="8382"/>
                  </a:lnTo>
                  <a:lnTo>
                    <a:pt x="8381" y="8382"/>
                  </a:lnTo>
                  <a:close/>
                </a:path>
                <a:path w="5186680" h="3851910">
                  <a:moveTo>
                    <a:pt x="8381" y="3843528"/>
                  </a:moveTo>
                  <a:lnTo>
                    <a:pt x="8381" y="8382"/>
                  </a:lnTo>
                  <a:lnTo>
                    <a:pt x="3810" y="8382"/>
                  </a:lnTo>
                  <a:lnTo>
                    <a:pt x="3810" y="3843528"/>
                  </a:lnTo>
                  <a:lnTo>
                    <a:pt x="8381" y="3843528"/>
                  </a:lnTo>
                  <a:close/>
                </a:path>
                <a:path w="5186680" h="3851910">
                  <a:moveTo>
                    <a:pt x="5181600" y="3843528"/>
                  </a:moveTo>
                  <a:lnTo>
                    <a:pt x="3810" y="3843528"/>
                  </a:lnTo>
                  <a:lnTo>
                    <a:pt x="8381" y="3847338"/>
                  </a:lnTo>
                  <a:lnTo>
                    <a:pt x="8381" y="3851910"/>
                  </a:lnTo>
                  <a:lnTo>
                    <a:pt x="5177790" y="3851910"/>
                  </a:lnTo>
                  <a:lnTo>
                    <a:pt x="5177790" y="3847338"/>
                  </a:lnTo>
                  <a:lnTo>
                    <a:pt x="5181600" y="3843528"/>
                  </a:lnTo>
                  <a:close/>
                </a:path>
                <a:path w="5186680" h="3851910">
                  <a:moveTo>
                    <a:pt x="8381" y="3851910"/>
                  </a:moveTo>
                  <a:lnTo>
                    <a:pt x="8381" y="3847338"/>
                  </a:lnTo>
                  <a:lnTo>
                    <a:pt x="3810" y="3843528"/>
                  </a:lnTo>
                  <a:lnTo>
                    <a:pt x="3810" y="3851910"/>
                  </a:lnTo>
                  <a:lnTo>
                    <a:pt x="8381" y="3851910"/>
                  </a:lnTo>
                  <a:close/>
                </a:path>
                <a:path w="5186680" h="3851910">
                  <a:moveTo>
                    <a:pt x="5181600" y="8381"/>
                  </a:moveTo>
                  <a:lnTo>
                    <a:pt x="5177790" y="3809"/>
                  </a:lnTo>
                  <a:lnTo>
                    <a:pt x="5177790" y="8381"/>
                  </a:lnTo>
                  <a:lnTo>
                    <a:pt x="5181600" y="8381"/>
                  </a:lnTo>
                  <a:close/>
                </a:path>
                <a:path w="5186680" h="3851910">
                  <a:moveTo>
                    <a:pt x="5181600" y="3843528"/>
                  </a:moveTo>
                  <a:lnTo>
                    <a:pt x="5181600" y="8381"/>
                  </a:lnTo>
                  <a:lnTo>
                    <a:pt x="5177790" y="8381"/>
                  </a:lnTo>
                  <a:lnTo>
                    <a:pt x="5177790" y="3843528"/>
                  </a:lnTo>
                  <a:lnTo>
                    <a:pt x="5181600" y="3843528"/>
                  </a:lnTo>
                  <a:close/>
                </a:path>
                <a:path w="5186680" h="3851910">
                  <a:moveTo>
                    <a:pt x="5181600" y="3851910"/>
                  </a:moveTo>
                  <a:lnTo>
                    <a:pt x="5181600" y="3843528"/>
                  </a:lnTo>
                  <a:lnTo>
                    <a:pt x="5177790" y="3847338"/>
                  </a:lnTo>
                  <a:lnTo>
                    <a:pt x="5177790" y="3851910"/>
                  </a:lnTo>
                  <a:lnTo>
                    <a:pt x="5181600" y="3851910"/>
                  </a:lnTo>
                  <a:close/>
                </a:path>
              </a:pathLst>
            </a:custGeom>
            <a:solidFill>
              <a:srgbClr val="000000"/>
            </a:solidFill>
          </p:spPr>
          <p:txBody>
            <a:bodyPr wrap="square" lIns="0" tIns="0" rIns="0" bIns="0" rtlCol="0"/>
            <a:lstStyle/>
            <a:p>
              <a:endParaRPr/>
            </a:p>
          </p:txBody>
        </p:sp>
      </p:grpSp>
      <p:sp>
        <p:nvSpPr>
          <p:cNvPr id="6" name="object 6"/>
          <p:cNvSpPr txBox="1"/>
          <p:nvPr/>
        </p:nvSpPr>
        <p:spPr>
          <a:xfrm>
            <a:off x="5451227" y="2079752"/>
            <a:ext cx="2049145" cy="266065"/>
          </a:xfrm>
          <a:prstGeom prst="rect">
            <a:avLst/>
          </a:prstGeom>
        </p:spPr>
        <p:txBody>
          <a:bodyPr vert="horz" wrap="square" lIns="0" tIns="15875" rIns="0" bIns="0" rtlCol="0">
            <a:spAutoFit/>
          </a:bodyPr>
          <a:lstStyle/>
          <a:p>
            <a:pPr>
              <a:lnSpc>
                <a:spcPct val="100000"/>
              </a:lnSpc>
              <a:spcBef>
                <a:spcPts val="125"/>
              </a:spcBef>
            </a:pPr>
            <a:r>
              <a:rPr sz="1550" b="1" dirty="0">
                <a:latin typeface="Arial"/>
                <a:cs typeface="Arial"/>
              </a:rPr>
              <a:t>module</a:t>
            </a:r>
            <a:r>
              <a:rPr sz="1550" b="1" spc="60" dirty="0">
                <a:latin typeface="Arial"/>
                <a:cs typeface="Arial"/>
              </a:rPr>
              <a:t> </a:t>
            </a:r>
            <a:r>
              <a:rPr sz="1550" spc="-10" dirty="0">
                <a:latin typeface="Arial"/>
                <a:cs typeface="Arial"/>
              </a:rPr>
              <a:t>eq1_1_always</a:t>
            </a:r>
            <a:endParaRPr sz="1550">
              <a:latin typeface="Arial"/>
              <a:cs typeface="Arial"/>
            </a:endParaRPr>
          </a:p>
        </p:txBody>
      </p:sp>
      <p:sp>
        <p:nvSpPr>
          <p:cNvPr id="7" name="object 7"/>
          <p:cNvSpPr txBox="1"/>
          <p:nvPr/>
        </p:nvSpPr>
        <p:spPr>
          <a:xfrm>
            <a:off x="5739270" y="2368556"/>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8" name="object 8"/>
          <p:cNvSpPr txBox="1"/>
          <p:nvPr/>
        </p:nvSpPr>
        <p:spPr>
          <a:xfrm>
            <a:off x="7553090" y="2934009"/>
            <a:ext cx="1706880" cy="280035"/>
          </a:xfrm>
          <a:prstGeom prst="rect">
            <a:avLst/>
          </a:prstGeom>
        </p:spPr>
        <p:txBody>
          <a:bodyPr vert="horz" wrap="square" lIns="0" tIns="14604" rIns="0" bIns="0" rtlCol="0">
            <a:spAutoFit/>
          </a:bodyPr>
          <a:lstStyle/>
          <a:p>
            <a:pPr marL="12700">
              <a:lnSpc>
                <a:spcPct val="100000"/>
              </a:lnSpc>
              <a:spcBef>
                <a:spcPts val="114"/>
              </a:spcBef>
            </a:pPr>
            <a:r>
              <a:rPr sz="1550" spc="25" dirty="0">
                <a:solidFill>
                  <a:srgbClr val="00B0EF"/>
                </a:solidFill>
                <a:latin typeface="Arial"/>
                <a:cs typeface="Arial"/>
              </a:rPr>
              <a:t>// </a:t>
            </a:r>
            <a:r>
              <a:rPr sz="1550" i="1" dirty="0">
                <a:solidFill>
                  <a:srgbClr val="00B0EF"/>
                </a:solidFill>
                <a:latin typeface="Arial"/>
                <a:cs typeface="Arial"/>
              </a:rPr>
              <a:t>eq</a:t>
            </a:r>
            <a:r>
              <a:rPr sz="1650" i="1" spc="-90" dirty="0">
                <a:solidFill>
                  <a:srgbClr val="00B0EF"/>
                </a:solidFill>
                <a:latin typeface="宋体"/>
                <a:cs typeface="宋体"/>
              </a:rPr>
              <a:t>声明为</a:t>
            </a:r>
            <a:r>
              <a:rPr sz="1550" i="1" dirty="0">
                <a:solidFill>
                  <a:srgbClr val="00B0EF"/>
                </a:solidFill>
                <a:latin typeface="Arial"/>
                <a:cs typeface="Arial"/>
              </a:rPr>
              <a:t>reg</a:t>
            </a:r>
            <a:r>
              <a:rPr sz="1650" i="1" spc="-70" dirty="0">
                <a:solidFill>
                  <a:srgbClr val="00B0EF"/>
                </a:solidFill>
                <a:latin typeface="宋体"/>
                <a:cs typeface="宋体"/>
              </a:rPr>
              <a:t>类型</a:t>
            </a:r>
            <a:endParaRPr sz="1650">
              <a:latin typeface="宋体"/>
              <a:cs typeface="宋体"/>
            </a:endParaRPr>
          </a:p>
        </p:txBody>
      </p:sp>
      <p:sp>
        <p:nvSpPr>
          <p:cNvPr id="9" name="object 9"/>
          <p:cNvSpPr txBox="1"/>
          <p:nvPr/>
        </p:nvSpPr>
        <p:spPr>
          <a:xfrm>
            <a:off x="5745359" y="2608282"/>
            <a:ext cx="1486535" cy="892175"/>
          </a:xfrm>
          <a:prstGeom prst="rect">
            <a:avLst/>
          </a:prstGeom>
        </p:spPr>
        <p:txBody>
          <a:bodyPr vert="horz" wrap="square" lIns="0" tIns="64135" rIns="0" bIns="0" rtlCol="0">
            <a:spAutoFit/>
          </a:bodyPr>
          <a:lstStyle/>
          <a:p>
            <a:pPr marL="104775">
              <a:lnSpc>
                <a:spcPct val="100000"/>
              </a:lnSpc>
              <a:spcBef>
                <a:spcPts val="505"/>
              </a:spcBef>
            </a:pPr>
            <a:r>
              <a:rPr sz="1550" b="1" dirty="0">
                <a:latin typeface="Arial"/>
                <a:cs typeface="Arial"/>
              </a:rPr>
              <a:t>input</a:t>
            </a:r>
            <a:r>
              <a:rPr sz="1550" b="1" spc="459"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a:t>
            </a:r>
            <a:endParaRPr sz="1550">
              <a:latin typeface="Arial"/>
              <a:cs typeface="Arial"/>
            </a:endParaRPr>
          </a:p>
          <a:p>
            <a:pPr marL="104775">
              <a:lnSpc>
                <a:spcPct val="100000"/>
              </a:lnSpc>
              <a:spcBef>
                <a:spcPts val="415"/>
              </a:spcBef>
            </a:pPr>
            <a:r>
              <a:rPr sz="1550" b="1" dirty="0">
                <a:latin typeface="Arial"/>
                <a:cs typeface="Arial"/>
              </a:rPr>
              <a:t>output</a:t>
            </a:r>
            <a:r>
              <a:rPr sz="1550" b="1" spc="470" dirty="0">
                <a:latin typeface="Arial"/>
                <a:cs typeface="Arial"/>
              </a:rPr>
              <a:t> </a:t>
            </a:r>
            <a:r>
              <a:rPr sz="1550" b="1" dirty="0">
                <a:latin typeface="Arial"/>
                <a:cs typeface="Arial"/>
              </a:rPr>
              <a:t>reg</a:t>
            </a:r>
            <a:r>
              <a:rPr sz="1550" b="1" spc="475" dirty="0">
                <a:latin typeface="Arial"/>
                <a:cs typeface="Arial"/>
              </a:rPr>
              <a:t> </a:t>
            </a:r>
            <a:r>
              <a:rPr sz="1550" spc="-25" dirty="0">
                <a:latin typeface="Arial"/>
                <a:cs typeface="Arial"/>
              </a:rPr>
              <a:t>eq</a:t>
            </a:r>
            <a:endParaRPr sz="1550">
              <a:latin typeface="Arial"/>
              <a:cs typeface="Arial"/>
            </a:endParaRPr>
          </a:p>
          <a:p>
            <a:pPr>
              <a:lnSpc>
                <a:spcPct val="100000"/>
              </a:lnSpc>
              <a:spcBef>
                <a:spcPts val="415"/>
              </a:spcBef>
            </a:pPr>
            <a:r>
              <a:rPr sz="1550" spc="-25" dirty="0">
                <a:latin typeface="Arial"/>
                <a:cs typeface="Arial"/>
              </a:rPr>
              <a:t>);</a:t>
            </a:r>
            <a:endParaRPr sz="1550">
              <a:latin typeface="Arial"/>
              <a:cs typeface="Arial"/>
            </a:endParaRPr>
          </a:p>
        </p:txBody>
      </p:sp>
      <p:sp>
        <p:nvSpPr>
          <p:cNvPr id="10" name="object 10"/>
          <p:cNvSpPr txBox="1"/>
          <p:nvPr/>
        </p:nvSpPr>
        <p:spPr>
          <a:xfrm>
            <a:off x="7422002" y="3522987"/>
            <a:ext cx="2708275" cy="266065"/>
          </a:xfrm>
          <a:prstGeom prst="rect">
            <a:avLst/>
          </a:prstGeom>
        </p:spPr>
        <p:txBody>
          <a:bodyPr vert="horz" wrap="square" lIns="0" tIns="15875" rIns="0" bIns="0" rtlCol="0">
            <a:spAutoFit/>
          </a:bodyPr>
          <a:lstStyle/>
          <a:p>
            <a:pPr marL="12700">
              <a:lnSpc>
                <a:spcPct val="100000"/>
              </a:lnSpc>
              <a:spcBef>
                <a:spcPts val="125"/>
              </a:spcBef>
            </a:pPr>
            <a:r>
              <a:rPr sz="1550" spc="60" dirty="0">
                <a:solidFill>
                  <a:srgbClr val="00B0EF"/>
                </a:solidFill>
                <a:latin typeface="Arial"/>
                <a:cs typeface="Arial"/>
              </a:rPr>
              <a:t>// </a:t>
            </a:r>
            <a:r>
              <a:rPr sz="1550" dirty="0">
                <a:solidFill>
                  <a:srgbClr val="00B0EF"/>
                </a:solidFill>
                <a:latin typeface="Arial"/>
                <a:cs typeface="Arial"/>
              </a:rPr>
              <a:t>i0</a:t>
            </a:r>
            <a:r>
              <a:rPr sz="1550" dirty="0">
                <a:solidFill>
                  <a:srgbClr val="00B0EF"/>
                </a:solidFill>
                <a:latin typeface="宋体"/>
                <a:cs typeface="宋体"/>
              </a:rPr>
              <a:t>和</a:t>
            </a:r>
            <a:r>
              <a:rPr sz="1550" dirty="0">
                <a:solidFill>
                  <a:srgbClr val="00B0EF"/>
                </a:solidFill>
                <a:latin typeface="Arial"/>
                <a:cs typeface="Arial"/>
              </a:rPr>
              <a:t>i1</a:t>
            </a:r>
            <a:r>
              <a:rPr sz="1550" spc="-5" dirty="0">
                <a:solidFill>
                  <a:srgbClr val="00B0EF"/>
                </a:solidFill>
                <a:latin typeface="宋体"/>
                <a:cs typeface="宋体"/>
              </a:rPr>
              <a:t>必须在敏感信号列表中</a:t>
            </a:r>
            <a:endParaRPr sz="1550">
              <a:latin typeface="宋体"/>
              <a:cs typeface="宋体"/>
            </a:endParaRPr>
          </a:p>
        </p:txBody>
      </p:sp>
      <p:sp>
        <p:nvSpPr>
          <p:cNvPr id="11" name="object 11"/>
          <p:cNvSpPr txBox="1"/>
          <p:nvPr/>
        </p:nvSpPr>
        <p:spPr>
          <a:xfrm>
            <a:off x="5509407" y="3475431"/>
            <a:ext cx="1603375" cy="2333625"/>
          </a:xfrm>
          <a:prstGeom prst="rect">
            <a:avLst/>
          </a:prstGeom>
        </p:spPr>
        <p:txBody>
          <a:bodyPr vert="horz" wrap="square" lIns="0" tIns="63500" rIns="0" bIns="0" rtlCol="0">
            <a:spAutoFit/>
          </a:bodyPr>
          <a:lstStyle/>
          <a:p>
            <a:pPr marL="118110">
              <a:lnSpc>
                <a:spcPct val="100000"/>
              </a:lnSpc>
              <a:spcBef>
                <a:spcPts val="500"/>
              </a:spcBef>
            </a:pPr>
            <a:r>
              <a:rPr sz="1550" b="1" dirty="0">
                <a:latin typeface="Arial"/>
                <a:cs typeface="Arial"/>
              </a:rPr>
              <a:t>always</a:t>
            </a:r>
            <a:r>
              <a:rPr sz="1550" b="1" spc="25"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a:t>
            </a:r>
            <a:endParaRPr sz="1550">
              <a:latin typeface="Arial"/>
              <a:cs typeface="Arial"/>
            </a:endParaRPr>
          </a:p>
          <a:p>
            <a:pPr marL="118110">
              <a:lnSpc>
                <a:spcPct val="100000"/>
              </a:lnSpc>
              <a:spcBef>
                <a:spcPts val="409"/>
              </a:spcBef>
            </a:pPr>
            <a:r>
              <a:rPr sz="1550" b="1" spc="-10" dirty="0">
                <a:latin typeface="Arial"/>
                <a:cs typeface="Arial"/>
              </a:rPr>
              <a:t>begin</a:t>
            </a:r>
            <a:endParaRPr sz="1550">
              <a:latin typeface="Arial"/>
              <a:cs typeface="Arial"/>
            </a:endParaRPr>
          </a:p>
          <a:p>
            <a:pPr marL="441325">
              <a:lnSpc>
                <a:spcPct val="100000"/>
              </a:lnSpc>
              <a:spcBef>
                <a:spcPts val="414"/>
              </a:spcBef>
            </a:pPr>
            <a:r>
              <a:rPr sz="1550" b="1" dirty="0">
                <a:latin typeface="Arial"/>
                <a:cs typeface="Arial"/>
              </a:rPr>
              <a:t>if</a:t>
            </a:r>
            <a:r>
              <a:rPr sz="1550" b="1" spc="25" dirty="0">
                <a:latin typeface="Arial"/>
                <a:cs typeface="Arial"/>
              </a:rPr>
              <a:t> </a:t>
            </a:r>
            <a:r>
              <a:rPr sz="1550" dirty="0">
                <a:latin typeface="Arial"/>
                <a:cs typeface="Arial"/>
              </a:rPr>
              <a:t>(i0</a:t>
            </a:r>
            <a:r>
              <a:rPr sz="1550" spc="35"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i1)</a:t>
            </a:r>
            <a:endParaRPr sz="1550">
              <a:latin typeface="Arial"/>
              <a:cs typeface="Arial"/>
            </a:endParaRPr>
          </a:p>
          <a:p>
            <a:pPr marL="942975">
              <a:lnSpc>
                <a:spcPct val="100000"/>
              </a:lnSpc>
              <a:spcBef>
                <a:spcPts val="409"/>
              </a:spcBef>
            </a:pPr>
            <a:r>
              <a:rPr sz="1550" dirty="0">
                <a:latin typeface="Arial"/>
                <a:cs typeface="Arial"/>
              </a:rPr>
              <a:t>eq</a:t>
            </a:r>
            <a:r>
              <a:rPr sz="1550" spc="2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1;</a:t>
            </a:r>
            <a:endParaRPr sz="1550">
              <a:latin typeface="Arial"/>
              <a:cs typeface="Arial"/>
            </a:endParaRPr>
          </a:p>
          <a:p>
            <a:pPr marL="441325">
              <a:lnSpc>
                <a:spcPct val="100000"/>
              </a:lnSpc>
              <a:spcBef>
                <a:spcPts val="415"/>
              </a:spcBef>
            </a:pPr>
            <a:r>
              <a:rPr sz="1550" b="1" spc="-20" dirty="0">
                <a:latin typeface="Arial"/>
                <a:cs typeface="Arial"/>
              </a:rPr>
              <a:t>else</a:t>
            </a:r>
            <a:endParaRPr sz="1550">
              <a:latin typeface="Arial"/>
              <a:cs typeface="Arial"/>
            </a:endParaRPr>
          </a:p>
          <a:p>
            <a:pPr marL="942975">
              <a:lnSpc>
                <a:spcPct val="100000"/>
              </a:lnSpc>
              <a:spcBef>
                <a:spcPts val="409"/>
              </a:spcBef>
            </a:pPr>
            <a:r>
              <a:rPr sz="1550" dirty="0">
                <a:latin typeface="Arial"/>
                <a:cs typeface="Arial"/>
              </a:rPr>
              <a:t>eq</a:t>
            </a:r>
            <a:r>
              <a:rPr sz="1550" spc="2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0;</a:t>
            </a:r>
            <a:endParaRPr sz="1550">
              <a:latin typeface="Arial"/>
              <a:cs typeface="Arial"/>
            </a:endParaRPr>
          </a:p>
          <a:p>
            <a:pPr marL="12700" marR="513080" indent="217170">
              <a:lnSpc>
                <a:spcPct val="122300"/>
              </a:lnSpc>
            </a:pPr>
            <a:r>
              <a:rPr sz="1550" b="1" spc="-25" dirty="0">
                <a:latin typeface="Arial"/>
                <a:cs typeface="Arial"/>
              </a:rPr>
              <a:t>end </a:t>
            </a:r>
            <a:r>
              <a:rPr sz="1550" b="1" spc="-10" dirty="0">
                <a:latin typeface="Arial"/>
                <a:cs typeface="Arial"/>
              </a:rPr>
              <a:t>endmodule</a:t>
            </a:r>
            <a:endParaRPr sz="1550">
              <a:latin typeface="Arial"/>
              <a:cs typeface="Arial"/>
            </a:endParaRPr>
          </a:p>
        </p:txBody>
      </p:sp>
      <p:grpSp>
        <p:nvGrpSpPr>
          <p:cNvPr id="12" name="object 12"/>
          <p:cNvGrpSpPr/>
          <p:nvPr/>
        </p:nvGrpSpPr>
        <p:grpSpPr>
          <a:xfrm>
            <a:off x="165239" y="2033016"/>
            <a:ext cx="5043805" cy="4170045"/>
            <a:chOff x="165239" y="2033016"/>
            <a:chExt cx="5043805" cy="4170045"/>
          </a:xfrm>
        </p:grpSpPr>
        <p:sp>
          <p:nvSpPr>
            <p:cNvPr id="13" name="object 13"/>
            <p:cNvSpPr/>
            <p:nvPr/>
          </p:nvSpPr>
          <p:spPr>
            <a:xfrm>
              <a:off x="169811" y="2036826"/>
              <a:ext cx="5035550" cy="4162425"/>
            </a:xfrm>
            <a:custGeom>
              <a:avLst/>
              <a:gdLst/>
              <a:ahLst/>
              <a:cxnLst/>
              <a:rect l="l" t="t" r="r" b="b"/>
              <a:pathLst>
                <a:path w="5035550" h="4162425">
                  <a:moveTo>
                    <a:pt x="5035296" y="4162044"/>
                  </a:moveTo>
                  <a:lnTo>
                    <a:pt x="5035295" y="0"/>
                  </a:lnTo>
                  <a:lnTo>
                    <a:pt x="0" y="0"/>
                  </a:lnTo>
                  <a:lnTo>
                    <a:pt x="0" y="4162044"/>
                  </a:lnTo>
                  <a:lnTo>
                    <a:pt x="5035296" y="4162044"/>
                  </a:lnTo>
                  <a:close/>
                </a:path>
              </a:pathLst>
            </a:custGeom>
            <a:solidFill>
              <a:srgbClr val="F9FABA"/>
            </a:solidFill>
          </p:spPr>
          <p:txBody>
            <a:bodyPr wrap="square" lIns="0" tIns="0" rIns="0" bIns="0" rtlCol="0"/>
            <a:lstStyle/>
            <a:p>
              <a:endParaRPr/>
            </a:p>
          </p:txBody>
        </p:sp>
        <p:sp>
          <p:nvSpPr>
            <p:cNvPr id="14" name="object 14"/>
            <p:cNvSpPr/>
            <p:nvPr/>
          </p:nvSpPr>
          <p:spPr>
            <a:xfrm>
              <a:off x="165239" y="2033016"/>
              <a:ext cx="5043805" cy="4170045"/>
            </a:xfrm>
            <a:custGeom>
              <a:avLst/>
              <a:gdLst/>
              <a:ahLst/>
              <a:cxnLst/>
              <a:rect l="l" t="t" r="r" b="b"/>
              <a:pathLst>
                <a:path w="5043805" h="4170045">
                  <a:moveTo>
                    <a:pt x="5043678" y="4168140"/>
                  </a:moveTo>
                  <a:lnTo>
                    <a:pt x="5043678" y="1523"/>
                  </a:lnTo>
                  <a:lnTo>
                    <a:pt x="5042154" y="0"/>
                  </a:lnTo>
                  <a:lnTo>
                    <a:pt x="2285" y="0"/>
                  </a:lnTo>
                  <a:lnTo>
                    <a:pt x="0" y="1524"/>
                  </a:lnTo>
                  <a:lnTo>
                    <a:pt x="0" y="4168140"/>
                  </a:lnTo>
                  <a:lnTo>
                    <a:pt x="2286" y="4169664"/>
                  </a:lnTo>
                  <a:lnTo>
                    <a:pt x="4572" y="4169664"/>
                  </a:lnTo>
                  <a:lnTo>
                    <a:pt x="4572" y="8382"/>
                  </a:lnTo>
                  <a:lnTo>
                    <a:pt x="8381" y="3810"/>
                  </a:lnTo>
                  <a:lnTo>
                    <a:pt x="8382" y="8382"/>
                  </a:lnTo>
                  <a:lnTo>
                    <a:pt x="5036058" y="8381"/>
                  </a:lnTo>
                  <a:lnTo>
                    <a:pt x="5036058" y="3809"/>
                  </a:lnTo>
                  <a:lnTo>
                    <a:pt x="5039868" y="8381"/>
                  </a:lnTo>
                  <a:lnTo>
                    <a:pt x="5039868" y="4169664"/>
                  </a:lnTo>
                  <a:lnTo>
                    <a:pt x="5042154" y="4169664"/>
                  </a:lnTo>
                  <a:lnTo>
                    <a:pt x="5043678" y="4168140"/>
                  </a:lnTo>
                  <a:close/>
                </a:path>
                <a:path w="5043805" h="4170045">
                  <a:moveTo>
                    <a:pt x="8381" y="8382"/>
                  </a:moveTo>
                  <a:lnTo>
                    <a:pt x="8381" y="3810"/>
                  </a:lnTo>
                  <a:lnTo>
                    <a:pt x="4572" y="8382"/>
                  </a:lnTo>
                  <a:lnTo>
                    <a:pt x="8381" y="8382"/>
                  </a:lnTo>
                  <a:close/>
                </a:path>
                <a:path w="5043805" h="4170045">
                  <a:moveTo>
                    <a:pt x="8382" y="4161282"/>
                  </a:moveTo>
                  <a:lnTo>
                    <a:pt x="8381" y="8382"/>
                  </a:lnTo>
                  <a:lnTo>
                    <a:pt x="4572" y="8382"/>
                  </a:lnTo>
                  <a:lnTo>
                    <a:pt x="4572" y="4161282"/>
                  </a:lnTo>
                  <a:lnTo>
                    <a:pt x="8382" y="4161282"/>
                  </a:lnTo>
                  <a:close/>
                </a:path>
                <a:path w="5043805" h="4170045">
                  <a:moveTo>
                    <a:pt x="5039868" y="4161282"/>
                  </a:moveTo>
                  <a:lnTo>
                    <a:pt x="4572" y="4161282"/>
                  </a:lnTo>
                  <a:lnTo>
                    <a:pt x="8382" y="4165854"/>
                  </a:lnTo>
                  <a:lnTo>
                    <a:pt x="8381" y="4169664"/>
                  </a:lnTo>
                  <a:lnTo>
                    <a:pt x="5036058" y="4169664"/>
                  </a:lnTo>
                  <a:lnTo>
                    <a:pt x="5036058" y="4165854"/>
                  </a:lnTo>
                  <a:lnTo>
                    <a:pt x="5039868" y="4161282"/>
                  </a:lnTo>
                  <a:close/>
                </a:path>
                <a:path w="5043805" h="4170045">
                  <a:moveTo>
                    <a:pt x="8381" y="4169664"/>
                  </a:moveTo>
                  <a:lnTo>
                    <a:pt x="8382" y="4165854"/>
                  </a:lnTo>
                  <a:lnTo>
                    <a:pt x="4572" y="4161282"/>
                  </a:lnTo>
                  <a:lnTo>
                    <a:pt x="4572" y="4169664"/>
                  </a:lnTo>
                  <a:lnTo>
                    <a:pt x="8381" y="4169664"/>
                  </a:lnTo>
                  <a:close/>
                </a:path>
                <a:path w="5043805" h="4170045">
                  <a:moveTo>
                    <a:pt x="5039868" y="8381"/>
                  </a:moveTo>
                  <a:lnTo>
                    <a:pt x="5036058" y="3809"/>
                  </a:lnTo>
                  <a:lnTo>
                    <a:pt x="5036058" y="8381"/>
                  </a:lnTo>
                  <a:lnTo>
                    <a:pt x="5039868" y="8381"/>
                  </a:lnTo>
                  <a:close/>
                </a:path>
                <a:path w="5043805" h="4170045">
                  <a:moveTo>
                    <a:pt x="5039868" y="4161282"/>
                  </a:moveTo>
                  <a:lnTo>
                    <a:pt x="5039868" y="8381"/>
                  </a:lnTo>
                  <a:lnTo>
                    <a:pt x="5036058" y="8381"/>
                  </a:lnTo>
                  <a:lnTo>
                    <a:pt x="5036058" y="4161282"/>
                  </a:lnTo>
                  <a:lnTo>
                    <a:pt x="5039868" y="4161282"/>
                  </a:lnTo>
                  <a:close/>
                </a:path>
                <a:path w="5043805" h="4170045">
                  <a:moveTo>
                    <a:pt x="5039868" y="4169664"/>
                  </a:moveTo>
                  <a:lnTo>
                    <a:pt x="5039868" y="4161282"/>
                  </a:lnTo>
                  <a:lnTo>
                    <a:pt x="5036058" y="4165854"/>
                  </a:lnTo>
                  <a:lnTo>
                    <a:pt x="5036058" y="4169664"/>
                  </a:lnTo>
                  <a:lnTo>
                    <a:pt x="5039868" y="4169664"/>
                  </a:lnTo>
                  <a:close/>
                </a:path>
              </a:pathLst>
            </a:custGeom>
            <a:solidFill>
              <a:srgbClr val="000000"/>
            </a:solidFill>
          </p:spPr>
          <p:txBody>
            <a:bodyPr wrap="square" lIns="0" tIns="0" rIns="0" bIns="0" rtlCol="0"/>
            <a:lstStyle/>
            <a:p>
              <a:endParaRPr/>
            </a:p>
          </p:txBody>
        </p:sp>
      </p:grpSp>
      <p:sp>
        <p:nvSpPr>
          <p:cNvPr id="15" name="object 15"/>
          <p:cNvSpPr txBox="1"/>
          <p:nvPr/>
        </p:nvSpPr>
        <p:spPr>
          <a:xfrm>
            <a:off x="295535" y="2079752"/>
            <a:ext cx="1826895" cy="266065"/>
          </a:xfrm>
          <a:prstGeom prst="rect">
            <a:avLst/>
          </a:prstGeom>
        </p:spPr>
        <p:txBody>
          <a:bodyPr vert="horz" wrap="square" lIns="0" tIns="15875" rIns="0" bIns="0" rtlCol="0">
            <a:spAutoFit/>
          </a:bodyPr>
          <a:lstStyle/>
          <a:p>
            <a:pPr>
              <a:lnSpc>
                <a:spcPct val="100000"/>
              </a:lnSpc>
              <a:spcBef>
                <a:spcPts val="125"/>
              </a:spcBef>
            </a:pPr>
            <a:r>
              <a:rPr sz="1550" b="1" dirty="0">
                <a:latin typeface="Arial"/>
                <a:cs typeface="Arial"/>
              </a:rPr>
              <a:t>module</a:t>
            </a:r>
            <a:r>
              <a:rPr sz="1550" b="1" spc="60" dirty="0">
                <a:latin typeface="Arial"/>
                <a:cs typeface="Arial"/>
              </a:rPr>
              <a:t> </a:t>
            </a:r>
            <a:r>
              <a:rPr sz="1550" spc="-10" dirty="0">
                <a:latin typeface="Arial"/>
                <a:cs typeface="Arial"/>
              </a:rPr>
              <a:t>eq1_always</a:t>
            </a:r>
            <a:endParaRPr sz="1550">
              <a:latin typeface="Arial"/>
              <a:cs typeface="Arial"/>
            </a:endParaRPr>
          </a:p>
        </p:txBody>
      </p:sp>
      <p:sp>
        <p:nvSpPr>
          <p:cNvPr id="21" name="object 2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6" name="object 16"/>
          <p:cNvSpPr txBox="1"/>
          <p:nvPr/>
        </p:nvSpPr>
        <p:spPr>
          <a:xfrm>
            <a:off x="583578" y="2368556"/>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17" name="object 17"/>
          <p:cNvSpPr txBox="1"/>
          <p:nvPr/>
        </p:nvSpPr>
        <p:spPr>
          <a:xfrm>
            <a:off x="2397399" y="2934009"/>
            <a:ext cx="1706880" cy="280035"/>
          </a:xfrm>
          <a:prstGeom prst="rect">
            <a:avLst/>
          </a:prstGeom>
        </p:spPr>
        <p:txBody>
          <a:bodyPr vert="horz" wrap="square" lIns="0" tIns="14604" rIns="0" bIns="0" rtlCol="0">
            <a:spAutoFit/>
          </a:bodyPr>
          <a:lstStyle/>
          <a:p>
            <a:pPr marL="12700">
              <a:lnSpc>
                <a:spcPct val="100000"/>
              </a:lnSpc>
              <a:spcBef>
                <a:spcPts val="114"/>
              </a:spcBef>
            </a:pPr>
            <a:r>
              <a:rPr sz="1550" spc="25" dirty="0">
                <a:solidFill>
                  <a:srgbClr val="00B0EF"/>
                </a:solidFill>
                <a:latin typeface="Arial"/>
                <a:cs typeface="Arial"/>
              </a:rPr>
              <a:t>// </a:t>
            </a:r>
            <a:r>
              <a:rPr sz="1550" i="1" dirty="0">
                <a:solidFill>
                  <a:srgbClr val="00B0EF"/>
                </a:solidFill>
                <a:latin typeface="Arial"/>
                <a:cs typeface="Arial"/>
              </a:rPr>
              <a:t>eq</a:t>
            </a:r>
            <a:r>
              <a:rPr sz="1650" i="1" spc="-90" dirty="0">
                <a:solidFill>
                  <a:srgbClr val="00B0EF"/>
                </a:solidFill>
                <a:latin typeface="宋体"/>
                <a:cs typeface="宋体"/>
              </a:rPr>
              <a:t>声明为</a:t>
            </a:r>
            <a:r>
              <a:rPr sz="1550" i="1" dirty="0">
                <a:solidFill>
                  <a:srgbClr val="00B0EF"/>
                </a:solidFill>
                <a:latin typeface="Arial"/>
                <a:cs typeface="Arial"/>
              </a:rPr>
              <a:t>reg</a:t>
            </a:r>
            <a:r>
              <a:rPr sz="1650" i="1" spc="-70" dirty="0">
                <a:solidFill>
                  <a:srgbClr val="00B0EF"/>
                </a:solidFill>
                <a:latin typeface="宋体"/>
                <a:cs typeface="宋体"/>
              </a:rPr>
              <a:t>类型</a:t>
            </a:r>
            <a:endParaRPr sz="1650">
              <a:latin typeface="宋体"/>
              <a:cs typeface="宋体"/>
            </a:endParaRPr>
          </a:p>
        </p:txBody>
      </p:sp>
      <p:sp>
        <p:nvSpPr>
          <p:cNvPr id="18" name="object 18"/>
          <p:cNvSpPr txBox="1"/>
          <p:nvPr/>
        </p:nvSpPr>
        <p:spPr>
          <a:xfrm>
            <a:off x="2377575" y="3475431"/>
            <a:ext cx="2708275" cy="601980"/>
          </a:xfrm>
          <a:prstGeom prst="rect">
            <a:avLst/>
          </a:prstGeom>
        </p:spPr>
        <p:txBody>
          <a:bodyPr vert="horz" wrap="square" lIns="0" tIns="63500" rIns="0" bIns="0" rtlCol="0">
            <a:spAutoFit/>
          </a:bodyPr>
          <a:lstStyle/>
          <a:p>
            <a:pPr marL="20955">
              <a:lnSpc>
                <a:spcPct val="100000"/>
              </a:lnSpc>
              <a:spcBef>
                <a:spcPts val="500"/>
              </a:spcBef>
            </a:pPr>
            <a:r>
              <a:rPr sz="1550" spc="20" dirty="0">
                <a:solidFill>
                  <a:srgbClr val="00B0EF"/>
                </a:solidFill>
                <a:latin typeface="Arial"/>
                <a:cs typeface="Arial"/>
              </a:rPr>
              <a:t>// </a:t>
            </a:r>
            <a:r>
              <a:rPr sz="1550" dirty="0">
                <a:solidFill>
                  <a:srgbClr val="00B0EF"/>
                </a:solidFill>
                <a:latin typeface="Arial"/>
                <a:cs typeface="Arial"/>
              </a:rPr>
              <a:t>p0</a:t>
            </a:r>
            <a:r>
              <a:rPr sz="1550" dirty="0">
                <a:solidFill>
                  <a:srgbClr val="00B0EF"/>
                </a:solidFill>
                <a:latin typeface="宋体"/>
                <a:cs typeface="宋体"/>
              </a:rPr>
              <a:t>和</a:t>
            </a:r>
            <a:r>
              <a:rPr sz="1550" dirty="0">
                <a:solidFill>
                  <a:srgbClr val="00B0EF"/>
                </a:solidFill>
                <a:latin typeface="Arial"/>
                <a:cs typeface="Arial"/>
              </a:rPr>
              <a:t>p1</a:t>
            </a:r>
            <a:r>
              <a:rPr sz="1550" spc="75" dirty="0">
                <a:solidFill>
                  <a:srgbClr val="00B0EF"/>
                </a:solidFill>
                <a:latin typeface="Arial"/>
                <a:cs typeface="Arial"/>
              </a:rPr>
              <a:t> </a:t>
            </a:r>
            <a:r>
              <a:rPr sz="1550" dirty="0">
                <a:solidFill>
                  <a:srgbClr val="00B0EF"/>
                </a:solidFill>
                <a:latin typeface="宋体"/>
                <a:cs typeface="宋体"/>
              </a:rPr>
              <a:t>声明为</a:t>
            </a:r>
            <a:r>
              <a:rPr sz="1550" dirty="0">
                <a:solidFill>
                  <a:srgbClr val="00B0EF"/>
                </a:solidFill>
                <a:latin typeface="Arial"/>
                <a:cs typeface="Arial"/>
              </a:rPr>
              <a:t>reg</a:t>
            </a:r>
            <a:r>
              <a:rPr sz="1550" spc="-25" dirty="0">
                <a:solidFill>
                  <a:srgbClr val="00B0EF"/>
                </a:solidFill>
                <a:latin typeface="宋体"/>
                <a:cs typeface="宋体"/>
              </a:rPr>
              <a:t>类型</a:t>
            </a:r>
            <a:endParaRPr sz="1550">
              <a:latin typeface="宋体"/>
              <a:cs typeface="宋体"/>
            </a:endParaRPr>
          </a:p>
          <a:p>
            <a:pPr marL="12700">
              <a:lnSpc>
                <a:spcPct val="100000"/>
              </a:lnSpc>
              <a:spcBef>
                <a:spcPts val="409"/>
              </a:spcBef>
            </a:pPr>
            <a:r>
              <a:rPr sz="1550" spc="60" dirty="0">
                <a:solidFill>
                  <a:srgbClr val="00B0EF"/>
                </a:solidFill>
                <a:latin typeface="Arial"/>
                <a:cs typeface="Arial"/>
              </a:rPr>
              <a:t>// </a:t>
            </a:r>
            <a:r>
              <a:rPr sz="1550" dirty="0">
                <a:solidFill>
                  <a:srgbClr val="00B0EF"/>
                </a:solidFill>
                <a:latin typeface="Arial"/>
                <a:cs typeface="Arial"/>
              </a:rPr>
              <a:t>i0</a:t>
            </a:r>
            <a:r>
              <a:rPr sz="1550" dirty="0">
                <a:solidFill>
                  <a:srgbClr val="00B0EF"/>
                </a:solidFill>
                <a:latin typeface="宋体"/>
                <a:cs typeface="宋体"/>
              </a:rPr>
              <a:t>和</a:t>
            </a:r>
            <a:r>
              <a:rPr sz="1550" dirty="0">
                <a:solidFill>
                  <a:srgbClr val="00B0EF"/>
                </a:solidFill>
                <a:latin typeface="Arial"/>
                <a:cs typeface="Arial"/>
              </a:rPr>
              <a:t>i1</a:t>
            </a:r>
            <a:r>
              <a:rPr sz="1550" spc="-5" dirty="0">
                <a:solidFill>
                  <a:srgbClr val="00B0EF"/>
                </a:solidFill>
                <a:latin typeface="宋体"/>
                <a:cs typeface="宋体"/>
              </a:rPr>
              <a:t>必须在敏感信号列表中</a:t>
            </a:r>
            <a:endParaRPr sz="1550">
              <a:latin typeface="宋体"/>
              <a:cs typeface="宋体"/>
            </a:endParaRPr>
          </a:p>
        </p:txBody>
      </p:sp>
      <p:sp>
        <p:nvSpPr>
          <p:cNvPr id="19" name="object 19"/>
          <p:cNvSpPr txBox="1"/>
          <p:nvPr/>
        </p:nvSpPr>
        <p:spPr>
          <a:xfrm>
            <a:off x="583574" y="2608282"/>
            <a:ext cx="1492250" cy="1757680"/>
          </a:xfrm>
          <a:prstGeom prst="rect">
            <a:avLst/>
          </a:prstGeom>
        </p:spPr>
        <p:txBody>
          <a:bodyPr vert="horz" wrap="square" lIns="0" tIns="64135" rIns="0" bIns="0" rtlCol="0">
            <a:spAutoFit/>
          </a:bodyPr>
          <a:lstStyle/>
          <a:p>
            <a:pPr marL="111125">
              <a:lnSpc>
                <a:spcPct val="100000"/>
              </a:lnSpc>
              <a:spcBef>
                <a:spcPts val="505"/>
              </a:spcBef>
            </a:pPr>
            <a:r>
              <a:rPr sz="1550" b="1" dirty="0">
                <a:latin typeface="Arial"/>
                <a:cs typeface="Arial"/>
              </a:rPr>
              <a:t>input</a:t>
            </a:r>
            <a:r>
              <a:rPr sz="1550" b="1" spc="459"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a:t>
            </a:r>
            <a:endParaRPr sz="1550">
              <a:latin typeface="Arial"/>
              <a:cs typeface="Arial"/>
            </a:endParaRPr>
          </a:p>
          <a:p>
            <a:pPr marL="111125">
              <a:lnSpc>
                <a:spcPct val="100000"/>
              </a:lnSpc>
              <a:spcBef>
                <a:spcPts val="415"/>
              </a:spcBef>
            </a:pPr>
            <a:r>
              <a:rPr sz="1550" b="1" dirty="0">
                <a:latin typeface="Arial"/>
                <a:cs typeface="Arial"/>
              </a:rPr>
              <a:t>output</a:t>
            </a:r>
            <a:r>
              <a:rPr sz="1550" b="1" spc="470" dirty="0">
                <a:latin typeface="Arial"/>
                <a:cs typeface="Arial"/>
              </a:rPr>
              <a:t> </a:t>
            </a:r>
            <a:r>
              <a:rPr sz="1550" b="1" dirty="0">
                <a:latin typeface="Arial"/>
                <a:cs typeface="Arial"/>
              </a:rPr>
              <a:t>reg</a:t>
            </a:r>
            <a:r>
              <a:rPr sz="1550" b="1" spc="475" dirty="0">
                <a:latin typeface="Arial"/>
                <a:cs typeface="Arial"/>
              </a:rPr>
              <a:t> </a:t>
            </a:r>
            <a:r>
              <a:rPr sz="1550" spc="-25" dirty="0">
                <a:latin typeface="Arial"/>
                <a:cs typeface="Arial"/>
              </a:rPr>
              <a:t>eq</a:t>
            </a:r>
            <a:endParaRPr sz="1550">
              <a:latin typeface="Arial"/>
              <a:cs typeface="Arial"/>
            </a:endParaRPr>
          </a:p>
          <a:p>
            <a:pPr marL="5715">
              <a:lnSpc>
                <a:spcPct val="100000"/>
              </a:lnSpc>
              <a:spcBef>
                <a:spcPts val="415"/>
              </a:spcBef>
            </a:pPr>
            <a:r>
              <a:rPr sz="1550" spc="-25" dirty="0">
                <a:latin typeface="Arial"/>
                <a:cs typeface="Arial"/>
              </a:rPr>
              <a:t>);</a:t>
            </a:r>
            <a:endParaRPr sz="1550">
              <a:latin typeface="Arial"/>
              <a:cs typeface="Arial"/>
            </a:endParaRPr>
          </a:p>
          <a:p>
            <a:pPr marR="12065">
              <a:lnSpc>
                <a:spcPct val="122100"/>
              </a:lnSpc>
              <a:spcBef>
                <a:spcPts val="5"/>
              </a:spcBef>
            </a:pPr>
            <a:r>
              <a:rPr sz="1550" b="1" dirty="0">
                <a:latin typeface="Arial"/>
                <a:cs typeface="Arial"/>
              </a:rPr>
              <a:t>reg</a:t>
            </a:r>
            <a:r>
              <a:rPr sz="1550" b="1" spc="35" dirty="0">
                <a:latin typeface="Arial"/>
                <a:cs typeface="Arial"/>
              </a:rPr>
              <a:t> </a:t>
            </a:r>
            <a:r>
              <a:rPr sz="1550" dirty="0">
                <a:latin typeface="Arial"/>
                <a:cs typeface="Arial"/>
              </a:rPr>
              <a:t>p0,</a:t>
            </a:r>
            <a:r>
              <a:rPr sz="1550" spc="35" dirty="0">
                <a:latin typeface="Arial"/>
                <a:cs typeface="Arial"/>
              </a:rPr>
              <a:t> </a:t>
            </a:r>
            <a:r>
              <a:rPr sz="1550" spc="-25" dirty="0">
                <a:latin typeface="Arial"/>
                <a:cs typeface="Arial"/>
              </a:rPr>
              <a:t>p1; </a:t>
            </a:r>
            <a:r>
              <a:rPr sz="1550" b="1" dirty="0">
                <a:latin typeface="Arial"/>
                <a:cs typeface="Arial"/>
              </a:rPr>
              <a:t>always</a:t>
            </a:r>
            <a:r>
              <a:rPr sz="1550" b="1" spc="25" dirty="0">
                <a:latin typeface="Arial"/>
                <a:cs typeface="Arial"/>
              </a:rPr>
              <a:t> </a:t>
            </a:r>
            <a:r>
              <a:rPr sz="1550" dirty="0">
                <a:latin typeface="Arial"/>
                <a:cs typeface="Arial"/>
              </a:rPr>
              <a:t>@(i0,</a:t>
            </a:r>
            <a:r>
              <a:rPr sz="1550" spc="25" dirty="0">
                <a:latin typeface="Arial"/>
                <a:cs typeface="Arial"/>
              </a:rPr>
              <a:t> </a:t>
            </a:r>
            <a:r>
              <a:rPr sz="1550" spc="-25" dirty="0">
                <a:latin typeface="Arial"/>
                <a:cs typeface="Arial"/>
              </a:rPr>
              <a:t>i1) </a:t>
            </a:r>
            <a:r>
              <a:rPr sz="1550" b="1" spc="-10" dirty="0">
                <a:latin typeface="Arial"/>
                <a:cs typeface="Arial"/>
              </a:rPr>
              <a:t>begin</a:t>
            </a:r>
            <a:endParaRPr sz="1550">
              <a:latin typeface="Arial"/>
              <a:cs typeface="Arial"/>
            </a:endParaRPr>
          </a:p>
        </p:txBody>
      </p:sp>
      <p:sp>
        <p:nvSpPr>
          <p:cNvPr id="20" name="object 20"/>
          <p:cNvSpPr txBox="1"/>
          <p:nvPr/>
        </p:nvSpPr>
        <p:spPr>
          <a:xfrm>
            <a:off x="353715" y="4340323"/>
            <a:ext cx="2569845" cy="1757045"/>
          </a:xfrm>
          <a:prstGeom prst="rect">
            <a:avLst/>
          </a:prstGeom>
        </p:spPr>
        <p:txBody>
          <a:bodyPr vert="horz" wrap="square" lIns="0" tIns="11430" rIns="0" bIns="0" rtlCol="0">
            <a:spAutoFit/>
          </a:bodyPr>
          <a:lstStyle/>
          <a:p>
            <a:pPr marL="452755" marR="5080" indent="-11430">
              <a:lnSpc>
                <a:spcPct val="122300"/>
              </a:lnSpc>
              <a:spcBef>
                <a:spcPts val="90"/>
              </a:spcBef>
            </a:pPr>
            <a:r>
              <a:rPr sz="1550" dirty="0">
                <a:solidFill>
                  <a:srgbClr val="00B0EF"/>
                </a:solidFill>
                <a:latin typeface="Arial"/>
                <a:cs typeface="Arial"/>
              </a:rPr>
              <a:t>//</a:t>
            </a:r>
            <a:r>
              <a:rPr sz="1550" spc="-5" dirty="0">
                <a:solidFill>
                  <a:srgbClr val="00B0EF"/>
                </a:solidFill>
                <a:latin typeface="宋体"/>
                <a:cs typeface="宋体"/>
              </a:rPr>
              <a:t>语句的顺序是很重要的</a:t>
            </a:r>
            <a:r>
              <a:rPr sz="1550" spc="-50" dirty="0">
                <a:solidFill>
                  <a:srgbClr val="00B0EF"/>
                </a:solidFill>
                <a:latin typeface="宋体"/>
                <a:cs typeface="宋体"/>
              </a:rPr>
              <a:t> </a:t>
            </a:r>
            <a:r>
              <a:rPr sz="1550" dirty="0">
                <a:latin typeface="Arial"/>
                <a:cs typeface="Arial"/>
              </a:rPr>
              <a:t>p0</a:t>
            </a:r>
            <a:r>
              <a:rPr sz="1550" spc="10" dirty="0">
                <a:latin typeface="Arial"/>
                <a:cs typeface="Arial"/>
              </a:rPr>
              <a:t> = </a:t>
            </a:r>
            <a:r>
              <a:rPr sz="1550" dirty="0">
                <a:latin typeface="Arial"/>
                <a:cs typeface="Arial"/>
              </a:rPr>
              <a:t>~i0</a:t>
            </a:r>
            <a:r>
              <a:rPr sz="1550" spc="15" dirty="0">
                <a:latin typeface="Arial"/>
                <a:cs typeface="Arial"/>
              </a:rPr>
              <a:t> </a:t>
            </a:r>
            <a:r>
              <a:rPr sz="1550" dirty="0">
                <a:latin typeface="Arial"/>
                <a:cs typeface="Arial"/>
              </a:rPr>
              <a:t>&amp;</a:t>
            </a:r>
            <a:r>
              <a:rPr sz="1550" spc="20" dirty="0">
                <a:latin typeface="Arial"/>
                <a:cs typeface="Arial"/>
              </a:rPr>
              <a:t> </a:t>
            </a:r>
            <a:r>
              <a:rPr sz="1550" spc="-20" dirty="0">
                <a:latin typeface="Arial"/>
                <a:cs typeface="Arial"/>
              </a:rPr>
              <a:t>~i1;</a:t>
            </a:r>
            <a:endParaRPr sz="1550">
              <a:latin typeface="Arial"/>
              <a:cs typeface="Arial"/>
            </a:endParaRPr>
          </a:p>
          <a:p>
            <a:pPr marL="452755" marR="939165">
              <a:lnSpc>
                <a:spcPts val="2270"/>
              </a:lnSpc>
              <a:spcBef>
                <a:spcPts val="145"/>
              </a:spcBef>
            </a:pPr>
            <a:r>
              <a:rPr sz="1550" dirty="0">
                <a:latin typeface="Arial"/>
                <a:cs typeface="Arial"/>
              </a:rPr>
              <a:t>p1</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i0</a:t>
            </a:r>
            <a:r>
              <a:rPr sz="1550" spc="20" dirty="0">
                <a:latin typeface="Arial"/>
                <a:cs typeface="Arial"/>
              </a:rPr>
              <a:t> </a:t>
            </a:r>
            <a:r>
              <a:rPr sz="1550" dirty="0">
                <a:latin typeface="Arial"/>
                <a:cs typeface="Arial"/>
              </a:rPr>
              <a:t>&amp;</a:t>
            </a:r>
            <a:r>
              <a:rPr sz="1550" spc="15" dirty="0">
                <a:latin typeface="Arial"/>
                <a:cs typeface="Arial"/>
              </a:rPr>
              <a:t> </a:t>
            </a:r>
            <a:r>
              <a:rPr sz="1550" spc="-25" dirty="0">
                <a:latin typeface="Arial"/>
                <a:cs typeface="Arial"/>
              </a:rPr>
              <a:t>i1; </a:t>
            </a:r>
            <a:r>
              <a:rPr sz="1550" dirty="0">
                <a:latin typeface="Arial"/>
                <a:cs typeface="Arial"/>
              </a:rPr>
              <a:t>eq</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p0</a:t>
            </a:r>
            <a:r>
              <a:rPr sz="1550" spc="2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p1</a:t>
            </a:r>
            <a:r>
              <a:rPr sz="1550" spc="10" dirty="0">
                <a:latin typeface="Arial"/>
                <a:cs typeface="Arial"/>
              </a:rPr>
              <a:t> </a:t>
            </a:r>
            <a:r>
              <a:rPr sz="1550" spc="-50" dirty="0">
                <a:latin typeface="Arial"/>
                <a:cs typeface="Arial"/>
              </a:rPr>
              <a:t>;</a:t>
            </a:r>
            <a:endParaRPr sz="1550">
              <a:latin typeface="Arial"/>
              <a:cs typeface="Arial"/>
            </a:endParaRPr>
          </a:p>
          <a:p>
            <a:pPr marL="12700" marR="1478915" indent="216535">
              <a:lnSpc>
                <a:spcPts val="2270"/>
              </a:lnSpc>
            </a:pPr>
            <a:r>
              <a:rPr sz="1550" b="1" spc="-25" dirty="0">
                <a:latin typeface="Arial"/>
                <a:cs typeface="Arial"/>
              </a:rPr>
              <a:t>end </a:t>
            </a:r>
            <a:r>
              <a:rPr sz="1550" b="1" spc="-10" dirty="0">
                <a:latin typeface="Arial"/>
                <a:cs typeface="Arial"/>
              </a:rPr>
              <a:t>endmodule</a:t>
            </a:r>
            <a:endParaRPr sz="155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6899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20"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25" dirty="0"/>
              <a:t>实例</a:t>
            </a:r>
          </a:p>
        </p:txBody>
      </p:sp>
      <p:sp>
        <p:nvSpPr>
          <p:cNvPr id="3" name="object 3"/>
          <p:cNvSpPr txBox="1"/>
          <p:nvPr/>
        </p:nvSpPr>
        <p:spPr>
          <a:xfrm>
            <a:off x="603617" y="2277872"/>
            <a:ext cx="4754880" cy="284099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Arial"/>
                <a:cs typeface="Arial"/>
              </a:rPr>
              <a:t>4</a:t>
            </a:r>
            <a:r>
              <a:rPr sz="2100" b="1" spc="-10" dirty="0">
                <a:solidFill>
                  <a:srgbClr val="3E3E3E"/>
                </a:solidFill>
                <a:latin typeface="微软雅黑"/>
                <a:cs typeface="微软雅黑"/>
              </a:rPr>
              <a:t>位优先编码器：</a:t>
            </a:r>
            <a:endParaRPr sz="2100">
              <a:latin typeface="微软雅黑"/>
              <a:cs typeface="微软雅黑"/>
            </a:endParaRPr>
          </a:p>
          <a:p>
            <a:pPr marL="12700" marR="5080" indent="369570" algn="just">
              <a:lnSpc>
                <a:spcPct val="150300"/>
              </a:lnSpc>
              <a:spcBef>
                <a:spcPts val="700"/>
              </a:spcBef>
            </a:pPr>
            <a:r>
              <a:rPr sz="2100" b="1" spc="-10" dirty="0">
                <a:solidFill>
                  <a:srgbClr val="3E3E3E"/>
                </a:solidFill>
                <a:latin typeface="Arial"/>
                <a:cs typeface="Arial"/>
              </a:rPr>
              <a:t>4</a:t>
            </a:r>
            <a:r>
              <a:rPr sz="2100" b="1" spc="-25" dirty="0">
                <a:solidFill>
                  <a:srgbClr val="3E3E3E"/>
                </a:solidFill>
                <a:latin typeface="宋体"/>
                <a:cs typeface="宋体"/>
              </a:rPr>
              <a:t>位优先编码器有四个优先级：</a:t>
            </a:r>
            <a:r>
              <a:rPr sz="2100" b="1" spc="-10" dirty="0">
                <a:solidFill>
                  <a:srgbClr val="3E3E3E"/>
                </a:solidFill>
                <a:latin typeface="Arial"/>
                <a:cs typeface="Arial"/>
              </a:rPr>
              <a:t>r[3]</a:t>
            </a:r>
            <a:r>
              <a:rPr sz="2100" b="1" spc="-50" dirty="0">
                <a:solidFill>
                  <a:srgbClr val="3E3E3E"/>
                </a:solidFill>
                <a:latin typeface="宋体"/>
                <a:cs typeface="宋体"/>
              </a:rPr>
              <a:t>、 </a:t>
            </a:r>
            <a:r>
              <a:rPr sz="2100" b="1" dirty="0">
                <a:solidFill>
                  <a:srgbClr val="3E3E3E"/>
                </a:solidFill>
                <a:latin typeface="Arial"/>
                <a:cs typeface="Arial"/>
              </a:rPr>
              <a:t>r[2]</a:t>
            </a:r>
            <a:r>
              <a:rPr sz="2100" b="1" spc="-20" dirty="0">
                <a:solidFill>
                  <a:srgbClr val="3E3E3E"/>
                </a:solidFill>
                <a:latin typeface="宋体"/>
                <a:cs typeface="宋体"/>
              </a:rPr>
              <a:t>、</a:t>
            </a:r>
            <a:r>
              <a:rPr sz="2100" b="1" dirty="0">
                <a:solidFill>
                  <a:srgbClr val="3E3E3E"/>
                </a:solidFill>
                <a:latin typeface="Arial"/>
                <a:cs typeface="Arial"/>
              </a:rPr>
              <a:t>r[1]</a:t>
            </a:r>
            <a:r>
              <a:rPr sz="2100" b="1" spc="-20" dirty="0">
                <a:solidFill>
                  <a:srgbClr val="3E3E3E"/>
                </a:solidFill>
                <a:latin typeface="宋体"/>
                <a:cs typeface="宋体"/>
              </a:rPr>
              <a:t>和</a:t>
            </a:r>
            <a:r>
              <a:rPr sz="2100" b="1" dirty="0">
                <a:solidFill>
                  <a:srgbClr val="3E3E3E"/>
                </a:solidFill>
                <a:latin typeface="Arial"/>
                <a:cs typeface="Arial"/>
              </a:rPr>
              <a:t>r[0]</a:t>
            </a:r>
            <a:r>
              <a:rPr sz="2100" b="1" spc="-25" dirty="0">
                <a:solidFill>
                  <a:srgbClr val="3E3E3E"/>
                </a:solidFill>
                <a:latin typeface="宋体"/>
                <a:cs typeface="宋体"/>
              </a:rPr>
              <a:t>作为一组</a:t>
            </a:r>
            <a:r>
              <a:rPr sz="2100" b="1" dirty="0">
                <a:solidFill>
                  <a:srgbClr val="3E3E3E"/>
                </a:solidFill>
                <a:latin typeface="Arial"/>
                <a:cs typeface="Arial"/>
              </a:rPr>
              <a:t>4</a:t>
            </a:r>
            <a:r>
              <a:rPr sz="2100" b="1" spc="-30" dirty="0">
                <a:solidFill>
                  <a:srgbClr val="3E3E3E"/>
                </a:solidFill>
                <a:latin typeface="宋体"/>
                <a:cs typeface="宋体"/>
              </a:rPr>
              <a:t>位输入信号，</a:t>
            </a:r>
            <a:r>
              <a:rPr sz="2100" b="1" spc="-50" dirty="0">
                <a:solidFill>
                  <a:srgbClr val="3E3E3E"/>
                </a:solidFill>
                <a:latin typeface="宋体"/>
                <a:cs typeface="宋体"/>
              </a:rPr>
              <a:t> </a:t>
            </a:r>
            <a:r>
              <a:rPr sz="2100" b="1" dirty="0">
                <a:solidFill>
                  <a:srgbClr val="FF0000"/>
                </a:solidFill>
                <a:latin typeface="Arial"/>
                <a:cs typeface="Arial"/>
              </a:rPr>
              <a:t>r[3]</a:t>
            </a:r>
            <a:r>
              <a:rPr sz="2100" b="1" spc="-25" dirty="0">
                <a:solidFill>
                  <a:srgbClr val="FF0000"/>
                </a:solidFill>
                <a:latin typeface="宋体"/>
                <a:cs typeface="宋体"/>
              </a:rPr>
              <a:t>优先级最高</a:t>
            </a:r>
            <a:r>
              <a:rPr sz="2100" b="1" spc="-30" dirty="0">
                <a:solidFill>
                  <a:srgbClr val="3E3E3E"/>
                </a:solidFill>
                <a:latin typeface="宋体"/>
                <a:cs typeface="宋体"/>
              </a:rPr>
              <a:t>，输出是最高优先级的二</a:t>
            </a:r>
            <a:r>
              <a:rPr sz="2100" b="1" spc="-25" dirty="0">
                <a:solidFill>
                  <a:srgbClr val="3E3E3E"/>
                </a:solidFill>
                <a:latin typeface="宋体"/>
                <a:cs typeface="宋体"/>
              </a:rPr>
              <a:t>进制代码，优先编码器的功能表如表</a:t>
            </a:r>
            <a:r>
              <a:rPr sz="2100" b="1" spc="-25" dirty="0">
                <a:solidFill>
                  <a:srgbClr val="3E3E3E"/>
                </a:solidFill>
                <a:latin typeface="Arial"/>
                <a:cs typeface="Arial"/>
              </a:rPr>
              <a:t>3.1</a:t>
            </a:r>
            <a:r>
              <a:rPr sz="2100" b="1" spc="-20" dirty="0">
                <a:solidFill>
                  <a:srgbClr val="3E3E3E"/>
                </a:solidFill>
                <a:latin typeface="宋体"/>
                <a:cs typeface="宋体"/>
              </a:rPr>
              <a:t>所示，</a:t>
            </a:r>
            <a:r>
              <a:rPr sz="2100" b="1" spc="-10" dirty="0">
                <a:solidFill>
                  <a:srgbClr val="3E3E3E"/>
                </a:solidFill>
                <a:latin typeface="Arial"/>
                <a:cs typeface="Arial"/>
              </a:rPr>
              <a:t>HDL</a:t>
            </a:r>
            <a:r>
              <a:rPr sz="2100" b="1" spc="-25" dirty="0">
                <a:solidFill>
                  <a:srgbClr val="3E3E3E"/>
                </a:solidFill>
                <a:latin typeface="宋体"/>
                <a:cs typeface="宋体"/>
              </a:rPr>
              <a:t>代码如例</a:t>
            </a:r>
            <a:r>
              <a:rPr sz="2100" b="1" spc="-10" dirty="0">
                <a:solidFill>
                  <a:srgbClr val="3E3E3E"/>
                </a:solidFill>
                <a:latin typeface="Arial"/>
                <a:cs typeface="Arial"/>
              </a:rPr>
              <a:t>3.4</a:t>
            </a:r>
            <a:r>
              <a:rPr sz="2100" b="1" spc="-35" dirty="0">
                <a:solidFill>
                  <a:srgbClr val="3E3E3E"/>
                </a:solidFill>
                <a:latin typeface="宋体"/>
                <a:cs typeface="宋体"/>
              </a:rPr>
              <a:t>所示：</a:t>
            </a:r>
            <a:endParaRPr sz="2100">
              <a:latin typeface="宋体"/>
              <a:cs typeface="宋体"/>
            </a:endParaRPr>
          </a:p>
        </p:txBody>
      </p:sp>
      <p:sp>
        <p:nvSpPr>
          <p:cNvPr id="4" name="object 4"/>
          <p:cNvSpPr txBox="1"/>
          <p:nvPr/>
        </p:nvSpPr>
        <p:spPr>
          <a:xfrm>
            <a:off x="5942934" y="2323608"/>
            <a:ext cx="3689985" cy="346710"/>
          </a:xfrm>
          <a:prstGeom prst="rect">
            <a:avLst/>
          </a:prstGeom>
        </p:spPr>
        <p:txBody>
          <a:bodyPr vert="horz" wrap="square" lIns="0" tIns="13335" rIns="0" bIns="0" rtlCol="0">
            <a:spAutoFit/>
          </a:bodyPr>
          <a:lstStyle/>
          <a:p>
            <a:pPr marL="12700">
              <a:lnSpc>
                <a:spcPct val="100000"/>
              </a:lnSpc>
              <a:spcBef>
                <a:spcPts val="105"/>
              </a:spcBef>
            </a:pPr>
            <a:r>
              <a:rPr sz="2100" b="1" spc="-25" dirty="0">
                <a:latin typeface="宋体"/>
                <a:cs typeface="宋体"/>
              </a:rPr>
              <a:t>表</a:t>
            </a:r>
            <a:r>
              <a:rPr sz="2100" b="1" dirty="0">
                <a:latin typeface="Arial"/>
                <a:cs typeface="Arial"/>
              </a:rPr>
              <a:t>3.1</a:t>
            </a:r>
            <a:r>
              <a:rPr sz="2100" b="1" spc="85" dirty="0">
                <a:latin typeface="Arial"/>
                <a:cs typeface="Arial"/>
              </a:rPr>
              <a:t> </a:t>
            </a:r>
            <a:r>
              <a:rPr sz="2100" b="1" spc="-30" dirty="0">
                <a:latin typeface="宋体"/>
                <a:cs typeface="宋体"/>
              </a:rPr>
              <a:t>四输入优先编码器功能表</a:t>
            </a:r>
            <a:endParaRPr sz="2100">
              <a:latin typeface="宋体"/>
              <a:cs typeface="宋体"/>
            </a:endParaRPr>
          </a:p>
        </p:txBody>
      </p:sp>
      <p:pic>
        <p:nvPicPr>
          <p:cNvPr id="5" name="object 5"/>
          <p:cNvPicPr/>
          <p:nvPr/>
        </p:nvPicPr>
        <p:blipFill>
          <a:blip r:embed="rId2" cstate="print"/>
          <a:stretch>
            <a:fillRect/>
          </a:stretch>
        </p:blipFill>
        <p:spPr>
          <a:xfrm>
            <a:off x="5874905" y="2825495"/>
            <a:ext cx="4168140" cy="2305812"/>
          </a:xfrm>
          <a:prstGeom prst="rect">
            <a:avLst/>
          </a:prstGeom>
        </p:spPr>
      </p:pic>
      <p:graphicFrame>
        <p:nvGraphicFramePr>
          <p:cNvPr id="6" name="object 6"/>
          <p:cNvGraphicFramePr>
            <a:graphicFrameLocks noGrp="1"/>
          </p:cNvGraphicFramePr>
          <p:nvPr/>
        </p:nvGraphicFramePr>
        <p:xfrm>
          <a:off x="5869336" y="2819927"/>
          <a:ext cx="4162422" cy="2303145"/>
        </p:xfrm>
        <a:graphic>
          <a:graphicData uri="http://schemas.openxmlformats.org/drawingml/2006/table">
            <a:tbl>
              <a:tblPr firstRow="1" bandRow="1">
                <a:tableStyleId>{2D5ABB26-0587-4C30-8999-92F81FD0307C}</a:tableStyleId>
              </a:tblPr>
              <a:tblGrid>
                <a:gridCol w="622300">
                  <a:extLst>
                    <a:ext uri="{9D8B030D-6E8A-4147-A177-3AD203B41FA5}">
                      <a16:colId xmlns:a16="http://schemas.microsoft.com/office/drawing/2014/main" val="20000"/>
                    </a:ext>
                  </a:extLst>
                </a:gridCol>
                <a:gridCol w="318769">
                  <a:extLst>
                    <a:ext uri="{9D8B030D-6E8A-4147-A177-3AD203B41FA5}">
                      <a16:colId xmlns:a16="http://schemas.microsoft.com/office/drawing/2014/main" val="20001"/>
                    </a:ext>
                  </a:extLst>
                </a:gridCol>
                <a:gridCol w="293369">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939800">
                  <a:extLst>
                    <a:ext uri="{9D8B030D-6E8A-4147-A177-3AD203B41FA5}">
                      <a16:colId xmlns:a16="http://schemas.microsoft.com/office/drawing/2014/main" val="20004"/>
                    </a:ext>
                  </a:extLst>
                </a:gridCol>
                <a:gridCol w="348614">
                  <a:extLst>
                    <a:ext uri="{9D8B030D-6E8A-4147-A177-3AD203B41FA5}">
                      <a16:colId xmlns:a16="http://schemas.microsoft.com/office/drawing/2014/main" val="20005"/>
                    </a:ext>
                  </a:extLst>
                </a:gridCol>
                <a:gridCol w="839470">
                  <a:extLst>
                    <a:ext uri="{9D8B030D-6E8A-4147-A177-3AD203B41FA5}">
                      <a16:colId xmlns:a16="http://schemas.microsoft.com/office/drawing/2014/main" val="20006"/>
                    </a:ext>
                  </a:extLst>
                </a:gridCol>
              </a:tblGrid>
              <a:tr h="384175">
                <a:tc gridSpan="4">
                  <a:txBody>
                    <a:bodyPr/>
                    <a:lstStyle/>
                    <a:p>
                      <a:pPr marL="67945">
                        <a:lnSpc>
                          <a:spcPct val="100000"/>
                        </a:lnSpc>
                        <a:spcBef>
                          <a:spcPts val="110"/>
                        </a:spcBef>
                      </a:pPr>
                      <a:r>
                        <a:rPr sz="1400" dirty="0">
                          <a:latin typeface="宋体"/>
                          <a:cs typeface="宋体"/>
                        </a:rPr>
                        <a:t>输入（</a:t>
                      </a:r>
                      <a:r>
                        <a:rPr sz="1400" dirty="0">
                          <a:latin typeface="Arial"/>
                          <a:cs typeface="Arial"/>
                        </a:rPr>
                        <a:t>r[3]</a:t>
                      </a:r>
                      <a:r>
                        <a:rPr sz="1400" spc="15" dirty="0">
                          <a:latin typeface="Arial"/>
                          <a:cs typeface="Arial"/>
                        </a:rPr>
                        <a:t> </a:t>
                      </a:r>
                      <a:r>
                        <a:rPr sz="1400" dirty="0">
                          <a:latin typeface="Arial"/>
                          <a:cs typeface="Arial"/>
                        </a:rPr>
                        <a:t>r[2]</a:t>
                      </a:r>
                      <a:r>
                        <a:rPr sz="1400" spc="15" dirty="0">
                          <a:latin typeface="Arial"/>
                          <a:cs typeface="Arial"/>
                        </a:rPr>
                        <a:t> </a:t>
                      </a:r>
                      <a:r>
                        <a:rPr sz="1400" dirty="0">
                          <a:latin typeface="Arial"/>
                          <a:cs typeface="Arial"/>
                        </a:rPr>
                        <a:t>r[1]</a:t>
                      </a:r>
                      <a:r>
                        <a:rPr sz="1400" spc="15" dirty="0">
                          <a:latin typeface="Arial"/>
                          <a:cs typeface="Arial"/>
                        </a:rPr>
                        <a:t> </a:t>
                      </a:r>
                      <a:r>
                        <a:rPr sz="1400" spc="-10" dirty="0">
                          <a:latin typeface="Arial"/>
                          <a:cs typeface="Arial"/>
                        </a:rPr>
                        <a:t>r[0]</a:t>
                      </a:r>
                      <a:r>
                        <a:rPr sz="1400" spc="-10" dirty="0">
                          <a:latin typeface="宋体"/>
                          <a:cs typeface="宋体"/>
                        </a:rPr>
                        <a:t>）</a:t>
                      </a:r>
                      <a:endParaRPr sz="1400">
                        <a:latin typeface="宋体"/>
                        <a:cs typeface="宋体"/>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226060">
                        <a:lnSpc>
                          <a:spcPct val="100000"/>
                        </a:lnSpc>
                        <a:spcBef>
                          <a:spcPts val="110"/>
                        </a:spcBef>
                      </a:pPr>
                      <a:r>
                        <a:rPr sz="1400" dirty="0">
                          <a:latin typeface="宋体"/>
                          <a:cs typeface="宋体"/>
                        </a:rPr>
                        <a:t>输出（</a:t>
                      </a:r>
                      <a:r>
                        <a:rPr sz="1400" dirty="0">
                          <a:latin typeface="Arial"/>
                          <a:cs typeface="Arial"/>
                        </a:rPr>
                        <a:t>y[2]</a:t>
                      </a:r>
                      <a:r>
                        <a:rPr sz="1400" spc="10" dirty="0">
                          <a:latin typeface="Arial"/>
                          <a:cs typeface="Arial"/>
                        </a:rPr>
                        <a:t> </a:t>
                      </a:r>
                      <a:r>
                        <a:rPr sz="1400" dirty="0">
                          <a:latin typeface="Arial"/>
                          <a:cs typeface="Arial"/>
                        </a:rPr>
                        <a:t>y[1]</a:t>
                      </a:r>
                      <a:r>
                        <a:rPr sz="1400" spc="10" dirty="0">
                          <a:latin typeface="Arial"/>
                          <a:cs typeface="Arial"/>
                        </a:rPr>
                        <a:t> </a:t>
                      </a:r>
                      <a:r>
                        <a:rPr sz="1400" spc="-10" dirty="0">
                          <a:latin typeface="Arial"/>
                          <a:cs typeface="Arial"/>
                        </a:rPr>
                        <a:t>y[0]</a:t>
                      </a:r>
                      <a:r>
                        <a:rPr sz="1400" spc="-10" dirty="0">
                          <a:latin typeface="宋体"/>
                          <a:cs typeface="宋体"/>
                        </a:rPr>
                        <a:t>）</a:t>
                      </a:r>
                      <a:endParaRPr sz="1400">
                        <a:latin typeface="宋体"/>
                        <a:cs typeface="宋体"/>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83540">
                <a:tc>
                  <a:txBody>
                    <a:bodyPr/>
                    <a:lstStyle/>
                    <a:p>
                      <a:pPr marR="130175" algn="r">
                        <a:lnSpc>
                          <a:spcPct val="100000"/>
                        </a:lnSpc>
                        <a:spcBef>
                          <a:spcPts val="105"/>
                        </a:spcBef>
                      </a:pPr>
                      <a:r>
                        <a:rPr sz="1400" spc="-50" dirty="0">
                          <a:latin typeface="Arial"/>
                          <a:cs typeface="Arial"/>
                        </a:rPr>
                        <a:t>1</a:t>
                      </a:r>
                      <a:endParaRPr sz="1400">
                        <a:latin typeface="Arial"/>
                        <a:cs typeface="Arial"/>
                      </a:endParaRPr>
                    </a:p>
                  </a:txBody>
                  <a:tcPr marL="0" marR="0" marT="133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105"/>
                        </a:spcBef>
                      </a:pPr>
                      <a:r>
                        <a:rPr sz="1400" spc="-50" dirty="0">
                          <a:latin typeface="Arial"/>
                          <a:cs typeface="Arial"/>
                        </a:rPr>
                        <a:t>x</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R="31115" algn="ctr">
                        <a:lnSpc>
                          <a:spcPct val="100000"/>
                        </a:lnSpc>
                        <a:spcBef>
                          <a:spcPts val="105"/>
                        </a:spcBef>
                      </a:pPr>
                      <a:r>
                        <a:rPr sz="1400" spc="-50" dirty="0">
                          <a:latin typeface="Arial"/>
                          <a:cs typeface="Arial"/>
                        </a:rPr>
                        <a:t>x</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L="77470">
                        <a:lnSpc>
                          <a:spcPct val="100000"/>
                        </a:lnSpc>
                        <a:spcBef>
                          <a:spcPts val="105"/>
                        </a:spcBef>
                      </a:pPr>
                      <a:r>
                        <a:rPr sz="1400" spc="-50" dirty="0">
                          <a:latin typeface="Arial"/>
                          <a:cs typeface="Arial"/>
                        </a:rPr>
                        <a:t>x</a:t>
                      </a:r>
                      <a:endParaRPr sz="1400">
                        <a:latin typeface="Arial"/>
                        <a:cs typeface="Arial"/>
                      </a:endParaRPr>
                    </a:p>
                  </a:txBody>
                  <a:tcPr marL="0" marR="0" marT="1333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92075" algn="r">
                        <a:lnSpc>
                          <a:spcPct val="100000"/>
                        </a:lnSpc>
                        <a:spcBef>
                          <a:spcPts val="105"/>
                        </a:spcBef>
                      </a:pPr>
                      <a:r>
                        <a:rPr sz="1400" spc="-50" dirty="0">
                          <a:latin typeface="Arial"/>
                          <a:cs typeface="Arial"/>
                        </a:rPr>
                        <a:t>1</a:t>
                      </a:r>
                      <a:endParaRPr sz="1400">
                        <a:latin typeface="Arial"/>
                        <a:cs typeface="Arial"/>
                      </a:endParaRPr>
                    </a:p>
                  </a:txBody>
                  <a:tcPr marL="0" marR="0" marT="133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R="92075" algn="r">
                        <a:lnSpc>
                          <a:spcPct val="100000"/>
                        </a:lnSpc>
                        <a:spcBef>
                          <a:spcPts val="105"/>
                        </a:spcBef>
                      </a:pPr>
                      <a:r>
                        <a:rPr sz="1400" spc="-50" dirty="0">
                          <a:latin typeface="Arial"/>
                          <a:cs typeface="Arial"/>
                        </a:rPr>
                        <a:t>0</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L="100330">
                        <a:lnSpc>
                          <a:spcPct val="100000"/>
                        </a:lnSpc>
                        <a:spcBef>
                          <a:spcPts val="105"/>
                        </a:spcBef>
                      </a:pPr>
                      <a:r>
                        <a:rPr sz="1400" spc="-50" dirty="0">
                          <a:latin typeface="Arial"/>
                          <a:cs typeface="Arial"/>
                        </a:rPr>
                        <a:t>0</a:t>
                      </a:r>
                      <a:endParaRPr sz="1400">
                        <a:latin typeface="Arial"/>
                        <a:cs typeface="Arial"/>
                      </a:endParaRPr>
                    </a:p>
                  </a:txBody>
                  <a:tcPr marL="0" marR="0" marT="13335"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83540">
                <a:tc>
                  <a:txBody>
                    <a:bodyPr/>
                    <a:lstStyle/>
                    <a:p>
                      <a:pPr marR="104775" algn="r">
                        <a:lnSpc>
                          <a:spcPct val="100000"/>
                        </a:lnSpc>
                        <a:spcBef>
                          <a:spcPts val="105"/>
                        </a:spcBef>
                      </a:pPr>
                      <a:r>
                        <a:rPr sz="1400" spc="-50" dirty="0">
                          <a:latin typeface="Arial"/>
                          <a:cs typeface="Arial"/>
                        </a:rPr>
                        <a:t>0</a:t>
                      </a:r>
                      <a:endParaRPr sz="1400">
                        <a:latin typeface="Arial"/>
                        <a:cs typeface="Arial"/>
                      </a:endParaRPr>
                    </a:p>
                  </a:txBody>
                  <a:tcPr marL="0" marR="0" marT="133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53975" algn="ctr">
                        <a:lnSpc>
                          <a:spcPct val="100000"/>
                        </a:lnSpc>
                        <a:spcBef>
                          <a:spcPts val="105"/>
                        </a:spcBef>
                      </a:pPr>
                      <a:r>
                        <a:rPr sz="1400" spc="-50" dirty="0">
                          <a:latin typeface="Arial"/>
                          <a:cs typeface="Arial"/>
                        </a:rPr>
                        <a:t>1</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L="29209" algn="ctr">
                        <a:lnSpc>
                          <a:spcPct val="100000"/>
                        </a:lnSpc>
                        <a:spcBef>
                          <a:spcPts val="105"/>
                        </a:spcBef>
                      </a:pPr>
                      <a:r>
                        <a:rPr sz="1400" spc="-50" dirty="0">
                          <a:latin typeface="Arial"/>
                          <a:cs typeface="Arial"/>
                        </a:rPr>
                        <a:t>x</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L="112395">
                        <a:lnSpc>
                          <a:spcPct val="100000"/>
                        </a:lnSpc>
                        <a:spcBef>
                          <a:spcPts val="105"/>
                        </a:spcBef>
                      </a:pPr>
                      <a:r>
                        <a:rPr sz="1400" spc="-50" dirty="0">
                          <a:latin typeface="Arial"/>
                          <a:cs typeface="Arial"/>
                        </a:rPr>
                        <a:t>x</a:t>
                      </a:r>
                      <a:endParaRPr sz="1400">
                        <a:latin typeface="Arial"/>
                        <a:cs typeface="Arial"/>
                      </a:endParaRPr>
                    </a:p>
                  </a:txBody>
                  <a:tcPr marL="0" marR="0" marT="1333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92075" algn="r">
                        <a:lnSpc>
                          <a:spcPct val="100000"/>
                        </a:lnSpc>
                        <a:spcBef>
                          <a:spcPts val="105"/>
                        </a:spcBef>
                      </a:pPr>
                      <a:r>
                        <a:rPr sz="1400" spc="-50" dirty="0">
                          <a:latin typeface="Arial"/>
                          <a:cs typeface="Arial"/>
                        </a:rPr>
                        <a:t>0</a:t>
                      </a:r>
                      <a:endParaRPr sz="1400">
                        <a:latin typeface="Arial"/>
                        <a:cs typeface="Arial"/>
                      </a:endParaRPr>
                    </a:p>
                  </a:txBody>
                  <a:tcPr marL="0" marR="0" marT="133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99695">
                        <a:lnSpc>
                          <a:spcPct val="100000"/>
                        </a:lnSpc>
                        <a:spcBef>
                          <a:spcPts val="105"/>
                        </a:spcBef>
                      </a:pPr>
                      <a:r>
                        <a:rPr sz="1400" spc="-50" dirty="0">
                          <a:latin typeface="Arial"/>
                          <a:cs typeface="Arial"/>
                        </a:rPr>
                        <a:t>1</a:t>
                      </a:r>
                      <a:endParaRPr sz="1400">
                        <a:latin typeface="Arial"/>
                        <a:cs typeface="Arial"/>
                      </a:endParaRPr>
                    </a:p>
                  </a:txBody>
                  <a:tcPr marL="0" marR="0" marT="13335" marB="0">
                    <a:lnT w="12700">
                      <a:solidFill>
                        <a:srgbClr val="000000"/>
                      </a:solidFill>
                      <a:prstDash val="solid"/>
                    </a:lnT>
                    <a:lnB w="12700">
                      <a:solidFill>
                        <a:srgbClr val="000000"/>
                      </a:solidFill>
                      <a:prstDash val="solid"/>
                    </a:lnB>
                  </a:tcPr>
                </a:tc>
                <a:tc>
                  <a:txBody>
                    <a:bodyPr/>
                    <a:lstStyle/>
                    <a:p>
                      <a:pPr marL="99695">
                        <a:lnSpc>
                          <a:spcPct val="100000"/>
                        </a:lnSpc>
                        <a:spcBef>
                          <a:spcPts val="105"/>
                        </a:spcBef>
                      </a:pPr>
                      <a:r>
                        <a:rPr sz="1400" spc="-50" dirty="0">
                          <a:latin typeface="Arial"/>
                          <a:cs typeface="Arial"/>
                        </a:rPr>
                        <a:t>1</a:t>
                      </a:r>
                      <a:endParaRPr sz="1400">
                        <a:latin typeface="Arial"/>
                        <a:cs typeface="Arial"/>
                      </a:endParaRPr>
                    </a:p>
                  </a:txBody>
                  <a:tcPr marL="0" marR="0" marT="13335"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83540">
                <a:tc>
                  <a:txBody>
                    <a:bodyPr/>
                    <a:lstStyle/>
                    <a:p>
                      <a:pPr marR="10477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53975" algn="ct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39370" algn="ctr">
                        <a:lnSpc>
                          <a:spcPct val="100000"/>
                        </a:lnSpc>
                        <a:spcBef>
                          <a:spcPts val="110"/>
                        </a:spcBef>
                      </a:pPr>
                      <a:r>
                        <a:rPr sz="1400" spc="-50" dirty="0">
                          <a:latin typeface="Arial"/>
                          <a:cs typeface="Arial"/>
                        </a:rPr>
                        <a:t>1</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122555">
                        <a:lnSpc>
                          <a:spcPct val="100000"/>
                        </a:lnSpc>
                        <a:spcBef>
                          <a:spcPts val="110"/>
                        </a:spcBef>
                      </a:pPr>
                      <a:r>
                        <a:rPr sz="1400" spc="-50" dirty="0">
                          <a:latin typeface="Arial"/>
                          <a:cs typeface="Arial"/>
                        </a:rPr>
                        <a:t>x</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9207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99695">
                        <a:lnSpc>
                          <a:spcPct val="100000"/>
                        </a:lnSpc>
                        <a:spcBef>
                          <a:spcPts val="110"/>
                        </a:spcBef>
                      </a:pPr>
                      <a:r>
                        <a:rPr sz="1400" spc="-50" dirty="0">
                          <a:latin typeface="Arial"/>
                          <a:cs typeface="Arial"/>
                        </a:rPr>
                        <a:t>1</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99695">
                        <a:lnSpc>
                          <a:spcPct val="100000"/>
                        </a:lnSpc>
                        <a:spcBef>
                          <a:spcPts val="110"/>
                        </a:spcBef>
                      </a:pPr>
                      <a:r>
                        <a:rPr sz="1400" spc="-50" dirty="0">
                          <a:latin typeface="Arial"/>
                          <a:cs typeface="Arial"/>
                        </a:rPr>
                        <a:t>0</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83540">
                <a:tc>
                  <a:txBody>
                    <a:bodyPr/>
                    <a:lstStyle/>
                    <a:p>
                      <a:pPr marR="11239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38735" algn="ct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24130" algn="ct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114935">
                        <a:lnSpc>
                          <a:spcPct val="100000"/>
                        </a:lnSpc>
                        <a:spcBef>
                          <a:spcPts val="110"/>
                        </a:spcBef>
                      </a:pPr>
                      <a:r>
                        <a:rPr sz="1400" spc="-50" dirty="0">
                          <a:latin typeface="Arial"/>
                          <a:cs typeface="Arial"/>
                        </a:rPr>
                        <a:t>1</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9207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99695">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99695">
                        <a:lnSpc>
                          <a:spcPct val="100000"/>
                        </a:lnSpc>
                        <a:spcBef>
                          <a:spcPts val="110"/>
                        </a:spcBef>
                      </a:pPr>
                      <a:r>
                        <a:rPr sz="1400" spc="-50" dirty="0">
                          <a:latin typeface="Arial"/>
                          <a:cs typeface="Arial"/>
                        </a:rPr>
                        <a:t>1</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84810">
                <a:tc>
                  <a:txBody>
                    <a:bodyPr/>
                    <a:lstStyle/>
                    <a:p>
                      <a:pPr marR="11239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38735" algn="ct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24130" algn="ct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114935">
                        <a:lnSpc>
                          <a:spcPct val="100000"/>
                        </a:lnSpc>
                        <a:spcBef>
                          <a:spcPts val="110"/>
                        </a:spcBef>
                      </a:pPr>
                      <a:r>
                        <a:rPr sz="1400" spc="-50" dirty="0">
                          <a:latin typeface="Arial"/>
                          <a:cs typeface="Arial"/>
                        </a:rPr>
                        <a:t>0</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92075" algn="r">
                        <a:lnSpc>
                          <a:spcPct val="100000"/>
                        </a:lnSpc>
                        <a:spcBef>
                          <a:spcPts val="110"/>
                        </a:spcBef>
                      </a:pPr>
                      <a:r>
                        <a:rPr sz="1400" spc="-50" dirty="0">
                          <a:latin typeface="Arial"/>
                          <a:cs typeface="Arial"/>
                        </a:rPr>
                        <a:t>0</a:t>
                      </a:r>
                      <a:endParaRPr sz="1400">
                        <a:latin typeface="Arial"/>
                        <a:cs typeface="Arial"/>
                      </a:endParaRPr>
                    </a:p>
                  </a:txBody>
                  <a:tcPr marL="0" marR="0" marT="1397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R="92075" algn="r">
                        <a:lnSpc>
                          <a:spcPct val="100000"/>
                        </a:lnSpc>
                        <a:spcBef>
                          <a:spcPts val="110"/>
                        </a:spcBef>
                      </a:pPr>
                      <a:r>
                        <a:rPr sz="1400" spc="-50" dirty="0">
                          <a:latin typeface="Arial"/>
                          <a:cs typeface="Arial"/>
                        </a:rPr>
                        <a:t>0</a:t>
                      </a:r>
                      <a:endParaRPr sz="1400">
                        <a:latin typeface="Arial"/>
                        <a:cs typeface="Arial"/>
                      </a:endParaRPr>
                    </a:p>
                  </a:txBody>
                  <a:tcPr marL="0" marR="0" marT="13970" marB="0">
                    <a:lnT w="12700">
                      <a:solidFill>
                        <a:srgbClr val="000000"/>
                      </a:solidFill>
                      <a:prstDash val="solid"/>
                    </a:lnT>
                    <a:lnB w="12700">
                      <a:solidFill>
                        <a:srgbClr val="000000"/>
                      </a:solidFill>
                      <a:prstDash val="solid"/>
                    </a:lnB>
                  </a:tcPr>
                </a:tc>
                <a:tc>
                  <a:txBody>
                    <a:bodyPr/>
                    <a:lstStyle/>
                    <a:p>
                      <a:pPr marL="99695">
                        <a:lnSpc>
                          <a:spcPct val="100000"/>
                        </a:lnSpc>
                        <a:spcBef>
                          <a:spcPts val="110"/>
                        </a:spcBef>
                      </a:pPr>
                      <a:r>
                        <a:rPr sz="1400" spc="-50" dirty="0">
                          <a:latin typeface="Arial"/>
                          <a:cs typeface="Arial"/>
                        </a:rPr>
                        <a:t>0</a:t>
                      </a:r>
                      <a:endParaRPr sz="1400">
                        <a:latin typeface="Arial"/>
                        <a:cs typeface="Arial"/>
                      </a:endParaRPr>
                    </a:p>
                  </a:txBody>
                  <a:tcPr marL="0" marR="0" marT="1397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72263" y="1969007"/>
            <a:ext cx="4184650" cy="4124325"/>
            <a:chOff x="6072263" y="1969007"/>
            <a:chExt cx="4184650" cy="4124325"/>
          </a:xfrm>
        </p:grpSpPr>
        <p:sp>
          <p:nvSpPr>
            <p:cNvPr id="3" name="object 3"/>
            <p:cNvSpPr/>
            <p:nvPr/>
          </p:nvSpPr>
          <p:spPr>
            <a:xfrm>
              <a:off x="6077597" y="1974341"/>
              <a:ext cx="4173220" cy="4113529"/>
            </a:xfrm>
            <a:custGeom>
              <a:avLst/>
              <a:gdLst/>
              <a:ahLst/>
              <a:cxnLst/>
              <a:rect l="l" t="t" r="r" b="b"/>
              <a:pathLst>
                <a:path w="4173220" h="4113529">
                  <a:moveTo>
                    <a:pt x="4172712" y="4113276"/>
                  </a:moveTo>
                  <a:lnTo>
                    <a:pt x="4172712" y="0"/>
                  </a:lnTo>
                  <a:lnTo>
                    <a:pt x="0" y="0"/>
                  </a:lnTo>
                  <a:lnTo>
                    <a:pt x="0" y="4113276"/>
                  </a:lnTo>
                  <a:lnTo>
                    <a:pt x="4172712" y="4113276"/>
                  </a:lnTo>
                  <a:close/>
                </a:path>
              </a:pathLst>
            </a:custGeom>
            <a:solidFill>
              <a:srgbClr val="F9FABA"/>
            </a:solidFill>
          </p:spPr>
          <p:txBody>
            <a:bodyPr wrap="square" lIns="0" tIns="0" rIns="0" bIns="0" rtlCol="0"/>
            <a:lstStyle/>
            <a:p>
              <a:endParaRPr/>
            </a:p>
          </p:txBody>
        </p:sp>
        <p:sp>
          <p:nvSpPr>
            <p:cNvPr id="4" name="object 4"/>
            <p:cNvSpPr/>
            <p:nvPr/>
          </p:nvSpPr>
          <p:spPr>
            <a:xfrm>
              <a:off x="6072263" y="1969007"/>
              <a:ext cx="4184650" cy="4124325"/>
            </a:xfrm>
            <a:custGeom>
              <a:avLst/>
              <a:gdLst/>
              <a:ahLst/>
              <a:cxnLst/>
              <a:rect l="l" t="t" r="r" b="b"/>
              <a:pathLst>
                <a:path w="4184650" h="4124325">
                  <a:moveTo>
                    <a:pt x="4184141" y="4121658"/>
                  </a:moveTo>
                  <a:lnTo>
                    <a:pt x="4184141" y="2285"/>
                  </a:lnTo>
                  <a:lnTo>
                    <a:pt x="4181094" y="0"/>
                  </a:lnTo>
                  <a:lnTo>
                    <a:pt x="2285" y="0"/>
                  </a:lnTo>
                  <a:lnTo>
                    <a:pt x="0" y="2286"/>
                  </a:lnTo>
                  <a:lnTo>
                    <a:pt x="0" y="4121658"/>
                  </a:lnTo>
                  <a:lnTo>
                    <a:pt x="2286" y="4123944"/>
                  </a:lnTo>
                  <a:lnTo>
                    <a:pt x="5334" y="4123944"/>
                  </a:lnTo>
                  <a:lnTo>
                    <a:pt x="5334" y="10668"/>
                  </a:lnTo>
                  <a:lnTo>
                    <a:pt x="10667" y="5334"/>
                  </a:lnTo>
                  <a:lnTo>
                    <a:pt x="10667" y="10668"/>
                  </a:lnTo>
                  <a:lnTo>
                    <a:pt x="4172712" y="10667"/>
                  </a:lnTo>
                  <a:lnTo>
                    <a:pt x="4172712" y="5333"/>
                  </a:lnTo>
                  <a:lnTo>
                    <a:pt x="4178046" y="10667"/>
                  </a:lnTo>
                  <a:lnTo>
                    <a:pt x="4178046" y="4123944"/>
                  </a:lnTo>
                  <a:lnTo>
                    <a:pt x="4181094" y="4123944"/>
                  </a:lnTo>
                  <a:lnTo>
                    <a:pt x="4184141" y="4121658"/>
                  </a:lnTo>
                  <a:close/>
                </a:path>
                <a:path w="4184650" h="4124325">
                  <a:moveTo>
                    <a:pt x="10667" y="10668"/>
                  </a:moveTo>
                  <a:lnTo>
                    <a:pt x="10667" y="5334"/>
                  </a:lnTo>
                  <a:lnTo>
                    <a:pt x="5334" y="10668"/>
                  </a:lnTo>
                  <a:lnTo>
                    <a:pt x="10667" y="10668"/>
                  </a:lnTo>
                  <a:close/>
                </a:path>
                <a:path w="4184650" h="4124325">
                  <a:moveTo>
                    <a:pt x="10667" y="4113276"/>
                  </a:moveTo>
                  <a:lnTo>
                    <a:pt x="10667" y="10668"/>
                  </a:lnTo>
                  <a:lnTo>
                    <a:pt x="5334" y="10668"/>
                  </a:lnTo>
                  <a:lnTo>
                    <a:pt x="5334" y="4113276"/>
                  </a:lnTo>
                  <a:lnTo>
                    <a:pt x="10667" y="4113276"/>
                  </a:lnTo>
                  <a:close/>
                </a:path>
                <a:path w="4184650" h="4124325">
                  <a:moveTo>
                    <a:pt x="4178046" y="4113276"/>
                  </a:moveTo>
                  <a:lnTo>
                    <a:pt x="5334" y="4113276"/>
                  </a:lnTo>
                  <a:lnTo>
                    <a:pt x="10667" y="4118609"/>
                  </a:lnTo>
                  <a:lnTo>
                    <a:pt x="10667" y="4123944"/>
                  </a:lnTo>
                  <a:lnTo>
                    <a:pt x="4172712" y="4123944"/>
                  </a:lnTo>
                  <a:lnTo>
                    <a:pt x="4172712" y="4118610"/>
                  </a:lnTo>
                  <a:lnTo>
                    <a:pt x="4178046" y="4113276"/>
                  </a:lnTo>
                  <a:close/>
                </a:path>
                <a:path w="4184650" h="4124325">
                  <a:moveTo>
                    <a:pt x="10667" y="4123944"/>
                  </a:moveTo>
                  <a:lnTo>
                    <a:pt x="10667" y="4118609"/>
                  </a:lnTo>
                  <a:lnTo>
                    <a:pt x="5334" y="4113276"/>
                  </a:lnTo>
                  <a:lnTo>
                    <a:pt x="5334" y="4123944"/>
                  </a:lnTo>
                  <a:lnTo>
                    <a:pt x="10667" y="4123944"/>
                  </a:lnTo>
                  <a:close/>
                </a:path>
                <a:path w="4184650" h="4124325">
                  <a:moveTo>
                    <a:pt x="4178046" y="10667"/>
                  </a:moveTo>
                  <a:lnTo>
                    <a:pt x="4172712" y="5333"/>
                  </a:lnTo>
                  <a:lnTo>
                    <a:pt x="4172712" y="10667"/>
                  </a:lnTo>
                  <a:lnTo>
                    <a:pt x="4178046" y="10667"/>
                  </a:lnTo>
                  <a:close/>
                </a:path>
                <a:path w="4184650" h="4124325">
                  <a:moveTo>
                    <a:pt x="4178046" y="4113276"/>
                  </a:moveTo>
                  <a:lnTo>
                    <a:pt x="4178046" y="10667"/>
                  </a:lnTo>
                  <a:lnTo>
                    <a:pt x="4172712" y="10667"/>
                  </a:lnTo>
                  <a:lnTo>
                    <a:pt x="4172712" y="4113276"/>
                  </a:lnTo>
                  <a:lnTo>
                    <a:pt x="4178046" y="4113276"/>
                  </a:lnTo>
                  <a:close/>
                </a:path>
                <a:path w="4184650" h="4124325">
                  <a:moveTo>
                    <a:pt x="4178046" y="4123944"/>
                  </a:moveTo>
                  <a:lnTo>
                    <a:pt x="4178046" y="4113276"/>
                  </a:lnTo>
                  <a:lnTo>
                    <a:pt x="4172712" y="4118610"/>
                  </a:lnTo>
                  <a:lnTo>
                    <a:pt x="4172712" y="4123944"/>
                  </a:lnTo>
                  <a:lnTo>
                    <a:pt x="4178046" y="4123944"/>
                  </a:lnTo>
                  <a:close/>
                </a:path>
              </a:pathLst>
            </a:custGeom>
            <a:solidFill>
              <a:srgbClr val="000000"/>
            </a:solidFill>
          </p:spPr>
          <p:txBody>
            <a:bodyPr wrap="square" lIns="0" tIns="0" rIns="0" bIns="0" rtlCol="0"/>
            <a:lstStyle/>
            <a:p>
              <a:endParaRPr/>
            </a:p>
          </p:txBody>
        </p:sp>
      </p:grpSp>
      <p:sp>
        <p:nvSpPr>
          <p:cNvPr id="5" name="object 5"/>
          <p:cNvSpPr txBox="1"/>
          <p:nvPr/>
        </p:nvSpPr>
        <p:spPr>
          <a:xfrm>
            <a:off x="8081878" y="2871524"/>
            <a:ext cx="1473835" cy="280035"/>
          </a:xfrm>
          <a:prstGeom prst="rect">
            <a:avLst/>
          </a:prstGeom>
        </p:spPr>
        <p:txBody>
          <a:bodyPr vert="horz" wrap="square" lIns="0" tIns="14604" rIns="0" bIns="0" rtlCol="0">
            <a:spAutoFit/>
          </a:bodyPr>
          <a:lstStyle/>
          <a:p>
            <a:pPr marL="12700">
              <a:lnSpc>
                <a:spcPct val="100000"/>
              </a:lnSpc>
              <a:spcBef>
                <a:spcPts val="114"/>
              </a:spcBef>
            </a:pPr>
            <a:r>
              <a:rPr sz="1550" spc="10" dirty="0">
                <a:solidFill>
                  <a:srgbClr val="00B0EF"/>
                </a:solidFill>
                <a:latin typeface="Arial"/>
                <a:cs typeface="Arial"/>
              </a:rPr>
              <a:t>// </a:t>
            </a:r>
            <a:r>
              <a:rPr sz="1650" i="1" spc="-145" dirty="0">
                <a:solidFill>
                  <a:srgbClr val="00B0EF"/>
                </a:solidFill>
                <a:latin typeface="宋体"/>
                <a:cs typeface="宋体"/>
              </a:rPr>
              <a:t>可以写成 </a:t>
            </a:r>
            <a:r>
              <a:rPr sz="1550" i="1" spc="-10" dirty="0">
                <a:solidFill>
                  <a:srgbClr val="00B0EF"/>
                </a:solidFill>
                <a:latin typeface="Arial"/>
                <a:cs typeface="Arial"/>
              </a:rPr>
              <a:t>(r[3])</a:t>
            </a:r>
            <a:endParaRPr sz="1550">
              <a:latin typeface="Arial"/>
              <a:cs typeface="Arial"/>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6534263" y="2834625"/>
            <a:ext cx="1283970" cy="603250"/>
          </a:xfrm>
          <a:prstGeom prst="rect">
            <a:avLst/>
          </a:prstGeom>
        </p:spPr>
        <p:txBody>
          <a:bodyPr vert="horz" wrap="square" lIns="0" tIns="11430" rIns="0" bIns="0" rtlCol="0">
            <a:spAutoFit/>
          </a:bodyPr>
          <a:lstStyle/>
          <a:p>
            <a:pPr marL="291465" marR="5080" indent="-279400">
              <a:lnSpc>
                <a:spcPct val="122300"/>
              </a:lnSpc>
              <a:spcBef>
                <a:spcPts val="90"/>
              </a:spcBef>
            </a:pPr>
            <a:r>
              <a:rPr sz="1550" b="1" dirty="0">
                <a:latin typeface="Arial"/>
                <a:cs typeface="Arial"/>
              </a:rPr>
              <a:t>if</a:t>
            </a:r>
            <a:r>
              <a:rPr sz="1550" b="1" spc="15" dirty="0">
                <a:latin typeface="Arial"/>
                <a:cs typeface="Arial"/>
              </a:rPr>
              <a:t> </a:t>
            </a:r>
            <a:r>
              <a:rPr sz="1550" spc="-10" dirty="0">
                <a:latin typeface="Arial"/>
                <a:cs typeface="Arial"/>
              </a:rPr>
              <a:t>(r[3]==1’b1) </a:t>
            </a:r>
            <a:r>
              <a:rPr sz="1550" dirty="0">
                <a:latin typeface="Arial"/>
                <a:cs typeface="Arial"/>
              </a:rPr>
              <a:t>y</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3'b100;</a:t>
            </a:r>
            <a:endParaRPr sz="1550">
              <a:latin typeface="Arial"/>
              <a:cs typeface="Arial"/>
            </a:endParaRPr>
          </a:p>
        </p:txBody>
      </p:sp>
      <p:sp>
        <p:nvSpPr>
          <p:cNvPr id="7" name="object 7"/>
          <p:cNvSpPr txBox="1"/>
          <p:nvPr/>
        </p:nvSpPr>
        <p:spPr>
          <a:xfrm>
            <a:off x="8366135" y="3449113"/>
            <a:ext cx="1473200" cy="280035"/>
          </a:xfrm>
          <a:prstGeom prst="rect">
            <a:avLst/>
          </a:prstGeom>
        </p:spPr>
        <p:txBody>
          <a:bodyPr vert="horz" wrap="square" lIns="0" tIns="14604" rIns="0" bIns="0" rtlCol="0">
            <a:spAutoFit/>
          </a:bodyPr>
          <a:lstStyle/>
          <a:p>
            <a:pPr marL="12700">
              <a:lnSpc>
                <a:spcPct val="100000"/>
              </a:lnSpc>
              <a:spcBef>
                <a:spcPts val="114"/>
              </a:spcBef>
            </a:pPr>
            <a:r>
              <a:rPr sz="1550" spc="5" dirty="0">
                <a:solidFill>
                  <a:srgbClr val="00B0EF"/>
                </a:solidFill>
                <a:latin typeface="Arial"/>
                <a:cs typeface="Arial"/>
              </a:rPr>
              <a:t>// </a:t>
            </a:r>
            <a:r>
              <a:rPr sz="1650" i="1" spc="-145" dirty="0">
                <a:solidFill>
                  <a:srgbClr val="00B0EF"/>
                </a:solidFill>
                <a:latin typeface="宋体"/>
                <a:cs typeface="宋体"/>
              </a:rPr>
              <a:t>可以写成 </a:t>
            </a:r>
            <a:r>
              <a:rPr sz="1550" i="1" spc="-10" dirty="0">
                <a:solidFill>
                  <a:srgbClr val="00B0EF"/>
                </a:solidFill>
                <a:latin typeface="Arial"/>
                <a:cs typeface="Arial"/>
              </a:rPr>
              <a:t>(r[2])</a:t>
            </a:r>
            <a:endParaRPr sz="1550">
              <a:latin typeface="Arial"/>
              <a:cs typeface="Arial"/>
            </a:endParaRPr>
          </a:p>
        </p:txBody>
      </p:sp>
      <p:sp>
        <p:nvSpPr>
          <p:cNvPr id="8" name="object 8"/>
          <p:cNvSpPr txBox="1"/>
          <p:nvPr/>
        </p:nvSpPr>
        <p:spPr>
          <a:xfrm>
            <a:off x="8409572" y="4025948"/>
            <a:ext cx="1473200" cy="280035"/>
          </a:xfrm>
          <a:prstGeom prst="rect">
            <a:avLst/>
          </a:prstGeom>
        </p:spPr>
        <p:txBody>
          <a:bodyPr vert="horz" wrap="square" lIns="0" tIns="14604" rIns="0" bIns="0" rtlCol="0">
            <a:spAutoFit/>
          </a:bodyPr>
          <a:lstStyle/>
          <a:p>
            <a:pPr marL="12700">
              <a:lnSpc>
                <a:spcPct val="100000"/>
              </a:lnSpc>
              <a:spcBef>
                <a:spcPts val="114"/>
              </a:spcBef>
            </a:pPr>
            <a:r>
              <a:rPr sz="1550" spc="5" dirty="0">
                <a:solidFill>
                  <a:srgbClr val="00B0EF"/>
                </a:solidFill>
                <a:latin typeface="Arial"/>
                <a:cs typeface="Arial"/>
              </a:rPr>
              <a:t>// </a:t>
            </a:r>
            <a:r>
              <a:rPr sz="1650" i="1" spc="-145" dirty="0">
                <a:solidFill>
                  <a:srgbClr val="00B0EF"/>
                </a:solidFill>
                <a:latin typeface="宋体"/>
                <a:cs typeface="宋体"/>
              </a:rPr>
              <a:t>可以写成 </a:t>
            </a:r>
            <a:r>
              <a:rPr sz="1550" i="1" spc="-10" dirty="0">
                <a:solidFill>
                  <a:srgbClr val="00B0EF"/>
                </a:solidFill>
                <a:latin typeface="Arial"/>
                <a:cs typeface="Arial"/>
              </a:rPr>
              <a:t>(r[1])</a:t>
            </a:r>
            <a:endParaRPr sz="1550">
              <a:latin typeface="Arial"/>
              <a:cs typeface="Arial"/>
            </a:endParaRPr>
          </a:p>
        </p:txBody>
      </p:sp>
      <p:sp>
        <p:nvSpPr>
          <p:cNvPr id="9" name="object 9"/>
          <p:cNvSpPr txBox="1"/>
          <p:nvPr/>
        </p:nvSpPr>
        <p:spPr>
          <a:xfrm>
            <a:off x="8409578" y="4603543"/>
            <a:ext cx="1473200" cy="280035"/>
          </a:xfrm>
          <a:prstGeom prst="rect">
            <a:avLst/>
          </a:prstGeom>
        </p:spPr>
        <p:txBody>
          <a:bodyPr vert="horz" wrap="square" lIns="0" tIns="14604" rIns="0" bIns="0" rtlCol="0">
            <a:spAutoFit/>
          </a:bodyPr>
          <a:lstStyle/>
          <a:p>
            <a:pPr marL="12700">
              <a:lnSpc>
                <a:spcPct val="100000"/>
              </a:lnSpc>
              <a:spcBef>
                <a:spcPts val="114"/>
              </a:spcBef>
            </a:pPr>
            <a:r>
              <a:rPr sz="1550" spc="5" dirty="0">
                <a:solidFill>
                  <a:srgbClr val="00B0EF"/>
                </a:solidFill>
                <a:latin typeface="Arial"/>
                <a:cs typeface="Arial"/>
              </a:rPr>
              <a:t>// </a:t>
            </a:r>
            <a:r>
              <a:rPr sz="1650" i="1" spc="-145" dirty="0">
                <a:solidFill>
                  <a:srgbClr val="00B0EF"/>
                </a:solidFill>
                <a:latin typeface="宋体"/>
                <a:cs typeface="宋体"/>
              </a:rPr>
              <a:t>可以写成 </a:t>
            </a:r>
            <a:r>
              <a:rPr sz="1550" i="1" spc="-10" dirty="0">
                <a:solidFill>
                  <a:srgbClr val="00B0EF"/>
                </a:solidFill>
                <a:latin typeface="Arial"/>
                <a:cs typeface="Arial"/>
              </a:rPr>
              <a:t>(r[0])</a:t>
            </a:r>
            <a:endParaRPr sz="1550">
              <a:latin typeface="Arial"/>
              <a:cs typeface="Arial"/>
            </a:endParaRPr>
          </a:p>
        </p:txBody>
      </p:sp>
      <p:sp>
        <p:nvSpPr>
          <p:cNvPr id="10" name="object 10"/>
          <p:cNvSpPr txBox="1"/>
          <p:nvPr/>
        </p:nvSpPr>
        <p:spPr>
          <a:xfrm>
            <a:off x="6367421" y="3412968"/>
            <a:ext cx="1901825" cy="2600325"/>
          </a:xfrm>
          <a:prstGeom prst="rect">
            <a:avLst/>
          </a:prstGeom>
        </p:spPr>
        <p:txBody>
          <a:bodyPr vert="horz" wrap="square" lIns="0" tIns="12065" rIns="0" bIns="0" rtlCol="0">
            <a:spAutoFit/>
          </a:bodyPr>
          <a:lstStyle/>
          <a:p>
            <a:pPr marL="457834" marR="48260" indent="-273685">
              <a:lnSpc>
                <a:spcPct val="121900"/>
              </a:lnSpc>
              <a:spcBef>
                <a:spcPts val="95"/>
              </a:spcBef>
            </a:pPr>
            <a:r>
              <a:rPr sz="1550" b="1" dirty="0">
                <a:latin typeface="Arial"/>
                <a:cs typeface="Arial"/>
              </a:rPr>
              <a:t>else</a:t>
            </a:r>
            <a:r>
              <a:rPr sz="1550" b="1" spc="20" dirty="0">
                <a:latin typeface="Arial"/>
                <a:cs typeface="Arial"/>
              </a:rPr>
              <a:t> </a:t>
            </a:r>
            <a:r>
              <a:rPr sz="1550" b="1" dirty="0">
                <a:latin typeface="Arial"/>
                <a:cs typeface="Arial"/>
              </a:rPr>
              <a:t>if</a:t>
            </a:r>
            <a:r>
              <a:rPr sz="1550" b="1" spc="25" dirty="0">
                <a:latin typeface="Arial"/>
                <a:cs typeface="Arial"/>
              </a:rPr>
              <a:t> </a:t>
            </a:r>
            <a:r>
              <a:rPr sz="1550" spc="-10" dirty="0">
                <a:latin typeface="Arial"/>
                <a:cs typeface="Arial"/>
              </a:rPr>
              <a:t>(r[2]==1’b1) </a:t>
            </a:r>
            <a:r>
              <a:rPr sz="1550" dirty="0">
                <a:latin typeface="Arial"/>
                <a:cs typeface="Arial"/>
              </a:rPr>
              <a:t>y</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3'b011;</a:t>
            </a:r>
            <a:endParaRPr sz="1550">
              <a:latin typeface="Arial"/>
              <a:cs typeface="Arial"/>
            </a:endParaRPr>
          </a:p>
          <a:p>
            <a:pPr marL="457834" marR="5080" indent="-223520">
              <a:lnSpc>
                <a:spcPct val="122300"/>
              </a:lnSpc>
            </a:pPr>
            <a:r>
              <a:rPr sz="1550" b="1" dirty="0">
                <a:latin typeface="Arial"/>
                <a:cs typeface="Arial"/>
              </a:rPr>
              <a:t>else</a:t>
            </a:r>
            <a:r>
              <a:rPr sz="1550" b="1" spc="20" dirty="0">
                <a:latin typeface="Arial"/>
                <a:cs typeface="Arial"/>
              </a:rPr>
              <a:t> </a:t>
            </a:r>
            <a:r>
              <a:rPr sz="1550" b="1" dirty="0">
                <a:latin typeface="Arial"/>
                <a:cs typeface="Arial"/>
              </a:rPr>
              <a:t>if</a:t>
            </a:r>
            <a:r>
              <a:rPr sz="1550" b="1" spc="25" dirty="0">
                <a:latin typeface="Arial"/>
                <a:cs typeface="Arial"/>
              </a:rPr>
              <a:t> </a:t>
            </a:r>
            <a:r>
              <a:rPr sz="1550" spc="-10" dirty="0">
                <a:latin typeface="Arial"/>
                <a:cs typeface="Arial"/>
              </a:rPr>
              <a:t>(r[1]==1'b1) </a:t>
            </a:r>
            <a:r>
              <a:rPr sz="1550" dirty="0">
                <a:latin typeface="Arial"/>
                <a:cs typeface="Arial"/>
              </a:rPr>
              <a:t>y</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3'b010;</a:t>
            </a:r>
            <a:endParaRPr sz="1550">
              <a:latin typeface="Arial"/>
              <a:cs typeface="Arial"/>
            </a:endParaRPr>
          </a:p>
          <a:p>
            <a:pPr marL="457834" marR="5080" indent="-223520">
              <a:lnSpc>
                <a:spcPct val="121900"/>
              </a:lnSpc>
              <a:spcBef>
                <a:spcPts val="5"/>
              </a:spcBef>
            </a:pPr>
            <a:r>
              <a:rPr sz="1550" b="1" dirty="0">
                <a:latin typeface="Arial"/>
                <a:cs typeface="Arial"/>
              </a:rPr>
              <a:t>else</a:t>
            </a:r>
            <a:r>
              <a:rPr sz="1550" b="1" spc="20" dirty="0">
                <a:latin typeface="Arial"/>
                <a:cs typeface="Arial"/>
              </a:rPr>
              <a:t> </a:t>
            </a:r>
            <a:r>
              <a:rPr sz="1550" b="1" dirty="0">
                <a:latin typeface="Arial"/>
                <a:cs typeface="Arial"/>
              </a:rPr>
              <a:t>if</a:t>
            </a:r>
            <a:r>
              <a:rPr sz="1550" b="1" spc="25" dirty="0">
                <a:latin typeface="Arial"/>
                <a:cs typeface="Arial"/>
              </a:rPr>
              <a:t> </a:t>
            </a:r>
            <a:r>
              <a:rPr sz="1550" spc="-10" dirty="0">
                <a:latin typeface="Arial"/>
                <a:cs typeface="Arial"/>
              </a:rPr>
              <a:t>(r[0]==1'b1) </a:t>
            </a:r>
            <a:r>
              <a:rPr sz="1550" dirty="0">
                <a:latin typeface="Arial"/>
                <a:cs typeface="Arial"/>
              </a:rPr>
              <a:t>y</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3'b001;</a:t>
            </a:r>
            <a:endParaRPr sz="1550">
              <a:latin typeface="Arial"/>
              <a:cs typeface="Arial"/>
            </a:endParaRPr>
          </a:p>
          <a:p>
            <a:pPr marL="291465">
              <a:lnSpc>
                <a:spcPct val="100000"/>
              </a:lnSpc>
              <a:spcBef>
                <a:spcPts val="415"/>
              </a:spcBef>
            </a:pPr>
            <a:r>
              <a:rPr sz="1550" b="1" spc="-20" dirty="0">
                <a:latin typeface="Arial"/>
                <a:cs typeface="Arial"/>
              </a:rPr>
              <a:t>else</a:t>
            </a:r>
            <a:endParaRPr sz="1550">
              <a:latin typeface="Arial"/>
              <a:cs typeface="Arial"/>
            </a:endParaRPr>
          </a:p>
          <a:p>
            <a:pPr marL="457834">
              <a:lnSpc>
                <a:spcPct val="100000"/>
              </a:lnSpc>
              <a:spcBef>
                <a:spcPts val="414"/>
              </a:spcBef>
            </a:pPr>
            <a:r>
              <a:rPr sz="1550" dirty="0">
                <a:latin typeface="Arial"/>
                <a:cs typeface="Arial"/>
              </a:rPr>
              <a:t>y</a:t>
            </a:r>
            <a:r>
              <a:rPr sz="1550" spc="1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3'b000;</a:t>
            </a:r>
            <a:endParaRPr sz="1550">
              <a:latin typeface="Arial"/>
              <a:cs typeface="Arial"/>
            </a:endParaRPr>
          </a:p>
          <a:p>
            <a:pPr marL="12700">
              <a:lnSpc>
                <a:spcPct val="100000"/>
              </a:lnSpc>
              <a:spcBef>
                <a:spcPts val="240"/>
              </a:spcBef>
            </a:pPr>
            <a:r>
              <a:rPr sz="1550" b="1" spc="-10" dirty="0">
                <a:latin typeface="Arial"/>
                <a:cs typeface="Arial"/>
              </a:rPr>
              <a:t>endmodule</a:t>
            </a:r>
            <a:endParaRPr sz="1550">
              <a:latin typeface="Arial"/>
              <a:cs typeface="Arial"/>
            </a:endParaRPr>
          </a:p>
        </p:txBody>
      </p:sp>
      <p:sp>
        <p:nvSpPr>
          <p:cNvPr id="11" name="object 11"/>
          <p:cNvSpPr txBox="1"/>
          <p:nvPr/>
        </p:nvSpPr>
        <p:spPr>
          <a:xfrm>
            <a:off x="6144901" y="1607311"/>
            <a:ext cx="3399154" cy="1252855"/>
          </a:xfrm>
          <a:prstGeom prst="rect">
            <a:avLst/>
          </a:prstGeom>
        </p:spPr>
        <p:txBody>
          <a:bodyPr vert="horz" wrap="square" lIns="0" tIns="12700" rIns="0" bIns="0" rtlCol="0">
            <a:spAutoFit/>
          </a:bodyPr>
          <a:lstStyle/>
          <a:p>
            <a:pPr marL="12700">
              <a:lnSpc>
                <a:spcPct val="100000"/>
              </a:lnSpc>
              <a:spcBef>
                <a:spcPts val="100"/>
              </a:spcBef>
            </a:pPr>
            <a:r>
              <a:rPr sz="1750" b="1" spc="-25" dirty="0">
                <a:solidFill>
                  <a:srgbClr val="FF0000"/>
                </a:solidFill>
                <a:latin typeface="微软雅黑"/>
                <a:cs typeface="微软雅黑"/>
              </a:rPr>
              <a:t>例 </a:t>
            </a:r>
            <a:r>
              <a:rPr sz="1750" b="1" dirty="0">
                <a:solidFill>
                  <a:srgbClr val="FF0000"/>
                </a:solidFill>
                <a:latin typeface="Arial"/>
                <a:cs typeface="Arial"/>
              </a:rPr>
              <a:t>3.4</a:t>
            </a:r>
            <a:r>
              <a:rPr sz="1750" b="1" spc="465" dirty="0">
                <a:solidFill>
                  <a:srgbClr val="FF0000"/>
                </a:solidFill>
                <a:latin typeface="Arial"/>
                <a:cs typeface="Arial"/>
              </a:rPr>
              <a:t> </a:t>
            </a:r>
            <a:r>
              <a:rPr sz="1750" b="1" dirty="0">
                <a:solidFill>
                  <a:srgbClr val="FF0000"/>
                </a:solidFill>
                <a:latin typeface="微软雅黑"/>
                <a:cs typeface="微软雅黑"/>
              </a:rPr>
              <a:t>使用</a:t>
            </a:r>
            <a:r>
              <a:rPr sz="1750" b="1" spc="-20" dirty="0">
                <a:solidFill>
                  <a:srgbClr val="FF0000"/>
                </a:solidFill>
                <a:latin typeface="Arial"/>
                <a:cs typeface="Arial"/>
              </a:rPr>
              <a:t>if</a:t>
            </a:r>
            <a:r>
              <a:rPr sz="1750" b="1" spc="-10" dirty="0">
                <a:solidFill>
                  <a:srgbClr val="FF0000"/>
                </a:solidFill>
                <a:latin typeface="微软雅黑"/>
                <a:cs typeface="微软雅黑"/>
              </a:rPr>
              <a:t>语句的优先编码器</a:t>
            </a:r>
            <a:endParaRPr sz="1750">
              <a:latin typeface="微软雅黑"/>
              <a:cs typeface="微软雅黑"/>
            </a:endParaRPr>
          </a:p>
          <a:p>
            <a:pPr marL="67945">
              <a:lnSpc>
                <a:spcPct val="100000"/>
              </a:lnSpc>
              <a:spcBef>
                <a:spcPts val="1155"/>
              </a:spcBef>
            </a:pPr>
            <a:r>
              <a:rPr sz="1550" b="1" dirty="0">
                <a:latin typeface="Arial"/>
                <a:cs typeface="Arial"/>
              </a:rPr>
              <a:t>module</a:t>
            </a:r>
            <a:r>
              <a:rPr sz="1550" b="1" spc="55" dirty="0">
                <a:latin typeface="Arial"/>
                <a:cs typeface="Arial"/>
              </a:rPr>
              <a:t> </a:t>
            </a:r>
            <a:r>
              <a:rPr sz="1550" dirty="0">
                <a:latin typeface="Arial"/>
                <a:cs typeface="Arial"/>
              </a:rPr>
              <a:t>prio_encoder_if(</a:t>
            </a:r>
            <a:r>
              <a:rPr sz="1550" b="1" dirty="0">
                <a:latin typeface="Arial"/>
                <a:cs typeface="Arial"/>
              </a:rPr>
              <a:t>input</a:t>
            </a:r>
            <a:r>
              <a:rPr sz="1550" b="1" spc="60" dirty="0">
                <a:latin typeface="Arial"/>
                <a:cs typeface="Arial"/>
              </a:rPr>
              <a:t> </a:t>
            </a:r>
            <a:r>
              <a:rPr sz="1550" dirty="0">
                <a:latin typeface="Arial"/>
                <a:cs typeface="Arial"/>
              </a:rPr>
              <a:t>[3:0]</a:t>
            </a:r>
            <a:r>
              <a:rPr sz="1550" spc="65" dirty="0">
                <a:latin typeface="Arial"/>
                <a:cs typeface="Arial"/>
              </a:rPr>
              <a:t> </a:t>
            </a:r>
            <a:r>
              <a:rPr sz="1550" spc="-35" dirty="0">
                <a:latin typeface="Arial"/>
                <a:cs typeface="Arial"/>
              </a:rPr>
              <a:t>r,</a:t>
            </a:r>
            <a:endParaRPr sz="1550">
              <a:latin typeface="Arial"/>
              <a:cs typeface="Arial"/>
            </a:endParaRPr>
          </a:p>
          <a:p>
            <a:pPr marL="401955">
              <a:lnSpc>
                <a:spcPct val="100000"/>
              </a:lnSpc>
              <a:spcBef>
                <a:spcPts val="415"/>
              </a:spcBef>
            </a:pPr>
            <a:r>
              <a:rPr sz="1550" b="1" dirty="0">
                <a:latin typeface="Arial"/>
                <a:cs typeface="Arial"/>
              </a:rPr>
              <a:t>output</a:t>
            </a:r>
            <a:r>
              <a:rPr sz="1550" b="1" spc="25" dirty="0">
                <a:latin typeface="Arial"/>
                <a:cs typeface="Arial"/>
              </a:rPr>
              <a:t> </a:t>
            </a:r>
            <a:r>
              <a:rPr sz="1550" b="1" dirty="0">
                <a:latin typeface="Arial"/>
                <a:cs typeface="Arial"/>
              </a:rPr>
              <a:t>reg</a:t>
            </a:r>
            <a:r>
              <a:rPr sz="1550" b="1" spc="35" dirty="0">
                <a:latin typeface="Arial"/>
                <a:cs typeface="Arial"/>
              </a:rPr>
              <a:t> </a:t>
            </a:r>
            <a:r>
              <a:rPr sz="1550" dirty="0">
                <a:latin typeface="Arial"/>
                <a:cs typeface="Arial"/>
              </a:rPr>
              <a:t>[2:0]</a:t>
            </a:r>
            <a:r>
              <a:rPr sz="1550" spc="490" dirty="0">
                <a:latin typeface="Arial"/>
                <a:cs typeface="Arial"/>
              </a:rPr>
              <a:t> </a:t>
            </a:r>
            <a:r>
              <a:rPr sz="1550" spc="-25" dirty="0">
                <a:latin typeface="Arial"/>
                <a:cs typeface="Arial"/>
              </a:rPr>
              <a:t>y</a:t>
            </a:r>
            <a:r>
              <a:rPr sz="1550" i="1" spc="-25" dirty="0">
                <a:latin typeface="Arial"/>
                <a:cs typeface="Arial"/>
              </a:rPr>
              <a:t>)</a:t>
            </a:r>
            <a:r>
              <a:rPr sz="1550" spc="-25" dirty="0">
                <a:latin typeface="Arial"/>
                <a:cs typeface="Arial"/>
              </a:rPr>
              <a:t>;</a:t>
            </a:r>
            <a:endParaRPr sz="1550">
              <a:latin typeface="Arial"/>
              <a:cs typeface="Arial"/>
            </a:endParaRPr>
          </a:p>
          <a:p>
            <a:pPr marL="401955">
              <a:lnSpc>
                <a:spcPct val="100000"/>
              </a:lnSpc>
              <a:spcBef>
                <a:spcPts val="405"/>
              </a:spcBef>
            </a:pPr>
            <a:r>
              <a:rPr sz="1550" b="1" dirty="0">
                <a:latin typeface="Arial"/>
                <a:cs typeface="Arial"/>
              </a:rPr>
              <a:t>always</a:t>
            </a:r>
            <a:r>
              <a:rPr sz="1550" b="1" spc="35" dirty="0">
                <a:latin typeface="Arial"/>
                <a:cs typeface="Arial"/>
              </a:rPr>
              <a:t> </a:t>
            </a:r>
            <a:r>
              <a:rPr sz="1550" spc="-25" dirty="0">
                <a:latin typeface="Arial"/>
                <a:cs typeface="Arial"/>
              </a:rPr>
              <a:t>@*</a:t>
            </a:r>
            <a:endParaRPr sz="1550">
              <a:latin typeface="Arial"/>
              <a:cs typeface="Arial"/>
            </a:endParaRPr>
          </a:p>
        </p:txBody>
      </p:sp>
      <p:sp>
        <p:nvSpPr>
          <p:cNvPr id="12" name="object 12"/>
          <p:cNvSpPr txBox="1">
            <a:spLocks noGrp="1"/>
          </p:cNvSpPr>
          <p:nvPr>
            <p:ph type="title"/>
          </p:nvPr>
        </p:nvSpPr>
        <p:spPr>
          <a:xfrm>
            <a:off x="601352" y="959611"/>
            <a:ext cx="4150360" cy="506730"/>
          </a:xfrm>
          <a:prstGeom prst="rect">
            <a:avLst/>
          </a:prstGeom>
        </p:spPr>
        <p:txBody>
          <a:bodyPr vert="horz" wrap="square" lIns="0" tIns="13335" rIns="0" bIns="0" rtlCol="0">
            <a:spAutoFit/>
          </a:bodyPr>
          <a:lstStyle/>
          <a:p>
            <a:pPr marL="12700">
              <a:lnSpc>
                <a:spcPct val="100000"/>
              </a:lnSpc>
              <a:spcBef>
                <a:spcPts val="105"/>
              </a:spcBef>
            </a:pPr>
            <a:r>
              <a:rPr sz="3150" dirty="0">
                <a:latin typeface="Arial"/>
                <a:cs typeface="Arial"/>
              </a:rPr>
              <a:t>3.2.1</a:t>
            </a:r>
            <a:r>
              <a:rPr sz="3150" spc="30" dirty="0">
                <a:latin typeface="Arial"/>
                <a:cs typeface="Arial"/>
              </a:rPr>
              <a:t> </a:t>
            </a:r>
            <a:r>
              <a:rPr sz="3150" dirty="0">
                <a:latin typeface="Calibri"/>
                <a:cs typeface="Calibri"/>
              </a:rPr>
              <a:t>if-</a:t>
            </a:r>
            <a:r>
              <a:rPr sz="3150" spc="-10" dirty="0">
                <a:latin typeface="Calibri"/>
                <a:cs typeface="Calibri"/>
              </a:rPr>
              <a:t>else</a:t>
            </a:r>
            <a:r>
              <a:rPr sz="3150" dirty="0"/>
              <a:t>语句</a:t>
            </a:r>
            <a:r>
              <a:rPr sz="3150" spc="-10" dirty="0">
                <a:latin typeface="Arial"/>
                <a:cs typeface="Arial"/>
              </a:rPr>
              <a:t>----</a:t>
            </a:r>
            <a:r>
              <a:rPr sz="3150" spc="-25" dirty="0"/>
              <a:t>实例</a:t>
            </a:r>
            <a:endParaRPr sz="3150">
              <a:latin typeface="Arial"/>
              <a:cs typeface="Arial"/>
            </a:endParaRPr>
          </a:p>
        </p:txBody>
      </p:sp>
      <p:sp>
        <p:nvSpPr>
          <p:cNvPr id="13" name="object 13"/>
          <p:cNvSpPr txBox="1"/>
          <p:nvPr/>
        </p:nvSpPr>
        <p:spPr>
          <a:xfrm>
            <a:off x="490099" y="2118758"/>
            <a:ext cx="5152390" cy="1950720"/>
          </a:xfrm>
          <a:prstGeom prst="rect">
            <a:avLst/>
          </a:prstGeom>
        </p:spPr>
        <p:txBody>
          <a:bodyPr vert="horz" wrap="square" lIns="0" tIns="12700" rIns="0" bIns="0" rtlCol="0">
            <a:spAutoFit/>
          </a:bodyPr>
          <a:lstStyle/>
          <a:p>
            <a:pPr marL="212725" marR="5080" indent="-203200" algn="just">
              <a:lnSpc>
                <a:spcPct val="150300"/>
              </a:lnSpc>
              <a:spcBef>
                <a:spcPts val="100"/>
              </a:spcBef>
              <a:buSzPct val="95238"/>
              <a:buFont typeface="Wingdings"/>
              <a:buChar char=""/>
              <a:tabLst>
                <a:tab pos="212725" algn="l"/>
                <a:tab pos="249554" algn="l"/>
              </a:tabLst>
            </a:pPr>
            <a:r>
              <a:rPr sz="2100" spc="-10" dirty="0">
                <a:latin typeface="宋体"/>
                <a:cs typeface="宋体"/>
              </a:rPr>
              <a:t>	代码首先检查信号</a:t>
            </a:r>
            <a:r>
              <a:rPr sz="2100" spc="-10" dirty="0">
                <a:latin typeface="Arial"/>
                <a:cs typeface="Arial"/>
              </a:rPr>
              <a:t>r[3]</a:t>
            </a:r>
            <a:r>
              <a:rPr sz="2100" spc="-10" dirty="0">
                <a:latin typeface="宋体"/>
                <a:cs typeface="宋体"/>
              </a:rPr>
              <a:t>请求，如果为</a:t>
            </a:r>
            <a:r>
              <a:rPr sz="2100" dirty="0">
                <a:latin typeface="Arial"/>
                <a:cs typeface="Arial"/>
              </a:rPr>
              <a:t>1</a:t>
            </a:r>
            <a:r>
              <a:rPr sz="2100" spc="-25" dirty="0">
                <a:latin typeface="宋体"/>
                <a:cs typeface="宋体"/>
              </a:rPr>
              <a:t>则将</a:t>
            </a:r>
            <a:r>
              <a:rPr sz="2100" spc="-50" dirty="0">
                <a:latin typeface="宋体"/>
                <a:cs typeface="宋体"/>
              </a:rPr>
              <a:t> </a:t>
            </a:r>
            <a:r>
              <a:rPr sz="2100" spc="-10" dirty="0">
                <a:latin typeface="Arial"/>
                <a:cs typeface="Arial"/>
              </a:rPr>
              <a:t>100</a:t>
            </a:r>
            <a:r>
              <a:rPr sz="2100" dirty="0">
                <a:latin typeface="宋体"/>
                <a:cs typeface="宋体"/>
              </a:rPr>
              <a:t>赋给</a:t>
            </a:r>
            <a:r>
              <a:rPr sz="2100" spc="-10" dirty="0">
                <a:latin typeface="Arial"/>
                <a:cs typeface="Arial"/>
              </a:rPr>
              <a:t>y</a:t>
            </a:r>
            <a:r>
              <a:rPr sz="2100" spc="-10" dirty="0">
                <a:latin typeface="宋体"/>
                <a:cs typeface="宋体"/>
              </a:rPr>
              <a:t>，如果</a:t>
            </a:r>
            <a:r>
              <a:rPr sz="2100" spc="-10" dirty="0">
                <a:latin typeface="Arial"/>
                <a:cs typeface="Arial"/>
              </a:rPr>
              <a:t>r[3]</a:t>
            </a:r>
            <a:r>
              <a:rPr sz="2100" dirty="0">
                <a:latin typeface="宋体"/>
                <a:cs typeface="宋体"/>
              </a:rPr>
              <a:t>为</a:t>
            </a:r>
            <a:r>
              <a:rPr sz="2100" spc="-10" dirty="0">
                <a:latin typeface="Arial"/>
                <a:cs typeface="Arial"/>
              </a:rPr>
              <a:t>0</a:t>
            </a:r>
            <a:r>
              <a:rPr sz="2100" spc="-15" dirty="0">
                <a:latin typeface="宋体"/>
                <a:cs typeface="宋体"/>
              </a:rPr>
              <a:t>，则继续检查信号</a:t>
            </a:r>
            <a:r>
              <a:rPr sz="2100" spc="-50" dirty="0">
                <a:latin typeface="宋体"/>
                <a:cs typeface="宋体"/>
              </a:rPr>
              <a:t> </a:t>
            </a:r>
            <a:r>
              <a:rPr sz="2100" spc="-10" dirty="0">
                <a:latin typeface="Arial"/>
                <a:cs typeface="Arial"/>
              </a:rPr>
              <a:t>r[2]</a:t>
            </a:r>
            <a:r>
              <a:rPr sz="2100" spc="-15" dirty="0">
                <a:latin typeface="宋体"/>
                <a:cs typeface="宋体"/>
              </a:rPr>
              <a:t>请求并重复以上过程，直至所有请求信</a:t>
            </a:r>
            <a:r>
              <a:rPr sz="2100" spc="-10" dirty="0">
                <a:latin typeface="宋体"/>
                <a:cs typeface="宋体"/>
              </a:rPr>
              <a:t>号检查完毕。</a:t>
            </a:r>
            <a:endParaRPr sz="2100">
              <a:latin typeface="宋体"/>
              <a:cs typeface="宋体"/>
            </a:endParaRPr>
          </a:p>
        </p:txBody>
      </p:sp>
      <p:sp>
        <p:nvSpPr>
          <p:cNvPr id="14" name="object 14"/>
          <p:cNvSpPr txBox="1"/>
          <p:nvPr/>
        </p:nvSpPr>
        <p:spPr>
          <a:xfrm>
            <a:off x="490126" y="4154063"/>
            <a:ext cx="5208270" cy="1470025"/>
          </a:xfrm>
          <a:prstGeom prst="rect">
            <a:avLst/>
          </a:prstGeom>
        </p:spPr>
        <p:txBody>
          <a:bodyPr vert="horz" wrap="square" lIns="0" tIns="12700" rIns="0" bIns="0" rtlCol="0">
            <a:spAutoFit/>
          </a:bodyPr>
          <a:lstStyle/>
          <a:p>
            <a:pPr marL="212725" marR="5080" indent="-203200">
              <a:lnSpc>
                <a:spcPct val="150400"/>
              </a:lnSpc>
              <a:spcBef>
                <a:spcPts val="100"/>
              </a:spcBef>
              <a:buSzPct val="95238"/>
              <a:buFont typeface="Wingdings"/>
              <a:buChar char=""/>
              <a:tabLst>
                <a:tab pos="212725" algn="l"/>
                <a:tab pos="249554" algn="l"/>
              </a:tabLst>
            </a:pPr>
            <a:r>
              <a:rPr sz="2100" spc="-10" dirty="0">
                <a:latin typeface="宋体"/>
                <a:cs typeface="宋体"/>
              </a:rPr>
              <a:t>	注意当</a:t>
            </a:r>
            <a:r>
              <a:rPr sz="2100" spc="-10" dirty="0">
                <a:latin typeface="Arial"/>
                <a:cs typeface="Arial"/>
              </a:rPr>
              <a:t>r[3]</a:t>
            </a:r>
            <a:r>
              <a:rPr sz="2100" dirty="0">
                <a:latin typeface="宋体"/>
                <a:cs typeface="宋体"/>
              </a:rPr>
              <a:t>为</a:t>
            </a:r>
            <a:r>
              <a:rPr sz="2100" spc="-10" dirty="0">
                <a:latin typeface="Arial"/>
                <a:cs typeface="Arial"/>
              </a:rPr>
              <a:t>1</a:t>
            </a:r>
            <a:r>
              <a:rPr sz="2100" spc="-10" dirty="0">
                <a:latin typeface="宋体"/>
                <a:cs typeface="宋体"/>
              </a:rPr>
              <a:t>时布尔表达式（</a:t>
            </a:r>
            <a:r>
              <a:rPr sz="2100" spc="-10" dirty="0">
                <a:latin typeface="Arial"/>
                <a:cs typeface="Arial"/>
              </a:rPr>
              <a:t>r[3]==1’b1</a:t>
            </a:r>
            <a:r>
              <a:rPr sz="2100" spc="-10" dirty="0">
                <a:latin typeface="宋体"/>
                <a:cs typeface="宋体"/>
              </a:rPr>
              <a:t>）为真，由于在</a:t>
            </a:r>
            <a:r>
              <a:rPr sz="2100" spc="-25" dirty="0">
                <a:latin typeface="Arial"/>
                <a:cs typeface="Arial"/>
              </a:rPr>
              <a:t>Verilog</a:t>
            </a:r>
            <a:r>
              <a:rPr sz="2100" spc="-20" dirty="0">
                <a:latin typeface="宋体"/>
                <a:cs typeface="宋体"/>
              </a:rPr>
              <a:t>中真值也可表示为</a:t>
            </a:r>
            <a:r>
              <a:rPr sz="2100" spc="-50" dirty="0">
                <a:latin typeface="宋体"/>
                <a:cs typeface="宋体"/>
              </a:rPr>
              <a:t> </a:t>
            </a:r>
            <a:r>
              <a:rPr sz="2100" spc="-10" dirty="0">
                <a:latin typeface="Arial"/>
                <a:cs typeface="Arial"/>
              </a:rPr>
              <a:t>1’b1</a:t>
            </a:r>
            <a:r>
              <a:rPr sz="2100" spc="-5" dirty="0">
                <a:latin typeface="宋体"/>
                <a:cs typeface="宋体"/>
              </a:rPr>
              <a:t>，因此表达式也可以写成</a:t>
            </a:r>
            <a:r>
              <a:rPr sz="2100" spc="-10" dirty="0">
                <a:latin typeface="宋体"/>
                <a:cs typeface="宋体"/>
              </a:rPr>
              <a:t>（</a:t>
            </a:r>
            <a:r>
              <a:rPr sz="2100" spc="-10" dirty="0">
                <a:latin typeface="Arial"/>
                <a:cs typeface="Arial"/>
              </a:rPr>
              <a:t>r[3]</a:t>
            </a:r>
            <a:r>
              <a:rPr sz="2100" spc="-10" dirty="0">
                <a:latin typeface="宋体"/>
                <a:cs typeface="宋体"/>
              </a:rPr>
              <a:t>）</a:t>
            </a:r>
            <a:r>
              <a:rPr sz="2100" spc="-50" dirty="0">
                <a:latin typeface="宋体"/>
                <a:cs typeface="宋体"/>
              </a:rPr>
              <a:t>。</a:t>
            </a:r>
            <a:endParaRPr sz="2100">
              <a:latin typeface="宋体"/>
              <a:cs typeface="宋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6899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20"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25" dirty="0"/>
              <a:t>实例</a:t>
            </a:r>
          </a:p>
        </p:txBody>
      </p:sp>
      <p:sp>
        <p:nvSpPr>
          <p:cNvPr id="3" name="object 3"/>
          <p:cNvSpPr txBox="1"/>
          <p:nvPr/>
        </p:nvSpPr>
        <p:spPr>
          <a:xfrm>
            <a:off x="680326" y="2374646"/>
            <a:ext cx="4984750" cy="1901189"/>
          </a:xfrm>
          <a:prstGeom prst="rect">
            <a:avLst/>
          </a:prstGeom>
        </p:spPr>
        <p:txBody>
          <a:bodyPr vert="horz" wrap="square" lIns="0" tIns="13335" rIns="0" bIns="0" rtlCol="0">
            <a:spAutoFit/>
          </a:bodyPr>
          <a:lstStyle/>
          <a:p>
            <a:pPr marL="275590" indent="-240029">
              <a:lnSpc>
                <a:spcPct val="100000"/>
              </a:lnSpc>
              <a:spcBef>
                <a:spcPts val="105"/>
              </a:spcBef>
              <a:buSzPct val="95238"/>
              <a:buFont typeface="Wingdings"/>
              <a:buChar char=""/>
              <a:tabLst>
                <a:tab pos="275590" algn="l"/>
              </a:tabLst>
            </a:pPr>
            <a:r>
              <a:rPr sz="2100" spc="-10" dirty="0">
                <a:latin typeface="Arial"/>
                <a:cs typeface="Arial"/>
              </a:rPr>
              <a:t>2-4</a:t>
            </a:r>
            <a:r>
              <a:rPr sz="2100" spc="-20" dirty="0">
                <a:latin typeface="微软雅黑"/>
                <a:cs typeface="微软雅黑"/>
              </a:rPr>
              <a:t>译码器</a:t>
            </a:r>
            <a:endParaRPr sz="2100">
              <a:latin typeface="微软雅黑"/>
              <a:cs typeface="微软雅黑"/>
            </a:endParaRPr>
          </a:p>
          <a:p>
            <a:pPr marL="38100" marR="30480">
              <a:lnSpc>
                <a:spcPct val="150200"/>
              </a:lnSpc>
              <a:spcBef>
                <a:spcPts val="880"/>
              </a:spcBef>
            </a:pPr>
            <a:r>
              <a:rPr sz="2100" spc="-5" dirty="0">
                <a:latin typeface="宋体"/>
                <a:cs typeface="宋体"/>
              </a:rPr>
              <a:t>根据</a:t>
            </a:r>
            <a:r>
              <a:rPr sz="2100" dirty="0">
                <a:latin typeface="Arial"/>
                <a:cs typeface="Arial"/>
              </a:rPr>
              <a:t>n</a:t>
            </a:r>
            <a:r>
              <a:rPr sz="2100" spc="-10" dirty="0">
                <a:latin typeface="宋体"/>
                <a:cs typeface="宋体"/>
              </a:rPr>
              <a:t>位输入的信号，一个</a:t>
            </a:r>
            <a:r>
              <a:rPr sz="2100" spc="-10" dirty="0">
                <a:latin typeface="Arial"/>
                <a:cs typeface="Arial"/>
              </a:rPr>
              <a:t>n-2</a:t>
            </a:r>
            <a:r>
              <a:rPr sz="2100" spc="-15" baseline="25793" dirty="0">
                <a:latin typeface="Arial"/>
                <a:cs typeface="Arial"/>
              </a:rPr>
              <a:t>n</a:t>
            </a:r>
            <a:r>
              <a:rPr sz="2100" spc="-20" dirty="0">
                <a:latin typeface="宋体"/>
                <a:cs typeface="宋体"/>
              </a:rPr>
              <a:t>二进制译码</a:t>
            </a:r>
            <a:r>
              <a:rPr sz="2100" spc="-5" dirty="0">
                <a:latin typeface="宋体"/>
                <a:cs typeface="宋体"/>
              </a:rPr>
              <a:t>器将</a:t>
            </a:r>
            <a:r>
              <a:rPr sz="2100" spc="-10" dirty="0">
                <a:latin typeface="Arial"/>
                <a:cs typeface="Arial"/>
              </a:rPr>
              <a:t>2</a:t>
            </a:r>
            <a:r>
              <a:rPr sz="2100" spc="-15" baseline="25793" dirty="0">
                <a:latin typeface="Arial"/>
                <a:cs typeface="Arial"/>
              </a:rPr>
              <a:t>n</a:t>
            </a:r>
            <a:r>
              <a:rPr sz="2100" spc="-10" dirty="0">
                <a:latin typeface="宋体"/>
                <a:cs typeface="宋体"/>
              </a:rPr>
              <a:t>位输出中的</a:t>
            </a:r>
            <a:r>
              <a:rPr sz="2100" spc="-10" dirty="0">
                <a:latin typeface="Arial"/>
                <a:cs typeface="Arial"/>
              </a:rPr>
              <a:t>1</a:t>
            </a:r>
            <a:r>
              <a:rPr sz="2100" spc="-10" dirty="0">
                <a:latin typeface="宋体"/>
                <a:cs typeface="宋体"/>
              </a:rPr>
              <a:t>位置位，</a:t>
            </a:r>
            <a:r>
              <a:rPr sz="2100" spc="-10" dirty="0">
                <a:latin typeface="Arial"/>
                <a:cs typeface="Arial"/>
              </a:rPr>
              <a:t>2-4</a:t>
            </a:r>
            <a:r>
              <a:rPr sz="2100" spc="-20" dirty="0">
                <a:latin typeface="宋体"/>
                <a:cs typeface="宋体"/>
              </a:rPr>
              <a:t>译码器的</a:t>
            </a:r>
            <a:r>
              <a:rPr sz="2100" dirty="0">
                <a:latin typeface="宋体"/>
                <a:cs typeface="宋体"/>
              </a:rPr>
              <a:t>真值表如表</a:t>
            </a:r>
            <a:r>
              <a:rPr sz="2100" spc="-10" dirty="0">
                <a:latin typeface="Arial"/>
                <a:cs typeface="Arial"/>
              </a:rPr>
              <a:t>3.2</a:t>
            </a:r>
            <a:r>
              <a:rPr sz="2100" spc="-20" dirty="0">
                <a:latin typeface="宋体"/>
                <a:cs typeface="宋体"/>
              </a:rPr>
              <a:t>所示。</a:t>
            </a:r>
            <a:endParaRPr sz="2100">
              <a:latin typeface="宋体"/>
              <a:cs typeface="宋体"/>
            </a:endParaRPr>
          </a:p>
        </p:txBody>
      </p:sp>
      <p:sp>
        <p:nvSpPr>
          <p:cNvPr id="4" name="object 4"/>
          <p:cNvSpPr txBox="1"/>
          <p:nvPr/>
        </p:nvSpPr>
        <p:spPr>
          <a:xfrm>
            <a:off x="705726" y="4360563"/>
            <a:ext cx="4598670" cy="988694"/>
          </a:xfrm>
          <a:prstGeom prst="rect">
            <a:avLst/>
          </a:prstGeom>
        </p:spPr>
        <p:txBody>
          <a:bodyPr vert="horz" wrap="square" lIns="0" tIns="12065" rIns="0" bIns="0" rtlCol="0">
            <a:spAutoFit/>
          </a:bodyPr>
          <a:lstStyle/>
          <a:p>
            <a:pPr marL="12700" marR="5080" indent="-635">
              <a:lnSpc>
                <a:spcPct val="150500"/>
              </a:lnSpc>
              <a:spcBef>
                <a:spcPts val="95"/>
              </a:spcBef>
            </a:pPr>
            <a:r>
              <a:rPr sz="2100" spc="-10" dirty="0">
                <a:latin typeface="宋体"/>
                <a:cs typeface="宋体"/>
              </a:rPr>
              <a:t>该电路包括控制信号端</a:t>
            </a:r>
            <a:r>
              <a:rPr sz="2100" spc="-10" dirty="0">
                <a:latin typeface="Arial"/>
                <a:cs typeface="Arial"/>
              </a:rPr>
              <a:t>en</a:t>
            </a:r>
            <a:r>
              <a:rPr sz="2100" spc="-20" dirty="0">
                <a:latin typeface="宋体"/>
                <a:cs typeface="宋体"/>
              </a:rPr>
              <a:t>，使能译码功</a:t>
            </a:r>
            <a:r>
              <a:rPr sz="2100" spc="-5" dirty="0">
                <a:latin typeface="宋体"/>
                <a:cs typeface="宋体"/>
              </a:rPr>
              <a:t>能，</a:t>
            </a:r>
            <a:r>
              <a:rPr sz="2100" spc="-10" dirty="0">
                <a:latin typeface="Arial"/>
                <a:cs typeface="Arial"/>
              </a:rPr>
              <a:t>HDL</a:t>
            </a:r>
            <a:r>
              <a:rPr sz="2100" dirty="0">
                <a:latin typeface="宋体"/>
                <a:cs typeface="宋体"/>
              </a:rPr>
              <a:t>代码如例</a:t>
            </a:r>
            <a:r>
              <a:rPr sz="2100" spc="-10" dirty="0">
                <a:latin typeface="Arial"/>
                <a:cs typeface="Arial"/>
              </a:rPr>
              <a:t>3.5</a:t>
            </a:r>
            <a:r>
              <a:rPr sz="2100" spc="-20" dirty="0">
                <a:latin typeface="宋体"/>
                <a:cs typeface="宋体"/>
              </a:rPr>
              <a:t>所示。</a:t>
            </a:r>
            <a:endParaRPr sz="2100">
              <a:latin typeface="宋体"/>
              <a:cs typeface="宋体"/>
            </a:endParaRPr>
          </a:p>
        </p:txBody>
      </p:sp>
      <p:sp>
        <p:nvSpPr>
          <p:cNvPr id="5" name="object 5"/>
          <p:cNvSpPr txBox="1"/>
          <p:nvPr/>
        </p:nvSpPr>
        <p:spPr>
          <a:xfrm>
            <a:off x="6531997" y="2540761"/>
            <a:ext cx="306768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表</a:t>
            </a:r>
            <a:r>
              <a:rPr sz="1550" b="1" dirty="0">
                <a:latin typeface="Arial"/>
                <a:cs typeface="Arial"/>
              </a:rPr>
              <a:t>3.2</a:t>
            </a:r>
            <a:r>
              <a:rPr sz="1550" b="1" spc="315" dirty="0">
                <a:latin typeface="Arial"/>
                <a:cs typeface="Arial"/>
              </a:rPr>
              <a:t> </a:t>
            </a:r>
            <a:r>
              <a:rPr sz="1550" b="1" dirty="0">
                <a:latin typeface="宋体"/>
                <a:cs typeface="宋体"/>
              </a:rPr>
              <a:t>带使能的</a:t>
            </a:r>
            <a:r>
              <a:rPr sz="1550" b="1" dirty="0">
                <a:latin typeface="Arial"/>
                <a:cs typeface="Arial"/>
              </a:rPr>
              <a:t>2-4</a:t>
            </a:r>
            <a:r>
              <a:rPr sz="1550" b="1" spc="-10" dirty="0">
                <a:latin typeface="宋体"/>
                <a:cs typeface="宋体"/>
              </a:rPr>
              <a:t>译码器的真值表</a:t>
            </a:r>
            <a:endParaRPr sz="1550">
              <a:latin typeface="宋体"/>
              <a:cs typeface="宋体"/>
            </a:endParaRPr>
          </a:p>
        </p:txBody>
      </p:sp>
      <p:pic>
        <p:nvPicPr>
          <p:cNvPr id="6" name="object 6"/>
          <p:cNvPicPr/>
          <p:nvPr/>
        </p:nvPicPr>
        <p:blipFill>
          <a:blip r:embed="rId2" cstate="print"/>
          <a:stretch>
            <a:fillRect/>
          </a:stretch>
        </p:blipFill>
        <p:spPr>
          <a:xfrm>
            <a:off x="6247523" y="2846070"/>
            <a:ext cx="3742182" cy="2507742"/>
          </a:xfrm>
          <a:prstGeom prst="rect">
            <a:avLst/>
          </a:prstGeom>
        </p:spPr>
      </p:pic>
      <p:graphicFrame>
        <p:nvGraphicFramePr>
          <p:cNvPr id="7" name="object 7"/>
          <p:cNvGraphicFramePr>
            <a:graphicFrameLocks noGrp="1"/>
          </p:cNvGraphicFramePr>
          <p:nvPr/>
        </p:nvGraphicFramePr>
        <p:xfrm>
          <a:off x="6241954" y="2840501"/>
          <a:ext cx="3740785" cy="2505075"/>
        </p:xfrm>
        <a:graphic>
          <a:graphicData uri="http://schemas.openxmlformats.org/drawingml/2006/table">
            <a:tbl>
              <a:tblPr firstRow="1" bandRow="1">
                <a:tableStyleId>{2D5ABB26-0587-4C30-8999-92F81FD0307C}</a:tableStyleId>
              </a:tblPr>
              <a:tblGrid>
                <a:gridCol w="680720">
                  <a:extLst>
                    <a:ext uri="{9D8B030D-6E8A-4147-A177-3AD203B41FA5}">
                      <a16:colId xmlns:a16="http://schemas.microsoft.com/office/drawing/2014/main" val="20000"/>
                    </a:ext>
                  </a:extLst>
                </a:gridCol>
                <a:gridCol w="621030">
                  <a:extLst>
                    <a:ext uri="{9D8B030D-6E8A-4147-A177-3AD203B41FA5}">
                      <a16:colId xmlns:a16="http://schemas.microsoft.com/office/drawing/2014/main" val="20001"/>
                    </a:ext>
                  </a:extLst>
                </a:gridCol>
                <a:gridCol w="784860">
                  <a:extLst>
                    <a:ext uri="{9D8B030D-6E8A-4147-A177-3AD203B41FA5}">
                      <a16:colId xmlns:a16="http://schemas.microsoft.com/office/drawing/2014/main" val="20002"/>
                    </a:ext>
                  </a:extLst>
                </a:gridCol>
                <a:gridCol w="1654175">
                  <a:extLst>
                    <a:ext uri="{9D8B030D-6E8A-4147-A177-3AD203B41FA5}">
                      <a16:colId xmlns:a16="http://schemas.microsoft.com/office/drawing/2014/main" val="20003"/>
                    </a:ext>
                  </a:extLst>
                </a:gridCol>
              </a:tblGrid>
              <a:tr h="417830">
                <a:tc>
                  <a:txBody>
                    <a:bodyPr/>
                    <a:lstStyle/>
                    <a:p>
                      <a:pPr marL="226695">
                        <a:lnSpc>
                          <a:spcPct val="100000"/>
                        </a:lnSpc>
                        <a:spcBef>
                          <a:spcPts val="170"/>
                        </a:spcBef>
                      </a:pPr>
                      <a:r>
                        <a:rPr sz="2100" spc="-25" dirty="0">
                          <a:latin typeface="Arial"/>
                          <a:cs typeface="Arial"/>
                        </a:rPr>
                        <a:t>en</a:t>
                      </a:r>
                      <a:endParaRPr sz="2100">
                        <a:latin typeface="Arial"/>
                        <a:cs typeface="Arial"/>
                      </a:endParaRPr>
                    </a:p>
                  </a:txBody>
                  <a:tcPr marL="0" marR="0" marT="2159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65405">
                        <a:lnSpc>
                          <a:spcPct val="100000"/>
                        </a:lnSpc>
                        <a:spcBef>
                          <a:spcPts val="170"/>
                        </a:spcBef>
                      </a:pPr>
                      <a:r>
                        <a:rPr sz="2100" spc="-20" dirty="0">
                          <a:latin typeface="Arial"/>
                          <a:cs typeface="Arial"/>
                        </a:rPr>
                        <a:t>a[1]</a:t>
                      </a:r>
                      <a:endParaRPr sz="2100">
                        <a:latin typeface="Arial"/>
                        <a:cs typeface="Arial"/>
                      </a:endParaRPr>
                    </a:p>
                  </a:txBody>
                  <a:tcPr marL="0" marR="0" marT="21590" marB="0">
                    <a:lnT w="12700">
                      <a:solidFill>
                        <a:srgbClr val="000000"/>
                      </a:solidFill>
                      <a:prstDash val="solid"/>
                    </a:lnT>
                    <a:lnB w="12700">
                      <a:solidFill>
                        <a:srgbClr val="000000"/>
                      </a:solidFill>
                      <a:prstDash val="solid"/>
                    </a:lnB>
                  </a:tcPr>
                </a:tc>
                <a:tc>
                  <a:txBody>
                    <a:bodyPr/>
                    <a:lstStyle/>
                    <a:p>
                      <a:pPr marL="109220">
                        <a:lnSpc>
                          <a:spcPct val="100000"/>
                        </a:lnSpc>
                        <a:spcBef>
                          <a:spcPts val="170"/>
                        </a:spcBef>
                      </a:pPr>
                      <a:r>
                        <a:rPr sz="2100" spc="-20" dirty="0">
                          <a:latin typeface="Arial"/>
                          <a:cs typeface="Arial"/>
                        </a:rPr>
                        <a:t>a[0]</a:t>
                      </a:r>
                      <a:endParaRPr sz="2100">
                        <a:latin typeface="Arial"/>
                        <a:cs typeface="Arial"/>
                      </a:endParaRPr>
                    </a:p>
                  </a:txBody>
                  <a:tcPr marL="0" marR="0" marT="215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0"/>
                        </a:spcBef>
                      </a:pPr>
                      <a:r>
                        <a:rPr sz="2100" spc="-50" dirty="0">
                          <a:latin typeface="Arial"/>
                          <a:cs typeface="Arial"/>
                        </a:rPr>
                        <a:t>y</a:t>
                      </a:r>
                      <a:endParaRPr sz="2100">
                        <a:latin typeface="Arial"/>
                        <a:cs typeface="Arial"/>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17195">
                <a:tc>
                  <a:txBody>
                    <a:bodyPr/>
                    <a:lstStyle/>
                    <a:p>
                      <a:pPr marR="57785" algn="r">
                        <a:lnSpc>
                          <a:spcPct val="100000"/>
                        </a:lnSpc>
                        <a:spcBef>
                          <a:spcPts val="165"/>
                        </a:spcBef>
                      </a:pPr>
                      <a:r>
                        <a:rPr sz="2100" spc="-50" dirty="0">
                          <a:latin typeface="Arial"/>
                          <a:cs typeface="Arial"/>
                        </a:rPr>
                        <a:t>0</a:t>
                      </a:r>
                      <a:endParaRPr sz="2100">
                        <a:latin typeface="Arial"/>
                        <a:cs typeface="Arial"/>
                      </a:endParaRPr>
                    </a:p>
                  </a:txBody>
                  <a:tcPr marL="0" marR="0" marT="2095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302260">
                        <a:lnSpc>
                          <a:spcPct val="100000"/>
                        </a:lnSpc>
                        <a:spcBef>
                          <a:spcPts val="165"/>
                        </a:spcBef>
                      </a:pPr>
                      <a:r>
                        <a:rPr sz="2100" spc="-50" dirty="0">
                          <a:latin typeface="Arial"/>
                          <a:cs typeface="Arial"/>
                        </a:rPr>
                        <a:t>x</a:t>
                      </a:r>
                      <a:endParaRPr sz="2100">
                        <a:latin typeface="Arial"/>
                        <a:cs typeface="Arial"/>
                      </a:endParaRPr>
                    </a:p>
                  </a:txBody>
                  <a:tcPr marL="0" marR="0" marT="20955" marB="0">
                    <a:lnT w="12700">
                      <a:solidFill>
                        <a:srgbClr val="000000"/>
                      </a:solidFill>
                      <a:prstDash val="solid"/>
                    </a:lnT>
                    <a:lnB w="12700">
                      <a:solidFill>
                        <a:srgbClr val="000000"/>
                      </a:solidFill>
                      <a:prstDash val="solid"/>
                    </a:lnB>
                  </a:tcPr>
                </a:tc>
                <a:tc>
                  <a:txBody>
                    <a:bodyPr/>
                    <a:lstStyle/>
                    <a:p>
                      <a:pPr marL="183515">
                        <a:lnSpc>
                          <a:spcPct val="100000"/>
                        </a:lnSpc>
                        <a:spcBef>
                          <a:spcPts val="165"/>
                        </a:spcBef>
                      </a:pPr>
                      <a:r>
                        <a:rPr sz="2100" spc="-50" dirty="0">
                          <a:latin typeface="Arial"/>
                          <a:cs typeface="Arial"/>
                        </a:rPr>
                        <a:t>x</a:t>
                      </a:r>
                      <a:endParaRPr sz="2100">
                        <a:latin typeface="Arial"/>
                        <a:cs typeface="Arial"/>
                      </a:endParaRPr>
                    </a:p>
                  </a:txBody>
                  <a:tcPr marL="0" marR="0" marT="2095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5"/>
                        </a:spcBef>
                      </a:pPr>
                      <a:r>
                        <a:rPr sz="2100" spc="-20" dirty="0">
                          <a:latin typeface="Arial"/>
                          <a:cs typeface="Arial"/>
                        </a:rPr>
                        <a:t>0000</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17195">
                <a:tc>
                  <a:txBody>
                    <a:bodyPr/>
                    <a:lstStyle/>
                    <a:p>
                      <a:pPr marR="73025" algn="r">
                        <a:lnSpc>
                          <a:spcPct val="100000"/>
                        </a:lnSpc>
                        <a:spcBef>
                          <a:spcPts val="175"/>
                        </a:spcBef>
                      </a:pPr>
                      <a:r>
                        <a:rPr sz="2100" spc="-50" dirty="0">
                          <a:latin typeface="Arial"/>
                          <a:cs typeface="Arial"/>
                        </a:rPr>
                        <a:t>1</a:t>
                      </a:r>
                      <a:endParaRPr sz="2100">
                        <a:latin typeface="Arial"/>
                        <a:cs typeface="Arial"/>
                      </a:endParaRPr>
                    </a:p>
                  </a:txBody>
                  <a:tcPr marL="0" marR="0" marT="2222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287655">
                        <a:lnSpc>
                          <a:spcPct val="100000"/>
                        </a:lnSpc>
                        <a:spcBef>
                          <a:spcPts val="175"/>
                        </a:spcBef>
                      </a:pPr>
                      <a:r>
                        <a:rPr sz="2100" spc="-50" dirty="0">
                          <a:latin typeface="Arial"/>
                          <a:cs typeface="Arial"/>
                        </a:rPr>
                        <a:t>0</a:t>
                      </a:r>
                      <a:endParaRPr sz="2100">
                        <a:latin typeface="Arial"/>
                        <a:cs typeface="Arial"/>
                      </a:endParaRPr>
                    </a:p>
                  </a:txBody>
                  <a:tcPr marL="0" marR="0" marT="22225" marB="0">
                    <a:lnT w="12700">
                      <a:solidFill>
                        <a:srgbClr val="000000"/>
                      </a:solidFill>
                      <a:prstDash val="solid"/>
                    </a:lnT>
                    <a:lnB w="12700">
                      <a:solidFill>
                        <a:srgbClr val="000000"/>
                      </a:solidFill>
                      <a:prstDash val="solid"/>
                    </a:lnB>
                  </a:tcPr>
                </a:tc>
                <a:tc>
                  <a:txBody>
                    <a:bodyPr/>
                    <a:lstStyle/>
                    <a:p>
                      <a:pPr marL="184785">
                        <a:lnSpc>
                          <a:spcPct val="100000"/>
                        </a:lnSpc>
                        <a:spcBef>
                          <a:spcPts val="175"/>
                        </a:spcBef>
                      </a:pPr>
                      <a:r>
                        <a:rPr sz="2100" spc="-50" dirty="0">
                          <a:latin typeface="Arial"/>
                          <a:cs typeface="Arial"/>
                        </a:rPr>
                        <a:t>0</a:t>
                      </a:r>
                      <a:endParaRPr sz="2100">
                        <a:latin typeface="Arial"/>
                        <a:cs typeface="Arial"/>
                      </a:endParaRPr>
                    </a:p>
                  </a:txBody>
                  <a:tcPr marL="0" marR="0" marT="2222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20" dirty="0">
                          <a:latin typeface="Arial"/>
                          <a:cs typeface="Arial"/>
                        </a:rPr>
                        <a:t>0001</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17830">
                <a:tc>
                  <a:txBody>
                    <a:bodyPr/>
                    <a:lstStyle/>
                    <a:p>
                      <a:pPr marR="73025" algn="r">
                        <a:lnSpc>
                          <a:spcPct val="100000"/>
                        </a:lnSpc>
                        <a:spcBef>
                          <a:spcPts val="175"/>
                        </a:spcBef>
                      </a:pPr>
                      <a:r>
                        <a:rPr sz="2100" spc="-50" dirty="0">
                          <a:latin typeface="Arial"/>
                          <a:cs typeface="Arial"/>
                        </a:rPr>
                        <a:t>1</a:t>
                      </a:r>
                      <a:endParaRPr sz="2100">
                        <a:latin typeface="Arial"/>
                        <a:cs typeface="Arial"/>
                      </a:endParaRPr>
                    </a:p>
                  </a:txBody>
                  <a:tcPr marL="0" marR="0" marT="2222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287655">
                        <a:lnSpc>
                          <a:spcPct val="100000"/>
                        </a:lnSpc>
                        <a:spcBef>
                          <a:spcPts val="175"/>
                        </a:spcBef>
                      </a:pPr>
                      <a:r>
                        <a:rPr sz="2100" spc="-50" dirty="0">
                          <a:latin typeface="Arial"/>
                          <a:cs typeface="Arial"/>
                        </a:rPr>
                        <a:t>0</a:t>
                      </a:r>
                      <a:endParaRPr sz="2100">
                        <a:latin typeface="Arial"/>
                        <a:cs typeface="Arial"/>
                      </a:endParaRPr>
                    </a:p>
                  </a:txBody>
                  <a:tcPr marL="0" marR="0" marT="22225" marB="0">
                    <a:lnT w="12700">
                      <a:solidFill>
                        <a:srgbClr val="000000"/>
                      </a:solidFill>
                      <a:prstDash val="solid"/>
                    </a:lnT>
                    <a:lnB w="12700">
                      <a:solidFill>
                        <a:srgbClr val="000000"/>
                      </a:solidFill>
                      <a:prstDash val="solid"/>
                    </a:lnB>
                  </a:tcPr>
                </a:tc>
                <a:tc>
                  <a:txBody>
                    <a:bodyPr/>
                    <a:lstStyle/>
                    <a:p>
                      <a:pPr marL="184785">
                        <a:lnSpc>
                          <a:spcPct val="100000"/>
                        </a:lnSpc>
                        <a:spcBef>
                          <a:spcPts val="175"/>
                        </a:spcBef>
                      </a:pPr>
                      <a:r>
                        <a:rPr sz="2100" spc="-50" dirty="0">
                          <a:latin typeface="Arial"/>
                          <a:cs typeface="Arial"/>
                        </a:rPr>
                        <a:t>1</a:t>
                      </a:r>
                      <a:endParaRPr sz="2100">
                        <a:latin typeface="Arial"/>
                        <a:cs typeface="Arial"/>
                      </a:endParaRPr>
                    </a:p>
                  </a:txBody>
                  <a:tcPr marL="0" marR="0" marT="2222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20" dirty="0">
                          <a:latin typeface="Arial"/>
                          <a:cs typeface="Arial"/>
                        </a:rPr>
                        <a:t>0010</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17195">
                <a:tc>
                  <a:txBody>
                    <a:bodyPr/>
                    <a:lstStyle/>
                    <a:p>
                      <a:pPr marR="73025" algn="r">
                        <a:lnSpc>
                          <a:spcPct val="100000"/>
                        </a:lnSpc>
                        <a:spcBef>
                          <a:spcPts val="165"/>
                        </a:spcBef>
                      </a:pPr>
                      <a:r>
                        <a:rPr sz="2100" spc="-50" dirty="0">
                          <a:latin typeface="Arial"/>
                          <a:cs typeface="Arial"/>
                        </a:rPr>
                        <a:t>1</a:t>
                      </a:r>
                      <a:endParaRPr sz="2100">
                        <a:latin typeface="Arial"/>
                        <a:cs typeface="Arial"/>
                      </a:endParaRPr>
                    </a:p>
                  </a:txBody>
                  <a:tcPr marL="0" marR="0" marT="2095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287655">
                        <a:lnSpc>
                          <a:spcPct val="100000"/>
                        </a:lnSpc>
                        <a:spcBef>
                          <a:spcPts val="165"/>
                        </a:spcBef>
                      </a:pPr>
                      <a:r>
                        <a:rPr sz="2100" spc="-50" dirty="0">
                          <a:latin typeface="Arial"/>
                          <a:cs typeface="Arial"/>
                        </a:rPr>
                        <a:t>1</a:t>
                      </a:r>
                      <a:endParaRPr sz="2100">
                        <a:latin typeface="Arial"/>
                        <a:cs typeface="Arial"/>
                      </a:endParaRPr>
                    </a:p>
                  </a:txBody>
                  <a:tcPr marL="0" marR="0" marT="20955" marB="0">
                    <a:lnT w="12700">
                      <a:solidFill>
                        <a:srgbClr val="000000"/>
                      </a:solidFill>
                      <a:prstDash val="solid"/>
                    </a:lnT>
                    <a:lnB w="12700">
                      <a:solidFill>
                        <a:srgbClr val="000000"/>
                      </a:solidFill>
                      <a:prstDash val="solid"/>
                    </a:lnB>
                  </a:tcPr>
                </a:tc>
                <a:tc>
                  <a:txBody>
                    <a:bodyPr/>
                    <a:lstStyle/>
                    <a:p>
                      <a:pPr marL="184785">
                        <a:lnSpc>
                          <a:spcPct val="100000"/>
                        </a:lnSpc>
                        <a:spcBef>
                          <a:spcPts val="165"/>
                        </a:spcBef>
                      </a:pPr>
                      <a:r>
                        <a:rPr sz="2100" spc="-50" dirty="0">
                          <a:latin typeface="Arial"/>
                          <a:cs typeface="Arial"/>
                        </a:rPr>
                        <a:t>0</a:t>
                      </a:r>
                      <a:endParaRPr sz="2100">
                        <a:latin typeface="Arial"/>
                        <a:cs typeface="Arial"/>
                      </a:endParaRPr>
                    </a:p>
                  </a:txBody>
                  <a:tcPr marL="0" marR="0" marT="2095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5"/>
                        </a:spcBef>
                      </a:pPr>
                      <a:r>
                        <a:rPr sz="2100" spc="-20" dirty="0">
                          <a:latin typeface="Arial"/>
                          <a:cs typeface="Arial"/>
                        </a:rPr>
                        <a:t>0100</a:t>
                      </a:r>
                      <a:endParaRPr sz="2100">
                        <a:latin typeface="Arial"/>
                        <a:cs typeface="Arial"/>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17830">
                <a:tc>
                  <a:txBody>
                    <a:bodyPr/>
                    <a:lstStyle/>
                    <a:p>
                      <a:pPr marR="73025" algn="r">
                        <a:lnSpc>
                          <a:spcPct val="100000"/>
                        </a:lnSpc>
                        <a:spcBef>
                          <a:spcPts val="175"/>
                        </a:spcBef>
                      </a:pPr>
                      <a:r>
                        <a:rPr sz="2100" spc="-50" dirty="0">
                          <a:latin typeface="Arial"/>
                          <a:cs typeface="Arial"/>
                        </a:rPr>
                        <a:t>1</a:t>
                      </a:r>
                      <a:endParaRPr sz="2100">
                        <a:latin typeface="Arial"/>
                        <a:cs typeface="Arial"/>
                      </a:endParaRPr>
                    </a:p>
                  </a:txBody>
                  <a:tcPr marL="0" marR="0" marT="2222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287655">
                        <a:lnSpc>
                          <a:spcPct val="100000"/>
                        </a:lnSpc>
                        <a:spcBef>
                          <a:spcPts val="175"/>
                        </a:spcBef>
                      </a:pPr>
                      <a:r>
                        <a:rPr sz="2100" spc="-50" dirty="0">
                          <a:latin typeface="Arial"/>
                          <a:cs typeface="Arial"/>
                        </a:rPr>
                        <a:t>1</a:t>
                      </a:r>
                      <a:endParaRPr sz="2100">
                        <a:latin typeface="Arial"/>
                        <a:cs typeface="Arial"/>
                      </a:endParaRPr>
                    </a:p>
                  </a:txBody>
                  <a:tcPr marL="0" marR="0" marT="22225" marB="0">
                    <a:lnT w="12700">
                      <a:solidFill>
                        <a:srgbClr val="000000"/>
                      </a:solidFill>
                      <a:prstDash val="solid"/>
                    </a:lnT>
                    <a:lnB w="12700">
                      <a:solidFill>
                        <a:srgbClr val="000000"/>
                      </a:solidFill>
                      <a:prstDash val="solid"/>
                    </a:lnB>
                  </a:tcPr>
                </a:tc>
                <a:tc>
                  <a:txBody>
                    <a:bodyPr/>
                    <a:lstStyle/>
                    <a:p>
                      <a:pPr marL="184785">
                        <a:lnSpc>
                          <a:spcPct val="100000"/>
                        </a:lnSpc>
                        <a:spcBef>
                          <a:spcPts val="175"/>
                        </a:spcBef>
                      </a:pPr>
                      <a:r>
                        <a:rPr sz="2100" spc="-50" dirty="0">
                          <a:latin typeface="Arial"/>
                          <a:cs typeface="Arial"/>
                        </a:rPr>
                        <a:t>1</a:t>
                      </a:r>
                      <a:endParaRPr sz="2100">
                        <a:latin typeface="Arial"/>
                        <a:cs typeface="Arial"/>
                      </a:endParaRPr>
                    </a:p>
                  </a:txBody>
                  <a:tcPr marL="0" marR="0" marT="2222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5"/>
                        </a:spcBef>
                      </a:pPr>
                      <a:r>
                        <a:rPr sz="2100" spc="-20" dirty="0">
                          <a:latin typeface="Arial"/>
                          <a:cs typeface="Arial"/>
                        </a:rPr>
                        <a:t>1000</a:t>
                      </a:r>
                      <a:endParaRPr sz="2100">
                        <a:latin typeface="Arial"/>
                        <a:cs typeface="Arial"/>
                      </a:endParaRPr>
                    </a:p>
                  </a:txBody>
                  <a:tcPr marL="0" marR="0" marT="22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6899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3.2.1</a:t>
            </a:r>
            <a:r>
              <a:rPr spc="20" dirty="0">
                <a:latin typeface="Arial"/>
                <a:cs typeface="Arial"/>
              </a:rPr>
              <a:t> </a:t>
            </a:r>
            <a:r>
              <a:rPr dirty="0">
                <a:latin typeface="Calibri"/>
                <a:cs typeface="Calibri"/>
              </a:rPr>
              <a:t>if-</a:t>
            </a:r>
            <a:r>
              <a:rPr spc="-10" dirty="0">
                <a:latin typeface="Calibri"/>
                <a:cs typeface="Calibri"/>
              </a:rPr>
              <a:t>else</a:t>
            </a:r>
            <a:r>
              <a:rPr dirty="0"/>
              <a:t>语句</a:t>
            </a:r>
            <a:r>
              <a:rPr spc="-20" dirty="0">
                <a:latin typeface="Arial"/>
                <a:cs typeface="Arial"/>
              </a:rPr>
              <a:t>----</a:t>
            </a:r>
            <a:r>
              <a:rPr spc="-25" dirty="0"/>
              <a:t>实例</a:t>
            </a:r>
          </a:p>
        </p:txBody>
      </p:sp>
      <p:grpSp>
        <p:nvGrpSpPr>
          <p:cNvPr id="3" name="object 3"/>
          <p:cNvGrpSpPr/>
          <p:nvPr/>
        </p:nvGrpSpPr>
        <p:grpSpPr>
          <a:xfrm>
            <a:off x="5737745" y="2142744"/>
            <a:ext cx="4585970" cy="4121785"/>
            <a:chOff x="5737745" y="2142744"/>
            <a:chExt cx="4585970" cy="4121785"/>
          </a:xfrm>
        </p:grpSpPr>
        <p:sp>
          <p:nvSpPr>
            <p:cNvPr id="4" name="object 4"/>
            <p:cNvSpPr/>
            <p:nvPr/>
          </p:nvSpPr>
          <p:spPr>
            <a:xfrm>
              <a:off x="5741555" y="2147316"/>
              <a:ext cx="4578350" cy="4113529"/>
            </a:xfrm>
            <a:custGeom>
              <a:avLst/>
              <a:gdLst/>
              <a:ahLst/>
              <a:cxnLst/>
              <a:rect l="l" t="t" r="r" b="b"/>
              <a:pathLst>
                <a:path w="4578350" h="4113529">
                  <a:moveTo>
                    <a:pt x="4578096" y="4113276"/>
                  </a:moveTo>
                  <a:lnTo>
                    <a:pt x="4578096" y="0"/>
                  </a:lnTo>
                  <a:lnTo>
                    <a:pt x="0" y="0"/>
                  </a:lnTo>
                  <a:lnTo>
                    <a:pt x="0" y="4113276"/>
                  </a:lnTo>
                  <a:lnTo>
                    <a:pt x="4578096" y="4113276"/>
                  </a:lnTo>
                  <a:close/>
                </a:path>
              </a:pathLst>
            </a:custGeom>
            <a:solidFill>
              <a:srgbClr val="F9FABA"/>
            </a:solidFill>
          </p:spPr>
          <p:txBody>
            <a:bodyPr wrap="square" lIns="0" tIns="0" rIns="0" bIns="0" rtlCol="0"/>
            <a:lstStyle/>
            <a:p>
              <a:endParaRPr/>
            </a:p>
          </p:txBody>
        </p:sp>
        <p:sp>
          <p:nvSpPr>
            <p:cNvPr id="5" name="object 5"/>
            <p:cNvSpPr/>
            <p:nvPr/>
          </p:nvSpPr>
          <p:spPr>
            <a:xfrm>
              <a:off x="5737745" y="2142744"/>
              <a:ext cx="4585970" cy="4121785"/>
            </a:xfrm>
            <a:custGeom>
              <a:avLst/>
              <a:gdLst/>
              <a:ahLst/>
              <a:cxnLst/>
              <a:rect l="l" t="t" r="r" b="b"/>
              <a:pathLst>
                <a:path w="4585970" h="4121785">
                  <a:moveTo>
                    <a:pt x="4585716" y="4120134"/>
                  </a:moveTo>
                  <a:lnTo>
                    <a:pt x="4585716" y="2285"/>
                  </a:lnTo>
                  <a:lnTo>
                    <a:pt x="4584192" y="0"/>
                  </a:lnTo>
                  <a:lnTo>
                    <a:pt x="1523" y="0"/>
                  </a:lnTo>
                  <a:lnTo>
                    <a:pt x="0" y="2286"/>
                  </a:lnTo>
                  <a:lnTo>
                    <a:pt x="0" y="4120134"/>
                  </a:lnTo>
                  <a:lnTo>
                    <a:pt x="1524" y="4121658"/>
                  </a:lnTo>
                  <a:lnTo>
                    <a:pt x="3810" y="4121658"/>
                  </a:lnTo>
                  <a:lnTo>
                    <a:pt x="3810" y="8382"/>
                  </a:lnTo>
                  <a:lnTo>
                    <a:pt x="8382" y="4572"/>
                  </a:lnTo>
                  <a:lnTo>
                    <a:pt x="8382" y="8382"/>
                  </a:lnTo>
                  <a:lnTo>
                    <a:pt x="4577334" y="8381"/>
                  </a:lnTo>
                  <a:lnTo>
                    <a:pt x="4577334" y="4571"/>
                  </a:lnTo>
                  <a:lnTo>
                    <a:pt x="4581906" y="8381"/>
                  </a:lnTo>
                  <a:lnTo>
                    <a:pt x="4581906" y="4121658"/>
                  </a:lnTo>
                  <a:lnTo>
                    <a:pt x="4584192" y="4121658"/>
                  </a:lnTo>
                  <a:lnTo>
                    <a:pt x="4585716" y="4120134"/>
                  </a:lnTo>
                  <a:close/>
                </a:path>
                <a:path w="4585970" h="4121785">
                  <a:moveTo>
                    <a:pt x="8382" y="8382"/>
                  </a:moveTo>
                  <a:lnTo>
                    <a:pt x="8382" y="4572"/>
                  </a:lnTo>
                  <a:lnTo>
                    <a:pt x="3810" y="8382"/>
                  </a:lnTo>
                  <a:lnTo>
                    <a:pt x="8382" y="8382"/>
                  </a:lnTo>
                  <a:close/>
                </a:path>
                <a:path w="4585970" h="4121785">
                  <a:moveTo>
                    <a:pt x="8382" y="4113276"/>
                  </a:moveTo>
                  <a:lnTo>
                    <a:pt x="8382" y="8382"/>
                  </a:lnTo>
                  <a:lnTo>
                    <a:pt x="3810" y="8382"/>
                  </a:lnTo>
                  <a:lnTo>
                    <a:pt x="3810" y="4113276"/>
                  </a:lnTo>
                  <a:lnTo>
                    <a:pt x="8382" y="4113276"/>
                  </a:lnTo>
                  <a:close/>
                </a:path>
                <a:path w="4585970" h="4121785">
                  <a:moveTo>
                    <a:pt x="4581906" y="4113276"/>
                  </a:moveTo>
                  <a:lnTo>
                    <a:pt x="3810" y="4113276"/>
                  </a:lnTo>
                  <a:lnTo>
                    <a:pt x="8382" y="4117848"/>
                  </a:lnTo>
                  <a:lnTo>
                    <a:pt x="8382" y="4121658"/>
                  </a:lnTo>
                  <a:lnTo>
                    <a:pt x="4577334" y="4121658"/>
                  </a:lnTo>
                  <a:lnTo>
                    <a:pt x="4577334" y="4117848"/>
                  </a:lnTo>
                  <a:lnTo>
                    <a:pt x="4581906" y="4113276"/>
                  </a:lnTo>
                  <a:close/>
                </a:path>
                <a:path w="4585970" h="4121785">
                  <a:moveTo>
                    <a:pt x="8382" y="4121658"/>
                  </a:moveTo>
                  <a:lnTo>
                    <a:pt x="8382" y="4117848"/>
                  </a:lnTo>
                  <a:lnTo>
                    <a:pt x="3810" y="4113276"/>
                  </a:lnTo>
                  <a:lnTo>
                    <a:pt x="3810" y="4121658"/>
                  </a:lnTo>
                  <a:lnTo>
                    <a:pt x="8382" y="4121658"/>
                  </a:lnTo>
                  <a:close/>
                </a:path>
                <a:path w="4585970" h="4121785">
                  <a:moveTo>
                    <a:pt x="4581906" y="8381"/>
                  </a:moveTo>
                  <a:lnTo>
                    <a:pt x="4577334" y="4571"/>
                  </a:lnTo>
                  <a:lnTo>
                    <a:pt x="4577334" y="8381"/>
                  </a:lnTo>
                  <a:lnTo>
                    <a:pt x="4581906" y="8381"/>
                  </a:lnTo>
                  <a:close/>
                </a:path>
                <a:path w="4585970" h="4121785">
                  <a:moveTo>
                    <a:pt x="4581906" y="4113276"/>
                  </a:moveTo>
                  <a:lnTo>
                    <a:pt x="4581906" y="8381"/>
                  </a:lnTo>
                  <a:lnTo>
                    <a:pt x="4577334" y="8381"/>
                  </a:lnTo>
                  <a:lnTo>
                    <a:pt x="4577334" y="4113276"/>
                  </a:lnTo>
                  <a:lnTo>
                    <a:pt x="4581906" y="4113276"/>
                  </a:lnTo>
                  <a:close/>
                </a:path>
                <a:path w="4585970" h="4121785">
                  <a:moveTo>
                    <a:pt x="4581906" y="4121658"/>
                  </a:moveTo>
                  <a:lnTo>
                    <a:pt x="4581906" y="4113276"/>
                  </a:lnTo>
                  <a:lnTo>
                    <a:pt x="4577334" y="4117848"/>
                  </a:lnTo>
                  <a:lnTo>
                    <a:pt x="4577334" y="4121658"/>
                  </a:lnTo>
                  <a:lnTo>
                    <a:pt x="4581906" y="4121658"/>
                  </a:lnTo>
                  <a:close/>
                </a:path>
              </a:pathLst>
            </a:custGeom>
            <a:solidFill>
              <a:srgbClr val="000000"/>
            </a:solidFill>
          </p:spPr>
          <p:txBody>
            <a:bodyPr wrap="square" lIns="0" tIns="0" rIns="0" bIns="0" rtlCol="0"/>
            <a:lstStyle/>
            <a:p>
              <a:endParaRPr/>
            </a:p>
          </p:txBody>
        </p:sp>
      </p:grpSp>
      <p:sp>
        <p:nvSpPr>
          <p:cNvPr id="6" name="object 6"/>
          <p:cNvSpPr txBox="1">
            <a:spLocks noGrp="1"/>
          </p:cNvSpPr>
          <p:nvPr>
            <p:ph sz="half" idx="3"/>
          </p:nvPr>
        </p:nvSpPr>
        <p:spPr>
          <a:prstGeom prst="rect">
            <a:avLst/>
          </a:prstGeom>
        </p:spPr>
        <p:txBody>
          <a:bodyPr vert="horz" wrap="square" lIns="0" tIns="128905" rIns="0" bIns="0" rtlCol="0">
            <a:spAutoFit/>
          </a:bodyPr>
          <a:lstStyle/>
          <a:p>
            <a:pPr marL="12700">
              <a:lnSpc>
                <a:spcPct val="100000"/>
              </a:lnSpc>
              <a:spcBef>
                <a:spcPts val="1015"/>
              </a:spcBef>
            </a:pPr>
            <a:r>
              <a:rPr dirty="0"/>
              <a:t>例</a:t>
            </a:r>
            <a:r>
              <a:rPr dirty="0">
                <a:latin typeface="Arial"/>
                <a:cs typeface="Arial"/>
              </a:rPr>
              <a:t>3.5</a:t>
            </a:r>
            <a:r>
              <a:rPr spc="250" dirty="0">
                <a:latin typeface="Arial"/>
                <a:cs typeface="Arial"/>
              </a:rPr>
              <a:t> </a:t>
            </a:r>
            <a:r>
              <a:rPr dirty="0"/>
              <a:t>使用</a:t>
            </a:r>
            <a:r>
              <a:rPr dirty="0">
                <a:latin typeface="Arial"/>
                <a:cs typeface="Arial"/>
              </a:rPr>
              <a:t>if</a:t>
            </a:r>
            <a:r>
              <a:rPr spc="-5" dirty="0"/>
              <a:t>语句实现的二进制译码器</a:t>
            </a:r>
          </a:p>
          <a:p>
            <a:pPr marL="67945">
              <a:lnSpc>
                <a:spcPct val="100000"/>
              </a:lnSpc>
              <a:spcBef>
                <a:spcPts val="925"/>
              </a:spcBef>
            </a:pPr>
            <a:r>
              <a:rPr dirty="0">
                <a:solidFill>
                  <a:srgbClr val="000000"/>
                </a:solidFill>
                <a:latin typeface="Arial"/>
                <a:cs typeface="Arial"/>
              </a:rPr>
              <a:t>module</a:t>
            </a:r>
            <a:r>
              <a:rPr spc="55" dirty="0">
                <a:solidFill>
                  <a:srgbClr val="000000"/>
                </a:solidFill>
                <a:latin typeface="Arial"/>
                <a:cs typeface="Arial"/>
              </a:rPr>
              <a:t> </a:t>
            </a:r>
            <a:r>
              <a:rPr b="0" dirty="0">
                <a:solidFill>
                  <a:srgbClr val="000000"/>
                </a:solidFill>
                <a:latin typeface="Arial"/>
                <a:cs typeface="Arial"/>
              </a:rPr>
              <a:t>decoder_2_4_if(</a:t>
            </a:r>
            <a:r>
              <a:rPr dirty="0">
                <a:solidFill>
                  <a:srgbClr val="000000"/>
                </a:solidFill>
                <a:latin typeface="Arial"/>
                <a:cs typeface="Arial"/>
              </a:rPr>
              <a:t>input</a:t>
            </a:r>
            <a:r>
              <a:rPr spc="60" dirty="0">
                <a:solidFill>
                  <a:srgbClr val="000000"/>
                </a:solidFill>
                <a:latin typeface="Arial"/>
                <a:cs typeface="Arial"/>
              </a:rPr>
              <a:t> </a:t>
            </a:r>
            <a:r>
              <a:rPr b="0" dirty="0">
                <a:solidFill>
                  <a:srgbClr val="000000"/>
                </a:solidFill>
                <a:latin typeface="Arial"/>
                <a:cs typeface="Arial"/>
              </a:rPr>
              <a:t>[1:0]</a:t>
            </a:r>
            <a:r>
              <a:rPr b="0" spc="65" dirty="0">
                <a:solidFill>
                  <a:srgbClr val="000000"/>
                </a:solidFill>
                <a:latin typeface="Arial"/>
                <a:cs typeface="Arial"/>
              </a:rPr>
              <a:t> </a:t>
            </a:r>
            <a:r>
              <a:rPr b="0" dirty="0">
                <a:solidFill>
                  <a:srgbClr val="000000"/>
                </a:solidFill>
                <a:latin typeface="Arial"/>
                <a:cs typeface="Arial"/>
              </a:rPr>
              <a:t>a,</a:t>
            </a:r>
            <a:r>
              <a:rPr dirty="0">
                <a:solidFill>
                  <a:srgbClr val="000000"/>
                </a:solidFill>
                <a:latin typeface="Arial"/>
                <a:cs typeface="Arial"/>
              </a:rPr>
              <a:t>input</a:t>
            </a:r>
            <a:r>
              <a:rPr spc="55" dirty="0">
                <a:solidFill>
                  <a:srgbClr val="000000"/>
                </a:solidFill>
                <a:latin typeface="Arial"/>
                <a:cs typeface="Arial"/>
              </a:rPr>
              <a:t> </a:t>
            </a:r>
            <a:r>
              <a:rPr b="0" spc="-25" dirty="0">
                <a:solidFill>
                  <a:srgbClr val="000000"/>
                </a:solidFill>
                <a:latin typeface="Arial"/>
                <a:cs typeface="Arial"/>
              </a:rPr>
              <a:t>en,</a:t>
            </a:r>
          </a:p>
          <a:p>
            <a:pPr marL="741680">
              <a:lnSpc>
                <a:spcPct val="100000"/>
              </a:lnSpc>
              <a:spcBef>
                <a:spcPts val="415"/>
              </a:spcBef>
            </a:pPr>
            <a:r>
              <a:rPr dirty="0">
                <a:solidFill>
                  <a:srgbClr val="000000"/>
                </a:solidFill>
                <a:latin typeface="Arial"/>
                <a:cs typeface="Arial"/>
              </a:rPr>
              <a:t>output</a:t>
            </a:r>
            <a:r>
              <a:rPr spc="490" dirty="0">
                <a:solidFill>
                  <a:srgbClr val="000000"/>
                </a:solidFill>
                <a:latin typeface="Arial"/>
                <a:cs typeface="Arial"/>
              </a:rPr>
              <a:t> </a:t>
            </a:r>
            <a:r>
              <a:rPr dirty="0">
                <a:solidFill>
                  <a:srgbClr val="000000"/>
                </a:solidFill>
                <a:latin typeface="Arial"/>
                <a:cs typeface="Arial"/>
              </a:rPr>
              <a:t>reg</a:t>
            </a:r>
            <a:r>
              <a:rPr spc="40" dirty="0">
                <a:solidFill>
                  <a:srgbClr val="000000"/>
                </a:solidFill>
                <a:latin typeface="Arial"/>
                <a:cs typeface="Arial"/>
              </a:rPr>
              <a:t> </a:t>
            </a:r>
            <a:r>
              <a:rPr b="0" dirty="0">
                <a:solidFill>
                  <a:srgbClr val="000000"/>
                </a:solidFill>
                <a:latin typeface="Arial"/>
                <a:cs typeface="Arial"/>
              </a:rPr>
              <a:t>[3:0]</a:t>
            </a:r>
            <a:r>
              <a:rPr b="0" spc="45" dirty="0">
                <a:solidFill>
                  <a:srgbClr val="000000"/>
                </a:solidFill>
                <a:latin typeface="Arial"/>
                <a:cs typeface="Arial"/>
              </a:rPr>
              <a:t> </a:t>
            </a:r>
            <a:r>
              <a:rPr b="0" spc="-25" dirty="0">
                <a:solidFill>
                  <a:srgbClr val="000000"/>
                </a:solidFill>
                <a:latin typeface="Arial"/>
                <a:cs typeface="Arial"/>
              </a:rPr>
              <a:t>y);</a:t>
            </a:r>
          </a:p>
          <a:p>
            <a:pPr marL="791845">
              <a:lnSpc>
                <a:spcPct val="100000"/>
              </a:lnSpc>
              <a:spcBef>
                <a:spcPts val="409"/>
              </a:spcBef>
            </a:pPr>
            <a:r>
              <a:rPr dirty="0">
                <a:solidFill>
                  <a:srgbClr val="000000"/>
                </a:solidFill>
                <a:latin typeface="Arial"/>
                <a:cs typeface="Arial"/>
              </a:rPr>
              <a:t>always</a:t>
            </a:r>
            <a:r>
              <a:rPr spc="30" dirty="0">
                <a:solidFill>
                  <a:srgbClr val="000000"/>
                </a:solidFill>
                <a:latin typeface="Arial"/>
                <a:cs typeface="Arial"/>
              </a:rPr>
              <a:t> </a:t>
            </a:r>
            <a:r>
              <a:rPr b="0" spc="-35" dirty="0">
                <a:solidFill>
                  <a:srgbClr val="000000"/>
                </a:solidFill>
                <a:latin typeface="Arial"/>
                <a:cs typeface="Arial"/>
              </a:rPr>
              <a:t>@*</a:t>
            </a:r>
          </a:p>
          <a:p>
            <a:pPr marL="814069">
              <a:lnSpc>
                <a:spcPct val="100000"/>
              </a:lnSpc>
              <a:spcBef>
                <a:spcPts val="409"/>
              </a:spcBef>
            </a:pPr>
            <a:r>
              <a:rPr dirty="0">
                <a:solidFill>
                  <a:srgbClr val="000000"/>
                </a:solidFill>
                <a:latin typeface="Arial"/>
                <a:cs typeface="Arial"/>
              </a:rPr>
              <a:t>if</a:t>
            </a:r>
            <a:r>
              <a:rPr spc="15" dirty="0">
                <a:solidFill>
                  <a:srgbClr val="000000"/>
                </a:solidFill>
                <a:latin typeface="Arial"/>
                <a:cs typeface="Arial"/>
              </a:rPr>
              <a:t> </a:t>
            </a:r>
            <a:r>
              <a:rPr b="0" spc="-10" dirty="0">
                <a:solidFill>
                  <a:srgbClr val="000000"/>
                </a:solidFill>
                <a:latin typeface="Arial"/>
                <a:cs typeface="Arial"/>
              </a:rPr>
              <a:t>(en==1’b0)</a:t>
            </a:r>
          </a:p>
          <a:p>
            <a:pPr marL="1615440">
              <a:lnSpc>
                <a:spcPct val="100000"/>
              </a:lnSpc>
              <a:spcBef>
                <a:spcPts val="415"/>
              </a:spcBef>
            </a:pPr>
            <a:r>
              <a:rPr b="0" dirty="0">
                <a:solidFill>
                  <a:srgbClr val="000000"/>
                </a:solidFill>
                <a:latin typeface="Arial"/>
                <a:cs typeface="Arial"/>
              </a:rPr>
              <a:t>y</a:t>
            </a:r>
            <a:r>
              <a:rPr b="0" spc="10" dirty="0">
                <a:solidFill>
                  <a:srgbClr val="000000"/>
                </a:solidFill>
                <a:latin typeface="Arial"/>
                <a:cs typeface="Arial"/>
              </a:rPr>
              <a:t> </a:t>
            </a:r>
            <a:r>
              <a:rPr b="0" dirty="0">
                <a:solidFill>
                  <a:srgbClr val="000000"/>
                </a:solidFill>
                <a:latin typeface="Arial"/>
                <a:cs typeface="Arial"/>
              </a:rPr>
              <a:t>=</a:t>
            </a:r>
            <a:r>
              <a:rPr b="0" spc="15" dirty="0">
                <a:solidFill>
                  <a:srgbClr val="000000"/>
                </a:solidFill>
                <a:latin typeface="Arial"/>
                <a:cs typeface="Arial"/>
              </a:rPr>
              <a:t> </a:t>
            </a:r>
            <a:r>
              <a:rPr b="0" spc="-10" dirty="0">
                <a:solidFill>
                  <a:srgbClr val="000000"/>
                </a:solidFill>
                <a:latin typeface="Arial"/>
                <a:cs typeface="Arial"/>
              </a:rPr>
              <a:t>4'b0000;</a:t>
            </a:r>
          </a:p>
          <a:p>
            <a:pPr marL="814069">
              <a:lnSpc>
                <a:spcPct val="100000"/>
              </a:lnSpc>
              <a:spcBef>
                <a:spcPts val="415"/>
              </a:spcBef>
            </a:pPr>
            <a:r>
              <a:rPr dirty="0">
                <a:solidFill>
                  <a:srgbClr val="000000"/>
                </a:solidFill>
                <a:latin typeface="Arial"/>
                <a:cs typeface="Arial"/>
              </a:rPr>
              <a:t>else</a:t>
            </a:r>
            <a:r>
              <a:rPr spc="15" dirty="0">
                <a:solidFill>
                  <a:srgbClr val="000000"/>
                </a:solidFill>
                <a:latin typeface="Arial"/>
                <a:cs typeface="Arial"/>
              </a:rPr>
              <a:t> </a:t>
            </a:r>
            <a:r>
              <a:rPr dirty="0">
                <a:solidFill>
                  <a:srgbClr val="000000"/>
                </a:solidFill>
                <a:latin typeface="Arial"/>
                <a:cs typeface="Arial"/>
              </a:rPr>
              <a:t>if</a:t>
            </a:r>
            <a:r>
              <a:rPr spc="20" dirty="0">
                <a:solidFill>
                  <a:srgbClr val="000000"/>
                </a:solidFill>
                <a:latin typeface="Arial"/>
                <a:cs typeface="Arial"/>
              </a:rPr>
              <a:t> </a:t>
            </a:r>
            <a:r>
              <a:rPr b="0" spc="-10" dirty="0">
                <a:solidFill>
                  <a:srgbClr val="000000"/>
                </a:solidFill>
                <a:latin typeface="Arial"/>
                <a:cs typeface="Arial"/>
              </a:rPr>
              <a:t>(a==2'b00)</a:t>
            </a:r>
          </a:p>
          <a:p>
            <a:pPr marL="1615440">
              <a:lnSpc>
                <a:spcPct val="100000"/>
              </a:lnSpc>
              <a:spcBef>
                <a:spcPts val="409"/>
              </a:spcBef>
            </a:pPr>
            <a:r>
              <a:rPr b="0" dirty="0">
                <a:solidFill>
                  <a:srgbClr val="000000"/>
                </a:solidFill>
                <a:latin typeface="Arial"/>
                <a:cs typeface="Arial"/>
              </a:rPr>
              <a:t>y</a:t>
            </a:r>
            <a:r>
              <a:rPr b="0" spc="10" dirty="0">
                <a:solidFill>
                  <a:srgbClr val="000000"/>
                </a:solidFill>
                <a:latin typeface="Arial"/>
                <a:cs typeface="Arial"/>
              </a:rPr>
              <a:t> </a:t>
            </a:r>
            <a:r>
              <a:rPr b="0" dirty="0">
                <a:solidFill>
                  <a:srgbClr val="000000"/>
                </a:solidFill>
                <a:latin typeface="Arial"/>
                <a:cs typeface="Arial"/>
              </a:rPr>
              <a:t>=</a:t>
            </a:r>
            <a:r>
              <a:rPr b="0" spc="15" dirty="0">
                <a:solidFill>
                  <a:srgbClr val="000000"/>
                </a:solidFill>
                <a:latin typeface="Arial"/>
                <a:cs typeface="Arial"/>
              </a:rPr>
              <a:t> </a:t>
            </a:r>
            <a:r>
              <a:rPr b="0" spc="-10" dirty="0">
                <a:solidFill>
                  <a:srgbClr val="000000"/>
                </a:solidFill>
                <a:latin typeface="Arial"/>
                <a:cs typeface="Arial"/>
              </a:rPr>
              <a:t>4'b0001;</a:t>
            </a:r>
          </a:p>
          <a:p>
            <a:pPr marL="869315">
              <a:lnSpc>
                <a:spcPct val="100000"/>
              </a:lnSpc>
              <a:spcBef>
                <a:spcPts val="409"/>
              </a:spcBef>
            </a:pPr>
            <a:r>
              <a:rPr dirty="0">
                <a:solidFill>
                  <a:srgbClr val="000000"/>
                </a:solidFill>
                <a:latin typeface="Arial"/>
                <a:cs typeface="Arial"/>
              </a:rPr>
              <a:t>else</a:t>
            </a:r>
            <a:r>
              <a:rPr spc="20" dirty="0">
                <a:solidFill>
                  <a:srgbClr val="000000"/>
                </a:solidFill>
                <a:latin typeface="Arial"/>
                <a:cs typeface="Arial"/>
              </a:rPr>
              <a:t> </a:t>
            </a:r>
            <a:r>
              <a:rPr dirty="0">
                <a:solidFill>
                  <a:srgbClr val="000000"/>
                </a:solidFill>
                <a:latin typeface="Arial"/>
                <a:cs typeface="Arial"/>
              </a:rPr>
              <a:t>if</a:t>
            </a:r>
            <a:r>
              <a:rPr spc="15" dirty="0">
                <a:solidFill>
                  <a:srgbClr val="000000"/>
                </a:solidFill>
                <a:latin typeface="Arial"/>
                <a:cs typeface="Arial"/>
              </a:rPr>
              <a:t> </a:t>
            </a:r>
            <a:r>
              <a:rPr b="0" spc="-10" dirty="0">
                <a:solidFill>
                  <a:srgbClr val="000000"/>
                </a:solidFill>
                <a:latin typeface="Arial"/>
                <a:cs typeface="Arial"/>
              </a:rPr>
              <a:t>(a==2'b01)</a:t>
            </a:r>
          </a:p>
          <a:p>
            <a:pPr marL="1615440">
              <a:lnSpc>
                <a:spcPct val="100000"/>
              </a:lnSpc>
              <a:spcBef>
                <a:spcPts val="415"/>
              </a:spcBef>
            </a:pPr>
            <a:r>
              <a:rPr b="0" dirty="0">
                <a:solidFill>
                  <a:srgbClr val="000000"/>
                </a:solidFill>
                <a:latin typeface="Arial"/>
                <a:cs typeface="Arial"/>
              </a:rPr>
              <a:t>y</a:t>
            </a:r>
            <a:r>
              <a:rPr b="0" spc="10" dirty="0">
                <a:solidFill>
                  <a:srgbClr val="000000"/>
                </a:solidFill>
                <a:latin typeface="Arial"/>
                <a:cs typeface="Arial"/>
              </a:rPr>
              <a:t> </a:t>
            </a:r>
            <a:r>
              <a:rPr b="0" dirty="0">
                <a:solidFill>
                  <a:srgbClr val="000000"/>
                </a:solidFill>
                <a:latin typeface="Arial"/>
                <a:cs typeface="Arial"/>
              </a:rPr>
              <a:t>=</a:t>
            </a:r>
            <a:r>
              <a:rPr b="0" spc="15" dirty="0">
                <a:solidFill>
                  <a:srgbClr val="000000"/>
                </a:solidFill>
                <a:latin typeface="Arial"/>
                <a:cs typeface="Arial"/>
              </a:rPr>
              <a:t> </a:t>
            </a:r>
            <a:r>
              <a:rPr b="0" spc="-10" dirty="0">
                <a:solidFill>
                  <a:srgbClr val="000000"/>
                </a:solidFill>
                <a:latin typeface="Arial"/>
                <a:cs typeface="Arial"/>
              </a:rPr>
              <a:t>4'b0010;</a:t>
            </a:r>
          </a:p>
          <a:p>
            <a:pPr marL="814069">
              <a:lnSpc>
                <a:spcPct val="100000"/>
              </a:lnSpc>
              <a:spcBef>
                <a:spcPts val="415"/>
              </a:spcBef>
            </a:pPr>
            <a:r>
              <a:rPr dirty="0">
                <a:solidFill>
                  <a:srgbClr val="000000"/>
                </a:solidFill>
                <a:latin typeface="Arial"/>
                <a:cs typeface="Arial"/>
              </a:rPr>
              <a:t>else</a:t>
            </a:r>
            <a:r>
              <a:rPr spc="15" dirty="0">
                <a:solidFill>
                  <a:srgbClr val="000000"/>
                </a:solidFill>
                <a:latin typeface="Arial"/>
                <a:cs typeface="Arial"/>
              </a:rPr>
              <a:t> </a:t>
            </a:r>
            <a:r>
              <a:rPr dirty="0">
                <a:solidFill>
                  <a:srgbClr val="000000"/>
                </a:solidFill>
                <a:latin typeface="Arial"/>
                <a:cs typeface="Arial"/>
              </a:rPr>
              <a:t>if</a:t>
            </a:r>
            <a:r>
              <a:rPr spc="20" dirty="0">
                <a:solidFill>
                  <a:srgbClr val="000000"/>
                </a:solidFill>
                <a:latin typeface="Arial"/>
                <a:cs typeface="Arial"/>
              </a:rPr>
              <a:t> </a:t>
            </a:r>
            <a:r>
              <a:rPr b="0" spc="-10" dirty="0">
                <a:solidFill>
                  <a:srgbClr val="000000"/>
                </a:solidFill>
                <a:latin typeface="Arial"/>
                <a:cs typeface="Arial"/>
              </a:rPr>
              <a:t>(a==2'b10)</a:t>
            </a:r>
          </a:p>
          <a:p>
            <a:pPr marL="1615440">
              <a:lnSpc>
                <a:spcPct val="100000"/>
              </a:lnSpc>
              <a:spcBef>
                <a:spcPts val="409"/>
              </a:spcBef>
            </a:pPr>
            <a:r>
              <a:rPr b="0" dirty="0">
                <a:solidFill>
                  <a:srgbClr val="000000"/>
                </a:solidFill>
                <a:latin typeface="Arial"/>
                <a:cs typeface="Arial"/>
              </a:rPr>
              <a:t>y</a:t>
            </a:r>
            <a:r>
              <a:rPr b="0" spc="10" dirty="0">
                <a:solidFill>
                  <a:srgbClr val="000000"/>
                </a:solidFill>
                <a:latin typeface="Arial"/>
                <a:cs typeface="Arial"/>
              </a:rPr>
              <a:t> </a:t>
            </a:r>
            <a:r>
              <a:rPr b="0" dirty="0">
                <a:solidFill>
                  <a:srgbClr val="000000"/>
                </a:solidFill>
                <a:latin typeface="Arial"/>
                <a:cs typeface="Arial"/>
              </a:rPr>
              <a:t>=</a:t>
            </a:r>
            <a:r>
              <a:rPr b="0" spc="15" dirty="0">
                <a:solidFill>
                  <a:srgbClr val="000000"/>
                </a:solidFill>
                <a:latin typeface="Arial"/>
                <a:cs typeface="Arial"/>
              </a:rPr>
              <a:t> </a:t>
            </a:r>
            <a:r>
              <a:rPr b="0" spc="-10" dirty="0">
                <a:solidFill>
                  <a:srgbClr val="000000"/>
                </a:solidFill>
                <a:latin typeface="Arial"/>
                <a:cs typeface="Arial"/>
              </a:rPr>
              <a:t>4'b0100;</a:t>
            </a:r>
          </a:p>
          <a:p>
            <a:pPr marL="814069">
              <a:lnSpc>
                <a:spcPct val="100000"/>
              </a:lnSpc>
              <a:spcBef>
                <a:spcPts val="414"/>
              </a:spcBef>
            </a:pPr>
            <a:r>
              <a:rPr spc="-20" dirty="0">
                <a:solidFill>
                  <a:srgbClr val="000000"/>
                </a:solidFill>
                <a:latin typeface="Arial"/>
                <a:cs typeface="Arial"/>
              </a:rPr>
              <a:t>else</a:t>
            </a:r>
          </a:p>
          <a:p>
            <a:pPr marL="1615440">
              <a:lnSpc>
                <a:spcPct val="100000"/>
              </a:lnSpc>
              <a:spcBef>
                <a:spcPts val="409"/>
              </a:spcBef>
            </a:pPr>
            <a:r>
              <a:rPr b="0" dirty="0">
                <a:solidFill>
                  <a:srgbClr val="000000"/>
                </a:solidFill>
                <a:latin typeface="Arial"/>
                <a:cs typeface="Arial"/>
              </a:rPr>
              <a:t>y</a:t>
            </a:r>
            <a:r>
              <a:rPr b="0" spc="10" dirty="0">
                <a:solidFill>
                  <a:srgbClr val="000000"/>
                </a:solidFill>
                <a:latin typeface="Arial"/>
                <a:cs typeface="Arial"/>
              </a:rPr>
              <a:t> </a:t>
            </a:r>
            <a:r>
              <a:rPr b="0" dirty="0">
                <a:solidFill>
                  <a:srgbClr val="000000"/>
                </a:solidFill>
                <a:latin typeface="Arial"/>
                <a:cs typeface="Arial"/>
              </a:rPr>
              <a:t>=</a:t>
            </a:r>
            <a:r>
              <a:rPr b="0" spc="15" dirty="0">
                <a:solidFill>
                  <a:srgbClr val="000000"/>
                </a:solidFill>
                <a:latin typeface="Arial"/>
                <a:cs typeface="Arial"/>
              </a:rPr>
              <a:t> </a:t>
            </a:r>
            <a:r>
              <a:rPr b="0" spc="-10" dirty="0">
                <a:solidFill>
                  <a:srgbClr val="000000"/>
                </a:solidFill>
                <a:latin typeface="Arial"/>
                <a:cs typeface="Arial"/>
              </a:rPr>
              <a:t>4'b1000;</a:t>
            </a:r>
          </a:p>
          <a:p>
            <a:pPr marL="12700">
              <a:lnSpc>
                <a:spcPct val="100000"/>
              </a:lnSpc>
              <a:spcBef>
                <a:spcPts val="240"/>
              </a:spcBef>
            </a:pPr>
            <a:r>
              <a:rPr spc="-10" dirty="0">
                <a:solidFill>
                  <a:srgbClr val="000000"/>
                </a:solidFill>
                <a:latin typeface="Arial"/>
                <a:cs typeface="Arial"/>
              </a:rPr>
              <a:t>endmodule</a:t>
            </a: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7" name="object 7"/>
          <p:cNvSpPr txBox="1"/>
          <p:nvPr/>
        </p:nvSpPr>
        <p:spPr>
          <a:xfrm>
            <a:off x="445141" y="2269634"/>
            <a:ext cx="5045710" cy="3482340"/>
          </a:xfrm>
          <a:prstGeom prst="rect">
            <a:avLst/>
          </a:prstGeom>
        </p:spPr>
        <p:txBody>
          <a:bodyPr vert="horz" wrap="square" lIns="0" tIns="12700" rIns="0" bIns="0" rtlCol="0">
            <a:spAutoFit/>
          </a:bodyPr>
          <a:lstStyle/>
          <a:p>
            <a:pPr marL="212725" marR="7620" indent="-202565" algn="just">
              <a:lnSpc>
                <a:spcPct val="150300"/>
              </a:lnSpc>
              <a:spcBef>
                <a:spcPts val="100"/>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4</a:t>
            </a:r>
            <a:r>
              <a:rPr sz="2100" b="1" dirty="0">
                <a:solidFill>
                  <a:srgbClr val="3E3E3E"/>
                </a:solidFill>
                <a:latin typeface="微软雅黑"/>
                <a:cs typeface="微软雅黑"/>
              </a:rPr>
              <a:t>位优先译码器代码首先检查使能位</a:t>
            </a:r>
            <a:r>
              <a:rPr sz="2100" b="1" dirty="0">
                <a:solidFill>
                  <a:srgbClr val="3E3E3E"/>
                </a:solidFill>
                <a:latin typeface="Arial"/>
                <a:cs typeface="Arial"/>
              </a:rPr>
              <a:t>en</a:t>
            </a:r>
            <a:r>
              <a:rPr sz="2100" b="1" spc="-50" dirty="0">
                <a:solidFill>
                  <a:srgbClr val="3E3E3E"/>
                </a:solidFill>
                <a:latin typeface="微软雅黑"/>
                <a:cs typeface="微软雅黑"/>
              </a:rPr>
              <a:t>是</a:t>
            </a:r>
            <a:r>
              <a:rPr sz="2100" b="1" spc="80" dirty="0">
                <a:solidFill>
                  <a:srgbClr val="3E3E3E"/>
                </a:solidFill>
                <a:latin typeface="微软雅黑"/>
                <a:cs typeface="微软雅黑"/>
              </a:rPr>
              <a:t>否是</a:t>
            </a:r>
            <a:r>
              <a:rPr sz="2100" b="1" spc="80" dirty="0">
                <a:solidFill>
                  <a:srgbClr val="3E3E3E"/>
                </a:solidFill>
                <a:latin typeface="Arial"/>
                <a:cs typeface="Arial"/>
              </a:rPr>
              <a:t>1</a:t>
            </a:r>
            <a:r>
              <a:rPr sz="2100" b="1" spc="80" dirty="0">
                <a:solidFill>
                  <a:srgbClr val="3E3E3E"/>
                </a:solidFill>
                <a:latin typeface="微软雅黑"/>
                <a:cs typeface="微软雅黑"/>
              </a:rPr>
              <a:t>，如果条件为假（即</a:t>
            </a:r>
            <a:r>
              <a:rPr sz="2100" b="1" dirty="0">
                <a:solidFill>
                  <a:srgbClr val="3E3E3E"/>
                </a:solidFill>
                <a:latin typeface="Arial"/>
                <a:cs typeface="Arial"/>
              </a:rPr>
              <a:t>en</a:t>
            </a:r>
            <a:r>
              <a:rPr sz="2100" b="1" spc="80" dirty="0">
                <a:solidFill>
                  <a:srgbClr val="3E3E3E"/>
                </a:solidFill>
                <a:latin typeface="微软雅黑"/>
                <a:cs typeface="微软雅黑"/>
              </a:rPr>
              <a:t>为</a:t>
            </a:r>
            <a:r>
              <a:rPr sz="2100" b="1" spc="80" dirty="0">
                <a:solidFill>
                  <a:srgbClr val="3E3E3E"/>
                </a:solidFill>
                <a:latin typeface="Arial"/>
                <a:cs typeface="Arial"/>
              </a:rPr>
              <a:t>0</a:t>
            </a:r>
            <a:r>
              <a:rPr sz="2100" b="1" spc="80" dirty="0">
                <a:solidFill>
                  <a:srgbClr val="3E3E3E"/>
                </a:solidFill>
                <a:latin typeface="微软雅黑"/>
                <a:cs typeface="微软雅黑"/>
              </a:rPr>
              <a:t>），</a:t>
            </a:r>
            <a:r>
              <a:rPr sz="2100" b="1" spc="35" dirty="0">
                <a:solidFill>
                  <a:srgbClr val="3E3E3E"/>
                </a:solidFill>
                <a:latin typeface="微软雅黑"/>
                <a:cs typeface="微软雅黑"/>
              </a:rPr>
              <a:t>则</a:t>
            </a:r>
            <a:r>
              <a:rPr sz="2100" b="1" spc="50" dirty="0">
                <a:solidFill>
                  <a:srgbClr val="3E3E3E"/>
                </a:solidFill>
                <a:latin typeface="微软雅黑"/>
                <a:cs typeface="微软雅黑"/>
              </a:rPr>
              <a:t>设置输出</a:t>
            </a:r>
            <a:r>
              <a:rPr sz="2100" b="1" dirty="0">
                <a:solidFill>
                  <a:srgbClr val="3E3E3E"/>
                </a:solidFill>
                <a:latin typeface="Arial"/>
                <a:cs typeface="Arial"/>
              </a:rPr>
              <a:t>y</a:t>
            </a:r>
            <a:r>
              <a:rPr sz="2100" b="1" spc="45" dirty="0">
                <a:solidFill>
                  <a:srgbClr val="3E3E3E"/>
                </a:solidFill>
                <a:latin typeface="微软雅黑"/>
                <a:cs typeface="微软雅黑"/>
              </a:rPr>
              <a:t>为无效状态；如果条件为真，</a:t>
            </a:r>
            <a:r>
              <a:rPr sz="2100" b="1" spc="50" dirty="0">
                <a:solidFill>
                  <a:srgbClr val="3E3E3E"/>
                </a:solidFill>
                <a:latin typeface="微软雅黑"/>
                <a:cs typeface="微软雅黑"/>
              </a:rPr>
              <a:t>则检测</a:t>
            </a:r>
            <a:r>
              <a:rPr sz="2100" b="1" spc="50" dirty="0">
                <a:solidFill>
                  <a:srgbClr val="3E3E3E"/>
                </a:solidFill>
                <a:latin typeface="Arial"/>
                <a:cs typeface="Arial"/>
              </a:rPr>
              <a:t>4</a:t>
            </a:r>
            <a:r>
              <a:rPr sz="2100" b="1" spc="45" dirty="0">
                <a:solidFill>
                  <a:srgbClr val="3E3E3E"/>
                </a:solidFill>
                <a:latin typeface="微软雅黑"/>
                <a:cs typeface="微软雅黑"/>
              </a:rPr>
              <a:t>个二进制数的组合顺序，设置输</a:t>
            </a:r>
            <a:r>
              <a:rPr sz="2100" b="1" dirty="0">
                <a:solidFill>
                  <a:srgbClr val="3E3E3E"/>
                </a:solidFill>
                <a:latin typeface="微软雅黑"/>
                <a:cs typeface="微软雅黑"/>
              </a:rPr>
              <a:t>出</a:t>
            </a:r>
            <a:r>
              <a:rPr sz="2100" b="1" spc="-10" dirty="0">
                <a:solidFill>
                  <a:srgbClr val="3E3E3E"/>
                </a:solidFill>
                <a:latin typeface="Arial"/>
                <a:cs typeface="Arial"/>
              </a:rPr>
              <a:t>y</a:t>
            </a:r>
            <a:r>
              <a:rPr sz="2100" b="1" spc="-15" dirty="0">
                <a:solidFill>
                  <a:srgbClr val="3E3E3E"/>
                </a:solidFill>
                <a:latin typeface="微软雅黑"/>
                <a:cs typeface="微软雅黑"/>
              </a:rPr>
              <a:t>的状态。</a:t>
            </a:r>
            <a:endParaRPr sz="2100">
              <a:latin typeface="微软雅黑"/>
              <a:cs typeface="微软雅黑"/>
            </a:endParaRPr>
          </a:p>
          <a:p>
            <a:pPr marL="212725" marR="5080" indent="-202565" algn="just">
              <a:lnSpc>
                <a:spcPct val="150200"/>
              </a:lnSpc>
              <a:spcBef>
                <a:spcPts val="705"/>
              </a:spcBef>
              <a:buSzPct val="83333"/>
              <a:buFont typeface="Wingdings"/>
              <a:buChar char=""/>
              <a:tabLst>
                <a:tab pos="212725" algn="l"/>
                <a:tab pos="221615" algn="l"/>
              </a:tabLst>
            </a:pPr>
            <a:r>
              <a:rPr sz="2100" dirty="0">
                <a:solidFill>
                  <a:srgbClr val="EC891C"/>
                </a:solidFill>
                <a:latin typeface="微软雅黑"/>
                <a:cs typeface="微软雅黑"/>
              </a:rPr>
              <a:t>	</a:t>
            </a:r>
            <a:r>
              <a:rPr sz="2100" b="1" spc="95" dirty="0">
                <a:solidFill>
                  <a:srgbClr val="3E3E3E"/>
                </a:solidFill>
                <a:latin typeface="微软雅黑"/>
                <a:cs typeface="微软雅黑"/>
              </a:rPr>
              <a:t>注意布尔表达式</a:t>
            </a:r>
            <a:r>
              <a:rPr sz="2100" b="1" dirty="0">
                <a:solidFill>
                  <a:srgbClr val="3E3E3E"/>
                </a:solidFill>
                <a:latin typeface="微软雅黑"/>
                <a:cs typeface="微软雅黑"/>
              </a:rPr>
              <a:t>（</a:t>
            </a:r>
            <a:r>
              <a:rPr sz="2100" b="1" dirty="0">
                <a:solidFill>
                  <a:srgbClr val="3E3E3E"/>
                </a:solidFill>
                <a:latin typeface="Arial"/>
                <a:cs typeface="Arial"/>
              </a:rPr>
              <a:t>en==1’b0</a:t>
            </a:r>
            <a:r>
              <a:rPr sz="2100" b="1" dirty="0">
                <a:solidFill>
                  <a:srgbClr val="3E3E3E"/>
                </a:solidFill>
                <a:latin typeface="微软雅黑"/>
                <a:cs typeface="微软雅黑"/>
              </a:rPr>
              <a:t>）</a:t>
            </a:r>
            <a:r>
              <a:rPr sz="2100" b="1" spc="80" dirty="0">
                <a:solidFill>
                  <a:srgbClr val="3E3E3E"/>
                </a:solidFill>
                <a:latin typeface="微软雅黑"/>
                <a:cs typeface="微软雅黑"/>
              </a:rPr>
              <a:t>也可以写</a:t>
            </a:r>
            <a:r>
              <a:rPr sz="2100" b="1" dirty="0">
                <a:solidFill>
                  <a:srgbClr val="3E3E3E"/>
                </a:solidFill>
                <a:latin typeface="微软雅黑"/>
                <a:cs typeface="微软雅黑"/>
              </a:rPr>
              <a:t>成</a:t>
            </a:r>
            <a:r>
              <a:rPr sz="2100" b="1" spc="-10" dirty="0">
                <a:solidFill>
                  <a:srgbClr val="3E3E3E"/>
                </a:solidFill>
                <a:latin typeface="微软雅黑"/>
                <a:cs typeface="微软雅黑"/>
              </a:rPr>
              <a:t>（</a:t>
            </a:r>
            <a:r>
              <a:rPr sz="2100" b="1" spc="-10" dirty="0">
                <a:solidFill>
                  <a:srgbClr val="3E3E3E"/>
                </a:solidFill>
                <a:latin typeface="Arial"/>
                <a:cs typeface="Arial"/>
              </a:rPr>
              <a:t>~en</a:t>
            </a:r>
            <a:r>
              <a:rPr sz="2100" b="1" spc="-10" dirty="0">
                <a:solidFill>
                  <a:srgbClr val="3E3E3E"/>
                </a:solidFill>
                <a:latin typeface="微软雅黑"/>
                <a:cs typeface="微软雅黑"/>
              </a:rPr>
              <a:t>）</a:t>
            </a:r>
            <a:r>
              <a:rPr sz="2100" b="1" spc="-50" dirty="0">
                <a:solidFill>
                  <a:srgbClr val="3E3E3E"/>
                </a:solidFill>
                <a:latin typeface="微软雅黑"/>
                <a:cs typeface="微软雅黑"/>
              </a:rPr>
              <a:t>。</a:t>
            </a:r>
            <a:endParaRPr sz="2100">
              <a:latin typeface="微软雅黑"/>
              <a:cs typeface="微软雅黑"/>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22669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 </a:t>
            </a:r>
            <a:r>
              <a:rPr spc="-10" dirty="0">
                <a:latin typeface="Calibri"/>
                <a:cs typeface="Calibri"/>
              </a:rPr>
              <a:t>case</a:t>
            </a:r>
            <a:r>
              <a:rPr spc="-25" dirty="0"/>
              <a:t>语句</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714127" y="2158382"/>
            <a:ext cx="9269730" cy="2039620"/>
          </a:xfrm>
          <a:prstGeom prst="rect">
            <a:avLst/>
          </a:prstGeom>
        </p:spPr>
        <p:txBody>
          <a:bodyPr vert="horz" wrap="square" lIns="0" tIns="12700" rIns="0" bIns="0" rtlCol="0">
            <a:spAutoFit/>
          </a:bodyPr>
          <a:lstStyle/>
          <a:p>
            <a:pPr marL="212725" marR="5080" indent="-202565" algn="just">
              <a:lnSpc>
                <a:spcPct val="150400"/>
              </a:lnSpc>
              <a:spcBef>
                <a:spcPts val="100"/>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相对于</a:t>
            </a:r>
            <a:r>
              <a:rPr sz="2100" b="1" dirty="0">
                <a:solidFill>
                  <a:srgbClr val="3E3E3E"/>
                </a:solidFill>
                <a:latin typeface="Arial"/>
                <a:cs typeface="Arial"/>
              </a:rPr>
              <a:t>if</a:t>
            </a:r>
            <a:r>
              <a:rPr sz="2100" b="1" dirty="0">
                <a:solidFill>
                  <a:srgbClr val="3E3E3E"/>
                </a:solidFill>
                <a:latin typeface="微软雅黑"/>
                <a:cs typeface="微软雅黑"/>
              </a:rPr>
              <a:t>语句只有两个分支而言，</a:t>
            </a:r>
            <a:r>
              <a:rPr sz="2100" b="1" dirty="0">
                <a:solidFill>
                  <a:srgbClr val="3E3E3E"/>
                </a:solidFill>
                <a:latin typeface="Arial"/>
                <a:cs typeface="Arial"/>
              </a:rPr>
              <a:t>case</a:t>
            </a:r>
            <a:r>
              <a:rPr sz="2100" b="1" dirty="0">
                <a:solidFill>
                  <a:srgbClr val="3E3E3E"/>
                </a:solidFill>
                <a:latin typeface="微软雅黑"/>
                <a:cs typeface="微软雅黑"/>
              </a:rPr>
              <a:t>语句是一种多分支语句，故</a:t>
            </a:r>
            <a:r>
              <a:rPr sz="2100" b="1" dirty="0">
                <a:solidFill>
                  <a:srgbClr val="3E3E3E"/>
                </a:solidFill>
                <a:latin typeface="Arial"/>
                <a:cs typeface="Arial"/>
              </a:rPr>
              <a:t>case</a:t>
            </a:r>
            <a:r>
              <a:rPr sz="2100" b="1" spc="-25" dirty="0">
                <a:solidFill>
                  <a:srgbClr val="3E3E3E"/>
                </a:solidFill>
                <a:latin typeface="微软雅黑"/>
                <a:cs typeface="微软雅黑"/>
              </a:rPr>
              <a:t>语句</a:t>
            </a:r>
            <a:r>
              <a:rPr sz="2100" b="1" spc="50" dirty="0">
                <a:solidFill>
                  <a:srgbClr val="3E3E3E"/>
                </a:solidFill>
                <a:latin typeface="微软雅黑"/>
                <a:cs typeface="微软雅黑"/>
              </a:rPr>
              <a:t>可用于描述</a:t>
            </a:r>
            <a:r>
              <a:rPr sz="2100" b="1" spc="40" dirty="0">
                <a:solidFill>
                  <a:srgbClr val="FF0000"/>
                </a:solidFill>
                <a:latin typeface="微软雅黑"/>
                <a:cs typeface="微软雅黑"/>
              </a:rPr>
              <a:t>多条件分支电路</a:t>
            </a:r>
            <a:r>
              <a:rPr sz="2100" b="1" spc="45" dirty="0">
                <a:solidFill>
                  <a:srgbClr val="3E3E3E"/>
                </a:solidFill>
                <a:latin typeface="微软雅黑"/>
                <a:cs typeface="微软雅黑"/>
              </a:rPr>
              <a:t>，如译码器、数据选择器、</a:t>
            </a:r>
            <a:r>
              <a:rPr sz="2100" b="1" spc="45" dirty="0">
                <a:solidFill>
                  <a:srgbClr val="C00000"/>
                </a:solidFill>
                <a:latin typeface="微软雅黑"/>
                <a:cs typeface="微软雅黑"/>
              </a:rPr>
              <a:t>状态机</a:t>
            </a:r>
            <a:r>
              <a:rPr sz="2100" b="1" spc="45" dirty="0">
                <a:solidFill>
                  <a:srgbClr val="3E3E3E"/>
                </a:solidFill>
                <a:latin typeface="微软雅黑"/>
                <a:cs typeface="微软雅黑"/>
              </a:rPr>
              <a:t>及微处理器指</a:t>
            </a:r>
            <a:r>
              <a:rPr sz="2100" b="1" spc="-10" dirty="0">
                <a:solidFill>
                  <a:srgbClr val="3E3E3E"/>
                </a:solidFill>
                <a:latin typeface="微软雅黑"/>
                <a:cs typeface="微软雅黑"/>
              </a:rPr>
              <a:t>令译码等。</a:t>
            </a:r>
            <a:endParaRPr sz="2100" dirty="0">
              <a:latin typeface="微软雅黑"/>
              <a:cs typeface="微软雅黑"/>
            </a:endParaRPr>
          </a:p>
          <a:p>
            <a:pPr marL="222250" indent="-211454">
              <a:lnSpc>
                <a:spcPct val="100000"/>
              </a:lnSpc>
              <a:spcBef>
                <a:spcPts val="1964"/>
              </a:spcBef>
              <a:buClr>
                <a:srgbClr val="EC891C"/>
              </a:buClr>
              <a:buSzPct val="83333"/>
              <a:buFont typeface="Wingdings"/>
              <a:buChar char=""/>
              <a:tabLst>
                <a:tab pos="222250" algn="l"/>
              </a:tabLst>
            </a:pPr>
            <a:r>
              <a:rPr sz="2100" b="1" spc="-10" dirty="0">
                <a:solidFill>
                  <a:srgbClr val="3E3E3E"/>
                </a:solidFill>
                <a:latin typeface="Arial"/>
                <a:cs typeface="Arial"/>
              </a:rPr>
              <a:t>case</a:t>
            </a:r>
            <a:r>
              <a:rPr sz="2100" b="1" dirty="0">
                <a:solidFill>
                  <a:srgbClr val="3E3E3E"/>
                </a:solidFill>
                <a:latin typeface="微软雅黑"/>
                <a:cs typeface="微软雅黑"/>
              </a:rPr>
              <a:t>语句有</a:t>
            </a:r>
            <a:r>
              <a:rPr sz="2100" b="1" spc="-10" dirty="0">
                <a:solidFill>
                  <a:srgbClr val="FF0000"/>
                </a:solidFill>
                <a:latin typeface="Arial"/>
                <a:cs typeface="Arial"/>
              </a:rPr>
              <a:t>case</a:t>
            </a:r>
            <a:r>
              <a:rPr sz="2100" b="1" dirty="0">
                <a:solidFill>
                  <a:srgbClr val="3E3E3E"/>
                </a:solidFill>
                <a:latin typeface="微软雅黑"/>
                <a:cs typeface="微软雅黑"/>
              </a:rPr>
              <a:t>、</a:t>
            </a:r>
            <a:r>
              <a:rPr sz="2100" b="1" spc="-10" dirty="0">
                <a:solidFill>
                  <a:srgbClr val="FF0000"/>
                </a:solidFill>
                <a:latin typeface="Arial"/>
                <a:cs typeface="Arial"/>
              </a:rPr>
              <a:t>casez</a:t>
            </a:r>
            <a:r>
              <a:rPr sz="2100" b="1" dirty="0">
                <a:solidFill>
                  <a:srgbClr val="3E3E3E"/>
                </a:solidFill>
                <a:latin typeface="微软雅黑"/>
                <a:cs typeface="微软雅黑"/>
              </a:rPr>
              <a:t>和</a:t>
            </a:r>
            <a:r>
              <a:rPr sz="2100" b="1" spc="-10" dirty="0">
                <a:solidFill>
                  <a:srgbClr val="FF0000"/>
                </a:solidFill>
                <a:latin typeface="Arial"/>
                <a:cs typeface="Arial"/>
              </a:rPr>
              <a:t>casex</a:t>
            </a:r>
            <a:r>
              <a:rPr sz="2100" b="1" spc="-5" dirty="0">
                <a:solidFill>
                  <a:srgbClr val="3E3E3E"/>
                </a:solidFill>
                <a:latin typeface="微软雅黑"/>
                <a:cs typeface="微软雅黑"/>
              </a:rPr>
              <a:t>三种表示方式，以下分别进行介绍。</a:t>
            </a:r>
            <a:endParaRPr sz="2100" dirty="0">
              <a:latin typeface="微软雅黑"/>
              <a:cs typeface="微软雅黑"/>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2766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3.2.2.1</a:t>
            </a:r>
            <a:r>
              <a:rPr spc="-15" dirty="0">
                <a:latin typeface="Arial"/>
                <a:cs typeface="Arial"/>
              </a:rPr>
              <a:t> </a:t>
            </a:r>
            <a:r>
              <a:rPr spc="-10" dirty="0">
                <a:latin typeface="Calibri"/>
                <a:cs typeface="Calibri"/>
              </a:rPr>
              <a:t>case</a:t>
            </a:r>
            <a:r>
              <a:rPr spc="-15" dirty="0"/>
              <a:t>语句语法</a:t>
            </a:r>
          </a:p>
        </p:txBody>
      </p:sp>
      <p:sp>
        <p:nvSpPr>
          <p:cNvPr id="3" name="object 3"/>
          <p:cNvSpPr txBox="1"/>
          <p:nvPr/>
        </p:nvSpPr>
        <p:spPr>
          <a:xfrm>
            <a:off x="536581" y="1710334"/>
            <a:ext cx="5573395" cy="3632835"/>
          </a:xfrm>
          <a:prstGeom prst="rect">
            <a:avLst/>
          </a:prstGeom>
        </p:spPr>
        <p:txBody>
          <a:bodyPr vert="horz" wrap="square" lIns="0" tIns="182245" rIns="0" bIns="0" rtlCol="0">
            <a:spAutoFit/>
          </a:bodyPr>
          <a:lstStyle/>
          <a:p>
            <a:pPr marL="222250" indent="-211454">
              <a:lnSpc>
                <a:spcPct val="100000"/>
              </a:lnSpc>
              <a:spcBef>
                <a:spcPts val="1435"/>
              </a:spcBef>
              <a:buClr>
                <a:srgbClr val="EC891C"/>
              </a:buClr>
              <a:buSzPct val="83333"/>
              <a:buFont typeface="Wingdings"/>
              <a:buChar char=""/>
              <a:tabLst>
                <a:tab pos="222250" algn="l"/>
              </a:tabLst>
            </a:pPr>
            <a:r>
              <a:rPr sz="2100" b="1" spc="-10" dirty="0">
                <a:solidFill>
                  <a:srgbClr val="3E3E3E"/>
                </a:solidFill>
                <a:latin typeface="Arial"/>
                <a:cs typeface="Arial"/>
              </a:rPr>
              <a:t>case</a:t>
            </a:r>
            <a:r>
              <a:rPr sz="2100" b="1" spc="-5" dirty="0">
                <a:solidFill>
                  <a:srgbClr val="3E3E3E"/>
                </a:solidFill>
                <a:latin typeface="微软雅黑"/>
                <a:cs typeface="微软雅黑"/>
              </a:rPr>
              <a:t>语句的简化语法如右所示：</a:t>
            </a:r>
            <a:endParaRPr sz="2100">
              <a:latin typeface="微软雅黑"/>
              <a:cs typeface="微软雅黑"/>
            </a:endParaRPr>
          </a:p>
          <a:p>
            <a:pPr marL="212725" marR="5080" indent="-202565" algn="just">
              <a:lnSpc>
                <a:spcPct val="111300"/>
              </a:lnSpc>
              <a:spcBef>
                <a:spcPts val="1055"/>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case</a:t>
            </a:r>
            <a:r>
              <a:rPr sz="2100" b="1" dirty="0">
                <a:solidFill>
                  <a:srgbClr val="3E3E3E"/>
                </a:solidFill>
                <a:latin typeface="微软雅黑"/>
                <a:cs typeface="微软雅黑"/>
              </a:rPr>
              <a:t>语句是一条多路决策语句，其将</a:t>
            </a:r>
            <a:r>
              <a:rPr sz="2100" b="1" dirty="0">
                <a:solidFill>
                  <a:srgbClr val="FF0000"/>
                </a:solidFill>
                <a:latin typeface="Arial"/>
                <a:cs typeface="Arial"/>
              </a:rPr>
              <a:t>case[</a:t>
            </a:r>
            <a:r>
              <a:rPr sz="2100" b="1" spc="-50" dirty="0">
                <a:solidFill>
                  <a:srgbClr val="FF0000"/>
                </a:solidFill>
                <a:latin typeface="微软雅黑"/>
                <a:cs typeface="微软雅黑"/>
              </a:rPr>
              <a:t>表</a:t>
            </a:r>
            <a:r>
              <a:rPr sz="2100" b="1" spc="100" dirty="0">
                <a:solidFill>
                  <a:srgbClr val="FF0000"/>
                </a:solidFill>
                <a:latin typeface="微软雅黑"/>
                <a:cs typeface="微软雅黑"/>
              </a:rPr>
              <a:t>达式</a:t>
            </a:r>
            <a:r>
              <a:rPr sz="2100" b="1" spc="95" dirty="0">
                <a:solidFill>
                  <a:srgbClr val="FF0000"/>
                </a:solidFill>
                <a:latin typeface="Arial"/>
                <a:cs typeface="Arial"/>
              </a:rPr>
              <a:t>]</a:t>
            </a:r>
            <a:r>
              <a:rPr sz="2100" b="1" spc="95" dirty="0">
                <a:solidFill>
                  <a:srgbClr val="3E3E3E"/>
                </a:solidFill>
                <a:latin typeface="微软雅黑"/>
                <a:cs typeface="微软雅黑"/>
              </a:rPr>
              <a:t>和多个表达式</a:t>
            </a:r>
            <a:r>
              <a:rPr sz="2100" b="1" spc="95" dirty="0">
                <a:solidFill>
                  <a:srgbClr val="FF0000"/>
                </a:solidFill>
                <a:latin typeface="Arial"/>
                <a:cs typeface="Arial"/>
              </a:rPr>
              <a:t>[</a:t>
            </a:r>
            <a:r>
              <a:rPr sz="2100" b="1" spc="95" dirty="0">
                <a:solidFill>
                  <a:srgbClr val="FF0000"/>
                </a:solidFill>
                <a:latin typeface="微软雅黑"/>
                <a:cs typeface="微软雅黑"/>
              </a:rPr>
              <a:t>分支项</a:t>
            </a:r>
            <a:r>
              <a:rPr sz="2100" b="1" spc="100" dirty="0">
                <a:solidFill>
                  <a:srgbClr val="FF0000"/>
                </a:solidFill>
                <a:latin typeface="Arial"/>
                <a:cs typeface="Arial"/>
              </a:rPr>
              <a:t>]</a:t>
            </a:r>
            <a:r>
              <a:rPr sz="2100" b="1" spc="85" dirty="0">
                <a:solidFill>
                  <a:srgbClr val="3E3E3E"/>
                </a:solidFill>
                <a:latin typeface="微软雅黑"/>
                <a:cs typeface="微软雅黑"/>
              </a:rPr>
              <a:t>进行比较，程序</a:t>
            </a:r>
            <a:r>
              <a:rPr sz="2100" b="1" spc="60" dirty="0">
                <a:solidFill>
                  <a:srgbClr val="3E3E3E"/>
                </a:solidFill>
                <a:latin typeface="微软雅黑"/>
                <a:cs typeface="微软雅黑"/>
              </a:rPr>
              <a:t>跳入与当前</a:t>
            </a:r>
            <a:r>
              <a:rPr sz="2100" b="1" spc="60" dirty="0">
                <a:solidFill>
                  <a:srgbClr val="3E3E3E"/>
                </a:solidFill>
                <a:latin typeface="Arial"/>
                <a:cs typeface="Arial"/>
              </a:rPr>
              <a:t>[</a:t>
            </a:r>
            <a:r>
              <a:rPr sz="2100" b="1" spc="60" dirty="0">
                <a:solidFill>
                  <a:srgbClr val="3E3E3E"/>
                </a:solidFill>
                <a:latin typeface="微软雅黑"/>
                <a:cs typeface="微软雅黑"/>
              </a:rPr>
              <a:t>表达式</a:t>
            </a:r>
            <a:r>
              <a:rPr sz="2100" b="1" spc="60" dirty="0">
                <a:solidFill>
                  <a:srgbClr val="3E3E3E"/>
                </a:solidFill>
                <a:latin typeface="Arial"/>
                <a:cs typeface="Arial"/>
              </a:rPr>
              <a:t>]</a:t>
            </a:r>
            <a:r>
              <a:rPr sz="2100" b="1" spc="60" dirty="0">
                <a:solidFill>
                  <a:srgbClr val="3E3E3E"/>
                </a:solidFill>
                <a:latin typeface="微软雅黑"/>
                <a:cs typeface="微软雅黑"/>
              </a:rPr>
              <a:t>相等的</a:t>
            </a:r>
            <a:r>
              <a:rPr sz="2100" b="1" spc="60" dirty="0">
                <a:solidFill>
                  <a:srgbClr val="3E3E3E"/>
                </a:solidFill>
                <a:latin typeface="Arial"/>
                <a:cs typeface="Arial"/>
              </a:rPr>
              <a:t>[</a:t>
            </a:r>
            <a:r>
              <a:rPr sz="2100" b="1" spc="60" dirty="0">
                <a:solidFill>
                  <a:srgbClr val="3E3E3E"/>
                </a:solidFill>
                <a:latin typeface="微软雅黑"/>
                <a:cs typeface="微软雅黑"/>
              </a:rPr>
              <a:t>分支项</a:t>
            </a:r>
            <a:r>
              <a:rPr sz="2100" b="1" spc="60" dirty="0">
                <a:solidFill>
                  <a:srgbClr val="3E3E3E"/>
                </a:solidFill>
                <a:latin typeface="Arial"/>
                <a:cs typeface="Arial"/>
              </a:rPr>
              <a:t>]</a:t>
            </a:r>
            <a:r>
              <a:rPr sz="2100" b="1" spc="45" dirty="0">
                <a:solidFill>
                  <a:srgbClr val="3E3E3E"/>
                </a:solidFill>
                <a:latin typeface="微软雅黑"/>
                <a:cs typeface="微软雅黑"/>
              </a:rPr>
              <a:t>对应的分</a:t>
            </a:r>
            <a:r>
              <a:rPr sz="2100" b="1" spc="-15" dirty="0">
                <a:solidFill>
                  <a:srgbClr val="3E3E3E"/>
                </a:solidFill>
                <a:latin typeface="微软雅黑"/>
                <a:cs typeface="微软雅黑"/>
              </a:rPr>
              <a:t>支执行。</a:t>
            </a:r>
            <a:endParaRPr sz="2100">
              <a:latin typeface="微软雅黑"/>
              <a:cs typeface="微软雅黑"/>
            </a:endParaRPr>
          </a:p>
          <a:p>
            <a:pPr marL="212725" marR="8890" indent="-202565" algn="just">
              <a:lnSpc>
                <a:spcPct val="111300"/>
              </a:lnSpc>
              <a:spcBef>
                <a:spcPts val="1050"/>
              </a:spcBef>
              <a:buSzPct val="83333"/>
              <a:buFont typeface="Wingdings"/>
              <a:buChar char=""/>
              <a:tabLst>
                <a:tab pos="212725" algn="l"/>
                <a:tab pos="221615" algn="l"/>
              </a:tabLst>
            </a:pPr>
            <a:r>
              <a:rPr sz="2100" dirty="0">
                <a:solidFill>
                  <a:srgbClr val="EC891C"/>
                </a:solidFill>
                <a:latin typeface="微软雅黑"/>
                <a:cs typeface="微软雅黑"/>
              </a:rPr>
              <a:t>	</a:t>
            </a:r>
            <a:r>
              <a:rPr sz="2100" b="1" spc="80" dirty="0">
                <a:solidFill>
                  <a:srgbClr val="3E3E3E"/>
                </a:solidFill>
                <a:latin typeface="微软雅黑"/>
                <a:cs typeface="微软雅黑"/>
              </a:rPr>
              <a:t>最后一条分支为可选的，关键词是</a:t>
            </a:r>
            <a:r>
              <a:rPr sz="2100" b="1" spc="-10" dirty="0">
                <a:solidFill>
                  <a:srgbClr val="FF0000"/>
                </a:solidFill>
                <a:latin typeface="Arial"/>
                <a:cs typeface="Arial"/>
              </a:rPr>
              <a:t>default</a:t>
            </a:r>
            <a:r>
              <a:rPr sz="2100" b="1" spc="-10" dirty="0">
                <a:solidFill>
                  <a:srgbClr val="3E3E3E"/>
                </a:solidFill>
                <a:latin typeface="微软雅黑"/>
                <a:cs typeface="微软雅黑"/>
              </a:rPr>
              <a:t>，</a:t>
            </a:r>
            <a:r>
              <a:rPr sz="2100" b="1" dirty="0">
                <a:solidFill>
                  <a:srgbClr val="3E3E3E"/>
                </a:solidFill>
                <a:latin typeface="微软雅黑"/>
                <a:cs typeface="微软雅黑"/>
              </a:rPr>
              <a:t>包含</a:t>
            </a:r>
            <a:r>
              <a:rPr sz="2100" b="1" dirty="0">
                <a:solidFill>
                  <a:srgbClr val="3E3E3E"/>
                </a:solidFill>
                <a:latin typeface="Arial"/>
                <a:cs typeface="Arial"/>
              </a:rPr>
              <a:t>[</a:t>
            </a:r>
            <a:r>
              <a:rPr sz="2100" b="1" dirty="0">
                <a:solidFill>
                  <a:srgbClr val="3E3E3E"/>
                </a:solidFill>
                <a:latin typeface="微软雅黑"/>
                <a:cs typeface="微软雅黑"/>
              </a:rPr>
              <a:t>表达式</a:t>
            </a:r>
            <a:r>
              <a:rPr sz="2100" b="1" dirty="0">
                <a:solidFill>
                  <a:srgbClr val="3E3E3E"/>
                </a:solidFill>
                <a:latin typeface="Arial"/>
                <a:cs typeface="Arial"/>
              </a:rPr>
              <a:t>]</a:t>
            </a:r>
            <a:r>
              <a:rPr sz="2100" b="1" spc="-5" dirty="0">
                <a:solidFill>
                  <a:srgbClr val="3E3E3E"/>
                </a:solidFill>
                <a:latin typeface="微软雅黑"/>
                <a:cs typeface="微软雅黑"/>
              </a:rPr>
              <a:t>未指定的所有值。如果一条分支</a:t>
            </a:r>
            <a:r>
              <a:rPr sz="2100" b="1" spc="65" dirty="0">
                <a:solidFill>
                  <a:srgbClr val="3E3E3E"/>
                </a:solidFill>
                <a:latin typeface="微软雅黑"/>
                <a:cs typeface="微软雅黑"/>
              </a:rPr>
              <a:t>中只有一条语句，则定界符</a:t>
            </a:r>
            <a:r>
              <a:rPr sz="2100" b="1" dirty="0">
                <a:solidFill>
                  <a:srgbClr val="3E3E3E"/>
                </a:solidFill>
                <a:latin typeface="Arial"/>
                <a:cs typeface="Arial"/>
              </a:rPr>
              <a:t>begin</a:t>
            </a:r>
            <a:r>
              <a:rPr sz="2100" b="1" spc="65" dirty="0">
                <a:solidFill>
                  <a:srgbClr val="3E3E3E"/>
                </a:solidFill>
                <a:latin typeface="微软雅黑"/>
                <a:cs typeface="微软雅黑"/>
              </a:rPr>
              <a:t>和</a:t>
            </a:r>
            <a:r>
              <a:rPr sz="2100" b="1" dirty="0">
                <a:solidFill>
                  <a:srgbClr val="3E3E3E"/>
                </a:solidFill>
                <a:latin typeface="Arial"/>
                <a:cs typeface="Arial"/>
              </a:rPr>
              <a:t>end</a:t>
            </a:r>
            <a:r>
              <a:rPr sz="2100" b="1" spc="45" dirty="0">
                <a:solidFill>
                  <a:srgbClr val="3E3E3E"/>
                </a:solidFill>
                <a:latin typeface="微软雅黑"/>
                <a:cs typeface="微软雅黑"/>
              </a:rPr>
              <a:t>可以</a:t>
            </a:r>
            <a:r>
              <a:rPr sz="2100" b="1" spc="-20" dirty="0">
                <a:solidFill>
                  <a:srgbClr val="3E3E3E"/>
                </a:solidFill>
                <a:latin typeface="微软雅黑"/>
                <a:cs typeface="微软雅黑"/>
              </a:rPr>
              <a:t>省略。</a:t>
            </a:r>
            <a:endParaRPr sz="2100">
              <a:latin typeface="微软雅黑"/>
              <a:cs typeface="微软雅黑"/>
            </a:endParaRPr>
          </a:p>
        </p:txBody>
      </p:sp>
      <p:grpSp>
        <p:nvGrpSpPr>
          <p:cNvPr id="4" name="object 4"/>
          <p:cNvGrpSpPr/>
          <p:nvPr/>
        </p:nvGrpSpPr>
        <p:grpSpPr>
          <a:xfrm>
            <a:off x="6371729" y="1335024"/>
            <a:ext cx="3649345" cy="4839970"/>
            <a:chOff x="6371729" y="1335024"/>
            <a:chExt cx="3649345" cy="4839970"/>
          </a:xfrm>
        </p:grpSpPr>
        <p:sp>
          <p:nvSpPr>
            <p:cNvPr id="5" name="object 5"/>
            <p:cNvSpPr/>
            <p:nvPr/>
          </p:nvSpPr>
          <p:spPr>
            <a:xfrm>
              <a:off x="6375526" y="1338834"/>
              <a:ext cx="3641090" cy="4831080"/>
            </a:xfrm>
            <a:custGeom>
              <a:avLst/>
              <a:gdLst/>
              <a:ahLst/>
              <a:cxnLst/>
              <a:rect l="l" t="t" r="r" b="b"/>
              <a:pathLst>
                <a:path w="3641090" h="4831080">
                  <a:moveTo>
                    <a:pt x="3640836" y="4831080"/>
                  </a:moveTo>
                  <a:lnTo>
                    <a:pt x="3640836" y="0"/>
                  </a:lnTo>
                  <a:lnTo>
                    <a:pt x="0" y="0"/>
                  </a:lnTo>
                  <a:lnTo>
                    <a:pt x="0" y="4831080"/>
                  </a:lnTo>
                  <a:lnTo>
                    <a:pt x="3640836" y="4831080"/>
                  </a:lnTo>
                  <a:close/>
                </a:path>
              </a:pathLst>
            </a:custGeom>
            <a:solidFill>
              <a:srgbClr val="F9FABA"/>
            </a:solidFill>
          </p:spPr>
          <p:txBody>
            <a:bodyPr wrap="square" lIns="0" tIns="0" rIns="0" bIns="0" rtlCol="0"/>
            <a:lstStyle/>
            <a:p>
              <a:endParaRPr/>
            </a:p>
          </p:txBody>
        </p:sp>
        <p:sp>
          <p:nvSpPr>
            <p:cNvPr id="6" name="object 6"/>
            <p:cNvSpPr/>
            <p:nvPr/>
          </p:nvSpPr>
          <p:spPr>
            <a:xfrm>
              <a:off x="6371729" y="1335024"/>
              <a:ext cx="3649345" cy="4839970"/>
            </a:xfrm>
            <a:custGeom>
              <a:avLst/>
              <a:gdLst/>
              <a:ahLst/>
              <a:cxnLst/>
              <a:rect l="l" t="t" r="r" b="b"/>
              <a:pathLst>
                <a:path w="3649345" h="4839970">
                  <a:moveTo>
                    <a:pt x="3649217" y="4837176"/>
                  </a:moveTo>
                  <a:lnTo>
                    <a:pt x="3649217" y="1523"/>
                  </a:lnTo>
                  <a:lnTo>
                    <a:pt x="3646932" y="0"/>
                  </a:lnTo>
                  <a:lnTo>
                    <a:pt x="1523" y="0"/>
                  </a:lnTo>
                  <a:lnTo>
                    <a:pt x="0" y="1524"/>
                  </a:lnTo>
                  <a:lnTo>
                    <a:pt x="0" y="4837176"/>
                  </a:lnTo>
                  <a:lnTo>
                    <a:pt x="1524" y="4839462"/>
                  </a:lnTo>
                  <a:lnTo>
                    <a:pt x="3810" y="4839462"/>
                  </a:lnTo>
                  <a:lnTo>
                    <a:pt x="3810" y="8382"/>
                  </a:lnTo>
                  <a:lnTo>
                    <a:pt x="8382" y="3810"/>
                  </a:lnTo>
                  <a:lnTo>
                    <a:pt x="8382" y="8382"/>
                  </a:lnTo>
                  <a:lnTo>
                    <a:pt x="3640836" y="8381"/>
                  </a:lnTo>
                  <a:lnTo>
                    <a:pt x="3640836" y="3809"/>
                  </a:lnTo>
                  <a:lnTo>
                    <a:pt x="3644646" y="8381"/>
                  </a:lnTo>
                  <a:lnTo>
                    <a:pt x="3644646" y="4839462"/>
                  </a:lnTo>
                  <a:lnTo>
                    <a:pt x="3646932" y="4839462"/>
                  </a:lnTo>
                  <a:lnTo>
                    <a:pt x="3649217" y="4837176"/>
                  </a:lnTo>
                  <a:close/>
                </a:path>
                <a:path w="3649345" h="4839970">
                  <a:moveTo>
                    <a:pt x="8382" y="8382"/>
                  </a:moveTo>
                  <a:lnTo>
                    <a:pt x="8382" y="3810"/>
                  </a:lnTo>
                  <a:lnTo>
                    <a:pt x="3810" y="8382"/>
                  </a:lnTo>
                  <a:lnTo>
                    <a:pt x="8382" y="8382"/>
                  </a:lnTo>
                  <a:close/>
                </a:path>
                <a:path w="3649345" h="4839970">
                  <a:moveTo>
                    <a:pt x="8382" y="4831080"/>
                  </a:moveTo>
                  <a:lnTo>
                    <a:pt x="8382" y="8382"/>
                  </a:lnTo>
                  <a:lnTo>
                    <a:pt x="3810" y="8382"/>
                  </a:lnTo>
                  <a:lnTo>
                    <a:pt x="3810" y="4831080"/>
                  </a:lnTo>
                  <a:lnTo>
                    <a:pt x="8382" y="4831080"/>
                  </a:lnTo>
                  <a:close/>
                </a:path>
                <a:path w="3649345" h="4839970">
                  <a:moveTo>
                    <a:pt x="3644646" y="4831080"/>
                  </a:moveTo>
                  <a:lnTo>
                    <a:pt x="3810" y="4831080"/>
                  </a:lnTo>
                  <a:lnTo>
                    <a:pt x="8382" y="4834890"/>
                  </a:lnTo>
                  <a:lnTo>
                    <a:pt x="8382" y="4839462"/>
                  </a:lnTo>
                  <a:lnTo>
                    <a:pt x="3640836" y="4839462"/>
                  </a:lnTo>
                  <a:lnTo>
                    <a:pt x="3640836" y="4834890"/>
                  </a:lnTo>
                  <a:lnTo>
                    <a:pt x="3644646" y="4831080"/>
                  </a:lnTo>
                  <a:close/>
                </a:path>
                <a:path w="3649345" h="4839970">
                  <a:moveTo>
                    <a:pt x="8382" y="4839462"/>
                  </a:moveTo>
                  <a:lnTo>
                    <a:pt x="8382" y="4834890"/>
                  </a:lnTo>
                  <a:lnTo>
                    <a:pt x="3810" y="4831080"/>
                  </a:lnTo>
                  <a:lnTo>
                    <a:pt x="3810" y="4839462"/>
                  </a:lnTo>
                  <a:lnTo>
                    <a:pt x="8382" y="4839462"/>
                  </a:lnTo>
                  <a:close/>
                </a:path>
                <a:path w="3649345" h="4839970">
                  <a:moveTo>
                    <a:pt x="3644646" y="8381"/>
                  </a:moveTo>
                  <a:lnTo>
                    <a:pt x="3640836" y="3809"/>
                  </a:lnTo>
                  <a:lnTo>
                    <a:pt x="3640836" y="8381"/>
                  </a:lnTo>
                  <a:lnTo>
                    <a:pt x="3644646" y="8381"/>
                  </a:lnTo>
                  <a:close/>
                </a:path>
                <a:path w="3649345" h="4839970">
                  <a:moveTo>
                    <a:pt x="3644646" y="4831080"/>
                  </a:moveTo>
                  <a:lnTo>
                    <a:pt x="3644646" y="8381"/>
                  </a:lnTo>
                  <a:lnTo>
                    <a:pt x="3640836" y="8381"/>
                  </a:lnTo>
                  <a:lnTo>
                    <a:pt x="3640836" y="4831080"/>
                  </a:lnTo>
                  <a:lnTo>
                    <a:pt x="3644646" y="4831080"/>
                  </a:lnTo>
                  <a:close/>
                </a:path>
                <a:path w="3649345" h="4839970">
                  <a:moveTo>
                    <a:pt x="3644646" y="4839462"/>
                  </a:moveTo>
                  <a:lnTo>
                    <a:pt x="3644646" y="4831080"/>
                  </a:lnTo>
                  <a:lnTo>
                    <a:pt x="3640836" y="4834890"/>
                  </a:lnTo>
                  <a:lnTo>
                    <a:pt x="3640836" y="4839462"/>
                  </a:lnTo>
                  <a:lnTo>
                    <a:pt x="3644646" y="4839462"/>
                  </a:lnTo>
                  <a:close/>
                </a:path>
              </a:pathLst>
            </a:custGeom>
            <a:solidFill>
              <a:srgbClr val="000000"/>
            </a:solidFill>
          </p:spPr>
          <p:txBody>
            <a:bodyPr wrap="square" lIns="0" tIns="0" rIns="0" bIns="0" rtlCol="0"/>
            <a:lstStyle/>
            <a:p>
              <a:endParaRPr/>
            </a:p>
          </p:txBody>
        </p:sp>
      </p:grpSp>
      <p:sp>
        <p:nvSpPr>
          <p:cNvPr id="7" name="object 7"/>
          <p:cNvSpPr txBox="1"/>
          <p:nvPr/>
        </p:nvSpPr>
        <p:spPr>
          <a:xfrm>
            <a:off x="6442843" y="1358900"/>
            <a:ext cx="1995805" cy="473075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a:cs typeface="Arial"/>
              </a:rPr>
              <a:t>case</a:t>
            </a:r>
            <a:r>
              <a:rPr sz="1400" spc="-10" dirty="0">
                <a:latin typeface="Arial"/>
                <a:cs typeface="Arial"/>
              </a:rPr>
              <a:t> [</a:t>
            </a:r>
            <a:r>
              <a:rPr sz="1400" dirty="0">
                <a:latin typeface="微软雅黑"/>
                <a:cs typeface="微软雅黑"/>
              </a:rPr>
              <a:t>表达式</a:t>
            </a:r>
            <a:r>
              <a:rPr sz="1400" spc="-50" dirty="0">
                <a:latin typeface="Arial"/>
                <a:cs typeface="Arial"/>
              </a:rPr>
              <a:t>]</a:t>
            </a:r>
            <a:endParaRPr sz="1400">
              <a:latin typeface="Arial"/>
              <a:cs typeface="Arial"/>
            </a:endParaRPr>
          </a:p>
          <a:p>
            <a:pPr marL="413384" marR="791210" algn="ctr">
              <a:lnSpc>
                <a:spcPts val="1689"/>
              </a:lnSpc>
              <a:spcBef>
                <a:spcPts val="55"/>
              </a:spcBef>
            </a:pPr>
            <a:r>
              <a:rPr sz="1400" dirty="0">
                <a:latin typeface="Arial"/>
                <a:cs typeface="Arial"/>
              </a:rPr>
              <a:t>[</a:t>
            </a:r>
            <a:r>
              <a:rPr sz="1400" dirty="0">
                <a:latin typeface="微软雅黑"/>
                <a:cs typeface="微软雅黑"/>
              </a:rPr>
              <a:t>分支项</a:t>
            </a:r>
            <a:r>
              <a:rPr sz="1400" spc="-25" dirty="0">
                <a:latin typeface="Arial"/>
                <a:cs typeface="Arial"/>
              </a:rPr>
              <a:t>1]: </a:t>
            </a:r>
            <a:r>
              <a:rPr sz="1400" spc="-10" dirty="0">
                <a:latin typeface="Arial"/>
                <a:cs typeface="Arial"/>
              </a:rPr>
              <a:t>begin</a:t>
            </a:r>
            <a:endParaRPr sz="1400">
              <a:latin typeface="Arial"/>
              <a:cs typeface="Arial"/>
            </a:endParaRPr>
          </a:p>
          <a:p>
            <a:pPr marL="714375">
              <a:lnSpc>
                <a:spcPts val="1620"/>
              </a:lnSpc>
            </a:pPr>
            <a:r>
              <a:rPr sz="1400" dirty="0">
                <a:latin typeface="Arial"/>
                <a:cs typeface="Arial"/>
              </a:rPr>
              <a:t>[</a:t>
            </a:r>
            <a:r>
              <a:rPr sz="1400" dirty="0">
                <a:latin typeface="微软雅黑"/>
                <a:cs typeface="微软雅黑"/>
              </a:rPr>
              <a:t>顺序执行语句</a:t>
            </a:r>
            <a:r>
              <a:rPr sz="1400" spc="-20" dirty="0">
                <a:latin typeface="Arial"/>
                <a:cs typeface="Arial"/>
              </a:rPr>
              <a:t>] ;</a:t>
            </a:r>
            <a:endParaRPr sz="1400">
              <a:latin typeface="Arial"/>
              <a:cs typeface="Arial"/>
            </a:endParaRPr>
          </a:p>
          <a:p>
            <a:pPr marR="108585" algn="ctr">
              <a:lnSpc>
                <a:spcPct val="100000"/>
              </a:lnSpc>
              <a:spcBef>
                <a:spcPts val="15"/>
              </a:spcBef>
            </a:pPr>
            <a:r>
              <a:rPr sz="1400" dirty="0">
                <a:latin typeface="Arial"/>
                <a:cs typeface="Arial"/>
              </a:rPr>
              <a:t>.</a:t>
            </a:r>
            <a:r>
              <a:rPr sz="1400" spc="10" dirty="0">
                <a:latin typeface="Arial"/>
                <a:cs typeface="Arial"/>
              </a:rPr>
              <a:t> </a:t>
            </a:r>
            <a:r>
              <a:rPr sz="1400" dirty="0">
                <a:latin typeface="Arial"/>
                <a:cs typeface="Arial"/>
              </a:rPr>
              <a:t>.</a:t>
            </a:r>
            <a:r>
              <a:rPr sz="1400" spc="10" dirty="0">
                <a:latin typeface="Arial"/>
                <a:cs typeface="Arial"/>
              </a:rPr>
              <a:t> </a:t>
            </a:r>
            <a:r>
              <a:rPr sz="1400" spc="-60" dirty="0">
                <a:latin typeface="Arial"/>
                <a:cs typeface="Arial"/>
              </a:rPr>
              <a:t>.</a:t>
            </a:r>
            <a:endParaRPr sz="1400">
              <a:latin typeface="Arial"/>
              <a:cs typeface="Arial"/>
            </a:endParaRPr>
          </a:p>
          <a:p>
            <a:pPr marR="563245" algn="ctr">
              <a:lnSpc>
                <a:spcPts val="1675"/>
              </a:lnSpc>
              <a:spcBef>
                <a:spcPts val="5"/>
              </a:spcBef>
            </a:pPr>
            <a:r>
              <a:rPr sz="1400" spc="-25" dirty="0">
                <a:latin typeface="Arial"/>
                <a:cs typeface="Arial"/>
              </a:rPr>
              <a:t>end</a:t>
            </a:r>
            <a:endParaRPr sz="1400">
              <a:latin typeface="Arial"/>
              <a:cs typeface="Arial"/>
            </a:endParaRPr>
          </a:p>
          <a:p>
            <a:pPr marL="413384" marR="791210" algn="ctr">
              <a:lnSpc>
                <a:spcPts val="1689"/>
              </a:lnSpc>
              <a:spcBef>
                <a:spcPts val="45"/>
              </a:spcBef>
            </a:pPr>
            <a:r>
              <a:rPr sz="1400" dirty="0">
                <a:latin typeface="Arial"/>
                <a:cs typeface="Arial"/>
              </a:rPr>
              <a:t>[</a:t>
            </a:r>
            <a:r>
              <a:rPr sz="1400" dirty="0">
                <a:latin typeface="微软雅黑"/>
                <a:cs typeface="微软雅黑"/>
              </a:rPr>
              <a:t>分支项</a:t>
            </a:r>
            <a:r>
              <a:rPr sz="1400" spc="-25" dirty="0">
                <a:latin typeface="Arial"/>
                <a:cs typeface="Arial"/>
              </a:rPr>
              <a:t>2]: </a:t>
            </a:r>
            <a:r>
              <a:rPr sz="1400" spc="-10" dirty="0">
                <a:latin typeface="Arial"/>
                <a:cs typeface="Arial"/>
              </a:rPr>
              <a:t>begin</a:t>
            </a:r>
            <a:endParaRPr sz="1400">
              <a:latin typeface="Arial"/>
              <a:cs typeface="Arial"/>
            </a:endParaRPr>
          </a:p>
          <a:p>
            <a:pPr marL="714375">
              <a:lnSpc>
                <a:spcPts val="1620"/>
              </a:lnSpc>
            </a:pPr>
            <a:r>
              <a:rPr sz="1400" dirty="0">
                <a:latin typeface="Arial"/>
                <a:cs typeface="Arial"/>
              </a:rPr>
              <a:t>[</a:t>
            </a:r>
            <a:r>
              <a:rPr sz="1400" dirty="0">
                <a:latin typeface="微软雅黑"/>
                <a:cs typeface="微软雅黑"/>
              </a:rPr>
              <a:t>顺序执行语句</a:t>
            </a:r>
            <a:r>
              <a:rPr sz="1400" spc="-20" dirty="0">
                <a:latin typeface="Arial"/>
                <a:cs typeface="Arial"/>
              </a:rPr>
              <a:t>] ;</a:t>
            </a:r>
            <a:endParaRPr sz="1400">
              <a:latin typeface="Arial"/>
              <a:cs typeface="Arial"/>
            </a:endParaRPr>
          </a:p>
          <a:p>
            <a:pPr marL="714375">
              <a:lnSpc>
                <a:spcPct val="100000"/>
              </a:lnSpc>
              <a:spcBef>
                <a:spcPts val="10"/>
              </a:spcBef>
            </a:pPr>
            <a:r>
              <a:rPr sz="1400" dirty="0">
                <a:latin typeface="Arial"/>
                <a:cs typeface="Arial"/>
              </a:rPr>
              <a:t>.</a:t>
            </a:r>
            <a:r>
              <a:rPr sz="1400" spc="10" dirty="0">
                <a:latin typeface="Arial"/>
                <a:cs typeface="Arial"/>
              </a:rPr>
              <a:t> </a:t>
            </a:r>
            <a:r>
              <a:rPr sz="1400" dirty="0">
                <a:latin typeface="Arial"/>
                <a:cs typeface="Arial"/>
              </a:rPr>
              <a:t>.</a:t>
            </a:r>
            <a:r>
              <a:rPr sz="1400" spc="10" dirty="0">
                <a:latin typeface="Arial"/>
                <a:cs typeface="Arial"/>
              </a:rPr>
              <a:t> </a:t>
            </a:r>
            <a:r>
              <a:rPr sz="1400" spc="-60" dirty="0">
                <a:latin typeface="Arial"/>
                <a:cs typeface="Arial"/>
              </a:rPr>
              <a:t>.</a:t>
            </a:r>
            <a:endParaRPr sz="1400">
              <a:latin typeface="Arial"/>
              <a:cs typeface="Arial"/>
            </a:endParaRPr>
          </a:p>
          <a:p>
            <a:pPr marL="563245">
              <a:lnSpc>
                <a:spcPts val="1675"/>
              </a:lnSpc>
              <a:spcBef>
                <a:spcPts val="10"/>
              </a:spcBef>
            </a:pPr>
            <a:r>
              <a:rPr sz="1400" spc="-25" dirty="0">
                <a:latin typeface="Arial"/>
                <a:cs typeface="Arial"/>
              </a:rPr>
              <a:t>end</a:t>
            </a:r>
            <a:endParaRPr sz="1400">
              <a:latin typeface="Arial"/>
              <a:cs typeface="Arial"/>
            </a:endParaRPr>
          </a:p>
          <a:p>
            <a:pPr marL="563245" marR="741045" indent="-100330">
              <a:lnSpc>
                <a:spcPts val="1700"/>
              </a:lnSpc>
              <a:spcBef>
                <a:spcPts val="30"/>
              </a:spcBef>
            </a:pPr>
            <a:r>
              <a:rPr sz="1400" dirty="0">
                <a:latin typeface="Arial"/>
                <a:cs typeface="Arial"/>
              </a:rPr>
              <a:t>[</a:t>
            </a:r>
            <a:r>
              <a:rPr sz="1400" dirty="0">
                <a:latin typeface="微软雅黑"/>
                <a:cs typeface="微软雅黑"/>
              </a:rPr>
              <a:t>分支项</a:t>
            </a:r>
            <a:r>
              <a:rPr sz="1400" spc="-25" dirty="0">
                <a:latin typeface="Arial"/>
                <a:cs typeface="Arial"/>
              </a:rPr>
              <a:t>3]: </a:t>
            </a:r>
            <a:r>
              <a:rPr sz="1400" spc="-10" dirty="0">
                <a:latin typeface="Arial"/>
                <a:cs typeface="Arial"/>
              </a:rPr>
              <a:t>begin</a:t>
            </a:r>
            <a:endParaRPr sz="1400">
              <a:latin typeface="Arial"/>
              <a:cs typeface="Arial"/>
            </a:endParaRPr>
          </a:p>
          <a:p>
            <a:pPr marL="714375">
              <a:lnSpc>
                <a:spcPts val="1605"/>
              </a:lnSpc>
            </a:pPr>
            <a:r>
              <a:rPr sz="1400" dirty="0">
                <a:latin typeface="Arial"/>
                <a:cs typeface="Arial"/>
              </a:rPr>
              <a:t>[</a:t>
            </a:r>
            <a:r>
              <a:rPr sz="1400" dirty="0">
                <a:latin typeface="微软雅黑"/>
                <a:cs typeface="微软雅黑"/>
              </a:rPr>
              <a:t>顺序执行语句</a:t>
            </a:r>
            <a:r>
              <a:rPr sz="1400" spc="-20" dirty="0">
                <a:latin typeface="Arial"/>
                <a:cs typeface="Arial"/>
              </a:rPr>
              <a:t>] ;</a:t>
            </a:r>
            <a:endParaRPr sz="1400">
              <a:latin typeface="Arial"/>
              <a:cs typeface="Arial"/>
            </a:endParaRPr>
          </a:p>
          <a:p>
            <a:pPr marL="613410" marR="985519" indent="200025">
              <a:lnSpc>
                <a:spcPct val="100000"/>
              </a:lnSpc>
              <a:spcBef>
                <a:spcPts val="20"/>
              </a:spcBef>
            </a:pPr>
            <a:r>
              <a:rPr sz="1400" spc="-25" dirty="0">
                <a:latin typeface="Arial"/>
                <a:cs typeface="Arial"/>
              </a:rPr>
              <a:t>••• end</a:t>
            </a:r>
            <a:endParaRPr sz="1400">
              <a:latin typeface="Arial"/>
              <a:cs typeface="Arial"/>
            </a:endParaRPr>
          </a:p>
          <a:p>
            <a:pPr marL="563245">
              <a:lnSpc>
                <a:spcPct val="100000"/>
              </a:lnSpc>
              <a:spcBef>
                <a:spcPts val="5"/>
              </a:spcBef>
            </a:pPr>
            <a:r>
              <a:rPr sz="1400" dirty="0">
                <a:latin typeface="Arial"/>
                <a:cs typeface="Arial"/>
              </a:rPr>
              <a:t>.</a:t>
            </a:r>
            <a:r>
              <a:rPr sz="1400" spc="10" dirty="0">
                <a:latin typeface="Arial"/>
                <a:cs typeface="Arial"/>
              </a:rPr>
              <a:t> </a:t>
            </a:r>
            <a:r>
              <a:rPr sz="1400" dirty="0">
                <a:latin typeface="Arial"/>
                <a:cs typeface="Arial"/>
              </a:rPr>
              <a:t>.</a:t>
            </a:r>
            <a:r>
              <a:rPr sz="1400" spc="10" dirty="0">
                <a:latin typeface="Arial"/>
                <a:cs typeface="Arial"/>
              </a:rPr>
              <a:t> </a:t>
            </a:r>
            <a:r>
              <a:rPr sz="1400" spc="-60" dirty="0">
                <a:latin typeface="Arial"/>
                <a:cs typeface="Arial"/>
              </a:rPr>
              <a:t>.</a:t>
            </a:r>
            <a:endParaRPr sz="1400">
              <a:latin typeface="Arial"/>
              <a:cs typeface="Arial"/>
            </a:endParaRPr>
          </a:p>
          <a:p>
            <a:pPr marL="613410" marR="937260" indent="-150495">
              <a:lnSpc>
                <a:spcPct val="100000"/>
              </a:lnSpc>
            </a:pPr>
            <a:r>
              <a:rPr sz="1400" spc="-10" dirty="0">
                <a:latin typeface="Arial"/>
                <a:cs typeface="Arial"/>
              </a:rPr>
              <a:t>default: begin</a:t>
            </a:r>
            <a:endParaRPr sz="1400">
              <a:latin typeface="Arial"/>
              <a:cs typeface="Arial"/>
            </a:endParaRPr>
          </a:p>
          <a:p>
            <a:pPr marL="613410" marR="5080" indent="149860">
              <a:lnSpc>
                <a:spcPts val="1689"/>
              </a:lnSpc>
              <a:spcBef>
                <a:spcPts val="50"/>
              </a:spcBef>
            </a:pPr>
            <a:r>
              <a:rPr sz="1400" dirty="0">
                <a:latin typeface="Arial"/>
                <a:cs typeface="Arial"/>
              </a:rPr>
              <a:t>[</a:t>
            </a:r>
            <a:r>
              <a:rPr sz="1400" dirty="0">
                <a:latin typeface="微软雅黑"/>
                <a:cs typeface="微软雅黑"/>
              </a:rPr>
              <a:t>顺序执行语句</a:t>
            </a:r>
            <a:r>
              <a:rPr sz="1400" spc="-25" dirty="0">
                <a:latin typeface="Arial"/>
                <a:cs typeface="Arial"/>
              </a:rPr>
              <a:t>]; end</a:t>
            </a:r>
            <a:endParaRPr sz="1400">
              <a:latin typeface="Arial"/>
              <a:cs typeface="Arial"/>
            </a:endParaRPr>
          </a:p>
          <a:p>
            <a:pPr marL="162560">
              <a:lnSpc>
                <a:spcPts val="1630"/>
              </a:lnSpc>
            </a:pPr>
            <a:r>
              <a:rPr sz="1400" spc="-10" dirty="0">
                <a:latin typeface="Arial"/>
                <a:cs typeface="Arial"/>
              </a:rPr>
              <a:t>endcase</a:t>
            </a:r>
            <a:endParaRPr sz="14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2766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3.2.2.2</a:t>
            </a:r>
            <a:r>
              <a:rPr spc="-15" dirty="0">
                <a:latin typeface="Arial"/>
                <a:cs typeface="Arial"/>
              </a:rPr>
              <a:t> </a:t>
            </a:r>
            <a:r>
              <a:rPr spc="-10" dirty="0">
                <a:latin typeface="Calibri"/>
                <a:cs typeface="Calibri"/>
              </a:rPr>
              <a:t>case</a:t>
            </a:r>
            <a:r>
              <a:rPr spc="-15" dirty="0"/>
              <a:t>语句实例</a:t>
            </a:r>
          </a:p>
        </p:txBody>
      </p:sp>
      <p:sp>
        <p:nvSpPr>
          <p:cNvPr id="3" name="object 3"/>
          <p:cNvSpPr txBox="1"/>
          <p:nvPr/>
        </p:nvSpPr>
        <p:spPr>
          <a:xfrm>
            <a:off x="533533" y="2096660"/>
            <a:ext cx="4048760" cy="2520315"/>
          </a:xfrm>
          <a:prstGeom prst="rect">
            <a:avLst/>
          </a:prstGeom>
        </p:spPr>
        <p:txBody>
          <a:bodyPr vert="horz" wrap="square" lIns="0" tIns="12700" rIns="0" bIns="0" rtlCol="0">
            <a:spAutoFit/>
          </a:bodyPr>
          <a:lstStyle/>
          <a:p>
            <a:pPr marL="212725" marR="5080" indent="-202565" algn="just">
              <a:lnSpc>
                <a:spcPct val="150400"/>
              </a:lnSpc>
              <a:spcBef>
                <a:spcPts val="100"/>
              </a:spcBef>
              <a:buSzPct val="83333"/>
              <a:buFont typeface="Wingdings"/>
              <a:buChar char=""/>
              <a:tabLst>
                <a:tab pos="212725" algn="l"/>
                <a:tab pos="221615" algn="l"/>
              </a:tabLst>
            </a:pPr>
            <a:r>
              <a:rPr sz="2100" dirty="0">
                <a:solidFill>
                  <a:srgbClr val="EC891C"/>
                </a:solidFill>
                <a:latin typeface="微软雅黑"/>
                <a:cs typeface="微软雅黑"/>
              </a:rPr>
              <a:t>	</a:t>
            </a:r>
            <a:r>
              <a:rPr sz="2100" b="1" spc="65" dirty="0">
                <a:solidFill>
                  <a:srgbClr val="3E3E3E"/>
                </a:solidFill>
                <a:latin typeface="微软雅黑"/>
                <a:cs typeface="微软雅黑"/>
              </a:rPr>
              <a:t>我们采用和</a:t>
            </a:r>
            <a:r>
              <a:rPr sz="2100" b="1" spc="-10" dirty="0">
                <a:solidFill>
                  <a:srgbClr val="3E3E3E"/>
                </a:solidFill>
                <a:latin typeface="Arial"/>
                <a:cs typeface="Arial"/>
              </a:rPr>
              <a:t>if-</a:t>
            </a:r>
            <a:r>
              <a:rPr sz="2100" b="1" dirty="0">
                <a:solidFill>
                  <a:srgbClr val="3E3E3E"/>
                </a:solidFill>
                <a:latin typeface="Arial"/>
                <a:cs typeface="Arial"/>
              </a:rPr>
              <a:t>else</a:t>
            </a:r>
            <a:r>
              <a:rPr sz="2100" b="1" spc="50" dirty="0">
                <a:solidFill>
                  <a:srgbClr val="3E3E3E"/>
                </a:solidFill>
                <a:latin typeface="微软雅黑"/>
                <a:cs typeface="微软雅黑"/>
              </a:rPr>
              <a:t>语句例子中相</a:t>
            </a:r>
            <a:r>
              <a:rPr sz="2100" b="1" spc="-5" dirty="0">
                <a:solidFill>
                  <a:srgbClr val="3E3E3E"/>
                </a:solidFill>
                <a:latin typeface="微软雅黑"/>
                <a:cs typeface="微软雅黑"/>
              </a:rPr>
              <a:t>同的优先编码器和译码器来说明</a:t>
            </a:r>
            <a:r>
              <a:rPr sz="2100" b="1" spc="-50" dirty="0">
                <a:solidFill>
                  <a:srgbClr val="3E3E3E"/>
                </a:solidFill>
                <a:latin typeface="微软雅黑"/>
                <a:cs typeface="微软雅黑"/>
              </a:rPr>
              <a:t> </a:t>
            </a:r>
            <a:r>
              <a:rPr sz="2100" b="1" spc="-10" dirty="0">
                <a:solidFill>
                  <a:srgbClr val="3E3E3E"/>
                </a:solidFill>
                <a:latin typeface="Arial"/>
                <a:cs typeface="Arial"/>
              </a:rPr>
              <a:t>case</a:t>
            </a:r>
            <a:r>
              <a:rPr sz="2100" b="1" dirty="0">
                <a:solidFill>
                  <a:srgbClr val="3E3E3E"/>
                </a:solidFill>
                <a:latin typeface="微软雅黑"/>
                <a:cs typeface="微软雅黑"/>
              </a:rPr>
              <a:t>语句的用法</a:t>
            </a:r>
            <a:r>
              <a:rPr sz="2100" b="1" spc="-50" dirty="0">
                <a:solidFill>
                  <a:srgbClr val="3E3E3E"/>
                </a:solidFill>
                <a:latin typeface="Arial"/>
                <a:cs typeface="Arial"/>
              </a:rPr>
              <a:t>.</a:t>
            </a:r>
            <a:endParaRPr sz="2100">
              <a:latin typeface="Arial"/>
              <a:cs typeface="Arial"/>
            </a:endParaRPr>
          </a:p>
          <a:p>
            <a:pPr marL="222250" indent="-211454">
              <a:lnSpc>
                <a:spcPct val="100000"/>
              </a:lnSpc>
              <a:spcBef>
                <a:spcPts val="1964"/>
              </a:spcBef>
              <a:buClr>
                <a:srgbClr val="EC891C"/>
              </a:buClr>
              <a:buSzPct val="83333"/>
              <a:buFont typeface="Wingdings"/>
              <a:buChar char=""/>
              <a:tabLst>
                <a:tab pos="222250" algn="l"/>
              </a:tabLst>
            </a:pPr>
            <a:r>
              <a:rPr sz="2100" b="1" spc="-10" dirty="0">
                <a:solidFill>
                  <a:srgbClr val="3E3E3E"/>
                </a:solidFill>
                <a:latin typeface="Arial"/>
                <a:cs typeface="Arial"/>
              </a:rPr>
              <a:t>2-</a:t>
            </a:r>
            <a:r>
              <a:rPr sz="2100" b="1" dirty="0">
                <a:solidFill>
                  <a:srgbClr val="3E3E3E"/>
                </a:solidFill>
                <a:latin typeface="Arial"/>
                <a:cs typeface="Arial"/>
              </a:rPr>
              <a:t>4</a:t>
            </a:r>
            <a:r>
              <a:rPr sz="2100" b="1" spc="-25" dirty="0">
                <a:solidFill>
                  <a:srgbClr val="3E3E3E"/>
                </a:solidFill>
                <a:latin typeface="宋体"/>
                <a:cs typeface="宋体"/>
              </a:rPr>
              <a:t>译码器使用</a:t>
            </a:r>
            <a:r>
              <a:rPr sz="2100" b="1" spc="-10" dirty="0">
                <a:solidFill>
                  <a:srgbClr val="3E3E3E"/>
                </a:solidFill>
                <a:latin typeface="Arial"/>
                <a:cs typeface="Arial"/>
              </a:rPr>
              <a:t>case</a:t>
            </a:r>
            <a:r>
              <a:rPr sz="2100" b="1" spc="-25" dirty="0">
                <a:solidFill>
                  <a:srgbClr val="3E3E3E"/>
                </a:solidFill>
                <a:latin typeface="宋体"/>
                <a:cs typeface="宋体"/>
              </a:rPr>
              <a:t>语句的</a:t>
            </a:r>
            <a:r>
              <a:rPr sz="2100" b="1" spc="-25" dirty="0">
                <a:solidFill>
                  <a:srgbClr val="3E3E3E"/>
                </a:solidFill>
                <a:latin typeface="Arial"/>
                <a:cs typeface="Arial"/>
              </a:rPr>
              <a:t>HDL</a:t>
            </a:r>
            <a:endParaRPr sz="2100">
              <a:latin typeface="Arial"/>
              <a:cs typeface="Arial"/>
            </a:endParaRPr>
          </a:p>
          <a:p>
            <a:pPr marL="212725">
              <a:lnSpc>
                <a:spcPct val="100000"/>
              </a:lnSpc>
              <a:spcBef>
                <a:spcPts val="1270"/>
              </a:spcBef>
            </a:pPr>
            <a:r>
              <a:rPr sz="2100" b="1" spc="-25" dirty="0">
                <a:solidFill>
                  <a:srgbClr val="3E3E3E"/>
                </a:solidFill>
                <a:latin typeface="宋体"/>
                <a:cs typeface="宋体"/>
              </a:rPr>
              <a:t>代码如例</a:t>
            </a:r>
            <a:r>
              <a:rPr sz="2100" b="1" spc="-10" dirty="0">
                <a:solidFill>
                  <a:srgbClr val="3E3E3E"/>
                </a:solidFill>
                <a:latin typeface="Arial"/>
                <a:cs typeface="Arial"/>
              </a:rPr>
              <a:t>3.6</a:t>
            </a:r>
            <a:r>
              <a:rPr sz="2100" b="1" spc="-40" dirty="0">
                <a:solidFill>
                  <a:srgbClr val="3E3E3E"/>
                </a:solidFill>
                <a:latin typeface="宋体"/>
                <a:cs typeface="宋体"/>
              </a:rPr>
              <a:t>所示</a:t>
            </a:r>
            <a:endParaRPr sz="2100">
              <a:latin typeface="宋体"/>
              <a:cs typeface="宋体"/>
            </a:endParaRPr>
          </a:p>
        </p:txBody>
      </p:sp>
      <p:grpSp>
        <p:nvGrpSpPr>
          <p:cNvPr id="4" name="object 4"/>
          <p:cNvGrpSpPr/>
          <p:nvPr/>
        </p:nvGrpSpPr>
        <p:grpSpPr>
          <a:xfrm>
            <a:off x="4877447" y="2093976"/>
            <a:ext cx="5286375" cy="3830954"/>
            <a:chOff x="4877447" y="2093976"/>
            <a:chExt cx="5286375" cy="3830954"/>
          </a:xfrm>
        </p:grpSpPr>
        <p:sp>
          <p:nvSpPr>
            <p:cNvPr id="5" name="object 5"/>
            <p:cNvSpPr/>
            <p:nvPr/>
          </p:nvSpPr>
          <p:spPr>
            <a:xfrm>
              <a:off x="4882019" y="2098548"/>
              <a:ext cx="5276850" cy="3821429"/>
            </a:xfrm>
            <a:custGeom>
              <a:avLst/>
              <a:gdLst/>
              <a:ahLst/>
              <a:cxnLst/>
              <a:rect l="l" t="t" r="r" b="b"/>
              <a:pathLst>
                <a:path w="5276850" h="3821429">
                  <a:moveTo>
                    <a:pt x="5276850" y="3821429"/>
                  </a:moveTo>
                  <a:lnTo>
                    <a:pt x="5276850" y="0"/>
                  </a:lnTo>
                  <a:lnTo>
                    <a:pt x="0" y="0"/>
                  </a:lnTo>
                  <a:lnTo>
                    <a:pt x="0" y="3821430"/>
                  </a:lnTo>
                  <a:lnTo>
                    <a:pt x="5276850" y="3821429"/>
                  </a:lnTo>
                  <a:close/>
                </a:path>
              </a:pathLst>
            </a:custGeom>
            <a:solidFill>
              <a:srgbClr val="F9FABA"/>
            </a:solidFill>
          </p:spPr>
          <p:txBody>
            <a:bodyPr wrap="square" lIns="0" tIns="0" rIns="0" bIns="0" rtlCol="0"/>
            <a:lstStyle/>
            <a:p>
              <a:endParaRPr/>
            </a:p>
          </p:txBody>
        </p:sp>
        <p:sp>
          <p:nvSpPr>
            <p:cNvPr id="6" name="object 6"/>
            <p:cNvSpPr/>
            <p:nvPr/>
          </p:nvSpPr>
          <p:spPr>
            <a:xfrm>
              <a:off x="4877447" y="2093976"/>
              <a:ext cx="5286375" cy="3830954"/>
            </a:xfrm>
            <a:custGeom>
              <a:avLst/>
              <a:gdLst/>
              <a:ahLst/>
              <a:cxnLst/>
              <a:rect l="l" t="t" r="r" b="b"/>
              <a:pathLst>
                <a:path w="5286375" h="3830954">
                  <a:moveTo>
                    <a:pt x="5285994" y="3828288"/>
                  </a:moveTo>
                  <a:lnTo>
                    <a:pt x="5285994" y="2285"/>
                  </a:lnTo>
                  <a:lnTo>
                    <a:pt x="5283708" y="0"/>
                  </a:lnTo>
                  <a:lnTo>
                    <a:pt x="2285" y="0"/>
                  </a:lnTo>
                  <a:lnTo>
                    <a:pt x="0" y="2286"/>
                  </a:lnTo>
                  <a:lnTo>
                    <a:pt x="0" y="3828288"/>
                  </a:lnTo>
                  <a:lnTo>
                    <a:pt x="2286" y="3830574"/>
                  </a:lnTo>
                  <a:lnTo>
                    <a:pt x="4572" y="3830574"/>
                  </a:lnTo>
                  <a:lnTo>
                    <a:pt x="4572" y="8382"/>
                  </a:lnTo>
                  <a:lnTo>
                    <a:pt x="8382" y="4572"/>
                  </a:lnTo>
                  <a:lnTo>
                    <a:pt x="8382" y="8382"/>
                  </a:lnTo>
                  <a:lnTo>
                    <a:pt x="5277612" y="8381"/>
                  </a:lnTo>
                  <a:lnTo>
                    <a:pt x="5277612" y="4571"/>
                  </a:lnTo>
                  <a:lnTo>
                    <a:pt x="5281422" y="8381"/>
                  </a:lnTo>
                  <a:lnTo>
                    <a:pt x="5281422" y="3830574"/>
                  </a:lnTo>
                  <a:lnTo>
                    <a:pt x="5283708" y="3830574"/>
                  </a:lnTo>
                  <a:lnTo>
                    <a:pt x="5285994" y="3828288"/>
                  </a:lnTo>
                  <a:close/>
                </a:path>
                <a:path w="5286375" h="3830954">
                  <a:moveTo>
                    <a:pt x="8382" y="8382"/>
                  </a:moveTo>
                  <a:lnTo>
                    <a:pt x="8382" y="4572"/>
                  </a:lnTo>
                  <a:lnTo>
                    <a:pt x="4572" y="8382"/>
                  </a:lnTo>
                  <a:lnTo>
                    <a:pt x="8382" y="8382"/>
                  </a:lnTo>
                  <a:close/>
                </a:path>
                <a:path w="5286375" h="3830954">
                  <a:moveTo>
                    <a:pt x="8382" y="3822192"/>
                  </a:moveTo>
                  <a:lnTo>
                    <a:pt x="8382" y="8382"/>
                  </a:lnTo>
                  <a:lnTo>
                    <a:pt x="4572" y="8382"/>
                  </a:lnTo>
                  <a:lnTo>
                    <a:pt x="4572" y="3822192"/>
                  </a:lnTo>
                  <a:lnTo>
                    <a:pt x="8382" y="3822192"/>
                  </a:lnTo>
                  <a:close/>
                </a:path>
                <a:path w="5286375" h="3830954">
                  <a:moveTo>
                    <a:pt x="5281422" y="3822192"/>
                  </a:moveTo>
                  <a:lnTo>
                    <a:pt x="4572" y="3822192"/>
                  </a:lnTo>
                  <a:lnTo>
                    <a:pt x="8382" y="3826002"/>
                  </a:lnTo>
                  <a:lnTo>
                    <a:pt x="8382" y="3830574"/>
                  </a:lnTo>
                  <a:lnTo>
                    <a:pt x="5277612" y="3830574"/>
                  </a:lnTo>
                  <a:lnTo>
                    <a:pt x="5277612" y="3826002"/>
                  </a:lnTo>
                  <a:lnTo>
                    <a:pt x="5281422" y="3822192"/>
                  </a:lnTo>
                  <a:close/>
                </a:path>
                <a:path w="5286375" h="3830954">
                  <a:moveTo>
                    <a:pt x="8382" y="3830574"/>
                  </a:moveTo>
                  <a:lnTo>
                    <a:pt x="8382" y="3826002"/>
                  </a:lnTo>
                  <a:lnTo>
                    <a:pt x="4572" y="3822192"/>
                  </a:lnTo>
                  <a:lnTo>
                    <a:pt x="4572" y="3830574"/>
                  </a:lnTo>
                  <a:lnTo>
                    <a:pt x="8382" y="3830574"/>
                  </a:lnTo>
                  <a:close/>
                </a:path>
                <a:path w="5286375" h="3830954">
                  <a:moveTo>
                    <a:pt x="5281422" y="8381"/>
                  </a:moveTo>
                  <a:lnTo>
                    <a:pt x="5277612" y="4571"/>
                  </a:lnTo>
                  <a:lnTo>
                    <a:pt x="5277612" y="8381"/>
                  </a:lnTo>
                  <a:lnTo>
                    <a:pt x="5281422" y="8381"/>
                  </a:lnTo>
                  <a:close/>
                </a:path>
                <a:path w="5286375" h="3830954">
                  <a:moveTo>
                    <a:pt x="5281422" y="3822192"/>
                  </a:moveTo>
                  <a:lnTo>
                    <a:pt x="5281422" y="8381"/>
                  </a:lnTo>
                  <a:lnTo>
                    <a:pt x="5277612" y="8381"/>
                  </a:lnTo>
                  <a:lnTo>
                    <a:pt x="5277612" y="3822192"/>
                  </a:lnTo>
                  <a:lnTo>
                    <a:pt x="5281422" y="3822192"/>
                  </a:lnTo>
                  <a:close/>
                </a:path>
                <a:path w="5286375" h="3830954">
                  <a:moveTo>
                    <a:pt x="5281422" y="3830574"/>
                  </a:moveTo>
                  <a:lnTo>
                    <a:pt x="5281422" y="3822192"/>
                  </a:lnTo>
                  <a:lnTo>
                    <a:pt x="5277612" y="3826002"/>
                  </a:lnTo>
                  <a:lnTo>
                    <a:pt x="5277612" y="3830574"/>
                  </a:lnTo>
                  <a:lnTo>
                    <a:pt x="5281422" y="3830574"/>
                  </a:lnTo>
                  <a:close/>
                </a:path>
              </a:pathLst>
            </a:custGeom>
            <a:solidFill>
              <a:srgbClr val="000000"/>
            </a:solidFill>
          </p:spPr>
          <p:txBody>
            <a:bodyPr wrap="square" lIns="0" tIns="0" rIns="0" bIns="0" rtlCol="0"/>
            <a:lstStyle/>
            <a:p>
              <a:endParaRPr/>
            </a:p>
          </p:txBody>
        </p:sp>
      </p:grpSp>
      <p:sp>
        <p:nvSpPr>
          <p:cNvPr id="7" name="object 7"/>
          <p:cNvSpPr txBox="1"/>
          <p:nvPr/>
        </p:nvSpPr>
        <p:spPr>
          <a:xfrm>
            <a:off x="5394325" y="2382722"/>
            <a:ext cx="583565" cy="601980"/>
          </a:xfrm>
          <a:prstGeom prst="rect">
            <a:avLst/>
          </a:prstGeom>
        </p:spPr>
        <p:txBody>
          <a:bodyPr vert="horz" wrap="square" lIns="0" tIns="12065" rIns="0" bIns="0" rtlCol="0">
            <a:spAutoFit/>
          </a:bodyPr>
          <a:lstStyle/>
          <a:p>
            <a:pPr marL="68580" marR="5080" indent="-56515">
              <a:lnSpc>
                <a:spcPct val="121900"/>
              </a:lnSpc>
              <a:spcBef>
                <a:spcPts val="95"/>
              </a:spcBef>
            </a:pPr>
            <a:r>
              <a:rPr sz="1550" spc="-10" dirty="0">
                <a:latin typeface="Arial"/>
                <a:cs typeface="Arial"/>
              </a:rPr>
              <a:t>(</a:t>
            </a:r>
            <a:r>
              <a:rPr sz="1550" b="1" spc="-10" dirty="0">
                <a:latin typeface="Arial"/>
                <a:cs typeface="Arial"/>
              </a:rPr>
              <a:t>input input</a:t>
            </a:r>
            <a:endParaRPr sz="1550">
              <a:latin typeface="Arial"/>
              <a:cs typeface="Arial"/>
            </a:endParaRPr>
          </a:p>
        </p:txBody>
      </p:sp>
      <p:sp>
        <p:nvSpPr>
          <p:cNvPr id="12" name="object 12"/>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8" name="object 8"/>
          <p:cNvSpPr txBox="1"/>
          <p:nvPr/>
        </p:nvSpPr>
        <p:spPr>
          <a:xfrm>
            <a:off x="6107569" y="2382722"/>
            <a:ext cx="648970" cy="601980"/>
          </a:xfrm>
          <a:prstGeom prst="rect">
            <a:avLst/>
          </a:prstGeom>
        </p:spPr>
        <p:txBody>
          <a:bodyPr vert="horz" wrap="square" lIns="0" tIns="63500" rIns="0" bIns="0" rtlCol="0">
            <a:spAutoFit/>
          </a:bodyPr>
          <a:lstStyle/>
          <a:p>
            <a:pPr marL="22860">
              <a:lnSpc>
                <a:spcPct val="100000"/>
              </a:lnSpc>
              <a:spcBef>
                <a:spcPts val="500"/>
              </a:spcBef>
            </a:pPr>
            <a:r>
              <a:rPr sz="1550" dirty="0">
                <a:latin typeface="Arial"/>
                <a:cs typeface="Arial"/>
              </a:rPr>
              <a:t>[1:0]</a:t>
            </a:r>
            <a:r>
              <a:rPr sz="1550" spc="50" dirty="0">
                <a:latin typeface="Arial"/>
                <a:cs typeface="Arial"/>
              </a:rPr>
              <a:t> </a:t>
            </a:r>
            <a:r>
              <a:rPr sz="1550" spc="-25" dirty="0">
                <a:latin typeface="Arial"/>
                <a:cs typeface="Arial"/>
              </a:rPr>
              <a:t>a,</a:t>
            </a:r>
            <a:endParaRPr sz="1550">
              <a:latin typeface="Arial"/>
              <a:cs typeface="Arial"/>
            </a:endParaRPr>
          </a:p>
          <a:p>
            <a:pPr marL="12700">
              <a:lnSpc>
                <a:spcPct val="100000"/>
              </a:lnSpc>
              <a:spcBef>
                <a:spcPts val="409"/>
              </a:spcBef>
            </a:pPr>
            <a:r>
              <a:rPr sz="1550" spc="-25" dirty="0">
                <a:latin typeface="Arial"/>
                <a:cs typeface="Arial"/>
              </a:rPr>
              <a:t>en,</a:t>
            </a:r>
            <a:endParaRPr sz="1550">
              <a:latin typeface="Arial"/>
              <a:cs typeface="Arial"/>
            </a:endParaRPr>
          </a:p>
        </p:txBody>
      </p:sp>
      <p:sp>
        <p:nvSpPr>
          <p:cNvPr id="9" name="object 9"/>
          <p:cNvSpPr txBox="1"/>
          <p:nvPr/>
        </p:nvSpPr>
        <p:spPr>
          <a:xfrm>
            <a:off x="7883788" y="5015843"/>
            <a:ext cx="2139950" cy="280035"/>
          </a:xfrm>
          <a:prstGeom prst="rect">
            <a:avLst/>
          </a:prstGeom>
        </p:spPr>
        <p:txBody>
          <a:bodyPr vert="horz" wrap="square" lIns="0" tIns="14604" rIns="0" bIns="0" rtlCol="0">
            <a:spAutoFit/>
          </a:bodyPr>
          <a:lstStyle/>
          <a:p>
            <a:pPr marL="12700">
              <a:lnSpc>
                <a:spcPct val="100000"/>
              </a:lnSpc>
              <a:spcBef>
                <a:spcPts val="114"/>
              </a:spcBef>
            </a:pPr>
            <a:r>
              <a:rPr sz="1550" dirty="0">
                <a:solidFill>
                  <a:srgbClr val="00B0EF"/>
                </a:solidFill>
                <a:latin typeface="Arial"/>
                <a:cs typeface="Arial"/>
              </a:rPr>
              <a:t>//</a:t>
            </a:r>
            <a:r>
              <a:rPr sz="1650" i="1" spc="-90" dirty="0">
                <a:solidFill>
                  <a:srgbClr val="00B0EF"/>
                </a:solidFill>
                <a:latin typeface="宋体"/>
                <a:cs typeface="宋体"/>
              </a:rPr>
              <a:t>也可以使用</a:t>
            </a:r>
            <a:r>
              <a:rPr sz="1550" i="1" dirty="0">
                <a:solidFill>
                  <a:srgbClr val="00B0EF"/>
                </a:solidFill>
                <a:latin typeface="Arial"/>
                <a:cs typeface="Arial"/>
              </a:rPr>
              <a:t>default</a:t>
            </a:r>
            <a:r>
              <a:rPr sz="1650" i="1" spc="-70" dirty="0">
                <a:solidFill>
                  <a:srgbClr val="00B0EF"/>
                </a:solidFill>
                <a:latin typeface="宋体"/>
                <a:cs typeface="宋体"/>
              </a:rPr>
              <a:t>语句</a:t>
            </a:r>
            <a:endParaRPr sz="1650">
              <a:latin typeface="宋体"/>
              <a:cs typeface="宋体"/>
            </a:endParaRPr>
          </a:p>
        </p:txBody>
      </p:sp>
      <p:sp>
        <p:nvSpPr>
          <p:cNvPr id="10" name="object 10"/>
          <p:cNvSpPr txBox="1"/>
          <p:nvPr/>
        </p:nvSpPr>
        <p:spPr>
          <a:xfrm>
            <a:off x="5116208" y="4979001"/>
            <a:ext cx="2571750" cy="869950"/>
          </a:xfrm>
          <a:prstGeom prst="rect">
            <a:avLst/>
          </a:prstGeom>
        </p:spPr>
        <p:txBody>
          <a:bodyPr vert="horz" wrap="square" lIns="0" tIns="64135" rIns="0" bIns="0" rtlCol="0">
            <a:spAutoFit/>
          </a:bodyPr>
          <a:lstStyle/>
          <a:p>
            <a:pPr marL="791845">
              <a:lnSpc>
                <a:spcPct val="100000"/>
              </a:lnSpc>
              <a:spcBef>
                <a:spcPts val="505"/>
              </a:spcBef>
            </a:pPr>
            <a:r>
              <a:rPr sz="1550" spc="-20" dirty="0">
                <a:latin typeface="Arial"/>
                <a:cs typeface="Arial"/>
              </a:rPr>
              <a:t>3'b111:</a:t>
            </a:r>
            <a:r>
              <a:rPr sz="1550" spc="-15" dirty="0">
                <a:latin typeface="Arial"/>
                <a:cs typeface="Arial"/>
              </a:rPr>
              <a:t> </a:t>
            </a:r>
            <a:r>
              <a:rPr sz="1550" dirty="0">
                <a:latin typeface="Arial"/>
                <a:cs typeface="Arial"/>
              </a:rPr>
              <a:t>y</a:t>
            </a:r>
            <a:r>
              <a:rPr sz="1550" spc="-10" dirty="0">
                <a:latin typeface="Arial"/>
                <a:cs typeface="Arial"/>
              </a:rPr>
              <a:t> </a:t>
            </a:r>
            <a:r>
              <a:rPr sz="1550" dirty="0">
                <a:latin typeface="Arial"/>
                <a:cs typeface="Arial"/>
              </a:rPr>
              <a:t>=</a:t>
            </a:r>
            <a:r>
              <a:rPr sz="1550" spc="-10" dirty="0">
                <a:latin typeface="Arial"/>
                <a:cs typeface="Arial"/>
              </a:rPr>
              <a:t> 4'b1000;</a:t>
            </a:r>
            <a:endParaRPr sz="1550">
              <a:latin typeface="Arial"/>
              <a:cs typeface="Arial"/>
            </a:endParaRPr>
          </a:p>
          <a:p>
            <a:pPr marL="12700" marR="1136650" indent="612140">
              <a:lnSpc>
                <a:spcPct val="112900"/>
              </a:lnSpc>
              <a:spcBef>
                <a:spcPts val="175"/>
              </a:spcBef>
            </a:pPr>
            <a:r>
              <a:rPr sz="1550" b="1" spc="-10" dirty="0">
                <a:latin typeface="Arial"/>
                <a:cs typeface="Arial"/>
              </a:rPr>
              <a:t>endcase endmodule</a:t>
            </a:r>
            <a:endParaRPr sz="1550">
              <a:latin typeface="Arial"/>
              <a:cs typeface="Arial"/>
            </a:endParaRPr>
          </a:p>
        </p:txBody>
      </p:sp>
      <p:sp>
        <p:nvSpPr>
          <p:cNvPr id="11" name="object 11"/>
          <p:cNvSpPr txBox="1"/>
          <p:nvPr/>
        </p:nvSpPr>
        <p:spPr>
          <a:xfrm>
            <a:off x="4949323" y="1716273"/>
            <a:ext cx="4876165" cy="3289300"/>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FF0000"/>
                </a:solidFill>
                <a:latin typeface="宋体"/>
                <a:cs typeface="宋体"/>
              </a:rPr>
              <a:t>例</a:t>
            </a:r>
            <a:r>
              <a:rPr sz="1550" b="1" dirty="0">
                <a:solidFill>
                  <a:srgbClr val="FF0000"/>
                </a:solidFill>
                <a:latin typeface="Arial"/>
                <a:cs typeface="Arial"/>
              </a:rPr>
              <a:t>3.6</a:t>
            </a:r>
            <a:r>
              <a:rPr sz="1550" b="1" spc="320" dirty="0">
                <a:solidFill>
                  <a:srgbClr val="FF0000"/>
                </a:solidFill>
                <a:latin typeface="Arial"/>
                <a:cs typeface="Arial"/>
              </a:rPr>
              <a:t> </a:t>
            </a:r>
            <a:r>
              <a:rPr sz="1550" b="1" dirty="0">
                <a:solidFill>
                  <a:srgbClr val="FF0000"/>
                </a:solidFill>
                <a:latin typeface="宋体"/>
                <a:cs typeface="宋体"/>
              </a:rPr>
              <a:t>使用</a:t>
            </a:r>
            <a:r>
              <a:rPr sz="1550" b="1" dirty="0">
                <a:solidFill>
                  <a:srgbClr val="FF0000"/>
                </a:solidFill>
                <a:latin typeface="Arial"/>
                <a:cs typeface="Arial"/>
              </a:rPr>
              <a:t>case</a:t>
            </a:r>
            <a:r>
              <a:rPr sz="1550" b="1" spc="-5" dirty="0">
                <a:solidFill>
                  <a:srgbClr val="FF0000"/>
                </a:solidFill>
                <a:latin typeface="宋体"/>
                <a:cs typeface="宋体"/>
              </a:rPr>
              <a:t>语句实现的二进制译码器</a:t>
            </a:r>
            <a:endParaRPr sz="1550" dirty="0">
              <a:latin typeface="宋体"/>
              <a:cs typeface="宋体"/>
            </a:endParaRPr>
          </a:p>
          <a:p>
            <a:pPr marL="12700">
              <a:lnSpc>
                <a:spcPct val="100000"/>
              </a:lnSpc>
              <a:spcBef>
                <a:spcPts val="1490"/>
              </a:spcBef>
            </a:pPr>
            <a:r>
              <a:rPr sz="1550" b="1" dirty="0">
                <a:latin typeface="Arial"/>
                <a:cs typeface="Arial"/>
              </a:rPr>
              <a:t>modul</a:t>
            </a:r>
            <a:r>
              <a:rPr sz="1550" dirty="0">
                <a:latin typeface="Arial"/>
                <a:cs typeface="Arial"/>
              </a:rPr>
              <a:t>e</a:t>
            </a:r>
            <a:r>
              <a:rPr sz="1550" spc="50" dirty="0">
                <a:latin typeface="Arial"/>
                <a:cs typeface="Arial"/>
              </a:rPr>
              <a:t> </a:t>
            </a:r>
            <a:r>
              <a:rPr sz="1550" spc="-10" dirty="0">
                <a:latin typeface="Arial"/>
                <a:cs typeface="Arial"/>
              </a:rPr>
              <a:t>decoder_2_4_case</a:t>
            </a:r>
            <a:endParaRPr sz="1550" dirty="0">
              <a:latin typeface="Arial"/>
              <a:cs typeface="Arial"/>
            </a:endParaRPr>
          </a:p>
          <a:p>
            <a:pPr>
              <a:lnSpc>
                <a:spcPct val="100000"/>
              </a:lnSpc>
            </a:pPr>
            <a:endParaRPr sz="1550" dirty="0">
              <a:latin typeface="Arial"/>
              <a:cs typeface="Arial"/>
            </a:endParaRPr>
          </a:p>
          <a:p>
            <a:pPr>
              <a:lnSpc>
                <a:spcPct val="100000"/>
              </a:lnSpc>
              <a:spcBef>
                <a:spcPts val="1390"/>
              </a:spcBef>
            </a:pPr>
            <a:endParaRPr sz="1550" dirty="0">
              <a:latin typeface="Arial"/>
              <a:cs typeface="Arial"/>
            </a:endParaRPr>
          </a:p>
          <a:p>
            <a:pPr marL="518159">
              <a:lnSpc>
                <a:spcPct val="100000"/>
              </a:lnSpc>
            </a:pPr>
            <a:r>
              <a:rPr sz="1550" b="1" dirty="0">
                <a:latin typeface="Arial"/>
                <a:cs typeface="Arial"/>
              </a:rPr>
              <a:t>output</a:t>
            </a:r>
            <a:r>
              <a:rPr sz="1550" b="1" spc="475" dirty="0">
                <a:latin typeface="Arial"/>
                <a:cs typeface="Arial"/>
              </a:rPr>
              <a:t> </a:t>
            </a:r>
            <a:r>
              <a:rPr sz="1550" b="1" dirty="0">
                <a:latin typeface="Arial"/>
                <a:cs typeface="Arial"/>
              </a:rPr>
              <a:t>reg</a:t>
            </a:r>
            <a:r>
              <a:rPr sz="1550" b="1" spc="484" dirty="0">
                <a:latin typeface="Arial"/>
                <a:cs typeface="Arial"/>
              </a:rPr>
              <a:t> </a:t>
            </a:r>
            <a:r>
              <a:rPr sz="1550" dirty="0">
                <a:latin typeface="Arial"/>
                <a:cs typeface="Arial"/>
              </a:rPr>
              <a:t>[3:0]</a:t>
            </a:r>
            <a:r>
              <a:rPr sz="1550" spc="484" dirty="0">
                <a:latin typeface="Arial"/>
                <a:cs typeface="Arial"/>
              </a:rPr>
              <a:t> </a:t>
            </a:r>
            <a:r>
              <a:rPr sz="1550" spc="-25" dirty="0">
                <a:latin typeface="Arial"/>
                <a:cs typeface="Arial"/>
              </a:rPr>
              <a:t>y);</a:t>
            </a:r>
            <a:endParaRPr sz="1550" dirty="0">
              <a:latin typeface="Arial"/>
              <a:cs typeface="Arial"/>
            </a:endParaRPr>
          </a:p>
          <a:p>
            <a:pPr marL="513715">
              <a:lnSpc>
                <a:spcPct val="100000"/>
              </a:lnSpc>
              <a:spcBef>
                <a:spcPts val="415"/>
              </a:spcBef>
            </a:pPr>
            <a:r>
              <a:rPr sz="1550" b="1" dirty="0">
                <a:latin typeface="Arial"/>
                <a:cs typeface="Arial"/>
              </a:rPr>
              <a:t>always</a:t>
            </a:r>
            <a:r>
              <a:rPr sz="1550" b="1" spc="30" dirty="0">
                <a:latin typeface="Arial"/>
                <a:cs typeface="Arial"/>
              </a:rPr>
              <a:t> </a:t>
            </a:r>
            <a:r>
              <a:rPr sz="1550" spc="-35" dirty="0">
                <a:latin typeface="Arial"/>
                <a:cs typeface="Arial"/>
              </a:rPr>
              <a:t>@*</a:t>
            </a:r>
            <a:endParaRPr sz="1550" dirty="0">
              <a:latin typeface="Arial"/>
              <a:cs typeface="Arial"/>
            </a:endParaRPr>
          </a:p>
          <a:p>
            <a:pPr marL="735965">
              <a:lnSpc>
                <a:spcPct val="100000"/>
              </a:lnSpc>
              <a:spcBef>
                <a:spcPts val="415"/>
              </a:spcBef>
            </a:pPr>
            <a:r>
              <a:rPr sz="1550" b="1" dirty="0">
                <a:latin typeface="Arial"/>
                <a:cs typeface="Arial"/>
              </a:rPr>
              <a:t>case</a:t>
            </a:r>
            <a:r>
              <a:rPr sz="1550" b="1" spc="490" dirty="0">
                <a:latin typeface="Arial"/>
                <a:cs typeface="Arial"/>
              </a:rPr>
              <a:t> </a:t>
            </a:r>
            <a:r>
              <a:rPr sz="1550" dirty="0">
                <a:latin typeface="Arial"/>
                <a:cs typeface="Arial"/>
              </a:rPr>
              <a:t>({en,</a:t>
            </a:r>
            <a:r>
              <a:rPr sz="1550" spc="30" dirty="0">
                <a:latin typeface="Arial"/>
                <a:cs typeface="Arial"/>
              </a:rPr>
              <a:t> </a:t>
            </a:r>
            <a:r>
              <a:rPr sz="1550" spc="-25" dirty="0">
                <a:latin typeface="Arial"/>
                <a:cs typeface="Arial"/>
              </a:rPr>
              <a:t>a})</a:t>
            </a:r>
            <a:endParaRPr sz="1550" dirty="0">
              <a:latin typeface="Arial"/>
              <a:cs typeface="Arial"/>
            </a:endParaRPr>
          </a:p>
          <a:p>
            <a:pPr marL="963930">
              <a:lnSpc>
                <a:spcPct val="100000"/>
              </a:lnSpc>
              <a:spcBef>
                <a:spcPts val="405"/>
              </a:spcBef>
            </a:pPr>
            <a:r>
              <a:rPr sz="1550" dirty="0">
                <a:latin typeface="Arial"/>
                <a:cs typeface="Arial"/>
              </a:rPr>
              <a:t>3'b000,</a:t>
            </a:r>
            <a:r>
              <a:rPr sz="1550" spc="5" dirty="0">
                <a:latin typeface="Arial"/>
                <a:cs typeface="Arial"/>
              </a:rPr>
              <a:t> </a:t>
            </a:r>
            <a:r>
              <a:rPr sz="1550" dirty="0">
                <a:latin typeface="Arial"/>
                <a:cs typeface="Arial"/>
              </a:rPr>
              <a:t>3'b001,</a:t>
            </a:r>
            <a:r>
              <a:rPr sz="1550" spc="5" dirty="0">
                <a:latin typeface="Arial"/>
                <a:cs typeface="Arial"/>
              </a:rPr>
              <a:t> </a:t>
            </a:r>
            <a:r>
              <a:rPr sz="1550" dirty="0">
                <a:latin typeface="Arial"/>
                <a:cs typeface="Arial"/>
              </a:rPr>
              <a:t>3'b010,</a:t>
            </a:r>
            <a:r>
              <a:rPr sz="1550" spc="5" dirty="0">
                <a:latin typeface="Arial"/>
                <a:cs typeface="Arial"/>
              </a:rPr>
              <a:t> </a:t>
            </a:r>
            <a:r>
              <a:rPr sz="1550" dirty="0">
                <a:latin typeface="Arial"/>
                <a:cs typeface="Arial"/>
              </a:rPr>
              <a:t>3'b011:</a:t>
            </a:r>
            <a:r>
              <a:rPr sz="1550" spc="5" dirty="0">
                <a:latin typeface="Arial"/>
                <a:cs typeface="Arial"/>
              </a:rPr>
              <a:t> </a:t>
            </a:r>
            <a:r>
              <a:rPr sz="1550" dirty="0">
                <a:latin typeface="Arial"/>
                <a:cs typeface="Arial"/>
              </a:rPr>
              <a:t>y</a:t>
            </a:r>
            <a:r>
              <a:rPr sz="1550" spc="5" dirty="0">
                <a:latin typeface="Arial"/>
                <a:cs typeface="Arial"/>
              </a:rPr>
              <a:t> </a:t>
            </a:r>
            <a:r>
              <a:rPr sz="1550" dirty="0">
                <a:latin typeface="Arial"/>
                <a:cs typeface="Arial"/>
              </a:rPr>
              <a:t>=</a:t>
            </a:r>
            <a:r>
              <a:rPr sz="1550" spc="5" dirty="0">
                <a:latin typeface="Arial"/>
                <a:cs typeface="Arial"/>
              </a:rPr>
              <a:t> </a:t>
            </a:r>
            <a:r>
              <a:rPr sz="1550" spc="-10" dirty="0">
                <a:latin typeface="Arial"/>
                <a:cs typeface="Arial"/>
              </a:rPr>
              <a:t>4'b0000;</a:t>
            </a:r>
            <a:endParaRPr sz="1550" dirty="0">
              <a:latin typeface="Arial"/>
              <a:cs typeface="Arial"/>
            </a:endParaRPr>
          </a:p>
          <a:p>
            <a:pPr marL="963930">
              <a:lnSpc>
                <a:spcPct val="100000"/>
              </a:lnSpc>
              <a:spcBef>
                <a:spcPts val="415"/>
              </a:spcBef>
            </a:pPr>
            <a:r>
              <a:rPr sz="1550" dirty="0">
                <a:latin typeface="Arial"/>
                <a:cs typeface="Arial"/>
              </a:rPr>
              <a:t>3'b100:</a:t>
            </a:r>
            <a:r>
              <a:rPr sz="1550" spc="20"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4'b0001;</a:t>
            </a:r>
            <a:endParaRPr sz="1550" dirty="0">
              <a:latin typeface="Arial"/>
              <a:cs typeface="Arial"/>
            </a:endParaRPr>
          </a:p>
          <a:p>
            <a:pPr marL="958850">
              <a:lnSpc>
                <a:spcPct val="100000"/>
              </a:lnSpc>
              <a:spcBef>
                <a:spcPts val="415"/>
              </a:spcBef>
            </a:pPr>
            <a:r>
              <a:rPr sz="1550" dirty="0">
                <a:latin typeface="Arial"/>
                <a:cs typeface="Arial"/>
              </a:rPr>
              <a:t>3'b101:</a:t>
            </a:r>
            <a:r>
              <a:rPr sz="1550" spc="20"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4'b0010;</a:t>
            </a:r>
            <a:endParaRPr sz="1550" dirty="0">
              <a:latin typeface="Arial"/>
              <a:cs typeface="Arial"/>
            </a:endParaRPr>
          </a:p>
          <a:p>
            <a:pPr marL="958850">
              <a:lnSpc>
                <a:spcPct val="100000"/>
              </a:lnSpc>
              <a:spcBef>
                <a:spcPts val="415"/>
              </a:spcBef>
            </a:pPr>
            <a:r>
              <a:rPr sz="1550" dirty="0">
                <a:latin typeface="Arial"/>
                <a:cs typeface="Arial"/>
              </a:rPr>
              <a:t>3'b110:</a:t>
            </a:r>
            <a:r>
              <a:rPr sz="1550" spc="-15" dirty="0">
                <a:latin typeface="Arial"/>
                <a:cs typeface="Arial"/>
              </a:rPr>
              <a:t> </a:t>
            </a:r>
            <a:r>
              <a:rPr sz="1550" dirty="0">
                <a:latin typeface="Arial"/>
                <a:cs typeface="Arial"/>
              </a:rPr>
              <a:t>y</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4'b0100;</a:t>
            </a:r>
            <a:endParaRPr sz="1550" dirty="0">
              <a:latin typeface="Arial"/>
              <a:cs typeface="Arial"/>
            </a:endParaRPr>
          </a:p>
        </p:txBody>
      </p:sp>
      <p:sp>
        <p:nvSpPr>
          <p:cNvPr id="13" name="矩形 12">
            <a:extLst>
              <a:ext uri="{FF2B5EF4-FFF2-40B4-BE49-F238E27FC236}">
                <a16:creationId xmlns:a16="http://schemas.microsoft.com/office/drawing/2014/main" id="{91C466BB-DFAE-AA06-DE34-CC32293A4257}"/>
              </a:ext>
            </a:extLst>
          </p:cNvPr>
          <p:cNvSpPr/>
          <p:nvPr/>
        </p:nvSpPr>
        <p:spPr>
          <a:xfrm>
            <a:off x="5770035" y="3874559"/>
            <a:ext cx="2895600" cy="2779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5" name="直接箭头连接符 14">
            <a:extLst>
              <a:ext uri="{FF2B5EF4-FFF2-40B4-BE49-F238E27FC236}">
                <a16:creationId xmlns:a16="http://schemas.microsoft.com/office/drawing/2014/main" id="{A7969752-EB42-0BB1-1CA5-D57584ADC5F6}"/>
              </a:ext>
            </a:extLst>
          </p:cNvPr>
          <p:cNvCxnSpPr>
            <a:cxnSpLocks/>
          </p:cNvCxnSpPr>
          <p:nvPr/>
        </p:nvCxnSpPr>
        <p:spPr>
          <a:xfrm flipH="1">
            <a:off x="3898900" y="4145893"/>
            <a:ext cx="1871135" cy="8699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ACE413E2-2D36-6EBA-B847-2BC909A5362B}"/>
              </a:ext>
            </a:extLst>
          </p:cNvPr>
          <p:cNvSpPr txBox="1"/>
          <p:nvPr/>
        </p:nvSpPr>
        <p:spPr>
          <a:xfrm>
            <a:off x="1294593" y="5029601"/>
            <a:ext cx="2890647" cy="1200329"/>
          </a:xfrm>
          <a:prstGeom prst="rect">
            <a:avLst/>
          </a:prstGeom>
          <a:noFill/>
          <a:ln w="28575">
            <a:solidFill>
              <a:srgbClr val="C00000"/>
            </a:solidFill>
          </a:ln>
        </p:spPr>
        <p:txBody>
          <a:bodyPr wrap="square" rtlCol="0">
            <a:spAutoFit/>
          </a:bodyPr>
          <a:lstStyle/>
          <a:p>
            <a:r>
              <a:rPr lang="zh-CN" altLang="en-US" dirty="0"/>
              <a:t>可以将引起同一输出块执行的多个选择信号组合在一起，写在一个分支项内，用逗号隔开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2766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3.2.2.2</a:t>
            </a:r>
            <a:r>
              <a:rPr spc="-15" dirty="0">
                <a:latin typeface="Arial"/>
                <a:cs typeface="Arial"/>
              </a:rPr>
              <a:t> </a:t>
            </a:r>
            <a:r>
              <a:rPr spc="-10" dirty="0">
                <a:latin typeface="Calibri"/>
                <a:cs typeface="Calibri"/>
              </a:rPr>
              <a:t>case</a:t>
            </a:r>
            <a:r>
              <a:rPr spc="-15" dirty="0"/>
              <a:t>语句实例</a:t>
            </a:r>
          </a:p>
        </p:txBody>
      </p:sp>
      <p:sp>
        <p:nvSpPr>
          <p:cNvPr id="3" name="object 3"/>
          <p:cNvSpPr txBox="1"/>
          <p:nvPr/>
        </p:nvSpPr>
        <p:spPr>
          <a:xfrm>
            <a:off x="603637" y="1996838"/>
            <a:ext cx="4265295" cy="1558925"/>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4</a:t>
            </a:r>
            <a:r>
              <a:rPr sz="2100" b="1" dirty="0">
                <a:solidFill>
                  <a:srgbClr val="3E3E3E"/>
                </a:solidFill>
                <a:latin typeface="微软雅黑"/>
                <a:cs typeface="微软雅黑"/>
              </a:rPr>
              <a:t>位优先编码器的功能表如表</a:t>
            </a:r>
            <a:r>
              <a:rPr sz="2100" b="1" dirty="0">
                <a:solidFill>
                  <a:srgbClr val="3E3E3E"/>
                </a:solidFill>
                <a:latin typeface="Arial"/>
                <a:cs typeface="Arial"/>
              </a:rPr>
              <a:t>3.1</a:t>
            </a:r>
            <a:r>
              <a:rPr sz="2100" b="1" spc="-50" dirty="0">
                <a:solidFill>
                  <a:srgbClr val="3E3E3E"/>
                </a:solidFill>
                <a:latin typeface="微软雅黑"/>
                <a:cs typeface="微软雅黑"/>
              </a:rPr>
              <a:t>所</a:t>
            </a:r>
            <a:r>
              <a:rPr sz="2100" b="1" spc="-5" dirty="0">
                <a:solidFill>
                  <a:srgbClr val="3E3E3E"/>
                </a:solidFill>
                <a:latin typeface="微软雅黑"/>
                <a:cs typeface="微软雅黑"/>
              </a:rPr>
              <a:t>示，</a:t>
            </a:r>
            <a:r>
              <a:rPr sz="2100" b="1" spc="-10" dirty="0">
                <a:solidFill>
                  <a:srgbClr val="3E3E3E"/>
                </a:solidFill>
                <a:latin typeface="Arial"/>
                <a:cs typeface="Arial"/>
              </a:rPr>
              <a:t>HDL</a:t>
            </a:r>
            <a:r>
              <a:rPr sz="2100" b="1" dirty="0">
                <a:solidFill>
                  <a:srgbClr val="3E3E3E"/>
                </a:solidFill>
                <a:latin typeface="微软雅黑"/>
                <a:cs typeface="微软雅黑"/>
              </a:rPr>
              <a:t>代码如例</a:t>
            </a:r>
            <a:r>
              <a:rPr sz="2100" b="1" spc="-10" dirty="0">
                <a:solidFill>
                  <a:srgbClr val="3E3E3E"/>
                </a:solidFill>
                <a:latin typeface="Arial"/>
                <a:cs typeface="Arial"/>
              </a:rPr>
              <a:t>3.7</a:t>
            </a:r>
            <a:r>
              <a:rPr sz="2100" b="1" spc="-20" dirty="0">
                <a:solidFill>
                  <a:srgbClr val="3E3E3E"/>
                </a:solidFill>
                <a:latin typeface="微软雅黑"/>
                <a:cs typeface="微软雅黑"/>
              </a:rPr>
              <a:t>所示。</a:t>
            </a:r>
            <a:endParaRPr sz="2100">
              <a:latin typeface="微软雅黑"/>
              <a:cs typeface="微软雅黑"/>
            </a:endParaRPr>
          </a:p>
          <a:p>
            <a:pPr marL="295910" indent="-283210">
              <a:lnSpc>
                <a:spcPct val="100000"/>
              </a:lnSpc>
              <a:spcBef>
                <a:spcPts val="1970"/>
              </a:spcBef>
              <a:buClr>
                <a:srgbClr val="EC891C"/>
              </a:buClr>
              <a:buSzPct val="83333"/>
              <a:buFont typeface="Wingdings"/>
              <a:buChar char=""/>
              <a:tabLst>
                <a:tab pos="295910" algn="l"/>
              </a:tabLst>
            </a:pPr>
            <a:r>
              <a:rPr sz="2100" b="1" spc="-25" dirty="0">
                <a:solidFill>
                  <a:srgbClr val="3E3E3E"/>
                </a:solidFill>
                <a:latin typeface="宋体"/>
                <a:cs typeface="宋体"/>
              </a:rPr>
              <a:t>例</a:t>
            </a:r>
            <a:r>
              <a:rPr sz="2100" b="1" spc="-10" dirty="0">
                <a:solidFill>
                  <a:srgbClr val="3E3E3E"/>
                </a:solidFill>
                <a:latin typeface="Arial"/>
                <a:cs typeface="Arial"/>
              </a:rPr>
              <a:t>3.7</a:t>
            </a:r>
            <a:r>
              <a:rPr sz="2100" b="1" spc="-25" dirty="0">
                <a:solidFill>
                  <a:srgbClr val="3E3E3E"/>
                </a:solidFill>
                <a:latin typeface="宋体"/>
                <a:cs typeface="宋体"/>
              </a:rPr>
              <a:t>使用</a:t>
            </a:r>
            <a:r>
              <a:rPr sz="2100" b="1" spc="-10" dirty="0">
                <a:solidFill>
                  <a:srgbClr val="3E3E3E"/>
                </a:solidFill>
                <a:latin typeface="Arial"/>
                <a:cs typeface="Arial"/>
              </a:rPr>
              <a:t>case</a:t>
            </a:r>
            <a:r>
              <a:rPr sz="2100" b="1" spc="-30" dirty="0">
                <a:solidFill>
                  <a:srgbClr val="3E3E3E"/>
                </a:solidFill>
                <a:latin typeface="宋体"/>
                <a:cs typeface="宋体"/>
              </a:rPr>
              <a:t>语句的优先编码器</a:t>
            </a:r>
            <a:endParaRPr sz="2100">
              <a:latin typeface="宋体"/>
              <a:cs typeface="宋体"/>
            </a:endParaRPr>
          </a:p>
        </p:txBody>
      </p:sp>
      <p:grpSp>
        <p:nvGrpSpPr>
          <p:cNvPr id="4" name="object 4"/>
          <p:cNvGrpSpPr/>
          <p:nvPr/>
        </p:nvGrpSpPr>
        <p:grpSpPr>
          <a:xfrm>
            <a:off x="5250827" y="1567433"/>
            <a:ext cx="4761230" cy="4451350"/>
            <a:chOff x="5250827" y="1567433"/>
            <a:chExt cx="4761230" cy="4451350"/>
          </a:xfrm>
        </p:grpSpPr>
        <p:sp>
          <p:nvSpPr>
            <p:cNvPr id="5" name="object 5"/>
            <p:cNvSpPr/>
            <p:nvPr/>
          </p:nvSpPr>
          <p:spPr>
            <a:xfrm>
              <a:off x="5255399" y="1571243"/>
              <a:ext cx="4752340" cy="4442460"/>
            </a:xfrm>
            <a:custGeom>
              <a:avLst/>
              <a:gdLst/>
              <a:ahLst/>
              <a:cxnLst/>
              <a:rect l="l" t="t" r="r" b="b"/>
              <a:pathLst>
                <a:path w="4752340" h="4442460">
                  <a:moveTo>
                    <a:pt x="4751832" y="4442459"/>
                  </a:moveTo>
                  <a:lnTo>
                    <a:pt x="4751832" y="0"/>
                  </a:lnTo>
                  <a:lnTo>
                    <a:pt x="0" y="0"/>
                  </a:lnTo>
                  <a:lnTo>
                    <a:pt x="0" y="4442460"/>
                  </a:lnTo>
                  <a:lnTo>
                    <a:pt x="4751832" y="4442459"/>
                  </a:lnTo>
                  <a:close/>
                </a:path>
              </a:pathLst>
            </a:custGeom>
            <a:solidFill>
              <a:srgbClr val="F9FABA"/>
            </a:solidFill>
          </p:spPr>
          <p:txBody>
            <a:bodyPr wrap="square" lIns="0" tIns="0" rIns="0" bIns="0" rtlCol="0"/>
            <a:lstStyle/>
            <a:p>
              <a:endParaRPr/>
            </a:p>
          </p:txBody>
        </p:sp>
        <p:sp>
          <p:nvSpPr>
            <p:cNvPr id="6" name="object 6"/>
            <p:cNvSpPr/>
            <p:nvPr/>
          </p:nvSpPr>
          <p:spPr>
            <a:xfrm>
              <a:off x="5250827" y="1567433"/>
              <a:ext cx="4761230" cy="4451350"/>
            </a:xfrm>
            <a:custGeom>
              <a:avLst/>
              <a:gdLst/>
              <a:ahLst/>
              <a:cxnLst/>
              <a:rect l="l" t="t" r="r" b="b"/>
              <a:pathLst>
                <a:path w="4761230" h="4451350">
                  <a:moveTo>
                    <a:pt x="4760976" y="4448556"/>
                  </a:moveTo>
                  <a:lnTo>
                    <a:pt x="4760976" y="1523"/>
                  </a:lnTo>
                  <a:lnTo>
                    <a:pt x="4758690" y="0"/>
                  </a:lnTo>
                  <a:lnTo>
                    <a:pt x="2285" y="0"/>
                  </a:lnTo>
                  <a:lnTo>
                    <a:pt x="0" y="1524"/>
                  </a:lnTo>
                  <a:lnTo>
                    <a:pt x="0" y="4448556"/>
                  </a:lnTo>
                  <a:lnTo>
                    <a:pt x="2286" y="4450842"/>
                  </a:lnTo>
                  <a:lnTo>
                    <a:pt x="4571" y="4450842"/>
                  </a:lnTo>
                  <a:lnTo>
                    <a:pt x="4572" y="8382"/>
                  </a:lnTo>
                  <a:lnTo>
                    <a:pt x="8382" y="3810"/>
                  </a:lnTo>
                  <a:lnTo>
                    <a:pt x="8382" y="8382"/>
                  </a:lnTo>
                  <a:lnTo>
                    <a:pt x="4752594" y="8381"/>
                  </a:lnTo>
                  <a:lnTo>
                    <a:pt x="4752594" y="3809"/>
                  </a:lnTo>
                  <a:lnTo>
                    <a:pt x="4756404" y="8381"/>
                  </a:lnTo>
                  <a:lnTo>
                    <a:pt x="4756404" y="4450842"/>
                  </a:lnTo>
                  <a:lnTo>
                    <a:pt x="4758690" y="4450842"/>
                  </a:lnTo>
                  <a:lnTo>
                    <a:pt x="4760976" y="4448556"/>
                  </a:lnTo>
                  <a:close/>
                </a:path>
                <a:path w="4761230" h="4451350">
                  <a:moveTo>
                    <a:pt x="8382" y="8382"/>
                  </a:moveTo>
                  <a:lnTo>
                    <a:pt x="8382" y="3810"/>
                  </a:lnTo>
                  <a:lnTo>
                    <a:pt x="4572" y="8382"/>
                  </a:lnTo>
                  <a:lnTo>
                    <a:pt x="8382" y="8382"/>
                  </a:lnTo>
                  <a:close/>
                </a:path>
                <a:path w="4761230" h="4451350">
                  <a:moveTo>
                    <a:pt x="8382" y="4442460"/>
                  </a:moveTo>
                  <a:lnTo>
                    <a:pt x="8382" y="8382"/>
                  </a:lnTo>
                  <a:lnTo>
                    <a:pt x="4572" y="8382"/>
                  </a:lnTo>
                  <a:lnTo>
                    <a:pt x="4572" y="4442460"/>
                  </a:lnTo>
                  <a:lnTo>
                    <a:pt x="8382" y="4442460"/>
                  </a:lnTo>
                  <a:close/>
                </a:path>
                <a:path w="4761230" h="4451350">
                  <a:moveTo>
                    <a:pt x="4756404" y="4442460"/>
                  </a:moveTo>
                  <a:lnTo>
                    <a:pt x="4572" y="4442460"/>
                  </a:lnTo>
                  <a:lnTo>
                    <a:pt x="8382" y="4446270"/>
                  </a:lnTo>
                  <a:lnTo>
                    <a:pt x="8382" y="4450842"/>
                  </a:lnTo>
                  <a:lnTo>
                    <a:pt x="4752594" y="4450842"/>
                  </a:lnTo>
                  <a:lnTo>
                    <a:pt x="4752594" y="4446270"/>
                  </a:lnTo>
                  <a:lnTo>
                    <a:pt x="4756404" y="4442460"/>
                  </a:lnTo>
                  <a:close/>
                </a:path>
                <a:path w="4761230" h="4451350">
                  <a:moveTo>
                    <a:pt x="8382" y="4450842"/>
                  </a:moveTo>
                  <a:lnTo>
                    <a:pt x="8382" y="4446270"/>
                  </a:lnTo>
                  <a:lnTo>
                    <a:pt x="4572" y="4442460"/>
                  </a:lnTo>
                  <a:lnTo>
                    <a:pt x="4571" y="4450842"/>
                  </a:lnTo>
                  <a:lnTo>
                    <a:pt x="8382" y="4450842"/>
                  </a:lnTo>
                  <a:close/>
                </a:path>
                <a:path w="4761230" h="4451350">
                  <a:moveTo>
                    <a:pt x="4756404" y="8381"/>
                  </a:moveTo>
                  <a:lnTo>
                    <a:pt x="4752594" y="3809"/>
                  </a:lnTo>
                  <a:lnTo>
                    <a:pt x="4752594" y="8381"/>
                  </a:lnTo>
                  <a:lnTo>
                    <a:pt x="4756404" y="8381"/>
                  </a:lnTo>
                  <a:close/>
                </a:path>
                <a:path w="4761230" h="4451350">
                  <a:moveTo>
                    <a:pt x="4756404" y="4442460"/>
                  </a:moveTo>
                  <a:lnTo>
                    <a:pt x="4756404" y="8381"/>
                  </a:lnTo>
                  <a:lnTo>
                    <a:pt x="4752594" y="8381"/>
                  </a:lnTo>
                  <a:lnTo>
                    <a:pt x="4752594" y="4442460"/>
                  </a:lnTo>
                  <a:lnTo>
                    <a:pt x="4756404" y="4442460"/>
                  </a:lnTo>
                  <a:close/>
                </a:path>
                <a:path w="4761230" h="4451350">
                  <a:moveTo>
                    <a:pt x="4756404" y="4450842"/>
                  </a:moveTo>
                  <a:lnTo>
                    <a:pt x="4756404" y="4442460"/>
                  </a:lnTo>
                  <a:lnTo>
                    <a:pt x="4752594" y="4446270"/>
                  </a:lnTo>
                  <a:lnTo>
                    <a:pt x="4752594" y="4450842"/>
                  </a:lnTo>
                  <a:lnTo>
                    <a:pt x="4756404" y="4450842"/>
                  </a:lnTo>
                  <a:close/>
                </a:path>
              </a:pathLst>
            </a:custGeom>
            <a:solidFill>
              <a:srgbClr val="000000"/>
            </a:solidFill>
          </p:spPr>
          <p:txBody>
            <a:bodyPr wrap="square" lIns="0" tIns="0" rIns="0" bIns="0" rtlCol="0"/>
            <a:lstStyle/>
            <a:p>
              <a:endParaRPr/>
            </a:p>
          </p:txBody>
        </p:sp>
      </p:grpSp>
      <p:sp>
        <p:nvSpPr>
          <p:cNvPr id="7" name="object 7"/>
          <p:cNvSpPr txBox="1"/>
          <p:nvPr/>
        </p:nvSpPr>
        <p:spPr>
          <a:xfrm>
            <a:off x="7451736" y="4937066"/>
            <a:ext cx="1603375" cy="252095"/>
          </a:xfrm>
          <a:prstGeom prst="rect">
            <a:avLst/>
          </a:prstGeom>
        </p:spPr>
        <p:txBody>
          <a:bodyPr vert="horz" wrap="square" lIns="0" tIns="16510" rIns="0" bIns="0" rtlCol="0">
            <a:spAutoFit/>
          </a:bodyPr>
          <a:lstStyle/>
          <a:p>
            <a:pPr marL="12700">
              <a:lnSpc>
                <a:spcPct val="100000"/>
              </a:lnSpc>
              <a:spcBef>
                <a:spcPts val="130"/>
              </a:spcBef>
            </a:pPr>
            <a:r>
              <a:rPr sz="1400" spc="15" dirty="0">
                <a:solidFill>
                  <a:srgbClr val="00B0EF"/>
                </a:solidFill>
                <a:latin typeface="Arial"/>
                <a:cs typeface="Arial"/>
              </a:rPr>
              <a:t>// </a:t>
            </a:r>
            <a:r>
              <a:rPr sz="1450" i="1" spc="-65" dirty="0">
                <a:solidFill>
                  <a:srgbClr val="00B0EF"/>
                </a:solidFill>
                <a:latin typeface="宋体"/>
                <a:cs typeface="宋体"/>
              </a:rPr>
              <a:t>也可以使用</a:t>
            </a:r>
            <a:r>
              <a:rPr sz="1400" i="1" spc="-10" dirty="0">
                <a:solidFill>
                  <a:srgbClr val="00B0EF"/>
                </a:solidFill>
                <a:latin typeface="Arial"/>
                <a:cs typeface="Arial"/>
              </a:rPr>
              <a:t>default</a:t>
            </a:r>
            <a:endParaRPr sz="140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8" name="object 8"/>
          <p:cNvSpPr txBox="1"/>
          <p:nvPr/>
        </p:nvSpPr>
        <p:spPr>
          <a:xfrm>
            <a:off x="5322707" y="4905192"/>
            <a:ext cx="2101215" cy="1032510"/>
          </a:xfrm>
          <a:prstGeom prst="rect">
            <a:avLst/>
          </a:prstGeom>
        </p:spPr>
        <p:txBody>
          <a:bodyPr vert="horz" wrap="square" lIns="0" tIns="55244" rIns="0" bIns="0" rtlCol="0">
            <a:spAutoFit/>
          </a:bodyPr>
          <a:lstStyle/>
          <a:p>
            <a:pPr marL="864235">
              <a:lnSpc>
                <a:spcPct val="100000"/>
              </a:lnSpc>
              <a:spcBef>
                <a:spcPts val="434"/>
              </a:spcBef>
            </a:pPr>
            <a:r>
              <a:rPr sz="1400" spc="-10" dirty="0">
                <a:latin typeface="Arial"/>
                <a:cs typeface="Arial"/>
              </a:rPr>
              <a:t>4'b0000:</a:t>
            </a:r>
            <a:endParaRPr sz="1400">
              <a:latin typeface="Arial"/>
              <a:cs typeface="Arial"/>
            </a:endParaRPr>
          </a:p>
          <a:p>
            <a:pPr marL="1214755">
              <a:lnSpc>
                <a:spcPct val="100000"/>
              </a:lnSpc>
              <a:spcBef>
                <a:spcPts val="335"/>
              </a:spcBef>
            </a:pPr>
            <a:r>
              <a:rPr sz="1400" dirty="0">
                <a:latin typeface="Arial"/>
                <a:cs typeface="Arial"/>
              </a:rPr>
              <a:t>y = </a:t>
            </a:r>
            <a:r>
              <a:rPr sz="1400" spc="-10" dirty="0">
                <a:latin typeface="Arial"/>
                <a:cs typeface="Arial"/>
              </a:rPr>
              <a:t>3'b000;</a:t>
            </a:r>
            <a:endParaRPr sz="1400">
              <a:latin typeface="Arial"/>
              <a:cs typeface="Arial"/>
            </a:endParaRPr>
          </a:p>
          <a:p>
            <a:pPr marL="12700" marR="749300" indent="617855">
              <a:lnSpc>
                <a:spcPct val="111400"/>
              </a:lnSpc>
              <a:spcBef>
                <a:spcPts val="150"/>
              </a:spcBef>
            </a:pPr>
            <a:r>
              <a:rPr sz="1400" b="1" spc="-10" dirty="0">
                <a:latin typeface="Arial"/>
                <a:cs typeface="Arial"/>
              </a:rPr>
              <a:t>endcase endmodule</a:t>
            </a:r>
            <a:endParaRPr sz="1400">
              <a:latin typeface="Arial"/>
              <a:cs typeface="Arial"/>
            </a:endParaRPr>
          </a:p>
        </p:txBody>
      </p:sp>
      <p:sp>
        <p:nvSpPr>
          <p:cNvPr id="9" name="object 9"/>
          <p:cNvSpPr txBox="1"/>
          <p:nvPr/>
        </p:nvSpPr>
        <p:spPr>
          <a:xfrm>
            <a:off x="5269363" y="1184629"/>
            <a:ext cx="4245610" cy="3745229"/>
          </a:xfrm>
          <a:prstGeom prst="rect">
            <a:avLst/>
          </a:prstGeom>
        </p:spPr>
        <p:txBody>
          <a:bodyPr vert="horz" wrap="square" lIns="0" tIns="114935" rIns="0" bIns="0" rtlCol="0">
            <a:spAutoFit/>
          </a:bodyPr>
          <a:lstStyle/>
          <a:p>
            <a:pPr marL="12700">
              <a:lnSpc>
                <a:spcPct val="100000"/>
              </a:lnSpc>
              <a:spcBef>
                <a:spcPts val="905"/>
              </a:spcBef>
            </a:pPr>
            <a:r>
              <a:rPr sz="1550" b="1" dirty="0">
                <a:solidFill>
                  <a:srgbClr val="FF0000"/>
                </a:solidFill>
                <a:latin typeface="宋体"/>
                <a:cs typeface="宋体"/>
              </a:rPr>
              <a:t>例</a:t>
            </a:r>
            <a:r>
              <a:rPr sz="1550" b="1" dirty="0">
                <a:solidFill>
                  <a:srgbClr val="FF0000"/>
                </a:solidFill>
                <a:latin typeface="Arial"/>
                <a:cs typeface="Arial"/>
              </a:rPr>
              <a:t>3.7</a:t>
            </a:r>
            <a:r>
              <a:rPr sz="1550" b="1" spc="130" dirty="0">
                <a:solidFill>
                  <a:srgbClr val="FF0000"/>
                </a:solidFill>
                <a:latin typeface="Arial"/>
                <a:cs typeface="Arial"/>
              </a:rPr>
              <a:t>  </a:t>
            </a:r>
            <a:r>
              <a:rPr sz="1550" b="1" dirty="0">
                <a:solidFill>
                  <a:srgbClr val="FF0000"/>
                </a:solidFill>
                <a:latin typeface="宋体"/>
                <a:cs typeface="宋体"/>
              </a:rPr>
              <a:t>使用</a:t>
            </a:r>
            <a:r>
              <a:rPr sz="1550" b="1" dirty="0">
                <a:solidFill>
                  <a:srgbClr val="FF0000"/>
                </a:solidFill>
                <a:latin typeface="Arial"/>
                <a:cs typeface="Arial"/>
              </a:rPr>
              <a:t>case</a:t>
            </a:r>
            <a:r>
              <a:rPr sz="1550" b="1" spc="-10" dirty="0">
                <a:solidFill>
                  <a:srgbClr val="FF0000"/>
                </a:solidFill>
                <a:latin typeface="宋体"/>
                <a:cs typeface="宋体"/>
              </a:rPr>
              <a:t>语句的优先编码器</a:t>
            </a:r>
            <a:endParaRPr sz="1550">
              <a:latin typeface="宋体"/>
              <a:cs typeface="宋体"/>
            </a:endParaRPr>
          </a:p>
          <a:p>
            <a:pPr marL="65405">
              <a:lnSpc>
                <a:spcPct val="100000"/>
              </a:lnSpc>
              <a:spcBef>
                <a:spcPts val="700"/>
              </a:spcBef>
            </a:pPr>
            <a:r>
              <a:rPr sz="1400" b="1" dirty="0">
                <a:latin typeface="Arial"/>
                <a:cs typeface="Arial"/>
              </a:rPr>
              <a:t>module</a:t>
            </a:r>
            <a:r>
              <a:rPr sz="1400" b="1" spc="-15" dirty="0">
                <a:latin typeface="Arial"/>
                <a:cs typeface="Arial"/>
              </a:rPr>
              <a:t> </a:t>
            </a:r>
            <a:r>
              <a:rPr sz="1400" dirty="0">
                <a:latin typeface="Arial"/>
                <a:cs typeface="Arial"/>
              </a:rPr>
              <a:t>prio_encoder_case</a:t>
            </a:r>
            <a:r>
              <a:rPr sz="1400" spc="-30" dirty="0">
                <a:latin typeface="Arial"/>
                <a:cs typeface="Arial"/>
              </a:rPr>
              <a:t> </a:t>
            </a:r>
            <a:r>
              <a:rPr sz="1400" dirty="0">
                <a:latin typeface="Arial"/>
                <a:cs typeface="Arial"/>
              </a:rPr>
              <a:t>(</a:t>
            </a:r>
            <a:r>
              <a:rPr sz="1400" b="1" dirty="0">
                <a:latin typeface="Arial"/>
                <a:cs typeface="Arial"/>
              </a:rPr>
              <a:t>input</a:t>
            </a:r>
            <a:r>
              <a:rPr sz="1400" b="1" spc="360" dirty="0">
                <a:latin typeface="Arial"/>
                <a:cs typeface="Arial"/>
              </a:rPr>
              <a:t> </a:t>
            </a:r>
            <a:r>
              <a:rPr sz="1400" dirty="0">
                <a:latin typeface="Arial"/>
                <a:cs typeface="Arial"/>
              </a:rPr>
              <a:t>[3:</a:t>
            </a:r>
            <a:r>
              <a:rPr sz="1400" spc="-5" dirty="0">
                <a:latin typeface="Arial"/>
                <a:cs typeface="Arial"/>
              </a:rPr>
              <a:t> </a:t>
            </a:r>
            <a:r>
              <a:rPr sz="1400" dirty="0">
                <a:latin typeface="Arial"/>
                <a:cs typeface="Arial"/>
              </a:rPr>
              <a:t>0]</a:t>
            </a:r>
            <a:r>
              <a:rPr sz="1400" spc="365" dirty="0">
                <a:latin typeface="Arial"/>
                <a:cs typeface="Arial"/>
              </a:rPr>
              <a:t> </a:t>
            </a:r>
            <a:r>
              <a:rPr sz="1400" spc="-25" dirty="0">
                <a:latin typeface="Arial"/>
                <a:cs typeface="Arial"/>
              </a:rPr>
              <a:t>r,</a:t>
            </a:r>
            <a:endParaRPr sz="1400">
              <a:latin typeface="Arial"/>
              <a:cs typeface="Arial"/>
            </a:endParaRPr>
          </a:p>
          <a:p>
            <a:pPr marL="466725">
              <a:lnSpc>
                <a:spcPct val="100000"/>
              </a:lnSpc>
              <a:spcBef>
                <a:spcPts val="345"/>
              </a:spcBef>
            </a:pPr>
            <a:r>
              <a:rPr sz="1400" b="1" dirty="0">
                <a:latin typeface="Arial"/>
                <a:cs typeface="Arial"/>
              </a:rPr>
              <a:t>output</a:t>
            </a:r>
            <a:r>
              <a:rPr sz="1400" b="1" spc="385" dirty="0">
                <a:latin typeface="Arial"/>
                <a:cs typeface="Arial"/>
              </a:rPr>
              <a:t> </a:t>
            </a:r>
            <a:r>
              <a:rPr sz="1400" b="1" dirty="0">
                <a:latin typeface="Arial"/>
                <a:cs typeface="Arial"/>
              </a:rPr>
              <a:t>reg</a:t>
            </a:r>
            <a:r>
              <a:rPr sz="1400" b="1" spc="390" dirty="0">
                <a:latin typeface="Arial"/>
                <a:cs typeface="Arial"/>
              </a:rPr>
              <a:t> </a:t>
            </a:r>
            <a:r>
              <a:rPr sz="1400" dirty="0">
                <a:latin typeface="Arial"/>
                <a:cs typeface="Arial"/>
              </a:rPr>
              <a:t>[2:0]</a:t>
            </a:r>
            <a:r>
              <a:rPr sz="1400" spc="405" dirty="0">
                <a:latin typeface="Arial"/>
                <a:cs typeface="Arial"/>
              </a:rPr>
              <a:t> </a:t>
            </a:r>
            <a:r>
              <a:rPr sz="1400" dirty="0">
                <a:latin typeface="Arial"/>
                <a:cs typeface="Arial"/>
              </a:rPr>
              <a:t>y</a:t>
            </a:r>
            <a:r>
              <a:rPr sz="1400" spc="5" dirty="0">
                <a:latin typeface="Arial"/>
                <a:cs typeface="Arial"/>
              </a:rPr>
              <a:t> </a:t>
            </a:r>
            <a:r>
              <a:rPr sz="1400" spc="-25" dirty="0">
                <a:latin typeface="Arial"/>
                <a:cs typeface="Arial"/>
              </a:rPr>
              <a:t>);</a:t>
            </a:r>
            <a:endParaRPr sz="1400">
              <a:latin typeface="Arial"/>
              <a:cs typeface="Arial"/>
            </a:endParaRPr>
          </a:p>
          <a:p>
            <a:pPr marL="466725">
              <a:lnSpc>
                <a:spcPct val="100000"/>
              </a:lnSpc>
              <a:spcBef>
                <a:spcPts val="340"/>
              </a:spcBef>
            </a:pPr>
            <a:r>
              <a:rPr sz="1400" b="1" dirty="0">
                <a:latin typeface="Arial"/>
                <a:cs typeface="Arial"/>
              </a:rPr>
              <a:t>always</a:t>
            </a:r>
            <a:r>
              <a:rPr sz="1400" b="1" spc="-15" dirty="0">
                <a:latin typeface="Arial"/>
                <a:cs typeface="Arial"/>
              </a:rPr>
              <a:t> </a:t>
            </a:r>
            <a:r>
              <a:rPr sz="1400" spc="-25" dirty="0">
                <a:latin typeface="Arial"/>
                <a:cs typeface="Arial"/>
              </a:rPr>
              <a:t>@*</a:t>
            </a:r>
            <a:endParaRPr sz="1400">
              <a:latin typeface="Arial"/>
              <a:cs typeface="Arial"/>
            </a:endParaRPr>
          </a:p>
          <a:p>
            <a:pPr marL="616585">
              <a:lnSpc>
                <a:spcPct val="100000"/>
              </a:lnSpc>
              <a:spcBef>
                <a:spcPts val="335"/>
              </a:spcBef>
            </a:pPr>
            <a:r>
              <a:rPr sz="1400" b="1" dirty="0">
                <a:latin typeface="Arial"/>
                <a:cs typeface="Arial"/>
              </a:rPr>
              <a:t>case</a:t>
            </a:r>
            <a:r>
              <a:rPr sz="1400" b="1" spc="-15" dirty="0">
                <a:latin typeface="Arial"/>
                <a:cs typeface="Arial"/>
              </a:rPr>
              <a:t> </a:t>
            </a:r>
            <a:r>
              <a:rPr sz="1400" spc="-25" dirty="0">
                <a:latin typeface="Arial"/>
                <a:cs typeface="Arial"/>
              </a:rPr>
              <a:t>(r)</a:t>
            </a:r>
            <a:endParaRPr sz="1400">
              <a:latin typeface="Arial"/>
              <a:cs typeface="Arial"/>
            </a:endParaRPr>
          </a:p>
          <a:p>
            <a:pPr marL="917575">
              <a:lnSpc>
                <a:spcPct val="100000"/>
              </a:lnSpc>
              <a:spcBef>
                <a:spcPts val="345"/>
              </a:spcBef>
            </a:pPr>
            <a:r>
              <a:rPr sz="1400" dirty="0">
                <a:latin typeface="Arial"/>
                <a:cs typeface="Arial"/>
              </a:rPr>
              <a:t>4'b1000,</a:t>
            </a:r>
            <a:r>
              <a:rPr sz="1400" spc="-45" dirty="0">
                <a:latin typeface="Arial"/>
                <a:cs typeface="Arial"/>
              </a:rPr>
              <a:t> </a:t>
            </a:r>
            <a:r>
              <a:rPr sz="1400" dirty="0">
                <a:latin typeface="Arial"/>
                <a:cs typeface="Arial"/>
              </a:rPr>
              <a:t>4'b1001,</a:t>
            </a:r>
            <a:r>
              <a:rPr sz="1400" spc="-45" dirty="0">
                <a:latin typeface="Arial"/>
                <a:cs typeface="Arial"/>
              </a:rPr>
              <a:t> </a:t>
            </a:r>
            <a:r>
              <a:rPr sz="1400" dirty="0">
                <a:latin typeface="Arial"/>
                <a:cs typeface="Arial"/>
              </a:rPr>
              <a:t>4'b1010,</a:t>
            </a:r>
            <a:r>
              <a:rPr sz="1400" spc="-45" dirty="0">
                <a:latin typeface="Arial"/>
                <a:cs typeface="Arial"/>
              </a:rPr>
              <a:t> </a:t>
            </a:r>
            <a:r>
              <a:rPr sz="1400" spc="-10" dirty="0">
                <a:latin typeface="Arial"/>
                <a:cs typeface="Arial"/>
              </a:rPr>
              <a:t>4'b1011,</a:t>
            </a:r>
            <a:endParaRPr sz="1400">
              <a:latin typeface="Arial"/>
              <a:cs typeface="Arial"/>
            </a:endParaRPr>
          </a:p>
          <a:p>
            <a:pPr marL="1284605" marR="5080" indent="183515">
              <a:lnSpc>
                <a:spcPct val="120000"/>
              </a:lnSpc>
              <a:spcBef>
                <a:spcPts val="5"/>
              </a:spcBef>
            </a:pPr>
            <a:r>
              <a:rPr sz="1400" spc="-10" dirty="0">
                <a:latin typeface="Arial"/>
                <a:cs typeface="Arial"/>
              </a:rPr>
              <a:t>4'b1100,</a:t>
            </a:r>
            <a:r>
              <a:rPr sz="1400" spc="-60" dirty="0">
                <a:latin typeface="Arial"/>
                <a:cs typeface="Arial"/>
              </a:rPr>
              <a:t> </a:t>
            </a:r>
            <a:r>
              <a:rPr sz="1400" spc="-10" dirty="0">
                <a:latin typeface="Arial"/>
                <a:cs typeface="Arial"/>
              </a:rPr>
              <a:t>4'b1101,</a:t>
            </a:r>
            <a:r>
              <a:rPr sz="1400" spc="-60" dirty="0">
                <a:latin typeface="Arial"/>
                <a:cs typeface="Arial"/>
              </a:rPr>
              <a:t> </a:t>
            </a:r>
            <a:r>
              <a:rPr sz="1400" spc="-25" dirty="0">
                <a:latin typeface="Arial"/>
                <a:cs typeface="Arial"/>
              </a:rPr>
              <a:t>4'b1110,</a:t>
            </a:r>
            <a:r>
              <a:rPr sz="1400" spc="-60" dirty="0">
                <a:latin typeface="Arial"/>
                <a:cs typeface="Arial"/>
              </a:rPr>
              <a:t> </a:t>
            </a:r>
            <a:r>
              <a:rPr sz="1400" spc="-20" dirty="0">
                <a:latin typeface="Arial"/>
                <a:cs typeface="Arial"/>
              </a:rPr>
              <a:t>4'b1111: </a:t>
            </a:r>
            <a:r>
              <a:rPr sz="1400" dirty="0">
                <a:latin typeface="Arial"/>
                <a:cs typeface="Arial"/>
              </a:rPr>
              <a:t>y = </a:t>
            </a:r>
            <a:r>
              <a:rPr sz="1400" spc="-10" dirty="0">
                <a:latin typeface="Arial"/>
                <a:cs typeface="Arial"/>
              </a:rPr>
              <a:t>3'b100;</a:t>
            </a:r>
            <a:endParaRPr sz="1400">
              <a:latin typeface="Arial"/>
              <a:cs typeface="Arial"/>
            </a:endParaRPr>
          </a:p>
          <a:p>
            <a:pPr marL="1268095" marR="501650" indent="-350520">
              <a:lnSpc>
                <a:spcPct val="120400"/>
              </a:lnSpc>
            </a:pPr>
            <a:r>
              <a:rPr sz="1400" dirty="0">
                <a:latin typeface="Arial"/>
                <a:cs typeface="Arial"/>
              </a:rPr>
              <a:t>4'b0100,</a:t>
            </a:r>
            <a:r>
              <a:rPr sz="1400" spc="-55" dirty="0">
                <a:latin typeface="Arial"/>
                <a:cs typeface="Arial"/>
              </a:rPr>
              <a:t> </a:t>
            </a:r>
            <a:r>
              <a:rPr sz="1400" dirty="0">
                <a:latin typeface="Arial"/>
                <a:cs typeface="Arial"/>
              </a:rPr>
              <a:t>4'b0101,</a:t>
            </a:r>
            <a:r>
              <a:rPr sz="1400" spc="-50" dirty="0">
                <a:latin typeface="Arial"/>
                <a:cs typeface="Arial"/>
              </a:rPr>
              <a:t> </a:t>
            </a:r>
            <a:r>
              <a:rPr sz="1400" spc="-10" dirty="0">
                <a:latin typeface="Arial"/>
                <a:cs typeface="Arial"/>
              </a:rPr>
              <a:t>4'b0110,</a:t>
            </a:r>
            <a:r>
              <a:rPr sz="1400" spc="-50" dirty="0">
                <a:latin typeface="Arial"/>
                <a:cs typeface="Arial"/>
              </a:rPr>
              <a:t> </a:t>
            </a:r>
            <a:r>
              <a:rPr sz="1400" spc="-10" dirty="0">
                <a:latin typeface="Arial"/>
                <a:cs typeface="Arial"/>
              </a:rPr>
              <a:t>4'b0111: </a:t>
            </a:r>
            <a:r>
              <a:rPr sz="1400" dirty="0">
                <a:latin typeface="Arial"/>
                <a:cs typeface="Arial"/>
              </a:rPr>
              <a:t>y = </a:t>
            </a:r>
            <a:r>
              <a:rPr sz="1400" spc="-10" dirty="0">
                <a:latin typeface="Arial"/>
                <a:cs typeface="Arial"/>
              </a:rPr>
              <a:t>3'b011;</a:t>
            </a:r>
            <a:endParaRPr sz="1400">
              <a:latin typeface="Arial"/>
              <a:cs typeface="Arial"/>
            </a:endParaRPr>
          </a:p>
          <a:p>
            <a:pPr marL="1268095" marR="1927860" indent="-350520">
              <a:lnSpc>
                <a:spcPts val="2020"/>
              </a:lnSpc>
              <a:spcBef>
                <a:spcPts val="120"/>
              </a:spcBef>
            </a:pPr>
            <a:r>
              <a:rPr sz="1400" dirty="0">
                <a:latin typeface="Arial"/>
                <a:cs typeface="Arial"/>
              </a:rPr>
              <a:t>4'b0010,</a:t>
            </a:r>
            <a:r>
              <a:rPr sz="1400" spc="-50" dirty="0">
                <a:latin typeface="Arial"/>
                <a:cs typeface="Arial"/>
              </a:rPr>
              <a:t> </a:t>
            </a:r>
            <a:r>
              <a:rPr sz="1400" spc="-10" dirty="0">
                <a:latin typeface="Arial"/>
                <a:cs typeface="Arial"/>
              </a:rPr>
              <a:t>4'b0011: </a:t>
            </a:r>
            <a:r>
              <a:rPr sz="1400" dirty="0">
                <a:latin typeface="Arial"/>
                <a:cs typeface="Arial"/>
              </a:rPr>
              <a:t>y = </a:t>
            </a:r>
            <a:r>
              <a:rPr sz="1400" spc="-10" dirty="0">
                <a:latin typeface="Arial"/>
                <a:cs typeface="Arial"/>
              </a:rPr>
              <a:t>3’b010;</a:t>
            </a:r>
            <a:endParaRPr sz="1400">
              <a:latin typeface="Arial"/>
              <a:cs typeface="Arial"/>
            </a:endParaRPr>
          </a:p>
          <a:p>
            <a:pPr marL="933450">
              <a:lnSpc>
                <a:spcPct val="100000"/>
              </a:lnSpc>
              <a:spcBef>
                <a:spcPts val="220"/>
              </a:spcBef>
            </a:pPr>
            <a:r>
              <a:rPr sz="1400" spc="-10" dirty="0">
                <a:latin typeface="Arial"/>
                <a:cs typeface="Arial"/>
              </a:rPr>
              <a:t>4'b0001:</a:t>
            </a:r>
            <a:endParaRPr sz="1400">
              <a:latin typeface="Arial"/>
              <a:cs typeface="Arial"/>
            </a:endParaRPr>
          </a:p>
          <a:p>
            <a:pPr marL="1268095">
              <a:lnSpc>
                <a:spcPct val="100000"/>
              </a:lnSpc>
              <a:spcBef>
                <a:spcPts val="335"/>
              </a:spcBef>
            </a:pPr>
            <a:r>
              <a:rPr sz="1400" dirty="0">
                <a:latin typeface="Arial"/>
                <a:cs typeface="Arial"/>
              </a:rPr>
              <a:t>y = </a:t>
            </a:r>
            <a:r>
              <a:rPr sz="1400" spc="-10" dirty="0">
                <a:latin typeface="Arial"/>
                <a:cs typeface="Arial"/>
              </a:rPr>
              <a:t>3'b001;</a:t>
            </a:r>
            <a:endParaRPr sz="14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40125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3.2.2.3</a:t>
            </a:r>
            <a:r>
              <a:rPr spc="-50" dirty="0">
                <a:latin typeface="Arial"/>
                <a:cs typeface="Arial"/>
              </a:rPr>
              <a:t> </a:t>
            </a:r>
            <a:r>
              <a:rPr dirty="0">
                <a:latin typeface="Calibri"/>
                <a:cs typeface="Calibri"/>
              </a:rPr>
              <a:t>casex</a:t>
            </a:r>
            <a:r>
              <a:rPr spc="-30" dirty="0">
                <a:latin typeface="Calibri"/>
                <a:cs typeface="Calibri"/>
              </a:rPr>
              <a:t> </a:t>
            </a:r>
            <a:r>
              <a:rPr dirty="0"/>
              <a:t>和</a:t>
            </a:r>
            <a:r>
              <a:rPr dirty="0">
                <a:latin typeface="Calibri"/>
                <a:cs typeface="Calibri"/>
              </a:rPr>
              <a:t>casez</a:t>
            </a:r>
            <a:r>
              <a:rPr spc="-30" dirty="0">
                <a:latin typeface="Calibri"/>
                <a:cs typeface="Calibri"/>
              </a:rPr>
              <a:t> </a:t>
            </a:r>
            <a:r>
              <a:rPr spc="-25" dirty="0"/>
              <a:t>语句</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90505" y="2069846"/>
            <a:ext cx="9013190" cy="205740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dirty="0">
                <a:solidFill>
                  <a:srgbClr val="3E3E3E"/>
                </a:solidFill>
                <a:latin typeface="微软雅黑"/>
                <a:cs typeface="微软雅黑"/>
              </a:rPr>
              <a:t>除了常规的</a:t>
            </a:r>
            <a:r>
              <a:rPr sz="2100" b="1" spc="-10" dirty="0">
                <a:solidFill>
                  <a:srgbClr val="3E3E3E"/>
                </a:solidFill>
                <a:latin typeface="Arial"/>
                <a:cs typeface="Arial"/>
              </a:rPr>
              <a:t>case</a:t>
            </a:r>
            <a:r>
              <a:rPr sz="2100" b="1" dirty="0">
                <a:solidFill>
                  <a:srgbClr val="3E3E3E"/>
                </a:solidFill>
                <a:latin typeface="微软雅黑"/>
                <a:cs typeface="微软雅黑"/>
              </a:rPr>
              <a:t>语句，还有两种变体</a:t>
            </a:r>
            <a:r>
              <a:rPr sz="2100" b="1" spc="-10" dirty="0">
                <a:solidFill>
                  <a:srgbClr val="3E3E3E"/>
                </a:solidFill>
                <a:latin typeface="Arial"/>
                <a:cs typeface="Arial"/>
              </a:rPr>
              <a:t>casez</a:t>
            </a:r>
            <a:r>
              <a:rPr sz="2100" b="1" dirty="0">
                <a:solidFill>
                  <a:srgbClr val="3E3E3E"/>
                </a:solidFill>
                <a:latin typeface="微软雅黑"/>
                <a:cs typeface="微软雅黑"/>
              </a:rPr>
              <a:t>和</a:t>
            </a:r>
            <a:r>
              <a:rPr sz="2100" b="1" spc="-10" dirty="0">
                <a:solidFill>
                  <a:srgbClr val="3E3E3E"/>
                </a:solidFill>
                <a:latin typeface="Arial"/>
                <a:cs typeface="Arial"/>
              </a:rPr>
              <a:t>casex</a:t>
            </a:r>
            <a:r>
              <a:rPr sz="2100" b="1" spc="-50" dirty="0">
                <a:solidFill>
                  <a:srgbClr val="3E3E3E"/>
                </a:solidFill>
                <a:latin typeface="微软雅黑"/>
                <a:cs typeface="微软雅黑"/>
              </a:rPr>
              <a:t>。</a:t>
            </a:r>
            <a:endParaRPr sz="2100">
              <a:latin typeface="微软雅黑"/>
              <a:cs typeface="微软雅黑"/>
            </a:endParaRPr>
          </a:p>
          <a:p>
            <a:pPr marL="222250" indent="-211454">
              <a:lnSpc>
                <a:spcPct val="100000"/>
              </a:lnSpc>
              <a:spcBef>
                <a:spcPts val="1970"/>
              </a:spcBef>
              <a:buClr>
                <a:srgbClr val="EC891C"/>
              </a:buClr>
              <a:buSzPct val="83333"/>
              <a:buFont typeface="Wingdings"/>
              <a:buChar char=""/>
              <a:tabLst>
                <a:tab pos="222250" algn="l"/>
              </a:tabLst>
            </a:pPr>
            <a:r>
              <a:rPr sz="2100" b="1" dirty="0">
                <a:solidFill>
                  <a:srgbClr val="3E3E3E"/>
                </a:solidFill>
                <a:latin typeface="微软雅黑"/>
                <a:cs typeface="微软雅黑"/>
              </a:rPr>
              <a:t>在</a:t>
            </a:r>
            <a:r>
              <a:rPr sz="2100" b="1" spc="-10" dirty="0">
                <a:solidFill>
                  <a:srgbClr val="3E3E3E"/>
                </a:solidFill>
                <a:latin typeface="Arial"/>
                <a:cs typeface="Arial"/>
              </a:rPr>
              <a:t>casez</a:t>
            </a:r>
            <a:r>
              <a:rPr sz="2100" b="1" dirty="0">
                <a:solidFill>
                  <a:srgbClr val="3E3E3E"/>
                </a:solidFill>
                <a:latin typeface="微软雅黑"/>
                <a:cs typeface="微软雅黑"/>
              </a:rPr>
              <a:t>语句中，认为</a:t>
            </a:r>
            <a:r>
              <a:rPr sz="2100" b="1" dirty="0">
                <a:solidFill>
                  <a:srgbClr val="FF0000"/>
                </a:solidFill>
                <a:latin typeface="微软雅黑"/>
                <a:cs typeface="微软雅黑"/>
              </a:rPr>
              <a:t>表达式中的</a:t>
            </a:r>
            <a:r>
              <a:rPr sz="2100" b="1" spc="-10" dirty="0">
                <a:solidFill>
                  <a:srgbClr val="FF0000"/>
                </a:solidFill>
                <a:latin typeface="Arial"/>
                <a:cs typeface="Arial"/>
              </a:rPr>
              <a:t>z</a:t>
            </a:r>
            <a:r>
              <a:rPr sz="2100" b="1" dirty="0">
                <a:solidFill>
                  <a:srgbClr val="FF0000"/>
                </a:solidFill>
                <a:latin typeface="微软雅黑"/>
                <a:cs typeface="微软雅黑"/>
              </a:rPr>
              <a:t>值和</a:t>
            </a:r>
            <a:r>
              <a:rPr sz="2100" b="1" spc="-30" dirty="0">
                <a:solidFill>
                  <a:srgbClr val="FF0000"/>
                </a:solidFill>
                <a:latin typeface="Arial"/>
                <a:cs typeface="Arial"/>
              </a:rPr>
              <a:t>?</a:t>
            </a:r>
            <a:r>
              <a:rPr sz="2100" b="1" spc="-10" dirty="0">
                <a:solidFill>
                  <a:srgbClr val="FF0000"/>
                </a:solidFill>
                <a:latin typeface="微软雅黑"/>
                <a:cs typeface="微软雅黑"/>
              </a:rPr>
              <a:t>是无关值</a:t>
            </a:r>
            <a:r>
              <a:rPr sz="2100" b="1" spc="-10" dirty="0">
                <a:solidFill>
                  <a:srgbClr val="3E3E3E"/>
                </a:solidFill>
                <a:latin typeface="微软雅黑"/>
                <a:cs typeface="微软雅黑"/>
              </a:rPr>
              <a:t>（即对应为无需匹配）</a:t>
            </a:r>
            <a:r>
              <a:rPr sz="2100" b="1" spc="-50" dirty="0">
                <a:solidFill>
                  <a:srgbClr val="3E3E3E"/>
                </a:solidFill>
                <a:latin typeface="微软雅黑"/>
                <a:cs typeface="微软雅黑"/>
              </a:rPr>
              <a:t>。</a:t>
            </a:r>
            <a:endParaRPr sz="2100">
              <a:latin typeface="微软雅黑"/>
              <a:cs typeface="微软雅黑"/>
            </a:endParaRPr>
          </a:p>
          <a:p>
            <a:pPr marL="222250" indent="-211454">
              <a:lnSpc>
                <a:spcPct val="100000"/>
              </a:lnSpc>
              <a:spcBef>
                <a:spcPts val="1970"/>
              </a:spcBef>
              <a:buClr>
                <a:srgbClr val="EC891C"/>
              </a:buClr>
              <a:buSzPct val="83333"/>
              <a:buFont typeface="Wingdings"/>
              <a:buChar char=""/>
              <a:tabLst>
                <a:tab pos="222250" algn="l"/>
              </a:tabLst>
            </a:pPr>
            <a:r>
              <a:rPr sz="2100" b="1" dirty="0">
                <a:solidFill>
                  <a:srgbClr val="3E3E3E"/>
                </a:solidFill>
                <a:latin typeface="微软雅黑"/>
                <a:cs typeface="微软雅黑"/>
              </a:rPr>
              <a:t>在</a:t>
            </a:r>
            <a:r>
              <a:rPr sz="2100" b="1" spc="-10" dirty="0">
                <a:solidFill>
                  <a:srgbClr val="3E3E3E"/>
                </a:solidFill>
                <a:latin typeface="Arial"/>
                <a:cs typeface="Arial"/>
              </a:rPr>
              <a:t>casex</a:t>
            </a:r>
            <a:r>
              <a:rPr sz="2100" b="1" dirty="0">
                <a:solidFill>
                  <a:srgbClr val="3E3E3E"/>
                </a:solidFill>
                <a:latin typeface="微软雅黑"/>
                <a:cs typeface="微软雅黑"/>
              </a:rPr>
              <a:t>语句中，认为</a:t>
            </a:r>
            <a:r>
              <a:rPr sz="2100" b="1" dirty="0">
                <a:solidFill>
                  <a:srgbClr val="FF0000"/>
                </a:solidFill>
                <a:latin typeface="微软雅黑"/>
                <a:cs typeface="微软雅黑"/>
              </a:rPr>
              <a:t>表达式中的</a:t>
            </a:r>
            <a:r>
              <a:rPr sz="2100" b="1" spc="-10" dirty="0">
                <a:solidFill>
                  <a:srgbClr val="FF0000"/>
                </a:solidFill>
                <a:latin typeface="Arial"/>
                <a:cs typeface="Arial"/>
              </a:rPr>
              <a:t>z</a:t>
            </a:r>
            <a:r>
              <a:rPr sz="2100" b="1" spc="-10" dirty="0">
                <a:solidFill>
                  <a:srgbClr val="FF0000"/>
                </a:solidFill>
                <a:latin typeface="微软雅黑"/>
                <a:cs typeface="微软雅黑"/>
              </a:rPr>
              <a:t>，</a:t>
            </a:r>
            <a:r>
              <a:rPr sz="2100" b="1" spc="-10" dirty="0">
                <a:solidFill>
                  <a:srgbClr val="FF0000"/>
                </a:solidFill>
                <a:latin typeface="Arial"/>
                <a:cs typeface="Arial"/>
              </a:rPr>
              <a:t>x</a:t>
            </a:r>
            <a:r>
              <a:rPr sz="2100" b="1" spc="-10" dirty="0">
                <a:solidFill>
                  <a:srgbClr val="FF0000"/>
                </a:solidFill>
                <a:latin typeface="微软雅黑"/>
                <a:cs typeface="微软雅黑"/>
              </a:rPr>
              <a:t>值和？为无关值</a:t>
            </a:r>
            <a:r>
              <a:rPr sz="2100" b="1" spc="-50" dirty="0">
                <a:solidFill>
                  <a:srgbClr val="3E3E3E"/>
                </a:solidFill>
                <a:latin typeface="微软雅黑"/>
                <a:cs typeface="微软雅黑"/>
              </a:rPr>
              <a:t>。</a:t>
            </a:r>
            <a:endParaRPr sz="2100">
              <a:latin typeface="微软雅黑"/>
              <a:cs typeface="微软雅黑"/>
            </a:endParaRPr>
          </a:p>
          <a:p>
            <a:pPr marL="222250" indent="-211454">
              <a:lnSpc>
                <a:spcPct val="100000"/>
              </a:lnSpc>
              <a:spcBef>
                <a:spcPts val="1970"/>
              </a:spcBef>
              <a:buClr>
                <a:srgbClr val="EC891C"/>
              </a:buClr>
              <a:buSzPct val="83333"/>
              <a:buFont typeface="Wingdings"/>
              <a:buChar char=""/>
              <a:tabLst>
                <a:tab pos="222250" algn="l"/>
              </a:tabLst>
            </a:pPr>
            <a:r>
              <a:rPr sz="2100" b="1" dirty="0">
                <a:solidFill>
                  <a:srgbClr val="3E3E3E"/>
                </a:solidFill>
                <a:latin typeface="微软雅黑"/>
                <a:cs typeface="微软雅黑"/>
              </a:rPr>
              <a:t>由于</a:t>
            </a:r>
            <a:r>
              <a:rPr sz="2100" b="1" dirty="0">
                <a:solidFill>
                  <a:srgbClr val="3E3E3E"/>
                </a:solidFill>
                <a:latin typeface="Arial"/>
                <a:cs typeface="Arial"/>
              </a:rPr>
              <a:t>z</a:t>
            </a:r>
            <a:r>
              <a:rPr sz="2100" b="1" dirty="0">
                <a:solidFill>
                  <a:srgbClr val="3E3E3E"/>
                </a:solidFill>
                <a:latin typeface="微软雅黑"/>
                <a:cs typeface="微软雅黑"/>
              </a:rPr>
              <a:t>和</a:t>
            </a:r>
            <a:r>
              <a:rPr sz="2100" b="1" spc="-10" dirty="0">
                <a:solidFill>
                  <a:srgbClr val="3E3E3E"/>
                </a:solidFill>
                <a:latin typeface="Arial"/>
                <a:cs typeface="Arial"/>
              </a:rPr>
              <a:t>x</a:t>
            </a:r>
            <a:r>
              <a:rPr sz="2100" b="1" spc="-10" dirty="0">
                <a:solidFill>
                  <a:srgbClr val="3E3E3E"/>
                </a:solidFill>
                <a:latin typeface="微软雅黑"/>
                <a:cs typeface="微软雅黑"/>
              </a:rPr>
              <a:t>一般出现在仿真中，我们更倾向于采用</a:t>
            </a:r>
            <a:r>
              <a:rPr sz="2100" b="1" dirty="0">
                <a:solidFill>
                  <a:srgbClr val="FF0000"/>
                </a:solidFill>
                <a:latin typeface="微软雅黑"/>
                <a:cs typeface="微软雅黑"/>
              </a:rPr>
              <a:t>？</a:t>
            </a:r>
            <a:r>
              <a:rPr sz="2100" b="1" spc="-50" dirty="0">
                <a:solidFill>
                  <a:srgbClr val="3E3E3E"/>
                </a:solidFill>
                <a:latin typeface="微软雅黑"/>
                <a:cs typeface="微软雅黑"/>
              </a:rPr>
              <a:t>。</a:t>
            </a:r>
            <a:endParaRPr sz="2100">
              <a:latin typeface="微软雅黑"/>
              <a:cs typeface="微软雅黑"/>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40125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3.2.2.3</a:t>
            </a:r>
            <a:r>
              <a:rPr spc="-50" dirty="0">
                <a:latin typeface="Arial"/>
                <a:cs typeface="Arial"/>
              </a:rPr>
              <a:t> </a:t>
            </a:r>
            <a:r>
              <a:rPr dirty="0">
                <a:latin typeface="Calibri"/>
                <a:cs typeface="Calibri"/>
              </a:rPr>
              <a:t>casex</a:t>
            </a:r>
            <a:r>
              <a:rPr spc="-30" dirty="0">
                <a:latin typeface="Calibri"/>
                <a:cs typeface="Calibri"/>
              </a:rPr>
              <a:t> </a:t>
            </a:r>
            <a:r>
              <a:rPr dirty="0"/>
              <a:t>和</a:t>
            </a:r>
            <a:r>
              <a:rPr dirty="0">
                <a:latin typeface="Calibri"/>
                <a:cs typeface="Calibri"/>
              </a:rPr>
              <a:t>casez</a:t>
            </a:r>
            <a:r>
              <a:rPr spc="-30" dirty="0">
                <a:latin typeface="Calibri"/>
                <a:cs typeface="Calibri"/>
              </a:rPr>
              <a:t> </a:t>
            </a:r>
            <a:r>
              <a:rPr spc="-25" dirty="0"/>
              <a:t>语句</a:t>
            </a:r>
          </a:p>
        </p:txBody>
      </p:sp>
      <p:grpSp>
        <p:nvGrpSpPr>
          <p:cNvPr id="3" name="object 3"/>
          <p:cNvGrpSpPr/>
          <p:nvPr/>
        </p:nvGrpSpPr>
        <p:grpSpPr>
          <a:xfrm>
            <a:off x="1036205" y="2337816"/>
            <a:ext cx="7473950" cy="3328670"/>
            <a:chOff x="1036205" y="2337816"/>
            <a:chExt cx="7473950" cy="3328670"/>
          </a:xfrm>
        </p:grpSpPr>
        <p:sp>
          <p:nvSpPr>
            <p:cNvPr id="4" name="object 4"/>
            <p:cNvSpPr/>
            <p:nvPr/>
          </p:nvSpPr>
          <p:spPr>
            <a:xfrm>
              <a:off x="1040015" y="2342388"/>
              <a:ext cx="7465695" cy="3319779"/>
            </a:xfrm>
            <a:custGeom>
              <a:avLst/>
              <a:gdLst/>
              <a:ahLst/>
              <a:cxnLst/>
              <a:rect l="l" t="t" r="r" b="b"/>
              <a:pathLst>
                <a:path w="7465695" h="3319779">
                  <a:moveTo>
                    <a:pt x="7465313" y="3319272"/>
                  </a:moveTo>
                  <a:lnTo>
                    <a:pt x="7465313" y="0"/>
                  </a:lnTo>
                  <a:lnTo>
                    <a:pt x="0" y="0"/>
                  </a:lnTo>
                  <a:lnTo>
                    <a:pt x="0" y="3319272"/>
                  </a:lnTo>
                  <a:lnTo>
                    <a:pt x="7465313" y="3319272"/>
                  </a:lnTo>
                  <a:close/>
                </a:path>
              </a:pathLst>
            </a:custGeom>
            <a:solidFill>
              <a:srgbClr val="F9FABA"/>
            </a:solidFill>
          </p:spPr>
          <p:txBody>
            <a:bodyPr wrap="square" lIns="0" tIns="0" rIns="0" bIns="0" rtlCol="0"/>
            <a:lstStyle/>
            <a:p>
              <a:endParaRPr/>
            </a:p>
          </p:txBody>
        </p:sp>
        <p:sp>
          <p:nvSpPr>
            <p:cNvPr id="5" name="object 5"/>
            <p:cNvSpPr/>
            <p:nvPr/>
          </p:nvSpPr>
          <p:spPr>
            <a:xfrm>
              <a:off x="1036205" y="2337816"/>
              <a:ext cx="7473950" cy="3328670"/>
            </a:xfrm>
            <a:custGeom>
              <a:avLst/>
              <a:gdLst/>
              <a:ahLst/>
              <a:cxnLst/>
              <a:rect l="l" t="t" r="r" b="b"/>
              <a:pathLst>
                <a:path w="7473950" h="3328670">
                  <a:moveTo>
                    <a:pt x="7473696" y="3326129"/>
                  </a:moveTo>
                  <a:lnTo>
                    <a:pt x="7473696" y="1523"/>
                  </a:lnTo>
                  <a:lnTo>
                    <a:pt x="7471409" y="0"/>
                  </a:lnTo>
                  <a:lnTo>
                    <a:pt x="1523" y="0"/>
                  </a:lnTo>
                  <a:lnTo>
                    <a:pt x="0" y="1524"/>
                  </a:lnTo>
                  <a:lnTo>
                    <a:pt x="0" y="3326130"/>
                  </a:lnTo>
                  <a:lnTo>
                    <a:pt x="1524" y="3328416"/>
                  </a:lnTo>
                  <a:lnTo>
                    <a:pt x="3809" y="3328416"/>
                  </a:lnTo>
                  <a:lnTo>
                    <a:pt x="3810" y="8382"/>
                  </a:lnTo>
                  <a:lnTo>
                    <a:pt x="8381" y="4572"/>
                  </a:lnTo>
                  <a:lnTo>
                    <a:pt x="8381" y="8382"/>
                  </a:lnTo>
                  <a:lnTo>
                    <a:pt x="7465314" y="8381"/>
                  </a:lnTo>
                  <a:lnTo>
                    <a:pt x="7465314" y="4571"/>
                  </a:lnTo>
                  <a:lnTo>
                    <a:pt x="7469124" y="8381"/>
                  </a:lnTo>
                  <a:lnTo>
                    <a:pt x="7469124" y="3328416"/>
                  </a:lnTo>
                  <a:lnTo>
                    <a:pt x="7471409" y="3328416"/>
                  </a:lnTo>
                  <a:lnTo>
                    <a:pt x="7473696" y="3326129"/>
                  </a:lnTo>
                  <a:close/>
                </a:path>
                <a:path w="7473950" h="3328670">
                  <a:moveTo>
                    <a:pt x="8381" y="8382"/>
                  </a:moveTo>
                  <a:lnTo>
                    <a:pt x="8381" y="4572"/>
                  </a:lnTo>
                  <a:lnTo>
                    <a:pt x="3810" y="8382"/>
                  </a:lnTo>
                  <a:lnTo>
                    <a:pt x="8381" y="8382"/>
                  </a:lnTo>
                  <a:close/>
                </a:path>
                <a:path w="7473950" h="3328670">
                  <a:moveTo>
                    <a:pt x="8381" y="3320034"/>
                  </a:moveTo>
                  <a:lnTo>
                    <a:pt x="8381" y="8382"/>
                  </a:lnTo>
                  <a:lnTo>
                    <a:pt x="3810" y="8382"/>
                  </a:lnTo>
                  <a:lnTo>
                    <a:pt x="3810" y="3320034"/>
                  </a:lnTo>
                  <a:lnTo>
                    <a:pt x="8381" y="3320034"/>
                  </a:lnTo>
                  <a:close/>
                </a:path>
                <a:path w="7473950" h="3328670">
                  <a:moveTo>
                    <a:pt x="7469124" y="3320033"/>
                  </a:moveTo>
                  <a:lnTo>
                    <a:pt x="3810" y="3320034"/>
                  </a:lnTo>
                  <a:lnTo>
                    <a:pt x="8381" y="3323844"/>
                  </a:lnTo>
                  <a:lnTo>
                    <a:pt x="8381" y="3328416"/>
                  </a:lnTo>
                  <a:lnTo>
                    <a:pt x="7465314" y="3328416"/>
                  </a:lnTo>
                  <a:lnTo>
                    <a:pt x="7465314" y="3323843"/>
                  </a:lnTo>
                  <a:lnTo>
                    <a:pt x="7469124" y="3320033"/>
                  </a:lnTo>
                  <a:close/>
                </a:path>
                <a:path w="7473950" h="3328670">
                  <a:moveTo>
                    <a:pt x="8381" y="3328416"/>
                  </a:moveTo>
                  <a:lnTo>
                    <a:pt x="8381" y="3323844"/>
                  </a:lnTo>
                  <a:lnTo>
                    <a:pt x="3810" y="3320034"/>
                  </a:lnTo>
                  <a:lnTo>
                    <a:pt x="3809" y="3328416"/>
                  </a:lnTo>
                  <a:lnTo>
                    <a:pt x="8381" y="3328416"/>
                  </a:lnTo>
                  <a:close/>
                </a:path>
                <a:path w="7473950" h="3328670">
                  <a:moveTo>
                    <a:pt x="7469124" y="8381"/>
                  </a:moveTo>
                  <a:lnTo>
                    <a:pt x="7465314" y="4571"/>
                  </a:lnTo>
                  <a:lnTo>
                    <a:pt x="7465314" y="8381"/>
                  </a:lnTo>
                  <a:lnTo>
                    <a:pt x="7469124" y="8381"/>
                  </a:lnTo>
                  <a:close/>
                </a:path>
                <a:path w="7473950" h="3328670">
                  <a:moveTo>
                    <a:pt x="7469124" y="3320033"/>
                  </a:moveTo>
                  <a:lnTo>
                    <a:pt x="7469124" y="8381"/>
                  </a:lnTo>
                  <a:lnTo>
                    <a:pt x="7465314" y="8381"/>
                  </a:lnTo>
                  <a:lnTo>
                    <a:pt x="7465314" y="3320033"/>
                  </a:lnTo>
                  <a:lnTo>
                    <a:pt x="7469124" y="3320033"/>
                  </a:lnTo>
                  <a:close/>
                </a:path>
                <a:path w="7473950" h="3328670">
                  <a:moveTo>
                    <a:pt x="7469124" y="3328416"/>
                  </a:moveTo>
                  <a:lnTo>
                    <a:pt x="7469124" y="3320033"/>
                  </a:lnTo>
                  <a:lnTo>
                    <a:pt x="7465314" y="3323843"/>
                  </a:lnTo>
                  <a:lnTo>
                    <a:pt x="7465314" y="3328416"/>
                  </a:lnTo>
                  <a:lnTo>
                    <a:pt x="7469124" y="3328416"/>
                  </a:lnTo>
                  <a:close/>
                </a:path>
              </a:pathLst>
            </a:custGeom>
            <a:solidFill>
              <a:srgbClr val="000000"/>
            </a:solidFill>
          </p:spPr>
          <p:txBody>
            <a:bodyPr wrap="square" lIns="0" tIns="0" rIns="0" bIns="0" rtlCol="0"/>
            <a:lstStyle/>
            <a:p>
              <a:endParaRPr/>
            </a:p>
          </p:txBody>
        </p:sp>
      </p:grpSp>
      <p:sp>
        <p:nvSpPr>
          <p:cNvPr id="6" name="object 6"/>
          <p:cNvSpPr txBox="1"/>
          <p:nvPr/>
        </p:nvSpPr>
        <p:spPr>
          <a:xfrm>
            <a:off x="821570" y="1895347"/>
            <a:ext cx="6807200" cy="2708275"/>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 pos="1083945" algn="l"/>
              </a:tabLst>
            </a:pPr>
            <a:r>
              <a:rPr sz="2100" b="1" dirty="0">
                <a:solidFill>
                  <a:srgbClr val="3E3E3E"/>
                </a:solidFill>
                <a:latin typeface="微软雅黑"/>
                <a:cs typeface="微软雅黑"/>
              </a:rPr>
              <a:t>例</a:t>
            </a:r>
            <a:r>
              <a:rPr sz="2100" b="1" spc="-50" dirty="0">
                <a:solidFill>
                  <a:srgbClr val="3E3E3E"/>
                </a:solidFill>
                <a:latin typeface="微软雅黑"/>
                <a:cs typeface="微软雅黑"/>
              </a:rPr>
              <a:t> </a:t>
            </a:r>
            <a:r>
              <a:rPr sz="2100" b="1" spc="-25" dirty="0">
                <a:solidFill>
                  <a:srgbClr val="3E3E3E"/>
                </a:solidFill>
                <a:latin typeface="Arial"/>
                <a:cs typeface="Arial"/>
              </a:rPr>
              <a:t>3.8</a:t>
            </a:r>
            <a:r>
              <a:rPr sz="2100" b="1" dirty="0">
                <a:solidFill>
                  <a:srgbClr val="3E3E3E"/>
                </a:solidFill>
                <a:latin typeface="Arial"/>
                <a:cs typeface="Arial"/>
              </a:rPr>
              <a:t>	</a:t>
            </a:r>
            <a:r>
              <a:rPr sz="2100" b="1" dirty="0">
                <a:solidFill>
                  <a:srgbClr val="3E3E3E"/>
                </a:solidFill>
                <a:latin typeface="微软雅黑"/>
                <a:cs typeface="微软雅黑"/>
              </a:rPr>
              <a:t>使用</a:t>
            </a:r>
            <a:r>
              <a:rPr sz="2100" b="1" spc="-10" dirty="0">
                <a:solidFill>
                  <a:srgbClr val="3E3E3E"/>
                </a:solidFill>
                <a:latin typeface="Arial"/>
                <a:cs typeface="Arial"/>
              </a:rPr>
              <a:t>casez</a:t>
            </a:r>
            <a:r>
              <a:rPr sz="2100" b="1" dirty="0">
                <a:solidFill>
                  <a:srgbClr val="3E3E3E"/>
                </a:solidFill>
                <a:latin typeface="微软雅黑"/>
                <a:cs typeface="微软雅黑"/>
              </a:rPr>
              <a:t>语句的优先编码</a:t>
            </a:r>
            <a:r>
              <a:rPr sz="2100" b="1" spc="-50" dirty="0">
                <a:solidFill>
                  <a:srgbClr val="3E3E3E"/>
                </a:solidFill>
                <a:latin typeface="微软雅黑"/>
                <a:cs typeface="微软雅黑"/>
              </a:rPr>
              <a:t>器</a:t>
            </a:r>
            <a:endParaRPr sz="2100">
              <a:latin typeface="微软雅黑"/>
              <a:cs typeface="微软雅黑"/>
            </a:endParaRPr>
          </a:p>
          <a:p>
            <a:pPr marL="727075" marR="5080" indent="-368300">
              <a:lnSpc>
                <a:spcPct val="120000"/>
              </a:lnSpc>
              <a:spcBef>
                <a:spcPts val="930"/>
              </a:spcBef>
            </a:pPr>
            <a:r>
              <a:rPr sz="1750" b="1" dirty="0">
                <a:latin typeface="Arial"/>
                <a:cs typeface="Arial"/>
              </a:rPr>
              <a:t>module</a:t>
            </a:r>
            <a:r>
              <a:rPr sz="1750" b="1" spc="-35" dirty="0">
                <a:latin typeface="Arial"/>
                <a:cs typeface="Arial"/>
              </a:rPr>
              <a:t> </a:t>
            </a:r>
            <a:r>
              <a:rPr sz="1750" spc="-10" dirty="0">
                <a:latin typeface="Arial"/>
                <a:cs typeface="Arial"/>
              </a:rPr>
              <a:t>prio_encoder_casez(</a:t>
            </a:r>
            <a:r>
              <a:rPr sz="1750" spc="-30" dirty="0">
                <a:latin typeface="Arial"/>
                <a:cs typeface="Arial"/>
              </a:rPr>
              <a:t> </a:t>
            </a:r>
            <a:r>
              <a:rPr sz="1750" b="1" dirty="0">
                <a:latin typeface="Arial"/>
                <a:cs typeface="Arial"/>
              </a:rPr>
              <a:t>input</a:t>
            </a:r>
            <a:r>
              <a:rPr sz="1750" b="1" spc="400" dirty="0">
                <a:latin typeface="Arial"/>
                <a:cs typeface="Arial"/>
              </a:rPr>
              <a:t> </a:t>
            </a:r>
            <a:r>
              <a:rPr sz="1750" dirty="0">
                <a:latin typeface="Arial"/>
                <a:cs typeface="Arial"/>
              </a:rPr>
              <a:t>[3:0]</a:t>
            </a:r>
            <a:r>
              <a:rPr sz="1750" spc="385" dirty="0">
                <a:latin typeface="Arial"/>
                <a:cs typeface="Arial"/>
              </a:rPr>
              <a:t> </a:t>
            </a:r>
            <a:r>
              <a:rPr sz="1750" dirty="0">
                <a:latin typeface="Arial"/>
                <a:cs typeface="Arial"/>
              </a:rPr>
              <a:t>r,</a:t>
            </a:r>
            <a:r>
              <a:rPr sz="1750" b="1" dirty="0">
                <a:latin typeface="Arial"/>
                <a:cs typeface="Arial"/>
              </a:rPr>
              <a:t>output</a:t>
            </a:r>
            <a:r>
              <a:rPr sz="1750" b="1" spc="400" dirty="0">
                <a:latin typeface="Arial"/>
                <a:cs typeface="Arial"/>
              </a:rPr>
              <a:t> </a:t>
            </a:r>
            <a:r>
              <a:rPr sz="1750" b="1" dirty="0">
                <a:latin typeface="Arial"/>
                <a:cs typeface="Arial"/>
              </a:rPr>
              <a:t>reg</a:t>
            </a:r>
            <a:r>
              <a:rPr sz="1750" b="1" spc="385" dirty="0">
                <a:latin typeface="Arial"/>
                <a:cs typeface="Arial"/>
              </a:rPr>
              <a:t> </a:t>
            </a:r>
            <a:r>
              <a:rPr sz="1750" dirty="0">
                <a:latin typeface="Arial"/>
                <a:cs typeface="Arial"/>
              </a:rPr>
              <a:t>[2:0]</a:t>
            </a:r>
            <a:r>
              <a:rPr sz="1750" spc="390" dirty="0">
                <a:latin typeface="Arial"/>
                <a:cs typeface="Arial"/>
              </a:rPr>
              <a:t> </a:t>
            </a:r>
            <a:r>
              <a:rPr sz="1750" spc="-25" dirty="0">
                <a:latin typeface="Arial"/>
                <a:cs typeface="Arial"/>
              </a:rPr>
              <a:t>y</a:t>
            </a:r>
            <a:r>
              <a:rPr sz="1750" b="1" spc="-25" dirty="0">
                <a:latin typeface="Arial"/>
                <a:cs typeface="Arial"/>
              </a:rPr>
              <a:t>); </a:t>
            </a:r>
            <a:r>
              <a:rPr sz="1750" b="1" dirty="0">
                <a:latin typeface="Arial"/>
                <a:cs typeface="Arial"/>
              </a:rPr>
              <a:t>always</a:t>
            </a:r>
            <a:r>
              <a:rPr sz="1750" b="1" spc="-90" dirty="0">
                <a:latin typeface="Arial"/>
                <a:cs typeface="Arial"/>
              </a:rPr>
              <a:t> </a:t>
            </a:r>
            <a:r>
              <a:rPr sz="1750" b="1" spc="-25" dirty="0">
                <a:latin typeface="Arial"/>
                <a:cs typeface="Arial"/>
              </a:rPr>
              <a:t>@*</a:t>
            </a:r>
            <a:endParaRPr sz="1750">
              <a:latin typeface="Arial"/>
              <a:cs typeface="Arial"/>
            </a:endParaRPr>
          </a:p>
          <a:p>
            <a:pPr marL="1094740">
              <a:lnSpc>
                <a:spcPct val="100000"/>
              </a:lnSpc>
              <a:spcBef>
                <a:spcPts val="430"/>
              </a:spcBef>
            </a:pPr>
            <a:r>
              <a:rPr sz="1750" b="1" dirty="0">
                <a:latin typeface="Arial"/>
                <a:cs typeface="Arial"/>
              </a:rPr>
              <a:t>casez</a:t>
            </a:r>
            <a:r>
              <a:rPr sz="1750" b="1" spc="-65" dirty="0">
                <a:latin typeface="Arial"/>
                <a:cs typeface="Arial"/>
              </a:rPr>
              <a:t> </a:t>
            </a:r>
            <a:r>
              <a:rPr sz="1750" spc="-25" dirty="0">
                <a:latin typeface="Arial"/>
                <a:cs typeface="Arial"/>
              </a:rPr>
              <a:t>(r)</a:t>
            </a:r>
            <a:endParaRPr sz="1750">
              <a:latin typeface="Arial"/>
              <a:cs typeface="Arial"/>
            </a:endParaRPr>
          </a:p>
          <a:p>
            <a:pPr marL="1278255">
              <a:lnSpc>
                <a:spcPct val="100000"/>
              </a:lnSpc>
              <a:spcBef>
                <a:spcPts val="425"/>
              </a:spcBef>
            </a:pPr>
            <a:r>
              <a:rPr sz="1750" dirty="0">
                <a:latin typeface="Arial"/>
                <a:cs typeface="Arial"/>
              </a:rPr>
              <a:t>4'b1???:</a:t>
            </a:r>
            <a:r>
              <a:rPr sz="1750" spc="-30" dirty="0">
                <a:latin typeface="Arial"/>
                <a:cs typeface="Arial"/>
              </a:rPr>
              <a:t> </a:t>
            </a:r>
            <a:r>
              <a:rPr sz="1750" dirty="0">
                <a:latin typeface="Arial"/>
                <a:cs typeface="Arial"/>
              </a:rPr>
              <a:t>y</a:t>
            </a:r>
            <a:r>
              <a:rPr sz="1750" spc="-45" dirty="0">
                <a:latin typeface="Arial"/>
                <a:cs typeface="Arial"/>
              </a:rPr>
              <a:t> </a:t>
            </a:r>
            <a:r>
              <a:rPr sz="1750" dirty="0">
                <a:latin typeface="Arial"/>
                <a:cs typeface="Arial"/>
              </a:rPr>
              <a:t>=</a:t>
            </a:r>
            <a:r>
              <a:rPr sz="1750" spc="-50" dirty="0">
                <a:latin typeface="Arial"/>
                <a:cs typeface="Arial"/>
              </a:rPr>
              <a:t> </a:t>
            </a:r>
            <a:r>
              <a:rPr sz="1750" spc="-10" dirty="0">
                <a:latin typeface="Arial"/>
                <a:cs typeface="Arial"/>
              </a:rPr>
              <a:t>3'b100;</a:t>
            </a:r>
            <a:endParaRPr sz="1750">
              <a:latin typeface="Arial"/>
              <a:cs typeface="Arial"/>
            </a:endParaRPr>
          </a:p>
          <a:p>
            <a:pPr marL="1278255">
              <a:lnSpc>
                <a:spcPct val="100000"/>
              </a:lnSpc>
              <a:spcBef>
                <a:spcPts val="425"/>
              </a:spcBef>
            </a:pPr>
            <a:r>
              <a:rPr sz="1750" dirty="0">
                <a:latin typeface="Arial"/>
                <a:cs typeface="Arial"/>
              </a:rPr>
              <a:t>4'b01??:</a:t>
            </a:r>
            <a:r>
              <a:rPr sz="1750" spc="-30" dirty="0">
                <a:latin typeface="Arial"/>
                <a:cs typeface="Arial"/>
              </a:rPr>
              <a:t> </a:t>
            </a:r>
            <a:r>
              <a:rPr sz="1750" dirty="0">
                <a:latin typeface="Arial"/>
                <a:cs typeface="Arial"/>
              </a:rPr>
              <a:t>y</a:t>
            </a:r>
            <a:r>
              <a:rPr sz="1750" spc="-45" dirty="0">
                <a:latin typeface="Arial"/>
                <a:cs typeface="Arial"/>
              </a:rPr>
              <a:t> </a:t>
            </a:r>
            <a:r>
              <a:rPr sz="1750" dirty="0">
                <a:latin typeface="Arial"/>
                <a:cs typeface="Arial"/>
              </a:rPr>
              <a:t>=</a:t>
            </a:r>
            <a:r>
              <a:rPr sz="1750" spc="-50" dirty="0">
                <a:latin typeface="Arial"/>
                <a:cs typeface="Arial"/>
              </a:rPr>
              <a:t> </a:t>
            </a:r>
            <a:r>
              <a:rPr sz="1750" spc="-10" dirty="0">
                <a:latin typeface="Arial"/>
                <a:cs typeface="Arial"/>
              </a:rPr>
              <a:t>3'b011;</a:t>
            </a:r>
            <a:endParaRPr sz="1750">
              <a:latin typeface="Arial"/>
              <a:cs typeface="Arial"/>
            </a:endParaRPr>
          </a:p>
          <a:p>
            <a:pPr marL="1278255">
              <a:lnSpc>
                <a:spcPct val="100000"/>
              </a:lnSpc>
              <a:spcBef>
                <a:spcPts val="425"/>
              </a:spcBef>
            </a:pPr>
            <a:r>
              <a:rPr sz="1750" dirty="0">
                <a:latin typeface="Arial"/>
                <a:cs typeface="Arial"/>
              </a:rPr>
              <a:t>4'b001?:</a:t>
            </a:r>
            <a:r>
              <a:rPr sz="1750" spc="-30" dirty="0">
                <a:latin typeface="Arial"/>
                <a:cs typeface="Arial"/>
              </a:rPr>
              <a:t> </a:t>
            </a:r>
            <a:r>
              <a:rPr sz="1750" dirty="0">
                <a:latin typeface="Arial"/>
                <a:cs typeface="Arial"/>
              </a:rPr>
              <a:t>y</a:t>
            </a:r>
            <a:r>
              <a:rPr sz="1750" spc="-45" dirty="0">
                <a:latin typeface="Arial"/>
                <a:cs typeface="Arial"/>
              </a:rPr>
              <a:t> </a:t>
            </a:r>
            <a:r>
              <a:rPr sz="1750" dirty="0">
                <a:latin typeface="Arial"/>
                <a:cs typeface="Arial"/>
              </a:rPr>
              <a:t>=</a:t>
            </a:r>
            <a:r>
              <a:rPr sz="1750" spc="-50" dirty="0">
                <a:latin typeface="Arial"/>
                <a:cs typeface="Arial"/>
              </a:rPr>
              <a:t> </a:t>
            </a:r>
            <a:r>
              <a:rPr sz="1750" spc="-10" dirty="0">
                <a:latin typeface="Arial"/>
                <a:cs typeface="Arial"/>
              </a:rPr>
              <a:t>3'b010;</a:t>
            </a:r>
            <a:endParaRPr sz="1750">
              <a:latin typeface="Arial"/>
              <a:cs typeface="Arial"/>
            </a:endParaRPr>
          </a:p>
          <a:p>
            <a:pPr marL="1278255">
              <a:lnSpc>
                <a:spcPct val="100000"/>
              </a:lnSpc>
              <a:spcBef>
                <a:spcPts val="420"/>
              </a:spcBef>
            </a:pPr>
            <a:r>
              <a:rPr sz="1750" dirty="0">
                <a:latin typeface="Arial"/>
                <a:cs typeface="Arial"/>
              </a:rPr>
              <a:t>4'b0001:</a:t>
            </a:r>
            <a:r>
              <a:rPr sz="1750" spc="-30" dirty="0">
                <a:latin typeface="Arial"/>
                <a:cs typeface="Arial"/>
              </a:rPr>
              <a:t> </a:t>
            </a:r>
            <a:r>
              <a:rPr sz="1750" dirty="0">
                <a:latin typeface="Arial"/>
                <a:cs typeface="Arial"/>
              </a:rPr>
              <a:t>y</a:t>
            </a:r>
            <a:r>
              <a:rPr sz="1750" spc="-45" dirty="0">
                <a:latin typeface="Arial"/>
                <a:cs typeface="Arial"/>
              </a:rPr>
              <a:t> </a:t>
            </a:r>
            <a:r>
              <a:rPr sz="1750" dirty="0">
                <a:latin typeface="Arial"/>
                <a:cs typeface="Arial"/>
              </a:rPr>
              <a:t>=</a:t>
            </a:r>
            <a:r>
              <a:rPr sz="1750" spc="-50" dirty="0">
                <a:latin typeface="Arial"/>
                <a:cs typeface="Arial"/>
              </a:rPr>
              <a:t> </a:t>
            </a:r>
            <a:r>
              <a:rPr sz="1750" spc="-10" dirty="0">
                <a:latin typeface="Arial"/>
                <a:cs typeface="Arial"/>
              </a:rPr>
              <a:t>3'b001;</a:t>
            </a:r>
            <a:endParaRPr sz="175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7" name="object 7"/>
          <p:cNvSpPr txBox="1"/>
          <p:nvPr/>
        </p:nvSpPr>
        <p:spPr>
          <a:xfrm>
            <a:off x="4389269" y="4619077"/>
            <a:ext cx="2211070" cy="307975"/>
          </a:xfrm>
          <a:prstGeom prst="rect">
            <a:avLst/>
          </a:prstGeom>
        </p:spPr>
        <p:txBody>
          <a:bodyPr vert="horz" wrap="square" lIns="0" tIns="12700" rIns="0" bIns="0" rtlCol="0">
            <a:spAutoFit/>
          </a:bodyPr>
          <a:lstStyle/>
          <a:p>
            <a:pPr marL="12700">
              <a:lnSpc>
                <a:spcPct val="100000"/>
              </a:lnSpc>
              <a:spcBef>
                <a:spcPts val="100"/>
              </a:spcBef>
            </a:pPr>
            <a:r>
              <a:rPr sz="1750" spc="5" dirty="0">
                <a:solidFill>
                  <a:srgbClr val="00B0EF"/>
                </a:solidFill>
                <a:latin typeface="Arial"/>
                <a:cs typeface="Arial"/>
              </a:rPr>
              <a:t>// </a:t>
            </a:r>
            <a:r>
              <a:rPr sz="1850" i="1" spc="-120" dirty="0">
                <a:solidFill>
                  <a:srgbClr val="00B0EF"/>
                </a:solidFill>
                <a:latin typeface="宋体"/>
                <a:cs typeface="宋体"/>
              </a:rPr>
              <a:t>这里可以使用</a:t>
            </a:r>
            <a:r>
              <a:rPr sz="1750" i="1" spc="-10" dirty="0">
                <a:solidFill>
                  <a:srgbClr val="00B0EF"/>
                </a:solidFill>
                <a:latin typeface="Arial"/>
                <a:cs typeface="Arial"/>
              </a:rPr>
              <a:t>default</a:t>
            </a:r>
            <a:endParaRPr sz="1750">
              <a:latin typeface="Arial"/>
              <a:cs typeface="Arial"/>
            </a:endParaRPr>
          </a:p>
        </p:txBody>
      </p:sp>
      <p:sp>
        <p:nvSpPr>
          <p:cNvPr id="8" name="object 8"/>
          <p:cNvSpPr txBox="1"/>
          <p:nvPr/>
        </p:nvSpPr>
        <p:spPr>
          <a:xfrm>
            <a:off x="1224677" y="4577970"/>
            <a:ext cx="2882900" cy="988060"/>
          </a:xfrm>
          <a:prstGeom prst="rect">
            <a:avLst/>
          </a:prstGeom>
        </p:spPr>
        <p:txBody>
          <a:bodyPr vert="horz" wrap="square" lIns="0" tIns="66675" rIns="0" bIns="0" rtlCol="0">
            <a:spAutoFit/>
          </a:bodyPr>
          <a:lstStyle/>
          <a:p>
            <a:pPr marL="875030">
              <a:lnSpc>
                <a:spcPct val="100000"/>
              </a:lnSpc>
              <a:spcBef>
                <a:spcPts val="525"/>
              </a:spcBef>
            </a:pPr>
            <a:r>
              <a:rPr sz="1750" dirty="0">
                <a:latin typeface="Arial"/>
                <a:cs typeface="Arial"/>
              </a:rPr>
              <a:t>4'b0000:</a:t>
            </a:r>
            <a:r>
              <a:rPr sz="1750" spc="-30" dirty="0">
                <a:latin typeface="Arial"/>
                <a:cs typeface="Arial"/>
              </a:rPr>
              <a:t> </a:t>
            </a:r>
            <a:r>
              <a:rPr sz="1750" dirty="0">
                <a:latin typeface="Arial"/>
                <a:cs typeface="Arial"/>
              </a:rPr>
              <a:t>y</a:t>
            </a:r>
            <a:r>
              <a:rPr sz="1750" spc="-45" dirty="0">
                <a:latin typeface="Arial"/>
                <a:cs typeface="Arial"/>
              </a:rPr>
              <a:t> </a:t>
            </a:r>
            <a:r>
              <a:rPr sz="1750" dirty="0">
                <a:latin typeface="Arial"/>
                <a:cs typeface="Arial"/>
              </a:rPr>
              <a:t>=</a:t>
            </a:r>
            <a:r>
              <a:rPr sz="1750" spc="-50" dirty="0">
                <a:latin typeface="Arial"/>
                <a:cs typeface="Arial"/>
              </a:rPr>
              <a:t> </a:t>
            </a:r>
            <a:r>
              <a:rPr sz="1750" spc="-10" dirty="0">
                <a:latin typeface="Arial"/>
                <a:cs typeface="Arial"/>
              </a:rPr>
              <a:t>3'b000;</a:t>
            </a:r>
            <a:endParaRPr sz="1750">
              <a:latin typeface="Arial"/>
              <a:cs typeface="Arial"/>
            </a:endParaRPr>
          </a:p>
          <a:p>
            <a:pPr marL="12700" marR="1355725" indent="617855">
              <a:lnSpc>
                <a:spcPct val="120300"/>
              </a:lnSpc>
            </a:pPr>
            <a:r>
              <a:rPr sz="1750" b="1" spc="-10" dirty="0">
                <a:latin typeface="Arial"/>
                <a:cs typeface="Arial"/>
              </a:rPr>
              <a:t>endcase endmodule</a:t>
            </a:r>
            <a:endParaRPr sz="175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3.2.2.4</a:t>
            </a:r>
            <a:r>
              <a:rPr spc="-45" dirty="0">
                <a:latin typeface="Arial"/>
                <a:cs typeface="Arial"/>
              </a:rPr>
              <a:t> </a:t>
            </a:r>
            <a:r>
              <a:rPr dirty="0">
                <a:latin typeface="Calibri"/>
                <a:cs typeface="Calibri"/>
              </a:rPr>
              <a:t>full</a:t>
            </a:r>
            <a:r>
              <a:rPr spc="-15" dirty="0">
                <a:latin typeface="Calibri"/>
                <a:cs typeface="Calibri"/>
              </a:rPr>
              <a:t> </a:t>
            </a:r>
            <a:r>
              <a:rPr dirty="0">
                <a:latin typeface="Calibri"/>
                <a:cs typeface="Calibri"/>
              </a:rPr>
              <a:t>case</a:t>
            </a:r>
            <a:r>
              <a:rPr dirty="0"/>
              <a:t>和</a:t>
            </a:r>
            <a:r>
              <a:rPr dirty="0">
                <a:latin typeface="Calibri"/>
                <a:cs typeface="Calibri"/>
              </a:rPr>
              <a:t>parallel</a:t>
            </a:r>
            <a:r>
              <a:rPr spc="-20" dirty="0">
                <a:latin typeface="Calibri"/>
                <a:cs typeface="Calibri"/>
              </a:rPr>
              <a:t> case</a:t>
            </a:r>
          </a:p>
        </p:txBody>
      </p:sp>
      <p:sp>
        <p:nvSpPr>
          <p:cNvPr id="3" name="object 3"/>
          <p:cNvSpPr txBox="1"/>
          <p:nvPr/>
        </p:nvSpPr>
        <p:spPr>
          <a:xfrm>
            <a:off x="603637" y="1783647"/>
            <a:ext cx="9488805" cy="908050"/>
          </a:xfrm>
          <a:prstGeom prst="rect">
            <a:avLst/>
          </a:prstGeom>
        </p:spPr>
        <p:txBody>
          <a:bodyPr vert="horz" wrap="square" lIns="0" tIns="11430" rIns="0" bIns="0" rtlCol="0">
            <a:spAutoFit/>
          </a:bodyPr>
          <a:lstStyle/>
          <a:p>
            <a:pPr marL="211454" marR="5080" indent="-199390">
              <a:lnSpc>
                <a:spcPct val="152400"/>
              </a:lnSpc>
              <a:spcBef>
                <a:spcPts val="90"/>
              </a:spcBef>
              <a:buClr>
                <a:srgbClr val="EC891C"/>
              </a:buClr>
              <a:buSzPct val="84210"/>
              <a:buFont typeface="Wingdings"/>
              <a:buChar char=""/>
              <a:tabLst>
                <a:tab pos="212725" algn="l"/>
                <a:tab pos="1421130" algn="l"/>
              </a:tabLst>
            </a:pPr>
            <a:r>
              <a:rPr sz="1900" b="1" spc="50" dirty="0">
                <a:solidFill>
                  <a:srgbClr val="3E3E3E"/>
                </a:solidFill>
                <a:latin typeface="微软雅黑"/>
                <a:cs typeface="微软雅黑"/>
              </a:rPr>
              <a:t>在</a:t>
            </a:r>
            <a:r>
              <a:rPr sz="1900" b="1" spc="-10" dirty="0">
                <a:solidFill>
                  <a:srgbClr val="3E3E3E"/>
                </a:solidFill>
                <a:latin typeface="Arial"/>
                <a:cs typeface="Arial"/>
              </a:rPr>
              <a:t>Verilog</a:t>
            </a:r>
            <a:r>
              <a:rPr sz="1900" b="1" dirty="0">
                <a:solidFill>
                  <a:srgbClr val="3E3E3E"/>
                </a:solidFill>
                <a:latin typeface="Arial"/>
                <a:cs typeface="Arial"/>
              </a:rPr>
              <a:t>	HDL</a:t>
            </a:r>
            <a:r>
              <a:rPr sz="1900" b="1" spc="50" dirty="0">
                <a:solidFill>
                  <a:srgbClr val="3E3E3E"/>
                </a:solidFill>
                <a:latin typeface="微软雅黑"/>
                <a:cs typeface="微软雅黑"/>
              </a:rPr>
              <a:t>中，项目表达式不需要包括</a:t>
            </a:r>
            <a:r>
              <a:rPr sz="1900" b="1" dirty="0">
                <a:solidFill>
                  <a:srgbClr val="3E3E3E"/>
                </a:solidFill>
                <a:latin typeface="Arial"/>
                <a:cs typeface="Arial"/>
              </a:rPr>
              <a:t>case</a:t>
            </a:r>
            <a:r>
              <a:rPr sz="1900" b="1" dirty="0">
                <a:solidFill>
                  <a:srgbClr val="3E3E3E"/>
                </a:solidFill>
                <a:latin typeface="微软雅黑"/>
                <a:cs typeface="微软雅黑"/>
              </a:rPr>
              <a:t>表达式的所有值，一些值也可以匹</a:t>
            </a:r>
            <a:r>
              <a:rPr sz="1900" b="1" spc="-50" dirty="0">
                <a:solidFill>
                  <a:srgbClr val="3E3E3E"/>
                </a:solidFill>
                <a:latin typeface="微软雅黑"/>
                <a:cs typeface="微软雅黑"/>
              </a:rPr>
              <a:t>配	</a:t>
            </a:r>
            <a:r>
              <a:rPr sz="1900" b="1" dirty="0">
                <a:solidFill>
                  <a:srgbClr val="3E3E3E"/>
                </a:solidFill>
                <a:latin typeface="微软雅黑"/>
                <a:cs typeface="微软雅黑"/>
              </a:rPr>
              <a:t>不止一次，考察下面的</a:t>
            </a:r>
            <a:r>
              <a:rPr sz="1900" b="1" dirty="0">
                <a:solidFill>
                  <a:srgbClr val="3E3E3E"/>
                </a:solidFill>
                <a:latin typeface="Arial"/>
                <a:cs typeface="Arial"/>
              </a:rPr>
              <a:t>casez</a:t>
            </a:r>
            <a:r>
              <a:rPr sz="1900" b="1" dirty="0">
                <a:solidFill>
                  <a:srgbClr val="3E3E3E"/>
                </a:solidFill>
                <a:latin typeface="微软雅黑"/>
                <a:cs typeface="微软雅黑"/>
              </a:rPr>
              <a:t>语句</a:t>
            </a:r>
            <a:r>
              <a:rPr sz="1900" b="1" spc="-50" dirty="0">
                <a:solidFill>
                  <a:srgbClr val="3E3E3E"/>
                </a:solidFill>
                <a:latin typeface="微软雅黑"/>
                <a:cs typeface="微软雅黑"/>
              </a:rPr>
              <a:t>：</a:t>
            </a:r>
            <a:endParaRPr sz="1900">
              <a:latin typeface="微软雅黑"/>
              <a:cs typeface="微软雅黑"/>
            </a:endParaRPr>
          </a:p>
        </p:txBody>
      </p:sp>
      <p:grpSp>
        <p:nvGrpSpPr>
          <p:cNvPr id="4" name="object 4"/>
          <p:cNvGrpSpPr/>
          <p:nvPr/>
        </p:nvGrpSpPr>
        <p:grpSpPr>
          <a:xfrm>
            <a:off x="811415" y="3054857"/>
            <a:ext cx="3192145" cy="2359660"/>
            <a:chOff x="811415" y="3054857"/>
            <a:chExt cx="3192145" cy="2359660"/>
          </a:xfrm>
        </p:grpSpPr>
        <p:sp>
          <p:nvSpPr>
            <p:cNvPr id="5" name="object 5"/>
            <p:cNvSpPr/>
            <p:nvPr/>
          </p:nvSpPr>
          <p:spPr>
            <a:xfrm>
              <a:off x="816749" y="3060191"/>
              <a:ext cx="3181350" cy="2348865"/>
            </a:xfrm>
            <a:custGeom>
              <a:avLst/>
              <a:gdLst/>
              <a:ahLst/>
              <a:cxnLst/>
              <a:rect l="l" t="t" r="r" b="b"/>
              <a:pathLst>
                <a:path w="3181350" h="2348865">
                  <a:moveTo>
                    <a:pt x="3181350" y="2348484"/>
                  </a:moveTo>
                  <a:lnTo>
                    <a:pt x="3181350" y="0"/>
                  </a:lnTo>
                  <a:lnTo>
                    <a:pt x="0" y="0"/>
                  </a:lnTo>
                  <a:lnTo>
                    <a:pt x="0" y="2348484"/>
                  </a:lnTo>
                  <a:lnTo>
                    <a:pt x="3181350" y="2348484"/>
                  </a:lnTo>
                  <a:close/>
                </a:path>
              </a:pathLst>
            </a:custGeom>
            <a:solidFill>
              <a:srgbClr val="F9FABA"/>
            </a:solidFill>
          </p:spPr>
          <p:txBody>
            <a:bodyPr wrap="square" lIns="0" tIns="0" rIns="0" bIns="0" rtlCol="0"/>
            <a:lstStyle/>
            <a:p>
              <a:endParaRPr/>
            </a:p>
          </p:txBody>
        </p:sp>
        <p:sp>
          <p:nvSpPr>
            <p:cNvPr id="6" name="object 6"/>
            <p:cNvSpPr/>
            <p:nvPr/>
          </p:nvSpPr>
          <p:spPr>
            <a:xfrm>
              <a:off x="811415" y="3054857"/>
              <a:ext cx="3192145" cy="2359660"/>
            </a:xfrm>
            <a:custGeom>
              <a:avLst/>
              <a:gdLst/>
              <a:ahLst/>
              <a:cxnLst/>
              <a:rect l="l" t="t" r="r" b="b"/>
              <a:pathLst>
                <a:path w="3192145" h="2359660">
                  <a:moveTo>
                    <a:pt x="3192018" y="2356866"/>
                  </a:moveTo>
                  <a:lnTo>
                    <a:pt x="3192018" y="2286"/>
                  </a:lnTo>
                  <a:lnTo>
                    <a:pt x="3189732" y="0"/>
                  </a:lnTo>
                  <a:lnTo>
                    <a:pt x="2285" y="0"/>
                  </a:lnTo>
                  <a:lnTo>
                    <a:pt x="0" y="2286"/>
                  </a:lnTo>
                  <a:lnTo>
                    <a:pt x="0" y="2356866"/>
                  </a:lnTo>
                  <a:lnTo>
                    <a:pt x="2286" y="2359152"/>
                  </a:lnTo>
                  <a:lnTo>
                    <a:pt x="5334" y="2359152"/>
                  </a:lnTo>
                  <a:lnTo>
                    <a:pt x="5334" y="10668"/>
                  </a:lnTo>
                  <a:lnTo>
                    <a:pt x="11429" y="5334"/>
                  </a:lnTo>
                  <a:lnTo>
                    <a:pt x="11430" y="10668"/>
                  </a:lnTo>
                  <a:lnTo>
                    <a:pt x="3181349" y="10668"/>
                  </a:lnTo>
                  <a:lnTo>
                    <a:pt x="3181349" y="5333"/>
                  </a:lnTo>
                  <a:lnTo>
                    <a:pt x="3186684" y="10668"/>
                  </a:lnTo>
                  <a:lnTo>
                    <a:pt x="3186684" y="2359152"/>
                  </a:lnTo>
                  <a:lnTo>
                    <a:pt x="3189732" y="2359152"/>
                  </a:lnTo>
                  <a:lnTo>
                    <a:pt x="3192018" y="2356866"/>
                  </a:lnTo>
                  <a:close/>
                </a:path>
                <a:path w="3192145" h="2359660">
                  <a:moveTo>
                    <a:pt x="11429" y="10668"/>
                  </a:moveTo>
                  <a:lnTo>
                    <a:pt x="11429" y="5334"/>
                  </a:lnTo>
                  <a:lnTo>
                    <a:pt x="5334" y="10668"/>
                  </a:lnTo>
                  <a:lnTo>
                    <a:pt x="11429" y="10668"/>
                  </a:lnTo>
                  <a:close/>
                </a:path>
                <a:path w="3192145" h="2359660">
                  <a:moveTo>
                    <a:pt x="11430" y="2347722"/>
                  </a:moveTo>
                  <a:lnTo>
                    <a:pt x="11429" y="10668"/>
                  </a:lnTo>
                  <a:lnTo>
                    <a:pt x="5334" y="10668"/>
                  </a:lnTo>
                  <a:lnTo>
                    <a:pt x="5334" y="2347722"/>
                  </a:lnTo>
                  <a:lnTo>
                    <a:pt x="11430" y="2347722"/>
                  </a:lnTo>
                  <a:close/>
                </a:path>
                <a:path w="3192145" h="2359660">
                  <a:moveTo>
                    <a:pt x="3186684" y="2347722"/>
                  </a:moveTo>
                  <a:lnTo>
                    <a:pt x="5334" y="2347722"/>
                  </a:lnTo>
                  <a:lnTo>
                    <a:pt x="11430" y="2353818"/>
                  </a:lnTo>
                  <a:lnTo>
                    <a:pt x="11430" y="2359152"/>
                  </a:lnTo>
                  <a:lnTo>
                    <a:pt x="3181349" y="2359152"/>
                  </a:lnTo>
                  <a:lnTo>
                    <a:pt x="3181349" y="2353818"/>
                  </a:lnTo>
                  <a:lnTo>
                    <a:pt x="3186684" y="2347722"/>
                  </a:lnTo>
                  <a:close/>
                </a:path>
                <a:path w="3192145" h="2359660">
                  <a:moveTo>
                    <a:pt x="11430" y="2359152"/>
                  </a:moveTo>
                  <a:lnTo>
                    <a:pt x="11430" y="2353818"/>
                  </a:lnTo>
                  <a:lnTo>
                    <a:pt x="5334" y="2347722"/>
                  </a:lnTo>
                  <a:lnTo>
                    <a:pt x="5334" y="2359152"/>
                  </a:lnTo>
                  <a:lnTo>
                    <a:pt x="11430" y="2359152"/>
                  </a:lnTo>
                  <a:close/>
                </a:path>
                <a:path w="3192145" h="2359660">
                  <a:moveTo>
                    <a:pt x="3186684" y="10668"/>
                  </a:moveTo>
                  <a:lnTo>
                    <a:pt x="3181349" y="5333"/>
                  </a:lnTo>
                  <a:lnTo>
                    <a:pt x="3181349" y="10668"/>
                  </a:lnTo>
                  <a:lnTo>
                    <a:pt x="3186684" y="10668"/>
                  </a:lnTo>
                  <a:close/>
                </a:path>
                <a:path w="3192145" h="2359660">
                  <a:moveTo>
                    <a:pt x="3186684" y="2347722"/>
                  </a:moveTo>
                  <a:lnTo>
                    <a:pt x="3186684" y="10668"/>
                  </a:lnTo>
                  <a:lnTo>
                    <a:pt x="3181349" y="10668"/>
                  </a:lnTo>
                  <a:lnTo>
                    <a:pt x="3181349" y="2347722"/>
                  </a:lnTo>
                  <a:lnTo>
                    <a:pt x="3186684" y="2347722"/>
                  </a:lnTo>
                  <a:close/>
                </a:path>
                <a:path w="3192145" h="2359660">
                  <a:moveTo>
                    <a:pt x="3186684" y="2359152"/>
                  </a:moveTo>
                  <a:lnTo>
                    <a:pt x="3186684" y="2347722"/>
                  </a:lnTo>
                  <a:lnTo>
                    <a:pt x="3181349" y="2353818"/>
                  </a:lnTo>
                  <a:lnTo>
                    <a:pt x="3181349" y="2359152"/>
                  </a:lnTo>
                  <a:lnTo>
                    <a:pt x="3186684" y="2359152"/>
                  </a:lnTo>
                  <a:close/>
                </a:path>
              </a:pathLst>
            </a:custGeom>
            <a:solidFill>
              <a:srgbClr val="000000"/>
            </a:solidFill>
          </p:spPr>
          <p:txBody>
            <a:bodyPr wrap="square" lIns="0" tIns="0" rIns="0" bIns="0" rtlCol="0"/>
            <a:lstStyle/>
            <a:p>
              <a:endParaRPr/>
            </a:p>
          </p:txBody>
        </p:sp>
      </p:grpSp>
      <p:sp>
        <p:nvSpPr>
          <p:cNvPr id="7" name="object 7"/>
          <p:cNvSpPr txBox="1"/>
          <p:nvPr/>
        </p:nvSpPr>
        <p:spPr>
          <a:xfrm>
            <a:off x="945014" y="3079496"/>
            <a:ext cx="2433955" cy="2270760"/>
          </a:xfrm>
          <a:prstGeom prst="rect">
            <a:avLst/>
          </a:prstGeom>
        </p:spPr>
        <p:txBody>
          <a:bodyPr vert="horz" wrap="square" lIns="0" tIns="13335" rIns="0" bIns="0" rtlCol="0">
            <a:spAutoFit/>
          </a:bodyPr>
          <a:lstStyle/>
          <a:p>
            <a:pPr marL="12700">
              <a:lnSpc>
                <a:spcPct val="100000"/>
              </a:lnSpc>
              <a:spcBef>
                <a:spcPts val="105"/>
              </a:spcBef>
            </a:pPr>
            <a:r>
              <a:rPr sz="2100" dirty="0">
                <a:latin typeface="Arial"/>
                <a:cs typeface="Arial"/>
              </a:rPr>
              <a:t>reg</a:t>
            </a:r>
            <a:r>
              <a:rPr sz="2100" spc="5" dirty="0">
                <a:latin typeface="Arial"/>
                <a:cs typeface="Arial"/>
              </a:rPr>
              <a:t> </a:t>
            </a:r>
            <a:r>
              <a:rPr sz="2100" dirty="0">
                <a:latin typeface="Arial"/>
                <a:cs typeface="Arial"/>
              </a:rPr>
              <a:t>[2:0]</a:t>
            </a:r>
            <a:r>
              <a:rPr sz="2100" spc="-20" dirty="0">
                <a:latin typeface="Arial"/>
                <a:cs typeface="Arial"/>
              </a:rPr>
              <a:t> </a:t>
            </a:r>
            <a:r>
              <a:rPr sz="2100" spc="-50" dirty="0">
                <a:latin typeface="Arial"/>
                <a:cs typeface="Arial"/>
              </a:rPr>
              <a:t>s</a:t>
            </a:r>
            <a:endParaRPr sz="2100">
              <a:latin typeface="Arial"/>
              <a:cs typeface="Arial"/>
            </a:endParaRPr>
          </a:p>
          <a:p>
            <a:pPr marL="25400">
              <a:lnSpc>
                <a:spcPct val="100000"/>
              </a:lnSpc>
              <a:spcBef>
                <a:spcPts val="5"/>
              </a:spcBef>
            </a:pPr>
            <a:r>
              <a:rPr sz="2100" dirty="0">
                <a:latin typeface="Arial"/>
                <a:cs typeface="Arial"/>
              </a:rPr>
              <a:t>.</a:t>
            </a:r>
            <a:r>
              <a:rPr sz="2100" spc="-20" dirty="0">
                <a:latin typeface="Arial"/>
                <a:cs typeface="Arial"/>
              </a:rPr>
              <a:t> </a:t>
            </a:r>
            <a:r>
              <a:rPr sz="2100" dirty="0">
                <a:latin typeface="Arial"/>
                <a:cs typeface="Arial"/>
              </a:rPr>
              <a:t>.</a:t>
            </a:r>
            <a:r>
              <a:rPr sz="2100" spc="-15" dirty="0">
                <a:latin typeface="Arial"/>
                <a:cs typeface="Arial"/>
              </a:rPr>
              <a:t> </a:t>
            </a:r>
            <a:r>
              <a:rPr sz="2100" spc="-60" dirty="0">
                <a:latin typeface="Arial"/>
                <a:cs typeface="Arial"/>
              </a:rPr>
              <a:t>.</a:t>
            </a:r>
            <a:endParaRPr sz="2100">
              <a:latin typeface="Arial"/>
              <a:cs typeface="Arial"/>
            </a:endParaRPr>
          </a:p>
          <a:p>
            <a:pPr marL="25400">
              <a:lnSpc>
                <a:spcPct val="100000"/>
              </a:lnSpc>
              <a:spcBef>
                <a:spcPts val="5"/>
              </a:spcBef>
            </a:pPr>
            <a:r>
              <a:rPr sz="2100" dirty="0">
                <a:latin typeface="Arial"/>
                <a:cs typeface="Arial"/>
              </a:rPr>
              <a:t>casez</a:t>
            </a:r>
            <a:r>
              <a:rPr sz="2100" spc="-15" dirty="0">
                <a:latin typeface="Arial"/>
                <a:cs typeface="Arial"/>
              </a:rPr>
              <a:t> </a:t>
            </a:r>
            <a:r>
              <a:rPr sz="2100" spc="-25" dirty="0">
                <a:latin typeface="Arial"/>
                <a:cs typeface="Arial"/>
              </a:rPr>
              <a:t>(s)</a:t>
            </a:r>
            <a:endParaRPr sz="2100">
              <a:latin typeface="Arial"/>
              <a:cs typeface="Arial"/>
            </a:endParaRPr>
          </a:p>
          <a:p>
            <a:pPr marL="467995">
              <a:lnSpc>
                <a:spcPct val="100000"/>
              </a:lnSpc>
            </a:pPr>
            <a:r>
              <a:rPr sz="2100" spc="-35" dirty="0">
                <a:latin typeface="Arial"/>
                <a:cs typeface="Arial"/>
              </a:rPr>
              <a:t>3'b111:</a:t>
            </a:r>
            <a:r>
              <a:rPr sz="2100" spc="-25" dirty="0">
                <a:latin typeface="Arial"/>
                <a:cs typeface="Arial"/>
              </a:rPr>
              <a:t> </a:t>
            </a:r>
            <a:r>
              <a:rPr sz="2100" dirty="0">
                <a:latin typeface="Arial"/>
                <a:cs typeface="Arial"/>
              </a:rPr>
              <a:t>y</a:t>
            </a:r>
            <a:r>
              <a:rPr sz="2100" spc="-40" dirty="0">
                <a:latin typeface="Arial"/>
                <a:cs typeface="Arial"/>
              </a:rPr>
              <a:t> </a:t>
            </a:r>
            <a:r>
              <a:rPr sz="2100" dirty="0">
                <a:latin typeface="Arial"/>
                <a:cs typeface="Arial"/>
              </a:rPr>
              <a:t>=</a:t>
            </a:r>
            <a:r>
              <a:rPr sz="2100" spc="-40" dirty="0">
                <a:latin typeface="Arial"/>
                <a:cs typeface="Arial"/>
              </a:rPr>
              <a:t> </a:t>
            </a:r>
            <a:r>
              <a:rPr sz="2100" spc="-20" dirty="0">
                <a:latin typeface="Arial"/>
                <a:cs typeface="Arial"/>
              </a:rPr>
              <a:t>1'b1;</a:t>
            </a:r>
            <a:endParaRPr sz="2100">
              <a:latin typeface="Arial"/>
              <a:cs typeface="Arial"/>
            </a:endParaRPr>
          </a:p>
          <a:p>
            <a:pPr marL="467995">
              <a:lnSpc>
                <a:spcPct val="100000"/>
              </a:lnSpc>
              <a:spcBef>
                <a:spcPts val="5"/>
              </a:spcBef>
            </a:pPr>
            <a:r>
              <a:rPr sz="2100" dirty="0">
                <a:latin typeface="Arial"/>
                <a:cs typeface="Arial"/>
              </a:rPr>
              <a:t>3'b1??:</a:t>
            </a:r>
            <a:r>
              <a:rPr sz="2100" spc="-5" dirty="0">
                <a:latin typeface="Arial"/>
                <a:cs typeface="Arial"/>
              </a:rPr>
              <a:t> </a:t>
            </a:r>
            <a:r>
              <a:rPr sz="2100" dirty="0">
                <a:latin typeface="Arial"/>
                <a:cs typeface="Arial"/>
              </a:rPr>
              <a:t>y</a:t>
            </a:r>
            <a:r>
              <a:rPr sz="2100" spc="-10" dirty="0">
                <a:latin typeface="Arial"/>
                <a:cs typeface="Arial"/>
              </a:rPr>
              <a:t> </a:t>
            </a:r>
            <a:r>
              <a:rPr sz="2100" dirty="0">
                <a:latin typeface="Arial"/>
                <a:cs typeface="Arial"/>
              </a:rPr>
              <a:t>=</a:t>
            </a:r>
            <a:r>
              <a:rPr sz="2100" spc="-10" dirty="0">
                <a:latin typeface="Arial"/>
                <a:cs typeface="Arial"/>
              </a:rPr>
              <a:t> 1'b0;</a:t>
            </a:r>
            <a:endParaRPr sz="2100">
              <a:latin typeface="Arial"/>
              <a:cs typeface="Arial"/>
            </a:endParaRPr>
          </a:p>
          <a:p>
            <a:pPr marL="467995">
              <a:lnSpc>
                <a:spcPct val="100000"/>
              </a:lnSpc>
              <a:spcBef>
                <a:spcPts val="10"/>
              </a:spcBef>
            </a:pPr>
            <a:r>
              <a:rPr sz="2100" dirty="0">
                <a:latin typeface="Arial"/>
                <a:cs typeface="Arial"/>
              </a:rPr>
              <a:t>3'b000:</a:t>
            </a:r>
            <a:r>
              <a:rPr sz="2100" spc="-5" dirty="0">
                <a:latin typeface="Arial"/>
                <a:cs typeface="Arial"/>
              </a:rPr>
              <a:t> </a:t>
            </a:r>
            <a:r>
              <a:rPr sz="2100" dirty="0">
                <a:latin typeface="Arial"/>
                <a:cs typeface="Arial"/>
              </a:rPr>
              <a:t>y</a:t>
            </a:r>
            <a:r>
              <a:rPr sz="2100" spc="-10" dirty="0">
                <a:latin typeface="Arial"/>
                <a:cs typeface="Arial"/>
              </a:rPr>
              <a:t> </a:t>
            </a:r>
            <a:r>
              <a:rPr sz="2100" dirty="0">
                <a:latin typeface="Arial"/>
                <a:cs typeface="Arial"/>
              </a:rPr>
              <a:t>=</a:t>
            </a:r>
            <a:r>
              <a:rPr sz="2100" spc="-10" dirty="0">
                <a:latin typeface="Arial"/>
                <a:cs typeface="Arial"/>
              </a:rPr>
              <a:t> 1'b1;</a:t>
            </a:r>
            <a:endParaRPr sz="2100">
              <a:latin typeface="Arial"/>
              <a:cs typeface="Arial"/>
            </a:endParaRPr>
          </a:p>
          <a:p>
            <a:pPr marL="25400">
              <a:lnSpc>
                <a:spcPct val="100000"/>
              </a:lnSpc>
              <a:spcBef>
                <a:spcPts val="5"/>
              </a:spcBef>
            </a:pPr>
            <a:r>
              <a:rPr sz="2100" spc="-10" dirty="0">
                <a:latin typeface="Arial"/>
                <a:cs typeface="Arial"/>
              </a:rPr>
              <a:t>endcase</a:t>
            </a:r>
            <a:endParaRPr sz="21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8" name="object 8"/>
          <p:cNvSpPr txBox="1"/>
          <p:nvPr/>
        </p:nvSpPr>
        <p:spPr>
          <a:xfrm>
            <a:off x="4286383" y="3031788"/>
            <a:ext cx="5819775" cy="1628775"/>
          </a:xfrm>
          <a:prstGeom prst="rect">
            <a:avLst/>
          </a:prstGeom>
        </p:spPr>
        <p:txBody>
          <a:bodyPr vert="horz" wrap="square" lIns="0" tIns="12700" rIns="0" bIns="0" rtlCol="0">
            <a:spAutoFit/>
          </a:bodyPr>
          <a:lstStyle/>
          <a:p>
            <a:pPr marL="212725" marR="5080" indent="-200660">
              <a:lnSpc>
                <a:spcPct val="150300"/>
              </a:lnSpc>
              <a:spcBef>
                <a:spcPts val="100"/>
              </a:spcBef>
              <a:buSzPct val="94285"/>
              <a:buFont typeface="Wingdings"/>
              <a:buChar char=""/>
              <a:tabLst>
                <a:tab pos="212725" algn="l"/>
              </a:tabLst>
            </a:pPr>
            <a:r>
              <a:rPr sz="1750" dirty="0">
                <a:latin typeface="微软雅黑"/>
                <a:cs typeface="微软雅黑"/>
              </a:rPr>
              <a:t>注意该语句中</a:t>
            </a:r>
            <a:r>
              <a:rPr sz="1750" b="1" spc="-50" dirty="0">
                <a:solidFill>
                  <a:srgbClr val="C00000"/>
                </a:solidFill>
                <a:latin typeface="Arial"/>
                <a:cs typeface="Arial"/>
              </a:rPr>
              <a:t>3’b111</a:t>
            </a:r>
            <a:r>
              <a:rPr sz="1750" dirty="0">
                <a:latin typeface="微软雅黑"/>
                <a:cs typeface="微软雅黑"/>
              </a:rPr>
              <a:t>在分支项表达式中匹配了两次（</a:t>
            </a:r>
            <a:r>
              <a:rPr sz="1750" spc="-50" dirty="0">
                <a:latin typeface="微软雅黑"/>
                <a:cs typeface="微软雅黑"/>
              </a:rPr>
              <a:t>一 </a:t>
            </a:r>
            <a:r>
              <a:rPr sz="1750" spc="80" dirty="0">
                <a:latin typeface="微软雅黑"/>
                <a:cs typeface="微软雅黑"/>
              </a:rPr>
              <a:t>次在</a:t>
            </a:r>
            <a:r>
              <a:rPr sz="1750" spc="-45" dirty="0">
                <a:latin typeface="Arial"/>
                <a:cs typeface="Arial"/>
              </a:rPr>
              <a:t>3’b111</a:t>
            </a:r>
            <a:r>
              <a:rPr sz="1750" spc="80" dirty="0">
                <a:latin typeface="微软雅黑"/>
                <a:cs typeface="微软雅黑"/>
              </a:rPr>
              <a:t>中，一次在</a:t>
            </a:r>
            <a:r>
              <a:rPr sz="1750" dirty="0">
                <a:latin typeface="Arial"/>
                <a:cs typeface="Arial"/>
              </a:rPr>
              <a:t>3’b1??</a:t>
            </a:r>
            <a:r>
              <a:rPr sz="1750" spc="80" dirty="0">
                <a:latin typeface="微软雅黑"/>
                <a:cs typeface="微软雅黑"/>
              </a:rPr>
              <a:t>中</a:t>
            </a:r>
            <a:r>
              <a:rPr sz="1750" spc="75" dirty="0">
                <a:latin typeface="Arial"/>
                <a:cs typeface="Arial"/>
              </a:rPr>
              <a:t>)</a:t>
            </a:r>
            <a:r>
              <a:rPr sz="1750" spc="70" dirty="0">
                <a:latin typeface="微软雅黑"/>
                <a:cs typeface="微软雅黑"/>
              </a:rPr>
              <a:t>，由于第一次匹配先</a:t>
            </a:r>
            <a:r>
              <a:rPr sz="1750" spc="370" dirty="0">
                <a:latin typeface="微软雅黑"/>
                <a:cs typeface="微软雅黑"/>
              </a:rPr>
              <a:t>生效，如果</a:t>
            </a:r>
            <a:r>
              <a:rPr sz="1750" dirty="0">
                <a:latin typeface="Arial"/>
                <a:cs typeface="Arial"/>
              </a:rPr>
              <a:t>s</a:t>
            </a:r>
            <a:r>
              <a:rPr sz="1750" spc="-110" dirty="0">
                <a:latin typeface="Arial"/>
                <a:cs typeface="Arial"/>
              </a:rPr>
              <a:t> </a:t>
            </a:r>
            <a:r>
              <a:rPr sz="1750" spc="-70" dirty="0">
                <a:latin typeface="微软雅黑"/>
                <a:cs typeface="微软雅黑"/>
              </a:rPr>
              <a:t>是 </a:t>
            </a:r>
            <a:r>
              <a:rPr sz="1750" spc="-55" dirty="0">
                <a:latin typeface="Arial"/>
                <a:cs typeface="Arial"/>
              </a:rPr>
              <a:t>3’b111</a:t>
            </a:r>
            <a:r>
              <a:rPr sz="1750" spc="-110" dirty="0">
                <a:latin typeface="Arial"/>
                <a:cs typeface="Arial"/>
              </a:rPr>
              <a:t> </a:t>
            </a:r>
            <a:r>
              <a:rPr sz="1750" spc="-75" dirty="0">
                <a:latin typeface="微软雅黑"/>
                <a:cs typeface="微软雅黑"/>
              </a:rPr>
              <a:t>， </a:t>
            </a:r>
            <a:r>
              <a:rPr sz="1750" dirty="0">
                <a:latin typeface="Arial"/>
                <a:cs typeface="Arial"/>
              </a:rPr>
              <a:t>y</a:t>
            </a:r>
            <a:r>
              <a:rPr sz="1750" spc="-110" dirty="0">
                <a:latin typeface="Arial"/>
                <a:cs typeface="Arial"/>
              </a:rPr>
              <a:t> </a:t>
            </a:r>
            <a:r>
              <a:rPr sz="1750" spc="150" dirty="0">
                <a:latin typeface="微软雅黑"/>
                <a:cs typeface="微软雅黑"/>
              </a:rPr>
              <a:t>的值是 </a:t>
            </a:r>
            <a:r>
              <a:rPr sz="1750" dirty="0">
                <a:latin typeface="Arial"/>
                <a:cs typeface="Arial"/>
              </a:rPr>
              <a:t>1’b1</a:t>
            </a:r>
            <a:r>
              <a:rPr sz="1750" spc="-120" dirty="0">
                <a:latin typeface="Arial"/>
                <a:cs typeface="Arial"/>
              </a:rPr>
              <a:t> </a:t>
            </a:r>
            <a:r>
              <a:rPr sz="1750" spc="375" dirty="0">
                <a:latin typeface="微软雅黑"/>
                <a:cs typeface="微软雅黑"/>
              </a:rPr>
              <a:t>，如果</a:t>
            </a:r>
            <a:r>
              <a:rPr sz="1750" dirty="0">
                <a:latin typeface="Arial"/>
                <a:cs typeface="Arial"/>
              </a:rPr>
              <a:t>s</a:t>
            </a:r>
            <a:r>
              <a:rPr sz="1750" spc="-105" dirty="0">
                <a:latin typeface="Arial"/>
                <a:cs typeface="Arial"/>
              </a:rPr>
              <a:t> </a:t>
            </a:r>
            <a:r>
              <a:rPr sz="1750" spc="-50" dirty="0">
                <a:latin typeface="微软雅黑"/>
                <a:cs typeface="微软雅黑"/>
              </a:rPr>
              <a:t>是 </a:t>
            </a:r>
            <a:r>
              <a:rPr sz="1750" spc="-10" dirty="0">
                <a:latin typeface="Arial"/>
                <a:cs typeface="Arial"/>
              </a:rPr>
              <a:t>3’b001,3’b010</a:t>
            </a:r>
            <a:r>
              <a:rPr sz="1750" dirty="0">
                <a:latin typeface="微软雅黑"/>
                <a:cs typeface="微软雅黑"/>
              </a:rPr>
              <a:t>或</a:t>
            </a:r>
            <a:r>
              <a:rPr sz="1750" spc="-20" dirty="0">
                <a:latin typeface="Arial"/>
                <a:cs typeface="Arial"/>
              </a:rPr>
              <a:t>3’b011</a:t>
            </a:r>
            <a:r>
              <a:rPr sz="1750" spc="-10" dirty="0">
                <a:latin typeface="微软雅黑"/>
                <a:cs typeface="微软雅黑"/>
              </a:rPr>
              <a:t>，则没有匹配，</a:t>
            </a:r>
            <a:r>
              <a:rPr sz="1750" dirty="0">
                <a:latin typeface="Arial"/>
                <a:cs typeface="Arial"/>
              </a:rPr>
              <a:t>y</a:t>
            </a:r>
            <a:r>
              <a:rPr sz="1750" spc="-10" dirty="0">
                <a:latin typeface="微软雅黑"/>
                <a:cs typeface="微软雅黑"/>
              </a:rPr>
              <a:t>保持之前的值。</a:t>
            </a:r>
            <a:endParaRPr sz="1750">
              <a:latin typeface="微软雅黑"/>
              <a:cs typeface="微软雅黑"/>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latin typeface="Calibri"/>
                <a:cs typeface="Calibri"/>
              </a:rPr>
              <a:t>3.2.2.4</a:t>
            </a:r>
            <a:r>
              <a:rPr spc="-30" dirty="0">
                <a:latin typeface="Calibri"/>
                <a:cs typeface="Calibri"/>
              </a:rPr>
              <a:t> </a:t>
            </a:r>
            <a:r>
              <a:rPr dirty="0">
                <a:latin typeface="Calibri"/>
                <a:cs typeface="Calibri"/>
              </a:rPr>
              <a:t>full</a:t>
            </a:r>
            <a:r>
              <a:rPr spc="-50" dirty="0">
                <a:latin typeface="Calibri"/>
                <a:cs typeface="Calibri"/>
              </a:rPr>
              <a:t> </a:t>
            </a:r>
            <a:r>
              <a:rPr dirty="0">
                <a:latin typeface="Calibri"/>
                <a:cs typeface="Calibri"/>
              </a:rPr>
              <a:t>case</a:t>
            </a:r>
            <a:r>
              <a:rPr dirty="0"/>
              <a:t>和</a:t>
            </a:r>
            <a:r>
              <a:rPr dirty="0">
                <a:latin typeface="Calibri"/>
                <a:cs typeface="Calibri"/>
              </a:rPr>
              <a:t>parallel</a:t>
            </a:r>
            <a:r>
              <a:rPr spc="-45" dirty="0">
                <a:latin typeface="Calibri"/>
                <a:cs typeface="Calibri"/>
              </a:rPr>
              <a:t> </a:t>
            </a:r>
            <a:r>
              <a:rPr spc="-20" dirty="0">
                <a:latin typeface="Calibri"/>
                <a:cs typeface="Calibri"/>
              </a:rPr>
              <a:t>case</a:t>
            </a:r>
          </a:p>
        </p:txBody>
      </p:sp>
      <p:sp>
        <p:nvSpPr>
          <p:cNvPr id="3" name="object 3"/>
          <p:cNvSpPr txBox="1"/>
          <p:nvPr/>
        </p:nvSpPr>
        <p:spPr>
          <a:xfrm>
            <a:off x="603637" y="1674681"/>
            <a:ext cx="9544685" cy="908050"/>
          </a:xfrm>
          <a:prstGeom prst="rect">
            <a:avLst/>
          </a:prstGeom>
        </p:spPr>
        <p:txBody>
          <a:bodyPr vert="horz" wrap="square" lIns="0" tIns="11430" rIns="0" bIns="0" rtlCol="0">
            <a:spAutoFit/>
          </a:bodyPr>
          <a:lstStyle/>
          <a:p>
            <a:pPr marL="211454" marR="5080" indent="-199390">
              <a:lnSpc>
                <a:spcPct val="152400"/>
              </a:lnSpc>
              <a:spcBef>
                <a:spcPts val="90"/>
              </a:spcBef>
              <a:buClr>
                <a:srgbClr val="EC891C"/>
              </a:buClr>
              <a:buSzPct val="84210"/>
              <a:buFont typeface="Wingdings"/>
              <a:buChar char=""/>
              <a:tabLst>
                <a:tab pos="212725" algn="l"/>
              </a:tabLst>
            </a:pPr>
            <a:r>
              <a:rPr sz="1900" b="1" dirty="0">
                <a:solidFill>
                  <a:srgbClr val="3E3E3E"/>
                </a:solidFill>
                <a:latin typeface="微软雅黑"/>
                <a:cs typeface="微软雅黑"/>
              </a:rPr>
              <a:t>当分支项表达式包括</a:t>
            </a:r>
            <a:r>
              <a:rPr sz="1900" b="1" dirty="0">
                <a:solidFill>
                  <a:srgbClr val="3E3E3E"/>
                </a:solidFill>
                <a:latin typeface="Arial"/>
                <a:cs typeface="Arial"/>
              </a:rPr>
              <a:t>case</a:t>
            </a:r>
            <a:r>
              <a:rPr sz="1900" b="1" dirty="0">
                <a:solidFill>
                  <a:srgbClr val="3E3E3E"/>
                </a:solidFill>
                <a:latin typeface="微软雅黑"/>
                <a:cs typeface="微软雅黑"/>
              </a:rPr>
              <a:t>表达式的</a:t>
            </a:r>
            <a:r>
              <a:rPr sz="1900" b="1" dirty="0">
                <a:solidFill>
                  <a:srgbClr val="C00000"/>
                </a:solidFill>
                <a:latin typeface="微软雅黑"/>
                <a:cs typeface="微软雅黑"/>
              </a:rPr>
              <a:t>所有</a:t>
            </a:r>
            <a:r>
              <a:rPr sz="1900" b="1" dirty="0">
                <a:solidFill>
                  <a:srgbClr val="3E3E3E"/>
                </a:solidFill>
                <a:latin typeface="微软雅黑"/>
                <a:cs typeface="微软雅黑"/>
              </a:rPr>
              <a:t>二进制值，则语句称为</a:t>
            </a:r>
            <a:r>
              <a:rPr sz="1900" b="1" dirty="0">
                <a:solidFill>
                  <a:srgbClr val="C00000"/>
                </a:solidFill>
                <a:latin typeface="Arial"/>
                <a:cs typeface="Arial"/>
              </a:rPr>
              <a:t>full</a:t>
            </a:r>
            <a:r>
              <a:rPr sz="1900" b="1" spc="500" dirty="0">
                <a:solidFill>
                  <a:srgbClr val="C00000"/>
                </a:solidFill>
                <a:latin typeface="Arial"/>
                <a:cs typeface="Arial"/>
              </a:rPr>
              <a:t>  </a:t>
            </a:r>
            <a:r>
              <a:rPr sz="1900" b="1" dirty="0">
                <a:solidFill>
                  <a:srgbClr val="C00000"/>
                </a:solidFill>
                <a:latin typeface="Arial"/>
                <a:cs typeface="Arial"/>
              </a:rPr>
              <a:t>case</a:t>
            </a:r>
            <a:r>
              <a:rPr sz="1900" b="1" spc="-10" dirty="0">
                <a:solidFill>
                  <a:srgbClr val="3E3E3E"/>
                </a:solidFill>
                <a:latin typeface="微软雅黑"/>
                <a:cs typeface="微软雅黑"/>
              </a:rPr>
              <a:t>语句，未匹配	</a:t>
            </a:r>
            <a:r>
              <a:rPr sz="1900" b="1" dirty="0">
                <a:solidFill>
                  <a:srgbClr val="3E3E3E"/>
                </a:solidFill>
                <a:latin typeface="微软雅黑"/>
                <a:cs typeface="微软雅黑"/>
              </a:rPr>
              <a:t>的值我们可以用</a:t>
            </a:r>
            <a:r>
              <a:rPr sz="1900" b="1" dirty="0">
                <a:solidFill>
                  <a:srgbClr val="C00000"/>
                </a:solidFill>
                <a:latin typeface="Arial"/>
                <a:cs typeface="Arial"/>
              </a:rPr>
              <a:t>default</a:t>
            </a:r>
            <a:r>
              <a:rPr sz="1900" b="1" spc="-5" dirty="0">
                <a:solidFill>
                  <a:srgbClr val="3E3E3E"/>
                </a:solidFill>
                <a:latin typeface="微软雅黑"/>
                <a:cs typeface="微软雅黑"/>
              </a:rPr>
              <a:t>表示，例如，之前的语句也可以改为：</a:t>
            </a:r>
            <a:endParaRPr sz="1900">
              <a:latin typeface="微软雅黑"/>
              <a:cs typeface="微软雅黑"/>
            </a:endParaRPr>
          </a:p>
        </p:txBody>
      </p:sp>
      <p:grpSp>
        <p:nvGrpSpPr>
          <p:cNvPr id="4" name="object 4"/>
          <p:cNvGrpSpPr/>
          <p:nvPr/>
        </p:nvGrpSpPr>
        <p:grpSpPr>
          <a:xfrm>
            <a:off x="670445" y="2814827"/>
            <a:ext cx="3099435" cy="3328035"/>
            <a:chOff x="670445" y="2814827"/>
            <a:chExt cx="3099435" cy="3328035"/>
          </a:xfrm>
        </p:grpSpPr>
        <p:sp>
          <p:nvSpPr>
            <p:cNvPr id="5" name="object 5"/>
            <p:cNvSpPr/>
            <p:nvPr/>
          </p:nvSpPr>
          <p:spPr>
            <a:xfrm>
              <a:off x="674255" y="2818637"/>
              <a:ext cx="3091815" cy="3320415"/>
            </a:xfrm>
            <a:custGeom>
              <a:avLst/>
              <a:gdLst/>
              <a:ahLst/>
              <a:cxnLst/>
              <a:rect l="l" t="t" r="r" b="b"/>
              <a:pathLst>
                <a:path w="3091815" h="3320415">
                  <a:moveTo>
                    <a:pt x="3091434" y="3320034"/>
                  </a:moveTo>
                  <a:lnTo>
                    <a:pt x="3091433" y="0"/>
                  </a:lnTo>
                  <a:lnTo>
                    <a:pt x="0" y="0"/>
                  </a:lnTo>
                  <a:lnTo>
                    <a:pt x="0" y="3320034"/>
                  </a:lnTo>
                  <a:lnTo>
                    <a:pt x="3091434" y="3320034"/>
                  </a:lnTo>
                  <a:close/>
                </a:path>
              </a:pathLst>
            </a:custGeom>
            <a:solidFill>
              <a:srgbClr val="F9FABA"/>
            </a:solidFill>
          </p:spPr>
          <p:txBody>
            <a:bodyPr wrap="square" lIns="0" tIns="0" rIns="0" bIns="0" rtlCol="0"/>
            <a:lstStyle/>
            <a:p>
              <a:endParaRPr/>
            </a:p>
          </p:txBody>
        </p:sp>
        <p:sp>
          <p:nvSpPr>
            <p:cNvPr id="6" name="object 6"/>
            <p:cNvSpPr/>
            <p:nvPr/>
          </p:nvSpPr>
          <p:spPr>
            <a:xfrm>
              <a:off x="670445" y="2814827"/>
              <a:ext cx="3099435" cy="3328035"/>
            </a:xfrm>
            <a:custGeom>
              <a:avLst/>
              <a:gdLst/>
              <a:ahLst/>
              <a:cxnLst/>
              <a:rect l="l" t="t" r="r" b="b"/>
              <a:pathLst>
                <a:path w="3099435" h="3328035">
                  <a:moveTo>
                    <a:pt x="3099054" y="3326130"/>
                  </a:moveTo>
                  <a:lnTo>
                    <a:pt x="3099054" y="1523"/>
                  </a:lnTo>
                  <a:lnTo>
                    <a:pt x="3097530" y="0"/>
                  </a:lnTo>
                  <a:lnTo>
                    <a:pt x="1523" y="0"/>
                  </a:lnTo>
                  <a:lnTo>
                    <a:pt x="0" y="1524"/>
                  </a:lnTo>
                  <a:lnTo>
                    <a:pt x="0" y="3326130"/>
                  </a:lnTo>
                  <a:lnTo>
                    <a:pt x="1524" y="3327654"/>
                  </a:lnTo>
                  <a:lnTo>
                    <a:pt x="3809" y="3327654"/>
                  </a:lnTo>
                  <a:lnTo>
                    <a:pt x="3810" y="8382"/>
                  </a:lnTo>
                  <a:lnTo>
                    <a:pt x="8381" y="3810"/>
                  </a:lnTo>
                  <a:lnTo>
                    <a:pt x="8381" y="8382"/>
                  </a:lnTo>
                  <a:lnTo>
                    <a:pt x="3090672" y="8381"/>
                  </a:lnTo>
                  <a:lnTo>
                    <a:pt x="3090672" y="3809"/>
                  </a:lnTo>
                  <a:lnTo>
                    <a:pt x="3095244" y="8381"/>
                  </a:lnTo>
                  <a:lnTo>
                    <a:pt x="3095244" y="3327654"/>
                  </a:lnTo>
                  <a:lnTo>
                    <a:pt x="3097530" y="3327654"/>
                  </a:lnTo>
                  <a:lnTo>
                    <a:pt x="3099054" y="3326130"/>
                  </a:lnTo>
                  <a:close/>
                </a:path>
                <a:path w="3099435" h="3328035">
                  <a:moveTo>
                    <a:pt x="8381" y="8382"/>
                  </a:moveTo>
                  <a:lnTo>
                    <a:pt x="8381" y="3810"/>
                  </a:lnTo>
                  <a:lnTo>
                    <a:pt x="3810" y="8382"/>
                  </a:lnTo>
                  <a:lnTo>
                    <a:pt x="8381" y="8382"/>
                  </a:lnTo>
                  <a:close/>
                </a:path>
                <a:path w="3099435" h="3328035">
                  <a:moveTo>
                    <a:pt x="8382" y="3319272"/>
                  </a:moveTo>
                  <a:lnTo>
                    <a:pt x="8381" y="8382"/>
                  </a:lnTo>
                  <a:lnTo>
                    <a:pt x="3810" y="8382"/>
                  </a:lnTo>
                  <a:lnTo>
                    <a:pt x="3810" y="3319272"/>
                  </a:lnTo>
                  <a:lnTo>
                    <a:pt x="8382" y="3319272"/>
                  </a:lnTo>
                  <a:close/>
                </a:path>
                <a:path w="3099435" h="3328035">
                  <a:moveTo>
                    <a:pt x="3095244" y="3319272"/>
                  </a:moveTo>
                  <a:lnTo>
                    <a:pt x="3810" y="3319272"/>
                  </a:lnTo>
                  <a:lnTo>
                    <a:pt x="8382" y="3323844"/>
                  </a:lnTo>
                  <a:lnTo>
                    <a:pt x="8382" y="3327654"/>
                  </a:lnTo>
                  <a:lnTo>
                    <a:pt x="3090672" y="3327654"/>
                  </a:lnTo>
                  <a:lnTo>
                    <a:pt x="3090672" y="3323844"/>
                  </a:lnTo>
                  <a:lnTo>
                    <a:pt x="3095244" y="3319272"/>
                  </a:lnTo>
                  <a:close/>
                </a:path>
                <a:path w="3099435" h="3328035">
                  <a:moveTo>
                    <a:pt x="8382" y="3327654"/>
                  </a:moveTo>
                  <a:lnTo>
                    <a:pt x="8382" y="3323844"/>
                  </a:lnTo>
                  <a:lnTo>
                    <a:pt x="3810" y="3319272"/>
                  </a:lnTo>
                  <a:lnTo>
                    <a:pt x="3809" y="3327654"/>
                  </a:lnTo>
                  <a:lnTo>
                    <a:pt x="8382" y="3327654"/>
                  </a:lnTo>
                  <a:close/>
                </a:path>
                <a:path w="3099435" h="3328035">
                  <a:moveTo>
                    <a:pt x="3095244" y="8381"/>
                  </a:moveTo>
                  <a:lnTo>
                    <a:pt x="3090672" y="3809"/>
                  </a:lnTo>
                  <a:lnTo>
                    <a:pt x="3090672" y="8381"/>
                  </a:lnTo>
                  <a:lnTo>
                    <a:pt x="3095244" y="8381"/>
                  </a:lnTo>
                  <a:close/>
                </a:path>
                <a:path w="3099435" h="3328035">
                  <a:moveTo>
                    <a:pt x="3095244" y="3319272"/>
                  </a:moveTo>
                  <a:lnTo>
                    <a:pt x="3095244" y="8381"/>
                  </a:lnTo>
                  <a:lnTo>
                    <a:pt x="3090672" y="8381"/>
                  </a:lnTo>
                  <a:lnTo>
                    <a:pt x="3090672" y="3319272"/>
                  </a:lnTo>
                  <a:lnTo>
                    <a:pt x="3095244" y="3319272"/>
                  </a:lnTo>
                  <a:close/>
                </a:path>
                <a:path w="3099435" h="3328035">
                  <a:moveTo>
                    <a:pt x="3095244" y="3327654"/>
                  </a:moveTo>
                  <a:lnTo>
                    <a:pt x="3095244" y="3319272"/>
                  </a:lnTo>
                  <a:lnTo>
                    <a:pt x="3090672" y="3323844"/>
                  </a:lnTo>
                  <a:lnTo>
                    <a:pt x="3090672" y="3327654"/>
                  </a:lnTo>
                  <a:lnTo>
                    <a:pt x="3095244" y="3327654"/>
                  </a:lnTo>
                  <a:close/>
                </a:path>
              </a:pathLst>
            </a:custGeom>
            <a:solidFill>
              <a:srgbClr val="000000"/>
            </a:solidFill>
          </p:spPr>
          <p:txBody>
            <a:bodyPr wrap="square" lIns="0" tIns="0" rIns="0" bIns="0" rtlCol="0"/>
            <a:lstStyle/>
            <a:p>
              <a:endParaRPr/>
            </a:p>
          </p:txBody>
        </p:sp>
      </p:grpSp>
      <p:sp>
        <p:nvSpPr>
          <p:cNvPr id="7" name="object 7"/>
          <p:cNvSpPr txBox="1"/>
          <p:nvPr/>
        </p:nvSpPr>
        <p:spPr>
          <a:xfrm>
            <a:off x="741559" y="2839466"/>
            <a:ext cx="2328545" cy="3231515"/>
          </a:xfrm>
          <a:prstGeom prst="rect">
            <a:avLst/>
          </a:prstGeom>
        </p:spPr>
        <p:txBody>
          <a:bodyPr vert="horz" wrap="square" lIns="0" tIns="12700" rIns="0" bIns="0" rtlCol="0">
            <a:spAutoFit/>
          </a:bodyPr>
          <a:lstStyle/>
          <a:p>
            <a:pPr marL="12700">
              <a:lnSpc>
                <a:spcPct val="100000"/>
              </a:lnSpc>
              <a:spcBef>
                <a:spcPts val="100"/>
              </a:spcBef>
            </a:pPr>
            <a:r>
              <a:rPr sz="1750" b="1" dirty="0">
                <a:latin typeface="Arial"/>
                <a:cs typeface="Arial"/>
              </a:rPr>
              <a:t>casez</a:t>
            </a:r>
            <a:r>
              <a:rPr sz="1750" b="1" spc="-60" dirty="0">
                <a:latin typeface="Arial"/>
                <a:cs typeface="Arial"/>
              </a:rPr>
              <a:t> </a:t>
            </a:r>
            <a:r>
              <a:rPr sz="1750" spc="-25" dirty="0">
                <a:latin typeface="Arial"/>
                <a:cs typeface="Arial"/>
              </a:rPr>
              <a:t>(s)</a:t>
            </a:r>
            <a:endParaRPr sz="1750">
              <a:latin typeface="Arial"/>
              <a:cs typeface="Arial"/>
            </a:endParaRPr>
          </a:p>
          <a:p>
            <a:pPr marL="563245">
              <a:lnSpc>
                <a:spcPct val="100000"/>
              </a:lnSpc>
              <a:spcBef>
                <a:spcPts val="5"/>
              </a:spcBef>
            </a:pPr>
            <a:r>
              <a:rPr sz="1750" spc="-40" dirty="0">
                <a:latin typeface="Arial"/>
                <a:cs typeface="Arial"/>
              </a:rPr>
              <a:t>3'b111:</a:t>
            </a:r>
            <a:r>
              <a:rPr sz="1750" spc="-15" dirty="0">
                <a:latin typeface="Arial"/>
                <a:cs typeface="Arial"/>
              </a:rPr>
              <a:t> </a:t>
            </a:r>
            <a:r>
              <a:rPr sz="1750" dirty="0">
                <a:latin typeface="Arial"/>
                <a:cs typeface="Arial"/>
              </a:rPr>
              <a:t>y</a:t>
            </a:r>
            <a:r>
              <a:rPr sz="1750" spc="-35" dirty="0">
                <a:latin typeface="Arial"/>
                <a:cs typeface="Arial"/>
              </a:rPr>
              <a:t> </a:t>
            </a:r>
            <a:r>
              <a:rPr sz="1750" dirty="0">
                <a:latin typeface="Arial"/>
                <a:cs typeface="Arial"/>
              </a:rPr>
              <a:t>=</a:t>
            </a:r>
            <a:r>
              <a:rPr sz="1750" spc="-35" dirty="0">
                <a:latin typeface="Arial"/>
                <a:cs typeface="Arial"/>
              </a:rPr>
              <a:t> </a:t>
            </a:r>
            <a:r>
              <a:rPr sz="1750" spc="-10" dirty="0">
                <a:latin typeface="Arial"/>
                <a:cs typeface="Arial"/>
              </a:rPr>
              <a:t>1'b1;</a:t>
            </a:r>
            <a:endParaRPr sz="1750">
              <a:latin typeface="Arial"/>
              <a:cs typeface="Arial"/>
            </a:endParaRPr>
          </a:p>
          <a:p>
            <a:pPr marL="563245">
              <a:lnSpc>
                <a:spcPct val="100000"/>
              </a:lnSpc>
            </a:pPr>
            <a:r>
              <a:rPr sz="1750" dirty="0">
                <a:latin typeface="Arial"/>
                <a:cs typeface="Arial"/>
              </a:rPr>
              <a:t>3'b1??:</a:t>
            </a:r>
            <a:r>
              <a:rPr sz="1750" spc="-35" dirty="0">
                <a:latin typeface="Arial"/>
                <a:cs typeface="Arial"/>
              </a:rPr>
              <a:t> </a:t>
            </a:r>
            <a:r>
              <a:rPr sz="1750" dirty="0">
                <a:latin typeface="Arial"/>
                <a:cs typeface="Arial"/>
              </a:rPr>
              <a:t>y</a:t>
            </a:r>
            <a:r>
              <a:rPr sz="1750" spc="-50" dirty="0">
                <a:latin typeface="Arial"/>
                <a:cs typeface="Arial"/>
              </a:rPr>
              <a:t> </a:t>
            </a:r>
            <a:r>
              <a:rPr sz="1750" spc="-10" dirty="0">
                <a:latin typeface="Arial"/>
                <a:cs typeface="Arial"/>
              </a:rPr>
              <a:t>=1'b0;</a:t>
            </a:r>
            <a:endParaRPr sz="1750">
              <a:latin typeface="Arial"/>
              <a:cs typeface="Arial"/>
            </a:endParaRPr>
          </a:p>
          <a:p>
            <a:pPr marL="563245">
              <a:lnSpc>
                <a:spcPct val="100000"/>
              </a:lnSpc>
              <a:spcBef>
                <a:spcPts val="10"/>
              </a:spcBef>
            </a:pPr>
            <a:r>
              <a:rPr sz="1750" b="1" dirty="0">
                <a:latin typeface="Arial"/>
                <a:cs typeface="Arial"/>
              </a:rPr>
              <a:t>default</a:t>
            </a:r>
            <a:r>
              <a:rPr sz="1750" b="1" spc="-25" dirty="0">
                <a:latin typeface="Arial"/>
                <a:cs typeface="Arial"/>
              </a:rPr>
              <a:t> </a:t>
            </a:r>
            <a:r>
              <a:rPr sz="1750" dirty="0">
                <a:latin typeface="Arial"/>
                <a:cs typeface="Arial"/>
              </a:rPr>
              <a:t>:</a:t>
            </a:r>
            <a:r>
              <a:rPr sz="1750" spc="-40" dirty="0">
                <a:latin typeface="Arial"/>
                <a:cs typeface="Arial"/>
              </a:rPr>
              <a:t> </a:t>
            </a:r>
            <a:r>
              <a:rPr sz="1750" dirty="0">
                <a:latin typeface="Arial"/>
                <a:cs typeface="Arial"/>
              </a:rPr>
              <a:t>y</a:t>
            </a:r>
            <a:r>
              <a:rPr sz="1750" spc="-25" dirty="0">
                <a:latin typeface="Arial"/>
                <a:cs typeface="Arial"/>
              </a:rPr>
              <a:t> </a:t>
            </a:r>
            <a:r>
              <a:rPr sz="1750" dirty="0">
                <a:latin typeface="Arial"/>
                <a:cs typeface="Arial"/>
              </a:rPr>
              <a:t>=</a:t>
            </a:r>
            <a:r>
              <a:rPr sz="1750" spc="-40" dirty="0">
                <a:latin typeface="Arial"/>
                <a:cs typeface="Arial"/>
              </a:rPr>
              <a:t> </a:t>
            </a:r>
            <a:r>
              <a:rPr sz="1750" spc="-10" dirty="0">
                <a:latin typeface="Arial"/>
                <a:cs typeface="Arial"/>
              </a:rPr>
              <a:t>1'b1;</a:t>
            </a:r>
            <a:endParaRPr sz="1750">
              <a:latin typeface="Arial"/>
              <a:cs typeface="Arial"/>
            </a:endParaRPr>
          </a:p>
          <a:p>
            <a:pPr marL="12700">
              <a:lnSpc>
                <a:spcPts val="2095"/>
              </a:lnSpc>
              <a:spcBef>
                <a:spcPts val="5"/>
              </a:spcBef>
            </a:pPr>
            <a:r>
              <a:rPr sz="1750" b="1" spc="-10" dirty="0">
                <a:latin typeface="Arial"/>
                <a:cs typeface="Arial"/>
              </a:rPr>
              <a:t>endcase</a:t>
            </a:r>
            <a:endParaRPr sz="1750">
              <a:latin typeface="Arial"/>
              <a:cs typeface="Arial"/>
            </a:endParaRPr>
          </a:p>
          <a:p>
            <a:pPr marL="257810">
              <a:lnSpc>
                <a:spcPts val="2095"/>
              </a:lnSpc>
            </a:pPr>
            <a:r>
              <a:rPr sz="1750" spc="-50" dirty="0">
                <a:latin typeface="微软雅黑"/>
                <a:cs typeface="微软雅黑"/>
              </a:rPr>
              <a:t>或</a:t>
            </a:r>
            <a:endParaRPr sz="1750">
              <a:latin typeface="微软雅黑"/>
              <a:cs typeface="微软雅黑"/>
            </a:endParaRPr>
          </a:p>
          <a:p>
            <a:pPr marL="12700">
              <a:lnSpc>
                <a:spcPct val="100000"/>
              </a:lnSpc>
              <a:spcBef>
                <a:spcPts val="15"/>
              </a:spcBef>
            </a:pPr>
            <a:r>
              <a:rPr sz="1750" b="1" dirty="0">
                <a:latin typeface="Arial"/>
                <a:cs typeface="Arial"/>
              </a:rPr>
              <a:t>casez</a:t>
            </a:r>
            <a:r>
              <a:rPr sz="1750" b="1" spc="-60" dirty="0">
                <a:latin typeface="Arial"/>
                <a:cs typeface="Arial"/>
              </a:rPr>
              <a:t> </a:t>
            </a:r>
            <a:r>
              <a:rPr sz="1750" spc="-25" dirty="0">
                <a:latin typeface="Arial"/>
                <a:cs typeface="Arial"/>
              </a:rPr>
              <a:t>(s)</a:t>
            </a:r>
            <a:endParaRPr sz="1750">
              <a:latin typeface="Arial"/>
              <a:cs typeface="Arial"/>
            </a:endParaRPr>
          </a:p>
          <a:p>
            <a:pPr marL="563245">
              <a:lnSpc>
                <a:spcPct val="100000"/>
              </a:lnSpc>
              <a:spcBef>
                <a:spcPts val="10"/>
              </a:spcBef>
            </a:pPr>
            <a:r>
              <a:rPr sz="1750" spc="-40" dirty="0">
                <a:latin typeface="Arial"/>
                <a:cs typeface="Arial"/>
              </a:rPr>
              <a:t>3'b111:</a:t>
            </a:r>
            <a:r>
              <a:rPr sz="1750" spc="-15" dirty="0">
                <a:latin typeface="Arial"/>
                <a:cs typeface="Arial"/>
              </a:rPr>
              <a:t> </a:t>
            </a:r>
            <a:r>
              <a:rPr sz="1750" dirty="0">
                <a:latin typeface="Arial"/>
                <a:cs typeface="Arial"/>
              </a:rPr>
              <a:t>y</a:t>
            </a:r>
            <a:r>
              <a:rPr sz="1750" spc="-35" dirty="0">
                <a:latin typeface="Arial"/>
                <a:cs typeface="Arial"/>
              </a:rPr>
              <a:t> </a:t>
            </a:r>
            <a:r>
              <a:rPr sz="1750" dirty="0">
                <a:latin typeface="Arial"/>
                <a:cs typeface="Arial"/>
              </a:rPr>
              <a:t>=</a:t>
            </a:r>
            <a:r>
              <a:rPr sz="1750" spc="-35" dirty="0">
                <a:latin typeface="Arial"/>
                <a:cs typeface="Arial"/>
              </a:rPr>
              <a:t> </a:t>
            </a:r>
            <a:r>
              <a:rPr sz="1750" spc="-10" dirty="0">
                <a:latin typeface="Arial"/>
                <a:cs typeface="Arial"/>
              </a:rPr>
              <a:t>1'b1;</a:t>
            </a:r>
            <a:endParaRPr sz="1750">
              <a:latin typeface="Arial"/>
              <a:cs typeface="Arial"/>
            </a:endParaRPr>
          </a:p>
          <a:p>
            <a:pPr marL="563245">
              <a:lnSpc>
                <a:spcPct val="100000"/>
              </a:lnSpc>
            </a:pPr>
            <a:r>
              <a:rPr sz="1750" dirty="0">
                <a:latin typeface="Arial"/>
                <a:cs typeface="Arial"/>
              </a:rPr>
              <a:t>3'b1??:</a:t>
            </a:r>
            <a:r>
              <a:rPr sz="1750" spc="-25" dirty="0">
                <a:latin typeface="Arial"/>
                <a:cs typeface="Arial"/>
              </a:rPr>
              <a:t> </a:t>
            </a:r>
            <a:r>
              <a:rPr sz="1750" dirty="0">
                <a:latin typeface="Arial"/>
                <a:cs typeface="Arial"/>
              </a:rPr>
              <a:t>y</a:t>
            </a:r>
            <a:r>
              <a:rPr sz="1750" spc="-40" dirty="0">
                <a:latin typeface="Arial"/>
                <a:cs typeface="Arial"/>
              </a:rPr>
              <a:t> </a:t>
            </a:r>
            <a:r>
              <a:rPr sz="1750" dirty="0">
                <a:latin typeface="Arial"/>
                <a:cs typeface="Arial"/>
              </a:rPr>
              <a:t>=</a:t>
            </a:r>
            <a:r>
              <a:rPr sz="1750" spc="-45" dirty="0">
                <a:latin typeface="Arial"/>
                <a:cs typeface="Arial"/>
              </a:rPr>
              <a:t> </a:t>
            </a:r>
            <a:r>
              <a:rPr sz="1750" spc="-10" dirty="0">
                <a:latin typeface="Arial"/>
                <a:cs typeface="Arial"/>
              </a:rPr>
              <a:t>1'b0;</a:t>
            </a:r>
            <a:endParaRPr sz="1750">
              <a:latin typeface="Arial"/>
              <a:cs typeface="Arial"/>
            </a:endParaRPr>
          </a:p>
          <a:p>
            <a:pPr marL="563245">
              <a:lnSpc>
                <a:spcPct val="100000"/>
              </a:lnSpc>
              <a:spcBef>
                <a:spcPts val="5"/>
              </a:spcBef>
            </a:pPr>
            <a:r>
              <a:rPr sz="1750" dirty="0">
                <a:latin typeface="Arial"/>
                <a:cs typeface="Arial"/>
              </a:rPr>
              <a:t>3'b000:</a:t>
            </a:r>
            <a:r>
              <a:rPr sz="1750" spc="-25" dirty="0">
                <a:latin typeface="Arial"/>
                <a:cs typeface="Arial"/>
              </a:rPr>
              <a:t> </a:t>
            </a:r>
            <a:r>
              <a:rPr sz="1750" dirty="0">
                <a:latin typeface="Arial"/>
                <a:cs typeface="Arial"/>
              </a:rPr>
              <a:t>y</a:t>
            </a:r>
            <a:r>
              <a:rPr sz="1750" spc="-40" dirty="0">
                <a:latin typeface="Arial"/>
                <a:cs typeface="Arial"/>
              </a:rPr>
              <a:t> </a:t>
            </a:r>
            <a:r>
              <a:rPr sz="1750" dirty="0">
                <a:latin typeface="Arial"/>
                <a:cs typeface="Arial"/>
              </a:rPr>
              <a:t>=</a:t>
            </a:r>
            <a:r>
              <a:rPr sz="1750" spc="-45" dirty="0">
                <a:latin typeface="Arial"/>
                <a:cs typeface="Arial"/>
              </a:rPr>
              <a:t> </a:t>
            </a:r>
            <a:r>
              <a:rPr sz="1750" spc="-10" dirty="0">
                <a:latin typeface="Arial"/>
                <a:cs typeface="Arial"/>
              </a:rPr>
              <a:t>1'b1;</a:t>
            </a:r>
            <a:endParaRPr sz="1750">
              <a:latin typeface="Arial"/>
              <a:cs typeface="Arial"/>
            </a:endParaRPr>
          </a:p>
          <a:p>
            <a:pPr marL="563245">
              <a:lnSpc>
                <a:spcPct val="100000"/>
              </a:lnSpc>
              <a:spcBef>
                <a:spcPts val="5"/>
              </a:spcBef>
            </a:pPr>
            <a:r>
              <a:rPr sz="1750" dirty="0">
                <a:latin typeface="Arial"/>
                <a:cs typeface="Arial"/>
              </a:rPr>
              <a:t>default</a:t>
            </a:r>
            <a:r>
              <a:rPr sz="1750" spc="-20"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y</a:t>
            </a:r>
            <a:r>
              <a:rPr sz="1750" spc="-30" dirty="0">
                <a:latin typeface="Arial"/>
                <a:cs typeface="Arial"/>
              </a:rPr>
              <a:t> </a:t>
            </a:r>
            <a:r>
              <a:rPr sz="1750" dirty="0">
                <a:latin typeface="Arial"/>
                <a:cs typeface="Arial"/>
              </a:rPr>
              <a:t>=</a:t>
            </a:r>
            <a:r>
              <a:rPr sz="1750" spc="-30" dirty="0">
                <a:latin typeface="Arial"/>
                <a:cs typeface="Arial"/>
              </a:rPr>
              <a:t> </a:t>
            </a:r>
            <a:r>
              <a:rPr sz="1750" spc="-10" dirty="0">
                <a:latin typeface="Arial"/>
                <a:cs typeface="Arial"/>
              </a:rPr>
              <a:t>1'bx;</a:t>
            </a:r>
            <a:endParaRPr sz="1750">
              <a:latin typeface="Arial"/>
              <a:cs typeface="Arial"/>
            </a:endParaRPr>
          </a:p>
          <a:p>
            <a:pPr marL="73025">
              <a:lnSpc>
                <a:spcPct val="100000"/>
              </a:lnSpc>
            </a:pPr>
            <a:r>
              <a:rPr sz="1750" b="1" spc="-10" dirty="0">
                <a:latin typeface="Arial"/>
                <a:cs typeface="Arial"/>
              </a:rPr>
              <a:t>endcase</a:t>
            </a:r>
            <a:endParaRPr sz="1750">
              <a:latin typeface="Arial"/>
              <a:cs typeface="Arial"/>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8" name="object 8"/>
          <p:cNvSpPr txBox="1"/>
          <p:nvPr/>
        </p:nvSpPr>
        <p:spPr>
          <a:xfrm>
            <a:off x="4090533" y="2790269"/>
            <a:ext cx="6054725" cy="1628775"/>
          </a:xfrm>
          <a:prstGeom prst="rect">
            <a:avLst/>
          </a:prstGeom>
        </p:spPr>
        <p:txBody>
          <a:bodyPr vert="horz" wrap="square" lIns="0" tIns="12700" rIns="0" bIns="0" rtlCol="0">
            <a:spAutoFit/>
          </a:bodyPr>
          <a:lstStyle/>
          <a:p>
            <a:pPr marL="212725" marR="5080" indent="-200660" algn="just">
              <a:lnSpc>
                <a:spcPct val="150300"/>
              </a:lnSpc>
              <a:spcBef>
                <a:spcPts val="100"/>
              </a:spcBef>
              <a:buSzPct val="94285"/>
              <a:buFont typeface="Wingdings"/>
              <a:buChar char=""/>
              <a:tabLst>
                <a:tab pos="212725" algn="l"/>
              </a:tabLst>
            </a:pPr>
            <a:r>
              <a:rPr sz="1750" b="1" spc="-10" dirty="0">
                <a:latin typeface="宋体"/>
                <a:cs typeface="宋体"/>
              </a:rPr>
              <a:t>如果分支项表达式中的值互斥（</a:t>
            </a:r>
            <a:r>
              <a:rPr sz="1750" b="1" spc="-15" dirty="0">
                <a:solidFill>
                  <a:srgbClr val="C00000"/>
                </a:solidFill>
                <a:latin typeface="宋体"/>
                <a:cs typeface="宋体"/>
              </a:rPr>
              <a:t>即一个值只出现在一个项目</a:t>
            </a:r>
            <a:r>
              <a:rPr sz="1750" b="1" spc="-10" dirty="0">
                <a:solidFill>
                  <a:srgbClr val="C00000"/>
                </a:solidFill>
                <a:latin typeface="宋体"/>
                <a:cs typeface="宋体"/>
              </a:rPr>
              <a:t>表达式中</a:t>
            </a:r>
            <a:r>
              <a:rPr sz="1750" b="1" spc="-10" dirty="0">
                <a:latin typeface="宋体"/>
                <a:cs typeface="宋体"/>
              </a:rPr>
              <a:t>），语句则称为</a:t>
            </a:r>
            <a:r>
              <a:rPr sz="1750" b="1" dirty="0">
                <a:solidFill>
                  <a:srgbClr val="C00000"/>
                </a:solidFill>
                <a:latin typeface="Arial"/>
                <a:cs typeface="Arial"/>
              </a:rPr>
              <a:t>parallel</a:t>
            </a:r>
            <a:r>
              <a:rPr sz="1750" b="1" spc="65" dirty="0">
                <a:solidFill>
                  <a:srgbClr val="C00000"/>
                </a:solidFill>
                <a:latin typeface="Arial"/>
                <a:cs typeface="Arial"/>
              </a:rPr>
              <a:t> </a:t>
            </a:r>
            <a:r>
              <a:rPr sz="1750" b="1" spc="-20" dirty="0">
                <a:solidFill>
                  <a:srgbClr val="C00000"/>
                </a:solidFill>
                <a:latin typeface="Arial"/>
                <a:cs typeface="Arial"/>
              </a:rPr>
              <a:t>case</a:t>
            </a:r>
            <a:r>
              <a:rPr sz="1750" b="1" spc="-15" dirty="0">
                <a:latin typeface="宋体"/>
                <a:cs typeface="宋体"/>
              </a:rPr>
              <a:t>语句，例如，之前的</a:t>
            </a:r>
            <a:r>
              <a:rPr sz="1750" b="1" spc="-50" dirty="0">
                <a:latin typeface="宋体"/>
                <a:cs typeface="宋体"/>
              </a:rPr>
              <a:t> </a:t>
            </a:r>
            <a:r>
              <a:rPr sz="1750" b="1" spc="-20" dirty="0">
                <a:latin typeface="Arial"/>
                <a:cs typeface="Arial"/>
              </a:rPr>
              <a:t>casez</a:t>
            </a:r>
            <a:r>
              <a:rPr sz="1750" b="1" spc="-10" dirty="0">
                <a:latin typeface="宋体"/>
                <a:cs typeface="宋体"/>
              </a:rPr>
              <a:t>语句不是</a:t>
            </a:r>
            <a:r>
              <a:rPr sz="1750" b="1" dirty="0">
                <a:latin typeface="Arial"/>
                <a:cs typeface="Arial"/>
              </a:rPr>
              <a:t>parallel</a:t>
            </a:r>
            <a:r>
              <a:rPr sz="1750" b="1" spc="500" dirty="0">
                <a:latin typeface="Arial"/>
                <a:cs typeface="Arial"/>
              </a:rPr>
              <a:t>  </a:t>
            </a:r>
            <a:r>
              <a:rPr sz="1750" b="1" spc="-20" dirty="0">
                <a:latin typeface="Arial"/>
                <a:cs typeface="Arial"/>
              </a:rPr>
              <a:t>case</a:t>
            </a:r>
            <a:r>
              <a:rPr sz="1750" b="1" spc="-10" dirty="0">
                <a:latin typeface="宋体"/>
                <a:cs typeface="宋体"/>
              </a:rPr>
              <a:t>语句，因为</a:t>
            </a:r>
            <a:r>
              <a:rPr sz="1750" b="1" spc="-50" dirty="0">
                <a:latin typeface="Arial"/>
                <a:cs typeface="Arial"/>
              </a:rPr>
              <a:t>3’b111</a:t>
            </a:r>
            <a:r>
              <a:rPr sz="1750" b="1" spc="-20" dirty="0">
                <a:latin typeface="宋体"/>
                <a:cs typeface="宋体"/>
              </a:rPr>
              <a:t>出现了两次，例</a:t>
            </a:r>
            <a:r>
              <a:rPr sz="1750" b="1" spc="-20" dirty="0">
                <a:latin typeface="Arial"/>
                <a:cs typeface="Arial"/>
              </a:rPr>
              <a:t>3.6</a:t>
            </a:r>
            <a:r>
              <a:rPr sz="1750" b="1" spc="-20" dirty="0">
                <a:latin typeface="宋体"/>
                <a:cs typeface="宋体"/>
              </a:rPr>
              <a:t>和例</a:t>
            </a:r>
            <a:r>
              <a:rPr sz="1750" b="1" spc="-20" dirty="0">
                <a:latin typeface="Arial"/>
                <a:cs typeface="Arial"/>
              </a:rPr>
              <a:t>3.7</a:t>
            </a:r>
            <a:r>
              <a:rPr sz="1750" b="1" spc="-10" dirty="0">
                <a:latin typeface="宋体"/>
                <a:cs typeface="宋体"/>
              </a:rPr>
              <a:t>中的</a:t>
            </a:r>
            <a:r>
              <a:rPr sz="1750" b="1" spc="-20" dirty="0">
                <a:latin typeface="Arial"/>
                <a:cs typeface="Arial"/>
              </a:rPr>
              <a:t>case</a:t>
            </a:r>
            <a:r>
              <a:rPr sz="1750" b="1" spc="-10" dirty="0">
                <a:latin typeface="宋体"/>
                <a:cs typeface="宋体"/>
              </a:rPr>
              <a:t>语句是</a:t>
            </a:r>
            <a:r>
              <a:rPr sz="1750" b="1" dirty="0">
                <a:latin typeface="Arial"/>
                <a:cs typeface="Arial"/>
              </a:rPr>
              <a:t>parallel</a:t>
            </a:r>
            <a:r>
              <a:rPr sz="1750" b="1" spc="85" dirty="0">
                <a:latin typeface="Arial"/>
                <a:cs typeface="Arial"/>
              </a:rPr>
              <a:t> </a:t>
            </a:r>
            <a:r>
              <a:rPr sz="1750" b="1" spc="-20" dirty="0">
                <a:latin typeface="Arial"/>
                <a:cs typeface="Arial"/>
              </a:rPr>
              <a:t>case</a:t>
            </a:r>
            <a:r>
              <a:rPr sz="1750" b="1" spc="-30" dirty="0">
                <a:latin typeface="宋体"/>
                <a:cs typeface="宋体"/>
              </a:rPr>
              <a:t>语句。</a:t>
            </a:r>
            <a:endParaRPr sz="1750">
              <a:latin typeface="宋体"/>
              <a:cs typeface="宋体"/>
            </a:endParaRPr>
          </a:p>
        </p:txBody>
      </p:sp>
      <p:sp>
        <p:nvSpPr>
          <p:cNvPr id="9" name="object 9"/>
          <p:cNvSpPr txBox="1"/>
          <p:nvPr/>
        </p:nvSpPr>
        <p:spPr>
          <a:xfrm>
            <a:off x="4090489" y="4491068"/>
            <a:ext cx="5086985" cy="1228090"/>
          </a:xfrm>
          <a:prstGeom prst="rect">
            <a:avLst/>
          </a:prstGeom>
        </p:spPr>
        <p:txBody>
          <a:bodyPr vert="horz" wrap="square" lIns="0" tIns="12700" rIns="0" bIns="0" rtlCol="0">
            <a:spAutoFit/>
          </a:bodyPr>
          <a:lstStyle/>
          <a:p>
            <a:pPr marL="212725" marR="5080" indent="-200660">
              <a:lnSpc>
                <a:spcPct val="150300"/>
              </a:lnSpc>
              <a:spcBef>
                <a:spcPts val="100"/>
              </a:spcBef>
              <a:buSzPct val="94285"/>
              <a:buFont typeface="Wingdings"/>
              <a:buChar char=""/>
              <a:tabLst>
                <a:tab pos="212725" algn="l"/>
                <a:tab pos="3053715" algn="l"/>
              </a:tabLst>
            </a:pPr>
            <a:r>
              <a:rPr sz="1750" b="1" spc="-10" dirty="0">
                <a:latin typeface="宋体"/>
                <a:cs typeface="宋体"/>
              </a:rPr>
              <a:t>很多综合软件工具都有</a:t>
            </a:r>
            <a:r>
              <a:rPr sz="1750" b="1" spc="-20" dirty="0">
                <a:latin typeface="Arial"/>
                <a:cs typeface="Arial"/>
              </a:rPr>
              <a:t>full</a:t>
            </a:r>
            <a:r>
              <a:rPr sz="1750" b="1" dirty="0">
                <a:latin typeface="Arial"/>
                <a:cs typeface="Arial"/>
              </a:rPr>
              <a:t>	</a:t>
            </a:r>
            <a:r>
              <a:rPr sz="1750" b="1" spc="-20" dirty="0">
                <a:latin typeface="Arial"/>
                <a:cs typeface="Arial"/>
              </a:rPr>
              <a:t>case</a:t>
            </a:r>
            <a:r>
              <a:rPr sz="1750" b="1" spc="-10" dirty="0">
                <a:latin typeface="宋体"/>
                <a:cs typeface="宋体"/>
              </a:rPr>
              <a:t>指令和</a:t>
            </a:r>
            <a:r>
              <a:rPr sz="1750" b="1" spc="-10" dirty="0">
                <a:latin typeface="Arial"/>
                <a:cs typeface="Arial"/>
              </a:rPr>
              <a:t>parallel</a:t>
            </a:r>
            <a:r>
              <a:rPr sz="1750" b="1" spc="-10" dirty="0">
                <a:latin typeface="宋体"/>
                <a:cs typeface="宋体"/>
              </a:rPr>
              <a:t>令，使用这些指令时，所有</a:t>
            </a:r>
            <a:r>
              <a:rPr sz="1750" b="1" spc="-20" dirty="0">
                <a:latin typeface="Arial"/>
                <a:cs typeface="Arial"/>
              </a:rPr>
              <a:t>case</a:t>
            </a:r>
            <a:r>
              <a:rPr sz="1750" b="1" spc="-10" dirty="0">
                <a:latin typeface="宋体"/>
                <a:cs typeface="宋体"/>
              </a:rPr>
              <a:t>语句都被当成</a:t>
            </a:r>
            <a:r>
              <a:rPr sz="1750" b="1" spc="-20" dirty="0">
                <a:latin typeface="Arial"/>
                <a:cs typeface="Arial"/>
              </a:rPr>
              <a:t>full</a:t>
            </a:r>
            <a:r>
              <a:rPr sz="1750" b="1" spc="-20" dirty="0">
                <a:latin typeface="宋体"/>
                <a:cs typeface="宋体"/>
              </a:rPr>
              <a:t>句和</a:t>
            </a:r>
            <a:r>
              <a:rPr sz="1750" b="1" dirty="0">
                <a:latin typeface="Arial"/>
                <a:cs typeface="Arial"/>
              </a:rPr>
              <a:t>parallel</a:t>
            </a:r>
            <a:r>
              <a:rPr sz="1750" b="1" spc="-35" dirty="0">
                <a:latin typeface="Arial"/>
                <a:cs typeface="Arial"/>
              </a:rPr>
              <a:t> </a:t>
            </a:r>
            <a:r>
              <a:rPr sz="1750" b="1" spc="-20" dirty="0">
                <a:latin typeface="Arial"/>
                <a:cs typeface="Arial"/>
              </a:rPr>
              <a:t>case</a:t>
            </a:r>
            <a:r>
              <a:rPr sz="1750" b="1" spc="-10" dirty="0">
                <a:latin typeface="宋体"/>
                <a:cs typeface="宋体"/>
              </a:rPr>
              <a:t>语句并进行相应综合</a:t>
            </a:r>
            <a:r>
              <a:rPr sz="1750" b="1" spc="-50" dirty="0">
                <a:latin typeface="宋体"/>
                <a:cs typeface="宋体"/>
              </a:rPr>
              <a:t>。</a:t>
            </a:r>
            <a:endParaRPr sz="1750">
              <a:latin typeface="宋体"/>
              <a:cs typeface="宋体"/>
            </a:endParaRPr>
          </a:p>
        </p:txBody>
      </p:sp>
      <p:sp>
        <p:nvSpPr>
          <p:cNvPr id="10" name="object 10"/>
          <p:cNvSpPr txBox="1"/>
          <p:nvPr/>
        </p:nvSpPr>
        <p:spPr>
          <a:xfrm>
            <a:off x="9344093" y="4491068"/>
            <a:ext cx="744220" cy="827405"/>
          </a:xfrm>
          <a:prstGeom prst="rect">
            <a:avLst/>
          </a:prstGeom>
        </p:spPr>
        <p:txBody>
          <a:bodyPr vert="horz" wrap="square" lIns="0" tIns="12700" rIns="0" bIns="0" rtlCol="0">
            <a:spAutoFit/>
          </a:bodyPr>
          <a:lstStyle/>
          <a:p>
            <a:pPr marL="12700" marR="5080" indent="635">
              <a:lnSpc>
                <a:spcPct val="150300"/>
              </a:lnSpc>
              <a:spcBef>
                <a:spcPts val="100"/>
              </a:spcBef>
            </a:pPr>
            <a:r>
              <a:rPr sz="1750" b="1" spc="-20" dirty="0">
                <a:latin typeface="Arial"/>
                <a:cs typeface="Arial"/>
              </a:rPr>
              <a:t>case</a:t>
            </a:r>
            <a:r>
              <a:rPr sz="1750" b="1" spc="-50" dirty="0">
                <a:latin typeface="宋体"/>
                <a:cs typeface="宋体"/>
              </a:rPr>
              <a:t>指 </a:t>
            </a:r>
            <a:r>
              <a:rPr sz="1750" b="1" spc="-20" dirty="0">
                <a:latin typeface="Arial"/>
                <a:cs typeface="Arial"/>
              </a:rPr>
              <a:t>case</a:t>
            </a:r>
            <a:r>
              <a:rPr sz="1750" b="1" spc="-50" dirty="0">
                <a:latin typeface="宋体"/>
                <a:cs typeface="宋体"/>
              </a:rPr>
              <a:t>语</a:t>
            </a:r>
            <a:endParaRPr sz="175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0447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a:t>
            </a:r>
            <a:r>
              <a:rPr spc="-20" dirty="0">
                <a:latin typeface="Arial"/>
                <a:cs typeface="Arial"/>
              </a:rPr>
              <a:t> </a:t>
            </a:r>
            <a:r>
              <a:rPr spc="-15" dirty="0"/>
              <a:t>循环语句</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22103" y="1872488"/>
            <a:ext cx="9337675" cy="2646680"/>
          </a:xfrm>
          <a:prstGeom prst="rect">
            <a:avLst/>
          </a:prstGeom>
        </p:spPr>
        <p:txBody>
          <a:bodyPr vert="horz" wrap="square" lIns="0" tIns="13335" rIns="0" bIns="0" rtlCol="0">
            <a:spAutoFit/>
          </a:bodyPr>
          <a:lstStyle/>
          <a:p>
            <a:pPr marL="212725" marR="5080" indent="-202565">
              <a:lnSpc>
                <a:spcPct val="100000"/>
              </a:lnSpc>
              <a:spcBef>
                <a:spcPts val="105"/>
              </a:spcBef>
              <a:buSzPct val="83333"/>
              <a:buFont typeface="Wingdings"/>
              <a:buChar char=""/>
              <a:tabLst>
                <a:tab pos="212725" algn="l"/>
                <a:tab pos="221615" algn="l"/>
                <a:tab pos="1538605" algn="l"/>
              </a:tabLst>
            </a:pPr>
            <a:r>
              <a:rPr sz="2100" dirty="0">
                <a:solidFill>
                  <a:srgbClr val="EC891C"/>
                </a:solidFill>
                <a:latin typeface="微软雅黑"/>
                <a:cs typeface="微软雅黑"/>
              </a:rPr>
              <a:t>	</a:t>
            </a:r>
            <a:r>
              <a:rPr sz="2100" b="1" dirty="0">
                <a:solidFill>
                  <a:srgbClr val="3E3E3E"/>
                </a:solidFill>
                <a:latin typeface="微软雅黑"/>
                <a:cs typeface="微软雅黑"/>
              </a:rPr>
              <a:t>在</a:t>
            </a:r>
            <a:r>
              <a:rPr sz="2100" b="1" spc="-10" dirty="0">
                <a:solidFill>
                  <a:srgbClr val="3E3E3E"/>
                </a:solidFill>
                <a:latin typeface="Arial"/>
                <a:cs typeface="Arial"/>
              </a:rPr>
              <a:t>Verilog</a:t>
            </a:r>
            <a:r>
              <a:rPr sz="2100" b="1" dirty="0">
                <a:solidFill>
                  <a:srgbClr val="3E3E3E"/>
                </a:solidFill>
                <a:latin typeface="Arial"/>
                <a:cs typeface="Arial"/>
              </a:rPr>
              <a:t>	HDL</a:t>
            </a:r>
            <a:r>
              <a:rPr sz="2100" b="1" dirty="0">
                <a:solidFill>
                  <a:srgbClr val="3E3E3E"/>
                </a:solidFill>
                <a:latin typeface="微软雅黑"/>
                <a:cs typeface="微软雅黑"/>
              </a:rPr>
              <a:t>中共有</a:t>
            </a:r>
            <a:r>
              <a:rPr sz="2100" b="1" dirty="0">
                <a:solidFill>
                  <a:srgbClr val="3E3E3E"/>
                </a:solidFill>
                <a:latin typeface="Arial"/>
                <a:cs typeface="Arial"/>
              </a:rPr>
              <a:t>4</a:t>
            </a:r>
            <a:r>
              <a:rPr sz="2100" b="1" dirty="0">
                <a:solidFill>
                  <a:srgbClr val="3E3E3E"/>
                </a:solidFill>
                <a:latin typeface="微软雅黑"/>
                <a:cs typeface="微软雅黑"/>
              </a:rPr>
              <a:t>种类型的循环语句，用来控制语句的执行次数。它</a:t>
            </a:r>
            <a:r>
              <a:rPr sz="2100" b="1" spc="-50" dirty="0">
                <a:solidFill>
                  <a:srgbClr val="3E3E3E"/>
                </a:solidFill>
                <a:latin typeface="微软雅黑"/>
                <a:cs typeface="微软雅黑"/>
              </a:rPr>
              <a:t>们</a:t>
            </a:r>
            <a:r>
              <a:rPr sz="2100" b="1" dirty="0">
                <a:solidFill>
                  <a:srgbClr val="3E3E3E"/>
                </a:solidFill>
                <a:latin typeface="微软雅黑"/>
                <a:cs typeface="微软雅黑"/>
              </a:rPr>
              <a:t>分别是</a:t>
            </a:r>
            <a:r>
              <a:rPr sz="2100" b="1" spc="-50" dirty="0">
                <a:solidFill>
                  <a:srgbClr val="3E3E3E"/>
                </a:solidFill>
                <a:latin typeface="微软雅黑"/>
                <a:cs typeface="微软雅黑"/>
              </a:rPr>
              <a:t>：</a:t>
            </a:r>
            <a:endParaRPr sz="2100">
              <a:latin typeface="微软雅黑"/>
              <a:cs typeface="微软雅黑"/>
            </a:endParaRPr>
          </a:p>
          <a:p>
            <a:pPr marL="599440" lvl="1" indent="-285750">
              <a:lnSpc>
                <a:spcPct val="100000"/>
              </a:lnSpc>
              <a:spcBef>
                <a:spcPts val="1210"/>
              </a:spcBef>
              <a:buClr>
                <a:srgbClr val="000000"/>
              </a:buClr>
              <a:buFont typeface="Wingdings"/>
              <a:buChar char=""/>
              <a:tabLst>
                <a:tab pos="599440" algn="l"/>
              </a:tabLst>
            </a:pPr>
            <a:r>
              <a:rPr sz="1900" b="1" dirty="0">
                <a:solidFill>
                  <a:srgbClr val="C00000"/>
                </a:solidFill>
                <a:latin typeface="Arial"/>
                <a:cs typeface="Arial"/>
              </a:rPr>
              <a:t>forever</a:t>
            </a:r>
            <a:r>
              <a:rPr sz="1900" dirty="0">
                <a:latin typeface="微软雅黑"/>
                <a:cs typeface="微软雅黑"/>
              </a:rPr>
              <a:t>：连续执行语句；多用在</a:t>
            </a:r>
            <a:r>
              <a:rPr sz="1900" spc="-10" dirty="0">
                <a:latin typeface="Arial"/>
                <a:cs typeface="Arial"/>
              </a:rPr>
              <a:t>“</a:t>
            </a:r>
            <a:r>
              <a:rPr sz="1900" spc="-10" dirty="0">
                <a:solidFill>
                  <a:srgbClr val="C00000"/>
                </a:solidFill>
                <a:latin typeface="Arial"/>
                <a:cs typeface="Arial"/>
              </a:rPr>
              <a:t>initial</a:t>
            </a:r>
            <a:r>
              <a:rPr sz="1900" spc="-10" dirty="0">
                <a:latin typeface="Arial"/>
                <a:cs typeface="Arial"/>
              </a:rPr>
              <a:t>”</a:t>
            </a:r>
            <a:r>
              <a:rPr sz="1900" spc="-5" dirty="0">
                <a:latin typeface="微软雅黑"/>
                <a:cs typeface="微软雅黑"/>
              </a:rPr>
              <a:t>块中，用来生成时钟等周期性波形。</a:t>
            </a:r>
            <a:endParaRPr sz="1900">
              <a:latin typeface="微软雅黑"/>
              <a:cs typeface="微软雅黑"/>
            </a:endParaRPr>
          </a:p>
          <a:p>
            <a:pPr marL="598805" lvl="1" indent="-285750">
              <a:lnSpc>
                <a:spcPct val="100000"/>
              </a:lnSpc>
              <a:spcBef>
                <a:spcPts val="875"/>
              </a:spcBef>
              <a:buClr>
                <a:srgbClr val="000000"/>
              </a:buClr>
              <a:buFont typeface="Wingdings"/>
              <a:buChar char=""/>
              <a:tabLst>
                <a:tab pos="598805" algn="l"/>
              </a:tabLst>
            </a:pPr>
            <a:r>
              <a:rPr sz="1900" b="1" dirty="0">
                <a:solidFill>
                  <a:srgbClr val="C00000"/>
                </a:solidFill>
                <a:latin typeface="Arial"/>
                <a:cs typeface="Arial"/>
              </a:rPr>
              <a:t>repeat</a:t>
            </a:r>
            <a:r>
              <a:rPr sz="1900" dirty="0">
                <a:latin typeface="微软雅黑"/>
                <a:cs typeface="微软雅黑"/>
              </a:rPr>
              <a:t>：连续执行一条语句</a:t>
            </a:r>
            <a:r>
              <a:rPr sz="1900" dirty="0">
                <a:latin typeface="Arial"/>
                <a:cs typeface="Arial"/>
              </a:rPr>
              <a:t>n</a:t>
            </a:r>
            <a:r>
              <a:rPr sz="1900" spc="-25" dirty="0">
                <a:latin typeface="微软雅黑"/>
                <a:cs typeface="微软雅黑"/>
              </a:rPr>
              <a:t>次。</a:t>
            </a:r>
            <a:endParaRPr sz="1900">
              <a:latin typeface="微软雅黑"/>
              <a:cs typeface="微软雅黑"/>
            </a:endParaRPr>
          </a:p>
          <a:p>
            <a:pPr marL="513715" marR="8890" lvl="1" indent="-200660">
              <a:lnSpc>
                <a:spcPct val="115300"/>
              </a:lnSpc>
              <a:spcBef>
                <a:spcPts val="525"/>
              </a:spcBef>
              <a:buClr>
                <a:srgbClr val="000000"/>
              </a:buClr>
              <a:buFont typeface="Wingdings"/>
              <a:buChar char=""/>
              <a:tabLst>
                <a:tab pos="513715" algn="l"/>
                <a:tab pos="598805" algn="l"/>
              </a:tabLst>
            </a:pPr>
            <a:r>
              <a:rPr sz="1900" b="1" dirty="0">
                <a:solidFill>
                  <a:srgbClr val="C00000"/>
                </a:solidFill>
                <a:latin typeface="Arial"/>
                <a:cs typeface="Arial"/>
              </a:rPr>
              <a:t>	while</a:t>
            </a:r>
            <a:r>
              <a:rPr sz="1900" spc="-5" dirty="0">
                <a:latin typeface="微软雅黑"/>
                <a:cs typeface="微软雅黑"/>
              </a:rPr>
              <a:t>：执行一条语句直到某个条件不满足，如果一开始条件就不满足，则语句一</a:t>
            </a:r>
            <a:r>
              <a:rPr sz="1900" spc="-10" dirty="0">
                <a:latin typeface="微软雅黑"/>
                <a:cs typeface="微软雅黑"/>
              </a:rPr>
              <a:t>次也不执行。</a:t>
            </a:r>
            <a:endParaRPr sz="1900">
              <a:latin typeface="微软雅黑"/>
              <a:cs typeface="微软雅黑"/>
            </a:endParaRPr>
          </a:p>
          <a:p>
            <a:pPr marL="598805" lvl="1" indent="-285750">
              <a:lnSpc>
                <a:spcPct val="100000"/>
              </a:lnSpc>
              <a:spcBef>
                <a:spcPts val="875"/>
              </a:spcBef>
              <a:buClr>
                <a:srgbClr val="000000"/>
              </a:buClr>
              <a:buFont typeface="Wingdings"/>
              <a:buChar char=""/>
              <a:tabLst>
                <a:tab pos="598805" algn="l"/>
              </a:tabLst>
            </a:pPr>
            <a:r>
              <a:rPr sz="1900" b="1" dirty="0">
                <a:solidFill>
                  <a:srgbClr val="C00000"/>
                </a:solidFill>
                <a:latin typeface="Arial"/>
                <a:cs typeface="Arial"/>
              </a:rPr>
              <a:t>for</a:t>
            </a:r>
            <a:r>
              <a:rPr sz="1900" spc="-5" dirty="0">
                <a:latin typeface="微软雅黑"/>
                <a:cs typeface="微软雅黑"/>
              </a:rPr>
              <a:t>：有条件的循环语句。</a:t>
            </a:r>
            <a:endParaRPr sz="1900">
              <a:latin typeface="微软雅黑"/>
              <a:cs typeface="微软雅黑"/>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212979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3.3.1</a:t>
            </a:r>
            <a:r>
              <a:rPr spc="-40" dirty="0">
                <a:latin typeface="Arial"/>
                <a:cs typeface="Arial"/>
              </a:rPr>
              <a:t> </a:t>
            </a:r>
            <a:r>
              <a:rPr dirty="0">
                <a:latin typeface="Calibri"/>
                <a:cs typeface="Calibri"/>
              </a:rPr>
              <a:t>for</a:t>
            </a:r>
            <a:r>
              <a:rPr spc="-10" dirty="0">
                <a:latin typeface="Calibri"/>
                <a:cs typeface="Calibri"/>
              </a:rPr>
              <a:t> </a:t>
            </a:r>
            <a:r>
              <a:rPr spc="-25" dirty="0"/>
              <a:t>语句</a:t>
            </a:r>
          </a:p>
        </p:txBody>
      </p:sp>
      <p:grpSp>
        <p:nvGrpSpPr>
          <p:cNvPr id="3" name="object 3"/>
          <p:cNvGrpSpPr/>
          <p:nvPr/>
        </p:nvGrpSpPr>
        <p:grpSpPr>
          <a:xfrm>
            <a:off x="603389" y="2615183"/>
            <a:ext cx="4022725" cy="2032635"/>
            <a:chOff x="603389" y="2615183"/>
            <a:chExt cx="4022725" cy="2032635"/>
          </a:xfrm>
        </p:grpSpPr>
        <p:sp>
          <p:nvSpPr>
            <p:cNvPr id="4" name="object 4"/>
            <p:cNvSpPr/>
            <p:nvPr/>
          </p:nvSpPr>
          <p:spPr>
            <a:xfrm>
              <a:off x="607961" y="2618993"/>
              <a:ext cx="4014470" cy="2025014"/>
            </a:xfrm>
            <a:custGeom>
              <a:avLst/>
              <a:gdLst/>
              <a:ahLst/>
              <a:cxnLst/>
              <a:rect l="l" t="t" r="r" b="b"/>
              <a:pathLst>
                <a:path w="4014470" h="2025014">
                  <a:moveTo>
                    <a:pt x="4014215" y="2024634"/>
                  </a:moveTo>
                  <a:lnTo>
                    <a:pt x="4014215" y="0"/>
                  </a:lnTo>
                  <a:lnTo>
                    <a:pt x="0" y="0"/>
                  </a:lnTo>
                  <a:lnTo>
                    <a:pt x="0" y="2024634"/>
                  </a:lnTo>
                  <a:lnTo>
                    <a:pt x="4014215" y="2024634"/>
                  </a:lnTo>
                  <a:close/>
                </a:path>
              </a:pathLst>
            </a:custGeom>
            <a:solidFill>
              <a:srgbClr val="F9FABA"/>
            </a:solidFill>
          </p:spPr>
          <p:txBody>
            <a:bodyPr wrap="square" lIns="0" tIns="0" rIns="0" bIns="0" rtlCol="0"/>
            <a:lstStyle/>
            <a:p>
              <a:endParaRPr/>
            </a:p>
          </p:txBody>
        </p:sp>
        <p:sp>
          <p:nvSpPr>
            <p:cNvPr id="5" name="object 5"/>
            <p:cNvSpPr/>
            <p:nvPr/>
          </p:nvSpPr>
          <p:spPr>
            <a:xfrm>
              <a:off x="603389" y="2615183"/>
              <a:ext cx="4022725" cy="2032635"/>
            </a:xfrm>
            <a:custGeom>
              <a:avLst/>
              <a:gdLst/>
              <a:ahLst/>
              <a:cxnLst/>
              <a:rect l="l" t="t" r="r" b="b"/>
              <a:pathLst>
                <a:path w="4022725" h="2032635">
                  <a:moveTo>
                    <a:pt x="4022598" y="2030729"/>
                  </a:moveTo>
                  <a:lnTo>
                    <a:pt x="4022598" y="1523"/>
                  </a:lnTo>
                  <a:lnTo>
                    <a:pt x="4021074" y="0"/>
                  </a:lnTo>
                  <a:lnTo>
                    <a:pt x="2285" y="0"/>
                  </a:lnTo>
                  <a:lnTo>
                    <a:pt x="0" y="1524"/>
                  </a:lnTo>
                  <a:lnTo>
                    <a:pt x="0" y="2030730"/>
                  </a:lnTo>
                  <a:lnTo>
                    <a:pt x="2286" y="2032254"/>
                  </a:lnTo>
                  <a:lnTo>
                    <a:pt x="4572" y="2032254"/>
                  </a:lnTo>
                  <a:lnTo>
                    <a:pt x="4572" y="8382"/>
                  </a:lnTo>
                  <a:lnTo>
                    <a:pt x="8382" y="3810"/>
                  </a:lnTo>
                  <a:lnTo>
                    <a:pt x="8382" y="8382"/>
                  </a:lnTo>
                  <a:lnTo>
                    <a:pt x="4014216" y="8381"/>
                  </a:lnTo>
                  <a:lnTo>
                    <a:pt x="4014216" y="3809"/>
                  </a:lnTo>
                  <a:lnTo>
                    <a:pt x="4018788" y="8381"/>
                  </a:lnTo>
                  <a:lnTo>
                    <a:pt x="4018788" y="2032253"/>
                  </a:lnTo>
                  <a:lnTo>
                    <a:pt x="4021074" y="2032253"/>
                  </a:lnTo>
                  <a:lnTo>
                    <a:pt x="4022598" y="2030729"/>
                  </a:lnTo>
                  <a:close/>
                </a:path>
                <a:path w="4022725" h="2032635">
                  <a:moveTo>
                    <a:pt x="8382" y="8382"/>
                  </a:moveTo>
                  <a:lnTo>
                    <a:pt x="8382" y="3810"/>
                  </a:lnTo>
                  <a:lnTo>
                    <a:pt x="4572" y="8382"/>
                  </a:lnTo>
                  <a:lnTo>
                    <a:pt x="8382" y="8382"/>
                  </a:lnTo>
                  <a:close/>
                </a:path>
                <a:path w="4022725" h="2032635">
                  <a:moveTo>
                    <a:pt x="8382" y="2023872"/>
                  </a:moveTo>
                  <a:lnTo>
                    <a:pt x="8382" y="8382"/>
                  </a:lnTo>
                  <a:lnTo>
                    <a:pt x="4572" y="8382"/>
                  </a:lnTo>
                  <a:lnTo>
                    <a:pt x="4572" y="2023872"/>
                  </a:lnTo>
                  <a:lnTo>
                    <a:pt x="8382" y="2023872"/>
                  </a:lnTo>
                  <a:close/>
                </a:path>
                <a:path w="4022725" h="2032635">
                  <a:moveTo>
                    <a:pt x="4018788" y="2023871"/>
                  </a:moveTo>
                  <a:lnTo>
                    <a:pt x="4572" y="2023872"/>
                  </a:lnTo>
                  <a:lnTo>
                    <a:pt x="8382" y="2028444"/>
                  </a:lnTo>
                  <a:lnTo>
                    <a:pt x="8381" y="2032254"/>
                  </a:lnTo>
                  <a:lnTo>
                    <a:pt x="4014216" y="2032253"/>
                  </a:lnTo>
                  <a:lnTo>
                    <a:pt x="4014216" y="2028443"/>
                  </a:lnTo>
                  <a:lnTo>
                    <a:pt x="4018788" y="2023871"/>
                  </a:lnTo>
                  <a:close/>
                </a:path>
                <a:path w="4022725" h="2032635">
                  <a:moveTo>
                    <a:pt x="8381" y="2032254"/>
                  </a:moveTo>
                  <a:lnTo>
                    <a:pt x="8382" y="2028444"/>
                  </a:lnTo>
                  <a:lnTo>
                    <a:pt x="4572" y="2023872"/>
                  </a:lnTo>
                  <a:lnTo>
                    <a:pt x="4572" y="2032254"/>
                  </a:lnTo>
                  <a:lnTo>
                    <a:pt x="8381" y="2032254"/>
                  </a:lnTo>
                  <a:close/>
                </a:path>
                <a:path w="4022725" h="2032635">
                  <a:moveTo>
                    <a:pt x="4018788" y="8381"/>
                  </a:moveTo>
                  <a:lnTo>
                    <a:pt x="4014216" y="3809"/>
                  </a:lnTo>
                  <a:lnTo>
                    <a:pt x="4014216" y="8381"/>
                  </a:lnTo>
                  <a:lnTo>
                    <a:pt x="4018788" y="8381"/>
                  </a:lnTo>
                  <a:close/>
                </a:path>
                <a:path w="4022725" h="2032635">
                  <a:moveTo>
                    <a:pt x="4018788" y="2023871"/>
                  </a:moveTo>
                  <a:lnTo>
                    <a:pt x="4018788" y="8381"/>
                  </a:lnTo>
                  <a:lnTo>
                    <a:pt x="4014216" y="8381"/>
                  </a:lnTo>
                  <a:lnTo>
                    <a:pt x="4014216" y="2023871"/>
                  </a:lnTo>
                  <a:lnTo>
                    <a:pt x="4018788" y="2023871"/>
                  </a:lnTo>
                  <a:close/>
                </a:path>
                <a:path w="4022725" h="2032635">
                  <a:moveTo>
                    <a:pt x="4018788" y="2032253"/>
                  </a:moveTo>
                  <a:lnTo>
                    <a:pt x="4018788" y="2023871"/>
                  </a:lnTo>
                  <a:lnTo>
                    <a:pt x="4014216" y="2028443"/>
                  </a:lnTo>
                  <a:lnTo>
                    <a:pt x="4014216" y="2032253"/>
                  </a:lnTo>
                  <a:lnTo>
                    <a:pt x="4018788" y="2032253"/>
                  </a:lnTo>
                  <a:close/>
                </a:path>
              </a:pathLst>
            </a:custGeom>
            <a:solidFill>
              <a:srgbClr val="000000"/>
            </a:solidFill>
          </p:spPr>
          <p:txBody>
            <a:bodyPr wrap="square" lIns="0" tIns="0" rIns="0" bIns="0" rtlCol="0"/>
            <a:lstStyle/>
            <a:p>
              <a:endParaRPr/>
            </a:p>
          </p:txBody>
        </p:sp>
      </p:grpSp>
      <p:sp>
        <p:nvSpPr>
          <p:cNvPr id="6" name="object 6"/>
          <p:cNvSpPr txBox="1"/>
          <p:nvPr/>
        </p:nvSpPr>
        <p:spPr>
          <a:xfrm>
            <a:off x="575443" y="2091182"/>
            <a:ext cx="3917950" cy="246888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Arial"/>
                <a:cs typeface="Arial"/>
              </a:rPr>
              <a:t>for</a:t>
            </a:r>
            <a:r>
              <a:rPr sz="2100" b="1" spc="-10" dirty="0">
                <a:solidFill>
                  <a:srgbClr val="3E3E3E"/>
                </a:solidFill>
                <a:latin typeface="微软雅黑"/>
                <a:cs typeface="微软雅黑"/>
              </a:rPr>
              <a:t>语句的一般形式为：</a:t>
            </a:r>
            <a:endParaRPr sz="2100">
              <a:latin typeface="微软雅黑"/>
              <a:cs typeface="微软雅黑"/>
            </a:endParaRPr>
          </a:p>
          <a:p>
            <a:pPr marL="345440" marR="5080">
              <a:lnSpc>
                <a:spcPct val="120000"/>
              </a:lnSpc>
              <a:spcBef>
                <a:spcPts val="1565"/>
              </a:spcBef>
            </a:pPr>
            <a:r>
              <a:rPr sz="1750" b="1" spc="-10" dirty="0">
                <a:latin typeface="Arial"/>
                <a:cs typeface="Arial"/>
              </a:rPr>
              <a:t>for</a:t>
            </a:r>
            <a:r>
              <a:rPr sz="1750" spc="-10" dirty="0">
                <a:latin typeface="宋体"/>
                <a:cs typeface="宋体"/>
              </a:rPr>
              <a:t>（</a:t>
            </a:r>
            <a:r>
              <a:rPr sz="1750" dirty="0">
                <a:latin typeface="宋体"/>
                <a:cs typeface="宋体"/>
              </a:rPr>
              <a:t>表达式</a:t>
            </a:r>
            <a:r>
              <a:rPr sz="1750" spc="-10" dirty="0">
                <a:latin typeface="Arial"/>
                <a:cs typeface="Arial"/>
              </a:rPr>
              <a:t>1</a:t>
            </a:r>
            <a:r>
              <a:rPr sz="1750" spc="-5" dirty="0">
                <a:latin typeface="宋体"/>
                <a:cs typeface="宋体"/>
              </a:rPr>
              <a:t>；表达式</a:t>
            </a:r>
            <a:r>
              <a:rPr sz="1750" spc="-10" dirty="0">
                <a:latin typeface="Arial"/>
                <a:cs typeface="Arial"/>
              </a:rPr>
              <a:t>2</a:t>
            </a:r>
            <a:r>
              <a:rPr sz="1750" spc="-5" dirty="0">
                <a:latin typeface="宋体"/>
                <a:cs typeface="宋体"/>
              </a:rPr>
              <a:t>；表达式</a:t>
            </a:r>
            <a:r>
              <a:rPr sz="1750" spc="-25" dirty="0">
                <a:latin typeface="Arial"/>
                <a:cs typeface="Arial"/>
              </a:rPr>
              <a:t>3</a:t>
            </a:r>
            <a:r>
              <a:rPr sz="1750" spc="-25" dirty="0">
                <a:latin typeface="宋体"/>
                <a:cs typeface="宋体"/>
              </a:rPr>
              <a:t>） </a:t>
            </a:r>
            <a:r>
              <a:rPr sz="1750" b="1" spc="-10" dirty="0">
                <a:latin typeface="Arial"/>
                <a:cs typeface="Arial"/>
              </a:rPr>
              <a:t>begin</a:t>
            </a:r>
            <a:endParaRPr sz="1750">
              <a:latin typeface="Arial"/>
              <a:cs typeface="Arial"/>
            </a:endParaRPr>
          </a:p>
          <a:p>
            <a:pPr marL="579120">
              <a:lnSpc>
                <a:spcPct val="100000"/>
              </a:lnSpc>
              <a:spcBef>
                <a:spcPts val="430"/>
              </a:spcBef>
            </a:pPr>
            <a:r>
              <a:rPr sz="1750" spc="-10" dirty="0">
                <a:latin typeface="Arial"/>
                <a:cs typeface="Arial"/>
              </a:rPr>
              <a:t>[</a:t>
            </a:r>
            <a:r>
              <a:rPr sz="1750" dirty="0">
                <a:latin typeface="宋体"/>
                <a:cs typeface="宋体"/>
              </a:rPr>
              <a:t>顺序执行语句</a:t>
            </a:r>
            <a:r>
              <a:rPr sz="1750" spc="204" dirty="0">
                <a:latin typeface="Arial"/>
                <a:cs typeface="Arial"/>
              </a:rPr>
              <a:t>]; </a:t>
            </a:r>
            <a:endParaRPr sz="1750">
              <a:latin typeface="Arial"/>
              <a:cs typeface="Arial"/>
            </a:endParaRPr>
          </a:p>
          <a:p>
            <a:pPr marL="601980">
              <a:lnSpc>
                <a:spcPct val="100000"/>
              </a:lnSpc>
              <a:spcBef>
                <a:spcPts val="425"/>
              </a:spcBef>
            </a:pPr>
            <a:r>
              <a:rPr sz="1750" spc="-10" dirty="0">
                <a:latin typeface="Arial"/>
                <a:cs typeface="Arial"/>
              </a:rPr>
              <a:t>[</a:t>
            </a:r>
            <a:r>
              <a:rPr sz="1750" dirty="0">
                <a:latin typeface="宋体"/>
                <a:cs typeface="宋体"/>
              </a:rPr>
              <a:t>顺序执行语句</a:t>
            </a:r>
            <a:r>
              <a:rPr sz="1750" spc="-30" dirty="0">
                <a:latin typeface="Arial"/>
                <a:cs typeface="Arial"/>
              </a:rPr>
              <a:t>] ;</a:t>
            </a:r>
            <a:endParaRPr sz="1750">
              <a:latin typeface="Arial"/>
              <a:cs typeface="Arial"/>
            </a:endParaRPr>
          </a:p>
          <a:p>
            <a:pPr marL="579120">
              <a:lnSpc>
                <a:spcPct val="100000"/>
              </a:lnSpc>
              <a:spcBef>
                <a:spcPts val="425"/>
              </a:spcBef>
            </a:pPr>
            <a:r>
              <a:rPr sz="1750" dirty="0">
                <a:latin typeface="Arial"/>
                <a:cs typeface="Arial"/>
              </a:rPr>
              <a:t>.</a:t>
            </a:r>
            <a:r>
              <a:rPr sz="1750" spc="-15" dirty="0">
                <a:latin typeface="Arial"/>
                <a:cs typeface="Arial"/>
              </a:rPr>
              <a:t> </a:t>
            </a:r>
            <a:r>
              <a:rPr sz="1750" dirty="0">
                <a:latin typeface="Arial"/>
                <a:cs typeface="Arial"/>
              </a:rPr>
              <a:t>.</a:t>
            </a:r>
            <a:r>
              <a:rPr sz="1750" spc="-15" dirty="0">
                <a:latin typeface="Arial"/>
                <a:cs typeface="Arial"/>
              </a:rPr>
              <a:t> </a:t>
            </a:r>
            <a:r>
              <a:rPr sz="1750" spc="-50" dirty="0">
                <a:latin typeface="Arial"/>
                <a:cs typeface="Arial"/>
              </a:rPr>
              <a:t>.</a:t>
            </a:r>
            <a:endParaRPr sz="1750">
              <a:latin typeface="Arial"/>
              <a:cs typeface="Arial"/>
            </a:endParaRPr>
          </a:p>
          <a:p>
            <a:pPr marL="345440">
              <a:lnSpc>
                <a:spcPct val="100000"/>
              </a:lnSpc>
              <a:spcBef>
                <a:spcPts val="425"/>
              </a:spcBef>
            </a:pPr>
            <a:r>
              <a:rPr sz="1750" b="1" spc="-25" dirty="0">
                <a:latin typeface="Arial"/>
                <a:cs typeface="Arial"/>
              </a:rPr>
              <a:t>end</a:t>
            </a:r>
            <a:endParaRPr sz="1750">
              <a:latin typeface="Arial"/>
              <a:cs typeface="Arial"/>
            </a:endParaRPr>
          </a:p>
        </p:txBody>
      </p:sp>
      <p:sp>
        <p:nvSpPr>
          <p:cNvPr id="7" name="object 7"/>
          <p:cNvSpPr txBox="1"/>
          <p:nvPr/>
        </p:nvSpPr>
        <p:spPr>
          <a:xfrm>
            <a:off x="575443" y="5523991"/>
            <a:ext cx="9347962" cy="67262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lang="zh-CN" altLang="en-US" sz="2100" spc="-10" dirty="0">
                <a:latin typeface="微软雅黑"/>
                <a:cs typeface="微软雅黑"/>
              </a:rPr>
              <a:t>表达式</a:t>
            </a:r>
            <a:r>
              <a:rPr lang="en-US" altLang="zh-CN" sz="2100" spc="-10" dirty="0">
                <a:latin typeface="微软雅黑"/>
                <a:cs typeface="微软雅黑"/>
              </a:rPr>
              <a:t>1——</a:t>
            </a:r>
            <a:r>
              <a:rPr lang="zh-CN" altLang="en-US" sz="2100" spc="-10" dirty="0">
                <a:latin typeface="微软雅黑"/>
                <a:cs typeface="微软雅黑"/>
              </a:rPr>
              <a:t>初始条件；表达式</a:t>
            </a:r>
            <a:r>
              <a:rPr lang="en-US" altLang="zh-CN" sz="2100" spc="-10" dirty="0">
                <a:latin typeface="微软雅黑"/>
                <a:cs typeface="微软雅黑"/>
              </a:rPr>
              <a:t>2——</a:t>
            </a:r>
            <a:r>
              <a:rPr lang="zh-CN" altLang="en-US" sz="2100" spc="-10" dirty="0">
                <a:latin typeface="微软雅黑"/>
                <a:cs typeface="微软雅黑"/>
              </a:rPr>
              <a:t>终止条件；</a:t>
            </a:r>
            <a:endParaRPr lang="en-US" altLang="zh-CN" sz="2100" spc="-10" dirty="0">
              <a:latin typeface="微软雅黑"/>
              <a:cs typeface="微软雅黑"/>
            </a:endParaRPr>
          </a:p>
          <a:p>
            <a:pPr>
              <a:lnSpc>
                <a:spcPct val="100000"/>
              </a:lnSpc>
              <a:spcBef>
                <a:spcPts val="105"/>
              </a:spcBef>
              <a:buSzPct val="95238"/>
              <a:tabLst>
                <a:tab pos="250190" algn="l"/>
              </a:tabLst>
            </a:pPr>
            <a:r>
              <a:rPr lang="en-US" altLang="zh-CN" sz="2100" spc="-10" dirty="0">
                <a:latin typeface="微软雅黑"/>
                <a:cs typeface="微软雅黑"/>
              </a:rPr>
              <a:t>   </a:t>
            </a:r>
            <a:r>
              <a:rPr lang="zh-CN" altLang="en-US" sz="2100" spc="-10" dirty="0">
                <a:latin typeface="微软雅黑"/>
                <a:cs typeface="微软雅黑"/>
              </a:rPr>
              <a:t>表达式</a:t>
            </a:r>
            <a:r>
              <a:rPr lang="en-US" altLang="zh-CN" sz="2100" spc="-10" dirty="0">
                <a:latin typeface="微软雅黑"/>
                <a:cs typeface="微软雅黑"/>
              </a:rPr>
              <a:t>3——</a:t>
            </a:r>
            <a:r>
              <a:rPr lang="zh-CN" altLang="en-US" sz="2100" spc="-10" dirty="0">
                <a:latin typeface="微软雅黑"/>
                <a:cs typeface="微软雅黑"/>
              </a:rPr>
              <a:t>改变控制变量的过程赋值语句</a:t>
            </a:r>
            <a:endParaRPr sz="2100" dirty="0">
              <a:latin typeface="微软雅黑"/>
              <a:cs typeface="微软雅黑"/>
            </a:endParaRPr>
          </a:p>
        </p:txBody>
      </p:sp>
      <p:grpSp>
        <p:nvGrpSpPr>
          <p:cNvPr id="8" name="object 8"/>
          <p:cNvGrpSpPr/>
          <p:nvPr/>
        </p:nvGrpSpPr>
        <p:grpSpPr>
          <a:xfrm>
            <a:off x="5343791" y="2615183"/>
            <a:ext cx="4657090" cy="2680335"/>
            <a:chOff x="5343791" y="2615183"/>
            <a:chExt cx="4657090" cy="2680335"/>
          </a:xfrm>
        </p:grpSpPr>
        <p:sp>
          <p:nvSpPr>
            <p:cNvPr id="9" name="object 9"/>
            <p:cNvSpPr/>
            <p:nvPr/>
          </p:nvSpPr>
          <p:spPr>
            <a:xfrm>
              <a:off x="5347601" y="2618993"/>
              <a:ext cx="4649470" cy="2672715"/>
            </a:xfrm>
            <a:custGeom>
              <a:avLst/>
              <a:gdLst/>
              <a:ahLst/>
              <a:cxnLst/>
              <a:rect l="l" t="t" r="r" b="b"/>
              <a:pathLst>
                <a:path w="4649470" h="2672715">
                  <a:moveTo>
                    <a:pt x="4648962" y="2672334"/>
                  </a:moveTo>
                  <a:lnTo>
                    <a:pt x="4648962" y="0"/>
                  </a:lnTo>
                  <a:lnTo>
                    <a:pt x="0" y="0"/>
                  </a:lnTo>
                  <a:lnTo>
                    <a:pt x="0" y="2672334"/>
                  </a:lnTo>
                  <a:lnTo>
                    <a:pt x="4648962" y="2672334"/>
                  </a:lnTo>
                  <a:close/>
                </a:path>
              </a:pathLst>
            </a:custGeom>
            <a:solidFill>
              <a:srgbClr val="F9FABA"/>
            </a:solidFill>
          </p:spPr>
          <p:txBody>
            <a:bodyPr wrap="square" lIns="0" tIns="0" rIns="0" bIns="0" rtlCol="0"/>
            <a:lstStyle/>
            <a:p>
              <a:endParaRPr/>
            </a:p>
          </p:txBody>
        </p:sp>
        <p:sp>
          <p:nvSpPr>
            <p:cNvPr id="10" name="object 10"/>
            <p:cNvSpPr/>
            <p:nvPr/>
          </p:nvSpPr>
          <p:spPr>
            <a:xfrm>
              <a:off x="5343791" y="2615183"/>
              <a:ext cx="4657090" cy="2680335"/>
            </a:xfrm>
            <a:custGeom>
              <a:avLst/>
              <a:gdLst/>
              <a:ahLst/>
              <a:cxnLst/>
              <a:rect l="l" t="t" r="r" b="b"/>
              <a:pathLst>
                <a:path w="4657090" h="2680335">
                  <a:moveTo>
                    <a:pt x="4656582" y="2678429"/>
                  </a:moveTo>
                  <a:lnTo>
                    <a:pt x="4656582" y="1523"/>
                  </a:lnTo>
                  <a:lnTo>
                    <a:pt x="4655058" y="0"/>
                  </a:lnTo>
                  <a:lnTo>
                    <a:pt x="1523" y="0"/>
                  </a:lnTo>
                  <a:lnTo>
                    <a:pt x="0" y="1524"/>
                  </a:lnTo>
                  <a:lnTo>
                    <a:pt x="0" y="2678430"/>
                  </a:lnTo>
                  <a:lnTo>
                    <a:pt x="1524" y="2679954"/>
                  </a:lnTo>
                  <a:lnTo>
                    <a:pt x="3810" y="2679954"/>
                  </a:lnTo>
                  <a:lnTo>
                    <a:pt x="3810" y="8382"/>
                  </a:lnTo>
                  <a:lnTo>
                    <a:pt x="8382" y="3810"/>
                  </a:lnTo>
                  <a:lnTo>
                    <a:pt x="8382" y="8382"/>
                  </a:lnTo>
                  <a:lnTo>
                    <a:pt x="4648200" y="8381"/>
                  </a:lnTo>
                  <a:lnTo>
                    <a:pt x="4648200" y="3809"/>
                  </a:lnTo>
                  <a:lnTo>
                    <a:pt x="4652772" y="8381"/>
                  </a:lnTo>
                  <a:lnTo>
                    <a:pt x="4652772" y="2679954"/>
                  </a:lnTo>
                  <a:lnTo>
                    <a:pt x="4655058" y="2679954"/>
                  </a:lnTo>
                  <a:lnTo>
                    <a:pt x="4656582" y="2678429"/>
                  </a:lnTo>
                  <a:close/>
                </a:path>
                <a:path w="4657090" h="2680335">
                  <a:moveTo>
                    <a:pt x="8382" y="8382"/>
                  </a:moveTo>
                  <a:lnTo>
                    <a:pt x="8382" y="3810"/>
                  </a:lnTo>
                  <a:lnTo>
                    <a:pt x="3810" y="8382"/>
                  </a:lnTo>
                  <a:lnTo>
                    <a:pt x="8382" y="8382"/>
                  </a:lnTo>
                  <a:close/>
                </a:path>
                <a:path w="4657090" h="2680335">
                  <a:moveTo>
                    <a:pt x="8382" y="2671572"/>
                  </a:moveTo>
                  <a:lnTo>
                    <a:pt x="8382" y="8382"/>
                  </a:lnTo>
                  <a:lnTo>
                    <a:pt x="3810" y="8382"/>
                  </a:lnTo>
                  <a:lnTo>
                    <a:pt x="3810" y="2671572"/>
                  </a:lnTo>
                  <a:lnTo>
                    <a:pt x="8382" y="2671572"/>
                  </a:lnTo>
                  <a:close/>
                </a:path>
                <a:path w="4657090" h="2680335">
                  <a:moveTo>
                    <a:pt x="4652772" y="2671572"/>
                  </a:moveTo>
                  <a:lnTo>
                    <a:pt x="3810" y="2671572"/>
                  </a:lnTo>
                  <a:lnTo>
                    <a:pt x="8382" y="2676144"/>
                  </a:lnTo>
                  <a:lnTo>
                    <a:pt x="8382" y="2679954"/>
                  </a:lnTo>
                  <a:lnTo>
                    <a:pt x="4648200" y="2679954"/>
                  </a:lnTo>
                  <a:lnTo>
                    <a:pt x="4648200" y="2676143"/>
                  </a:lnTo>
                  <a:lnTo>
                    <a:pt x="4652772" y="2671572"/>
                  </a:lnTo>
                  <a:close/>
                </a:path>
                <a:path w="4657090" h="2680335">
                  <a:moveTo>
                    <a:pt x="8382" y="2679954"/>
                  </a:moveTo>
                  <a:lnTo>
                    <a:pt x="8382" y="2676144"/>
                  </a:lnTo>
                  <a:lnTo>
                    <a:pt x="3810" y="2671572"/>
                  </a:lnTo>
                  <a:lnTo>
                    <a:pt x="3810" y="2679954"/>
                  </a:lnTo>
                  <a:lnTo>
                    <a:pt x="8382" y="2679954"/>
                  </a:lnTo>
                  <a:close/>
                </a:path>
                <a:path w="4657090" h="2680335">
                  <a:moveTo>
                    <a:pt x="4652772" y="8381"/>
                  </a:moveTo>
                  <a:lnTo>
                    <a:pt x="4648200" y="3809"/>
                  </a:lnTo>
                  <a:lnTo>
                    <a:pt x="4648200" y="8381"/>
                  </a:lnTo>
                  <a:lnTo>
                    <a:pt x="4652772" y="8381"/>
                  </a:lnTo>
                  <a:close/>
                </a:path>
                <a:path w="4657090" h="2680335">
                  <a:moveTo>
                    <a:pt x="4652772" y="2671572"/>
                  </a:moveTo>
                  <a:lnTo>
                    <a:pt x="4652772" y="8381"/>
                  </a:lnTo>
                  <a:lnTo>
                    <a:pt x="4648200" y="8381"/>
                  </a:lnTo>
                  <a:lnTo>
                    <a:pt x="4648200" y="2671572"/>
                  </a:lnTo>
                  <a:lnTo>
                    <a:pt x="4652772" y="2671572"/>
                  </a:lnTo>
                  <a:close/>
                </a:path>
                <a:path w="4657090" h="2680335">
                  <a:moveTo>
                    <a:pt x="4652772" y="2679954"/>
                  </a:moveTo>
                  <a:lnTo>
                    <a:pt x="4652772" y="2671572"/>
                  </a:lnTo>
                  <a:lnTo>
                    <a:pt x="4648200" y="2676143"/>
                  </a:lnTo>
                  <a:lnTo>
                    <a:pt x="4648200" y="2679954"/>
                  </a:lnTo>
                  <a:lnTo>
                    <a:pt x="4652772" y="2679954"/>
                  </a:lnTo>
                  <a:close/>
                </a:path>
              </a:pathLst>
            </a:custGeom>
            <a:solidFill>
              <a:srgbClr val="000000"/>
            </a:solidFill>
          </p:spPr>
          <p:txBody>
            <a:bodyPr wrap="square" lIns="0" tIns="0" rIns="0" bIns="0" rtlCol="0"/>
            <a:lstStyle/>
            <a:p>
              <a:endParaRPr/>
            </a:p>
          </p:txBody>
        </p:sp>
      </p:grpSp>
      <p:sp>
        <p:nvSpPr>
          <p:cNvPr id="11" name="object 11"/>
          <p:cNvSpPr txBox="1"/>
          <p:nvPr/>
        </p:nvSpPr>
        <p:spPr>
          <a:xfrm>
            <a:off x="5414905" y="2109470"/>
            <a:ext cx="4508500" cy="3091815"/>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spc="-10" dirty="0">
                <a:latin typeface="微软雅黑"/>
                <a:cs typeface="微软雅黑"/>
              </a:rPr>
              <a:t>它的执行过程是：</a:t>
            </a:r>
            <a:endParaRPr sz="2100">
              <a:latin typeface="微软雅黑"/>
              <a:cs typeface="微软雅黑"/>
            </a:endParaRPr>
          </a:p>
          <a:p>
            <a:pPr marL="312420" indent="-299720">
              <a:lnSpc>
                <a:spcPct val="100000"/>
              </a:lnSpc>
              <a:spcBef>
                <a:spcPts val="1845"/>
              </a:spcBef>
              <a:buFont typeface="Arial"/>
              <a:buAutoNum type="arabicParenBoth"/>
              <a:tabLst>
                <a:tab pos="312420" algn="l"/>
              </a:tabLst>
            </a:pPr>
            <a:r>
              <a:rPr sz="1750" dirty="0">
                <a:latin typeface="宋体"/>
                <a:cs typeface="宋体"/>
              </a:rPr>
              <a:t>先求解表达式</a:t>
            </a:r>
            <a:r>
              <a:rPr sz="1750" spc="-25" dirty="0">
                <a:latin typeface="Arial"/>
                <a:cs typeface="Arial"/>
              </a:rPr>
              <a:t>1</a:t>
            </a:r>
            <a:r>
              <a:rPr sz="1750" spc="-25" dirty="0">
                <a:latin typeface="宋体"/>
                <a:cs typeface="宋体"/>
              </a:rPr>
              <a:t>；</a:t>
            </a:r>
            <a:endParaRPr sz="1750">
              <a:latin typeface="宋体"/>
              <a:cs typeface="宋体"/>
            </a:endParaRPr>
          </a:p>
          <a:p>
            <a:pPr marL="311785" marR="5080" indent="-299720">
              <a:lnSpc>
                <a:spcPts val="2530"/>
              </a:lnSpc>
              <a:spcBef>
                <a:spcPts val="145"/>
              </a:spcBef>
              <a:buFont typeface="Arial"/>
              <a:buAutoNum type="arabicParenBoth"/>
              <a:tabLst>
                <a:tab pos="313055" algn="l"/>
              </a:tabLst>
            </a:pPr>
            <a:r>
              <a:rPr sz="1750" dirty="0">
                <a:latin typeface="宋体"/>
                <a:cs typeface="宋体"/>
              </a:rPr>
              <a:t>再求解表达式</a:t>
            </a:r>
            <a:r>
              <a:rPr sz="1750" spc="-10" dirty="0">
                <a:latin typeface="Arial"/>
                <a:cs typeface="Arial"/>
              </a:rPr>
              <a:t>2</a:t>
            </a:r>
            <a:r>
              <a:rPr sz="1750" spc="-5" dirty="0">
                <a:latin typeface="宋体"/>
                <a:cs typeface="宋体"/>
              </a:rPr>
              <a:t>，如果其值为真</a:t>
            </a:r>
            <a:r>
              <a:rPr sz="1750" dirty="0">
                <a:latin typeface="宋体"/>
                <a:cs typeface="宋体"/>
              </a:rPr>
              <a:t>（</a:t>
            </a:r>
            <a:r>
              <a:rPr sz="1750" spc="-10" dirty="0">
                <a:latin typeface="宋体"/>
                <a:cs typeface="宋体"/>
              </a:rPr>
              <a:t>非</a:t>
            </a:r>
            <a:r>
              <a:rPr sz="1750" spc="-25" dirty="0">
                <a:latin typeface="Arial"/>
                <a:cs typeface="Arial"/>
              </a:rPr>
              <a:t>0</a:t>
            </a:r>
            <a:r>
              <a:rPr sz="1750" spc="-25" dirty="0">
                <a:latin typeface="宋体"/>
                <a:cs typeface="宋体"/>
              </a:rPr>
              <a:t>），	</a:t>
            </a:r>
            <a:r>
              <a:rPr sz="1750" dirty="0">
                <a:latin typeface="宋体"/>
                <a:cs typeface="宋体"/>
              </a:rPr>
              <a:t>则执行下面的第</a:t>
            </a:r>
            <a:r>
              <a:rPr sz="1750" spc="-20" dirty="0">
                <a:latin typeface="Arial"/>
                <a:cs typeface="Arial"/>
              </a:rPr>
              <a:t>(3)</a:t>
            </a:r>
            <a:r>
              <a:rPr sz="1750" dirty="0">
                <a:latin typeface="宋体"/>
                <a:cs typeface="宋体"/>
              </a:rPr>
              <a:t>步；如果为假</a:t>
            </a:r>
            <a:r>
              <a:rPr sz="1750" spc="-10" dirty="0">
                <a:latin typeface="宋体"/>
                <a:cs typeface="宋体"/>
              </a:rPr>
              <a:t>（</a:t>
            </a:r>
            <a:r>
              <a:rPr sz="1750" spc="-10" dirty="0">
                <a:latin typeface="Arial"/>
                <a:cs typeface="Arial"/>
              </a:rPr>
              <a:t>0</a:t>
            </a:r>
            <a:r>
              <a:rPr sz="1750" spc="-10" dirty="0">
                <a:latin typeface="宋体"/>
                <a:cs typeface="宋体"/>
              </a:rPr>
              <a:t>），</a:t>
            </a:r>
            <a:r>
              <a:rPr sz="1750" spc="-50" dirty="0">
                <a:latin typeface="宋体"/>
                <a:cs typeface="宋体"/>
              </a:rPr>
              <a:t>则	</a:t>
            </a:r>
            <a:r>
              <a:rPr sz="1750" dirty="0">
                <a:latin typeface="宋体"/>
                <a:cs typeface="宋体"/>
              </a:rPr>
              <a:t>结束循环，转到第</a:t>
            </a:r>
            <a:r>
              <a:rPr sz="1750" spc="-20" dirty="0">
                <a:latin typeface="Arial"/>
                <a:cs typeface="Arial"/>
              </a:rPr>
              <a:t>(5)</a:t>
            </a:r>
            <a:r>
              <a:rPr sz="1750" spc="-25" dirty="0">
                <a:latin typeface="宋体"/>
                <a:cs typeface="宋体"/>
              </a:rPr>
              <a:t>步；</a:t>
            </a:r>
            <a:endParaRPr sz="1750">
              <a:latin typeface="宋体"/>
              <a:cs typeface="宋体"/>
            </a:endParaRPr>
          </a:p>
          <a:p>
            <a:pPr marL="312420" indent="-299720">
              <a:lnSpc>
                <a:spcPct val="100000"/>
              </a:lnSpc>
              <a:spcBef>
                <a:spcPts val="260"/>
              </a:spcBef>
              <a:buFont typeface="Arial"/>
              <a:buAutoNum type="arabicParenBoth"/>
              <a:tabLst>
                <a:tab pos="312420" algn="l"/>
              </a:tabLst>
            </a:pPr>
            <a:r>
              <a:rPr sz="1750" dirty="0">
                <a:latin typeface="宋体"/>
                <a:cs typeface="宋体"/>
              </a:rPr>
              <a:t>执行</a:t>
            </a:r>
            <a:r>
              <a:rPr sz="1750" spc="-10" dirty="0">
                <a:latin typeface="Arial"/>
                <a:cs typeface="Arial"/>
              </a:rPr>
              <a:t>begin/end</a:t>
            </a:r>
            <a:r>
              <a:rPr sz="1750" spc="-5" dirty="0">
                <a:latin typeface="宋体"/>
                <a:cs typeface="宋体"/>
              </a:rPr>
              <a:t>块中的顺序执行语句，然后</a:t>
            </a:r>
            <a:endParaRPr sz="1750">
              <a:latin typeface="宋体"/>
              <a:cs typeface="宋体"/>
            </a:endParaRPr>
          </a:p>
          <a:p>
            <a:pPr marL="313055">
              <a:lnSpc>
                <a:spcPct val="100000"/>
              </a:lnSpc>
              <a:spcBef>
                <a:spcPts val="430"/>
              </a:spcBef>
            </a:pPr>
            <a:r>
              <a:rPr sz="1750" dirty="0">
                <a:latin typeface="宋体"/>
                <a:cs typeface="宋体"/>
              </a:rPr>
              <a:t>求解表达式</a:t>
            </a:r>
            <a:r>
              <a:rPr sz="1750" spc="-25" dirty="0">
                <a:latin typeface="Arial"/>
                <a:cs typeface="Arial"/>
              </a:rPr>
              <a:t>3</a:t>
            </a:r>
            <a:r>
              <a:rPr sz="1750" spc="-25" dirty="0">
                <a:latin typeface="宋体"/>
                <a:cs typeface="宋体"/>
              </a:rPr>
              <a:t>；</a:t>
            </a:r>
            <a:endParaRPr sz="1750">
              <a:latin typeface="宋体"/>
              <a:cs typeface="宋体"/>
            </a:endParaRPr>
          </a:p>
          <a:p>
            <a:pPr marL="312420" indent="-299720">
              <a:lnSpc>
                <a:spcPct val="100000"/>
              </a:lnSpc>
              <a:spcBef>
                <a:spcPts val="420"/>
              </a:spcBef>
              <a:buFont typeface="Arial"/>
              <a:buAutoNum type="arabicParenBoth" startAt="4"/>
              <a:tabLst>
                <a:tab pos="312420" algn="l"/>
              </a:tabLst>
            </a:pPr>
            <a:r>
              <a:rPr sz="1750" dirty="0">
                <a:latin typeface="宋体"/>
                <a:cs typeface="宋体"/>
              </a:rPr>
              <a:t>转回第</a:t>
            </a:r>
            <a:r>
              <a:rPr sz="1750" spc="-20" dirty="0">
                <a:latin typeface="Arial"/>
                <a:cs typeface="Arial"/>
              </a:rPr>
              <a:t>(2)</a:t>
            </a:r>
            <a:r>
              <a:rPr sz="1750" spc="-10" dirty="0">
                <a:latin typeface="宋体"/>
                <a:cs typeface="宋体"/>
              </a:rPr>
              <a:t>步继续执行；</a:t>
            </a:r>
            <a:endParaRPr sz="1750">
              <a:latin typeface="宋体"/>
              <a:cs typeface="宋体"/>
            </a:endParaRPr>
          </a:p>
          <a:p>
            <a:pPr marL="312420" indent="-299720">
              <a:lnSpc>
                <a:spcPct val="100000"/>
              </a:lnSpc>
              <a:spcBef>
                <a:spcPts val="425"/>
              </a:spcBef>
              <a:buFont typeface="Arial"/>
              <a:buAutoNum type="arabicParenBoth" startAt="4"/>
              <a:tabLst>
                <a:tab pos="312420" algn="l"/>
              </a:tabLst>
            </a:pPr>
            <a:r>
              <a:rPr sz="1750" dirty="0">
                <a:latin typeface="宋体"/>
                <a:cs typeface="宋体"/>
              </a:rPr>
              <a:t>执行</a:t>
            </a:r>
            <a:r>
              <a:rPr sz="1750" spc="-20" dirty="0">
                <a:latin typeface="Arial"/>
                <a:cs typeface="Arial"/>
              </a:rPr>
              <a:t>for</a:t>
            </a:r>
            <a:r>
              <a:rPr sz="1750" spc="-10" dirty="0">
                <a:latin typeface="宋体"/>
                <a:cs typeface="宋体"/>
              </a:rPr>
              <a:t>语句下面的语句。</a:t>
            </a:r>
            <a:endParaRPr sz="1750">
              <a:latin typeface="宋体"/>
              <a:cs typeface="宋体"/>
            </a:endParaRPr>
          </a:p>
        </p:txBody>
      </p:sp>
      <p:sp>
        <p:nvSpPr>
          <p:cNvPr id="12" name="object 12"/>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3" name="object 7">
            <a:extLst>
              <a:ext uri="{FF2B5EF4-FFF2-40B4-BE49-F238E27FC236}">
                <a16:creationId xmlns:a16="http://schemas.microsoft.com/office/drawing/2014/main" id="{75007793-4D8A-53A0-0909-9B370780F113}"/>
              </a:ext>
            </a:extLst>
          </p:cNvPr>
          <p:cNvSpPr txBox="1"/>
          <p:nvPr/>
        </p:nvSpPr>
        <p:spPr>
          <a:xfrm>
            <a:off x="575443" y="6573519"/>
            <a:ext cx="7245350" cy="34671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spc="-10" dirty="0">
                <a:latin typeface="微软雅黑"/>
                <a:cs typeface="微软雅黑"/>
              </a:rPr>
              <a:t>当顺序执行语句只有一条时，定界符</a:t>
            </a:r>
            <a:r>
              <a:rPr sz="2100" spc="-10" dirty="0">
                <a:latin typeface="Arial"/>
                <a:cs typeface="Arial"/>
              </a:rPr>
              <a:t>begin</a:t>
            </a:r>
            <a:r>
              <a:rPr sz="2100" dirty="0">
                <a:latin typeface="微软雅黑"/>
                <a:cs typeface="微软雅黑"/>
              </a:rPr>
              <a:t>和</a:t>
            </a:r>
            <a:r>
              <a:rPr sz="2100" spc="-10" dirty="0">
                <a:latin typeface="Arial"/>
                <a:cs typeface="Arial"/>
              </a:rPr>
              <a:t>end</a:t>
            </a:r>
            <a:r>
              <a:rPr sz="2100" spc="-10" dirty="0">
                <a:latin typeface="微软雅黑"/>
                <a:cs typeface="微软雅黑"/>
              </a:rPr>
              <a:t>可以省略。</a:t>
            </a:r>
            <a:endParaRPr sz="2100" dirty="0">
              <a:latin typeface="微软雅黑"/>
              <a:cs typeface="微软雅黑"/>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83449" y="2906267"/>
            <a:ext cx="7710805" cy="3004185"/>
            <a:chOff x="1083449" y="2906267"/>
            <a:chExt cx="7710805" cy="3004185"/>
          </a:xfrm>
        </p:grpSpPr>
        <p:sp>
          <p:nvSpPr>
            <p:cNvPr id="4" name="object 4"/>
            <p:cNvSpPr/>
            <p:nvPr/>
          </p:nvSpPr>
          <p:spPr>
            <a:xfrm>
              <a:off x="1088021" y="2910077"/>
              <a:ext cx="7701915" cy="2996565"/>
            </a:xfrm>
            <a:custGeom>
              <a:avLst/>
              <a:gdLst/>
              <a:ahLst/>
              <a:cxnLst/>
              <a:rect l="l" t="t" r="r" b="b"/>
              <a:pathLst>
                <a:path w="7701915" h="2996565">
                  <a:moveTo>
                    <a:pt x="7701533" y="2996183"/>
                  </a:moveTo>
                  <a:lnTo>
                    <a:pt x="7701533" y="0"/>
                  </a:lnTo>
                  <a:lnTo>
                    <a:pt x="0" y="0"/>
                  </a:lnTo>
                  <a:lnTo>
                    <a:pt x="0" y="2996183"/>
                  </a:lnTo>
                  <a:lnTo>
                    <a:pt x="7701533" y="2996183"/>
                  </a:lnTo>
                  <a:close/>
                </a:path>
              </a:pathLst>
            </a:custGeom>
            <a:solidFill>
              <a:srgbClr val="F9FABA"/>
            </a:solidFill>
          </p:spPr>
          <p:txBody>
            <a:bodyPr wrap="square" lIns="0" tIns="0" rIns="0" bIns="0" rtlCol="0"/>
            <a:lstStyle/>
            <a:p>
              <a:endParaRPr/>
            </a:p>
          </p:txBody>
        </p:sp>
        <p:sp>
          <p:nvSpPr>
            <p:cNvPr id="5" name="object 5"/>
            <p:cNvSpPr/>
            <p:nvPr/>
          </p:nvSpPr>
          <p:spPr>
            <a:xfrm>
              <a:off x="1083449" y="2906267"/>
              <a:ext cx="7710805" cy="3004185"/>
            </a:xfrm>
            <a:custGeom>
              <a:avLst/>
              <a:gdLst/>
              <a:ahLst/>
              <a:cxnLst/>
              <a:rect l="l" t="t" r="r" b="b"/>
              <a:pathLst>
                <a:path w="7710805" h="3004185">
                  <a:moveTo>
                    <a:pt x="7710678" y="3002279"/>
                  </a:moveTo>
                  <a:lnTo>
                    <a:pt x="7710678" y="1523"/>
                  </a:lnTo>
                  <a:lnTo>
                    <a:pt x="7708392" y="0"/>
                  </a:lnTo>
                  <a:lnTo>
                    <a:pt x="1523" y="0"/>
                  </a:lnTo>
                  <a:lnTo>
                    <a:pt x="0" y="1524"/>
                  </a:lnTo>
                  <a:lnTo>
                    <a:pt x="0" y="3002280"/>
                  </a:lnTo>
                  <a:lnTo>
                    <a:pt x="1524" y="3003804"/>
                  </a:lnTo>
                  <a:lnTo>
                    <a:pt x="4572" y="3003804"/>
                  </a:lnTo>
                  <a:lnTo>
                    <a:pt x="4572" y="8382"/>
                  </a:lnTo>
                  <a:lnTo>
                    <a:pt x="8381" y="3810"/>
                  </a:lnTo>
                  <a:lnTo>
                    <a:pt x="8381" y="8382"/>
                  </a:lnTo>
                  <a:lnTo>
                    <a:pt x="7702296" y="8381"/>
                  </a:lnTo>
                  <a:lnTo>
                    <a:pt x="7702296" y="3809"/>
                  </a:lnTo>
                  <a:lnTo>
                    <a:pt x="7706106" y="8381"/>
                  </a:lnTo>
                  <a:lnTo>
                    <a:pt x="7706106" y="3003804"/>
                  </a:lnTo>
                  <a:lnTo>
                    <a:pt x="7708392" y="3003804"/>
                  </a:lnTo>
                  <a:lnTo>
                    <a:pt x="7710678" y="3002279"/>
                  </a:lnTo>
                  <a:close/>
                </a:path>
                <a:path w="7710805" h="3004185">
                  <a:moveTo>
                    <a:pt x="8381" y="8382"/>
                  </a:moveTo>
                  <a:lnTo>
                    <a:pt x="8381" y="3810"/>
                  </a:lnTo>
                  <a:lnTo>
                    <a:pt x="4572" y="8382"/>
                  </a:lnTo>
                  <a:lnTo>
                    <a:pt x="8381" y="8382"/>
                  </a:lnTo>
                  <a:close/>
                </a:path>
                <a:path w="7710805" h="3004185">
                  <a:moveTo>
                    <a:pt x="8381" y="2995422"/>
                  </a:moveTo>
                  <a:lnTo>
                    <a:pt x="8381" y="8382"/>
                  </a:lnTo>
                  <a:lnTo>
                    <a:pt x="4572" y="8382"/>
                  </a:lnTo>
                  <a:lnTo>
                    <a:pt x="4572" y="2995422"/>
                  </a:lnTo>
                  <a:lnTo>
                    <a:pt x="8381" y="2995422"/>
                  </a:lnTo>
                  <a:close/>
                </a:path>
                <a:path w="7710805" h="3004185">
                  <a:moveTo>
                    <a:pt x="7706106" y="2995422"/>
                  </a:moveTo>
                  <a:lnTo>
                    <a:pt x="4572" y="2995422"/>
                  </a:lnTo>
                  <a:lnTo>
                    <a:pt x="8381" y="2999993"/>
                  </a:lnTo>
                  <a:lnTo>
                    <a:pt x="8382" y="3003804"/>
                  </a:lnTo>
                  <a:lnTo>
                    <a:pt x="7702296" y="3003804"/>
                  </a:lnTo>
                  <a:lnTo>
                    <a:pt x="7702296" y="2999993"/>
                  </a:lnTo>
                  <a:lnTo>
                    <a:pt x="7706106" y="2995422"/>
                  </a:lnTo>
                  <a:close/>
                </a:path>
                <a:path w="7710805" h="3004185">
                  <a:moveTo>
                    <a:pt x="8382" y="3003804"/>
                  </a:moveTo>
                  <a:lnTo>
                    <a:pt x="8381" y="2999993"/>
                  </a:lnTo>
                  <a:lnTo>
                    <a:pt x="4572" y="2995422"/>
                  </a:lnTo>
                  <a:lnTo>
                    <a:pt x="4572" y="3003804"/>
                  </a:lnTo>
                  <a:lnTo>
                    <a:pt x="8382" y="3003804"/>
                  </a:lnTo>
                  <a:close/>
                </a:path>
                <a:path w="7710805" h="3004185">
                  <a:moveTo>
                    <a:pt x="7706106" y="8381"/>
                  </a:moveTo>
                  <a:lnTo>
                    <a:pt x="7702296" y="3809"/>
                  </a:lnTo>
                  <a:lnTo>
                    <a:pt x="7702296" y="8381"/>
                  </a:lnTo>
                  <a:lnTo>
                    <a:pt x="7706106" y="8381"/>
                  </a:lnTo>
                  <a:close/>
                </a:path>
                <a:path w="7710805" h="3004185">
                  <a:moveTo>
                    <a:pt x="7706106" y="2995422"/>
                  </a:moveTo>
                  <a:lnTo>
                    <a:pt x="7706106" y="8381"/>
                  </a:lnTo>
                  <a:lnTo>
                    <a:pt x="7702296" y="8381"/>
                  </a:lnTo>
                  <a:lnTo>
                    <a:pt x="7702296" y="2995422"/>
                  </a:lnTo>
                  <a:lnTo>
                    <a:pt x="7706106" y="2995422"/>
                  </a:lnTo>
                  <a:close/>
                </a:path>
                <a:path w="7710805" h="3004185">
                  <a:moveTo>
                    <a:pt x="7706106" y="3003804"/>
                  </a:moveTo>
                  <a:lnTo>
                    <a:pt x="7706106" y="2995422"/>
                  </a:lnTo>
                  <a:lnTo>
                    <a:pt x="7702296" y="2999993"/>
                  </a:lnTo>
                  <a:lnTo>
                    <a:pt x="7702296" y="3003804"/>
                  </a:lnTo>
                  <a:lnTo>
                    <a:pt x="7706106" y="3003804"/>
                  </a:lnTo>
                  <a:close/>
                </a:path>
              </a:pathLst>
            </a:custGeom>
            <a:solidFill>
              <a:srgbClr val="000000"/>
            </a:solidFill>
          </p:spPr>
          <p:txBody>
            <a:bodyPr wrap="square" lIns="0" tIns="0" rIns="0" bIns="0" rtlCol="0"/>
            <a:lstStyle/>
            <a:p>
              <a:endParaRPr/>
            </a:p>
          </p:txBody>
        </p:sp>
      </p:grpSp>
      <p:sp>
        <p:nvSpPr>
          <p:cNvPr id="6" name="object 6"/>
          <p:cNvSpPr txBox="1"/>
          <p:nvPr/>
        </p:nvSpPr>
        <p:spPr>
          <a:xfrm>
            <a:off x="575443" y="1976120"/>
            <a:ext cx="7363459" cy="3841115"/>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Arial"/>
                <a:cs typeface="Arial"/>
              </a:rPr>
              <a:t>for</a:t>
            </a:r>
            <a:r>
              <a:rPr sz="2100" b="1" dirty="0">
                <a:solidFill>
                  <a:srgbClr val="3E3E3E"/>
                </a:solidFill>
                <a:latin typeface="微软雅黑"/>
                <a:cs typeface="微软雅黑"/>
              </a:rPr>
              <a:t>循环实现两个</a:t>
            </a:r>
            <a:r>
              <a:rPr sz="2100" b="1" spc="-10" dirty="0">
                <a:solidFill>
                  <a:srgbClr val="3E3E3E"/>
                </a:solidFill>
                <a:latin typeface="Arial"/>
                <a:cs typeface="Arial"/>
              </a:rPr>
              <a:t>8</a:t>
            </a:r>
            <a:r>
              <a:rPr sz="2100" b="1" spc="-15" dirty="0">
                <a:solidFill>
                  <a:srgbClr val="3E3E3E"/>
                </a:solidFill>
                <a:latin typeface="微软雅黑"/>
                <a:cs typeface="微软雅黑"/>
              </a:rPr>
              <a:t>位二进制数的乘法操作</a:t>
            </a:r>
            <a:endParaRPr sz="2100" dirty="0">
              <a:latin typeface="微软雅黑"/>
              <a:cs typeface="微软雅黑"/>
            </a:endParaRPr>
          </a:p>
          <a:p>
            <a:pPr marL="591820">
              <a:lnSpc>
                <a:spcPct val="100000"/>
              </a:lnSpc>
              <a:spcBef>
                <a:spcPts val="1835"/>
              </a:spcBef>
            </a:pPr>
            <a:r>
              <a:rPr sz="1750" spc="20" dirty="0">
                <a:latin typeface="微软雅黑"/>
                <a:cs typeface="微软雅黑"/>
              </a:rPr>
              <a:t>例 </a:t>
            </a:r>
            <a:r>
              <a:rPr sz="1750" spc="-20" dirty="0">
                <a:latin typeface="Arial"/>
                <a:cs typeface="Arial"/>
              </a:rPr>
              <a:t>3.9</a:t>
            </a:r>
            <a:r>
              <a:rPr sz="1750" spc="-20" dirty="0">
                <a:latin typeface="微软雅黑"/>
                <a:cs typeface="微软雅黑"/>
              </a:rPr>
              <a:t>：</a:t>
            </a:r>
            <a:r>
              <a:rPr sz="1750" spc="-20" dirty="0">
                <a:latin typeface="Arial"/>
                <a:cs typeface="Arial"/>
              </a:rPr>
              <a:t>2</a:t>
            </a:r>
            <a:r>
              <a:rPr sz="1750" dirty="0">
                <a:latin typeface="微软雅黑"/>
                <a:cs typeface="微软雅黑"/>
              </a:rPr>
              <a:t>个</a:t>
            </a:r>
            <a:r>
              <a:rPr sz="1750" spc="-20" dirty="0">
                <a:latin typeface="Arial"/>
                <a:cs typeface="Arial"/>
              </a:rPr>
              <a:t>8</a:t>
            </a:r>
            <a:r>
              <a:rPr sz="1750" dirty="0">
                <a:latin typeface="微软雅黑"/>
                <a:cs typeface="微软雅黑"/>
              </a:rPr>
              <a:t>位二进制数相乘的</a:t>
            </a:r>
            <a:r>
              <a:rPr sz="1750" spc="-20" dirty="0">
                <a:latin typeface="Arial"/>
                <a:cs typeface="Arial"/>
              </a:rPr>
              <a:t>for</a:t>
            </a:r>
            <a:r>
              <a:rPr sz="1750" spc="-15" dirty="0">
                <a:latin typeface="微软雅黑"/>
                <a:cs typeface="微软雅黑"/>
              </a:rPr>
              <a:t>语句描述</a:t>
            </a:r>
            <a:endParaRPr sz="1750" dirty="0">
              <a:latin typeface="微软雅黑"/>
              <a:cs typeface="微软雅黑"/>
            </a:endParaRPr>
          </a:p>
          <a:p>
            <a:pPr marL="591820">
              <a:lnSpc>
                <a:spcPct val="100000"/>
              </a:lnSpc>
              <a:spcBef>
                <a:spcPts val="1260"/>
              </a:spcBef>
            </a:pPr>
            <a:r>
              <a:rPr sz="1550" b="1" dirty="0">
                <a:latin typeface="Arial"/>
                <a:cs typeface="Arial"/>
              </a:rPr>
              <a:t>module</a:t>
            </a:r>
            <a:r>
              <a:rPr sz="1550" b="1" spc="45" dirty="0">
                <a:latin typeface="Arial"/>
                <a:cs typeface="Arial"/>
              </a:rPr>
              <a:t> </a:t>
            </a:r>
            <a:r>
              <a:rPr sz="1550" dirty="0">
                <a:latin typeface="Arial"/>
                <a:cs typeface="Arial"/>
              </a:rPr>
              <a:t>mult_for</a:t>
            </a:r>
            <a:r>
              <a:rPr sz="1550" spc="50" dirty="0">
                <a:latin typeface="Arial"/>
                <a:cs typeface="Arial"/>
              </a:rPr>
              <a:t>  </a:t>
            </a:r>
            <a:r>
              <a:rPr sz="1550" dirty="0">
                <a:latin typeface="Arial"/>
                <a:cs typeface="Arial"/>
              </a:rPr>
              <a:t>(</a:t>
            </a:r>
            <a:r>
              <a:rPr sz="1550" b="1" dirty="0">
                <a:latin typeface="Arial"/>
                <a:cs typeface="Arial"/>
              </a:rPr>
              <a:t>input</a:t>
            </a:r>
            <a:r>
              <a:rPr sz="1550" b="1" spc="50" dirty="0">
                <a:latin typeface="Arial"/>
                <a:cs typeface="Arial"/>
              </a:rPr>
              <a:t> </a:t>
            </a:r>
            <a:r>
              <a:rPr sz="1550" dirty="0">
                <a:latin typeface="Arial"/>
                <a:cs typeface="Arial"/>
              </a:rPr>
              <a:t>[8:1]</a:t>
            </a:r>
            <a:r>
              <a:rPr sz="1550" spc="45" dirty="0">
                <a:latin typeface="Arial"/>
                <a:cs typeface="Arial"/>
              </a:rPr>
              <a:t> </a:t>
            </a:r>
            <a:r>
              <a:rPr sz="1550" dirty="0">
                <a:latin typeface="Arial"/>
                <a:cs typeface="Arial"/>
              </a:rPr>
              <a:t>op0,</a:t>
            </a:r>
            <a:r>
              <a:rPr sz="1550" spc="55" dirty="0">
                <a:latin typeface="Arial"/>
                <a:cs typeface="Arial"/>
              </a:rPr>
              <a:t> </a:t>
            </a:r>
            <a:r>
              <a:rPr sz="1550" b="1" dirty="0">
                <a:latin typeface="Arial"/>
                <a:cs typeface="Arial"/>
              </a:rPr>
              <a:t>input</a:t>
            </a:r>
            <a:r>
              <a:rPr sz="1550" b="1" spc="35" dirty="0">
                <a:latin typeface="Arial"/>
                <a:cs typeface="Arial"/>
              </a:rPr>
              <a:t> </a:t>
            </a:r>
            <a:r>
              <a:rPr sz="1550" dirty="0">
                <a:latin typeface="Arial"/>
                <a:cs typeface="Arial"/>
              </a:rPr>
              <a:t>[8:1]</a:t>
            </a:r>
            <a:r>
              <a:rPr sz="1550" spc="55" dirty="0">
                <a:latin typeface="Arial"/>
                <a:cs typeface="Arial"/>
              </a:rPr>
              <a:t> </a:t>
            </a:r>
            <a:r>
              <a:rPr sz="1550" dirty="0">
                <a:latin typeface="Arial"/>
                <a:cs typeface="Arial"/>
              </a:rPr>
              <a:t>op1,</a:t>
            </a:r>
            <a:r>
              <a:rPr sz="1550" b="1" dirty="0">
                <a:latin typeface="Arial"/>
                <a:cs typeface="Arial"/>
              </a:rPr>
              <a:t>output</a:t>
            </a:r>
            <a:r>
              <a:rPr sz="1550" b="1" spc="40" dirty="0">
                <a:latin typeface="Arial"/>
                <a:cs typeface="Arial"/>
              </a:rPr>
              <a:t> </a:t>
            </a:r>
            <a:r>
              <a:rPr sz="1550" b="1" dirty="0">
                <a:latin typeface="Arial"/>
                <a:cs typeface="Arial"/>
              </a:rPr>
              <a:t>reg</a:t>
            </a:r>
            <a:r>
              <a:rPr sz="1550" b="1" spc="50" dirty="0">
                <a:latin typeface="Arial"/>
                <a:cs typeface="Arial"/>
              </a:rPr>
              <a:t> </a:t>
            </a:r>
            <a:r>
              <a:rPr sz="1550" dirty="0">
                <a:latin typeface="Arial"/>
                <a:cs typeface="Arial"/>
              </a:rPr>
              <a:t>[16:1]</a:t>
            </a:r>
            <a:r>
              <a:rPr sz="1550" spc="45" dirty="0">
                <a:latin typeface="Arial"/>
                <a:cs typeface="Arial"/>
              </a:rPr>
              <a:t> </a:t>
            </a:r>
            <a:r>
              <a:rPr sz="1550" dirty="0">
                <a:latin typeface="Arial"/>
                <a:cs typeface="Arial"/>
              </a:rPr>
              <a:t>result</a:t>
            </a:r>
            <a:r>
              <a:rPr sz="1550" spc="50" dirty="0">
                <a:latin typeface="Arial"/>
                <a:cs typeface="Arial"/>
              </a:rPr>
              <a:t> </a:t>
            </a:r>
            <a:r>
              <a:rPr sz="1550" spc="-25" dirty="0">
                <a:latin typeface="Arial"/>
                <a:cs typeface="Arial"/>
              </a:rPr>
              <a:t>);</a:t>
            </a:r>
            <a:endParaRPr sz="1550" dirty="0">
              <a:latin typeface="Arial"/>
              <a:cs typeface="Arial"/>
            </a:endParaRPr>
          </a:p>
          <a:p>
            <a:pPr marL="1448435" marR="4912360">
              <a:lnSpc>
                <a:spcPct val="122100"/>
              </a:lnSpc>
            </a:pPr>
            <a:r>
              <a:rPr sz="1550" b="1" dirty="0">
                <a:latin typeface="Arial"/>
                <a:cs typeface="Arial"/>
              </a:rPr>
              <a:t>integer</a:t>
            </a:r>
            <a:r>
              <a:rPr sz="1550" b="1" spc="55" dirty="0">
                <a:latin typeface="Arial"/>
                <a:cs typeface="Arial"/>
              </a:rPr>
              <a:t> </a:t>
            </a:r>
            <a:r>
              <a:rPr sz="1550" spc="-35" dirty="0">
                <a:latin typeface="Arial"/>
                <a:cs typeface="Arial"/>
              </a:rPr>
              <a:t>i; </a:t>
            </a:r>
            <a:r>
              <a:rPr sz="1550" b="1" dirty="0">
                <a:latin typeface="Arial"/>
                <a:cs typeface="Arial"/>
              </a:rPr>
              <a:t>always</a:t>
            </a:r>
            <a:r>
              <a:rPr sz="1550" b="1" spc="30" dirty="0">
                <a:latin typeface="Arial"/>
                <a:cs typeface="Arial"/>
              </a:rPr>
              <a:t> </a:t>
            </a:r>
            <a:r>
              <a:rPr sz="1550" spc="-35" dirty="0">
                <a:latin typeface="Arial"/>
                <a:cs typeface="Arial"/>
              </a:rPr>
              <a:t>@* </a:t>
            </a:r>
            <a:r>
              <a:rPr sz="1550" b="1" spc="-10" dirty="0">
                <a:latin typeface="Arial"/>
                <a:cs typeface="Arial"/>
              </a:rPr>
              <a:t>begin</a:t>
            </a:r>
            <a:endParaRPr sz="1550" dirty="0">
              <a:latin typeface="Arial"/>
              <a:cs typeface="Arial"/>
            </a:endParaRPr>
          </a:p>
          <a:p>
            <a:pPr marL="1671320">
              <a:lnSpc>
                <a:spcPct val="100000"/>
              </a:lnSpc>
              <a:spcBef>
                <a:spcPts val="415"/>
              </a:spcBef>
            </a:pPr>
            <a:r>
              <a:rPr sz="1550" dirty="0">
                <a:latin typeface="Arial"/>
                <a:cs typeface="Arial"/>
              </a:rPr>
              <a:t>result</a:t>
            </a:r>
            <a:r>
              <a:rPr sz="1550" spc="2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0;</a:t>
            </a:r>
            <a:endParaRPr sz="1550" dirty="0">
              <a:latin typeface="Arial"/>
              <a:cs typeface="Arial"/>
            </a:endParaRPr>
          </a:p>
          <a:p>
            <a:pPr marL="1671320">
              <a:lnSpc>
                <a:spcPct val="100000"/>
              </a:lnSpc>
              <a:spcBef>
                <a:spcPts val="415"/>
              </a:spcBef>
            </a:pPr>
            <a:r>
              <a:rPr sz="1550" b="1" spc="-10" dirty="0">
                <a:latin typeface="Arial"/>
                <a:cs typeface="Arial"/>
              </a:rPr>
              <a:t>for</a:t>
            </a:r>
            <a:r>
              <a:rPr sz="1550" spc="-10" dirty="0">
                <a:latin typeface="Arial"/>
                <a:cs typeface="Arial"/>
              </a:rPr>
              <a:t>(i=1;i&lt;=8;i=i+1)</a:t>
            </a:r>
            <a:endParaRPr sz="1550" dirty="0">
              <a:latin typeface="Arial"/>
              <a:cs typeface="Arial"/>
            </a:endParaRPr>
          </a:p>
          <a:p>
            <a:pPr marL="2194560">
              <a:lnSpc>
                <a:spcPct val="100000"/>
              </a:lnSpc>
              <a:spcBef>
                <a:spcPts val="409"/>
              </a:spcBef>
            </a:pPr>
            <a:r>
              <a:rPr sz="1550" b="1" spc="-10" dirty="0">
                <a:latin typeface="Arial"/>
                <a:cs typeface="Arial"/>
              </a:rPr>
              <a:t>if</a:t>
            </a:r>
            <a:r>
              <a:rPr sz="1550" spc="-10" dirty="0">
                <a:latin typeface="Arial"/>
                <a:cs typeface="Arial"/>
              </a:rPr>
              <a:t>(op1[i])</a:t>
            </a:r>
            <a:endParaRPr sz="1550" dirty="0">
              <a:latin typeface="Arial"/>
              <a:cs typeface="Arial"/>
            </a:endParaRPr>
          </a:p>
          <a:p>
            <a:pPr marL="2451100">
              <a:lnSpc>
                <a:spcPct val="100000"/>
              </a:lnSpc>
              <a:spcBef>
                <a:spcPts val="409"/>
              </a:spcBef>
            </a:pPr>
            <a:r>
              <a:rPr sz="1550" dirty="0">
                <a:latin typeface="Arial"/>
                <a:cs typeface="Arial"/>
              </a:rPr>
              <a:t>result</a:t>
            </a:r>
            <a:r>
              <a:rPr sz="1550" spc="4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result</a:t>
            </a:r>
            <a:r>
              <a:rPr sz="1550" spc="40" dirty="0">
                <a:latin typeface="Arial"/>
                <a:cs typeface="Arial"/>
              </a:rPr>
              <a:t> </a:t>
            </a:r>
            <a:r>
              <a:rPr sz="1550" dirty="0">
                <a:latin typeface="Arial"/>
                <a:cs typeface="Arial"/>
              </a:rPr>
              <a:t>+</a:t>
            </a:r>
            <a:r>
              <a:rPr sz="1550" spc="40" dirty="0">
                <a:latin typeface="Arial"/>
                <a:cs typeface="Arial"/>
              </a:rPr>
              <a:t> </a:t>
            </a:r>
            <a:r>
              <a:rPr sz="1550" dirty="0">
                <a:latin typeface="Arial"/>
                <a:cs typeface="Arial"/>
              </a:rPr>
              <a:t>(op0</a:t>
            </a:r>
            <a:r>
              <a:rPr sz="1550" spc="40" dirty="0">
                <a:latin typeface="Arial"/>
                <a:cs typeface="Arial"/>
              </a:rPr>
              <a:t> </a:t>
            </a:r>
            <a:r>
              <a:rPr sz="1550" dirty="0">
                <a:latin typeface="Arial"/>
                <a:cs typeface="Arial"/>
              </a:rPr>
              <a:t>&lt;&lt;</a:t>
            </a:r>
            <a:r>
              <a:rPr sz="1550" spc="35" dirty="0">
                <a:latin typeface="Arial"/>
                <a:cs typeface="Arial"/>
              </a:rPr>
              <a:t> </a:t>
            </a:r>
            <a:r>
              <a:rPr sz="1550" dirty="0">
                <a:latin typeface="Arial"/>
                <a:cs typeface="Arial"/>
              </a:rPr>
              <a:t>(i-</a:t>
            </a:r>
            <a:r>
              <a:rPr sz="1550" spc="-20" dirty="0">
                <a:latin typeface="Arial"/>
                <a:cs typeface="Arial"/>
              </a:rPr>
              <a:t>1));</a:t>
            </a:r>
            <a:endParaRPr sz="1550" dirty="0">
              <a:latin typeface="Arial"/>
              <a:cs typeface="Arial"/>
            </a:endParaRPr>
          </a:p>
          <a:p>
            <a:pPr marL="591820" marR="5549900" indent="857250">
              <a:lnSpc>
                <a:spcPct val="122300"/>
              </a:lnSpc>
            </a:pPr>
            <a:r>
              <a:rPr sz="1550" b="1" spc="-25" dirty="0">
                <a:latin typeface="Arial"/>
                <a:cs typeface="Arial"/>
              </a:rPr>
              <a:t>end </a:t>
            </a:r>
            <a:r>
              <a:rPr sz="1550" b="1" spc="-10" dirty="0">
                <a:latin typeface="Arial"/>
                <a:cs typeface="Arial"/>
              </a:rPr>
              <a:t>endmodule</a:t>
            </a:r>
            <a:endParaRPr sz="1550" dirty="0">
              <a:latin typeface="Arial"/>
              <a:cs typeface="Arial"/>
            </a:endParaRPr>
          </a:p>
        </p:txBody>
      </p:sp>
      <p:sp>
        <p:nvSpPr>
          <p:cNvPr id="2" name="object 2"/>
          <p:cNvSpPr txBox="1">
            <a:spLocks noGrp="1"/>
          </p:cNvSpPr>
          <p:nvPr>
            <p:ph type="title"/>
          </p:nvPr>
        </p:nvSpPr>
        <p:spPr>
          <a:xfrm>
            <a:off x="523627" y="1104392"/>
            <a:ext cx="305943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3.3.1.2</a:t>
            </a:r>
            <a:r>
              <a:rPr spc="-20" dirty="0">
                <a:latin typeface="Arial"/>
                <a:cs typeface="Arial"/>
              </a:rPr>
              <a:t> </a:t>
            </a:r>
            <a:r>
              <a:rPr spc="-10" dirty="0">
                <a:latin typeface="Calibri"/>
                <a:cs typeface="Calibri"/>
              </a:rPr>
              <a:t>for</a:t>
            </a:r>
            <a:r>
              <a:rPr spc="-15" dirty="0"/>
              <a:t>语句实例</a:t>
            </a: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41757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3.3.2 </a:t>
            </a:r>
            <a:r>
              <a:rPr spc="-10" dirty="0">
                <a:latin typeface="Calibri"/>
                <a:cs typeface="Calibri"/>
              </a:rPr>
              <a:t>repeat</a:t>
            </a:r>
            <a:r>
              <a:rPr dirty="0"/>
              <a:t>语句</a:t>
            </a:r>
            <a:r>
              <a:rPr spc="-10" dirty="0">
                <a:latin typeface="Arial"/>
                <a:cs typeface="Arial"/>
              </a:rPr>
              <a:t>-</a:t>
            </a:r>
            <a:r>
              <a:rPr spc="-25" dirty="0"/>
              <a:t>语法</a:t>
            </a:r>
          </a:p>
        </p:txBody>
      </p:sp>
      <p:grpSp>
        <p:nvGrpSpPr>
          <p:cNvPr id="3" name="object 3"/>
          <p:cNvGrpSpPr/>
          <p:nvPr/>
        </p:nvGrpSpPr>
        <p:grpSpPr>
          <a:xfrm>
            <a:off x="3291725" y="2398014"/>
            <a:ext cx="2959735" cy="2007235"/>
            <a:chOff x="3291725" y="2398014"/>
            <a:chExt cx="2959735" cy="2007235"/>
          </a:xfrm>
        </p:grpSpPr>
        <p:sp>
          <p:nvSpPr>
            <p:cNvPr id="4" name="object 4"/>
            <p:cNvSpPr/>
            <p:nvPr/>
          </p:nvSpPr>
          <p:spPr>
            <a:xfrm>
              <a:off x="3295535" y="2402586"/>
              <a:ext cx="2951480" cy="1998345"/>
            </a:xfrm>
            <a:custGeom>
              <a:avLst/>
              <a:gdLst/>
              <a:ahLst/>
              <a:cxnLst/>
              <a:rect l="l" t="t" r="r" b="b"/>
              <a:pathLst>
                <a:path w="2951479" h="1998345">
                  <a:moveTo>
                    <a:pt x="2951226" y="1997964"/>
                  </a:moveTo>
                  <a:lnTo>
                    <a:pt x="2951226" y="0"/>
                  </a:lnTo>
                  <a:lnTo>
                    <a:pt x="0" y="0"/>
                  </a:lnTo>
                  <a:lnTo>
                    <a:pt x="0" y="1997964"/>
                  </a:lnTo>
                  <a:lnTo>
                    <a:pt x="2951226" y="1997964"/>
                  </a:lnTo>
                  <a:close/>
                </a:path>
              </a:pathLst>
            </a:custGeom>
            <a:solidFill>
              <a:srgbClr val="F9FABA"/>
            </a:solidFill>
          </p:spPr>
          <p:txBody>
            <a:bodyPr wrap="square" lIns="0" tIns="0" rIns="0" bIns="0" rtlCol="0"/>
            <a:lstStyle/>
            <a:p>
              <a:endParaRPr/>
            </a:p>
          </p:txBody>
        </p:sp>
        <p:sp>
          <p:nvSpPr>
            <p:cNvPr id="5" name="object 5"/>
            <p:cNvSpPr/>
            <p:nvPr/>
          </p:nvSpPr>
          <p:spPr>
            <a:xfrm>
              <a:off x="3291725" y="2398014"/>
              <a:ext cx="2959735" cy="2007235"/>
            </a:xfrm>
            <a:custGeom>
              <a:avLst/>
              <a:gdLst/>
              <a:ahLst/>
              <a:cxnLst/>
              <a:rect l="l" t="t" r="r" b="b"/>
              <a:pathLst>
                <a:path w="2959735" h="2007235">
                  <a:moveTo>
                    <a:pt x="2959608" y="2004821"/>
                  </a:moveTo>
                  <a:lnTo>
                    <a:pt x="2959608" y="2285"/>
                  </a:lnTo>
                  <a:lnTo>
                    <a:pt x="2957322" y="0"/>
                  </a:lnTo>
                  <a:lnTo>
                    <a:pt x="1523" y="0"/>
                  </a:lnTo>
                  <a:lnTo>
                    <a:pt x="0" y="2286"/>
                  </a:lnTo>
                  <a:lnTo>
                    <a:pt x="0" y="2004822"/>
                  </a:lnTo>
                  <a:lnTo>
                    <a:pt x="1524" y="2007108"/>
                  </a:lnTo>
                  <a:lnTo>
                    <a:pt x="3810" y="2007108"/>
                  </a:lnTo>
                  <a:lnTo>
                    <a:pt x="3810" y="8382"/>
                  </a:lnTo>
                  <a:lnTo>
                    <a:pt x="8381" y="4572"/>
                  </a:lnTo>
                  <a:lnTo>
                    <a:pt x="8381" y="8382"/>
                  </a:lnTo>
                  <a:lnTo>
                    <a:pt x="2951226" y="8381"/>
                  </a:lnTo>
                  <a:lnTo>
                    <a:pt x="2951226" y="4571"/>
                  </a:lnTo>
                  <a:lnTo>
                    <a:pt x="2955036" y="8381"/>
                  </a:lnTo>
                  <a:lnTo>
                    <a:pt x="2955036" y="2007108"/>
                  </a:lnTo>
                  <a:lnTo>
                    <a:pt x="2957322" y="2007108"/>
                  </a:lnTo>
                  <a:lnTo>
                    <a:pt x="2959608" y="2004821"/>
                  </a:lnTo>
                  <a:close/>
                </a:path>
                <a:path w="2959735" h="2007235">
                  <a:moveTo>
                    <a:pt x="8381" y="8382"/>
                  </a:moveTo>
                  <a:lnTo>
                    <a:pt x="8381" y="4572"/>
                  </a:lnTo>
                  <a:lnTo>
                    <a:pt x="3810" y="8382"/>
                  </a:lnTo>
                  <a:lnTo>
                    <a:pt x="8381" y="8382"/>
                  </a:lnTo>
                  <a:close/>
                </a:path>
                <a:path w="2959735" h="2007235">
                  <a:moveTo>
                    <a:pt x="8381" y="1998726"/>
                  </a:moveTo>
                  <a:lnTo>
                    <a:pt x="8381" y="8382"/>
                  </a:lnTo>
                  <a:lnTo>
                    <a:pt x="3810" y="8382"/>
                  </a:lnTo>
                  <a:lnTo>
                    <a:pt x="3810" y="1998726"/>
                  </a:lnTo>
                  <a:lnTo>
                    <a:pt x="8381" y="1998726"/>
                  </a:lnTo>
                  <a:close/>
                </a:path>
                <a:path w="2959735" h="2007235">
                  <a:moveTo>
                    <a:pt x="2955036" y="1998726"/>
                  </a:moveTo>
                  <a:lnTo>
                    <a:pt x="3810" y="1998726"/>
                  </a:lnTo>
                  <a:lnTo>
                    <a:pt x="8381" y="2002535"/>
                  </a:lnTo>
                  <a:lnTo>
                    <a:pt x="8382" y="2007108"/>
                  </a:lnTo>
                  <a:lnTo>
                    <a:pt x="2951226" y="2007108"/>
                  </a:lnTo>
                  <a:lnTo>
                    <a:pt x="2951226" y="2002535"/>
                  </a:lnTo>
                  <a:lnTo>
                    <a:pt x="2955036" y="1998726"/>
                  </a:lnTo>
                  <a:close/>
                </a:path>
                <a:path w="2959735" h="2007235">
                  <a:moveTo>
                    <a:pt x="8382" y="2007108"/>
                  </a:moveTo>
                  <a:lnTo>
                    <a:pt x="8381" y="2002535"/>
                  </a:lnTo>
                  <a:lnTo>
                    <a:pt x="3810" y="1998726"/>
                  </a:lnTo>
                  <a:lnTo>
                    <a:pt x="3810" y="2007108"/>
                  </a:lnTo>
                  <a:lnTo>
                    <a:pt x="8382" y="2007108"/>
                  </a:lnTo>
                  <a:close/>
                </a:path>
                <a:path w="2959735" h="2007235">
                  <a:moveTo>
                    <a:pt x="2955036" y="8381"/>
                  </a:moveTo>
                  <a:lnTo>
                    <a:pt x="2951226" y="4571"/>
                  </a:lnTo>
                  <a:lnTo>
                    <a:pt x="2951226" y="8381"/>
                  </a:lnTo>
                  <a:lnTo>
                    <a:pt x="2955036" y="8381"/>
                  </a:lnTo>
                  <a:close/>
                </a:path>
                <a:path w="2959735" h="2007235">
                  <a:moveTo>
                    <a:pt x="2955036" y="1998726"/>
                  </a:moveTo>
                  <a:lnTo>
                    <a:pt x="2955036" y="8381"/>
                  </a:lnTo>
                  <a:lnTo>
                    <a:pt x="2951226" y="8381"/>
                  </a:lnTo>
                  <a:lnTo>
                    <a:pt x="2951226" y="1998726"/>
                  </a:lnTo>
                  <a:lnTo>
                    <a:pt x="2955036" y="1998726"/>
                  </a:lnTo>
                  <a:close/>
                </a:path>
                <a:path w="2959735" h="2007235">
                  <a:moveTo>
                    <a:pt x="2955036" y="2007108"/>
                  </a:moveTo>
                  <a:lnTo>
                    <a:pt x="2955036" y="1998726"/>
                  </a:lnTo>
                  <a:lnTo>
                    <a:pt x="2951226" y="2002535"/>
                  </a:lnTo>
                  <a:lnTo>
                    <a:pt x="2951226" y="2007108"/>
                  </a:lnTo>
                  <a:lnTo>
                    <a:pt x="2955036" y="2007108"/>
                  </a:lnTo>
                  <a:close/>
                </a:path>
              </a:pathLst>
            </a:custGeom>
            <a:solidFill>
              <a:srgbClr val="000000"/>
            </a:solidFill>
          </p:spPr>
          <p:txBody>
            <a:bodyPr wrap="square" lIns="0" tIns="0" rIns="0" bIns="0" rtlCol="0"/>
            <a:lstStyle/>
            <a:p>
              <a:endParaRPr/>
            </a:p>
          </p:txBody>
        </p:sp>
      </p:grpSp>
      <p:sp>
        <p:nvSpPr>
          <p:cNvPr id="6" name="object 6"/>
          <p:cNvSpPr txBox="1"/>
          <p:nvPr/>
        </p:nvSpPr>
        <p:spPr>
          <a:xfrm>
            <a:off x="603637" y="1930400"/>
            <a:ext cx="9041130" cy="3612515"/>
          </a:xfrm>
          <a:prstGeom prst="rect">
            <a:avLst/>
          </a:prstGeom>
        </p:spPr>
        <p:txBody>
          <a:bodyPr vert="horz" wrap="square" lIns="0" tIns="13335" rIns="0" bIns="0" rtlCol="0">
            <a:spAutoFit/>
          </a:bodyPr>
          <a:lstStyle/>
          <a:p>
            <a:pPr marL="295910" indent="-283210">
              <a:lnSpc>
                <a:spcPct val="100000"/>
              </a:lnSpc>
              <a:spcBef>
                <a:spcPts val="105"/>
              </a:spcBef>
              <a:buClr>
                <a:srgbClr val="EC891C"/>
              </a:buClr>
              <a:buSzPct val="88095"/>
              <a:buFont typeface="Wingdings"/>
              <a:buChar char=""/>
              <a:tabLst>
                <a:tab pos="295910" algn="l"/>
              </a:tabLst>
            </a:pPr>
            <a:r>
              <a:rPr sz="2100" b="1" spc="-10" dirty="0">
                <a:solidFill>
                  <a:srgbClr val="3E3E3E"/>
                </a:solidFill>
                <a:latin typeface="Arial"/>
                <a:cs typeface="Arial"/>
              </a:rPr>
              <a:t>repeat</a:t>
            </a:r>
            <a:r>
              <a:rPr sz="2100" b="1" spc="-5" dirty="0">
                <a:solidFill>
                  <a:srgbClr val="3E3E3E"/>
                </a:solidFill>
                <a:latin typeface="微软雅黑"/>
                <a:cs typeface="微软雅黑"/>
              </a:rPr>
              <a:t>语句的使用格式如下：</a:t>
            </a:r>
            <a:endParaRPr sz="2100">
              <a:latin typeface="微软雅黑"/>
              <a:cs typeface="微软雅黑"/>
            </a:endParaRPr>
          </a:p>
          <a:p>
            <a:pPr marL="2771775">
              <a:lnSpc>
                <a:spcPct val="100000"/>
              </a:lnSpc>
              <a:spcBef>
                <a:spcPts val="1550"/>
              </a:spcBef>
            </a:pPr>
            <a:r>
              <a:rPr sz="1750" spc="-20" dirty="0">
                <a:latin typeface="Arial"/>
                <a:cs typeface="Arial"/>
              </a:rPr>
              <a:t>repeat</a:t>
            </a:r>
            <a:r>
              <a:rPr sz="1750" spc="-20" dirty="0">
                <a:latin typeface="宋体"/>
                <a:cs typeface="宋体"/>
              </a:rPr>
              <a:t>（</a:t>
            </a:r>
            <a:r>
              <a:rPr sz="1750" dirty="0">
                <a:latin typeface="宋体"/>
                <a:cs typeface="宋体"/>
              </a:rPr>
              <a:t>表达式</a:t>
            </a:r>
            <a:r>
              <a:rPr sz="1750" spc="-50" dirty="0">
                <a:latin typeface="宋体"/>
                <a:cs typeface="宋体"/>
              </a:rPr>
              <a:t>）</a:t>
            </a:r>
            <a:endParaRPr sz="1750">
              <a:latin typeface="宋体"/>
              <a:cs typeface="宋体"/>
            </a:endParaRPr>
          </a:p>
          <a:p>
            <a:pPr marL="2894330">
              <a:lnSpc>
                <a:spcPct val="100000"/>
              </a:lnSpc>
              <a:spcBef>
                <a:spcPts val="420"/>
              </a:spcBef>
            </a:pPr>
            <a:r>
              <a:rPr sz="1750" b="1" spc="-10" dirty="0">
                <a:latin typeface="Arial"/>
                <a:cs typeface="Arial"/>
              </a:rPr>
              <a:t>begin</a:t>
            </a:r>
            <a:endParaRPr sz="1750">
              <a:latin typeface="Arial"/>
              <a:cs typeface="Arial"/>
            </a:endParaRPr>
          </a:p>
          <a:p>
            <a:pPr marL="3200400">
              <a:lnSpc>
                <a:spcPct val="100000"/>
              </a:lnSpc>
              <a:spcBef>
                <a:spcPts val="425"/>
              </a:spcBef>
            </a:pPr>
            <a:r>
              <a:rPr sz="1750" spc="-10" dirty="0">
                <a:latin typeface="Arial"/>
                <a:cs typeface="Arial"/>
              </a:rPr>
              <a:t>[</a:t>
            </a:r>
            <a:r>
              <a:rPr sz="1750" dirty="0">
                <a:latin typeface="宋体"/>
                <a:cs typeface="宋体"/>
              </a:rPr>
              <a:t>顺序执行语句</a:t>
            </a:r>
            <a:r>
              <a:rPr sz="1750" spc="-25" dirty="0">
                <a:latin typeface="Arial"/>
                <a:cs typeface="Arial"/>
              </a:rPr>
              <a:t>] ;</a:t>
            </a:r>
            <a:endParaRPr sz="1750">
              <a:latin typeface="Arial"/>
              <a:cs typeface="Arial"/>
            </a:endParaRPr>
          </a:p>
          <a:p>
            <a:pPr marL="3200400">
              <a:lnSpc>
                <a:spcPct val="100000"/>
              </a:lnSpc>
              <a:spcBef>
                <a:spcPts val="425"/>
              </a:spcBef>
            </a:pPr>
            <a:r>
              <a:rPr sz="1750" spc="-10" dirty="0">
                <a:latin typeface="Arial"/>
                <a:cs typeface="Arial"/>
              </a:rPr>
              <a:t>[</a:t>
            </a:r>
            <a:r>
              <a:rPr sz="1750" dirty="0">
                <a:latin typeface="宋体"/>
                <a:cs typeface="宋体"/>
              </a:rPr>
              <a:t>顺序执行语句</a:t>
            </a:r>
            <a:r>
              <a:rPr sz="1750" spc="-25" dirty="0">
                <a:latin typeface="Arial"/>
                <a:cs typeface="Arial"/>
              </a:rPr>
              <a:t>] ;</a:t>
            </a:r>
            <a:endParaRPr sz="1750">
              <a:latin typeface="Arial"/>
              <a:cs typeface="Arial"/>
            </a:endParaRPr>
          </a:p>
          <a:p>
            <a:pPr marL="3239770">
              <a:lnSpc>
                <a:spcPct val="100000"/>
              </a:lnSpc>
              <a:spcBef>
                <a:spcPts val="430"/>
              </a:spcBef>
            </a:pPr>
            <a:r>
              <a:rPr sz="1750" dirty="0">
                <a:latin typeface="Arial"/>
                <a:cs typeface="Arial"/>
              </a:rPr>
              <a:t>.</a:t>
            </a:r>
            <a:r>
              <a:rPr sz="1750" spc="-15" dirty="0">
                <a:latin typeface="Arial"/>
                <a:cs typeface="Arial"/>
              </a:rPr>
              <a:t> </a:t>
            </a:r>
            <a:r>
              <a:rPr sz="1750" dirty="0">
                <a:latin typeface="Arial"/>
                <a:cs typeface="Arial"/>
              </a:rPr>
              <a:t>.</a:t>
            </a:r>
            <a:r>
              <a:rPr sz="1750" spc="-15" dirty="0">
                <a:latin typeface="Arial"/>
                <a:cs typeface="Arial"/>
              </a:rPr>
              <a:t> </a:t>
            </a:r>
            <a:r>
              <a:rPr sz="1750" spc="-50" dirty="0">
                <a:latin typeface="Arial"/>
                <a:cs typeface="Arial"/>
              </a:rPr>
              <a:t>.</a:t>
            </a:r>
            <a:endParaRPr sz="1750">
              <a:latin typeface="Arial"/>
              <a:cs typeface="Arial"/>
            </a:endParaRPr>
          </a:p>
          <a:p>
            <a:pPr marL="2894330">
              <a:lnSpc>
                <a:spcPct val="100000"/>
              </a:lnSpc>
              <a:spcBef>
                <a:spcPts val="425"/>
              </a:spcBef>
            </a:pPr>
            <a:r>
              <a:rPr sz="1750" b="1" spc="-25" dirty="0">
                <a:latin typeface="Arial"/>
                <a:cs typeface="Arial"/>
              </a:rPr>
              <a:t>end</a:t>
            </a:r>
            <a:endParaRPr sz="1750">
              <a:latin typeface="Arial"/>
              <a:cs typeface="Arial"/>
            </a:endParaRPr>
          </a:p>
          <a:p>
            <a:pPr>
              <a:lnSpc>
                <a:spcPct val="100000"/>
              </a:lnSpc>
              <a:spcBef>
                <a:spcPts val="240"/>
              </a:spcBef>
            </a:pPr>
            <a:endParaRPr sz="1750">
              <a:latin typeface="Arial"/>
              <a:cs typeface="Arial"/>
            </a:endParaRPr>
          </a:p>
          <a:p>
            <a:pPr marL="250190" indent="-244475">
              <a:lnSpc>
                <a:spcPct val="100000"/>
              </a:lnSpc>
              <a:buSzPct val="92857"/>
              <a:buFont typeface="Wingdings"/>
              <a:buChar char=""/>
              <a:tabLst>
                <a:tab pos="250190" algn="l"/>
              </a:tabLst>
            </a:pPr>
            <a:r>
              <a:rPr sz="2100" spc="-10" dirty="0">
                <a:latin typeface="微软雅黑"/>
                <a:cs typeface="微软雅黑"/>
              </a:rPr>
              <a:t>当顺序执行语句只有一条时，定界符</a:t>
            </a:r>
            <a:r>
              <a:rPr sz="2100" spc="-10" dirty="0">
                <a:latin typeface="Arial"/>
                <a:cs typeface="Arial"/>
              </a:rPr>
              <a:t>begin</a:t>
            </a:r>
            <a:r>
              <a:rPr sz="2100" dirty="0">
                <a:latin typeface="微软雅黑"/>
                <a:cs typeface="微软雅黑"/>
              </a:rPr>
              <a:t>和</a:t>
            </a:r>
            <a:r>
              <a:rPr sz="2100" spc="-10" dirty="0">
                <a:latin typeface="Arial"/>
                <a:cs typeface="Arial"/>
              </a:rPr>
              <a:t>end</a:t>
            </a:r>
            <a:r>
              <a:rPr sz="2100" spc="-10" dirty="0">
                <a:latin typeface="微软雅黑"/>
                <a:cs typeface="微软雅黑"/>
              </a:rPr>
              <a:t>可以省略。</a:t>
            </a:r>
            <a:endParaRPr sz="2100">
              <a:latin typeface="微软雅黑"/>
              <a:cs typeface="微软雅黑"/>
            </a:endParaRPr>
          </a:p>
          <a:p>
            <a:pPr marL="250190" indent="-244475">
              <a:lnSpc>
                <a:spcPct val="100000"/>
              </a:lnSpc>
              <a:spcBef>
                <a:spcPts val="2150"/>
              </a:spcBef>
              <a:buSzPct val="92857"/>
              <a:buFont typeface="Wingdings"/>
              <a:buChar char=""/>
              <a:tabLst>
                <a:tab pos="250190" algn="l"/>
              </a:tabLst>
            </a:pPr>
            <a:r>
              <a:rPr sz="2100" dirty="0">
                <a:latin typeface="微软雅黑"/>
                <a:cs typeface="微软雅黑"/>
              </a:rPr>
              <a:t>在</a:t>
            </a:r>
            <a:r>
              <a:rPr sz="2100" spc="-10" dirty="0">
                <a:latin typeface="Arial"/>
                <a:cs typeface="Arial"/>
              </a:rPr>
              <a:t>repeat</a:t>
            </a:r>
            <a:r>
              <a:rPr sz="2100" dirty="0">
                <a:latin typeface="微软雅黑"/>
                <a:cs typeface="微软雅黑"/>
              </a:rPr>
              <a:t>语句中，其表达式</a:t>
            </a:r>
            <a:r>
              <a:rPr sz="2100" spc="-10" dirty="0">
                <a:solidFill>
                  <a:srgbClr val="FF0000"/>
                </a:solidFill>
                <a:latin typeface="微软雅黑"/>
                <a:cs typeface="微软雅黑"/>
              </a:rPr>
              <a:t>通常为常量表达式</a:t>
            </a:r>
            <a:r>
              <a:rPr sz="2100" spc="-15" dirty="0">
                <a:latin typeface="微软雅黑"/>
                <a:cs typeface="微软雅黑"/>
              </a:rPr>
              <a:t>，用来指定循环执行的次数。</a:t>
            </a:r>
            <a:endParaRPr sz="210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341757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3.3.2 </a:t>
            </a:r>
            <a:r>
              <a:rPr spc="-10" dirty="0">
                <a:latin typeface="Calibri"/>
                <a:cs typeface="Calibri"/>
              </a:rPr>
              <a:t>repeat</a:t>
            </a:r>
            <a:r>
              <a:rPr dirty="0"/>
              <a:t>语句</a:t>
            </a:r>
            <a:r>
              <a:rPr spc="-10" dirty="0">
                <a:latin typeface="Arial"/>
                <a:cs typeface="Arial"/>
              </a:rPr>
              <a:t>-</a:t>
            </a:r>
            <a:r>
              <a:rPr spc="-25" dirty="0"/>
              <a:t>实例</a:t>
            </a:r>
          </a:p>
        </p:txBody>
      </p:sp>
      <p:sp>
        <p:nvSpPr>
          <p:cNvPr id="3" name="object 3"/>
          <p:cNvSpPr txBox="1"/>
          <p:nvPr/>
        </p:nvSpPr>
        <p:spPr>
          <a:xfrm>
            <a:off x="603637" y="1653938"/>
            <a:ext cx="9483090" cy="988694"/>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下面的例子用</a:t>
            </a:r>
            <a:r>
              <a:rPr sz="2100" b="1" spc="-10" dirty="0">
                <a:solidFill>
                  <a:srgbClr val="3E3E3E"/>
                </a:solidFill>
                <a:latin typeface="Arial"/>
                <a:cs typeface="Arial"/>
              </a:rPr>
              <a:t>repeat</a:t>
            </a:r>
            <a:r>
              <a:rPr sz="2100" b="1" dirty="0">
                <a:solidFill>
                  <a:srgbClr val="3E3E3E"/>
                </a:solidFill>
                <a:latin typeface="微软雅黑"/>
                <a:cs typeface="微软雅黑"/>
              </a:rPr>
              <a:t>循环实现两个</a:t>
            </a:r>
            <a:r>
              <a:rPr sz="2100" b="1" spc="-10" dirty="0">
                <a:solidFill>
                  <a:srgbClr val="3E3E3E"/>
                </a:solidFill>
                <a:latin typeface="Arial"/>
                <a:cs typeface="Arial"/>
              </a:rPr>
              <a:t>8</a:t>
            </a:r>
            <a:r>
              <a:rPr sz="2100" b="1" spc="-5" dirty="0">
                <a:solidFill>
                  <a:srgbClr val="3E3E3E"/>
                </a:solidFill>
                <a:latin typeface="微软雅黑"/>
                <a:cs typeface="微软雅黑"/>
              </a:rPr>
              <a:t>位数的二进制数的乘法操作，实现代码参见</a:t>
            </a:r>
            <a:r>
              <a:rPr sz="2100" b="1" dirty="0">
                <a:solidFill>
                  <a:srgbClr val="3E3E3E"/>
                </a:solidFill>
                <a:latin typeface="微软雅黑"/>
                <a:cs typeface="微软雅黑"/>
              </a:rPr>
              <a:t>例</a:t>
            </a:r>
            <a:r>
              <a:rPr sz="2100" b="1" spc="-10" dirty="0">
                <a:solidFill>
                  <a:srgbClr val="3E3E3E"/>
                </a:solidFill>
                <a:latin typeface="Arial"/>
                <a:cs typeface="Arial"/>
              </a:rPr>
              <a:t>3.10</a:t>
            </a:r>
            <a:r>
              <a:rPr sz="2100" b="1" spc="-20" dirty="0">
                <a:solidFill>
                  <a:srgbClr val="3E3E3E"/>
                </a:solidFill>
                <a:latin typeface="微软雅黑"/>
                <a:cs typeface="微软雅黑"/>
              </a:rPr>
              <a:t>所示。</a:t>
            </a:r>
            <a:endParaRPr sz="2100">
              <a:latin typeface="微软雅黑"/>
              <a:cs typeface="微软雅黑"/>
            </a:endParaRPr>
          </a:p>
        </p:txBody>
      </p:sp>
      <p:grpSp>
        <p:nvGrpSpPr>
          <p:cNvPr id="4" name="object 4"/>
          <p:cNvGrpSpPr/>
          <p:nvPr/>
        </p:nvGrpSpPr>
        <p:grpSpPr>
          <a:xfrm>
            <a:off x="1231277" y="2740914"/>
            <a:ext cx="3750945" cy="3296920"/>
            <a:chOff x="1231277" y="2740914"/>
            <a:chExt cx="3750945" cy="3296920"/>
          </a:xfrm>
        </p:grpSpPr>
        <p:sp>
          <p:nvSpPr>
            <p:cNvPr id="5" name="object 5"/>
            <p:cNvSpPr/>
            <p:nvPr/>
          </p:nvSpPr>
          <p:spPr>
            <a:xfrm>
              <a:off x="1235849" y="2745486"/>
              <a:ext cx="3742690" cy="3287395"/>
            </a:xfrm>
            <a:custGeom>
              <a:avLst/>
              <a:gdLst/>
              <a:ahLst/>
              <a:cxnLst/>
              <a:rect l="l" t="t" r="r" b="b"/>
              <a:pathLst>
                <a:path w="3742690" h="3287395">
                  <a:moveTo>
                    <a:pt x="3742182" y="3287268"/>
                  </a:moveTo>
                  <a:lnTo>
                    <a:pt x="3742181" y="0"/>
                  </a:lnTo>
                  <a:lnTo>
                    <a:pt x="0" y="0"/>
                  </a:lnTo>
                  <a:lnTo>
                    <a:pt x="0" y="3287268"/>
                  </a:lnTo>
                  <a:lnTo>
                    <a:pt x="3742182" y="3287268"/>
                  </a:lnTo>
                  <a:close/>
                </a:path>
              </a:pathLst>
            </a:custGeom>
            <a:solidFill>
              <a:srgbClr val="F9FABA"/>
            </a:solidFill>
          </p:spPr>
          <p:txBody>
            <a:bodyPr wrap="square" lIns="0" tIns="0" rIns="0" bIns="0" rtlCol="0"/>
            <a:lstStyle/>
            <a:p>
              <a:endParaRPr/>
            </a:p>
          </p:txBody>
        </p:sp>
        <p:sp>
          <p:nvSpPr>
            <p:cNvPr id="6" name="object 6"/>
            <p:cNvSpPr/>
            <p:nvPr/>
          </p:nvSpPr>
          <p:spPr>
            <a:xfrm>
              <a:off x="1231277" y="2740914"/>
              <a:ext cx="3750945" cy="3296920"/>
            </a:xfrm>
            <a:custGeom>
              <a:avLst/>
              <a:gdLst/>
              <a:ahLst/>
              <a:cxnLst/>
              <a:rect l="l" t="t" r="r" b="b"/>
              <a:pathLst>
                <a:path w="3750945" h="3296920">
                  <a:moveTo>
                    <a:pt x="3750564" y="3294126"/>
                  </a:moveTo>
                  <a:lnTo>
                    <a:pt x="3750564" y="2285"/>
                  </a:lnTo>
                  <a:lnTo>
                    <a:pt x="3749040" y="0"/>
                  </a:lnTo>
                  <a:lnTo>
                    <a:pt x="2285" y="0"/>
                  </a:lnTo>
                  <a:lnTo>
                    <a:pt x="0" y="2286"/>
                  </a:lnTo>
                  <a:lnTo>
                    <a:pt x="0" y="3294126"/>
                  </a:lnTo>
                  <a:lnTo>
                    <a:pt x="2286" y="3296412"/>
                  </a:lnTo>
                  <a:lnTo>
                    <a:pt x="4572" y="3296412"/>
                  </a:lnTo>
                  <a:lnTo>
                    <a:pt x="4572" y="8382"/>
                  </a:lnTo>
                  <a:lnTo>
                    <a:pt x="8382" y="4572"/>
                  </a:lnTo>
                  <a:lnTo>
                    <a:pt x="8382" y="8382"/>
                  </a:lnTo>
                  <a:lnTo>
                    <a:pt x="3742182" y="8381"/>
                  </a:lnTo>
                  <a:lnTo>
                    <a:pt x="3742182" y="4571"/>
                  </a:lnTo>
                  <a:lnTo>
                    <a:pt x="3746754" y="8381"/>
                  </a:lnTo>
                  <a:lnTo>
                    <a:pt x="3746754" y="3296412"/>
                  </a:lnTo>
                  <a:lnTo>
                    <a:pt x="3749040" y="3296412"/>
                  </a:lnTo>
                  <a:lnTo>
                    <a:pt x="3750564" y="3294126"/>
                  </a:lnTo>
                  <a:close/>
                </a:path>
                <a:path w="3750945" h="3296920">
                  <a:moveTo>
                    <a:pt x="8382" y="8382"/>
                  </a:moveTo>
                  <a:lnTo>
                    <a:pt x="8382" y="4572"/>
                  </a:lnTo>
                  <a:lnTo>
                    <a:pt x="4572" y="8382"/>
                  </a:lnTo>
                  <a:lnTo>
                    <a:pt x="8382" y="8382"/>
                  </a:lnTo>
                  <a:close/>
                </a:path>
                <a:path w="3750945" h="3296920">
                  <a:moveTo>
                    <a:pt x="8382" y="3288030"/>
                  </a:moveTo>
                  <a:lnTo>
                    <a:pt x="8382" y="8382"/>
                  </a:lnTo>
                  <a:lnTo>
                    <a:pt x="4572" y="8382"/>
                  </a:lnTo>
                  <a:lnTo>
                    <a:pt x="4572" y="3288030"/>
                  </a:lnTo>
                  <a:lnTo>
                    <a:pt x="8382" y="3288030"/>
                  </a:lnTo>
                  <a:close/>
                </a:path>
                <a:path w="3750945" h="3296920">
                  <a:moveTo>
                    <a:pt x="3746754" y="3288030"/>
                  </a:moveTo>
                  <a:lnTo>
                    <a:pt x="4572" y="3288030"/>
                  </a:lnTo>
                  <a:lnTo>
                    <a:pt x="8382" y="3291840"/>
                  </a:lnTo>
                  <a:lnTo>
                    <a:pt x="8382" y="3296412"/>
                  </a:lnTo>
                  <a:lnTo>
                    <a:pt x="3742182" y="3296412"/>
                  </a:lnTo>
                  <a:lnTo>
                    <a:pt x="3742182" y="3291840"/>
                  </a:lnTo>
                  <a:lnTo>
                    <a:pt x="3746754" y="3288030"/>
                  </a:lnTo>
                  <a:close/>
                </a:path>
                <a:path w="3750945" h="3296920">
                  <a:moveTo>
                    <a:pt x="8382" y="3296412"/>
                  </a:moveTo>
                  <a:lnTo>
                    <a:pt x="8382" y="3291840"/>
                  </a:lnTo>
                  <a:lnTo>
                    <a:pt x="4572" y="3288030"/>
                  </a:lnTo>
                  <a:lnTo>
                    <a:pt x="4572" y="3296412"/>
                  </a:lnTo>
                  <a:lnTo>
                    <a:pt x="8382" y="3296412"/>
                  </a:lnTo>
                  <a:close/>
                </a:path>
                <a:path w="3750945" h="3296920">
                  <a:moveTo>
                    <a:pt x="3746754" y="8381"/>
                  </a:moveTo>
                  <a:lnTo>
                    <a:pt x="3742182" y="4571"/>
                  </a:lnTo>
                  <a:lnTo>
                    <a:pt x="3742182" y="8381"/>
                  </a:lnTo>
                  <a:lnTo>
                    <a:pt x="3746754" y="8381"/>
                  </a:lnTo>
                  <a:close/>
                </a:path>
                <a:path w="3750945" h="3296920">
                  <a:moveTo>
                    <a:pt x="3746754" y="3288030"/>
                  </a:moveTo>
                  <a:lnTo>
                    <a:pt x="3746754" y="8381"/>
                  </a:lnTo>
                  <a:lnTo>
                    <a:pt x="3742182" y="8381"/>
                  </a:lnTo>
                  <a:lnTo>
                    <a:pt x="3742182" y="3288030"/>
                  </a:lnTo>
                  <a:lnTo>
                    <a:pt x="3746754" y="3288030"/>
                  </a:lnTo>
                  <a:close/>
                </a:path>
                <a:path w="3750945" h="3296920">
                  <a:moveTo>
                    <a:pt x="3746754" y="3296412"/>
                  </a:moveTo>
                  <a:lnTo>
                    <a:pt x="3746754" y="3288030"/>
                  </a:lnTo>
                  <a:lnTo>
                    <a:pt x="3742182" y="3291840"/>
                  </a:lnTo>
                  <a:lnTo>
                    <a:pt x="3742182" y="3296412"/>
                  </a:lnTo>
                  <a:lnTo>
                    <a:pt x="3746754" y="3296412"/>
                  </a:lnTo>
                  <a:close/>
                </a:path>
              </a:pathLst>
            </a:custGeom>
            <a:solidFill>
              <a:srgbClr val="000000"/>
            </a:solidFill>
          </p:spPr>
          <p:txBody>
            <a:bodyPr wrap="square" lIns="0" tIns="0" rIns="0" bIns="0" rtlCol="0"/>
            <a:lstStyle/>
            <a:p>
              <a:endParaRPr/>
            </a:p>
          </p:txBody>
        </p:sp>
      </p:grpSp>
      <p:sp>
        <p:nvSpPr>
          <p:cNvPr id="7" name="object 7"/>
          <p:cNvSpPr txBox="1"/>
          <p:nvPr/>
        </p:nvSpPr>
        <p:spPr>
          <a:xfrm>
            <a:off x="1315853" y="2788411"/>
            <a:ext cx="1825625" cy="266065"/>
          </a:xfrm>
          <a:prstGeom prst="rect">
            <a:avLst/>
          </a:prstGeom>
        </p:spPr>
        <p:txBody>
          <a:bodyPr vert="horz" wrap="square" lIns="0" tIns="15875" rIns="0" bIns="0" rtlCol="0">
            <a:spAutoFit/>
          </a:bodyPr>
          <a:lstStyle/>
          <a:p>
            <a:pPr>
              <a:lnSpc>
                <a:spcPct val="100000"/>
              </a:lnSpc>
              <a:spcBef>
                <a:spcPts val="125"/>
              </a:spcBef>
            </a:pPr>
            <a:r>
              <a:rPr sz="1550" b="1" dirty="0">
                <a:latin typeface="Arial"/>
                <a:cs typeface="Arial"/>
              </a:rPr>
              <a:t>module</a:t>
            </a:r>
            <a:r>
              <a:rPr sz="1550" b="1" spc="60" dirty="0">
                <a:latin typeface="Arial"/>
                <a:cs typeface="Arial"/>
              </a:rPr>
              <a:t> </a:t>
            </a:r>
            <a:r>
              <a:rPr sz="1550" spc="-10" dirty="0">
                <a:latin typeface="Arial"/>
                <a:cs typeface="Arial"/>
              </a:rPr>
              <a:t>mult_repeat</a:t>
            </a:r>
            <a:endParaRPr sz="1550">
              <a:latin typeface="Arial"/>
              <a:cs typeface="Arial"/>
            </a:endParaRPr>
          </a:p>
        </p:txBody>
      </p:sp>
      <p:sp>
        <p:nvSpPr>
          <p:cNvPr id="8" name="object 8"/>
          <p:cNvSpPr txBox="1"/>
          <p:nvPr/>
        </p:nvSpPr>
        <p:spPr>
          <a:xfrm>
            <a:off x="1649609" y="3077217"/>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9" name="object 9"/>
          <p:cNvSpPr txBox="1"/>
          <p:nvPr/>
        </p:nvSpPr>
        <p:spPr>
          <a:xfrm>
            <a:off x="1649609" y="3316942"/>
            <a:ext cx="2317115" cy="2623185"/>
          </a:xfrm>
          <a:prstGeom prst="rect">
            <a:avLst/>
          </a:prstGeom>
        </p:spPr>
        <p:txBody>
          <a:bodyPr vert="horz" wrap="square" lIns="0" tIns="64135" rIns="0" bIns="0" rtlCol="0">
            <a:spAutoFit/>
          </a:bodyPr>
          <a:lstStyle/>
          <a:p>
            <a:pPr marL="222885">
              <a:lnSpc>
                <a:spcPct val="100000"/>
              </a:lnSpc>
              <a:spcBef>
                <a:spcPts val="505"/>
              </a:spcBef>
            </a:pPr>
            <a:r>
              <a:rPr sz="1550" b="1" dirty="0">
                <a:latin typeface="Arial"/>
                <a:cs typeface="Arial"/>
              </a:rPr>
              <a:t>input</a:t>
            </a:r>
            <a:r>
              <a:rPr sz="1550" b="1" spc="35" dirty="0">
                <a:latin typeface="Arial"/>
                <a:cs typeface="Arial"/>
              </a:rPr>
              <a:t> </a:t>
            </a:r>
            <a:r>
              <a:rPr sz="1550" dirty="0">
                <a:latin typeface="Arial"/>
                <a:cs typeface="Arial"/>
              </a:rPr>
              <a:t>[8:1]</a:t>
            </a:r>
            <a:r>
              <a:rPr sz="1550" spc="45" dirty="0">
                <a:latin typeface="Arial"/>
                <a:cs typeface="Arial"/>
              </a:rPr>
              <a:t> </a:t>
            </a:r>
            <a:r>
              <a:rPr sz="1550" spc="-20" dirty="0">
                <a:latin typeface="Arial"/>
                <a:cs typeface="Arial"/>
              </a:rPr>
              <a:t>op0,</a:t>
            </a:r>
            <a:endParaRPr sz="1550">
              <a:latin typeface="Arial"/>
              <a:cs typeface="Arial"/>
            </a:endParaRPr>
          </a:p>
          <a:p>
            <a:pPr marL="222885">
              <a:lnSpc>
                <a:spcPct val="100000"/>
              </a:lnSpc>
              <a:spcBef>
                <a:spcPts val="415"/>
              </a:spcBef>
            </a:pPr>
            <a:r>
              <a:rPr sz="1550" b="1" dirty="0">
                <a:latin typeface="Arial"/>
                <a:cs typeface="Arial"/>
              </a:rPr>
              <a:t>input</a:t>
            </a:r>
            <a:r>
              <a:rPr sz="1550" b="1" spc="35" dirty="0">
                <a:latin typeface="Arial"/>
                <a:cs typeface="Arial"/>
              </a:rPr>
              <a:t> </a:t>
            </a:r>
            <a:r>
              <a:rPr sz="1550" dirty="0">
                <a:latin typeface="Arial"/>
                <a:cs typeface="Arial"/>
              </a:rPr>
              <a:t>[8:1]</a:t>
            </a:r>
            <a:r>
              <a:rPr sz="1550" spc="45" dirty="0">
                <a:latin typeface="Arial"/>
                <a:cs typeface="Arial"/>
              </a:rPr>
              <a:t> </a:t>
            </a:r>
            <a:r>
              <a:rPr sz="1550" spc="-20" dirty="0">
                <a:latin typeface="Arial"/>
                <a:cs typeface="Arial"/>
              </a:rPr>
              <a:t>op1,</a:t>
            </a:r>
            <a:endParaRPr sz="1550">
              <a:latin typeface="Arial"/>
              <a:cs typeface="Arial"/>
            </a:endParaRPr>
          </a:p>
          <a:p>
            <a:pPr marL="222885">
              <a:lnSpc>
                <a:spcPct val="100000"/>
              </a:lnSpc>
              <a:spcBef>
                <a:spcPts val="415"/>
              </a:spcBef>
            </a:pPr>
            <a:r>
              <a:rPr sz="1550" b="1" dirty="0">
                <a:latin typeface="Arial"/>
                <a:cs typeface="Arial"/>
              </a:rPr>
              <a:t>output</a:t>
            </a:r>
            <a:r>
              <a:rPr sz="1550" b="1" spc="35" dirty="0">
                <a:latin typeface="Arial"/>
                <a:cs typeface="Arial"/>
              </a:rPr>
              <a:t> </a:t>
            </a:r>
            <a:r>
              <a:rPr sz="1550" b="1" dirty="0">
                <a:latin typeface="Arial"/>
                <a:cs typeface="Arial"/>
              </a:rPr>
              <a:t>reg</a:t>
            </a:r>
            <a:r>
              <a:rPr sz="1550" b="1" spc="45" dirty="0">
                <a:latin typeface="Arial"/>
                <a:cs typeface="Arial"/>
              </a:rPr>
              <a:t> </a:t>
            </a:r>
            <a:r>
              <a:rPr sz="1550" dirty="0">
                <a:latin typeface="Arial"/>
                <a:cs typeface="Arial"/>
              </a:rPr>
              <a:t>[16:1]</a:t>
            </a:r>
            <a:r>
              <a:rPr sz="1550" spc="50" dirty="0">
                <a:latin typeface="Arial"/>
                <a:cs typeface="Arial"/>
              </a:rPr>
              <a:t> </a:t>
            </a:r>
            <a:r>
              <a:rPr sz="1550" spc="-10" dirty="0">
                <a:latin typeface="Arial"/>
                <a:cs typeface="Arial"/>
              </a:rPr>
              <a:t>result</a:t>
            </a:r>
            <a:endParaRPr sz="1550">
              <a:latin typeface="Arial"/>
              <a:cs typeface="Arial"/>
            </a:endParaRPr>
          </a:p>
          <a:p>
            <a:pPr marL="5715">
              <a:lnSpc>
                <a:spcPct val="100000"/>
              </a:lnSpc>
              <a:spcBef>
                <a:spcPts val="415"/>
              </a:spcBef>
            </a:pPr>
            <a:r>
              <a:rPr sz="1550" spc="-25" dirty="0">
                <a:latin typeface="Arial"/>
                <a:cs typeface="Arial"/>
              </a:rPr>
              <a:t>);</a:t>
            </a:r>
            <a:endParaRPr sz="1550">
              <a:latin typeface="Arial"/>
              <a:cs typeface="Arial"/>
            </a:endParaRPr>
          </a:p>
          <a:p>
            <a:pPr>
              <a:lnSpc>
                <a:spcPct val="100000"/>
              </a:lnSpc>
              <a:spcBef>
                <a:spcPts val="405"/>
              </a:spcBef>
            </a:pPr>
            <a:r>
              <a:rPr sz="1550" dirty="0">
                <a:latin typeface="Arial"/>
                <a:cs typeface="Arial"/>
              </a:rPr>
              <a:t>r</a:t>
            </a:r>
            <a:r>
              <a:rPr sz="1550" b="1" dirty="0">
                <a:latin typeface="Arial"/>
                <a:cs typeface="Arial"/>
              </a:rPr>
              <a:t>eg</a:t>
            </a:r>
            <a:r>
              <a:rPr sz="1550" b="1" spc="40" dirty="0">
                <a:latin typeface="Arial"/>
                <a:cs typeface="Arial"/>
              </a:rPr>
              <a:t> </a:t>
            </a:r>
            <a:r>
              <a:rPr sz="1550" dirty="0">
                <a:latin typeface="Arial"/>
                <a:cs typeface="Arial"/>
              </a:rPr>
              <a:t>[16:1]</a:t>
            </a:r>
            <a:r>
              <a:rPr sz="1550" spc="45" dirty="0">
                <a:latin typeface="Arial"/>
                <a:cs typeface="Arial"/>
              </a:rPr>
              <a:t> </a:t>
            </a:r>
            <a:r>
              <a:rPr sz="1550" spc="-10" dirty="0">
                <a:latin typeface="Arial"/>
                <a:cs typeface="Arial"/>
              </a:rPr>
              <a:t>tempa;</a:t>
            </a:r>
            <a:endParaRPr sz="1550">
              <a:latin typeface="Arial"/>
              <a:cs typeface="Arial"/>
            </a:endParaRPr>
          </a:p>
          <a:p>
            <a:pPr marR="883919">
              <a:lnSpc>
                <a:spcPct val="122300"/>
              </a:lnSpc>
            </a:pPr>
            <a:r>
              <a:rPr sz="1550" b="1" dirty="0">
                <a:latin typeface="Arial"/>
                <a:cs typeface="Arial"/>
              </a:rPr>
              <a:t>reg</a:t>
            </a:r>
            <a:r>
              <a:rPr sz="1550" b="1" spc="40" dirty="0">
                <a:latin typeface="Arial"/>
                <a:cs typeface="Arial"/>
              </a:rPr>
              <a:t> </a:t>
            </a:r>
            <a:r>
              <a:rPr sz="1550" dirty="0">
                <a:latin typeface="Arial"/>
                <a:cs typeface="Arial"/>
              </a:rPr>
              <a:t>[8:1]</a:t>
            </a:r>
            <a:r>
              <a:rPr sz="1550" spc="30" dirty="0">
                <a:latin typeface="Arial"/>
                <a:cs typeface="Arial"/>
              </a:rPr>
              <a:t> </a:t>
            </a:r>
            <a:r>
              <a:rPr sz="1550" spc="-10" dirty="0">
                <a:latin typeface="Arial"/>
                <a:cs typeface="Arial"/>
              </a:rPr>
              <a:t>tempb; </a:t>
            </a:r>
            <a:r>
              <a:rPr sz="1550" b="1" dirty="0">
                <a:latin typeface="Arial"/>
                <a:cs typeface="Arial"/>
              </a:rPr>
              <a:t>always</a:t>
            </a:r>
            <a:r>
              <a:rPr sz="1550" b="1" spc="30" dirty="0">
                <a:latin typeface="Arial"/>
                <a:cs typeface="Arial"/>
              </a:rPr>
              <a:t> </a:t>
            </a:r>
            <a:r>
              <a:rPr sz="1550" spc="-35" dirty="0">
                <a:latin typeface="Arial"/>
                <a:cs typeface="Arial"/>
              </a:rPr>
              <a:t>@* </a:t>
            </a:r>
            <a:r>
              <a:rPr sz="1550" b="1" spc="-10" dirty="0">
                <a:latin typeface="Arial"/>
                <a:cs typeface="Arial"/>
              </a:rPr>
              <a:t>begin</a:t>
            </a:r>
            <a:endParaRPr sz="1550">
              <a:latin typeface="Arial"/>
              <a:cs typeface="Arial"/>
            </a:endParaRPr>
          </a:p>
          <a:p>
            <a:pPr marL="240665">
              <a:lnSpc>
                <a:spcPct val="100000"/>
              </a:lnSpc>
              <a:spcBef>
                <a:spcPts val="409"/>
              </a:spcBef>
            </a:pPr>
            <a:r>
              <a:rPr sz="1550" dirty="0">
                <a:latin typeface="Arial"/>
                <a:cs typeface="Arial"/>
              </a:rPr>
              <a:t>result</a:t>
            </a:r>
            <a:r>
              <a:rPr sz="1550" spc="2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0;</a:t>
            </a:r>
            <a:endParaRPr sz="1550">
              <a:latin typeface="Arial"/>
              <a:cs typeface="Arial"/>
            </a:endParaRPr>
          </a:p>
        </p:txBody>
      </p:sp>
      <p:grpSp>
        <p:nvGrpSpPr>
          <p:cNvPr id="10" name="object 10"/>
          <p:cNvGrpSpPr/>
          <p:nvPr/>
        </p:nvGrpSpPr>
        <p:grpSpPr>
          <a:xfrm>
            <a:off x="5343791" y="2740914"/>
            <a:ext cx="3758565" cy="3296920"/>
            <a:chOff x="5343791" y="2740914"/>
            <a:chExt cx="3758565" cy="3296920"/>
          </a:xfrm>
        </p:grpSpPr>
        <p:sp>
          <p:nvSpPr>
            <p:cNvPr id="11" name="object 11"/>
            <p:cNvSpPr/>
            <p:nvPr/>
          </p:nvSpPr>
          <p:spPr>
            <a:xfrm>
              <a:off x="5347601" y="2745486"/>
              <a:ext cx="3750310" cy="3287395"/>
            </a:xfrm>
            <a:custGeom>
              <a:avLst/>
              <a:gdLst/>
              <a:ahLst/>
              <a:cxnLst/>
              <a:rect l="l" t="t" r="r" b="b"/>
              <a:pathLst>
                <a:path w="3750309" h="3287395">
                  <a:moveTo>
                    <a:pt x="3749802" y="3287267"/>
                  </a:moveTo>
                  <a:lnTo>
                    <a:pt x="3749802" y="0"/>
                  </a:lnTo>
                  <a:lnTo>
                    <a:pt x="0" y="0"/>
                  </a:lnTo>
                  <a:lnTo>
                    <a:pt x="0" y="3287268"/>
                  </a:lnTo>
                  <a:lnTo>
                    <a:pt x="3749802" y="3287267"/>
                  </a:lnTo>
                  <a:close/>
                </a:path>
              </a:pathLst>
            </a:custGeom>
            <a:solidFill>
              <a:srgbClr val="F9FABA"/>
            </a:solidFill>
          </p:spPr>
          <p:txBody>
            <a:bodyPr wrap="square" lIns="0" tIns="0" rIns="0" bIns="0" rtlCol="0"/>
            <a:lstStyle/>
            <a:p>
              <a:endParaRPr/>
            </a:p>
          </p:txBody>
        </p:sp>
        <p:sp>
          <p:nvSpPr>
            <p:cNvPr id="12" name="object 12"/>
            <p:cNvSpPr/>
            <p:nvPr/>
          </p:nvSpPr>
          <p:spPr>
            <a:xfrm>
              <a:off x="5343791" y="2740914"/>
              <a:ext cx="3758565" cy="3296920"/>
            </a:xfrm>
            <a:custGeom>
              <a:avLst/>
              <a:gdLst/>
              <a:ahLst/>
              <a:cxnLst/>
              <a:rect l="l" t="t" r="r" b="b"/>
              <a:pathLst>
                <a:path w="3758565" h="3296920">
                  <a:moveTo>
                    <a:pt x="3758184" y="3294126"/>
                  </a:moveTo>
                  <a:lnTo>
                    <a:pt x="3758184" y="2285"/>
                  </a:lnTo>
                  <a:lnTo>
                    <a:pt x="3755898" y="0"/>
                  </a:lnTo>
                  <a:lnTo>
                    <a:pt x="1523" y="0"/>
                  </a:lnTo>
                  <a:lnTo>
                    <a:pt x="0" y="2286"/>
                  </a:lnTo>
                  <a:lnTo>
                    <a:pt x="0" y="3294126"/>
                  </a:lnTo>
                  <a:lnTo>
                    <a:pt x="1524" y="3296412"/>
                  </a:lnTo>
                  <a:lnTo>
                    <a:pt x="3809" y="3296412"/>
                  </a:lnTo>
                  <a:lnTo>
                    <a:pt x="3810" y="8382"/>
                  </a:lnTo>
                  <a:lnTo>
                    <a:pt x="8382" y="4572"/>
                  </a:lnTo>
                  <a:lnTo>
                    <a:pt x="8382" y="8382"/>
                  </a:lnTo>
                  <a:lnTo>
                    <a:pt x="3749802" y="8381"/>
                  </a:lnTo>
                  <a:lnTo>
                    <a:pt x="3749802" y="4571"/>
                  </a:lnTo>
                  <a:lnTo>
                    <a:pt x="3753612" y="8381"/>
                  </a:lnTo>
                  <a:lnTo>
                    <a:pt x="3753612" y="3296412"/>
                  </a:lnTo>
                  <a:lnTo>
                    <a:pt x="3755898" y="3296412"/>
                  </a:lnTo>
                  <a:lnTo>
                    <a:pt x="3758184" y="3294126"/>
                  </a:lnTo>
                  <a:close/>
                </a:path>
                <a:path w="3758565" h="3296920">
                  <a:moveTo>
                    <a:pt x="8382" y="8382"/>
                  </a:moveTo>
                  <a:lnTo>
                    <a:pt x="8382" y="4572"/>
                  </a:lnTo>
                  <a:lnTo>
                    <a:pt x="3810" y="8382"/>
                  </a:lnTo>
                  <a:lnTo>
                    <a:pt x="8382" y="8382"/>
                  </a:lnTo>
                  <a:close/>
                </a:path>
                <a:path w="3758565" h="3296920">
                  <a:moveTo>
                    <a:pt x="8382" y="3288030"/>
                  </a:moveTo>
                  <a:lnTo>
                    <a:pt x="8382" y="8382"/>
                  </a:lnTo>
                  <a:lnTo>
                    <a:pt x="3810" y="8382"/>
                  </a:lnTo>
                  <a:lnTo>
                    <a:pt x="3810" y="3288030"/>
                  </a:lnTo>
                  <a:lnTo>
                    <a:pt x="8382" y="3288030"/>
                  </a:lnTo>
                  <a:close/>
                </a:path>
                <a:path w="3758565" h="3296920">
                  <a:moveTo>
                    <a:pt x="3753612" y="3288030"/>
                  </a:moveTo>
                  <a:lnTo>
                    <a:pt x="3810" y="3288030"/>
                  </a:lnTo>
                  <a:lnTo>
                    <a:pt x="8382" y="3291840"/>
                  </a:lnTo>
                  <a:lnTo>
                    <a:pt x="8381" y="3296412"/>
                  </a:lnTo>
                  <a:lnTo>
                    <a:pt x="3749802" y="3296412"/>
                  </a:lnTo>
                  <a:lnTo>
                    <a:pt x="3749802" y="3291840"/>
                  </a:lnTo>
                  <a:lnTo>
                    <a:pt x="3753612" y="3288030"/>
                  </a:lnTo>
                  <a:close/>
                </a:path>
                <a:path w="3758565" h="3296920">
                  <a:moveTo>
                    <a:pt x="8381" y="3296412"/>
                  </a:moveTo>
                  <a:lnTo>
                    <a:pt x="8382" y="3291840"/>
                  </a:lnTo>
                  <a:lnTo>
                    <a:pt x="3810" y="3288030"/>
                  </a:lnTo>
                  <a:lnTo>
                    <a:pt x="3809" y="3296412"/>
                  </a:lnTo>
                  <a:lnTo>
                    <a:pt x="8381" y="3296412"/>
                  </a:lnTo>
                  <a:close/>
                </a:path>
                <a:path w="3758565" h="3296920">
                  <a:moveTo>
                    <a:pt x="3753612" y="8381"/>
                  </a:moveTo>
                  <a:lnTo>
                    <a:pt x="3749802" y="4571"/>
                  </a:lnTo>
                  <a:lnTo>
                    <a:pt x="3749802" y="8381"/>
                  </a:lnTo>
                  <a:lnTo>
                    <a:pt x="3753612" y="8381"/>
                  </a:lnTo>
                  <a:close/>
                </a:path>
                <a:path w="3758565" h="3296920">
                  <a:moveTo>
                    <a:pt x="3753612" y="3288030"/>
                  </a:moveTo>
                  <a:lnTo>
                    <a:pt x="3753612" y="8381"/>
                  </a:lnTo>
                  <a:lnTo>
                    <a:pt x="3749802" y="8381"/>
                  </a:lnTo>
                  <a:lnTo>
                    <a:pt x="3749802" y="3288030"/>
                  </a:lnTo>
                  <a:lnTo>
                    <a:pt x="3753612" y="3288030"/>
                  </a:lnTo>
                  <a:close/>
                </a:path>
                <a:path w="3758565" h="3296920">
                  <a:moveTo>
                    <a:pt x="3753612" y="3296412"/>
                  </a:moveTo>
                  <a:lnTo>
                    <a:pt x="3753612" y="3288030"/>
                  </a:lnTo>
                  <a:lnTo>
                    <a:pt x="3749802" y="3291840"/>
                  </a:lnTo>
                  <a:lnTo>
                    <a:pt x="3749802" y="3296412"/>
                  </a:lnTo>
                  <a:lnTo>
                    <a:pt x="3753612" y="3296412"/>
                  </a:lnTo>
                  <a:close/>
                </a:path>
              </a:pathLst>
            </a:custGeom>
            <a:solidFill>
              <a:srgbClr val="000000"/>
            </a:solidFill>
          </p:spPr>
          <p:txBody>
            <a:bodyPr wrap="square" lIns="0" tIns="0" rIns="0" bIns="0" rtlCol="0"/>
            <a:lstStyle/>
            <a:p>
              <a:endParaRPr/>
            </a:p>
          </p:txBody>
        </p:sp>
      </p:grpSp>
      <p:sp>
        <p:nvSpPr>
          <p:cNvPr id="13" name="object 13"/>
          <p:cNvSpPr txBox="1"/>
          <p:nvPr/>
        </p:nvSpPr>
        <p:spPr>
          <a:xfrm>
            <a:off x="5414908" y="2740093"/>
            <a:ext cx="3315335" cy="3200400"/>
          </a:xfrm>
          <a:prstGeom prst="rect">
            <a:avLst/>
          </a:prstGeom>
        </p:spPr>
        <p:txBody>
          <a:bodyPr vert="horz" wrap="square" lIns="0" tIns="12065" rIns="0" bIns="0" rtlCol="0">
            <a:spAutoFit/>
          </a:bodyPr>
          <a:lstStyle/>
          <a:p>
            <a:pPr marL="585470" marR="1547495" algn="just">
              <a:lnSpc>
                <a:spcPct val="122100"/>
              </a:lnSpc>
              <a:spcBef>
                <a:spcPts val="95"/>
              </a:spcBef>
            </a:pPr>
            <a:r>
              <a:rPr sz="1550" dirty="0">
                <a:latin typeface="Arial"/>
                <a:cs typeface="Arial"/>
              </a:rPr>
              <a:t>tempa</a:t>
            </a:r>
            <a:r>
              <a:rPr sz="1550" spc="30" dirty="0">
                <a:latin typeface="Arial"/>
                <a:cs typeface="Arial"/>
              </a:rPr>
              <a:t> </a:t>
            </a:r>
            <a:r>
              <a:rPr sz="1550" dirty="0">
                <a:latin typeface="Arial"/>
                <a:cs typeface="Arial"/>
              </a:rPr>
              <a:t>=</a:t>
            </a:r>
            <a:r>
              <a:rPr sz="1550" spc="20" dirty="0">
                <a:latin typeface="Arial"/>
                <a:cs typeface="Arial"/>
              </a:rPr>
              <a:t> </a:t>
            </a:r>
            <a:r>
              <a:rPr sz="1550" spc="-20" dirty="0">
                <a:latin typeface="Arial"/>
                <a:cs typeface="Arial"/>
              </a:rPr>
              <a:t>op0; </a:t>
            </a:r>
            <a:r>
              <a:rPr sz="1550" dirty="0">
                <a:latin typeface="Arial"/>
                <a:cs typeface="Arial"/>
              </a:rPr>
              <a:t>tempb</a:t>
            </a:r>
            <a:r>
              <a:rPr sz="1550" spc="30" dirty="0">
                <a:latin typeface="Arial"/>
                <a:cs typeface="Arial"/>
              </a:rPr>
              <a:t> </a:t>
            </a:r>
            <a:r>
              <a:rPr sz="1550" dirty="0">
                <a:latin typeface="Arial"/>
                <a:cs typeface="Arial"/>
              </a:rPr>
              <a:t>=</a:t>
            </a:r>
            <a:r>
              <a:rPr sz="1550" spc="20" dirty="0">
                <a:latin typeface="Arial"/>
                <a:cs typeface="Arial"/>
              </a:rPr>
              <a:t> </a:t>
            </a:r>
            <a:r>
              <a:rPr sz="1550" spc="-20" dirty="0">
                <a:latin typeface="Arial"/>
                <a:cs typeface="Arial"/>
              </a:rPr>
              <a:t>op1; </a:t>
            </a:r>
            <a:r>
              <a:rPr sz="1550" b="1" spc="-10" dirty="0">
                <a:latin typeface="Arial"/>
                <a:cs typeface="Arial"/>
              </a:rPr>
              <a:t>repeat</a:t>
            </a:r>
            <a:r>
              <a:rPr sz="1550" spc="-10" dirty="0">
                <a:latin typeface="Arial"/>
                <a:cs typeface="Arial"/>
              </a:rPr>
              <a:t>(8)</a:t>
            </a:r>
            <a:endParaRPr sz="1550">
              <a:latin typeface="Arial"/>
              <a:cs typeface="Arial"/>
            </a:endParaRPr>
          </a:p>
          <a:p>
            <a:pPr marL="807720">
              <a:lnSpc>
                <a:spcPct val="100000"/>
              </a:lnSpc>
              <a:spcBef>
                <a:spcPts val="415"/>
              </a:spcBef>
            </a:pPr>
            <a:r>
              <a:rPr sz="1550" b="1" spc="-10" dirty="0">
                <a:latin typeface="Arial"/>
                <a:cs typeface="Arial"/>
              </a:rPr>
              <a:t>begin</a:t>
            </a:r>
            <a:endParaRPr sz="1550">
              <a:latin typeface="Arial"/>
              <a:cs typeface="Arial"/>
            </a:endParaRPr>
          </a:p>
          <a:p>
            <a:pPr marL="1031240">
              <a:lnSpc>
                <a:spcPct val="100000"/>
              </a:lnSpc>
              <a:spcBef>
                <a:spcPts val="415"/>
              </a:spcBef>
            </a:pPr>
            <a:r>
              <a:rPr sz="1550" b="1" spc="-10" dirty="0">
                <a:latin typeface="Arial"/>
                <a:cs typeface="Arial"/>
              </a:rPr>
              <a:t>if</a:t>
            </a:r>
            <a:r>
              <a:rPr sz="1550" spc="-10" dirty="0">
                <a:latin typeface="Arial"/>
                <a:cs typeface="Arial"/>
              </a:rPr>
              <a:t>(tempb[1])</a:t>
            </a:r>
            <a:endParaRPr sz="1550">
              <a:latin typeface="Arial"/>
              <a:cs typeface="Arial"/>
            </a:endParaRPr>
          </a:p>
          <a:p>
            <a:pPr marL="1031240" marR="5080" indent="222250">
              <a:lnSpc>
                <a:spcPct val="122100"/>
              </a:lnSpc>
            </a:pPr>
            <a:r>
              <a:rPr sz="1550" dirty="0">
                <a:latin typeface="Arial"/>
                <a:cs typeface="Arial"/>
              </a:rPr>
              <a:t>result</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result</a:t>
            </a:r>
            <a:r>
              <a:rPr sz="1550" spc="20"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tempa; </a:t>
            </a:r>
            <a:r>
              <a:rPr sz="1550" dirty="0">
                <a:latin typeface="Arial"/>
                <a:cs typeface="Arial"/>
              </a:rPr>
              <a:t>tempa</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tempa</a:t>
            </a:r>
            <a:r>
              <a:rPr sz="1550" spc="30" dirty="0">
                <a:latin typeface="Arial"/>
                <a:cs typeface="Arial"/>
              </a:rPr>
              <a:t> </a:t>
            </a:r>
            <a:r>
              <a:rPr sz="1550" dirty="0">
                <a:latin typeface="Arial"/>
                <a:cs typeface="Arial"/>
              </a:rPr>
              <a:t>&lt;&lt;</a:t>
            </a:r>
            <a:r>
              <a:rPr sz="1550" spc="25" dirty="0">
                <a:latin typeface="Arial"/>
                <a:cs typeface="Arial"/>
              </a:rPr>
              <a:t> </a:t>
            </a:r>
            <a:r>
              <a:rPr sz="1550" spc="-25" dirty="0">
                <a:latin typeface="Arial"/>
                <a:cs typeface="Arial"/>
              </a:rPr>
              <a:t>1; </a:t>
            </a:r>
            <a:r>
              <a:rPr sz="1550" dirty="0">
                <a:latin typeface="Arial"/>
                <a:cs typeface="Arial"/>
              </a:rPr>
              <a:t>tempb</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tempb</a:t>
            </a:r>
            <a:r>
              <a:rPr sz="1550" spc="30" dirty="0">
                <a:latin typeface="Arial"/>
                <a:cs typeface="Arial"/>
              </a:rPr>
              <a:t> </a:t>
            </a:r>
            <a:r>
              <a:rPr sz="1550" dirty="0">
                <a:latin typeface="Arial"/>
                <a:cs typeface="Arial"/>
              </a:rPr>
              <a:t>&gt;&gt;</a:t>
            </a:r>
            <a:r>
              <a:rPr sz="1550" spc="25" dirty="0">
                <a:latin typeface="Arial"/>
                <a:cs typeface="Arial"/>
              </a:rPr>
              <a:t> </a:t>
            </a:r>
            <a:r>
              <a:rPr sz="1550" spc="-25" dirty="0">
                <a:latin typeface="Arial"/>
                <a:cs typeface="Arial"/>
              </a:rPr>
              <a:t>1;</a:t>
            </a:r>
            <a:endParaRPr sz="1550">
              <a:latin typeface="Arial"/>
              <a:cs typeface="Arial"/>
            </a:endParaRPr>
          </a:p>
          <a:p>
            <a:pPr marL="457200" marR="2142490" indent="350520">
              <a:lnSpc>
                <a:spcPct val="122300"/>
              </a:lnSpc>
            </a:pPr>
            <a:r>
              <a:rPr sz="1550" b="1" spc="-25" dirty="0">
                <a:latin typeface="Arial"/>
                <a:cs typeface="Arial"/>
              </a:rPr>
              <a:t>end end</a:t>
            </a:r>
            <a:endParaRPr sz="1550">
              <a:latin typeface="Arial"/>
              <a:cs typeface="Arial"/>
            </a:endParaRPr>
          </a:p>
          <a:p>
            <a:pPr marL="12700">
              <a:lnSpc>
                <a:spcPct val="100000"/>
              </a:lnSpc>
              <a:spcBef>
                <a:spcPts val="409"/>
              </a:spcBef>
            </a:pPr>
            <a:r>
              <a:rPr sz="1550" b="1" spc="-10" dirty="0">
                <a:latin typeface="Arial"/>
                <a:cs typeface="Arial"/>
              </a:rPr>
              <a:t>endmodule</a:t>
            </a:r>
            <a:endParaRPr sz="1550">
              <a:latin typeface="Arial"/>
              <a:cs typeface="Arial"/>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4" name="object 14"/>
          <p:cNvSpPr txBox="1"/>
          <p:nvPr/>
        </p:nvSpPr>
        <p:spPr>
          <a:xfrm>
            <a:off x="4175131" y="2764789"/>
            <a:ext cx="680085" cy="292735"/>
          </a:xfrm>
          <a:prstGeom prst="rect">
            <a:avLst/>
          </a:prstGeom>
        </p:spPr>
        <p:txBody>
          <a:bodyPr vert="horz" wrap="square" lIns="0" tIns="12700" rIns="0" bIns="0" rtlCol="0">
            <a:spAutoFit/>
          </a:bodyPr>
          <a:lstStyle/>
          <a:p>
            <a:pPr marL="12700">
              <a:lnSpc>
                <a:spcPct val="100000"/>
              </a:lnSpc>
              <a:spcBef>
                <a:spcPts val="100"/>
              </a:spcBef>
            </a:pPr>
            <a:r>
              <a:rPr sz="1750" b="1" dirty="0">
                <a:solidFill>
                  <a:srgbClr val="FF0000"/>
                </a:solidFill>
                <a:latin typeface="微软雅黑"/>
                <a:cs typeface="微软雅黑"/>
              </a:rPr>
              <a:t>例</a:t>
            </a:r>
            <a:r>
              <a:rPr sz="1750" b="1" spc="-20" dirty="0">
                <a:solidFill>
                  <a:srgbClr val="FF0000"/>
                </a:solidFill>
                <a:latin typeface="Arial"/>
                <a:cs typeface="Arial"/>
              </a:rPr>
              <a:t>3.10</a:t>
            </a:r>
            <a:endParaRPr sz="175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231" y="1083055"/>
            <a:ext cx="3891279" cy="506730"/>
          </a:xfrm>
          <a:prstGeom prst="rect">
            <a:avLst/>
          </a:prstGeom>
        </p:spPr>
        <p:txBody>
          <a:bodyPr vert="horz" wrap="square" lIns="0" tIns="13335" rIns="0" bIns="0" rtlCol="0">
            <a:spAutoFit/>
          </a:bodyPr>
          <a:lstStyle/>
          <a:p>
            <a:pPr marL="12700">
              <a:lnSpc>
                <a:spcPct val="100000"/>
              </a:lnSpc>
              <a:spcBef>
                <a:spcPts val="105"/>
              </a:spcBef>
            </a:pPr>
            <a:r>
              <a:rPr sz="3150" dirty="0">
                <a:latin typeface="Arial"/>
                <a:cs typeface="Arial"/>
              </a:rPr>
              <a:t>3.3.3</a:t>
            </a:r>
            <a:r>
              <a:rPr sz="3150" spc="-125" dirty="0">
                <a:latin typeface="Arial"/>
                <a:cs typeface="Arial"/>
              </a:rPr>
              <a:t> </a:t>
            </a:r>
            <a:r>
              <a:rPr sz="3150" spc="-10" dirty="0">
                <a:latin typeface="Calibri"/>
                <a:cs typeface="Calibri"/>
              </a:rPr>
              <a:t>while</a:t>
            </a:r>
            <a:r>
              <a:rPr sz="3150" dirty="0"/>
              <a:t>语句</a:t>
            </a:r>
            <a:r>
              <a:rPr sz="3150" spc="-10" dirty="0">
                <a:latin typeface="Arial"/>
                <a:cs typeface="Arial"/>
              </a:rPr>
              <a:t>---</a:t>
            </a:r>
            <a:r>
              <a:rPr sz="3150" spc="-25" dirty="0"/>
              <a:t>语法</a:t>
            </a:r>
            <a:endParaRPr sz="3150">
              <a:latin typeface="Arial"/>
              <a:cs typeface="Arial"/>
            </a:endParaRPr>
          </a:p>
        </p:txBody>
      </p:sp>
      <p:sp>
        <p:nvSpPr>
          <p:cNvPr id="3" name="object 3"/>
          <p:cNvSpPr txBox="1"/>
          <p:nvPr/>
        </p:nvSpPr>
        <p:spPr>
          <a:xfrm>
            <a:off x="660026" y="2057653"/>
            <a:ext cx="4110990" cy="34671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Arial"/>
                <a:cs typeface="Arial"/>
              </a:rPr>
              <a:t>while</a:t>
            </a:r>
            <a:r>
              <a:rPr sz="2100" b="1" spc="-15" dirty="0">
                <a:solidFill>
                  <a:srgbClr val="3E3E3E"/>
                </a:solidFill>
                <a:latin typeface="微软雅黑"/>
                <a:cs typeface="微软雅黑"/>
              </a:rPr>
              <a:t>语句的使用格式如右所示：</a:t>
            </a:r>
            <a:endParaRPr sz="2100">
              <a:latin typeface="微软雅黑"/>
              <a:cs typeface="微软雅黑"/>
            </a:endParaRPr>
          </a:p>
        </p:txBody>
      </p:sp>
      <p:sp>
        <p:nvSpPr>
          <p:cNvPr id="4" name="object 4"/>
          <p:cNvSpPr txBox="1"/>
          <p:nvPr/>
        </p:nvSpPr>
        <p:spPr>
          <a:xfrm>
            <a:off x="660031" y="2710823"/>
            <a:ext cx="4891405" cy="988694"/>
          </a:xfrm>
          <a:prstGeom prst="rect">
            <a:avLst/>
          </a:prstGeom>
        </p:spPr>
        <p:txBody>
          <a:bodyPr vert="horz" wrap="square" lIns="0" tIns="173990" rIns="0" bIns="0" rtlCol="0">
            <a:spAutoFit/>
          </a:bodyPr>
          <a:lstStyle/>
          <a:p>
            <a:pPr marL="250190" indent="-240029">
              <a:lnSpc>
                <a:spcPct val="100000"/>
              </a:lnSpc>
              <a:spcBef>
                <a:spcPts val="1370"/>
              </a:spcBef>
              <a:buSzPct val="95238"/>
              <a:buFont typeface="Wingdings"/>
              <a:buChar char=""/>
              <a:tabLst>
                <a:tab pos="250190" algn="l"/>
              </a:tabLst>
            </a:pPr>
            <a:r>
              <a:rPr sz="2100" spc="165" dirty="0">
                <a:latin typeface="微软雅黑"/>
                <a:cs typeface="微软雅黑"/>
              </a:rPr>
              <a:t>当顺序执行语句只有一条时，定界符</a:t>
            </a:r>
            <a:endParaRPr sz="2100">
              <a:latin typeface="微软雅黑"/>
              <a:cs typeface="微软雅黑"/>
            </a:endParaRPr>
          </a:p>
          <a:p>
            <a:pPr marL="212725">
              <a:lnSpc>
                <a:spcPct val="100000"/>
              </a:lnSpc>
              <a:spcBef>
                <a:spcPts val="1270"/>
              </a:spcBef>
            </a:pPr>
            <a:r>
              <a:rPr sz="2100" spc="-10" dirty="0">
                <a:latin typeface="Arial"/>
                <a:cs typeface="Arial"/>
              </a:rPr>
              <a:t>begin</a:t>
            </a:r>
            <a:r>
              <a:rPr sz="2100" dirty="0">
                <a:latin typeface="微软雅黑"/>
                <a:cs typeface="微软雅黑"/>
              </a:rPr>
              <a:t>和</a:t>
            </a:r>
            <a:r>
              <a:rPr sz="2100" spc="-10" dirty="0">
                <a:latin typeface="Arial"/>
                <a:cs typeface="Arial"/>
              </a:rPr>
              <a:t>end</a:t>
            </a:r>
            <a:r>
              <a:rPr sz="2100" spc="-10" dirty="0">
                <a:latin typeface="微软雅黑"/>
                <a:cs typeface="微软雅黑"/>
              </a:rPr>
              <a:t>可以省略。</a:t>
            </a:r>
            <a:endParaRPr sz="2100">
              <a:latin typeface="微软雅黑"/>
              <a:cs typeface="微软雅黑"/>
            </a:endParaRPr>
          </a:p>
        </p:txBody>
      </p:sp>
      <p:sp>
        <p:nvSpPr>
          <p:cNvPr id="5" name="object 5"/>
          <p:cNvSpPr txBox="1"/>
          <p:nvPr/>
        </p:nvSpPr>
        <p:spPr>
          <a:xfrm>
            <a:off x="660031" y="3953665"/>
            <a:ext cx="9380855" cy="1950720"/>
          </a:xfrm>
          <a:prstGeom prst="rect">
            <a:avLst/>
          </a:prstGeom>
        </p:spPr>
        <p:txBody>
          <a:bodyPr vert="horz" wrap="square" lIns="0" tIns="12700" rIns="0" bIns="0" rtlCol="0">
            <a:spAutoFit/>
          </a:bodyPr>
          <a:lstStyle/>
          <a:p>
            <a:pPr marL="212725" marR="5080" indent="-203200" algn="just">
              <a:lnSpc>
                <a:spcPct val="150300"/>
              </a:lnSpc>
              <a:spcBef>
                <a:spcPts val="100"/>
              </a:spcBef>
              <a:buSzPct val="95238"/>
              <a:buFont typeface="Wingdings"/>
              <a:buChar char=""/>
              <a:tabLst>
                <a:tab pos="212725" algn="l"/>
                <a:tab pos="249554" algn="l"/>
              </a:tabLst>
            </a:pPr>
            <a:r>
              <a:rPr sz="2100" dirty="0">
                <a:latin typeface="Arial"/>
                <a:cs typeface="Arial"/>
              </a:rPr>
              <a:t>	while</a:t>
            </a:r>
            <a:r>
              <a:rPr sz="2100" spc="45" dirty="0">
                <a:latin typeface="微软雅黑"/>
                <a:cs typeface="微软雅黑"/>
              </a:rPr>
              <a:t>语句在执行时，首先判断表达式是否为真，如果为真，则执行后面的语</a:t>
            </a:r>
            <a:r>
              <a:rPr sz="2100" spc="-5" dirty="0">
                <a:latin typeface="微软雅黑"/>
                <a:cs typeface="微软雅黑"/>
              </a:rPr>
              <a:t>句或语句块，然后再回头判断表达式是否为真，为真的话，再执行一遍后面的语句，如此不断，直到表达式不为真。因此，在执行语句中，必须有一条改变</a:t>
            </a:r>
            <a:r>
              <a:rPr sz="2100" spc="-10" dirty="0">
                <a:latin typeface="微软雅黑"/>
                <a:cs typeface="微软雅黑"/>
              </a:rPr>
              <a:t>表达式值的语句</a:t>
            </a:r>
            <a:endParaRPr sz="2100">
              <a:latin typeface="微软雅黑"/>
              <a:cs typeface="微软雅黑"/>
            </a:endParaRPr>
          </a:p>
        </p:txBody>
      </p:sp>
      <p:grpSp>
        <p:nvGrpSpPr>
          <p:cNvPr id="6" name="object 6"/>
          <p:cNvGrpSpPr/>
          <p:nvPr/>
        </p:nvGrpSpPr>
        <p:grpSpPr>
          <a:xfrm>
            <a:off x="6245225" y="2126742"/>
            <a:ext cx="3864610" cy="1709420"/>
            <a:chOff x="6245225" y="2126742"/>
            <a:chExt cx="3864610" cy="1709420"/>
          </a:xfrm>
        </p:grpSpPr>
        <p:sp>
          <p:nvSpPr>
            <p:cNvPr id="7" name="object 7"/>
            <p:cNvSpPr/>
            <p:nvPr/>
          </p:nvSpPr>
          <p:spPr>
            <a:xfrm>
              <a:off x="6249809" y="2131314"/>
              <a:ext cx="3855720" cy="1700530"/>
            </a:xfrm>
            <a:custGeom>
              <a:avLst/>
              <a:gdLst/>
              <a:ahLst/>
              <a:cxnLst/>
              <a:rect l="l" t="t" r="r" b="b"/>
              <a:pathLst>
                <a:path w="3855720" h="1700529">
                  <a:moveTo>
                    <a:pt x="3855720" y="1700022"/>
                  </a:moveTo>
                  <a:lnTo>
                    <a:pt x="3855720" y="0"/>
                  </a:lnTo>
                  <a:lnTo>
                    <a:pt x="0" y="0"/>
                  </a:lnTo>
                  <a:lnTo>
                    <a:pt x="0" y="1700022"/>
                  </a:lnTo>
                  <a:lnTo>
                    <a:pt x="3855720" y="1700022"/>
                  </a:lnTo>
                  <a:close/>
                </a:path>
              </a:pathLst>
            </a:custGeom>
            <a:solidFill>
              <a:srgbClr val="F9FABA"/>
            </a:solidFill>
          </p:spPr>
          <p:txBody>
            <a:bodyPr wrap="square" lIns="0" tIns="0" rIns="0" bIns="0" rtlCol="0"/>
            <a:lstStyle/>
            <a:p>
              <a:endParaRPr/>
            </a:p>
          </p:txBody>
        </p:sp>
        <p:sp>
          <p:nvSpPr>
            <p:cNvPr id="8" name="object 8"/>
            <p:cNvSpPr/>
            <p:nvPr/>
          </p:nvSpPr>
          <p:spPr>
            <a:xfrm>
              <a:off x="6245225" y="2126742"/>
              <a:ext cx="3864610" cy="1709420"/>
            </a:xfrm>
            <a:custGeom>
              <a:avLst/>
              <a:gdLst/>
              <a:ahLst/>
              <a:cxnLst/>
              <a:rect l="l" t="t" r="r" b="b"/>
              <a:pathLst>
                <a:path w="3864609" h="1709420">
                  <a:moveTo>
                    <a:pt x="3864102" y="1706879"/>
                  </a:moveTo>
                  <a:lnTo>
                    <a:pt x="3864102" y="2285"/>
                  </a:lnTo>
                  <a:lnTo>
                    <a:pt x="3862578" y="0"/>
                  </a:lnTo>
                  <a:lnTo>
                    <a:pt x="2285" y="0"/>
                  </a:lnTo>
                  <a:lnTo>
                    <a:pt x="0" y="2286"/>
                  </a:lnTo>
                  <a:lnTo>
                    <a:pt x="0" y="1706880"/>
                  </a:lnTo>
                  <a:lnTo>
                    <a:pt x="2286" y="1709166"/>
                  </a:lnTo>
                  <a:lnTo>
                    <a:pt x="4572" y="1709166"/>
                  </a:lnTo>
                  <a:lnTo>
                    <a:pt x="4572" y="8382"/>
                  </a:lnTo>
                  <a:lnTo>
                    <a:pt x="8381" y="4572"/>
                  </a:lnTo>
                  <a:lnTo>
                    <a:pt x="8382" y="8382"/>
                  </a:lnTo>
                  <a:lnTo>
                    <a:pt x="3856482" y="8381"/>
                  </a:lnTo>
                  <a:lnTo>
                    <a:pt x="3856482" y="4571"/>
                  </a:lnTo>
                  <a:lnTo>
                    <a:pt x="3860291" y="8381"/>
                  </a:lnTo>
                  <a:lnTo>
                    <a:pt x="3860291" y="1709165"/>
                  </a:lnTo>
                  <a:lnTo>
                    <a:pt x="3862578" y="1709165"/>
                  </a:lnTo>
                  <a:lnTo>
                    <a:pt x="3864102" y="1706879"/>
                  </a:lnTo>
                  <a:close/>
                </a:path>
                <a:path w="3864609" h="1709420">
                  <a:moveTo>
                    <a:pt x="8381" y="8382"/>
                  </a:moveTo>
                  <a:lnTo>
                    <a:pt x="8381" y="4572"/>
                  </a:lnTo>
                  <a:lnTo>
                    <a:pt x="4572" y="8382"/>
                  </a:lnTo>
                  <a:lnTo>
                    <a:pt x="8381" y="8382"/>
                  </a:lnTo>
                  <a:close/>
                </a:path>
                <a:path w="3864609" h="1709420">
                  <a:moveTo>
                    <a:pt x="8382" y="1700784"/>
                  </a:moveTo>
                  <a:lnTo>
                    <a:pt x="8381" y="8382"/>
                  </a:lnTo>
                  <a:lnTo>
                    <a:pt x="4572" y="8382"/>
                  </a:lnTo>
                  <a:lnTo>
                    <a:pt x="4572" y="1700784"/>
                  </a:lnTo>
                  <a:lnTo>
                    <a:pt x="8382" y="1700784"/>
                  </a:lnTo>
                  <a:close/>
                </a:path>
                <a:path w="3864609" h="1709420">
                  <a:moveTo>
                    <a:pt x="3860291" y="1700783"/>
                  </a:moveTo>
                  <a:lnTo>
                    <a:pt x="4572" y="1700784"/>
                  </a:lnTo>
                  <a:lnTo>
                    <a:pt x="8382" y="1704594"/>
                  </a:lnTo>
                  <a:lnTo>
                    <a:pt x="8382" y="1709166"/>
                  </a:lnTo>
                  <a:lnTo>
                    <a:pt x="3856482" y="1709165"/>
                  </a:lnTo>
                  <a:lnTo>
                    <a:pt x="3856482" y="1704594"/>
                  </a:lnTo>
                  <a:lnTo>
                    <a:pt x="3860291" y="1700783"/>
                  </a:lnTo>
                  <a:close/>
                </a:path>
                <a:path w="3864609" h="1709420">
                  <a:moveTo>
                    <a:pt x="8382" y="1709166"/>
                  </a:moveTo>
                  <a:lnTo>
                    <a:pt x="8382" y="1704594"/>
                  </a:lnTo>
                  <a:lnTo>
                    <a:pt x="4572" y="1700784"/>
                  </a:lnTo>
                  <a:lnTo>
                    <a:pt x="4572" y="1709166"/>
                  </a:lnTo>
                  <a:lnTo>
                    <a:pt x="8382" y="1709166"/>
                  </a:lnTo>
                  <a:close/>
                </a:path>
                <a:path w="3864609" h="1709420">
                  <a:moveTo>
                    <a:pt x="3860291" y="8381"/>
                  </a:moveTo>
                  <a:lnTo>
                    <a:pt x="3856482" y="4571"/>
                  </a:lnTo>
                  <a:lnTo>
                    <a:pt x="3856482" y="8381"/>
                  </a:lnTo>
                  <a:lnTo>
                    <a:pt x="3860291" y="8381"/>
                  </a:lnTo>
                  <a:close/>
                </a:path>
                <a:path w="3864609" h="1709420">
                  <a:moveTo>
                    <a:pt x="3860291" y="1700783"/>
                  </a:moveTo>
                  <a:lnTo>
                    <a:pt x="3860291" y="8381"/>
                  </a:lnTo>
                  <a:lnTo>
                    <a:pt x="3856482" y="8381"/>
                  </a:lnTo>
                  <a:lnTo>
                    <a:pt x="3856482" y="1700783"/>
                  </a:lnTo>
                  <a:lnTo>
                    <a:pt x="3860291" y="1700783"/>
                  </a:lnTo>
                  <a:close/>
                </a:path>
                <a:path w="3864609" h="1709420">
                  <a:moveTo>
                    <a:pt x="3860291" y="1709165"/>
                  </a:moveTo>
                  <a:lnTo>
                    <a:pt x="3860291" y="1700783"/>
                  </a:lnTo>
                  <a:lnTo>
                    <a:pt x="3856482" y="1704594"/>
                  </a:lnTo>
                  <a:lnTo>
                    <a:pt x="3856482" y="1709165"/>
                  </a:lnTo>
                  <a:lnTo>
                    <a:pt x="3860291" y="1709165"/>
                  </a:lnTo>
                  <a:close/>
                </a:path>
              </a:pathLst>
            </a:custGeom>
            <a:solidFill>
              <a:srgbClr val="000000"/>
            </a:solidFill>
          </p:spPr>
          <p:txBody>
            <a:bodyPr wrap="square" lIns="0" tIns="0" rIns="0" bIns="0" rtlCol="0"/>
            <a:lstStyle/>
            <a:p>
              <a:endParaRPr/>
            </a:p>
          </p:txBody>
        </p:sp>
      </p:grpSp>
      <p:sp>
        <p:nvSpPr>
          <p:cNvPr id="9" name="object 9"/>
          <p:cNvSpPr txBox="1"/>
          <p:nvPr/>
        </p:nvSpPr>
        <p:spPr>
          <a:xfrm>
            <a:off x="6316351" y="2150617"/>
            <a:ext cx="2035810" cy="1630045"/>
          </a:xfrm>
          <a:prstGeom prst="rect">
            <a:avLst/>
          </a:prstGeom>
        </p:spPr>
        <p:txBody>
          <a:bodyPr vert="horz" wrap="square" lIns="0" tIns="10160" rIns="0" bIns="0" rtlCol="0">
            <a:spAutoFit/>
          </a:bodyPr>
          <a:lstStyle/>
          <a:p>
            <a:pPr marL="12700" marR="395605">
              <a:lnSpc>
                <a:spcPct val="100899"/>
              </a:lnSpc>
              <a:spcBef>
                <a:spcPts val="80"/>
              </a:spcBef>
            </a:pPr>
            <a:r>
              <a:rPr sz="1750" spc="-10" dirty="0">
                <a:latin typeface="Arial"/>
                <a:cs typeface="Arial"/>
              </a:rPr>
              <a:t>while</a:t>
            </a:r>
            <a:r>
              <a:rPr sz="1750" spc="-10" dirty="0">
                <a:latin typeface="微软雅黑"/>
                <a:cs typeface="微软雅黑"/>
              </a:rPr>
              <a:t>（</a:t>
            </a:r>
            <a:r>
              <a:rPr sz="1750" dirty="0">
                <a:latin typeface="微软雅黑"/>
                <a:cs typeface="微软雅黑"/>
              </a:rPr>
              <a:t>表达式</a:t>
            </a:r>
            <a:r>
              <a:rPr sz="1750" spc="-50" dirty="0">
                <a:latin typeface="微软雅黑"/>
                <a:cs typeface="微软雅黑"/>
              </a:rPr>
              <a:t>） </a:t>
            </a:r>
            <a:r>
              <a:rPr sz="1750" spc="-10" dirty="0">
                <a:latin typeface="Arial"/>
                <a:cs typeface="Arial"/>
              </a:rPr>
              <a:t>begin</a:t>
            </a:r>
            <a:endParaRPr sz="1750">
              <a:latin typeface="Arial"/>
              <a:cs typeface="Arial"/>
            </a:endParaRPr>
          </a:p>
          <a:p>
            <a:pPr marL="441325">
              <a:lnSpc>
                <a:spcPts val="2090"/>
              </a:lnSpc>
            </a:pPr>
            <a:r>
              <a:rPr sz="1750" spc="-10" dirty="0">
                <a:latin typeface="Arial"/>
                <a:cs typeface="Arial"/>
              </a:rPr>
              <a:t>[</a:t>
            </a:r>
            <a:r>
              <a:rPr sz="1750" dirty="0">
                <a:latin typeface="微软雅黑"/>
                <a:cs typeface="微软雅黑"/>
              </a:rPr>
              <a:t>顺序执行语句</a:t>
            </a:r>
            <a:r>
              <a:rPr sz="1750" spc="-25" dirty="0">
                <a:latin typeface="Arial"/>
                <a:cs typeface="Arial"/>
              </a:rPr>
              <a:t>] ;</a:t>
            </a:r>
            <a:endParaRPr sz="1750">
              <a:latin typeface="Arial"/>
              <a:cs typeface="Arial"/>
            </a:endParaRPr>
          </a:p>
          <a:p>
            <a:pPr marL="441325">
              <a:lnSpc>
                <a:spcPct val="100000"/>
              </a:lnSpc>
              <a:spcBef>
                <a:spcPts val="10"/>
              </a:spcBef>
            </a:pPr>
            <a:r>
              <a:rPr sz="1750" spc="-10" dirty="0">
                <a:latin typeface="Arial"/>
                <a:cs typeface="Arial"/>
              </a:rPr>
              <a:t>[</a:t>
            </a:r>
            <a:r>
              <a:rPr sz="1750" dirty="0">
                <a:latin typeface="微软雅黑"/>
                <a:cs typeface="微软雅黑"/>
              </a:rPr>
              <a:t>顺序执行语句</a:t>
            </a:r>
            <a:r>
              <a:rPr sz="1750" spc="-25" dirty="0">
                <a:latin typeface="Arial"/>
                <a:cs typeface="Arial"/>
              </a:rPr>
              <a:t>] ;</a:t>
            </a:r>
            <a:endParaRPr sz="1750">
              <a:latin typeface="Arial"/>
              <a:cs typeface="Arial"/>
            </a:endParaRPr>
          </a:p>
          <a:p>
            <a:pPr marL="441325">
              <a:lnSpc>
                <a:spcPct val="100000"/>
              </a:lnSpc>
              <a:spcBef>
                <a:spcPts val="15"/>
              </a:spcBef>
            </a:pPr>
            <a:r>
              <a:rPr sz="1750" dirty="0">
                <a:latin typeface="Arial"/>
                <a:cs typeface="Arial"/>
              </a:rPr>
              <a:t>.</a:t>
            </a:r>
            <a:r>
              <a:rPr sz="1750" spc="-15" dirty="0">
                <a:latin typeface="Arial"/>
                <a:cs typeface="Arial"/>
              </a:rPr>
              <a:t> </a:t>
            </a:r>
            <a:r>
              <a:rPr sz="1750" dirty="0">
                <a:latin typeface="Arial"/>
                <a:cs typeface="Arial"/>
              </a:rPr>
              <a:t>.</a:t>
            </a:r>
            <a:r>
              <a:rPr sz="1750" spc="-15" dirty="0">
                <a:latin typeface="Arial"/>
                <a:cs typeface="Arial"/>
              </a:rPr>
              <a:t> </a:t>
            </a:r>
            <a:r>
              <a:rPr sz="1750" spc="-50" dirty="0">
                <a:latin typeface="Arial"/>
                <a:cs typeface="Arial"/>
              </a:rPr>
              <a:t>.</a:t>
            </a:r>
            <a:endParaRPr sz="1750">
              <a:latin typeface="Arial"/>
              <a:cs typeface="Arial"/>
            </a:endParaRPr>
          </a:p>
          <a:p>
            <a:pPr marL="12700">
              <a:lnSpc>
                <a:spcPct val="100000"/>
              </a:lnSpc>
            </a:pPr>
            <a:r>
              <a:rPr sz="1750" spc="-25" dirty="0">
                <a:latin typeface="Arial"/>
                <a:cs typeface="Arial"/>
              </a:rPr>
              <a:t>end</a:t>
            </a:r>
            <a:endParaRPr sz="175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20153" y="2629661"/>
            <a:ext cx="9239250" cy="4199764"/>
            <a:chOff x="620153" y="2629661"/>
            <a:chExt cx="9239250" cy="3851910"/>
          </a:xfrm>
        </p:grpSpPr>
        <p:sp>
          <p:nvSpPr>
            <p:cNvPr id="4" name="object 4"/>
            <p:cNvSpPr/>
            <p:nvPr/>
          </p:nvSpPr>
          <p:spPr>
            <a:xfrm>
              <a:off x="624725" y="2634233"/>
              <a:ext cx="9230995" cy="3843654"/>
            </a:xfrm>
            <a:custGeom>
              <a:avLst/>
              <a:gdLst/>
              <a:ahLst/>
              <a:cxnLst/>
              <a:rect l="l" t="t" r="r" b="b"/>
              <a:pathLst>
                <a:path w="9230995" h="3843654">
                  <a:moveTo>
                    <a:pt x="9230868" y="3843527"/>
                  </a:moveTo>
                  <a:lnTo>
                    <a:pt x="9230868" y="0"/>
                  </a:lnTo>
                  <a:lnTo>
                    <a:pt x="0" y="0"/>
                  </a:lnTo>
                  <a:lnTo>
                    <a:pt x="0" y="3843528"/>
                  </a:lnTo>
                  <a:lnTo>
                    <a:pt x="9230868" y="3843527"/>
                  </a:lnTo>
                  <a:close/>
                </a:path>
              </a:pathLst>
            </a:custGeom>
            <a:solidFill>
              <a:srgbClr val="F9FABA"/>
            </a:solidFill>
          </p:spPr>
          <p:txBody>
            <a:bodyPr wrap="square" lIns="0" tIns="0" rIns="0" bIns="0" rtlCol="0"/>
            <a:lstStyle/>
            <a:p>
              <a:endParaRPr/>
            </a:p>
          </p:txBody>
        </p:sp>
        <p:sp>
          <p:nvSpPr>
            <p:cNvPr id="5" name="object 5"/>
            <p:cNvSpPr/>
            <p:nvPr/>
          </p:nvSpPr>
          <p:spPr>
            <a:xfrm>
              <a:off x="620153" y="2629661"/>
              <a:ext cx="9239250" cy="3851910"/>
            </a:xfrm>
            <a:custGeom>
              <a:avLst/>
              <a:gdLst/>
              <a:ahLst/>
              <a:cxnLst/>
              <a:rect l="l" t="t" r="r" b="b"/>
              <a:pathLst>
                <a:path w="9239250" h="3851910">
                  <a:moveTo>
                    <a:pt x="9239250" y="3850386"/>
                  </a:moveTo>
                  <a:lnTo>
                    <a:pt x="9239250" y="2286"/>
                  </a:lnTo>
                  <a:lnTo>
                    <a:pt x="9237726" y="0"/>
                  </a:lnTo>
                  <a:lnTo>
                    <a:pt x="1523" y="0"/>
                  </a:lnTo>
                  <a:lnTo>
                    <a:pt x="0" y="2286"/>
                  </a:lnTo>
                  <a:lnTo>
                    <a:pt x="0" y="3850386"/>
                  </a:lnTo>
                  <a:lnTo>
                    <a:pt x="1524" y="3851910"/>
                  </a:lnTo>
                  <a:lnTo>
                    <a:pt x="4572" y="3851910"/>
                  </a:lnTo>
                  <a:lnTo>
                    <a:pt x="4572" y="8382"/>
                  </a:lnTo>
                  <a:lnTo>
                    <a:pt x="8381" y="4572"/>
                  </a:lnTo>
                  <a:lnTo>
                    <a:pt x="8381" y="8382"/>
                  </a:lnTo>
                  <a:lnTo>
                    <a:pt x="9231630" y="8382"/>
                  </a:lnTo>
                  <a:lnTo>
                    <a:pt x="9231630" y="4572"/>
                  </a:lnTo>
                  <a:lnTo>
                    <a:pt x="9235440" y="8382"/>
                  </a:lnTo>
                  <a:lnTo>
                    <a:pt x="9235440" y="3851910"/>
                  </a:lnTo>
                  <a:lnTo>
                    <a:pt x="9237726" y="3851910"/>
                  </a:lnTo>
                  <a:lnTo>
                    <a:pt x="9239250" y="3850386"/>
                  </a:lnTo>
                  <a:close/>
                </a:path>
                <a:path w="9239250" h="3851910">
                  <a:moveTo>
                    <a:pt x="8381" y="8382"/>
                  </a:moveTo>
                  <a:lnTo>
                    <a:pt x="8381" y="4572"/>
                  </a:lnTo>
                  <a:lnTo>
                    <a:pt x="4572" y="8382"/>
                  </a:lnTo>
                  <a:lnTo>
                    <a:pt x="8381" y="8382"/>
                  </a:lnTo>
                  <a:close/>
                </a:path>
                <a:path w="9239250" h="3851910">
                  <a:moveTo>
                    <a:pt x="8381" y="3843528"/>
                  </a:moveTo>
                  <a:lnTo>
                    <a:pt x="8381" y="8382"/>
                  </a:lnTo>
                  <a:lnTo>
                    <a:pt x="4572" y="8382"/>
                  </a:lnTo>
                  <a:lnTo>
                    <a:pt x="4572" y="3843528"/>
                  </a:lnTo>
                  <a:lnTo>
                    <a:pt x="8381" y="3843528"/>
                  </a:lnTo>
                  <a:close/>
                </a:path>
                <a:path w="9239250" h="3851910">
                  <a:moveTo>
                    <a:pt x="9235440" y="3843528"/>
                  </a:moveTo>
                  <a:lnTo>
                    <a:pt x="4572" y="3843528"/>
                  </a:lnTo>
                  <a:lnTo>
                    <a:pt x="8381" y="3848100"/>
                  </a:lnTo>
                  <a:lnTo>
                    <a:pt x="8381" y="3851910"/>
                  </a:lnTo>
                  <a:lnTo>
                    <a:pt x="9231630" y="3851910"/>
                  </a:lnTo>
                  <a:lnTo>
                    <a:pt x="9231630" y="3848100"/>
                  </a:lnTo>
                  <a:lnTo>
                    <a:pt x="9235440" y="3843528"/>
                  </a:lnTo>
                  <a:close/>
                </a:path>
                <a:path w="9239250" h="3851910">
                  <a:moveTo>
                    <a:pt x="8381" y="3851910"/>
                  </a:moveTo>
                  <a:lnTo>
                    <a:pt x="8381" y="3848100"/>
                  </a:lnTo>
                  <a:lnTo>
                    <a:pt x="4572" y="3843528"/>
                  </a:lnTo>
                  <a:lnTo>
                    <a:pt x="4572" y="3851910"/>
                  </a:lnTo>
                  <a:lnTo>
                    <a:pt x="8381" y="3851910"/>
                  </a:lnTo>
                  <a:close/>
                </a:path>
                <a:path w="9239250" h="3851910">
                  <a:moveTo>
                    <a:pt x="9235440" y="8382"/>
                  </a:moveTo>
                  <a:lnTo>
                    <a:pt x="9231630" y="4572"/>
                  </a:lnTo>
                  <a:lnTo>
                    <a:pt x="9231630" y="8382"/>
                  </a:lnTo>
                  <a:lnTo>
                    <a:pt x="9235440" y="8382"/>
                  </a:lnTo>
                  <a:close/>
                </a:path>
                <a:path w="9239250" h="3851910">
                  <a:moveTo>
                    <a:pt x="9235440" y="3843528"/>
                  </a:moveTo>
                  <a:lnTo>
                    <a:pt x="9235440" y="8382"/>
                  </a:lnTo>
                  <a:lnTo>
                    <a:pt x="9231630" y="8382"/>
                  </a:lnTo>
                  <a:lnTo>
                    <a:pt x="9231630" y="3843528"/>
                  </a:lnTo>
                  <a:lnTo>
                    <a:pt x="9235440" y="3843528"/>
                  </a:lnTo>
                  <a:close/>
                </a:path>
                <a:path w="9239250" h="3851910">
                  <a:moveTo>
                    <a:pt x="9235440" y="3851910"/>
                  </a:moveTo>
                  <a:lnTo>
                    <a:pt x="9235440" y="3843528"/>
                  </a:lnTo>
                  <a:lnTo>
                    <a:pt x="9231630" y="3848100"/>
                  </a:lnTo>
                  <a:lnTo>
                    <a:pt x="9231630" y="3851910"/>
                  </a:lnTo>
                  <a:lnTo>
                    <a:pt x="9235440" y="3851910"/>
                  </a:lnTo>
                  <a:close/>
                </a:path>
              </a:pathLst>
            </a:custGeom>
            <a:solidFill>
              <a:srgbClr val="000000"/>
            </a:solidFill>
          </p:spPr>
          <p:txBody>
            <a:bodyPr wrap="square" lIns="0" tIns="0" rIns="0" bIns="0" rtlCol="0"/>
            <a:lstStyle/>
            <a:p>
              <a:endParaRPr/>
            </a:p>
          </p:txBody>
        </p:sp>
      </p:grpSp>
      <p:sp>
        <p:nvSpPr>
          <p:cNvPr id="6" name="object 6"/>
          <p:cNvSpPr txBox="1"/>
          <p:nvPr/>
        </p:nvSpPr>
        <p:spPr>
          <a:xfrm>
            <a:off x="603637" y="1822196"/>
            <a:ext cx="9323705" cy="4907497"/>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dirty="0">
                <a:solidFill>
                  <a:srgbClr val="3E3E3E"/>
                </a:solidFill>
                <a:latin typeface="微软雅黑"/>
                <a:cs typeface="微软雅黑"/>
              </a:rPr>
              <a:t>下例用</a:t>
            </a:r>
            <a:r>
              <a:rPr sz="2100" b="1" spc="-10" dirty="0">
                <a:solidFill>
                  <a:srgbClr val="3E3E3E"/>
                </a:solidFill>
                <a:latin typeface="Arial"/>
                <a:cs typeface="Arial"/>
              </a:rPr>
              <a:t>while</a:t>
            </a:r>
            <a:r>
              <a:rPr sz="2100" b="1" spc="-10" dirty="0">
                <a:solidFill>
                  <a:srgbClr val="3E3E3E"/>
                </a:solidFill>
                <a:latin typeface="微软雅黑"/>
                <a:cs typeface="微软雅黑"/>
              </a:rPr>
              <a:t>循环实现两个</a:t>
            </a:r>
            <a:r>
              <a:rPr sz="2100" b="1" spc="-10" dirty="0">
                <a:solidFill>
                  <a:srgbClr val="3E3E3E"/>
                </a:solidFill>
                <a:latin typeface="Arial"/>
                <a:cs typeface="Arial"/>
              </a:rPr>
              <a:t>8</a:t>
            </a:r>
            <a:r>
              <a:rPr sz="2100" b="1" spc="-10" dirty="0">
                <a:solidFill>
                  <a:srgbClr val="3E3E3E"/>
                </a:solidFill>
                <a:latin typeface="微软雅黑"/>
                <a:cs typeface="微软雅黑"/>
              </a:rPr>
              <a:t>位二进制数的乘法操作，实现代码见例</a:t>
            </a:r>
            <a:r>
              <a:rPr sz="2100" b="1" spc="-10" dirty="0">
                <a:solidFill>
                  <a:srgbClr val="3E3E3E"/>
                </a:solidFill>
                <a:latin typeface="Arial"/>
                <a:cs typeface="Arial"/>
              </a:rPr>
              <a:t>3.11</a:t>
            </a:r>
            <a:r>
              <a:rPr sz="2100" b="1" spc="-20" dirty="0">
                <a:solidFill>
                  <a:srgbClr val="3E3E3E"/>
                </a:solidFill>
                <a:latin typeface="微软雅黑"/>
                <a:cs typeface="微软雅黑"/>
              </a:rPr>
              <a:t>所示。</a:t>
            </a:r>
            <a:endParaRPr sz="2100" dirty="0">
              <a:latin typeface="微软雅黑"/>
              <a:cs typeface="微软雅黑"/>
            </a:endParaRPr>
          </a:p>
          <a:p>
            <a:pPr marL="122555">
              <a:lnSpc>
                <a:spcPct val="100000"/>
              </a:lnSpc>
              <a:spcBef>
                <a:spcPts val="1360"/>
              </a:spcBef>
            </a:pPr>
            <a:r>
              <a:rPr sz="1550" b="1" spc="-25" dirty="0">
                <a:solidFill>
                  <a:srgbClr val="C00000"/>
                </a:solidFill>
                <a:latin typeface="宋体"/>
                <a:cs typeface="宋体"/>
              </a:rPr>
              <a:t>例 </a:t>
            </a:r>
            <a:r>
              <a:rPr sz="1550" b="1" dirty="0">
                <a:solidFill>
                  <a:srgbClr val="C00000"/>
                </a:solidFill>
                <a:latin typeface="Calibri"/>
                <a:cs typeface="Calibri"/>
              </a:rPr>
              <a:t>3.11</a:t>
            </a:r>
            <a:r>
              <a:rPr sz="1550" b="1" dirty="0">
                <a:solidFill>
                  <a:srgbClr val="C00000"/>
                </a:solidFill>
                <a:latin typeface="宋体"/>
                <a:cs typeface="宋体"/>
              </a:rPr>
              <a:t>：</a:t>
            </a:r>
            <a:r>
              <a:rPr sz="1550" b="1" dirty="0">
                <a:solidFill>
                  <a:srgbClr val="C00000"/>
                </a:solidFill>
                <a:latin typeface="Calibri"/>
                <a:cs typeface="Calibri"/>
              </a:rPr>
              <a:t>2</a:t>
            </a:r>
            <a:r>
              <a:rPr sz="1550" b="1" dirty="0">
                <a:solidFill>
                  <a:srgbClr val="C00000"/>
                </a:solidFill>
                <a:latin typeface="宋体"/>
                <a:cs typeface="宋体"/>
              </a:rPr>
              <a:t>个</a:t>
            </a:r>
            <a:r>
              <a:rPr sz="1550" b="1" dirty="0">
                <a:solidFill>
                  <a:srgbClr val="C00000"/>
                </a:solidFill>
                <a:latin typeface="Calibri"/>
                <a:cs typeface="Calibri"/>
              </a:rPr>
              <a:t>8</a:t>
            </a:r>
            <a:r>
              <a:rPr sz="1550" b="1" dirty="0">
                <a:solidFill>
                  <a:srgbClr val="C00000"/>
                </a:solidFill>
                <a:latin typeface="宋体"/>
                <a:cs typeface="宋体"/>
              </a:rPr>
              <a:t>位二进制数相乘的</a:t>
            </a:r>
            <a:r>
              <a:rPr sz="1550" b="1" dirty="0">
                <a:solidFill>
                  <a:srgbClr val="C00000"/>
                </a:solidFill>
                <a:latin typeface="Calibri"/>
                <a:cs typeface="Calibri"/>
              </a:rPr>
              <a:t>while</a:t>
            </a:r>
            <a:r>
              <a:rPr sz="1550" b="1" spc="-15" dirty="0">
                <a:solidFill>
                  <a:srgbClr val="C00000"/>
                </a:solidFill>
                <a:latin typeface="宋体"/>
                <a:cs typeface="宋体"/>
              </a:rPr>
              <a:t>语句描述</a:t>
            </a:r>
            <a:endParaRPr sz="1550" dirty="0">
              <a:latin typeface="宋体"/>
              <a:cs typeface="宋体"/>
            </a:endParaRPr>
          </a:p>
          <a:p>
            <a:pPr marL="100330">
              <a:lnSpc>
                <a:spcPct val="100000"/>
              </a:lnSpc>
              <a:spcBef>
                <a:spcPts val="1015"/>
              </a:spcBef>
            </a:pPr>
            <a:r>
              <a:rPr sz="1550" b="1" dirty="0">
                <a:latin typeface="Arial"/>
                <a:cs typeface="Arial"/>
              </a:rPr>
              <a:t>module</a:t>
            </a:r>
            <a:r>
              <a:rPr sz="1550" b="1" spc="40" dirty="0">
                <a:latin typeface="Arial"/>
                <a:cs typeface="Arial"/>
              </a:rPr>
              <a:t> </a:t>
            </a:r>
            <a:r>
              <a:rPr sz="1550" dirty="0">
                <a:latin typeface="Arial"/>
                <a:cs typeface="Arial"/>
              </a:rPr>
              <a:t>mult_while</a:t>
            </a:r>
            <a:r>
              <a:rPr sz="1550" spc="50" dirty="0">
                <a:latin typeface="Arial"/>
                <a:cs typeface="Arial"/>
              </a:rPr>
              <a:t>  </a:t>
            </a:r>
            <a:r>
              <a:rPr sz="1550" dirty="0">
                <a:latin typeface="Arial"/>
                <a:cs typeface="Arial"/>
              </a:rPr>
              <a:t>(</a:t>
            </a:r>
            <a:r>
              <a:rPr sz="1550" spc="45" dirty="0">
                <a:latin typeface="Arial"/>
                <a:cs typeface="Arial"/>
              </a:rPr>
              <a:t> </a:t>
            </a:r>
            <a:r>
              <a:rPr sz="1550" b="1" dirty="0">
                <a:latin typeface="Arial"/>
                <a:cs typeface="Arial"/>
              </a:rPr>
              <a:t>input</a:t>
            </a:r>
            <a:r>
              <a:rPr sz="1550" b="1" spc="40" dirty="0">
                <a:latin typeface="Arial"/>
                <a:cs typeface="Arial"/>
              </a:rPr>
              <a:t> </a:t>
            </a:r>
            <a:r>
              <a:rPr sz="1550" dirty="0">
                <a:latin typeface="Arial"/>
                <a:cs typeface="Arial"/>
              </a:rPr>
              <a:t>[8:1]</a:t>
            </a:r>
            <a:r>
              <a:rPr sz="1550" spc="45" dirty="0">
                <a:latin typeface="Arial"/>
                <a:cs typeface="Arial"/>
              </a:rPr>
              <a:t> </a:t>
            </a:r>
            <a:r>
              <a:rPr sz="1550" dirty="0">
                <a:latin typeface="Arial"/>
                <a:cs typeface="Arial"/>
              </a:rPr>
              <a:t>op0,</a:t>
            </a:r>
            <a:r>
              <a:rPr sz="1550" b="1" dirty="0">
                <a:latin typeface="Arial"/>
                <a:cs typeface="Arial"/>
              </a:rPr>
              <a:t>input</a:t>
            </a:r>
            <a:r>
              <a:rPr sz="1550" b="1" spc="45" dirty="0">
                <a:latin typeface="Arial"/>
                <a:cs typeface="Arial"/>
              </a:rPr>
              <a:t> </a:t>
            </a:r>
            <a:r>
              <a:rPr sz="1550" dirty="0">
                <a:latin typeface="Arial"/>
                <a:cs typeface="Arial"/>
              </a:rPr>
              <a:t>[8:1]</a:t>
            </a:r>
            <a:r>
              <a:rPr sz="1550" spc="45" dirty="0">
                <a:latin typeface="Arial"/>
                <a:cs typeface="Arial"/>
              </a:rPr>
              <a:t> </a:t>
            </a:r>
            <a:r>
              <a:rPr sz="1550" dirty="0">
                <a:latin typeface="Arial"/>
                <a:cs typeface="Arial"/>
              </a:rPr>
              <a:t>op1</a:t>
            </a:r>
            <a:r>
              <a:rPr sz="1550" dirty="0">
                <a:latin typeface="宋体"/>
                <a:cs typeface="宋体"/>
              </a:rPr>
              <a:t>，</a:t>
            </a:r>
            <a:r>
              <a:rPr sz="1550" b="1" dirty="0">
                <a:latin typeface="Arial"/>
                <a:cs typeface="Arial"/>
              </a:rPr>
              <a:t>output</a:t>
            </a:r>
            <a:r>
              <a:rPr sz="1550" b="1" spc="40" dirty="0">
                <a:latin typeface="Arial"/>
                <a:cs typeface="Arial"/>
              </a:rPr>
              <a:t> </a:t>
            </a:r>
            <a:r>
              <a:rPr sz="1550" b="1" dirty="0">
                <a:latin typeface="Arial"/>
                <a:cs typeface="Arial"/>
              </a:rPr>
              <a:t>reg</a:t>
            </a:r>
            <a:r>
              <a:rPr sz="1550" b="1" spc="40" dirty="0">
                <a:latin typeface="Arial"/>
                <a:cs typeface="Arial"/>
              </a:rPr>
              <a:t> </a:t>
            </a:r>
            <a:r>
              <a:rPr sz="1550" dirty="0">
                <a:latin typeface="Arial"/>
                <a:cs typeface="Arial"/>
              </a:rPr>
              <a:t>[16:1]</a:t>
            </a:r>
            <a:r>
              <a:rPr sz="1550" spc="45" dirty="0">
                <a:latin typeface="Arial"/>
                <a:cs typeface="Arial"/>
              </a:rPr>
              <a:t> </a:t>
            </a:r>
            <a:r>
              <a:rPr sz="1550" dirty="0">
                <a:latin typeface="Arial"/>
                <a:cs typeface="Arial"/>
              </a:rPr>
              <a:t>result</a:t>
            </a:r>
            <a:r>
              <a:rPr sz="1550" spc="45" dirty="0">
                <a:latin typeface="Arial"/>
                <a:cs typeface="Arial"/>
              </a:rPr>
              <a:t> </a:t>
            </a:r>
            <a:r>
              <a:rPr sz="1550" spc="-25" dirty="0">
                <a:latin typeface="Arial"/>
                <a:cs typeface="Arial"/>
              </a:rPr>
              <a:t>);</a:t>
            </a:r>
            <a:endParaRPr sz="1550" dirty="0">
              <a:latin typeface="Arial"/>
              <a:cs typeface="Arial"/>
            </a:endParaRPr>
          </a:p>
          <a:p>
            <a:pPr marL="433705" marR="7751445">
              <a:lnSpc>
                <a:spcPct val="122100"/>
              </a:lnSpc>
            </a:pPr>
            <a:r>
              <a:rPr sz="1550" b="1" dirty="0">
                <a:latin typeface="Arial"/>
                <a:cs typeface="Arial"/>
              </a:rPr>
              <a:t>integer</a:t>
            </a:r>
            <a:r>
              <a:rPr sz="1550" b="1" spc="25" dirty="0">
                <a:latin typeface="Arial"/>
                <a:cs typeface="Arial"/>
              </a:rPr>
              <a:t> </a:t>
            </a:r>
            <a:r>
              <a:rPr sz="1550" spc="-20" dirty="0" err="1">
                <a:latin typeface="Arial"/>
                <a:cs typeface="Arial"/>
              </a:rPr>
              <a:t>i</a:t>
            </a:r>
            <a:r>
              <a:rPr sz="1550" spc="-20" dirty="0">
                <a:latin typeface="Arial"/>
                <a:cs typeface="Arial"/>
              </a:rPr>
              <a:t>; </a:t>
            </a:r>
            <a:r>
              <a:rPr sz="1550" b="1" dirty="0">
                <a:latin typeface="Arial"/>
                <a:cs typeface="Arial"/>
              </a:rPr>
              <a:t>always</a:t>
            </a:r>
            <a:r>
              <a:rPr sz="1550" b="1" spc="30" dirty="0">
                <a:latin typeface="Arial"/>
                <a:cs typeface="Arial"/>
              </a:rPr>
              <a:t> </a:t>
            </a:r>
            <a:r>
              <a:rPr sz="1550" spc="-35" dirty="0">
                <a:latin typeface="Arial"/>
                <a:cs typeface="Arial"/>
              </a:rPr>
              <a:t>@* </a:t>
            </a:r>
            <a:r>
              <a:rPr sz="1550" b="1" spc="-10" dirty="0">
                <a:latin typeface="Arial"/>
                <a:cs typeface="Arial"/>
              </a:rPr>
              <a:t>begin</a:t>
            </a:r>
            <a:endParaRPr sz="1550" dirty="0">
              <a:latin typeface="Arial"/>
              <a:cs typeface="Arial"/>
            </a:endParaRPr>
          </a:p>
          <a:p>
            <a:pPr marL="619125">
              <a:lnSpc>
                <a:spcPct val="100000"/>
              </a:lnSpc>
              <a:spcBef>
                <a:spcPts val="415"/>
              </a:spcBef>
            </a:pPr>
            <a:r>
              <a:rPr sz="1550" dirty="0">
                <a:latin typeface="Arial"/>
                <a:cs typeface="Arial"/>
              </a:rPr>
              <a:t>result</a:t>
            </a:r>
            <a:r>
              <a:rPr sz="1550" spc="2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0;</a:t>
            </a:r>
            <a:endParaRPr lang="en-US" sz="1550" spc="-25" dirty="0">
              <a:latin typeface="Arial"/>
              <a:cs typeface="Arial"/>
            </a:endParaRPr>
          </a:p>
          <a:p>
            <a:pPr marL="619125">
              <a:lnSpc>
                <a:spcPct val="100000"/>
              </a:lnSpc>
              <a:spcBef>
                <a:spcPts val="415"/>
              </a:spcBef>
            </a:pPr>
            <a:r>
              <a:rPr lang="en-US" sz="1550" spc="-25" dirty="0" err="1">
                <a:latin typeface="Arial"/>
                <a:cs typeface="Arial"/>
              </a:rPr>
              <a:t>i</a:t>
            </a:r>
            <a:r>
              <a:rPr lang="en-US" sz="1550" spc="-25" dirty="0">
                <a:latin typeface="Arial"/>
                <a:cs typeface="Arial"/>
              </a:rPr>
              <a:t>=1;</a:t>
            </a:r>
            <a:endParaRPr sz="1550" dirty="0">
              <a:latin typeface="Arial"/>
              <a:cs typeface="Arial"/>
            </a:endParaRPr>
          </a:p>
          <a:p>
            <a:pPr marL="840105" marR="7405370" indent="-222885">
              <a:lnSpc>
                <a:spcPct val="121900"/>
              </a:lnSpc>
              <a:spcBef>
                <a:spcPts val="5"/>
              </a:spcBef>
            </a:pPr>
            <a:r>
              <a:rPr sz="1550" b="1" spc="-10" dirty="0">
                <a:latin typeface="Arial"/>
                <a:cs typeface="Arial"/>
              </a:rPr>
              <a:t>while</a:t>
            </a:r>
            <a:r>
              <a:rPr sz="1550" spc="-10" dirty="0">
                <a:latin typeface="宋体"/>
                <a:cs typeface="宋体"/>
              </a:rPr>
              <a:t>（</a:t>
            </a:r>
            <a:r>
              <a:rPr sz="1550" spc="-10" dirty="0">
                <a:latin typeface="Arial"/>
                <a:cs typeface="Arial"/>
              </a:rPr>
              <a:t>i&lt;=8</a:t>
            </a:r>
            <a:r>
              <a:rPr sz="1550" spc="-10" dirty="0">
                <a:latin typeface="宋体"/>
                <a:cs typeface="宋体"/>
              </a:rPr>
              <a:t>） </a:t>
            </a:r>
            <a:r>
              <a:rPr sz="1550" b="1" spc="-10" dirty="0">
                <a:latin typeface="Arial"/>
                <a:cs typeface="Arial"/>
              </a:rPr>
              <a:t>begin</a:t>
            </a:r>
            <a:endParaRPr sz="1550" dirty="0">
              <a:latin typeface="Arial"/>
              <a:cs typeface="Arial"/>
            </a:endParaRPr>
          </a:p>
          <a:p>
            <a:pPr marL="1012825">
              <a:lnSpc>
                <a:spcPct val="100000"/>
              </a:lnSpc>
              <a:spcBef>
                <a:spcPts val="415"/>
              </a:spcBef>
            </a:pPr>
            <a:r>
              <a:rPr sz="1550" b="1" spc="-10" dirty="0">
                <a:latin typeface="Arial"/>
                <a:cs typeface="Arial"/>
              </a:rPr>
              <a:t>if</a:t>
            </a:r>
            <a:r>
              <a:rPr sz="1550" spc="-10" dirty="0">
                <a:latin typeface="Arial"/>
                <a:cs typeface="Arial"/>
              </a:rPr>
              <a:t>(op1[i])</a:t>
            </a:r>
            <a:endParaRPr sz="1550" dirty="0">
              <a:latin typeface="Arial"/>
              <a:cs typeface="Arial"/>
            </a:endParaRPr>
          </a:p>
          <a:p>
            <a:pPr marL="1007744" marR="5368290" indent="166370">
              <a:lnSpc>
                <a:spcPct val="122300"/>
              </a:lnSpc>
            </a:pPr>
            <a:r>
              <a:rPr sz="1550" dirty="0">
                <a:latin typeface="Arial"/>
                <a:cs typeface="Arial"/>
              </a:rPr>
              <a:t>result</a:t>
            </a:r>
            <a:r>
              <a:rPr sz="1550" spc="3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result</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(op0</a:t>
            </a:r>
            <a:r>
              <a:rPr sz="1550" spc="30" dirty="0">
                <a:latin typeface="Arial"/>
                <a:cs typeface="Arial"/>
              </a:rPr>
              <a:t> </a:t>
            </a:r>
            <a:r>
              <a:rPr sz="1550" dirty="0">
                <a:latin typeface="Arial"/>
                <a:cs typeface="Arial"/>
              </a:rPr>
              <a:t>&lt;&lt;</a:t>
            </a:r>
            <a:r>
              <a:rPr sz="1550" spc="25" dirty="0">
                <a:latin typeface="Arial"/>
                <a:cs typeface="Arial"/>
              </a:rPr>
              <a:t> </a:t>
            </a:r>
            <a:r>
              <a:rPr sz="1550" dirty="0">
                <a:latin typeface="Arial"/>
                <a:cs typeface="Arial"/>
              </a:rPr>
              <a:t>(i</a:t>
            </a:r>
            <a:r>
              <a:rPr sz="1550" spc="25" dirty="0">
                <a:latin typeface="Arial"/>
                <a:cs typeface="Arial"/>
              </a:rPr>
              <a:t> </a:t>
            </a:r>
            <a:r>
              <a:rPr sz="1550" dirty="0">
                <a:latin typeface="Arial"/>
                <a:cs typeface="Arial"/>
              </a:rPr>
              <a:t>-</a:t>
            </a:r>
            <a:r>
              <a:rPr sz="1550" spc="25" dirty="0">
                <a:latin typeface="Arial"/>
                <a:cs typeface="Arial"/>
              </a:rPr>
              <a:t> </a:t>
            </a:r>
            <a:r>
              <a:rPr sz="1550" spc="-20" dirty="0">
                <a:latin typeface="Arial"/>
                <a:cs typeface="Arial"/>
              </a:rPr>
              <a:t>1)); </a:t>
            </a:r>
            <a:r>
              <a:rPr sz="1550" dirty="0">
                <a:latin typeface="Arial"/>
                <a:cs typeface="Arial"/>
              </a:rPr>
              <a:t>i</a:t>
            </a:r>
            <a:r>
              <a:rPr sz="1550" spc="10" dirty="0">
                <a:latin typeface="Arial"/>
                <a:cs typeface="Arial"/>
              </a:rPr>
              <a:t> </a:t>
            </a:r>
            <a:r>
              <a:rPr sz="1550" dirty="0">
                <a:latin typeface="Arial"/>
                <a:cs typeface="Arial"/>
              </a:rPr>
              <a:t>=</a:t>
            </a:r>
            <a:r>
              <a:rPr sz="1550" spc="5" dirty="0">
                <a:latin typeface="Arial"/>
                <a:cs typeface="Arial"/>
              </a:rPr>
              <a:t> </a:t>
            </a:r>
            <a:r>
              <a:rPr sz="1550" dirty="0">
                <a:latin typeface="Arial"/>
                <a:cs typeface="Arial"/>
              </a:rPr>
              <a:t>i</a:t>
            </a:r>
            <a:r>
              <a:rPr sz="1550" spc="10"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1;</a:t>
            </a:r>
            <a:endParaRPr sz="1550" dirty="0">
              <a:latin typeface="Arial"/>
              <a:cs typeface="Arial"/>
            </a:endParaRPr>
          </a:p>
          <a:p>
            <a:pPr marL="433705" marR="8174355" indent="349885">
              <a:lnSpc>
                <a:spcPts val="2270"/>
              </a:lnSpc>
              <a:spcBef>
                <a:spcPts val="145"/>
              </a:spcBef>
            </a:pPr>
            <a:r>
              <a:rPr sz="1550" b="1" spc="-25" dirty="0">
                <a:latin typeface="Arial"/>
                <a:cs typeface="Arial"/>
              </a:rPr>
              <a:t>end end</a:t>
            </a:r>
            <a:endParaRPr sz="1550" dirty="0">
              <a:latin typeface="Arial"/>
              <a:cs typeface="Arial"/>
            </a:endParaRPr>
          </a:p>
          <a:p>
            <a:pPr marL="99695">
              <a:lnSpc>
                <a:spcPct val="100000"/>
              </a:lnSpc>
              <a:spcBef>
                <a:spcPts val="270"/>
              </a:spcBef>
            </a:pPr>
            <a:r>
              <a:rPr sz="1550" b="1" spc="-10" dirty="0">
                <a:latin typeface="Arial"/>
                <a:cs typeface="Arial"/>
              </a:rPr>
              <a:t>endmodule</a:t>
            </a:r>
            <a:endParaRPr sz="1550" dirty="0">
              <a:latin typeface="Arial"/>
              <a:cs typeface="Arial"/>
            </a:endParaRPr>
          </a:p>
        </p:txBody>
      </p:sp>
      <p:sp>
        <p:nvSpPr>
          <p:cNvPr id="2" name="object 2"/>
          <p:cNvSpPr txBox="1">
            <a:spLocks noGrp="1"/>
          </p:cNvSpPr>
          <p:nvPr>
            <p:ph type="title"/>
          </p:nvPr>
        </p:nvSpPr>
        <p:spPr>
          <a:xfrm>
            <a:off x="523627" y="1104392"/>
            <a:ext cx="346329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3.3.3</a:t>
            </a:r>
            <a:r>
              <a:rPr spc="-135" dirty="0">
                <a:latin typeface="Arial"/>
                <a:cs typeface="Arial"/>
              </a:rPr>
              <a:t> </a:t>
            </a:r>
            <a:r>
              <a:rPr spc="-10" dirty="0">
                <a:latin typeface="Calibri"/>
                <a:cs typeface="Calibri"/>
              </a:rPr>
              <a:t>while</a:t>
            </a:r>
            <a:r>
              <a:rPr dirty="0"/>
              <a:t>语句</a:t>
            </a:r>
            <a:r>
              <a:rPr spc="-10" dirty="0">
                <a:latin typeface="Arial"/>
                <a:cs typeface="Arial"/>
              </a:rPr>
              <a:t>---</a:t>
            </a:r>
            <a:r>
              <a:rPr spc="-25" dirty="0"/>
              <a:t>实例</a:t>
            </a: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26714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3.3.4</a:t>
            </a:r>
            <a:r>
              <a:rPr spc="-130" dirty="0">
                <a:latin typeface="Arial"/>
                <a:cs typeface="Arial"/>
              </a:rPr>
              <a:t> </a:t>
            </a:r>
            <a:r>
              <a:rPr spc="-10" dirty="0">
                <a:latin typeface="Calibri"/>
                <a:cs typeface="Calibri"/>
              </a:rPr>
              <a:t>forever</a:t>
            </a:r>
            <a:r>
              <a:rPr spc="-25" dirty="0"/>
              <a:t>语句</a:t>
            </a:r>
          </a:p>
        </p:txBody>
      </p:sp>
      <p:grpSp>
        <p:nvGrpSpPr>
          <p:cNvPr id="3" name="object 3"/>
          <p:cNvGrpSpPr/>
          <p:nvPr/>
        </p:nvGrpSpPr>
        <p:grpSpPr>
          <a:xfrm>
            <a:off x="3573665" y="2810255"/>
            <a:ext cx="2675890" cy="1709420"/>
            <a:chOff x="3573665" y="2810255"/>
            <a:chExt cx="2675890" cy="1709420"/>
          </a:xfrm>
        </p:grpSpPr>
        <p:sp>
          <p:nvSpPr>
            <p:cNvPr id="4" name="object 4"/>
            <p:cNvSpPr/>
            <p:nvPr/>
          </p:nvSpPr>
          <p:spPr>
            <a:xfrm>
              <a:off x="3577475" y="2814827"/>
              <a:ext cx="2667000" cy="1700530"/>
            </a:xfrm>
            <a:custGeom>
              <a:avLst/>
              <a:gdLst/>
              <a:ahLst/>
              <a:cxnLst/>
              <a:rect l="l" t="t" r="r" b="b"/>
              <a:pathLst>
                <a:path w="2667000" h="1700529">
                  <a:moveTo>
                    <a:pt x="2667000" y="1700021"/>
                  </a:moveTo>
                  <a:lnTo>
                    <a:pt x="2667000" y="0"/>
                  </a:lnTo>
                  <a:lnTo>
                    <a:pt x="0" y="0"/>
                  </a:lnTo>
                  <a:lnTo>
                    <a:pt x="0" y="1700022"/>
                  </a:lnTo>
                  <a:lnTo>
                    <a:pt x="2667000" y="1700021"/>
                  </a:lnTo>
                  <a:close/>
                </a:path>
              </a:pathLst>
            </a:custGeom>
            <a:solidFill>
              <a:srgbClr val="F9FABA"/>
            </a:solidFill>
          </p:spPr>
          <p:txBody>
            <a:bodyPr wrap="square" lIns="0" tIns="0" rIns="0" bIns="0" rtlCol="0"/>
            <a:lstStyle/>
            <a:p>
              <a:endParaRPr/>
            </a:p>
          </p:txBody>
        </p:sp>
        <p:sp>
          <p:nvSpPr>
            <p:cNvPr id="5" name="object 5"/>
            <p:cNvSpPr/>
            <p:nvPr/>
          </p:nvSpPr>
          <p:spPr>
            <a:xfrm>
              <a:off x="3573665" y="2810255"/>
              <a:ext cx="2675890" cy="1709420"/>
            </a:xfrm>
            <a:custGeom>
              <a:avLst/>
              <a:gdLst/>
              <a:ahLst/>
              <a:cxnLst/>
              <a:rect l="l" t="t" r="r" b="b"/>
              <a:pathLst>
                <a:path w="2675890" h="1709420">
                  <a:moveTo>
                    <a:pt x="2675382" y="1706880"/>
                  </a:moveTo>
                  <a:lnTo>
                    <a:pt x="2675382" y="2286"/>
                  </a:lnTo>
                  <a:lnTo>
                    <a:pt x="2673096" y="0"/>
                  </a:lnTo>
                  <a:lnTo>
                    <a:pt x="1523" y="0"/>
                  </a:lnTo>
                  <a:lnTo>
                    <a:pt x="0" y="2286"/>
                  </a:lnTo>
                  <a:lnTo>
                    <a:pt x="0" y="1706880"/>
                  </a:lnTo>
                  <a:lnTo>
                    <a:pt x="1524" y="1709166"/>
                  </a:lnTo>
                  <a:lnTo>
                    <a:pt x="3810" y="1709166"/>
                  </a:lnTo>
                  <a:lnTo>
                    <a:pt x="3810" y="8382"/>
                  </a:lnTo>
                  <a:lnTo>
                    <a:pt x="7619" y="4572"/>
                  </a:lnTo>
                  <a:lnTo>
                    <a:pt x="7619" y="8382"/>
                  </a:lnTo>
                  <a:lnTo>
                    <a:pt x="2667000" y="8382"/>
                  </a:lnTo>
                  <a:lnTo>
                    <a:pt x="2667000" y="4572"/>
                  </a:lnTo>
                  <a:lnTo>
                    <a:pt x="2670810" y="8382"/>
                  </a:lnTo>
                  <a:lnTo>
                    <a:pt x="2670810" y="1709166"/>
                  </a:lnTo>
                  <a:lnTo>
                    <a:pt x="2673096" y="1709166"/>
                  </a:lnTo>
                  <a:lnTo>
                    <a:pt x="2675382" y="1706880"/>
                  </a:lnTo>
                  <a:close/>
                </a:path>
                <a:path w="2675890" h="1709420">
                  <a:moveTo>
                    <a:pt x="7619" y="8382"/>
                  </a:moveTo>
                  <a:lnTo>
                    <a:pt x="7619" y="4572"/>
                  </a:lnTo>
                  <a:lnTo>
                    <a:pt x="3810" y="8382"/>
                  </a:lnTo>
                  <a:lnTo>
                    <a:pt x="7619" y="8382"/>
                  </a:lnTo>
                  <a:close/>
                </a:path>
                <a:path w="2675890" h="1709420">
                  <a:moveTo>
                    <a:pt x="7620" y="1700784"/>
                  </a:moveTo>
                  <a:lnTo>
                    <a:pt x="7619" y="8382"/>
                  </a:lnTo>
                  <a:lnTo>
                    <a:pt x="3810" y="8382"/>
                  </a:lnTo>
                  <a:lnTo>
                    <a:pt x="3810" y="1700784"/>
                  </a:lnTo>
                  <a:lnTo>
                    <a:pt x="7620" y="1700784"/>
                  </a:lnTo>
                  <a:close/>
                </a:path>
                <a:path w="2675890" h="1709420">
                  <a:moveTo>
                    <a:pt x="2670810" y="1700784"/>
                  </a:moveTo>
                  <a:lnTo>
                    <a:pt x="3810" y="1700784"/>
                  </a:lnTo>
                  <a:lnTo>
                    <a:pt x="7620" y="1704594"/>
                  </a:lnTo>
                  <a:lnTo>
                    <a:pt x="7620" y="1709166"/>
                  </a:lnTo>
                  <a:lnTo>
                    <a:pt x="2667000" y="1709166"/>
                  </a:lnTo>
                  <a:lnTo>
                    <a:pt x="2667000" y="1704594"/>
                  </a:lnTo>
                  <a:lnTo>
                    <a:pt x="2670810" y="1700784"/>
                  </a:lnTo>
                  <a:close/>
                </a:path>
                <a:path w="2675890" h="1709420">
                  <a:moveTo>
                    <a:pt x="7620" y="1709166"/>
                  </a:moveTo>
                  <a:lnTo>
                    <a:pt x="7620" y="1704594"/>
                  </a:lnTo>
                  <a:lnTo>
                    <a:pt x="3810" y="1700784"/>
                  </a:lnTo>
                  <a:lnTo>
                    <a:pt x="3810" y="1709166"/>
                  </a:lnTo>
                  <a:lnTo>
                    <a:pt x="7620" y="1709166"/>
                  </a:lnTo>
                  <a:close/>
                </a:path>
                <a:path w="2675890" h="1709420">
                  <a:moveTo>
                    <a:pt x="2670810" y="8382"/>
                  </a:moveTo>
                  <a:lnTo>
                    <a:pt x="2667000" y="4572"/>
                  </a:lnTo>
                  <a:lnTo>
                    <a:pt x="2667000" y="8382"/>
                  </a:lnTo>
                  <a:lnTo>
                    <a:pt x="2670810" y="8382"/>
                  </a:lnTo>
                  <a:close/>
                </a:path>
                <a:path w="2675890" h="1709420">
                  <a:moveTo>
                    <a:pt x="2670810" y="1700784"/>
                  </a:moveTo>
                  <a:lnTo>
                    <a:pt x="2670810" y="8382"/>
                  </a:lnTo>
                  <a:lnTo>
                    <a:pt x="2667000" y="8382"/>
                  </a:lnTo>
                  <a:lnTo>
                    <a:pt x="2667000" y="1700784"/>
                  </a:lnTo>
                  <a:lnTo>
                    <a:pt x="2670810" y="1700784"/>
                  </a:lnTo>
                  <a:close/>
                </a:path>
                <a:path w="2675890" h="1709420">
                  <a:moveTo>
                    <a:pt x="2670810" y="1709166"/>
                  </a:moveTo>
                  <a:lnTo>
                    <a:pt x="2670810" y="1700784"/>
                  </a:lnTo>
                  <a:lnTo>
                    <a:pt x="2667000" y="1704594"/>
                  </a:lnTo>
                  <a:lnTo>
                    <a:pt x="2667000" y="1709166"/>
                  </a:lnTo>
                  <a:lnTo>
                    <a:pt x="2670810" y="1709166"/>
                  </a:lnTo>
                  <a:close/>
                </a:path>
              </a:pathLst>
            </a:custGeom>
            <a:solidFill>
              <a:srgbClr val="000000"/>
            </a:solidFill>
          </p:spPr>
          <p:txBody>
            <a:bodyPr wrap="square" lIns="0" tIns="0" rIns="0" bIns="0" rtlCol="0"/>
            <a:lstStyle/>
            <a:p>
              <a:endParaRPr/>
            </a:p>
          </p:txBody>
        </p:sp>
      </p:grpSp>
      <p:sp>
        <p:nvSpPr>
          <p:cNvPr id="6" name="object 6"/>
          <p:cNvSpPr txBox="1"/>
          <p:nvPr/>
        </p:nvSpPr>
        <p:spPr>
          <a:xfrm>
            <a:off x="664597" y="1778144"/>
            <a:ext cx="9422765" cy="4165600"/>
          </a:xfrm>
          <a:prstGeom prst="rect">
            <a:avLst/>
          </a:prstGeom>
        </p:spPr>
        <p:txBody>
          <a:bodyPr vert="horz" wrap="square" lIns="0" tIns="173990" rIns="0" bIns="0" rtlCol="0">
            <a:spAutoFit/>
          </a:bodyPr>
          <a:lstStyle/>
          <a:p>
            <a:pPr marL="296545" indent="-283845">
              <a:lnSpc>
                <a:spcPct val="100000"/>
              </a:lnSpc>
              <a:spcBef>
                <a:spcPts val="1370"/>
              </a:spcBef>
              <a:buClr>
                <a:srgbClr val="EC891C"/>
              </a:buClr>
              <a:buSzPct val="88095"/>
              <a:buFont typeface="Wingdings"/>
              <a:buChar char=""/>
              <a:tabLst>
                <a:tab pos="296545" algn="l"/>
              </a:tabLst>
            </a:pPr>
            <a:r>
              <a:rPr sz="2100" b="1" dirty="0">
                <a:solidFill>
                  <a:srgbClr val="3E3E3E"/>
                </a:solidFill>
                <a:latin typeface="Arial"/>
                <a:cs typeface="Arial"/>
              </a:rPr>
              <a:t>forever</a:t>
            </a:r>
            <a:r>
              <a:rPr sz="2100" b="1" spc="75" dirty="0">
                <a:solidFill>
                  <a:srgbClr val="3E3E3E"/>
                </a:solidFill>
                <a:latin typeface="微软雅黑"/>
                <a:cs typeface="微软雅黑"/>
              </a:rPr>
              <a:t>语句的使用格式如下，当顺序执行语句只有一条时，定界符</a:t>
            </a:r>
            <a:r>
              <a:rPr sz="2100" b="1" dirty="0">
                <a:solidFill>
                  <a:srgbClr val="3E3E3E"/>
                </a:solidFill>
                <a:latin typeface="Arial"/>
                <a:cs typeface="Arial"/>
              </a:rPr>
              <a:t>begin</a:t>
            </a:r>
            <a:r>
              <a:rPr sz="2100" b="1" spc="-50" dirty="0">
                <a:solidFill>
                  <a:srgbClr val="3E3E3E"/>
                </a:solidFill>
                <a:latin typeface="微软雅黑"/>
                <a:cs typeface="微软雅黑"/>
              </a:rPr>
              <a:t>和</a:t>
            </a:r>
            <a:endParaRPr sz="2100">
              <a:latin typeface="微软雅黑"/>
              <a:cs typeface="微软雅黑"/>
            </a:endParaRPr>
          </a:p>
          <a:p>
            <a:pPr marL="212725">
              <a:lnSpc>
                <a:spcPct val="100000"/>
              </a:lnSpc>
              <a:spcBef>
                <a:spcPts val="1270"/>
              </a:spcBef>
            </a:pPr>
            <a:r>
              <a:rPr sz="2100" b="1" spc="-10" dirty="0">
                <a:solidFill>
                  <a:srgbClr val="3E3E3E"/>
                </a:solidFill>
                <a:latin typeface="Arial"/>
                <a:cs typeface="Arial"/>
              </a:rPr>
              <a:t>end</a:t>
            </a:r>
            <a:r>
              <a:rPr sz="2100" b="1" spc="-10" dirty="0">
                <a:solidFill>
                  <a:srgbClr val="3E3E3E"/>
                </a:solidFill>
                <a:latin typeface="微软雅黑"/>
                <a:cs typeface="微软雅黑"/>
              </a:rPr>
              <a:t>可以省略。</a:t>
            </a:r>
            <a:endParaRPr sz="2100">
              <a:latin typeface="微软雅黑"/>
              <a:cs typeface="微软雅黑"/>
            </a:endParaRPr>
          </a:p>
          <a:p>
            <a:pPr marL="3176270" marR="5694680" indent="-184150">
              <a:lnSpc>
                <a:spcPct val="100000"/>
              </a:lnSpc>
              <a:spcBef>
                <a:spcPts val="745"/>
              </a:spcBef>
            </a:pPr>
            <a:r>
              <a:rPr sz="1750" spc="-10" dirty="0">
                <a:latin typeface="Arial"/>
                <a:cs typeface="Arial"/>
              </a:rPr>
              <a:t>forever begin</a:t>
            </a:r>
            <a:endParaRPr sz="1750">
              <a:latin typeface="Arial"/>
              <a:cs typeface="Arial"/>
            </a:endParaRPr>
          </a:p>
          <a:p>
            <a:pPr marL="3421379">
              <a:lnSpc>
                <a:spcPts val="2095"/>
              </a:lnSpc>
            </a:pPr>
            <a:r>
              <a:rPr sz="1750" spc="-10" dirty="0">
                <a:latin typeface="Arial"/>
                <a:cs typeface="Arial"/>
              </a:rPr>
              <a:t>[</a:t>
            </a:r>
            <a:r>
              <a:rPr sz="1750" dirty="0">
                <a:latin typeface="微软雅黑"/>
                <a:cs typeface="微软雅黑"/>
              </a:rPr>
              <a:t>顺序执行语句</a:t>
            </a:r>
            <a:r>
              <a:rPr sz="1750" spc="-25" dirty="0">
                <a:latin typeface="Arial"/>
                <a:cs typeface="Arial"/>
              </a:rPr>
              <a:t>] ;</a:t>
            </a:r>
            <a:endParaRPr sz="1750">
              <a:latin typeface="Arial"/>
              <a:cs typeface="Arial"/>
            </a:endParaRPr>
          </a:p>
          <a:p>
            <a:pPr marL="3421379">
              <a:lnSpc>
                <a:spcPct val="100000"/>
              </a:lnSpc>
              <a:spcBef>
                <a:spcPts val="10"/>
              </a:spcBef>
            </a:pPr>
            <a:r>
              <a:rPr sz="1750" spc="-10" dirty="0">
                <a:latin typeface="Arial"/>
                <a:cs typeface="Arial"/>
              </a:rPr>
              <a:t>[</a:t>
            </a:r>
            <a:r>
              <a:rPr sz="1750" dirty="0">
                <a:latin typeface="微软雅黑"/>
                <a:cs typeface="微软雅黑"/>
              </a:rPr>
              <a:t>顺序执行语句</a:t>
            </a:r>
            <a:r>
              <a:rPr sz="1750" spc="-25" dirty="0">
                <a:latin typeface="Arial"/>
                <a:cs typeface="Arial"/>
              </a:rPr>
              <a:t>] ;</a:t>
            </a:r>
            <a:endParaRPr sz="1750">
              <a:latin typeface="Arial"/>
              <a:cs typeface="Arial"/>
            </a:endParaRPr>
          </a:p>
          <a:p>
            <a:pPr marL="3421379">
              <a:lnSpc>
                <a:spcPct val="100000"/>
              </a:lnSpc>
              <a:spcBef>
                <a:spcPts val="15"/>
              </a:spcBef>
            </a:pPr>
            <a:r>
              <a:rPr sz="1750" dirty="0">
                <a:latin typeface="Arial"/>
                <a:cs typeface="Arial"/>
              </a:rPr>
              <a:t>.</a:t>
            </a:r>
            <a:r>
              <a:rPr sz="1750" spc="-15" dirty="0">
                <a:latin typeface="Arial"/>
                <a:cs typeface="Arial"/>
              </a:rPr>
              <a:t> </a:t>
            </a:r>
            <a:r>
              <a:rPr sz="1750" dirty="0">
                <a:latin typeface="Arial"/>
                <a:cs typeface="Arial"/>
              </a:rPr>
              <a:t>.</a:t>
            </a:r>
            <a:r>
              <a:rPr sz="1750" spc="-15" dirty="0">
                <a:latin typeface="Arial"/>
                <a:cs typeface="Arial"/>
              </a:rPr>
              <a:t> </a:t>
            </a:r>
            <a:r>
              <a:rPr sz="1750" spc="-50" dirty="0">
                <a:latin typeface="Arial"/>
                <a:cs typeface="Arial"/>
              </a:rPr>
              <a:t>.</a:t>
            </a:r>
            <a:endParaRPr sz="1750">
              <a:latin typeface="Arial"/>
              <a:cs typeface="Arial"/>
            </a:endParaRPr>
          </a:p>
          <a:p>
            <a:pPr marR="2691130" algn="ctr">
              <a:lnSpc>
                <a:spcPct val="100000"/>
              </a:lnSpc>
            </a:pPr>
            <a:r>
              <a:rPr sz="1750" spc="-25" dirty="0">
                <a:latin typeface="Arial"/>
                <a:cs typeface="Arial"/>
              </a:rPr>
              <a:t>end</a:t>
            </a:r>
            <a:endParaRPr sz="1750">
              <a:latin typeface="Arial"/>
              <a:cs typeface="Arial"/>
            </a:endParaRPr>
          </a:p>
          <a:p>
            <a:pPr marL="212725" marR="177165" indent="-207645" algn="just">
              <a:lnSpc>
                <a:spcPct val="150400"/>
              </a:lnSpc>
              <a:spcBef>
                <a:spcPts val="284"/>
              </a:spcBef>
              <a:buSzPct val="92857"/>
              <a:buFont typeface="Wingdings"/>
              <a:buChar char=""/>
              <a:tabLst>
                <a:tab pos="212725" algn="l"/>
                <a:tab pos="249554" algn="l"/>
              </a:tabLst>
            </a:pPr>
            <a:r>
              <a:rPr sz="2100" dirty="0">
                <a:latin typeface="Arial"/>
                <a:cs typeface="Arial"/>
              </a:rPr>
              <a:t>forever</a:t>
            </a:r>
            <a:r>
              <a:rPr sz="2100" spc="-5" dirty="0">
                <a:latin typeface="微软雅黑"/>
                <a:cs typeface="微软雅黑"/>
              </a:rPr>
              <a:t>循环语句连续不断地执行后面的语句或语句块，常用来产生周期性的</a:t>
            </a:r>
            <a:r>
              <a:rPr sz="2100" dirty="0">
                <a:latin typeface="微软雅黑"/>
                <a:cs typeface="微软雅黑"/>
              </a:rPr>
              <a:t>波形，作为仿真激励信号。</a:t>
            </a:r>
            <a:r>
              <a:rPr sz="2100" spc="-10" dirty="0">
                <a:latin typeface="Arial"/>
                <a:cs typeface="Arial"/>
              </a:rPr>
              <a:t>forever</a:t>
            </a:r>
            <a:r>
              <a:rPr sz="2100" dirty="0">
                <a:latin typeface="微软雅黑"/>
                <a:cs typeface="微软雅黑"/>
              </a:rPr>
              <a:t>语句</a:t>
            </a:r>
            <a:r>
              <a:rPr sz="2100" dirty="0">
                <a:solidFill>
                  <a:srgbClr val="FF0000"/>
                </a:solidFill>
                <a:latin typeface="微软雅黑"/>
                <a:cs typeface="微软雅黑"/>
              </a:rPr>
              <a:t>一般用在</a:t>
            </a:r>
            <a:r>
              <a:rPr sz="2100" dirty="0">
                <a:solidFill>
                  <a:srgbClr val="FF0000"/>
                </a:solidFill>
                <a:latin typeface="Arial"/>
                <a:cs typeface="Arial"/>
              </a:rPr>
              <a:t>initial</a:t>
            </a:r>
            <a:r>
              <a:rPr sz="2100" dirty="0">
                <a:solidFill>
                  <a:srgbClr val="FF0000"/>
                </a:solidFill>
                <a:latin typeface="微软雅黑"/>
                <a:cs typeface="微软雅黑"/>
              </a:rPr>
              <a:t>过程语句中</a:t>
            </a:r>
            <a:r>
              <a:rPr sz="2100" spc="-10" dirty="0">
                <a:latin typeface="微软雅黑"/>
                <a:cs typeface="微软雅黑"/>
              </a:rPr>
              <a:t>，如果用它来进行模块描述，可以使用</a:t>
            </a:r>
            <a:r>
              <a:rPr sz="2100" spc="-10" dirty="0">
                <a:solidFill>
                  <a:srgbClr val="FF0000"/>
                </a:solidFill>
                <a:latin typeface="Arial"/>
                <a:cs typeface="Arial"/>
              </a:rPr>
              <a:t>disable</a:t>
            </a:r>
            <a:r>
              <a:rPr sz="2100" spc="-10" dirty="0">
                <a:latin typeface="微软雅黑"/>
                <a:cs typeface="微软雅黑"/>
              </a:rPr>
              <a:t>语句进行中断。</a:t>
            </a:r>
            <a:endParaRPr sz="210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04392"/>
            <a:ext cx="443230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3.4</a:t>
            </a:r>
            <a:r>
              <a:rPr spc="-130" dirty="0">
                <a:latin typeface="Arial"/>
                <a:cs typeface="Arial"/>
              </a:rPr>
              <a:t> </a:t>
            </a:r>
            <a:r>
              <a:rPr spc="-10" dirty="0">
                <a:latin typeface="Calibri"/>
                <a:cs typeface="Calibri"/>
              </a:rPr>
              <a:t>always</a:t>
            </a:r>
            <a:r>
              <a:rPr spc="-10" dirty="0"/>
              <a:t>块的一般编码原则</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03637" y="1847486"/>
            <a:ext cx="9697085" cy="3090545"/>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Arial"/>
                <a:cs typeface="Arial"/>
              </a:rPr>
              <a:t>	</a:t>
            </a:r>
            <a:r>
              <a:rPr sz="2100" b="1" dirty="0">
                <a:solidFill>
                  <a:srgbClr val="3E3E3E"/>
                </a:solidFill>
                <a:latin typeface="Arial"/>
                <a:cs typeface="Arial"/>
              </a:rPr>
              <a:t>Verilog</a:t>
            </a:r>
            <a:r>
              <a:rPr sz="2100" b="1" spc="60" dirty="0">
                <a:solidFill>
                  <a:srgbClr val="3E3E3E"/>
                </a:solidFill>
                <a:latin typeface="微软雅黑"/>
                <a:cs typeface="微软雅黑"/>
              </a:rPr>
              <a:t>用于建模和综合，当编写可综合代码时，我们需要知道不同的语言结构</a:t>
            </a:r>
            <a:r>
              <a:rPr sz="2100" b="1" spc="-5" dirty="0">
                <a:solidFill>
                  <a:srgbClr val="3E3E3E"/>
                </a:solidFill>
                <a:latin typeface="微软雅黑"/>
                <a:cs typeface="微软雅黑"/>
              </a:rPr>
              <a:t>如何与硬件匹配，尤其是</a:t>
            </a:r>
            <a:r>
              <a:rPr sz="2100" b="1" spc="-10" dirty="0">
                <a:solidFill>
                  <a:srgbClr val="3E3E3E"/>
                </a:solidFill>
                <a:latin typeface="Arial"/>
                <a:cs typeface="Arial"/>
              </a:rPr>
              <a:t>always</a:t>
            </a:r>
            <a:r>
              <a:rPr sz="2100" b="1" spc="-15" dirty="0">
                <a:solidFill>
                  <a:srgbClr val="3E3E3E"/>
                </a:solidFill>
                <a:latin typeface="微软雅黑"/>
                <a:cs typeface="微软雅黑"/>
              </a:rPr>
              <a:t>块，因为变量和过程语句可以在模块内使用；</a:t>
            </a:r>
            <a:endParaRPr sz="2100">
              <a:latin typeface="微软雅黑"/>
              <a:cs typeface="微软雅黑"/>
            </a:endParaRPr>
          </a:p>
          <a:p>
            <a:pPr marL="212725" marR="6350" indent="-202565" algn="just">
              <a:lnSpc>
                <a:spcPct val="150200"/>
              </a:lnSpc>
              <a:spcBef>
                <a:spcPts val="705"/>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我们要谨记编写代码的目的是</a:t>
            </a:r>
            <a:r>
              <a:rPr sz="2100" b="1" dirty="0">
                <a:solidFill>
                  <a:srgbClr val="FF0000"/>
                </a:solidFill>
                <a:latin typeface="微软雅黑"/>
                <a:cs typeface="微软雅黑"/>
              </a:rPr>
              <a:t>综合为硬件电路</a:t>
            </a:r>
            <a:r>
              <a:rPr sz="2100" b="1" dirty="0">
                <a:solidFill>
                  <a:srgbClr val="3E3E3E"/>
                </a:solidFill>
                <a:latin typeface="微软雅黑"/>
                <a:cs typeface="微软雅黑"/>
              </a:rPr>
              <a:t>而不是用</a:t>
            </a:r>
            <a:r>
              <a:rPr sz="2100" b="1" dirty="0">
                <a:solidFill>
                  <a:srgbClr val="3E3E3E"/>
                </a:solidFill>
                <a:latin typeface="Arial"/>
                <a:cs typeface="Arial"/>
              </a:rPr>
              <a:t>C</a:t>
            </a:r>
            <a:r>
              <a:rPr sz="2100" b="1" spc="-5" dirty="0">
                <a:solidFill>
                  <a:srgbClr val="3E3E3E"/>
                </a:solidFill>
                <a:latin typeface="微软雅黑"/>
                <a:cs typeface="微软雅黑"/>
              </a:rPr>
              <a:t>语言描述顺序算法，做不到这些会经常导致无法综合的代码，不必要的复杂实施，或者在仿真和综合之</a:t>
            </a:r>
            <a:r>
              <a:rPr sz="2100" b="1" spc="-10" dirty="0">
                <a:solidFill>
                  <a:srgbClr val="3E3E3E"/>
                </a:solidFill>
                <a:latin typeface="微软雅黑"/>
                <a:cs typeface="微软雅黑"/>
              </a:rPr>
              <a:t>间产生差异。</a:t>
            </a:r>
            <a:endParaRPr sz="2100">
              <a:latin typeface="微软雅黑"/>
              <a:cs typeface="微软雅黑"/>
            </a:endParaRPr>
          </a:p>
          <a:p>
            <a:pPr marL="222250" indent="-211454">
              <a:lnSpc>
                <a:spcPct val="100000"/>
              </a:lnSpc>
              <a:spcBef>
                <a:spcPts val="1970"/>
              </a:spcBef>
              <a:buClr>
                <a:srgbClr val="EC891C"/>
              </a:buClr>
              <a:buSzPct val="83333"/>
              <a:buFont typeface="Wingdings"/>
              <a:buChar char=""/>
              <a:tabLst>
                <a:tab pos="222250" algn="l"/>
              </a:tabLst>
            </a:pPr>
            <a:r>
              <a:rPr sz="2100" b="1" spc="-15" dirty="0">
                <a:solidFill>
                  <a:srgbClr val="3E3E3E"/>
                </a:solidFill>
                <a:latin typeface="微软雅黑"/>
                <a:cs typeface="微软雅黑"/>
              </a:rPr>
              <a:t>在本部分，我们讨论一些常见错误并提出一些编码原则。</a:t>
            </a:r>
            <a:endParaRPr sz="2100">
              <a:latin typeface="微软雅黑"/>
              <a:cs typeface="微软雅黑"/>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grpSp>
        <p:nvGrpSpPr>
          <p:cNvPr id="3" name="object 3"/>
          <p:cNvGrpSpPr/>
          <p:nvPr/>
        </p:nvGrpSpPr>
        <p:grpSpPr>
          <a:xfrm>
            <a:off x="2359037" y="2646426"/>
            <a:ext cx="5354320" cy="1546860"/>
            <a:chOff x="2359037" y="2646426"/>
            <a:chExt cx="5354320" cy="1546860"/>
          </a:xfrm>
        </p:grpSpPr>
        <p:sp>
          <p:nvSpPr>
            <p:cNvPr id="4" name="object 4"/>
            <p:cNvSpPr/>
            <p:nvPr/>
          </p:nvSpPr>
          <p:spPr>
            <a:xfrm>
              <a:off x="2362847" y="2650236"/>
              <a:ext cx="5346700" cy="1538605"/>
            </a:xfrm>
            <a:custGeom>
              <a:avLst/>
              <a:gdLst/>
              <a:ahLst/>
              <a:cxnLst/>
              <a:rect l="l" t="t" r="r" b="b"/>
              <a:pathLst>
                <a:path w="5346700" h="1538604">
                  <a:moveTo>
                    <a:pt x="5346192" y="1538477"/>
                  </a:moveTo>
                  <a:lnTo>
                    <a:pt x="5346192" y="0"/>
                  </a:lnTo>
                  <a:lnTo>
                    <a:pt x="0" y="0"/>
                  </a:lnTo>
                  <a:lnTo>
                    <a:pt x="0" y="1538478"/>
                  </a:lnTo>
                  <a:lnTo>
                    <a:pt x="5346192" y="1538477"/>
                  </a:lnTo>
                  <a:close/>
                </a:path>
              </a:pathLst>
            </a:custGeom>
            <a:solidFill>
              <a:srgbClr val="F9FABA"/>
            </a:solidFill>
          </p:spPr>
          <p:txBody>
            <a:bodyPr wrap="square" lIns="0" tIns="0" rIns="0" bIns="0" rtlCol="0"/>
            <a:lstStyle/>
            <a:p>
              <a:endParaRPr/>
            </a:p>
          </p:txBody>
        </p:sp>
        <p:sp>
          <p:nvSpPr>
            <p:cNvPr id="5" name="object 5"/>
            <p:cNvSpPr/>
            <p:nvPr/>
          </p:nvSpPr>
          <p:spPr>
            <a:xfrm>
              <a:off x="2359037" y="2646426"/>
              <a:ext cx="5354320" cy="1546860"/>
            </a:xfrm>
            <a:custGeom>
              <a:avLst/>
              <a:gdLst/>
              <a:ahLst/>
              <a:cxnLst/>
              <a:rect l="l" t="t" r="r" b="b"/>
              <a:pathLst>
                <a:path w="5354320" h="1546860">
                  <a:moveTo>
                    <a:pt x="5353812" y="1544573"/>
                  </a:moveTo>
                  <a:lnTo>
                    <a:pt x="5353812" y="1523"/>
                  </a:lnTo>
                  <a:lnTo>
                    <a:pt x="5352288" y="0"/>
                  </a:lnTo>
                  <a:lnTo>
                    <a:pt x="1523" y="0"/>
                  </a:lnTo>
                  <a:lnTo>
                    <a:pt x="0" y="1524"/>
                  </a:lnTo>
                  <a:lnTo>
                    <a:pt x="0" y="1544574"/>
                  </a:lnTo>
                  <a:lnTo>
                    <a:pt x="1524" y="1546860"/>
                  </a:lnTo>
                  <a:lnTo>
                    <a:pt x="3810" y="1546860"/>
                  </a:lnTo>
                  <a:lnTo>
                    <a:pt x="3810" y="8382"/>
                  </a:lnTo>
                  <a:lnTo>
                    <a:pt x="8382" y="3810"/>
                  </a:lnTo>
                  <a:lnTo>
                    <a:pt x="8382" y="8382"/>
                  </a:lnTo>
                  <a:lnTo>
                    <a:pt x="5345430" y="8381"/>
                  </a:lnTo>
                  <a:lnTo>
                    <a:pt x="5345430" y="3809"/>
                  </a:lnTo>
                  <a:lnTo>
                    <a:pt x="5350002" y="8381"/>
                  </a:lnTo>
                  <a:lnTo>
                    <a:pt x="5350002" y="1546859"/>
                  </a:lnTo>
                  <a:lnTo>
                    <a:pt x="5352288" y="1546859"/>
                  </a:lnTo>
                  <a:lnTo>
                    <a:pt x="5353812" y="1544573"/>
                  </a:lnTo>
                  <a:close/>
                </a:path>
                <a:path w="5354320" h="1546860">
                  <a:moveTo>
                    <a:pt x="8382" y="8382"/>
                  </a:moveTo>
                  <a:lnTo>
                    <a:pt x="8382" y="3810"/>
                  </a:lnTo>
                  <a:lnTo>
                    <a:pt x="3810" y="8382"/>
                  </a:lnTo>
                  <a:lnTo>
                    <a:pt x="8382" y="8382"/>
                  </a:lnTo>
                  <a:close/>
                </a:path>
                <a:path w="5354320" h="1546860">
                  <a:moveTo>
                    <a:pt x="8382" y="1538478"/>
                  </a:moveTo>
                  <a:lnTo>
                    <a:pt x="8382" y="8382"/>
                  </a:lnTo>
                  <a:lnTo>
                    <a:pt x="3810" y="8382"/>
                  </a:lnTo>
                  <a:lnTo>
                    <a:pt x="3810" y="1538478"/>
                  </a:lnTo>
                  <a:lnTo>
                    <a:pt x="8382" y="1538478"/>
                  </a:lnTo>
                  <a:close/>
                </a:path>
                <a:path w="5354320" h="1546860">
                  <a:moveTo>
                    <a:pt x="5350002" y="1538477"/>
                  </a:moveTo>
                  <a:lnTo>
                    <a:pt x="3810" y="1538478"/>
                  </a:lnTo>
                  <a:lnTo>
                    <a:pt x="8382" y="1542288"/>
                  </a:lnTo>
                  <a:lnTo>
                    <a:pt x="8382" y="1546860"/>
                  </a:lnTo>
                  <a:lnTo>
                    <a:pt x="5345430" y="1546859"/>
                  </a:lnTo>
                  <a:lnTo>
                    <a:pt x="5345430" y="1542287"/>
                  </a:lnTo>
                  <a:lnTo>
                    <a:pt x="5350002" y="1538477"/>
                  </a:lnTo>
                  <a:close/>
                </a:path>
                <a:path w="5354320" h="1546860">
                  <a:moveTo>
                    <a:pt x="8382" y="1546860"/>
                  </a:moveTo>
                  <a:lnTo>
                    <a:pt x="8382" y="1542288"/>
                  </a:lnTo>
                  <a:lnTo>
                    <a:pt x="3810" y="1538478"/>
                  </a:lnTo>
                  <a:lnTo>
                    <a:pt x="3810" y="1546860"/>
                  </a:lnTo>
                  <a:lnTo>
                    <a:pt x="8382" y="1546860"/>
                  </a:lnTo>
                  <a:close/>
                </a:path>
                <a:path w="5354320" h="1546860">
                  <a:moveTo>
                    <a:pt x="5350002" y="8381"/>
                  </a:moveTo>
                  <a:lnTo>
                    <a:pt x="5345430" y="3809"/>
                  </a:lnTo>
                  <a:lnTo>
                    <a:pt x="5345430" y="8381"/>
                  </a:lnTo>
                  <a:lnTo>
                    <a:pt x="5350002" y="8381"/>
                  </a:lnTo>
                  <a:close/>
                </a:path>
                <a:path w="5354320" h="1546860">
                  <a:moveTo>
                    <a:pt x="5350002" y="1538477"/>
                  </a:moveTo>
                  <a:lnTo>
                    <a:pt x="5350002" y="8381"/>
                  </a:lnTo>
                  <a:lnTo>
                    <a:pt x="5345430" y="8381"/>
                  </a:lnTo>
                  <a:lnTo>
                    <a:pt x="5345430" y="1538477"/>
                  </a:lnTo>
                  <a:lnTo>
                    <a:pt x="5350002" y="1538477"/>
                  </a:lnTo>
                  <a:close/>
                </a:path>
                <a:path w="5354320" h="1546860">
                  <a:moveTo>
                    <a:pt x="5350002" y="1546859"/>
                  </a:moveTo>
                  <a:lnTo>
                    <a:pt x="5350002" y="1538477"/>
                  </a:lnTo>
                  <a:lnTo>
                    <a:pt x="5345430" y="1542287"/>
                  </a:lnTo>
                  <a:lnTo>
                    <a:pt x="5345430" y="1546859"/>
                  </a:lnTo>
                  <a:lnTo>
                    <a:pt x="5350002" y="1546859"/>
                  </a:lnTo>
                  <a:close/>
                </a:path>
              </a:pathLst>
            </a:custGeom>
            <a:solidFill>
              <a:srgbClr val="000000"/>
            </a:solidFill>
          </p:spPr>
          <p:txBody>
            <a:bodyPr wrap="square" lIns="0" tIns="0" rIns="0" bIns="0" rtlCol="0"/>
            <a:lstStyle/>
            <a:p>
              <a:endParaRPr/>
            </a:p>
          </p:txBody>
        </p:sp>
      </p:grpSp>
      <p:sp>
        <p:nvSpPr>
          <p:cNvPr id="6" name="object 6"/>
          <p:cNvSpPr txBox="1"/>
          <p:nvPr/>
        </p:nvSpPr>
        <p:spPr>
          <a:xfrm>
            <a:off x="804035" y="2090420"/>
            <a:ext cx="6330315" cy="2747547"/>
          </a:xfrm>
          <a:prstGeom prst="rect">
            <a:avLst/>
          </a:prstGeom>
        </p:spPr>
        <p:txBody>
          <a:bodyPr vert="horz" wrap="square" lIns="0" tIns="13335" rIns="0" bIns="0" rtlCol="0">
            <a:spAutoFit/>
          </a:bodyPr>
          <a:lstStyle/>
          <a:p>
            <a:pPr marL="222250" indent="-222250">
              <a:lnSpc>
                <a:spcPct val="100000"/>
              </a:lnSpc>
              <a:spcBef>
                <a:spcPts val="105"/>
              </a:spcBef>
              <a:buClr>
                <a:srgbClr val="EC891C"/>
              </a:buClr>
              <a:buSzPct val="83333"/>
              <a:buFont typeface="Wingdings"/>
              <a:buChar char=""/>
              <a:tabLst>
                <a:tab pos="222250" algn="l"/>
              </a:tabLst>
            </a:pPr>
            <a:r>
              <a:rPr sz="2100" b="1" spc="-15" dirty="0">
                <a:solidFill>
                  <a:srgbClr val="3E3E3E"/>
                </a:solidFill>
                <a:latin typeface="微软雅黑"/>
                <a:cs typeface="微软雅黑"/>
              </a:rPr>
              <a:t>组合电路代码中的常见错误主要包括：</a:t>
            </a:r>
            <a:endParaRPr sz="2100" dirty="0">
              <a:latin typeface="微软雅黑"/>
              <a:cs typeface="微软雅黑"/>
            </a:endParaRPr>
          </a:p>
          <a:p>
            <a:pPr marL="1638300">
              <a:lnSpc>
                <a:spcPct val="100000"/>
              </a:lnSpc>
              <a:spcBef>
                <a:spcPts val="2830"/>
              </a:spcBef>
              <a:tabLst>
                <a:tab pos="2038985" algn="l"/>
              </a:tabLst>
            </a:pPr>
            <a:r>
              <a:rPr sz="2100" b="1" spc="-50" dirty="0">
                <a:solidFill>
                  <a:srgbClr val="C00000"/>
                </a:solidFill>
                <a:latin typeface="微软雅黑"/>
                <a:cs typeface="微软雅黑"/>
              </a:rPr>
              <a:t>①</a:t>
            </a:r>
            <a:r>
              <a:rPr sz="2100" b="1" dirty="0">
                <a:solidFill>
                  <a:srgbClr val="C00000"/>
                </a:solidFill>
                <a:latin typeface="微软雅黑"/>
                <a:cs typeface="微软雅黑"/>
              </a:rPr>
              <a:t>	变量在多个always</a:t>
            </a:r>
            <a:r>
              <a:rPr sz="2100" b="1" spc="-15" dirty="0">
                <a:solidFill>
                  <a:srgbClr val="C00000"/>
                </a:solidFill>
                <a:latin typeface="微软雅黑"/>
                <a:cs typeface="微软雅黑"/>
              </a:rPr>
              <a:t>块中赋值</a:t>
            </a:r>
            <a:endParaRPr sz="2100" dirty="0">
              <a:latin typeface="微软雅黑"/>
              <a:cs typeface="微软雅黑"/>
            </a:endParaRPr>
          </a:p>
          <a:p>
            <a:pPr marL="1638300">
              <a:lnSpc>
                <a:spcPct val="100000"/>
              </a:lnSpc>
              <a:spcBef>
                <a:spcPts val="1275"/>
              </a:spcBef>
              <a:tabLst>
                <a:tab pos="2038985" algn="l"/>
              </a:tabLst>
            </a:pPr>
            <a:r>
              <a:rPr sz="2100" b="1" spc="-50" dirty="0">
                <a:solidFill>
                  <a:srgbClr val="C00000"/>
                </a:solidFill>
                <a:latin typeface="微软雅黑"/>
                <a:cs typeface="微软雅黑"/>
              </a:rPr>
              <a:t>②</a:t>
            </a:r>
            <a:r>
              <a:rPr sz="2100" b="1" dirty="0">
                <a:solidFill>
                  <a:srgbClr val="C00000"/>
                </a:solidFill>
                <a:latin typeface="微软雅黑"/>
                <a:cs typeface="微软雅黑"/>
              </a:rPr>
              <a:t>	</a:t>
            </a:r>
            <a:r>
              <a:rPr sz="2100" b="1" spc="-15" dirty="0" err="1">
                <a:solidFill>
                  <a:srgbClr val="C00000"/>
                </a:solidFill>
                <a:latin typeface="微软雅黑"/>
                <a:cs typeface="微软雅黑"/>
              </a:rPr>
              <a:t>不完整的敏感信号列表</a:t>
            </a:r>
            <a:endParaRPr sz="2100" dirty="0">
              <a:latin typeface="微软雅黑"/>
              <a:cs typeface="微软雅黑"/>
            </a:endParaRPr>
          </a:p>
          <a:p>
            <a:pPr marL="1638300">
              <a:lnSpc>
                <a:spcPct val="100000"/>
              </a:lnSpc>
              <a:spcBef>
                <a:spcPts val="1265"/>
              </a:spcBef>
              <a:tabLst>
                <a:tab pos="2038985" algn="l"/>
              </a:tabLst>
            </a:pPr>
            <a:r>
              <a:rPr sz="2100" b="1" spc="-50" dirty="0">
                <a:solidFill>
                  <a:srgbClr val="C00000"/>
                </a:solidFill>
                <a:latin typeface="微软雅黑"/>
                <a:cs typeface="微软雅黑"/>
              </a:rPr>
              <a:t>③</a:t>
            </a:r>
            <a:r>
              <a:rPr sz="2100" b="1" dirty="0">
                <a:solidFill>
                  <a:srgbClr val="C00000"/>
                </a:solidFill>
                <a:latin typeface="微软雅黑"/>
                <a:cs typeface="微软雅黑"/>
              </a:rPr>
              <a:t>	</a:t>
            </a:r>
            <a:r>
              <a:rPr lang="zh-CN" altLang="en-US" sz="2100" b="1" spc="-15" dirty="0">
                <a:solidFill>
                  <a:srgbClr val="C00000"/>
                </a:solidFill>
                <a:latin typeface="微软雅黑"/>
                <a:cs typeface="微软雅黑"/>
              </a:rPr>
              <a:t>不完整分支及不完整</a:t>
            </a:r>
            <a:r>
              <a:rPr sz="2100" b="1" spc="-15" dirty="0" err="1">
                <a:solidFill>
                  <a:srgbClr val="C00000"/>
                </a:solidFill>
                <a:latin typeface="微软雅黑"/>
                <a:cs typeface="微软雅黑"/>
              </a:rPr>
              <a:t>输出赋值</a:t>
            </a:r>
            <a:endParaRPr sz="2100" dirty="0">
              <a:latin typeface="微软雅黑"/>
              <a:cs typeface="微软雅黑"/>
            </a:endParaRPr>
          </a:p>
          <a:p>
            <a:pPr>
              <a:lnSpc>
                <a:spcPct val="100000"/>
              </a:lnSpc>
              <a:spcBef>
                <a:spcPts val="795"/>
              </a:spcBef>
            </a:pPr>
            <a:endParaRPr sz="2100" dirty="0">
              <a:latin typeface="微软雅黑"/>
              <a:cs typeface="微软雅黑"/>
            </a:endParaRPr>
          </a:p>
          <a:p>
            <a:pPr marL="250190" indent="-244475">
              <a:lnSpc>
                <a:spcPct val="100000"/>
              </a:lnSpc>
              <a:buSzPct val="92857"/>
              <a:buFont typeface="Wingdings"/>
              <a:buChar char=""/>
              <a:tabLst>
                <a:tab pos="250190" algn="l"/>
              </a:tabLst>
            </a:pPr>
            <a:r>
              <a:rPr sz="2100" spc="-5" dirty="0">
                <a:latin typeface="微软雅黑"/>
                <a:cs typeface="微软雅黑"/>
              </a:rPr>
              <a:t>下边分别讨论这些错误</a:t>
            </a:r>
            <a:endParaRPr sz="2100" dirty="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grpSp>
        <p:nvGrpSpPr>
          <p:cNvPr id="3" name="object 3"/>
          <p:cNvGrpSpPr/>
          <p:nvPr/>
        </p:nvGrpSpPr>
        <p:grpSpPr>
          <a:xfrm>
            <a:off x="3022739" y="3375659"/>
            <a:ext cx="3461385" cy="2357120"/>
            <a:chOff x="3022739" y="3375659"/>
            <a:chExt cx="3461385" cy="2357120"/>
          </a:xfrm>
        </p:grpSpPr>
        <p:sp>
          <p:nvSpPr>
            <p:cNvPr id="4" name="object 4"/>
            <p:cNvSpPr/>
            <p:nvPr/>
          </p:nvSpPr>
          <p:spPr>
            <a:xfrm>
              <a:off x="3026549" y="3379469"/>
              <a:ext cx="3453129" cy="2348865"/>
            </a:xfrm>
            <a:custGeom>
              <a:avLst/>
              <a:gdLst/>
              <a:ahLst/>
              <a:cxnLst/>
              <a:rect l="l" t="t" r="r" b="b"/>
              <a:pathLst>
                <a:path w="3453129" h="2348865">
                  <a:moveTo>
                    <a:pt x="3452622" y="2348483"/>
                  </a:moveTo>
                  <a:lnTo>
                    <a:pt x="3452622" y="0"/>
                  </a:lnTo>
                  <a:lnTo>
                    <a:pt x="0" y="0"/>
                  </a:lnTo>
                  <a:lnTo>
                    <a:pt x="0" y="2348484"/>
                  </a:lnTo>
                  <a:lnTo>
                    <a:pt x="3452622" y="2348483"/>
                  </a:lnTo>
                  <a:close/>
                </a:path>
              </a:pathLst>
            </a:custGeom>
            <a:solidFill>
              <a:srgbClr val="BAF3FF"/>
            </a:solidFill>
          </p:spPr>
          <p:txBody>
            <a:bodyPr wrap="square" lIns="0" tIns="0" rIns="0" bIns="0" rtlCol="0"/>
            <a:lstStyle/>
            <a:p>
              <a:endParaRPr/>
            </a:p>
          </p:txBody>
        </p:sp>
        <p:sp>
          <p:nvSpPr>
            <p:cNvPr id="5" name="object 5"/>
            <p:cNvSpPr/>
            <p:nvPr/>
          </p:nvSpPr>
          <p:spPr>
            <a:xfrm>
              <a:off x="3022739" y="3375659"/>
              <a:ext cx="3461385" cy="2357120"/>
            </a:xfrm>
            <a:custGeom>
              <a:avLst/>
              <a:gdLst/>
              <a:ahLst/>
              <a:cxnLst/>
              <a:rect l="l" t="t" r="r" b="b"/>
              <a:pathLst>
                <a:path w="3461385" h="2357120">
                  <a:moveTo>
                    <a:pt x="3461004" y="2354579"/>
                  </a:moveTo>
                  <a:lnTo>
                    <a:pt x="3461004" y="1523"/>
                  </a:lnTo>
                  <a:lnTo>
                    <a:pt x="3458717" y="0"/>
                  </a:lnTo>
                  <a:lnTo>
                    <a:pt x="1523" y="0"/>
                  </a:lnTo>
                  <a:lnTo>
                    <a:pt x="0" y="1524"/>
                  </a:lnTo>
                  <a:lnTo>
                    <a:pt x="0" y="2354580"/>
                  </a:lnTo>
                  <a:lnTo>
                    <a:pt x="1524" y="2356866"/>
                  </a:lnTo>
                  <a:lnTo>
                    <a:pt x="3810" y="2356866"/>
                  </a:lnTo>
                  <a:lnTo>
                    <a:pt x="3810" y="8382"/>
                  </a:lnTo>
                  <a:lnTo>
                    <a:pt x="8381" y="3810"/>
                  </a:lnTo>
                  <a:lnTo>
                    <a:pt x="8381" y="8382"/>
                  </a:lnTo>
                  <a:lnTo>
                    <a:pt x="3452622" y="8381"/>
                  </a:lnTo>
                  <a:lnTo>
                    <a:pt x="3452622" y="3809"/>
                  </a:lnTo>
                  <a:lnTo>
                    <a:pt x="3456432" y="8381"/>
                  </a:lnTo>
                  <a:lnTo>
                    <a:pt x="3456432" y="2356866"/>
                  </a:lnTo>
                  <a:lnTo>
                    <a:pt x="3458717" y="2356866"/>
                  </a:lnTo>
                  <a:lnTo>
                    <a:pt x="3461004" y="2354579"/>
                  </a:lnTo>
                  <a:close/>
                </a:path>
                <a:path w="3461385" h="2357120">
                  <a:moveTo>
                    <a:pt x="8381" y="8382"/>
                  </a:moveTo>
                  <a:lnTo>
                    <a:pt x="8381" y="3810"/>
                  </a:lnTo>
                  <a:lnTo>
                    <a:pt x="3810" y="8382"/>
                  </a:lnTo>
                  <a:lnTo>
                    <a:pt x="8381" y="8382"/>
                  </a:lnTo>
                  <a:close/>
                </a:path>
                <a:path w="3461385" h="2357120">
                  <a:moveTo>
                    <a:pt x="8381" y="2348484"/>
                  </a:moveTo>
                  <a:lnTo>
                    <a:pt x="8381" y="8382"/>
                  </a:lnTo>
                  <a:lnTo>
                    <a:pt x="3810" y="8382"/>
                  </a:lnTo>
                  <a:lnTo>
                    <a:pt x="3810" y="2348484"/>
                  </a:lnTo>
                  <a:lnTo>
                    <a:pt x="8381" y="2348484"/>
                  </a:lnTo>
                  <a:close/>
                </a:path>
                <a:path w="3461385" h="2357120">
                  <a:moveTo>
                    <a:pt x="3456432" y="2348484"/>
                  </a:moveTo>
                  <a:lnTo>
                    <a:pt x="3810" y="2348484"/>
                  </a:lnTo>
                  <a:lnTo>
                    <a:pt x="8381" y="2352293"/>
                  </a:lnTo>
                  <a:lnTo>
                    <a:pt x="8381" y="2356866"/>
                  </a:lnTo>
                  <a:lnTo>
                    <a:pt x="3452622" y="2356866"/>
                  </a:lnTo>
                  <a:lnTo>
                    <a:pt x="3452622" y="2352293"/>
                  </a:lnTo>
                  <a:lnTo>
                    <a:pt x="3456432" y="2348484"/>
                  </a:lnTo>
                  <a:close/>
                </a:path>
                <a:path w="3461385" h="2357120">
                  <a:moveTo>
                    <a:pt x="8381" y="2356866"/>
                  </a:moveTo>
                  <a:lnTo>
                    <a:pt x="8381" y="2352293"/>
                  </a:lnTo>
                  <a:lnTo>
                    <a:pt x="3810" y="2348484"/>
                  </a:lnTo>
                  <a:lnTo>
                    <a:pt x="3810" y="2356866"/>
                  </a:lnTo>
                  <a:lnTo>
                    <a:pt x="8381" y="2356866"/>
                  </a:lnTo>
                  <a:close/>
                </a:path>
                <a:path w="3461385" h="2357120">
                  <a:moveTo>
                    <a:pt x="3456432" y="8381"/>
                  </a:moveTo>
                  <a:lnTo>
                    <a:pt x="3452622" y="3809"/>
                  </a:lnTo>
                  <a:lnTo>
                    <a:pt x="3452622" y="8381"/>
                  </a:lnTo>
                  <a:lnTo>
                    <a:pt x="3456432" y="8381"/>
                  </a:lnTo>
                  <a:close/>
                </a:path>
                <a:path w="3461385" h="2357120">
                  <a:moveTo>
                    <a:pt x="3456432" y="2348484"/>
                  </a:moveTo>
                  <a:lnTo>
                    <a:pt x="3456432" y="8381"/>
                  </a:lnTo>
                  <a:lnTo>
                    <a:pt x="3452622" y="8381"/>
                  </a:lnTo>
                  <a:lnTo>
                    <a:pt x="3452622" y="2348484"/>
                  </a:lnTo>
                  <a:lnTo>
                    <a:pt x="3456432" y="2348484"/>
                  </a:lnTo>
                  <a:close/>
                </a:path>
                <a:path w="3461385" h="2357120">
                  <a:moveTo>
                    <a:pt x="3456432" y="2356866"/>
                  </a:moveTo>
                  <a:lnTo>
                    <a:pt x="3456432" y="2348484"/>
                  </a:lnTo>
                  <a:lnTo>
                    <a:pt x="3452622" y="2352293"/>
                  </a:lnTo>
                  <a:lnTo>
                    <a:pt x="3452622" y="2356866"/>
                  </a:lnTo>
                  <a:lnTo>
                    <a:pt x="3456432" y="2356866"/>
                  </a:lnTo>
                  <a:close/>
                </a:path>
              </a:pathLst>
            </a:custGeom>
            <a:solidFill>
              <a:srgbClr val="000000"/>
            </a:solidFill>
          </p:spPr>
          <p:txBody>
            <a:bodyPr wrap="square" lIns="0" tIns="0" rIns="0" bIns="0" rtlCol="0"/>
            <a:lstStyle/>
            <a:p>
              <a:endParaRPr/>
            </a:p>
          </p:txBody>
        </p:sp>
      </p:grpSp>
      <p:sp>
        <p:nvSpPr>
          <p:cNvPr id="6" name="object 6"/>
          <p:cNvSpPr txBox="1"/>
          <p:nvPr/>
        </p:nvSpPr>
        <p:spPr>
          <a:xfrm>
            <a:off x="703459" y="1915922"/>
            <a:ext cx="9160510" cy="3725545"/>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dirty="0">
                <a:solidFill>
                  <a:srgbClr val="FF0000"/>
                </a:solidFill>
                <a:latin typeface="微软雅黑"/>
                <a:cs typeface="微软雅黑"/>
              </a:rPr>
              <a:t>变量在多个</a:t>
            </a:r>
            <a:r>
              <a:rPr sz="2100" b="1" spc="-10" dirty="0">
                <a:solidFill>
                  <a:srgbClr val="FF0000"/>
                </a:solidFill>
                <a:latin typeface="Arial"/>
                <a:cs typeface="Arial"/>
              </a:rPr>
              <a:t>always</a:t>
            </a:r>
            <a:r>
              <a:rPr sz="2100" b="1" spc="-15" dirty="0">
                <a:solidFill>
                  <a:srgbClr val="FF0000"/>
                </a:solidFill>
                <a:latin typeface="微软雅黑"/>
                <a:cs typeface="微软雅黑"/>
              </a:rPr>
              <a:t>块中赋值</a:t>
            </a:r>
            <a:endParaRPr sz="2100">
              <a:latin typeface="微软雅黑"/>
              <a:cs typeface="微软雅黑"/>
            </a:endParaRPr>
          </a:p>
          <a:p>
            <a:pPr marL="313055" marR="5080">
              <a:lnSpc>
                <a:spcPct val="152400"/>
              </a:lnSpc>
              <a:spcBef>
                <a:spcPts val="500"/>
              </a:spcBef>
            </a:pPr>
            <a:r>
              <a:rPr sz="1900" spc="60" dirty="0">
                <a:latin typeface="微软雅黑"/>
                <a:cs typeface="微软雅黑"/>
              </a:rPr>
              <a:t>在</a:t>
            </a:r>
            <a:r>
              <a:rPr sz="1900" dirty="0">
                <a:latin typeface="Arial"/>
                <a:cs typeface="Arial"/>
              </a:rPr>
              <a:t>Verilog</a:t>
            </a:r>
            <a:r>
              <a:rPr sz="1900" spc="65" dirty="0">
                <a:latin typeface="微软雅黑"/>
                <a:cs typeface="微软雅黑"/>
              </a:rPr>
              <a:t>中，变量（出现在左端部分）在</a:t>
            </a:r>
            <a:r>
              <a:rPr sz="1900" spc="60" dirty="0">
                <a:solidFill>
                  <a:srgbClr val="FF0000"/>
                </a:solidFill>
                <a:latin typeface="微软雅黑"/>
                <a:cs typeface="微软雅黑"/>
              </a:rPr>
              <a:t>多个</a:t>
            </a:r>
            <a:r>
              <a:rPr sz="1900" dirty="0">
                <a:latin typeface="Arial"/>
                <a:cs typeface="Arial"/>
              </a:rPr>
              <a:t>always</a:t>
            </a:r>
            <a:r>
              <a:rPr sz="1900" spc="60" dirty="0">
                <a:latin typeface="微软雅黑"/>
                <a:cs typeface="微软雅黑"/>
              </a:rPr>
              <a:t>块中赋值，例如以下代码段</a:t>
            </a:r>
            <a:r>
              <a:rPr sz="1900" dirty="0">
                <a:latin typeface="微软雅黑"/>
                <a:cs typeface="微软雅黑"/>
              </a:rPr>
              <a:t>中</a:t>
            </a:r>
            <a:r>
              <a:rPr sz="1900" dirty="0">
                <a:solidFill>
                  <a:srgbClr val="FF0000"/>
                </a:solidFill>
                <a:latin typeface="微软雅黑"/>
                <a:cs typeface="微软雅黑"/>
              </a:rPr>
              <a:t>两个</a:t>
            </a:r>
            <a:r>
              <a:rPr sz="1900" dirty="0">
                <a:solidFill>
                  <a:srgbClr val="FF0000"/>
                </a:solidFill>
                <a:latin typeface="Arial"/>
                <a:cs typeface="Arial"/>
              </a:rPr>
              <a:t>always</a:t>
            </a:r>
            <a:r>
              <a:rPr sz="1900" dirty="0">
                <a:solidFill>
                  <a:srgbClr val="FF0000"/>
                </a:solidFill>
                <a:latin typeface="微软雅黑"/>
                <a:cs typeface="微软雅黑"/>
              </a:rPr>
              <a:t>块都对</a:t>
            </a:r>
            <a:r>
              <a:rPr sz="1900" dirty="0">
                <a:solidFill>
                  <a:srgbClr val="FF0000"/>
                </a:solidFill>
                <a:latin typeface="Arial"/>
                <a:cs typeface="Arial"/>
              </a:rPr>
              <a:t>y</a:t>
            </a:r>
            <a:r>
              <a:rPr sz="1900" dirty="0">
                <a:solidFill>
                  <a:srgbClr val="FF0000"/>
                </a:solidFill>
                <a:latin typeface="微软雅黑"/>
                <a:cs typeface="微软雅黑"/>
              </a:rPr>
              <a:t>变量赋值</a:t>
            </a:r>
            <a:r>
              <a:rPr sz="1900" spc="-50" dirty="0">
                <a:latin typeface="微软雅黑"/>
                <a:cs typeface="微软雅黑"/>
              </a:rPr>
              <a:t>：</a:t>
            </a:r>
            <a:endParaRPr sz="1900">
              <a:latin typeface="微软雅黑"/>
              <a:cs typeface="微软雅黑"/>
            </a:endParaRPr>
          </a:p>
          <a:p>
            <a:pPr marL="2463800">
              <a:lnSpc>
                <a:spcPct val="100000"/>
              </a:lnSpc>
              <a:spcBef>
                <a:spcPts val="1915"/>
              </a:spcBef>
            </a:pPr>
            <a:r>
              <a:rPr sz="1750" b="1" dirty="0">
                <a:latin typeface="Arial"/>
                <a:cs typeface="Arial"/>
              </a:rPr>
              <a:t>reg</a:t>
            </a:r>
            <a:r>
              <a:rPr sz="1750" b="1" spc="480" dirty="0">
                <a:latin typeface="Arial"/>
                <a:cs typeface="Arial"/>
              </a:rPr>
              <a:t> </a:t>
            </a:r>
            <a:r>
              <a:rPr sz="1750" spc="-25" dirty="0">
                <a:latin typeface="Arial"/>
                <a:cs typeface="Arial"/>
              </a:rPr>
              <a:t>y;</a:t>
            </a:r>
            <a:endParaRPr sz="1750">
              <a:latin typeface="Arial"/>
              <a:cs typeface="Arial"/>
            </a:endParaRPr>
          </a:p>
          <a:p>
            <a:pPr marL="2637155">
              <a:lnSpc>
                <a:spcPct val="100000"/>
              </a:lnSpc>
              <a:spcBef>
                <a:spcPts val="420"/>
              </a:spcBef>
            </a:pPr>
            <a:r>
              <a:rPr sz="1750" b="1" dirty="0">
                <a:latin typeface="Arial"/>
                <a:cs typeface="Arial"/>
              </a:rPr>
              <a:t>reg</a:t>
            </a:r>
            <a:r>
              <a:rPr sz="1750" b="1" spc="450" dirty="0">
                <a:latin typeface="Arial"/>
                <a:cs typeface="Arial"/>
              </a:rPr>
              <a:t> </a:t>
            </a:r>
            <a:r>
              <a:rPr sz="1750" dirty="0">
                <a:latin typeface="Arial"/>
                <a:cs typeface="Arial"/>
              </a:rPr>
              <a:t>a</a:t>
            </a:r>
            <a:r>
              <a:rPr sz="1750" spc="-20" dirty="0">
                <a:latin typeface="Arial"/>
                <a:cs typeface="Arial"/>
              </a:rPr>
              <a:t> </a:t>
            </a:r>
            <a:r>
              <a:rPr sz="1750" dirty="0">
                <a:latin typeface="Arial"/>
                <a:cs typeface="Arial"/>
              </a:rPr>
              <a:t>,</a:t>
            </a:r>
            <a:r>
              <a:rPr sz="1750" spc="-15" dirty="0">
                <a:latin typeface="Arial"/>
                <a:cs typeface="Arial"/>
              </a:rPr>
              <a:t> </a:t>
            </a:r>
            <a:r>
              <a:rPr sz="1750" dirty="0">
                <a:latin typeface="Arial"/>
                <a:cs typeface="Arial"/>
              </a:rPr>
              <a:t>b</a:t>
            </a:r>
            <a:r>
              <a:rPr sz="1750" spc="-20" dirty="0">
                <a:latin typeface="Arial"/>
                <a:cs typeface="Arial"/>
              </a:rPr>
              <a:t> </a:t>
            </a:r>
            <a:r>
              <a:rPr sz="1750" dirty="0">
                <a:latin typeface="Arial"/>
                <a:cs typeface="Arial"/>
              </a:rPr>
              <a:t>,</a:t>
            </a:r>
            <a:r>
              <a:rPr sz="1750" spc="-15" dirty="0">
                <a:latin typeface="Arial"/>
                <a:cs typeface="Arial"/>
              </a:rPr>
              <a:t> </a:t>
            </a:r>
            <a:r>
              <a:rPr sz="1750" dirty="0">
                <a:latin typeface="Arial"/>
                <a:cs typeface="Arial"/>
              </a:rPr>
              <a:t>clear</a:t>
            </a:r>
            <a:r>
              <a:rPr sz="1750" spc="-20" dirty="0">
                <a:latin typeface="Arial"/>
                <a:cs typeface="Arial"/>
              </a:rPr>
              <a:t> </a:t>
            </a:r>
            <a:r>
              <a:rPr sz="1750" spc="-50" dirty="0">
                <a:latin typeface="Arial"/>
                <a:cs typeface="Arial"/>
              </a:rPr>
              <a:t>;</a:t>
            </a:r>
            <a:endParaRPr sz="1750">
              <a:latin typeface="Arial"/>
              <a:cs typeface="Arial"/>
            </a:endParaRPr>
          </a:p>
          <a:p>
            <a:pPr marL="2636520">
              <a:lnSpc>
                <a:spcPct val="100000"/>
              </a:lnSpc>
              <a:spcBef>
                <a:spcPts val="425"/>
              </a:spcBef>
            </a:pPr>
            <a:r>
              <a:rPr sz="1750" spc="-25" dirty="0">
                <a:latin typeface="Arial"/>
                <a:cs typeface="Arial"/>
              </a:rPr>
              <a:t>ꞏꞏꞏ</a:t>
            </a:r>
            <a:endParaRPr sz="1750">
              <a:latin typeface="Arial"/>
              <a:cs typeface="Arial"/>
            </a:endParaRPr>
          </a:p>
          <a:p>
            <a:pPr marL="2647950">
              <a:lnSpc>
                <a:spcPct val="100000"/>
              </a:lnSpc>
              <a:spcBef>
                <a:spcPts val="425"/>
              </a:spcBef>
            </a:pPr>
            <a:r>
              <a:rPr sz="1750" b="1" dirty="0">
                <a:latin typeface="Arial"/>
                <a:cs typeface="Arial"/>
              </a:rPr>
              <a:t>always</a:t>
            </a:r>
            <a:r>
              <a:rPr sz="1750" b="1" spc="-90" dirty="0">
                <a:latin typeface="Arial"/>
                <a:cs typeface="Arial"/>
              </a:rPr>
              <a:t> </a:t>
            </a:r>
            <a:r>
              <a:rPr sz="1750" b="1" spc="-25" dirty="0">
                <a:latin typeface="Arial"/>
                <a:cs typeface="Arial"/>
              </a:rPr>
              <a:t>@*</a:t>
            </a:r>
            <a:endParaRPr sz="1750">
              <a:latin typeface="Arial"/>
              <a:cs typeface="Arial"/>
            </a:endParaRPr>
          </a:p>
          <a:p>
            <a:pPr marL="2647950" marR="4389755" indent="183515">
              <a:lnSpc>
                <a:spcPct val="120300"/>
              </a:lnSpc>
            </a:pPr>
            <a:r>
              <a:rPr sz="1750" b="1" dirty="0">
                <a:latin typeface="Arial"/>
                <a:cs typeface="Arial"/>
              </a:rPr>
              <a:t>if</a:t>
            </a:r>
            <a:r>
              <a:rPr sz="1750" b="1" spc="-35" dirty="0">
                <a:latin typeface="Arial"/>
                <a:cs typeface="Arial"/>
              </a:rPr>
              <a:t> </a:t>
            </a:r>
            <a:r>
              <a:rPr sz="1750" dirty="0">
                <a:latin typeface="Arial"/>
                <a:cs typeface="Arial"/>
              </a:rPr>
              <a:t>(clear</a:t>
            </a:r>
            <a:r>
              <a:rPr sz="1750" spc="-20" dirty="0">
                <a:latin typeface="Arial"/>
                <a:cs typeface="Arial"/>
              </a:rPr>
              <a:t> </a:t>
            </a:r>
            <a:r>
              <a:rPr sz="1750" dirty="0">
                <a:latin typeface="Arial"/>
                <a:cs typeface="Arial"/>
              </a:rPr>
              <a:t>)</a:t>
            </a:r>
            <a:r>
              <a:rPr sz="1750" spc="440" dirty="0">
                <a:latin typeface="Arial"/>
                <a:cs typeface="Arial"/>
              </a:rPr>
              <a:t> </a:t>
            </a:r>
            <a:r>
              <a:rPr sz="1750" dirty="0">
                <a:latin typeface="Arial"/>
                <a:cs typeface="Arial"/>
              </a:rPr>
              <a:t>y</a:t>
            </a:r>
            <a:r>
              <a:rPr sz="1750" spc="-25"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1’b0</a:t>
            </a:r>
            <a:r>
              <a:rPr sz="1750" spc="-10" dirty="0">
                <a:latin typeface="Arial"/>
                <a:cs typeface="Arial"/>
              </a:rPr>
              <a:t> </a:t>
            </a:r>
            <a:r>
              <a:rPr sz="1750" b="1" spc="-50" dirty="0">
                <a:latin typeface="Arial"/>
                <a:cs typeface="Arial"/>
              </a:rPr>
              <a:t>; </a:t>
            </a:r>
            <a:r>
              <a:rPr sz="1750" b="1" dirty="0">
                <a:latin typeface="Arial"/>
                <a:cs typeface="Arial"/>
              </a:rPr>
              <a:t>always</a:t>
            </a:r>
            <a:r>
              <a:rPr sz="1750" b="1" spc="-90" dirty="0">
                <a:latin typeface="Arial"/>
                <a:cs typeface="Arial"/>
              </a:rPr>
              <a:t> </a:t>
            </a:r>
            <a:r>
              <a:rPr sz="1750" b="1" spc="-25" dirty="0">
                <a:latin typeface="Arial"/>
                <a:cs typeface="Arial"/>
              </a:rPr>
              <a:t>@*</a:t>
            </a:r>
            <a:endParaRPr sz="1750">
              <a:latin typeface="Arial"/>
              <a:cs typeface="Arial"/>
            </a:endParaRPr>
          </a:p>
          <a:p>
            <a:pPr marL="2831465">
              <a:lnSpc>
                <a:spcPct val="100000"/>
              </a:lnSpc>
              <a:spcBef>
                <a:spcPts val="420"/>
              </a:spcBef>
            </a:pPr>
            <a:r>
              <a:rPr sz="1750" dirty="0">
                <a:latin typeface="Arial"/>
                <a:cs typeface="Arial"/>
              </a:rPr>
              <a:t>y</a:t>
            </a:r>
            <a:r>
              <a:rPr sz="1750" spc="-20" dirty="0">
                <a:latin typeface="Arial"/>
                <a:cs typeface="Arial"/>
              </a:rPr>
              <a:t> </a:t>
            </a:r>
            <a:r>
              <a:rPr sz="1750" dirty="0">
                <a:latin typeface="Arial"/>
                <a:cs typeface="Arial"/>
              </a:rPr>
              <a:t>=</a:t>
            </a:r>
            <a:r>
              <a:rPr sz="1750" spc="-15" dirty="0">
                <a:latin typeface="Arial"/>
                <a:cs typeface="Arial"/>
              </a:rPr>
              <a:t> </a:t>
            </a:r>
            <a:r>
              <a:rPr sz="1750" spc="-20" dirty="0">
                <a:latin typeface="Arial"/>
                <a:cs typeface="Arial"/>
              </a:rPr>
              <a:t>a&amp;b;</a:t>
            </a:r>
            <a:endParaRPr sz="175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grpSp>
        <p:nvGrpSpPr>
          <p:cNvPr id="3" name="object 3"/>
          <p:cNvGrpSpPr/>
          <p:nvPr/>
        </p:nvGrpSpPr>
        <p:grpSpPr>
          <a:xfrm>
            <a:off x="3478415" y="3521964"/>
            <a:ext cx="3103880" cy="2033270"/>
            <a:chOff x="3478415" y="3521964"/>
            <a:chExt cx="3103880" cy="2033270"/>
          </a:xfrm>
        </p:grpSpPr>
        <p:sp>
          <p:nvSpPr>
            <p:cNvPr id="4" name="object 4"/>
            <p:cNvSpPr/>
            <p:nvPr/>
          </p:nvSpPr>
          <p:spPr>
            <a:xfrm>
              <a:off x="3482225" y="3526536"/>
              <a:ext cx="3096260" cy="2024380"/>
            </a:xfrm>
            <a:custGeom>
              <a:avLst/>
              <a:gdLst/>
              <a:ahLst/>
              <a:cxnLst/>
              <a:rect l="l" t="t" r="r" b="b"/>
              <a:pathLst>
                <a:path w="3096259" h="2024379">
                  <a:moveTo>
                    <a:pt x="3096006" y="2023872"/>
                  </a:moveTo>
                  <a:lnTo>
                    <a:pt x="3096006" y="0"/>
                  </a:lnTo>
                  <a:lnTo>
                    <a:pt x="0" y="0"/>
                  </a:lnTo>
                  <a:lnTo>
                    <a:pt x="0" y="2023872"/>
                  </a:lnTo>
                  <a:lnTo>
                    <a:pt x="3096006" y="2023872"/>
                  </a:lnTo>
                  <a:close/>
                </a:path>
              </a:pathLst>
            </a:custGeom>
            <a:solidFill>
              <a:srgbClr val="F9FABA"/>
            </a:solidFill>
          </p:spPr>
          <p:txBody>
            <a:bodyPr wrap="square" lIns="0" tIns="0" rIns="0" bIns="0" rtlCol="0"/>
            <a:lstStyle/>
            <a:p>
              <a:endParaRPr/>
            </a:p>
          </p:txBody>
        </p:sp>
        <p:sp>
          <p:nvSpPr>
            <p:cNvPr id="5" name="object 5"/>
            <p:cNvSpPr/>
            <p:nvPr/>
          </p:nvSpPr>
          <p:spPr>
            <a:xfrm>
              <a:off x="3478415" y="3521964"/>
              <a:ext cx="3103880" cy="2033270"/>
            </a:xfrm>
            <a:custGeom>
              <a:avLst/>
              <a:gdLst/>
              <a:ahLst/>
              <a:cxnLst/>
              <a:rect l="l" t="t" r="r" b="b"/>
              <a:pathLst>
                <a:path w="3103879" h="2033270">
                  <a:moveTo>
                    <a:pt x="3103626" y="2030729"/>
                  </a:moveTo>
                  <a:lnTo>
                    <a:pt x="3103626" y="2285"/>
                  </a:lnTo>
                  <a:lnTo>
                    <a:pt x="3102102" y="0"/>
                  </a:lnTo>
                  <a:lnTo>
                    <a:pt x="1523" y="0"/>
                  </a:lnTo>
                  <a:lnTo>
                    <a:pt x="0" y="2286"/>
                  </a:lnTo>
                  <a:lnTo>
                    <a:pt x="0" y="2030730"/>
                  </a:lnTo>
                  <a:lnTo>
                    <a:pt x="1524" y="2033016"/>
                  </a:lnTo>
                  <a:lnTo>
                    <a:pt x="3809" y="2033016"/>
                  </a:lnTo>
                  <a:lnTo>
                    <a:pt x="3810" y="8382"/>
                  </a:lnTo>
                  <a:lnTo>
                    <a:pt x="8381" y="4572"/>
                  </a:lnTo>
                  <a:lnTo>
                    <a:pt x="8381" y="8382"/>
                  </a:lnTo>
                  <a:lnTo>
                    <a:pt x="3095244" y="8381"/>
                  </a:lnTo>
                  <a:lnTo>
                    <a:pt x="3095244" y="4571"/>
                  </a:lnTo>
                  <a:lnTo>
                    <a:pt x="3099816" y="8381"/>
                  </a:lnTo>
                  <a:lnTo>
                    <a:pt x="3099816" y="2033015"/>
                  </a:lnTo>
                  <a:lnTo>
                    <a:pt x="3102102" y="2033015"/>
                  </a:lnTo>
                  <a:lnTo>
                    <a:pt x="3103626" y="2030729"/>
                  </a:lnTo>
                  <a:close/>
                </a:path>
                <a:path w="3103879" h="2033270">
                  <a:moveTo>
                    <a:pt x="8381" y="8382"/>
                  </a:moveTo>
                  <a:lnTo>
                    <a:pt x="8381" y="4572"/>
                  </a:lnTo>
                  <a:lnTo>
                    <a:pt x="3810" y="8382"/>
                  </a:lnTo>
                  <a:lnTo>
                    <a:pt x="8381" y="8382"/>
                  </a:lnTo>
                  <a:close/>
                </a:path>
                <a:path w="3103879" h="2033270">
                  <a:moveTo>
                    <a:pt x="8382" y="2024634"/>
                  </a:moveTo>
                  <a:lnTo>
                    <a:pt x="8381" y="8382"/>
                  </a:lnTo>
                  <a:lnTo>
                    <a:pt x="3810" y="8382"/>
                  </a:lnTo>
                  <a:lnTo>
                    <a:pt x="3810" y="2024634"/>
                  </a:lnTo>
                  <a:lnTo>
                    <a:pt x="8382" y="2024634"/>
                  </a:lnTo>
                  <a:close/>
                </a:path>
                <a:path w="3103879" h="2033270">
                  <a:moveTo>
                    <a:pt x="3099816" y="2024633"/>
                  </a:moveTo>
                  <a:lnTo>
                    <a:pt x="3810" y="2024634"/>
                  </a:lnTo>
                  <a:lnTo>
                    <a:pt x="8382" y="2028444"/>
                  </a:lnTo>
                  <a:lnTo>
                    <a:pt x="8381" y="2033016"/>
                  </a:lnTo>
                  <a:lnTo>
                    <a:pt x="3095244" y="2033015"/>
                  </a:lnTo>
                  <a:lnTo>
                    <a:pt x="3095244" y="2028444"/>
                  </a:lnTo>
                  <a:lnTo>
                    <a:pt x="3099816" y="2024633"/>
                  </a:lnTo>
                  <a:close/>
                </a:path>
                <a:path w="3103879" h="2033270">
                  <a:moveTo>
                    <a:pt x="8381" y="2033016"/>
                  </a:moveTo>
                  <a:lnTo>
                    <a:pt x="8382" y="2028444"/>
                  </a:lnTo>
                  <a:lnTo>
                    <a:pt x="3810" y="2024634"/>
                  </a:lnTo>
                  <a:lnTo>
                    <a:pt x="3809" y="2033016"/>
                  </a:lnTo>
                  <a:lnTo>
                    <a:pt x="8381" y="2033016"/>
                  </a:lnTo>
                  <a:close/>
                </a:path>
                <a:path w="3103879" h="2033270">
                  <a:moveTo>
                    <a:pt x="3099816" y="8381"/>
                  </a:moveTo>
                  <a:lnTo>
                    <a:pt x="3095244" y="4571"/>
                  </a:lnTo>
                  <a:lnTo>
                    <a:pt x="3095244" y="8381"/>
                  </a:lnTo>
                  <a:lnTo>
                    <a:pt x="3099816" y="8381"/>
                  </a:lnTo>
                  <a:close/>
                </a:path>
                <a:path w="3103879" h="2033270">
                  <a:moveTo>
                    <a:pt x="3099816" y="2024633"/>
                  </a:moveTo>
                  <a:lnTo>
                    <a:pt x="3099816" y="8381"/>
                  </a:lnTo>
                  <a:lnTo>
                    <a:pt x="3095244" y="8381"/>
                  </a:lnTo>
                  <a:lnTo>
                    <a:pt x="3095244" y="2024633"/>
                  </a:lnTo>
                  <a:lnTo>
                    <a:pt x="3099816" y="2024633"/>
                  </a:lnTo>
                  <a:close/>
                </a:path>
                <a:path w="3103879" h="2033270">
                  <a:moveTo>
                    <a:pt x="3099816" y="2033015"/>
                  </a:moveTo>
                  <a:lnTo>
                    <a:pt x="3099816" y="2024633"/>
                  </a:lnTo>
                  <a:lnTo>
                    <a:pt x="3095244" y="2028444"/>
                  </a:lnTo>
                  <a:lnTo>
                    <a:pt x="3095244" y="2033015"/>
                  </a:lnTo>
                  <a:lnTo>
                    <a:pt x="3099816" y="2033015"/>
                  </a:lnTo>
                  <a:close/>
                </a:path>
              </a:pathLst>
            </a:custGeom>
            <a:solidFill>
              <a:srgbClr val="000000"/>
            </a:solidFill>
          </p:spPr>
          <p:txBody>
            <a:bodyPr wrap="square" lIns="0" tIns="0" rIns="0" bIns="0" rtlCol="0"/>
            <a:lstStyle/>
            <a:p>
              <a:endParaRPr/>
            </a:p>
          </p:txBody>
        </p:sp>
      </p:grpSp>
      <p:sp>
        <p:nvSpPr>
          <p:cNvPr id="6" name="object 6"/>
          <p:cNvSpPr txBox="1"/>
          <p:nvPr/>
        </p:nvSpPr>
        <p:spPr>
          <a:xfrm>
            <a:off x="703459" y="1920494"/>
            <a:ext cx="9323705" cy="3540125"/>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微软雅黑"/>
                <a:cs typeface="微软雅黑"/>
              </a:rPr>
              <a:t>尽管该代码作为异步电路是正确的，也</a:t>
            </a:r>
            <a:r>
              <a:rPr sz="2100" b="1" spc="-15" dirty="0">
                <a:solidFill>
                  <a:srgbClr val="FF0000"/>
                </a:solidFill>
                <a:latin typeface="微软雅黑"/>
                <a:cs typeface="微软雅黑"/>
              </a:rPr>
              <a:t>可以进行仿真，但是无法综合。</a:t>
            </a:r>
            <a:endParaRPr sz="2100">
              <a:latin typeface="微软雅黑"/>
              <a:cs typeface="微软雅黑"/>
            </a:endParaRPr>
          </a:p>
          <a:p>
            <a:pPr marL="413384" marR="5080">
              <a:lnSpc>
                <a:spcPct val="150300"/>
              </a:lnSpc>
              <a:spcBef>
                <a:spcPts val="770"/>
              </a:spcBef>
            </a:pPr>
            <a:r>
              <a:rPr sz="1750" b="1" dirty="0">
                <a:latin typeface="微软雅黑"/>
                <a:cs typeface="微软雅黑"/>
              </a:rPr>
              <a:t>以上代码表示</a:t>
            </a:r>
            <a:r>
              <a:rPr sz="1750" b="1" dirty="0">
                <a:latin typeface="Arial"/>
                <a:cs typeface="Arial"/>
              </a:rPr>
              <a:t>y</a:t>
            </a:r>
            <a:r>
              <a:rPr sz="1750" b="1" spc="-5" dirty="0">
                <a:latin typeface="微软雅黑"/>
                <a:cs typeface="微软雅黑"/>
              </a:rPr>
              <a:t>是两块电路的输出，并可以通过每个部分进行更新，没有物理电路可以表示</a:t>
            </a:r>
            <a:r>
              <a:rPr sz="1750" b="1" dirty="0">
                <a:latin typeface="微软雅黑"/>
                <a:cs typeface="微软雅黑"/>
              </a:rPr>
              <a:t>这种行为，因此代码不能综合，我们必须把赋值语句写入一个</a:t>
            </a:r>
            <a:r>
              <a:rPr sz="1750" b="1" spc="-20" dirty="0">
                <a:latin typeface="Arial"/>
                <a:cs typeface="Arial"/>
              </a:rPr>
              <a:t>always</a:t>
            </a:r>
            <a:r>
              <a:rPr sz="1750" b="1" spc="-10" dirty="0">
                <a:latin typeface="微软雅黑"/>
                <a:cs typeface="微软雅黑"/>
              </a:rPr>
              <a:t>块中，例如：</a:t>
            </a:r>
            <a:endParaRPr sz="1750">
              <a:latin typeface="微软雅黑"/>
              <a:cs typeface="微软雅黑"/>
            </a:endParaRPr>
          </a:p>
          <a:p>
            <a:pPr>
              <a:lnSpc>
                <a:spcPct val="100000"/>
              </a:lnSpc>
              <a:spcBef>
                <a:spcPts val="420"/>
              </a:spcBef>
            </a:pPr>
            <a:endParaRPr sz="1750">
              <a:latin typeface="微软雅黑"/>
              <a:cs typeface="微软雅黑"/>
            </a:endParaRPr>
          </a:p>
          <a:p>
            <a:pPr marR="2135505" algn="ctr">
              <a:lnSpc>
                <a:spcPct val="100000"/>
              </a:lnSpc>
            </a:pPr>
            <a:r>
              <a:rPr sz="2100" b="1" dirty="0">
                <a:latin typeface="Arial"/>
                <a:cs typeface="Arial"/>
              </a:rPr>
              <a:t>always</a:t>
            </a:r>
            <a:r>
              <a:rPr sz="2100" b="1" spc="-35" dirty="0">
                <a:latin typeface="Arial"/>
                <a:cs typeface="Arial"/>
              </a:rPr>
              <a:t> </a:t>
            </a:r>
            <a:r>
              <a:rPr sz="2100" b="1" spc="-25" dirty="0">
                <a:latin typeface="Arial"/>
                <a:cs typeface="Arial"/>
              </a:rPr>
              <a:t>@*</a:t>
            </a:r>
            <a:endParaRPr sz="2100">
              <a:latin typeface="Arial"/>
              <a:cs typeface="Arial"/>
            </a:endParaRPr>
          </a:p>
          <a:p>
            <a:pPr marR="1570355" algn="ctr">
              <a:lnSpc>
                <a:spcPct val="100000"/>
              </a:lnSpc>
              <a:spcBef>
                <a:spcPts val="509"/>
              </a:spcBef>
            </a:pPr>
            <a:r>
              <a:rPr sz="2100" b="1" dirty="0">
                <a:latin typeface="Arial"/>
                <a:cs typeface="Arial"/>
              </a:rPr>
              <a:t>if</a:t>
            </a:r>
            <a:r>
              <a:rPr sz="2100" b="1" spc="-30" dirty="0">
                <a:latin typeface="Arial"/>
                <a:cs typeface="Arial"/>
              </a:rPr>
              <a:t> </a:t>
            </a:r>
            <a:r>
              <a:rPr sz="2100" spc="-10" dirty="0">
                <a:latin typeface="Arial"/>
                <a:cs typeface="Arial"/>
              </a:rPr>
              <a:t>(clear)</a:t>
            </a:r>
            <a:endParaRPr sz="2100">
              <a:latin typeface="Arial"/>
              <a:cs typeface="Arial"/>
            </a:endParaRPr>
          </a:p>
          <a:p>
            <a:pPr marR="958215" algn="ctr">
              <a:lnSpc>
                <a:spcPct val="100000"/>
              </a:lnSpc>
              <a:spcBef>
                <a:spcPts val="509"/>
              </a:spcBef>
            </a:pPr>
            <a:r>
              <a:rPr sz="2100" dirty="0">
                <a:latin typeface="Arial"/>
                <a:cs typeface="Arial"/>
              </a:rPr>
              <a:t>y</a:t>
            </a:r>
            <a:r>
              <a:rPr sz="2100" spc="-10" dirty="0">
                <a:latin typeface="Arial"/>
                <a:cs typeface="Arial"/>
              </a:rPr>
              <a:t> </a:t>
            </a:r>
            <a:r>
              <a:rPr sz="2100" dirty="0">
                <a:latin typeface="Arial"/>
                <a:cs typeface="Arial"/>
              </a:rPr>
              <a:t>=</a:t>
            </a:r>
            <a:r>
              <a:rPr sz="2100" spc="-10" dirty="0">
                <a:latin typeface="Arial"/>
                <a:cs typeface="Arial"/>
              </a:rPr>
              <a:t> </a:t>
            </a:r>
            <a:r>
              <a:rPr sz="2100" spc="-20" dirty="0">
                <a:latin typeface="Arial"/>
                <a:cs typeface="Arial"/>
              </a:rPr>
              <a:t>1’b0;</a:t>
            </a:r>
            <a:endParaRPr sz="2100">
              <a:latin typeface="Arial"/>
              <a:cs typeface="Arial"/>
            </a:endParaRPr>
          </a:p>
          <a:p>
            <a:pPr marR="2044064" algn="ctr">
              <a:lnSpc>
                <a:spcPct val="100000"/>
              </a:lnSpc>
              <a:spcBef>
                <a:spcPts val="509"/>
              </a:spcBef>
            </a:pPr>
            <a:r>
              <a:rPr sz="2100" b="1" spc="-20" dirty="0">
                <a:latin typeface="Arial"/>
                <a:cs typeface="Arial"/>
              </a:rPr>
              <a:t>else</a:t>
            </a:r>
            <a:endParaRPr sz="2100">
              <a:latin typeface="Arial"/>
              <a:cs typeface="Arial"/>
            </a:endParaRPr>
          </a:p>
          <a:p>
            <a:pPr marR="962025" algn="ctr">
              <a:lnSpc>
                <a:spcPct val="100000"/>
              </a:lnSpc>
              <a:spcBef>
                <a:spcPts val="509"/>
              </a:spcBef>
            </a:pPr>
            <a:r>
              <a:rPr sz="2100" dirty="0">
                <a:latin typeface="Arial"/>
                <a:cs typeface="Arial"/>
              </a:rPr>
              <a:t>y</a:t>
            </a:r>
            <a:r>
              <a:rPr sz="2100" spc="-15" dirty="0">
                <a:latin typeface="Arial"/>
                <a:cs typeface="Arial"/>
              </a:rPr>
              <a:t> </a:t>
            </a:r>
            <a:r>
              <a:rPr sz="2100" dirty="0">
                <a:latin typeface="Arial"/>
                <a:cs typeface="Arial"/>
              </a:rPr>
              <a:t>=</a:t>
            </a:r>
            <a:r>
              <a:rPr sz="2100" spc="-10" dirty="0">
                <a:latin typeface="Arial"/>
                <a:cs typeface="Arial"/>
              </a:rPr>
              <a:t> </a:t>
            </a:r>
            <a:r>
              <a:rPr sz="2100" spc="-20" dirty="0">
                <a:latin typeface="Arial"/>
                <a:cs typeface="Arial"/>
              </a:rPr>
              <a:t>a&amp;b;</a:t>
            </a:r>
            <a:endParaRPr sz="210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sp>
        <p:nvSpPr>
          <p:cNvPr id="3" name="object 3"/>
          <p:cNvSpPr txBox="1"/>
          <p:nvPr/>
        </p:nvSpPr>
        <p:spPr>
          <a:xfrm>
            <a:off x="703459" y="1820482"/>
            <a:ext cx="7080250" cy="849630"/>
          </a:xfrm>
          <a:prstGeom prst="rect">
            <a:avLst/>
          </a:prstGeom>
        </p:spPr>
        <p:txBody>
          <a:bodyPr vert="horz" wrap="square" lIns="0" tIns="142240" rIns="0" bIns="0" rtlCol="0">
            <a:spAutoFit/>
          </a:bodyPr>
          <a:lstStyle/>
          <a:p>
            <a:pPr marL="222250" indent="-211454">
              <a:lnSpc>
                <a:spcPct val="100000"/>
              </a:lnSpc>
              <a:spcBef>
                <a:spcPts val="1120"/>
              </a:spcBef>
              <a:buClr>
                <a:srgbClr val="EC891C"/>
              </a:buClr>
              <a:buSzPct val="83333"/>
              <a:buFont typeface="Wingdings"/>
              <a:buChar char=""/>
              <a:tabLst>
                <a:tab pos="222250" algn="l"/>
              </a:tabLst>
            </a:pPr>
            <a:r>
              <a:rPr sz="2100" b="1" spc="-10" dirty="0">
                <a:solidFill>
                  <a:srgbClr val="FF0000"/>
                </a:solidFill>
                <a:latin typeface="微软雅黑"/>
                <a:cs typeface="微软雅黑"/>
              </a:rPr>
              <a:t>不完整的敏感列表</a:t>
            </a:r>
            <a:endParaRPr sz="2100">
              <a:latin typeface="微软雅黑"/>
              <a:cs typeface="微软雅黑"/>
            </a:endParaRPr>
          </a:p>
          <a:p>
            <a:pPr marL="613410" lvl="1" indent="-200025">
              <a:lnSpc>
                <a:spcPct val="100000"/>
              </a:lnSpc>
              <a:spcBef>
                <a:spcPts val="850"/>
              </a:spcBef>
              <a:buSzPct val="94285"/>
              <a:buFont typeface="Wingdings"/>
              <a:buChar char=""/>
              <a:tabLst>
                <a:tab pos="613410" algn="l"/>
              </a:tabLst>
            </a:pPr>
            <a:r>
              <a:rPr sz="1750" dirty="0">
                <a:latin typeface="微软雅黑"/>
                <a:cs typeface="微软雅黑"/>
              </a:rPr>
              <a:t>对于组合电路，要求</a:t>
            </a:r>
            <a:r>
              <a:rPr sz="1750" dirty="0">
                <a:solidFill>
                  <a:srgbClr val="FF0000"/>
                </a:solidFill>
                <a:latin typeface="微软雅黑"/>
                <a:cs typeface="微软雅黑"/>
              </a:rPr>
              <a:t>所有的输入信号</a:t>
            </a:r>
            <a:r>
              <a:rPr sz="1750" spc="-5" dirty="0">
                <a:latin typeface="微软雅黑"/>
                <a:cs typeface="微软雅黑"/>
              </a:rPr>
              <a:t>都应该包含在敏感信号列表中</a:t>
            </a:r>
            <a:endParaRPr sz="1750">
              <a:latin typeface="微软雅黑"/>
              <a:cs typeface="微软雅黑"/>
            </a:endParaRPr>
          </a:p>
        </p:txBody>
      </p:sp>
      <p:sp>
        <p:nvSpPr>
          <p:cNvPr id="4" name="object 4"/>
          <p:cNvSpPr txBox="1"/>
          <p:nvPr/>
        </p:nvSpPr>
        <p:spPr>
          <a:xfrm>
            <a:off x="1104271" y="2834138"/>
            <a:ext cx="2636520" cy="292735"/>
          </a:xfrm>
          <a:prstGeom prst="rect">
            <a:avLst/>
          </a:prstGeom>
        </p:spPr>
        <p:txBody>
          <a:bodyPr vert="horz" wrap="square" lIns="0" tIns="12700" rIns="0" bIns="0" rtlCol="0">
            <a:spAutoFit/>
          </a:bodyPr>
          <a:lstStyle/>
          <a:p>
            <a:pPr marL="212725" indent="-200025">
              <a:lnSpc>
                <a:spcPct val="100000"/>
              </a:lnSpc>
              <a:spcBef>
                <a:spcPts val="100"/>
              </a:spcBef>
              <a:buSzPct val="94285"/>
              <a:buFont typeface="Wingdings"/>
              <a:buChar char=""/>
              <a:tabLst>
                <a:tab pos="212725" algn="l"/>
              </a:tabLst>
            </a:pPr>
            <a:r>
              <a:rPr sz="1750" dirty="0">
                <a:latin typeface="微软雅黑"/>
                <a:cs typeface="微软雅黑"/>
              </a:rPr>
              <a:t>例如</a:t>
            </a:r>
            <a:r>
              <a:rPr sz="1750" spc="-20" dirty="0">
                <a:latin typeface="Arial"/>
                <a:cs typeface="Arial"/>
              </a:rPr>
              <a:t>2</a:t>
            </a:r>
            <a:r>
              <a:rPr sz="1750" dirty="0">
                <a:latin typeface="微软雅黑"/>
                <a:cs typeface="微软雅黑"/>
              </a:rPr>
              <a:t>输入与门可以写成</a:t>
            </a:r>
            <a:r>
              <a:rPr sz="1750" spc="-50" dirty="0">
                <a:latin typeface="Arial"/>
                <a:cs typeface="Arial"/>
              </a:rPr>
              <a:t>:</a:t>
            </a:r>
            <a:endParaRPr sz="1750">
              <a:latin typeface="Arial"/>
              <a:cs typeface="Arial"/>
            </a:endParaRPr>
          </a:p>
        </p:txBody>
      </p:sp>
      <p:grpSp>
        <p:nvGrpSpPr>
          <p:cNvPr id="5" name="object 5"/>
          <p:cNvGrpSpPr/>
          <p:nvPr/>
        </p:nvGrpSpPr>
        <p:grpSpPr>
          <a:xfrm>
            <a:off x="3828935" y="2825495"/>
            <a:ext cx="5354320" cy="840740"/>
            <a:chOff x="3828935" y="2825495"/>
            <a:chExt cx="5354320" cy="840740"/>
          </a:xfrm>
        </p:grpSpPr>
        <p:sp>
          <p:nvSpPr>
            <p:cNvPr id="6" name="object 6"/>
            <p:cNvSpPr/>
            <p:nvPr/>
          </p:nvSpPr>
          <p:spPr>
            <a:xfrm>
              <a:off x="3832745" y="2829305"/>
              <a:ext cx="5346700" cy="833119"/>
            </a:xfrm>
            <a:custGeom>
              <a:avLst/>
              <a:gdLst/>
              <a:ahLst/>
              <a:cxnLst/>
              <a:rect l="l" t="t" r="r" b="b"/>
              <a:pathLst>
                <a:path w="5346700" h="833120">
                  <a:moveTo>
                    <a:pt x="5346192" y="832865"/>
                  </a:moveTo>
                  <a:lnTo>
                    <a:pt x="5346192" y="0"/>
                  </a:lnTo>
                  <a:lnTo>
                    <a:pt x="0" y="0"/>
                  </a:lnTo>
                  <a:lnTo>
                    <a:pt x="0" y="832866"/>
                  </a:lnTo>
                  <a:lnTo>
                    <a:pt x="5346192" y="832865"/>
                  </a:lnTo>
                  <a:close/>
                </a:path>
              </a:pathLst>
            </a:custGeom>
            <a:solidFill>
              <a:srgbClr val="F9FABA"/>
            </a:solidFill>
          </p:spPr>
          <p:txBody>
            <a:bodyPr wrap="square" lIns="0" tIns="0" rIns="0" bIns="0" rtlCol="0"/>
            <a:lstStyle/>
            <a:p>
              <a:endParaRPr/>
            </a:p>
          </p:txBody>
        </p:sp>
        <p:sp>
          <p:nvSpPr>
            <p:cNvPr id="7" name="object 7"/>
            <p:cNvSpPr/>
            <p:nvPr/>
          </p:nvSpPr>
          <p:spPr>
            <a:xfrm>
              <a:off x="3828935" y="2825495"/>
              <a:ext cx="5354320" cy="840740"/>
            </a:xfrm>
            <a:custGeom>
              <a:avLst/>
              <a:gdLst/>
              <a:ahLst/>
              <a:cxnLst/>
              <a:rect l="l" t="t" r="r" b="b"/>
              <a:pathLst>
                <a:path w="5354320" h="840739">
                  <a:moveTo>
                    <a:pt x="5353812" y="838961"/>
                  </a:moveTo>
                  <a:lnTo>
                    <a:pt x="5353812" y="1523"/>
                  </a:lnTo>
                  <a:lnTo>
                    <a:pt x="5352288" y="0"/>
                  </a:lnTo>
                  <a:lnTo>
                    <a:pt x="1523" y="0"/>
                  </a:lnTo>
                  <a:lnTo>
                    <a:pt x="0" y="1524"/>
                  </a:lnTo>
                  <a:lnTo>
                    <a:pt x="0" y="838962"/>
                  </a:lnTo>
                  <a:lnTo>
                    <a:pt x="1524" y="840486"/>
                  </a:lnTo>
                  <a:lnTo>
                    <a:pt x="3810" y="840486"/>
                  </a:lnTo>
                  <a:lnTo>
                    <a:pt x="3810" y="8382"/>
                  </a:lnTo>
                  <a:lnTo>
                    <a:pt x="8382" y="3810"/>
                  </a:lnTo>
                  <a:lnTo>
                    <a:pt x="8382" y="8382"/>
                  </a:lnTo>
                  <a:lnTo>
                    <a:pt x="5345430" y="8381"/>
                  </a:lnTo>
                  <a:lnTo>
                    <a:pt x="5345430" y="3809"/>
                  </a:lnTo>
                  <a:lnTo>
                    <a:pt x="5350002" y="8381"/>
                  </a:lnTo>
                  <a:lnTo>
                    <a:pt x="5350002" y="840485"/>
                  </a:lnTo>
                  <a:lnTo>
                    <a:pt x="5352288" y="840485"/>
                  </a:lnTo>
                  <a:lnTo>
                    <a:pt x="5353812" y="838961"/>
                  </a:lnTo>
                  <a:close/>
                </a:path>
                <a:path w="5354320" h="840739">
                  <a:moveTo>
                    <a:pt x="8382" y="8382"/>
                  </a:moveTo>
                  <a:lnTo>
                    <a:pt x="8382" y="3810"/>
                  </a:lnTo>
                  <a:lnTo>
                    <a:pt x="3810" y="8382"/>
                  </a:lnTo>
                  <a:lnTo>
                    <a:pt x="8382" y="8382"/>
                  </a:lnTo>
                  <a:close/>
                </a:path>
                <a:path w="5354320" h="840739">
                  <a:moveTo>
                    <a:pt x="8382" y="832104"/>
                  </a:moveTo>
                  <a:lnTo>
                    <a:pt x="8382" y="8382"/>
                  </a:lnTo>
                  <a:lnTo>
                    <a:pt x="3810" y="8382"/>
                  </a:lnTo>
                  <a:lnTo>
                    <a:pt x="3810" y="832104"/>
                  </a:lnTo>
                  <a:lnTo>
                    <a:pt x="8382" y="832104"/>
                  </a:lnTo>
                  <a:close/>
                </a:path>
                <a:path w="5354320" h="840739">
                  <a:moveTo>
                    <a:pt x="5350002" y="832103"/>
                  </a:moveTo>
                  <a:lnTo>
                    <a:pt x="3810" y="832104"/>
                  </a:lnTo>
                  <a:lnTo>
                    <a:pt x="8382" y="836676"/>
                  </a:lnTo>
                  <a:lnTo>
                    <a:pt x="8382" y="840486"/>
                  </a:lnTo>
                  <a:lnTo>
                    <a:pt x="5345430" y="840485"/>
                  </a:lnTo>
                  <a:lnTo>
                    <a:pt x="5345430" y="836675"/>
                  </a:lnTo>
                  <a:lnTo>
                    <a:pt x="5350002" y="832103"/>
                  </a:lnTo>
                  <a:close/>
                </a:path>
                <a:path w="5354320" h="840739">
                  <a:moveTo>
                    <a:pt x="8382" y="840486"/>
                  </a:moveTo>
                  <a:lnTo>
                    <a:pt x="8382" y="836676"/>
                  </a:lnTo>
                  <a:lnTo>
                    <a:pt x="3810" y="832104"/>
                  </a:lnTo>
                  <a:lnTo>
                    <a:pt x="3810" y="840486"/>
                  </a:lnTo>
                  <a:lnTo>
                    <a:pt x="8382" y="840486"/>
                  </a:lnTo>
                  <a:close/>
                </a:path>
                <a:path w="5354320" h="840739">
                  <a:moveTo>
                    <a:pt x="5350002" y="8381"/>
                  </a:moveTo>
                  <a:lnTo>
                    <a:pt x="5345430" y="3809"/>
                  </a:lnTo>
                  <a:lnTo>
                    <a:pt x="5345430" y="8381"/>
                  </a:lnTo>
                  <a:lnTo>
                    <a:pt x="5350002" y="8381"/>
                  </a:lnTo>
                  <a:close/>
                </a:path>
                <a:path w="5354320" h="840739">
                  <a:moveTo>
                    <a:pt x="5350002" y="832103"/>
                  </a:moveTo>
                  <a:lnTo>
                    <a:pt x="5350002" y="8381"/>
                  </a:lnTo>
                  <a:lnTo>
                    <a:pt x="5345430" y="8381"/>
                  </a:lnTo>
                  <a:lnTo>
                    <a:pt x="5345430" y="832103"/>
                  </a:lnTo>
                  <a:lnTo>
                    <a:pt x="5350002" y="832103"/>
                  </a:lnTo>
                  <a:close/>
                </a:path>
                <a:path w="5354320" h="840739">
                  <a:moveTo>
                    <a:pt x="5350002" y="840485"/>
                  </a:moveTo>
                  <a:lnTo>
                    <a:pt x="5350002" y="832103"/>
                  </a:lnTo>
                  <a:lnTo>
                    <a:pt x="5345430" y="836675"/>
                  </a:lnTo>
                  <a:lnTo>
                    <a:pt x="5345430" y="840485"/>
                  </a:lnTo>
                  <a:lnTo>
                    <a:pt x="5350002" y="840485"/>
                  </a:lnTo>
                  <a:close/>
                </a:path>
              </a:pathLst>
            </a:custGeom>
            <a:solidFill>
              <a:srgbClr val="000000"/>
            </a:solidFill>
          </p:spPr>
          <p:txBody>
            <a:bodyPr wrap="square" lIns="0" tIns="0" rIns="0" bIns="0" rtlCol="0"/>
            <a:lstStyle/>
            <a:p>
              <a:endParaRPr/>
            </a:p>
          </p:txBody>
        </p:sp>
      </p:grpSp>
      <p:sp>
        <p:nvSpPr>
          <p:cNvPr id="8" name="object 8"/>
          <p:cNvSpPr txBox="1"/>
          <p:nvPr/>
        </p:nvSpPr>
        <p:spPr>
          <a:xfrm>
            <a:off x="3973963" y="2798846"/>
            <a:ext cx="4739640" cy="810895"/>
          </a:xfrm>
          <a:prstGeom prst="rect">
            <a:avLst/>
          </a:prstGeom>
        </p:spPr>
        <p:txBody>
          <a:bodyPr vert="horz" wrap="square" lIns="0" tIns="80010" rIns="0" bIns="0" rtlCol="0">
            <a:spAutoFit/>
          </a:bodyPr>
          <a:lstStyle/>
          <a:p>
            <a:pPr marL="12700">
              <a:lnSpc>
                <a:spcPct val="100000"/>
              </a:lnSpc>
              <a:spcBef>
                <a:spcPts val="630"/>
              </a:spcBef>
              <a:tabLst>
                <a:tab pos="2068830" algn="l"/>
              </a:tabLst>
            </a:pPr>
            <a:r>
              <a:rPr sz="2100" b="1" dirty="0">
                <a:latin typeface="Arial"/>
                <a:cs typeface="Arial"/>
              </a:rPr>
              <a:t>always</a:t>
            </a:r>
            <a:r>
              <a:rPr sz="2100" b="1" spc="-20" dirty="0">
                <a:latin typeface="Arial"/>
                <a:cs typeface="Arial"/>
              </a:rPr>
              <a:t> </a:t>
            </a:r>
            <a:r>
              <a:rPr sz="2100" b="1" dirty="0">
                <a:latin typeface="Arial"/>
                <a:cs typeface="Arial"/>
              </a:rPr>
              <a:t>@</a:t>
            </a:r>
            <a:r>
              <a:rPr sz="2100" b="1" spc="-10" dirty="0">
                <a:latin typeface="Arial"/>
                <a:cs typeface="Arial"/>
              </a:rPr>
              <a:t> </a:t>
            </a:r>
            <a:r>
              <a:rPr sz="2100" dirty="0">
                <a:latin typeface="Arial"/>
                <a:cs typeface="Arial"/>
              </a:rPr>
              <a:t>(a,</a:t>
            </a:r>
            <a:r>
              <a:rPr sz="2100" spc="-15" dirty="0">
                <a:latin typeface="Arial"/>
                <a:cs typeface="Arial"/>
              </a:rPr>
              <a:t> </a:t>
            </a:r>
            <a:r>
              <a:rPr sz="2100" spc="-25" dirty="0">
                <a:latin typeface="Arial"/>
                <a:cs typeface="Arial"/>
              </a:rPr>
              <a:t>b)</a:t>
            </a:r>
            <a:r>
              <a:rPr sz="2100" dirty="0">
                <a:latin typeface="Arial"/>
                <a:cs typeface="Arial"/>
              </a:rPr>
              <a:t>	</a:t>
            </a:r>
            <a:r>
              <a:rPr sz="2100" spc="-10" dirty="0">
                <a:latin typeface="Arial"/>
                <a:cs typeface="Arial"/>
              </a:rPr>
              <a:t>// </a:t>
            </a:r>
            <a:r>
              <a:rPr sz="2100" i="1" spc="-10" dirty="0">
                <a:latin typeface="Arial"/>
                <a:cs typeface="Arial"/>
              </a:rPr>
              <a:t>a</a:t>
            </a:r>
            <a:r>
              <a:rPr sz="2200" i="1" spc="-110" dirty="0">
                <a:latin typeface="宋体"/>
                <a:cs typeface="宋体"/>
              </a:rPr>
              <a:t>和</a:t>
            </a:r>
            <a:r>
              <a:rPr sz="2100" i="1" spc="-10" dirty="0">
                <a:latin typeface="Arial"/>
                <a:cs typeface="Arial"/>
              </a:rPr>
              <a:t>b</a:t>
            </a:r>
            <a:r>
              <a:rPr sz="2200" i="1" spc="-105" dirty="0">
                <a:latin typeface="宋体"/>
                <a:cs typeface="宋体"/>
              </a:rPr>
              <a:t>都在敏感列表中</a:t>
            </a:r>
            <a:endParaRPr sz="2200">
              <a:latin typeface="宋体"/>
              <a:cs typeface="宋体"/>
            </a:endParaRPr>
          </a:p>
          <a:p>
            <a:pPr marL="676910">
              <a:lnSpc>
                <a:spcPct val="100000"/>
              </a:lnSpc>
              <a:spcBef>
                <a:spcPts val="490"/>
              </a:spcBef>
            </a:pPr>
            <a:r>
              <a:rPr sz="2100" dirty="0">
                <a:latin typeface="Arial"/>
                <a:cs typeface="Arial"/>
              </a:rPr>
              <a:t>y</a:t>
            </a:r>
            <a:r>
              <a:rPr sz="2100" spc="-15" dirty="0">
                <a:latin typeface="Arial"/>
                <a:cs typeface="Arial"/>
              </a:rPr>
              <a:t> </a:t>
            </a:r>
            <a:r>
              <a:rPr sz="2100" dirty="0">
                <a:latin typeface="Arial"/>
                <a:cs typeface="Arial"/>
              </a:rPr>
              <a:t>=</a:t>
            </a:r>
            <a:r>
              <a:rPr sz="2100" spc="-10" dirty="0">
                <a:latin typeface="Arial"/>
                <a:cs typeface="Arial"/>
              </a:rPr>
              <a:t> </a:t>
            </a:r>
            <a:r>
              <a:rPr sz="2100" spc="-20" dirty="0">
                <a:latin typeface="Arial"/>
                <a:cs typeface="Arial"/>
              </a:rPr>
              <a:t>a&amp;b;</a:t>
            </a:r>
            <a:endParaRPr sz="2100">
              <a:latin typeface="Arial"/>
              <a:cs typeface="Arial"/>
            </a:endParaRPr>
          </a:p>
        </p:txBody>
      </p:sp>
      <p:grpSp>
        <p:nvGrpSpPr>
          <p:cNvPr id="9" name="object 9"/>
          <p:cNvGrpSpPr/>
          <p:nvPr/>
        </p:nvGrpSpPr>
        <p:grpSpPr>
          <a:xfrm>
            <a:off x="3828935" y="4265676"/>
            <a:ext cx="5354320" cy="841375"/>
            <a:chOff x="3828935" y="4265676"/>
            <a:chExt cx="5354320" cy="841375"/>
          </a:xfrm>
        </p:grpSpPr>
        <p:sp>
          <p:nvSpPr>
            <p:cNvPr id="10" name="object 10"/>
            <p:cNvSpPr/>
            <p:nvPr/>
          </p:nvSpPr>
          <p:spPr>
            <a:xfrm>
              <a:off x="3832745" y="4270248"/>
              <a:ext cx="5346700" cy="832485"/>
            </a:xfrm>
            <a:custGeom>
              <a:avLst/>
              <a:gdLst/>
              <a:ahLst/>
              <a:cxnLst/>
              <a:rect l="l" t="t" r="r" b="b"/>
              <a:pathLst>
                <a:path w="5346700" h="832485">
                  <a:moveTo>
                    <a:pt x="5346192" y="832103"/>
                  </a:moveTo>
                  <a:lnTo>
                    <a:pt x="5346192" y="0"/>
                  </a:lnTo>
                  <a:lnTo>
                    <a:pt x="0" y="0"/>
                  </a:lnTo>
                  <a:lnTo>
                    <a:pt x="0" y="832104"/>
                  </a:lnTo>
                  <a:lnTo>
                    <a:pt x="5346192" y="832103"/>
                  </a:lnTo>
                  <a:close/>
                </a:path>
              </a:pathLst>
            </a:custGeom>
            <a:solidFill>
              <a:srgbClr val="BAF3FF"/>
            </a:solidFill>
          </p:spPr>
          <p:txBody>
            <a:bodyPr wrap="square" lIns="0" tIns="0" rIns="0" bIns="0" rtlCol="0"/>
            <a:lstStyle/>
            <a:p>
              <a:endParaRPr/>
            </a:p>
          </p:txBody>
        </p:sp>
        <p:sp>
          <p:nvSpPr>
            <p:cNvPr id="11" name="object 11"/>
            <p:cNvSpPr/>
            <p:nvPr/>
          </p:nvSpPr>
          <p:spPr>
            <a:xfrm>
              <a:off x="3828935" y="4265676"/>
              <a:ext cx="5354320" cy="841375"/>
            </a:xfrm>
            <a:custGeom>
              <a:avLst/>
              <a:gdLst/>
              <a:ahLst/>
              <a:cxnLst/>
              <a:rect l="l" t="t" r="r" b="b"/>
              <a:pathLst>
                <a:path w="5354320" h="841375">
                  <a:moveTo>
                    <a:pt x="5353812" y="838961"/>
                  </a:moveTo>
                  <a:lnTo>
                    <a:pt x="5353812" y="2285"/>
                  </a:lnTo>
                  <a:lnTo>
                    <a:pt x="5352288" y="0"/>
                  </a:lnTo>
                  <a:lnTo>
                    <a:pt x="1523" y="0"/>
                  </a:lnTo>
                  <a:lnTo>
                    <a:pt x="0" y="2286"/>
                  </a:lnTo>
                  <a:lnTo>
                    <a:pt x="0" y="838962"/>
                  </a:lnTo>
                  <a:lnTo>
                    <a:pt x="1524" y="841248"/>
                  </a:lnTo>
                  <a:lnTo>
                    <a:pt x="3809" y="841248"/>
                  </a:lnTo>
                  <a:lnTo>
                    <a:pt x="3810" y="8382"/>
                  </a:lnTo>
                  <a:lnTo>
                    <a:pt x="8382" y="4572"/>
                  </a:lnTo>
                  <a:lnTo>
                    <a:pt x="8382" y="8382"/>
                  </a:lnTo>
                  <a:lnTo>
                    <a:pt x="5345430" y="8381"/>
                  </a:lnTo>
                  <a:lnTo>
                    <a:pt x="5345430" y="4571"/>
                  </a:lnTo>
                  <a:lnTo>
                    <a:pt x="5350002" y="8381"/>
                  </a:lnTo>
                  <a:lnTo>
                    <a:pt x="5350002" y="841247"/>
                  </a:lnTo>
                  <a:lnTo>
                    <a:pt x="5352288" y="841247"/>
                  </a:lnTo>
                  <a:lnTo>
                    <a:pt x="5353812" y="838961"/>
                  </a:lnTo>
                  <a:close/>
                </a:path>
                <a:path w="5354320" h="841375">
                  <a:moveTo>
                    <a:pt x="8382" y="8382"/>
                  </a:moveTo>
                  <a:lnTo>
                    <a:pt x="8382" y="4572"/>
                  </a:lnTo>
                  <a:lnTo>
                    <a:pt x="3810" y="8382"/>
                  </a:lnTo>
                  <a:lnTo>
                    <a:pt x="8382" y="8382"/>
                  </a:lnTo>
                  <a:close/>
                </a:path>
                <a:path w="5354320" h="841375">
                  <a:moveTo>
                    <a:pt x="8382" y="832866"/>
                  </a:moveTo>
                  <a:lnTo>
                    <a:pt x="8382" y="8382"/>
                  </a:lnTo>
                  <a:lnTo>
                    <a:pt x="3810" y="8382"/>
                  </a:lnTo>
                  <a:lnTo>
                    <a:pt x="3810" y="832866"/>
                  </a:lnTo>
                  <a:lnTo>
                    <a:pt x="8382" y="832866"/>
                  </a:lnTo>
                  <a:close/>
                </a:path>
                <a:path w="5354320" h="841375">
                  <a:moveTo>
                    <a:pt x="5350002" y="832865"/>
                  </a:moveTo>
                  <a:lnTo>
                    <a:pt x="3810" y="832866"/>
                  </a:lnTo>
                  <a:lnTo>
                    <a:pt x="8382" y="836676"/>
                  </a:lnTo>
                  <a:lnTo>
                    <a:pt x="8382" y="841248"/>
                  </a:lnTo>
                  <a:lnTo>
                    <a:pt x="5345430" y="841247"/>
                  </a:lnTo>
                  <a:lnTo>
                    <a:pt x="5345430" y="836675"/>
                  </a:lnTo>
                  <a:lnTo>
                    <a:pt x="5350002" y="832865"/>
                  </a:lnTo>
                  <a:close/>
                </a:path>
                <a:path w="5354320" h="841375">
                  <a:moveTo>
                    <a:pt x="8382" y="841248"/>
                  </a:moveTo>
                  <a:lnTo>
                    <a:pt x="8382" y="836676"/>
                  </a:lnTo>
                  <a:lnTo>
                    <a:pt x="3810" y="832866"/>
                  </a:lnTo>
                  <a:lnTo>
                    <a:pt x="3809" y="841248"/>
                  </a:lnTo>
                  <a:lnTo>
                    <a:pt x="8382" y="841248"/>
                  </a:lnTo>
                  <a:close/>
                </a:path>
                <a:path w="5354320" h="841375">
                  <a:moveTo>
                    <a:pt x="5350002" y="8381"/>
                  </a:moveTo>
                  <a:lnTo>
                    <a:pt x="5345430" y="4571"/>
                  </a:lnTo>
                  <a:lnTo>
                    <a:pt x="5345430" y="8381"/>
                  </a:lnTo>
                  <a:lnTo>
                    <a:pt x="5350002" y="8381"/>
                  </a:lnTo>
                  <a:close/>
                </a:path>
                <a:path w="5354320" h="841375">
                  <a:moveTo>
                    <a:pt x="5350002" y="832865"/>
                  </a:moveTo>
                  <a:lnTo>
                    <a:pt x="5350002" y="8381"/>
                  </a:lnTo>
                  <a:lnTo>
                    <a:pt x="5345430" y="8381"/>
                  </a:lnTo>
                  <a:lnTo>
                    <a:pt x="5345430" y="832865"/>
                  </a:lnTo>
                  <a:lnTo>
                    <a:pt x="5350002" y="832865"/>
                  </a:lnTo>
                  <a:close/>
                </a:path>
                <a:path w="5354320" h="841375">
                  <a:moveTo>
                    <a:pt x="5350002" y="841247"/>
                  </a:moveTo>
                  <a:lnTo>
                    <a:pt x="5350002" y="832865"/>
                  </a:lnTo>
                  <a:lnTo>
                    <a:pt x="5345430" y="836675"/>
                  </a:lnTo>
                  <a:lnTo>
                    <a:pt x="5345430" y="841247"/>
                  </a:lnTo>
                  <a:lnTo>
                    <a:pt x="5350002" y="841247"/>
                  </a:lnTo>
                  <a:close/>
                </a:path>
              </a:pathLst>
            </a:custGeom>
            <a:solidFill>
              <a:srgbClr val="000000"/>
            </a:solidFill>
          </p:spPr>
          <p:txBody>
            <a:bodyPr wrap="square" lIns="0" tIns="0" rIns="0" bIns="0" rtlCol="0"/>
            <a:lstStyle/>
            <a:p>
              <a:endParaRPr/>
            </a:p>
          </p:txBody>
        </p:sp>
      </p:grpSp>
      <p:sp>
        <p:nvSpPr>
          <p:cNvPr id="12" name="object 12"/>
          <p:cNvSpPr txBox="1"/>
          <p:nvPr/>
        </p:nvSpPr>
        <p:spPr>
          <a:xfrm>
            <a:off x="1104271" y="3813448"/>
            <a:ext cx="6977380" cy="2170430"/>
          </a:xfrm>
          <a:prstGeom prst="rect">
            <a:avLst/>
          </a:prstGeom>
        </p:spPr>
        <p:txBody>
          <a:bodyPr vert="horz" wrap="square" lIns="0" tIns="111125" rIns="0" bIns="0" rtlCol="0">
            <a:spAutoFit/>
          </a:bodyPr>
          <a:lstStyle/>
          <a:p>
            <a:pPr marL="213360" indent="-200025">
              <a:lnSpc>
                <a:spcPct val="100000"/>
              </a:lnSpc>
              <a:spcBef>
                <a:spcPts val="875"/>
              </a:spcBef>
              <a:buClr>
                <a:srgbClr val="EC891C"/>
              </a:buClr>
              <a:buSzPct val="88571"/>
              <a:buFont typeface="Wingdings"/>
              <a:buChar char=""/>
              <a:tabLst>
                <a:tab pos="213360" algn="l"/>
              </a:tabLst>
            </a:pPr>
            <a:r>
              <a:rPr sz="1750" b="1" dirty="0">
                <a:solidFill>
                  <a:srgbClr val="3E3E3E"/>
                </a:solidFill>
                <a:latin typeface="微软雅黑"/>
                <a:cs typeface="微软雅黑"/>
              </a:rPr>
              <a:t>如果</a:t>
            </a:r>
            <a:r>
              <a:rPr sz="1750" b="1" dirty="0">
                <a:solidFill>
                  <a:srgbClr val="FF0000"/>
                </a:solidFill>
                <a:latin typeface="微软雅黑"/>
                <a:cs typeface="微软雅黑"/>
              </a:rPr>
              <a:t>不包含</a:t>
            </a:r>
            <a:r>
              <a:rPr sz="1750" b="1" spc="-10" dirty="0">
                <a:solidFill>
                  <a:srgbClr val="FF0000"/>
                </a:solidFill>
                <a:latin typeface="Arial"/>
                <a:cs typeface="Arial"/>
              </a:rPr>
              <a:t>b</a:t>
            </a:r>
            <a:r>
              <a:rPr sz="1750" b="1" spc="-15" dirty="0">
                <a:solidFill>
                  <a:srgbClr val="3E3E3E"/>
                </a:solidFill>
                <a:latin typeface="微软雅黑"/>
                <a:cs typeface="微软雅黑"/>
              </a:rPr>
              <a:t>，代码变成：</a:t>
            </a:r>
            <a:endParaRPr sz="1750">
              <a:latin typeface="微软雅黑"/>
              <a:cs typeface="微软雅黑"/>
            </a:endParaRPr>
          </a:p>
          <a:p>
            <a:pPr marL="2652395" algn="ctr">
              <a:lnSpc>
                <a:spcPct val="100000"/>
              </a:lnSpc>
              <a:spcBef>
                <a:spcPts val="1005"/>
              </a:spcBef>
              <a:tabLst>
                <a:tab pos="4424045" algn="l"/>
              </a:tabLst>
            </a:pPr>
            <a:r>
              <a:rPr sz="2100" b="1" dirty="0">
                <a:latin typeface="Arial"/>
                <a:cs typeface="Arial"/>
              </a:rPr>
              <a:t>always</a:t>
            </a:r>
            <a:r>
              <a:rPr sz="2100" b="1" spc="-25" dirty="0">
                <a:latin typeface="Arial"/>
                <a:cs typeface="Arial"/>
              </a:rPr>
              <a:t> </a:t>
            </a:r>
            <a:r>
              <a:rPr sz="2100" dirty="0">
                <a:latin typeface="Arial"/>
                <a:cs typeface="Arial"/>
              </a:rPr>
              <a:t>@</a:t>
            </a:r>
            <a:r>
              <a:rPr sz="2100" spc="-10" dirty="0">
                <a:latin typeface="Arial"/>
                <a:cs typeface="Arial"/>
              </a:rPr>
              <a:t> </a:t>
            </a:r>
            <a:r>
              <a:rPr sz="2100" spc="-25" dirty="0">
                <a:latin typeface="Arial"/>
                <a:cs typeface="Arial"/>
              </a:rPr>
              <a:t>(a)</a:t>
            </a:r>
            <a:r>
              <a:rPr sz="2100" dirty="0">
                <a:latin typeface="Arial"/>
                <a:cs typeface="Arial"/>
              </a:rPr>
              <a:t>	</a:t>
            </a:r>
            <a:r>
              <a:rPr sz="2100" spc="-15" dirty="0">
                <a:latin typeface="Arial"/>
                <a:cs typeface="Arial"/>
              </a:rPr>
              <a:t>// </a:t>
            </a:r>
            <a:r>
              <a:rPr sz="2100" i="1" spc="-10" dirty="0">
                <a:latin typeface="Arial"/>
                <a:cs typeface="Arial"/>
              </a:rPr>
              <a:t>b</a:t>
            </a:r>
            <a:r>
              <a:rPr sz="2200" i="1" spc="-105" dirty="0">
                <a:latin typeface="宋体"/>
                <a:cs typeface="宋体"/>
              </a:rPr>
              <a:t>不在敏感列表中</a:t>
            </a:r>
            <a:endParaRPr sz="2200">
              <a:latin typeface="宋体"/>
              <a:cs typeface="宋体"/>
            </a:endParaRPr>
          </a:p>
          <a:p>
            <a:pPr marL="979805" algn="ctr">
              <a:lnSpc>
                <a:spcPct val="100000"/>
              </a:lnSpc>
              <a:spcBef>
                <a:spcPts val="490"/>
              </a:spcBef>
            </a:pPr>
            <a:r>
              <a:rPr sz="2100" dirty="0">
                <a:latin typeface="Arial"/>
                <a:cs typeface="Arial"/>
              </a:rPr>
              <a:t>y</a:t>
            </a:r>
            <a:r>
              <a:rPr sz="2100" spc="-15" dirty="0">
                <a:latin typeface="Arial"/>
                <a:cs typeface="Arial"/>
              </a:rPr>
              <a:t> </a:t>
            </a:r>
            <a:r>
              <a:rPr sz="2100" dirty="0">
                <a:latin typeface="Arial"/>
                <a:cs typeface="Arial"/>
              </a:rPr>
              <a:t>=</a:t>
            </a:r>
            <a:r>
              <a:rPr sz="2100" spc="-10" dirty="0">
                <a:latin typeface="Arial"/>
                <a:cs typeface="Arial"/>
              </a:rPr>
              <a:t> </a:t>
            </a:r>
            <a:r>
              <a:rPr sz="2100" spc="-20" dirty="0">
                <a:latin typeface="Arial"/>
                <a:cs typeface="Arial"/>
              </a:rPr>
              <a:t>a&amp;b;</a:t>
            </a:r>
            <a:endParaRPr sz="2100">
              <a:latin typeface="Arial"/>
              <a:cs typeface="Arial"/>
            </a:endParaRPr>
          </a:p>
          <a:p>
            <a:pPr marL="212725" indent="-211454">
              <a:lnSpc>
                <a:spcPct val="100000"/>
              </a:lnSpc>
              <a:spcBef>
                <a:spcPts val="1660"/>
              </a:spcBef>
              <a:buSzPct val="94285"/>
              <a:buFont typeface="Wingdings"/>
              <a:buChar char=""/>
              <a:tabLst>
                <a:tab pos="212725" algn="l"/>
              </a:tabLst>
            </a:pPr>
            <a:r>
              <a:rPr sz="1750" dirty="0">
                <a:latin typeface="微软雅黑"/>
                <a:cs typeface="微软雅黑"/>
              </a:rPr>
              <a:t>由于</a:t>
            </a:r>
            <a:r>
              <a:rPr sz="1750" spc="-10" dirty="0">
                <a:latin typeface="Arial"/>
                <a:cs typeface="Arial"/>
              </a:rPr>
              <a:t>always</a:t>
            </a:r>
            <a:r>
              <a:rPr sz="1750" dirty="0">
                <a:latin typeface="微软雅黑"/>
                <a:cs typeface="微软雅黑"/>
              </a:rPr>
              <a:t>块对</a:t>
            </a:r>
            <a:r>
              <a:rPr sz="1750" spc="-20" dirty="0">
                <a:latin typeface="Arial"/>
                <a:cs typeface="Arial"/>
              </a:rPr>
              <a:t>b“</a:t>
            </a:r>
            <a:r>
              <a:rPr sz="1750" dirty="0">
                <a:latin typeface="微软雅黑"/>
                <a:cs typeface="微软雅黑"/>
              </a:rPr>
              <a:t>不敏感</a:t>
            </a:r>
            <a:r>
              <a:rPr sz="1750" spc="-10" dirty="0">
                <a:latin typeface="Arial"/>
                <a:cs typeface="Arial"/>
              </a:rPr>
              <a:t>”</a:t>
            </a:r>
            <a:r>
              <a:rPr sz="1750" spc="-5" dirty="0">
                <a:latin typeface="微软雅黑"/>
                <a:cs typeface="微软雅黑"/>
              </a:rPr>
              <a:t>，当</a:t>
            </a:r>
            <a:r>
              <a:rPr sz="1750" spc="-20" dirty="0">
                <a:latin typeface="Arial"/>
                <a:cs typeface="Arial"/>
              </a:rPr>
              <a:t>b</a:t>
            </a:r>
            <a:r>
              <a:rPr sz="1750" dirty="0">
                <a:latin typeface="微软雅黑"/>
                <a:cs typeface="微软雅黑"/>
              </a:rPr>
              <a:t>发生变化时，</a:t>
            </a:r>
            <a:r>
              <a:rPr sz="1750" dirty="0">
                <a:latin typeface="Arial"/>
                <a:cs typeface="Arial"/>
              </a:rPr>
              <a:t>y</a:t>
            </a:r>
            <a:r>
              <a:rPr sz="1750" spc="-5" dirty="0">
                <a:latin typeface="微软雅黑"/>
                <a:cs typeface="微软雅黑"/>
              </a:rPr>
              <a:t>仍保持之前的值不变。</a:t>
            </a:r>
            <a:endParaRPr sz="1750">
              <a:latin typeface="微软雅黑"/>
              <a:cs typeface="微软雅黑"/>
            </a:endParaRPr>
          </a:p>
          <a:p>
            <a:pPr marL="212725" indent="-211454">
              <a:lnSpc>
                <a:spcPct val="100000"/>
              </a:lnSpc>
              <a:spcBef>
                <a:spcPts val="1495"/>
              </a:spcBef>
              <a:buSzPct val="94285"/>
              <a:buFont typeface="Wingdings"/>
              <a:buChar char=""/>
              <a:tabLst>
                <a:tab pos="212725" algn="l"/>
              </a:tabLst>
            </a:pPr>
            <a:r>
              <a:rPr sz="1750" dirty="0">
                <a:latin typeface="微软雅黑"/>
                <a:cs typeface="微软雅黑"/>
              </a:rPr>
              <a:t>导致</a:t>
            </a:r>
            <a:r>
              <a:rPr sz="1750" dirty="0">
                <a:solidFill>
                  <a:srgbClr val="FF0000"/>
                </a:solidFill>
                <a:latin typeface="微软雅黑"/>
                <a:cs typeface="微软雅黑"/>
              </a:rPr>
              <a:t>仿真与综合</a:t>
            </a:r>
            <a:r>
              <a:rPr sz="1750" spc="-10" dirty="0">
                <a:latin typeface="微软雅黑"/>
                <a:cs typeface="微软雅黑"/>
              </a:rPr>
              <a:t>的结果不一致。</a:t>
            </a:r>
            <a:endParaRPr sz="1750">
              <a:latin typeface="微软雅黑"/>
              <a:cs typeface="微软雅黑"/>
            </a:endParaRPr>
          </a:p>
        </p:txBody>
      </p:sp>
      <p:sp>
        <p:nvSpPr>
          <p:cNvPr id="13" name="object 13"/>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703459" y="2018791"/>
            <a:ext cx="8639175" cy="1882775"/>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5" dirty="0">
                <a:solidFill>
                  <a:srgbClr val="FF0000"/>
                </a:solidFill>
                <a:latin typeface="微软雅黑"/>
                <a:cs typeface="微软雅黑"/>
              </a:rPr>
              <a:t>不完整分支和不完整输出赋值</a:t>
            </a:r>
            <a:endParaRPr sz="2100">
              <a:latin typeface="微软雅黑"/>
              <a:cs typeface="微软雅黑"/>
            </a:endParaRPr>
          </a:p>
          <a:p>
            <a:pPr marL="613410" lvl="1" indent="-200025">
              <a:lnSpc>
                <a:spcPct val="100000"/>
              </a:lnSpc>
              <a:spcBef>
                <a:spcPts val="2810"/>
              </a:spcBef>
              <a:buSzPct val="94285"/>
              <a:buFont typeface="Wingdings"/>
              <a:buChar char=""/>
              <a:tabLst>
                <a:tab pos="613410" algn="l"/>
              </a:tabLst>
            </a:pPr>
            <a:r>
              <a:rPr sz="1750" dirty="0">
                <a:latin typeface="微软雅黑"/>
                <a:cs typeface="微软雅黑"/>
              </a:rPr>
              <a:t>组合电路</a:t>
            </a:r>
            <a:r>
              <a:rPr sz="1750" spc="-10" dirty="0">
                <a:latin typeface="Arial"/>
                <a:cs typeface="Arial"/>
              </a:rPr>
              <a:t>always</a:t>
            </a:r>
            <a:r>
              <a:rPr sz="1750" dirty="0">
                <a:latin typeface="微软雅黑"/>
                <a:cs typeface="微软雅黑"/>
              </a:rPr>
              <a:t>模块的变量</a:t>
            </a:r>
            <a:r>
              <a:rPr sz="1750" dirty="0">
                <a:solidFill>
                  <a:srgbClr val="FF0000"/>
                </a:solidFill>
                <a:latin typeface="微软雅黑"/>
                <a:cs typeface="微软雅黑"/>
              </a:rPr>
              <a:t>如果没有赋值则保持原来的值</a:t>
            </a:r>
            <a:r>
              <a:rPr sz="1750" spc="-50" dirty="0">
                <a:latin typeface="微软雅黑"/>
                <a:cs typeface="微软雅黑"/>
              </a:rPr>
              <a:t>。</a:t>
            </a:r>
            <a:endParaRPr sz="1750">
              <a:latin typeface="微软雅黑"/>
              <a:cs typeface="微软雅黑"/>
            </a:endParaRPr>
          </a:p>
          <a:p>
            <a:pPr marL="613410" lvl="1" indent="-200025">
              <a:lnSpc>
                <a:spcPct val="100000"/>
              </a:lnSpc>
              <a:spcBef>
                <a:spcPts val="1495"/>
              </a:spcBef>
              <a:buSzPct val="94285"/>
              <a:buFont typeface="Wingdings"/>
              <a:buChar char=""/>
              <a:tabLst>
                <a:tab pos="613410" algn="l"/>
              </a:tabLst>
            </a:pPr>
            <a:r>
              <a:rPr sz="1750" dirty="0">
                <a:latin typeface="微软雅黑"/>
                <a:cs typeface="微软雅黑"/>
              </a:rPr>
              <a:t>在综合时，这将导致内部状态（通过闭合反馈回路）或存储元件（</a:t>
            </a:r>
            <a:r>
              <a:rPr sz="1750" dirty="0">
                <a:solidFill>
                  <a:srgbClr val="FF0000"/>
                </a:solidFill>
                <a:latin typeface="微软雅黑"/>
                <a:cs typeface="微软雅黑"/>
              </a:rPr>
              <a:t>锁存器</a:t>
            </a:r>
            <a:r>
              <a:rPr sz="1750" dirty="0">
                <a:latin typeface="微软雅黑"/>
                <a:cs typeface="微软雅黑"/>
              </a:rPr>
              <a:t>）</a:t>
            </a:r>
            <a:r>
              <a:rPr sz="1750" spc="-20" dirty="0">
                <a:latin typeface="微软雅黑"/>
                <a:cs typeface="微软雅黑"/>
              </a:rPr>
              <a:t>的产生</a:t>
            </a:r>
            <a:endParaRPr sz="1750">
              <a:latin typeface="微软雅黑"/>
              <a:cs typeface="微软雅黑"/>
            </a:endParaRPr>
          </a:p>
          <a:p>
            <a:pPr marL="613410" lvl="1" indent="-200025">
              <a:lnSpc>
                <a:spcPct val="100000"/>
              </a:lnSpc>
              <a:spcBef>
                <a:spcPts val="1495"/>
              </a:spcBef>
              <a:buSzPct val="94285"/>
              <a:buFont typeface="Wingdings"/>
              <a:buChar char=""/>
              <a:tabLst>
                <a:tab pos="613410" algn="l"/>
              </a:tabLst>
            </a:pPr>
            <a:r>
              <a:rPr sz="1750" dirty="0">
                <a:latin typeface="微软雅黑"/>
                <a:cs typeface="微软雅黑"/>
              </a:rPr>
              <a:t>为了防止</a:t>
            </a:r>
            <a:r>
              <a:rPr sz="1750" spc="-10" dirty="0">
                <a:latin typeface="Arial"/>
                <a:cs typeface="Arial"/>
              </a:rPr>
              <a:t>always</a:t>
            </a:r>
            <a:r>
              <a:rPr sz="1750" spc="-5" dirty="0">
                <a:latin typeface="微软雅黑"/>
                <a:cs typeface="微软雅黑"/>
              </a:rPr>
              <a:t>块中意外的存储器，所有输出信号在任何时候都应该赋予恰当值</a:t>
            </a:r>
            <a:endParaRPr sz="1750">
              <a:latin typeface="微软雅黑"/>
              <a:cs typeface="微软雅黑"/>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sp>
        <p:nvSpPr>
          <p:cNvPr id="3" name="object 3"/>
          <p:cNvSpPr txBox="1"/>
          <p:nvPr/>
        </p:nvSpPr>
        <p:spPr>
          <a:xfrm>
            <a:off x="703459" y="1839722"/>
            <a:ext cx="4117340" cy="1355090"/>
          </a:xfrm>
          <a:prstGeom prst="rect">
            <a:avLst/>
          </a:prstGeom>
        </p:spPr>
        <p:txBody>
          <a:bodyPr vert="horz" wrap="square" lIns="0" tIns="13335" rIns="0" bIns="0" rtlCol="0">
            <a:spAutoFit/>
          </a:bodyPr>
          <a:lstStyle/>
          <a:p>
            <a:pPr marL="222250" indent="-222250">
              <a:lnSpc>
                <a:spcPct val="100000"/>
              </a:lnSpc>
              <a:spcBef>
                <a:spcPts val="105"/>
              </a:spcBef>
              <a:buClr>
                <a:srgbClr val="EC891C"/>
              </a:buClr>
              <a:buSzPct val="83333"/>
              <a:buFont typeface="Wingdings"/>
              <a:buChar char=""/>
              <a:tabLst>
                <a:tab pos="222250" algn="l"/>
              </a:tabLst>
            </a:pPr>
            <a:r>
              <a:rPr sz="2100" b="1" spc="-5" dirty="0">
                <a:solidFill>
                  <a:srgbClr val="3E3E3E"/>
                </a:solidFill>
                <a:latin typeface="微软雅黑"/>
                <a:cs typeface="微软雅黑"/>
              </a:rPr>
              <a:t>有两种方法来解决错误</a:t>
            </a:r>
            <a:endParaRPr sz="2100">
              <a:latin typeface="微软雅黑"/>
              <a:cs typeface="微软雅黑"/>
            </a:endParaRPr>
          </a:p>
          <a:p>
            <a:pPr marL="248285" marR="5080" indent="-212090">
              <a:lnSpc>
                <a:spcPct val="150300"/>
              </a:lnSpc>
              <a:spcBef>
                <a:spcPts val="1625"/>
              </a:spcBef>
              <a:buSzPct val="94285"/>
              <a:buFont typeface="Wingdings"/>
              <a:buChar char=""/>
              <a:tabLst>
                <a:tab pos="248285" algn="l"/>
              </a:tabLst>
            </a:pPr>
            <a:r>
              <a:rPr sz="1750" spc="50" dirty="0">
                <a:latin typeface="微软雅黑"/>
                <a:cs typeface="微软雅黑"/>
              </a:rPr>
              <a:t>加上</a:t>
            </a:r>
            <a:r>
              <a:rPr sz="1750" dirty="0">
                <a:solidFill>
                  <a:srgbClr val="FF0000"/>
                </a:solidFill>
                <a:latin typeface="Arial"/>
                <a:cs typeface="Arial"/>
              </a:rPr>
              <a:t>else</a:t>
            </a:r>
            <a:r>
              <a:rPr sz="1750" spc="50" dirty="0">
                <a:solidFill>
                  <a:srgbClr val="FF0000"/>
                </a:solidFill>
                <a:latin typeface="微软雅黑"/>
                <a:cs typeface="微软雅黑"/>
              </a:rPr>
              <a:t>分支</a:t>
            </a:r>
            <a:r>
              <a:rPr sz="1750" spc="45" dirty="0">
                <a:latin typeface="微软雅黑"/>
                <a:cs typeface="微软雅黑"/>
              </a:rPr>
              <a:t>并明确给所有输出变量赋</a:t>
            </a:r>
            <a:r>
              <a:rPr sz="1750" spc="-10" dirty="0">
                <a:latin typeface="微软雅黑"/>
                <a:cs typeface="微软雅黑"/>
              </a:rPr>
              <a:t>值，代码如下所示：</a:t>
            </a:r>
            <a:endParaRPr sz="1750">
              <a:latin typeface="微软雅黑"/>
              <a:cs typeface="微软雅黑"/>
            </a:endParaRPr>
          </a:p>
        </p:txBody>
      </p:sp>
      <p:grpSp>
        <p:nvGrpSpPr>
          <p:cNvPr id="4" name="object 4"/>
          <p:cNvGrpSpPr/>
          <p:nvPr/>
        </p:nvGrpSpPr>
        <p:grpSpPr>
          <a:xfrm>
            <a:off x="830465" y="3449573"/>
            <a:ext cx="4204335" cy="2712720"/>
            <a:chOff x="830465" y="3449573"/>
            <a:chExt cx="4204335" cy="2712720"/>
          </a:xfrm>
        </p:grpSpPr>
        <p:sp>
          <p:nvSpPr>
            <p:cNvPr id="5" name="object 5"/>
            <p:cNvSpPr/>
            <p:nvPr/>
          </p:nvSpPr>
          <p:spPr>
            <a:xfrm>
              <a:off x="835037" y="3454145"/>
              <a:ext cx="4196080" cy="2704465"/>
            </a:xfrm>
            <a:custGeom>
              <a:avLst/>
              <a:gdLst/>
              <a:ahLst/>
              <a:cxnLst/>
              <a:rect l="l" t="t" r="r" b="b"/>
              <a:pathLst>
                <a:path w="4196080" h="2704465">
                  <a:moveTo>
                    <a:pt x="4195572" y="2704338"/>
                  </a:moveTo>
                  <a:lnTo>
                    <a:pt x="4195571" y="0"/>
                  </a:lnTo>
                  <a:lnTo>
                    <a:pt x="0" y="0"/>
                  </a:lnTo>
                  <a:lnTo>
                    <a:pt x="0" y="2704338"/>
                  </a:lnTo>
                  <a:lnTo>
                    <a:pt x="4195572" y="2704338"/>
                  </a:lnTo>
                  <a:close/>
                </a:path>
              </a:pathLst>
            </a:custGeom>
            <a:solidFill>
              <a:srgbClr val="F9FABA"/>
            </a:solidFill>
          </p:spPr>
          <p:txBody>
            <a:bodyPr wrap="square" lIns="0" tIns="0" rIns="0" bIns="0" rtlCol="0"/>
            <a:lstStyle/>
            <a:p>
              <a:endParaRPr/>
            </a:p>
          </p:txBody>
        </p:sp>
        <p:sp>
          <p:nvSpPr>
            <p:cNvPr id="6" name="object 6"/>
            <p:cNvSpPr/>
            <p:nvPr/>
          </p:nvSpPr>
          <p:spPr>
            <a:xfrm>
              <a:off x="830465" y="3449573"/>
              <a:ext cx="4204335" cy="2712720"/>
            </a:xfrm>
            <a:custGeom>
              <a:avLst/>
              <a:gdLst/>
              <a:ahLst/>
              <a:cxnLst/>
              <a:rect l="l" t="t" r="r" b="b"/>
              <a:pathLst>
                <a:path w="4204335" h="2712720">
                  <a:moveTo>
                    <a:pt x="4203954" y="2711196"/>
                  </a:moveTo>
                  <a:lnTo>
                    <a:pt x="4203954" y="2285"/>
                  </a:lnTo>
                  <a:lnTo>
                    <a:pt x="4202430" y="0"/>
                  </a:lnTo>
                  <a:lnTo>
                    <a:pt x="2285" y="0"/>
                  </a:lnTo>
                  <a:lnTo>
                    <a:pt x="0" y="2286"/>
                  </a:lnTo>
                  <a:lnTo>
                    <a:pt x="0" y="2711196"/>
                  </a:lnTo>
                  <a:lnTo>
                    <a:pt x="2286" y="2712720"/>
                  </a:lnTo>
                  <a:lnTo>
                    <a:pt x="4572" y="2712720"/>
                  </a:lnTo>
                  <a:lnTo>
                    <a:pt x="4572" y="8382"/>
                  </a:lnTo>
                  <a:lnTo>
                    <a:pt x="8381" y="4572"/>
                  </a:lnTo>
                  <a:lnTo>
                    <a:pt x="8381" y="8382"/>
                  </a:lnTo>
                  <a:lnTo>
                    <a:pt x="4195572" y="8381"/>
                  </a:lnTo>
                  <a:lnTo>
                    <a:pt x="4195572" y="4571"/>
                  </a:lnTo>
                  <a:lnTo>
                    <a:pt x="4200144" y="8381"/>
                  </a:lnTo>
                  <a:lnTo>
                    <a:pt x="4200144" y="2712720"/>
                  </a:lnTo>
                  <a:lnTo>
                    <a:pt x="4202430" y="2712720"/>
                  </a:lnTo>
                  <a:lnTo>
                    <a:pt x="4203954" y="2711196"/>
                  </a:lnTo>
                  <a:close/>
                </a:path>
                <a:path w="4204335" h="2712720">
                  <a:moveTo>
                    <a:pt x="8381" y="8382"/>
                  </a:moveTo>
                  <a:lnTo>
                    <a:pt x="8381" y="4572"/>
                  </a:lnTo>
                  <a:lnTo>
                    <a:pt x="4572" y="8382"/>
                  </a:lnTo>
                  <a:lnTo>
                    <a:pt x="8381" y="8382"/>
                  </a:lnTo>
                  <a:close/>
                </a:path>
                <a:path w="4204335" h="2712720">
                  <a:moveTo>
                    <a:pt x="8381" y="2704338"/>
                  </a:moveTo>
                  <a:lnTo>
                    <a:pt x="8381" y="8382"/>
                  </a:lnTo>
                  <a:lnTo>
                    <a:pt x="4572" y="8382"/>
                  </a:lnTo>
                  <a:lnTo>
                    <a:pt x="4572" y="2704338"/>
                  </a:lnTo>
                  <a:lnTo>
                    <a:pt x="8381" y="2704338"/>
                  </a:lnTo>
                  <a:close/>
                </a:path>
                <a:path w="4204335" h="2712720">
                  <a:moveTo>
                    <a:pt x="4200144" y="2704338"/>
                  </a:moveTo>
                  <a:lnTo>
                    <a:pt x="4572" y="2704338"/>
                  </a:lnTo>
                  <a:lnTo>
                    <a:pt x="8381" y="2708910"/>
                  </a:lnTo>
                  <a:lnTo>
                    <a:pt x="8381" y="2712720"/>
                  </a:lnTo>
                  <a:lnTo>
                    <a:pt x="4195572" y="2712720"/>
                  </a:lnTo>
                  <a:lnTo>
                    <a:pt x="4195572" y="2708910"/>
                  </a:lnTo>
                  <a:lnTo>
                    <a:pt x="4200144" y="2704338"/>
                  </a:lnTo>
                  <a:close/>
                </a:path>
                <a:path w="4204335" h="2712720">
                  <a:moveTo>
                    <a:pt x="8381" y="2712720"/>
                  </a:moveTo>
                  <a:lnTo>
                    <a:pt x="8381" y="2708910"/>
                  </a:lnTo>
                  <a:lnTo>
                    <a:pt x="4572" y="2704338"/>
                  </a:lnTo>
                  <a:lnTo>
                    <a:pt x="4572" y="2712720"/>
                  </a:lnTo>
                  <a:lnTo>
                    <a:pt x="8381" y="2712720"/>
                  </a:lnTo>
                  <a:close/>
                </a:path>
                <a:path w="4204335" h="2712720">
                  <a:moveTo>
                    <a:pt x="4200144" y="8381"/>
                  </a:moveTo>
                  <a:lnTo>
                    <a:pt x="4195572" y="4571"/>
                  </a:lnTo>
                  <a:lnTo>
                    <a:pt x="4195572" y="8381"/>
                  </a:lnTo>
                  <a:lnTo>
                    <a:pt x="4200144" y="8381"/>
                  </a:lnTo>
                  <a:close/>
                </a:path>
                <a:path w="4204335" h="2712720">
                  <a:moveTo>
                    <a:pt x="4200144" y="2704338"/>
                  </a:moveTo>
                  <a:lnTo>
                    <a:pt x="4200144" y="8381"/>
                  </a:lnTo>
                  <a:lnTo>
                    <a:pt x="4195572" y="8381"/>
                  </a:lnTo>
                  <a:lnTo>
                    <a:pt x="4195572" y="2704338"/>
                  </a:lnTo>
                  <a:lnTo>
                    <a:pt x="4200144" y="2704338"/>
                  </a:lnTo>
                  <a:close/>
                </a:path>
                <a:path w="4204335" h="2712720">
                  <a:moveTo>
                    <a:pt x="4200144" y="2712720"/>
                  </a:moveTo>
                  <a:lnTo>
                    <a:pt x="4200144" y="2704338"/>
                  </a:lnTo>
                  <a:lnTo>
                    <a:pt x="4195572" y="2708910"/>
                  </a:lnTo>
                  <a:lnTo>
                    <a:pt x="4195572" y="2712720"/>
                  </a:lnTo>
                  <a:lnTo>
                    <a:pt x="4200144" y="2712720"/>
                  </a:lnTo>
                  <a:close/>
                </a:path>
              </a:pathLst>
            </a:custGeom>
            <a:solidFill>
              <a:srgbClr val="000000"/>
            </a:solidFill>
          </p:spPr>
          <p:txBody>
            <a:bodyPr wrap="square" lIns="0" tIns="0" rIns="0" bIns="0" rtlCol="0"/>
            <a:lstStyle/>
            <a:p>
              <a:endParaRPr/>
            </a:p>
          </p:txBody>
        </p:sp>
      </p:grpSp>
      <p:sp>
        <p:nvSpPr>
          <p:cNvPr id="7" name="object 7"/>
          <p:cNvSpPr txBox="1"/>
          <p:nvPr/>
        </p:nvSpPr>
        <p:spPr>
          <a:xfrm>
            <a:off x="902341" y="3448754"/>
            <a:ext cx="1449705" cy="2623185"/>
          </a:xfrm>
          <a:prstGeom prst="rect">
            <a:avLst/>
          </a:prstGeom>
        </p:spPr>
        <p:txBody>
          <a:bodyPr vert="horz" wrap="square" lIns="0" tIns="64135" rIns="0" bIns="0" rtlCol="0">
            <a:spAutoFit/>
          </a:bodyPr>
          <a:lstStyle/>
          <a:p>
            <a:pPr marR="541655" algn="r">
              <a:lnSpc>
                <a:spcPct val="100000"/>
              </a:lnSpc>
              <a:spcBef>
                <a:spcPts val="505"/>
              </a:spcBef>
            </a:pPr>
            <a:r>
              <a:rPr sz="1550" b="1" dirty="0">
                <a:latin typeface="Calibri"/>
                <a:cs typeface="Calibri"/>
              </a:rPr>
              <a:t>always</a:t>
            </a:r>
            <a:r>
              <a:rPr sz="1550" b="1" spc="10" dirty="0">
                <a:latin typeface="Calibri"/>
                <a:cs typeface="Calibri"/>
              </a:rPr>
              <a:t> </a:t>
            </a:r>
            <a:r>
              <a:rPr sz="1550" spc="-25" dirty="0">
                <a:latin typeface="Calibri"/>
                <a:cs typeface="Calibri"/>
              </a:rPr>
              <a:t>@*</a:t>
            </a:r>
            <a:endParaRPr sz="1550">
              <a:latin typeface="Calibri"/>
              <a:cs typeface="Calibri"/>
            </a:endParaRPr>
          </a:p>
          <a:p>
            <a:pPr marR="524510" algn="r">
              <a:lnSpc>
                <a:spcPct val="100000"/>
              </a:lnSpc>
              <a:spcBef>
                <a:spcPts val="415"/>
              </a:spcBef>
            </a:pPr>
            <a:r>
              <a:rPr sz="1550" b="1" dirty="0">
                <a:latin typeface="Calibri"/>
                <a:cs typeface="Calibri"/>
              </a:rPr>
              <a:t>if</a:t>
            </a:r>
            <a:r>
              <a:rPr sz="1550" b="1" spc="25" dirty="0">
                <a:latin typeface="Calibri"/>
                <a:cs typeface="Calibri"/>
              </a:rPr>
              <a:t> </a:t>
            </a:r>
            <a:r>
              <a:rPr sz="1550" dirty="0">
                <a:latin typeface="Calibri"/>
                <a:cs typeface="Calibri"/>
              </a:rPr>
              <a:t>(a</a:t>
            </a:r>
            <a:r>
              <a:rPr sz="1550" spc="20" dirty="0">
                <a:latin typeface="Calibri"/>
                <a:cs typeface="Calibri"/>
              </a:rPr>
              <a:t> </a:t>
            </a:r>
            <a:r>
              <a:rPr sz="1550" dirty="0">
                <a:latin typeface="Calibri"/>
                <a:cs typeface="Calibri"/>
              </a:rPr>
              <a:t>&gt;</a:t>
            </a:r>
            <a:r>
              <a:rPr sz="1550" spc="25" dirty="0">
                <a:latin typeface="Calibri"/>
                <a:cs typeface="Calibri"/>
              </a:rPr>
              <a:t> </a:t>
            </a:r>
            <a:r>
              <a:rPr sz="1550" spc="-25" dirty="0">
                <a:latin typeface="Calibri"/>
                <a:cs typeface="Calibri"/>
              </a:rPr>
              <a:t>b)</a:t>
            </a:r>
            <a:endParaRPr sz="1550">
              <a:latin typeface="Calibri"/>
              <a:cs typeface="Calibri"/>
            </a:endParaRPr>
          </a:p>
          <a:p>
            <a:pPr marR="508000" algn="r">
              <a:lnSpc>
                <a:spcPct val="100000"/>
              </a:lnSpc>
              <a:spcBef>
                <a:spcPts val="409"/>
              </a:spcBef>
            </a:pPr>
            <a:r>
              <a:rPr sz="1550" b="1" spc="-10" dirty="0">
                <a:latin typeface="Calibri"/>
                <a:cs typeface="Calibri"/>
              </a:rPr>
              <a:t>begin</a:t>
            </a:r>
            <a:endParaRPr sz="1550">
              <a:latin typeface="Calibri"/>
              <a:cs typeface="Calibri"/>
            </a:endParaRPr>
          </a:p>
          <a:p>
            <a:pPr marL="609600" marR="27305">
              <a:lnSpc>
                <a:spcPct val="122300"/>
              </a:lnSpc>
            </a:pPr>
            <a:r>
              <a:rPr sz="1550" dirty="0">
                <a:latin typeface="Calibri"/>
                <a:cs typeface="Calibri"/>
              </a:rPr>
              <a:t>gt =</a:t>
            </a:r>
            <a:r>
              <a:rPr sz="1550" spc="5" dirty="0">
                <a:latin typeface="Calibri"/>
                <a:cs typeface="Calibri"/>
              </a:rPr>
              <a:t> </a:t>
            </a:r>
            <a:r>
              <a:rPr sz="1550" spc="-10" dirty="0">
                <a:latin typeface="Calibri"/>
                <a:cs typeface="Calibri"/>
              </a:rPr>
              <a:t>1’b1; </a:t>
            </a:r>
            <a:r>
              <a:rPr sz="1550" dirty="0">
                <a:latin typeface="Calibri"/>
                <a:cs typeface="Calibri"/>
              </a:rPr>
              <a:t>eq</a:t>
            </a:r>
            <a:r>
              <a:rPr sz="1550" spc="15" dirty="0">
                <a:latin typeface="Calibri"/>
                <a:cs typeface="Calibri"/>
              </a:rPr>
              <a:t> </a:t>
            </a:r>
            <a:r>
              <a:rPr sz="1550" dirty="0">
                <a:latin typeface="Calibri"/>
                <a:cs typeface="Calibri"/>
              </a:rPr>
              <a:t>=</a:t>
            </a:r>
            <a:r>
              <a:rPr sz="1550" spc="20" dirty="0">
                <a:latin typeface="Calibri"/>
                <a:cs typeface="Calibri"/>
              </a:rPr>
              <a:t> </a:t>
            </a:r>
            <a:r>
              <a:rPr sz="1550" spc="-20" dirty="0">
                <a:latin typeface="Calibri"/>
                <a:cs typeface="Calibri"/>
              </a:rPr>
              <a:t>1'b0;</a:t>
            </a:r>
            <a:endParaRPr sz="1550">
              <a:latin typeface="Calibri"/>
              <a:cs typeface="Calibri"/>
            </a:endParaRPr>
          </a:p>
          <a:p>
            <a:pPr marL="471805">
              <a:lnSpc>
                <a:spcPct val="100000"/>
              </a:lnSpc>
              <a:spcBef>
                <a:spcPts val="409"/>
              </a:spcBef>
            </a:pPr>
            <a:r>
              <a:rPr sz="1550" b="1" spc="-25" dirty="0">
                <a:latin typeface="Calibri"/>
                <a:cs typeface="Calibri"/>
              </a:rPr>
              <a:t>end</a:t>
            </a:r>
            <a:endParaRPr sz="1550">
              <a:latin typeface="Calibri"/>
              <a:cs typeface="Calibri"/>
            </a:endParaRPr>
          </a:p>
          <a:p>
            <a:pPr marL="241935">
              <a:lnSpc>
                <a:spcPct val="100000"/>
              </a:lnSpc>
              <a:spcBef>
                <a:spcPts val="409"/>
              </a:spcBef>
            </a:pPr>
            <a:r>
              <a:rPr sz="1550" b="1" dirty="0">
                <a:latin typeface="Calibri"/>
                <a:cs typeface="Calibri"/>
              </a:rPr>
              <a:t>else</a:t>
            </a:r>
            <a:r>
              <a:rPr sz="1550" b="1" spc="380" dirty="0">
                <a:latin typeface="Calibri"/>
                <a:cs typeface="Calibri"/>
              </a:rPr>
              <a:t> </a:t>
            </a:r>
            <a:r>
              <a:rPr sz="1550" b="1" dirty="0">
                <a:latin typeface="Calibri"/>
                <a:cs typeface="Calibri"/>
              </a:rPr>
              <a:t>if</a:t>
            </a:r>
            <a:r>
              <a:rPr sz="1550" b="1" spc="30" dirty="0">
                <a:latin typeface="Calibri"/>
                <a:cs typeface="Calibri"/>
              </a:rPr>
              <a:t> </a:t>
            </a:r>
            <a:r>
              <a:rPr sz="1550" dirty="0">
                <a:latin typeface="Calibri"/>
                <a:cs typeface="Calibri"/>
              </a:rPr>
              <a:t>(a</a:t>
            </a:r>
            <a:r>
              <a:rPr sz="1550" spc="30" dirty="0">
                <a:latin typeface="Calibri"/>
                <a:cs typeface="Calibri"/>
              </a:rPr>
              <a:t> </a:t>
            </a:r>
            <a:r>
              <a:rPr sz="1550" dirty="0">
                <a:latin typeface="Calibri"/>
                <a:cs typeface="Calibri"/>
              </a:rPr>
              <a:t>==</a:t>
            </a:r>
            <a:r>
              <a:rPr sz="1550" spc="30" dirty="0">
                <a:latin typeface="Calibri"/>
                <a:cs typeface="Calibri"/>
              </a:rPr>
              <a:t> </a:t>
            </a:r>
            <a:r>
              <a:rPr sz="1550" spc="-25" dirty="0">
                <a:latin typeface="Calibri"/>
                <a:cs typeface="Calibri"/>
              </a:rPr>
              <a:t>b)</a:t>
            </a:r>
            <a:endParaRPr sz="1550">
              <a:latin typeface="Calibri"/>
              <a:cs typeface="Calibri"/>
            </a:endParaRPr>
          </a:p>
          <a:p>
            <a:pPr marL="471805">
              <a:lnSpc>
                <a:spcPct val="100000"/>
              </a:lnSpc>
              <a:spcBef>
                <a:spcPts val="415"/>
              </a:spcBef>
            </a:pPr>
            <a:r>
              <a:rPr sz="1550" b="1" spc="-10" dirty="0">
                <a:latin typeface="Calibri"/>
                <a:cs typeface="Calibri"/>
              </a:rPr>
              <a:t>begin</a:t>
            </a:r>
            <a:endParaRPr sz="1550">
              <a:latin typeface="Calibri"/>
              <a:cs typeface="Calibri"/>
            </a:endParaRPr>
          </a:p>
          <a:p>
            <a:pPr marL="609600">
              <a:lnSpc>
                <a:spcPct val="100000"/>
              </a:lnSpc>
              <a:spcBef>
                <a:spcPts val="415"/>
              </a:spcBef>
            </a:pPr>
            <a:r>
              <a:rPr sz="1550" dirty="0">
                <a:latin typeface="Calibri"/>
                <a:cs typeface="Calibri"/>
              </a:rPr>
              <a:t>gt =</a:t>
            </a:r>
            <a:r>
              <a:rPr sz="1550" spc="5" dirty="0">
                <a:latin typeface="Calibri"/>
                <a:cs typeface="Calibri"/>
              </a:rPr>
              <a:t> </a:t>
            </a:r>
            <a:r>
              <a:rPr sz="1550" spc="-10" dirty="0">
                <a:latin typeface="Calibri"/>
                <a:cs typeface="Calibri"/>
              </a:rPr>
              <a:t>1'b0;</a:t>
            </a:r>
            <a:endParaRPr sz="1550">
              <a:latin typeface="Calibri"/>
              <a:cs typeface="Calibri"/>
            </a:endParaRPr>
          </a:p>
        </p:txBody>
      </p:sp>
      <p:sp>
        <p:nvSpPr>
          <p:cNvPr id="8" name="object 8"/>
          <p:cNvSpPr txBox="1"/>
          <p:nvPr/>
        </p:nvSpPr>
        <p:spPr>
          <a:xfrm>
            <a:off x="3057267" y="3448814"/>
            <a:ext cx="1289050" cy="2045970"/>
          </a:xfrm>
          <a:prstGeom prst="rect">
            <a:avLst/>
          </a:prstGeom>
        </p:spPr>
        <p:txBody>
          <a:bodyPr vert="horz" wrap="square" lIns="0" tIns="64135" rIns="0" bIns="0" rtlCol="0">
            <a:spAutoFit/>
          </a:bodyPr>
          <a:lstStyle/>
          <a:p>
            <a:pPr marL="471805">
              <a:lnSpc>
                <a:spcPct val="100000"/>
              </a:lnSpc>
              <a:spcBef>
                <a:spcPts val="505"/>
              </a:spcBef>
            </a:pPr>
            <a:r>
              <a:rPr sz="1550" dirty="0">
                <a:latin typeface="Calibri"/>
                <a:cs typeface="Calibri"/>
              </a:rPr>
              <a:t>eq</a:t>
            </a:r>
            <a:r>
              <a:rPr sz="1550" spc="15" dirty="0">
                <a:latin typeface="Calibri"/>
                <a:cs typeface="Calibri"/>
              </a:rPr>
              <a:t> </a:t>
            </a:r>
            <a:r>
              <a:rPr sz="1550" dirty="0">
                <a:latin typeface="Calibri"/>
                <a:cs typeface="Calibri"/>
              </a:rPr>
              <a:t>=</a:t>
            </a:r>
            <a:r>
              <a:rPr sz="1550" spc="20" dirty="0">
                <a:latin typeface="Calibri"/>
                <a:cs typeface="Calibri"/>
              </a:rPr>
              <a:t> </a:t>
            </a:r>
            <a:r>
              <a:rPr sz="1550" spc="-20" dirty="0">
                <a:latin typeface="Calibri"/>
                <a:cs typeface="Calibri"/>
              </a:rPr>
              <a:t>1'b1;</a:t>
            </a:r>
            <a:endParaRPr sz="1550">
              <a:latin typeface="Calibri"/>
              <a:cs typeface="Calibri"/>
            </a:endParaRPr>
          </a:p>
          <a:p>
            <a:pPr marL="12700" marR="631190" indent="321310">
              <a:lnSpc>
                <a:spcPct val="121900"/>
              </a:lnSpc>
              <a:spcBef>
                <a:spcPts val="10"/>
              </a:spcBef>
            </a:pPr>
            <a:r>
              <a:rPr sz="1550" b="1" spc="-25" dirty="0">
                <a:latin typeface="Calibri"/>
                <a:cs typeface="Calibri"/>
              </a:rPr>
              <a:t>end </a:t>
            </a:r>
            <a:r>
              <a:rPr sz="1550" b="1" spc="-20" dirty="0">
                <a:latin typeface="Calibri"/>
                <a:cs typeface="Calibri"/>
              </a:rPr>
              <a:t>else</a:t>
            </a:r>
            <a:endParaRPr sz="1550">
              <a:latin typeface="Calibri"/>
              <a:cs typeface="Calibri"/>
            </a:endParaRPr>
          </a:p>
          <a:p>
            <a:pPr marL="334010">
              <a:lnSpc>
                <a:spcPct val="100000"/>
              </a:lnSpc>
              <a:spcBef>
                <a:spcPts val="414"/>
              </a:spcBef>
            </a:pPr>
            <a:r>
              <a:rPr sz="1550" b="1" spc="-10" dirty="0">
                <a:latin typeface="Calibri"/>
                <a:cs typeface="Calibri"/>
              </a:rPr>
              <a:t>begin</a:t>
            </a:r>
            <a:endParaRPr sz="1550">
              <a:latin typeface="Calibri"/>
              <a:cs typeface="Calibri"/>
            </a:endParaRPr>
          </a:p>
          <a:p>
            <a:pPr marL="471805" marR="5080">
              <a:lnSpc>
                <a:spcPct val="122300"/>
              </a:lnSpc>
            </a:pPr>
            <a:r>
              <a:rPr sz="1550" dirty="0">
                <a:latin typeface="Calibri"/>
                <a:cs typeface="Calibri"/>
              </a:rPr>
              <a:t>gt =</a:t>
            </a:r>
            <a:r>
              <a:rPr sz="1550" spc="5" dirty="0">
                <a:latin typeface="Calibri"/>
                <a:cs typeface="Calibri"/>
              </a:rPr>
              <a:t> </a:t>
            </a:r>
            <a:r>
              <a:rPr sz="1550" spc="-10" dirty="0">
                <a:latin typeface="Calibri"/>
                <a:cs typeface="Calibri"/>
              </a:rPr>
              <a:t>1'b0; </a:t>
            </a:r>
            <a:r>
              <a:rPr sz="1550" dirty="0">
                <a:latin typeface="Calibri"/>
                <a:cs typeface="Calibri"/>
              </a:rPr>
              <a:t>eq</a:t>
            </a:r>
            <a:r>
              <a:rPr sz="1550" spc="15" dirty="0">
                <a:latin typeface="Calibri"/>
                <a:cs typeface="Calibri"/>
              </a:rPr>
              <a:t> </a:t>
            </a:r>
            <a:r>
              <a:rPr sz="1550" dirty="0">
                <a:latin typeface="Calibri"/>
                <a:cs typeface="Calibri"/>
              </a:rPr>
              <a:t>=</a:t>
            </a:r>
            <a:r>
              <a:rPr sz="1550" spc="25" dirty="0">
                <a:latin typeface="Calibri"/>
                <a:cs typeface="Calibri"/>
              </a:rPr>
              <a:t> </a:t>
            </a:r>
            <a:r>
              <a:rPr sz="1550" spc="-20" dirty="0">
                <a:latin typeface="Calibri"/>
                <a:cs typeface="Calibri"/>
              </a:rPr>
              <a:t>1'b0;</a:t>
            </a:r>
            <a:endParaRPr sz="1550">
              <a:latin typeface="Calibri"/>
              <a:cs typeface="Calibri"/>
            </a:endParaRPr>
          </a:p>
          <a:p>
            <a:pPr marL="154305">
              <a:lnSpc>
                <a:spcPct val="100000"/>
              </a:lnSpc>
              <a:spcBef>
                <a:spcPts val="405"/>
              </a:spcBef>
            </a:pPr>
            <a:r>
              <a:rPr sz="1550" b="1" spc="-25" dirty="0">
                <a:latin typeface="Calibri"/>
                <a:cs typeface="Calibri"/>
              </a:rPr>
              <a:t>end</a:t>
            </a:r>
            <a:endParaRPr sz="1550">
              <a:latin typeface="Calibri"/>
              <a:cs typeface="Calibri"/>
            </a:endParaRPr>
          </a:p>
        </p:txBody>
      </p:sp>
      <p:grpSp>
        <p:nvGrpSpPr>
          <p:cNvPr id="9" name="object 9"/>
          <p:cNvGrpSpPr/>
          <p:nvPr/>
        </p:nvGrpSpPr>
        <p:grpSpPr>
          <a:xfrm>
            <a:off x="5992253" y="3416046"/>
            <a:ext cx="4072890" cy="2712720"/>
            <a:chOff x="5992253" y="3416046"/>
            <a:chExt cx="4072890" cy="2712720"/>
          </a:xfrm>
        </p:grpSpPr>
        <p:sp>
          <p:nvSpPr>
            <p:cNvPr id="10" name="object 10"/>
            <p:cNvSpPr/>
            <p:nvPr/>
          </p:nvSpPr>
          <p:spPr>
            <a:xfrm>
              <a:off x="5996825" y="3419856"/>
              <a:ext cx="4064635" cy="2704465"/>
            </a:xfrm>
            <a:custGeom>
              <a:avLst/>
              <a:gdLst/>
              <a:ahLst/>
              <a:cxnLst/>
              <a:rect l="l" t="t" r="r" b="b"/>
              <a:pathLst>
                <a:path w="4064634" h="2704465">
                  <a:moveTo>
                    <a:pt x="4064508" y="2704338"/>
                  </a:moveTo>
                  <a:lnTo>
                    <a:pt x="4064508" y="0"/>
                  </a:lnTo>
                  <a:lnTo>
                    <a:pt x="0" y="0"/>
                  </a:lnTo>
                  <a:lnTo>
                    <a:pt x="0" y="2704338"/>
                  </a:lnTo>
                  <a:lnTo>
                    <a:pt x="4064508" y="2704338"/>
                  </a:lnTo>
                  <a:close/>
                </a:path>
              </a:pathLst>
            </a:custGeom>
            <a:solidFill>
              <a:srgbClr val="F9FABA"/>
            </a:solidFill>
          </p:spPr>
          <p:txBody>
            <a:bodyPr wrap="square" lIns="0" tIns="0" rIns="0" bIns="0" rtlCol="0"/>
            <a:lstStyle/>
            <a:p>
              <a:endParaRPr/>
            </a:p>
          </p:txBody>
        </p:sp>
        <p:sp>
          <p:nvSpPr>
            <p:cNvPr id="11" name="object 11"/>
            <p:cNvSpPr/>
            <p:nvPr/>
          </p:nvSpPr>
          <p:spPr>
            <a:xfrm>
              <a:off x="5992253" y="3416046"/>
              <a:ext cx="4072890" cy="2712720"/>
            </a:xfrm>
            <a:custGeom>
              <a:avLst/>
              <a:gdLst/>
              <a:ahLst/>
              <a:cxnLst/>
              <a:rect l="l" t="t" r="r" b="b"/>
              <a:pathLst>
                <a:path w="4072890" h="2712720">
                  <a:moveTo>
                    <a:pt x="4072890" y="2711196"/>
                  </a:moveTo>
                  <a:lnTo>
                    <a:pt x="4072890" y="1523"/>
                  </a:lnTo>
                  <a:lnTo>
                    <a:pt x="4071366" y="0"/>
                  </a:lnTo>
                  <a:lnTo>
                    <a:pt x="2285" y="0"/>
                  </a:lnTo>
                  <a:lnTo>
                    <a:pt x="0" y="1524"/>
                  </a:lnTo>
                  <a:lnTo>
                    <a:pt x="0" y="2711196"/>
                  </a:lnTo>
                  <a:lnTo>
                    <a:pt x="2286" y="2712720"/>
                  </a:lnTo>
                  <a:lnTo>
                    <a:pt x="4571" y="2712720"/>
                  </a:lnTo>
                  <a:lnTo>
                    <a:pt x="4572" y="8382"/>
                  </a:lnTo>
                  <a:lnTo>
                    <a:pt x="8382" y="3810"/>
                  </a:lnTo>
                  <a:lnTo>
                    <a:pt x="8382" y="8382"/>
                  </a:lnTo>
                  <a:lnTo>
                    <a:pt x="4064507" y="8381"/>
                  </a:lnTo>
                  <a:lnTo>
                    <a:pt x="4064507" y="3809"/>
                  </a:lnTo>
                  <a:lnTo>
                    <a:pt x="4069079" y="8381"/>
                  </a:lnTo>
                  <a:lnTo>
                    <a:pt x="4069079" y="2712720"/>
                  </a:lnTo>
                  <a:lnTo>
                    <a:pt x="4071366" y="2712720"/>
                  </a:lnTo>
                  <a:lnTo>
                    <a:pt x="4072890" y="2711196"/>
                  </a:lnTo>
                  <a:close/>
                </a:path>
                <a:path w="4072890" h="2712720">
                  <a:moveTo>
                    <a:pt x="8382" y="8382"/>
                  </a:moveTo>
                  <a:lnTo>
                    <a:pt x="8382" y="3810"/>
                  </a:lnTo>
                  <a:lnTo>
                    <a:pt x="4572" y="8382"/>
                  </a:lnTo>
                  <a:lnTo>
                    <a:pt x="8382" y="8382"/>
                  </a:lnTo>
                  <a:close/>
                </a:path>
                <a:path w="4072890" h="2712720">
                  <a:moveTo>
                    <a:pt x="8382" y="2704338"/>
                  </a:moveTo>
                  <a:lnTo>
                    <a:pt x="8382" y="8382"/>
                  </a:lnTo>
                  <a:lnTo>
                    <a:pt x="4572" y="8382"/>
                  </a:lnTo>
                  <a:lnTo>
                    <a:pt x="4572" y="2704338"/>
                  </a:lnTo>
                  <a:lnTo>
                    <a:pt x="8382" y="2704338"/>
                  </a:lnTo>
                  <a:close/>
                </a:path>
                <a:path w="4072890" h="2712720">
                  <a:moveTo>
                    <a:pt x="4069079" y="2704337"/>
                  </a:moveTo>
                  <a:lnTo>
                    <a:pt x="4572" y="2704338"/>
                  </a:lnTo>
                  <a:lnTo>
                    <a:pt x="8382" y="2708148"/>
                  </a:lnTo>
                  <a:lnTo>
                    <a:pt x="8381" y="2712720"/>
                  </a:lnTo>
                  <a:lnTo>
                    <a:pt x="4064507" y="2712720"/>
                  </a:lnTo>
                  <a:lnTo>
                    <a:pt x="4064507" y="2708148"/>
                  </a:lnTo>
                  <a:lnTo>
                    <a:pt x="4069079" y="2704337"/>
                  </a:lnTo>
                  <a:close/>
                </a:path>
                <a:path w="4072890" h="2712720">
                  <a:moveTo>
                    <a:pt x="8381" y="2712720"/>
                  </a:moveTo>
                  <a:lnTo>
                    <a:pt x="8382" y="2708148"/>
                  </a:lnTo>
                  <a:lnTo>
                    <a:pt x="4572" y="2704338"/>
                  </a:lnTo>
                  <a:lnTo>
                    <a:pt x="4571" y="2712720"/>
                  </a:lnTo>
                  <a:lnTo>
                    <a:pt x="8381" y="2712720"/>
                  </a:lnTo>
                  <a:close/>
                </a:path>
                <a:path w="4072890" h="2712720">
                  <a:moveTo>
                    <a:pt x="4069079" y="8381"/>
                  </a:moveTo>
                  <a:lnTo>
                    <a:pt x="4064507" y="3809"/>
                  </a:lnTo>
                  <a:lnTo>
                    <a:pt x="4064507" y="8381"/>
                  </a:lnTo>
                  <a:lnTo>
                    <a:pt x="4069079" y="8381"/>
                  </a:lnTo>
                  <a:close/>
                </a:path>
                <a:path w="4072890" h="2712720">
                  <a:moveTo>
                    <a:pt x="4069079" y="2704337"/>
                  </a:moveTo>
                  <a:lnTo>
                    <a:pt x="4069079" y="8381"/>
                  </a:lnTo>
                  <a:lnTo>
                    <a:pt x="4064507" y="8381"/>
                  </a:lnTo>
                  <a:lnTo>
                    <a:pt x="4064507" y="2704337"/>
                  </a:lnTo>
                  <a:lnTo>
                    <a:pt x="4069079" y="2704337"/>
                  </a:lnTo>
                  <a:close/>
                </a:path>
                <a:path w="4072890" h="2712720">
                  <a:moveTo>
                    <a:pt x="4069079" y="2712720"/>
                  </a:moveTo>
                  <a:lnTo>
                    <a:pt x="4069079" y="2704337"/>
                  </a:lnTo>
                  <a:lnTo>
                    <a:pt x="4064507" y="2708148"/>
                  </a:lnTo>
                  <a:lnTo>
                    <a:pt x="4064507" y="2712720"/>
                  </a:lnTo>
                  <a:lnTo>
                    <a:pt x="4069079" y="2712720"/>
                  </a:lnTo>
                  <a:close/>
                </a:path>
              </a:pathLst>
            </a:custGeom>
            <a:solidFill>
              <a:srgbClr val="000000"/>
            </a:solidFill>
          </p:spPr>
          <p:txBody>
            <a:bodyPr wrap="square" lIns="0" tIns="0" rIns="0" bIns="0" rtlCol="0"/>
            <a:lstStyle/>
            <a:p>
              <a:endParaRPr/>
            </a:p>
          </p:txBody>
        </p:sp>
      </p:grpSp>
      <p:sp>
        <p:nvSpPr>
          <p:cNvPr id="12" name="object 12"/>
          <p:cNvSpPr txBox="1"/>
          <p:nvPr/>
        </p:nvSpPr>
        <p:spPr>
          <a:xfrm>
            <a:off x="7648318" y="3992074"/>
            <a:ext cx="1436370" cy="603250"/>
          </a:xfrm>
          <a:prstGeom prst="rect">
            <a:avLst/>
          </a:prstGeom>
        </p:spPr>
        <p:txBody>
          <a:bodyPr vert="horz" wrap="square" lIns="0" tIns="64135" rIns="0" bIns="0" rtlCol="0">
            <a:spAutoFit/>
          </a:bodyPr>
          <a:lstStyle/>
          <a:p>
            <a:pPr marL="12700">
              <a:lnSpc>
                <a:spcPct val="100000"/>
              </a:lnSpc>
              <a:spcBef>
                <a:spcPts val="505"/>
              </a:spcBef>
            </a:pPr>
            <a:r>
              <a:rPr sz="1550" spc="30" dirty="0">
                <a:solidFill>
                  <a:srgbClr val="31DDFF"/>
                </a:solidFill>
                <a:latin typeface="Calibri"/>
                <a:cs typeface="Calibri"/>
              </a:rPr>
              <a:t>// </a:t>
            </a:r>
            <a:r>
              <a:rPr sz="1550" spc="-10" dirty="0">
                <a:solidFill>
                  <a:srgbClr val="31DDFF"/>
                </a:solidFill>
                <a:latin typeface="Calibri"/>
                <a:cs typeface="Calibri"/>
              </a:rPr>
              <a:t>gt</a:t>
            </a:r>
            <a:r>
              <a:rPr sz="1550" spc="-10" dirty="0">
                <a:solidFill>
                  <a:srgbClr val="31DDFF"/>
                </a:solidFill>
                <a:latin typeface="微软雅黑"/>
                <a:cs typeface="微软雅黑"/>
              </a:rPr>
              <a:t>的默认赋值</a:t>
            </a:r>
            <a:endParaRPr sz="1550">
              <a:latin typeface="微软雅黑"/>
              <a:cs typeface="微软雅黑"/>
            </a:endParaRPr>
          </a:p>
          <a:p>
            <a:pPr marL="13970">
              <a:lnSpc>
                <a:spcPct val="100000"/>
              </a:lnSpc>
              <a:spcBef>
                <a:spcPts val="415"/>
              </a:spcBef>
            </a:pPr>
            <a:r>
              <a:rPr sz="1550" spc="30" dirty="0">
                <a:solidFill>
                  <a:srgbClr val="31DDFF"/>
                </a:solidFill>
                <a:latin typeface="Calibri"/>
                <a:cs typeface="Calibri"/>
              </a:rPr>
              <a:t>// </a:t>
            </a:r>
            <a:r>
              <a:rPr sz="1550" dirty="0">
                <a:solidFill>
                  <a:srgbClr val="31DDFF"/>
                </a:solidFill>
                <a:latin typeface="Calibri"/>
                <a:cs typeface="Calibri"/>
              </a:rPr>
              <a:t>eq</a:t>
            </a:r>
            <a:r>
              <a:rPr sz="1550" spc="-10" dirty="0">
                <a:solidFill>
                  <a:srgbClr val="31DDFF"/>
                </a:solidFill>
                <a:latin typeface="微软雅黑"/>
                <a:cs typeface="微软雅黑"/>
              </a:rPr>
              <a:t>的默认赋值</a:t>
            </a:r>
            <a:endParaRPr sz="1550">
              <a:latin typeface="微软雅黑"/>
              <a:cs typeface="微软雅黑"/>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p:nvPr/>
        </p:nvSpPr>
        <p:spPr>
          <a:xfrm>
            <a:off x="6292732" y="3992074"/>
            <a:ext cx="1353185" cy="2046605"/>
          </a:xfrm>
          <a:prstGeom prst="rect">
            <a:avLst/>
          </a:prstGeom>
        </p:spPr>
        <p:txBody>
          <a:bodyPr vert="horz" wrap="square" lIns="0" tIns="11430" rIns="0" bIns="0" rtlCol="0">
            <a:spAutoFit/>
          </a:bodyPr>
          <a:lstStyle/>
          <a:p>
            <a:pPr marL="196215" marR="250825" indent="137795" algn="just">
              <a:lnSpc>
                <a:spcPct val="122300"/>
              </a:lnSpc>
              <a:spcBef>
                <a:spcPts val="90"/>
              </a:spcBef>
            </a:pPr>
            <a:r>
              <a:rPr sz="1550" dirty="0">
                <a:latin typeface="Calibri"/>
                <a:cs typeface="Calibri"/>
              </a:rPr>
              <a:t>gt =</a:t>
            </a:r>
            <a:r>
              <a:rPr sz="1550" spc="10" dirty="0">
                <a:latin typeface="Calibri"/>
                <a:cs typeface="Calibri"/>
              </a:rPr>
              <a:t> </a:t>
            </a:r>
            <a:r>
              <a:rPr sz="1550" spc="-10" dirty="0">
                <a:latin typeface="Calibri"/>
                <a:cs typeface="Calibri"/>
              </a:rPr>
              <a:t>1'b0; </a:t>
            </a:r>
            <a:r>
              <a:rPr sz="1550" dirty="0">
                <a:latin typeface="Calibri"/>
                <a:cs typeface="Calibri"/>
              </a:rPr>
              <a:t>eq</a:t>
            </a:r>
            <a:r>
              <a:rPr sz="1550" spc="30" dirty="0">
                <a:latin typeface="Calibri"/>
                <a:cs typeface="Calibri"/>
              </a:rPr>
              <a:t> </a:t>
            </a:r>
            <a:r>
              <a:rPr sz="1550" dirty="0">
                <a:latin typeface="Calibri"/>
                <a:cs typeface="Calibri"/>
              </a:rPr>
              <a:t>=</a:t>
            </a:r>
            <a:r>
              <a:rPr sz="1550" spc="20" dirty="0">
                <a:latin typeface="Calibri"/>
                <a:cs typeface="Calibri"/>
              </a:rPr>
              <a:t> </a:t>
            </a:r>
            <a:r>
              <a:rPr sz="1550" spc="-10" dirty="0">
                <a:latin typeface="Calibri"/>
                <a:cs typeface="Calibri"/>
              </a:rPr>
              <a:t>1'b0; </a:t>
            </a:r>
            <a:r>
              <a:rPr sz="1550" b="1" dirty="0">
                <a:latin typeface="Calibri"/>
                <a:cs typeface="Calibri"/>
              </a:rPr>
              <a:t>if</a:t>
            </a:r>
            <a:r>
              <a:rPr sz="1550" b="1" spc="25" dirty="0">
                <a:latin typeface="Calibri"/>
                <a:cs typeface="Calibri"/>
              </a:rPr>
              <a:t> </a:t>
            </a:r>
            <a:r>
              <a:rPr sz="1550" dirty="0">
                <a:latin typeface="Calibri"/>
                <a:cs typeface="Calibri"/>
              </a:rPr>
              <a:t>(a</a:t>
            </a:r>
            <a:r>
              <a:rPr sz="1550" spc="20" dirty="0">
                <a:latin typeface="Calibri"/>
                <a:cs typeface="Calibri"/>
              </a:rPr>
              <a:t> </a:t>
            </a:r>
            <a:r>
              <a:rPr sz="1550" dirty="0">
                <a:latin typeface="Calibri"/>
                <a:cs typeface="Calibri"/>
              </a:rPr>
              <a:t>&gt;</a:t>
            </a:r>
            <a:r>
              <a:rPr sz="1550" spc="25" dirty="0">
                <a:latin typeface="Calibri"/>
                <a:cs typeface="Calibri"/>
              </a:rPr>
              <a:t> </a:t>
            </a:r>
            <a:r>
              <a:rPr sz="1550" spc="-25" dirty="0">
                <a:latin typeface="Calibri"/>
                <a:cs typeface="Calibri"/>
              </a:rPr>
              <a:t>b)</a:t>
            </a:r>
            <a:endParaRPr sz="1550">
              <a:latin typeface="Calibri"/>
              <a:cs typeface="Calibri"/>
            </a:endParaRPr>
          </a:p>
          <a:p>
            <a:pPr marL="426084" algn="just">
              <a:lnSpc>
                <a:spcPct val="100000"/>
              </a:lnSpc>
              <a:spcBef>
                <a:spcPts val="415"/>
              </a:spcBef>
            </a:pPr>
            <a:r>
              <a:rPr sz="1550" dirty="0">
                <a:latin typeface="Calibri"/>
                <a:cs typeface="Calibri"/>
              </a:rPr>
              <a:t>gt =</a:t>
            </a:r>
            <a:r>
              <a:rPr sz="1550" spc="15" dirty="0">
                <a:latin typeface="Calibri"/>
                <a:cs typeface="Calibri"/>
              </a:rPr>
              <a:t> </a:t>
            </a:r>
            <a:r>
              <a:rPr sz="1550" spc="-10" dirty="0">
                <a:latin typeface="Calibri"/>
                <a:cs typeface="Calibri"/>
              </a:rPr>
              <a:t>1'b1;</a:t>
            </a:r>
            <a:endParaRPr sz="1550">
              <a:latin typeface="Calibri"/>
              <a:cs typeface="Calibri"/>
            </a:endParaRPr>
          </a:p>
          <a:p>
            <a:pPr marL="426084" marR="5080" indent="-230504" algn="just">
              <a:lnSpc>
                <a:spcPts val="2270"/>
              </a:lnSpc>
              <a:spcBef>
                <a:spcPts val="145"/>
              </a:spcBef>
            </a:pPr>
            <a:r>
              <a:rPr sz="1550" b="1" dirty="0">
                <a:latin typeface="Calibri"/>
                <a:cs typeface="Calibri"/>
              </a:rPr>
              <a:t>else</a:t>
            </a:r>
            <a:r>
              <a:rPr sz="1550" b="1" spc="10" dirty="0">
                <a:latin typeface="Calibri"/>
                <a:cs typeface="Calibri"/>
              </a:rPr>
              <a:t> </a:t>
            </a:r>
            <a:r>
              <a:rPr sz="1550" dirty="0">
                <a:latin typeface="Calibri"/>
                <a:cs typeface="Calibri"/>
              </a:rPr>
              <a:t>if</a:t>
            </a:r>
            <a:r>
              <a:rPr sz="1550" spc="30" dirty="0">
                <a:latin typeface="Calibri"/>
                <a:cs typeface="Calibri"/>
              </a:rPr>
              <a:t> </a:t>
            </a:r>
            <a:r>
              <a:rPr sz="1550" dirty="0">
                <a:latin typeface="Calibri"/>
                <a:cs typeface="Calibri"/>
              </a:rPr>
              <a:t>(a</a:t>
            </a:r>
            <a:r>
              <a:rPr sz="1550" spc="30" dirty="0">
                <a:latin typeface="Calibri"/>
                <a:cs typeface="Calibri"/>
              </a:rPr>
              <a:t> </a:t>
            </a:r>
            <a:r>
              <a:rPr sz="1550" dirty="0">
                <a:latin typeface="Calibri"/>
                <a:cs typeface="Calibri"/>
              </a:rPr>
              <a:t>==</a:t>
            </a:r>
            <a:r>
              <a:rPr sz="1550" spc="30" dirty="0">
                <a:latin typeface="Calibri"/>
                <a:cs typeface="Calibri"/>
              </a:rPr>
              <a:t> </a:t>
            </a:r>
            <a:r>
              <a:rPr sz="1550" spc="-25" dirty="0">
                <a:latin typeface="Calibri"/>
                <a:cs typeface="Calibri"/>
              </a:rPr>
              <a:t>b) </a:t>
            </a:r>
            <a:r>
              <a:rPr sz="1550" dirty="0">
                <a:latin typeface="Calibri"/>
                <a:cs typeface="Calibri"/>
              </a:rPr>
              <a:t>eq</a:t>
            </a:r>
            <a:r>
              <a:rPr sz="1550" spc="15" dirty="0">
                <a:latin typeface="Calibri"/>
                <a:cs typeface="Calibri"/>
              </a:rPr>
              <a:t> </a:t>
            </a:r>
            <a:r>
              <a:rPr sz="1550" dirty="0">
                <a:latin typeface="Calibri"/>
                <a:cs typeface="Calibri"/>
              </a:rPr>
              <a:t>=</a:t>
            </a:r>
            <a:r>
              <a:rPr sz="1550" spc="25" dirty="0">
                <a:latin typeface="Calibri"/>
                <a:cs typeface="Calibri"/>
              </a:rPr>
              <a:t> </a:t>
            </a:r>
            <a:r>
              <a:rPr sz="1550" spc="-10" dirty="0">
                <a:latin typeface="Calibri"/>
                <a:cs typeface="Calibri"/>
              </a:rPr>
              <a:t>1’b1;</a:t>
            </a:r>
            <a:endParaRPr sz="1550">
              <a:latin typeface="Calibri"/>
              <a:cs typeface="Calibri"/>
            </a:endParaRPr>
          </a:p>
          <a:p>
            <a:pPr marL="12700">
              <a:lnSpc>
                <a:spcPct val="100000"/>
              </a:lnSpc>
              <a:spcBef>
                <a:spcPts val="270"/>
              </a:spcBef>
            </a:pPr>
            <a:r>
              <a:rPr sz="1550" b="1" spc="-25" dirty="0">
                <a:latin typeface="Calibri"/>
                <a:cs typeface="Calibri"/>
              </a:rPr>
              <a:t>end</a:t>
            </a:r>
            <a:endParaRPr sz="1550">
              <a:latin typeface="Calibri"/>
              <a:cs typeface="Calibri"/>
            </a:endParaRPr>
          </a:p>
        </p:txBody>
      </p:sp>
      <p:sp>
        <p:nvSpPr>
          <p:cNvPr id="14" name="object 14"/>
          <p:cNvSpPr txBox="1"/>
          <p:nvPr/>
        </p:nvSpPr>
        <p:spPr>
          <a:xfrm>
            <a:off x="5805811" y="1691429"/>
            <a:ext cx="4507865" cy="2327275"/>
          </a:xfrm>
          <a:prstGeom prst="rect">
            <a:avLst/>
          </a:prstGeom>
        </p:spPr>
        <p:txBody>
          <a:bodyPr vert="horz" wrap="square" lIns="0" tIns="12700" rIns="0" bIns="0" rtlCol="0">
            <a:spAutoFit/>
          </a:bodyPr>
          <a:lstStyle/>
          <a:p>
            <a:pPr marL="212725" marR="5080" indent="-200660">
              <a:lnSpc>
                <a:spcPct val="150300"/>
              </a:lnSpc>
              <a:spcBef>
                <a:spcPts val="100"/>
              </a:spcBef>
              <a:buSzPct val="94285"/>
              <a:buFont typeface="Wingdings"/>
              <a:buChar char=""/>
              <a:tabLst>
                <a:tab pos="212725" algn="l"/>
              </a:tabLst>
            </a:pPr>
            <a:r>
              <a:rPr sz="1750" dirty="0">
                <a:latin typeface="微软雅黑"/>
                <a:cs typeface="微软雅黑"/>
              </a:rPr>
              <a:t>在</a:t>
            </a:r>
            <a:r>
              <a:rPr sz="1750" dirty="0">
                <a:latin typeface="Arial"/>
                <a:cs typeface="Arial"/>
              </a:rPr>
              <a:t>always</a:t>
            </a:r>
            <a:r>
              <a:rPr sz="1750" spc="-5" dirty="0">
                <a:latin typeface="微软雅黑"/>
                <a:cs typeface="微软雅黑"/>
              </a:rPr>
              <a:t>块的起始部分，给每个变量赋默</a:t>
            </a:r>
            <a:r>
              <a:rPr sz="1750" spc="-50" dirty="0">
                <a:latin typeface="微软雅黑"/>
                <a:cs typeface="微软雅黑"/>
              </a:rPr>
              <a:t> </a:t>
            </a:r>
            <a:r>
              <a:rPr sz="1750" spc="-5" dirty="0">
                <a:latin typeface="微软雅黑"/>
                <a:cs typeface="微软雅黑"/>
              </a:rPr>
              <a:t>认值，以包含未指定的分支和未赋值变量，</a:t>
            </a:r>
            <a:r>
              <a:rPr sz="1750" dirty="0">
                <a:latin typeface="微软雅黑"/>
                <a:cs typeface="微软雅黑"/>
              </a:rPr>
              <a:t>代码如下所示，如果</a:t>
            </a:r>
            <a:r>
              <a:rPr sz="1750" dirty="0">
                <a:latin typeface="Arial"/>
                <a:cs typeface="Arial"/>
              </a:rPr>
              <a:t>gt</a:t>
            </a:r>
            <a:r>
              <a:rPr sz="1750" dirty="0">
                <a:latin typeface="微软雅黑"/>
                <a:cs typeface="微软雅黑"/>
              </a:rPr>
              <a:t>和</a:t>
            </a:r>
            <a:r>
              <a:rPr sz="1750" dirty="0">
                <a:latin typeface="Arial"/>
                <a:cs typeface="Arial"/>
              </a:rPr>
              <a:t>eq</a:t>
            </a:r>
            <a:r>
              <a:rPr sz="1750" spc="-10" dirty="0">
                <a:latin typeface="微软雅黑"/>
                <a:cs typeface="微软雅黑"/>
              </a:rPr>
              <a:t>之后未赋值，则</a:t>
            </a:r>
            <a:r>
              <a:rPr sz="1750" dirty="0">
                <a:latin typeface="微软雅黑"/>
                <a:cs typeface="微软雅黑"/>
              </a:rPr>
              <a:t>认为是</a:t>
            </a:r>
            <a:r>
              <a:rPr sz="1750" spc="-20" dirty="0">
                <a:latin typeface="Arial"/>
                <a:cs typeface="Arial"/>
              </a:rPr>
              <a:t>0</a:t>
            </a:r>
            <a:r>
              <a:rPr sz="1750" spc="-50" dirty="0">
                <a:latin typeface="微软雅黑"/>
                <a:cs typeface="微软雅黑"/>
              </a:rPr>
              <a:t>。</a:t>
            </a:r>
            <a:endParaRPr sz="1750">
              <a:latin typeface="微软雅黑"/>
              <a:cs typeface="微软雅黑"/>
            </a:endParaRPr>
          </a:p>
          <a:p>
            <a:pPr marL="269875">
              <a:lnSpc>
                <a:spcPct val="100000"/>
              </a:lnSpc>
              <a:spcBef>
                <a:spcPts val="1355"/>
              </a:spcBef>
            </a:pPr>
            <a:r>
              <a:rPr sz="1550" b="1" dirty="0">
                <a:latin typeface="Calibri"/>
                <a:cs typeface="Calibri"/>
              </a:rPr>
              <a:t>always</a:t>
            </a:r>
            <a:r>
              <a:rPr sz="1550" b="1" spc="10" dirty="0">
                <a:latin typeface="Calibri"/>
                <a:cs typeface="Calibri"/>
              </a:rPr>
              <a:t> </a:t>
            </a:r>
            <a:r>
              <a:rPr sz="1550" spc="-25" dirty="0">
                <a:latin typeface="Calibri"/>
                <a:cs typeface="Calibri"/>
              </a:rPr>
              <a:t>@*</a:t>
            </a:r>
            <a:endParaRPr sz="1550">
              <a:latin typeface="Calibri"/>
              <a:cs typeface="Calibri"/>
            </a:endParaRPr>
          </a:p>
          <a:p>
            <a:pPr marL="591185">
              <a:lnSpc>
                <a:spcPct val="100000"/>
              </a:lnSpc>
              <a:spcBef>
                <a:spcPts val="415"/>
              </a:spcBef>
            </a:pPr>
            <a:r>
              <a:rPr sz="1550" b="1" spc="-10" dirty="0">
                <a:latin typeface="Calibri"/>
                <a:cs typeface="Calibri"/>
              </a:rPr>
              <a:t>begin</a:t>
            </a:r>
            <a:endParaRPr sz="155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grpSp>
        <p:nvGrpSpPr>
          <p:cNvPr id="3" name="object 3"/>
          <p:cNvGrpSpPr/>
          <p:nvPr/>
        </p:nvGrpSpPr>
        <p:grpSpPr>
          <a:xfrm>
            <a:off x="3668915" y="2951988"/>
            <a:ext cx="2741930" cy="2129790"/>
            <a:chOff x="3668915" y="2951988"/>
            <a:chExt cx="2741930" cy="2129790"/>
          </a:xfrm>
        </p:grpSpPr>
        <p:sp>
          <p:nvSpPr>
            <p:cNvPr id="4" name="object 4"/>
            <p:cNvSpPr/>
            <p:nvPr/>
          </p:nvSpPr>
          <p:spPr>
            <a:xfrm>
              <a:off x="3672725" y="2956560"/>
              <a:ext cx="2733675" cy="2121535"/>
            </a:xfrm>
            <a:custGeom>
              <a:avLst/>
              <a:gdLst/>
              <a:ahLst/>
              <a:cxnLst/>
              <a:rect l="l" t="t" r="r" b="b"/>
              <a:pathLst>
                <a:path w="2733675" h="2121535">
                  <a:moveTo>
                    <a:pt x="2733293" y="2121408"/>
                  </a:moveTo>
                  <a:lnTo>
                    <a:pt x="2733293" y="0"/>
                  </a:lnTo>
                  <a:lnTo>
                    <a:pt x="0" y="0"/>
                  </a:lnTo>
                  <a:lnTo>
                    <a:pt x="0" y="2121408"/>
                  </a:lnTo>
                  <a:lnTo>
                    <a:pt x="2733293" y="2121408"/>
                  </a:lnTo>
                  <a:close/>
                </a:path>
              </a:pathLst>
            </a:custGeom>
            <a:solidFill>
              <a:srgbClr val="BAF3FF"/>
            </a:solidFill>
          </p:spPr>
          <p:txBody>
            <a:bodyPr wrap="square" lIns="0" tIns="0" rIns="0" bIns="0" rtlCol="0"/>
            <a:lstStyle/>
            <a:p>
              <a:endParaRPr/>
            </a:p>
          </p:txBody>
        </p:sp>
        <p:sp>
          <p:nvSpPr>
            <p:cNvPr id="5" name="object 5"/>
            <p:cNvSpPr/>
            <p:nvPr/>
          </p:nvSpPr>
          <p:spPr>
            <a:xfrm>
              <a:off x="3668915" y="2951988"/>
              <a:ext cx="2741930" cy="2129790"/>
            </a:xfrm>
            <a:custGeom>
              <a:avLst/>
              <a:gdLst/>
              <a:ahLst/>
              <a:cxnLst/>
              <a:rect l="l" t="t" r="r" b="b"/>
              <a:pathLst>
                <a:path w="2741929" h="2129790">
                  <a:moveTo>
                    <a:pt x="2741676" y="2128266"/>
                  </a:moveTo>
                  <a:lnTo>
                    <a:pt x="2741676" y="2286"/>
                  </a:lnTo>
                  <a:lnTo>
                    <a:pt x="2739390" y="0"/>
                  </a:lnTo>
                  <a:lnTo>
                    <a:pt x="1523" y="0"/>
                  </a:lnTo>
                  <a:lnTo>
                    <a:pt x="0" y="2286"/>
                  </a:lnTo>
                  <a:lnTo>
                    <a:pt x="0" y="2128266"/>
                  </a:lnTo>
                  <a:lnTo>
                    <a:pt x="1524" y="2129790"/>
                  </a:lnTo>
                  <a:lnTo>
                    <a:pt x="3810" y="2129790"/>
                  </a:lnTo>
                  <a:lnTo>
                    <a:pt x="3810" y="8382"/>
                  </a:lnTo>
                  <a:lnTo>
                    <a:pt x="8382" y="4572"/>
                  </a:lnTo>
                  <a:lnTo>
                    <a:pt x="8381" y="8382"/>
                  </a:lnTo>
                  <a:lnTo>
                    <a:pt x="2733294" y="8382"/>
                  </a:lnTo>
                  <a:lnTo>
                    <a:pt x="2733294" y="4572"/>
                  </a:lnTo>
                  <a:lnTo>
                    <a:pt x="2737104" y="8382"/>
                  </a:lnTo>
                  <a:lnTo>
                    <a:pt x="2737104" y="2129790"/>
                  </a:lnTo>
                  <a:lnTo>
                    <a:pt x="2739390" y="2129790"/>
                  </a:lnTo>
                  <a:lnTo>
                    <a:pt x="2741676" y="2128266"/>
                  </a:lnTo>
                  <a:close/>
                </a:path>
                <a:path w="2741929" h="2129790">
                  <a:moveTo>
                    <a:pt x="8382" y="8382"/>
                  </a:moveTo>
                  <a:lnTo>
                    <a:pt x="8382" y="4572"/>
                  </a:lnTo>
                  <a:lnTo>
                    <a:pt x="3810" y="8382"/>
                  </a:lnTo>
                  <a:lnTo>
                    <a:pt x="8382" y="8382"/>
                  </a:lnTo>
                  <a:close/>
                </a:path>
                <a:path w="2741929" h="2129790">
                  <a:moveTo>
                    <a:pt x="8382" y="2122170"/>
                  </a:moveTo>
                  <a:lnTo>
                    <a:pt x="8382" y="8382"/>
                  </a:lnTo>
                  <a:lnTo>
                    <a:pt x="3810" y="8382"/>
                  </a:lnTo>
                  <a:lnTo>
                    <a:pt x="3810" y="2122170"/>
                  </a:lnTo>
                  <a:lnTo>
                    <a:pt x="8382" y="2122170"/>
                  </a:lnTo>
                  <a:close/>
                </a:path>
                <a:path w="2741929" h="2129790">
                  <a:moveTo>
                    <a:pt x="2737104" y="2122170"/>
                  </a:moveTo>
                  <a:lnTo>
                    <a:pt x="3810" y="2122170"/>
                  </a:lnTo>
                  <a:lnTo>
                    <a:pt x="8382" y="2125980"/>
                  </a:lnTo>
                  <a:lnTo>
                    <a:pt x="8382" y="2129790"/>
                  </a:lnTo>
                  <a:lnTo>
                    <a:pt x="2733294" y="2129790"/>
                  </a:lnTo>
                  <a:lnTo>
                    <a:pt x="2733294" y="2125980"/>
                  </a:lnTo>
                  <a:lnTo>
                    <a:pt x="2737104" y="2122170"/>
                  </a:lnTo>
                  <a:close/>
                </a:path>
                <a:path w="2741929" h="2129790">
                  <a:moveTo>
                    <a:pt x="8382" y="2129790"/>
                  </a:moveTo>
                  <a:lnTo>
                    <a:pt x="8382" y="2125980"/>
                  </a:lnTo>
                  <a:lnTo>
                    <a:pt x="3810" y="2122170"/>
                  </a:lnTo>
                  <a:lnTo>
                    <a:pt x="3810" y="2129790"/>
                  </a:lnTo>
                  <a:lnTo>
                    <a:pt x="8382" y="2129790"/>
                  </a:lnTo>
                  <a:close/>
                </a:path>
                <a:path w="2741929" h="2129790">
                  <a:moveTo>
                    <a:pt x="2737104" y="8382"/>
                  </a:moveTo>
                  <a:lnTo>
                    <a:pt x="2733294" y="4572"/>
                  </a:lnTo>
                  <a:lnTo>
                    <a:pt x="2733294" y="8382"/>
                  </a:lnTo>
                  <a:lnTo>
                    <a:pt x="2737104" y="8382"/>
                  </a:lnTo>
                  <a:close/>
                </a:path>
                <a:path w="2741929" h="2129790">
                  <a:moveTo>
                    <a:pt x="2737104" y="2122170"/>
                  </a:moveTo>
                  <a:lnTo>
                    <a:pt x="2737104" y="8382"/>
                  </a:lnTo>
                  <a:lnTo>
                    <a:pt x="2733294" y="8382"/>
                  </a:lnTo>
                  <a:lnTo>
                    <a:pt x="2733294" y="2122170"/>
                  </a:lnTo>
                  <a:lnTo>
                    <a:pt x="2737104" y="2122170"/>
                  </a:lnTo>
                  <a:close/>
                </a:path>
                <a:path w="2741929" h="2129790">
                  <a:moveTo>
                    <a:pt x="2737104" y="2129790"/>
                  </a:moveTo>
                  <a:lnTo>
                    <a:pt x="2737104" y="2122170"/>
                  </a:lnTo>
                  <a:lnTo>
                    <a:pt x="2733294" y="2125980"/>
                  </a:lnTo>
                  <a:lnTo>
                    <a:pt x="2733294" y="2129790"/>
                  </a:lnTo>
                  <a:lnTo>
                    <a:pt x="2737104" y="2129790"/>
                  </a:lnTo>
                  <a:close/>
                </a:path>
              </a:pathLst>
            </a:custGeom>
            <a:solidFill>
              <a:srgbClr val="000000"/>
            </a:solidFill>
          </p:spPr>
          <p:txBody>
            <a:bodyPr wrap="square" lIns="0" tIns="0" rIns="0" bIns="0" rtlCol="0"/>
            <a:lstStyle/>
            <a:p>
              <a:endParaRPr/>
            </a:p>
          </p:txBody>
        </p:sp>
      </p:grpSp>
      <p:sp>
        <p:nvSpPr>
          <p:cNvPr id="6" name="object 6"/>
          <p:cNvSpPr txBox="1"/>
          <p:nvPr/>
        </p:nvSpPr>
        <p:spPr>
          <a:xfrm>
            <a:off x="712603" y="1817006"/>
            <a:ext cx="8649335" cy="3676015"/>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如果</a:t>
            </a:r>
            <a:r>
              <a:rPr sz="2100" b="1" dirty="0">
                <a:solidFill>
                  <a:srgbClr val="3E3E3E"/>
                </a:solidFill>
                <a:latin typeface="Arial"/>
                <a:cs typeface="Arial"/>
              </a:rPr>
              <a:t>case</a:t>
            </a:r>
            <a:r>
              <a:rPr sz="2100" b="1" dirty="0">
                <a:solidFill>
                  <a:srgbClr val="3E3E3E"/>
                </a:solidFill>
                <a:latin typeface="微软雅黑"/>
                <a:cs typeface="微软雅黑"/>
              </a:rPr>
              <a:t>语句表达式的某些值未被分项表达式包含（即不是</a:t>
            </a:r>
            <a:r>
              <a:rPr sz="2100" b="1" spc="-10" dirty="0">
                <a:solidFill>
                  <a:srgbClr val="3E3E3E"/>
                </a:solidFill>
                <a:latin typeface="Arial"/>
                <a:cs typeface="Arial"/>
              </a:rPr>
              <a:t>full-</a:t>
            </a:r>
            <a:r>
              <a:rPr sz="2100" b="1" dirty="0">
                <a:solidFill>
                  <a:srgbClr val="3E3E3E"/>
                </a:solidFill>
                <a:latin typeface="Arial"/>
                <a:cs typeface="Arial"/>
              </a:rPr>
              <a:t>case</a:t>
            </a:r>
            <a:r>
              <a:rPr sz="2100" b="1" spc="-50" dirty="0">
                <a:solidFill>
                  <a:srgbClr val="3E3E3E"/>
                </a:solidFill>
                <a:latin typeface="微软雅黑"/>
                <a:cs typeface="微软雅黑"/>
              </a:rPr>
              <a:t>语</a:t>
            </a:r>
            <a:r>
              <a:rPr sz="2100" b="1" dirty="0">
                <a:solidFill>
                  <a:srgbClr val="3E3E3E"/>
                </a:solidFill>
                <a:latin typeface="微软雅黑"/>
                <a:cs typeface="微软雅黑"/>
              </a:rPr>
              <a:t>句</a:t>
            </a:r>
            <a:r>
              <a:rPr sz="2100" b="1" spc="-10" dirty="0">
                <a:solidFill>
                  <a:srgbClr val="3E3E3E"/>
                </a:solidFill>
                <a:latin typeface="微软雅黑"/>
                <a:cs typeface="微软雅黑"/>
              </a:rPr>
              <a:t>），</a:t>
            </a:r>
            <a:r>
              <a:rPr sz="2100" b="1" spc="-10" dirty="0">
                <a:solidFill>
                  <a:srgbClr val="3E3E3E"/>
                </a:solidFill>
                <a:latin typeface="Arial"/>
                <a:cs typeface="Arial"/>
              </a:rPr>
              <a:t>case</a:t>
            </a:r>
            <a:r>
              <a:rPr sz="2100" b="1" spc="-15" dirty="0">
                <a:solidFill>
                  <a:srgbClr val="3E3E3E"/>
                </a:solidFill>
                <a:latin typeface="微软雅黑"/>
                <a:cs typeface="微软雅黑"/>
              </a:rPr>
              <a:t>语句也会产生相同的错误，思考以下代码：</a:t>
            </a:r>
            <a:endParaRPr sz="2100">
              <a:latin typeface="微软雅黑"/>
              <a:cs typeface="微软雅黑"/>
            </a:endParaRPr>
          </a:p>
          <a:p>
            <a:pPr marL="3274695">
              <a:lnSpc>
                <a:spcPct val="100000"/>
              </a:lnSpc>
              <a:spcBef>
                <a:spcPts val="1760"/>
              </a:spcBef>
            </a:pPr>
            <a:r>
              <a:rPr sz="1550" b="1" dirty="0">
                <a:latin typeface="Calibri"/>
                <a:cs typeface="Calibri"/>
              </a:rPr>
              <a:t>reg</a:t>
            </a:r>
            <a:r>
              <a:rPr sz="1550" b="1" spc="370" dirty="0">
                <a:latin typeface="Calibri"/>
                <a:cs typeface="Calibri"/>
              </a:rPr>
              <a:t> </a:t>
            </a:r>
            <a:r>
              <a:rPr sz="1550" dirty="0">
                <a:latin typeface="Calibri"/>
                <a:cs typeface="Calibri"/>
              </a:rPr>
              <a:t>[1:0]</a:t>
            </a:r>
            <a:r>
              <a:rPr sz="1550" spc="20" dirty="0">
                <a:latin typeface="Calibri"/>
                <a:cs typeface="Calibri"/>
              </a:rPr>
              <a:t> </a:t>
            </a:r>
            <a:r>
              <a:rPr sz="1550" spc="-25" dirty="0">
                <a:latin typeface="Calibri"/>
                <a:cs typeface="Calibri"/>
              </a:rPr>
              <a:t>s;</a:t>
            </a:r>
            <a:endParaRPr sz="1550">
              <a:latin typeface="Calibri"/>
              <a:cs typeface="Calibri"/>
            </a:endParaRPr>
          </a:p>
          <a:p>
            <a:pPr marL="3274060">
              <a:lnSpc>
                <a:spcPct val="100000"/>
              </a:lnSpc>
              <a:spcBef>
                <a:spcPts val="409"/>
              </a:spcBef>
            </a:pPr>
            <a:r>
              <a:rPr sz="1550" spc="-25" dirty="0">
                <a:latin typeface="Calibri"/>
                <a:cs typeface="Calibri"/>
              </a:rPr>
              <a:t>···</a:t>
            </a:r>
            <a:endParaRPr sz="1550">
              <a:latin typeface="Calibri"/>
              <a:cs typeface="Calibri"/>
            </a:endParaRPr>
          </a:p>
          <a:p>
            <a:pPr marL="3223260">
              <a:lnSpc>
                <a:spcPct val="100000"/>
              </a:lnSpc>
              <a:spcBef>
                <a:spcPts val="409"/>
              </a:spcBef>
            </a:pPr>
            <a:r>
              <a:rPr sz="1550" b="1" dirty="0">
                <a:latin typeface="Calibri"/>
                <a:cs typeface="Calibri"/>
              </a:rPr>
              <a:t>case</a:t>
            </a:r>
            <a:r>
              <a:rPr sz="1550" b="1" spc="25" dirty="0">
                <a:latin typeface="Calibri"/>
                <a:cs typeface="Calibri"/>
              </a:rPr>
              <a:t> </a:t>
            </a:r>
            <a:r>
              <a:rPr sz="1550" spc="-25" dirty="0">
                <a:latin typeface="Calibri"/>
                <a:cs typeface="Calibri"/>
              </a:rPr>
              <a:t>(s)</a:t>
            </a:r>
            <a:endParaRPr sz="1550">
              <a:latin typeface="Calibri"/>
              <a:cs typeface="Calibri"/>
            </a:endParaRPr>
          </a:p>
          <a:p>
            <a:pPr marR="575310" algn="ctr">
              <a:lnSpc>
                <a:spcPct val="100000"/>
              </a:lnSpc>
              <a:spcBef>
                <a:spcPts val="415"/>
              </a:spcBef>
            </a:pPr>
            <a:r>
              <a:rPr sz="1550" dirty="0">
                <a:latin typeface="Calibri"/>
                <a:cs typeface="Calibri"/>
              </a:rPr>
              <a:t>2'b00:</a:t>
            </a:r>
            <a:r>
              <a:rPr sz="1550" spc="40" dirty="0">
                <a:latin typeface="Calibri"/>
                <a:cs typeface="Calibri"/>
              </a:rPr>
              <a:t> </a:t>
            </a:r>
            <a:r>
              <a:rPr sz="1550" dirty="0">
                <a:latin typeface="Calibri"/>
                <a:cs typeface="Calibri"/>
              </a:rPr>
              <a:t>y</a:t>
            </a:r>
            <a:r>
              <a:rPr sz="1550" spc="15" dirty="0">
                <a:latin typeface="Calibri"/>
                <a:cs typeface="Calibri"/>
              </a:rPr>
              <a:t> </a:t>
            </a:r>
            <a:r>
              <a:rPr sz="1550" dirty="0">
                <a:latin typeface="Calibri"/>
                <a:cs typeface="Calibri"/>
              </a:rPr>
              <a:t>=</a:t>
            </a:r>
            <a:r>
              <a:rPr sz="1550" spc="25" dirty="0">
                <a:latin typeface="Calibri"/>
                <a:cs typeface="Calibri"/>
              </a:rPr>
              <a:t> </a:t>
            </a:r>
            <a:r>
              <a:rPr sz="1550" spc="-10" dirty="0">
                <a:latin typeface="Calibri"/>
                <a:cs typeface="Calibri"/>
              </a:rPr>
              <a:t>1’b1;</a:t>
            </a:r>
            <a:endParaRPr sz="1550">
              <a:latin typeface="Calibri"/>
              <a:cs typeface="Calibri"/>
            </a:endParaRPr>
          </a:p>
          <a:p>
            <a:pPr marR="575310" algn="ctr">
              <a:lnSpc>
                <a:spcPct val="100000"/>
              </a:lnSpc>
              <a:spcBef>
                <a:spcPts val="414"/>
              </a:spcBef>
            </a:pPr>
            <a:r>
              <a:rPr sz="1550" dirty="0">
                <a:latin typeface="Calibri"/>
                <a:cs typeface="Calibri"/>
              </a:rPr>
              <a:t>2'b10:</a:t>
            </a:r>
            <a:r>
              <a:rPr sz="1550" spc="40" dirty="0">
                <a:latin typeface="Calibri"/>
                <a:cs typeface="Calibri"/>
              </a:rPr>
              <a:t> </a:t>
            </a:r>
            <a:r>
              <a:rPr sz="1550" dirty="0">
                <a:latin typeface="Calibri"/>
                <a:cs typeface="Calibri"/>
              </a:rPr>
              <a:t>y</a:t>
            </a:r>
            <a:r>
              <a:rPr sz="1550" spc="15" dirty="0">
                <a:latin typeface="Calibri"/>
                <a:cs typeface="Calibri"/>
              </a:rPr>
              <a:t> </a:t>
            </a:r>
            <a:r>
              <a:rPr sz="1550" dirty="0">
                <a:latin typeface="Calibri"/>
                <a:cs typeface="Calibri"/>
              </a:rPr>
              <a:t>=</a:t>
            </a:r>
            <a:r>
              <a:rPr sz="1550" spc="25" dirty="0">
                <a:latin typeface="Calibri"/>
                <a:cs typeface="Calibri"/>
              </a:rPr>
              <a:t> </a:t>
            </a:r>
            <a:r>
              <a:rPr sz="1550" spc="-10" dirty="0">
                <a:latin typeface="Calibri"/>
                <a:cs typeface="Calibri"/>
              </a:rPr>
              <a:t>1’b0;</a:t>
            </a:r>
            <a:endParaRPr sz="1550">
              <a:latin typeface="Calibri"/>
              <a:cs typeface="Calibri"/>
            </a:endParaRPr>
          </a:p>
          <a:p>
            <a:pPr marR="535940" algn="ctr">
              <a:lnSpc>
                <a:spcPct val="100000"/>
              </a:lnSpc>
              <a:spcBef>
                <a:spcPts val="409"/>
              </a:spcBef>
            </a:pPr>
            <a:r>
              <a:rPr sz="1550" dirty="0">
                <a:latin typeface="Calibri"/>
                <a:cs typeface="Calibri"/>
              </a:rPr>
              <a:t>2'b11:</a:t>
            </a:r>
            <a:r>
              <a:rPr sz="1550" spc="40" dirty="0">
                <a:latin typeface="Calibri"/>
                <a:cs typeface="Calibri"/>
              </a:rPr>
              <a:t> </a:t>
            </a:r>
            <a:r>
              <a:rPr sz="1550" dirty="0">
                <a:latin typeface="Calibri"/>
                <a:cs typeface="Calibri"/>
              </a:rPr>
              <a:t>y</a:t>
            </a:r>
            <a:r>
              <a:rPr sz="1550" spc="15" dirty="0">
                <a:latin typeface="Calibri"/>
                <a:cs typeface="Calibri"/>
              </a:rPr>
              <a:t> </a:t>
            </a:r>
            <a:r>
              <a:rPr sz="1550" dirty="0">
                <a:latin typeface="Calibri"/>
                <a:cs typeface="Calibri"/>
              </a:rPr>
              <a:t>=</a:t>
            </a:r>
            <a:r>
              <a:rPr sz="1550" spc="25" dirty="0">
                <a:latin typeface="Calibri"/>
                <a:cs typeface="Calibri"/>
              </a:rPr>
              <a:t> </a:t>
            </a:r>
            <a:r>
              <a:rPr sz="1550" spc="-20" dirty="0">
                <a:latin typeface="Calibri"/>
                <a:cs typeface="Calibri"/>
              </a:rPr>
              <a:t>1’b1</a:t>
            </a:r>
            <a:r>
              <a:rPr sz="1200" i="1" spc="-20" dirty="0">
                <a:latin typeface="Courier New"/>
                <a:cs typeface="Courier New"/>
              </a:rPr>
              <a:t>;</a:t>
            </a:r>
            <a:endParaRPr sz="1200">
              <a:latin typeface="Courier New"/>
              <a:cs typeface="Courier New"/>
            </a:endParaRPr>
          </a:p>
          <a:p>
            <a:pPr marR="1414145" algn="ctr">
              <a:lnSpc>
                <a:spcPct val="100000"/>
              </a:lnSpc>
              <a:spcBef>
                <a:spcPts val="409"/>
              </a:spcBef>
            </a:pPr>
            <a:r>
              <a:rPr sz="1550" b="1" spc="-10" dirty="0">
                <a:latin typeface="Calibri"/>
                <a:cs typeface="Calibri"/>
              </a:rPr>
              <a:t>endcase</a:t>
            </a:r>
            <a:endParaRPr sz="1550">
              <a:latin typeface="Calibri"/>
              <a:cs typeface="Calibri"/>
            </a:endParaRPr>
          </a:p>
          <a:p>
            <a:pPr marL="130175" algn="ctr">
              <a:lnSpc>
                <a:spcPct val="100000"/>
              </a:lnSpc>
              <a:spcBef>
                <a:spcPts val="1810"/>
              </a:spcBef>
            </a:pPr>
            <a:r>
              <a:rPr sz="1750" dirty="0">
                <a:solidFill>
                  <a:srgbClr val="FF0000"/>
                </a:solidFill>
                <a:latin typeface="微软雅黑"/>
                <a:cs typeface="微软雅黑"/>
              </a:rPr>
              <a:t>没有任何分支包含</a:t>
            </a:r>
            <a:r>
              <a:rPr sz="1750" spc="-20" dirty="0">
                <a:solidFill>
                  <a:srgbClr val="FF0000"/>
                </a:solidFill>
                <a:latin typeface="Arial"/>
                <a:cs typeface="Arial"/>
              </a:rPr>
              <a:t>2’b01</a:t>
            </a:r>
            <a:r>
              <a:rPr sz="1750" spc="-15" dirty="0">
                <a:latin typeface="微软雅黑"/>
                <a:cs typeface="微软雅黑"/>
              </a:rPr>
              <a:t>，这会综合出意外的锁存器。</a:t>
            </a:r>
            <a:endParaRPr sz="175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latin typeface="Arial"/>
                <a:cs typeface="Arial"/>
              </a:rPr>
              <a:t>3.4.1</a:t>
            </a:r>
            <a:r>
              <a:rPr spc="-15" dirty="0"/>
              <a:t>组合电路代码中的常见错误</a:t>
            </a:r>
          </a:p>
        </p:txBody>
      </p:sp>
      <p:sp>
        <p:nvSpPr>
          <p:cNvPr id="3" name="object 3"/>
          <p:cNvSpPr txBox="1"/>
          <p:nvPr/>
        </p:nvSpPr>
        <p:spPr>
          <a:xfrm>
            <a:off x="679837" y="1861210"/>
            <a:ext cx="7141209" cy="1842770"/>
          </a:xfrm>
          <a:prstGeom prst="rect">
            <a:avLst/>
          </a:prstGeom>
        </p:spPr>
        <p:txBody>
          <a:bodyPr vert="horz" wrap="square" lIns="0" tIns="146685" rIns="0" bIns="0" rtlCol="0">
            <a:spAutoFit/>
          </a:bodyPr>
          <a:lstStyle/>
          <a:p>
            <a:pPr marL="222250" indent="-211454">
              <a:lnSpc>
                <a:spcPct val="100000"/>
              </a:lnSpc>
              <a:spcBef>
                <a:spcPts val="1155"/>
              </a:spcBef>
              <a:buClr>
                <a:srgbClr val="EC891C"/>
              </a:buClr>
              <a:buSzPct val="83333"/>
              <a:buFont typeface="Wingdings"/>
              <a:buChar char=""/>
              <a:tabLst>
                <a:tab pos="222250" algn="l"/>
              </a:tabLst>
            </a:pPr>
            <a:r>
              <a:rPr sz="2100" dirty="0">
                <a:solidFill>
                  <a:srgbClr val="3E3E3E"/>
                </a:solidFill>
                <a:latin typeface="微软雅黑"/>
                <a:cs typeface="微软雅黑"/>
              </a:rPr>
              <a:t>必须保证任何时候</a:t>
            </a:r>
            <a:r>
              <a:rPr sz="2100" dirty="0">
                <a:solidFill>
                  <a:srgbClr val="3E3E3E"/>
                </a:solidFill>
                <a:latin typeface="Arial"/>
                <a:cs typeface="Arial"/>
              </a:rPr>
              <a:t>y</a:t>
            </a:r>
            <a:r>
              <a:rPr sz="2100" spc="-20" dirty="0">
                <a:solidFill>
                  <a:srgbClr val="3E3E3E"/>
                </a:solidFill>
                <a:latin typeface="微软雅黑"/>
                <a:cs typeface="微软雅黑"/>
              </a:rPr>
              <a:t>都被赋值</a:t>
            </a:r>
            <a:endParaRPr sz="2100">
              <a:latin typeface="微软雅黑"/>
              <a:cs typeface="微软雅黑"/>
            </a:endParaRPr>
          </a:p>
          <a:p>
            <a:pPr marL="222250" indent="-211454">
              <a:lnSpc>
                <a:spcPct val="100000"/>
              </a:lnSpc>
              <a:spcBef>
                <a:spcPts val="1055"/>
              </a:spcBef>
              <a:buClr>
                <a:srgbClr val="EC891C"/>
              </a:buClr>
              <a:buSzPct val="83333"/>
              <a:buFont typeface="Wingdings"/>
              <a:buChar char=""/>
              <a:tabLst>
                <a:tab pos="222250" algn="l"/>
              </a:tabLst>
            </a:pPr>
            <a:r>
              <a:rPr sz="2100" dirty="0">
                <a:solidFill>
                  <a:srgbClr val="3E3E3E"/>
                </a:solidFill>
                <a:latin typeface="微软雅黑"/>
                <a:cs typeface="微软雅黑"/>
              </a:rPr>
              <a:t>采用关键字</a:t>
            </a:r>
            <a:r>
              <a:rPr sz="2100" spc="-10" dirty="0">
                <a:solidFill>
                  <a:srgbClr val="3E3E3E"/>
                </a:solidFill>
                <a:latin typeface="Arial"/>
                <a:cs typeface="Arial"/>
              </a:rPr>
              <a:t>default</a:t>
            </a:r>
            <a:r>
              <a:rPr sz="2100" spc="-10" dirty="0">
                <a:solidFill>
                  <a:srgbClr val="3E3E3E"/>
                </a:solidFill>
                <a:latin typeface="微软雅黑"/>
                <a:cs typeface="微软雅黑"/>
              </a:rPr>
              <a:t>以包含所有未指定值，如（</a:t>
            </a:r>
            <a:r>
              <a:rPr sz="2100" spc="-10" dirty="0">
                <a:solidFill>
                  <a:srgbClr val="3E3E3E"/>
                </a:solidFill>
                <a:latin typeface="Arial"/>
                <a:cs typeface="Arial"/>
              </a:rPr>
              <a:t>1</a:t>
            </a:r>
            <a:r>
              <a:rPr sz="2100" spc="-10" dirty="0">
                <a:solidFill>
                  <a:srgbClr val="3E3E3E"/>
                </a:solidFill>
                <a:latin typeface="微软雅黑"/>
                <a:cs typeface="微软雅黑"/>
              </a:rPr>
              <a:t>）</a:t>
            </a:r>
            <a:r>
              <a:rPr sz="2100" spc="-50" dirty="0">
                <a:solidFill>
                  <a:srgbClr val="3E3E3E"/>
                </a:solidFill>
                <a:latin typeface="微软雅黑"/>
                <a:cs typeface="微软雅黑"/>
              </a:rPr>
              <a:t>。</a:t>
            </a:r>
            <a:endParaRPr sz="2100">
              <a:latin typeface="微软雅黑"/>
              <a:cs typeface="微软雅黑"/>
            </a:endParaRPr>
          </a:p>
          <a:p>
            <a:pPr marL="222250" indent="-211454">
              <a:lnSpc>
                <a:spcPct val="100000"/>
              </a:lnSpc>
              <a:spcBef>
                <a:spcPts val="1055"/>
              </a:spcBef>
              <a:buClr>
                <a:srgbClr val="EC891C"/>
              </a:buClr>
              <a:buSzPct val="83333"/>
              <a:buFont typeface="Wingdings"/>
              <a:buChar char=""/>
              <a:tabLst>
                <a:tab pos="222250" algn="l"/>
              </a:tabLst>
            </a:pPr>
            <a:r>
              <a:rPr sz="2100" spc="-10" dirty="0">
                <a:solidFill>
                  <a:srgbClr val="3E3E3E"/>
                </a:solidFill>
                <a:latin typeface="微软雅黑"/>
                <a:cs typeface="微软雅黑"/>
              </a:rPr>
              <a:t>也可以用以下代码替代最后一 条分支项表达式，如（</a:t>
            </a:r>
            <a:r>
              <a:rPr sz="2100" spc="-10" dirty="0">
                <a:solidFill>
                  <a:srgbClr val="3E3E3E"/>
                </a:solidFill>
                <a:latin typeface="Arial"/>
                <a:cs typeface="Arial"/>
              </a:rPr>
              <a:t>2</a:t>
            </a:r>
            <a:r>
              <a:rPr sz="2100" spc="-10" dirty="0">
                <a:solidFill>
                  <a:srgbClr val="3E3E3E"/>
                </a:solidFill>
                <a:latin typeface="微软雅黑"/>
                <a:cs typeface="微软雅黑"/>
              </a:rPr>
              <a:t>）</a:t>
            </a:r>
            <a:r>
              <a:rPr sz="2100" spc="-50" dirty="0">
                <a:solidFill>
                  <a:srgbClr val="3E3E3E"/>
                </a:solidFill>
                <a:latin typeface="微软雅黑"/>
                <a:cs typeface="微软雅黑"/>
              </a:rPr>
              <a:t>。</a:t>
            </a:r>
            <a:endParaRPr sz="2100">
              <a:latin typeface="微软雅黑"/>
              <a:cs typeface="微软雅黑"/>
            </a:endParaRPr>
          </a:p>
          <a:p>
            <a:pPr marL="222250" indent="-211454">
              <a:lnSpc>
                <a:spcPct val="100000"/>
              </a:lnSpc>
              <a:spcBef>
                <a:spcPts val="1060"/>
              </a:spcBef>
              <a:buClr>
                <a:srgbClr val="EC891C"/>
              </a:buClr>
              <a:buSzPct val="83333"/>
              <a:buFont typeface="Wingdings"/>
              <a:buChar char=""/>
              <a:tabLst>
                <a:tab pos="222250" algn="l"/>
              </a:tabLst>
            </a:pPr>
            <a:r>
              <a:rPr sz="2100" dirty="0">
                <a:solidFill>
                  <a:srgbClr val="3E3E3E"/>
                </a:solidFill>
                <a:latin typeface="微软雅黑"/>
                <a:cs typeface="微软雅黑"/>
              </a:rPr>
              <a:t>在</a:t>
            </a:r>
            <a:r>
              <a:rPr sz="2100" spc="-10" dirty="0">
                <a:solidFill>
                  <a:srgbClr val="3E3E3E"/>
                </a:solidFill>
                <a:latin typeface="Arial"/>
                <a:cs typeface="Arial"/>
              </a:rPr>
              <a:t>always</a:t>
            </a:r>
            <a:r>
              <a:rPr sz="2100" spc="-10" dirty="0">
                <a:solidFill>
                  <a:srgbClr val="3E3E3E"/>
                </a:solidFill>
                <a:latin typeface="微软雅黑"/>
                <a:cs typeface="微软雅黑"/>
              </a:rPr>
              <a:t>块的开始部分赋给一个默认值，如（</a:t>
            </a:r>
            <a:r>
              <a:rPr sz="2100" spc="-10" dirty="0">
                <a:solidFill>
                  <a:srgbClr val="3E3E3E"/>
                </a:solidFill>
                <a:latin typeface="Arial"/>
                <a:cs typeface="Arial"/>
              </a:rPr>
              <a:t>3</a:t>
            </a:r>
            <a:r>
              <a:rPr sz="2100" spc="-10" dirty="0">
                <a:solidFill>
                  <a:srgbClr val="3E3E3E"/>
                </a:solidFill>
                <a:latin typeface="微软雅黑"/>
                <a:cs typeface="微软雅黑"/>
              </a:rPr>
              <a:t>）</a:t>
            </a:r>
            <a:r>
              <a:rPr sz="2100" spc="-50" dirty="0">
                <a:solidFill>
                  <a:srgbClr val="3E3E3E"/>
                </a:solidFill>
                <a:latin typeface="微软雅黑"/>
                <a:cs typeface="微软雅黑"/>
              </a:rPr>
              <a:t>。</a:t>
            </a:r>
            <a:endParaRPr sz="2100">
              <a:latin typeface="微软雅黑"/>
              <a:cs typeface="微软雅黑"/>
            </a:endParaRPr>
          </a:p>
        </p:txBody>
      </p:sp>
      <p:grpSp>
        <p:nvGrpSpPr>
          <p:cNvPr id="4" name="object 4"/>
          <p:cNvGrpSpPr/>
          <p:nvPr/>
        </p:nvGrpSpPr>
        <p:grpSpPr>
          <a:xfrm>
            <a:off x="1085735" y="3974591"/>
            <a:ext cx="2243455" cy="1838325"/>
            <a:chOff x="1085735" y="3974591"/>
            <a:chExt cx="2243455" cy="1838325"/>
          </a:xfrm>
        </p:grpSpPr>
        <p:sp>
          <p:nvSpPr>
            <p:cNvPr id="5" name="object 5"/>
            <p:cNvSpPr/>
            <p:nvPr/>
          </p:nvSpPr>
          <p:spPr>
            <a:xfrm>
              <a:off x="1089545" y="3978401"/>
              <a:ext cx="2235200" cy="1830705"/>
            </a:xfrm>
            <a:custGeom>
              <a:avLst/>
              <a:gdLst/>
              <a:ahLst/>
              <a:cxnLst/>
              <a:rect l="l" t="t" r="r" b="b"/>
              <a:pathLst>
                <a:path w="2235200" h="1830704">
                  <a:moveTo>
                    <a:pt x="2234945" y="1830324"/>
                  </a:moveTo>
                  <a:lnTo>
                    <a:pt x="2234945" y="0"/>
                  </a:lnTo>
                  <a:lnTo>
                    <a:pt x="0" y="0"/>
                  </a:lnTo>
                  <a:lnTo>
                    <a:pt x="0" y="1830324"/>
                  </a:lnTo>
                  <a:lnTo>
                    <a:pt x="2234945" y="1830324"/>
                  </a:lnTo>
                  <a:close/>
                </a:path>
              </a:pathLst>
            </a:custGeom>
            <a:solidFill>
              <a:srgbClr val="F9FABA"/>
            </a:solidFill>
          </p:spPr>
          <p:txBody>
            <a:bodyPr wrap="square" lIns="0" tIns="0" rIns="0" bIns="0" rtlCol="0"/>
            <a:lstStyle/>
            <a:p>
              <a:endParaRPr/>
            </a:p>
          </p:txBody>
        </p:sp>
        <p:sp>
          <p:nvSpPr>
            <p:cNvPr id="6" name="object 6"/>
            <p:cNvSpPr/>
            <p:nvPr/>
          </p:nvSpPr>
          <p:spPr>
            <a:xfrm>
              <a:off x="1085735" y="3974591"/>
              <a:ext cx="2243455" cy="1838325"/>
            </a:xfrm>
            <a:custGeom>
              <a:avLst/>
              <a:gdLst/>
              <a:ahLst/>
              <a:cxnLst/>
              <a:rect l="l" t="t" r="r" b="b"/>
              <a:pathLst>
                <a:path w="2243454" h="1838325">
                  <a:moveTo>
                    <a:pt x="2243328" y="1836420"/>
                  </a:moveTo>
                  <a:lnTo>
                    <a:pt x="2243328" y="1524"/>
                  </a:lnTo>
                  <a:lnTo>
                    <a:pt x="2241042" y="0"/>
                  </a:lnTo>
                  <a:lnTo>
                    <a:pt x="1523" y="0"/>
                  </a:lnTo>
                  <a:lnTo>
                    <a:pt x="0" y="1524"/>
                  </a:lnTo>
                  <a:lnTo>
                    <a:pt x="0" y="1836420"/>
                  </a:lnTo>
                  <a:lnTo>
                    <a:pt x="1524" y="1837944"/>
                  </a:lnTo>
                  <a:lnTo>
                    <a:pt x="3810" y="1837944"/>
                  </a:lnTo>
                  <a:lnTo>
                    <a:pt x="3810" y="8382"/>
                  </a:lnTo>
                  <a:lnTo>
                    <a:pt x="8382" y="3810"/>
                  </a:lnTo>
                  <a:lnTo>
                    <a:pt x="8381" y="8382"/>
                  </a:lnTo>
                  <a:lnTo>
                    <a:pt x="2234945" y="8382"/>
                  </a:lnTo>
                  <a:lnTo>
                    <a:pt x="2234945" y="3809"/>
                  </a:lnTo>
                  <a:lnTo>
                    <a:pt x="2238756" y="8382"/>
                  </a:lnTo>
                  <a:lnTo>
                    <a:pt x="2238756" y="1837944"/>
                  </a:lnTo>
                  <a:lnTo>
                    <a:pt x="2241042" y="1837944"/>
                  </a:lnTo>
                  <a:lnTo>
                    <a:pt x="2243328" y="1836420"/>
                  </a:lnTo>
                  <a:close/>
                </a:path>
                <a:path w="2243454" h="1838325">
                  <a:moveTo>
                    <a:pt x="8382" y="8382"/>
                  </a:moveTo>
                  <a:lnTo>
                    <a:pt x="8382" y="3810"/>
                  </a:lnTo>
                  <a:lnTo>
                    <a:pt x="3810" y="8382"/>
                  </a:lnTo>
                  <a:lnTo>
                    <a:pt x="8382" y="8382"/>
                  </a:lnTo>
                  <a:close/>
                </a:path>
                <a:path w="2243454" h="1838325">
                  <a:moveTo>
                    <a:pt x="8382" y="1829562"/>
                  </a:moveTo>
                  <a:lnTo>
                    <a:pt x="8382" y="8382"/>
                  </a:lnTo>
                  <a:lnTo>
                    <a:pt x="3810" y="8382"/>
                  </a:lnTo>
                  <a:lnTo>
                    <a:pt x="3810" y="1829562"/>
                  </a:lnTo>
                  <a:lnTo>
                    <a:pt x="8382" y="1829562"/>
                  </a:lnTo>
                  <a:close/>
                </a:path>
                <a:path w="2243454" h="1838325">
                  <a:moveTo>
                    <a:pt x="2238756" y="1829562"/>
                  </a:moveTo>
                  <a:lnTo>
                    <a:pt x="3810" y="1829562"/>
                  </a:lnTo>
                  <a:lnTo>
                    <a:pt x="8382" y="1834134"/>
                  </a:lnTo>
                  <a:lnTo>
                    <a:pt x="8382" y="1837944"/>
                  </a:lnTo>
                  <a:lnTo>
                    <a:pt x="2234945" y="1837944"/>
                  </a:lnTo>
                  <a:lnTo>
                    <a:pt x="2234945" y="1834134"/>
                  </a:lnTo>
                  <a:lnTo>
                    <a:pt x="2238756" y="1829562"/>
                  </a:lnTo>
                  <a:close/>
                </a:path>
                <a:path w="2243454" h="1838325">
                  <a:moveTo>
                    <a:pt x="8382" y="1837944"/>
                  </a:moveTo>
                  <a:lnTo>
                    <a:pt x="8382" y="1834134"/>
                  </a:lnTo>
                  <a:lnTo>
                    <a:pt x="3810" y="1829562"/>
                  </a:lnTo>
                  <a:lnTo>
                    <a:pt x="3810" y="1837944"/>
                  </a:lnTo>
                  <a:lnTo>
                    <a:pt x="8382" y="1837944"/>
                  </a:lnTo>
                  <a:close/>
                </a:path>
                <a:path w="2243454" h="1838325">
                  <a:moveTo>
                    <a:pt x="2238756" y="8382"/>
                  </a:moveTo>
                  <a:lnTo>
                    <a:pt x="2234945" y="3809"/>
                  </a:lnTo>
                  <a:lnTo>
                    <a:pt x="2234945" y="8382"/>
                  </a:lnTo>
                  <a:lnTo>
                    <a:pt x="2238756" y="8382"/>
                  </a:lnTo>
                  <a:close/>
                </a:path>
                <a:path w="2243454" h="1838325">
                  <a:moveTo>
                    <a:pt x="2238756" y="1829562"/>
                  </a:moveTo>
                  <a:lnTo>
                    <a:pt x="2238756" y="8382"/>
                  </a:lnTo>
                  <a:lnTo>
                    <a:pt x="2234945" y="8382"/>
                  </a:lnTo>
                  <a:lnTo>
                    <a:pt x="2234945" y="1829562"/>
                  </a:lnTo>
                  <a:lnTo>
                    <a:pt x="2238756" y="1829562"/>
                  </a:lnTo>
                  <a:close/>
                </a:path>
                <a:path w="2243454" h="1838325">
                  <a:moveTo>
                    <a:pt x="2238756" y="1837944"/>
                  </a:moveTo>
                  <a:lnTo>
                    <a:pt x="2238756" y="1829562"/>
                  </a:lnTo>
                  <a:lnTo>
                    <a:pt x="2234945" y="1834134"/>
                  </a:lnTo>
                  <a:lnTo>
                    <a:pt x="2234945" y="1837944"/>
                  </a:lnTo>
                  <a:lnTo>
                    <a:pt x="2238756" y="1837944"/>
                  </a:lnTo>
                  <a:close/>
                </a:path>
              </a:pathLst>
            </a:custGeom>
            <a:solidFill>
              <a:srgbClr val="000000"/>
            </a:solidFill>
          </p:spPr>
          <p:txBody>
            <a:bodyPr wrap="square" lIns="0" tIns="0" rIns="0" bIns="0" rtlCol="0"/>
            <a:lstStyle/>
            <a:p>
              <a:endParaRPr/>
            </a:p>
          </p:txBody>
        </p:sp>
      </p:grpSp>
      <p:sp>
        <p:nvSpPr>
          <p:cNvPr id="7" name="object 7"/>
          <p:cNvSpPr txBox="1"/>
          <p:nvPr/>
        </p:nvSpPr>
        <p:spPr>
          <a:xfrm>
            <a:off x="1212476" y="3973010"/>
            <a:ext cx="1946910" cy="1468755"/>
          </a:xfrm>
          <a:prstGeom prst="rect">
            <a:avLst/>
          </a:prstGeom>
        </p:spPr>
        <p:txBody>
          <a:bodyPr vert="horz" wrap="square" lIns="0" tIns="64135" rIns="0" bIns="0" rtlCol="0">
            <a:spAutoFit/>
          </a:bodyPr>
          <a:lstStyle/>
          <a:p>
            <a:pPr marL="12700">
              <a:lnSpc>
                <a:spcPct val="100000"/>
              </a:lnSpc>
              <a:spcBef>
                <a:spcPts val="505"/>
              </a:spcBef>
            </a:pPr>
            <a:r>
              <a:rPr sz="1550" b="1" dirty="0">
                <a:latin typeface="Arial"/>
                <a:cs typeface="Arial"/>
              </a:rPr>
              <a:t>case</a:t>
            </a:r>
            <a:r>
              <a:rPr sz="1550" b="1" spc="25" dirty="0">
                <a:latin typeface="Arial"/>
                <a:cs typeface="Arial"/>
              </a:rPr>
              <a:t> </a:t>
            </a:r>
            <a:r>
              <a:rPr sz="1550" spc="-25" dirty="0">
                <a:latin typeface="Arial"/>
                <a:cs typeface="Arial"/>
              </a:rPr>
              <a:t>(s)</a:t>
            </a:r>
            <a:endParaRPr sz="1550">
              <a:latin typeface="Arial"/>
              <a:cs typeface="Arial"/>
            </a:endParaRPr>
          </a:p>
          <a:p>
            <a:pPr marL="401955">
              <a:lnSpc>
                <a:spcPct val="100000"/>
              </a:lnSpc>
              <a:spcBef>
                <a:spcPts val="415"/>
              </a:spcBef>
            </a:pPr>
            <a:r>
              <a:rPr sz="1550" dirty="0">
                <a:latin typeface="Arial"/>
                <a:cs typeface="Arial"/>
              </a:rPr>
              <a:t>2'b00: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1’b1;</a:t>
            </a:r>
            <a:endParaRPr sz="1550">
              <a:latin typeface="Arial"/>
              <a:cs typeface="Arial"/>
            </a:endParaRPr>
          </a:p>
          <a:p>
            <a:pPr marL="401955">
              <a:lnSpc>
                <a:spcPct val="100000"/>
              </a:lnSpc>
              <a:spcBef>
                <a:spcPts val="409"/>
              </a:spcBef>
            </a:pPr>
            <a:r>
              <a:rPr sz="1550" dirty="0">
                <a:latin typeface="Arial"/>
                <a:cs typeface="Arial"/>
              </a:rPr>
              <a:t>2'b10: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1’b0;</a:t>
            </a:r>
            <a:endParaRPr sz="1550">
              <a:latin typeface="Arial"/>
              <a:cs typeface="Arial"/>
            </a:endParaRPr>
          </a:p>
          <a:p>
            <a:pPr marL="401955">
              <a:lnSpc>
                <a:spcPct val="100000"/>
              </a:lnSpc>
              <a:spcBef>
                <a:spcPts val="414"/>
              </a:spcBef>
            </a:pPr>
            <a:r>
              <a:rPr sz="1550" b="1" dirty="0">
                <a:latin typeface="Arial"/>
                <a:cs typeface="Arial"/>
              </a:rPr>
              <a:t>default</a:t>
            </a:r>
            <a:r>
              <a:rPr sz="1550" dirty="0">
                <a:latin typeface="Arial"/>
                <a:cs typeface="Arial"/>
              </a:rPr>
              <a:t>:</a:t>
            </a:r>
            <a:r>
              <a:rPr sz="1550" spc="30" dirty="0">
                <a:latin typeface="Arial"/>
                <a:cs typeface="Arial"/>
              </a:rPr>
              <a:t> </a:t>
            </a:r>
            <a:r>
              <a:rPr sz="1550" dirty="0">
                <a:latin typeface="Arial"/>
                <a:cs typeface="Arial"/>
              </a:rPr>
              <a:t>y</a:t>
            </a:r>
            <a:r>
              <a:rPr sz="1550" spc="35" dirty="0">
                <a:latin typeface="Arial"/>
                <a:cs typeface="Arial"/>
              </a:rPr>
              <a:t> </a:t>
            </a:r>
            <a:r>
              <a:rPr sz="1550" dirty="0">
                <a:latin typeface="Arial"/>
                <a:cs typeface="Arial"/>
              </a:rPr>
              <a:t>=</a:t>
            </a:r>
            <a:r>
              <a:rPr sz="1550" spc="35" dirty="0">
                <a:latin typeface="Arial"/>
                <a:cs typeface="Arial"/>
              </a:rPr>
              <a:t> </a:t>
            </a:r>
            <a:r>
              <a:rPr sz="1550" spc="-10" dirty="0">
                <a:latin typeface="Arial"/>
                <a:cs typeface="Arial"/>
              </a:rPr>
              <a:t>1’b1;</a:t>
            </a:r>
            <a:endParaRPr sz="1550">
              <a:latin typeface="Arial"/>
              <a:cs typeface="Arial"/>
            </a:endParaRPr>
          </a:p>
          <a:p>
            <a:pPr marL="12700">
              <a:lnSpc>
                <a:spcPct val="100000"/>
              </a:lnSpc>
              <a:spcBef>
                <a:spcPts val="409"/>
              </a:spcBef>
            </a:pPr>
            <a:r>
              <a:rPr sz="1550" b="1" spc="-10" dirty="0">
                <a:latin typeface="Arial"/>
                <a:cs typeface="Arial"/>
              </a:rPr>
              <a:t>endcase</a:t>
            </a:r>
            <a:endParaRPr sz="1550">
              <a:latin typeface="Arial"/>
              <a:cs typeface="Arial"/>
            </a:endParaRPr>
          </a:p>
        </p:txBody>
      </p:sp>
      <p:grpSp>
        <p:nvGrpSpPr>
          <p:cNvPr id="8" name="object 8"/>
          <p:cNvGrpSpPr/>
          <p:nvPr/>
        </p:nvGrpSpPr>
        <p:grpSpPr>
          <a:xfrm>
            <a:off x="4199267" y="3965447"/>
            <a:ext cx="2193925" cy="1838960"/>
            <a:chOff x="4199267" y="3965447"/>
            <a:chExt cx="2193925" cy="1838960"/>
          </a:xfrm>
        </p:grpSpPr>
        <p:sp>
          <p:nvSpPr>
            <p:cNvPr id="9" name="object 9"/>
            <p:cNvSpPr/>
            <p:nvPr/>
          </p:nvSpPr>
          <p:spPr>
            <a:xfrm>
              <a:off x="4203077" y="3970019"/>
              <a:ext cx="2185670" cy="1830070"/>
            </a:xfrm>
            <a:custGeom>
              <a:avLst/>
              <a:gdLst/>
              <a:ahLst/>
              <a:cxnLst/>
              <a:rect l="l" t="t" r="r" b="b"/>
              <a:pathLst>
                <a:path w="2185670" h="1830070">
                  <a:moveTo>
                    <a:pt x="2185416" y="1829562"/>
                  </a:moveTo>
                  <a:lnTo>
                    <a:pt x="2185416" y="0"/>
                  </a:lnTo>
                  <a:lnTo>
                    <a:pt x="0" y="0"/>
                  </a:lnTo>
                  <a:lnTo>
                    <a:pt x="0" y="1829562"/>
                  </a:lnTo>
                  <a:lnTo>
                    <a:pt x="2185416" y="1829562"/>
                  </a:lnTo>
                  <a:close/>
                </a:path>
              </a:pathLst>
            </a:custGeom>
            <a:solidFill>
              <a:srgbClr val="F9FABA"/>
            </a:solidFill>
          </p:spPr>
          <p:txBody>
            <a:bodyPr wrap="square" lIns="0" tIns="0" rIns="0" bIns="0" rtlCol="0"/>
            <a:lstStyle/>
            <a:p>
              <a:endParaRPr/>
            </a:p>
          </p:txBody>
        </p:sp>
        <p:sp>
          <p:nvSpPr>
            <p:cNvPr id="10" name="object 10"/>
            <p:cNvSpPr/>
            <p:nvPr/>
          </p:nvSpPr>
          <p:spPr>
            <a:xfrm>
              <a:off x="4199267" y="3965447"/>
              <a:ext cx="2193925" cy="1838960"/>
            </a:xfrm>
            <a:custGeom>
              <a:avLst/>
              <a:gdLst/>
              <a:ahLst/>
              <a:cxnLst/>
              <a:rect l="l" t="t" r="r" b="b"/>
              <a:pathLst>
                <a:path w="2193925" h="1838960">
                  <a:moveTo>
                    <a:pt x="2193798" y="1836420"/>
                  </a:moveTo>
                  <a:lnTo>
                    <a:pt x="2193798" y="2286"/>
                  </a:lnTo>
                  <a:lnTo>
                    <a:pt x="2191512" y="0"/>
                  </a:lnTo>
                  <a:lnTo>
                    <a:pt x="1523" y="0"/>
                  </a:lnTo>
                  <a:lnTo>
                    <a:pt x="0" y="2286"/>
                  </a:lnTo>
                  <a:lnTo>
                    <a:pt x="0" y="1836420"/>
                  </a:lnTo>
                  <a:lnTo>
                    <a:pt x="1524" y="1838706"/>
                  </a:lnTo>
                  <a:lnTo>
                    <a:pt x="3810" y="1838706"/>
                  </a:lnTo>
                  <a:lnTo>
                    <a:pt x="3810" y="8382"/>
                  </a:lnTo>
                  <a:lnTo>
                    <a:pt x="8381" y="4572"/>
                  </a:lnTo>
                  <a:lnTo>
                    <a:pt x="8381" y="8382"/>
                  </a:lnTo>
                  <a:lnTo>
                    <a:pt x="2185416" y="8382"/>
                  </a:lnTo>
                  <a:lnTo>
                    <a:pt x="2185416" y="4572"/>
                  </a:lnTo>
                  <a:lnTo>
                    <a:pt x="2189226" y="8382"/>
                  </a:lnTo>
                  <a:lnTo>
                    <a:pt x="2189226" y="1838706"/>
                  </a:lnTo>
                  <a:lnTo>
                    <a:pt x="2191512" y="1838706"/>
                  </a:lnTo>
                  <a:lnTo>
                    <a:pt x="2193798" y="1836420"/>
                  </a:lnTo>
                  <a:close/>
                </a:path>
                <a:path w="2193925" h="1838960">
                  <a:moveTo>
                    <a:pt x="8381" y="8382"/>
                  </a:moveTo>
                  <a:lnTo>
                    <a:pt x="8381" y="4572"/>
                  </a:lnTo>
                  <a:lnTo>
                    <a:pt x="3810" y="8382"/>
                  </a:lnTo>
                  <a:lnTo>
                    <a:pt x="8381" y="8382"/>
                  </a:lnTo>
                  <a:close/>
                </a:path>
                <a:path w="2193925" h="1838960">
                  <a:moveTo>
                    <a:pt x="8382" y="1830324"/>
                  </a:moveTo>
                  <a:lnTo>
                    <a:pt x="8381" y="8382"/>
                  </a:lnTo>
                  <a:lnTo>
                    <a:pt x="3810" y="8382"/>
                  </a:lnTo>
                  <a:lnTo>
                    <a:pt x="3810" y="1830324"/>
                  </a:lnTo>
                  <a:lnTo>
                    <a:pt x="8382" y="1830324"/>
                  </a:lnTo>
                  <a:close/>
                </a:path>
                <a:path w="2193925" h="1838960">
                  <a:moveTo>
                    <a:pt x="2189226" y="1830324"/>
                  </a:moveTo>
                  <a:lnTo>
                    <a:pt x="3810" y="1830324"/>
                  </a:lnTo>
                  <a:lnTo>
                    <a:pt x="8382" y="1834134"/>
                  </a:lnTo>
                  <a:lnTo>
                    <a:pt x="8382" y="1838706"/>
                  </a:lnTo>
                  <a:lnTo>
                    <a:pt x="2185416" y="1838706"/>
                  </a:lnTo>
                  <a:lnTo>
                    <a:pt x="2185416" y="1834134"/>
                  </a:lnTo>
                  <a:lnTo>
                    <a:pt x="2189226" y="1830324"/>
                  </a:lnTo>
                  <a:close/>
                </a:path>
                <a:path w="2193925" h="1838960">
                  <a:moveTo>
                    <a:pt x="8382" y="1838706"/>
                  </a:moveTo>
                  <a:lnTo>
                    <a:pt x="8382" y="1834134"/>
                  </a:lnTo>
                  <a:lnTo>
                    <a:pt x="3810" y="1830324"/>
                  </a:lnTo>
                  <a:lnTo>
                    <a:pt x="3810" y="1838706"/>
                  </a:lnTo>
                  <a:lnTo>
                    <a:pt x="8382" y="1838706"/>
                  </a:lnTo>
                  <a:close/>
                </a:path>
                <a:path w="2193925" h="1838960">
                  <a:moveTo>
                    <a:pt x="2189226" y="8382"/>
                  </a:moveTo>
                  <a:lnTo>
                    <a:pt x="2185416" y="4572"/>
                  </a:lnTo>
                  <a:lnTo>
                    <a:pt x="2185416" y="8382"/>
                  </a:lnTo>
                  <a:lnTo>
                    <a:pt x="2189226" y="8382"/>
                  </a:lnTo>
                  <a:close/>
                </a:path>
                <a:path w="2193925" h="1838960">
                  <a:moveTo>
                    <a:pt x="2189226" y="1830324"/>
                  </a:moveTo>
                  <a:lnTo>
                    <a:pt x="2189226" y="8382"/>
                  </a:lnTo>
                  <a:lnTo>
                    <a:pt x="2185416" y="8382"/>
                  </a:lnTo>
                  <a:lnTo>
                    <a:pt x="2185416" y="1830324"/>
                  </a:lnTo>
                  <a:lnTo>
                    <a:pt x="2189226" y="1830324"/>
                  </a:lnTo>
                  <a:close/>
                </a:path>
                <a:path w="2193925" h="1838960">
                  <a:moveTo>
                    <a:pt x="2189226" y="1838706"/>
                  </a:moveTo>
                  <a:lnTo>
                    <a:pt x="2189226" y="1830324"/>
                  </a:lnTo>
                  <a:lnTo>
                    <a:pt x="2185416" y="1834134"/>
                  </a:lnTo>
                  <a:lnTo>
                    <a:pt x="2185416" y="1838706"/>
                  </a:lnTo>
                  <a:lnTo>
                    <a:pt x="2189226" y="1838706"/>
                  </a:lnTo>
                  <a:close/>
                </a:path>
              </a:pathLst>
            </a:custGeom>
            <a:solidFill>
              <a:srgbClr val="000000"/>
            </a:solidFill>
          </p:spPr>
          <p:txBody>
            <a:bodyPr wrap="square" lIns="0" tIns="0" rIns="0" bIns="0" rtlCol="0"/>
            <a:lstStyle/>
            <a:p>
              <a:endParaRPr/>
            </a:p>
          </p:txBody>
        </p:sp>
      </p:grpSp>
      <p:sp>
        <p:nvSpPr>
          <p:cNvPr id="11" name="object 11"/>
          <p:cNvSpPr txBox="1"/>
          <p:nvPr/>
        </p:nvSpPr>
        <p:spPr>
          <a:xfrm>
            <a:off x="4326007" y="3964628"/>
            <a:ext cx="1824989" cy="2122170"/>
          </a:xfrm>
          <a:prstGeom prst="rect">
            <a:avLst/>
          </a:prstGeom>
        </p:spPr>
        <p:txBody>
          <a:bodyPr vert="horz" wrap="square" lIns="0" tIns="64135" rIns="0" bIns="0" rtlCol="0">
            <a:spAutoFit/>
          </a:bodyPr>
          <a:lstStyle/>
          <a:p>
            <a:pPr marL="12700">
              <a:lnSpc>
                <a:spcPct val="100000"/>
              </a:lnSpc>
              <a:spcBef>
                <a:spcPts val="505"/>
              </a:spcBef>
            </a:pPr>
            <a:r>
              <a:rPr sz="1550" b="1" dirty="0">
                <a:latin typeface="Arial"/>
                <a:cs typeface="Arial"/>
              </a:rPr>
              <a:t>case</a:t>
            </a:r>
            <a:r>
              <a:rPr sz="1550" b="1" spc="25" dirty="0">
                <a:latin typeface="Arial"/>
                <a:cs typeface="Arial"/>
              </a:rPr>
              <a:t> </a:t>
            </a:r>
            <a:r>
              <a:rPr sz="1550" spc="-25" dirty="0">
                <a:latin typeface="Arial"/>
                <a:cs typeface="Arial"/>
              </a:rPr>
              <a:t>(s)</a:t>
            </a:r>
            <a:endParaRPr sz="1550">
              <a:latin typeface="Arial"/>
              <a:cs typeface="Arial"/>
            </a:endParaRPr>
          </a:p>
          <a:p>
            <a:pPr marL="346075">
              <a:lnSpc>
                <a:spcPct val="100000"/>
              </a:lnSpc>
              <a:spcBef>
                <a:spcPts val="415"/>
              </a:spcBef>
            </a:pPr>
            <a:r>
              <a:rPr sz="1550" dirty="0">
                <a:latin typeface="Arial"/>
                <a:cs typeface="Arial"/>
              </a:rPr>
              <a:t>2'b00: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1'b1;</a:t>
            </a:r>
            <a:endParaRPr sz="1550">
              <a:latin typeface="Arial"/>
              <a:cs typeface="Arial"/>
            </a:endParaRPr>
          </a:p>
          <a:p>
            <a:pPr marL="346075">
              <a:lnSpc>
                <a:spcPct val="100000"/>
              </a:lnSpc>
              <a:spcBef>
                <a:spcPts val="409"/>
              </a:spcBef>
            </a:pPr>
            <a:r>
              <a:rPr sz="1550" dirty="0">
                <a:latin typeface="Arial"/>
                <a:cs typeface="Arial"/>
              </a:rPr>
              <a:t>2'b10: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1'b0;</a:t>
            </a:r>
            <a:endParaRPr sz="1550">
              <a:latin typeface="Arial"/>
              <a:cs typeface="Arial"/>
            </a:endParaRPr>
          </a:p>
          <a:p>
            <a:pPr marL="346075">
              <a:lnSpc>
                <a:spcPct val="100000"/>
              </a:lnSpc>
              <a:spcBef>
                <a:spcPts val="414"/>
              </a:spcBef>
            </a:pPr>
            <a:r>
              <a:rPr sz="1550" dirty="0">
                <a:latin typeface="Arial"/>
                <a:cs typeface="Arial"/>
              </a:rPr>
              <a:t>2'b11:</a:t>
            </a:r>
            <a:r>
              <a:rPr sz="1550" spc="-10"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10" dirty="0">
                <a:latin typeface="Arial"/>
                <a:cs typeface="Arial"/>
              </a:rPr>
              <a:t> 1'b1;</a:t>
            </a:r>
            <a:endParaRPr sz="1550">
              <a:latin typeface="Arial"/>
              <a:cs typeface="Arial"/>
            </a:endParaRPr>
          </a:p>
          <a:p>
            <a:pPr marL="346075">
              <a:lnSpc>
                <a:spcPct val="100000"/>
              </a:lnSpc>
              <a:spcBef>
                <a:spcPts val="409"/>
              </a:spcBef>
            </a:pPr>
            <a:r>
              <a:rPr sz="1550" dirty="0">
                <a:latin typeface="Arial"/>
                <a:cs typeface="Arial"/>
              </a:rPr>
              <a:t>default:</a:t>
            </a:r>
            <a:r>
              <a:rPr sz="1550" spc="40" dirty="0">
                <a:latin typeface="Arial"/>
                <a:cs typeface="Arial"/>
              </a:rPr>
              <a:t> </a:t>
            </a:r>
            <a:r>
              <a:rPr sz="1550" dirty="0">
                <a:latin typeface="Arial"/>
                <a:cs typeface="Arial"/>
              </a:rPr>
              <a:t>y</a:t>
            </a:r>
            <a:r>
              <a:rPr sz="1550" spc="25"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1’bx;</a:t>
            </a:r>
            <a:endParaRPr sz="1550">
              <a:latin typeface="Arial"/>
              <a:cs typeface="Arial"/>
            </a:endParaRPr>
          </a:p>
          <a:p>
            <a:pPr marL="12700">
              <a:lnSpc>
                <a:spcPct val="100000"/>
              </a:lnSpc>
              <a:spcBef>
                <a:spcPts val="415"/>
              </a:spcBef>
            </a:pPr>
            <a:r>
              <a:rPr sz="1550" b="1" spc="-10" dirty="0">
                <a:latin typeface="Arial"/>
                <a:cs typeface="Arial"/>
              </a:rPr>
              <a:t>endcase</a:t>
            </a:r>
            <a:endParaRPr sz="1550">
              <a:latin typeface="Arial"/>
              <a:cs typeface="Arial"/>
            </a:endParaRPr>
          </a:p>
          <a:p>
            <a:pPr marL="594360">
              <a:lnSpc>
                <a:spcPct val="100000"/>
              </a:lnSpc>
              <a:spcBef>
                <a:spcPts val="1010"/>
              </a:spcBef>
            </a:pPr>
            <a:r>
              <a:rPr sz="1550" spc="-25" dirty="0">
                <a:latin typeface="微软雅黑"/>
                <a:cs typeface="微软雅黑"/>
              </a:rPr>
              <a:t>（</a:t>
            </a:r>
            <a:r>
              <a:rPr sz="1550" spc="-25" dirty="0">
                <a:latin typeface="Arial"/>
                <a:cs typeface="Arial"/>
              </a:rPr>
              <a:t>2</a:t>
            </a:r>
            <a:r>
              <a:rPr sz="1550" spc="-25" dirty="0">
                <a:latin typeface="微软雅黑"/>
                <a:cs typeface="微软雅黑"/>
              </a:rPr>
              <a:t>）</a:t>
            </a:r>
            <a:endParaRPr sz="1550">
              <a:latin typeface="微软雅黑"/>
              <a:cs typeface="微软雅黑"/>
            </a:endParaRPr>
          </a:p>
        </p:txBody>
      </p:sp>
      <p:grpSp>
        <p:nvGrpSpPr>
          <p:cNvPr id="12" name="object 12"/>
          <p:cNvGrpSpPr/>
          <p:nvPr/>
        </p:nvGrpSpPr>
        <p:grpSpPr>
          <a:xfrm>
            <a:off x="7325753" y="3979926"/>
            <a:ext cx="2238375" cy="1790064"/>
            <a:chOff x="7325753" y="3979926"/>
            <a:chExt cx="2238375" cy="1790064"/>
          </a:xfrm>
        </p:grpSpPr>
        <p:sp>
          <p:nvSpPr>
            <p:cNvPr id="13" name="object 13"/>
            <p:cNvSpPr/>
            <p:nvPr/>
          </p:nvSpPr>
          <p:spPr>
            <a:xfrm>
              <a:off x="7329550" y="3984498"/>
              <a:ext cx="2230755" cy="1781810"/>
            </a:xfrm>
            <a:custGeom>
              <a:avLst/>
              <a:gdLst/>
              <a:ahLst/>
              <a:cxnLst/>
              <a:rect l="l" t="t" r="r" b="b"/>
              <a:pathLst>
                <a:path w="2230754" h="1781810">
                  <a:moveTo>
                    <a:pt x="2230374" y="1781555"/>
                  </a:moveTo>
                  <a:lnTo>
                    <a:pt x="2230374" y="0"/>
                  </a:lnTo>
                  <a:lnTo>
                    <a:pt x="0" y="0"/>
                  </a:lnTo>
                  <a:lnTo>
                    <a:pt x="0" y="1781555"/>
                  </a:lnTo>
                  <a:lnTo>
                    <a:pt x="2230374" y="1781555"/>
                  </a:lnTo>
                  <a:close/>
                </a:path>
              </a:pathLst>
            </a:custGeom>
            <a:solidFill>
              <a:srgbClr val="F9FABA"/>
            </a:solidFill>
          </p:spPr>
          <p:txBody>
            <a:bodyPr wrap="square" lIns="0" tIns="0" rIns="0" bIns="0" rtlCol="0"/>
            <a:lstStyle/>
            <a:p>
              <a:endParaRPr/>
            </a:p>
          </p:txBody>
        </p:sp>
        <p:sp>
          <p:nvSpPr>
            <p:cNvPr id="14" name="object 14"/>
            <p:cNvSpPr/>
            <p:nvPr/>
          </p:nvSpPr>
          <p:spPr>
            <a:xfrm>
              <a:off x="7325753" y="3979926"/>
              <a:ext cx="2238375" cy="1790064"/>
            </a:xfrm>
            <a:custGeom>
              <a:avLst/>
              <a:gdLst/>
              <a:ahLst/>
              <a:cxnLst/>
              <a:rect l="l" t="t" r="r" b="b"/>
              <a:pathLst>
                <a:path w="2238375" h="1790064">
                  <a:moveTo>
                    <a:pt x="2237994" y="1788414"/>
                  </a:moveTo>
                  <a:lnTo>
                    <a:pt x="2237994" y="2286"/>
                  </a:lnTo>
                  <a:lnTo>
                    <a:pt x="2236470" y="0"/>
                  </a:lnTo>
                  <a:lnTo>
                    <a:pt x="1523" y="0"/>
                  </a:lnTo>
                  <a:lnTo>
                    <a:pt x="0" y="2286"/>
                  </a:lnTo>
                  <a:lnTo>
                    <a:pt x="0" y="1788414"/>
                  </a:lnTo>
                  <a:lnTo>
                    <a:pt x="1524" y="1789938"/>
                  </a:lnTo>
                  <a:lnTo>
                    <a:pt x="3809" y="1789938"/>
                  </a:lnTo>
                  <a:lnTo>
                    <a:pt x="3810" y="8382"/>
                  </a:lnTo>
                  <a:lnTo>
                    <a:pt x="8381" y="4572"/>
                  </a:lnTo>
                  <a:lnTo>
                    <a:pt x="8381" y="8382"/>
                  </a:lnTo>
                  <a:lnTo>
                    <a:pt x="2229612" y="8382"/>
                  </a:lnTo>
                  <a:lnTo>
                    <a:pt x="2229612" y="4572"/>
                  </a:lnTo>
                  <a:lnTo>
                    <a:pt x="2234184" y="8382"/>
                  </a:lnTo>
                  <a:lnTo>
                    <a:pt x="2234184" y="1789938"/>
                  </a:lnTo>
                  <a:lnTo>
                    <a:pt x="2236470" y="1789938"/>
                  </a:lnTo>
                  <a:lnTo>
                    <a:pt x="2237994" y="1788414"/>
                  </a:lnTo>
                  <a:close/>
                </a:path>
                <a:path w="2238375" h="1790064">
                  <a:moveTo>
                    <a:pt x="8381" y="8382"/>
                  </a:moveTo>
                  <a:lnTo>
                    <a:pt x="8381" y="4572"/>
                  </a:lnTo>
                  <a:lnTo>
                    <a:pt x="3810" y="8382"/>
                  </a:lnTo>
                  <a:lnTo>
                    <a:pt x="8381" y="8382"/>
                  </a:lnTo>
                  <a:close/>
                </a:path>
                <a:path w="2238375" h="1790064">
                  <a:moveTo>
                    <a:pt x="8382" y="1781556"/>
                  </a:moveTo>
                  <a:lnTo>
                    <a:pt x="8381" y="8382"/>
                  </a:lnTo>
                  <a:lnTo>
                    <a:pt x="3810" y="8382"/>
                  </a:lnTo>
                  <a:lnTo>
                    <a:pt x="3810" y="1781556"/>
                  </a:lnTo>
                  <a:lnTo>
                    <a:pt x="8382" y="1781556"/>
                  </a:lnTo>
                  <a:close/>
                </a:path>
                <a:path w="2238375" h="1790064">
                  <a:moveTo>
                    <a:pt x="2234184" y="1781556"/>
                  </a:moveTo>
                  <a:lnTo>
                    <a:pt x="3810" y="1781556"/>
                  </a:lnTo>
                  <a:lnTo>
                    <a:pt x="8382" y="1786128"/>
                  </a:lnTo>
                  <a:lnTo>
                    <a:pt x="8382" y="1789938"/>
                  </a:lnTo>
                  <a:lnTo>
                    <a:pt x="2229612" y="1789938"/>
                  </a:lnTo>
                  <a:lnTo>
                    <a:pt x="2229612" y="1786128"/>
                  </a:lnTo>
                  <a:lnTo>
                    <a:pt x="2234184" y="1781556"/>
                  </a:lnTo>
                  <a:close/>
                </a:path>
                <a:path w="2238375" h="1790064">
                  <a:moveTo>
                    <a:pt x="8382" y="1789938"/>
                  </a:moveTo>
                  <a:lnTo>
                    <a:pt x="8382" y="1786128"/>
                  </a:lnTo>
                  <a:lnTo>
                    <a:pt x="3810" y="1781556"/>
                  </a:lnTo>
                  <a:lnTo>
                    <a:pt x="3809" y="1789938"/>
                  </a:lnTo>
                  <a:lnTo>
                    <a:pt x="8382" y="1789938"/>
                  </a:lnTo>
                  <a:close/>
                </a:path>
                <a:path w="2238375" h="1790064">
                  <a:moveTo>
                    <a:pt x="2234184" y="8382"/>
                  </a:moveTo>
                  <a:lnTo>
                    <a:pt x="2229612" y="4572"/>
                  </a:lnTo>
                  <a:lnTo>
                    <a:pt x="2229612" y="8382"/>
                  </a:lnTo>
                  <a:lnTo>
                    <a:pt x="2234184" y="8382"/>
                  </a:lnTo>
                  <a:close/>
                </a:path>
                <a:path w="2238375" h="1790064">
                  <a:moveTo>
                    <a:pt x="2234184" y="1781556"/>
                  </a:moveTo>
                  <a:lnTo>
                    <a:pt x="2234184" y="8382"/>
                  </a:lnTo>
                  <a:lnTo>
                    <a:pt x="2229612" y="8382"/>
                  </a:lnTo>
                  <a:lnTo>
                    <a:pt x="2229612" y="1781556"/>
                  </a:lnTo>
                  <a:lnTo>
                    <a:pt x="2234184" y="1781556"/>
                  </a:lnTo>
                  <a:close/>
                </a:path>
                <a:path w="2238375" h="1790064">
                  <a:moveTo>
                    <a:pt x="2234184" y="1789938"/>
                  </a:moveTo>
                  <a:lnTo>
                    <a:pt x="2234184" y="1781556"/>
                  </a:lnTo>
                  <a:lnTo>
                    <a:pt x="2229612" y="1786128"/>
                  </a:lnTo>
                  <a:lnTo>
                    <a:pt x="2229612" y="1789938"/>
                  </a:lnTo>
                  <a:lnTo>
                    <a:pt x="2234184" y="1789938"/>
                  </a:lnTo>
                  <a:close/>
                </a:path>
              </a:pathLst>
            </a:custGeom>
            <a:solidFill>
              <a:srgbClr val="000000"/>
            </a:solidFill>
          </p:spPr>
          <p:txBody>
            <a:bodyPr wrap="square" lIns="0" tIns="0" rIns="0" bIns="0" rtlCol="0"/>
            <a:lstStyle/>
            <a:p>
              <a:endParaRPr/>
            </a:p>
          </p:txBody>
        </p:sp>
      </p:grpSp>
      <p:sp>
        <p:nvSpPr>
          <p:cNvPr id="15" name="object 15"/>
          <p:cNvSpPr txBox="1"/>
          <p:nvPr/>
        </p:nvSpPr>
        <p:spPr>
          <a:xfrm>
            <a:off x="7452493" y="3979105"/>
            <a:ext cx="1717039" cy="2107565"/>
          </a:xfrm>
          <a:prstGeom prst="rect">
            <a:avLst/>
          </a:prstGeom>
        </p:spPr>
        <p:txBody>
          <a:bodyPr vert="horz" wrap="square" lIns="0" tIns="64135" rIns="0" bIns="0" rtlCol="0">
            <a:spAutoFit/>
          </a:bodyPr>
          <a:lstStyle/>
          <a:p>
            <a:pPr marL="12700">
              <a:lnSpc>
                <a:spcPct val="100000"/>
              </a:lnSpc>
              <a:spcBef>
                <a:spcPts val="505"/>
              </a:spcBef>
            </a:pPr>
            <a:r>
              <a:rPr sz="1550" dirty="0">
                <a:latin typeface="Arial"/>
                <a:cs typeface="Arial"/>
              </a:rPr>
              <a:t>y</a:t>
            </a:r>
            <a:r>
              <a:rPr sz="1550" spc="2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1'b0;</a:t>
            </a:r>
            <a:endParaRPr sz="1550">
              <a:latin typeface="Arial"/>
              <a:cs typeface="Arial"/>
            </a:endParaRPr>
          </a:p>
          <a:p>
            <a:pPr marL="12700">
              <a:lnSpc>
                <a:spcPct val="100000"/>
              </a:lnSpc>
              <a:spcBef>
                <a:spcPts val="415"/>
              </a:spcBef>
            </a:pPr>
            <a:r>
              <a:rPr sz="1550" b="1" dirty="0">
                <a:latin typeface="Arial"/>
                <a:cs typeface="Arial"/>
              </a:rPr>
              <a:t>case</a:t>
            </a:r>
            <a:r>
              <a:rPr sz="1550" b="1" spc="25" dirty="0">
                <a:latin typeface="Arial"/>
                <a:cs typeface="Arial"/>
              </a:rPr>
              <a:t> </a:t>
            </a:r>
            <a:r>
              <a:rPr sz="1550" b="1" spc="-25" dirty="0">
                <a:latin typeface="Arial"/>
                <a:cs typeface="Arial"/>
              </a:rPr>
              <a:t>(s)</a:t>
            </a:r>
            <a:endParaRPr sz="1550">
              <a:latin typeface="Arial"/>
              <a:cs typeface="Arial"/>
            </a:endParaRPr>
          </a:p>
          <a:p>
            <a:pPr marL="346075">
              <a:lnSpc>
                <a:spcPct val="100000"/>
              </a:lnSpc>
              <a:spcBef>
                <a:spcPts val="409"/>
              </a:spcBef>
            </a:pPr>
            <a:r>
              <a:rPr sz="1550" dirty="0">
                <a:latin typeface="Arial"/>
                <a:cs typeface="Arial"/>
              </a:rPr>
              <a:t>2'b00: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1’b1;</a:t>
            </a:r>
            <a:endParaRPr sz="1550">
              <a:latin typeface="Arial"/>
              <a:cs typeface="Arial"/>
            </a:endParaRPr>
          </a:p>
          <a:p>
            <a:pPr marL="346075">
              <a:lnSpc>
                <a:spcPct val="100000"/>
              </a:lnSpc>
              <a:spcBef>
                <a:spcPts val="414"/>
              </a:spcBef>
            </a:pPr>
            <a:r>
              <a:rPr sz="1550" dirty="0">
                <a:latin typeface="Arial"/>
                <a:cs typeface="Arial"/>
              </a:rPr>
              <a:t>2'b10:</a:t>
            </a:r>
            <a:r>
              <a:rPr sz="1550" spc="15"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1’b0;</a:t>
            </a:r>
            <a:endParaRPr sz="1550">
              <a:latin typeface="Arial"/>
              <a:cs typeface="Arial"/>
            </a:endParaRPr>
          </a:p>
          <a:p>
            <a:pPr marL="346075">
              <a:lnSpc>
                <a:spcPct val="100000"/>
              </a:lnSpc>
              <a:spcBef>
                <a:spcPts val="409"/>
              </a:spcBef>
            </a:pPr>
            <a:r>
              <a:rPr sz="1550" dirty="0">
                <a:latin typeface="Arial"/>
                <a:cs typeface="Arial"/>
              </a:rPr>
              <a:t>2'b11:</a:t>
            </a:r>
            <a:r>
              <a:rPr sz="1550" spc="-10" dirty="0">
                <a:latin typeface="Arial"/>
                <a:cs typeface="Arial"/>
              </a:rPr>
              <a:t> </a:t>
            </a:r>
            <a:r>
              <a:rPr sz="1550" dirty="0">
                <a:latin typeface="Arial"/>
                <a:cs typeface="Arial"/>
              </a:rPr>
              <a:t>y</a:t>
            </a:r>
            <a:r>
              <a:rPr sz="1550" spc="-20" dirty="0">
                <a:latin typeface="Arial"/>
                <a:cs typeface="Arial"/>
              </a:rPr>
              <a:t> </a:t>
            </a:r>
            <a:r>
              <a:rPr sz="1550" dirty="0">
                <a:latin typeface="Arial"/>
                <a:cs typeface="Arial"/>
              </a:rPr>
              <a:t>=</a:t>
            </a:r>
            <a:r>
              <a:rPr sz="1550" spc="-10" dirty="0">
                <a:latin typeface="Arial"/>
                <a:cs typeface="Arial"/>
              </a:rPr>
              <a:t> 1’b1;</a:t>
            </a:r>
            <a:endParaRPr sz="1550">
              <a:latin typeface="Arial"/>
              <a:cs typeface="Arial"/>
            </a:endParaRPr>
          </a:p>
          <a:p>
            <a:pPr marL="12700">
              <a:lnSpc>
                <a:spcPct val="100000"/>
              </a:lnSpc>
              <a:spcBef>
                <a:spcPts val="240"/>
              </a:spcBef>
            </a:pPr>
            <a:r>
              <a:rPr sz="1550" b="1" spc="-10" dirty="0">
                <a:latin typeface="Arial"/>
                <a:cs typeface="Arial"/>
              </a:rPr>
              <a:t>endcase</a:t>
            </a:r>
            <a:endParaRPr sz="1550">
              <a:latin typeface="Arial"/>
              <a:cs typeface="Arial"/>
            </a:endParaRPr>
          </a:p>
          <a:p>
            <a:pPr marL="729615">
              <a:lnSpc>
                <a:spcPct val="100000"/>
              </a:lnSpc>
              <a:spcBef>
                <a:spcPts val="1070"/>
              </a:spcBef>
            </a:pPr>
            <a:r>
              <a:rPr sz="1550" spc="-25" dirty="0">
                <a:latin typeface="微软雅黑"/>
                <a:cs typeface="微软雅黑"/>
              </a:rPr>
              <a:t>（</a:t>
            </a:r>
            <a:r>
              <a:rPr sz="1550" spc="-25" dirty="0">
                <a:latin typeface="Arial"/>
                <a:cs typeface="Arial"/>
              </a:rPr>
              <a:t>3</a:t>
            </a:r>
            <a:r>
              <a:rPr sz="1550" spc="-25" dirty="0">
                <a:latin typeface="微软雅黑"/>
                <a:cs typeface="微软雅黑"/>
              </a:rPr>
              <a:t>）</a:t>
            </a:r>
            <a:endParaRPr sz="1550">
              <a:latin typeface="微软雅黑"/>
              <a:cs typeface="微软雅黑"/>
            </a:endParaRPr>
          </a:p>
        </p:txBody>
      </p:sp>
      <p:sp>
        <p:nvSpPr>
          <p:cNvPr id="17" name="object 1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6" name="object 16"/>
          <p:cNvSpPr txBox="1"/>
          <p:nvPr/>
        </p:nvSpPr>
        <p:spPr>
          <a:xfrm>
            <a:off x="1660539" y="5820436"/>
            <a:ext cx="537845"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微软雅黑"/>
                <a:cs typeface="微软雅黑"/>
              </a:rPr>
              <a:t>（</a:t>
            </a:r>
            <a:r>
              <a:rPr sz="1550" spc="-25" dirty="0">
                <a:latin typeface="Arial"/>
                <a:cs typeface="Arial"/>
              </a:rPr>
              <a:t>1</a:t>
            </a:r>
            <a:r>
              <a:rPr sz="1550" spc="-25" dirty="0">
                <a:latin typeface="微软雅黑"/>
                <a:cs typeface="微软雅黑"/>
              </a:rPr>
              <a:t>）</a:t>
            </a:r>
            <a:endParaRPr sz="1550">
              <a:latin typeface="微软雅黑"/>
              <a:cs typeface="微软雅黑"/>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592518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3.4.2</a:t>
            </a:r>
            <a:r>
              <a:rPr spc="25" dirty="0">
                <a:latin typeface="Arial"/>
                <a:cs typeface="Arial"/>
              </a:rPr>
              <a:t> </a:t>
            </a:r>
            <a:r>
              <a:rPr dirty="0"/>
              <a:t>组合电路中</a:t>
            </a:r>
            <a:r>
              <a:rPr spc="-10" dirty="0">
                <a:latin typeface="Arial"/>
                <a:cs typeface="Arial"/>
              </a:rPr>
              <a:t>always</a:t>
            </a:r>
            <a:r>
              <a:rPr spc="-20" dirty="0"/>
              <a:t>块的使用原则</a:t>
            </a:r>
          </a:p>
        </p:txBody>
      </p:sp>
      <p:grpSp>
        <p:nvGrpSpPr>
          <p:cNvPr id="3" name="object 3"/>
          <p:cNvGrpSpPr/>
          <p:nvPr/>
        </p:nvGrpSpPr>
        <p:grpSpPr>
          <a:xfrm>
            <a:off x="1020203" y="2427732"/>
            <a:ext cx="8303259" cy="3085465"/>
            <a:chOff x="1020203" y="2427732"/>
            <a:chExt cx="8303259" cy="3085465"/>
          </a:xfrm>
        </p:grpSpPr>
        <p:sp>
          <p:nvSpPr>
            <p:cNvPr id="4" name="object 4"/>
            <p:cNvSpPr/>
            <p:nvPr/>
          </p:nvSpPr>
          <p:spPr>
            <a:xfrm>
              <a:off x="1024013" y="2431542"/>
              <a:ext cx="8294370" cy="3077210"/>
            </a:xfrm>
            <a:custGeom>
              <a:avLst/>
              <a:gdLst/>
              <a:ahLst/>
              <a:cxnLst/>
              <a:rect l="l" t="t" r="r" b="b"/>
              <a:pathLst>
                <a:path w="8294370" h="3077210">
                  <a:moveTo>
                    <a:pt x="8294370" y="3076956"/>
                  </a:moveTo>
                  <a:lnTo>
                    <a:pt x="8294370" y="0"/>
                  </a:lnTo>
                  <a:lnTo>
                    <a:pt x="0" y="0"/>
                  </a:lnTo>
                  <a:lnTo>
                    <a:pt x="0" y="3076956"/>
                  </a:lnTo>
                  <a:lnTo>
                    <a:pt x="8294370" y="3076956"/>
                  </a:lnTo>
                  <a:close/>
                </a:path>
              </a:pathLst>
            </a:custGeom>
            <a:solidFill>
              <a:srgbClr val="F9FABA"/>
            </a:solidFill>
          </p:spPr>
          <p:txBody>
            <a:bodyPr wrap="square" lIns="0" tIns="0" rIns="0" bIns="0" rtlCol="0"/>
            <a:lstStyle/>
            <a:p>
              <a:endParaRPr/>
            </a:p>
          </p:txBody>
        </p:sp>
        <p:sp>
          <p:nvSpPr>
            <p:cNvPr id="5" name="object 5"/>
            <p:cNvSpPr/>
            <p:nvPr/>
          </p:nvSpPr>
          <p:spPr>
            <a:xfrm>
              <a:off x="1020203" y="2427732"/>
              <a:ext cx="8303259" cy="3085465"/>
            </a:xfrm>
            <a:custGeom>
              <a:avLst/>
              <a:gdLst/>
              <a:ahLst/>
              <a:cxnLst/>
              <a:rect l="l" t="t" r="r" b="b"/>
              <a:pathLst>
                <a:path w="8303259" h="3085465">
                  <a:moveTo>
                    <a:pt x="8302752" y="3083052"/>
                  </a:moveTo>
                  <a:lnTo>
                    <a:pt x="8302752" y="1524"/>
                  </a:lnTo>
                  <a:lnTo>
                    <a:pt x="8300466" y="0"/>
                  </a:lnTo>
                  <a:lnTo>
                    <a:pt x="1523" y="0"/>
                  </a:lnTo>
                  <a:lnTo>
                    <a:pt x="0" y="1524"/>
                  </a:lnTo>
                  <a:lnTo>
                    <a:pt x="0" y="3083052"/>
                  </a:lnTo>
                  <a:lnTo>
                    <a:pt x="1524" y="3085338"/>
                  </a:lnTo>
                  <a:lnTo>
                    <a:pt x="3810" y="3085338"/>
                  </a:lnTo>
                  <a:lnTo>
                    <a:pt x="3810" y="8382"/>
                  </a:lnTo>
                  <a:lnTo>
                    <a:pt x="8381" y="3810"/>
                  </a:lnTo>
                  <a:lnTo>
                    <a:pt x="8381" y="8382"/>
                  </a:lnTo>
                  <a:lnTo>
                    <a:pt x="8294370" y="8382"/>
                  </a:lnTo>
                  <a:lnTo>
                    <a:pt x="8294370" y="3810"/>
                  </a:lnTo>
                  <a:lnTo>
                    <a:pt x="8298180" y="8382"/>
                  </a:lnTo>
                  <a:lnTo>
                    <a:pt x="8298180" y="3085338"/>
                  </a:lnTo>
                  <a:lnTo>
                    <a:pt x="8300466" y="3085338"/>
                  </a:lnTo>
                  <a:lnTo>
                    <a:pt x="8302752" y="3083052"/>
                  </a:lnTo>
                  <a:close/>
                </a:path>
                <a:path w="8303259" h="3085465">
                  <a:moveTo>
                    <a:pt x="8381" y="8382"/>
                  </a:moveTo>
                  <a:lnTo>
                    <a:pt x="8381" y="3810"/>
                  </a:lnTo>
                  <a:lnTo>
                    <a:pt x="3810" y="8382"/>
                  </a:lnTo>
                  <a:lnTo>
                    <a:pt x="8381" y="8382"/>
                  </a:lnTo>
                  <a:close/>
                </a:path>
                <a:path w="8303259" h="3085465">
                  <a:moveTo>
                    <a:pt x="8381" y="3076956"/>
                  </a:moveTo>
                  <a:lnTo>
                    <a:pt x="8381" y="8382"/>
                  </a:lnTo>
                  <a:lnTo>
                    <a:pt x="3810" y="8382"/>
                  </a:lnTo>
                  <a:lnTo>
                    <a:pt x="3810" y="3076956"/>
                  </a:lnTo>
                  <a:lnTo>
                    <a:pt x="8381" y="3076956"/>
                  </a:lnTo>
                  <a:close/>
                </a:path>
                <a:path w="8303259" h="3085465">
                  <a:moveTo>
                    <a:pt x="8298180" y="3076956"/>
                  </a:moveTo>
                  <a:lnTo>
                    <a:pt x="3810" y="3076956"/>
                  </a:lnTo>
                  <a:lnTo>
                    <a:pt x="8381" y="3080766"/>
                  </a:lnTo>
                  <a:lnTo>
                    <a:pt x="8382" y="3085338"/>
                  </a:lnTo>
                  <a:lnTo>
                    <a:pt x="8294370" y="3085338"/>
                  </a:lnTo>
                  <a:lnTo>
                    <a:pt x="8294370" y="3080766"/>
                  </a:lnTo>
                  <a:lnTo>
                    <a:pt x="8298180" y="3076956"/>
                  </a:lnTo>
                  <a:close/>
                </a:path>
                <a:path w="8303259" h="3085465">
                  <a:moveTo>
                    <a:pt x="8382" y="3085338"/>
                  </a:moveTo>
                  <a:lnTo>
                    <a:pt x="8381" y="3080766"/>
                  </a:lnTo>
                  <a:lnTo>
                    <a:pt x="3810" y="3076956"/>
                  </a:lnTo>
                  <a:lnTo>
                    <a:pt x="3810" y="3085338"/>
                  </a:lnTo>
                  <a:lnTo>
                    <a:pt x="8382" y="3085338"/>
                  </a:lnTo>
                  <a:close/>
                </a:path>
                <a:path w="8303259" h="3085465">
                  <a:moveTo>
                    <a:pt x="8298180" y="8382"/>
                  </a:moveTo>
                  <a:lnTo>
                    <a:pt x="8294370" y="3810"/>
                  </a:lnTo>
                  <a:lnTo>
                    <a:pt x="8294370" y="8382"/>
                  </a:lnTo>
                  <a:lnTo>
                    <a:pt x="8298180" y="8382"/>
                  </a:lnTo>
                  <a:close/>
                </a:path>
                <a:path w="8303259" h="3085465">
                  <a:moveTo>
                    <a:pt x="8298180" y="3076956"/>
                  </a:moveTo>
                  <a:lnTo>
                    <a:pt x="8298180" y="8382"/>
                  </a:lnTo>
                  <a:lnTo>
                    <a:pt x="8294370" y="8382"/>
                  </a:lnTo>
                  <a:lnTo>
                    <a:pt x="8294370" y="3076956"/>
                  </a:lnTo>
                  <a:lnTo>
                    <a:pt x="8298180" y="3076956"/>
                  </a:lnTo>
                  <a:close/>
                </a:path>
                <a:path w="8303259" h="3085465">
                  <a:moveTo>
                    <a:pt x="8298180" y="3085338"/>
                  </a:moveTo>
                  <a:lnTo>
                    <a:pt x="8298180" y="3076956"/>
                  </a:lnTo>
                  <a:lnTo>
                    <a:pt x="8294370" y="3080766"/>
                  </a:lnTo>
                  <a:lnTo>
                    <a:pt x="8294370" y="3085338"/>
                  </a:lnTo>
                  <a:lnTo>
                    <a:pt x="8298180" y="3085338"/>
                  </a:lnTo>
                  <a:close/>
                </a:path>
              </a:pathLst>
            </a:custGeom>
            <a:solidFill>
              <a:srgbClr val="000000"/>
            </a:solidFill>
          </p:spPr>
          <p:txBody>
            <a:bodyPr wrap="square" lIns="0" tIns="0" rIns="0" bIns="0" rtlCol="0"/>
            <a:lstStyle/>
            <a:p>
              <a:endParaRPr/>
            </a:p>
          </p:txBody>
        </p:sp>
      </p:grpSp>
      <p:sp>
        <p:nvSpPr>
          <p:cNvPr id="6" name="object 6"/>
          <p:cNvSpPr txBox="1"/>
          <p:nvPr/>
        </p:nvSpPr>
        <p:spPr>
          <a:xfrm>
            <a:off x="777373" y="1929638"/>
            <a:ext cx="7331075" cy="348996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微软雅黑"/>
                <a:cs typeface="微软雅黑"/>
              </a:rPr>
              <a:t>以下原则需要遵守：</a:t>
            </a:r>
            <a:endParaRPr sz="2100">
              <a:latin typeface="微软雅黑"/>
              <a:cs typeface="微软雅黑"/>
            </a:endParaRPr>
          </a:p>
          <a:p>
            <a:pPr marL="626110" lvl="1" indent="-299720">
              <a:lnSpc>
                <a:spcPct val="100000"/>
              </a:lnSpc>
              <a:spcBef>
                <a:spcPts val="1610"/>
              </a:spcBef>
              <a:buFont typeface="Arial"/>
              <a:buAutoNum type="arabicParenBoth"/>
              <a:tabLst>
                <a:tab pos="626110" algn="l"/>
              </a:tabLst>
            </a:pPr>
            <a:r>
              <a:rPr sz="1750" dirty="0">
                <a:latin typeface="宋体"/>
                <a:cs typeface="宋体"/>
              </a:rPr>
              <a:t>只在一个</a:t>
            </a:r>
            <a:r>
              <a:rPr sz="1750" spc="-10" dirty="0">
                <a:latin typeface="Arial"/>
                <a:cs typeface="Arial"/>
              </a:rPr>
              <a:t>always</a:t>
            </a:r>
            <a:r>
              <a:rPr sz="1750" spc="-5" dirty="0">
                <a:latin typeface="宋体"/>
                <a:cs typeface="宋体"/>
              </a:rPr>
              <a:t>模块中对变量进行赋值。</a:t>
            </a:r>
            <a:endParaRPr sz="1750">
              <a:latin typeface="宋体"/>
              <a:cs typeface="宋体"/>
            </a:endParaRPr>
          </a:p>
          <a:p>
            <a:pPr marL="626110" lvl="1" indent="-299720">
              <a:lnSpc>
                <a:spcPct val="100000"/>
              </a:lnSpc>
              <a:spcBef>
                <a:spcPts val="535"/>
              </a:spcBef>
              <a:buFont typeface="Arial"/>
              <a:buAutoNum type="arabicParenBoth"/>
              <a:tabLst>
                <a:tab pos="626110" algn="l"/>
              </a:tabLst>
            </a:pPr>
            <a:r>
              <a:rPr sz="1750" spc="-5" dirty="0">
                <a:latin typeface="宋体"/>
                <a:cs typeface="宋体"/>
              </a:rPr>
              <a:t>组合电路采用阻塞赋值。</a:t>
            </a:r>
            <a:endParaRPr sz="1750">
              <a:latin typeface="宋体"/>
              <a:cs typeface="宋体"/>
            </a:endParaRPr>
          </a:p>
          <a:p>
            <a:pPr marL="626110" lvl="1" indent="-299720">
              <a:lnSpc>
                <a:spcPct val="100000"/>
              </a:lnSpc>
              <a:spcBef>
                <a:spcPts val="525"/>
              </a:spcBef>
              <a:buFont typeface="Arial"/>
              <a:buAutoNum type="arabicParenBoth"/>
              <a:tabLst>
                <a:tab pos="626110" algn="l"/>
              </a:tabLst>
            </a:pPr>
            <a:r>
              <a:rPr sz="1750" dirty="0">
                <a:latin typeface="宋体"/>
                <a:cs typeface="宋体"/>
              </a:rPr>
              <a:t>在敏感列表中使用</a:t>
            </a:r>
            <a:r>
              <a:rPr sz="1750" spc="-10" dirty="0">
                <a:latin typeface="Arial"/>
                <a:cs typeface="Arial"/>
              </a:rPr>
              <a:t>@*</a:t>
            </a:r>
            <a:r>
              <a:rPr sz="1750" spc="-5" dirty="0">
                <a:latin typeface="宋体"/>
                <a:cs typeface="宋体"/>
              </a:rPr>
              <a:t>自动包含所有输入信号。</a:t>
            </a:r>
            <a:endParaRPr sz="1750">
              <a:latin typeface="宋体"/>
              <a:cs typeface="宋体"/>
            </a:endParaRPr>
          </a:p>
          <a:p>
            <a:pPr marL="626110" lvl="1" indent="-299720">
              <a:lnSpc>
                <a:spcPct val="100000"/>
              </a:lnSpc>
              <a:spcBef>
                <a:spcPts val="530"/>
              </a:spcBef>
              <a:buFont typeface="Arial"/>
              <a:buAutoNum type="arabicParenBoth"/>
              <a:tabLst>
                <a:tab pos="626110" algn="l"/>
              </a:tabLst>
            </a:pPr>
            <a:r>
              <a:rPr sz="1750" dirty="0">
                <a:latin typeface="宋体"/>
                <a:cs typeface="宋体"/>
              </a:rPr>
              <a:t>确保包含</a:t>
            </a:r>
            <a:r>
              <a:rPr sz="1750" spc="-10" dirty="0">
                <a:latin typeface="Arial"/>
                <a:cs typeface="Arial"/>
              </a:rPr>
              <a:t>if</a:t>
            </a:r>
            <a:r>
              <a:rPr sz="1750" dirty="0">
                <a:latin typeface="宋体"/>
                <a:cs typeface="宋体"/>
              </a:rPr>
              <a:t>和</a:t>
            </a:r>
            <a:r>
              <a:rPr sz="1750" spc="-10" dirty="0">
                <a:latin typeface="Arial"/>
                <a:cs typeface="Arial"/>
              </a:rPr>
              <a:t>case</a:t>
            </a:r>
            <a:r>
              <a:rPr sz="1750" spc="-10" dirty="0">
                <a:latin typeface="宋体"/>
                <a:cs typeface="宋体"/>
              </a:rPr>
              <a:t>语句的所有分支。</a:t>
            </a:r>
            <a:endParaRPr sz="1750">
              <a:latin typeface="宋体"/>
              <a:cs typeface="宋体"/>
            </a:endParaRPr>
          </a:p>
          <a:p>
            <a:pPr marL="626110" lvl="1" indent="-299720">
              <a:lnSpc>
                <a:spcPct val="100000"/>
              </a:lnSpc>
              <a:spcBef>
                <a:spcPts val="535"/>
              </a:spcBef>
              <a:buFont typeface="Arial"/>
              <a:buAutoNum type="arabicParenBoth"/>
              <a:tabLst>
                <a:tab pos="626110" algn="l"/>
              </a:tabLst>
            </a:pPr>
            <a:r>
              <a:rPr sz="1750" spc="-5" dirty="0">
                <a:latin typeface="宋体"/>
                <a:cs typeface="宋体"/>
              </a:rPr>
              <a:t>确保所有分支的输出都被赋值。</a:t>
            </a:r>
            <a:endParaRPr sz="1750">
              <a:latin typeface="宋体"/>
              <a:cs typeface="宋体"/>
            </a:endParaRPr>
          </a:p>
          <a:p>
            <a:pPr marL="626110" lvl="1" indent="-299720">
              <a:lnSpc>
                <a:spcPct val="100000"/>
              </a:lnSpc>
              <a:spcBef>
                <a:spcPts val="525"/>
              </a:spcBef>
              <a:buFont typeface="Arial"/>
              <a:buAutoNum type="arabicParenBoth"/>
              <a:tabLst>
                <a:tab pos="626110" algn="l"/>
              </a:tabLst>
            </a:pPr>
            <a:r>
              <a:rPr sz="1750" dirty="0">
                <a:latin typeface="宋体"/>
                <a:cs typeface="宋体"/>
              </a:rPr>
              <a:t>一种满足以上两条原则的方法是在</a:t>
            </a:r>
            <a:r>
              <a:rPr sz="1750" spc="-10" dirty="0">
                <a:latin typeface="Arial"/>
                <a:cs typeface="Arial"/>
              </a:rPr>
              <a:t>always</a:t>
            </a:r>
            <a:r>
              <a:rPr sz="1750" spc="-5" dirty="0">
                <a:latin typeface="宋体"/>
                <a:cs typeface="宋体"/>
              </a:rPr>
              <a:t>块开始时给输出赋默认值。</a:t>
            </a:r>
            <a:endParaRPr sz="1750">
              <a:latin typeface="宋体"/>
              <a:cs typeface="宋体"/>
            </a:endParaRPr>
          </a:p>
          <a:p>
            <a:pPr marL="626110" lvl="1" indent="-299720">
              <a:lnSpc>
                <a:spcPct val="100000"/>
              </a:lnSpc>
              <a:spcBef>
                <a:spcPts val="530"/>
              </a:spcBef>
              <a:buFont typeface="Arial"/>
              <a:buAutoNum type="arabicParenBoth"/>
              <a:tabLst>
                <a:tab pos="626110" algn="l"/>
              </a:tabLst>
            </a:pPr>
            <a:r>
              <a:rPr sz="1750" dirty="0">
                <a:latin typeface="宋体"/>
                <a:cs typeface="宋体"/>
              </a:rPr>
              <a:t>用代码描述</a:t>
            </a:r>
            <a:r>
              <a:rPr sz="1750" dirty="0">
                <a:latin typeface="Arial"/>
                <a:cs typeface="Arial"/>
              </a:rPr>
              <a:t>full</a:t>
            </a:r>
            <a:r>
              <a:rPr sz="1750" spc="-30" dirty="0">
                <a:latin typeface="Arial"/>
                <a:cs typeface="Arial"/>
              </a:rPr>
              <a:t> </a:t>
            </a:r>
            <a:r>
              <a:rPr sz="1750" spc="-10" dirty="0">
                <a:latin typeface="Arial"/>
                <a:cs typeface="Arial"/>
              </a:rPr>
              <a:t>case</a:t>
            </a:r>
            <a:r>
              <a:rPr sz="1750" dirty="0">
                <a:latin typeface="宋体"/>
                <a:cs typeface="宋体"/>
              </a:rPr>
              <a:t>和</a:t>
            </a:r>
            <a:r>
              <a:rPr sz="1750" dirty="0">
                <a:latin typeface="Arial"/>
                <a:cs typeface="Arial"/>
              </a:rPr>
              <a:t>parallel</a:t>
            </a:r>
            <a:r>
              <a:rPr sz="1750" spc="-15" dirty="0">
                <a:latin typeface="Arial"/>
                <a:cs typeface="Arial"/>
              </a:rPr>
              <a:t> </a:t>
            </a:r>
            <a:r>
              <a:rPr sz="1750" spc="-10" dirty="0">
                <a:latin typeface="Arial"/>
                <a:cs typeface="Arial"/>
              </a:rPr>
              <a:t>case</a:t>
            </a:r>
            <a:r>
              <a:rPr sz="1750" spc="-10" dirty="0">
                <a:latin typeface="宋体"/>
                <a:cs typeface="宋体"/>
              </a:rPr>
              <a:t>，而不用软件指令和属性。</a:t>
            </a:r>
            <a:endParaRPr sz="1750">
              <a:latin typeface="宋体"/>
              <a:cs typeface="宋体"/>
            </a:endParaRPr>
          </a:p>
          <a:p>
            <a:pPr marL="626110" lvl="1" indent="-299720">
              <a:lnSpc>
                <a:spcPct val="100000"/>
              </a:lnSpc>
              <a:spcBef>
                <a:spcPts val="535"/>
              </a:spcBef>
              <a:buFont typeface="Arial"/>
              <a:buAutoNum type="arabicParenBoth"/>
              <a:tabLst>
                <a:tab pos="626110" algn="l"/>
              </a:tabLst>
            </a:pPr>
            <a:r>
              <a:rPr sz="1750" spc="-5" dirty="0">
                <a:latin typeface="宋体"/>
                <a:cs typeface="宋体"/>
              </a:rPr>
              <a:t>了解不同控制结构综合出的电路类型。</a:t>
            </a:r>
            <a:endParaRPr sz="1750">
              <a:latin typeface="宋体"/>
              <a:cs typeface="宋体"/>
            </a:endParaRPr>
          </a:p>
          <a:p>
            <a:pPr marL="626110" lvl="1" indent="-299720">
              <a:lnSpc>
                <a:spcPct val="100000"/>
              </a:lnSpc>
              <a:spcBef>
                <a:spcPts val="525"/>
              </a:spcBef>
              <a:buFont typeface="Arial"/>
              <a:buAutoNum type="arabicParenBoth"/>
              <a:tabLst>
                <a:tab pos="626110" algn="l"/>
              </a:tabLst>
            </a:pPr>
            <a:r>
              <a:rPr sz="1750" dirty="0">
                <a:latin typeface="宋体"/>
                <a:cs typeface="宋体"/>
              </a:rPr>
              <a:t>思考硬件而不是</a:t>
            </a:r>
            <a:r>
              <a:rPr sz="1750" dirty="0">
                <a:latin typeface="Arial"/>
                <a:cs typeface="Arial"/>
              </a:rPr>
              <a:t>C</a:t>
            </a:r>
            <a:r>
              <a:rPr sz="1750" spc="-20" dirty="0">
                <a:latin typeface="宋体"/>
                <a:cs typeface="宋体"/>
              </a:rPr>
              <a:t>代码。</a:t>
            </a:r>
            <a:endParaRPr sz="1750">
              <a:latin typeface="宋体"/>
              <a:cs typeface="宋体"/>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943" y="1178305"/>
            <a:ext cx="154051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3.5.1</a:t>
            </a:r>
            <a:r>
              <a:rPr spc="-5" dirty="0">
                <a:latin typeface="Times New Roman"/>
                <a:cs typeface="Times New Roman"/>
              </a:rPr>
              <a:t> </a:t>
            </a:r>
            <a:r>
              <a:rPr spc="-25" dirty="0"/>
              <a:t>常数</a:t>
            </a:r>
          </a:p>
        </p:txBody>
      </p:sp>
      <p:grpSp>
        <p:nvGrpSpPr>
          <p:cNvPr id="3" name="object 3"/>
          <p:cNvGrpSpPr/>
          <p:nvPr/>
        </p:nvGrpSpPr>
        <p:grpSpPr>
          <a:xfrm>
            <a:off x="2400185" y="3140964"/>
            <a:ext cx="5354955" cy="575310"/>
            <a:chOff x="2400185" y="3140964"/>
            <a:chExt cx="5354955" cy="575310"/>
          </a:xfrm>
        </p:grpSpPr>
        <p:sp>
          <p:nvSpPr>
            <p:cNvPr id="4" name="object 4"/>
            <p:cNvSpPr/>
            <p:nvPr/>
          </p:nvSpPr>
          <p:spPr>
            <a:xfrm>
              <a:off x="2404757" y="3145536"/>
              <a:ext cx="5345430" cy="566420"/>
            </a:xfrm>
            <a:custGeom>
              <a:avLst/>
              <a:gdLst/>
              <a:ahLst/>
              <a:cxnLst/>
              <a:rect l="l" t="t" r="r" b="b"/>
              <a:pathLst>
                <a:path w="5345430" h="566420">
                  <a:moveTo>
                    <a:pt x="5345430" y="566165"/>
                  </a:moveTo>
                  <a:lnTo>
                    <a:pt x="5345430" y="0"/>
                  </a:lnTo>
                  <a:lnTo>
                    <a:pt x="0" y="0"/>
                  </a:lnTo>
                  <a:lnTo>
                    <a:pt x="0" y="566166"/>
                  </a:lnTo>
                  <a:lnTo>
                    <a:pt x="5345430" y="566165"/>
                  </a:lnTo>
                  <a:close/>
                </a:path>
              </a:pathLst>
            </a:custGeom>
            <a:solidFill>
              <a:srgbClr val="F9FABA"/>
            </a:solidFill>
          </p:spPr>
          <p:txBody>
            <a:bodyPr wrap="square" lIns="0" tIns="0" rIns="0" bIns="0" rtlCol="0"/>
            <a:lstStyle/>
            <a:p>
              <a:endParaRPr/>
            </a:p>
          </p:txBody>
        </p:sp>
        <p:sp>
          <p:nvSpPr>
            <p:cNvPr id="5" name="object 5"/>
            <p:cNvSpPr/>
            <p:nvPr/>
          </p:nvSpPr>
          <p:spPr>
            <a:xfrm>
              <a:off x="2400185" y="3140964"/>
              <a:ext cx="5354955" cy="575310"/>
            </a:xfrm>
            <a:custGeom>
              <a:avLst/>
              <a:gdLst/>
              <a:ahLst/>
              <a:cxnLst/>
              <a:rect l="l" t="t" r="r" b="b"/>
              <a:pathLst>
                <a:path w="5354955" h="575310">
                  <a:moveTo>
                    <a:pt x="5354574" y="573023"/>
                  </a:moveTo>
                  <a:lnTo>
                    <a:pt x="5354574" y="2285"/>
                  </a:lnTo>
                  <a:lnTo>
                    <a:pt x="5352288" y="0"/>
                  </a:lnTo>
                  <a:lnTo>
                    <a:pt x="2285" y="0"/>
                  </a:lnTo>
                  <a:lnTo>
                    <a:pt x="0" y="2286"/>
                  </a:lnTo>
                  <a:lnTo>
                    <a:pt x="0" y="573024"/>
                  </a:lnTo>
                  <a:lnTo>
                    <a:pt x="2286" y="575310"/>
                  </a:lnTo>
                  <a:lnTo>
                    <a:pt x="4572" y="575310"/>
                  </a:lnTo>
                  <a:lnTo>
                    <a:pt x="4572" y="8382"/>
                  </a:lnTo>
                  <a:lnTo>
                    <a:pt x="8382" y="4572"/>
                  </a:lnTo>
                  <a:lnTo>
                    <a:pt x="8382" y="8382"/>
                  </a:lnTo>
                  <a:lnTo>
                    <a:pt x="5346192" y="8381"/>
                  </a:lnTo>
                  <a:lnTo>
                    <a:pt x="5346192" y="4571"/>
                  </a:lnTo>
                  <a:lnTo>
                    <a:pt x="5350002" y="8381"/>
                  </a:lnTo>
                  <a:lnTo>
                    <a:pt x="5350002" y="575309"/>
                  </a:lnTo>
                  <a:lnTo>
                    <a:pt x="5352288" y="575309"/>
                  </a:lnTo>
                  <a:lnTo>
                    <a:pt x="5354574" y="573023"/>
                  </a:lnTo>
                  <a:close/>
                </a:path>
                <a:path w="5354955" h="575310">
                  <a:moveTo>
                    <a:pt x="8382" y="8382"/>
                  </a:moveTo>
                  <a:lnTo>
                    <a:pt x="8382" y="4572"/>
                  </a:lnTo>
                  <a:lnTo>
                    <a:pt x="4572" y="8382"/>
                  </a:lnTo>
                  <a:lnTo>
                    <a:pt x="8382" y="8382"/>
                  </a:lnTo>
                  <a:close/>
                </a:path>
                <a:path w="5354955" h="575310">
                  <a:moveTo>
                    <a:pt x="8382" y="566928"/>
                  </a:moveTo>
                  <a:lnTo>
                    <a:pt x="8382" y="8382"/>
                  </a:lnTo>
                  <a:lnTo>
                    <a:pt x="4572" y="8382"/>
                  </a:lnTo>
                  <a:lnTo>
                    <a:pt x="4572" y="566928"/>
                  </a:lnTo>
                  <a:lnTo>
                    <a:pt x="8382" y="566928"/>
                  </a:lnTo>
                  <a:close/>
                </a:path>
                <a:path w="5354955" h="575310">
                  <a:moveTo>
                    <a:pt x="5350002" y="566927"/>
                  </a:moveTo>
                  <a:lnTo>
                    <a:pt x="4572" y="566928"/>
                  </a:lnTo>
                  <a:lnTo>
                    <a:pt x="8382" y="570738"/>
                  </a:lnTo>
                  <a:lnTo>
                    <a:pt x="8382" y="575310"/>
                  </a:lnTo>
                  <a:lnTo>
                    <a:pt x="5346192" y="575309"/>
                  </a:lnTo>
                  <a:lnTo>
                    <a:pt x="5346192" y="570737"/>
                  </a:lnTo>
                  <a:lnTo>
                    <a:pt x="5350002" y="566927"/>
                  </a:lnTo>
                  <a:close/>
                </a:path>
                <a:path w="5354955" h="575310">
                  <a:moveTo>
                    <a:pt x="8382" y="575310"/>
                  </a:moveTo>
                  <a:lnTo>
                    <a:pt x="8382" y="570738"/>
                  </a:lnTo>
                  <a:lnTo>
                    <a:pt x="4572" y="566928"/>
                  </a:lnTo>
                  <a:lnTo>
                    <a:pt x="4572" y="575310"/>
                  </a:lnTo>
                  <a:lnTo>
                    <a:pt x="8382" y="575310"/>
                  </a:lnTo>
                  <a:close/>
                </a:path>
                <a:path w="5354955" h="575310">
                  <a:moveTo>
                    <a:pt x="5350002" y="8381"/>
                  </a:moveTo>
                  <a:lnTo>
                    <a:pt x="5346192" y="4571"/>
                  </a:lnTo>
                  <a:lnTo>
                    <a:pt x="5346192" y="8381"/>
                  </a:lnTo>
                  <a:lnTo>
                    <a:pt x="5350002" y="8381"/>
                  </a:lnTo>
                  <a:close/>
                </a:path>
                <a:path w="5354955" h="575310">
                  <a:moveTo>
                    <a:pt x="5350002" y="566927"/>
                  </a:moveTo>
                  <a:lnTo>
                    <a:pt x="5350002" y="8381"/>
                  </a:lnTo>
                  <a:lnTo>
                    <a:pt x="5346192" y="8381"/>
                  </a:lnTo>
                  <a:lnTo>
                    <a:pt x="5346192" y="566927"/>
                  </a:lnTo>
                  <a:lnTo>
                    <a:pt x="5350002" y="566927"/>
                  </a:lnTo>
                  <a:close/>
                </a:path>
                <a:path w="5354955" h="575310">
                  <a:moveTo>
                    <a:pt x="5350002" y="575309"/>
                  </a:moveTo>
                  <a:lnTo>
                    <a:pt x="5350002" y="566927"/>
                  </a:lnTo>
                  <a:lnTo>
                    <a:pt x="5346192" y="570737"/>
                  </a:lnTo>
                  <a:lnTo>
                    <a:pt x="5346192" y="575309"/>
                  </a:lnTo>
                  <a:lnTo>
                    <a:pt x="5350002" y="575309"/>
                  </a:lnTo>
                  <a:close/>
                </a:path>
              </a:pathLst>
            </a:custGeom>
            <a:solidFill>
              <a:srgbClr val="000000"/>
            </a:solidFill>
          </p:spPr>
          <p:txBody>
            <a:bodyPr wrap="square" lIns="0" tIns="0" rIns="0" bIns="0" rtlCol="0"/>
            <a:lstStyle/>
            <a:p>
              <a:endParaRPr/>
            </a:p>
          </p:txBody>
        </p:sp>
      </p:grpSp>
      <p:sp>
        <p:nvSpPr>
          <p:cNvPr id="6" name="object 6"/>
          <p:cNvSpPr txBox="1"/>
          <p:nvPr/>
        </p:nvSpPr>
        <p:spPr>
          <a:xfrm>
            <a:off x="2472061" y="3165602"/>
            <a:ext cx="996315" cy="266065"/>
          </a:xfrm>
          <a:prstGeom prst="rect">
            <a:avLst/>
          </a:prstGeom>
        </p:spPr>
        <p:txBody>
          <a:bodyPr vert="horz" wrap="square" lIns="0" tIns="15875" rIns="0" bIns="0" rtlCol="0">
            <a:spAutoFit/>
          </a:bodyPr>
          <a:lstStyle/>
          <a:p>
            <a:pPr marL="12700">
              <a:lnSpc>
                <a:spcPct val="100000"/>
              </a:lnSpc>
              <a:spcBef>
                <a:spcPts val="125"/>
              </a:spcBef>
            </a:pPr>
            <a:r>
              <a:rPr sz="1550" b="1" spc="-10" dirty="0">
                <a:latin typeface="Times New Roman"/>
                <a:cs typeface="Times New Roman"/>
              </a:rPr>
              <a:t>localparam</a:t>
            </a:r>
            <a:endParaRPr sz="1550">
              <a:latin typeface="Times New Roman"/>
              <a:cs typeface="Times New Roman"/>
            </a:endParaRPr>
          </a:p>
        </p:txBody>
      </p:sp>
      <p:sp>
        <p:nvSpPr>
          <p:cNvPr id="7" name="object 7"/>
          <p:cNvSpPr txBox="1"/>
          <p:nvPr/>
        </p:nvSpPr>
        <p:spPr>
          <a:xfrm>
            <a:off x="4075309" y="3165602"/>
            <a:ext cx="3456940" cy="506730"/>
          </a:xfrm>
          <a:prstGeom prst="rect">
            <a:avLst/>
          </a:prstGeom>
        </p:spPr>
        <p:txBody>
          <a:bodyPr vert="horz" wrap="square" lIns="0" tIns="15875" rIns="0" bIns="0" rtlCol="0">
            <a:spAutoFit/>
          </a:bodyPr>
          <a:lstStyle/>
          <a:p>
            <a:pPr marL="12700">
              <a:lnSpc>
                <a:spcPct val="100000"/>
              </a:lnSpc>
              <a:spcBef>
                <a:spcPts val="125"/>
              </a:spcBef>
            </a:pPr>
            <a:r>
              <a:rPr sz="1550" spc="-20" dirty="0">
                <a:latin typeface="Times New Roman"/>
                <a:cs typeface="Times New Roman"/>
              </a:rPr>
              <a:t>DATA_WIDTH</a:t>
            </a:r>
            <a:r>
              <a:rPr sz="1550" dirty="0">
                <a:latin typeface="Times New Roman"/>
                <a:cs typeface="Times New Roman"/>
              </a:rPr>
              <a:t> =</a:t>
            </a:r>
            <a:r>
              <a:rPr sz="1550" spc="10" dirty="0">
                <a:latin typeface="Times New Roman"/>
                <a:cs typeface="Times New Roman"/>
              </a:rPr>
              <a:t> </a:t>
            </a:r>
            <a:r>
              <a:rPr sz="1550" dirty="0">
                <a:latin typeface="Times New Roman"/>
                <a:cs typeface="Times New Roman"/>
              </a:rPr>
              <a:t>8</a:t>
            </a:r>
            <a:r>
              <a:rPr sz="1550" spc="5" dirty="0">
                <a:latin typeface="Times New Roman"/>
                <a:cs typeface="Times New Roman"/>
              </a:rPr>
              <a:t> </a:t>
            </a:r>
            <a:r>
              <a:rPr sz="1550" spc="-50" dirty="0">
                <a:latin typeface="Times New Roman"/>
                <a:cs typeface="Times New Roman"/>
              </a:rPr>
              <a:t>,</a:t>
            </a:r>
            <a:endParaRPr sz="1550" dirty="0">
              <a:latin typeface="Times New Roman"/>
              <a:cs typeface="Times New Roman"/>
            </a:endParaRPr>
          </a:p>
          <a:p>
            <a:pPr marL="12700">
              <a:lnSpc>
                <a:spcPct val="100000"/>
              </a:lnSpc>
              <a:spcBef>
                <a:spcPts val="35"/>
              </a:spcBef>
            </a:pPr>
            <a:r>
              <a:rPr sz="1550" spc="-20" dirty="0">
                <a:latin typeface="Times New Roman"/>
                <a:cs typeface="Times New Roman"/>
              </a:rPr>
              <a:t>DATA_RANGE</a:t>
            </a:r>
            <a:r>
              <a:rPr sz="1550" spc="-10" dirty="0">
                <a:latin typeface="Times New Roman"/>
                <a:cs typeface="Times New Roman"/>
              </a:rPr>
              <a:t> </a:t>
            </a:r>
            <a:r>
              <a:rPr sz="1550" dirty="0">
                <a:latin typeface="Times New Roman"/>
                <a:cs typeface="Times New Roman"/>
              </a:rPr>
              <a:t>=</a:t>
            </a:r>
            <a:r>
              <a:rPr sz="1550" spc="-5" dirty="0">
                <a:latin typeface="Times New Roman"/>
                <a:cs typeface="Times New Roman"/>
              </a:rPr>
              <a:t> </a:t>
            </a:r>
            <a:r>
              <a:rPr sz="1550" spc="-10" dirty="0">
                <a:latin typeface="Times New Roman"/>
                <a:cs typeface="Times New Roman"/>
              </a:rPr>
              <a:t>2**DATA_WIDTH</a:t>
            </a:r>
            <a:r>
              <a:rPr sz="1550" spc="-15" dirty="0">
                <a:latin typeface="Times New Roman"/>
                <a:cs typeface="Times New Roman"/>
              </a:rPr>
              <a:t> </a:t>
            </a:r>
            <a:r>
              <a:rPr sz="1550" dirty="0">
                <a:latin typeface="Times New Roman"/>
                <a:cs typeface="Times New Roman"/>
              </a:rPr>
              <a:t>-</a:t>
            </a:r>
            <a:r>
              <a:rPr sz="1550" spc="-5" dirty="0">
                <a:latin typeface="Times New Roman"/>
                <a:cs typeface="Times New Roman"/>
              </a:rPr>
              <a:t> </a:t>
            </a:r>
            <a:r>
              <a:rPr sz="1550" spc="-25" dirty="0">
                <a:latin typeface="Times New Roman"/>
                <a:cs typeface="Times New Roman"/>
              </a:rPr>
              <a:t>1;</a:t>
            </a:r>
            <a:endParaRPr sz="1550" dirty="0">
              <a:latin typeface="Times New Roman"/>
              <a:cs typeface="Times New Roman"/>
            </a:endParaRPr>
          </a:p>
        </p:txBody>
      </p:sp>
      <p:grpSp>
        <p:nvGrpSpPr>
          <p:cNvPr id="8" name="object 8"/>
          <p:cNvGrpSpPr/>
          <p:nvPr/>
        </p:nvGrpSpPr>
        <p:grpSpPr>
          <a:xfrm>
            <a:off x="2400185" y="4232147"/>
            <a:ext cx="5354955" cy="818515"/>
            <a:chOff x="2400185" y="4232147"/>
            <a:chExt cx="5354955" cy="818515"/>
          </a:xfrm>
        </p:grpSpPr>
        <p:sp>
          <p:nvSpPr>
            <p:cNvPr id="9" name="object 9"/>
            <p:cNvSpPr/>
            <p:nvPr/>
          </p:nvSpPr>
          <p:spPr>
            <a:xfrm>
              <a:off x="2404757" y="4235957"/>
              <a:ext cx="5345430" cy="810260"/>
            </a:xfrm>
            <a:custGeom>
              <a:avLst/>
              <a:gdLst/>
              <a:ahLst/>
              <a:cxnLst/>
              <a:rect l="l" t="t" r="r" b="b"/>
              <a:pathLst>
                <a:path w="5345430" h="810260">
                  <a:moveTo>
                    <a:pt x="5345430" y="810006"/>
                  </a:moveTo>
                  <a:lnTo>
                    <a:pt x="5345430" y="0"/>
                  </a:lnTo>
                  <a:lnTo>
                    <a:pt x="0" y="0"/>
                  </a:lnTo>
                  <a:lnTo>
                    <a:pt x="0" y="810006"/>
                  </a:lnTo>
                  <a:lnTo>
                    <a:pt x="5345430" y="810006"/>
                  </a:lnTo>
                  <a:close/>
                </a:path>
              </a:pathLst>
            </a:custGeom>
            <a:solidFill>
              <a:srgbClr val="F9FABA"/>
            </a:solidFill>
          </p:spPr>
          <p:txBody>
            <a:bodyPr wrap="square" lIns="0" tIns="0" rIns="0" bIns="0" rtlCol="0"/>
            <a:lstStyle/>
            <a:p>
              <a:endParaRPr/>
            </a:p>
          </p:txBody>
        </p:sp>
        <p:sp>
          <p:nvSpPr>
            <p:cNvPr id="10" name="object 10"/>
            <p:cNvSpPr/>
            <p:nvPr/>
          </p:nvSpPr>
          <p:spPr>
            <a:xfrm>
              <a:off x="2400185" y="4232147"/>
              <a:ext cx="5354955" cy="818515"/>
            </a:xfrm>
            <a:custGeom>
              <a:avLst/>
              <a:gdLst/>
              <a:ahLst/>
              <a:cxnLst/>
              <a:rect l="l" t="t" r="r" b="b"/>
              <a:pathLst>
                <a:path w="5354955" h="818514">
                  <a:moveTo>
                    <a:pt x="5354574" y="816101"/>
                  </a:moveTo>
                  <a:lnTo>
                    <a:pt x="5354574" y="1523"/>
                  </a:lnTo>
                  <a:lnTo>
                    <a:pt x="5352288" y="0"/>
                  </a:lnTo>
                  <a:lnTo>
                    <a:pt x="2285" y="0"/>
                  </a:lnTo>
                  <a:lnTo>
                    <a:pt x="0" y="1524"/>
                  </a:lnTo>
                  <a:lnTo>
                    <a:pt x="0" y="816102"/>
                  </a:lnTo>
                  <a:lnTo>
                    <a:pt x="2286" y="818388"/>
                  </a:lnTo>
                  <a:lnTo>
                    <a:pt x="4572" y="818388"/>
                  </a:lnTo>
                  <a:lnTo>
                    <a:pt x="4572" y="8382"/>
                  </a:lnTo>
                  <a:lnTo>
                    <a:pt x="8382" y="3810"/>
                  </a:lnTo>
                  <a:lnTo>
                    <a:pt x="8381" y="8382"/>
                  </a:lnTo>
                  <a:lnTo>
                    <a:pt x="5346191" y="8381"/>
                  </a:lnTo>
                  <a:lnTo>
                    <a:pt x="5346191" y="3809"/>
                  </a:lnTo>
                  <a:lnTo>
                    <a:pt x="5350002" y="8381"/>
                  </a:lnTo>
                  <a:lnTo>
                    <a:pt x="5350002" y="818387"/>
                  </a:lnTo>
                  <a:lnTo>
                    <a:pt x="5352288" y="818387"/>
                  </a:lnTo>
                  <a:lnTo>
                    <a:pt x="5354574" y="816101"/>
                  </a:lnTo>
                  <a:close/>
                </a:path>
                <a:path w="5354955" h="818514">
                  <a:moveTo>
                    <a:pt x="8382" y="8382"/>
                  </a:moveTo>
                  <a:lnTo>
                    <a:pt x="8382" y="3810"/>
                  </a:lnTo>
                  <a:lnTo>
                    <a:pt x="4572" y="8382"/>
                  </a:lnTo>
                  <a:lnTo>
                    <a:pt x="8382" y="8382"/>
                  </a:lnTo>
                  <a:close/>
                </a:path>
                <a:path w="5354955" h="818514">
                  <a:moveTo>
                    <a:pt x="8382" y="810006"/>
                  </a:moveTo>
                  <a:lnTo>
                    <a:pt x="8382" y="8382"/>
                  </a:lnTo>
                  <a:lnTo>
                    <a:pt x="4572" y="8382"/>
                  </a:lnTo>
                  <a:lnTo>
                    <a:pt x="4572" y="810006"/>
                  </a:lnTo>
                  <a:lnTo>
                    <a:pt x="8382" y="810006"/>
                  </a:lnTo>
                  <a:close/>
                </a:path>
                <a:path w="5354955" h="818514">
                  <a:moveTo>
                    <a:pt x="5350002" y="810005"/>
                  </a:moveTo>
                  <a:lnTo>
                    <a:pt x="4572" y="810006"/>
                  </a:lnTo>
                  <a:lnTo>
                    <a:pt x="8382" y="813816"/>
                  </a:lnTo>
                  <a:lnTo>
                    <a:pt x="8382" y="818388"/>
                  </a:lnTo>
                  <a:lnTo>
                    <a:pt x="5346191" y="818387"/>
                  </a:lnTo>
                  <a:lnTo>
                    <a:pt x="5346191" y="813816"/>
                  </a:lnTo>
                  <a:lnTo>
                    <a:pt x="5350002" y="810005"/>
                  </a:lnTo>
                  <a:close/>
                </a:path>
                <a:path w="5354955" h="818514">
                  <a:moveTo>
                    <a:pt x="8382" y="818388"/>
                  </a:moveTo>
                  <a:lnTo>
                    <a:pt x="8382" y="813816"/>
                  </a:lnTo>
                  <a:lnTo>
                    <a:pt x="4572" y="810006"/>
                  </a:lnTo>
                  <a:lnTo>
                    <a:pt x="4572" y="818388"/>
                  </a:lnTo>
                  <a:lnTo>
                    <a:pt x="8382" y="818388"/>
                  </a:lnTo>
                  <a:close/>
                </a:path>
                <a:path w="5354955" h="818514">
                  <a:moveTo>
                    <a:pt x="5350002" y="8381"/>
                  </a:moveTo>
                  <a:lnTo>
                    <a:pt x="5346191" y="3809"/>
                  </a:lnTo>
                  <a:lnTo>
                    <a:pt x="5346191" y="8381"/>
                  </a:lnTo>
                  <a:lnTo>
                    <a:pt x="5350002" y="8381"/>
                  </a:lnTo>
                  <a:close/>
                </a:path>
                <a:path w="5354955" h="818514">
                  <a:moveTo>
                    <a:pt x="5350002" y="810005"/>
                  </a:moveTo>
                  <a:lnTo>
                    <a:pt x="5350002" y="8381"/>
                  </a:lnTo>
                  <a:lnTo>
                    <a:pt x="5346191" y="8381"/>
                  </a:lnTo>
                  <a:lnTo>
                    <a:pt x="5346191" y="810005"/>
                  </a:lnTo>
                  <a:lnTo>
                    <a:pt x="5350002" y="810005"/>
                  </a:lnTo>
                  <a:close/>
                </a:path>
                <a:path w="5354955" h="818514">
                  <a:moveTo>
                    <a:pt x="5350002" y="818387"/>
                  </a:moveTo>
                  <a:lnTo>
                    <a:pt x="5350002" y="810005"/>
                  </a:lnTo>
                  <a:lnTo>
                    <a:pt x="5346191" y="813816"/>
                  </a:lnTo>
                  <a:lnTo>
                    <a:pt x="5346191" y="818387"/>
                  </a:lnTo>
                  <a:lnTo>
                    <a:pt x="5350002" y="818387"/>
                  </a:lnTo>
                  <a:close/>
                </a:path>
              </a:pathLst>
            </a:custGeom>
            <a:solidFill>
              <a:srgbClr val="000000"/>
            </a:solidFill>
          </p:spPr>
          <p:txBody>
            <a:bodyPr wrap="square" lIns="0" tIns="0" rIns="0" bIns="0" rtlCol="0"/>
            <a:lstStyle/>
            <a:p>
              <a:endParaRPr/>
            </a:p>
          </p:txBody>
        </p:sp>
      </p:grpSp>
      <p:sp>
        <p:nvSpPr>
          <p:cNvPr id="11" name="object 11"/>
          <p:cNvSpPr txBox="1"/>
          <p:nvPr/>
        </p:nvSpPr>
        <p:spPr>
          <a:xfrm>
            <a:off x="807849" y="3841491"/>
            <a:ext cx="2660650" cy="681355"/>
          </a:xfrm>
          <a:prstGeom prst="rect">
            <a:avLst/>
          </a:prstGeom>
        </p:spPr>
        <p:txBody>
          <a:bodyPr vert="horz" wrap="square" lIns="0" tIns="15875" rIns="0" bIns="0" rtlCol="0">
            <a:spAutoFit/>
          </a:bodyPr>
          <a:lstStyle/>
          <a:p>
            <a:pPr marL="12700">
              <a:lnSpc>
                <a:spcPct val="100000"/>
              </a:lnSpc>
              <a:spcBef>
                <a:spcPts val="125"/>
              </a:spcBef>
            </a:pPr>
            <a:r>
              <a:rPr sz="1550" spc="-10" dirty="0">
                <a:latin typeface="微软雅黑"/>
                <a:cs typeface="微软雅黑"/>
              </a:rPr>
              <a:t>或定义符号端口名：</a:t>
            </a:r>
            <a:endParaRPr sz="1550">
              <a:latin typeface="微软雅黑"/>
              <a:cs typeface="微软雅黑"/>
            </a:endParaRPr>
          </a:p>
          <a:p>
            <a:pPr marL="1676400">
              <a:lnSpc>
                <a:spcPct val="100000"/>
              </a:lnSpc>
              <a:spcBef>
                <a:spcPts val="1410"/>
              </a:spcBef>
            </a:pPr>
            <a:r>
              <a:rPr sz="1550" b="1" spc="-10" dirty="0">
                <a:latin typeface="Times New Roman"/>
                <a:cs typeface="Times New Roman"/>
              </a:rPr>
              <a:t>localparam</a:t>
            </a:r>
            <a:endParaRPr sz="1550">
              <a:latin typeface="Times New Roman"/>
              <a:cs typeface="Times New Roman"/>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p:nvPr/>
        </p:nvSpPr>
        <p:spPr>
          <a:xfrm>
            <a:off x="4075309" y="4256785"/>
            <a:ext cx="2231390" cy="746760"/>
          </a:xfrm>
          <a:prstGeom prst="rect">
            <a:avLst/>
          </a:prstGeom>
        </p:spPr>
        <p:txBody>
          <a:bodyPr vert="horz" wrap="square" lIns="0" tIns="12065" rIns="0" bIns="0" rtlCol="0">
            <a:spAutoFit/>
          </a:bodyPr>
          <a:lstStyle/>
          <a:p>
            <a:pPr marL="12700" marR="5080">
              <a:lnSpc>
                <a:spcPct val="101800"/>
              </a:lnSpc>
              <a:spcBef>
                <a:spcPts val="95"/>
              </a:spcBef>
            </a:pPr>
            <a:r>
              <a:rPr sz="1550" spc="-10" dirty="0">
                <a:latin typeface="Times New Roman"/>
                <a:cs typeface="Times New Roman"/>
              </a:rPr>
              <a:t>UART_PORT</a:t>
            </a:r>
            <a:r>
              <a:rPr sz="1550" spc="-30" dirty="0">
                <a:latin typeface="Times New Roman"/>
                <a:cs typeface="Times New Roman"/>
              </a:rPr>
              <a:t> </a:t>
            </a:r>
            <a:r>
              <a:rPr sz="1550" dirty="0">
                <a:latin typeface="Times New Roman"/>
                <a:cs typeface="Times New Roman"/>
              </a:rPr>
              <a:t>= </a:t>
            </a:r>
            <a:r>
              <a:rPr sz="1550" spc="-10" dirty="0">
                <a:latin typeface="Times New Roman"/>
                <a:cs typeface="Times New Roman"/>
              </a:rPr>
              <a:t>4'b0001, </a:t>
            </a:r>
            <a:r>
              <a:rPr sz="1550" dirty="0">
                <a:latin typeface="Times New Roman"/>
                <a:cs typeface="Times New Roman"/>
              </a:rPr>
              <a:t>LCD_PORT</a:t>
            </a:r>
            <a:r>
              <a:rPr sz="1550" spc="-30" dirty="0">
                <a:latin typeface="Times New Roman"/>
                <a:cs typeface="Times New Roman"/>
              </a:rPr>
              <a:t> </a:t>
            </a:r>
            <a:r>
              <a:rPr sz="1550" dirty="0">
                <a:latin typeface="Times New Roman"/>
                <a:cs typeface="Times New Roman"/>
              </a:rPr>
              <a:t>= </a:t>
            </a:r>
            <a:r>
              <a:rPr sz="1550" spc="-10" dirty="0">
                <a:latin typeface="Times New Roman"/>
                <a:cs typeface="Times New Roman"/>
              </a:rPr>
              <a:t>4'b0010, </a:t>
            </a:r>
            <a:r>
              <a:rPr sz="1550" dirty="0">
                <a:latin typeface="Times New Roman"/>
                <a:cs typeface="Times New Roman"/>
              </a:rPr>
              <a:t>MOUSE_PORT</a:t>
            </a:r>
            <a:r>
              <a:rPr sz="1550" spc="-20" dirty="0">
                <a:latin typeface="Times New Roman"/>
                <a:cs typeface="Times New Roman"/>
              </a:rPr>
              <a:t> </a:t>
            </a:r>
            <a:r>
              <a:rPr sz="1550" dirty="0">
                <a:latin typeface="Times New Roman"/>
                <a:cs typeface="Times New Roman"/>
              </a:rPr>
              <a:t>=</a:t>
            </a:r>
            <a:r>
              <a:rPr sz="1550" spc="10" dirty="0">
                <a:latin typeface="Times New Roman"/>
                <a:cs typeface="Times New Roman"/>
              </a:rPr>
              <a:t> </a:t>
            </a:r>
            <a:r>
              <a:rPr sz="1550" spc="-10" dirty="0">
                <a:latin typeface="Times New Roman"/>
                <a:cs typeface="Times New Roman"/>
              </a:rPr>
              <a:t>4'b0100;</a:t>
            </a:r>
            <a:endParaRPr sz="1550">
              <a:latin typeface="Times New Roman"/>
              <a:cs typeface="Times New Roman"/>
            </a:endParaRPr>
          </a:p>
        </p:txBody>
      </p:sp>
      <p:sp>
        <p:nvSpPr>
          <p:cNvPr id="13" name="object 13"/>
          <p:cNvSpPr txBox="1"/>
          <p:nvPr/>
        </p:nvSpPr>
        <p:spPr>
          <a:xfrm>
            <a:off x="603637" y="1774488"/>
            <a:ext cx="9685020" cy="1176925"/>
          </a:xfrm>
          <a:prstGeom prst="rect">
            <a:avLst/>
          </a:prstGeom>
        </p:spPr>
        <p:txBody>
          <a:bodyPr vert="horz" wrap="square" lIns="0" tIns="12700" rIns="0" bIns="0" rtlCol="0">
            <a:spAutoFit/>
          </a:bodyPr>
          <a:lstStyle/>
          <a:p>
            <a:pPr marL="212725" marR="5080" indent="-200660" algn="just">
              <a:lnSpc>
                <a:spcPct val="150300"/>
              </a:lnSpc>
              <a:spcBef>
                <a:spcPts val="100"/>
              </a:spcBef>
              <a:buClr>
                <a:srgbClr val="EC891C"/>
              </a:buClr>
              <a:buSzPct val="88571"/>
              <a:buFont typeface="Wingdings"/>
              <a:buChar char=""/>
              <a:tabLst>
                <a:tab pos="212725" algn="l"/>
              </a:tabLst>
            </a:pPr>
            <a:r>
              <a:rPr sz="1750" b="1" dirty="0">
                <a:solidFill>
                  <a:srgbClr val="3E3E3E"/>
                </a:solidFill>
                <a:latin typeface="Times New Roman"/>
                <a:cs typeface="Times New Roman"/>
              </a:rPr>
              <a:t>HDL</a:t>
            </a:r>
            <a:r>
              <a:rPr sz="1750" b="1" spc="-5" dirty="0">
                <a:solidFill>
                  <a:srgbClr val="3E3E3E"/>
                </a:solidFill>
                <a:latin typeface="微软雅黑"/>
                <a:cs typeface="微软雅黑"/>
              </a:rPr>
              <a:t>代码经常在表达式和数组边界中使用常数值，这些值在模块内固定不变，好的设计是用符号</a:t>
            </a:r>
            <a:r>
              <a:rPr sz="1750" b="1" dirty="0">
                <a:solidFill>
                  <a:srgbClr val="3E3E3E"/>
                </a:solidFill>
                <a:latin typeface="微软雅黑"/>
                <a:cs typeface="微软雅黑"/>
              </a:rPr>
              <a:t>常量代替“固定文本”，这使得代码清晰并有助于以后的维护和修改。在</a:t>
            </a:r>
            <a:r>
              <a:rPr sz="1750" b="1" dirty="0">
                <a:solidFill>
                  <a:srgbClr val="3E3E3E"/>
                </a:solidFill>
                <a:latin typeface="Times New Roman"/>
                <a:cs typeface="Times New Roman"/>
              </a:rPr>
              <a:t>Verilog</a:t>
            </a:r>
            <a:r>
              <a:rPr sz="1750" b="1" spc="500" dirty="0">
                <a:solidFill>
                  <a:srgbClr val="3E3E3E"/>
                </a:solidFill>
                <a:latin typeface="Times New Roman"/>
                <a:cs typeface="Times New Roman"/>
              </a:rPr>
              <a:t> </a:t>
            </a:r>
            <a:r>
              <a:rPr sz="1750" b="1" dirty="0">
                <a:solidFill>
                  <a:srgbClr val="3E3E3E"/>
                </a:solidFill>
                <a:latin typeface="Times New Roman"/>
                <a:cs typeface="Times New Roman"/>
              </a:rPr>
              <a:t>HDL</a:t>
            </a:r>
            <a:r>
              <a:rPr sz="1750" b="1" spc="-15" dirty="0">
                <a:solidFill>
                  <a:srgbClr val="3E3E3E"/>
                </a:solidFill>
                <a:latin typeface="微软雅黑"/>
                <a:cs typeface="微软雅黑"/>
              </a:rPr>
              <a:t>中，可以</a:t>
            </a:r>
            <a:r>
              <a:rPr sz="1750" b="1" dirty="0">
                <a:solidFill>
                  <a:srgbClr val="3E3E3E"/>
                </a:solidFill>
                <a:latin typeface="微软雅黑"/>
                <a:cs typeface="微软雅黑"/>
              </a:rPr>
              <a:t>用关键词</a:t>
            </a:r>
            <a:r>
              <a:rPr sz="1750" b="1" spc="-10" dirty="0">
                <a:solidFill>
                  <a:srgbClr val="C00000"/>
                </a:solidFill>
                <a:latin typeface="Times New Roman"/>
                <a:cs typeface="Times New Roman"/>
              </a:rPr>
              <a:t>localparam</a:t>
            </a:r>
            <a:r>
              <a:rPr sz="1750" b="1" spc="-10" dirty="0">
                <a:solidFill>
                  <a:srgbClr val="3E3E3E"/>
                </a:solidFill>
                <a:latin typeface="微软雅黑"/>
                <a:cs typeface="微软雅黑"/>
              </a:rPr>
              <a:t>（</a:t>
            </a:r>
            <a:r>
              <a:rPr sz="1750" b="1" dirty="0">
                <a:solidFill>
                  <a:srgbClr val="3E3E3E"/>
                </a:solidFill>
                <a:latin typeface="微软雅黑"/>
                <a:cs typeface="微软雅黑"/>
              </a:rPr>
              <a:t>局部参数）</a:t>
            </a:r>
            <a:r>
              <a:rPr sz="1750" b="1" spc="-5" dirty="0">
                <a:solidFill>
                  <a:srgbClr val="3E3E3E"/>
                </a:solidFill>
                <a:latin typeface="微软雅黑"/>
                <a:cs typeface="微软雅黑"/>
              </a:rPr>
              <a:t>声明常量，例如，我们可以声明数据总线的位宽和范围：</a:t>
            </a:r>
            <a:endParaRPr sz="1750" dirty="0">
              <a:latin typeface="微软雅黑"/>
              <a:cs typeface="微软雅黑"/>
            </a:endParaRPr>
          </a:p>
        </p:txBody>
      </p:sp>
      <p:sp>
        <p:nvSpPr>
          <p:cNvPr id="14" name="object 14"/>
          <p:cNvSpPr txBox="1"/>
          <p:nvPr/>
        </p:nvSpPr>
        <p:spPr>
          <a:xfrm>
            <a:off x="807848" y="5111291"/>
            <a:ext cx="8131175" cy="782955"/>
          </a:xfrm>
          <a:prstGeom prst="rect">
            <a:avLst/>
          </a:prstGeom>
        </p:spPr>
        <p:txBody>
          <a:bodyPr vert="horz" wrap="square" lIns="0" tIns="124460" rIns="0" bIns="0" rtlCol="0">
            <a:spAutoFit/>
          </a:bodyPr>
          <a:lstStyle/>
          <a:p>
            <a:pPr marL="267970" indent="-255270">
              <a:lnSpc>
                <a:spcPct val="100000"/>
              </a:lnSpc>
              <a:spcBef>
                <a:spcPts val="980"/>
              </a:spcBef>
              <a:buFont typeface="Wingdings"/>
              <a:buChar char=""/>
              <a:tabLst>
                <a:tab pos="267970" algn="l"/>
              </a:tabLst>
            </a:pPr>
            <a:r>
              <a:rPr sz="1750" dirty="0">
                <a:latin typeface="微软雅黑"/>
                <a:cs typeface="微软雅黑"/>
              </a:rPr>
              <a:t>声明表达式如</a:t>
            </a:r>
            <a:r>
              <a:rPr sz="1750" spc="-25" dirty="0">
                <a:latin typeface="Times New Roman"/>
                <a:cs typeface="Times New Roman"/>
              </a:rPr>
              <a:t>2**DATA_WIDTH</a:t>
            </a:r>
            <a:r>
              <a:rPr sz="1750" spc="-5" dirty="0">
                <a:latin typeface="Times New Roman"/>
                <a:cs typeface="Times New Roman"/>
              </a:rPr>
              <a:t> - </a:t>
            </a:r>
            <a:r>
              <a:rPr sz="1750" dirty="0">
                <a:latin typeface="Times New Roman"/>
                <a:cs typeface="Times New Roman"/>
              </a:rPr>
              <a:t>1</a:t>
            </a:r>
            <a:r>
              <a:rPr sz="1750" spc="-5" dirty="0">
                <a:latin typeface="微软雅黑"/>
                <a:cs typeface="微软雅黑"/>
              </a:rPr>
              <a:t>，在处理前已经执行，因此不综合物理电路。</a:t>
            </a:r>
            <a:endParaRPr sz="1750">
              <a:latin typeface="微软雅黑"/>
              <a:cs typeface="微软雅黑"/>
            </a:endParaRPr>
          </a:p>
          <a:p>
            <a:pPr marL="267970" indent="-255270">
              <a:lnSpc>
                <a:spcPct val="100000"/>
              </a:lnSpc>
              <a:spcBef>
                <a:spcPts val="880"/>
              </a:spcBef>
              <a:buFont typeface="Wingdings"/>
              <a:buChar char=""/>
              <a:tabLst>
                <a:tab pos="267970" algn="l"/>
              </a:tabLst>
            </a:pPr>
            <a:r>
              <a:rPr sz="1750" spc="-5" dirty="0">
                <a:latin typeface="微软雅黑"/>
                <a:cs typeface="微软雅黑"/>
              </a:rPr>
              <a:t>在本书中，我们用大写字母表示常数。</a:t>
            </a:r>
            <a:endParaRPr sz="1750">
              <a:latin typeface="微软雅黑"/>
              <a:cs typeface="微软雅黑"/>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0237" y="2955798"/>
            <a:ext cx="4025900" cy="3304540"/>
            <a:chOff x="530237" y="2955798"/>
            <a:chExt cx="4025900" cy="3304540"/>
          </a:xfrm>
        </p:grpSpPr>
        <p:sp>
          <p:nvSpPr>
            <p:cNvPr id="3" name="object 3"/>
            <p:cNvSpPr/>
            <p:nvPr/>
          </p:nvSpPr>
          <p:spPr>
            <a:xfrm>
              <a:off x="538619" y="2964180"/>
              <a:ext cx="4009390" cy="3287395"/>
            </a:xfrm>
            <a:custGeom>
              <a:avLst/>
              <a:gdLst/>
              <a:ahLst/>
              <a:cxnLst/>
              <a:rect l="l" t="t" r="r" b="b"/>
              <a:pathLst>
                <a:path w="4009390" h="3287395">
                  <a:moveTo>
                    <a:pt x="4008882" y="3287268"/>
                  </a:moveTo>
                  <a:lnTo>
                    <a:pt x="4008882" y="0"/>
                  </a:lnTo>
                  <a:lnTo>
                    <a:pt x="0" y="0"/>
                  </a:lnTo>
                  <a:lnTo>
                    <a:pt x="0" y="3287268"/>
                  </a:lnTo>
                  <a:lnTo>
                    <a:pt x="4008882" y="3287268"/>
                  </a:lnTo>
                  <a:close/>
                </a:path>
              </a:pathLst>
            </a:custGeom>
            <a:solidFill>
              <a:srgbClr val="F9FABA"/>
            </a:solidFill>
          </p:spPr>
          <p:txBody>
            <a:bodyPr wrap="square" lIns="0" tIns="0" rIns="0" bIns="0" rtlCol="0"/>
            <a:lstStyle/>
            <a:p>
              <a:endParaRPr/>
            </a:p>
          </p:txBody>
        </p:sp>
        <p:sp>
          <p:nvSpPr>
            <p:cNvPr id="4" name="object 4"/>
            <p:cNvSpPr/>
            <p:nvPr/>
          </p:nvSpPr>
          <p:spPr>
            <a:xfrm>
              <a:off x="530237" y="2955798"/>
              <a:ext cx="4025900" cy="3304540"/>
            </a:xfrm>
            <a:custGeom>
              <a:avLst/>
              <a:gdLst/>
              <a:ahLst/>
              <a:cxnLst/>
              <a:rect l="l" t="t" r="r" b="b"/>
              <a:pathLst>
                <a:path w="4025900" h="3304540">
                  <a:moveTo>
                    <a:pt x="4025646" y="3300222"/>
                  </a:moveTo>
                  <a:lnTo>
                    <a:pt x="4025646" y="3810"/>
                  </a:lnTo>
                  <a:lnTo>
                    <a:pt x="4021836" y="0"/>
                  </a:lnTo>
                  <a:lnTo>
                    <a:pt x="3047" y="0"/>
                  </a:lnTo>
                  <a:lnTo>
                    <a:pt x="0" y="3810"/>
                  </a:lnTo>
                  <a:lnTo>
                    <a:pt x="0" y="3300222"/>
                  </a:lnTo>
                  <a:lnTo>
                    <a:pt x="3048" y="3304032"/>
                  </a:lnTo>
                  <a:lnTo>
                    <a:pt x="8382" y="3304032"/>
                  </a:lnTo>
                  <a:lnTo>
                    <a:pt x="8382" y="16764"/>
                  </a:lnTo>
                  <a:lnTo>
                    <a:pt x="16001" y="8382"/>
                  </a:lnTo>
                  <a:lnTo>
                    <a:pt x="16001" y="16764"/>
                  </a:lnTo>
                  <a:lnTo>
                    <a:pt x="4008882" y="16764"/>
                  </a:lnTo>
                  <a:lnTo>
                    <a:pt x="4008882" y="8382"/>
                  </a:lnTo>
                  <a:lnTo>
                    <a:pt x="4017264" y="16764"/>
                  </a:lnTo>
                  <a:lnTo>
                    <a:pt x="4017264" y="3304032"/>
                  </a:lnTo>
                  <a:lnTo>
                    <a:pt x="4021836" y="3304032"/>
                  </a:lnTo>
                  <a:lnTo>
                    <a:pt x="4025646" y="3300222"/>
                  </a:lnTo>
                  <a:close/>
                </a:path>
                <a:path w="4025900" h="3304540">
                  <a:moveTo>
                    <a:pt x="16001" y="16764"/>
                  </a:moveTo>
                  <a:lnTo>
                    <a:pt x="16001" y="8382"/>
                  </a:lnTo>
                  <a:lnTo>
                    <a:pt x="8382" y="16764"/>
                  </a:lnTo>
                  <a:lnTo>
                    <a:pt x="16001" y="16764"/>
                  </a:lnTo>
                  <a:close/>
                </a:path>
                <a:path w="4025900" h="3304540">
                  <a:moveTo>
                    <a:pt x="16002" y="3287268"/>
                  </a:moveTo>
                  <a:lnTo>
                    <a:pt x="16001" y="16764"/>
                  </a:lnTo>
                  <a:lnTo>
                    <a:pt x="8382" y="16764"/>
                  </a:lnTo>
                  <a:lnTo>
                    <a:pt x="8382" y="3287268"/>
                  </a:lnTo>
                  <a:lnTo>
                    <a:pt x="16002" y="3287268"/>
                  </a:lnTo>
                  <a:close/>
                </a:path>
                <a:path w="4025900" h="3304540">
                  <a:moveTo>
                    <a:pt x="4017264" y="3287268"/>
                  </a:moveTo>
                  <a:lnTo>
                    <a:pt x="8382" y="3287268"/>
                  </a:lnTo>
                  <a:lnTo>
                    <a:pt x="16002" y="3295650"/>
                  </a:lnTo>
                  <a:lnTo>
                    <a:pt x="16002" y="3304032"/>
                  </a:lnTo>
                  <a:lnTo>
                    <a:pt x="4008882" y="3304032"/>
                  </a:lnTo>
                  <a:lnTo>
                    <a:pt x="4008882" y="3295650"/>
                  </a:lnTo>
                  <a:lnTo>
                    <a:pt x="4017264" y="3287268"/>
                  </a:lnTo>
                  <a:close/>
                </a:path>
                <a:path w="4025900" h="3304540">
                  <a:moveTo>
                    <a:pt x="16002" y="3304032"/>
                  </a:moveTo>
                  <a:lnTo>
                    <a:pt x="16002" y="3295650"/>
                  </a:lnTo>
                  <a:lnTo>
                    <a:pt x="8382" y="3287268"/>
                  </a:lnTo>
                  <a:lnTo>
                    <a:pt x="8382" y="3304032"/>
                  </a:lnTo>
                  <a:lnTo>
                    <a:pt x="16002" y="3304032"/>
                  </a:lnTo>
                  <a:close/>
                </a:path>
                <a:path w="4025900" h="3304540">
                  <a:moveTo>
                    <a:pt x="4017264" y="16764"/>
                  </a:moveTo>
                  <a:lnTo>
                    <a:pt x="4008882" y="8382"/>
                  </a:lnTo>
                  <a:lnTo>
                    <a:pt x="4008882" y="16764"/>
                  </a:lnTo>
                  <a:lnTo>
                    <a:pt x="4017264" y="16764"/>
                  </a:lnTo>
                  <a:close/>
                </a:path>
                <a:path w="4025900" h="3304540">
                  <a:moveTo>
                    <a:pt x="4017264" y="3287268"/>
                  </a:moveTo>
                  <a:lnTo>
                    <a:pt x="4017264" y="16764"/>
                  </a:lnTo>
                  <a:lnTo>
                    <a:pt x="4008882" y="16764"/>
                  </a:lnTo>
                  <a:lnTo>
                    <a:pt x="4008882" y="3287268"/>
                  </a:lnTo>
                  <a:lnTo>
                    <a:pt x="4017264" y="3287268"/>
                  </a:lnTo>
                  <a:close/>
                </a:path>
                <a:path w="4025900" h="3304540">
                  <a:moveTo>
                    <a:pt x="4017264" y="3304032"/>
                  </a:moveTo>
                  <a:lnTo>
                    <a:pt x="4017264" y="3287268"/>
                  </a:lnTo>
                  <a:lnTo>
                    <a:pt x="4008882" y="3295650"/>
                  </a:lnTo>
                  <a:lnTo>
                    <a:pt x="4008882" y="3304032"/>
                  </a:lnTo>
                  <a:lnTo>
                    <a:pt x="4017264" y="3304032"/>
                  </a:lnTo>
                  <a:close/>
                </a:path>
              </a:pathLst>
            </a:custGeom>
            <a:solidFill>
              <a:srgbClr val="000000"/>
            </a:solidFill>
          </p:spPr>
          <p:txBody>
            <a:bodyPr wrap="square" lIns="0" tIns="0" rIns="0" bIns="0" rtlCol="0"/>
            <a:lstStyle/>
            <a:p>
              <a:endParaRPr/>
            </a:p>
          </p:txBody>
        </p:sp>
      </p:grpSp>
      <p:sp>
        <p:nvSpPr>
          <p:cNvPr id="5" name="object 5"/>
          <p:cNvSpPr txBox="1"/>
          <p:nvPr/>
        </p:nvSpPr>
        <p:spPr>
          <a:xfrm>
            <a:off x="955691" y="3295911"/>
            <a:ext cx="9271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13" name="object 13"/>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1077618" y="3535636"/>
            <a:ext cx="1893570" cy="603250"/>
          </a:xfrm>
          <a:prstGeom prst="rect">
            <a:avLst/>
          </a:prstGeom>
        </p:spPr>
        <p:txBody>
          <a:bodyPr vert="horz" wrap="square" lIns="0" tIns="64135" rIns="0" bIns="0" rtlCol="0">
            <a:spAutoFit/>
          </a:bodyPr>
          <a:lstStyle/>
          <a:p>
            <a:pPr marL="12700">
              <a:lnSpc>
                <a:spcPct val="100000"/>
              </a:lnSpc>
              <a:spcBef>
                <a:spcPts val="505"/>
              </a:spcBef>
            </a:pPr>
            <a:r>
              <a:rPr sz="1550" b="1" dirty="0">
                <a:latin typeface="Times New Roman"/>
                <a:cs typeface="Times New Roman"/>
              </a:rPr>
              <a:t>input</a:t>
            </a:r>
            <a:r>
              <a:rPr sz="1550" b="1" spc="35" dirty="0">
                <a:latin typeface="Times New Roman"/>
                <a:cs typeface="Times New Roman"/>
              </a:rPr>
              <a:t> </a:t>
            </a:r>
            <a:r>
              <a:rPr sz="1550" b="1" dirty="0">
                <a:latin typeface="Times New Roman"/>
                <a:cs typeface="Times New Roman"/>
              </a:rPr>
              <a:t>wire</a:t>
            </a:r>
            <a:r>
              <a:rPr sz="1550" b="1" spc="40" dirty="0">
                <a:latin typeface="Times New Roman"/>
                <a:cs typeface="Times New Roman"/>
              </a:rPr>
              <a:t> </a:t>
            </a:r>
            <a:r>
              <a:rPr sz="1550" dirty="0">
                <a:latin typeface="Times New Roman"/>
                <a:cs typeface="Times New Roman"/>
              </a:rPr>
              <a:t>[3:0]</a:t>
            </a:r>
            <a:r>
              <a:rPr sz="1550" spc="20" dirty="0">
                <a:latin typeface="Times New Roman"/>
                <a:cs typeface="Times New Roman"/>
              </a:rPr>
              <a:t> </a:t>
            </a:r>
            <a:r>
              <a:rPr sz="1550" dirty="0">
                <a:latin typeface="Times New Roman"/>
                <a:cs typeface="Times New Roman"/>
              </a:rPr>
              <a:t>a,</a:t>
            </a:r>
            <a:r>
              <a:rPr sz="1550" spc="30" dirty="0">
                <a:latin typeface="Times New Roman"/>
                <a:cs typeface="Times New Roman"/>
              </a:rPr>
              <a:t> </a:t>
            </a:r>
            <a:r>
              <a:rPr sz="1550" spc="-25" dirty="0">
                <a:latin typeface="Times New Roman"/>
                <a:cs typeface="Times New Roman"/>
              </a:rPr>
              <a:t>b,</a:t>
            </a:r>
            <a:endParaRPr sz="1550">
              <a:latin typeface="Times New Roman"/>
              <a:cs typeface="Times New Roman"/>
            </a:endParaRPr>
          </a:p>
          <a:p>
            <a:pPr marL="12700">
              <a:lnSpc>
                <a:spcPct val="100000"/>
              </a:lnSpc>
              <a:spcBef>
                <a:spcPts val="415"/>
              </a:spcBef>
            </a:pPr>
            <a:r>
              <a:rPr sz="1550" b="1" dirty="0">
                <a:latin typeface="Times New Roman"/>
                <a:cs typeface="Times New Roman"/>
              </a:rPr>
              <a:t>output</a:t>
            </a:r>
            <a:r>
              <a:rPr sz="1550" b="1" spc="25" dirty="0">
                <a:latin typeface="Times New Roman"/>
                <a:cs typeface="Times New Roman"/>
              </a:rPr>
              <a:t> </a:t>
            </a:r>
            <a:r>
              <a:rPr sz="1550" b="1" dirty="0">
                <a:latin typeface="Times New Roman"/>
                <a:cs typeface="Times New Roman"/>
              </a:rPr>
              <a:t>wire</a:t>
            </a:r>
            <a:r>
              <a:rPr sz="1550" b="1" spc="35" dirty="0">
                <a:latin typeface="Times New Roman"/>
                <a:cs typeface="Times New Roman"/>
              </a:rPr>
              <a:t> </a:t>
            </a:r>
            <a:r>
              <a:rPr sz="1550" dirty="0">
                <a:latin typeface="Times New Roman"/>
                <a:cs typeface="Times New Roman"/>
              </a:rPr>
              <a:t>[3:0]</a:t>
            </a:r>
            <a:r>
              <a:rPr sz="1550" spc="20" dirty="0">
                <a:latin typeface="Times New Roman"/>
                <a:cs typeface="Times New Roman"/>
              </a:rPr>
              <a:t> </a:t>
            </a:r>
            <a:r>
              <a:rPr sz="1550" spc="-20" dirty="0">
                <a:latin typeface="Times New Roman"/>
                <a:cs typeface="Times New Roman"/>
              </a:rPr>
              <a:t>sum,</a:t>
            </a:r>
            <a:endParaRPr sz="1550">
              <a:latin typeface="Times New Roman"/>
              <a:cs typeface="Times New Roman"/>
            </a:endParaRPr>
          </a:p>
        </p:txBody>
      </p:sp>
      <p:sp>
        <p:nvSpPr>
          <p:cNvPr id="7" name="object 7"/>
          <p:cNvSpPr txBox="1"/>
          <p:nvPr/>
        </p:nvSpPr>
        <p:spPr>
          <a:xfrm>
            <a:off x="2715687" y="4150167"/>
            <a:ext cx="588010" cy="280035"/>
          </a:xfrm>
          <a:prstGeom prst="rect">
            <a:avLst/>
          </a:prstGeom>
        </p:spPr>
        <p:txBody>
          <a:bodyPr vert="horz" wrap="square" lIns="0" tIns="14604" rIns="0" bIns="0" rtlCol="0">
            <a:spAutoFit/>
          </a:bodyPr>
          <a:lstStyle/>
          <a:p>
            <a:pPr marL="12700">
              <a:lnSpc>
                <a:spcPct val="100000"/>
              </a:lnSpc>
              <a:spcBef>
                <a:spcPts val="114"/>
              </a:spcBef>
            </a:pPr>
            <a:r>
              <a:rPr sz="1550" spc="10" dirty="0">
                <a:latin typeface="Times New Roman"/>
                <a:cs typeface="Times New Roman"/>
              </a:rPr>
              <a:t>// </a:t>
            </a:r>
            <a:r>
              <a:rPr sz="1650" i="1" spc="-70" dirty="0">
                <a:latin typeface="微软雅黑"/>
                <a:cs typeface="微软雅黑"/>
              </a:rPr>
              <a:t>进位</a:t>
            </a:r>
            <a:endParaRPr sz="1650">
              <a:latin typeface="微软雅黑"/>
              <a:cs typeface="微软雅黑"/>
            </a:endParaRPr>
          </a:p>
        </p:txBody>
      </p:sp>
      <p:sp>
        <p:nvSpPr>
          <p:cNvPr id="8" name="object 8"/>
          <p:cNvSpPr txBox="1"/>
          <p:nvPr/>
        </p:nvSpPr>
        <p:spPr>
          <a:xfrm>
            <a:off x="1005973" y="4113282"/>
            <a:ext cx="1486535" cy="603250"/>
          </a:xfrm>
          <a:prstGeom prst="rect">
            <a:avLst/>
          </a:prstGeom>
        </p:spPr>
        <p:txBody>
          <a:bodyPr vert="horz" wrap="square" lIns="0" tIns="64135" rIns="0" bIns="0" rtlCol="0">
            <a:spAutoFit/>
          </a:bodyPr>
          <a:lstStyle/>
          <a:p>
            <a:pPr marL="83820">
              <a:lnSpc>
                <a:spcPct val="100000"/>
              </a:lnSpc>
              <a:spcBef>
                <a:spcPts val="505"/>
              </a:spcBef>
            </a:pPr>
            <a:r>
              <a:rPr sz="1550" b="1" dirty="0">
                <a:latin typeface="Times New Roman"/>
                <a:cs typeface="Times New Roman"/>
              </a:rPr>
              <a:t>output</a:t>
            </a:r>
            <a:r>
              <a:rPr sz="1550" b="1" spc="5" dirty="0">
                <a:latin typeface="Times New Roman"/>
                <a:cs typeface="Times New Roman"/>
              </a:rPr>
              <a:t> </a:t>
            </a:r>
            <a:r>
              <a:rPr sz="1550" b="1" dirty="0">
                <a:latin typeface="Times New Roman"/>
                <a:cs typeface="Times New Roman"/>
              </a:rPr>
              <a:t>wire</a:t>
            </a:r>
            <a:r>
              <a:rPr sz="1550" b="1" spc="20" dirty="0">
                <a:latin typeface="Times New Roman"/>
                <a:cs typeface="Times New Roman"/>
              </a:rPr>
              <a:t> </a:t>
            </a:r>
            <a:r>
              <a:rPr sz="1550" spc="-20" dirty="0">
                <a:latin typeface="Times New Roman"/>
                <a:cs typeface="Times New Roman"/>
              </a:rPr>
              <a:t>cout</a:t>
            </a:r>
            <a:endParaRPr sz="1550">
              <a:latin typeface="Times New Roman"/>
              <a:cs typeface="Times New Roman"/>
            </a:endParaRPr>
          </a:p>
          <a:p>
            <a:pPr marL="12700">
              <a:lnSpc>
                <a:spcPct val="100000"/>
              </a:lnSpc>
              <a:spcBef>
                <a:spcPts val="415"/>
              </a:spcBef>
            </a:pPr>
            <a:r>
              <a:rPr sz="1550" spc="-25" dirty="0">
                <a:latin typeface="Times New Roman"/>
                <a:cs typeface="Times New Roman"/>
              </a:rPr>
              <a:t>);</a:t>
            </a:r>
            <a:endParaRPr sz="1550">
              <a:latin typeface="Times New Roman"/>
              <a:cs typeface="Times New Roman"/>
            </a:endParaRPr>
          </a:p>
        </p:txBody>
      </p:sp>
      <p:sp>
        <p:nvSpPr>
          <p:cNvPr id="9" name="object 9"/>
          <p:cNvSpPr txBox="1"/>
          <p:nvPr/>
        </p:nvSpPr>
        <p:spPr>
          <a:xfrm>
            <a:off x="655463" y="4690059"/>
            <a:ext cx="3691890" cy="1468755"/>
          </a:xfrm>
          <a:prstGeom prst="rect">
            <a:avLst/>
          </a:prstGeom>
        </p:spPr>
        <p:txBody>
          <a:bodyPr vert="horz" wrap="square" lIns="0" tIns="64135" rIns="0" bIns="0" rtlCol="0">
            <a:spAutoFit/>
          </a:bodyPr>
          <a:lstStyle/>
          <a:p>
            <a:pPr marL="434340">
              <a:lnSpc>
                <a:spcPct val="100000"/>
              </a:lnSpc>
              <a:spcBef>
                <a:spcPts val="505"/>
              </a:spcBef>
            </a:pPr>
            <a:r>
              <a:rPr sz="1550" b="1" dirty="0">
                <a:latin typeface="Times New Roman"/>
                <a:cs typeface="Times New Roman"/>
              </a:rPr>
              <a:t>wire</a:t>
            </a:r>
            <a:r>
              <a:rPr sz="1550" b="1" spc="55" dirty="0">
                <a:latin typeface="Times New Roman"/>
                <a:cs typeface="Times New Roman"/>
              </a:rPr>
              <a:t> </a:t>
            </a:r>
            <a:r>
              <a:rPr sz="1550" dirty="0">
                <a:latin typeface="Times New Roman"/>
                <a:cs typeface="Times New Roman"/>
              </a:rPr>
              <a:t>[4:0]</a:t>
            </a:r>
            <a:r>
              <a:rPr sz="1550" spc="50" dirty="0">
                <a:latin typeface="Times New Roman"/>
                <a:cs typeface="Times New Roman"/>
              </a:rPr>
              <a:t> </a:t>
            </a:r>
            <a:r>
              <a:rPr sz="1550" dirty="0">
                <a:latin typeface="Times New Roman"/>
                <a:cs typeface="Times New Roman"/>
              </a:rPr>
              <a:t>sum_ext</a:t>
            </a:r>
            <a:r>
              <a:rPr sz="1550" spc="45"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434340">
              <a:lnSpc>
                <a:spcPct val="100000"/>
              </a:lnSpc>
              <a:spcBef>
                <a:spcPts val="415"/>
              </a:spcBef>
            </a:pPr>
            <a:r>
              <a:rPr sz="1550" b="1" dirty="0">
                <a:latin typeface="Times New Roman"/>
                <a:cs typeface="Times New Roman"/>
              </a:rPr>
              <a:t>assign</a:t>
            </a:r>
            <a:r>
              <a:rPr sz="1550" b="1" spc="35" dirty="0">
                <a:latin typeface="Times New Roman"/>
                <a:cs typeface="Times New Roman"/>
              </a:rPr>
              <a:t> </a:t>
            </a:r>
            <a:r>
              <a:rPr sz="1550" dirty="0">
                <a:latin typeface="Times New Roman"/>
                <a:cs typeface="Times New Roman"/>
              </a:rPr>
              <a:t>sum_ext</a:t>
            </a:r>
            <a:r>
              <a:rPr sz="1550" spc="40"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dirty="0">
                <a:latin typeface="Times New Roman"/>
                <a:cs typeface="Times New Roman"/>
              </a:rPr>
              <a:t>{1’b0,</a:t>
            </a:r>
            <a:r>
              <a:rPr sz="1550" spc="35" dirty="0">
                <a:latin typeface="Times New Roman"/>
                <a:cs typeface="Times New Roman"/>
              </a:rPr>
              <a:t> </a:t>
            </a:r>
            <a:r>
              <a:rPr sz="1550" dirty="0">
                <a:latin typeface="Times New Roman"/>
                <a:cs typeface="Times New Roman"/>
              </a:rPr>
              <a:t>a}</a:t>
            </a:r>
            <a:r>
              <a:rPr sz="1550" spc="4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dirty="0">
                <a:latin typeface="Times New Roman"/>
                <a:cs typeface="Times New Roman"/>
              </a:rPr>
              <a:t>{1’b0,</a:t>
            </a:r>
            <a:r>
              <a:rPr sz="1550" spc="35" dirty="0">
                <a:latin typeface="Times New Roman"/>
                <a:cs typeface="Times New Roman"/>
              </a:rPr>
              <a:t> </a:t>
            </a:r>
            <a:r>
              <a:rPr sz="1550" spc="-25" dirty="0">
                <a:latin typeface="Times New Roman"/>
                <a:cs typeface="Times New Roman"/>
              </a:rPr>
              <a:t>b};</a:t>
            </a:r>
            <a:endParaRPr sz="1550">
              <a:latin typeface="Times New Roman"/>
              <a:cs typeface="Times New Roman"/>
            </a:endParaRPr>
          </a:p>
          <a:p>
            <a:pPr marL="434340">
              <a:lnSpc>
                <a:spcPct val="100000"/>
              </a:lnSpc>
              <a:spcBef>
                <a:spcPts val="415"/>
              </a:spcBef>
            </a:pPr>
            <a:r>
              <a:rPr sz="1550" b="1" dirty="0">
                <a:latin typeface="Times New Roman"/>
                <a:cs typeface="Times New Roman"/>
              </a:rPr>
              <a:t>assign</a:t>
            </a:r>
            <a:r>
              <a:rPr sz="1550" b="1" spc="55" dirty="0">
                <a:latin typeface="Times New Roman"/>
                <a:cs typeface="Times New Roman"/>
              </a:rPr>
              <a:t> </a:t>
            </a:r>
            <a:r>
              <a:rPr sz="1550" dirty="0">
                <a:latin typeface="Times New Roman"/>
                <a:cs typeface="Times New Roman"/>
              </a:rPr>
              <a:t>sum</a:t>
            </a:r>
            <a:r>
              <a:rPr sz="1550" spc="70" dirty="0">
                <a:latin typeface="Times New Roman"/>
                <a:cs typeface="Times New Roman"/>
              </a:rPr>
              <a:t> </a:t>
            </a:r>
            <a:r>
              <a:rPr sz="1550" dirty="0">
                <a:latin typeface="Times New Roman"/>
                <a:cs typeface="Times New Roman"/>
              </a:rPr>
              <a:t>=</a:t>
            </a:r>
            <a:r>
              <a:rPr sz="1550" spc="60" dirty="0">
                <a:latin typeface="Times New Roman"/>
                <a:cs typeface="Times New Roman"/>
              </a:rPr>
              <a:t> </a:t>
            </a:r>
            <a:r>
              <a:rPr sz="1550" dirty="0">
                <a:latin typeface="Times New Roman"/>
                <a:cs typeface="Times New Roman"/>
              </a:rPr>
              <a:t>sum_ext</a:t>
            </a:r>
            <a:r>
              <a:rPr sz="1550" spc="60" dirty="0">
                <a:latin typeface="Times New Roman"/>
                <a:cs typeface="Times New Roman"/>
              </a:rPr>
              <a:t> </a:t>
            </a:r>
            <a:r>
              <a:rPr sz="1550" dirty="0">
                <a:latin typeface="Times New Roman"/>
                <a:cs typeface="Times New Roman"/>
              </a:rPr>
              <a:t>[3:0]</a:t>
            </a:r>
            <a:r>
              <a:rPr sz="1550" spc="55"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434340">
              <a:lnSpc>
                <a:spcPct val="100000"/>
              </a:lnSpc>
              <a:spcBef>
                <a:spcPts val="415"/>
              </a:spcBef>
            </a:pPr>
            <a:r>
              <a:rPr sz="1550" b="1" dirty="0">
                <a:latin typeface="Times New Roman"/>
                <a:cs typeface="Times New Roman"/>
              </a:rPr>
              <a:t>assign</a:t>
            </a:r>
            <a:r>
              <a:rPr sz="1550" b="1" spc="490" dirty="0">
                <a:latin typeface="Times New Roman"/>
                <a:cs typeface="Times New Roman"/>
              </a:rPr>
              <a:t> </a:t>
            </a:r>
            <a:r>
              <a:rPr sz="1550" dirty="0">
                <a:latin typeface="Times New Roman"/>
                <a:cs typeface="Times New Roman"/>
              </a:rPr>
              <a:t>cout=</a:t>
            </a:r>
            <a:r>
              <a:rPr sz="1550" spc="50" dirty="0">
                <a:latin typeface="Times New Roman"/>
                <a:cs typeface="Times New Roman"/>
              </a:rPr>
              <a:t> </a:t>
            </a:r>
            <a:r>
              <a:rPr sz="1550" dirty="0">
                <a:latin typeface="Times New Roman"/>
                <a:cs typeface="Times New Roman"/>
              </a:rPr>
              <a:t>sum_ext</a:t>
            </a:r>
            <a:r>
              <a:rPr sz="1550" spc="45" dirty="0">
                <a:latin typeface="Times New Roman"/>
                <a:cs typeface="Times New Roman"/>
              </a:rPr>
              <a:t> </a:t>
            </a:r>
            <a:r>
              <a:rPr sz="1550" dirty="0">
                <a:latin typeface="Times New Roman"/>
                <a:cs typeface="Times New Roman"/>
              </a:rPr>
              <a:t>[4]</a:t>
            </a:r>
            <a:r>
              <a:rPr sz="1550" spc="45"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12700">
              <a:lnSpc>
                <a:spcPct val="100000"/>
              </a:lnSpc>
              <a:spcBef>
                <a:spcPts val="405"/>
              </a:spcBef>
            </a:pPr>
            <a:r>
              <a:rPr sz="1550" b="1" spc="-10" dirty="0">
                <a:latin typeface="Times New Roman"/>
                <a:cs typeface="Times New Roman"/>
              </a:rPr>
              <a:t>endmodule</a:t>
            </a:r>
            <a:endParaRPr sz="1550">
              <a:latin typeface="Times New Roman"/>
              <a:cs typeface="Times New Roman"/>
            </a:endParaRPr>
          </a:p>
        </p:txBody>
      </p:sp>
      <p:sp>
        <p:nvSpPr>
          <p:cNvPr id="10" name="object 10"/>
          <p:cNvSpPr txBox="1"/>
          <p:nvPr/>
        </p:nvSpPr>
        <p:spPr>
          <a:xfrm>
            <a:off x="4971399" y="3251241"/>
            <a:ext cx="5046345" cy="1628139"/>
          </a:xfrm>
          <a:prstGeom prst="rect">
            <a:avLst/>
          </a:prstGeom>
        </p:spPr>
        <p:txBody>
          <a:bodyPr vert="horz" wrap="square" lIns="0" tIns="12700" rIns="0" bIns="0" rtlCol="0">
            <a:spAutoFit/>
          </a:bodyPr>
          <a:lstStyle/>
          <a:p>
            <a:pPr marL="262890" marR="5715" indent="-250825" algn="just">
              <a:lnSpc>
                <a:spcPct val="120000"/>
              </a:lnSpc>
              <a:spcBef>
                <a:spcPts val="100"/>
              </a:spcBef>
              <a:buFont typeface="Wingdings"/>
              <a:buChar char=""/>
              <a:tabLst>
                <a:tab pos="262890" algn="l"/>
              </a:tabLst>
            </a:pPr>
            <a:r>
              <a:rPr sz="1750" spc="70" dirty="0">
                <a:latin typeface="微软雅黑"/>
                <a:cs typeface="微软雅黑"/>
              </a:rPr>
              <a:t>代码描述的是</a:t>
            </a:r>
            <a:r>
              <a:rPr sz="1750" spc="70" dirty="0">
                <a:latin typeface="Times New Roman"/>
                <a:cs typeface="Times New Roman"/>
              </a:rPr>
              <a:t>4</a:t>
            </a:r>
            <a:r>
              <a:rPr sz="1750" spc="70" dirty="0">
                <a:latin typeface="微软雅黑"/>
                <a:cs typeface="微软雅黑"/>
              </a:rPr>
              <a:t>位加法器，固定值如</a:t>
            </a:r>
            <a:r>
              <a:rPr sz="1750" spc="70" dirty="0">
                <a:latin typeface="Times New Roman"/>
                <a:cs typeface="Times New Roman"/>
              </a:rPr>
              <a:t>3</a:t>
            </a:r>
            <a:r>
              <a:rPr sz="1750" spc="75" dirty="0">
                <a:latin typeface="微软雅黑"/>
                <a:cs typeface="微软雅黑"/>
              </a:rPr>
              <a:t>和</a:t>
            </a:r>
            <a:r>
              <a:rPr sz="1750" spc="75" dirty="0">
                <a:latin typeface="Times New Roman"/>
                <a:cs typeface="Times New Roman"/>
              </a:rPr>
              <a:t>4</a:t>
            </a:r>
            <a:r>
              <a:rPr sz="1750" spc="55" dirty="0">
                <a:latin typeface="微软雅黑"/>
                <a:cs typeface="微软雅黑"/>
              </a:rPr>
              <a:t>用以表</a:t>
            </a:r>
            <a:r>
              <a:rPr sz="1750" spc="-15" dirty="0">
                <a:latin typeface="微软雅黑"/>
                <a:cs typeface="微软雅黑"/>
              </a:rPr>
              <a:t>示范围。</a:t>
            </a:r>
            <a:endParaRPr sz="1750">
              <a:latin typeface="微软雅黑"/>
              <a:cs typeface="微软雅黑"/>
            </a:endParaRPr>
          </a:p>
          <a:p>
            <a:pPr marL="262890" marR="5080" indent="-250825" algn="just">
              <a:lnSpc>
                <a:spcPct val="120300"/>
              </a:lnSpc>
              <a:buFont typeface="Wingdings"/>
              <a:buChar char=""/>
              <a:tabLst>
                <a:tab pos="262890" algn="l"/>
              </a:tabLst>
            </a:pPr>
            <a:r>
              <a:rPr sz="1750" spc="75" dirty="0">
                <a:latin typeface="微软雅黑"/>
                <a:cs typeface="微软雅黑"/>
              </a:rPr>
              <a:t>如果我们想改成</a:t>
            </a:r>
            <a:r>
              <a:rPr sz="1750" spc="75" dirty="0">
                <a:latin typeface="Times New Roman"/>
                <a:cs typeface="Times New Roman"/>
              </a:rPr>
              <a:t>8</a:t>
            </a:r>
            <a:r>
              <a:rPr sz="1750" spc="70" dirty="0">
                <a:latin typeface="微软雅黑"/>
                <a:cs typeface="微软雅黑"/>
              </a:rPr>
              <a:t>位加法器，这些字都要手工修</a:t>
            </a:r>
            <a:r>
              <a:rPr sz="1750" spc="-5" dirty="0">
                <a:latin typeface="微软雅黑"/>
                <a:cs typeface="微软雅黑"/>
              </a:rPr>
              <a:t>改，如果代码很复杂而且这些文字出现在很多地</a:t>
            </a:r>
            <a:r>
              <a:rPr sz="1750" dirty="0">
                <a:latin typeface="微软雅黑"/>
                <a:cs typeface="微软雅黑"/>
              </a:rPr>
              <a:t>方，这将是一个</a:t>
            </a:r>
            <a:r>
              <a:rPr sz="1750" b="1" dirty="0">
                <a:solidFill>
                  <a:srgbClr val="C00000"/>
                </a:solidFill>
                <a:latin typeface="微软雅黑"/>
                <a:cs typeface="微软雅黑"/>
              </a:rPr>
              <a:t>繁琐且容易出错</a:t>
            </a:r>
            <a:r>
              <a:rPr sz="1750" spc="-15" dirty="0">
                <a:latin typeface="微软雅黑"/>
                <a:cs typeface="微软雅黑"/>
              </a:rPr>
              <a:t>的过程。</a:t>
            </a:r>
            <a:endParaRPr sz="1750">
              <a:latin typeface="微软雅黑"/>
              <a:cs typeface="微软雅黑"/>
            </a:endParaRPr>
          </a:p>
        </p:txBody>
      </p:sp>
      <p:sp>
        <p:nvSpPr>
          <p:cNvPr id="11" name="object 11"/>
          <p:cNvSpPr txBox="1"/>
          <p:nvPr/>
        </p:nvSpPr>
        <p:spPr>
          <a:xfrm>
            <a:off x="474097" y="1720850"/>
            <a:ext cx="9624695" cy="1552575"/>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考虑带有进位的加法器，一种方法是手工扩展输入</a:t>
            </a:r>
            <a:r>
              <a:rPr sz="2100" dirty="0">
                <a:latin typeface="Times New Roman"/>
                <a:cs typeface="Times New Roman"/>
              </a:rPr>
              <a:t>1</a:t>
            </a:r>
            <a:r>
              <a:rPr sz="2100" spc="-5" dirty="0">
                <a:latin typeface="微软雅黑"/>
                <a:cs typeface="微软雅黑"/>
              </a:rPr>
              <a:t>位，执行常规加法，截取和</a:t>
            </a:r>
            <a:r>
              <a:rPr sz="2100" spc="-10" dirty="0">
                <a:latin typeface="微软雅黑"/>
                <a:cs typeface="微软雅黑"/>
              </a:rPr>
              <a:t>的最高位作为进位，代码如例</a:t>
            </a:r>
            <a:r>
              <a:rPr sz="2100" spc="-10" dirty="0">
                <a:latin typeface="Times New Roman"/>
                <a:cs typeface="Times New Roman"/>
              </a:rPr>
              <a:t>3.12</a:t>
            </a:r>
            <a:r>
              <a:rPr sz="2100" spc="-25" dirty="0">
                <a:latin typeface="微软雅黑"/>
                <a:cs typeface="微软雅黑"/>
              </a:rPr>
              <a:t>所示</a:t>
            </a:r>
            <a:endParaRPr sz="2100">
              <a:latin typeface="微软雅黑"/>
              <a:cs typeface="微软雅黑"/>
            </a:endParaRPr>
          </a:p>
          <a:p>
            <a:pPr marL="157480">
              <a:lnSpc>
                <a:spcPct val="100000"/>
              </a:lnSpc>
              <a:spcBef>
                <a:spcPts val="2035"/>
              </a:spcBef>
            </a:pPr>
            <a:r>
              <a:rPr sz="1550" b="1" dirty="0">
                <a:solidFill>
                  <a:srgbClr val="FF0000"/>
                </a:solidFill>
                <a:latin typeface="微软雅黑"/>
                <a:cs typeface="微软雅黑"/>
              </a:rPr>
              <a:t>例</a:t>
            </a:r>
            <a:r>
              <a:rPr sz="1550" b="1" dirty="0">
                <a:solidFill>
                  <a:srgbClr val="FF0000"/>
                </a:solidFill>
                <a:latin typeface="Times New Roman"/>
                <a:cs typeface="Times New Roman"/>
              </a:rPr>
              <a:t>3.12</a:t>
            </a:r>
            <a:r>
              <a:rPr sz="1550" b="1" spc="175" dirty="0">
                <a:solidFill>
                  <a:srgbClr val="FF0000"/>
                </a:solidFill>
                <a:latin typeface="Times New Roman"/>
                <a:cs typeface="Times New Roman"/>
              </a:rPr>
              <a:t> </a:t>
            </a:r>
            <a:r>
              <a:rPr sz="1550" b="1" spc="-5" dirty="0">
                <a:solidFill>
                  <a:srgbClr val="FF0000"/>
                </a:solidFill>
                <a:latin typeface="微软雅黑"/>
                <a:cs typeface="微软雅黑"/>
              </a:rPr>
              <a:t>固定位宽的加法器描述</a:t>
            </a:r>
            <a:endParaRPr sz="1550">
              <a:latin typeface="微软雅黑"/>
              <a:cs typeface="微软雅黑"/>
            </a:endParaRPr>
          </a:p>
          <a:p>
            <a:pPr marL="143510">
              <a:lnSpc>
                <a:spcPct val="100000"/>
              </a:lnSpc>
              <a:spcBef>
                <a:spcPts val="1215"/>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adder_carry_hard_lit</a:t>
            </a:r>
            <a:endParaRPr sz="1550">
              <a:latin typeface="Times New Roman"/>
              <a:cs typeface="Times New Roman"/>
            </a:endParaRPr>
          </a:p>
        </p:txBody>
      </p:sp>
      <p:sp>
        <p:nvSpPr>
          <p:cNvPr id="12" name="object 12"/>
          <p:cNvSpPr txBox="1">
            <a:spLocks noGrp="1"/>
          </p:cNvSpPr>
          <p:nvPr>
            <p:ph type="title"/>
          </p:nvPr>
        </p:nvSpPr>
        <p:spPr>
          <a:xfrm>
            <a:off x="605161" y="1091437"/>
            <a:ext cx="1540510" cy="453390"/>
          </a:xfrm>
          <a:prstGeom prst="rect">
            <a:avLst/>
          </a:prstGeom>
        </p:spPr>
        <p:txBody>
          <a:bodyPr vert="horz" wrap="square" lIns="0" tIns="13335" rIns="0" bIns="0" rtlCol="0">
            <a:spAutoFit/>
          </a:bodyPr>
          <a:lstStyle/>
          <a:p>
            <a:pPr marL="12700">
              <a:lnSpc>
                <a:spcPct val="100000"/>
              </a:lnSpc>
              <a:spcBef>
                <a:spcPts val="105"/>
              </a:spcBef>
            </a:pPr>
            <a:r>
              <a:rPr dirty="0">
                <a:solidFill>
                  <a:srgbClr val="000000"/>
                </a:solidFill>
                <a:latin typeface="Times New Roman"/>
                <a:cs typeface="Times New Roman"/>
              </a:rPr>
              <a:t>3.5.1</a:t>
            </a:r>
            <a:r>
              <a:rPr spc="-5" dirty="0">
                <a:solidFill>
                  <a:srgbClr val="000000"/>
                </a:solidFill>
                <a:latin typeface="Times New Roman"/>
                <a:cs typeface="Times New Roman"/>
              </a:rPr>
              <a:t> </a:t>
            </a:r>
            <a:r>
              <a:rPr spc="-25" dirty="0">
                <a:solidFill>
                  <a:srgbClr val="000000"/>
                </a:solidFill>
              </a:rPr>
              <a:t>常数</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02449" y="3009900"/>
            <a:ext cx="6757670" cy="3007360"/>
            <a:chOff x="702449" y="3009900"/>
            <a:chExt cx="6757670" cy="3007360"/>
          </a:xfrm>
        </p:grpSpPr>
        <p:sp>
          <p:nvSpPr>
            <p:cNvPr id="3" name="object 3"/>
            <p:cNvSpPr/>
            <p:nvPr/>
          </p:nvSpPr>
          <p:spPr>
            <a:xfrm>
              <a:off x="707783" y="3015233"/>
              <a:ext cx="6746875" cy="2996565"/>
            </a:xfrm>
            <a:custGeom>
              <a:avLst/>
              <a:gdLst/>
              <a:ahLst/>
              <a:cxnLst/>
              <a:rect l="l" t="t" r="r" b="b"/>
              <a:pathLst>
                <a:path w="6746875" h="2996565">
                  <a:moveTo>
                    <a:pt x="6746748" y="2996183"/>
                  </a:moveTo>
                  <a:lnTo>
                    <a:pt x="6746748" y="0"/>
                  </a:lnTo>
                  <a:lnTo>
                    <a:pt x="0" y="0"/>
                  </a:lnTo>
                  <a:lnTo>
                    <a:pt x="0" y="2996184"/>
                  </a:lnTo>
                  <a:lnTo>
                    <a:pt x="6746748" y="2996183"/>
                  </a:lnTo>
                  <a:close/>
                </a:path>
              </a:pathLst>
            </a:custGeom>
            <a:solidFill>
              <a:srgbClr val="F9FABA"/>
            </a:solidFill>
          </p:spPr>
          <p:txBody>
            <a:bodyPr wrap="square" lIns="0" tIns="0" rIns="0" bIns="0" rtlCol="0"/>
            <a:lstStyle/>
            <a:p>
              <a:endParaRPr/>
            </a:p>
          </p:txBody>
        </p:sp>
        <p:sp>
          <p:nvSpPr>
            <p:cNvPr id="4" name="object 4"/>
            <p:cNvSpPr/>
            <p:nvPr/>
          </p:nvSpPr>
          <p:spPr>
            <a:xfrm>
              <a:off x="702449" y="3009900"/>
              <a:ext cx="6757670" cy="3007360"/>
            </a:xfrm>
            <a:custGeom>
              <a:avLst/>
              <a:gdLst/>
              <a:ahLst/>
              <a:cxnLst/>
              <a:rect l="l" t="t" r="r" b="b"/>
              <a:pathLst>
                <a:path w="6757670" h="3007360">
                  <a:moveTo>
                    <a:pt x="6757416" y="3004566"/>
                  </a:moveTo>
                  <a:lnTo>
                    <a:pt x="6757416" y="2285"/>
                  </a:lnTo>
                  <a:lnTo>
                    <a:pt x="6755130" y="0"/>
                  </a:lnTo>
                  <a:lnTo>
                    <a:pt x="2285" y="0"/>
                  </a:lnTo>
                  <a:lnTo>
                    <a:pt x="0" y="2286"/>
                  </a:lnTo>
                  <a:lnTo>
                    <a:pt x="0" y="3004566"/>
                  </a:lnTo>
                  <a:lnTo>
                    <a:pt x="2286" y="3006852"/>
                  </a:lnTo>
                  <a:lnTo>
                    <a:pt x="5333" y="3006852"/>
                  </a:lnTo>
                  <a:lnTo>
                    <a:pt x="5334" y="11430"/>
                  </a:lnTo>
                  <a:lnTo>
                    <a:pt x="11429" y="5334"/>
                  </a:lnTo>
                  <a:lnTo>
                    <a:pt x="11429" y="11430"/>
                  </a:lnTo>
                  <a:lnTo>
                    <a:pt x="6745985" y="11429"/>
                  </a:lnTo>
                  <a:lnTo>
                    <a:pt x="6745985" y="5333"/>
                  </a:lnTo>
                  <a:lnTo>
                    <a:pt x="6752082" y="11429"/>
                  </a:lnTo>
                  <a:lnTo>
                    <a:pt x="6752082" y="3006852"/>
                  </a:lnTo>
                  <a:lnTo>
                    <a:pt x="6755130" y="3006852"/>
                  </a:lnTo>
                  <a:lnTo>
                    <a:pt x="6757416" y="3004566"/>
                  </a:lnTo>
                  <a:close/>
                </a:path>
                <a:path w="6757670" h="3007360">
                  <a:moveTo>
                    <a:pt x="11429" y="11430"/>
                  </a:moveTo>
                  <a:lnTo>
                    <a:pt x="11429" y="5334"/>
                  </a:lnTo>
                  <a:lnTo>
                    <a:pt x="5334" y="11430"/>
                  </a:lnTo>
                  <a:lnTo>
                    <a:pt x="11429" y="11430"/>
                  </a:lnTo>
                  <a:close/>
                </a:path>
                <a:path w="6757670" h="3007360">
                  <a:moveTo>
                    <a:pt x="11429" y="2996184"/>
                  </a:moveTo>
                  <a:lnTo>
                    <a:pt x="11429" y="11430"/>
                  </a:lnTo>
                  <a:lnTo>
                    <a:pt x="5334" y="11430"/>
                  </a:lnTo>
                  <a:lnTo>
                    <a:pt x="5334" y="2996184"/>
                  </a:lnTo>
                  <a:lnTo>
                    <a:pt x="11429" y="2996184"/>
                  </a:lnTo>
                  <a:close/>
                </a:path>
                <a:path w="6757670" h="3007360">
                  <a:moveTo>
                    <a:pt x="6752082" y="2996184"/>
                  </a:moveTo>
                  <a:lnTo>
                    <a:pt x="5334" y="2996184"/>
                  </a:lnTo>
                  <a:lnTo>
                    <a:pt x="11429" y="3001517"/>
                  </a:lnTo>
                  <a:lnTo>
                    <a:pt x="11429" y="3006852"/>
                  </a:lnTo>
                  <a:lnTo>
                    <a:pt x="6745985" y="3006852"/>
                  </a:lnTo>
                  <a:lnTo>
                    <a:pt x="6745985" y="3001517"/>
                  </a:lnTo>
                  <a:lnTo>
                    <a:pt x="6752082" y="2996184"/>
                  </a:lnTo>
                  <a:close/>
                </a:path>
                <a:path w="6757670" h="3007360">
                  <a:moveTo>
                    <a:pt x="11429" y="3006852"/>
                  </a:moveTo>
                  <a:lnTo>
                    <a:pt x="11429" y="3001517"/>
                  </a:lnTo>
                  <a:lnTo>
                    <a:pt x="5334" y="2996184"/>
                  </a:lnTo>
                  <a:lnTo>
                    <a:pt x="5333" y="3006852"/>
                  </a:lnTo>
                  <a:lnTo>
                    <a:pt x="11429" y="3006852"/>
                  </a:lnTo>
                  <a:close/>
                </a:path>
                <a:path w="6757670" h="3007360">
                  <a:moveTo>
                    <a:pt x="6752082" y="11429"/>
                  </a:moveTo>
                  <a:lnTo>
                    <a:pt x="6745985" y="5333"/>
                  </a:lnTo>
                  <a:lnTo>
                    <a:pt x="6745985" y="11429"/>
                  </a:lnTo>
                  <a:lnTo>
                    <a:pt x="6752082" y="11429"/>
                  </a:lnTo>
                  <a:close/>
                </a:path>
                <a:path w="6757670" h="3007360">
                  <a:moveTo>
                    <a:pt x="6752082" y="2996184"/>
                  </a:moveTo>
                  <a:lnTo>
                    <a:pt x="6752082" y="11429"/>
                  </a:lnTo>
                  <a:lnTo>
                    <a:pt x="6745985" y="11429"/>
                  </a:lnTo>
                  <a:lnTo>
                    <a:pt x="6745985" y="2996184"/>
                  </a:lnTo>
                  <a:lnTo>
                    <a:pt x="6752082" y="2996184"/>
                  </a:lnTo>
                  <a:close/>
                </a:path>
                <a:path w="6757670" h="3007360">
                  <a:moveTo>
                    <a:pt x="6752082" y="3006852"/>
                  </a:moveTo>
                  <a:lnTo>
                    <a:pt x="6752082" y="2996184"/>
                  </a:lnTo>
                  <a:lnTo>
                    <a:pt x="6745985" y="3001517"/>
                  </a:lnTo>
                  <a:lnTo>
                    <a:pt x="6745985" y="3006852"/>
                  </a:lnTo>
                  <a:lnTo>
                    <a:pt x="6752082" y="3006852"/>
                  </a:lnTo>
                  <a:close/>
                </a:path>
              </a:pathLst>
            </a:custGeom>
            <a:solidFill>
              <a:srgbClr val="000000"/>
            </a:solidFill>
          </p:spPr>
          <p:txBody>
            <a:bodyPr wrap="square" lIns="0" tIns="0" rIns="0" bIns="0" rtlCol="0"/>
            <a:lstStyle/>
            <a:p>
              <a:endParaRPr/>
            </a:p>
          </p:txBody>
        </p:sp>
      </p:grpSp>
      <p:sp>
        <p:nvSpPr>
          <p:cNvPr id="5" name="object 5"/>
          <p:cNvSpPr txBox="1"/>
          <p:nvPr/>
        </p:nvSpPr>
        <p:spPr>
          <a:xfrm>
            <a:off x="412376" y="1704085"/>
            <a:ext cx="9679940" cy="4218940"/>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为了增强可读性，我们可以采用符号常数</a:t>
            </a:r>
            <a:r>
              <a:rPr sz="2100" dirty="0">
                <a:latin typeface="Times New Roman"/>
                <a:cs typeface="Times New Roman"/>
              </a:rPr>
              <a:t>N</a:t>
            </a:r>
            <a:r>
              <a:rPr sz="2100" spc="-5" dirty="0">
                <a:latin typeface="微软雅黑"/>
                <a:cs typeface="微软雅黑"/>
              </a:rPr>
              <a:t>来表示加法器的位数，修改后代码如</a:t>
            </a:r>
            <a:r>
              <a:rPr sz="2100" dirty="0">
                <a:latin typeface="微软雅黑"/>
                <a:cs typeface="微软雅黑"/>
              </a:rPr>
              <a:t>例</a:t>
            </a:r>
            <a:r>
              <a:rPr sz="2100" dirty="0">
                <a:latin typeface="Times New Roman"/>
                <a:cs typeface="Times New Roman"/>
              </a:rPr>
              <a:t>3.13</a:t>
            </a:r>
            <a:r>
              <a:rPr sz="2100" spc="-15" dirty="0">
                <a:latin typeface="微软雅黑"/>
                <a:cs typeface="微软雅黑"/>
              </a:rPr>
              <a:t>所示，常数使代码更容易理解和维护。</a:t>
            </a:r>
            <a:endParaRPr sz="2100">
              <a:latin typeface="微软雅黑"/>
              <a:cs typeface="微软雅黑"/>
            </a:endParaRPr>
          </a:p>
          <a:p>
            <a:pPr marL="285750">
              <a:lnSpc>
                <a:spcPct val="100000"/>
              </a:lnSpc>
              <a:spcBef>
                <a:spcPts val="2270"/>
              </a:spcBef>
            </a:pPr>
            <a:r>
              <a:rPr sz="1550" b="1" dirty="0">
                <a:solidFill>
                  <a:srgbClr val="FF0000"/>
                </a:solidFill>
                <a:latin typeface="微软雅黑"/>
                <a:cs typeface="微软雅黑"/>
              </a:rPr>
              <a:t>例</a:t>
            </a:r>
            <a:r>
              <a:rPr sz="1550" b="1" dirty="0">
                <a:solidFill>
                  <a:srgbClr val="FF0000"/>
                </a:solidFill>
                <a:latin typeface="Times New Roman"/>
                <a:cs typeface="Times New Roman"/>
              </a:rPr>
              <a:t>3.13</a:t>
            </a:r>
            <a:r>
              <a:rPr sz="1550" b="1" spc="90" dirty="0">
                <a:solidFill>
                  <a:srgbClr val="FF0000"/>
                </a:solidFill>
                <a:latin typeface="Times New Roman"/>
                <a:cs typeface="Times New Roman"/>
              </a:rPr>
              <a:t>  </a:t>
            </a:r>
            <a:r>
              <a:rPr sz="1550" b="1" spc="-5" dirty="0">
                <a:solidFill>
                  <a:srgbClr val="FF0000"/>
                </a:solidFill>
                <a:latin typeface="微软雅黑"/>
                <a:cs typeface="微软雅黑"/>
              </a:rPr>
              <a:t>使用常数的加法器描述</a:t>
            </a:r>
            <a:endParaRPr sz="1550">
              <a:latin typeface="微软雅黑"/>
              <a:cs typeface="微软雅黑"/>
            </a:endParaRPr>
          </a:p>
          <a:p>
            <a:pPr marL="375285">
              <a:lnSpc>
                <a:spcPct val="100000"/>
              </a:lnSpc>
              <a:spcBef>
                <a:spcPts val="1520"/>
              </a:spcBef>
            </a:pPr>
            <a:r>
              <a:rPr sz="1550" b="1" dirty="0">
                <a:latin typeface="Times New Roman"/>
                <a:cs typeface="Times New Roman"/>
              </a:rPr>
              <a:t>module</a:t>
            </a:r>
            <a:r>
              <a:rPr sz="1550" b="1" spc="75" dirty="0">
                <a:latin typeface="Times New Roman"/>
                <a:cs typeface="Times New Roman"/>
              </a:rPr>
              <a:t> </a:t>
            </a:r>
            <a:r>
              <a:rPr sz="1550" dirty="0">
                <a:latin typeface="Times New Roman"/>
                <a:cs typeface="Times New Roman"/>
              </a:rPr>
              <a:t>adder_carry_local_par</a:t>
            </a:r>
            <a:r>
              <a:rPr sz="1550" spc="55" dirty="0">
                <a:latin typeface="Times New Roman"/>
                <a:cs typeface="Times New Roman"/>
              </a:rPr>
              <a:t> </a:t>
            </a:r>
            <a:r>
              <a:rPr sz="1550" dirty="0">
                <a:latin typeface="Times New Roman"/>
                <a:cs typeface="Times New Roman"/>
              </a:rPr>
              <a:t>(</a:t>
            </a:r>
            <a:r>
              <a:rPr sz="1550" b="1" dirty="0">
                <a:latin typeface="Times New Roman"/>
                <a:cs typeface="Times New Roman"/>
              </a:rPr>
              <a:t>input</a:t>
            </a:r>
            <a:r>
              <a:rPr sz="1550" b="1" spc="75" dirty="0">
                <a:latin typeface="Times New Roman"/>
                <a:cs typeface="Times New Roman"/>
              </a:rPr>
              <a:t> </a:t>
            </a:r>
            <a:r>
              <a:rPr sz="1550" dirty="0">
                <a:latin typeface="Times New Roman"/>
                <a:cs typeface="Times New Roman"/>
              </a:rPr>
              <a:t>[3:0]</a:t>
            </a:r>
            <a:r>
              <a:rPr sz="1550" spc="75" dirty="0">
                <a:latin typeface="Times New Roman"/>
                <a:cs typeface="Times New Roman"/>
              </a:rPr>
              <a:t> </a:t>
            </a:r>
            <a:r>
              <a:rPr sz="1550" dirty="0">
                <a:latin typeface="Times New Roman"/>
                <a:cs typeface="Times New Roman"/>
              </a:rPr>
              <a:t>a,</a:t>
            </a:r>
            <a:r>
              <a:rPr sz="1550" spc="70" dirty="0">
                <a:latin typeface="Times New Roman"/>
                <a:cs typeface="Times New Roman"/>
              </a:rPr>
              <a:t> </a:t>
            </a:r>
            <a:r>
              <a:rPr sz="1550" dirty="0">
                <a:latin typeface="Times New Roman"/>
                <a:cs typeface="Times New Roman"/>
              </a:rPr>
              <a:t>b,</a:t>
            </a:r>
            <a:r>
              <a:rPr sz="1550" spc="80" dirty="0">
                <a:latin typeface="Times New Roman"/>
                <a:cs typeface="Times New Roman"/>
              </a:rPr>
              <a:t> </a:t>
            </a:r>
            <a:r>
              <a:rPr sz="1550" b="1" dirty="0">
                <a:latin typeface="Times New Roman"/>
                <a:cs typeface="Times New Roman"/>
              </a:rPr>
              <a:t>output</a:t>
            </a:r>
            <a:r>
              <a:rPr sz="1550" b="1" spc="70" dirty="0">
                <a:latin typeface="Times New Roman"/>
                <a:cs typeface="Times New Roman"/>
              </a:rPr>
              <a:t> </a:t>
            </a:r>
            <a:r>
              <a:rPr sz="1550" dirty="0">
                <a:latin typeface="Times New Roman"/>
                <a:cs typeface="Times New Roman"/>
              </a:rPr>
              <a:t>[3:0]</a:t>
            </a:r>
            <a:r>
              <a:rPr sz="1550" spc="65" dirty="0">
                <a:latin typeface="Times New Roman"/>
                <a:cs typeface="Times New Roman"/>
              </a:rPr>
              <a:t> </a:t>
            </a:r>
            <a:r>
              <a:rPr sz="1550" spc="-20" dirty="0">
                <a:latin typeface="Times New Roman"/>
                <a:cs typeface="Times New Roman"/>
              </a:rPr>
              <a:t>sum,</a:t>
            </a:r>
            <a:endParaRPr sz="1550">
              <a:latin typeface="Times New Roman"/>
              <a:cs typeface="Times New Roman"/>
            </a:endParaRPr>
          </a:p>
          <a:p>
            <a:pPr marL="847725">
              <a:lnSpc>
                <a:spcPct val="100000"/>
              </a:lnSpc>
              <a:spcBef>
                <a:spcPts val="415"/>
              </a:spcBef>
              <a:tabLst>
                <a:tab pos="2110740" algn="l"/>
              </a:tabLst>
            </a:pPr>
            <a:r>
              <a:rPr sz="1550" b="1" dirty="0">
                <a:latin typeface="Times New Roman"/>
                <a:cs typeface="Times New Roman"/>
              </a:rPr>
              <a:t>output</a:t>
            </a:r>
            <a:r>
              <a:rPr sz="1550" b="1" spc="40" dirty="0">
                <a:latin typeface="Times New Roman"/>
                <a:cs typeface="Times New Roman"/>
              </a:rPr>
              <a:t> </a:t>
            </a:r>
            <a:r>
              <a:rPr sz="1550" spc="-20" dirty="0">
                <a:latin typeface="Times New Roman"/>
                <a:cs typeface="Times New Roman"/>
              </a:rPr>
              <a:t>cout</a:t>
            </a:r>
            <a:r>
              <a:rPr sz="1550" dirty="0">
                <a:latin typeface="Times New Roman"/>
                <a:cs typeface="Times New Roman"/>
              </a:rPr>
              <a:t>	</a:t>
            </a:r>
            <a:r>
              <a:rPr sz="1550" spc="-25" dirty="0">
                <a:latin typeface="Times New Roman"/>
                <a:cs typeface="Times New Roman"/>
              </a:rPr>
              <a:t>);</a:t>
            </a:r>
            <a:endParaRPr sz="1550">
              <a:latin typeface="Times New Roman"/>
              <a:cs typeface="Times New Roman"/>
            </a:endParaRPr>
          </a:p>
          <a:p>
            <a:pPr marL="847725">
              <a:lnSpc>
                <a:spcPct val="100000"/>
              </a:lnSpc>
              <a:spcBef>
                <a:spcPts val="305"/>
              </a:spcBef>
            </a:pPr>
            <a:r>
              <a:rPr sz="1550" spc="15" dirty="0">
                <a:solidFill>
                  <a:srgbClr val="676906"/>
                </a:solidFill>
                <a:latin typeface="Times New Roman"/>
                <a:cs typeface="Times New Roman"/>
              </a:rPr>
              <a:t>// </a:t>
            </a:r>
            <a:r>
              <a:rPr sz="1650" i="1" spc="-80" dirty="0">
                <a:solidFill>
                  <a:srgbClr val="676906"/>
                </a:solidFill>
                <a:latin typeface="微软雅黑"/>
                <a:cs typeface="微软雅黑"/>
              </a:rPr>
              <a:t>常数声明</a:t>
            </a:r>
            <a:endParaRPr sz="1650">
              <a:latin typeface="微软雅黑"/>
              <a:cs typeface="微软雅黑"/>
            </a:endParaRPr>
          </a:p>
          <a:p>
            <a:pPr marL="847725">
              <a:lnSpc>
                <a:spcPct val="100000"/>
              </a:lnSpc>
              <a:spcBef>
                <a:spcPts val="395"/>
              </a:spcBef>
              <a:tabLst>
                <a:tab pos="1950085" algn="l"/>
              </a:tabLst>
            </a:pPr>
            <a:r>
              <a:rPr sz="1550" b="1" spc="-10" dirty="0">
                <a:latin typeface="Times New Roman"/>
                <a:cs typeface="Times New Roman"/>
              </a:rPr>
              <a:t>localparam</a:t>
            </a:r>
            <a:r>
              <a:rPr sz="1550" b="1" dirty="0">
                <a:latin typeface="Times New Roman"/>
                <a:cs typeface="Times New Roman"/>
              </a:rPr>
              <a:t>	</a:t>
            </a:r>
            <a:r>
              <a:rPr sz="1550" dirty="0">
                <a:latin typeface="Times New Roman"/>
                <a:cs typeface="Times New Roman"/>
              </a:rPr>
              <a:t>N</a:t>
            </a:r>
            <a:r>
              <a:rPr sz="1550" spc="10" dirty="0">
                <a:latin typeface="Times New Roman"/>
                <a:cs typeface="Times New Roman"/>
              </a:rPr>
              <a:t> </a:t>
            </a:r>
            <a:r>
              <a:rPr sz="1550" dirty="0">
                <a:latin typeface="Times New Roman"/>
                <a:cs typeface="Times New Roman"/>
              </a:rPr>
              <a:t>=</a:t>
            </a:r>
            <a:r>
              <a:rPr sz="1550" spc="10" dirty="0">
                <a:latin typeface="Times New Roman"/>
                <a:cs typeface="Times New Roman"/>
              </a:rPr>
              <a:t> </a:t>
            </a:r>
            <a:r>
              <a:rPr sz="1550" dirty="0">
                <a:latin typeface="Times New Roman"/>
                <a:cs typeface="Times New Roman"/>
              </a:rPr>
              <a:t>4</a:t>
            </a:r>
            <a:r>
              <a:rPr sz="1550" spc="20" dirty="0">
                <a:latin typeface="Times New Roman"/>
                <a:cs typeface="Times New Roman"/>
              </a:rPr>
              <a:t> </a:t>
            </a:r>
            <a:r>
              <a:rPr sz="1550" b="1" spc="-50" dirty="0">
                <a:latin typeface="Times New Roman"/>
                <a:cs typeface="Times New Roman"/>
              </a:rPr>
              <a:t>,</a:t>
            </a:r>
            <a:endParaRPr sz="1550">
              <a:latin typeface="Times New Roman"/>
              <a:cs typeface="Times New Roman"/>
            </a:endParaRPr>
          </a:p>
          <a:p>
            <a:pPr marL="1950085">
              <a:lnSpc>
                <a:spcPct val="100000"/>
              </a:lnSpc>
              <a:spcBef>
                <a:spcPts val="415"/>
              </a:spcBef>
            </a:pPr>
            <a:r>
              <a:rPr sz="1550" dirty="0">
                <a:latin typeface="Times New Roman"/>
                <a:cs typeface="Times New Roman"/>
              </a:rPr>
              <a:t>N1</a:t>
            </a:r>
            <a:r>
              <a:rPr sz="1550" spc="25"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dirty="0">
                <a:latin typeface="Times New Roman"/>
                <a:cs typeface="Times New Roman"/>
              </a:rPr>
              <a:t>N-</a:t>
            </a:r>
            <a:r>
              <a:rPr sz="1550" spc="-35" dirty="0">
                <a:latin typeface="Times New Roman"/>
                <a:cs typeface="Times New Roman"/>
              </a:rPr>
              <a:t>1;</a:t>
            </a:r>
            <a:endParaRPr sz="1550">
              <a:latin typeface="Times New Roman"/>
              <a:cs typeface="Times New Roman"/>
            </a:endParaRPr>
          </a:p>
          <a:p>
            <a:pPr marL="847725">
              <a:lnSpc>
                <a:spcPct val="100000"/>
              </a:lnSpc>
              <a:spcBef>
                <a:spcPts val="415"/>
              </a:spcBef>
            </a:pPr>
            <a:r>
              <a:rPr sz="1550" b="1" dirty="0">
                <a:latin typeface="Times New Roman"/>
                <a:cs typeface="Times New Roman"/>
              </a:rPr>
              <a:t>wire</a:t>
            </a:r>
            <a:r>
              <a:rPr sz="1550" b="1" spc="35" dirty="0">
                <a:latin typeface="Times New Roman"/>
                <a:cs typeface="Times New Roman"/>
              </a:rPr>
              <a:t> </a:t>
            </a:r>
            <a:r>
              <a:rPr sz="1550" dirty="0">
                <a:latin typeface="Times New Roman"/>
                <a:cs typeface="Times New Roman"/>
              </a:rPr>
              <a:t>[N:0]</a:t>
            </a:r>
            <a:r>
              <a:rPr sz="1550" spc="30" dirty="0">
                <a:latin typeface="Times New Roman"/>
                <a:cs typeface="Times New Roman"/>
              </a:rPr>
              <a:t> </a:t>
            </a:r>
            <a:r>
              <a:rPr sz="1550" spc="-10" dirty="0">
                <a:latin typeface="Times New Roman"/>
                <a:cs typeface="Times New Roman"/>
              </a:rPr>
              <a:t>sum_ext;</a:t>
            </a:r>
            <a:endParaRPr sz="1550">
              <a:latin typeface="Times New Roman"/>
              <a:cs typeface="Times New Roman"/>
            </a:endParaRPr>
          </a:p>
          <a:p>
            <a:pPr marL="847725">
              <a:lnSpc>
                <a:spcPct val="100000"/>
              </a:lnSpc>
              <a:spcBef>
                <a:spcPts val="405"/>
              </a:spcBef>
            </a:pPr>
            <a:r>
              <a:rPr sz="1550" b="1" dirty="0">
                <a:latin typeface="Times New Roman"/>
                <a:cs typeface="Times New Roman"/>
              </a:rPr>
              <a:t>assign</a:t>
            </a:r>
            <a:r>
              <a:rPr sz="1550" b="1" spc="459" dirty="0">
                <a:latin typeface="Times New Roman"/>
                <a:cs typeface="Times New Roman"/>
              </a:rPr>
              <a:t> </a:t>
            </a:r>
            <a:r>
              <a:rPr sz="1550" dirty="0">
                <a:latin typeface="Times New Roman"/>
                <a:cs typeface="Times New Roman"/>
              </a:rPr>
              <a:t>sum_ext</a:t>
            </a:r>
            <a:r>
              <a:rPr sz="1550" spc="30"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dirty="0">
                <a:latin typeface="Times New Roman"/>
                <a:cs typeface="Times New Roman"/>
              </a:rPr>
              <a:t>{1’b0,</a:t>
            </a:r>
            <a:r>
              <a:rPr sz="1550" spc="30" dirty="0">
                <a:latin typeface="Times New Roman"/>
                <a:cs typeface="Times New Roman"/>
              </a:rPr>
              <a:t> </a:t>
            </a:r>
            <a:r>
              <a:rPr sz="1550" dirty="0">
                <a:latin typeface="Times New Roman"/>
                <a:cs typeface="Times New Roman"/>
              </a:rPr>
              <a:t>a}</a:t>
            </a:r>
            <a:r>
              <a:rPr sz="1550" spc="2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dirty="0">
                <a:latin typeface="Times New Roman"/>
                <a:cs typeface="Times New Roman"/>
              </a:rPr>
              <a:t>{1’b0,</a:t>
            </a:r>
            <a:r>
              <a:rPr sz="1550" spc="30" dirty="0">
                <a:latin typeface="Times New Roman"/>
                <a:cs typeface="Times New Roman"/>
              </a:rPr>
              <a:t> </a:t>
            </a:r>
            <a:r>
              <a:rPr sz="1550" spc="-25" dirty="0">
                <a:latin typeface="Times New Roman"/>
                <a:cs typeface="Times New Roman"/>
              </a:rPr>
              <a:t>b};</a:t>
            </a:r>
            <a:endParaRPr sz="1550">
              <a:latin typeface="Times New Roman"/>
              <a:cs typeface="Times New Roman"/>
            </a:endParaRPr>
          </a:p>
          <a:p>
            <a:pPr marL="847725">
              <a:lnSpc>
                <a:spcPct val="100000"/>
              </a:lnSpc>
              <a:spcBef>
                <a:spcPts val="415"/>
              </a:spcBef>
            </a:pPr>
            <a:r>
              <a:rPr sz="1550" b="1" dirty="0">
                <a:latin typeface="Times New Roman"/>
                <a:cs typeface="Times New Roman"/>
              </a:rPr>
              <a:t>assign</a:t>
            </a:r>
            <a:r>
              <a:rPr sz="1550" b="1" spc="480" dirty="0">
                <a:latin typeface="Times New Roman"/>
                <a:cs typeface="Times New Roman"/>
              </a:rPr>
              <a:t> </a:t>
            </a:r>
            <a:r>
              <a:rPr sz="1550" dirty="0">
                <a:latin typeface="Times New Roman"/>
                <a:cs typeface="Times New Roman"/>
              </a:rPr>
              <a:t>sum</a:t>
            </a:r>
            <a:r>
              <a:rPr sz="1550" spc="45" dirty="0">
                <a:latin typeface="Times New Roman"/>
                <a:cs typeface="Times New Roman"/>
              </a:rPr>
              <a:t> </a:t>
            </a:r>
            <a:r>
              <a:rPr sz="1550" dirty="0">
                <a:latin typeface="Times New Roman"/>
                <a:cs typeface="Times New Roman"/>
              </a:rPr>
              <a:t>=</a:t>
            </a:r>
            <a:r>
              <a:rPr sz="1550" spc="45" dirty="0">
                <a:latin typeface="Times New Roman"/>
                <a:cs typeface="Times New Roman"/>
              </a:rPr>
              <a:t> </a:t>
            </a:r>
            <a:r>
              <a:rPr sz="1550" dirty="0">
                <a:latin typeface="Times New Roman"/>
                <a:cs typeface="Times New Roman"/>
              </a:rPr>
              <a:t>sum_ext</a:t>
            </a:r>
            <a:r>
              <a:rPr sz="1550" spc="40" dirty="0">
                <a:latin typeface="Times New Roman"/>
                <a:cs typeface="Times New Roman"/>
              </a:rPr>
              <a:t> </a:t>
            </a:r>
            <a:r>
              <a:rPr sz="1550" dirty="0">
                <a:latin typeface="Times New Roman"/>
                <a:cs typeface="Times New Roman"/>
              </a:rPr>
              <a:t>[N1:0]</a:t>
            </a:r>
            <a:r>
              <a:rPr sz="1550" spc="45"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847725">
              <a:lnSpc>
                <a:spcPct val="100000"/>
              </a:lnSpc>
              <a:spcBef>
                <a:spcPts val="415"/>
              </a:spcBef>
            </a:pPr>
            <a:r>
              <a:rPr sz="1550" b="1" dirty="0">
                <a:latin typeface="Times New Roman"/>
                <a:cs typeface="Times New Roman"/>
              </a:rPr>
              <a:t>assign</a:t>
            </a:r>
            <a:r>
              <a:rPr sz="1550" b="1" spc="484" dirty="0">
                <a:latin typeface="Times New Roman"/>
                <a:cs typeface="Times New Roman"/>
              </a:rPr>
              <a:t> </a:t>
            </a:r>
            <a:r>
              <a:rPr sz="1550" dirty="0">
                <a:latin typeface="Times New Roman"/>
                <a:cs typeface="Times New Roman"/>
              </a:rPr>
              <a:t>cout=</a:t>
            </a:r>
            <a:r>
              <a:rPr sz="1550" spc="50" dirty="0">
                <a:latin typeface="Times New Roman"/>
                <a:cs typeface="Times New Roman"/>
              </a:rPr>
              <a:t> </a:t>
            </a:r>
            <a:r>
              <a:rPr sz="1550" dirty="0">
                <a:latin typeface="Times New Roman"/>
                <a:cs typeface="Times New Roman"/>
              </a:rPr>
              <a:t>sum_ext</a:t>
            </a:r>
            <a:r>
              <a:rPr sz="1550" spc="45" dirty="0">
                <a:latin typeface="Times New Roman"/>
                <a:cs typeface="Times New Roman"/>
              </a:rPr>
              <a:t> </a:t>
            </a:r>
            <a:r>
              <a:rPr sz="1550" dirty="0">
                <a:latin typeface="Times New Roman"/>
                <a:cs typeface="Times New Roman"/>
              </a:rPr>
              <a:t>[N]</a:t>
            </a:r>
            <a:r>
              <a:rPr sz="1550" spc="50"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425450">
              <a:lnSpc>
                <a:spcPct val="100000"/>
              </a:lnSpc>
              <a:spcBef>
                <a:spcPts val="415"/>
              </a:spcBef>
            </a:pPr>
            <a:r>
              <a:rPr sz="1550" b="1" spc="-10" dirty="0">
                <a:latin typeface="Times New Roman"/>
                <a:cs typeface="Times New Roman"/>
              </a:rPr>
              <a:t>endmudule</a:t>
            </a:r>
            <a:endParaRPr sz="155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title"/>
          </p:nvPr>
        </p:nvSpPr>
        <p:spPr>
          <a:xfrm>
            <a:off x="331603" y="1048004"/>
            <a:ext cx="154051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3.5.1</a:t>
            </a:r>
            <a:r>
              <a:rPr spc="-5" dirty="0">
                <a:latin typeface="Times New Roman"/>
                <a:cs typeface="Times New Roman"/>
              </a:rPr>
              <a:t> </a:t>
            </a:r>
            <a:r>
              <a:rPr spc="-25" dirty="0"/>
              <a:t>常数</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611" y="1098295"/>
            <a:ext cx="154051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3.5.2</a:t>
            </a:r>
            <a:r>
              <a:rPr spc="-5" dirty="0">
                <a:latin typeface="Times New Roman"/>
                <a:cs typeface="Times New Roman"/>
              </a:rPr>
              <a:t> </a:t>
            </a:r>
            <a:r>
              <a:rPr spc="-25" dirty="0"/>
              <a:t>参数</a:t>
            </a:r>
          </a:p>
        </p:txBody>
      </p:sp>
      <p:grpSp>
        <p:nvGrpSpPr>
          <p:cNvPr id="3" name="object 3"/>
          <p:cNvGrpSpPr/>
          <p:nvPr/>
        </p:nvGrpSpPr>
        <p:grpSpPr>
          <a:xfrm>
            <a:off x="2823095" y="3362705"/>
            <a:ext cx="4779010" cy="2040889"/>
            <a:chOff x="2823095" y="3362705"/>
            <a:chExt cx="4779010" cy="2040889"/>
          </a:xfrm>
        </p:grpSpPr>
        <p:sp>
          <p:nvSpPr>
            <p:cNvPr id="4" name="object 4"/>
            <p:cNvSpPr/>
            <p:nvPr/>
          </p:nvSpPr>
          <p:spPr>
            <a:xfrm>
              <a:off x="2831477" y="3371087"/>
              <a:ext cx="4761865" cy="2024380"/>
            </a:xfrm>
            <a:custGeom>
              <a:avLst/>
              <a:gdLst/>
              <a:ahLst/>
              <a:cxnLst/>
              <a:rect l="l" t="t" r="r" b="b"/>
              <a:pathLst>
                <a:path w="4761865" h="2024379">
                  <a:moveTo>
                    <a:pt x="4761737" y="2023872"/>
                  </a:moveTo>
                  <a:lnTo>
                    <a:pt x="4761737" y="0"/>
                  </a:lnTo>
                  <a:lnTo>
                    <a:pt x="0" y="0"/>
                  </a:lnTo>
                  <a:lnTo>
                    <a:pt x="0" y="2023872"/>
                  </a:lnTo>
                  <a:lnTo>
                    <a:pt x="4761737" y="2023872"/>
                  </a:lnTo>
                  <a:close/>
                </a:path>
              </a:pathLst>
            </a:custGeom>
            <a:solidFill>
              <a:srgbClr val="F9FABA"/>
            </a:solidFill>
          </p:spPr>
          <p:txBody>
            <a:bodyPr wrap="square" lIns="0" tIns="0" rIns="0" bIns="0" rtlCol="0"/>
            <a:lstStyle/>
            <a:p>
              <a:endParaRPr/>
            </a:p>
          </p:txBody>
        </p:sp>
        <p:sp>
          <p:nvSpPr>
            <p:cNvPr id="5" name="object 5"/>
            <p:cNvSpPr/>
            <p:nvPr/>
          </p:nvSpPr>
          <p:spPr>
            <a:xfrm>
              <a:off x="2823095" y="3362705"/>
              <a:ext cx="4779010" cy="2040889"/>
            </a:xfrm>
            <a:custGeom>
              <a:avLst/>
              <a:gdLst/>
              <a:ahLst/>
              <a:cxnLst/>
              <a:rect l="l" t="t" r="r" b="b"/>
              <a:pathLst>
                <a:path w="4779009" h="2040889">
                  <a:moveTo>
                    <a:pt x="4778502" y="2036826"/>
                  </a:moveTo>
                  <a:lnTo>
                    <a:pt x="4778502" y="3810"/>
                  </a:lnTo>
                  <a:lnTo>
                    <a:pt x="4774692" y="0"/>
                  </a:lnTo>
                  <a:lnTo>
                    <a:pt x="3809" y="0"/>
                  </a:lnTo>
                  <a:lnTo>
                    <a:pt x="0" y="3810"/>
                  </a:lnTo>
                  <a:lnTo>
                    <a:pt x="0" y="2036826"/>
                  </a:lnTo>
                  <a:lnTo>
                    <a:pt x="3810" y="2040636"/>
                  </a:lnTo>
                  <a:lnTo>
                    <a:pt x="8382" y="2040636"/>
                  </a:lnTo>
                  <a:lnTo>
                    <a:pt x="8382" y="16764"/>
                  </a:lnTo>
                  <a:lnTo>
                    <a:pt x="16763" y="8382"/>
                  </a:lnTo>
                  <a:lnTo>
                    <a:pt x="16763" y="16764"/>
                  </a:lnTo>
                  <a:lnTo>
                    <a:pt x="4761738" y="16764"/>
                  </a:lnTo>
                  <a:lnTo>
                    <a:pt x="4761738" y="8382"/>
                  </a:lnTo>
                  <a:lnTo>
                    <a:pt x="4770120" y="16764"/>
                  </a:lnTo>
                  <a:lnTo>
                    <a:pt x="4770120" y="2040636"/>
                  </a:lnTo>
                  <a:lnTo>
                    <a:pt x="4774692" y="2040636"/>
                  </a:lnTo>
                  <a:lnTo>
                    <a:pt x="4778502" y="2036826"/>
                  </a:lnTo>
                  <a:close/>
                </a:path>
                <a:path w="4779009" h="2040889">
                  <a:moveTo>
                    <a:pt x="16763" y="16764"/>
                  </a:moveTo>
                  <a:lnTo>
                    <a:pt x="16763" y="8382"/>
                  </a:lnTo>
                  <a:lnTo>
                    <a:pt x="8382" y="16764"/>
                  </a:lnTo>
                  <a:lnTo>
                    <a:pt x="16763" y="16764"/>
                  </a:lnTo>
                  <a:close/>
                </a:path>
                <a:path w="4779009" h="2040889">
                  <a:moveTo>
                    <a:pt x="16764" y="2023872"/>
                  </a:moveTo>
                  <a:lnTo>
                    <a:pt x="16763" y="16764"/>
                  </a:lnTo>
                  <a:lnTo>
                    <a:pt x="8382" y="16764"/>
                  </a:lnTo>
                  <a:lnTo>
                    <a:pt x="8382" y="2023872"/>
                  </a:lnTo>
                  <a:lnTo>
                    <a:pt x="16764" y="2023872"/>
                  </a:lnTo>
                  <a:close/>
                </a:path>
                <a:path w="4779009" h="2040889">
                  <a:moveTo>
                    <a:pt x="4770120" y="2023871"/>
                  </a:moveTo>
                  <a:lnTo>
                    <a:pt x="8382" y="2023872"/>
                  </a:lnTo>
                  <a:lnTo>
                    <a:pt x="16764" y="2032254"/>
                  </a:lnTo>
                  <a:lnTo>
                    <a:pt x="16764" y="2040636"/>
                  </a:lnTo>
                  <a:lnTo>
                    <a:pt x="4761738" y="2040636"/>
                  </a:lnTo>
                  <a:lnTo>
                    <a:pt x="4761738" y="2032254"/>
                  </a:lnTo>
                  <a:lnTo>
                    <a:pt x="4770120" y="2023871"/>
                  </a:lnTo>
                  <a:close/>
                </a:path>
                <a:path w="4779009" h="2040889">
                  <a:moveTo>
                    <a:pt x="16764" y="2040636"/>
                  </a:moveTo>
                  <a:lnTo>
                    <a:pt x="16764" y="2032254"/>
                  </a:lnTo>
                  <a:lnTo>
                    <a:pt x="8382" y="2023872"/>
                  </a:lnTo>
                  <a:lnTo>
                    <a:pt x="8382" y="2040636"/>
                  </a:lnTo>
                  <a:lnTo>
                    <a:pt x="16764" y="2040636"/>
                  </a:lnTo>
                  <a:close/>
                </a:path>
                <a:path w="4779009" h="2040889">
                  <a:moveTo>
                    <a:pt x="4770120" y="16764"/>
                  </a:moveTo>
                  <a:lnTo>
                    <a:pt x="4761738" y="8382"/>
                  </a:lnTo>
                  <a:lnTo>
                    <a:pt x="4761738" y="16764"/>
                  </a:lnTo>
                  <a:lnTo>
                    <a:pt x="4770120" y="16764"/>
                  </a:lnTo>
                  <a:close/>
                </a:path>
                <a:path w="4779009" h="2040889">
                  <a:moveTo>
                    <a:pt x="4770120" y="2023871"/>
                  </a:moveTo>
                  <a:lnTo>
                    <a:pt x="4770120" y="16764"/>
                  </a:lnTo>
                  <a:lnTo>
                    <a:pt x="4761738" y="16764"/>
                  </a:lnTo>
                  <a:lnTo>
                    <a:pt x="4761738" y="2023871"/>
                  </a:lnTo>
                  <a:lnTo>
                    <a:pt x="4770120" y="2023871"/>
                  </a:lnTo>
                  <a:close/>
                </a:path>
                <a:path w="4779009" h="2040889">
                  <a:moveTo>
                    <a:pt x="4770120" y="2040636"/>
                  </a:moveTo>
                  <a:lnTo>
                    <a:pt x="4770120" y="2023871"/>
                  </a:lnTo>
                  <a:lnTo>
                    <a:pt x="4761738" y="2032254"/>
                  </a:lnTo>
                  <a:lnTo>
                    <a:pt x="4761738" y="2040636"/>
                  </a:lnTo>
                  <a:lnTo>
                    <a:pt x="4770120" y="2040636"/>
                  </a:lnTo>
                  <a:close/>
                </a:path>
              </a:pathLst>
            </a:custGeom>
            <a:solidFill>
              <a:srgbClr val="000000"/>
            </a:solidFill>
          </p:spPr>
          <p:txBody>
            <a:bodyPr wrap="square" lIns="0" tIns="0" rIns="0" bIns="0" rtlCol="0"/>
            <a:lstStyle/>
            <a:p>
              <a:endParaRPr/>
            </a:p>
          </p:txBody>
        </p:sp>
      </p:grpSp>
      <p:sp>
        <p:nvSpPr>
          <p:cNvPr id="6" name="object 6"/>
          <p:cNvSpPr txBox="1"/>
          <p:nvPr/>
        </p:nvSpPr>
        <p:spPr>
          <a:xfrm>
            <a:off x="525152" y="1680464"/>
            <a:ext cx="9622148" cy="3659207"/>
          </a:xfrm>
          <a:prstGeom prst="rect">
            <a:avLst/>
          </a:prstGeom>
        </p:spPr>
        <p:txBody>
          <a:bodyPr vert="horz" wrap="square" lIns="0" tIns="12700" rIns="0" bIns="0" rtlCol="0">
            <a:spAutoFit/>
          </a:bodyPr>
          <a:lstStyle/>
          <a:p>
            <a:pPr marL="212725" marR="5080" indent="-203200" algn="just">
              <a:lnSpc>
                <a:spcPct val="100200"/>
              </a:lnSpc>
              <a:spcBef>
                <a:spcPts val="100"/>
              </a:spcBef>
              <a:buSzPct val="95238"/>
              <a:buFont typeface="Wingdings"/>
              <a:buChar char=""/>
              <a:tabLst>
                <a:tab pos="212725" algn="l"/>
                <a:tab pos="249554" algn="l"/>
              </a:tabLst>
            </a:pPr>
            <a:r>
              <a:rPr sz="2100" spc="-40" dirty="0">
                <a:latin typeface="Times New Roman"/>
                <a:cs typeface="Times New Roman"/>
              </a:rPr>
              <a:t>	Verilog</a:t>
            </a:r>
            <a:r>
              <a:rPr sz="2100" spc="50" dirty="0">
                <a:latin typeface="微软雅黑"/>
                <a:cs typeface="微软雅黑"/>
              </a:rPr>
              <a:t>模块可以实例化为组件并成为更大设计的一部分。</a:t>
            </a:r>
            <a:r>
              <a:rPr sz="2100" spc="-40" dirty="0">
                <a:latin typeface="Times New Roman"/>
                <a:cs typeface="Times New Roman"/>
              </a:rPr>
              <a:t>Verilog</a:t>
            </a:r>
            <a:r>
              <a:rPr sz="2100" spc="40" dirty="0">
                <a:latin typeface="微软雅黑"/>
                <a:cs typeface="微软雅黑"/>
              </a:rPr>
              <a:t>提供一种结构</a:t>
            </a:r>
            <a:r>
              <a:rPr sz="2100" spc="50" dirty="0">
                <a:latin typeface="微软雅黑"/>
                <a:cs typeface="微软雅黑"/>
              </a:rPr>
              <a:t>称为</a:t>
            </a:r>
            <a:r>
              <a:rPr sz="2100" spc="-10" dirty="0">
                <a:solidFill>
                  <a:srgbClr val="FF0000"/>
                </a:solidFill>
                <a:latin typeface="Times New Roman"/>
                <a:cs typeface="Times New Roman"/>
              </a:rPr>
              <a:t>parameter</a:t>
            </a:r>
            <a:r>
              <a:rPr sz="2100" spc="30" dirty="0">
                <a:latin typeface="微软雅黑"/>
                <a:cs typeface="微软雅黑"/>
              </a:rPr>
              <a:t>，向模块传递信息，这种机制使得模块多功能化并能重复使用。</a:t>
            </a:r>
            <a:r>
              <a:rPr sz="2100" spc="-15" dirty="0">
                <a:latin typeface="微软雅黑"/>
                <a:cs typeface="微软雅黑"/>
              </a:rPr>
              <a:t>参数在模块内不能改变，因此功能与常数类似。</a:t>
            </a:r>
            <a:endParaRPr sz="2100" dirty="0">
              <a:latin typeface="微软雅黑"/>
              <a:cs typeface="微软雅黑"/>
            </a:endParaRPr>
          </a:p>
          <a:p>
            <a:pPr marL="250190" indent="-240029">
              <a:lnSpc>
                <a:spcPct val="100000"/>
              </a:lnSpc>
              <a:spcBef>
                <a:spcPts val="875"/>
              </a:spcBef>
              <a:buSzPct val="95238"/>
              <a:buFont typeface="Wingdings"/>
              <a:buChar char=""/>
              <a:tabLst>
                <a:tab pos="250190" algn="l"/>
              </a:tabLst>
            </a:pPr>
            <a:r>
              <a:rPr sz="2100" dirty="0">
                <a:latin typeface="微软雅黑"/>
                <a:cs typeface="微软雅黑"/>
              </a:rPr>
              <a:t>在</a:t>
            </a:r>
            <a:r>
              <a:rPr sz="2100" spc="-40" dirty="0">
                <a:latin typeface="Times New Roman"/>
                <a:cs typeface="Times New Roman"/>
              </a:rPr>
              <a:t>Verilog-</a:t>
            </a:r>
            <a:r>
              <a:rPr sz="2100" spc="-10" dirty="0">
                <a:latin typeface="Times New Roman"/>
                <a:cs typeface="Times New Roman"/>
              </a:rPr>
              <a:t>2001</a:t>
            </a:r>
            <a:r>
              <a:rPr sz="2100" spc="-15" dirty="0">
                <a:latin typeface="微软雅黑"/>
                <a:cs typeface="微软雅黑"/>
              </a:rPr>
              <a:t>中，参数声明部分</a:t>
            </a:r>
            <a:r>
              <a:rPr lang="zh-CN" altLang="en-US" sz="2100" spc="-15" dirty="0">
                <a:latin typeface="微软雅黑"/>
                <a:cs typeface="微软雅黑"/>
              </a:rPr>
              <a:t>也</a:t>
            </a:r>
            <a:r>
              <a:rPr sz="2100" spc="-15" dirty="0" err="1">
                <a:latin typeface="微软雅黑"/>
                <a:cs typeface="微软雅黑"/>
              </a:rPr>
              <a:t>可以在开头，在端口声明之前，其语法如下</a:t>
            </a:r>
            <a:r>
              <a:rPr sz="2100" spc="-15" dirty="0">
                <a:latin typeface="微软雅黑"/>
                <a:cs typeface="微软雅黑"/>
              </a:rPr>
              <a:t>：</a:t>
            </a:r>
            <a:endParaRPr sz="2100" dirty="0">
              <a:latin typeface="微软雅黑"/>
              <a:cs typeface="微软雅黑"/>
            </a:endParaRPr>
          </a:p>
          <a:p>
            <a:pPr marL="2787015" marR="5662295" indent="-350520">
              <a:lnSpc>
                <a:spcPct val="102299"/>
              </a:lnSpc>
              <a:spcBef>
                <a:spcPts val="2475"/>
              </a:spcBef>
            </a:pPr>
            <a:r>
              <a:rPr sz="1550" b="1" dirty="0">
                <a:latin typeface="Times New Roman"/>
                <a:cs typeface="Times New Roman"/>
              </a:rPr>
              <a:t>module</a:t>
            </a:r>
            <a:r>
              <a:rPr sz="1550" b="1" spc="105" dirty="0">
                <a:latin typeface="Times New Roman"/>
                <a:cs typeface="Times New Roman"/>
              </a:rPr>
              <a:t> </a:t>
            </a:r>
            <a:r>
              <a:rPr sz="1550" dirty="0">
                <a:latin typeface="Times New Roman"/>
                <a:cs typeface="Times New Roman"/>
              </a:rPr>
              <a:t>[</a:t>
            </a:r>
            <a:r>
              <a:rPr sz="1550" dirty="0">
                <a:latin typeface="微软雅黑"/>
                <a:cs typeface="微软雅黑"/>
              </a:rPr>
              <a:t>模块名</a:t>
            </a:r>
            <a:r>
              <a:rPr sz="1550" spc="-50" dirty="0">
                <a:latin typeface="Times New Roman"/>
                <a:cs typeface="Times New Roman"/>
              </a:rPr>
              <a:t>] </a:t>
            </a:r>
            <a:r>
              <a:rPr sz="1550" spc="-15" dirty="0">
                <a:latin typeface="Times New Roman"/>
                <a:cs typeface="Times New Roman"/>
              </a:rPr>
              <a:t># (</a:t>
            </a:r>
            <a:endParaRPr sz="1550" dirty="0">
              <a:latin typeface="Times New Roman"/>
              <a:cs typeface="Times New Roman"/>
            </a:endParaRPr>
          </a:p>
          <a:p>
            <a:pPr marR="3999865" algn="r">
              <a:lnSpc>
                <a:spcPct val="100000"/>
              </a:lnSpc>
              <a:spcBef>
                <a:spcPts val="25"/>
              </a:spcBef>
            </a:pPr>
            <a:r>
              <a:rPr sz="1550" b="1" dirty="0">
                <a:latin typeface="Times New Roman"/>
                <a:cs typeface="Times New Roman"/>
              </a:rPr>
              <a:t>parameter</a:t>
            </a:r>
            <a:r>
              <a:rPr sz="1550" b="1" spc="20" dirty="0">
                <a:latin typeface="Times New Roman"/>
                <a:cs typeface="Times New Roman"/>
              </a:rPr>
              <a:t> </a:t>
            </a:r>
            <a:r>
              <a:rPr sz="1550" dirty="0">
                <a:latin typeface="Times New Roman"/>
                <a:cs typeface="Times New Roman"/>
              </a:rPr>
              <a:t>[</a:t>
            </a:r>
            <a:r>
              <a:rPr sz="1550" dirty="0">
                <a:latin typeface="微软雅黑"/>
                <a:cs typeface="微软雅黑"/>
              </a:rPr>
              <a:t>参数名</a:t>
            </a:r>
            <a:r>
              <a:rPr sz="1550" spc="20" dirty="0">
                <a:latin typeface="Times New Roman"/>
                <a:cs typeface="Times New Roman"/>
              </a:rPr>
              <a:t>] = [</a:t>
            </a:r>
            <a:r>
              <a:rPr sz="1550" dirty="0">
                <a:latin typeface="微软雅黑"/>
                <a:cs typeface="微软雅黑"/>
              </a:rPr>
              <a:t>默认值</a:t>
            </a:r>
            <a:r>
              <a:rPr sz="1550" dirty="0">
                <a:latin typeface="Times New Roman"/>
                <a:cs typeface="Times New Roman"/>
              </a:rPr>
              <a:t>] ,</a:t>
            </a:r>
          </a:p>
          <a:p>
            <a:pPr marR="3990975" algn="r">
              <a:lnSpc>
                <a:spcPct val="100000"/>
              </a:lnSpc>
              <a:spcBef>
                <a:spcPts val="35"/>
              </a:spcBef>
            </a:pPr>
            <a:r>
              <a:rPr sz="1550" dirty="0">
                <a:latin typeface="Times New Roman"/>
                <a:cs typeface="Times New Roman"/>
              </a:rPr>
              <a:t>[</a:t>
            </a:r>
            <a:r>
              <a:rPr sz="1550" dirty="0">
                <a:latin typeface="微软雅黑"/>
                <a:cs typeface="微软雅黑"/>
              </a:rPr>
              <a:t>参数名</a:t>
            </a:r>
            <a:r>
              <a:rPr sz="1550" spc="20" dirty="0">
                <a:latin typeface="Times New Roman"/>
                <a:cs typeface="Times New Roman"/>
              </a:rPr>
              <a:t>] = [</a:t>
            </a:r>
            <a:r>
              <a:rPr sz="1550" dirty="0">
                <a:latin typeface="微软雅黑"/>
                <a:cs typeface="微软雅黑"/>
              </a:rPr>
              <a:t>默认值</a:t>
            </a:r>
            <a:r>
              <a:rPr sz="1550" spc="-5" dirty="0">
                <a:latin typeface="Times New Roman"/>
                <a:cs typeface="Times New Roman"/>
              </a:rPr>
              <a:t>] ;</a:t>
            </a:r>
            <a:endParaRPr sz="1550" dirty="0">
              <a:latin typeface="Times New Roman"/>
              <a:cs typeface="Times New Roman"/>
            </a:endParaRPr>
          </a:p>
          <a:p>
            <a:pPr marL="2887345">
              <a:lnSpc>
                <a:spcPct val="100000"/>
              </a:lnSpc>
              <a:spcBef>
                <a:spcPts val="35"/>
              </a:spcBef>
            </a:pPr>
            <a:r>
              <a:rPr sz="1550" spc="-50" dirty="0">
                <a:latin typeface="Times New Roman"/>
                <a:cs typeface="Times New Roman"/>
              </a:rPr>
              <a:t>)</a:t>
            </a:r>
            <a:endParaRPr sz="1550" dirty="0">
              <a:latin typeface="Times New Roman"/>
              <a:cs typeface="Times New Roman"/>
            </a:endParaRPr>
          </a:p>
          <a:p>
            <a:pPr marL="2887345">
              <a:lnSpc>
                <a:spcPct val="100000"/>
              </a:lnSpc>
              <a:spcBef>
                <a:spcPts val="35"/>
              </a:spcBef>
            </a:pPr>
            <a:r>
              <a:rPr sz="1550" spc="-50" dirty="0">
                <a:latin typeface="Times New Roman"/>
                <a:cs typeface="Times New Roman"/>
              </a:rPr>
              <a:t>(</a:t>
            </a:r>
            <a:endParaRPr sz="1550" dirty="0">
              <a:latin typeface="Times New Roman"/>
              <a:cs typeface="Times New Roman"/>
            </a:endParaRPr>
          </a:p>
          <a:p>
            <a:pPr marL="3037205">
              <a:lnSpc>
                <a:spcPct val="100000"/>
              </a:lnSpc>
              <a:spcBef>
                <a:spcPts val="40"/>
              </a:spcBef>
            </a:pPr>
            <a:r>
              <a:rPr sz="1550" dirty="0">
                <a:latin typeface="Times New Roman"/>
                <a:cs typeface="Times New Roman"/>
              </a:rPr>
              <a:t>.</a:t>
            </a:r>
            <a:r>
              <a:rPr sz="1550" spc="5" dirty="0">
                <a:latin typeface="Times New Roman"/>
                <a:cs typeface="Times New Roman"/>
              </a:rPr>
              <a:t> </a:t>
            </a:r>
            <a:r>
              <a:rPr sz="1550" dirty="0">
                <a:latin typeface="Times New Roman"/>
                <a:cs typeface="Times New Roman"/>
              </a:rPr>
              <a:t>.</a:t>
            </a:r>
            <a:r>
              <a:rPr sz="1550" spc="10" dirty="0">
                <a:latin typeface="Times New Roman"/>
                <a:cs typeface="Times New Roman"/>
              </a:rPr>
              <a:t> </a:t>
            </a:r>
            <a:r>
              <a:rPr sz="1550" spc="-50" dirty="0">
                <a:latin typeface="Times New Roman"/>
                <a:cs typeface="Times New Roman"/>
              </a:rPr>
              <a:t>.</a:t>
            </a:r>
            <a:endParaRPr sz="1550" dirty="0">
              <a:latin typeface="Times New Roman"/>
              <a:cs typeface="Times New Roman"/>
            </a:endParaRPr>
          </a:p>
          <a:p>
            <a:pPr marL="2936875">
              <a:lnSpc>
                <a:spcPct val="100000"/>
              </a:lnSpc>
              <a:spcBef>
                <a:spcPts val="35"/>
              </a:spcBef>
            </a:pPr>
            <a:r>
              <a:rPr sz="1550" spc="-25" dirty="0">
                <a:latin typeface="Times New Roman"/>
                <a:cs typeface="Times New Roman"/>
              </a:rPr>
              <a:t>);</a:t>
            </a:r>
            <a:endParaRPr sz="155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3993" y="3033522"/>
            <a:ext cx="6007100" cy="3255645"/>
            <a:chOff x="863993" y="3033522"/>
            <a:chExt cx="6007100" cy="3255645"/>
          </a:xfrm>
        </p:grpSpPr>
        <p:sp>
          <p:nvSpPr>
            <p:cNvPr id="3" name="object 3"/>
            <p:cNvSpPr/>
            <p:nvPr/>
          </p:nvSpPr>
          <p:spPr>
            <a:xfrm>
              <a:off x="872375" y="3041904"/>
              <a:ext cx="5990590" cy="3238500"/>
            </a:xfrm>
            <a:custGeom>
              <a:avLst/>
              <a:gdLst/>
              <a:ahLst/>
              <a:cxnLst/>
              <a:rect l="l" t="t" r="r" b="b"/>
              <a:pathLst>
                <a:path w="5990590" h="3238500">
                  <a:moveTo>
                    <a:pt x="5990082" y="3238499"/>
                  </a:moveTo>
                  <a:lnTo>
                    <a:pt x="5990082" y="0"/>
                  </a:lnTo>
                  <a:lnTo>
                    <a:pt x="0" y="0"/>
                  </a:lnTo>
                  <a:lnTo>
                    <a:pt x="0" y="3238500"/>
                  </a:lnTo>
                  <a:lnTo>
                    <a:pt x="5990082" y="3238499"/>
                  </a:lnTo>
                  <a:close/>
                </a:path>
              </a:pathLst>
            </a:custGeom>
            <a:solidFill>
              <a:srgbClr val="F9FABA"/>
            </a:solidFill>
          </p:spPr>
          <p:txBody>
            <a:bodyPr wrap="square" lIns="0" tIns="0" rIns="0" bIns="0" rtlCol="0"/>
            <a:lstStyle/>
            <a:p>
              <a:endParaRPr/>
            </a:p>
          </p:txBody>
        </p:sp>
        <p:sp>
          <p:nvSpPr>
            <p:cNvPr id="4" name="object 4"/>
            <p:cNvSpPr/>
            <p:nvPr/>
          </p:nvSpPr>
          <p:spPr>
            <a:xfrm>
              <a:off x="863993" y="3033522"/>
              <a:ext cx="6007100" cy="3255645"/>
            </a:xfrm>
            <a:custGeom>
              <a:avLst/>
              <a:gdLst/>
              <a:ahLst/>
              <a:cxnLst/>
              <a:rect l="l" t="t" r="r" b="b"/>
              <a:pathLst>
                <a:path w="6007100" h="3255645">
                  <a:moveTo>
                    <a:pt x="6006846" y="3251454"/>
                  </a:moveTo>
                  <a:lnTo>
                    <a:pt x="6006846" y="3809"/>
                  </a:lnTo>
                  <a:lnTo>
                    <a:pt x="6003036" y="0"/>
                  </a:lnTo>
                  <a:lnTo>
                    <a:pt x="3809" y="0"/>
                  </a:lnTo>
                  <a:lnTo>
                    <a:pt x="0" y="3810"/>
                  </a:lnTo>
                  <a:lnTo>
                    <a:pt x="0" y="3251454"/>
                  </a:lnTo>
                  <a:lnTo>
                    <a:pt x="3810" y="3255264"/>
                  </a:lnTo>
                  <a:lnTo>
                    <a:pt x="8382" y="3255264"/>
                  </a:lnTo>
                  <a:lnTo>
                    <a:pt x="8382" y="16764"/>
                  </a:lnTo>
                  <a:lnTo>
                    <a:pt x="16763" y="8382"/>
                  </a:lnTo>
                  <a:lnTo>
                    <a:pt x="16763" y="16764"/>
                  </a:lnTo>
                  <a:lnTo>
                    <a:pt x="5990082" y="16763"/>
                  </a:lnTo>
                  <a:lnTo>
                    <a:pt x="5990082" y="8381"/>
                  </a:lnTo>
                  <a:lnTo>
                    <a:pt x="5998464" y="16763"/>
                  </a:lnTo>
                  <a:lnTo>
                    <a:pt x="5998464" y="3255264"/>
                  </a:lnTo>
                  <a:lnTo>
                    <a:pt x="6003036" y="3255264"/>
                  </a:lnTo>
                  <a:lnTo>
                    <a:pt x="6006846" y="3251454"/>
                  </a:lnTo>
                  <a:close/>
                </a:path>
                <a:path w="6007100" h="3255645">
                  <a:moveTo>
                    <a:pt x="16763" y="16764"/>
                  </a:moveTo>
                  <a:lnTo>
                    <a:pt x="16763" y="8382"/>
                  </a:lnTo>
                  <a:lnTo>
                    <a:pt x="8382" y="16764"/>
                  </a:lnTo>
                  <a:lnTo>
                    <a:pt x="16763" y="16764"/>
                  </a:lnTo>
                  <a:close/>
                </a:path>
                <a:path w="6007100" h="3255645">
                  <a:moveTo>
                    <a:pt x="16763" y="3238500"/>
                  </a:moveTo>
                  <a:lnTo>
                    <a:pt x="16763" y="16764"/>
                  </a:lnTo>
                  <a:lnTo>
                    <a:pt x="8382" y="16764"/>
                  </a:lnTo>
                  <a:lnTo>
                    <a:pt x="8382" y="3238500"/>
                  </a:lnTo>
                  <a:lnTo>
                    <a:pt x="16763" y="3238500"/>
                  </a:lnTo>
                  <a:close/>
                </a:path>
                <a:path w="6007100" h="3255645">
                  <a:moveTo>
                    <a:pt x="5998464" y="3238500"/>
                  </a:moveTo>
                  <a:lnTo>
                    <a:pt x="8382" y="3238500"/>
                  </a:lnTo>
                  <a:lnTo>
                    <a:pt x="16763" y="3246881"/>
                  </a:lnTo>
                  <a:lnTo>
                    <a:pt x="16763" y="3255264"/>
                  </a:lnTo>
                  <a:lnTo>
                    <a:pt x="5990082" y="3255264"/>
                  </a:lnTo>
                  <a:lnTo>
                    <a:pt x="5990082" y="3246882"/>
                  </a:lnTo>
                  <a:lnTo>
                    <a:pt x="5998464" y="3238500"/>
                  </a:lnTo>
                  <a:close/>
                </a:path>
                <a:path w="6007100" h="3255645">
                  <a:moveTo>
                    <a:pt x="16763" y="3255264"/>
                  </a:moveTo>
                  <a:lnTo>
                    <a:pt x="16763" y="3246881"/>
                  </a:lnTo>
                  <a:lnTo>
                    <a:pt x="8382" y="3238500"/>
                  </a:lnTo>
                  <a:lnTo>
                    <a:pt x="8382" y="3255264"/>
                  </a:lnTo>
                  <a:lnTo>
                    <a:pt x="16763" y="3255264"/>
                  </a:lnTo>
                  <a:close/>
                </a:path>
                <a:path w="6007100" h="3255645">
                  <a:moveTo>
                    <a:pt x="5998464" y="16763"/>
                  </a:moveTo>
                  <a:lnTo>
                    <a:pt x="5990082" y="8381"/>
                  </a:lnTo>
                  <a:lnTo>
                    <a:pt x="5990082" y="16763"/>
                  </a:lnTo>
                  <a:lnTo>
                    <a:pt x="5998464" y="16763"/>
                  </a:lnTo>
                  <a:close/>
                </a:path>
                <a:path w="6007100" h="3255645">
                  <a:moveTo>
                    <a:pt x="5998464" y="3238500"/>
                  </a:moveTo>
                  <a:lnTo>
                    <a:pt x="5998464" y="16763"/>
                  </a:lnTo>
                  <a:lnTo>
                    <a:pt x="5990082" y="16763"/>
                  </a:lnTo>
                  <a:lnTo>
                    <a:pt x="5990082" y="3238500"/>
                  </a:lnTo>
                  <a:lnTo>
                    <a:pt x="5998464" y="3238500"/>
                  </a:lnTo>
                  <a:close/>
                </a:path>
                <a:path w="6007100" h="3255645">
                  <a:moveTo>
                    <a:pt x="5998464" y="3255264"/>
                  </a:moveTo>
                  <a:lnTo>
                    <a:pt x="5998464" y="3238500"/>
                  </a:lnTo>
                  <a:lnTo>
                    <a:pt x="5990082" y="3246882"/>
                  </a:lnTo>
                  <a:lnTo>
                    <a:pt x="5990082" y="3255264"/>
                  </a:lnTo>
                  <a:lnTo>
                    <a:pt x="5998464" y="3255264"/>
                  </a:lnTo>
                  <a:close/>
                </a:path>
              </a:pathLst>
            </a:custGeom>
            <a:solidFill>
              <a:srgbClr val="000000"/>
            </a:solidFill>
          </p:spPr>
          <p:txBody>
            <a:bodyPr wrap="square" lIns="0" tIns="0" rIns="0" bIns="0" rtlCol="0"/>
            <a:lstStyle/>
            <a:p>
              <a:endParaRPr/>
            </a:p>
          </p:txBody>
        </p:sp>
      </p:grpSp>
      <p:sp>
        <p:nvSpPr>
          <p:cNvPr id="5" name="object 5"/>
          <p:cNvSpPr txBox="1"/>
          <p:nvPr/>
        </p:nvSpPr>
        <p:spPr>
          <a:xfrm>
            <a:off x="5350136" y="4516697"/>
            <a:ext cx="938530" cy="280035"/>
          </a:xfrm>
          <a:prstGeom prst="rect">
            <a:avLst/>
          </a:prstGeom>
        </p:spPr>
        <p:txBody>
          <a:bodyPr vert="horz" wrap="square" lIns="0" tIns="14604" rIns="0" bIns="0" rtlCol="0">
            <a:spAutoFit/>
          </a:bodyPr>
          <a:lstStyle/>
          <a:p>
            <a:pPr marL="12700">
              <a:lnSpc>
                <a:spcPct val="100000"/>
              </a:lnSpc>
              <a:spcBef>
                <a:spcPts val="114"/>
              </a:spcBef>
            </a:pPr>
            <a:r>
              <a:rPr sz="1550" dirty="0">
                <a:solidFill>
                  <a:srgbClr val="676906"/>
                </a:solidFill>
                <a:latin typeface="Times New Roman"/>
                <a:cs typeface="Times New Roman"/>
              </a:rPr>
              <a:t>//</a:t>
            </a:r>
            <a:r>
              <a:rPr sz="1650" i="1" spc="-80" dirty="0">
                <a:solidFill>
                  <a:srgbClr val="676906"/>
                </a:solidFill>
                <a:latin typeface="微软雅黑"/>
                <a:cs typeface="微软雅黑"/>
              </a:rPr>
              <a:t>常数声明</a:t>
            </a:r>
            <a:endParaRPr sz="1650">
              <a:latin typeface="微软雅黑"/>
              <a:cs typeface="微软雅黑"/>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1140095" y="4480581"/>
            <a:ext cx="4069715" cy="1733550"/>
          </a:xfrm>
          <a:prstGeom prst="rect">
            <a:avLst/>
          </a:prstGeom>
        </p:spPr>
        <p:txBody>
          <a:bodyPr vert="horz" wrap="square" lIns="0" tIns="12065" rIns="0" bIns="0" rtlCol="0">
            <a:spAutoFit/>
          </a:bodyPr>
          <a:lstStyle/>
          <a:p>
            <a:pPr marL="763905" marR="1391285" indent="-635">
              <a:lnSpc>
                <a:spcPct val="121900"/>
              </a:lnSpc>
              <a:spcBef>
                <a:spcPts val="95"/>
              </a:spcBef>
            </a:pPr>
            <a:r>
              <a:rPr sz="1550" b="1" dirty="0">
                <a:latin typeface="Times New Roman"/>
                <a:cs typeface="Times New Roman"/>
              </a:rPr>
              <a:t>localparam</a:t>
            </a:r>
            <a:r>
              <a:rPr sz="1550" b="1" spc="480" dirty="0">
                <a:latin typeface="Times New Roman"/>
                <a:cs typeface="Times New Roman"/>
              </a:rPr>
              <a:t> </a:t>
            </a:r>
            <a:r>
              <a:rPr sz="1550" b="1" dirty="0">
                <a:latin typeface="Times New Roman"/>
                <a:cs typeface="Times New Roman"/>
              </a:rPr>
              <a:t>N1</a:t>
            </a:r>
            <a:r>
              <a:rPr sz="1550" b="1" spc="50" dirty="0">
                <a:latin typeface="Times New Roman"/>
                <a:cs typeface="Times New Roman"/>
              </a:rPr>
              <a:t> </a:t>
            </a:r>
            <a:r>
              <a:rPr sz="1550" dirty="0">
                <a:latin typeface="Times New Roman"/>
                <a:cs typeface="Times New Roman"/>
              </a:rPr>
              <a:t>=</a:t>
            </a:r>
            <a:r>
              <a:rPr sz="1550" spc="55" dirty="0">
                <a:latin typeface="Times New Roman"/>
                <a:cs typeface="Times New Roman"/>
              </a:rPr>
              <a:t> </a:t>
            </a:r>
            <a:r>
              <a:rPr sz="1550" b="1" dirty="0">
                <a:latin typeface="Times New Roman"/>
                <a:cs typeface="Times New Roman"/>
              </a:rPr>
              <a:t>N-</a:t>
            </a:r>
            <a:r>
              <a:rPr sz="1550" b="1" spc="-25" dirty="0">
                <a:latin typeface="Times New Roman"/>
                <a:cs typeface="Times New Roman"/>
              </a:rPr>
              <a:t>1; </a:t>
            </a:r>
            <a:r>
              <a:rPr sz="1550" b="1" dirty="0">
                <a:latin typeface="Times New Roman"/>
                <a:cs typeface="Times New Roman"/>
              </a:rPr>
              <a:t>wire</a:t>
            </a:r>
            <a:r>
              <a:rPr sz="1550" b="1" spc="440" dirty="0">
                <a:latin typeface="Times New Roman"/>
                <a:cs typeface="Times New Roman"/>
              </a:rPr>
              <a:t> </a:t>
            </a:r>
            <a:r>
              <a:rPr sz="1550" dirty="0">
                <a:latin typeface="Times New Roman"/>
                <a:cs typeface="Times New Roman"/>
              </a:rPr>
              <a:t>[N:0]</a:t>
            </a:r>
            <a:r>
              <a:rPr sz="1550" spc="20" dirty="0">
                <a:latin typeface="Times New Roman"/>
                <a:cs typeface="Times New Roman"/>
              </a:rPr>
              <a:t> </a:t>
            </a:r>
            <a:r>
              <a:rPr sz="1550" spc="-10" dirty="0">
                <a:latin typeface="Times New Roman"/>
                <a:cs typeface="Times New Roman"/>
              </a:rPr>
              <a:t>sum_ext;</a:t>
            </a:r>
            <a:endParaRPr sz="1550">
              <a:latin typeface="Times New Roman"/>
              <a:cs typeface="Times New Roman"/>
            </a:endParaRPr>
          </a:p>
          <a:p>
            <a:pPr marL="763905">
              <a:lnSpc>
                <a:spcPct val="100000"/>
              </a:lnSpc>
              <a:spcBef>
                <a:spcPts val="409"/>
              </a:spcBef>
            </a:pPr>
            <a:r>
              <a:rPr sz="1550" b="1" dirty="0">
                <a:latin typeface="Times New Roman"/>
                <a:cs typeface="Times New Roman"/>
              </a:rPr>
              <a:t>assign</a:t>
            </a:r>
            <a:r>
              <a:rPr sz="1550" b="1" spc="459" dirty="0">
                <a:latin typeface="Times New Roman"/>
                <a:cs typeface="Times New Roman"/>
              </a:rPr>
              <a:t> </a:t>
            </a:r>
            <a:r>
              <a:rPr sz="1550" dirty="0">
                <a:latin typeface="Times New Roman"/>
                <a:cs typeface="Times New Roman"/>
              </a:rPr>
              <a:t>sum_ext</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dirty="0">
                <a:latin typeface="Times New Roman"/>
                <a:cs typeface="Times New Roman"/>
              </a:rPr>
              <a:t>{1’b0,</a:t>
            </a:r>
            <a:r>
              <a:rPr sz="1550" spc="35" dirty="0">
                <a:latin typeface="Times New Roman"/>
                <a:cs typeface="Times New Roman"/>
              </a:rPr>
              <a:t> </a:t>
            </a:r>
            <a:r>
              <a:rPr sz="1550" dirty="0">
                <a:latin typeface="Times New Roman"/>
                <a:cs typeface="Times New Roman"/>
              </a:rPr>
              <a:t>a}</a:t>
            </a:r>
            <a:r>
              <a:rPr sz="1550" spc="30"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dirty="0">
                <a:latin typeface="Times New Roman"/>
                <a:cs typeface="Times New Roman"/>
              </a:rPr>
              <a:t>{1’b0,</a:t>
            </a:r>
            <a:r>
              <a:rPr sz="1550" spc="35" dirty="0">
                <a:latin typeface="Times New Roman"/>
                <a:cs typeface="Times New Roman"/>
              </a:rPr>
              <a:t> </a:t>
            </a:r>
            <a:r>
              <a:rPr sz="1550" spc="-25" dirty="0">
                <a:latin typeface="Times New Roman"/>
                <a:cs typeface="Times New Roman"/>
              </a:rPr>
              <a:t>b};</a:t>
            </a:r>
            <a:endParaRPr sz="1550">
              <a:latin typeface="Times New Roman"/>
              <a:cs typeface="Times New Roman"/>
            </a:endParaRPr>
          </a:p>
          <a:p>
            <a:pPr marL="763905">
              <a:lnSpc>
                <a:spcPct val="100000"/>
              </a:lnSpc>
              <a:spcBef>
                <a:spcPts val="415"/>
              </a:spcBef>
            </a:pPr>
            <a:r>
              <a:rPr sz="1550" b="1" dirty="0">
                <a:latin typeface="Times New Roman"/>
                <a:cs typeface="Times New Roman"/>
              </a:rPr>
              <a:t>assign</a:t>
            </a:r>
            <a:r>
              <a:rPr sz="1550" b="1" spc="480" dirty="0">
                <a:latin typeface="Times New Roman"/>
                <a:cs typeface="Times New Roman"/>
              </a:rPr>
              <a:t> </a:t>
            </a:r>
            <a:r>
              <a:rPr sz="1550" dirty="0">
                <a:latin typeface="Times New Roman"/>
                <a:cs typeface="Times New Roman"/>
              </a:rPr>
              <a:t>sum</a:t>
            </a:r>
            <a:r>
              <a:rPr sz="1550" spc="50" dirty="0">
                <a:latin typeface="Times New Roman"/>
                <a:cs typeface="Times New Roman"/>
              </a:rPr>
              <a:t> </a:t>
            </a:r>
            <a:r>
              <a:rPr sz="1550" dirty="0">
                <a:latin typeface="Times New Roman"/>
                <a:cs typeface="Times New Roman"/>
              </a:rPr>
              <a:t>=</a:t>
            </a:r>
            <a:r>
              <a:rPr sz="1550" spc="50" dirty="0">
                <a:latin typeface="Times New Roman"/>
                <a:cs typeface="Times New Roman"/>
              </a:rPr>
              <a:t> </a:t>
            </a:r>
            <a:r>
              <a:rPr sz="1550" dirty="0">
                <a:latin typeface="Times New Roman"/>
                <a:cs typeface="Times New Roman"/>
              </a:rPr>
              <a:t>sum_ext</a:t>
            </a:r>
            <a:r>
              <a:rPr sz="1550" spc="40" dirty="0">
                <a:latin typeface="Times New Roman"/>
                <a:cs typeface="Times New Roman"/>
              </a:rPr>
              <a:t> </a:t>
            </a:r>
            <a:r>
              <a:rPr sz="1550" dirty="0">
                <a:latin typeface="Times New Roman"/>
                <a:cs typeface="Times New Roman"/>
              </a:rPr>
              <a:t>[N1:0]</a:t>
            </a:r>
            <a:r>
              <a:rPr sz="1550" spc="40"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763905">
              <a:lnSpc>
                <a:spcPct val="100000"/>
              </a:lnSpc>
              <a:spcBef>
                <a:spcPts val="415"/>
              </a:spcBef>
            </a:pPr>
            <a:r>
              <a:rPr sz="1550" b="1" dirty="0">
                <a:latin typeface="Times New Roman"/>
                <a:cs typeface="Times New Roman"/>
              </a:rPr>
              <a:t>assign</a:t>
            </a:r>
            <a:r>
              <a:rPr sz="1550" b="1" spc="480" dirty="0">
                <a:latin typeface="Times New Roman"/>
                <a:cs typeface="Times New Roman"/>
              </a:rPr>
              <a:t> </a:t>
            </a:r>
            <a:r>
              <a:rPr sz="1550" dirty="0">
                <a:latin typeface="Times New Roman"/>
                <a:cs typeface="Times New Roman"/>
              </a:rPr>
              <a:t>cout=</a:t>
            </a:r>
            <a:r>
              <a:rPr sz="1550" spc="45" dirty="0">
                <a:latin typeface="Times New Roman"/>
                <a:cs typeface="Times New Roman"/>
              </a:rPr>
              <a:t> </a:t>
            </a:r>
            <a:r>
              <a:rPr sz="1550" dirty="0">
                <a:latin typeface="Times New Roman"/>
                <a:cs typeface="Times New Roman"/>
              </a:rPr>
              <a:t>sum_ext</a:t>
            </a:r>
            <a:r>
              <a:rPr sz="1550" spc="40" dirty="0">
                <a:latin typeface="Times New Roman"/>
                <a:cs typeface="Times New Roman"/>
              </a:rPr>
              <a:t> </a:t>
            </a:r>
            <a:r>
              <a:rPr sz="1550" dirty="0">
                <a:latin typeface="Times New Roman"/>
                <a:cs typeface="Times New Roman"/>
              </a:rPr>
              <a:t>[N]</a:t>
            </a:r>
            <a:r>
              <a:rPr sz="1550" spc="45" dirty="0">
                <a:latin typeface="Times New Roman"/>
                <a:cs typeface="Times New Roman"/>
              </a:rPr>
              <a:t> </a:t>
            </a:r>
            <a:r>
              <a:rPr sz="1550" spc="-50" dirty="0">
                <a:latin typeface="Times New Roman"/>
                <a:cs typeface="Times New Roman"/>
              </a:rPr>
              <a:t>;</a:t>
            </a:r>
            <a:endParaRPr sz="1550">
              <a:latin typeface="Times New Roman"/>
              <a:cs typeface="Times New Roman"/>
            </a:endParaRPr>
          </a:p>
          <a:p>
            <a:pPr marL="12700">
              <a:lnSpc>
                <a:spcPct val="100000"/>
              </a:lnSpc>
              <a:spcBef>
                <a:spcPts val="229"/>
              </a:spcBef>
            </a:pPr>
            <a:r>
              <a:rPr sz="1550" b="1" spc="-10" dirty="0">
                <a:latin typeface="Times New Roman"/>
                <a:cs typeface="Times New Roman"/>
              </a:rPr>
              <a:t>endmudule</a:t>
            </a:r>
            <a:endParaRPr sz="1550">
              <a:latin typeface="Times New Roman"/>
              <a:cs typeface="Times New Roman"/>
            </a:endParaRPr>
          </a:p>
        </p:txBody>
      </p:sp>
      <p:sp>
        <p:nvSpPr>
          <p:cNvPr id="7" name="object 7"/>
          <p:cNvSpPr txBox="1"/>
          <p:nvPr/>
        </p:nvSpPr>
        <p:spPr>
          <a:xfrm>
            <a:off x="474097" y="1786382"/>
            <a:ext cx="9648825" cy="2719070"/>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例</a:t>
            </a:r>
            <a:r>
              <a:rPr sz="2100" dirty="0">
                <a:latin typeface="Times New Roman"/>
                <a:cs typeface="Times New Roman"/>
              </a:rPr>
              <a:t>3.13</a:t>
            </a:r>
            <a:r>
              <a:rPr sz="2100" dirty="0">
                <a:latin typeface="微软雅黑"/>
                <a:cs typeface="微软雅黑"/>
              </a:rPr>
              <a:t>可以改成采用参数的加法器，如例</a:t>
            </a:r>
            <a:r>
              <a:rPr sz="2100" dirty="0">
                <a:latin typeface="Times New Roman"/>
                <a:cs typeface="Times New Roman"/>
              </a:rPr>
              <a:t>3.14</a:t>
            </a:r>
            <a:r>
              <a:rPr sz="2100" dirty="0">
                <a:latin typeface="微软雅黑"/>
                <a:cs typeface="微软雅黑"/>
              </a:rPr>
              <a:t>所示。参数</a:t>
            </a:r>
            <a:r>
              <a:rPr sz="2100" dirty="0">
                <a:latin typeface="Times New Roman"/>
                <a:cs typeface="Times New Roman"/>
              </a:rPr>
              <a:t>N</a:t>
            </a:r>
            <a:r>
              <a:rPr sz="2100" dirty="0">
                <a:latin typeface="微软雅黑"/>
                <a:cs typeface="微软雅黑"/>
              </a:rPr>
              <a:t>声明为默认值</a:t>
            </a:r>
            <a:r>
              <a:rPr sz="2100" dirty="0">
                <a:latin typeface="Times New Roman"/>
                <a:cs typeface="Times New Roman"/>
              </a:rPr>
              <a:t>4</a:t>
            </a:r>
            <a:r>
              <a:rPr sz="2100" dirty="0">
                <a:latin typeface="微软雅黑"/>
                <a:cs typeface="微软雅黑"/>
              </a:rPr>
              <a:t>，</a:t>
            </a:r>
            <a:r>
              <a:rPr sz="2100" dirty="0">
                <a:latin typeface="Times New Roman"/>
                <a:cs typeface="Times New Roman"/>
              </a:rPr>
              <a:t>N</a:t>
            </a:r>
            <a:r>
              <a:rPr sz="2100" spc="-50" dirty="0">
                <a:latin typeface="微软雅黑"/>
                <a:cs typeface="微软雅黑"/>
              </a:rPr>
              <a:t>声</a:t>
            </a:r>
            <a:r>
              <a:rPr sz="2100" dirty="0">
                <a:latin typeface="微软雅黑"/>
                <a:cs typeface="微软雅黑"/>
              </a:rPr>
              <a:t>明之后，就可以</a:t>
            </a:r>
            <a:r>
              <a:rPr sz="2100" spc="-10" dirty="0">
                <a:solidFill>
                  <a:srgbClr val="FF0000"/>
                </a:solidFill>
                <a:latin typeface="微软雅黑"/>
                <a:cs typeface="微软雅黑"/>
              </a:rPr>
              <a:t>像常数一样在端口声明和模块体中使用</a:t>
            </a:r>
            <a:r>
              <a:rPr sz="2100" spc="-50" dirty="0">
                <a:latin typeface="微软雅黑"/>
                <a:cs typeface="微软雅黑"/>
              </a:rPr>
              <a:t>。</a:t>
            </a:r>
            <a:endParaRPr sz="2100">
              <a:latin typeface="微软雅黑"/>
              <a:cs typeface="微软雅黑"/>
            </a:endParaRPr>
          </a:p>
          <a:p>
            <a:pPr marL="414655">
              <a:lnSpc>
                <a:spcPct val="100000"/>
              </a:lnSpc>
              <a:spcBef>
                <a:spcPts val="2310"/>
              </a:spcBef>
            </a:pPr>
            <a:r>
              <a:rPr sz="1550" b="1" dirty="0">
                <a:solidFill>
                  <a:srgbClr val="FF0000"/>
                </a:solidFill>
                <a:latin typeface="微软雅黑"/>
                <a:cs typeface="微软雅黑"/>
              </a:rPr>
              <a:t>例</a:t>
            </a:r>
            <a:r>
              <a:rPr sz="1550" b="1" dirty="0">
                <a:solidFill>
                  <a:srgbClr val="FF0000"/>
                </a:solidFill>
                <a:latin typeface="Times New Roman"/>
                <a:cs typeface="Times New Roman"/>
              </a:rPr>
              <a:t>3.14</a:t>
            </a:r>
            <a:r>
              <a:rPr sz="1550" b="1" spc="175" dirty="0">
                <a:solidFill>
                  <a:srgbClr val="FF0000"/>
                </a:solidFill>
                <a:latin typeface="Times New Roman"/>
                <a:cs typeface="Times New Roman"/>
              </a:rPr>
              <a:t> </a:t>
            </a:r>
            <a:r>
              <a:rPr sz="1550" b="1" spc="-5" dirty="0">
                <a:solidFill>
                  <a:srgbClr val="FF0000"/>
                </a:solidFill>
                <a:latin typeface="微软雅黑"/>
                <a:cs typeface="微软雅黑"/>
              </a:rPr>
              <a:t>使用参数的加法器描述</a:t>
            </a:r>
            <a:endParaRPr sz="1550">
              <a:latin typeface="微软雅黑"/>
              <a:cs typeface="微软雅黑"/>
            </a:endParaRPr>
          </a:p>
          <a:p>
            <a:pPr marL="878840" marR="6789420" indent="-166370">
              <a:lnSpc>
                <a:spcPct val="122200"/>
              </a:lnSpc>
              <a:spcBef>
                <a:spcPts val="625"/>
              </a:spcBef>
              <a:tabLst>
                <a:tab pos="1991995" algn="l"/>
              </a:tabLst>
            </a:pPr>
            <a:r>
              <a:rPr sz="1550" b="1" dirty="0">
                <a:latin typeface="Times New Roman"/>
                <a:cs typeface="Times New Roman"/>
              </a:rPr>
              <a:t>module</a:t>
            </a:r>
            <a:r>
              <a:rPr sz="1550" b="1" spc="70" dirty="0">
                <a:latin typeface="Times New Roman"/>
                <a:cs typeface="Times New Roman"/>
              </a:rPr>
              <a:t> </a:t>
            </a:r>
            <a:r>
              <a:rPr sz="1550" dirty="0">
                <a:latin typeface="Times New Roman"/>
                <a:cs typeface="Times New Roman"/>
              </a:rPr>
              <a:t>adder_carry_</a:t>
            </a:r>
            <a:r>
              <a:rPr sz="1550" spc="50" dirty="0">
                <a:latin typeface="Times New Roman"/>
                <a:cs typeface="Times New Roman"/>
              </a:rPr>
              <a:t> </a:t>
            </a:r>
            <a:r>
              <a:rPr sz="1550" spc="-20" dirty="0">
                <a:latin typeface="Times New Roman"/>
                <a:cs typeface="Times New Roman"/>
              </a:rPr>
              <a:t>para </a:t>
            </a:r>
            <a:r>
              <a:rPr sz="1550" b="1" dirty="0">
                <a:latin typeface="Times New Roman"/>
                <a:cs typeface="Times New Roman"/>
              </a:rPr>
              <a:t>#</a:t>
            </a:r>
            <a:r>
              <a:rPr sz="1550" b="1" dirty="0">
                <a:latin typeface="微软雅黑"/>
                <a:cs typeface="微软雅黑"/>
              </a:rPr>
              <a:t>（</a:t>
            </a:r>
            <a:r>
              <a:rPr sz="1550" b="1" dirty="0">
                <a:latin typeface="Times New Roman"/>
                <a:cs typeface="Times New Roman"/>
              </a:rPr>
              <a:t>parameter</a:t>
            </a:r>
            <a:r>
              <a:rPr sz="1550" b="1" spc="55" dirty="0">
                <a:latin typeface="Times New Roman"/>
                <a:cs typeface="Times New Roman"/>
              </a:rPr>
              <a:t> </a:t>
            </a:r>
            <a:r>
              <a:rPr sz="1550" spc="-20" dirty="0">
                <a:latin typeface="Times New Roman"/>
                <a:cs typeface="Times New Roman"/>
              </a:rPr>
              <a:t>N=4</a:t>
            </a:r>
            <a:r>
              <a:rPr sz="1550" b="1" spc="-20" dirty="0">
                <a:latin typeface="微软雅黑"/>
                <a:cs typeface="微软雅黑"/>
              </a:rPr>
              <a:t>） </a:t>
            </a:r>
            <a:r>
              <a:rPr sz="1550" dirty="0">
                <a:latin typeface="Times New Roman"/>
                <a:cs typeface="Times New Roman"/>
              </a:rPr>
              <a:t>(</a:t>
            </a:r>
            <a:r>
              <a:rPr sz="1550" b="1" dirty="0">
                <a:latin typeface="Times New Roman"/>
                <a:cs typeface="Times New Roman"/>
              </a:rPr>
              <a:t>input</a:t>
            </a:r>
            <a:r>
              <a:rPr sz="1550" b="1" spc="475" dirty="0">
                <a:latin typeface="Times New Roman"/>
                <a:cs typeface="Times New Roman"/>
              </a:rPr>
              <a:t> </a:t>
            </a:r>
            <a:r>
              <a:rPr sz="1550" dirty="0">
                <a:latin typeface="Times New Roman"/>
                <a:cs typeface="Times New Roman"/>
              </a:rPr>
              <a:t>[N-1:0]</a:t>
            </a:r>
            <a:r>
              <a:rPr sz="1550" spc="40" dirty="0">
                <a:latin typeface="Times New Roman"/>
                <a:cs typeface="Times New Roman"/>
              </a:rPr>
              <a:t> </a:t>
            </a:r>
            <a:r>
              <a:rPr sz="1550" dirty="0">
                <a:latin typeface="Times New Roman"/>
                <a:cs typeface="Times New Roman"/>
              </a:rPr>
              <a:t>a,</a:t>
            </a:r>
            <a:r>
              <a:rPr sz="1550" spc="40" dirty="0">
                <a:latin typeface="Times New Roman"/>
                <a:cs typeface="Times New Roman"/>
              </a:rPr>
              <a:t> </a:t>
            </a:r>
            <a:r>
              <a:rPr sz="1550" spc="-25" dirty="0">
                <a:latin typeface="Times New Roman"/>
                <a:cs typeface="Times New Roman"/>
              </a:rPr>
              <a:t>b, </a:t>
            </a:r>
            <a:r>
              <a:rPr sz="1550" b="1" dirty="0">
                <a:latin typeface="Times New Roman"/>
                <a:cs typeface="Times New Roman"/>
              </a:rPr>
              <a:t>output</a:t>
            </a:r>
            <a:r>
              <a:rPr sz="1550" b="1" spc="480" dirty="0">
                <a:latin typeface="Times New Roman"/>
                <a:cs typeface="Times New Roman"/>
              </a:rPr>
              <a:t> </a:t>
            </a:r>
            <a:r>
              <a:rPr sz="1550" dirty="0">
                <a:latin typeface="Times New Roman"/>
                <a:cs typeface="Times New Roman"/>
              </a:rPr>
              <a:t>[N-1:0]</a:t>
            </a:r>
            <a:r>
              <a:rPr sz="1550" spc="40" dirty="0">
                <a:latin typeface="Times New Roman"/>
                <a:cs typeface="Times New Roman"/>
              </a:rPr>
              <a:t> </a:t>
            </a:r>
            <a:r>
              <a:rPr sz="1550" spc="-20" dirty="0">
                <a:latin typeface="Times New Roman"/>
                <a:cs typeface="Times New Roman"/>
              </a:rPr>
              <a:t>sum, </a:t>
            </a:r>
            <a:r>
              <a:rPr sz="1550" b="1" dirty="0">
                <a:latin typeface="Times New Roman"/>
                <a:cs typeface="Times New Roman"/>
              </a:rPr>
              <a:t>output</a:t>
            </a:r>
            <a:r>
              <a:rPr sz="1550" b="1" spc="40" dirty="0">
                <a:latin typeface="Times New Roman"/>
                <a:cs typeface="Times New Roman"/>
              </a:rPr>
              <a:t> </a:t>
            </a:r>
            <a:r>
              <a:rPr sz="1550" spc="-20" dirty="0">
                <a:latin typeface="Times New Roman"/>
                <a:cs typeface="Times New Roman"/>
              </a:rPr>
              <a:t>cout</a:t>
            </a:r>
            <a:r>
              <a:rPr sz="1550" dirty="0">
                <a:latin typeface="Times New Roman"/>
                <a:cs typeface="Times New Roman"/>
              </a:rPr>
              <a:t>	</a:t>
            </a:r>
            <a:r>
              <a:rPr sz="1550" spc="-25" dirty="0">
                <a:latin typeface="Times New Roman"/>
                <a:cs typeface="Times New Roman"/>
              </a:rPr>
              <a:t>);</a:t>
            </a:r>
            <a:endParaRPr sz="1550">
              <a:latin typeface="Times New Roman"/>
              <a:cs typeface="Times New Roman"/>
            </a:endParaRPr>
          </a:p>
        </p:txBody>
      </p:sp>
      <p:sp>
        <p:nvSpPr>
          <p:cNvPr id="8" name="object 8"/>
          <p:cNvSpPr txBox="1">
            <a:spLocks noGrp="1"/>
          </p:cNvSpPr>
          <p:nvPr>
            <p:ph type="title"/>
          </p:nvPr>
        </p:nvSpPr>
        <p:spPr>
          <a:xfrm>
            <a:off x="331603" y="1069339"/>
            <a:ext cx="154051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3.5.2</a:t>
            </a:r>
            <a:r>
              <a:rPr spc="-5" dirty="0">
                <a:latin typeface="Times New Roman"/>
                <a:cs typeface="Times New Roman"/>
              </a:rPr>
              <a:t> </a:t>
            </a:r>
            <a:r>
              <a:rPr spc="-25" dirty="0"/>
              <a:t>参数</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18045" y="2211323"/>
            <a:ext cx="3962400" cy="4205605"/>
            <a:chOff x="518045" y="2211323"/>
            <a:chExt cx="3962400" cy="4205605"/>
          </a:xfrm>
        </p:grpSpPr>
        <p:sp>
          <p:nvSpPr>
            <p:cNvPr id="3" name="object 3"/>
            <p:cNvSpPr/>
            <p:nvPr/>
          </p:nvSpPr>
          <p:spPr>
            <a:xfrm>
              <a:off x="524141" y="2216657"/>
              <a:ext cx="3950335" cy="4194175"/>
            </a:xfrm>
            <a:custGeom>
              <a:avLst/>
              <a:gdLst/>
              <a:ahLst/>
              <a:cxnLst/>
              <a:rect l="l" t="t" r="r" b="b"/>
              <a:pathLst>
                <a:path w="3950335" h="4194175">
                  <a:moveTo>
                    <a:pt x="3950208" y="4194048"/>
                  </a:moveTo>
                  <a:lnTo>
                    <a:pt x="3950208" y="0"/>
                  </a:lnTo>
                  <a:lnTo>
                    <a:pt x="0" y="0"/>
                  </a:lnTo>
                  <a:lnTo>
                    <a:pt x="0" y="4194048"/>
                  </a:lnTo>
                  <a:lnTo>
                    <a:pt x="3950208" y="4194048"/>
                  </a:lnTo>
                  <a:close/>
                </a:path>
              </a:pathLst>
            </a:custGeom>
            <a:solidFill>
              <a:srgbClr val="F9FABA"/>
            </a:solidFill>
          </p:spPr>
          <p:txBody>
            <a:bodyPr wrap="square" lIns="0" tIns="0" rIns="0" bIns="0" rtlCol="0"/>
            <a:lstStyle/>
            <a:p>
              <a:endParaRPr/>
            </a:p>
          </p:txBody>
        </p:sp>
        <p:sp>
          <p:nvSpPr>
            <p:cNvPr id="4" name="object 4"/>
            <p:cNvSpPr/>
            <p:nvPr/>
          </p:nvSpPr>
          <p:spPr>
            <a:xfrm>
              <a:off x="518045" y="2211323"/>
              <a:ext cx="3962400" cy="4205605"/>
            </a:xfrm>
            <a:custGeom>
              <a:avLst/>
              <a:gdLst/>
              <a:ahLst/>
              <a:cxnLst/>
              <a:rect l="l" t="t" r="r" b="b"/>
              <a:pathLst>
                <a:path w="3962400" h="4205605">
                  <a:moveTo>
                    <a:pt x="3962400" y="4202430"/>
                  </a:moveTo>
                  <a:lnTo>
                    <a:pt x="3962400" y="2285"/>
                  </a:lnTo>
                  <a:lnTo>
                    <a:pt x="3959352" y="0"/>
                  </a:lnTo>
                  <a:lnTo>
                    <a:pt x="3047" y="0"/>
                  </a:lnTo>
                  <a:lnTo>
                    <a:pt x="0" y="2286"/>
                  </a:lnTo>
                  <a:lnTo>
                    <a:pt x="0" y="4202430"/>
                  </a:lnTo>
                  <a:lnTo>
                    <a:pt x="3048" y="4205478"/>
                  </a:lnTo>
                  <a:lnTo>
                    <a:pt x="6096" y="4205478"/>
                  </a:lnTo>
                  <a:lnTo>
                    <a:pt x="6096" y="10668"/>
                  </a:lnTo>
                  <a:lnTo>
                    <a:pt x="11429" y="5334"/>
                  </a:lnTo>
                  <a:lnTo>
                    <a:pt x="11429" y="10668"/>
                  </a:lnTo>
                  <a:lnTo>
                    <a:pt x="3950970" y="10667"/>
                  </a:lnTo>
                  <a:lnTo>
                    <a:pt x="3950970" y="5333"/>
                  </a:lnTo>
                  <a:lnTo>
                    <a:pt x="3956304" y="10667"/>
                  </a:lnTo>
                  <a:lnTo>
                    <a:pt x="3956304" y="4205478"/>
                  </a:lnTo>
                  <a:lnTo>
                    <a:pt x="3959352" y="4205478"/>
                  </a:lnTo>
                  <a:lnTo>
                    <a:pt x="3962400" y="4202430"/>
                  </a:lnTo>
                  <a:close/>
                </a:path>
                <a:path w="3962400" h="4205605">
                  <a:moveTo>
                    <a:pt x="11429" y="10668"/>
                  </a:moveTo>
                  <a:lnTo>
                    <a:pt x="11429" y="5334"/>
                  </a:lnTo>
                  <a:lnTo>
                    <a:pt x="6096" y="10668"/>
                  </a:lnTo>
                  <a:lnTo>
                    <a:pt x="11429" y="10668"/>
                  </a:lnTo>
                  <a:close/>
                </a:path>
                <a:path w="3962400" h="4205605">
                  <a:moveTo>
                    <a:pt x="11429" y="4194048"/>
                  </a:moveTo>
                  <a:lnTo>
                    <a:pt x="11429" y="10668"/>
                  </a:lnTo>
                  <a:lnTo>
                    <a:pt x="6096" y="10668"/>
                  </a:lnTo>
                  <a:lnTo>
                    <a:pt x="6096" y="4194048"/>
                  </a:lnTo>
                  <a:lnTo>
                    <a:pt x="11429" y="4194048"/>
                  </a:lnTo>
                  <a:close/>
                </a:path>
                <a:path w="3962400" h="4205605">
                  <a:moveTo>
                    <a:pt x="3956304" y="4194048"/>
                  </a:moveTo>
                  <a:lnTo>
                    <a:pt x="6096" y="4194048"/>
                  </a:lnTo>
                  <a:lnTo>
                    <a:pt x="11429" y="4199382"/>
                  </a:lnTo>
                  <a:lnTo>
                    <a:pt x="11429" y="4205478"/>
                  </a:lnTo>
                  <a:lnTo>
                    <a:pt x="3950970" y="4205478"/>
                  </a:lnTo>
                  <a:lnTo>
                    <a:pt x="3950970" y="4199382"/>
                  </a:lnTo>
                  <a:lnTo>
                    <a:pt x="3956304" y="4194048"/>
                  </a:lnTo>
                  <a:close/>
                </a:path>
                <a:path w="3962400" h="4205605">
                  <a:moveTo>
                    <a:pt x="11429" y="4205478"/>
                  </a:moveTo>
                  <a:lnTo>
                    <a:pt x="11429" y="4199382"/>
                  </a:lnTo>
                  <a:lnTo>
                    <a:pt x="6096" y="4194048"/>
                  </a:lnTo>
                  <a:lnTo>
                    <a:pt x="6096" y="4205478"/>
                  </a:lnTo>
                  <a:lnTo>
                    <a:pt x="11429" y="4205478"/>
                  </a:lnTo>
                  <a:close/>
                </a:path>
                <a:path w="3962400" h="4205605">
                  <a:moveTo>
                    <a:pt x="3956304" y="10667"/>
                  </a:moveTo>
                  <a:lnTo>
                    <a:pt x="3950970" y="5333"/>
                  </a:lnTo>
                  <a:lnTo>
                    <a:pt x="3950970" y="10667"/>
                  </a:lnTo>
                  <a:lnTo>
                    <a:pt x="3956304" y="10667"/>
                  </a:lnTo>
                  <a:close/>
                </a:path>
                <a:path w="3962400" h="4205605">
                  <a:moveTo>
                    <a:pt x="3956304" y="4194048"/>
                  </a:moveTo>
                  <a:lnTo>
                    <a:pt x="3956304" y="10667"/>
                  </a:lnTo>
                  <a:lnTo>
                    <a:pt x="3950970" y="10667"/>
                  </a:lnTo>
                  <a:lnTo>
                    <a:pt x="3950970" y="4194048"/>
                  </a:lnTo>
                  <a:lnTo>
                    <a:pt x="3956304" y="4194048"/>
                  </a:lnTo>
                  <a:close/>
                </a:path>
                <a:path w="3962400" h="4205605">
                  <a:moveTo>
                    <a:pt x="3956304" y="4205478"/>
                  </a:moveTo>
                  <a:lnTo>
                    <a:pt x="3956304" y="4194048"/>
                  </a:lnTo>
                  <a:lnTo>
                    <a:pt x="3950970" y="4199382"/>
                  </a:lnTo>
                  <a:lnTo>
                    <a:pt x="3950970" y="4205478"/>
                  </a:lnTo>
                  <a:lnTo>
                    <a:pt x="3956304" y="4205478"/>
                  </a:lnTo>
                  <a:close/>
                </a:path>
              </a:pathLst>
            </a:custGeom>
            <a:solidFill>
              <a:srgbClr val="000000"/>
            </a:solidFill>
          </p:spPr>
          <p:txBody>
            <a:bodyPr wrap="square" lIns="0" tIns="0" rIns="0" bIns="0" rtlCol="0"/>
            <a:lstStyle/>
            <a:p>
              <a:endParaRPr/>
            </a:p>
          </p:txBody>
        </p:sp>
      </p:grpSp>
      <p:sp>
        <p:nvSpPr>
          <p:cNvPr id="5" name="object 5"/>
          <p:cNvSpPr txBox="1">
            <a:spLocks noGrp="1"/>
          </p:cNvSpPr>
          <p:nvPr>
            <p:ph sz="half" idx="2"/>
          </p:nvPr>
        </p:nvSpPr>
        <p:spPr>
          <a:prstGeom prst="rect">
            <a:avLst/>
          </a:prstGeom>
        </p:spPr>
        <p:txBody>
          <a:bodyPr vert="horz" wrap="square" lIns="0" tIns="15875" rIns="0" bIns="0" rtlCol="0">
            <a:spAutoFit/>
          </a:bodyPr>
          <a:lstStyle/>
          <a:p>
            <a:pPr marR="1326515" algn="ctr">
              <a:lnSpc>
                <a:spcPct val="100000"/>
              </a:lnSpc>
              <a:spcBef>
                <a:spcPts val="125"/>
              </a:spcBef>
            </a:pPr>
            <a:r>
              <a:rPr dirty="0"/>
              <a:t>例</a:t>
            </a:r>
            <a:r>
              <a:rPr dirty="0">
                <a:latin typeface="Times New Roman"/>
                <a:cs typeface="Times New Roman"/>
              </a:rPr>
              <a:t>3.15</a:t>
            </a:r>
            <a:r>
              <a:rPr spc="145" dirty="0">
                <a:latin typeface="Times New Roman"/>
                <a:cs typeface="Times New Roman"/>
              </a:rPr>
              <a:t> </a:t>
            </a:r>
            <a:r>
              <a:rPr spc="-10" dirty="0"/>
              <a:t>加法器例化的例子</a:t>
            </a:r>
          </a:p>
          <a:p>
            <a:pPr marL="393700" marR="2087245" indent="-356870" algn="just">
              <a:lnSpc>
                <a:spcPct val="120400"/>
              </a:lnSpc>
              <a:spcBef>
                <a:spcPts val="830"/>
              </a:spcBef>
            </a:pPr>
            <a:r>
              <a:rPr sz="1400" dirty="0">
                <a:solidFill>
                  <a:srgbClr val="000000"/>
                </a:solidFill>
                <a:latin typeface="Times New Roman"/>
                <a:cs typeface="Times New Roman"/>
              </a:rPr>
              <a:t>module </a:t>
            </a:r>
            <a:r>
              <a:rPr sz="1400" b="0" spc="-10" dirty="0">
                <a:solidFill>
                  <a:srgbClr val="000000"/>
                </a:solidFill>
                <a:latin typeface="Times New Roman"/>
                <a:cs typeface="Times New Roman"/>
              </a:rPr>
              <a:t>adder_insta </a:t>
            </a:r>
            <a:r>
              <a:rPr sz="1400" b="0" spc="-50" dirty="0">
                <a:solidFill>
                  <a:srgbClr val="000000"/>
                </a:solidFill>
                <a:latin typeface="Times New Roman"/>
                <a:cs typeface="Times New Roman"/>
              </a:rPr>
              <a:t>(</a:t>
            </a:r>
            <a:endParaRPr sz="1400">
              <a:latin typeface="Times New Roman"/>
              <a:cs typeface="Times New Roman"/>
            </a:endParaRPr>
          </a:p>
          <a:p>
            <a:pPr marL="393700" marR="1747520" algn="just">
              <a:lnSpc>
                <a:spcPct val="120200"/>
              </a:lnSpc>
            </a:pPr>
            <a:r>
              <a:rPr sz="1400" dirty="0">
                <a:solidFill>
                  <a:srgbClr val="000000"/>
                </a:solidFill>
                <a:latin typeface="Times New Roman"/>
                <a:cs typeface="Times New Roman"/>
              </a:rPr>
              <a:t>input</a:t>
            </a:r>
            <a:r>
              <a:rPr sz="1400" spc="165" dirty="0">
                <a:solidFill>
                  <a:srgbClr val="000000"/>
                </a:solidFill>
                <a:latin typeface="Times New Roman"/>
                <a:cs typeface="Times New Roman"/>
              </a:rPr>
              <a:t>  </a:t>
            </a:r>
            <a:r>
              <a:rPr sz="1400" b="0" dirty="0">
                <a:solidFill>
                  <a:srgbClr val="000000"/>
                </a:solidFill>
                <a:latin typeface="Times New Roman"/>
                <a:cs typeface="Times New Roman"/>
              </a:rPr>
              <a:t>[3:0]</a:t>
            </a:r>
            <a:r>
              <a:rPr sz="1400" b="0" spc="15" dirty="0">
                <a:solidFill>
                  <a:srgbClr val="000000"/>
                </a:solidFill>
                <a:latin typeface="Times New Roman"/>
                <a:cs typeface="Times New Roman"/>
              </a:rPr>
              <a:t> </a:t>
            </a:r>
            <a:r>
              <a:rPr sz="1400" b="0" dirty="0">
                <a:solidFill>
                  <a:srgbClr val="000000"/>
                </a:solidFill>
                <a:latin typeface="Times New Roman"/>
                <a:cs typeface="Times New Roman"/>
              </a:rPr>
              <a:t>a4,</a:t>
            </a:r>
            <a:r>
              <a:rPr sz="1400" b="0" spc="-5" dirty="0">
                <a:solidFill>
                  <a:srgbClr val="000000"/>
                </a:solidFill>
                <a:latin typeface="Times New Roman"/>
                <a:cs typeface="Times New Roman"/>
              </a:rPr>
              <a:t> </a:t>
            </a:r>
            <a:r>
              <a:rPr sz="1400" b="0" spc="-25" dirty="0">
                <a:solidFill>
                  <a:srgbClr val="000000"/>
                </a:solidFill>
                <a:latin typeface="Times New Roman"/>
                <a:cs typeface="Times New Roman"/>
              </a:rPr>
              <a:t>b4, </a:t>
            </a:r>
            <a:r>
              <a:rPr sz="1400" dirty="0">
                <a:solidFill>
                  <a:srgbClr val="000000"/>
                </a:solidFill>
                <a:latin typeface="Times New Roman"/>
                <a:cs typeface="Times New Roman"/>
              </a:rPr>
              <a:t>output</a:t>
            </a:r>
            <a:r>
              <a:rPr sz="1400" spc="320" dirty="0">
                <a:solidFill>
                  <a:srgbClr val="000000"/>
                </a:solidFill>
                <a:latin typeface="Times New Roman"/>
                <a:cs typeface="Times New Roman"/>
              </a:rPr>
              <a:t> </a:t>
            </a:r>
            <a:r>
              <a:rPr sz="1400" b="0" dirty="0">
                <a:solidFill>
                  <a:srgbClr val="000000"/>
                </a:solidFill>
                <a:latin typeface="Times New Roman"/>
                <a:cs typeface="Times New Roman"/>
              </a:rPr>
              <a:t>[3:0] </a:t>
            </a:r>
            <a:r>
              <a:rPr sz="1400" b="0" spc="-10" dirty="0">
                <a:solidFill>
                  <a:srgbClr val="000000"/>
                </a:solidFill>
                <a:latin typeface="Times New Roman"/>
                <a:cs typeface="Times New Roman"/>
              </a:rPr>
              <a:t>sum4, </a:t>
            </a:r>
            <a:r>
              <a:rPr sz="1400" dirty="0">
                <a:solidFill>
                  <a:srgbClr val="000000"/>
                </a:solidFill>
                <a:latin typeface="Times New Roman"/>
                <a:cs typeface="Times New Roman"/>
              </a:rPr>
              <a:t>output</a:t>
            </a:r>
            <a:r>
              <a:rPr sz="1400" spc="345" dirty="0">
                <a:solidFill>
                  <a:srgbClr val="000000"/>
                </a:solidFill>
                <a:latin typeface="Times New Roman"/>
                <a:cs typeface="Times New Roman"/>
              </a:rPr>
              <a:t> </a:t>
            </a:r>
            <a:r>
              <a:rPr sz="1400" b="0" spc="-25" dirty="0">
                <a:solidFill>
                  <a:srgbClr val="000000"/>
                </a:solidFill>
                <a:latin typeface="Times New Roman"/>
                <a:cs typeface="Times New Roman"/>
              </a:rPr>
              <a:t>c4,</a:t>
            </a:r>
            <a:endParaRPr sz="1400">
              <a:latin typeface="Times New Roman"/>
              <a:cs typeface="Times New Roman"/>
            </a:endParaRPr>
          </a:p>
          <a:p>
            <a:pPr marL="393065" marR="1747520" algn="just">
              <a:lnSpc>
                <a:spcPct val="120200"/>
              </a:lnSpc>
              <a:spcBef>
                <a:spcPts val="5"/>
              </a:spcBef>
            </a:pPr>
            <a:r>
              <a:rPr sz="1400" dirty="0">
                <a:solidFill>
                  <a:srgbClr val="000000"/>
                </a:solidFill>
                <a:latin typeface="Times New Roman"/>
                <a:cs typeface="Times New Roman"/>
              </a:rPr>
              <a:t>input</a:t>
            </a:r>
            <a:r>
              <a:rPr sz="1400" spc="340" dirty="0">
                <a:solidFill>
                  <a:srgbClr val="000000"/>
                </a:solidFill>
                <a:latin typeface="Times New Roman"/>
                <a:cs typeface="Times New Roman"/>
              </a:rPr>
              <a:t> </a:t>
            </a:r>
            <a:r>
              <a:rPr sz="1400" b="0" dirty="0">
                <a:solidFill>
                  <a:srgbClr val="000000"/>
                </a:solidFill>
                <a:latin typeface="Times New Roman"/>
                <a:cs typeface="Times New Roman"/>
              </a:rPr>
              <a:t>[7:0]</a:t>
            </a:r>
            <a:r>
              <a:rPr sz="1400" b="0" spc="5" dirty="0">
                <a:solidFill>
                  <a:srgbClr val="000000"/>
                </a:solidFill>
                <a:latin typeface="Times New Roman"/>
                <a:cs typeface="Times New Roman"/>
              </a:rPr>
              <a:t> </a:t>
            </a:r>
            <a:r>
              <a:rPr sz="1400" b="0" dirty="0">
                <a:solidFill>
                  <a:srgbClr val="000000"/>
                </a:solidFill>
                <a:latin typeface="Times New Roman"/>
                <a:cs typeface="Times New Roman"/>
              </a:rPr>
              <a:t>a8,</a:t>
            </a:r>
            <a:r>
              <a:rPr sz="1400" b="0" spc="-5" dirty="0">
                <a:solidFill>
                  <a:srgbClr val="000000"/>
                </a:solidFill>
                <a:latin typeface="Times New Roman"/>
                <a:cs typeface="Times New Roman"/>
              </a:rPr>
              <a:t> </a:t>
            </a:r>
            <a:r>
              <a:rPr sz="1400" b="0" spc="-25" dirty="0">
                <a:solidFill>
                  <a:srgbClr val="000000"/>
                </a:solidFill>
                <a:latin typeface="Times New Roman"/>
                <a:cs typeface="Times New Roman"/>
              </a:rPr>
              <a:t>b8, </a:t>
            </a:r>
            <a:r>
              <a:rPr sz="1400" dirty="0">
                <a:solidFill>
                  <a:srgbClr val="000000"/>
                </a:solidFill>
                <a:latin typeface="Times New Roman"/>
                <a:cs typeface="Times New Roman"/>
              </a:rPr>
              <a:t>output</a:t>
            </a:r>
            <a:r>
              <a:rPr sz="1400" spc="320" dirty="0">
                <a:solidFill>
                  <a:srgbClr val="000000"/>
                </a:solidFill>
                <a:latin typeface="Times New Roman"/>
                <a:cs typeface="Times New Roman"/>
              </a:rPr>
              <a:t> </a:t>
            </a:r>
            <a:r>
              <a:rPr sz="1400" b="0" dirty="0">
                <a:solidFill>
                  <a:srgbClr val="000000"/>
                </a:solidFill>
                <a:latin typeface="Times New Roman"/>
                <a:cs typeface="Times New Roman"/>
              </a:rPr>
              <a:t>[7:0] </a:t>
            </a:r>
            <a:r>
              <a:rPr sz="1400" b="0" spc="-10" dirty="0">
                <a:solidFill>
                  <a:srgbClr val="000000"/>
                </a:solidFill>
                <a:latin typeface="Times New Roman"/>
                <a:cs typeface="Times New Roman"/>
              </a:rPr>
              <a:t>sum8, </a:t>
            </a:r>
            <a:r>
              <a:rPr sz="1400" dirty="0">
                <a:solidFill>
                  <a:srgbClr val="000000"/>
                </a:solidFill>
                <a:latin typeface="Times New Roman"/>
                <a:cs typeface="Times New Roman"/>
              </a:rPr>
              <a:t>output</a:t>
            </a:r>
            <a:r>
              <a:rPr sz="1400" spc="160" dirty="0">
                <a:solidFill>
                  <a:srgbClr val="000000"/>
                </a:solidFill>
                <a:latin typeface="Times New Roman"/>
                <a:cs typeface="Times New Roman"/>
              </a:rPr>
              <a:t>  </a:t>
            </a:r>
            <a:r>
              <a:rPr sz="1400" b="0" spc="-25" dirty="0">
                <a:solidFill>
                  <a:srgbClr val="000000"/>
                </a:solidFill>
                <a:latin typeface="Times New Roman"/>
                <a:cs typeface="Times New Roman"/>
              </a:rPr>
              <a:t>c8</a:t>
            </a:r>
            <a:endParaRPr sz="1400">
              <a:latin typeface="Times New Roman"/>
              <a:cs typeface="Times New Roman"/>
            </a:endParaRPr>
          </a:p>
          <a:p>
            <a:pPr marL="393065">
              <a:lnSpc>
                <a:spcPct val="100000"/>
              </a:lnSpc>
              <a:spcBef>
                <a:spcPts val="340"/>
              </a:spcBef>
            </a:pPr>
            <a:r>
              <a:rPr sz="1400" b="0" spc="-25" dirty="0">
                <a:solidFill>
                  <a:srgbClr val="000000"/>
                </a:solidFill>
                <a:latin typeface="Times New Roman"/>
                <a:cs typeface="Times New Roman"/>
              </a:rPr>
              <a:t>);</a:t>
            </a:r>
            <a:endParaRPr sz="1400">
              <a:latin typeface="Times New Roman"/>
              <a:cs typeface="Times New Roman"/>
            </a:endParaRPr>
          </a:p>
          <a:p>
            <a:pPr marR="1286510" algn="ctr">
              <a:lnSpc>
                <a:spcPct val="100000"/>
              </a:lnSpc>
              <a:spcBef>
                <a:spcPts val="285"/>
              </a:spcBef>
            </a:pPr>
            <a:r>
              <a:rPr sz="1400" b="0" spc="15" dirty="0">
                <a:solidFill>
                  <a:srgbClr val="676906"/>
                </a:solidFill>
                <a:latin typeface="Times New Roman"/>
                <a:cs typeface="Times New Roman"/>
              </a:rPr>
              <a:t>// </a:t>
            </a:r>
            <a:r>
              <a:rPr sz="1450" b="0" i="1" spc="-65" dirty="0">
                <a:solidFill>
                  <a:srgbClr val="676906"/>
                </a:solidFill>
                <a:latin typeface="微软雅黑"/>
                <a:cs typeface="微软雅黑"/>
              </a:rPr>
              <a:t>实例化</a:t>
            </a:r>
            <a:r>
              <a:rPr sz="1400" b="0" i="1" dirty="0">
                <a:solidFill>
                  <a:srgbClr val="676906"/>
                </a:solidFill>
                <a:latin typeface="Times New Roman"/>
                <a:cs typeface="Times New Roman"/>
              </a:rPr>
              <a:t>8</a:t>
            </a:r>
            <a:r>
              <a:rPr sz="1450" b="0" i="1" spc="-65" dirty="0">
                <a:solidFill>
                  <a:srgbClr val="676906"/>
                </a:solidFill>
                <a:latin typeface="微软雅黑"/>
                <a:cs typeface="微软雅黑"/>
              </a:rPr>
              <a:t>位加法器</a:t>
            </a:r>
            <a:endParaRPr sz="1450">
              <a:latin typeface="微软雅黑"/>
              <a:cs typeface="微软雅黑"/>
            </a:endParaRPr>
          </a:p>
          <a:p>
            <a:pPr marL="383540">
              <a:lnSpc>
                <a:spcPct val="100000"/>
              </a:lnSpc>
              <a:spcBef>
                <a:spcPts val="335"/>
              </a:spcBef>
            </a:pPr>
            <a:r>
              <a:rPr sz="1400" b="0" dirty="0">
                <a:solidFill>
                  <a:srgbClr val="000000"/>
                </a:solidFill>
                <a:latin typeface="Times New Roman"/>
                <a:cs typeface="Times New Roman"/>
              </a:rPr>
              <a:t>Adder_carry_para</a:t>
            </a:r>
            <a:r>
              <a:rPr sz="1400" b="0" spc="5" dirty="0">
                <a:solidFill>
                  <a:srgbClr val="000000"/>
                </a:solidFill>
                <a:latin typeface="Times New Roman"/>
                <a:cs typeface="Times New Roman"/>
              </a:rPr>
              <a:t> </a:t>
            </a:r>
            <a:r>
              <a:rPr sz="1400" b="0" dirty="0">
                <a:solidFill>
                  <a:srgbClr val="000000"/>
                </a:solidFill>
                <a:latin typeface="Times New Roman"/>
                <a:cs typeface="Times New Roman"/>
              </a:rPr>
              <a:t>#(. N(8)) </a:t>
            </a:r>
            <a:r>
              <a:rPr sz="1400" b="0" spc="-10" dirty="0">
                <a:solidFill>
                  <a:srgbClr val="000000"/>
                </a:solidFill>
                <a:latin typeface="Times New Roman"/>
                <a:cs typeface="Times New Roman"/>
              </a:rPr>
              <a:t>unit1</a:t>
            </a:r>
            <a:endParaRPr sz="1400">
              <a:latin typeface="Times New Roman"/>
              <a:cs typeface="Times New Roman"/>
            </a:endParaRPr>
          </a:p>
          <a:p>
            <a:pPr marL="526415">
              <a:lnSpc>
                <a:spcPct val="100000"/>
              </a:lnSpc>
              <a:spcBef>
                <a:spcPts val="340"/>
              </a:spcBef>
            </a:pPr>
            <a:r>
              <a:rPr sz="1400" b="0" dirty="0">
                <a:solidFill>
                  <a:srgbClr val="000000"/>
                </a:solidFill>
                <a:latin typeface="Times New Roman"/>
                <a:cs typeface="Times New Roman"/>
              </a:rPr>
              <a:t>(. a(a8), . b(b8), . sum(sum8),</a:t>
            </a:r>
            <a:r>
              <a:rPr sz="1400" b="0" spc="20" dirty="0">
                <a:solidFill>
                  <a:srgbClr val="000000"/>
                </a:solidFill>
                <a:latin typeface="Times New Roman"/>
                <a:cs typeface="Times New Roman"/>
              </a:rPr>
              <a:t> </a:t>
            </a:r>
            <a:r>
              <a:rPr sz="1400" b="0" dirty="0">
                <a:solidFill>
                  <a:srgbClr val="000000"/>
                </a:solidFill>
                <a:latin typeface="Times New Roman"/>
                <a:cs typeface="Times New Roman"/>
              </a:rPr>
              <a:t>. cout (c8))</a:t>
            </a:r>
            <a:r>
              <a:rPr sz="1400" b="0" spc="10" dirty="0">
                <a:solidFill>
                  <a:srgbClr val="000000"/>
                </a:solidFill>
                <a:latin typeface="Times New Roman"/>
                <a:cs typeface="Times New Roman"/>
              </a:rPr>
              <a:t> </a:t>
            </a:r>
            <a:r>
              <a:rPr sz="1400" b="0" spc="-50" dirty="0">
                <a:solidFill>
                  <a:srgbClr val="000000"/>
                </a:solidFill>
                <a:latin typeface="Times New Roman"/>
                <a:cs typeface="Times New Roman"/>
              </a:rPr>
              <a:t>;</a:t>
            </a:r>
            <a:endParaRPr sz="1400">
              <a:latin typeface="Times New Roman"/>
              <a:cs typeface="Times New Roman"/>
            </a:endParaRPr>
          </a:p>
          <a:p>
            <a:pPr marL="383540" marR="1462405" indent="9525">
              <a:lnSpc>
                <a:spcPts val="2020"/>
              </a:lnSpc>
              <a:spcBef>
                <a:spcPts val="120"/>
              </a:spcBef>
            </a:pPr>
            <a:r>
              <a:rPr sz="1400" b="0" spc="-10" dirty="0">
                <a:solidFill>
                  <a:srgbClr val="676906"/>
                </a:solidFill>
                <a:latin typeface="Times New Roman"/>
                <a:cs typeface="Times New Roman"/>
              </a:rPr>
              <a:t>//</a:t>
            </a:r>
            <a:r>
              <a:rPr sz="1450" b="0" i="1" spc="-65" dirty="0">
                <a:solidFill>
                  <a:srgbClr val="676906"/>
                </a:solidFill>
                <a:latin typeface="微软雅黑"/>
                <a:cs typeface="微软雅黑"/>
              </a:rPr>
              <a:t>实例化</a:t>
            </a:r>
            <a:r>
              <a:rPr sz="1400" b="0" i="1" dirty="0">
                <a:solidFill>
                  <a:srgbClr val="676906"/>
                </a:solidFill>
                <a:latin typeface="Times New Roman"/>
                <a:cs typeface="Times New Roman"/>
              </a:rPr>
              <a:t>4</a:t>
            </a:r>
            <a:r>
              <a:rPr sz="1450" b="0" i="1" spc="-65" dirty="0">
                <a:solidFill>
                  <a:srgbClr val="676906"/>
                </a:solidFill>
                <a:latin typeface="微软雅黑"/>
                <a:cs typeface="微软雅黑"/>
              </a:rPr>
              <a:t>位加法器</a:t>
            </a:r>
            <a:r>
              <a:rPr sz="1450" b="0" i="1" spc="-50" dirty="0">
                <a:solidFill>
                  <a:srgbClr val="676906"/>
                </a:solidFill>
                <a:latin typeface="微软雅黑"/>
                <a:cs typeface="微软雅黑"/>
              </a:rPr>
              <a:t> </a:t>
            </a:r>
            <a:r>
              <a:rPr sz="1400" b="0" dirty="0">
                <a:solidFill>
                  <a:srgbClr val="000000"/>
                </a:solidFill>
                <a:latin typeface="Times New Roman"/>
                <a:cs typeface="Times New Roman"/>
              </a:rPr>
              <a:t>Adder_carry_para</a:t>
            </a:r>
            <a:r>
              <a:rPr sz="1400" b="0" spc="5" dirty="0">
                <a:solidFill>
                  <a:srgbClr val="000000"/>
                </a:solidFill>
                <a:latin typeface="Times New Roman"/>
                <a:cs typeface="Times New Roman"/>
              </a:rPr>
              <a:t> </a:t>
            </a:r>
            <a:r>
              <a:rPr sz="1400" b="0" spc="-10" dirty="0">
                <a:solidFill>
                  <a:srgbClr val="000000"/>
                </a:solidFill>
                <a:latin typeface="Times New Roman"/>
                <a:cs typeface="Times New Roman"/>
              </a:rPr>
              <a:t>unit2</a:t>
            </a:r>
            <a:endParaRPr sz="1400">
              <a:latin typeface="Times New Roman"/>
              <a:cs typeface="Times New Roman"/>
            </a:endParaRPr>
          </a:p>
          <a:p>
            <a:pPr marL="526415">
              <a:lnSpc>
                <a:spcPct val="100000"/>
              </a:lnSpc>
              <a:spcBef>
                <a:spcPts val="215"/>
              </a:spcBef>
            </a:pPr>
            <a:r>
              <a:rPr sz="1400" b="0" dirty="0">
                <a:solidFill>
                  <a:srgbClr val="000000"/>
                </a:solidFill>
                <a:latin typeface="Times New Roman"/>
                <a:cs typeface="Times New Roman"/>
              </a:rPr>
              <a:t>(.a(a4), </a:t>
            </a:r>
            <a:r>
              <a:rPr sz="1400" b="0" spc="-10" dirty="0">
                <a:solidFill>
                  <a:srgbClr val="000000"/>
                </a:solidFill>
                <a:latin typeface="Times New Roman"/>
                <a:cs typeface="Times New Roman"/>
              </a:rPr>
              <a:t>.b(b4),.sum(sum4),.cout(c4))</a:t>
            </a:r>
            <a:r>
              <a:rPr sz="1050" b="0" spc="-10" dirty="0">
                <a:solidFill>
                  <a:srgbClr val="000000"/>
                </a:solidFill>
                <a:latin typeface="Times New Roman"/>
                <a:cs typeface="Times New Roman"/>
              </a:rPr>
              <a:t>;</a:t>
            </a:r>
            <a:endParaRPr sz="1050">
              <a:latin typeface="Times New Roman"/>
              <a:cs typeface="Times New Roman"/>
            </a:endParaRPr>
          </a:p>
          <a:p>
            <a:pPr marL="248920">
              <a:lnSpc>
                <a:spcPct val="100000"/>
              </a:lnSpc>
              <a:spcBef>
                <a:spcPts val="355"/>
              </a:spcBef>
            </a:pPr>
            <a:r>
              <a:rPr sz="1200" spc="-10" dirty="0">
                <a:solidFill>
                  <a:srgbClr val="000000"/>
                </a:solidFill>
                <a:latin typeface="Times New Roman"/>
                <a:cs typeface="Times New Roman"/>
              </a:rPr>
              <a:t>endmodule</a:t>
            </a:r>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title"/>
          </p:nvPr>
        </p:nvSpPr>
        <p:spPr>
          <a:xfrm>
            <a:off x="359035" y="1106677"/>
            <a:ext cx="154051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3.5.2</a:t>
            </a:r>
            <a:r>
              <a:rPr spc="-5" dirty="0">
                <a:latin typeface="Times New Roman"/>
                <a:cs typeface="Times New Roman"/>
              </a:rPr>
              <a:t> </a:t>
            </a:r>
            <a:r>
              <a:rPr spc="-25" dirty="0"/>
              <a:t>参数</a:t>
            </a:r>
          </a:p>
        </p:txBody>
      </p:sp>
      <p:sp>
        <p:nvSpPr>
          <p:cNvPr id="7" name="object 7"/>
          <p:cNvSpPr txBox="1"/>
          <p:nvPr/>
        </p:nvSpPr>
        <p:spPr>
          <a:xfrm>
            <a:off x="4794637" y="2133236"/>
            <a:ext cx="5353685" cy="3135630"/>
          </a:xfrm>
          <a:prstGeom prst="rect">
            <a:avLst/>
          </a:prstGeom>
        </p:spPr>
        <p:txBody>
          <a:bodyPr vert="horz" wrap="square" lIns="0" tIns="12065" rIns="0" bIns="0" rtlCol="0">
            <a:spAutoFit/>
          </a:bodyPr>
          <a:lstStyle/>
          <a:p>
            <a:pPr marL="212725" marR="5080" indent="-203200">
              <a:lnSpc>
                <a:spcPct val="150500"/>
              </a:lnSpc>
              <a:spcBef>
                <a:spcPts val="95"/>
              </a:spcBef>
              <a:buSzPct val="95238"/>
              <a:buFont typeface="Wingdings"/>
              <a:buChar char=""/>
              <a:tabLst>
                <a:tab pos="212725" algn="l"/>
                <a:tab pos="249554" algn="l"/>
              </a:tabLst>
            </a:pPr>
            <a:r>
              <a:rPr sz="2100" spc="114" dirty="0">
                <a:latin typeface="微软雅黑"/>
                <a:cs typeface="微软雅黑"/>
              </a:rPr>
              <a:t>	可以在组件实例化中给参数赋所需的值并</a:t>
            </a:r>
            <a:r>
              <a:rPr sz="2100" spc="-10" dirty="0">
                <a:latin typeface="微软雅黑"/>
                <a:cs typeface="微软雅黑"/>
              </a:rPr>
              <a:t>将原来的默认值覆盖</a:t>
            </a:r>
            <a:endParaRPr sz="2100">
              <a:latin typeface="微软雅黑"/>
              <a:cs typeface="微软雅黑"/>
            </a:endParaRPr>
          </a:p>
          <a:p>
            <a:pPr marL="250190" indent="-240029">
              <a:lnSpc>
                <a:spcPct val="100000"/>
              </a:lnSpc>
              <a:spcBef>
                <a:spcPts val="2145"/>
              </a:spcBef>
              <a:buSzPct val="95238"/>
              <a:buFont typeface="Wingdings"/>
              <a:buChar char=""/>
              <a:tabLst>
                <a:tab pos="250190" algn="l"/>
              </a:tabLst>
            </a:pPr>
            <a:r>
              <a:rPr sz="2100" spc="-15" dirty="0">
                <a:latin typeface="微软雅黑"/>
                <a:cs typeface="微软雅黑"/>
              </a:rPr>
              <a:t>如果省略了参数赋值，则采用默认参数</a:t>
            </a:r>
            <a:endParaRPr sz="2100">
              <a:latin typeface="微软雅黑"/>
              <a:cs typeface="微软雅黑"/>
            </a:endParaRPr>
          </a:p>
          <a:p>
            <a:pPr marL="212725" marR="5080" indent="-203200" algn="just">
              <a:lnSpc>
                <a:spcPct val="150400"/>
              </a:lnSpc>
              <a:spcBef>
                <a:spcPts val="869"/>
              </a:spcBef>
              <a:buSzPct val="95238"/>
              <a:buFont typeface="Wingdings"/>
              <a:buChar char=""/>
              <a:tabLst>
                <a:tab pos="212725" algn="l"/>
                <a:tab pos="249554" algn="l"/>
              </a:tabLst>
            </a:pPr>
            <a:r>
              <a:rPr sz="2100" spc="114" dirty="0">
                <a:latin typeface="微软雅黑"/>
                <a:cs typeface="微软雅黑"/>
              </a:rPr>
              <a:t>	参数提供了一种创建可扩展代码机制，可</a:t>
            </a:r>
            <a:r>
              <a:rPr sz="2100" dirty="0">
                <a:latin typeface="微软雅黑"/>
                <a:cs typeface="微软雅黑"/>
              </a:rPr>
              <a:t>调整电路的位宽以适应特定的需求，</a:t>
            </a:r>
            <a:r>
              <a:rPr sz="2100" spc="-20" dirty="0">
                <a:solidFill>
                  <a:srgbClr val="FF0000"/>
                </a:solidFill>
                <a:latin typeface="微软雅黑"/>
                <a:cs typeface="微软雅黑"/>
              </a:rPr>
              <a:t>这使代</a:t>
            </a:r>
            <a:r>
              <a:rPr sz="2100" spc="-10" dirty="0">
                <a:solidFill>
                  <a:srgbClr val="FF0000"/>
                </a:solidFill>
                <a:latin typeface="微软雅黑"/>
                <a:cs typeface="微软雅黑"/>
              </a:rPr>
              <a:t>码移植性更好，有利于设计重用</a:t>
            </a:r>
            <a:r>
              <a:rPr sz="2100" spc="-50" dirty="0">
                <a:latin typeface="微软雅黑"/>
                <a:cs typeface="微软雅黑"/>
              </a:rPr>
              <a:t>。</a:t>
            </a:r>
            <a:endParaRPr sz="2100">
              <a:latin typeface="微软雅黑"/>
              <a:cs typeface="微软雅黑"/>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2376" y="1140968"/>
            <a:ext cx="198628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a:t>
            </a:r>
            <a:r>
              <a:rPr spc="-5" dirty="0">
                <a:latin typeface="Times New Roman"/>
                <a:cs typeface="Times New Roman"/>
              </a:rPr>
              <a:t> </a:t>
            </a:r>
            <a:r>
              <a:rPr spc="-15" dirty="0"/>
              <a:t>设计实例</a:t>
            </a:r>
          </a:p>
        </p:txBody>
      </p:sp>
      <p:pic>
        <p:nvPicPr>
          <p:cNvPr id="3" name="object 3"/>
          <p:cNvPicPr/>
          <p:nvPr/>
        </p:nvPicPr>
        <p:blipFill>
          <a:blip r:embed="rId2" cstate="print"/>
          <a:stretch>
            <a:fillRect/>
          </a:stretch>
        </p:blipFill>
        <p:spPr>
          <a:xfrm>
            <a:off x="1110863" y="2978276"/>
            <a:ext cx="163103" cy="163448"/>
          </a:xfrm>
          <a:prstGeom prst="rect">
            <a:avLst/>
          </a:prstGeom>
        </p:spPr>
      </p:pic>
      <p:pic>
        <p:nvPicPr>
          <p:cNvPr id="4" name="object 4"/>
          <p:cNvPicPr/>
          <p:nvPr/>
        </p:nvPicPr>
        <p:blipFill>
          <a:blip r:embed="rId3" cstate="print"/>
          <a:stretch>
            <a:fillRect/>
          </a:stretch>
        </p:blipFill>
        <p:spPr>
          <a:xfrm>
            <a:off x="1110863" y="3423629"/>
            <a:ext cx="163103" cy="162741"/>
          </a:xfrm>
          <a:prstGeom prst="rect">
            <a:avLst/>
          </a:prstGeom>
        </p:spPr>
      </p:pic>
      <p:pic>
        <p:nvPicPr>
          <p:cNvPr id="5" name="object 5"/>
          <p:cNvPicPr/>
          <p:nvPr/>
        </p:nvPicPr>
        <p:blipFill>
          <a:blip r:embed="rId4" cstate="print"/>
          <a:stretch>
            <a:fillRect/>
          </a:stretch>
        </p:blipFill>
        <p:spPr>
          <a:xfrm>
            <a:off x="1110863" y="3864065"/>
            <a:ext cx="163103" cy="162741"/>
          </a:xfrm>
          <a:prstGeom prst="rect">
            <a:avLst/>
          </a:prstGeom>
        </p:spPr>
      </p:pic>
      <p:pic>
        <p:nvPicPr>
          <p:cNvPr id="6" name="object 6"/>
          <p:cNvPicPr/>
          <p:nvPr/>
        </p:nvPicPr>
        <p:blipFill>
          <a:blip r:embed="rId5" cstate="print"/>
          <a:stretch>
            <a:fillRect/>
          </a:stretch>
        </p:blipFill>
        <p:spPr>
          <a:xfrm>
            <a:off x="1110863" y="4304147"/>
            <a:ext cx="163103" cy="163086"/>
          </a:xfrm>
          <a:prstGeom prst="rect">
            <a:avLst/>
          </a:prstGeom>
        </p:spPr>
      </p:pic>
      <p:sp>
        <p:nvSpPr>
          <p:cNvPr id="7" name="object 7"/>
          <p:cNvSpPr txBox="1"/>
          <p:nvPr/>
        </p:nvSpPr>
        <p:spPr>
          <a:xfrm>
            <a:off x="941976" y="2287006"/>
            <a:ext cx="6412230" cy="224663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spc="-15" dirty="0">
                <a:latin typeface="微软雅黑"/>
                <a:cs typeface="微软雅黑"/>
              </a:rPr>
              <a:t>本节给出了一些常用的组合电路的设计实例，包括：</a:t>
            </a:r>
            <a:endParaRPr sz="2100">
              <a:latin typeface="微软雅黑"/>
              <a:cs typeface="微软雅黑"/>
            </a:endParaRPr>
          </a:p>
          <a:p>
            <a:pPr marL="967105" lvl="2" indent="-599440">
              <a:lnSpc>
                <a:spcPct val="100000"/>
              </a:lnSpc>
              <a:spcBef>
                <a:spcPts val="2005"/>
              </a:spcBef>
              <a:buFont typeface="Times New Roman"/>
              <a:buAutoNum type="arabicPeriod"/>
              <a:tabLst>
                <a:tab pos="967105" algn="l"/>
              </a:tabLst>
            </a:pPr>
            <a:r>
              <a:rPr sz="2100" b="1" spc="-10" dirty="0">
                <a:solidFill>
                  <a:srgbClr val="3E3E3E"/>
                </a:solidFill>
                <a:latin typeface="微软雅黑"/>
                <a:cs typeface="微软雅黑"/>
              </a:rPr>
              <a:t>多路选择器</a:t>
            </a:r>
            <a:endParaRPr sz="2100">
              <a:latin typeface="微软雅黑"/>
              <a:cs typeface="微软雅黑"/>
            </a:endParaRPr>
          </a:p>
          <a:p>
            <a:pPr marL="967105" lvl="2" indent="-599440">
              <a:lnSpc>
                <a:spcPct val="100000"/>
              </a:lnSpc>
              <a:spcBef>
                <a:spcPts val="960"/>
              </a:spcBef>
              <a:buFont typeface="Times New Roman"/>
              <a:buAutoNum type="arabicPeriod"/>
              <a:tabLst>
                <a:tab pos="967105" algn="l"/>
              </a:tabLst>
            </a:pPr>
            <a:r>
              <a:rPr sz="2100" b="1" spc="-20" dirty="0">
                <a:solidFill>
                  <a:srgbClr val="3E3E3E"/>
                </a:solidFill>
                <a:latin typeface="微软雅黑"/>
                <a:cs typeface="微软雅黑"/>
              </a:rPr>
              <a:t>比较器</a:t>
            </a:r>
            <a:endParaRPr sz="2100">
              <a:latin typeface="微软雅黑"/>
              <a:cs typeface="微软雅黑"/>
            </a:endParaRPr>
          </a:p>
          <a:p>
            <a:pPr marL="967105" lvl="2" indent="-599440">
              <a:lnSpc>
                <a:spcPct val="100000"/>
              </a:lnSpc>
              <a:spcBef>
                <a:spcPts val="960"/>
              </a:spcBef>
              <a:buFont typeface="Times New Roman"/>
              <a:buAutoNum type="arabicPeriod"/>
              <a:tabLst>
                <a:tab pos="967105" algn="l"/>
              </a:tabLst>
            </a:pPr>
            <a:r>
              <a:rPr sz="2100" b="1" spc="-20" dirty="0">
                <a:solidFill>
                  <a:srgbClr val="3E3E3E"/>
                </a:solidFill>
                <a:latin typeface="微软雅黑"/>
                <a:cs typeface="微软雅黑"/>
              </a:rPr>
              <a:t>译码器</a:t>
            </a:r>
            <a:endParaRPr sz="2100">
              <a:latin typeface="微软雅黑"/>
              <a:cs typeface="微软雅黑"/>
            </a:endParaRPr>
          </a:p>
          <a:p>
            <a:pPr marL="967105" lvl="2" indent="-599440">
              <a:lnSpc>
                <a:spcPct val="100000"/>
              </a:lnSpc>
              <a:spcBef>
                <a:spcPts val="955"/>
              </a:spcBef>
              <a:buFont typeface="Times New Roman"/>
              <a:buAutoNum type="arabicPeriod"/>
              <a:tabLst>
                <a:tab pos="967105" algn="l"/>
              </a:tabLst>
            </a:pPr>
            <a:r>
              <a:rPr sz="2100" b="1" spc="-10" dirty="0">
                <a:solidFill>
                  <a:srgbClr val="3E3E3E"/>
                </a:solidFill>
                <a:latin typeface="微软雅黑"/>
                <a:cs typeface="微软雅黑"/>
              </a:rPr>
              <a:t>编码器和编码转换器</a:t>
            </a:r>
            <a:endParaRPr sz="210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9781" y="2974779"/>
            <a:ext cx="2294497" cy="2070075"/>
          </a:xfrm>
          <a:prstGeom prst="rect">
            <a:avLst/>
          </a:prstGeom>
        </p:spPr>
      </p:pic>
      <p:graphicFrame>
        <p:nvGraphicFramePr>
          <p:cNvPr id="3" name="object 3"/>
          <p:cNvGraphicFramePr>
            <a:graphicFrameLocks noGrp="1"/>
          </p:cNvGraphicFramePr>
          <p:nvPr/>
        </p:nvGraphicFramePr>
        <p:xfrm>
          <a:off x="6287674" y="3354851"/>
          <a:ext cx="2559684" cy="1513840"/>
        </p:xfrm>
        <a:graphic>
          <a:graphicData uri="http://schemas.openxmlformats.org/drawingml/2006/table">
            <a:tbl>
              <a:tblPr firstRow="1" bandRow="1">
                <a:tableStyleId>{2D5ABB26-0587-4C30-8999-92F81FD0307C}</a:tableStyleId>
              </a:tblPr>
              <a:tblGrid>
                <a:gridCol w="853440">
                  <a:extLst>
                    <a:ext uri="{9D8B030D-6E8A-4147-A177-3AD203B41FA5}">
                      <a16:colId xmlns:a16="http://schemas.microsoft.com/office/drawing/2014/main" val="20000"/>
                    </a:ext>
                  </a:extLst>
                </a:gridCol>
                <a:gridCol w="852805">
                  <a:extLst>
                    <a:ext uri="{9D8B030D-6E8A-4147-A177-3AD203B41FA5}">
                      <a16:colId xmlns:a16="http://schemas.microsoft.com/office/drawing/2014/main" val="20001"/>
                    </a:ext>
                  </a:extLst>
                </a:gridCol>
                <a:gridCol w="853439">
                  <a:extLst>
                    <a:ext uri="{9D8B030D-6E8A-4147-A177-3AD203B41FA5}">
                      <a16:colId xmlns:a16="http://schemas.microsoft.com/office/drawing/2014/main" val="20002"/>
                    </a:ext>
                  </a:extLst>
                </a:gridCol>
              </a:tblGrid>
              <a:tr h="302895">
                <a:tc>
                  <a:txBody>
                    <a:bodyPr/>
                    <a:lstStyle/>
                    <a:p>
                      <a:pPr algn="ctr">
                        <a:lnSpc>
                          <a:spcPct val="100000"/>
                        </a:lnSpc>
                        <a:spcBef>
                          <a:spcPts val="114"/>
                        </a:spcBef>
                      </a:pPr>
                      <a:r>
                        <a:rPr sz="1400" b="1" spc="-25" dirty="0">
                          <a:solidFill>
                            <a:srgbClr val="FFFFFF"/>
                          </a:solidFill>
                          <a:latin typeface="Times New Roman"/>
                          <a:cs typeface="Times New Roman"/>
                        </a:rPr>
                        <a:t>s1</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635" algn="ctr">
                        <a:lnSpc>
                          <a:spcPct val="100000"/>
                        </a:lnSpc>
                        <a:spcBef>
                          <a:spcPts val="114"/>
                        </a:spcBef>
                      </a:pPr>
                      <a:r>
                        <a:rPr sz="1400" b="1" spc="-25" dirty="0">
                          <a:solidFill>
                            <a:srgbClr val="FFFFFF"/>
                          </a:solidFill>
                          <a:latin typeface="Times New Roman"/>
                          <a:cs typeface="Times New Roman"/>
                        </a:rPr>
                        <a:t>s0</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114"/>
                        </a:spcBef>
                      </a:pPr>
                      <a:r>
                        <a:rPr sz="1400" b="1" spc="-25" dirty="0">
                          <a:solidFill>
                            <a:srgbClr val="FFFFFF"/>
                          </a:solidFill>
                          <a:latin typeface="Times New Roman"/>
                          <a:cs typeface="Times New Roman"/>
                        </a:rPr>
                        <a:t>out</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302895">
                <a:tc>
                  <a:txBody>
                    <a:bodyPr/>
                    <a:lstStyle/>
                    <a:p>
                      <a:pPr marL="635" algn="ctr">
                        <a:lnSpc>
                          <a:spcPct val="10000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marL="1270" algn="ctr">
                        <a:lnSpc>
                          <a:spcPct val="10000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110"/>
                        </a:spcBef>
                      </a:pPr>
                      <a:r>
                        <a:rPr sz="1400" spc="-25" dirty="0">
                          <a:latin typeface="Times New Roman"/>
                          <a:cs typeface="Times New Roman"/>
                        </a:rPr>
                        <a:t>in0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302895">
                <a:tc>
                  <a:txBody>
                    <a:bodyPr/>
                    <a:lstStyle/>
                    <a:p>
                      <a:pPr marL="635" algn="ctr">
                        <a:lnSpc>
                          <a:spcPct val="10000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1270" algn="ctr">
                        <a:lnSpc>
                          <a:spcPct val="10000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110"/>
                        </a:spcBef>
                      </a:pPr>
                      <a:r>
                        <a:rPr sz="1400" spc="-25" dirty="0">
                          <a:latin typeface="Times New Roman"/>
                          <a:cs typeface="Times New Roman"/>
                        </a:rPr>
                        <a:t>in1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302260">
                <a:tc>
                  <a:txBody>
                    <a:bodyPr/>
                    <a:lstStyle/>
                    <a:p>
                      <a:pPr marL="635" algn="ctr">
                        <a:lnSpc>
                          <a:spcPct val="100000"/>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1270" algn="ctr">
                        <a:lnSpc>
                          <a:spcPct val="10000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110"/>
                        </a:spcBef>
                      </a:pPr>
                      <a:r>
                        <a:rPr sz="1400" spc="-25" dirty="0">
                          <a:latin typeface="Times New Roman"/>
                          <a:cs typeface="Times New Roman"/>
                        </a:rPr>
                        <a:t>in2</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302895">
                <a:tc>
                  <a:txBody>
                    <a:bodyPr/>
                    <a:lstStyle/>
                    <a:p>
                      <a:pPr marL="635" algn="ctr">
                        <a:lnSpc>
                          <a:spcPct val="100000"/>
                        </a:lnSpc>
                        <a:spcBef>
                          <a:spcPts val="114"/>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1270" algn="ctr">
                        <a:lnSpc>
                          <a:spcPct val="100000"/>
                        </a:lnSpc>
                        <a:spcBef>
                          <a:spcPts val="114"/>
                        </a:spcBef>
                      </a:pPr>
                      <a:r>
                        <a:rPr sz="1400" spc="-50" dirty="0">
                          <a:latin typeface="Times New Roman"/>
                          <a:cs typeface="Times New Roman"/>
                        </a:rPr>
                        <a:t>1</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114"/>
                        </a:spcBef>
                      </a:pPr>
                      <a:r>
                        <a:rPr sz="1400" spc="-25" dirty="0">
                          <a:latin typeface="Times New Roman"/>
                          <a:cs typeface="Times New Roman"/>
                        </a:rPr>
                        <a:t>in3</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bl>
          </a:graphicData>
        </a:graphic>
      </p:graphicFrame>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p:nvPr/>
        </p:nvSpPr>
        <p:spPr>
          <a:xfrm>
            <a:off x="6485505" y="3017047"/>
            <a:ext cx="1986914"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C00000"/>
                </a:solidFill>
                <a:latin typeface="Times New Roman"/>
                <a:cs typeface="Times New Roman"/>
              </a:rPr>
              <a:t>4</a:t>
            </a:r>
            <a:r>
              <a:rPr sz="1400" dirty="0">
                <a:solidFill>
                  <a:srgbClr val="C00000"/>
                </a:solidFill>
                <a:latin typeface="微软雅黑"/>
                <a:cs typeface="微软雅黑"/>
              </a:rPr>
              <a:t>选</a:t>
            </a:r>
            <a:r>
              <a:rPr sz="1400" dirty="0">
                <a:solidFill>
                  <a:srgbClr val="C00000"/>
                </a:solidFill>
                <a:latin typeface="Times New Roman"/>
                <a:cs typeface="Times New Roman"/>
              </a:rPr>
              <a:t>1</a:t>
            </a:r>
            <a:r>
              <a:rPr sz="1400" spc="-10" dirty="0">
                <a:solidFill>
                  <a:srgbClr val="C00000"/>
                </a:solidFill>
                <a:latin typeface="微软雅黑"/>
                <a:cs typeface="微软雅黑"/>
              </a:rPr>
              <a:t>多路选择器的真值表</a:t>
            </a:r>
            <a:endParaRPr sz="1400">
              <a:latin typeface="微软雅黑"/>
              <a:cs typeface="微软雅黑"/>
            </a:endParaRPr>
          </a:p>
        </p:txBody>
      </p:sp>
      <p:sp>
        <p:nvSpPr>
          <p:cNvPr id="5" name="object 5"/>
          <p:cNvSpPr txBox="1"/>
          <p:nvPr/>
        </p:nvSpPr>
        <p:spPr>
          <a:xfrm>
            <a:off x="961015" y="5231844"/>
            <a:ext cx="3207385" cy="947419"/>
          </a:xfrm>
          <a:prstGeom prst="rect">
            <a:avLst/>
          </a:prstGeom>
        </p:spPr>
        <p:txBody>
          <a:bodyPr vert="horz" wrap="square" lIns="0" tIns="82550" rIns="0" bIns="0" rtlCol="0">
            <a:spAutoFit/>
          </a:bodyPr>
          <a:lstStyle/>
          <a:p>
            <a:pPr marL="262890" indent="-250190">
              <a:lnSpc>
                <a:spcPct val="100000"/>
              </a:lnSpc>
              <a:spcBef>
                <a:spcPts val="650"/>
              </a:spcBef>
              <a:buFont typeface="Arial"/>
              <a:buChar char="•"/>
              <a:tabLst>
                <a:tab pos="262890" algn="l"/>
              </a:tabLst>
            </a:pPr>
            <a:r>
              <a:rPr sz="1550" dirty="0">
                <a:latin typeface="Times New Roman"/>
                <a:cs typeface="Times New Roman"/>
              </a:rPr>
              <a:t>in0</a:t>
            </a:r>
            <a:r>
              <a:rPr sz="1550" dirty="0">
                <a:latin typeface="微软雅黑"/>
                <a:cs typeface="微软雅黑"/>
              </a:rPr>
              <a:t>、</a:t>
            </a:r>
            <a:r>
              <a:rPr sz="1550" dirty="0">
                <a:latin typeface="Times New Roman"/>
                <a:cs typeface="Times New Roman"/>
              </a:rPr>
              <a:t>in1</a:t>
            </a:r>
            <a:r>
              <a:rPr sz="1550" dirty="0">
                <a:latin typeface="微软雅黑"/>
                <a:cs typeface="微软雅黑"/>
              </a:rPr>
              <a:t>、</a:t>
            </a:r>
            <a:r>
              <a:rPr sz="1550" dirty="0">
                <a:latin typeface="Times New Roman"/>
                <a:cs typeface="Times New Roman"/>
              </a:rPr>
              <a:t>in2</a:t>
            </a:r>
            <a:r>
              <a:rPr sz="1550" dirty="0">
                <a:latin typeface="微软雅黑"/>
                <a:cs typeface="微软雅黑"/>
              </a:rPr>
              <a:t>和</a:t>
            </a:r>
            <a:r>
              <a:rPr sz="1550" dirty="0">
                <a:latin typeface="Times New Roman"/>
                <a:cs typeface="Times New Roman"/>
              </a:rPr>
              <a:t>in3</a:t>
            </a:r>
            <a:r>
              <a:rPr sz="1550" dirty="0">
                <a:latin typeface="微软雅黑"/>
                <a:cs typeface="微软雅黑"/>
              </a:rPr>
              <a:t>是</a:t>
            </a:r>
            <a:r>
              <a:rPr sz="1550" dirty="0">
                <a:latin typeface="Times New Roman"/>
                <a:cs typeface="Times New Roman"/>
              </a:rPr>
              <a:t>4</a:t>
            </a:r>
            <a:r>
              <a:rPr sz="1550" spc="-10" dirty="0">
                <a:latin typeface="微软雅黑"/>
                <a:cs typeface="微软雅黑"/>
              </a:rPr>
              <a:t>个输入端口</a:t>
            </a:r>
            <a:endParaRPr sz="1550">
              <a:latin typeface="微软雅黑"/>
              <a:cs typeface="微软雅黑"/>
            </a:endParaRPr>
          </a:p>
          <a:p>
            <a:pPr marL="262890" indent="-250190">
              <a:lnSpc>
                <a:spcPct val="100000"/>
              </a:lnSpc>
              <a:spcBef>
                <a:spcPts val="560"/>
              </a:spcBef>
              <a:buFont typeface="Arial"/>
              <a:buChar char="•"/>
              <a:tabLst>
                <a:tab pos="262890" algn="l"/>
              </a:tabLst>
            </a:pPr>
            <a:r>
              <a:rPr sz="1550" dirty="0">
                <a:latin typeface="Times New Roman"/>
                <a:cs typeface="Times New Roman"/>
              </a:rPr>
              <a:t>s1</a:t>
            </a:r>
            <a:r>
              <a:rPr sz="1550" dirty="0">
                <a:latin typeface="微软雅黑"/>
                <a:cs typeface="微软雅黑"/>
              </a:rPr>
              <a:t>和</a:t>
            </a:r>
            <a:r>
              <a:rPr sz="1550" dirty="0">
                <a:latin typeface="Times New Roman"/>
                <a:cs typeface="Times New Roman"/>
              </a:rPr>
              <a:t>s0</a:t>
            </a:r>
            <a:r>
              <a:rPr sz="1550" spc="-5" dirty="0">
                <a:latin typeface="微软雅黑"/>
                <a:cs typeface="微软雅黑"/>
              </a:rPr>
              <a:t>是通道选择控制信号端口</a:t>
            </a:r>
            <a:endParaRPr sz="1550">
              <a:latin typeface="微软雅黑"/>
              <a:cs typeface="微软雅黑"/>
            </a:endParaRPr>
          </a:p>
          <a:p>
            <a:pPr marL="262890" indent="-250190">
              <a:lnSpc>
                <a:spcPct val="100000"/>
              </a:lnSpc>
              <a:spcBef>
                <a:spcPts val="565"/>
              </a:spcBef>
              <a:buFont typeface="Arial"/>
              <a:buChar char="•"/>
              <a:tabLst>
                <a:tab pos="262890" algn="l"/>
              </a:tabLst>
            </a:pPr>
            <a:r>
              <a:rPr sz="1550" dirty="0">
                <a:latin typeface="Times New Roman"/>
                <a:cs typeface="Times New Roman"/>
              </a:rPr>
              <a:t>out</a:t>
            </a:r>
            <a:r>
              <a:rPr sz="1550" spc="-10" dirty="0">
                <a:latin typeface="微软雅黑"/>
                <a:cs typeface="微软雅黑"/>
              </a:rPr>
              <a:t>是输出端口</a:t>
            </a:r>
            <a:endParaRPr sz="1550">
              <a:latin typeface="微软雅黑"/>
              <a:cs typeface="微软雅黑"/>
            </a:endParaRPr>
          </a:p>
        </p:txBody>
      </p:sp>
      <p:sp>
        <p:nvSpPr>
          <p:cNvPr id="6" name="object 6"/>
          <p:cNvSpPr txBox="1"/>
          <p:nvPr/>
        </p:nvSpPr>
        <p:spPr>
          <a:xfrm>
            <a:off x="5438586" y="5063744"/>
            <a:ext cx="4435475" cy="506730"/>
          </a:xfrm>
          <a:prstGeom prst="rect">
            <a:avLst/>
          </a:prstGeom>
        </p:spPr>
        <p:txBody>
          <a:bodyPr vert="horz" wrap="square" lIns="0" tIns="15875" rIns="0" bIns="0" rtlCol="0">
            <a:spAutoFit/>
          </a:bodyPr>
          <a:lstStyle/>
          <a:p>
            <a:pPr marL="262890" indent="-250190">
              <a:lnSpc>
                <a:spcPct val="100000"/>
              </a:lnSpc>
              <a:spcBef>
                <a:spcPts val="125"/>
              </a:spcBef>
              <a:buFont typeface="Arial"/>
              <a:buChar char="•"/>
              <a:tabLst>
                <a:tab pos="262890" algn="l"/>
              </a:tabLst>
            </a:pPr>
            <a:r>
              <a:rPr sz="1550" dirty="0">
                <a:latin typeface="微软雅黑"/>
                <a:cs typeface="微软雅黑"/>
              </a:rPr>
              <a:t>当</a:t>
            </a:r>
            <a:r>
              <a:rPr sz="1550" dirty="0">
                <a:latin typeface="Times New Roman"/>
                <a:cs typeface="Times New Roman"/>
              </a:rPr>
              <a:t>s1</a:t>
            </a:r>
            <a:r>
              <a:rPr sz="1550" dirty="0">
                <a:latin typeface="微软雅黑"/>
                <a:cs typeface="微软雅黑"/>
              </a:rPr>
              <a:t>和</a:t>
            </a:r>
            <a:r>
              <a:rPr sz="1550" dirty="0">
                <a:latin typeface="Times New Roman"/>
                <a:cs typeface="Times New Roman"/>
              </a:rPr>
              <a:t>s0</a:t>
            </a:r>
            <a:r>
              <a:rPr sz="1550" dirty="0">
                <a:latin typeface="微软雅黑"/>
                <a:cs typeface="微软雅黑"/>
              </a:rPr>
              <a:t>取值分别为</a:t>
            </a:r>
            <a:r>
              <a:rPr sz="1550" dirty="0">
                <a:latin typeface="Times New Roman"/>
                <a:cs typeface="Times New Roman"/>
              </a:rPr>
              <a:t>00</a:t>
            </a:r>
            <a:r>
              <a:rPr sz="1550" dirty="0">
                <a:latin typeface="微软雅黑"/>
                <a:cs typeface="微软雅黑"/>
              </a:rPr>
              <a:t>、</a:t>
            </a:r>
            <a:r>
              <a:rPr sz="1550" dirty="0">
                <a:latin typeface="Times New Roman"/>
                <a:cs typeface="Times New Roman"/>
              </a:rPr>
              <a:t>01</a:t>
            </a:r>
            <a:r>
              <a:rPr sz="1550" dirty="0">
                <a:latin typeface="微软雅黑"/>
                <a:cs typeface="微软雅黑"/>
              </a:rPr>
              <a:t>、</a:t>
            </a:r>
            <a:r>
              <a:rPr sz="1550" dirty="0">
                <a:latin typeface="Times New Roman"/>
                <a:cs typeface="Times New Roman"/>
              </a:rPr>
              <a:t>10</a:t>
            </a:r>
            <a:r>
              <a:rPr sz="1550" dirty="0">
                <a:latin typeface="微软雅黑"/>
                <a:cs typeface="微软雅黑"/>
              </a:rPr>
              <a:t>和</a:t>
            </a:r>
            <a:r>
              <a:rPr sz="1550" spc="-30" dirty="0">
                <a:latin typeface="Times New Roman"/>
                <a:cs typeface="Times New Roman"/>
              </a:rPr>
              <a:t>11</a:t>
            </a:r>
            <a:r>
              <a:rPr sz="1550" spc="-10" dirty="0">
                <a:latin typeface="微软雅黑"/>
                <a:cs typeface="微软雅黑"/>
              </a:rPr>
              <a:t>时，输出端</a:t>
            </a:r>
            <a:endParaRPr sz="1550">
              <a:latin typeface="微软雅黑"/>
              <a:cs typeface="微软雅黑"/>
            </a:endParaRPr>
          </a:p>
          <a:p>
            <a:pPr marL="262890">
              <a:lnSpc>
                <a:spcPct val="100000"/>
              </a:lnSpc>
              <a:spcBef>
                <a:spcPts val="35"/>
              </a:spcBef>
            </a:pPr>
            <a:r>
              <a:rPr sz="1550" dirty="0">
                <a:latin typeface="Times New Roman"/>
                <a:cs typeface="Times New Roman"/>
              </a:rPr>
              <a:t>out</a:t>
            </a:r>
            <a:r>
              <a:rPr sz="1550" dirty="0">
                <a:latin typeface="微软雅黑"/>
                <a:cs typeface="微软雅黑"/>
              </a:rPr>
              <a:t>将分别输出</a:t>
            </a:r>
            <a:r>
              <a:rPr sz="1550" dirty="0">
                <a:latin typeface="Times New Roman"/>
                <a:cs typeface="Times New Roman"/>
              </a:rPr>
              <a:t>in0</a:t>
            </a:r>
            <a:r>
              <a:rPr sz="1550" dirty="0">
                <a:latin typeface="微软雅黑"/>
                <a:cs typeface="微软雅黑"/>
              </a:rPr>
              <a:t>、</a:t>
            </a:r>
            <a:r>
              <a:rPr sz="1550" dirty="0">
                <a:latin typeface="Times New Roman"/>
                <a:cs typeface="Times New Roman"/>
              </a:rPr>
              <a:t>in1</a:t>
            </a:r>
            <a:r>
              <a:rPr sz="1550" dirty="0">
                <a:latin typeface="微软雅黑"/>
                <a:cs typeface="微软雅黑"/>
              </a:rPr>
              <a:t>、</a:t>
            </a:r>
            <a:r>
              <a:rPr sz="1550" dirty="0">
                <a:latin typeface="Times New Roman"/>
                <a:cs typeface="Times New Roman"/>
              </a:rPr>
              <a:t>in2</a:t>
            </a:r>
            <a:r>
              <a:rPr sz="1550" dirty="0">
                <a:latin typeface="微软雅黑"/>
                <a:cs typeface="微软雅黑"/>
              </a:rPr>
              <a:t>和</a:t>
            </a:r>
            <a:r>
              <a:rPr sz="1550" dirty="0">
                <a:latin typeface="Times New Roman"/>
                <a:cs typeface="Times New Roman"/>
              </a:rPr>
              <a:t>in3</a:t>
            </a:r>
            <a:r>
              <a:rPr sz="1550" spc="-15" dirty="0">
                <a:latin typeface="微软雅黑"/>
                <a:cs typeface="微软雅黑"/>
              </a:rPr>
              <a:t>的数据。</a:t>
            </a:r>
            <a:endParaRPr sz="1550">
              <a:latin typeface="微软雅黑"/>
              <a:cs typeface="微软雅黑"/>
            </a:endParaRPr>
          </a:p>
        </p:txBody>
      </p:sp>
      <p:sp>
        <p:nvSpPr>
          <p:cNvPr id="7" name="object 7"/>
          <p:cNvSpPr txBox="1">
            <a:spLocks noGrp="1"/>
          </p:cNvSpPr>
          <p:nvPr>
            <p:ph type="title"/>
          </p:nvPr>
        </p:nvSpPr>
        <p:spPr>
          <a:xfrm>
            <a:off x="382658" y="1104392"/>
            <a:ext cx="2610485" cy="453390"/>
          </a:xfrm>
          <a:prstGeom prst="rect">
            <a:avLst/>
          </a:prstGeom>
        </p:spPr>
        <p:txBody>
          <a:bodyPr vert="horz" wrap="square" lIns="0" tIns="13335" rIns="0" bIns="0" rtlCol="0">
            <a:spAutoFit/>
          </a:bodyPr>
          <a:lstStyle/>
          <a:p>
            <a:pPr marL="12700">
              <a:lnSpc>
                <a:spcPct val="100000"/>
              </a:lnSpc>
              <a:spcBef>
                <a:spcPts val="105"/>
              </a:spcBef>
            </a:pPr>
            <a:r>
              <a:rPr dirty="0">
                <a:solidFill>
                  <a:srgbClr val="000000"/>
                </a:solidFill>
                <a:latin typeface="Times New Roman"/>
                <a:cs typeface="Times New Roman"/>
              </a:rPr>
              <a:t>3.6.1</a:t>
            </a:r>
            <a:r>
              <a:rPr spc="-5" dirty="0">
                <a:solidFill>
                  <a:srgbClr val="000000"/>
                </a:solidFill>
                <a:latin typeface="Times New Roman"/>
                <a:cs typeface="Times New Roman"/>
              </a:rPr>
              <a:t> </a:t>
            </a:r>
            <a:r>
              <a:rPr spc="-10" dirty="0">
                <a:solidFill>
                  <a:srgbClr val="000000"/>
                </a:solidFill>
              </a:rPr>
              <a:t>多路选择器</a:t>
            </a:r>
          </a:p>
        </p:txBody>
      </p:sp>
      <p:sp>
        <p:nvSpPr>
          <p:cNvPr id="8" name="object 8"/>
          <p:cNvSpPr txBox="1"/>
          <p:nvPr/>
        </p:nvSpPr>
        <p:spPr>
          <a:xfrm>
            <a:off x="479431" y="1825244"/>
            <a:ext cx="9782810" cy="987425"/>
          </a:xfrm>
          <a:prstGeom prst="rect">
            <a:avLst/>
          </a:prstGeom>
        </p:spPr>
        <p:txBody>
          <a:bodyPr vert="horz" wrap="square" lIns="0" tIns="13335" rIns="0" bIns="0" rtlCol="0">
            <a:spAutoFit/>
          </a:bodyPr>
          <a:lstStyle/>
          <a:p>
            <a:pPr marL="212725" marR="5080" indent="-203200" algn="just">
              <a:lnSpc>
                <a:spcPct val="100000"/>
              </a:lnSpc>
              <a:spcBef>
                <a:spcPts val="105"/>
              </a:spcBef>
              <a:buSzPct val="95238"/>
              <a:buFont typeface="Wingdings"/>
              <a:buChar char=""/>
              <a:tabLst>
                <a:tab pos="212725" algn="l"/>
                <a:tab pos="249554" algn="l"/>
              </a:tabLst>
            </a:pPr>
            <a:r>
              <a:rPr sz="2100" dirty="0">
                <a:latin typeface="微软雅黑"/>
                <a:cs typeface="微软雅黑"/>
              </a:rPr>
              <a:t>	多路选择器（</a:t>
            </a:r>
            <a:r>
              <a:rPr sz="2100" dirty="0">
                <a:latin typeface="Times New Roman"/>
                <a:cs typeface="Times New Roman"/>
              </a:rPr>
              <a:t>Multiplexer</a:t>
            </a:r>
            <a:r>
              <a:rPr sz="2100" dirty="0">
                <a:latin typeface="微软雅黑"/>
                <a:cs typeface="微软雅黑"/>
              </a:rPr>
              <a:t>）是一个</a:t>
            </a:r>
            <a:r>
              <a:rPr sz="2100" b="1" dirty="0">
                <a:solidFill>
                  <a:srgbClr val="C00000"/>
                </a:solidFill>
                <a:latin typeface="微软雅黑"/>
                <a:cs typeface="微软雅黑"/>
              </a:rPr>
              <a:t>多输入、单输出</a:t>
            </a:r>
            <a:r>
              <a:rPr sz="2100" dirty="0">
                <a:latin typeface="微软雅黑"/>
                <a:cs typeface="微软雅黑"/>
              </a:rPr>
              <a:t>的组合逻辑电路，一个</a:t>
            </a:r>
            <a:r>
              <a:rPr sz="2100" dirty="0">
                <a:latin typeface="Times New Roman"/>
                <a:cs typeface="Times New Roman"/>
              </a:rPr>
              <a:t>n</a:t>
            </a:r>
            <a:r>
              <a:rPr sz="2100" spc="-20" dirty="0">
                <a:latin typeface="微软雅黑"/>
                <a:cs typeface="微软雅黑"/>
              </a:rPr>
              <a:t>输入的</a:t>
            </a:r>
            <a:r>
              <a:rPr sz="2100" dirty="0">
                <a:latin typeface="微软雅黑"/>
                <a:cs typeface="微软雅黑"/>
              </a:rPr>
              <a:t>多路选择器就是一个</a:t>
            </a:r>
            <a:r>
              <a:rPr sz="2100" dirty="0">
                <a:latin typeface="Times New Roman"/>
                <a:cs typeface="Times New Roman"/>
              </a:rPr>
              <a:t>n</a:t>
            </a:r>
            <a:r>
              <a:rPr sz="2100" dirty="0">
                <a:latin typeface="微软雅黑"/>
                <a:cs typeface="微软雅黑"/>
              </a:rPr>
              <a:t>路的数字开关，可以根据通道选择控制信号的不同，从</a:t>
            </a:r>
            <a:r>
              <a:rPr sz="2100" spc="50" dirty="0">
                <a:latin typeface="Times New Roman"/>
                <a:cs typeface="Times New Roman"/>
              </a:rPr>
              <a:t>n</a:t>
            </a:r>
            <a:r>
              <a:rPr sz="2100" spc="-50" dirty="0">
                <a:latin typeface="微软雅黑"/>
                <a:cs typeface="微软雅黑"/>
              </a:rPr>
              <a:t>个</a:t>
            </a:r>
            <a:r>
              <a:rPr sz="2100" spc="-15" dirty="0">
                <a:latin typeface="微软雅黑"/>
                <a:cs typeface="微软雅黑"/>
              </a:rPr>
              <a:t>输入中选取一个输出到公共的输出端。</a:t>
            </a:r>
            <a:endParaRPr sz="2100">
              <a:latin typeface="微软雅黑"/>
              <a:cs typeface="微软雅黑"/>
            </a:endParaRPr>
          </a:p>
        </p:txBody>
      </p:sp>
      <p:sp>
        <p:nvSpPr>
          <p:cNvPr id="9" name="object 9"/>
          <p:cNvSpPr txBox="1"/>
          <p:nvPr/>
        </p:nvSpPr>
        <p:spPr>
          <a:xfrm>
            <a:off x="1220096" y="2953766"/>
            <a:ext cx="216535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C00000"/>
                </a:solidFill>
                <a:latin typeface="Times New Roman"/>
                <a:cs typeface="Times New Roman"/>
              </a:rPr>
              <a:t>4</a:t>
            </a:r>
            <a:r>
              <a:rPr sz="1400" dirty="0">
                <a:solidFill>
                  <a:srgbClr val="C00000"/>
                </a:solidFill>
                <a:latin typeface="微软雅黑"/>
                <a:cs typeface="微软雅黑"/>
              </a:rPr>
              <a:t>选</a:t>
            </a:r>
            <a:r>
              <a:rPr sz="1400" dirty="0">
                <a:solidFill>
                  <a:srgbClr val="C00000"/>
                </a:solidFill>
                <a:latin typeface="Times New Roman"/>
                <a:cs typeface="Times New Roman"/>
              </a:rPr>
              <a:t>1</a:t>
            </a:r>
            <a:r>
              <a:rPr sz="1400" spc="-5" dirty="0">
                <a:solidFill>
                  <a:srgbClr val="C00000"/>
                </a:solidFill>
                <a:latin typeface="微软雅黑"/>
                <a:cs typeface="微软雅黑"/>
              </a:rPr>
              <a:t>多路选择器的电路模型</a:t>
            </a:r>
            <a:endParaRPr sz="1400">
              <a:latin typeface="微软雅黑"/>
              <a:cs typeface="微软雅黑"/>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17511" y="2467355"/>
            <a:ext cx="3790315" cy="4220210"/>
            <a:chOff x="817511" y="2467355"/>
            <a:chExt cx="3790315" cy="4220210"/>
          </a:xfrm>
        </p:grpSpPr>
        <p:sp>
          <p:nvSpPr>
            <p:cNvPr id="3" name="object 3"/>
            <p:cNvSpPr/>
            <p:nvPr/>
          </p:nvSpPr>
          <p:spPr>
            <a:xfrm>
              <a:off x="825893" y="2475737"/>
              <a:ext cx="3773804" cy="4203700"/>
            </a:xfrm>
            <a:custGeom>
              <a:avLst/>
              <a:gdLst/>
              <a:ahLst/>
              <a:cxnLst/>
              <a:rect l="l" t="t" r="r" b="b"/>
              <a:pathLst>
                <a:path w="3773804" h="4203700">
                  <a:moveTo>
                    <a:pt x="3773424" y="4203192"/>
                  </a:moveTo>
                  <a:lnTo>
                    <a:pt x="3773424" y="0"/>
                  </a:lnTo>
                  <a:lnTo>
                    <a:pt x="0" y="0"/>
                  </a:lnTo>
                  <a:lnTo>
                    <a:pt x="0" y="4203192"/>
                  </a:lnTo>
                  <a:lnTo>
                    <a:pt x="3773424" y="4203192"/>
                  </a:lnTo>
                  <a:close/>
                </a:path>
              </a:pathLst>
            </a:custGeom>
            <a:solidFill>
              <a:srgbClr val="F9FABA"/>
            </a:solidFill>
          </p:spPr>
          <p:txBody>
            <a:bodyPr wrap="square" lIns="0" tIns="0" rIns="0" bIns="0" rtlCol="0"/>
            <a:lstStyle/>
            <a:p>
              <a:endParaRPr/>
            </a:p>
          </p:txBody>
        </p:sp>
        <p:sp>
          <p:nvSpPr>
            <p:cNvPr id="4" name="object 4"/>
            <p:cNvSpPr/>
            <p:nvPr/>
          </p:nvSpPr>
          <p:spPr>
            <a:xfrm>
              <a:off x="817511" y="2467355"/>
              <a:ext cx="3790315" cy="4220210"/>
            </a:xfrm>
            <a:custGeom>
              <a:avLst/>
              <a:gdLst/>
              <a:ahLst/>
              <a:cxnLst/>
              <a:rect l="l" t="t" r="r" b="b"/>
              <a:pathLst>
                <a:path w="3790315" h="4220209">
                  <a:moveTo>
                    <a:pt x="3790188" y="4216146"/>
                  </a:moveTo>
                  <a:lnTo>
                    <a:pt x="3790188" y="3810"/>
                  </a:lnTo>
                  <a:lnTo>
                    <a:pt x="3786378" y="0"/>
                  </a:lnTo>
                  <a:lnTo>
                    <a:pt x="3809" y="0"/>
                  </a:lnTo>
                  <a:lnTo>
                    <a:pt x="0" y="3810"/>
                  </a:lnTo>
                  <a:lnTo>
                    <a:pt x="0" y="4216146"/>
                  </a:lnTo>
                  <a:lnTo>
                    <a:pt x="3810" y="4219956"/>
                  </a:lnTo>
                  <a:lnTo>
                    <a:pt x="8382" y="4219956"/>
                  </a:lnTo>
                  <a:lnTo>
                    <a:pt x="8382" y="16764"/>
                  </a:lnTo>
                  <a:lnTo>
                    <a:pt x="16763" y="8382"/>
                  </a:lnTo>
                  <a:lnTo>
                    <a:pt x="16763" y="16764"/>
                  </a:lnTo>
                  <a:lnTo>
                    <a:pt x="3773424" y="16764"/>
                  </a:lnTo>
                  <a:lnTo>
                    <a:pt x="3773424" y="8382"/>
                  </a:lnTo>
                  <a:lnTo>
                    <a:pt x="3781805" y="16764"/>
                  </a:lnTo>
                  <a:lnTo>
                    <a:pt x="3781805" y="4219956"/>
                  </a:lnTo>
                  <a:lnTo>
                    <a:pt x="3786378" y="4219956"/>
                  </a:lnTo>
                  <a:lnTo>
                    <a:pt x="3790188" y="4216146"/>
                  </a:lnTo>
                  <a:close/>
                </a:path>
                <a:path w="3790315" h="4220209">
                  <a:moveTo>
                    <a:pt x="16763" y="16764"/>
                  </a:moveTo>
                  <a:lnTo>
                    <a:pt x="16763" y="8382"/>
                  </a:lnTo>
                  <a:lnTo>
                    <a:pt x="8382" y="16764"/>
                  </a:lnTo>
                  <a:lnTo>
                    <a:pt x="16763" y="16764"/>
                  </a:lnTo>
                  <a:close/>
                </a:path>
                <a:path w="3790315" h="4220209">
                  <a:moveTo>
                    <a:pt x="16764" y="4203192"/>
                  </a:moveTo>
                  <a:lnTo>
                    <a:pt x="16763" y="16764"/>
                  </a:lnTo>
                  <a:lnTo>
                    <a:pt x="8382" y="16764"/>
                  </a:lnTo>
                  <a:lnTo>
                    <a:pt x="8382" y="4203192"/>
                  </a:lnTo>
                  <a:lnTo>
                    <a:pt x="16764" y="4203192"/>
                  </a:lnTo>
                  <a:close/>
                </a:path>
                <a:path w="3790315" h="4220209">
                  <a:moveTo>
                    <a:pt x="3781805" y="4203192"/>
                  </a:moveTo>
                  <a:lnTo>
                    <a:pt x="8382" y="4203192"/>
                  </a:lnTo>
                  <a:lnTo>
                    <a:pt x="16764" y="4211574"/>
                  </a:lnTo>
                  <a:lnTo>
                    <a:pt x="16764" y="4219956"/>
                  </a:lnTo>
                  <a:lnTo>
                    <a:pt x="3773424" y="4219956"/>
                  </a:lnTo>
                  <a:lnTo>
                    <a:pt x="3773424" y="4211574"/>
                  </a:lnTo>
                  <a:lnTo>
                    <a:pt x="3781805" y="4203192"/>
                  </a:lnTo>
                  <a:close/>
                </a:path>
                <a:path w="3790315" h="4220209">
                  <a:moveTo>
                    <a:pt x="16764" y="4219956"/>
                  </a:moveTo>
                  <a:lnTo>
                    <a:pt x="16764" y="4211574"/>
                  </a:lnTo>
                  <a:lnTo>
                    <a:pt x="8382" y="4203192"/>
                  </a:lnTo>
                  <a:lnTo>
                    <a:pt x="8382" y="4219956"/>
                  </a:lnTo>
                  <a:lnTo>
                    <a:pt x="16764" y="4219956"/>
                  </a:lnTo>
                  <a:close/>
                </a:path>
                <a:path w="3790315" h="4220209">
                  <a:moveTo>
                    <a:pt x="3781805" y="16764"/>
                  </a:moveTo>
                  <a:lnTo>
                    <a:pt x="3773424" y="8382"/>
                  </a:lnTo>
                  <a:lnTo>
                    <a:pt x="3773424" y="16764"/>
                  </a:lnTo>
                  <a:lnTo>
                    <a:pt x="3781805" y="16764"/>
                  </a:lnTo>
                  <a:close/>
                </a:path>
                <a:path w="3790315" h="4220209">
                  <a:moveTo>
                    <a:pt x="3781805" y="4203192"/>
                  </a:moveTo>
                  <a:lnTo>
                    <a:pt x="3781805" y="16764"/>
                  </a:lnTo>
                  <a:lnTo>
                    <a:pt x="3773424" y="16764"/>
                  </a:lnTo>
                  <a:lnTo>
                    <a:pt x="3773424" y="4203192"/>
                  </a:lnTo>
                  <a:lnTo>
                    <a:pt x="3781805" y="4203192"/>
                  </a:lnTo>
                  <a:close/>
                </a:path>
                <a:path w="3790315" h="4220209">
                  <a:moveTo>
                    <a:pt x="3781805" y="4219956"/>
                  </a:moveTo>
                  <a:lnTo>
                    <a:pt x="3781805" y="4203192"/>
                  </a:lnTo>
                  <a:lnTo>
                    <a:pt x="3773424" y="4211574"/>
                  </a:lnTo>
                  <a:lnTo>
                    <a:pt x="3773424" y="4219956"/>
                  </a:lnTo>
                  <a:lnTo>
                    <a:pt x="3781805" y="4219956"/>
                  </a:lnTo>
                  <a:close/>
                </a:path>
              </a:pathLst>
            </a:custGeom>
            <a:solidFill>
              <a:srgbClr val="000000"/>
            </a:solidFill>
          </p:spPr>
          <p:txBody>
            <a:bodyPr wrap="square" lIns="0" tIns="0" rIns="0" bIns="0" rtlCol="0"/>
            <a:lstStyle/>
            <a:p>
              <a:endParaRPr/>
            </a:p>
          </p:txBody>
        </p:sp>
      </p:grpSp>
      <p:sp>
        <p:nvSpPr>
          <p:cNvPr id="5" name="object 5"/>
          <p:cNvSpPr txBox="1"/>
          <p:nvPr/>
        </p:nvSpPr>
        <p:spPr>
          <a:xfrm>
            <a:off x="1194191" y="2731109"/>
            <a:ext cx="3289300" cy="797560"/>
          </a:xfrm>
          <a:prstGeom prst="rect">
            <a:avLst/>
          </a:prstGeom>
        </p:spPr>
        <p:txBody>
          <a:bodyPr vert="horz" wrap="square" lIns="0" tIns="55880" rIns="0" bIns="0" rtlCol="0">
            <a:spAutoFit/>
          </a:bodyPr>
          <a:lstStyle/>
          <a:p>
            <a:pPr marL="12700">
              <a:lnSpc>
                <a:spcPct val="100000"/>
              </a:lnSpc>
              <a:spcBef>
                <a:spcPts val="440"/>
              </a:spcBef>
              <a:tabLst>
                <a:tab pos="322580" algn="l"/>
              </a:tabLst>
            </a:pPr>
            <a:r>
              <a:rPr sz="1400" spc="-50" dirty="0">
                <a:latin typeface="Arial"/>
                <a:cs typeface="Arial"/>
              </a:rPr>
              <a:t>(</a:t>
            </a:r>
            <a:r>
              <a:rPr sz="1400" dirty="0">
                <a:latin typeface="Arial"/>
                <a:cs typeface="Arial"/>
              </a:rPr>
              <a:t>	</a:t>
            </a:r>
            <a:r>
              <a:rPr sz="1400" b="1" dirty="0">
                <a:latin typeface="Arial"/>
                <a:cs typeface="Arial"/>
              </a:rPr>
              <a:t>input</a:t>
            </a:r>
            <a:r>
              <a:rPr sz="1400" b="1" spc="-10" dirty="0">
                <a:latin typeface="Arial"/>
                <a:cs typeface="Arial"/>
              </a:rPr>
              <a:t> </a:t>
            </a:r>
            <a:r>
              <a:rPr sz="1400" spc="-10" dirty="0">
                <a:latin typeface="Arial"/>
                <a:cs typeface="Arial"/>
              </a:rPr>
              <a:t>in0,in1,in2,in3,</a:t>
            </a:r>
            <a:endParaRPr sz="1400">
              <a:latin typeface="Arial"/>
              <a:cs typeface="Arial"/>
            </a:endParaRPr>
          </a:p>
          <a:p>
            <a:pPr marL="341630">
              <a:lnSpc>
                <a:spcPct val="100000"/>
              </a:lnSpc>
              <a:spcBef>
                <a:spcPts val="340"/>
              </a:spcBef>
            </a:pPr>
            <a:r>
              <a:rPr sz="1400" b="1" dirty="0">
                <a:latin typeface="Arial"/>
                <a:cs typeface="Arial"/>
              </a:rPr>
              <a:t>input </a:t>
            </a:r>
            <a:r>
              <a:rPr sz="1400" spc="-10" dirty="0">
                <a:latin typeface="Arial"/>
                <a:cs typeface="Arial"/>
              </a:rPr>
              <a:t>s0,s1,</a:t>
            </a:r>
            <a:endParaRPr sz="1400">
              <a:latin typeface="Arial"/>
              <a:cs typeface="Arial"/>
            </a:endParaRPr>
          </a:p>
          <a:p>
            <a:pPr marL="341630">
              <a:lnSpc>
                <a:spcPct val="100000"/>
              </a:lnSpc>
              <a:spcBef>
                <a:spcPts val="290"/>
              </a:spcBef>
            </a:pPr>
            <a:r>
              <a:rPr sz="1400" b="1" dirty="0">
                <a:latin typeface="Arial"/>
                <a:cs typeface="Arial"/>
              </a:rPr>
              <a:t>output</a:t>
            </a:r>
            <a:r>
              <a:rPr sz="1400" b="1" spc="10" dirty="0">
                <a:latin typeface="Arial"/>
                <a:cs typeface="Arial"/>
              </a:rPr>
              <a:t> </a:t>
            </a:r>
            <a:r>
              <a:rPr sz="1400" b="1" dirty="0">
                <a:latin typeface="Arial"/>
                <a:cs typeface="Arial"/>
              </a:rPr>
              <a:t>reg</a:t>
            </a:r>
            <a:r>
              <a:rPr sz="1400" b="1" spc="5" dirty="0">
                <a:latin typeface="Arial"/>
                <a:cs typeface="Arial"/>
              </a:rPr>
              <a:t> </a:t>
            </a:r>
            <a:r>
              <a:rPr sz="1400" dirty="0">
                <a:latin typeface="Arial"/>
                <a:cs typeface="Arial"/>
              </a:rPr>
              <a:t>out</a:t>
            </a:r>
            <a:r>
              <a:rPr sz="1400" spc="105" dirty="0">
                <a:latin typeface="Arial"/>
                <a:cs typeface="Arial"/>
              </a:rPr>
              <a:t> ); </a:t>
            </a:r>
            <a:r>
              <a:rPr sz="1400" spc="-10" dirty="0">
                <a:solidFill>
                  <a:srgbClr val="676906"/>
                </a:solidFill>
                <a:latin typeface="Arial"/>
                <a:cs typeface="Arial"/>
              </a:rPr>
              <a:t>//</a:t>
            </a:r>
            <a:r>
              <a:rPr sz="1400" i="1" spc="-10" dirty="0">
                <a:solidFill>
                  <a:srgbClr val="676906"/>
                </a:solidFill>
                <a:latin typeface="Arial"/>
                <a:cs typeface="Arial"/>
              </a:rPr>
              <a:t>out</a:t>
            </a:r>
            <a:r>
              <a:rPr sz="1450" i="1" spc="-65" dirty="0">
                <a:solidFill>
                  <a:srgbClr val="676906"/>
                </a:solidFill>
                <a:latin typeface="宋体"/>
                <a:cs typeface="宋体"/>
              </a:rPr>
              <a:t>声明为</a:t>
            </a:r>
            <a:r>
              <a:rPr sz="1400" i="1" spc="-10" dirty="0">
                <a:solidFill>
                  <a:srgbClr val="676906"/>
                </a:solidFill>
                <a:latin typeface="Arial"/>
                <a:cs typeface="Arial"/>
              </a:rPr>
              <a:t>reg</a:t>
            </a:r>
            <a:r>
              <a:rPr sz="1450" i="1" spc="-60" dirty="0">
                <a:solidFill>
                  <a:srgbClr val="676906"/>
                </a:solidFill>
                <a:latin typeface="宋体"/>
                <a:cs typeface="宋体"/>
              </a:rPr>
              <a:t>类型</a:t>
            </a:r>
            <a:endParaRPr sz="1450">
              <a:latin typeface="宋体"/>
              <a:cs typeface="宋体"/>
            </a:endParaRPr>
          </a:p>
        </p:txBody>
      </p:sp>
      <p:sp>
        <p:nvSpPr>
          <p:cNvPr id="6" name="object 6"/>
          <p:cNvSpPr txBox="1"/>
          <p:nvPr/>
        </p:nvSpPr>
        <p:spPr>
          <a:xfrm>
            <a:off x="943480" y="3500724"/>
            <a:ext cx="2679700" cy="3104515"/>
          </a:xfrm>
          <a:prstGeom prst="rect">
            <a:avLst/>
          </a:prstGeom>
        </p:spPr>
        <p:txBody>
          <a:bodyPr vert="horz" wrap="square" lIns="0" tIns="55880" rIns="0" bIns="0" rtlCol="0">
            <a:spAutoFit/>
          </a:bodyPr>
          <a:lstStyle/>
          <a:p>
            <a:pPr marR="1555750" algn="r">
              <a:lnSpc>
                <a:spcPct val="100000"/>
              </a:lnSpc>
              <a:spcBef>
                <a:spcPts val="440"/>
              </a:spcBef>
            </a:pPr>
            <a:r>
              <a:rPr sz="1400" b="1" dirty="0">
                <a:latin typeface="Arial"/>
                <a:cs typeface="Arial"/>
              </a:rPr>
              <a:t>always</a:t>
            </a:r>
            <a:r>
              <a:rPr sz="1400" b="1" spc="-15" dirty="0">
                <a:latin typeface="Arial"/>
                <a:cs typeface="Arial"/>
              </a:rPr>
              <a:t> </a:t>
            </a:r>
            <a:r>
              <a:rPr sz="1400" spc="-25" dirty="0">
                <a:latin typeface="Arial"/>
                <a:cs typeface="Arial"/>
              </a:rPr>
              <a:t>@*</a:t>
            </a:r>
            <a:endParaRPr sz="1400">
              <a:latin typeface="Arial"/>
              <a:cs typeface="Arial"/>
            </a:endParaRPr>
          </a:p>
          <a:p>
            <a:pPr marR="1604010" algn="r">
              <a:lnSpc>
                <a:spcPct val="100000"/>
              </a:lnSpc>
              <a:spcBef>
                <a:spcPts val="340"/>
              </a:spcBef>
            </a:pPr>
            <a:r>
              <a:rPr sz="1400" b="1" spc="-10" dirty="0">
                <a:latin typeface="Arial"/>
                <a:cs typeface="Arial"/>
              </a:rPr>
              <a:t>begin</a:t>
            </a:r>
            <a:endParaRPr sz="1400">
              <a:latin typeface="Arial"/>
              <a:cs typeface="Arial"/>
            </a:endParaRPr>
          </a:p>
          <a:p>
            <a:pPr marL="749935">
              <a:lnSpc>
                <a:spcPct val="100000"/>
              </a:lnSpc>
              <a:spcBef>
                <a:spcPts val="340"/>
              </a:spcBef>
            </a:pPr>
            <a:r>
              <a:rPr sz="1400" b="1" dirty="0">
                <a:latin typeface="Arial"/>
                <a:cs typeface="Arial"/>
              </a:rPr>
              <a:t>if</a:t>
            </a:r>
            <a:r>
              <a:rPr sz="1400" b="1" spc="5" dirty="0">
                <a:latin typeface="Arial"/>
                <a:cs typeface="Arial"/>
              </a:rPr>
              <a:t> </a:t>
            </a:r>
            <a:r>
              <a:rPr sz="1400" dirty="0">
                <a:latin typeface="Arial"/>
                <a:cs typeface="Arial"/>
              </a:rPr>
              <a:t>({s1,s0}</a:t>
            </a:r>
            <a:r>
              <a:rPr sz="1400" spc="10" dirty="0">
                <a:latin typeface="Arial"/>
                <a:cs typeface="Arial"/>
              </a:rPr>
              <a:t> </a:t>
            </a:r>
            <a:r>
              <a:rPr sz="1400" dirty="0">
                <a:latin typeface="Arial"/>
                <a:cs typeface="Arial"/>
              </a:rPr>
              <a:t>==</a:t>
            </a:r>
            <a:r>
              <a:rPr sz="1400" spc="10" dirty="0">
                <a:latin typeface="Arial"/>
                <a:cs typeface="Arial"/>
              </a:rPr>
              <a:t> </a:t>
            </a:r>
            <a:r>
              <a:rPr sz="1400" spc="-10" dirty="0">
                <a:latin typeface="Arial"/>
                <a:cs typeface="Arial"/>
              </a:rPr>
              <a:t>2’b00)</a:t>
            </a:r>
            <a:endParaRPr sz="1400">
              <a:latin typeface="Arial"/>
              <a:cs typeface="Arial"/>
            </a:endParaRPr>
          </a:p>
          <a:p>
            <a:pPr marL="906780">
              <a:lnSpc>
                <a:spcPct val="100000"/>
              </a:lnSpc>
              <a:spcBef>
                <a:spcPts val="340"/>
              </a:spcBef>
            </a:pP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in0;</a:t>
            </a:r>
            <a:endParaRPr sz="1400">
              <a:latin typeface="Arial"/>
              <a:cs typeface="Arial"/>
            </a:endParaRPr>
          </a:p>
          <a:p>
            <a:pPr marL="906780" marR="5080" indent="-157480">
              <a:lnSpc>
                <a:spcPct val="120000"/>
              </a:lnSpc>
              <a:spcBef>
                <a:spcPts val="5"/>
              </a:spcBef>
            </a:pPr>
            <a:r>
              <a:rPr sz="1400" b="1" dirty="0">
                <a:latin typeface="Arial"/>
                <a:cs typeface="Arial"/>
              </a:rPr>
              <a:t>else</a:t>
            </a:r>
            <a:r>
              <a:rPr sz="1400" b="1" spc="-15" dirty="0">
                <a:latin typeface="Arial"/>
                <a:cs typeface="Arial"/>
              </a:rPr>
              <a:t> </a:t>
            </a:r>
            <a:r>
              <a:rPr sz="1400" b="1" dirty="0">
                <a:latin typeface="Arial"/>
                <a:cs typeface="Arial"/>
              </a:rPr>
              <a:t>if</a:t>
            </a:r>
            <a:r>
              <a:rPr sz="1400" dirty="0">
                <a:latin typeface="Arial"/>
                <a:cs typeface="Arial"/>
              </a:rPr>
              <a:t>({s1,s0}</a:t>
            </a:r>
            <a:r>
              <a:rPr sz="1400" spc="-10" dirty="0">
                <a:latin typeface="Arial"/>
                <a:cs typeface="Arial"/>
              </a:rPr>
              <a:t> </a:t>
            </a:r>
            <a:r>
              <a:rPr sz="1400" dirty="0">
                <a:latin typeface="Arial"/>
                <a:cs typeface="Arial"/>
              </a:rPr>
              <a:t>==</a:t>
            </a:r>
            <a:r>
              <a:rPr sz="1400" spc="-10" dirty="0">
                <a:latin typeface="Arial"/>
                <a:cs typeface="Arial"/>
              </a:rPr>
              <a:t> 2’b01) </a:t>
            </a: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in1;</a:t>
            </a:r>
            <a:endParaRPr sz="1400">
              <a:latin typeface="Arial"/>
              <a:cs typeface="Arial"/>
            </a:endParaRPr>
          </a:p>
          <a:p>
            <a:pPr marL="906780" marR="5080" indent="-157480">
              <a:lnSpc>
                <a:spcPct val="120400"/>
              </a:lnSpc>
            </a:pPr>
            <a:r>
              <a:rPr sz="1400" b="1" dirty="0">
                <a:latin typeface="Arial"/>
                <a:cs typeface="Arial"/>
              </a:rPr>
              <a:t>else</a:t>
            </a:r>
            <a:r>
              <a:rPr sz="1400" b="1" spc="-15" dirty="0">
                <a:latin typeface="Arial"/>
                <a:cs typeface="Arial"/>
              </a:rPr>
              <a:t> </a:t>
            </a:r>
            <a:r>
              <a:rPr sz="1400" b="1" dirty="0">
                <a:latin typeface="Arial"/>
                <a:cs typeface="Arial"/>
              </a:rPr>
              <a:t>if</a:t>
            </a:r>
            <a:r>
              <a:rPr sz="1400" dirty="0">
                <a:latin typeface="Arial"/>
                <a:cs typeface="Arial"/>
              </a:rPr>
              <a:t>({s1,s0}</a:t>
            </a:r>
            <a:r>
              <a:rPr sz="1400" spc="-10" dirty="0">
                <a:latin typeface="Arial"/>
                <a:cs typeface="Arial"/>
              </a:rPr>
              <a:t> </a:t>
            </a:r>
            <a:r>
              <a:rPr sz="1400" dirty="0">
                <a:latin typeface="Arial"/>
                <a:cs typeface="Arial"/>
              </a:rPr>
              <a:t>==</a:t>
            </a:r>
            <a:r>
              <a:rPr sz="1400" spc="-10" dirty="0">
                <a:latin typeface="Arial"/>
                <a:cs typeface="Arial"/>
              </a:rPr>
              <a:t> 2’b10) </a:t>
            </a: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in2;</a:t>
            </a:r>
            <a:endParaRPr sz="1400">
              <a:latin typeface="Arial"/>
              <a:cs typeface="Arial"/>
            </a:endParaRPr>
          </a:p>
          <a:p>
            <a:pPr marL="792480">
              <a:lnSpc>
                <a:spcPct val="100000"/>
              </a:lnSpc>
              <a:spcBef>
                <a:spcPts val="335"/>
              </a:spcBef>
            </a:pPr>
            <a:r>
              <a:rPr sz="1400" b="1" spc="-20" dirty="0">
                <a:latin typeface="Arial"/>
                <a:cs typeface="Arial"/>
              </a:rPr>
              <a:t>else</a:t>
            </a:r>
            <a:endParaRPr sz="1400">
              <a:latin typeface="Arial"/>
              <a:cs typeface="Arial"/>
            </a:endParaRPr>
          </a:p>
          <a:p>
            <a:pPr marL="906780">
              <a:lnSpc>
                <a:spcPct val="100000"/>
              </a:lnSpc>
              <a:spcBef>
                <a:spcPts val="345"/>
              </a:spcBef>
            </a:pP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in3;</a:t>
            </a:r>
            <a:endParaRPr sz="1400">
              <a:latin typeface="Arial"/>
              <a:cs typeface="Arial"/>
            </a:endParaRPr>
          </a:p>
          <a:p>
            <a:pPr marL="12700" marR="1707514" indent="421640">
              <a:lnSpc>
                <a:spcPts val="2020"/>
              </a:lnSpc>
              <a:spcBef>
                <a:spcPts val="95"/>
              </a:spcBef>
            </a:pPr>
            <a:r>
              <a:rPr sz="1400" b="1" spc="-25" dirty="0">
                <a:latin typeface="Arial"/>
                <a:cs typeface="Arial"/>
              </a:rPr>
              <a:t>end </a:t>
            </a:r>
            <a:r>
              <a:rPr sz="1400" b="1" spc="-10" dirty="0">
                <a:latin typeface="Arial"/>
                <a:cs typeface="Arial"/>
              </a:rPr>
              <a:t>endmodule</a:t>
            </a:r>
            <a:endParaRPr sz="1400">
              <a:latin typeface="Arial"/>
              <a:cs typeface="Arial"/>
            </a:endParaRPr>
          </a:p>
        </p:txBody>
      </p:sp>
      <p:grpSp>
        <p:nvGrpSpPr>
          <p:cNvPr id="7" name="object 7"/>
          <p:cNvGrpSpPr/>
          <p:nvPr/>
        </p:nvGrpSpPr>
        <p:grpSpPr>
          <a:xfrm>
            <a:off x="5586869" y="2467355"/>
            <a:ext cx="4046220" cy="3961129"/>
            <a:chOff x="5586869" y="2467355"/>
            <a:chExt cx="4046220" cy="3961129"/>
          </a:xfrm>
        </p:grpSpPr>
        <p:sp>
          <p:nvSpPr>
            <p:cNvPr id="8" name="object 8"/>
            <p:cNvSpPr/>
            <p:nvPr/>
          </p:nvSpPr>
          <p:spPr>
            <a:xfrm>
              <a:off x="5595251" y="2475737"/>
              <a:ext cx="4029710" cy="3944620"/>
            </a:xfrm>
            <a:custGeom>
              <a:avLst/>
              <a:gdLst/>
              <a:ahLst/>
              <a:cxnLst/>
              <a:rect l="l" t="t" r="r" b="b"/>
              <a:pathLst>
                <a:path w="4029709" h="3944620">
                  <a:moveTo>
                    <a:pt x="4029455" y="3944112"/>
                  </a:moveTo>
                  <a:lnTo>
                    <a:pt x="4029455" y="0"/>
                  </a:lnTo>
                  <a:lnTo>
                    <a:pt x="0" y="0"/>
                  </a:lnTo>
                  <a:lnTo>
                    <a:pt x="0" y="3944112"/>
                  </a:lnTo>
                  <a:lnTo>
                    <a:pt x="4029455" y="3944112"/>
                  </a:lnTo>
                  <a:close/>
                </a:path>
              </a:pathLst>
            </a:custGeom>
            <a:solidFill>
              <a:srgbClr val="F9FABA"/>
            </a:solidFill>
          </p:spPr>
          <p:txBody>
            <a:bodyPr wrap="square" lIns="0" tIns="0" rIns="0" bIns="0" rtlCol="0"/>
            <a:lstStyle/>
            <a:p>
              <a:endParaRPr/>
            </a:p>
          </p:txBody>
        </p:sp>
        <p:sp>
          <p:nvSpPr>
            <p:cNvPr id="9" name="object 9"/>
            <p:cNvSpPr/>
            <p:nvPr/>
          </p:nvSpPr>
          <p:spPr>
            <a:xfrm>
              <a:off x="5586869" y="2467355"/>
              <a:ext cx="4046220" cy="3961129"/>
            </a:xfrm>
            <a:custGeom>
              <a:avLst/>
              <a:gdLst/>
              <a:ahLst/>
              <a:cxnLst/>
              <a:rect l="l" t="t" r="r" b="b"/>
              <a:pathLst>
                <a:path w="4046220" h="3961129">
                  <a:moveTo>
                    <a:pt x="4046220" y="3957066"/>
                  </a:moveTo>
                  <a:lnTo>
                    <a:pt x="4046220" y="3810"/>
                  </a:lnTo>
                  <a:lnTo>
                    <a:pt x="4042410" y="0"/>
                  </a:lnTo>
                  <a:lnTo>
                    <a:pt x="3809" y="0"/>
                  </a:lnTo>
                  <a:lnTo>
                    <a:pt x="0" y="3810"/>
                  </a:lnTo>
                  <a:lnTo>
                    <a:pt x="0" y="3957066"/>
                  </a:lnTo>
                  <a:lnTo>
                    <a:pt x="3810" y="3960876"/>
                  </a:lnTo>
                  <a:lnTo>
                    <a:pt x="8382" y="3960876"/>
                  </a:lnTo>
                  <a:lnTo>
                    <a:pt x="8382" y="16764"/>
                  </a:lnTo>
                  <a:lnTo>
                    <a:pt x="16763" y="8382"/>
                  </a:lnTo>
                  <a:lnTo>
                    <a:pt x="16763" y="16764"/>
                  </a:lnTo>
                  <a:lnTo>
                    <a:pt x="4029455" y="16764"/>
                  </a:lnTo>
                  <a:lnTo>
                    <a:pt x="4029455" y="8382"/>
                  </a:lnTo>
                  <a:lnTo>
                    <a:pt x="4037838" y="16764"/>
                  </a:lnTo>
                  <a:lnTo>
                    <a:pt x="4037838" y="3960876"/>
                  </a:lnTo>
                  <a:lnTo>
                    <a:pt x="4042410" y="3960876"/>
                  </a:lnTo>
                  <a:lnTo>
                    <a:pt x="4046220" y="3957066"/>
                  </a:lnTo>
                  <a:close/>
                </a:path>
                <a:path w="4046220" h="3961129">
                  <a:moveTo>
                    <a:pt x="16763" y="16764"/>
                  </a:moveTo>
                  <a:lnTo>
                    <a:pt x="16763" y="8382"/>
                  </a:lnTo>
                  <a:lnTo>
                    <a:pt x="8382" y="16764"/>
                  </a:lnTo>
                  <a:lnTo>
                    <a:pt x="16763" y="16764"/>
                  </a:lnTo>
                  <a:close/>
                </a:path>
                <a:path w="4046220" h="3961129">
                  <a:moveTo>
                    <a:pt x="16763" y="3944112"/>
                  </a:moveTo>
                  <a:lnTo>
                    <a:pt x="16763" y="16764"/>
                  </a:lnTo>
                  <a:lnTo>
                    <a:pt x="8382" y="16764"/>
                  </a:lnTo>
                  <a:lnTo>
                    <a:pt x="8382" y="3944112"/>
                  </a:lnTo>
                  <a:lnTo>
                    <a:pt x="16763" y="3944112"/>
                  </a:lnTo>
                  <a:close/>
                </a:path>
                <a:path w="4046220" h="3961129">
                  <a:moveTo>
                    <a:pt x="4037838" y="3944112"/>
                  </a:moveTo>
                  <a:lnTo>
                    <a:pt x="8382" y="3944112"/>
                  </a:lnTo>
                  <a:lnTo>
                    <a:pt x="16763" y="3952493"/>
                  </a:lnTo>
                  <a:lnTo>
                    <a:pt x="16763" y="3960876"/>
                  </a:lnTo>
                  <a:lnTo>
                    <a:pt x="4029455" y="3960876"/>
                  </a:lnTo>
                  <a:lnTo>
                    <a:pt x="4029455" y="3952494"/>
                  </a:lnTo>
                  <a:lnTo>
                    <a:pt x="4037838" y="3944112"/>
                  </a:lnTo>
                  <a:close/>
                </a:path>
                <a:path w="4046220" h="3961129">
                  <a:moveTo>
                    <a:pt x="16763" y="3960876"/>
                  </a:moveTo>
                  <a:lnTo>
                    <a:pt x="16763" y="3952493"/>
                  </a:lnTo>
                  <a:lnTo>
                    <a:pt x="8382" y="3944112"/>
                  </a:lnTo>
                  <a:lnTo>
                    <a:pt x="8382" y="3960876"/>
                  </a:lnTo>
                  <a:lnTo>
                    <a:pt x="16763" y="3960876"/>
                  </a:lnTo>
                  <a:close/>
                </a:path>
                <a:path w="4046220" h="3961129">
                  <a:moveTo>
                    <a:pt x="4037838" y="16764"/>
                  </a:moveTo>
                  <a:lnTo>
                    <a:pt x="4029455" y="8382"/>
                  </a:lnTo>
                  <a:lnTo>
                    <a:pt x="4029455" y="16764"/>
                  </a:lnTo>
                  <a:lnTo>
                    <a:pt x="4037838" y="16764"/>
                  </a:lnTo>
                  <a:close/>
                </a:path>
                <a:path w="4046220" h="3961129">
                  <a:moveTo>
                    <a:pt x="4037838" y="3944112"/>
                  </a:moveTo>
                  <a:lnTo>
                    <a:pt x="4037838" y="16764"/>
                  </a:lnTo>
                  <a:lnTo>
                    <a:pt x="4029455" y="16764"/>
                  </a:lnTo>
                  <a:lnTo>
                    <a:pt x="4029455" y="3944112"/>
                  </a:lnTo>
                  <a:lnTo>
                    <a:pt x="4037838" y="3944112"/>
                  </a:lnTo>
                  <a:close/>
                </a:path>
                <a:path w="4046220" h="3961129">
                  <a:moveTo>
                    <a:pt x="4037838" y="3960876"/>
                  </a:moveTo>
                  <a:lnTo>
                    <a:pt x="4037838" y="3944112"/>
                  </a:lnTo>
                  <a:lnTo>
                    <a:pt x="4029455" y="3952494"/>
                  </a:lnTo>
                  <a:lnTo>
                    <a:pt x="4029455" y="3960876"/>
                  </a:lnTo>
                  <a:lnTo>
                    <a:pt x="4037838" y="3960876"/>
                  </a:lnTo>
                  <a:close/>
                </a:path>
              </a:pathLst>
            </a:custGeom>
            <a:solidFill>
              <a:srgbClr val="000000"/>
            </a:solidFill>
          </p:spPr>
          <p:txBody>
            <a:bodyPr wrap="square" lIns="0" tIns="0" rIns="0" bIns="0" rtlCol="0"/>
            <a:lstStyle/>
            <a:p>
              <a:endParaRPr/>
            </a:p>
          </p:txBody>
        </p:sp>
      </p:grpSp>
      <p:sp>
        <p:nvSpPr>
          <p:cNvPr id="10" name="object 10"/>
          <p:cNvSpPr txBox="1"/>
          <p:nvPr/>
        </p:nvSpPr>
        <p:spPr>
          <a:xfrm>
            <a:off x="5976248" y="2773939"/>
            <a:ext cx="59690" cy="239395"/>
          </a:xfrm>
          <a:prstGeom prst="rect">
            <a:avLst/>
          </a:prstGeom>
        </p:spPr>
        <p:txBody>
          <a:bodyPr vert="horz" wrap="square" lIns="0" tIns="12700" rIns="0" bIns="0" rtlCol="0">
            <a:spAutoFit/>
          </a:bodyPr>
          <a:lstStyle/>
          <a:p>
            <a:pPr>
              <a:lnSpc>
                <a:spcPct val="100000"/>
              </a:lnSpc>
              <a:spcBef>
                <a:spcPts val="100"/>
              </a:spcBef>
            </a:pPr>
            <a:r>
              <a:rPr sz="1400" spc="-50" dirty="0">
                <a:latin typeface="Arial"/>
                <a:cs typeface="Arial"/>
              </a:rPr>
              <a:t>(</a:t>
            </a:r>
            <a:endParaRPr sz="1400">
              <a:latin typeface="Arial"/>
              <a:cs typeface="Arial"/>
            </a:endParaRPr>
          </a:p>
        </p:txBody>
      </p:sp>
      <p:sp>
        <p:nvSpPr>
          <p:cNvPr id="19" name="object 1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1" name="object 11"/>
          <p:cNvSpPr txBox="1"/>
          <p:nvPr/>
        </p:nvSpPr>
        <p:spPr>
          <a:xfrm>
            <a:off x="5942717" y="2988675"/>
            <a:ext cx="3397885" cy="1564005"/>
          </a:xfrm>
          <a:prstGeom prst="rect">
            <a:avLst/>
          </a:prstGeom>
        </p:spPr>
        <p:txBody>
          <a:bodyPr vert="horz" wrap="square" lIns="0" tIns="55244" rIns="0" bIns="0" rtlCol="0">
            <a:spAutoFit/>
          </a:bodyPr>
          <a:lstStyle/>
          <a:p>
            <a:pPr marL="362585">
              <a:lnSpc>
                <a:spcPct val="100000"/>
              </a:lnSpc>
              <a:spcBef>
                <a:spcPts val="434"/>
              </a:spcBef>
            </a:pPr>
            <a:r>
              <a:rPr sz="1400" b="1" dirty="0">
                <a:latin typeface="Arial"/>
                <a:cs typeface="Arial"/>
              </a:rPr>
              <a:t>input </a:t>
            </a:r>
            <a:r>
              <a:rPr sz="1400" spc="-10" dirty="0">
                <a:latin typeface="Arial"/>
                <a:cs typeface="Arial"/>
              </a:rPr>
              <a:t>in0,in1,in2,in3,</a:t>
            </a:r>
            <a:endParaRPr sz="1400">
              <a:latin typeface="Arial"/>
              <a:cs typeface="Arial"/>
            </a:endParaRPr>
          </a:p>
          <a:p>
            <a:pPr marL="362585">
              <a:lnSpc>
                <a:spcPct val="100000"/>
              </a:lnSpc>
              <a:spcBef>
                <a:spcPts val="335"/>
              </a:spcBef>
            </a:pPr>
            <a:r>
              <a:rPr sz="1400" b="1" dirty="0">
                <a:latin typeface="Arial"/>
                <a:cs typeface="Arial"/>
              </a:rPr>
              <a:t>input </a:t>
            </a:r>
            <a:r>
              <a:rPr sz="1400" spc="-10" dirty="0">
                <a:latin typeface="Arial"/>
                <a:cs typeface="Arial"/>
              </a:rPr>
              <a:t>s0,s1,</a:t>
            </a:r>
            <a:endParaRPr sz="1400">
              <a:latin typeface="Arial"/>
              <a:cs typeface="Arial"/>
            </a:endParaRPr>
          </a:p>
          <a:p>
            <a:pPr marL="362585">
              <a:lnSpc>
                <a:spcPct val="100000"/>
              </a:lnSpc>
              <a:spcBef>
                <a:spcPts val="290"/>
              </a:spcBef>
              <a:tabLst>
                <a:tab pos="1901825" algn="l"/>
              </a:tabLst>
            </a:pPr>
            <a:r>
              <a:rPr sz="1400" b="1" dirty="0">
                <a:latin typeface="Arial"/>
                <a:cs typeface="Arial"/>
              </a:rPr>
              <a:t>output reg</a:t>
            </a:r>
            <a:r>
              <a:rPr sz="1400" b="1" spc="-5" dirty="0">
                <a:latin typeface="Arial"/>
                <a:cs typeface="Arial"/>
              </a:rPr>
              <a:t> </a:t>
            </a:r>
            <a:r>
              <a:rPr sz="1400" dirty="0">
                <a:latin typeface="Arial"/>
                <a:cs typeface="Arial"/>
              </a:rPr>
              <a:t>out</a:t>
            </a:r>
            <a:r>
              <a:rPr sz="1400" spc="110" dirty="0">
                <a:latin typeface="Arial"/>
                <a:cs typeface="Arial"/>
              </a:rPr>
              <a:t> );</a:t>
            </a:r>
            <a:r>
              <a:rPr sz="1400" dirty="0">
                <a:latin typeface="Arial"/>
                <a:cs typeface="Arial"/>
              </a:rPr>
              <a:t>	</a:t>
            </a:r>
            <a:r>
              <a:rPr sz="1400" spc="-10" dirty="0">
                <a:solidFill>
                  <a:srgbClr val="676906"/>
                </a:solidFill>
                <a:latin typeface="Arial"/>
                <a:cs typeface="Arial"/>
              </a:rPr>
              <a:t>//</a:t>
            </a:r>
            <a:r>
              <a:rPr sz="1400" i="1" spc="-10" dirty="0">
                <a:solidFill>
                  <a:srgbClr val="676906"/>
                </a:solidFill>
                <a:latin typeface="Arial"/>
                <a:cs typeface="Arial"/>
              </a:rPr>
              <a:t>out</a:t>
            </a:r>
            <a:r>
              <a:rPr sz="1450" i="1" spc="-65" dirty="0">
                <a:solidFill>
                  <a:srgbClr val="676906"/>
                </a:solidFill>
                <a:latin typeface="宋体"/>
                <a:cs typeface="宋体"/>
              </a:rPr>
              <a:t>声明为</a:t>
            </a:r>
            <a:r>
              <a:rPr sz="1400" i="1" spc="-10" dirty="0">
                <a:solidFill>
                  <a:srgbClr val="676906"/>
                </a:solidFill>
                <a:latin typeface="Arial"/>
                <a:cs typeface="Arial"/>
              </a:rPr>
              <a:t>reg</a:t>
            </a:r>
            <a:r>
              <a:rPr sz="1450" i="1" spc="-60" dirty="0">
                <a:solidFill>
                  <a:srgbClr val="676906"/>
                </a:solidFill>
                <a:latin typeface="宋体"/>
                <a:cs typeface="宋体"/>
              </a:rPr>
              <a:t>类型</a:t>
            </a:r>
            <a:endParaRPr sz="1450">
              <a:latin typeface="宋体"/>
              <a:cs typeface="宋体"/>
            </a:endParaRPr>
          </a:p>
          <a:p>
            <a:pPr marR="2503805" algn="r">
              <a:lnSpc>
                <a:spcPct val="100000"/>
              </a:lnSpc>
              <a:spcBef>
                <a:spcPts val="335"/>
              </a:spcBef>
            </a:pPr>
            <a:r>
              <a:rPr sz="1400" b="1" dirty="0">
                <a:latin typeface="Arial"/>
                <a:cs typeface="Arial"/>
              </a:rPr>
              <a:t>always</a:t>
            </a:r>
            <a:r>
              <a:rPr sz="1400" b="1" spc="-15" dirty="0">
                <a:latin typeface="Arial"/>
                <a:cs typeface="Arial"/>
              </a:rPr>
              <a:t> </a:t>
            </a:r>
            <a:r>
              <a:rPr sz="1400" spc="-25" dirty="0">
                <a:latin typeface="Arial"/>
                <a:cs typeface="Arial"/>
              </a:rPr>
              <a:t>@*</a:t>
            </a:r>
            <a:endParaRPr sz="1400">
              <a:latin typeface="Arial"/>
              <a:cs typeface="Arial"/>
            </a:endParaRPr>
          </a:p>
          <a:p>
            <a:pPr marR="2551430" algn="r">
              <a:lnSpc>
                <a:spcPct val="100000"/>
              </a:lnSpc>
              <a:spcBef>
                <a:spcPts val="335"/>
              </a:spcBef>
            </a:pPr>
            <a:r>
              <a:rPr sz="1400" b="1" spc="-10" dirty="0">
                <a:latin typeface="Arial"/>
                <a:cs typeface="Arial"/>
              </a:rPr>
              <a:t>begin</a:t>
            </a:r>
            <a:endParaRPr sz="1400">
              <a:latin typeface="Arial"/>
              <a:cs typeface="Arial"/>
            </a:endParaRPr>
          </a:p>
          <a:p>
            <a:pPr marL="520065">
              <a:lnSpc>
                <a:spcPct val="100000"/>
              </a:lnSpc>
              <a:spcBef>
                <a:spcPts val="340"/>
              </a:spcBef>
            </a:pPr>
            <a:r>
              <a:rPr sz="1400" b="1" dirty="0">
                <a:latin typeface="Arial"/>
                <a:cs typeface="Arial"/>
              </a:rPr>
              <a:t>case</a:t>
            </a:r>
            <a:r>
              <a:rPr sz="1400" b="1" spc="-25" dirty="0">
                <a:latin typeface="Arial"/>
                <a:cs typeface="Arial"/>
              </a:rPr>
              <a:t> </a:t>
            </a:r>
            <a:r>
              <a:rPr sz="1400" spc="-10" dirty="0">
                <a:latin typeface="Arial"/>
                <a:cs typeface="Arial"/>
              </a:rPr>
              <a:t>({s1,s0})</a:t>
            </a:r>
            <a:endParaRPr sz="1400">
              <a:latin typeface="Arial"/>
              <a:cs typeface="Arial"/>
            </a:endParaRPr>
          </a:p>
        </p:txBody>
      </p:sp>
      <p:sp>
        <p:nvSpPr>
          <p:cNvPr id="12" name="object 12"/>
          <p:cNvSpPr txBox="1"/>
          <p:nvPr/>
        </p:nvSpPr>
        <p:spPr>
          <a:xfrm>
            <a:off x="6607426" y="4527916"/>
            <a:ext cx="511809" cy="794385"/>
          </a:xfrm>
          <a:prstGeom prst="rect">
            <a:avLst/>
          </a:prstGeom>
        </p:spPr>
        <p:txBody>
          <a:bodyPr vert="horz" wrap="square" lIns="0" tIns="55244" rIns="0" bIns="0" rtlCol="0">
            <a:spAutoFit/>
          </a:bodyPr>
          <a:lstStyle/>
          <a:p>
            <a:pPr marL="12700">
              <a:lnSpc>
                <a:spcPct val="100000"/>
              </a:lnSpc>
              <a:spcBef>
                <a:spcPts val="434"/>
              </a:spcBef>
            </a:pPr>
            <a:r>
              <a:rPr sz="1400" spc="-10" dirty="0">
                <a:latin typeface="Arial"/>
                <a:cs typeface="Arial"/>
              </a:rPr>
              <a:t>2’b00:</a:t>
            </a:r>
            <a:endParaRPr sz="1400">
              <a:latin typeface="Arial"/>
              <a:cs typeface="Arial"/>
            </a:endParaRPr>
          </a:p>
          <a:p>
            <a:pPr marL="12700">
              <a:lnSpc>
                <a:spcPct val="100000"/>
              </a:lnSpc>
              <a:spcBef>
                <a:spcPts val="335"/>
              </a:spcBef>
            </a:pPr>
            <a:r>
              <a:rPr sz="1400" spc="-10" dirty="0">
                <a:latin typeface="Arial"/>
                <a:cs typeface="Arial"/>
              </a:rPr>
              <a:t>2’b01:</a:t>
            </a:r>
            <a:endParaRPr sz="1400">
              <a:latin typeface="Arial"/>
              <a:cs typeface="Arial"/>
            </a:endParaRPr>
          </a:p>
          <a:p>
            <a:pPr marL="12700">
              <a:lnSpc>
                <a:spcPct val="100000"/>
              </a:lnSpc>
              <a:spcBef>
                <a:spcPts val="340"/>
              </a:spcBef>
            </a:pPr>
            <a:r>
              <a:rPr sz="1400" spc="-10" dirty="0">
                <a:latin typeface="Arial"/>
                <a:cs typeface="Arial"/>
              </a:rPr>
              <a:t>2’b10:</a:t>
            </a:r>
            <a:endParaRPr sz="1400">
              <a:latin typeface="Arial"/>
              <a:cs typeface="Arial"/>
            </a:endParaRPr>
          </a:p>
        </p:txBody>
      </p:sp>
      <p:sp>
        <p:nvSpPr>
          <p:cNvPr id="13" name="object 13"/>
          <p:cNvSpPr txBox="1"/>
          <p:nvPr/>
        </p:nvSpPr>
        <p:spPr>
          <a:xfrm>
            <a:off x="7242795" y="4527916"/>
            <a:ext cx="765810" cy="794385"/>
          </a:xfrm>
          <a:prstGeom prst="rect">
            <a:avLst/>
          </a:prstGeom>
        </p:spPr>
        <p:txBody>
          <a:bodyPr vert="horz" wrap="square" lIns="0" tIns="12065" rIns="0" bIns="0" rtlCol="0">
            <a:spAutoFit/>
          </a:bodyPr>
          <a:lstStyle/>
          <a:p>
            <a:pPr marL="12700" marR="5080" algn="just">
              <a:lnSpc>
                <a:spcPct val="120200"/>
              </a:lnSpc>
              <a:spcBef>
                <a:spcPts val="95"/>
              </a:spcBef>
            </a:pP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in0; </a:t>
            </a: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in1; </a:t>
            </a:r>
            <a:r>
              <a:rPr sz="1400" dirty="0">
                <a:latin typeface="Arial"/>
                <a:cs typeface="Arial"/>
              </a:rPr>
              <a:t>out</a:t>
            </a:r>
            <a:r>
              <a:rPr sz="1400" spc="5" dirty="0">
                <a:latin typeface="Arial"/>
                <a:cs typeface="Arial"/>
              </a:rPr>
              <a:t> </a:t>
            </a:r>
            <a:r>
              <a:rPr sz="1400" dirty="0">
                <a:latin typeface="Arial"/>
                <a:cs typeface="Arial"/>
              </a:rPr>
              <a:t>=</a:t>
            </a:r>
            <a:r>
              <a:rPr sz="1400" spc="5" dirty="0">
                <a:latin typeface="Arial"/>
                <a:cs typeface="Arial"/>
              </a:rPr>
              <a:t> </a:t>
            </a:r>
            <a:r>
              <a:rPr sz="1400" spc="-20" dirty="0">
                <a:latin typeface="Arial"/>
                <a:cs typeface="Arial"/>
              </a:rPr>
              <a:t>in2;</a:t>
            </a:r>
            <a:endParaRPr sz="1400">
              <a:latin typeface="Arial"/>
              <a:cs typeface="Arial"/>
            </a:endParaRPr>
          </a:p>
        </p:txBody>
      </p:sp>
      <p:sp>
        <p:nvSpPr>
          <p:cNvPr id="14" name="object 14"/>
          <p:cNvSpPr txBox="1"/>
          <p:nvPr/>
        </p:nvSpPr>
        <p:spPr>
          <a:xfrm>
            <a:off x="5763138" y="5297546"/>
            <a:ext cx="2311400" cy="1050925"/>
          </a:xfrm>
          <a:prstGeom prst="rect">
            <a:avLst/>
          </a:prstGeom>
        </p:spPr>
        <p:txBody>
          <a:bodyPr vert="horz" wrap="square" lIns="0" tIns="55244" rIns="0" bIns="0" rtlCol="0">
            <a:spAutoFit/>
          </a:bodyPr>
          <a:lstStyle/>
          <a:p>
            <a:pPr marL="863600">
              <a:lnSpc>
                <a:spcPct val="100000"/>
              </a:lnSpc>
              <a:spcBef>
                <a:spcPts val="434"/>
              </a:spcBef>
            </a:pPr>
            <a:r>
              <a:rPr sz="1400" b="1" dirty="0">
                <a:latin typeface="Arial"/>
                <a:cs typeface="Arial"/>
              </a:rPr>
              <a:t>default:</a:t>
            </a:r>
            <a:r>
              <a:rPr sz="1400" b="1" spc="10" dirty="0">
                <a:latin typeface="Arial"/>
                <a:cs typeface="Arial"/>
              </a:rPr>
              <a:t> </a:t>
            </a:r>
            <a:r>
              <a:rPr sz="1400" dirty="0">
                <a:latin typeface="Arial"/>
                <a:cs typeface="Arial"/>
              </a:rPr>
              <a:t>out = </a:t>
            </a:r>
            <a:r>
              <a:rPr sz="1400" spc="-20" dirty="0">
                <a:latin typeface="Arial"/>
                <a:cs typeface="Arial"/>
              </a:rPr>
              <a:t>in3;</a:t>
            </a:r>
            <a:endParaRPr sz="1400">
              <a:latin typeface="Arial"/>
              <a:cs typeface="Arial"/>
            </a:endParaRPr>
          </a:p>
          <a:p>
            <a:pPr marL="542290" marR="847090" indent="200025">
              <a:lnSpc>
                <a:spcPts val="2020"/>
              </a:lnSpc>
              <a:spcBef>
                <a:spcPts val="120"/>
              </a:spcBef>
            </a:pPr>
            <a:r>
              <a:rPr sz="1400" b="1" spc="-10" dirty="0">
                <a:latin typeface="Arial"/>
                <a:cs typeface="Arial"/>
              </a:rPr>
              <a:t>endcase </a:t>
            </a:r>
            <a:r>
              <a:rPr sz="1400" b="1" spc="-25" dirty="0">
                <a:latin typeface="Arial"/>
                <a:cs typeface="Arial"/>
              </a:rPr>
              <a:t>end</a:t>
            </a:r>
            <a:endParaRPr sz="1400">
              <a:latin typeface="Arial"/>
              <a:cs typeface="Arial"/>
            </a:endParaRPr>
          </a:p>
          <a:p>
            <a:pPr marL="12700">
              <a:lnSpc>
                <a:spcPct val="100000"/>
              </a:lnSpc>
              <a:spcBef>
                <a:spcPts val="215"/>
              </a:spcBef>
            </a:pPr>
            <a:r>
              <a:rPr sz="1400" b="1" spc="-10" dirty="0">
                <a:latin typeface="Arial"/>
                <a:cs typeface="Arial"/>
              </a:rPr>
              <a:t>endmodule</a:t>
            </a:r>
            <a:endParaRPr sz="1400">
              <a:latin typeface="Arial"/>
              <a:cs typeface="Arial"/>
            </a:endParaRPr>
          </a:p>
        </p:txBody>
      </p:sp>
      <p:sp>
        <p:nvSpPr>
          <p:cNvPr id="15" name="object 15"/>
          <p:cNvSpPr txBox="1">
            <a:spLocks noGrp="1"/>
          </p:cNvSpPr>
          <p:nvPr>
            <p:ph type="title"/>
          </p:nvPr>
        </p:nvSpPr>
        <p:spPr>
          <a:xfrm>
            <a:off x="468002" y="1076960"/>
            <a:ext cx="261048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3.6.1</a:t>
            </a:r>
            <a:r>
              <a:rPr spc="-5" dirty="0">
                <a:latin typeface="Times New Roman"/>
                <a:cs typeface="Times New Roman"/>
              </a:rPr>
              <a:t> </a:t>
            </a:r>
            <a:r>
              <a:rPr spc="-10" dirty="0"/>
              <a:t>多路选择器</a:t>
            </a:r>
          </a:p>
        </p:txBody>
      </p:sp>
      <p:sp>
        <p:nvSpPr>
          <p:cNvPr id="16" name="object 16"/>
          <p:cNvSpPr txBox="1"/>
          <p:nvPr/>
        </p:nvSpPr>
        <p:spPr>
          <a:xfrm>
            <a:off x="663073" y="1771904"/>
            <a:ext cx="7285355" cy="292735"/>
          </a:xfrm>
          <a:prstGeom prst="rect">
            <a:avLst/>
          </a:prstGeom>
        </p:spPr>
        <p:txBody>
          <a:bodyPr vert="horz" wrap="square" lIns="0" tIns="12700" rIns="0" bIns="0" rtlCol="0">
            <a:spAutoFit/>
          </a:bodyPr>
          <a:lstStyle/>
          <a:p>
            <a:pPr marL="212725" indent="-200025">
              <a:lnSpc>
                <a:spcPct val="100000"/>
              </a:lnSpc>
              <a:spcBef>
                <a:spcPts val="100"/>
              </a:spcBef>
              <a:buSzPct val="94285"/>
              <a:buFont typeface="Wingdings"/>
              <a:buChar char=""/>
              <a:tabLst>
                <a:tab pos="212725" algn="l"/>
              </a:tabLst>
            </a:pPr>
            <a:r>
              <a:rPr sz="1750" dirty="0">
                <a:latin typeface="微软雅黑"/>
                <a:cs typeface="微软雅黑"/>
              </a:rPr>
              <a:t>例</a:t>
            </a:r>
            <a:r>
              <a:rPr sz="1750" dirty="0">
                <a:latin typeface="Times New Roman"/>
                <a:cs typeface="Times New Roman"/>
              </a:rPr>
              <a:t>3.16</a:t>
            </a:r>
            <a:r>
              <a:rPr sz="1750" dirty="0">
                <a:latin typeface="微软雅黑"/>
                <a:cs typeface="微软雅黑"/>
              </a:rPr>
              <a:t>和例</a:t>
            </a:r>
            <a:r>
              <a:rPr sz="1750" dirty="0">
                <a:latin typeface="Times New Roman"/>
                <a:cs typeface="Times New Roman"/>
              </a:rPr>
              <a:t>3.17</a:t>
            </a:r>
            <a:r>
              <a:rPr sz="1750" dirty="0">
                <a:latin typeface="微软雅黑"/>
                <a:cs typeface="微软雅黑"/>
              </a:rPr>
              <a:t>分别是</a:t>
            </a:r>
            <a:r>
              <a:rPr sz="1750" dirty="0">
                <a:latin typeface="Times New Roman"/>
                <a:cs typeface="Times New Roman"/>
              </a:rPr>
              <a:t>4</a:t>
            </a:r>
            <a:r>
              <a:rPr sz="1750" dirty="0">
                <a:latin typeface="微软雅黑"/>
                <a:cs typeface="微软雅黑"/>
              </a:rPr>
              <a:t>选</a:t>
            </a:r>
            <a:r>
              <a:rPr sz="1750" dirty="0">
                <a:latin typeface="Times New Roman"/>
                <a:cs typeface="Times New Roman"/>
              </a:rPr>
              <a:t>1</a:t>
            </a:r>
            <a:r>
              <a:rPr sz="1750" dirty="0">
                <a:latin typeface="微软雅黑"/>
                <a:cs typeface="微软雅黑"/>
              </a:rPr>
              <a:t>多路选择器的</a:t>
            </a:r>
            <a:r>
              <a:rPr sz="1750" dirty="0">
                <a:latin typeface="Times New Roman"/>
                <a:cs typeface="Times New Roman"/>
              </a:rPr>
              <a:t>if-else</a:t>
            </a:r>
            <a:r>
              <a:rPr sz="1750" dirty="0">
                <a:latin typeface="微软雅黑"/>
                <a:cs typeface="微软雅黑"/>
              </a:rPr>
              <a:t>语句描述和</a:t>
            </a:r>
            <a:r>
              <a:rPr sz="1750" dirty="0">
                <a:latin typeface="Times New Roman"/>
                <a:cs typeface="Times New Roman"/>
              </a:rPr>
              <a:t>case</a:t>
            </a:r>
            <a:r>
              <a:rPr sz="1750" spc="-10" dirty="0">
                <a:latin typeface="微软雅黑"/>
                <a:cs typeface="微软雅黑"/>
              </a:rPr>
              <a:t>语句描述。</a:t>
            </a:r>
            <a:endParaRPr sz="1750">
              <a:latin typeface="微软雅黑"/>
              <a:cs typeface="微软雅黑"/>
            </a:endParaRPr>
          </a:p>
        </p:txBody>
      </p:sp>
      <p:sp>
        <p:nvSpPr>
          <p:cNvPr id="17" name="object 17"/>
          <p:cNvSpPr txBox="1"/>
          <p:nvPr/>
        </p:nvSpPr>
        <p:spPr>
          <a:xfrm>
            <a:off x="813187" y="2051042"/>
            <a:ext cx="3684904" cy="705485"/>
          </a:xfrm>
          <a:prstGeom prst="rect">
            <a:avLst/>
          </a:prstGeom>
        </p:spPr>
        <p:txBody>
          <a:bodyPr vert="horz" wrap="square" lIns="0" tIns="135255" rIns="0" bIns="0" rtlCol="0">
            <a:spAutoFit/>
          </a:bodyPr>
          <a:lstStyle/>
          <a:p>
            <a:pPr marL="12700">
              <a:lnSpc>
                <a:spcPct val="100000"/>
              </a:lnSpc>
              <a:spcBef>
                <a:spcPts val="1065"/>
              </a:spcBef>
            </a:pPr>
            <a:r>
              <a:rPr sz="1550" b="1" dirty="0">
                <a:latin typeface="宋体"/>
                <a:cs typeface="宋体"/>
              </a:rPr>
              <a:t>例</a:t>
            </a:r>
            <a:r>
              <a:rPr sz="1550" b="1" dirty="0">
                <a:latin typeface="Calibri"/>
                <a:cs typeface="Calibri"/>
              </a:rPr>
              <a:t>3.16</a:t>
            </a:r>
            <a:r>
              <a:rPr sz="1550" b="1" dirty="0">
                <a:latin typeface="宋体"/>
                <a:cs typeface="宋体"/>
              </a:rPr>
              <a:t>：</a:t>
            </a:r>
            <a:r>
              <a:rPr sz="1550" dirty="0">
                <a:latin typeface="Calibri"/>
                <a:cs typeface="Calibri"/>
              </a:rPr>
              <a:t>4</a:t>
            </a:r>
            <a:r>
              <a:rPr sz="1550" dirty="0">
                <a:latin typeface="宋体"/>
                <a:cs typeface="宋体"/>
              </a:rPr>
              <a:t>选</a:t>
            </a:r>
            <a:r>
              <a:rPr sz="1550" dirty="0">
                <a:latin typeface="Calibri"/>
                <a:cs typeface="Calibri"/>
              </a:rPr>
              <a:t>1</a:t>
            </a:r>
            <a:r>
              <a:rPr sz="1550" dirty="0">
                <a:latin typeface="宋体"/>
                <a:cs typeface="宋体"/>
              </a:rPr>
              <a:t>多路选择器的</a:t>
            </a:r>
            <a:r>
              <a:rPr sz="1550" dirty="0">
                <a:solidFill>
                  <a:srgbClr val="FF0000"/>
                </a:solidFill>
                <a:latin typeface="Calibri"/>
                <a:cs typeface="Calibri"/>
              </a:rPr>
              <a:t>if-else</a:t>
            </a:r>
            <a:r>
              <a:rPr sz="1550" dirty="0">
                <a:solidFill>
                  <a:srgbClr val="FF0000"/>
                </a:solidFill>
                <a:latin typeface="宋体"/>
                <a:cs typeface="宋体"/>
              </a:rPr>
              <a:t>语句</a:t>
            </a:r>
            <a:r>
              <a:rPr sz="1550" spc="-25" dirty="0">
                <a:latin typeface="宋体"/>
                <a:cs typeface="宋体"/>
              </a:rPr>
              <a:t>描述</a:t>
            </a:r>
            <a:endParaRPr sz="1550">
              <a:latin typeface="宋体"/>
              <a:cs typeface="宋体"/>
            </a:endParaRPr>
          </a:p>
          <a:p>
            <a:pPr marL="142875">
              <a:lnSpc>
                <a:spcPct val="100000"/>
              </a:lnSpc>
              <a:spcBef>
                <a:spcPts val="850"/>
              </a:spcBef>
            </a:pPr>
            <a:r>
              <a:rPr sz="1400" b="1" dirty="0">
                <a:latin typeface="Arial"/>
                <a:cs typeface="Arial"/>
              </a:rPr>
              <a:t>module</a:t>
            </a:r>
            <a:r>
              <a:rPr sz="1400" b="1" spc="-25" dirty="0">
                <a:latin typeface="Arial"/>
                <a:cs typeface="Arial"/>
              </a:rPr>
              <a:t> </a:t>
            </a:r>
            <a:r>
              <a:rPr sz="1400" spc="-10" dirty="0">
                <a:latin typeface="Arial"/>
                <a:cs typeface="Arial"/>
              </a:rPr>
              <a:t>mux41_if</a:t>
            </a:r>
            <a:endParaRPr sz="1400">
              <a:latin typeface="Arial"/>
              <a:cs typeface="Arial"/>
            </a:endParaRPr>
          </a:p>
        </p:txBody>
      </p:sp>
      <p:sp>
        <p:nvSpPr>
          <p:cNvPr id="18" name="object 18"/>
          <p:cNvSpPr txBox="1"/>
          <p:nvPr/>
        </p:nvSpPr>
        <p:spPr>
          <a:xfrm>
            <a:off x="5603626" y="2051042"/>
            <a:ext cx="3524885" cy="705485"/>
          </a:xfrm>
          <a:prstGeom prst="rect">
            <a:avLst/>
          </a:prstGeom>
        </p:spPr>
        <p:txBody>
          <a:bodyPr vert="horz" wrap="square" lIns="0" tIns="135255" rIns="0" bIns="0" rtlCol="0">
            <a:spAutoFit/>
          </a:bodyPr>
          <a:lstStyle/>
          <a:p>
            <a:pPr>
              <a:lnSpc>
                <a:spcPct val="100000"/>
              </a:lnSpc>
              <a:spcBef>
                <a:spcPts val="1065"/>
              </a:spcBef>
            </a:pPr>
            <a:r>
              <a:rPr sz="1550" b="1" dirty="0">
                <a:latin typeface="宋体"/>
                <a:cs typeface="宋体"/>
              </a:rPr>
              <a:t>例</a:t>
            </a:r>
            <a:r>
              <a:rPr sz="1550" b="1" dirty="0">
                <a:latin typeface="Calibri"/>
                <a:cs typeface="Calibri"/>
              </a:rPr>
              <a:t>3.17</a:t>
            </a:r>
            <a:r>
              <a:rPr sz="1550" b="1" dirty="0">
                <a:latin typeface="宋体"/>
                <a:cs typeface="宋体"/>
              </a:rPr>
              <a:t>：</a:t>
            </a:r>
            <a:r>
              <a:rPr sz="1550" dirty="0">
                <a:latin typeface="Calibri"/>
                <a:cs typeface="Calibri"/>
              </a:rPr>
              <a:t>4</a:t>
            </a:r>
            <a:r>
              <a:rPr sz="1550" dirty="0">
                <a:latin typeface="宋体"/>
                <a:cs typeface="宋体"/>
              </a:rPr>
              <a:t>选</a:t>
            </a:r>
            <a:r>
              <a:rPr sz="1550" dirty="0">
                <a:latin typeface="Calibri"/>
                <a:cs typeface="Calibri"/>
              </a:rPr>
              <a:t>1</a:t>
            </a:r>
            <a:r>
              <a:rPr sz="1550" dirty="0">
                <a:latin typeface="宋体"/>
                <a:cs typeface="宋体"/>
              </a:rPr>
              <a:t>多路选择器的</a:t>
            </a:r>
            <a:r>
              <a:rPr sz="1550" dirty="0">
                <a:solidFill>
                  <a:srgbClr val="FF0000"/>
                </a:solidFill>
                <a:latin typeface="Calibri"/>
                <a:cs typeface="Calibri"/>
              </a:rPr>
              <a:t>case</a:t>
            </a:r>
            <a:r>
              <a:rPr sz="1550" dirty="0">
                <a:solidFill>
                  <a:srgbClr val="FF0000"/>
                </a:solidFill>
                <a:latin typeface="宋体"/>
                <a:cs typeface="宋体"/>
              </a:rPr>
              <a:t>语句</a:t>
            </a:r>
            <a:r>
              <a:rPr sz="1550" spc="-25" dirty="0">
                <a:latin typeface="宋体"/>
                <a:cs typeface="宋体"/>
              </a:rPr>
              <a:t>描述</a:t>
            </a:r>
            <a:endParaRPr sz="1550">
              <a:latin typeface="宋体"/>
              <a:cs typeface="宋体"/>
            </a:endParaRPr>
          </a:p>
          <a:p>
            <a:pPr marL="121920">
              <a:lnSpc>
                <a:spcPct val="100000"/>
              </a:lnSpc>
              <a:spcBef>
                <a:spcPts val="850"/>
              </a:spcBef>
            </a:pPr>
            <a:r>
              <a:rPr sz="1400" b="1" dirty="0">
                <a:latin typeface="Arial"/>
                <a:cs typeface="Arial"/>
              </a:rPr>
              <a:t>module</a:t>
            </a:r>
            <a:r>
              <a:rPr sz="1400" b="1" spc="-25" dirty="0">
                <a:latin typeface="Arial"/>
                <a:cs typeface="Arial"/>
              </a:rPr>
              <a:t> </a:t>
            </a:r>
            <a:r>
              <a:rPr sz="1400" spc="-10" dirty="0">
                <a:latin typeface="Arial"/>
                <a:cs typeface="Arial"/>
              </a:rPr>
              <a:t>mux41_case</a:t>
            </a:r>
            <a:endParaRPr sz="1400">
              <a:latin typeface="Arial"/>
              <a:cs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6205" y="2542032"/>
            <a:ext cx="8279892" cy="2960370"/>
          </a:xfrm>
          <a:prstGeom prst="rect">
            <a:avLst/>
          </a:prstGeom>
        </p:spPr>
      </p:pic>
      <p:sp>
        <p:nvSpPr>
          <p:cNvPr id="3" name="object 3"/>
          <p:cNvSpPr txBox="1">
            <a:spLocks noGrp="1"/>
          </p:cNvSpPr>
          <p:nvPr>
            <p:ph type="title"/>
          </p:nvPr>
        </p:nvSpPr>
        <p:spPr>
          <a:xfrm>
            <a:off x="533533" y="1130299"/>
            <a:ext cx="261048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3.6.1</a:t>
            </a:r>
            <a:r>
              <a:rPr spc="-5" dirty="0">
                <a:latin typeface="Times New Roman"/>
                <a:cs typeface="Times New Roman"/>
              </a:rPr>
              <a:t> </a:t>
            </a:r>
            <a:r>
              <a:rPr spc="-10" dirty="0"/>
              <a:t>多路选择器</a:t>
            </a: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p:nvPr/>
        </p:nvSpPr>
        <p:spPr>
          <a:xfrm>
            <a:off x="781946" y="2042414"/>
            <a:ext cx="5142230" cy="34671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dirty="0">
                <a:latin typeface="Times New Roman"/>
                <a:cs typeface="Times New Roman"/>
              </a:rPr>
              <a:t>4</a:t>
            </a:r>
            <a:r>
              <a:rPr sz="2100" dirty="0">
                <a:latin typeface="微软雅黑"/>
                <a:cs typeface="微软雅黑"/>
              </a:rPr>
              <a:t>选</a:t>
            </a:r>
            <a:r>
              <a:rPr sz="2100" dirty="0">
                <a:latin typeface="Times New Roman"/>
                <a:cs typeface="Times New Roman"/>
              </a:rPr>
              <a:t>1</a:t>
            </a:r>
            <a:r>
              <a:rPr sz="2100" spc="-10" dirty="0">
                <a:latin typeface="微软雅黑"/>
                <a:cs typeface="微软雅黑"/>
              </a:rPr>
              <a:t>多路选择器的仿真波形如图</a:t>
            </a:r>
            <a:r>
              <a:rPr sz="2100" spc="-10" dirty="0">
                <a:latin typeface="Times New Roman"/>
                <a:cs typeface="Times New Roman"/>
              </a:rPr>
              <a:t>3.3</a:t>
            </a:r>
            <a:r>
              <a:rPr sz="2100" spc="-25" dirty="0">
                <a:latin typeface="微软雅黑"/>
                <a:cs typeface="微软雅黑"/>
              </a:rPr>
              <a:t>所示。</a:t>
            </a:r>
            <a:endParaRPr sz="2100">
              <a:latin typeface="微软雅黑"/>
              <a:cs typeface="微软雅黑"/>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9045" y="1070101"/>
            <a:ext cx="189738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3.6.2</a:t>
            </a:r>
            <a:r>
              <a:rPr spc="-5" dirty="0">
                <a:latin typeface="Times New Roman"/>
                <a:cs typeface="Times New Roman"/>
              </a:rPr>
              <a:t> </a:t>
            </a:r>
            <a:r>
              <a:rPr spc="-20" dirty="0"/>
              <a:t>比较器</a:t>
            </a:r>
          </a:p>
        </p:txBody>
      </p:sp>
      <p:graphicFrame>
        <p:nvGraphicFramePr>
          <p:cNvPr id="3" name="object 3"/>
          <p:cNvGraphicFramePr>
            <a:graphicFrameLocks noGrp="1"/>
          </p:cNvGraphicFramePr>
          <p:nvPr/>
        </p:nvGraphicFramePr>
        <p:xfrm>
          <a:off x="5066188" y="4046747"/>
          <a:ext cx="4034789" cy="159004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534035">
                  <a:extLst>
                    <a:ext uri="{9D8B030D-6E8A-4147-A177-3AD203B41FA5}">
                      <a16:colId xmlns:a16="http://schemas.microsoft.com/office/drawing/2014/main" val="20001"/>
                    </a:ext>
                  </a:extLst>
                </a:gridCol>
                <a:gridCol w="1052194">
                  <a:extLst>
                    <a:ext uri="{9D8B030D-6E8A-4147-A177-3AD203B41FA5}">
                      <a16:colId xmlns:a16="http://schemas.microsoft.com/office/drawing/2014/main" val="20002"/>
                    </a:ext>
                  </a:extLst>
                </a:gridCol>
                <a:gridCol w="1007110">
                  <a:extLst>
                    <a:ext uri="{9D8B030D-6E8A-4147-A177-3AD203B41FA5}">
                      <a16:colId xmlns:a16="http://schemas.microsoft.com/office/drawing/2014/main" val="20003"/>
                    </a:ext>
                  </a:extLst>
                </a:gridCol>
                <a:gridCol w="908050">
                  <a:extLst>
                    <a:ext uri="{9D8B030D-6E8A-4147-A177-3AD203B41FA5}">
                      <a16:colId xmlns:a16="http://schemas.microsoft.com/office/drawing/2014/main" val="20004"/>
                    </a:ext>
                  </a:extLst>
                </a:gridCol>
              </a:tblGrid>
              <a:tr h="372745">
                <a:tc>
                  <a:txBody>
                    <a:bodyPr/>
                    <a:lstStyle/>
                    <a:p>
                      <a:pPr marL="50165" algn="ctr">
                        <a:lnSpc>
                          <a:spcPct val="100000"/>
                        </a:lnSpc>
                        <a:spcBef>
                          <a:spcPts val="775"/>
                        </a:spcBef>
                      </a:pPr>
                      <a:r>
                        <a:rPr sz="1200" b="1" spc="-25" dirty="0">
                          <a:solidFill>
                            <a:srgbClr val="FFFFFF"/>
                          </a:solidFill>
                          <a:latin typeface="Arial"/>
                          <a:cs typeface="Arial"/>
                        </a:rPr>
                        <a:t>in0</a:t>
                      </a:r>
                      <a:endParaRPr sz="1200">
                        <a:latin typeface="Arial"/>
                        <a:cs typeface="Arial"/>
                      </a:endParaRPr>
                    </a:p>
                  </a:txBody>
                  <a:tcPr marL="0" marR="0" marT="98425" marB="0">
                    <a:lnL w="12700">
                      <a:solidFill>
                        <a:srgbClr val="FFFFFF"/>
                      </a:solidFill>
                      <a:prstDash val="solid"/>
                    </a:lnL>
                    <a:lnT w="12700">
                      <a:solidFill>
                        <a:srgbClr val="FFFFFF"/>
                      </a:solidFill>
                      <a:prstDash val="solid"/>
                    </a:lnT>
                    <a:lnB w="38100">
                      <a:solidFill>
                        <a:srgbClr val="FFFFFF"/>
                      </a:solidFill>
                      <a:prstDash val="solid"/>
                    </a:lnB>
                    <a:solidFill>
                      <a:srgbClr val="008BA7"/>
                    </a:solidFill>
                  </a:tcPr>
                </a:tc>
                <a:tc>
                  <a:txBody>
                    <a:bodyPr/>
                    <a:lstStyle/>
                    <a:p>
                      <a:pPr marR="43180" algn="ctr">
                        <a:lnSpc>
                          <a:spcPct val="100000"/>
                        </a:lnSpc>
                        <a:spcBef>
                          <a:spcPts val="775"/>
                        </a:spcBef>
                      </a:pPr>
                      <a:r>
                        <a:rPr sz="1200" b="1" spc="-25" dirty="0">
                          <a:solidFill>
                            <a:srgbClr val="FFFFFF"/>
                          </a:solidFill>
                          <a:latin typeface="Arial"/>
                          <a:cs typeface="Arial"/>
                        </a:rPr>
                        <a:t>in1</a:t>
                      </a:r>
                      <a:endParaRPr sz="1200">
                        <a:latin typeface="Arial"/>
                        <a:cs typeface="Arial"/>
                      </a:endParaRPr>
                    </a:p>
                  </a:txBody>
                  <a:tcPr marL="0" marR="0" marT="98425" marB="0">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775"/>
                        </a:spcBef>
                      </a:pPr>
                      <a:r>
                        <a:rPr sz="1200" b="1" spc="-10" dirty="0">
                          <a:solidFill>
                            <a:srgbClr val="FFFFFF"/>
                          </a:solidFill>
                          <a:latin typeface="Arial"/>
                          <a:cs typeface="Arial"/>
                        </a:rPr>
                        <a:t>gt(in0&gt;in1)</a:t>
                      </a:r>
                      <a:endParaRPr sz="1200">
                        <a:latin typeface="Arial"/>
                        <a:cs typeface="Arial"/>
                      </a:endParaRPr>
                    </a:p>
                  </a:txBody>
                  <a:tcPr marL="0" marR="0" marT="984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775"/>
                        </a:spcBef>
                      </a:pPr>
                      <a:r>
                        <a:rPr sz="1200" b="1" spc="-10" dirty="0">
                          <a:solidFill>
                            <a:srgbClr val="FFFFFF"/>
                          </a:solidFill>
                          <a:latin typeface="Arial"/>
                          <a:cs typeface="Arial"/>
                        </a:rPr>
                        <a:t>eq(in0=in1)</a:t>
                      </a:r>
                      <a:endParaRPr sz="1200">
                        <a:latin typeface="Arial"/>
                        <a:cs typeface="Arial"/>
                      </a:endParaRPr>
                    </a:p>
                  </a:txBody>
                  <a:tcPr marL="0" marR="0" marT="984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775"/>
                        </a:spcBef>
                      </a:pPr>
                      <a:r>
                        <a:rPr sz="1200" b="1" spc="-10" dirty="0">
                          <a:solidFill>
                            <a:srgbClr val="FFFFFF"/>
                          </a:solidFill>
                          <a:latin typeface="Arial"/>
                          <a:cs typeface="Arial"/>
                        </a:rPr>
                        <a:t>lt(in0&lt;in1)</a:t>
                      </a:r>
                      <a:endParaRPr sz="1200">
                        <a:latin typeface="Arial"/>
                        <a:cs typeface="Arial"/>
                      </a:endParaRPr>
                    </a:p>
                  </a:txBody>
                  <a:tcPr marL="0" marR="0" marT="984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301625">
                <a:tc>
                  <a:txBody>
                    <a:bodyPr/>
                    <a:lstStyle/>
                    <a:p>
                      <a:pPr marL="101600" algn="ctr">
                        <a:lnSpc>
                          <a:spcPct val="100000"/>
                        </a:lnSpc>
                        <a:spcBef>
                          <a:spcPts val="484"/>
                        </a:spcBef>
                      </a:pPr>
                      <a:r>
                        <a:rPr sz="1200" b="1" spc="-50" dirty="0">
                          <a:solidFill>
                            <a:srgbClr val="FFFFFF"/>
                          </a:solidFill>
                          <a:latin typeface="Arial"/>
                          <a:cs typeface="Arial"/>
                        </a:rPr>
                        <a:t>0</a:t>
                      </a:r>
                      <a:endParaRPr sz="1200">
                        <a:latin typeface="Arial"/>
                        <a:cs typeface="Arial"/>
                      </a:endParaRPr>
                    </a:p>
                  </a:txBody>
                  <a:tcPr marL="0" marR="0" marT="61594" marB="0">
                    <a:lnL w="12700">
                      <a:solidFill>
                        <a:srgbClr val="FFFFFF"/>
                      </a:solidFill>
                      <a:prstDash val="solid"/>
                    </a:lnL>
                    <a:lnT w="38100">
                      <a:solidFill>
                        <a:srgbClr val="FFFFFF"/>
                      </a:solidFill>
                      <a:prstDash val="solid"/>
                    </a:lnT>
                    <a:lnB w="12700">
                      <a:solidFill>
                        <a:srgbClr val="FFFFFF"/>
                      </a:solidFill>
                      <a:prstDash val="solid"/>
                    </a:lnB>
                    <a:solidFill>
                      <a:srgbClr val="008BA7"/>
                    </a:solidFill>
                  </a:tcPr>
                </a:tc>
                <a:tc>
                  <a:txBody>
                    <a:bodyPr/>
                    <a:lstStyle/>
                    <a:p>
                      <a:pPr marR="95250" algn="ctr">
                        <a:lnSpc>
                          <a:spcPct val="100000"/>
                        </a:lnSpc>
                        <a:spcBef>
                          <a:spcPts val="484"/>
                        </a:spcBef>
                      </a:pPr>
                      <a:r>
                        <a:rPr sz="1200" b="1" spc="-50" dirty="0">
                          <a:solidFill>
                            <a:srgbClr val="FFFFFF"/>
                          </a:solidFill>
                          <a:latin typeface="Arial"/>
                          <a:cs typeface="Arial"/>
                        </a:rPr>
                        <a:t>0</a:t>
                      </a:r>
                      <a:endParaRPr sz="1200">
                        <a:latin typeface="Arial"/>
                        <a:cs typeface="Arial"/>
                      </a:endParaRPr>
                    </a:p>
                  </a:txBody>
                  <a:tcPr marL="0" marR="0" marT="61594" marB="0">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484"/>
                        </a:spcBef>
                      </a:pPr>
                      <a:r>
                        <a:rPr sz="1200" spc="-50" dirty="0">
                          <a:latin typeface="Arial"/>
                          <a:cs typeface="Arial"/>
                        </a:rPr>
                        <a:t>0</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484"/>
                        </a:spcBef>
                      </a:pPr>
                      <a:r>
                        <a:rPr sz="1200" spc="-50" dirty="0">
                          <a:latin typeface="Arial"/>
                          <a:cs typeface="Arial"/>
                        </a:rPr>
                        <a:t>1</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484"/>
                        </a:spcBef>
                      </a:pPr>
                      <a:r>
                        <a:rPr sz="1200" spc="-50" dirty="0">
                          <a:latin typeface="Arial"/>
                          <a:cs typeface="Arial"/>
                        </a:rPr>
                        <a:t>0</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300355">
                <a:tc>
                  <a:txBody>
                    <a:bodyPr/>
                    <a:lstStyle/>
                    <a:p>
                      <a:pPr marL="101600" algn="ctr">
                        <a:lnSpc>
                          <a:spcPct val="100000"/>
                        </a:lnSpc>
                        <a:spcBef>
                          <a:spcPts val="484"/>
                        </a:spcBef>
                      </a:pPr>
                      <a:r>
                        <a:rPr sz="1200" b="1" spc="-50" dirty="0">
                          <a:solidFill>
                            <a:srgbClr val="FFFFFF"/>
                          </a:solidFill>
                          <a:latin typeface="Arial"/>
                          <a:cs typeface="Arial"/>
                        </a:rPr>
                        <a:t>0</a:t>
                      </a:r>
                      <a:endParaRPr sz="1200">
                        <a:latin typeface="Arial"/>
                        <a:cs typeface="Arial"/>
                      </a:endParaRPr>
                    </a:p>
                  </a:txBody>
                  <a:tcPr marL="0" marR="0" marT="61594"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R="95250" algn="ctr">
                        <a:lnSpc>
                          <a:spcPct val="100000"/>
                        </a:lnSpc>
                        <a:spcBef>
                          <a:spcPts val="484"/>
                        </a:spcBef>
                      </a:pPr>
                      <a:r>
                        <a:rPr sz="1200" b="1" spc="-50" dirty="0">
                          <a:solidFill>
                            <a:srgbClr val="FFFFFF"/>
                          </a:solidFill>
                          <a:latin typeface="Arial"/>
                          <a:cs typeface="Arial"/>
                        </a:rPr>
                        <a:t>1</a:t>
                      </a:r>
                      <a:endParaRPr sz="1200">
                        <a:latin typeface="Arial"/>
                        <a:cs typeface="Arial"/>
                      </a:endParaRPr>
                    </a:p>
                  </a:txBody>
                  <a:tcPr marL="0" marR="0" marT="61594"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484"/>
                        </a:spcBef>
                      </a:pPr>
                      <a:r>
                        <a:rPr sz="1200" spc="-50" dirty="0">
                          <a:latin typeface="Arial"/>
                          <a:cs typeface="Arial"/>
                        </a:rPr>
                        <a:t>0</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484"/>
                        </a:spcBef>
                      </a:pPr>
                      <a:r>
                        <a:rPr sz="1200" spc="-50" dirty="0">
                          <a:latin typeface="Arial"/>
                          <a:cs typeface="Arial"/>
                        </a:rPr>
                        <a:t>0</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484"/>
                        </a:spcBef>
                      </a:pPr>
                      <a:r>
                        <a:rPr sz="1200" spc="-50" dirty="0">
                          <a:latin typeface="Arial"/>
                          <a:cs typeface="Arial"/>
                        </a:rPr>
                        <a:t>1</a:t>
                      </a:r>
                      <a:endParaRPr sz="1200">
                        <a:latin typeface="Arial"/>
                        <a:cs typeface="Arial"/>
                      </a:endParaRPr>
                    </a:p>
                  </a:txBody>
                  <a:tcPr marL="0" marR="0" marT="615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301625">
                <a:tc>
                  <a:txBody>
                    <a:bodyPr/>
                    <a:lstStyle/>
                    <a:p>
                      <a:pPr marL="101600" algn="ctr">
                        <a:lnSpc>
                          <a:spcPct val="100000"/>
                        </a:lnSpc>
                        <a:spcBef>
                          <a:spcPts val="490"/>
                        </a:spcBef>
                      </a:pPr>
                      <a:r>
                        <a:rPr sz="1200" b="1" spc="-50" dirty="0">
                          <a:solidFill>
                            <a:srgbClr val="FFFFFF"/>
                          </a:solidFill>
                          <a:latin typeface="Arial"/>
                          <a:cs typeface="Arial"/>
                        </a:rPr>
                        <a:t>1</a:t>
                      </a:r>
                      <a:endParaRPr sz="1200">
                        <a:latin typeface="Arial"/>
                        <a:cs typeface="Arial"/>
                      </a:endParaRPr>
                    </a:p>
                  </a:txBody>
                  <a:tcPr marL="0" marR="0" marT="6223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R="95250" algn="ctr">
                        <a:lnSpc>
                          <a:spcPct val="100000"/>
                        </a:lnSpc>
                        <a:spcBef>
                          <a:spcPts val="490"/>
                        </a:spcBef>
                      </a:pPr>
                      <a:r>
                        <a:rPr sz="1200" b="1" spc="-50" dirty="0">
                          <a:solidFill>
                            <a:srgbClr val="FFFFFF"/>
                          </a:solidFill>
                          <a:latin typeface="Arial"/>
                          <a:cs typeface="Arial"/>
                        </a:rPr>
                        <a:t>0</a:t>
                      </a:r>
                      <a:endParaRPr sz="1200">
                        <a:latin typeface="Arial"/>
                        <a:cs typeface="Arial"/>
                      </a:endParaRPr>
                    </a:p>
                  </a:txBody>
                  <a:tcPr marL="0" marR="0" marT="6223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490"/>
                        </a:spcBef>
                      </a:pPr>
                      <a:r>
                        <a:rPr sz="1200" spc="-50" dirty="0">
                          <a:latin typeface="Arial"/>
                          <a:cs typeface="Arial"/>
                        </a:rPr>
                        <a:t>1</a:t>
                      </a:r>
                      <a:endParaRPr sz="1200">
                        <a:latin typeface="Arial"/>
                        <a:cs typeface="Arial"/>
                      </a:endParaRPr>
                    </a:p>
                  </a:txBody>
                  <a:tcPr marL="0" marR="0" marT="622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490"/>
                        </a:spcBef>
                      </a:pPr>
                      <a:r>
                        <a:rPr sz="1200" spc="-50" dirty="0">
                          <a:latin typeface="Arial"/>
                          <a:cs typeface="Arial"/>
                        </a:rPr>
                        <a:t>0</a:t>
                      </a:r>
                      <a:endParaRPr sz="1200">
                        <a:latin typeface="Arial"/>
                        <a:cs typeface="Arial"/>
                      </a:endParaRPr>
                    </a:p>
                  </a:txBody>
                  <a:tcPr marL="0" marR="0" marT="622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490"/>
                        </a:spcBef>
                      </a:pPr>
                      <a:r>
                        <a:rPr sz="1200" spc="-50" dirty="0">
                          <a:latin typeface="Arial"/>
                          <a:cs typeface="Arial"/>
                        </a:rPr>
                        <a:t>0</a:t>
                      </a:r>
                      <a:endParaRPr sz="1200">
                        <a:latin typeface="Arial"/>
                        <a:cs typeface="Arial"/>
                      </a:endParaRPr>
                    </a:p>
                  </a:txBody>
                  <a:tcPr marL="0" marR="0" marT="622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313690">
                <a:tc>
                  <a:txBody>
                    <a:bodyPr/>
                    <a:lstStyle/>
                    <a:p>
                      <a:pPr marL="101600" algn="ctr">
                        <a:lnSpc>
                          <a:spcPct val="100000"/>
                        </a:lnSpc>
                        <a:spcBef>
                          <a:spcPts val="540"/>
                        </a:spcBef>
                      </a:pPr>
                      <a:r>
                        <a:rPr sz="1200" b="1" spc="-50" dirty="0">
                          <a:solidFill>
                            <a:srgbClr val="FFFFFF"/>
                          </a:solidFill>
                          <a:latin typeface="Arial"/>
                          <a:cs typeface="Arial"/>
                        </a:rPr>
                        <a:t>1</a:t>
                      </a:r>
                      <a:endParaRPr sz="1200">
                        <a:latin typeface="Arial"/>
                        <a:cs typeface="Arial"/>
                      </a:endParaRPr>
                    </a:p>
                  </a:txBody>
                  <a:tcPr marL="0" marR="0" marT="6858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R="95250" algn="ctr">
                        <a:lnSpc>
                          <a:spcPct val="100000"/>
                        </a:lnSpc>
                        <a:spcBef>
                          <a:spcPts val="540"/>
                        </a:spcBef>
                      </a:pPr>
                      <a:r>
                        <a:rPr sz="1200" b="1" spc="-50" dirty="0">
                          <a:solidFill>
                            <a:srgbClr val="FFFFFF"/>
                          </a:solidFill>
                          <a:latin typeface="Arial"/>
                          <a:cs typeface="Arial"/>
                        </a:rPr>
                        <a:t>1</a:t>
                      </a:r>
                      <a:endParaRPr sz="1200">
                        <a:latin typeface="Arial"/>
                        <a:cs typeface="Arial"/>
                      </a:endParaRPr>
                    </a:p>
                  </a:txBody>
                  <a:tcPr marL="0" marR="0" marT="6858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540"/>
                        </a:spcBef>
                      </a:pPr>
                      <a:r>
                        <a:rPr sz="1200" spc="-50" dirty="0">
                          <a:latin typeface="Arial"/>
                          <a:cs typeface="Arial"/>
                        </a:rPr>
                        <a:t>0</a:t>
                      </a:r>
                      <a:endParaRPr sz="1200">
                        <a:latin typeface="Arial"/>
                        <a:cs typeface="Arial"/>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540"/>
                        </a:spcBef>
                      </a:pPr>
                      <a:r>
                        <a:rPr sz="1200" spc="-50" dirty="0">
                          <a:latin typeface="Arial"/>
                          <a:cs typeface="Arial"/>
                        </a:rPr>
                        <a:t>1</a:t>
                      </a:r>
                      <a:endParaRPr sz="1200">
                        <a:latin typeface="Arial"/>
                        <a:cs typeface="Arial"/>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540"/>
                        </a:spcBef>
                      </a:pPr>
                      <a:r>
                        <a:rPr sz="1200" spc="-50" dirty="0">
                          <a:latin typeface="Arial"/>
                          <a:cs typeface="Arial"/>
                        </a:rPr>
                        <a:t>0</a:t>
                      </a:r>
                      <a:endParaRPr sz="1200">
                        <a:latin typeface="Arial"/>
                        <a:cs typeface="Arial"/>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839858" y="1764438"/>
            <a:ext cx="7614284" cy="2249805"/>
          </a:xfrm>
          <a:prstGeom prst="rect">
            <a:avLst/>
          </a:prstGeom>
        </p:spPr>
        <p:txBody>
          <a:bodyPr vert="horz" wrap="square" lIns="0" tIns="146685" rIns="0" bIns="0" rtlCol="0">
            <a:spAutoFit/>
          </a:bodyPr>
          <a:lstStyle/>
          <a:p>
            <a:pPr marL="316865" indent="-304165">
              <a:lnSpc>
                <a:spcPct val="100000"/>
              </a:lnSpc>
              <a:spcBef>
                <a:spcPts val="1155"/>
              </a:spcBef>
              <a:buFont typeface="Wingdings"/>
              <a:buChar char=""/>
              <a:tabLst>
                <a:tab pos="316865" algn="l"/>
              </a:tabLst>
            </a:pPr>
            <a:r>
              <a:rPr sz="2100" spc="-15" dirty="0">
                <a:latin typeface="微软雅黑"/>
                <a:cs typeface="微软雅黑"/>
              </a:rPr>
              <a:t>比较器是用来完成数值大小比较逻辑的组合电路。</a:t>
            </a:r>
            <a:endParaRPr sz="2100">
              <a:latin typeface="微软雅黑"/>
              <a:cs typeface="微软雅黑"/>
            </a:endParaRPr>
          </a:p>
          <a:p>
            <a:pPr marL="316865" indent="-304165">
              <a:lnSpc>
                <a:spcPct val="100000"/>
              </a:lnSpc>
              <a:spcBef>
                <a:spcPts val="1055"/>
              </a:spcBef>
              <a:buFont typeface="Wingdings"/>
              <a:buChar char=""/>
              <a:tabLst>
                <a:tab pos="316865" algn="l"/>
              </a:tabLst>
            </a:pPr>
            <a:r>
              <a:rPr sz="2100" spc="-10" dirty="0">
                <a:latin typeface="微软雅黑"/>
                <a:cs typeface="微软雅黑"/>
              </a:rPr>
              <a:t>一位二进制数比较器是它的基础，其电路真值表如表</a:t>
            </a:r>
            <a:r>
              <a:rPr sz="2100" spc="-10" dirty="0">
                <a:latin typeface="Times New Roman"/>
                <a:cs typeface="Times New Roman"/>
              </a:rPr>
              <a:t>3.3</a:t>
            </a:r>
            <a:r>
              <a:rPr sz="2100" spc="-20" dirty="0">
                <a:latin typeface="微软雅黑"/>
                <a:cs typeface="微软雅黑"/>
              </a:rPr>
              <a:t>所示。</a:t>
            </a:r>
            <a:endParaRPr sz="2100">
              <a:latin typeface="微软雅黑"/>
              <a:cs typeface="微软雅黑"/>
            </a:endParaRPr>
          </a:p>
          <a:p>
            <a:pPr marL="316865" indent="-304165">
              <a:lnSpc>
                <a:spcPct val="100000"/>
              </a:lnSpc>
              <a:spcBef>
                <a:spcPts val="1055"/>
              </a:spcBef>
              <a:buFont typeface="Wingdings"/>
              <a:buChar char=""/>
              <a:tabLst>
                <a:tab pos="316865" algn="l"/>
              </a:tabLst>
            </a:pPr>
            <a:r>
              <a:rPr sz="2100" dirty="0">
                <a:latin typeface="Times New Roman"/>
                <a:cs typeface="Times New Roman"/>
              </a:rPr>
              <a:t>in0</a:t>
            </a:r>
            <a:r>
              <a:rPr sz="2100" dirty="0">
                <a:latin typeface="微软雅黑"/>
                <a:cs typeface="微软雅黑"/>
              </a:rPr>
              <a:t>和</a:t>
            </a:r>
            <a:r>
              <a:rPr sz="2100" spc="-10" dirty="0">
                <a:latin typeface="Times New Roman"/>
                <a:cs typeface="Times New Roman"/>
              </a:rPr>
              <a:t>in1</a:t>
            </a:r>
            <a:r>
              <a:rPr sz="2100" spc="-15" dirty="0">
                <a:latin typeface="微软雅黑"/>
                <a:cs typeface="微软雅黑"/>
              </a:rPr>
              <a:t>是一位输入比较信号</a:t>
            </a:r>
            <a:endParaRPr sz="2100">
              <a:latin typeface="微软雅黑"/>
              <a:cs typeface="微软雅黑"/>
            </a:endParaRPr>
          </a:p>
          <a:p>
            <a:pPr marL="316865" indent="-304165">
              <a:lnSpc>
                <a:spcPct val="100000"/>
              </a:lnSpc>
              <a:spcBef>
                <a:spcPts val="1060"/>
              </a:spcBef>
              <a:buFont typeface="Wingdings"/>
              <a:buChar char=""/>
              <a:tabLst>
                <a:tab pos="316865" algn="l"/>
              </a:tabLst>
            </a:pPr>
            <a:r>
              <a:rPr sz="2100" spc="-10" dirty="0">
                <a:latin typeface="Times New Roman"/>
                <a:cs typeface="Times New Roman"/>
              </a:rPr>
              <a:t>lt</a:t>
            </a:r>
            <a:r>
              <a:rPr sz="2100" dirty="0">
                <a:latin typeface="微软雅黑"/>
                <a:cs typeface="微软雅黑"/>
              </a:rPr>
              <a:t>、</a:t>
            </a:r>
            <a:r>
              <a:rPr sz="2100" spc="-10" dirty="0">
                <a:latin typeface="Times New Roman"/>
                <a:cs typeface="Times New Roman"/>
              </a:rPr>
              <a:t>eq</a:t>
            </a:r>
            <a:r>
              <a:rPr sz="2100" spc="-10" dirty="0">
                <a:latin typeface="微软雅黑"/>
                <a:cs typeface="微软雅黑"/>
              </a:rPr>
              <a:t>和</a:t>
            </a:r>
            <a:r>
              <a:rPr sz="2100" spc="-10" dirty="0">
                <a:latin typeface="Times New Roman"/>
                <a:cs typeface="Times New Roman"/>
              </a:rPr>
              <a:t>gt</a:t>
            </a:r>
            <a:r>
              <a:rPr sz="2100" spc="-15" dirty="0">
                <a:latin typeface="微软雅黑"/>
                <a:cs typeface="微软雅黑"/>
              </a:rPr>
              <a:t>分别是两个输入信号大小的比较结果</a:t>
            </a:r>
            <a:endParaRPr sz="2100">
              <a:latin typeface="微软雅黑"/>
              <a:cs typeface="微软雅黑"/>
            </a:endParaRPr>
          </a:p>
          <a:p>
            <a:pPr marL="4302125">
              <a:lnSpc>
                <a:spcPct val="100000"/>
              </a:lnSpc>
              <a:spcBef>
                <a:spcPts val="1340"/>
              </a:spcBef>
            </a:pPr>
            <a:r>
              <a:rPr sz="1550" b="1" dirty="0">
                <a:solidFill>
                  <a:srgbClr val="C00000"/>
                </a:solidFill>
                <a:latin typeface="微软雅黑"/>
                <a:cs typeface="微软雅黑"/>
              </a:rPr>
              <a:t>表</a:t>
            </a:r>
            <a:r>
              <a:rPr sz="1550" b="1" dirty="0">
                <a:solidFill>
                  <a:srgbClr val="C00000"/>
                </a:solidFill>
                <a:latin typeface="Times New Roman"/>
                <a:cs typeface="Times New Roman"/>
              </a:rPr>
              <a:t>3.3</a:t>
            </a:r>
            <a:r>
              <a:rPr sz="1550" b="1" spc="204" dirty="0">
                <a:solidFill>
                  <a:srgbClr val="C00000"/>
                </a:solidFill>
                <a:latin typeface="Times New Roman"/>
                <a:cs typeface="Times New Roman"/>
              </a:rPr>
              <a:t> </a:t>
            </a:r>
            <a:r>
              <a:rPr sz="1550" b="1" spc="-5" dirty="0">
                <a:solidFill>
                  <a:srgbClr val="C00000"/>
                </a:solidFill>
                <a:latin typeface="微软雅黑"/>
                <a:cs typeface="微软雅黑"/>
              </a:rPr>
              <a:t>一位二进制比较器的真值表</a:t>
            </a:r>
            <a:endParaRPr sz="1550">
              <a:latin typeface="微软雅黑"/>
              <a:cs typeface="微软雅黑"/>
            </a:endParaRPr>
          </a:p>
        </p:txBody>
      </p:sp>
      <p:sp>
        <p:nvSpPr>
          <p:cNvPr id="5" name="object 5"/>
          <p:cNvSpPr txBox="1"/>
          <p:nvPr/>
        </p:nvSpPr>
        <p:spPr>
          <a:xfrm>
            <a:off x="1984895" y="4062221"/>
            <a:ext cx="946150" cy="1419225"/>
          </a:xfrm>
          <a:prstGeom prst="rect">
            <a:avLst/>
          </a:prstGeom>
          <a:ln w="14528">
            <a:solidFill>
              <a:srgbClr val="000000"/>
            </a:solidFill>
          </a:ln>
        </p:spPr>
        <p:txBody>
          <a:bodyPr vert="horz" wrap="square" lIns="0" tIns="0" rIns="0" bIns="0" rtlCol="0">
            <a:spAutoFit/>
          </a:bodyPr>
          <a:lstStyle/>
          <a:p>
            <a:pPr>
              <a:lnSpc>
                <a:spcPct val="100000"/>
              </a:lnSpc>
            </a:pPr>
            <a:endParaRPr sz="1550">
              <a:latin typeface="Times New Roman"/>
              <a:cs typeface="Times New Roman"/>
            </a:endParaRPr>
          </a:p>
          <a:p>
            <a:pPr>
              <a:lnSpc>
                <a:spcPct val="100000"/>
              </a:lnSpc>
              <a:spcBef>
                <a:spcPts val="1019"/>
              </a:spcBef>
            </a:pPr>
            <a:endParaRPr sz="1550">
              <a:latin typeface="Times New Roman"/>
              <a:cs typeface="Times New Roman"/>
            </a:endParaRPr>
          </a:p>
          <a:p>
            <a:pPr marL="187960">
              <a:lnSpc>
                <a:spcPct val="100000"/>
              </a:lnSpc>
            </a:pPr>
            <a:r>
              <a:rPr sz="1550" spc="-55" dirty="0">
                <a:latin typeface="黑体"/>
                <a:cs typeface="黑体"/>
              </a:rPr>
              <a:t>比较器</a:t>
            </a:r>
            <a:endParaRPr sz="1550">
              <a:latin typeface="黑体"/>
              <a:cs typeface="黑体"/>
            </a:endParaRPr>
          </a:p>
        </p:txBody>
      </p:sp>
      <p:grpSp>
        <p:nvGrpSpPr>
          <p:cNvPr id="6" name="object 6"/>
          <p:cNvGrpSpPr/>
          <p:nvPr/>
        </p:nvGrpSpPr>
        <p:grpSpPr>
          <a:xfrm>
            <a:off x="1299095" y="4360926"/>
            <a:ext cx="685800" cy="280035"/>
            <a:chOff x="1299095" y="4360926"/>
            <a:chExt cx="685800" cy="280035"/>
          </a:xfrm>
        </p:grpSpPr>
        <p:sp>
          <p:nvSpPr>
            <p:cNvPr id="7" name="object 7"/>
            <p:cNvSpPr/>
            <p:nvPr/>
          </p:nvSpPr>
          <p:spPr>
            <a:xfrm>
              <a:off x="1299095" y="4500372"/>
              <a:ext cx="471805" cy="0"/>
            </a:xfrm>
            <a:custGeom>
              <a:avLst/>
              <a:gdLst/>
              <a:ahLst/>
              <a:cxnLst/>
              <a:rect l="l" t="t" r="r" b="b"/>
              <a:pathLst>
                <a:path w="471805">
                  <a:moveTo>
                    <a:pt x="0" y="0"/>
                  </a:moveTo>
                  <a:lnTo>
                    <a:pt x="471678" y="0"/>
                  </a:lnTo>
                </a:path>
              </a:pathLst>
            </a:custGeom>
            <a:ln w="29057">
              <a:solidFill>
                <a:srgbClr val="000000"/>
              </a:solidFill>
            </a:ln>
          </p:spPr>
          <p:txBody>
            <a:bodyPr wrap="square" lIns="0" tIns="0" rIns="0" bIns="0" rtlCol="0"/>
            <a:lstStyle/>
            <a:p>
              <a:endParaRPr/>
            </a:p>
          </p:txBody>
        </p:sp>
        <p:sp>
          <p:nvSpPr>
            <p:cNvPr id="8" name="object 8"/>
            <p:cNvSpPr/>
            <p:nvPr/>
          </p:nvSpPr>
          <p:spPr>
            <a:xfrm>
              <a:off x="1751723" y="4422648"/>
              <a:ext cx="233679" cy="156210"/>
            </a:xfrm>
            <a:custGeom>
              <a:avLst/>
              <a:gdLst/>
              <a:ahLst/>
              <a:cxnLst/>
              <a:rect l="l" t="t" r="r" b="b"/>
              <a:pathLst>
                <a:path w="233680" h="156210">
                  <a:moveTo>
                    <a:pt x="233172" y="77723"/>
                  </a:moveTo>
                  <a:lnTo>
                    <a:pt x="0" y="0"/>
                  </a:lnTo>
                  <a:lnTo>
                    <a:pt x="0" y="156210"/>
                  </a:lnTo>
                  <a:lnTo>
                    <a:pt x="233172" y="77723"/>
                  </a:lnTo>
                  <a:close/>
                </a:path>
              </a:pathLst>
            </a:custGeom>
            <a:solidFill>
              <a:srgbClr val="000000"/>
            </a:solidFill>
          </p:spPr>
          <p:txBody>
            <a:bodyPr wrap="square" lIns="0" tIns="0" rIns="0" bIns="0" rtlCol="0"/>
            <a:lstStyle/>
            <a:p>
              <a:endParaRPr/>
            </a:p>
          </p:txBody>
        </p:sp>
        <p:sp>
          <p:nvSpPr>
            <p:cNvPr id="9" name="object 9"/>
            <p:cNvSpPr/>
            <p:nvPr/>
          </p:nvSpPr>
          <p:spPr>
            <a:xfrm>
              <a:off x="1493405" y="4360926"/>
              <a:ext cx="297180" cy="280035"/>
            </a:xfrm>
            <a:custGeom>
              <a:avLst/>
              <a:gdLst/>
              <a:ahLst/>
              <a:cxnLst/>
              <a:rect l="l" t="t" r="r" b="b"/>
              <a:pathLst>
                <a:path w="297180" h="280035">
                  <a:moveTo>
                    <a:pt x="297180" y="279653"/>
                  </a:moveTo>
                  <a:lnTo>
                    <a:pt x="297180" y="0"/>
                  </a:lnTo>
                  <a:lnTo>
                    <a:pt x="0" y="0"/>
                  </a:lnTo>
                  <a:lnTo>
                    <a:pt x="0" y="279653"/>
                  </a:lnTo>
                  <a:lnTo>
                    <a:pt x="297180" y="279653"/>
                  </a:lnTo>
                  <a:close/>
                </a:path>
              </a:pathLst>
            </a:custGeom>
            <a:solidFill>
              <a:srgbClr val="FFFFFF"/>
            </a:solidFill>
          </p:spPr>
          <p:txBody>
            <a:bodyPr wrap="square" lIns="0" tIns="0" rIns="0" bIns="0" rtlCol="0"/>
            <a:lstStyle/>
            <a:p>
              <a:endParaRPr/>
            </a:p>
          </p:txBody>
        </p:sp>
      </p:grpSp>
      <p:sp>
        <p:nvSpPr>
          <p:cNvPr id="10" name="object 10"/>
          <p:cNvSpPr txBox="1"/>
          <p:nvPr/>
        </p:nvSpPr>
        <p:spPr>
          <a:xfrm>
            <a:off x="1486796" y="4330788"/>
            <a:ext cx="322580" cy="305435"/>
          </a:xfrm>
          <a:prstGeom prst="rect">
            <a:avLst/>
          </a:prstGeom>
        </p:spPr>
        <p:txBody>
          <a:bodyPr vert="horz" wrap="square" lIns="0" tIns="17145" rIns="0" bIns="0" rtlCol="0">
            <a:spAutoFit/>
          </a:bodyPr>
          <a:lstStyle/>
          <a:p>
            <a:pPr marL="12700">
              <a:lnSpc>
                <a:spcPct val="100000"/>
              </a:lnSpc>
              <a:spcBef>
                <a:spcPts val="135"/>
              </a:spcBef>
            </a:pPr>
            <a:r>
              <a:rPr sz="1800" spc="-25" dirty="0">
                <a:latin typeface="Times New Roman"/>
                <a:cs typeface="Times New Roman"/>
              </a:rPr>
              <a:t>in0</a:t>
            </a:r>
            <a:endParaRPr sz="1800">
              <a:latin typeface="Times New Roman"/>
              <a:cs typeface="Times New Roman"/>
            </a:endParaRPr>
          </a:p>
        </p:txBody>
      </p:sp>
      <p:grpSp>
        <p:nvGrpSpPr>
          <p:cNvPr id="11" name="object 11"/>
          <p:cNvGrpSpPr/>
          <p:nvPr/>
        </p:nvGrpSpPr>
        <p:grpSpPr>
          <a:xfrm>
            <a:off x="1311287" y="4911852"/>
            <a:ext cx="673735" cy="280035"/>
            <a:chOff x="1311287" y="4911852"/>
            <a:chExt cx="673735" cy="280035"/>
          </a:xfrm>
        </p:grpSpPr>
        <p:sp>
          <p:nvSpPr>
            <p:cNvPr id="12" name="object 12"/>
            <p:cNvSpPr/>
            <p:nvPr/>
          </p:nvSpPr>
          <p:spPr>
            <a:xfrm>
              <a:off x="1311287" y="5051298"/>
              <a:ext cx="459740" cy="0"/>
            </a:xfrm>
            <a:custGeom>
              <a:avLst/>
              <a:gdLst/>
              <a:ahLst/>
              <a:cxnLst/>
              <a:rect l="l" t="t" r="r" b="b"/>
              <a:pathLst>
                <a:path w="459739">
                  <a:moveTo>
                    <a:pt x="0" y="0"/>
                  </a:moveTo>
                  <a:lnTo>
                    <a:pt x="459486" y="0"/>
                  </a:lnTo>
                </a:path>
              </a:pathLst>
            </a:custGeom>
            <a:ln w="29057">
              <a:solidFill>
                <a:srgbClr val="000000"/>
              </a:solidFill>
            </a:ln>
          </p:spPr>
          <p:txBody>
            <a:bodyPr wrap="square" lIns="0" tIns="0" rIns="0" bIns="0" rtlCol="0"/>
            <a:lstStyle/>
            <a:p>
              <a:endParaRPr/>
            </a:p>
          </p:txBody>
        </p:sp>
        <p:sp>
          <p:nvSpPr>
            <p:cNvPr id="13" name="object 13"/>
            <p:cNvSpPr/>
            <p:nvPr/>
          </p:nvSpPr>
          <p:spPr>
            <a:xfrm>
              <a:off x="1751723" y="4973574"/>
              <a:ext cx="233679" cy="156210"/>
            </a:xfrm>
            <a:custGeom>
              <a:avLst/>
              <a:gdLst/>
              <a:ahLst/>
              <a:cxnLst/>
              <a:rect l="l" t="t" r="r" b="b"/>
              <a:pathLst>
                <a:path w="233680" h="156210">
                  <a:moveTo>
                    <a:pt x="233172" y="77723"/>
                  </a:moveTo>
                  <a:lnTo>
                    <a:pt x="0" y="0"/>
                  </a:lnTo>
                  <a:lnTo>
                    <a:pt x="0" y="156210"/>
                  </a:lnTo>
                  <a:lnTo>
                    <a:pt x="233172" y="77723"/>
                  </a:lnTo>
                  <a:close/>
                </a:path>
              </a:pathLst>
            </a:custGeom>
            <a:solidFill>
              <a:srgbClr val="000000"/>
            </a:solidFill>
          </p:spPr>
          <p:txBody>
            <a:bodyPr wrap="square" lIns="0" tIns="0" rIns="0" bIns="0" rtlCol="0"/>
            <a:lstStyle/>
            <a:p>
              <a:endParaRPr/>
            </a:p>
          </p:txBody>
        </p:sp>
        <p:sp>
          <p:nvSpPr>
            <p:cNvPr id="14" name="object 14"/>
            <p:cNvSpPr/>
            <p:nvPr/>
          </p:nvSpPr>
          <p:spPr>
            <a:xfrm>
              <a:off x="1499501" y="4911852"/>
              <a:ext cx="297180" cy="280035"/>
            </a:xfrm>
            <a:custGeom>
              <a:avLst/>
              <a:gdLst/>
              <a:ahLst/>
              <a:cxnLst/>
              <a:rect l="l" t="t" r="r" b="b"/>
              <a:pathLst>
                <a:path w="297180" h="280035">
                  <a:moveTo>
                    <a:pt x="297180" y="279653"/>
                  </a:moveTo>
                  <a:lnTo>
                    <a:pt x="297180" y="0"/>
                  </a:lnTo>
                  <a:lnTo>
                    <a:pt x="0" y="0"/>
                  </a:lnTo>
                  <a:lnTo>
                    <a:pt x="0" y="279653"/>
                  </a:lnTo>
                  <a:lnTo>
                    <a:pt x="297180" y="279653"/>
                  </a:lnTo>
                  <a:close/>
                </a:path>
              </a:pathLst>
            </a:custGeom>
            <a:solidFill>
              <a:srgbClr val="FFFFFF"/>
            </a:solidFill>
          </p:spPr>
          <p:txBody>
            <a:bodyPr wrap="square" lIns="0" tIns="0" rIns="0" bIns="0" rtlCol="0"/>
            <a:lstStyle/>
            <a:p>
              <a:endParaRPr/>
            </a:p>
          </p:txBody>
        </p:sp>
      </p:grpSp>
      <p:sp>
        <p:nvSpPr>
          <p:cNvPr id="15" name="object 15"/>
          <p:cNvSpPr txBox="1"/>
          <p:nvPr/>
        </p:nvSpPr>
        <p:spPr>
          <a:xfrm>
            <a:off x="1492129" y="4881714"/>
            <a:ext cx="323215" cy="305435"/>
          </a:xfrm>
          <a:prstGeom prst="rect">
            <a:avLst/>
          </a:prstGeom>
        </p:spPr>
        <p:txBody>
          <a:bodyPr vert="horz" wrap="square" lIns="0" tIns="17145" rIns="0" bIns="0" rtlCol="0">
            <a:spAutoFit/>
          </a:bodyPr>
          <a:lstStyle/>
          <a:p>
            <a:pPr marL="12700">
              <a:lnSpc>
                <a:spcPct val="100000"/>
              </a:lnSpc>
              <a:spcBef>
                <a:spcPts val="135"/>
              </a:spcBef>
            </a:pPr>
            <a:r>
              <a:rPr sz="1800" spc="-25" dirty="0">
                <a:latin typeface="Times New Roman"/>
                <a:cs typeface="Times New Roman"/>
              </a:rPr>
              <a:t>in1</a:t>
            </a:r>
            <a:endParaRPr sz="1800">
              <a:latin typeface="Times New Roman"/>
              <a:cs typeface="Times New Roman"/>
            </a:endParaRPr>
          </a:p>
        </p:txBody>
      </p:sp>
      <p:sp>
        <p:nvSpPr>
          <p:cNvPr id="16" name="object 16"/>
          <p:cNvSpPr/>
          <p:nvPr/>
        </p:nvSpPr>
        <p:spPr>
          <a:xfrm>
            <a:off x="2930537" y="4363211"/>
            <a:ext cx="198120" cy="0"/>
          </a:xfrm>
          <a:custGeom>
            <a:avLst/>
            <a:gdLst/>
            <a:ahLst/>
            <a:cxnLst/>
            <a:rect l="l" t="t" r="r" b="b"/>
            <a:pathLst>
              <a:path w="198119">
                <a:moveTo>
                  <a:pt x="0" y="0"/>
                </a:moveTo>
                <a:lnTo>
                  <a:pt x="198119" y="0"/>
                </a:lnTo>
              </a:path>
            </a:pathLst>
          </a:custGeom>
          <a:ln w="29057">
            <a:solidFill>
              <a:srgbClr val="000000"/>
            </a:solidFill>
          </a:ln>
        </p:spPr>
        <p:txBody>
          <a:bodyPr wrap="square" lIns="0" tIns="0" rIns="0" bIns="0" rtlCol="0"/>
          <a:lstStyle/>
          <a:p>
            <a:endParaRPr/>
          </a:p>
        </p:txBody>
      </p:sp>
      <p:grpSp>
        <p:nvGrpSpPr>
          <p:cNvPr id="17" name="object 17"/>
          <p:cNvGrpSpPr/>
          <p:nvPr/>
        </p:nvGrpSpPr>
        <p:grpSpPr>
          <a:xfrm>
            <a:off x="3309251" y="4284726"/>
            <a:ext cx="198120" cy="156210"/>
            <a:chOff x="3309251" y="4284726"/>
            <a:chExt cx="198120" cy="156210"/>
          </a:xfrm>
        </p:grpSpPr>
        <p:sp>
          <p:nvSpPr>
            <p:cNvPr id="18" name="object 18"/>
            <p:cNvSpPr/>
            <p:nvPr/>
          </p:nvSpPr>
          <p:spPr>
            <a:xfrm>
              <a:off x="3309251" y="4363212"/>
              <a:ext cx="80010" cy="0"/>
            </a:xfrm>
            <a:custGeom>
              <a:avLst/>
              <a:gdLst/>
              <a:ahLst/>
              <a:cxnLst/>
              <a:rect l="l" t="t" r="r" b="b"/>
              <a:pathLst>
                <a:path w="80010">
                  <a:moveTo>
                    <a:pt x="0" y="0"/>
                  </a:moveTo>
                  <a:lnTo>
                    <a:pt x="80010" y="0"/>
                  </a:lnTo>
                </a:path>
              </a:pathLst>
            </a:custGeom>
            <a:ln w="29057">
              <a:solidFill>
                <a:srgbClr val="000000"/>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3351923" y="4284726"/>
              <a:ext cx="155448" cy="156210"/>
            </a:xfrm>
            <a:prstGeom prst="rect">
              <a:avLst/>
            </a:prstGeom>
          </p:spPr>
        </p:pic>
      </p:grpSp>
      <p:sp>
        <p:nvSpPr>
          <p:cNvPr id="20" name="object 20"/>
          <p:cNvSpPr/>
          <p:nvPr/>
        </p:nvSpPr>
        <p:spPr>
          <a:xfrm>
            <a:off x="2930537" y="4771644"/>
            <a:ext cx="179070" cy="0"/>
          </a:xfrm>
          <a:custGeom>
            <a:avLst/>
            <a:gdLst/>
            <a:ahLst/>
            <a:cxnLst/>
            <a:rect l="l" t="t" r="r" b="b"/>
            <a:pathLst>
              <a:path w="179069">
                <a:moveTo>
                  <a:pt x="0" y="0"/>
                </a:moveTo>
                <a:lnTo>
                  <a:pt x="179069" y="0"/>
                </a:lnTo>
              </a:path>
            </a:pathLst>
          </a:custGeom>
          <a:ln w="29057">
            <a:solidFill>
              <a:srgbClr val="000000"/>
            </a:solidFill>
          </a:ln>
        </p:spPr>
        <p:txBody>
          <a:bodyPr wrap="square" lIns="0" tIns="0" rIns="0" bIns="0" rtlCol="0"/>
          <a:lstStyle/>
          <a:p>
            <a:endParaRPr/>
          </a:p>
        </p:txBody>
      </p:sp>
      <p:grpSp>
        <p:nvGrpSpPr>
          <p:cNvPr id="21" name="object 21"/>
          <p:cNvGrpSpPr/>
          <p:nvPr/>
        </p:nvGrpSpPr>
        <p:grpSpPr>
          <a:xfrm>
            <a:off x="3329063" y="4693920"/>
            <a:ext cx="178435" cy="156210"/>
            <a:chOff x="3329063" y="4693920"/>
            <a:chExt cx="178435" cy="156210"/>
          </a:xfrm>
        </p:grpSpPr>
        <p:sp>
          <p:nvSpPr>
            <p:cNvPr id="22" name="object 22"/>
            <p:cNvSpPr/>
            <p:nvPr/>
          </p:nvSpPr>
          <p:spPr>
            <a:xfrm>
              <a:off x="3329063" y="4771644"/>
              <a:ext cx="60325" cy="0"/>
            </a:xfrm>
            <a:custGeom>
              <a:avLst/>
              <a:gdLst/>
              <a:ahLst/>
              <a:cxnLst/>
              <a:rect l="l" t="t" r="r" b="b"/>
              <a:pathLst>
                <a:path w="60325">
                  <a:moveTo>
                    <a:pt x="0" y="0"/>
                  </a:moveTo>
                  <a:lnTo>
                    <a:pt x="60198" y="0"/>
                  </a:lnTo>
                </a:path>
              </a:pathLst>
            </a:custGeom>
            <a:ln w="29057">
              <a:solidFill>
                <a:srgbClr val="000000"/>
              </a:solidFill>
            </a:ln>
          </p:spPr>
          <p:txBody>
            <a:bodyPr wrap="square" lIns="0" tIns="0" rIns="0" bIns="0" rtlCol="0"/>
            <a:lstStyle/>
            <a:p>
              <a:endParaRPr/>
            </a:p>
          </p:txBody>
        </p:sp>
        <p:pic>
          <p:nvPicPr>
            <p:cNvPr id="23" name="object 23"/>
            <p:cNvPicPr/>
            <p:nvPr/>
          </p:nvPicPr>
          <p:blipFill>
            <a:blip r:embed="rId3" cstate="print"/>
            <a:stretch>
              <a:fillRect/>
            </a:stretch>
          </p:blipFill>
          <p:spPr>
            <a:xfrm>
              <a:off x="3351923" y="4693920"/>
              <a:ext cx="155448" cy="156210"/>
            </a:xfrm>
            <a:prstGeom prst="rect">
              <a:avLst/>
            </a:prstGeom>
          </p:spPr>
        </p:pic>
      </p:grpSp>
      <p:sp>
        <p:nvSpPr>
          <p:cNvPr id="24" name="object 24"/>
          <p:cNvSpPr/>
          <p:nvPr/>
        </p:nvSpPr>
        <p:spPr>
          <a:xfrm>
            <a:off x="2930537" y="5189220"/>
            <a:ext cx="224154" cy="0"/>
          </a:xfrm>
          <a:custGeom>
            <a:avLst/>
            <a:gdLst/>
            <a:ahLst/>
            <a:cxnLst/>
            <a:rect l="l" t="t" r="r" b="b"/>
            <a:pathLst>
              <a:path w="224155">
                <a:moveTo>
                  <a:pt x="0" y="0"/>
                </a:moveTo>
                <a:lnTo>
                  <a:pt x="224027" y="0"/>
                </a:lnTo>
              </a:path>
            </a:pathLst>
          </a:custGeom>
          <a:ln w="29057">
            <a:solidFill>
              <a:srgbClr val="000000"/>
            </a:solidFill>
          </a:ln>
        </p:spPr>
        <p:txBody>
          <a:bodyPr wrap="square" lIns="0" tIns="0" rIns="0" bIns="0" rtlCol="0"/>
          <a:lstStyle/>
          <a:p>
            <a:endParaRPr/>
          </a:p>
        </p:txBody>
      </p:sp>
      <p:grpSp>
        <p:nvGrpSpPr>
          <p:cNvPr id="25" name="object 25"/>
          <p:cNvGrpSpPr/>
          <p:nvPr/>
        </p:nvGrpSpPr>
        <p:grpSpPr>
          <a:xfrm>
            <a:off x="3283343" y="5111496"/>
            <a:ext cx="224154" cy="156210"/>
            <a:chOff x="3283343" y="5111496"/>
            <a:chExt cx="224154" cy="156210"/>
          </a:xfrm>
        </p:grpSpPr>
        <p:sp>
          <p:nvSpPr>
            <p:cNvPr id="26" name="object 26"/>
            <p:cNvSpPr/>
            <p:nvPr/>
          </p:nvSpPr>
          <p:spPr>
            <a:xfrm>
              <a:off x="3283343" y="5189220"/>
              <a:ext cx="106045" cy="0"/>
            </a:xfrm>
            <a:custGeom>
              <a:avLst/>
              <a:gdLst/>
              <a:ahLst/>
              <a:cxnLst/>
              <a:rect l="l" t="t" r="r" b="b"/>
              <a:pathLst>
                <a:path w="106045">
                  <a:moveTo>
                    <a:pt x="0" y="0"/>
                  </a:moveTo>
                  <a:lnTo>
                    <a:pt x="105918" y="0"/>
                  </a:lnTo>
                </a:path>
              </a:pathLst>
            </a:custGeom>
            <a:ln w="29057">
              <a:solidFill>
                <a:srgbClr val="000000"/>
              </a:solidFill>
            </a:ln>
          </p:spPr>
          <p:txBody>
            <a:bodyPr wrap="square" lIns="0" tIns="0" rIns="0" bIns="0" rtlCol="0"/>
            <a:lstStyle/>
            <a:p>
              <a:endParaRPr/>
            </a:p>
          </p:txBody>
        </p:sp>
        <p:pic>
          <p:nvPicPr>
            <p:cNvPr id="27" name="object 27"/>
            <p:cNvPicPr/>
            <p:nvPr/>
          </p:nvPicPr>
          <p:blipFill>
            <a:blip r:embed="rId3" cstate="print"/>
            <a:stretch>
              <a:fillRect/>
            </a:stretch>
          </p:blipFill>
          <p:spPr>
            <a:xfrm>
              <a:off x="3351923" y="5111496"/>
              <a:ext cx="155448" cy="156210"/>
            </a:xfrm>
            <a:prstGeom prst="rect">
              <a:avLst/>
            </a:prstGeom>
          </p:spPr>
        </p:pic>
      </p:grpSp>
      <p:sp>
        <p:nvSpPr>
          <p:cNvPr id="28" name="object 28"/>
          <p:cNvSpPr txBox="1"/>
          <p:nvPr/>
        </p:nvSpPr>
        <p:spPr>
          <a:xfrm>
            <a:off x="3102235" y="4063372"/>
            <a:ext cx="247650" cy="1261110"/>
          </a:xfrm>
          <a:prstGeom prst="rect">
            <a:avLst/>
          </a:prstGeom>
        </p:spPr>
        <p:txBody>
          <a:bodyPr vert="horz" wrap="square" lIns="0" tIns="7620" rIns="0" bIns="0" rtlCol="0">
            <a:spAutoFit/>
          </a:bodyPr>
          <a:lstStyle/>
          <a:p>
            <a:pPr marL="12700" marR="5080" indent="19050" algn="just">
              <a:lnSpc>
                <a:spcPct val="150600"/>
              </a:lnSpc>
              <a:spcBef>
                <a:spcPts val="60"/>
              </a:spcBef>
            </a:pPr>
            <a:r>
              <a:rPr sz="1800" spc="-25" dirty="0">
                <a:latin typeface="Times New Roman"/>
                <a:cs typeface="Times New Roman"/>
              </a:rPr>
              <a:t>gt eq lt</a:t>
            </a:r>
            <a:endParaRPr sz="1800">
              <a:latin typeface="Times New Roman"/>
              <a:cs typeface="Times New Roman"/>
            </a:endParaRPr>
          </a:p>
        </p:txBody>
      </p:sp>
      <p:sp>
        <p:nvSpPr>
          <p:cNvPr id="29" name="object 2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03" y="771905"/>
            <a:ext cx="10692130" cy="5743575"/>
            <a:chOff x="1403" y="771905"/>
            <a:chExt cx="10692130" cy="5743575"/>
          </a:xfrm>
        </p:grpSpPr>
        <p:sp>
          <p:nvSpPr>
            <p:cNvPr id="3" name="object 3"/>
            <p:cNvSpPr/>
            <p:nvPr/>
          </p:nvSpPr>
          <p:spPr>
            <a:xfrm>
              <a:off x="7011047" y="912875"/>
              <a:ext cx="3367404" cy="5594350"/>
            </a:xfrm>
            <a:custGeom>
              <a:avLst/>
              <a:gdLst/>
              <a:ahLst/>
              <a:cxnLst/>
              <a:rect l="l" t="t" r="r" b="b"/>
              <a:pathLst>
                <a:path w="3367404" h="5594350">
                  <a:moveTo>
                    <a:pt x="3367278" y="5593842"/>
                  </a:moveTo>
                  <a:lnTo>
                    <a:pt x="3367278" y="0"/>
                  </a:lnTo>
                  <a:lnTo>
                    <a:pt x="0" y="0"/>
                  </a:lnTo>
                  <a:lnTo>
                    <a:pt x="0" y="5593842"/>
                  </a:lnTo>
                  <a:lnTo>
                    <a:pt x="3367278" y="5593842"/>
                  </a:lnTo>
                  <a:close/>
                </a:path>
              </a:pathLst>
            </a:custGeom>
            <a:solidFill>
              <a:srgbClr val="F9FABA"/>
            </a:solidFill>
          </p:spPr>
          <p:txBody>
            <a:bodyPr wrap="square" lIns="0" tIns="0" rIns="0" bIns="0" rtlCol="0"/>
            <a:lstStyle/>
            <a:p>
              <a:endParaRPr/>
            </a:p>
          </p:txBody>
        </p:sp>
        <p:sp>
          <p:nvSpPr>
            <p:cNvPr id="4" name="object 4"/>
            <p:cNvSpPr/>
            <p:nvPr/>
          </p:nvSpPr>
          <p:spPr>
            <a:xfrm>
              <a:off x="7002665" y="904493"/>
              <a:ext cx="3384550" cy="5610860"/>
            </a:xfrm>
            <a:custGeom>
              <a:avLst/>
              <a:gdLst/>
              <a:ahLst/>
              <a:cxnLst/>
              <a:rect l="l" t="t" r="r" b="b"/>
              <a:pathLst>
                <a:path w="3384550" h="5610859">
                  <a:moveTo>
                    <a:pt x="3384041" y="5606795"/>
                  </a:moveTo>
                  <a:lnTo>
                    <a:pt x="3384041" y="3809"/>
                  </a:lnTo>
                  <a:lnTo>
                    <a:pt x="3380232" y="0"/>
                  </a:lnTo>
                  <a:lnTo>
                    <a:pt x="3809" y="0"/>
                  </a:lnTo>
                  <a:lnTo>
                    <a:pt x="0" y="3809"/>
                  </a:lnTo>
                  <a:lnTo>
                    <a:pt x="0" y="5606795"/>
                  </a:lnTo>
                  <a:lnTo>
                    <a:pt x="3810" y="5610606"/>
                  </a:lnTo>
                  <a:lnTo>
                    <a:pt x="8382" y="5610606"/>
                  </a:lnTo>
                  <a:lnTo>
                    <a:pt x="8382" y="16763"/>
                  </a:lnTo>
                  <a:lnTo>
                    <a:pt x="16763" y="8381"/>
                  </a:lnTo>
                  <a:lnTo>
                    <a:pt x="16763" y="16763"/>
                  </a:lnTo>
                  <a:lnTo>
                    <a:pt x="3367278" y="16763"/>
                  </a:lnTo>
                  <a:lnTo>
                    <a:pt x="3367278" y="8381"/>
                  </a:lnTo>
                  <a:lnTo>
                    <a:pt x="3375660" y="16763"/>
                  </a:lnTo>
                  <a:lnTo>
                    <a:pt x="3375660" y="5610606"/>
                  </a:lnTo>
                  <a:lnTo>
                    <a:pt x="3380232" y="5610606"/>
                  </a:lnTo>
                  <a:lnTo>
                    <a:pt x="3384041" y="5606795"/>
                  </a:lnTo>
                  <a:close/>
                </a:path>
                <a:path w="3384550" h="5610859">
                  <a:moveTo>
                    <a:pt x="16763" y="16763"/>
                  </a:moveTo>
                  <a:lnTo>
                    <a:pt x="16763" y="8381"/>
                  </a:lnTo>
                  <a:lnTo>
                    <a:pt x="8382" y="16763"/>
                  </a:lnTo>
                  <a:lnTo>
                    <a:pt x="16763" y="16763"/>
                  </a:lnTo>
                  <a:close/>
                </a:path>
                <a:path w="3384550" h="5610859">
                  <a:moveTo>
                    <a:pt x="16764" y="5593842"/>
                  </a:moveTo>
                  <a:lnTo>
                    <a:pt x="16763" y="16763"/>
                  </a:lnTo>
                  <a:lnTo>
                    <a:pt x="8382" y="16763"/>
                  </a:lnTo>
                  <a:lnTo>
                    <a:pt x="8382" y="5593842"/>
                  </a:lnTo>
                  <a:lnTo>
                    <a:pt x="16764" y="5593842"/>
                  </a:lnTo>
                  <a:close/>
                </a:path>
                <a:path w="3384550" h="5610859">
                  <a:moveTo>
                    <a:pt x="3375660" y="5593842"/>
                  </a:moveTo>
                  <a:lnTo>
                    <a:pt x="8382" y="5593842"/>
                  </a:lnTo>
                  <a:lnTo>
                    <a:pt x="16764" y="5602223"/>
                  </a:lnTo>
                  <a:lnTo>
                    <a:pt x="16764" y="5610606"/>
                  </a:lnTo>
                  <a:lnTo>
                    <a:pt x="3367278" y="5610606"/>
                  </a:lnTo>
                  <a:lnTo>
                    <a:pt x="3367278" y="5602223"/>
                  </a:lnTo>
                  <a:lnTo>
                    <a:pt x="3375660" y="5593842"/>
                  </a:lnTo>
                  <a:close/>
                </a:path>
                <a:path w="3384550" h="5610859">
                  <a:moveTo>
                    <a:pt x="16764" y="5610606"/>
                  </a:moveTo>
                  <a:lnTo>
                    <a:pt x="16764" y="5602223"/>
                  </a:lnTo>
                  <a:lnTo>
                    <a:pt x="8382" y="5593842"/>
                  </a:lnTo>
                  <a:lnTo>
                    <a:pt x="8382" y="5610606"/>
                  </a:lnTo>
                  <a:lnTo>
                    <a:pt x="16764" y="5610606"/>
                  </a:lnTo>
                  <a:close/>
                </a:path>
                <a:path w="3384550" h="5610859">
                  <a:moveTo>
                    <a:pt x="3375660" y="16763"/>
                  </a:moveTo>
                  <a:lnTo>
                    <a:pt x="3367278" y="8381"/>
                  </a:lnTo>
                  <a:lnTo>
                    <a:pt x="3367278" y="16763"/>
                  </a:lnTo>
                  <a:lnTo>
                    <a:pt x="3375660" y="16763"/>
                  </a:lnTo>
                  <a:close/>
                </a:path>
                <a:path w="3384550" h="5610859">
                  <a:moveTo>
                    <a:pt x="3375660" y="5593842"/>
                  </a:moveTo>
                  <a:lnTo>
                    <a:pt x="3375660" y="16763"/>
                  </a:lnTo>
                  <a:lnTo>
                    <a:pt x="3367278" y="16763"/>
                  </a:lnTo>
                  <a:lnTo>
                    <a:pt x="3367278" y="5593842"/>
                  </a:lnTo>
                  <a:lnTo>
                    <a:pt x="3375660" y="5593842"/>
                  </a:lnTo>
                  <a:close/>
                </a:path>
                <a:path w="3384550" h="5610859">
                  <a:moveTo>
                    <a:pt x="3375660" y="5610606"/>
                  </a:moveTo>
                  <a:lnTo>
                    <a:pt x="3375660" y="5593842"/>
                  </a:lnTo>
                  <a:lnTo>
                    <a:pt x="3367278" y="5602223"/>
                  </a:lnTo>
                  <a:lnTo>
                    <a:pt x="3367278" y="5610606"/>
                  </a:lnTo>
                  <a:lnTo>
                    <a:pt x="3375660" y="5610606"/>
                  </a:lnTo>
                  <a:close/>
                </a:path>
              </a:pathLst>
            </a:custGeom>
            <a:solidFill>
              <a:srgbClr val="000000"/>
            </a:solidFill>
          </p:spPr>
          <p:txBody>
            <a:bodyPr wrap="square" lIns="0" tIns="0" rIns="0" bIns="0" rtlCol="0"/>
            <a:lstStyle/>
            <a:p>
              <a:endParaRPr/>
            </a:p>
          </p:txBody>
        </p:sp>
      </p:grpSp>
      <p:sp>
        <p:nvSpPr>
          <p:cNvPr id="5" name="object 5"/>
          <p:cNvSpPr txBox="1"/>
          <p:nvPr/>
        </p:nvSpPr>
        <p:spPr>
          <a:xfrm>
            <a:off x="7141343" y="907484"/>
            <a:ext cx="2806065" cy="603250"/>
          </a:xfrm>
          <a:prstGeom prst="rect">
            <a:avLst/>
          </a:prstGeom>
        </p:spPr>
        <p:txBody>
          <a:bodyPr vert="horz" wrap="square" lIns="0" tIns="64135" rIns="0" bIns="0" rtlCol="0">
            <a:spAutoFit/>
          </a:bodyPr>
          <a:lstStyle/>
          <a:p>
            <a:pPr>
              <a:lnSpc>
                <a:spcPct val="100000"/>
              </a:lnSpc>
              <a:spcBef>
                <a:spcPts val="505"/>
              </a:spcBef>
            </a:pPr>
            <a:r>
              <a:rPr sz="1550" b="1" dirty="0">
                <a:latin typeface="微软雅黑"/>
                <a:cs typeface="微软雅黑"/>
              </a:rPr>
              <a:t>例</a:t>
            </a:r>
            <a:r>
              <a:rPr sz="1550" b="1" dirty="0">
                <a:latin typeface="Times New Roman"/>
                <a:cs typeface="Times New Roman"/>
              </a:rPr>
              <a:t>3.18</a:t>
            </a:r>
            <a:r>
              <a:rPr sz="1550" b="1" spc="190" dirty="0">
                <a:latin typeface="Times New Roman"/>
                <a:cs typeface="Times New Roman"/>
              </a:rPr>
              <a:t> </a:t>
            </a:r>
            <a:r>
              <a:rPr sz="1550" spc="-5" dirty="0">
                <a:latin typeface="微软雅黑"/>
                <a:cs typeface="微软雅黑"/>
              </a:rPr>
              <a:t>一位二进制比较器的描述</a:t>
            </a:r>
            <a:endParaRPr sz="1550">
              <a:latin typeface="微软雅黑"/>
              <a:cs typeface="微软雅黑"/>
            </a:endParaRPr>
          </a:p>
          <a:p>
            <a:pPr marL="149860">
              <a:lnSpc>
                <a:spcPct val="100000"/>
              </a:lnSpc>
              <a:spcBef>
                <a:spcPts val="415"/>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comp_1</a:t>
            </a:r>
            <a:endParaRPr sz="155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7392051" y="1532650"/>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7" name="object 7"/>
          <p:cNvSpPr txBox="1"/>
          <p:nvPr/>
        </p:nvSpPr>
        <p:spPr>
          <a:xfrm>
            <a:off x="7308301" y="1773138"/>
            <a:ext cx="1698625" cy="4643755"/>
          </a:xfrm>
          <a:prstGeom prst="rect">
            <a:avLst/>
          </a:prstGeom>
        </p:spPr>
        <p:txBody>
          <a:bodyPr vert="horz" wrap="square" lIns="0" tIns="64135" rIns="0" bIns="0" rtlCol="0">
            <a:spAutoFit/>
          </a:bodyPr>
          <a:lstStyle/>
          <a:p>
            <a:pPr marL="97155">
              <a:lnSpc>
                <a:spcPct val="100000"/>
              </a:lnSpc>
              <a:spcBef>
                <a:spcPts val="505"/>
              </a:spcBef>
            </a:pPr>
            <a:r>
              <a:rPr sz="1550" b="1" dirty="0">
                <a:latin typeface="Times New Roman"/>
                <a:cs typeface="Times New Roman"/>
              </a:rPr>
              <a:t>input</a:t>
            </a:r>
            <a:r>
              <a:rPr sz="1550" b="1" spc="450" dirty="0">
                <a:latin typeface="Times New Roman"/>
                <a:cs typeface="Times New Roman"/>
              </a:rPr>
              <a:t> </a:t>
            </a:r>
            <a:r>
              <a:rPr sz="1550" spc="-10" dirty="0">
                <a:latin typeface="Times New Roman"/>
                <a:cs typeface="Times New Roman"/>
              </a:rPr>
              <a:t>in0,in1,</a:t>
            </a:r>
            <a:endParaRPr sz="1550">
              <a:latin typeface="Times New Roman"/>
              <a:cs typeface="Times New Roman"/>
            </a:endParaRPr>
          </a:p>
          <a:p>
            <a:pPr marL="97155">
              <a:lnSpc>
                <a:spcPct val="100000"/>
              </a:lnSpc>
              <a:spcBef>
                <a:spcPts val="415"/>
              </a:spcBef>
            </a:pPr>
            <a:r>
              <a:rPr sz="1550" b="1" dirty="0">
                <a:latin typeface="Times New Roman"/>
                <a:cs typeface="Times New Roman"/>
              </a:rPr>
              <a:t>output</a:t>
            </a:r>
            <a:r>
              <a:rPr sz="1550" b="1" spc="409" dirty="0">
                <a:latin typeface="Times New Roman"/>
                <a:cs typeface="Times New Roman"/>
              </a:rPr>
              <a:t> </a:t>
            </a:r>
            <a:r>
              <a:rPr sz="1550" b="1" dirty="0">
                <a:latin typeface="Times New Roman"/>
                <a:cs typeface="Times New Roman"/>
              </a:rPr>
              <a:t>reg</a:t>
            </a:r>
            <a:r>
              <a:rPr sz="1550" b="1" spc="420" dirty="0">
                <a:latin typeface="Times New Roman"/>
                <a:cs typeface="Times New Roman"/>
              </a:rPr>
              <a:t> </a:t>
            </a:r>
            <a:r>
              <a:rPr sz="1550" spc="-10" dirty="0">
                <a:latin typeface="Times New Roman"/>
                <a:cs typeface="Times New Roman"/>
              </a:rPr>
              <a:t>gt,eq,lt</a:t>
            </a:r>
            <a:endParaRPr sz="1550">
              <a:latin typeface="Times New Roman"/>
              <a:cs typeface="Times New Roman"/>
            </a:endParaRPr>
          </a:p>
          <a:p>
            <a:pPr marL="33020">
              <a:lnSpc>
                <a:spcPct val="100000"/>
              </a:lnSpc>
              <a:spcBef>
                <a:spcPts val="415"/>
              </a:spcBef>
            </a:pPr>
            <a:r>
              <a:rPr sz="1550" spc="-25" dirty="0">
                <a:latin typeface="Times New Roman"/>
                <a:cs typeface="Times New Roman"/>
              </a:rPr>
              <a:t>);</a:t>
            </a:r>
            <a:endParaRPr sz="1550">
              <a:latin typeface="Times New Roman"/>
              <a:cs typeface="Times New Roman"/>
            </a:endParaRPr>
          </a:p>
          <a:p>
            <a:pPr marL="97155">
              <a:lnSpc>
                <a:spcPct val="100000"/>
              </a:lnSpc>
              <a:spcBef>
                <a:spcPts val="409"/>
              </a:spcBef>
            </a:pPr>
            <a:r>
              <a:rPr sz="1550" b="1" dirty="0">
                <a:latin typeface="Times New Roman"/>
                <a:cs typeface="Times New Roman"/>
              </a:rPr>
              <a:t>always</a:t>
            </a:r>
            <a:r>
              <a:rPr sz="1550" b="1" spc="45" dirty="0">
                <a:latin typeface="Times New Roman"/>
                <a:cs typeface="Times New Roman"/>
              </a:rPr>
              <a:t> </a:t>
            </a:r>
            <a:r>
              <a:rPr sz="1550" spc="-25" dirty="0">
                <a:latin typeface="Times New Roman"/>
                <a:cs typeface="Times New Roman"/>
              </a:rPr>
              <a:t>@*</a:t>
            </a:r>
            <a:endParaRPr sz="1550">
              <a:latin typeface="Times New Roman"/>
              <a:cs typeface="Times New Roman"/>
            </a:endParaRPr>
          </a:p>
          <a:p>
            <a:pPr marL="254635">
              <a:lnSpc>
                <a:spcPct val="100000"/>
              </a:lnSpc>
              <a:spcBef>
                <a:spcPts val="409"/>
              </a:spcBef>
            </a:pPr>
            <a:r>
              <a:rPr sz="1550" b="1" spc="-10" dirty="0">
                <a:latin typeface="Times New Roman"/>
                <a:cs typeface="Times New Roman"/>
              </a:rPr>
              <a:t>begin</a:t>
            </a:r>
            <a:endParaRPr sz="1550">
              <a:latin typeface="Times New Roman"/>
              <a:cs typeface="Times New Roman"/>
            </a:endParaRPr>
          </a:p>
          <a:p>
            <a:pPr marL="412750">
              <a:lnSpc>
                <a:spcPct val="100000"/>
              </a:lnSpc>
              <a:spcBef>
                <a:spcPts val="415"/>
              </a:spcBef>
            </a:pPr>
            <a:r>
              <a:rPr sz="1550" dirty="0">
                <a:latin typeface="Times New Roman"/>
                <a:cs typeface="Times New Roman"/>
              </a:rPr>
              <a:t>gt</a:t>
            </a:r>
            <a:r>
              <a:rPr sz="1550" spc="15"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0;</a:t>
            </a:r>
            <a:endParaRPr sz="1550">
              <a:latin typeface="Times New Roman"/>
              <a:cs typeface="Times New Roman"/>
            </a:endParaRPr>
          </a:p>
          <a:p>
            <a:pPr marL="412750">
              <a:lnSpc>
                <a:spcPct val="100000"/>
              </a:lnSpc>
              <a:spcBef>
                <a:spcPts val="415"/>
              </a:spcBef>
            </a:pPr>
            <a:r>
              <a:rPr sz="1550" dirty="0">
                <a:latin typeface="Times New Roman"/>
                <a:cs typeface="Times New Roman"/>
              </a:rPr>
              <a:t>eq</a:t>
            </a:r>
            <a:r>
              <a:rPr sz="1550" spc="15" dirty="0">
                <a:latin typeface="Times New Roman"/>
                <a:cs typeface="Times New Roman"/>
              </a:rPr>
              <a:t> </a:t>
            </a:r>
            <a:r>
              <a:rPr sz="1550" dirty="0">
                <a:latin typeface="Times New Roman"/>
                <a:cs typeface="Times New Roman"/>
              </a:rPr>
              <a:t>=</a:t>
            </a:r>
            <a:r>
              <a:rPr sz="1550" spc="15" dirty="0">
                <a:latin typeface="Times New Roman"/>
                <a:cs typeface="Times New Roman"/>
              </a:rPr>
              <a:t> </a:t>
            </a:r>
            <a:r>
              <a:rPr sz="1550" spc="-25" dirty="0">
                <a:latin typeface="Times New Roman"/>
                <a:cs typeface="Times New Roman"/>
              </a:rPr>
              <a:t>0;</a:t>
            </a:r>
            <a:endParaRPr sz="1550">
              <a:latin typeface="Times New Roman"/>
              <a:cs typeface="Times New Roman"/>
            </a:endParaRPr>
          </a:p>
          <a:p>
            <a:pPr marL="412750">
              <a:lnSpc>
                <a:spcPct val="100000"/>
              </a:lnSpc>
              <a:spcBef>
                <a:spcPts val="409"/>
              </a:spcBef>
            </a:pPr>
            <a:r>
              <a:rPr sz="1550" dirty="0">
                <a:latin typeface="Times New Roman"/>
                <a:cs typeface="Times New Roman"/>
              </a:rPr>
              <a:t>lt</a:t>
            </a:r>
            <a:r>
              <a:rPr sz="1550" spc="15"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0;</a:t>
            </a:r>
            <a:endParaRPr sz="1550">
              <a:latin typeface="Times New Roman"/>
              <a:cs typeface="Times New Roman"/>
            </a:endParaRPr>
          </a:p>
          <a:p>
            <a:pPr marL="497840">
              <a:lnSpc>
                <a:spcPct val="100000"/>
              </a:lnSpc>
              <a:spcBef>
                <a:spcPts val="409"/>
              </a:spcBef>
            </a:pPr>
            <a:r>
              <a:rPr sz="1550" b="1" spc="-10" dirty="0">
                <a:latin typeface="Times New Roman"/>
                <a:cs typeface="Times New Roman"/>
              </a:rPr>
              <a:t>if</a:t>
            </a:r>
            <a:r>
              <a:rPr sz="1550" spc="-10" dirty="0">
                <a:latin typeface="Times New Roman"/>
                <a:cs typeface="Times New Roman"/>
              </a:rPr>
              <a:t>(in0&gt;in1)</a:t>
            </a:r>
            <a:endParaRPr sz="1550">
              <a:latin typeface="Times New Roman"/>
              <a:cs typeface="Times New Roman"/>
            </a:endParaRPr>
          </a:p>
          <a:p>
            <a:pPr marL="497840" marR="196215" indent="74930" algn="ctr">
              <a:lnSpc>
                <a:spcPct val="122200"/>
              </a:lnSpc>
              <a:spcBef>
                <a:spcPts val="5"/>
              </a:spcBef>
            </a:pPr>
            <a:r>
              <a:rPr sz="1550" dirty="0">
                <a:latin typeface="Times New Roman"/>
                <a:cs typeface="Times New Roman"/>
              </a:rPr>
              <a:t>gt</a:t>
            </a:r>
            <a:r>
              <a:rPr sz="1550" spc="15"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spc="-25" dirty="0">
                <a:latin typeface="Times New Roman"/>
                <a:cs typeface="Times New Roman"/>
              </a:rPr>
              <a:t>1; </a:t>
            </a:r>
            <a:r>
              <a:rPr sz="1550" b="1" spc="-10" dirty="0">
                <a:latin typeface="Times New Roman"/>
                <a:cs typeface="Times New Roman"/>
              </a:rPr>
              <a:t>if</a:t>
            </a:r>
            <a:r>
              <a:rPr sz="1550" spc="-10" dirty="0">
                <a:latin typeface="Times New Roman"/>
                <a:cs typeface="Times New Roman"/>
              </a:rPr>
              <a:t>(in0==in1) </a:t>
            </a:r>
            <a:r>
              <a:rPr sz="1550" dirty="0">
                <a:latin typeface="Times New Roman"/>
                <a:cs typeface="Times New Roman"/>
              </a:rPr>
              <a:t>eq</a:t>
            </a:r>
            <a:r>
              <a:rPr sz="1550" spc="15" dirty="0">
                <a:latin typeface="Times New Roman"/>
                <a:cs typeface="Times New Roman"/>
              </a:rPr>
              <a:t> </a:t>
            </a:r>
            <a:r>
              <a:rPr sz="1550" dirty="0">
                <a:latin typeface="Times New Roman"/>
                <a:cs typeface="Times New Roman"/>
              </a:rPr>
              <a:t>=</a:t>
            </a:r>
            <a:r>
              <a:rPr sz="1550" spc="15" dirty="0">
                <a:latin typeface="Times New Roman"/>
                <a:cs typeface="Times New Roman"/>
              </a:rPr>
              <a:t> </a:t>
            </a:r>
            <a:r>
              <a:rPr sz="1550" spc="-25" dirty="0">
                <a:latin typeface="Times New Roman"/>
                <a:cs typeface="Times New Roman"/>
              </a:rPr>
              <a:t>1; </a:t>
            </a:r>
            <a:r>
              <a:rPr sz="1550" b="1" spc="-10" dirty="0">
                <a:latin typeface="Times New Roman"/>
                <a:cs typeface="Times New Roman"/>
              </a:rPr>
              <a:t>if</a:t>
            </a:r>
            <a:r>
              <a:rPr sz="1550" spc="-10" dirty="0">
                <a:latin typeface="Times New Roman"/>
                <a:cs typeface="Times New Roman"/>
              </a:rPr>
              <a:t>(in0&lt;in1)</a:t>
            </a:r>
            <a:endParaRPr sz="1550">
              <a:latin typeface="Times New Roman"/>
              <a:cs typeface="Times New Roman"/>
            </a:endParaRPr>
          </a:p>
          <a:p>
            <a:pPr marL="324485" algn="ctr">
              <a:lnSpc>
                <a:spcPct val="100000"/>
              </a:lnSpc>
              <a:spcBef>
                <a:spcPts val="414"/>
              </a:spcBef>
            </a:pPr>
            <a:r>
              <a:rPr sz="1550" dirty="0">
                <a:latin typeface="Times New Roman"/>
                <a:cs typeface="Times New Roman"/>
              </a:rPr>
              <a:t>lt</a:t>
            </a:r>
            <a:r>
              <a:rPr sz="1550" spc="20"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1;</a:t>
            </a:r>
            <a:endParaRPr sz="1550">
              <a:latin typeface="Times New Roman"/>
              <a:cs typeface="Times New Roman"/>
            </a:endParaRPr>
          </a:p>
          <a:p>
            <a:pPr marR="744220" indent="-24130" algn="ctr">
              <a:lnSpc>
                <a:spcPts val="2270"/>
              </a:lnSpc>
              <a:spcBef>
                <a:spcPts val="105"/>
              </a:spcBef>
            </a:pPr>
            <a:r>
              <a:rPr sz="1550" b="1" spc="-25" dirty="0">
                <a:latin typeface="Times New Roman"/>
                <a:cs typeface="Times New Roman"/>
              </a:rPr>
              <a:t>end </a:t>
            </a:r>
            <a:r>
              <a:rPr sz="1550" b="1" spc="-10" dirty="0">
                <a:latin typeface="Times New Roman"/>
                <a:cs typeface="Times New Roman"/>
              </a:rPr>
              <a:t>endmodule</a:t>
            </a:r>
            <a:endParaRPr sz="1550">
              <a:latin typeface="Times New Roman"/>
              <a:cs typeface="Times New Roman"/>
            </a:endParaRPr>
          </a:p>
        </p:txBody>
      </p:sp>
      <p:sp>
        <p:nvSpPr>
          <p:cNvPr id="8" name="object 8"/>
          <p:cNvSpPr txBox="1">
            <a:spLocks noGrp="1"/>
          </p:cNvSpPr>
          <p:nvPr>
            <p:ph type="title"/>
          </p:nvPr>
        </p:nvSpPr>
        <p:spPr>
          <a:xfrm>
            <a:off x="503815" y="1209548"/>
            <a:ext cx="189738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3.6.2</a:t>
            </a:r>
            <a:r>
              <a:rPr spc="-5" dirty="0">
                <a:latin typeface="Times New Roman"/>
                <a:cs typeface="Times New Roman"/>
              </a:rPr>
              <a:t> </a:t>
            </a:r>
            <a:r>
              <a:rPr spc="-20" dirty="0"/>
              <a:t>比较器</a:t>
            </a:r>
          </a:p>
        </p:txBody>
      </p:sp>
      <p:sp>
        <p:nvSpPr>
          <p:cNvPr id="9" name="object 9"/>
          <p:cNvSpPr txBox="1"/>
          <p:nvPr/>
        </p:nvSpPr>
        <p:spPr>
          <a:xfrm>
            <a:off x="776566" y="3055410"/>
            <a:ext cx="5715635" cy="2030095"/>
          </a:xfrm>
          <a:prstGeom prst="rect">
            <a:avLst/>
          </a:prstGeom>
        </p:spPr>
        <p:txBody>
          <a:bodyPr vert="horz" wrap="square" lIns="0" tIns="12700" rIns="0" bIns="0" rtlCol="0">
            <a:spAutoFit/>
          </a:bodyPr>
          <a:lstStyle/>
          <a:p>
            <a:pPr marL="12700" marR="5080" algn="just">
              <a:lnSpc>
                <a:spcPct val="150300"/>
              </a:lnSpc>
              <a:spcBef>
                <a:spcPts val="100"/>
              </a:spcBef>
            </a:pPr>
            <a:r>
              <a:rPr sz="1750" b="1" dirty="0">
                <a:solidFill>
                  <a:srgbClr val="FF0000"/>
                </a:solidFill>
                <a:latin typeface="微软雅黑"/>
                <a:cs typeface="微软雅黑"/>
              </a:rPr>
              <a:t>注意</a:t>
            </a:r>
            <a:r>
              <a:rPr sz="1750" dirty="0">
                <a:latin typeface="微软雅黑"/>
                <a:cs typeface="微软雅黑"/>
              </a:rPr>
              <a:t>：本设计中，在</a:t>
            </a:r>
            <a:r>
              <a:rPr sz="1750" dirty="0">
                <a:latin typeface="Times New Roman"/>
                <a:cs typeface="Times New Roman"/>
              </a:rPr>
              <a:t>always</a:t>
            </a:r>
            <a:r>
              <a:rPr sz="1750" dirty="0">
                <a:latin typeface="微软雅黑"/>
                <a:cs typeface="微软雅黑"/>
              </a:rPr>
              <a:t>块内</a:t>
            </a:r>
            <a:r>
              <a:rPr sz="1750" dirty="0">
                <a:latin typeface="Times New Roman"/>
                <a:cs typeface="Times New Roman"/>
              </a:rPr>
              <a:t>if</a:t>
            </a:r>
            <a:r>
              <a:rPr sz="1750" dirty="0">
                <a:latin typeface="微软雅黑"/>
                <a:cs typeface="微软雅黑"/>
              </a:rPr>
              <a:t>语句之前，我们对</a:t>
            </a:r>
            <a:r>
              <a:rPr sz="1750" spc="-10" dirty="0">
                <a:latin typeface="Times New Roman"/>
                <a:cs typeface="Times New Roman"/>
              </a:rPr>
              <a:t>gt</a:t>
            </a:r>
            <a:r>
              <a:rPr sz="1750" spc="-10" dirty="0">
                <a:latin typeface="微软雅黑"/>
                <a:cs typeface="微软雅黑"/>
              </a:rPr>
              <a:t>，</a:t>
            </a:r>
            <a:r>
              <a:rPr sz="1750" spc="-10" dirty="0">
                <a:latin typeface="Times New Roman"/>
                <a:cs typeface="Times New Roman"/>
              </a:rPr>
              <a:t>eq</a:t>
            </a:r>
            <a:r>
              <a:rPr sz="1750" dirty="0">
                <a:latin typeface="微软雅黑"/>
                <a:cs typeface="微软雅黑"/>
              </a:rPr>
              <a:t>和</a:t>
            </a:r>
            <a:r>
              <a:rPr sz="1750" dirty="0">
                <a:latin typeface="Times New Roman"/>
                <a:cs typeface="Times New Roman"/>
              </a:rPr>
              <a:t>lt</a:t>
            </a:r>
            <a:r>
              <a:rPr sz="1750" dirty="0">
                <a:latin typeface="微软雅黑"/>
                <a:cs typeface="微软雅黑"/>
              </a:rPr>
              <a:t>都赋值为</a:t>
            </a:r>
            <a:r>
              <a:rPr sz="1750" dirty="0">
                <a:latin typeface="Times New Roman"/>
                <a:cs typeface="Times New Roman"/>
              </a:rPr>
              <a:t>0</a:t>
            </a:r>
            <a:r>
              <a:rPr sz="1750" spc="-5" dirty="0">
                <a:latin typeface="微软雅黑"/>
                <a:cs typeface="微软雅黑"/>
              </a:rPr>
              <a:t>。这样做的重要性是保证每个输出都被分配一个值。如果没有这样做，</a:t>
            </a:r>
            <a:r>
              <a:rPr sz="1750" spc="-30" dirty="0">
                <a:latin typeface="Times New Roman"/>
                <a:cs typeface="Times New Roman"/>
              </a:rPr>
              <a:t>Verilog</a:t>
            </a:r>
            <a:r>
              <a:rPr sz="1750" spc="-5" dirty="0">
                <a:latin typeface="微软雅黑"/>
                <a:cs typeface="微软雅黑"/>
              </a:rPr>
              <a:t>会认为你不想让它们的值改变，系统将会自动生成一个锁存器，那么得到的电路就不再是一个组合电路了。</a:t>
            </a:r>
            <a:endParaRPr sz="1750">
              <a:latin typeface="微软雅黑"/>
              <a:cs typeface="微软雅黑"/>
            </a:endParaRPr>
          </a:p>
        </p:txBody>
      </p:sp>
      <p:sp>
        <p:nvSpPr>
          <p:cNvPr id="10" name="object 10"/>
          <p:cNvSpPr txBox="1"/>
          <p:nvPr/>
        </p:nvSpPr>
        <p:spPr>
          <a:xfrm>
            <a:off x="776611" y="2158238"/>
            <a:ext cx="3736975" cy="34671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dirty="0">
                <a:latin typeface="微软雅黑"/>
                <a:cs typeface="微软雅黑"/>
              </a:rPr>
              <a:t>例</a:t>
            </a:r>
            <a:r>
              <a:rPr sz="2100" dirty="0">
                <a:latin typeface="Times New Roman"/>
                <a:cs typeface="Times New Roman"/>
              </a:rPr>
              <a:t>3.18</a:t>
            </a:r>
            <a:r>
              <a:rPr sz="2100" dirty="0">
                <a:latin typeface="微软雅黑"/>
                <a:cs typeface="微软雅黑"/>
              </a:rPr>
              <a:t>是其</a:t>
            </a:r>
            <a:r>
              <a:rPr sz="2100" spc="-30" dirty="0">
                <a:latin typeface="Times New Roman"/>
                <a:cs typeface="Times New Roman"/>
              </a:rPr>
              <a:t>Verilog</a:t>
            </a:r>
            <a:r>
              <a:rPr sz="2100" spc="-65" dirty="0">
                <a:latin typeface="Times New Roman"/>
                <a:cs typeface="Times New Roman"/>
              </a:rPr>
              <a:t> </a:t>
            </a:r>
            <a:r>
              <a:rPr sz="2100" spc="-10" dirty="0">
                <a:latin typeface="Times New Roman"/>
                <a:cs typeface="Times New Roman"/>
              </a:rPr>
              <a:t>HDL</a:t>
            </a:r>
            <a:r>
              <a:rPr sz="2100" spc="-20" dirty="0">
                <a:latin typeface="微软雅黑"/>
                <a:cs typeface="微软雅黑"/>
              </a:rPr>
              <a:t>描述。</a:t>
            </a:r>
            <a:endParaRPr sz="2100">
              <a:latin typeface="微软雅黑"/>
              <a:cs typeface="微软雅黑"/>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35849" y="2529840"/>
            <a:ext cx="7714556" cy="3392423"/>
          </a:xfrm>
          <a:prstGeom prst="rect">
            <a:avLst/>
          </a:prstGeom>
        </p:spPr>
      </p:pic>
      <p:sp>
        <p:nvSpPr>
          <p:cNvPr id="3" name="object 3"/>
          <p:cNvSpPr txBox="1">
            <a:spLocks noGrp="1"/>
          </p:cNvSpPr>
          <p:nvPr>
            <p:ph type="title"/>
          </p:nvPr>
        </p:nvSpPr>
        <p:spPr>
          <a:xfrm>
            <a:off x="432949" y="1195069"/>
            <a:ext cx="189738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3.6.2</a:t>
            </a:r>
            <a:r>
              <a:rPr spc="-5" dirty="0">
                <a:latin typeface="Times New Roman"/>
                <a:cs typeface="Times New Roman"/>
              </a:rPr>
              <a:t> </a:t>
            </a:r>
            <a:r>
              <a:rPr spc="-20" dirty="0"/>
              <a:t>比较器</a:t>
            </a: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p:nvPr/>
        </p:nvSpPr>
        <p:spPr>
          <a:xfrm>
            <a:off x="925202" y="2088896"/>
            <a:ext cx="3322320" cy="346710"/>
          </a:xfrm>
          <a:prstGeom prst="rect">
            <a:avLst/>
          </a:prstGeom>
        </p:spPr>
        <p:txBody>
          <a:bodyPr vert="horz" wrap="square" lIns="0" tIns="13335" rIns="0" bIns="0" rtlCol="0">
            <a:spAutoFit/>
          </a:bodyPr>
          <a:lstStyle/>
          <a:p>
            <a:pPr marL="316865" indent="-304165">
              <a:lnSpc>
                <a:spcPct val="100000"/>
              </a:lnSpc>
              <a:spcBef>
                <a:spcPts val="105"/>
              </a:spcBef>
              <a:buFont typeface="Wingdings"/>
              <a:buChar char=""/>
              <a:tabLst>
                <a:tab pos="316865" algn="l"/>
              </a:tabLst>
            </a:pPr>
            <a:r>
              <a:rPr sz="2100" spc="195" dirty="0">
                <a:latin typeface="微软雅黑"/>
                <a:cs typeface="微软雅黑"/>
              </a:rPr>
              <a:t>仿真波形如图</a:t>
            </a:r>
            <a:r>
              <a:rPr sz="2100" spc="-10" dirty="0">
                <a:latin typeface="Times New Roman"/>
                <a:cs typeface="Times New Roman"/>
              </a:rPr>
              <a:t>3.4</a:t>
            </a:r>
            <a:r>
              <a:rPr sz="2100" spc="-305" dirty="0">
                <a:latin typeface="Times New Roman"/>
                <a:cs typeface="Times New Roman"/>
              </a:rPr>
              <a:t> </a:t>
            </a:r>
            <a:r>
              <a:rPr sz="2100" spc="175" dirty="0">
                <a:latin typeface="微软雅黑"/>
                <a:cs typeface="微软雅黑"/>
              </a:rPr>
              <a:t>所示。</a:t>
            </a:r>
            <a:endParaRPr sz="2100">
              <a:latin typeface="微软雅黑"/>
              <a:cs typeface="微软雅黑"/>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6225" y="2756154"/>
            <a:ext cx="4026535" cy="3595370"/>
            <a:chOff x="1196225" y="2756154"/>
            <a:chExt cx="4026535" cy="3595370"/>
          </a:xfrm>
        </p:grpSpPr>
        <p:sp>
          <p:nvSpPr>
            <p:cNvPr id="3" name="object 3"/>
            <p:cNvSpPr/>
            <p:nvPr/>
          </p:nvSpPr>
          <p:spPr>
            <a:xfrm>
              <a:off x="1204607" y="2763774"/>
              <a:ext cx="4010025" cy="3579495"/>
            </a:xfrm>
            <a:custGeom>
              <a:avLst/>
              <a:gdLst/>
              <a:ahLst/>
              <a:cxnLst/>
              <a:rect l="l" t="t" r="r" b="b"/>
              <a:pathLst>
                <a:path w="4010025" h="3579495">
                  <a:moveTo>
                    <a:pt x="4009644" y="3579114"/>
                  </a:moveTo>
                  <a:lnTo>
                    <a:pt x="4009644" y="0"/>
                  </a:lnTo>
                  <a:lnTo>
                    <a:pt x="0" y="0"/>
                  </a:lnTo>
                  <a:lnTo>
                    <a:pt x="0" y="3579114"/>
                  </a:lnTo>
                  <a:lnTo>
                    <a:pt x="4009644" y="3579114"/>
                  </a:lnTo>
                  <a:close/>
                </a:path>
              </a:pathLst>
            </a:custGeom>
            <a:solidFill>
              <a:srgbClr val="F3F577"/>
            </a:solidFill>
          </p:spPr>
          <p:txBody>
            <a:bodyPr wrap="square" lIns="0" tIns="0" rIns="0" bIns="0" rtlCol="0"/>
            <a:lstStyle/>
            <a:p>
              <a:endParaRPr/>
            </a:p>
          </p:txBody>
        </p:sp>
        <p:sp>
          <p:nvSpPr>
            <p:cNvPr id="4" name="object 4"/>
            <p:cNvSpPr/>
            <p:nvPr/>
          </p:nvSpPr>
          <p:spPr>
            <a:xfrm>
              <a:off x="1196225" y="2756154"/>
              <a:ext cx="4026535" cy="3595370"/>
            </a:xfrm>
            <a:custGeom>
              <a:avLst/>
              <a:gdLst/>
              <a:ahLst/>
              <a:cxnLst/>
              <a:rect l="l" t="t" r="r" b="b"/>
              <a:pathLst>
                <a:path w="4026535" h="3595370">
                  <a:moveTo>
                    <a:pt x="4026408" y="3591306"/>
                  </a:moveTo>
                  <a:lnTo>
                    <a:pt x="4026408" y="3048"/>
                  </a:lnTo>
                  <a:lnTo>
                    <a:pt x="4022598" y="0"/>
                  </a:lnTo>
                  <a:lnTo>
                    <a:pt x="3809" y="0"/>
                  </a:lnTo>
                  <a:lnTo>
                    <a:pt x="0" y="3048"/>
                  </a:lnTo>
                  <a:lnTo>
                    <a:pt x="0" y="3591306"/>
                  </a:lnTo>
                  <a:lnTo>
                    <a:pt x="3810" y="3595116"/>
                  </a:lnTo>
                  <a:lnTo>
                    <a:pt x="8382" y="3595116"/>
                  </a:lnTo>
                  <a:lnTo>
                    <a:pt x="8382" y="16002"/>
                  </a:lnTo>
                  <a:lnTo>
                    <a:pt x="16764" y="7620"/>
                  </a:lnTo>
                  <a:lnTo>
                    <a:pt x="16763" y="16002"/>
                  </a:lnTo>
                  <a:lnTo>
                    <a:pt x="4009643" y="16002"/>
                  </a:lnTo>
                  <a:lnTo>
                    <a:pt x="4009643" y="7619"/>
                  </a:lnTo>
                  <a:lnTo>
                    <a:pt x="4018026" y="16002"/>
                  </a:lnTo>
                  <a:lnTo>
                    <a:pt x="4018026" y="3595116"/>
                  </a:lnTo>
                  <a:lnTo>
                    <a:pt x="4022598" y="3595116"/>
                  </a:lnTo>
                  <a:lnTo>
                    <a:pt x="4026408" y="3591306"/>
                  </a:lnTo>
                  <a:close/>
                </a:path>
                <a:path w="4026535" h="3595370">
                  <a:moveTo>
                    <a:pt x="16764" y="16002"/>
                  </a:moveTo>
                  <a:lnTo>
                    <a:pt x="16764" y="7620"/>
                  </a:lnTo>
                  <a:lnTo>
                    <a:pt x="8382" y="16002"/>
                  </a:lnTo>
                  <a:lnTo>
                    <a:pt x="16764" y="16002"/>
                  </a:lnTo>
                  <a:close/>
                </a:path>
                <a:path w="4026535" h="3595370">
                  <a:moveTo>
                    <a:pt x="16764" y="3578352"/>
                  </a:moveTo>
                  <a:lnTo>
                    <a:pt x="16764" y="16002"/>
                  </a:lnTo>
                  <a:lnTo>
                    <a:pt x="8382" y="16002"/>
                  </a:lnTo>
                  <a:lnTo>
                    <a:pt x="8382" y="3578352"/>
                  </a:lnTo>
                  <a:lnTo>
                    <a:pt x="16764" y="3578352"/>
                  </a:lnTo>
                  <a:close/>
                </a:path>
                <a:path w="4026535" h="3595370">
                  <a:moveTo>
                    <a:pt x="4018026" y="3578352"/>
                  </a:moveTo>
                  <a:lnTo>
                    <a:pt x="8382" y="3578352"/>
                  </a:lnTo>
                  <a:lnTo>
                    <a:pt x="16764" y="3586734"/>
                  </a:lnTo>
                  <a:lnTo>
                    <a:pt x="16764" y="3595116"/>
                  </a:lnTo>
                  <a:lnTo>
                    <a:pt x="4009643" y="3595116"/>
                  </a:lnTo>
                  <a:lnTo>
                    <a:pt x="4009643" y="3586734"/>
                  </a:lnTo>
                  <a:lnTo>
                    <a:pt x="4018026" y="3578352"/>
                  </a:lnTo>
                  <a:close/>
                </a:path>
                <a:path w="4026535" h="3595370">
                  <a:moveTo>
                    <a:pt x="16764" y="3595116"/>
                  </a:moveTo>
                  <a:lnTo>
                    <a:pt x="16764" y="3586734"/>
                  </a:lnTo>
                  <a:lnTo>
                    <a:pt x="8382" y="3578352"/>
                  </a:lnTo>
                  <a:lnTo>
                    <a:pt x="8382" y="3595116"/>
                  </a:lnTo>
                  <a:lnTo>
                    <a:pt x="16764" y="3595116"/>
                  </a:lnTo>
                  <a:close/>
                </a:path>
                <a:path w="4026535" h="3595370">
                  <a:moveTo>
                    <a:pt x="4018026" y="16002"/>
                  </a:moveTo>
                  <a:lnTo>
                    <a:pt x="4009643" y="7619"/>
                  </a:lnTo>
                  <a:lnTo>
                    <a:pt x="4009643" y="16002"/>
                  </a:lnTo>
                  <a:lnTo>
                    <a:pt x="4018026" y="16002"/>
                  </a:lnTo>
                  <a:close/>
                </a:path>
                <a:path w="4026535" h="3595370">
                  <a:moveTo>
                    <a:pt x="4018026" y="3578352"/>
                  </a:moveTo>
                  <a:lnTo>
                    <a:pt x="4018026" y="16002"/>
                  </a:lnTo>
                  <a:lnTo>
                    <a:pt x="4009643" y="16002"/>
                  </a:lnTo>
                  <a:lnTo>
                    <a:pt x="4009643" y="3578352"/>
                  </a:lnTo>
                  <a:lnTo>
                    <a:pt x="4018026" y="3578352"/>
                  </a:lnTo>
                  <a:close/>
                </a:path>
                <a:path w="4026535" h="3595370">
                  <a:moveTo>
                    <a:pt x="4018026" y="3595116"/>
                  </a:moveTo>
                  <a:lnTo>
                    <a:pt x="4018026" y="3578352"/>
                  </a:lnTo>
                  <a:lnTo>
                    <a:pt x="4009643" y="3586734"/>
                  </a:lnTo>
                  <a:lnTo>
                    <a:pt x="4009643" y="3595116"/>
                  </a:lnTo>
                  <a:lnTo>
                    <a:pt x="4018026" y="3595116"/>
                  </a:lnTo>
                  <a:close/>
                </a:path>
              </a:pathLst>
            </a:custGeom>
            <a:solidFill>
              <a:srgbClr val="000000"/>
            </a:solidFill>
          </p:spPr>
          <p:txBody>
            <a:bodyPr wrap="square" lIns="0" tIns="0" rIns="0" bIns="0" rtlCol="0"/>
            <a:lstStyle/>
            <a:p>
              <a:endParaRPr/>
            </a:p>
          </p:txBody>
        </p:sp>
      </p:grpSp>
      <p:sp>
        <p:nvSpPr>
          <p:cNvPr id="5" name="object 5"/>
          <p:cNvSpPr txBox="1"/>
          <p:nvPr/>
        </p:nvSpPr>
        <p:spPr>
          <a:xfrm>
            <a:off x="1284611" y="2759143"/>
            <a:ext cx="2750185" cy="891540"/>
          </a:xfrm>
          <a:prstGeom prst="rect">
            <a:avLst/>
          </a:prstGeom>
        </p:spPr>
        <p:txBody>
          <a:bodyPr vert="horz" wrap="square" lIns="0" tIns="64135" rIns="0" bIns="0" rtlCol="0">
            <a:spAutoFit/>
          </a:bodyPr>
          <a:lstStyle/>
          <a:p>
            <a:pPr>
              <a:lnSpc>
                <a:spcPct val="100000"/>
              </a:lnSpc>
              <a:spcBef>
                <a:spcPts val="505"/>
              </a:spcBef>
            </a:pPr>
            <a:r>
              <a:rPr sz="1550" b="1" dirty="0">
                <a:latin typeface="微软雅黑"/>
                <a:cs typeface="微软雅黑"/>
              </a:rPr>
              <a:t>例</a:t>
            </a:r>
            <a:r>
              <a:rPr sz="1550" b="1" dirty="0">
                <a:latin typeface="Times New Roman"/>
                <a:cs typeface="Times New Roman"/>
              </a:rPr>
              <a:t>3.19</a:t>
            </a:r>
            <a:r>
              <a:rPr sz="1550" b="1" spc="185" dirty="0">
                <a:latin typeface="Times New Roman"/>
                <a:cs typeface="Times New Roman"/>
              </a:rPr>
              <a:t> </a:t>
            </a:r>
            <a:r>
              <a:rPr sz="1550" dirty="0">
                <a:latin typeface="Times New Roman"/>
                <a:cs typeface="Times New Roman"/>
              </a:rPr>
              <a:t>N</a:t>
            </a:r>
            <a:r>
              <a:rPr sz="1550" spc="-5" dirty="0">
                <a:latin typeface="微软雅黑"/>
                <a:cs typeface="微软雅黑"/>
              </a:rPr>
              <a:t>位二进制比较器的描述</a:t>
            </a:r>
            <a:endParaRPr sz="1550">
              <a:latin typeface="微软雅黑"/>
              <a:cs typeface="微软雅黑"/>
            </a:endParaRPr>
          </a:p>
          <a:p>
            <a:pPr marL="334010" marR="864869" indent="-100965">
              <a:lnSpc>
                <a:spcPct val="121900"/>
              </a:lnSpc>
              <a:spcBef>
                <a:spcPts val="10"/>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comp_N </a:t>
            </a:r>
            <a:r>
              <a:rPr sz="1550" dirty="0">
                <a:latin typeface="Times New Roman"/>
                <a:cs typeface="Times New Roman"/>
              </a:rPr>
              <a:t>#(parameter</a:t>
            </a:r>
            <a:r>
              <a:rPr sz="1550" spc="35" dirty="0">
                <a:latin typeface="Times New Roman"/>
                <a:cs typeface="Times New Roman"/>
              </a:rPr>
              <a:t> </a:t>
            </a:r>
            <a:r>
              <a:rPr sz="1550" dirty="0">
                <a:latin typeface="Times New Roman"/>
                <a:cs typeface="Times New Roman"/>
              </a:rPr>
              <a:t>N</a:t>
            </a:r>
            <a:r>
              <a:rPr sz="1550" spc="65" dirty="0">
                <a:latin typeface="Times New Roman"/>
                <a:cs typeface="Times New Roman"/>
              </a:rPr>
              <a:t> </a:t>
            </a:r>
            <a:r>
              <a:rPr sz="1550" dirty="0">
                <a:latin typeface="Times New Roman"/>
                <a:cs typeface="Times New Roman"/>
              </a:rPr>
              <a:t>=</a:t>
            </a:r>
            <a:r>
              <a:rPr sz="1550" spc="60" dirty="0">
                <a:latin typeface="Times New Roman"/>
                <a:cs typeface="Times New Roman"/>
              </a:rPr>
              <a:t> </a:t>
            </a:r>
            <a:r>
              <a:rPr sz="1550" spc="-25" dirty="0">
                <a:latin typeface="Times New Roman"/>
                <a:cs typeface="Times New Roman"/>
              </a:rPr>
              <a:t>8)</a:t>
            </a:r>
            <a:endParaRPr sz="1550">
              <a:latin typeface="Times New Roman"/>
              <a:cs typeface="Times New Roman"/>
            </a:endParaRPr>
          </a:p>
        </p:txBody>
      </p:sp>
      <p:sp>
        <p:nvSpPr>
          <p:cNvPr id="6" name="object 6"/>
          <p:cNvSpPr txBox="1"/>
          <p:nvPr/>
        </p:nvSpPr>
        <p:spPr>
          <a:xfrm>
            <a:off x="1585581" y="3673115"/>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7" name="object 7"/>
          <p:cNvSpPr txBox="1"/>
          <p:nvPr/>
        </p:nvSpPr>
        <p:spPr>
          <a:xfrm>
            <a:off x="1585581" y="3913603"/>
            <a:ext cx="1944370" cy="2334895"/>
          </a:xfrm>
          <a:prstGeom prst="rect">
            <a:avLst/>
          </a:prstGeom>
        </p:spPr>
        <p:txBody>
          <a:bodyPr vert="horz" wrap="square" lIns="0" tIns="64135" rIns="0" bIns="0" rtlCol="0">
            <a:spAutoFit/>
          </a:bodyPr>
          <a:lstStyle/>
          <a:p>
            <a:pPr marL="170815">
              <a:lnSpc>
                <a:spcPct val="100000"/>
              </a:lnSpc>
              <a:spcBef>
                <a:spcPts val="505"/>
              </a:spcBef>
            </a:pPr>
            <a:r>
              <a:rPr sz="1550" b="1" dirty="0">
                <a:latin typeface="Times New Roman"/>
                <a:cs typeface="Times New Roman"/>
              </a:rPr>
              <a:t>input</a:t>
            </a:r>
            <a:r>
              <a:rPr sz="1550" b="1" spc="75" dirty="0">
                <a:latin typeface="Times New Roman"/>
                <a:cs typeface="Times New Roman"/>
              </a:rPr>
              <a:t> </a:t>
            </a:r>
            <a:r>
              <a:rPr sz="1550" dirty="0">
                <a:latin typeface="Times New Roman"/>
                <a:cs typeface="Times New Roman"/>
              </a:rPr>
              <a:t>[N-1:0]</a:t>
            </a:r>
            <a:r>
              <a:rPr sz="1550" spc="65" dirty="0">
                <a:latin typeface="Times New Roman"/>
                <a:cs typeface="Times New Roman"/>
              </a:rPr>
              <a:t> </a:t>
            </a:r>
            <a:r>
              <a:rPr sz="1550" spc="-10" dirty="0">
                <a:latin typeface="Times New Roman"/>
                <a:cs typeface="Times New Roman"/>
              </a:rPr>
              <a:t>in0,in1,</a:t>
            </a:r>
            <a:endParaRPr sz="1550">
              <a:latin typeface="Times New Roman"/>
              <a:cs typeface="Times New Roman"/>
            </a:endParaRPr>
          </a:p>
          <a:p>
            <a:pPr marL="170815">
              <a:lnSpc>
                <a:spcPct val="100000"/>
              </a:lnSpc>
              <a:spcBef>
                <a:spcPts val="415"/>
              </a:spcBef>
            </a:pPr>
            <a:r>
              <a:rPr sz="1550" b="1" dirty="0">
                <a:latin typeface="Times New Roman"/>
                <a:cs typeface="Times New Roman"/>
              </a:rPr>
              <a:t>output</a:t>
            </a:r>
            <a:r>
              <a:rPr sz="1550" b="1" spc="409" dirty="0">
                <a:latin typeface="Times New Roman"/>
                <a:cs typeface="Times New Roman"/>
              </a:rPr>
              <a:t> </a:t>
            </a:r>
            <a:r>
              <a:rPr sz="1550" b="1" dirty="0">
                <a:latin typeface="Times New Roman"/>
                <a:cs typeface="Times New Roman"/>
              </a:rPr>
              <a:t>reg</a:t>
            </a:r>
            <a:r>
              <a:rPr sz="1550" b="1" spc="420" dirty="0">
                <a:latin typeface="Times New Roman"/>
                <a:cs typeface="Times New Roman"/>
              </a:rPr>
              <a:t> </a:t>
            </a:r>
            <a:r>
              <a:rPr sz="1550" spc="-10" dirty="0">
                <a:latin typeface="Times New Roman"/>
                <a:cs typeface="Times New Roman"/>
              </a:rPr>
              <a:t>gt,eq,lt</a:t>
            </a:r>
            <a:endParaRPr sz="1550">
              <a:latin typeface="Times New Roman"/>
              <a:cs typeface="Times New Roman"/>
            </a:endParaRPr>
          </a:p>
          <a:p>
            <a:pPr marL="66675">
              <a:lnSpc>
                <a:spcPct val="100000"/>
              </a:lnSpc>
              <a:spcBef>
                <a:spcPts val="409"/>
              </a:spcBef>
            </a:pPr>
            <a:r>
              <a:rPr sz="1550" spc="-25" dirty="0">
                <a:latin typeface="Times New Roman"/>
                <a:cs typeface="Times New Roman"/>
              </a:rPr>
              <a:t>);</a:t>
            </a:r>
            <a:endParaRPr sz="1550">
              <a:latin typeface="Times New Roman"/>
              <a:cs typeface="Times New Roman"/>
            </a:endParaRPr>
          </a:p>
          <a:p>
            <a:pPr>
              <a:lnSpc>
                <a:spcPct val="100000"/>
              </a:lnSpc>
              <a:spcBef>
                <a:spcPts val="414"/>
              </a:spcBef>
            </a:pPr>
            <a:r>
              <a:rPr sz="1550" b="1" dirty="0">
                <a:latin typeface="Times New Roman"/>
                <a:cs typeface="Times New Roman"/>
              </a:rPr>
              <a:t>always</a:t>
            </a:r>
            <a:r>
              <a:rPr sz="1550" b="1" spc="35" dirty="0">
                <a:latin typeface="Times New Roman"/>
                <a:cs typeface="Times New Roman"/>
              </a:rPr>
              <a:t> </a:t>
            </a:r>
            <a:r>
              <a:rPr sz="1550" spc="-25" dirty="0">
                <a:latin typeface="Times New Roman"/>
                <a:cs typeface="Times New Roman"/>
              </a:rPr>
              <a:t>@*</a:t>
            </a:r>
            <a:endParaRPr sz="1550">
              <a:latin typeface="Times New Roman"/>
              <a:cs typeface="Times New Roman"/>
            </a:endParaRPr>
          </a:p>
          <a:p>
            <a:pPr marL="168275">
              <a:lnSpc>
                <a:spcPct val="100000"/>
              </a:lnSpc>
              <a:spcBef>
                <a:spcPts val="409"/>
              </a:spcBef>
            </a:pPr>
            <a:r>
              <a:rPr sz="1550" b="1" spc="-10" dirty="0">
                <a:latin typeface="Times New Roman"/>
                <a:cs typeface="Times New Roman"/>
              </a:rPr>
              <a:t>begin</a:t>
            </a:r>
            <a:endParaRPr sz="1550">
              <a:latin typeface="Times New Roman"/>
              <a:cs typeface="Times New Roman"/>
            </a:endParaRPr>
          </a:p>
          <a:p>
            <a:pPr marL="328930">
              <a:lnSpc>
                <a:spcPct val="100000"/>
              </a:lnSpc>
              <a:spcBef>
                <a:spcPts val="415"/>
              </a:spcBef>
            </a:pPr>
            <a:r>
              <a:rPr sz="1550" dirty="0">
                <a:latin typeface="Times New Roman"/>
                <a:cs typeface="Times New Roman"/>
              </a:rPr>
              <a:t>gt</a:t>
            </a:r>
            <a:r>
              <a:rPr sz="1550" spc="15"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0;</a:t>
            </a:r>
            <a:endParaRPr sz="1550">
              <a:latin typeface="Times New Roman"/>
              <a:cs typeface="Times New Roman"/>
            </a:endParaRPr>
          </a:p>
          <a:p>
            <a:pPr marL="328930">
              <a:lnSpc>
                <a:spcPct val="100000"/>
              </a:lnSpc>
              <a:spcBef>
                <a:spcPts val="409"/>
              </a:spcBef>
            </a:pPr>
            <a:r>
              <a:rPr sz="1550" dirty="0">
                <a:latin typeface="Times New Roman"/>
                <a:cs typeface="Times New Roman"/>
              </a:rPr>
              <a:t>eq</a:t>
            </a:r>
            <a:r>
              <a:rPr sz="1550" spc="15" dirty="0">
                <a:latin typeface="Times New Roman"/>
                <a:cs typeface="Times New Roman"/>
              </a:rPr>
              <a:t> </a:t>
            </a:r>
            <a:r>
              <a:rPr sz="1550" dirty="0">
                <a:latin typeface="Times New Roman"/>
                <a:cs typeface="Times New Roman"/>
              </a:rPr>
              <a:t>=</a:t>
            </a:r>
            <a:r>
              <a:rPr sz="1550" spc="15" dirty="0">
                <a:latin typeface="Times New Roman"/>
                <a:cs typeface="Times New Roman"/>
              </a:rPr>
              <a:t> </a:t>
            </a:r>
            <a:r>
              <a:rPr sz="1550" spc="-25" dirty="0">
                <a:latin typeface="Times New Roman"/>
                <a:cs typeface="Times New Roman"/>
              </a:rPr>
              <a:t>0;</a:t>
            </a:r>
            <a:endParaRPr sz="1550">
              <a:latin typeface="Times New Roman"/>
              <a:cs typeface="Times New Roman"/>
            </a:endParaRPr>
          </a:p>
          <a:p>
            <a:pPr marL="328930">
              <a:lnSpc>
                <a:spcPct val="100000"/>
              </a:lnSpc>
              <a:spcBef>
                <a:spcPts val="414"/>
              </a:spcBef>
            </a:pPr>
            <a:r>
              <a:rPr sz="1550" dirty="0">
                <a:latin typeface="Times New Roman"/>
                <a:cs typeface="Times New Roman"/>
              </a:rPr>
              <a:t>lt</a:t>
            </a:r>
            <a:r>
              <a:rPr sz="1550" spc="15"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0;</a:t>
            </a:r>
            <a:endParaRPr sz="1550">
              <a:latin typeface="Times New Roman"/>
              <a:cs typeface="Times New Roman"/>
            </a:endParaRPr>
          </a:p>
        </p:txBody>
      </p:sp>
      <p:sp>
        <p:nvSpPr>
          <p:cNvPr id="8" name="object 8"/>
          <p:cNvSpPr txBox="1">
            <a:spLocks noGrp="1"/>
          </p:cNvSpPr>
          <p:nvPr>
            <p:ph type="title"/>
          </p:nvPr>
        </p:nvSpPr>
        <p:spPr>
          <a:xfrm>
            <a:off x="417709" y="1106677"/>
            <a:ext cx="189738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3.6.2</a:t>
            </a:r>
            <a:r>
              <a:rPr spc="-5" dirty="0">
                <a:latin typeface="Times New Roman"/>
                <a:cs typeface="Times New Roman"/>
              </a:rPr>
              <a:t> </a:t>
            </a:r>
            <a:r>
              <a:rPr spc="-20" dirty="0"/>
              <a:t>比较器</a:t>
            </a:r>
          </a:p>
        </p:txBody>
      </p:sp>
      <p:grpSp>
        <p:nvGrpSpPr>
          <p:cNvPr id="9" name="object 9"/>
          <p:cNvGrpSpPr/>
          <p:nvPr/>
        </p:nvGrpSpPr>
        <p:grpSpPr>
          <a:xfrm>
            <a:off x="5652401" y="2756154"/>
            <a:ext cx="4140835" cy="2429510"/>
            <a:chOff x="5652401" y="2756154"/>
            <a:chExt cx="4140835" cy="2429510"/>
          </a:xfrm>
        </p:grpSpPr>
        <p:sp>
          <p:nvSpPr>
            <p:cNvPr id="10" name="object 10"/>
            <p:cNvSpPr/>
            <p:nvPr/>
          </p:nvSpPr>
          <p:spPr>
            <a:xfrm>
              <a:off x="5660783" y="2763774"/>
              <a:ext cx="4124325" cy="2413635"/>
            </a:xfrm>
            <a:custGeom>
              <a:avLst/>
              <a:gdLst/>
              <a:ahLst/>
              <a:cxnLst/>
              <a:rect l="l" t="t" r="r" b="b"/>
              <a:pathLst>
                <a:path w="4124325" h="2413635">
                  <a:moveTo>
                    <a:pt x="4123944" y="2413254"/>
                  </a:moveTo>
                  <a:lnTo>
                    <a:pt x="4123944" y="0"/>
                  </a:lnTo>
                  <a:lnTo>
                    <a:pt x="0" y="0"/>
                  </a:lnTo>
                  <a:lnTo>
                    <a:pt x="0" y="2413254"/>
                  </a:lnTo>
                  <a:lnTo>
                    <a:pt x="4123944" y="2413254"/>
                  </a:lnTo>
                  <a:close/>
                </a:path>
              </a:pathLst>
            </a:custGeom>
            <a:solidFill>
              <a:srgbClr val="F3F577"/>
            </a:solidFill>
          </p:spPr>
          <p:txBody>
            <a:bodyPr wrap="square" lIns="0" tIns="0" rIns="0" bIns="0" rtlCol="0"/>
            <a:lstStyle/>
            <a:p>
              <a:endParaRPr/>
            </a:p>
          </p:txBody>
        </p:sp>
        <p:sp>
          <p:nvSpPr>
            <p:cNvPr id="11" name="object 11"/>
            <p:cNvSpPr/>
            <p:nvPr/>
          </p:nvSpPr>
          <p:spPr>
            <a:xfrm>
              <a:off x="5652401" y="2756154"/>
              <a:ext cx="4140835" cy="2429510"/>
            </a:xfrm>
            <a:custGeom>
              <a:avLst/>
              <a:gdLst/>
              <a:ahLst/>
              <a:cxnLst/>
              <a:rect l="l" t="t" r="r" b="b"/>
              <a:pathLst>
                <a:path w="4140834" h="2429510">
                  <a:moveTo>
                    <a:pt x="4140708" y="2425446"/>
                  </a:moveTo>
                  <a:lnTo>
                    <a:pt x="4140708" y="3048"/>
                  </a:lnTo>
                  <a:lnTo>
                    <a:pt x="4136898" y="0"/>
                  </a:lnTo>
                  <a:lnTo>
                    <a:pt x="3809" y="0"/>
                  </a:lnTo>
                  <a:lnTo>
                    <a:pt x="0" y="3048"/>
                  </a:lnTo>
                  <a:lnTo>
                    <a:pt x="0" y="2425446"/>
                  </a:lnTo>
                  <a:lnTo>
                    <a:pt x="3810" y="2429256"/>
                  </a:lnTo>
                  <a:lnTo>
                    <a:pt x="8382" y="2429256"/>
                  </a:lnTo>
                  <a:lnTo>
                    <a:pt x="8382" y="16002"/>
                  </a:lnTo>
                  <a:lnTo>
                    <a:pt x="16763" y="7620"/>
                  </a:lnTo>
                  <a:lnTo>
                    <a:pt x="16763" y="16002"/>
                  </a:lnTo>
                  <a:lnTo>
                    <a:pt x="4123944" y="16002"/>
                  </a:lnTo>
                  <a:lnTo>
                    <a:pt x="4123944" y="7620"/>
                  </a:lnTo>
                  <a:lnTo>
                    <a:pt x="4132326" y="16002"/>
                  </a:lnTo>
                  <a:lnTo>
                    <a:pt x="4132326" y="2429256"/>
                  </a:lnTo>
                  <a:lnTo>
                    <a:pt x="4136898" y="2429256"/>
                  </a:lnTo>
                  <a:lnTo>
                    <a:pt x="4140708" y="2425446"/>
                  </a:lnTo>
                  <a:close/>
                </a:path>
                <a:path w="4140834" h="2429510">
                  <a:moveTo>
                    <a:pt x="16763" y="16002"/>
                  </a:moveTo>
                  <a:lnTo>
                    <a:pt x="16763" y="7620"/>
                  </a:lnTo>
                  <a:lnTo>
                    <a:pt x="8382" y="16002"/>
                  </a:lnTo>
                  <a:lnTo>
                    <a:pt x="16763" y="16002"/>
                  </a:lnTo>
                  <a:close/>
                </a:path>
                <a:path w="4140834" h="2429510">
                  <a:moveTo>
                    <a:pt x="16764" y="2412492"/>
                  </a:moveTo>
                  <a:lnTo>
                    <a:pt x="16763" y="16002"/>
                  </a:lnTo>
                  <a:lnTo>
                    <a:pt x="8382" y="16002"/>
                  </a:lnTo>
                  <a:lnTo>
                    <a:pt x="8382" y="2412492"/>
                  </a:lnTo>
                  <a:lnTo>
                    <a:pt x="16764" y="2412492"/>
                  </a:lnTo>
                  <a:close/>
                </a:path>
                <a:path w="4140834" h="2429510">
                  <a:moveTo>
                    <a:pt x="4132326" y="2412492"/>
                  </a:moveTo>
                  <a:lnTo>
                    <a:pt x="8382" y="2412492"/>
                  </a:lnTo>
                  <a:lnTo>
                    <a:pt x="16764" y="2420874"/>
                  </a:lnTo>
                  <a:lnTo>
                    <a:pt x="16764" y="2429256"/>
                  </a:lnTo>
                  <a:lnTo>
                    <a:pt x="4123944" y="2429256"/>
                  </a:lnTo>
                  <a:lnTo>
                    <a:pt x="4123944" y="2420874"/>
                  </a:lnTo>
                  <a:lnTo>
                    <a:pt x="4132326" y="2412492"/>
                  </a:lnTo>
                  <a:close/>
                </a:path>
                <a:path w="4140834" h="2429510">
                  <a:moveTo>
                    <a:pt x="16764" y="2429256"/>
                  </a:moveTo>
                  <a:lnTo>
                    <a:pt x="16764" y="2420874"/>
                  </a:lnTo>
                  <a:lnTo>
                    <a:pt x="8382" y="2412492"/>
                  </a:lnTo>
                  <a:lnTo>
                    <a:pt x="8382" y="2429256"/>
                  </a:lnTo>
                  <a:lnTo>
                    <a:pt x="16764" y="2429256"/>
                  </a:lnTo>
                  <a:close/>
                </a:path>
                <a:path w="4140834" h="2429510">
                  <a:moveTo>
                    <a:pt x="4132326" y="16002"/>
                  </a:moveTo>
                  <a:lnTo>
                    <a:pt x="4123944" y="7620"/>
                  </a:lnTo>
                  <a:lnTo>
                    <a:pt x="4123944" y="16002"/>
                  </a:lnTo>
                  <a:lnTo>
                    <a:pt x="4132326" y="16002"/>
                  </a:lnTo>
                  <a:close/>
                </a:path>
                <a:path w="4140834" h="2429510">
                  <a:moveTo>
                    <a:pt x="4132326" y="2412492"/>
                  </a:moveTo>
                  <a:lnTo>
                    <a:pt x="4132326" y="16002"/>
                  </a:lnTo>
                  <a:lnTo>
                    <a:pt x="4123944" y="16002"/>
                  </a:lnTo>
                  <a:lnTo>
                    <a:pt x="4123944" y="2412492"/>
                  </a:lnTo>
                  <a:lnTo>
                    <a:pt x="4132326" y="2412492"/>
                  </a:lnTo>
                  <a:close/>
                </a:path>
                <a:path w="4140834" h="2429510">
                  <a:moveTo>
                    <a:pt x="4132326" y="2429256"/>
                  </a:moveTo>
                  <a:lnTo>
                    <a:pt x="4132326" y="2412492"/>
                  </a:lnTo>
                  <a:lnTo>
                    <a:pt x="4123944" y="2420874"/>
                  </a:lnTo>
                  <a:lnTo>
                    <a:pt x="4123944" y="2429256"/>
                  </a:lnTo>
                  <a:lnTo>
                    <a:pt x="4132326" y="2429256"/>
                  </a:lnTo>
                  <a:close/>
                </a:path>
              </a:pathLst>
            </a:custGeom>
            <a:solidFill>
              <a:srgbClr val="000000"/>
            </a:solidFill>
          </p:spPr>
          <p:txBody>
            <a:bodyPr wrap="square" lIns="0" tIns="0" rIns="0" bIns="0" rtlCol="0"/>
            <a:lstStyle/>
            <a:p>
              <a:endParaRPr/>
            </a:p>
          </p:txBody>
        </p:sp>
      </p:grpSp>
      <p:sp>
        <p:nvSpPr>
          <p:cNvPr id="12" name="object 12"/>
          <p:cNvSpPr txBox="1"/>
          <p:nvPr/>
        </p:nvSpPr>
        <p:spPr>
          <a:xfrm>
            <a:off x="6515995" y="2759143"/>
            <a:ext cx="1021715" cy="1757680"/>
          </a:xfrm>
          <a:prstGeom prst="rect">
            <a:avLst/>
          </a:prstGeom>
        </p:spPr>
        <p:txBody>
          <a:bodyPr vert="horz" wrap="square" lIns="0" tIns="11430" rIns="0" bIns="0" rtlCol="0">
            <a:spAutoFit/>
          </a:bodyPr>
          <a:lstStyle/>
          <a:p>
            <a:pPr marL="12700" marR="117475" algn="ctr">
              <a:lnSpc>
                <a:spcPct val="122300"/>
              </a:lnSpc>
              <a:spcBef>
                <a:spcPts val="90"/>
              </a:spcBef>
            </a:pPr>
            <a:r>
              <a:rPr sz="1550" b="1" spc="-10" dirty="0">
                <a:latin typeface="Times New Roman"/>
                <a:cs typeface="Times New Roman"/>
              </a:rPr>
              <a:t>if</a:t>
            </a:r>
            <a:r>
              <a:rPr sz="1550" spc="-10" dirty="0">
                <a:latin typeface="Times New Roman"/>
                <a:cs typeface="Times New Roman"/>
              </a:rPr>
              <a:t>(in0&gt;in1) </a:t>
            </a:r>
            <a:r>
              <a:rPr sz="1550" dirty="0">
                <a:latin typeface="Times New Roman"/>
                <a:cs typeface="Times New Roman"/>
              </a:rPr>
              <a:t>gt</a:t>
            </a:r>
            <a:r>
              <a:rPr sz="1550" spc="15"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spc="-25" dirty="0">
                <a:latin typeface="Times New Roman"/>
                <a:cs typeface="Times New Roman"/>
              </a:rPr>
              <a:t>1;</a:t>
            </a:r>
            <a:endParaRPr sz="1550">
              <a:latin typeface="Times New Roman"/>
              <a:cs typeface="Times New Roman"/>
            </a:endParaRPr>
          </a:p>
          <a:p>
            <a:pPr marL="12700" marR="5080" algn="ctr">
              <a:lnSpc>
                <a:spcPts val="2270"/>
              </a:lnSpc>
              <a:spcBef>
                <a:spcPts val="120"/>
              </a:spcBef>
            </a:pPr>
            <a:r>
              <a:rPr sz="1550" b="1" spc="-10" dirty="0">
                <a:latin typeface="Times New Roman"/>
                <a:cs typeface="Times New Roman"/>
              </a:rPr>
              <a:t>if</a:t>
            </a:r>
            <a:r>
              <a:rPr sz="1550" spc="-10" dirty="0">
                <a:latin typeface="Times New Roman"/>
                <a:cs typeface="Times New Roman"/>
              </a:rPr>
              <a:t>(in0==in1) </a:t>
            </a:r>
            <a:r>
              <a:rPr sz="1550" dirty="0">
                <a:latin typeface="Times New Roman"/>
                <a:cs typeface="Times New Roman"/>
              </a:rPr>
              <a:t>eq</a:t>
            </a:r>
            <a:r>
              <a:rPr sz="1550" spc="15" dirty="0">
                <a:latin typeface="Times New Roman"/>
                <a:cs typeface="Times New Roman"/>
              </a:rPr>
              <a:t> </a:t>
            </a:r>
            <a:r>
              <a:rPr sz="1550" dirty="0">
                <a:latin typeface="Times New Roman"/>
                <a:cs typeface="Times New Roman"/>
              </a:rPr>
              <a:t>=</a:t>
            </a:r>
            <a:r>
              <a:rPr sz="1550" spc="15" dirty="0">
                <a:latin typeface="Times New Roman"/>
                <a:cs typeface="Times New Roman"/>
              </a:rPr>
              <a:t> </a:t>
            </a:r>
            <a:r>
              <a:rPr sz="1550" spc="-25" dirty="0">
                <a:latin typeface="Times New Roman"/>
                <a:cs typeface="Times New Roman"/>
              </a:rPr>
              <a:t>1; </a:t>
            </a:r>
            <a:r>
              <a:rPr sz="1550" b="1" spc="-10" dirty="0">
                <a:latin typeface="Times New Roman"/>
                <a:cs typeface="Times New Roman"/>
              </a:rPr>
              <a:t>if</a:t>
            </a:r>
            <a:r>
              <a:rPr sz="1550" spc="-10" dirty="0">
                <a:latin typeface="Times New Roman"/>
                <a:cs typeface="Times New Roman"/>
              </a:rPr>
              <a:t>(in0&lt;in1)</a:t>
            </a:r>
            <a:r>
              <a:rPr sz="1550" spc="500" dirty="0">
                <a:latin typeface="Times New Roman"/>
                <a:cs typeface="Times New Roman"/>
              </a:rPr>
              <a:t> </a:t>
            </a:r>
            <a:r>
              <a:rPr sz="1550" dirty="0">
                <a:latin typeface="Times New Roman"/>
                <a:cs typeface="Times New Roman"/>
              </a:rPr>
              <a:t>lt</a:t>
            </a:r>
            <a:r>
              <a:rPr sz="1550" spc="20" dirty="0">
                <a:latin typeface="Times New Roman"/>
                <a:cs typeface="Times New Roman"/>
              </a:rPr>
              <a:t> </a:t>
            </a:r>
            <a:r>
              <a:rPr sz="1550" dirty="0">
                <a:latin typeface="Times New Roman"/>
                <a:cs typeface="Times New Roman"/>
              </a:rPr>
              <a:t>=</a:t>
            </a:r>
            <a:r>
              <a:rPr sz="1550" spc="20" dirty="0">
                <a:latin typeface="Times New Roman"/>
                <a:cs typeface="Times New Roman"/>
              </a:rPr>
              <a:t> </a:t>
            </a:r>
            <a:r>
              <a:rPr sz="1550" spc="-25" dirty="0">
                <a:latin typeface="Times New Roman"/>
                <a:cs typeface="Times New Roman"/>
              </a:rPr>
              <a:t>1;</a:t>
            </a:r>
            <a:endParaRPr sz="1550">
              <a:latin typeface="Times New Roman"/>
              <a:cs typeface="Times New Roman"/>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p:nvPr/>
        </p:nvSpPr>
        <p:spPr>
          <a:xfrm>
            <a:off x="5945259" y="4490451"/>
            <a:ext cx="972185" cy="603250"/>
          </a:xfrm>
          <a:prstGeom prst="rect">
            <a:avLst/>
          </a:prstGeom>
        </p:spPr>
        <p:txBody>
          <a:bodyPr vert="horz" wrap="square" lIns="0" tIns="11430" rIns="0" bIns="0" rtlCol="0">
            <a:spAutoFit/>
          </a:bodyPr>
          <a:lstStyle/>
          <a:p>
            <a:pPr marL="12700" marR="5080" indent="255270">
              <a:lnSpc>
                <a:spcPct val="122300"/>
              </a:lnSpc>
              <a:spcBef>
                <a:spcPts val="90"/>
              </a:spcBef>
            </a:pPr>
            <a:r>
              <a:rPr sz="1550" b="1" spc="-25" dirty="0">
                <a:latin typeface="Times New Roman"/>
                <a:cs typeface="Times New Roman"/>
              </a:rPr>
              <a:t>end </a:t>
            </a:r>
            <a:r>
              <a:rPr sz="1550" b="1" spc="-10" dirty="0">
                <a:latin typeface="Times New Roman"/>
                <a:cs typeface="Times New Roman"/>
              </a:rPr>
              <a:t>endmodule</a:t>
            </a:r>
            <a:endParaRPr sz="1550">
              <a:latin typeface="Times New Roman"/>
              <a:cs typeface="Times New Roman"/>
            </a:endParaRPr>
          </a:p>
        </p:txBody>
      </p:sp>
      <p:sp>
        <p:nvSpPr>
          <p:cNvPr id="14" name="object 14"/>
          <p:cNvSpPr txBox="1"/>
          <p:nvPr/>
        </p:nvSpPr>
        <p:spPr>
          <a:xfrm>
            <a:off x="624973" y="1859534"/>
            <a:ext cx="9726930" cy="667385"/>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为了使用方便，我们可以使用参数来实现一个输入数据位数可变的</a:t>
            </a:r>
            <a:r>
              <a:rPr sz="2100" dirty="0">
                <a:latin typeface="Times New Roman"/>
                <a:cs typeface="Times New Roman"/>
              </a:rPr>
              <a:t>N</a:t>
            </a:r>
            <a:r>
              <a:rPr sz="2100" spc="-10" dirty="0">
                <a:latin typeface="微软雅黑"/>
                <a:cs typeface="微软雅黑"/>
              </a:rPr>
              <a:t>位二进制数比较器。这段代码在仿真时，默认</a:t>
            </a:r>
            <a:r>
              <a:rPr sz="2100" spc="-10" dirty="0">
                <a:latin typeface="Times New Roman"/>
                <a:cs typeface="Times New Roman"/>
              </a:rPr>
              <a:t>N=8</a:t>
            </a:r>
            <a:r>
              <a:rPr sz="2100" spc="-50" dirty="0">
                <a:latin typeface="微软雅黑"/>
                <a:cs typeface="微软雅黑"/>
              </a:rPr>
              <a:t>。</a:t>
            </a:r>
            <a:endParaRPr sz="2100">
              <a:latin typeface="微软雅黑"/>
              <a:cs typeface="微软雅黑"/>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995" y="1160780"/>
            <a:ext cx="32340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3.6.3</a:t>
            </a:r>
            <a:r>
              <a:rPr spc="-20" dirty="0"/>
              <a:t>译码器和编码器</a:t>
            </a:r>
          </a:p>
        </p:txBody>
      </p:sp>
      <p:pic>
        <p:nvPicPr>
          <p:cNvPr id="3" name="object 3"/>
          <p:cNvPicPr/>
          <p:nvPr/>
        </p:nvPicPr>
        <p:blipFill>
          <a:blip r:embed="rId2" cstate="print"/>
          <a:stretch>
            <a:fillRect/>
          </a:stretch>
        </p:blipFill>
        <p:spPr>
          <a:xfrm>
            <a:off x="1144018" y="2703946"/>
            <a:ext cx="146324" cy="137943"/>
          </a:xfrm>
          <a:prstGeom prst="rect">
            <a:avLst/>
          </a:prstGeom>
        </p:spPr>
      </p:pic>
      <p:pic>
        <p:nvPicPr>
          <p:cNvPr id="4" name="object 4"/>
          <p:cNvPicPr/>
          <p:nvPr/>
        </p:nvPicPr>
        <p:blipFill>
          <a:blip r:embed="rId3" cstate="print"/>
          <a:stretch>
            <a:fillRect/>
          </a:stretch>
        </p:blipFill>
        <p:spPr>
          <a:xfrm>
            <a:off x="1144018" y="3103234"/>
            <a:ext cx="146324" cy="137943"/>
          </a:xfrm>
          <a:prstGeom prst="rect">
            <a:avLst/>
          </a:prstGeom>
        </p:spPr>
      </p:pic>
      <p:pic>
        <p:nvPicPr>
          <p:cNvPr id="5" name="object 5"/>
          <p:cNvPicPr/>
          <p:nvPr/>
        </p:nvPicPr>
        <p:blipFill>
          <a:blip r:embed="rId4" cstate="print"/>
          <a:stretch>
            <a:fillRect/>
          </a:stretch>
        </p:blipFill>
        <p:spPr>
          <a:xfrm>
            <a:off x="1144018" y="4458070"/>
            <a:ext cx="146324" cy="137943"/>
          </a:xfrm>
          <a:prstGeom prst="rect">
            <a:avLst/>
          </a:prstGeom>
        </p:spPr>
      </p:pic>
      <p:pic>
        <p:nvPicPr>
          <p:cNvPr id="6" name="object 6"/>
          <p:cNvPicPr/>
          <p:nvPr/>
        </p:nvPicPr>
        <p:blipFill>
          <a:blip r:embed="rId5" cstate="print"/>
          <a:stretch>
            <a:fillRect/>
          </a:stretch>
        </p:blipFill>
        <p:spPr>
          <a:xfrm>
            <a:off x="1144018" y="4861538"/>
            <a:ext cx="146324" cy="133763"/>
          </a:xfrm>
          <a:prstGeom prst="rect">
            <a:avLst/>
          </a:prstGeom>
        </p:spPr>
      </p:pic>
      <p:sp>
        <p:nvSpPr>
          <p:cNvPr id="7" name="object 7"/>
          <p:cNvSpPr txBox="1"/>
          <p:nvPr/>
        </p:nvSpPr>
        <p:spPr>
          <a:xfrm>
            <a:off x="587635" y="2082800"/>
            <a:ext cx="9224645" cy="3237865"/>
          </a:xfrm>
          <a:prstGeom prst="rect">
            <a:avLst/>
          </a:prstGeom>
        </p:spPr>
        <p:txBody>
          <a:bodyPr vert="horz" wrap="square" lIns="0" tIns="13335" rIns="0" bIns="0" rtlCol="0">
            <a:spAutoFit/>
          </a:bodyPr>
          <a:lstStyle/>
          <a:p>
            <a:pPr marL="354965" indent="-304165">
              <a:lnSpc>
                <a:spcPct val="100000"/>
              </a:lnSpc>
              <a:spcBef>
                <a:spcPts val="105"/>
              </a:spcBef>
              <a:buFont typeface="Wingdings"/>
              <a:buChar char=""/>
              <a:tabLst>
                <a:tab pos="354965" algn="l"/>
              </a:tabLst>
            </a:pPr>
            <a:r>
              <a:rPr sz="2100" dirty="0">
                <a:latin typeface="Times New Roman"/>
                <a:cs typeface="Times New Roman"/>
              </a:rPr>
              <a:t>3-8</a:t>
            </a:r>
            <a:r>
              <a:rPr sz="2100" spc="-20" dirty="0">
                <a:latin typeface="微软雅黑"/>
                <a:cs typeface="微软雅黑"/>
              </a:rPr>
              <a:t>译码器</a:t>
            </a:r>
            <a:endParaRPr sz="2100">
              <a:latin typeface="微软雅黑"/>
              <a:cs typeface="微软雅黑"/>
            </a:endParaRPr>
          </a:p>
          <a:p>
            <a:pPr marL="756920" marR="797560">
              <a:lnSpc>
                <a:spcPct val="150300"/>
              </a:lnSpc>
              <a:spcBef>
                <a:spcPts val="525"/>
              </a:spcBef>
            </a:pPr>
            <a:r>
              <a:rPr sz="1750" b="1" dirty="0">
                <a:solidFill>
                  <a:srgbClr val="3E3E3E"/>
                </a:solidFill>
                <a:latin typeface="微软雅黑"/>
                <a:cs typeface="微软雅黑"/>
              </a:rPr>
              <a:t>译码器电路有</a:t>
            </a:r>
            <a:r>
              <a:rPr sz="1750" b="1" spc="-20" dirty="0">
                <a:solidFill>
                  <a:srgbClr val="3E3E3E"/>
                </a:solidFill>
                <a:latin typeface="Times New Roman"/>
                <a:cs typeface="Times New Roman"/>
              </a:rPr>
              <a:t>n</a:t>
            </a:r>
            <a:r>
              <a:rPr sz="1750" b="1" dirty="0">
                <a:solidFill>
                  <a:srgbClr val="3E3E3E"/>
                </a:solidFill>
                <a:latin typeface="微软雅黑"/>
                <a:cs typeface="微软雅黑"/>
              </a:rPr>
              <a:t>个输入和</a:t>
            </a:r>
            <a:r>
              <a:rPr sz="1750" b="1" dirty="0">
                <a:solidFill>
                  <a:srgbClr val="3E3E3E"/>
                </a:solidFill>
                <a:latin typeface="Times New Roman"/>
                <a:cs typeface="Times New Roman"/>
              </a:rPr>
              <a:t>2</a:t>
            </a:r>
            <a:r>
              <a:rPr sz="1725" b="1" baseline="26570" dirty="0">
                <a:solidFill>
                  <a:srgbClr val="3E3E3E"/>
                </a:solidFill>
                <a:latin typeface="Times New Roman"/>
                <a:cs typeface="Times New Roman"/>
              </a:rPr>
              <a:t>n</a:t>
            </a:r>
            <a:r>
              <a:rPr sz="1750" b="1" spc="-5" dirty="0">
                <a:solidFill>
                  <a:srgbClr val="3E3E3E"/>
                </a:solidFill>
                <a:latin typeface="微软雅黑"/>
                <a:cs typeface="微软雅黑"/>
              </a:rPr>
              <a:t>个输出，每个输出都对应着一个可能的二进制输入。通常情况下，一次只能有一个输出有效。</a:t>
            </a:r>
            <a:endParaRPr sz="1750">
              <a:latin typeface="微软雅黑"/>
              <a:cs typeface="微软雅黑"/>
            </a:endParaRPr>
          </a:p>
          <a:p>
            <a:pPr>
              <a:lnSpc>
                <a:spcPct val="100000"/>
              </a:lnSpc>
              <a:spcBef>
                <a:spcPts val="1900"/>
              </a:spcBef>
            </a:pPr>
            <a:endParaRPr sz="1750">
              <a:latin typeface="微软雅黑"/>
              <a:cs typeface="微软雅黑"/>
            </a:endParaRPr>
          </a:p>
          <a:p>
            <a:pPr marL="354965" indent="-304165">
              <a:lnSpc>
                <a:spcPct val="100000"/>
              </a:lnSpc>
              <a:buFont typeface="Wingdings"/>
              <a:buChar char=""/>
              <a:tabLst>
                <a:tab pos="354965" algn="l"/>
              </a:tabLst>
            </a:pPr>
            <a:r>
              <a:rPr sz="2100" dirty="0">
                <a:latin typeface="Times New Roman"/>
                <a:cs typeface="Times New Roman"/>
              </a:rPr>
              <a:t>8-3</a:t>
            </a:r>
            <a:r>
              <a:rPr sz="2100" spc="-20" dirty="0">
                <a:latin typeface="微软雅黑"/>
                <a:cs typeface="微软雅黑"/>
              </a:rPr>
              <a:t>编码器</a:t>
            </a:r>
            <a:endParaRPr sz="2100">
              <a:latin typeface="微软雅黑"/>
              <a:cs typeface="微软雅黑"/>
            </a:endParaRPr>
          </a:p>
          <a:p>
            <a:pPr marL="756920">
              <a:lnSpc>
                <a:spcPct val="100000"/>
              </a:lnSpc>
              <a:spcBef>
                <a:spcPts val="1145"/>
              </a:spcBef>
            </a:pPr>
            <a:r>
              <a:rPr sz="1750" b="1" spc="-5" dirty="0">
                <a:solidFill>
                  <a:srgbClr val="3E3E3E"/>
                </a:solidFill>
                <a:latin typeface="微软雅黑"/>
                <a:cs typeface="微软雅黑"/>
              </a:rPr>
              <a:t>编码器是译码器的反向器件</a:t>
            </a:r>
            <a:endParaRPr sz="1750">
              <a:latin typeface="微软雅黑"/>
              <a:cs typeface="微软雅黑"/>
            </a:endParaRPr>
          </a:p>
          <a:p>
            <a:pPr marL="756920" marR="43180">
              <a:lnSpc>
                <a:spcPct val="100000"/>
              </a:lnSpc>
              <a:spcBef>
                <a:spcPts val="1055"/>
              </a:spcBef>
            </a:pPr>
            <a:r>
              <a:rPr sz="1750" b="1" dirty="0">
                <a:solidFill>
                  <a:srgbClr val="3E3E3E"/>
                </a:solidFill>
                <a:latin typeface="微软雅黑"/>
                <a:cs typeface="微软雅黑"/>
              </a:rPr>
              <a:t>它有</a:t>
            </a:r>
            <a:r>
              <a:rPr sz="1750" dirty="0">
                <a:latin typeface="Times New Roman"/>
                <a:cs typeface="Times New Roman"/>
              </a:rPr>
              <a:t>2</a:t>
            </a:r>
            <a:r>
              <a:rPr sz="1725" baseline="26570" dirty="0">
                <a:latin typeface="Times New Roman"/>
                <a:cs typeface="Times New Roman"/>
              </a:rPr>
              <a:t>n</a:t>
            </a:r>
            <a:r>
              <a:rPr sz="1750" b="1" dirty="0">
                <a:solidFill>
                  <a:srgbClr val="3E3E3E"/>
                </a:solidFill>
                <a:latin typeface="微软雅黑"/>
                <a:cs typeface="微软雅黑"/>
              </a:rPr>
              <a:t>个输入和</a:t>
            </a:r>
            <a:r>
              <a:rPr sz="1750" b="1" spc="-20" dirty="0">
                <a:solidFill>
                  <a:srgbClr val="3E3E3E"/>
                </a:solidFill>
                <a:latin typeface="Times New Roman"/>
                <a:cs typeface="Times New Roman"/>
              </a:rPr>
              <a:t>n</a:t>
            </a:r>
            <a:r>
              <a:rPr sz="1750" b="1" dirty="0">
                <a:solidFill>
                  <a:srgbClr val="3E3E3E"/>
                </a:solidFill>
                <a:latin typeface="微软雅黑"/>
                <a:cs typeface="微软雅黑"/>
              </a:rPr>
              <a:t>个输出，输出的</a:t>
            </a:r>
            <a:r>
              <a:rPr sz="1750" b="1" spc="-20" dirty="0">
                <a:solidFill>
                  <a:srgbClr val="3E3E3E"/>
                </a:solidFill>
                <a:latin typeface="Times New Roman"/>
                <a:cs typeface="Times New Roman"/>
              </a:rPr>
              <a:t>n</a:t>
            </a:r>
            <a:r>
              <a:rPr sz="1750" b="1" spc="-5" dirty="0">
                <a:solidFill>
                  <a:srgbClr val="3E3E3E"/>
                </a:solidFill>
                <a:latin typeface="微软雅黑"/>
                <a:cs typeface="微软雅黑"/>
              </a:rPr>
              <a:t>位二进制数代表着输入标号为</a:t>
            </a:r>
            <a:r>
              <a:rPr sz="1750" b="1" dirty="0">
                <a:latin typeface="Times New Roman"/>
                <a:cs typeface="Times New Roman"/>
              </a:rPr>
              <a:t>2</a:t>
            </a:r>
            <a:r>
              <a:rPr sz="1725" b="1" baseline="26570" dirty="0">
                <a:latin typeface="Times New Roman"/>
                <a:cs typeface="Times New Roman"/>
              </a:rPr>
              <a:t>n</a:t>
            </a:r>
            <a:r>
              <a:rPr sz="1750" b="1" spc="-10" dirty="0">
                <a:solidFill>
                  <a:srgbClr val="3E3E3E"/>
                </a:solidFill>
                <a:latin typeface="微软雅黑"/>
                <a:cs typeface="微软雅黑"/>
              </a:rPr>
              <a:t>中的哪一路输入是高</a:t>
            </a:r>
            <a:r>
              <a:rPr sz="1750" b="1" spc="-20" dirty="0">
                <a:solidFill>
                  <a:srgbClr val="3E3E3E"/>
                </a:solidFill>
                <a:latin typeface="微软雅黑"/>
                <a:cs typeface="微软雅黑"/>
              </a:rPr>
              <a:t>电平。</a:t>
            </a:r>
            <a:endParaRPr sz="175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278259" y="1743455"/>
            <a:ext cx="4364355" cy="4522470"/>
            <a:chOff x="5278259" y="1743455"/>
            <a:chExt cx="4364355" cy="4522470"/>
          </a:xfrm>
        </p:grpSpPr>
        <p:sp>
          <p:nvSpPr>
            <p:cNvPr id="3" name="object 3"/>
            <p:cNvSpPr/>
            <p:nvPr/>
          </p:nvSpPr>
          <p:spPr>
            <a:xfrm>
              <a:off x="5288927" y="1754123"/>
              <a:ext cx="4342765" cy="4500880"/>
            </a:xfrm>
            <a:custGeom>
              <a:avLst/>
              <a:gdLst/>
              <a:ahLst/>
              <a:cxnLst/>
              <a:rect l="l" t="t" r="r" b="b"/>
              <a:pathLst>
                <a:path w="4342765" h="4500880">
                  <a:moveTo>
                    <a:pt x="4342638" y="4500372"/>
                  </a:moveTo>
                  <a:lnTo>
                    <a:pt x="4342638" y="0"/>
                  </a:lnTo>
                  <a:lnTo>
                    <a:pt x="0" y="0"/>
                  </a:lnTo>
                  <a:lnTo>
                    <a:pt x="0" y="4500372"/>
                  </a:lnTo>
                  <a:lnTo>
                    <a:pt x="4342638" y="4500372"/>
                  </a:lnTo>
                  <a:close/>
                </a:path>
              </a:pathLst>
            </a:custGeom>
            <a:solidFill>
              <a:srgbClr val="E1E1E3"/>
            </a:solidFill>
          </p:spPr>
          <p:txBody>
            <a:bodyPr wrap="square" lIns="0" tIns="0" rIns="0" bIns="0" rtlCol="0"/>
            <a:lstStyle/>
            <a:p>
              <a:endParaRPr/>
            </a:p>
          </p:txBody>
        </p:sp>
        <p:sp>
          <p:nvSpPr>
            <p:cNvPr id="4" name="object 4"/>
            <p:cNvSpPr/>
            <p:nvPr/>
          </p:nvSpPr>
          <p:spPr>
            <a:xfrm>
              <a:off x="5278259" y="1743455"/>
              <a:ext cx="4364355" cy="4522470"/>
            </a:xfrm>
            <a:custGeom>
              <a:avLst/>
              <a:gdLst/>
              <a:ahLst/>
              <a:cxnLst/>
              <a:rect l="l" t="t" r="r" b="b"/>
              <a:pathLst>
                <a:path w="4364355" h="4522470">
                  <a:moveTo>
                    <a:pt x="4363974" y="4517898"/>
                  </a:moveTo>
                  <a:lnTo>
                    <a:pt x="4363974" y="4572"/>
                  </a:lnTo>
                  <a:lnTo>
                    <a:pt x="4359402" y="0"/>
                  </a:lnTo>
                  <a:lnTo>
                    <a:pt x="4571" y="0"/>
                  </a:lnTo>
                  <a:lnTo>
                    <a:pt x="0" y="4572"/>
                  </a:lnTo>
                  <a:lnTo>
                    <a:pt x="0" y="4517898"/>
                  </a:lnTo>
                  <a:lnTo>
                    <a:pt x="4572" y="4522470"/>
                  </a:lnTo>
                  <a:lnTo>
                    <a:pt x="10667" y="4522470"/>
                  </a:lnTo>
                  <a:lnTo>
                    <a:pt x="10668" y="22098"/>
                  </a:lnTo>
                  <a:lnTo>
                    <a:pt x="22098" y="10668"/>
                  </a:lnTo>
                  <a:lnTo>
                    <a:pt x="22098" y="22098"/>
                  </a:lnTo>
                  <a:lnTo>
                    <a:pt x="4341876" y="22098"/>
                  </a:lnTo>
                  <a:lnTo>
                    <a:pt x="4341876" y="10668"/>
                  </a:lnTo>
                  <a:lnTo>
                    <a:pt x="4353306" y="22098"/>
                  </a:lnTo>
                  <a:lnTo>
                    <a:pt x="4353306" y="4522470"/>
                  </a:lnTo>
                  <a:lnTo>
                    <a:pt x="4359402" y="4522470"/>
                  </a:lnTo>
                  <a:lnTo>
                    <a:pt x="4363974" y="4517898"/>
                  </a:lnTo>
                  <a:close/>
                </a:path>
                <a:path w="4364355" h="4522470">
                  <a:moveTo>
                    <a:pt x="22098" y="22098"/>
                  </a:moveTo>
                  <a:lnTo>
                    <a:pt x="22098" y="10668"/>
                  </a:lnTo>
                  <a:lnTo>
                    <a:pt x="10668" y="22098"/>
                  </a:lnTo>
                  <a:lnTo>
                    <a:pt x="22098" y="22098"/>
                  </a:lnTo>
                  <a:close/>
                </a:path>
                <a:path w="4364355" h="4522470">
                  <a:moveTo>
                    <a:pt x="22098" y="4500372"/>
                  </a:moveTo>
                  <a:lnTo>
                    <a:pt x="22098" y="22098"/>
                  </a:lnTo>
                  <a:lnTo>
                    <a:pt x="10668" y="22098"/>
                  </a:lnTo>
                  <a:lnTo>
                    <a:pt x="10668" y="4500372"/>
                  </a:lnTo>
                  <a:lnTo>
                    <a:pt x="22098" y="4500372"/>
                  </a:lnTo>
                  <a:close/>
                </a:path>
                <a:path w="4364355" h="4522470">
                  <a:moveTo>
                    <a:pt x="4353306" y="4500372"/>
                  </a:moveTo>
                  <a:lnTo>
                    <a:pt x="10668" y="4500372"/>
                  </a:lnTo>
                  <a:lnTo>
                    <a:pt x="22098" y="4511040"/>
                  </a:lnTo>
                  <a:lnTo>
                    <a:pt x="22098" y="4522470"/>
                  </a:lnTo>
                  <a:lnTo>
                    <a:pt x="4341876" y="4522470"/>
                  </a:lnTo>
                  <a:lnTo>
                    <a:pt x="4341876" y="4511040"/>
                  </a:lnTo>
                  <a:lnTo>
                    <a:pt x="4353306" y="4500372"/>
                  </a:lnTo>
                  <a:close/>
                </a:path>
                <a:path w="4364355" h="4522470">
                  <a:moveTo>
                    <a:pt x="22098" y="4522470"/>
                  </a:moveTo>
                  <a:lnTo>
                    <a:pt x="22098" y="4511040"/>
                  </a:lnTo>
                  <a:lnTo>
                    <a:pt x="10668" y="4500372"/>
                  </a:lnTo>
                  <a:lnTo>
                    <a:pt x="10667" y="4522470"/>
                  </a:lnTo>
                  <a:lnTo>
                    <a:pt x="22098" y="4522470"/>
                  </a:lnTo>
                  <a:close/>
                </a:path>
                <a:path w="4364355" h="4522470">
                  <a:moveTo>
                    <a:pt x="4353306" y="22098"/>
                  </a:moveTo>
                  <a:lnTo>
                    <a:pt x="4341876" y="10668"/>
                  </a:lnTo>
                  <a:lnTo>
                    <a:pt x="4341876" y="22098"/>
                  </a:lnTo>
                  <a:lnTo>
                    <a:pt x="4353306" y="22098"/>
                  </a:lnTo>
                  <a:close/>
                </a:path>
                <a:path w="4364355" h="4522470">
                  <a:moveTo>
                    <a:pt x="4353306" y="4500372"/>
                  </a:moveTo>
                  <a:lnTo>
                    <a:pt x="4353306" y="22098"/>
                  </a:lnTo>
                  <a:lnTo>
                    <a:pt x="4341876" y="22098"/>
                  </a:lnTo>
                  <a:lnTo>
                    <a:pt x="4341876" y="4500372"/>
                  </a:lnTo>
                  <a:lnTo>
                    <a:pt x="4353306" y="4500372"/>
                  </a:lnTo>
                  <a:close/>
                </a:path>
                <a:path w="4364355" h="4522470">
                  <a:moveTo>
                    <a:pt x="4353306" y="4522470"/>
                  </a:moveTo>
                  <a:lnTo>
                    <a:pt x="4353306" y="4500372"/>
                  </a:lnTo>
                  <a:lnTo>
                    <a:pt x="4341876" y="4511040"/>
                  </a:lnTo>
                  <a:lnTo>
                    <a:pt x="4341876" y="4522470"/>
                  </a:lnTo>
                  <a:lnTo>
                    <a:pt x="4353306" y="4522470"/>
                  </a:lnTo>
                  <a:close/>
                </a:path>
              </a:pathLst>
            </a:custGeom>
            <a:solidFill>
              <a:srgbClr val="006479"/>
            </a:solidFill>
          </p:spPr>
          <p:txBody>
            <a:bodyPr wrap="square" lIns="0" tIns="0" rIns="0" bIns="0" rtlCol="0"/>
            <a:lstStyle/>
            <a:p>
              <a:endParaRPr/>
            </a:p>
          </p:txBody>
        </p:sp>
      </p:grpSp>
      <p:grpSp>
        <p:nvGrpSpPr>
          <p:cNvPr id="5" name="object 5"/>
          <p:cNvGrpSpPr/>
          <p:nvPr/>
        </p:nvGrpSpPr>
        <p:grpSpPr>
          <a:xfrm>
            <a:off x="755789" y="1743455"/>
            <a:ext cx="3870960" cy="4522470"/>
            <a:chOff x="755789" y="1743455"/>
            <a:chExt cx="3870960" cy="4522470"/>
          </a:xfrm>
        </p:grpSpPr>
        <p:sp>
          <p:nvSpPr>
            <p:cNvPr id="6" name="object 6"/>
            <p:cNvSpPr/>
            <p:nvPr/>
          </p:nvSpPr>
          <p:spPr>
            <a:xfrm>
              <a:off x="766457" y="1754123"/>
              <a:ext cx="3850004" cy="4500880"/>
            </a:xfrm>
            <a:custGeom>
              <a:avLst/>
              <a:gdLst/>
              <a:ahLst/>
              <a:cxnLst/>
              <a:rect l="l" t="t" r="r" b="b"/>
              <a:pathLst>
                <a:path w="3850004" h="4500880">
                  <a:moveTo>
                    <a:pt x="3849624" y="4500372"/>
                  </a:moveTo>
                  <a:lnTo>
                    <a:pt x="3849624" y="0"/>
                  </a:lnTo>
                  <a:lnTo>
                    <a:pt x="0" y="0"/>
                  </a:lnTo>
                  <a:lnTo>
                    <a:pt x="0" y="4500372"/>
                  </a:lnTo>
                  <a:lnTo>
                    <a:pt x="3849624" y="4500372"/>
                  </a:lnTo>
                  <a:close/>
                </a:path>
              </a:pathLst>
            </a:custGeom>
            <a:solidFill>
              <a:srgbClr val="E1E1E3"/>
            </a:solidFill>
          </p:spPr>
          <p:txBody>
            <a:bodyPr wrap="square" lIns="0" tIns="0" rIns="0" bIns="0" rtlCol="0"/>
            <a:lstStyle/>
            <a:p>
              <a:endParaRPr/>
            </a:p>
          </p:txBody>
        </p:sp>
        <p:sp>
          <p:nvSpPr>
            <p:cNvPr id="7" name="object 7"/>
            <p:cNvSpPr/>
            <p:nvPr/>
          </p:nvSpPr>
          <p:spPr>
            <a:xfrm>
              <a:off x="755789" y="1743455"/>
              <a:ext cx="3870960" cy="4522470"/>
            </a:xfrm>
            <a:custGeom>
              <a:avLst/>
              <a:gdLst/>
              <a:ahLst/>
              <a:cxnLst/>
              <a:rect l="l" t="t" r="r" b="b"/>
              <a:pathLst>
                <a:path w="3870960" h="4522470">
                  <a:moveTo>
                    <a:pt x="3870960" y="4517898"/>
                  </a:moveTo>
                  <a:lnTo>
                    <a:pt x="3870960" y="4572"/>
                  </a:lnTo>
                  <a:lnTo>
                    <a:pt x="3866388" y="0"/>
                  </a:lnTo>
                  <a:lnTo>
                    <a:pt x="4571" y="0"/>
                  </a:lnTo>
                  <a:lnTo>
                    <a:pt x="0" y="4572"/>
                  </a:lnTo>
                  <a:lnTo>
                    <a:pt x="0" y="4517898"/>
                  </a:lnTo>
                  <a:lnTo>
                    <a:pt x="4572" y="4522470"/>
                  </a:lnTo>
                  <a:lnTo>
                    <a:pt x="10667" y="4522470"/>
                  </a:lnTo>
                  <a:lnTo>
                    <a:pt x="10668" y="22098"/>
                  </a:lnTo>
                  <a:lnTo>
                    <a:pt x="22098" y="10668"/>
                  </a:lnTo>
                  <a:lnTo>
                    <a:pt x="22098" y="22098"/>
                  </a:lnTo>
                  <a:lnTo>
                    <a:pt x="3848862" y="22098"/>
                  </a:lnTo>
                  <a:lnTo>
                    <a:pt x="3848862" y="10668"/>
                  </a:lnTo>
                  <a:lnTo>
                    <a:pt x="3860291" y="22098"/>
                  </a:lnTo>
                  <a:lnTo>
                    <a:pt x="3860291" y="4522470"/>
                  </a:lnTo>
                  <a:lnTo>
                    <a:pt x="3866388" y="4522470"/>
                  </a:lnTo>
                  <a:lnTo>
                    <a:pt x="3870960" y="4517898"/>
                  </a:lnTo>
                  <a:close/>
                </a:path>
                <a:path w="3870960" h="4522470">
                  <a:moveTo>
                    <a:pt x="22098" y="22098"/>
                  </a:moveTo>
                  <a:lnTo>
                    <a:pt x="22098" y="10668"/>
                  </a:lnTo>
                  <a:lnTo>
                    <a:pt x="10668" y="22098"/>
                  </a:lnTo>
                  <a:lnTo>
                    <a:pt x="22098" y="22098"/>
                  </a:lnTo>
                  <a:close/>
                </a:path>
                <a:path w="3870960" h="4522470">
                  <a:moveTo>
                    <a:pt x="22098" y="4500372"/>
                  </a:moveTo>
                  <a:lnTo>
                    <a:pt x="22098" y="22098"/>
                  </a:lnTo>
                  <a:lnTo>
                    <a:pt x="10668" y="22098"/>
                  </a:lnTo>
                  <a:lnTo>
                    <a:pt x="10668" y="4500372"/>
                  </a:lnTo>
                  <a:lnTo>
                    <a:pt x="22098" y="4500372"/>
                  </a:lnTo>
                  <a:close/>
                </a:path>
                <a:path w="3870960" h="4522470">
                  <a:moveTo>
                    <a:pt x="3860291" y="4500372"/>
                  </a:moveTo>
                  <a:lnTo>
                    <a:pt x="10668" y="4500372"/>
                  </a:lnTo>
                  <a:lnTo>
                    <a:pt x="22098" y="4511040"/>
                  </a:lnTo>
                  <a:lnTo>
                    <a:pt x="22098" y="4522470"/>
                  </a:lnTo>
                  <a:lnTo>
                    <a:pt x="3848862" y="4522470"/>
                  </a:lnTo>
                  <a:lnTo>
                    <a:pt x="3848862" y="4511040"/>
                  </a:lnTo>
                  <a:lnTo>
                    <a:pt x="3860291" y="4500372"/>
                  </a:lnTo>
                  <a:close/>
                </a:path>
                <a:path w="3870960" h="4522470">
                  <a:moveTo>
                    <a:pt x="22098" y="4522470"/>
                  </a:moveTo>
                  <a:lnTo>
                    <a:pt x="22098" y="4511040"/>
                  </a:lnTo>
                  <a:lnTo>
                    <a:pt x="10668" y="4500372"/>
                  </a:lnTo>
                  <a:lnTo>
                    <a:pt x="10667" y="4522470"/>
                  </a:lnTo>
                  <a:lnTo>
                    <a:pt x="22098" y="4522470"/>
                  </a:lnTo>
                  <a:close/>
                </a:path>
                <a:path w="3870960" h="4522470">
                  <a:moveTo>
                    <a:pt x="3860291" y="22098"/>
                  </a:moveTo>
                  <a:lnTo>
                    <a:pt x="3848862" y="10668"/>
                  </a:lnTo>
                  <a:lnTo>
                    <a:pt x="3848862" y="22098"/>
                  </a:lnTo>
                  <a:lnTo>
                    <a:pt x="3860291" y="22098"/>
                  </a:lnTo>
                  <a:close/>
                </a:path>
                <a:path w="3870960" h="4522470">
                  <a:moveTo>
                    <a:pt x="3860291" y="4500372"/>
                  </a:moveTo>
                  <a:lnTo>
                    <a:pt x="3860291" y="22098"/>
                  </a:lnTo>
                  <a:lnTo>
                    <a:pt x="3848862" y="22098"/>
                  </a:lnTo>
                  <a:lnTo>
                    <a:pt x="3848862" y="4500372"/>
                  </a:lnTo>
                  <a:lnTo>
                    <a:pt x="3860291" y="4500372"/>
                  </a:lnTo>
                  <a:close/>
                </a:path>
                <a:path w="3870960" h="4522470">
                  <a:moveTo>
                    <a:pt x="3860291" y="4522470"/>
                  </a:moveTo>
                  <a:lnTo>
                    <a:pt x="3860291" y="4500372"/>
                  </a:lnTo>
                  <a:lnTo>
                    <a:pt x="3848862" y="4511040"/>
                  </a:lnTo>
                  <a:lnTo>
                    <a:pt x="3848862" y="4522470"/>
                  </a:lnTo>
                  <a:lnTo>
                    <a:pt x="3860291" y="4522470"/>
                  </a:lnTo>
                  <a:close/>
                </a:path>
              </a:pathLst>
            </a:custGeom>
            <a:solidFill>
              <a:srgbClr val="006479"/>
            </a:solidFill>
          </p:spPr>
          <p:txBody>
            <a:bodyPr wrap="square" lIns="0" tIns="0" rIns="0" bIns="0" rtlCol="0"/>
            <a:lstStyle/>
            <a:p>
              <a:endParaRPr/>
            </a:p>
          </p:txBody>
        </p:sp>
      </p:grpSp>
      <p:graphicFrame>
        <p:nvGraphicFramePr>
          <p:cNvPr id="8" name="object 8"/>
          <p:cNvGraphicFramePr>
            <a:graphicFrameLocks noGrp="1"/>
          </p:cNvGraphicFramePr>
          <p:nvPr/>
        </p:nvGraphicFramePr>
        <p:xfrm>
          <a:off x="963580" y="2324627"/>
          <a:ext cx="3361685" cy="2105655"/>
        </p:xfrm>
        <a:graphic>
          <a:graphicData uri="http://schemas.openxmlformats.org/drawingml/2006/table">
            <a:tbl>
              <a:tblPr firstRow="1" bandRow="1">
                <a:tableStyleId>{2D5ABB26-0587-4C30-8999-92F81FD0307C}</a:tableStyleId>
              </a:tblPr>
              <a:tblGrid>
                <a:gridCol w="339090">
                  <a:extLst>
                    <a:ext uri="{9D8B030D-6E8A-4147-A177-3AD203B41FA5}">
                      <a16:colId xmlns:a16="http://schemas.microsoft.com/office/drawing/2014/main" val="20000"/>
                    </a:ext>
                  </a:extLst>
                </a:gridCol>
                <a:gridCol w="267335">
                  <a:extLst>
                    <a:ext uri="{9D8B030D-6E8A-4147-A177-3AD203B41FA5}">
                      <a16:colId xmlns:a16="http://schemas.microsoft.com/office/drawing/2014/main" val="20001"/>
                    </a:ext>
                  </a:extLst>
                </a:gridCol>
                <a:gridCol w="340359">
                  <a:extLst>
                    <a:ext uri="{9D8B030D-6E8A-4147-A177-3AD203B41FA5}">
                      <a16:colId xmlns:a16="http://schemas.microsoft.com/office/drawing/2014/main" val="20002"/>
                    </a:ext>
                  </a:extLst>
                </a:gridCol>
                <a:gridCol w="405129">
                  <a:extLst>
                    <a:ext uri="{9D8B030D-6E8A-4147-A177-3AD203B41FA5}">
                      <a16:colId xmlns:a16="http://schemas.microsoft.com/office/drawing/2014/main" val="20003"/>
                    </a:ext>
                  </a:extLst>
                </a:gridCol>
                <a:gridCol w="267334">
                  <a:extLst>
                    <a:ext uri="{9D8B030D-6E8A-4147-A177-3AD203B41FA5}">
                      <a16:colId xmlns:a16="http://schemas.microsoft.com/office/drawing/2014/main" val="20004"/>
                    </a:ext>
                  </a:extLst>
                </a:gridCol>
                <a:gridCol w="267334">
                  <a:extLst>
                    <a:ext uri="{9D8B030D-6E8A-4147-A177-3AD203B41FA5}">
                      <a16:colId xmlns:a16="http://schemas.microsoft.com/office/drawing/2014/main" val="20005"/>
                    </a:ext>
                  </a:extLst>
                </a:gridCol>
                <a:gridCol w="266700">
                  <a:extLst>
                    <a:ext uri="{9D8B030D-6E8A-4147-A177-3AD203B41FA5}">
                      <a16:colId xmlns:a16="http://schemas.microsoft.com/office/drawing/2014/main" val="20006"/>
                    </a:ext>
                  </a:extLst>
                </a:gridCol>
                <a:gridCol w="266700">
                  <a:extLst>
                    <a:ext uri="{9D8B030D-6E8A-4147-A177-3AD203B41FA5}">
                      <a16:colId xmlns:a16="http://schemas.microsoft.com/office/drawing/2014/main" val="20007"/>
                    </a:ext>
                  </a:extLst>
                </a:gridCol>
                <a:gridCol w="267969">
                  <a:extLst>
                    <a:ext uri="{9D8B030D-6E8A-4147-A177-3AD203B41FA5}">
                      <a16:colId xmlns:a16="http://schemas.microsoft.com/office/drawing/2014/main" val="20008"/>
                    </a:ext>
                  </a:extLst>
                </a:gridCol>
                <a:gridCol w="267335">
                  <a:extLst>
                    <a:ext uri="{9D8B030D-6E8A-4147-A177-3AD203B41FA5}">
                      <a16:colId xmlns:a16="http://schemas.microsoft.com/office/drawing/2014/main" val="20009"/>
                    </a:ext>
                  </a:extLst>
                </a:gridCol>
                <a:gridCol w="406400">
                  <a:extLst>
                    <a:ext uri="{9D8B030D-6E8A-4147-A177-3AD203B41FA5}">
                      <a16:colId xmlns:a16="http://schemas.microsoft.com/office/drawing/2014/main" val="20010"/>
                    </a:ext>
                  </a:extLst>
                </a:gridCol>
              </a:tblGrid>
              <a:tr h="234315">
                <a:tc gridSpan="3">
                  <a:txBody>
                    <a:bodyPr/>
                    <a:lstStyle/>
                    <a:p>
                      <a:pPr marL="70485">
                        <a:lnSpc>
                          <a:spcPts val="1635"/>
                        </a:lnSpc>
                        <a:spcBef>
                          <a:spcPts val="110"/>
                        </a:spcBef>
                      </a:pPr>
                      <a:r>
                        <a:rPr sz="1400" b="1" dirty="0">
                          <a:solidFill>
                            <a:srgbClr val="FFFFFF"/>
                          </a:solidFill>
                          <a:latin typeface="Times New Roman"/>
                          <a:cs typeface="Times New Roman"/>
                        </a:rPr>
                        <a:t>in2 in1 </a:t>
                      </a:r>
                      <a:r>
                        <a:rPr sz="1400" b="1" spc="-25" dirty="0">
                          <a:solidFill>
                            <a:srgbClr val="FFFFFF"/>
                          </a:solidFill>
                          <a:latin typeface="Times New Roman"/>
                          <a:cs typeface="Times New Roman"/>
                        </a:rPr>
                        <a:t>in0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hMerge="1">
                  <a:txBody>
                    <a:bodyPr/>
                    <a:lstStyle/>
                    <a:p>
                      <a:endParaRPr/>
                    </a:p>
                  </a:txBody>
                  <a:tcPr marL="0" marR="0" marT="0" marB="0"/>
                </a:tc>
                <a:tc hMerge="1">
                  <a:txBody>
                    <a:bodyPr/>
                    <a:lstStyle/>
                    <a:p>
                      <a:endParaRPr/>
                    </a:p>
                  </a:txBody>
                  <a:tcPr marL="0" marR="0" marT="0" marB="0"/>
                </a:tc>
                <a:tc gridSpan="8">
                  <a:txBody>
                    <a:bodyPr/>
                    <a:lstStyle/>
                    <a:p>
                      <a:pPr marL="182245">
                        <a:lnSpc>
                          <a:spcPts val="1635"/>
                        </a:lnSpc>
                        <a:spcBef>
                          <a:spcPts val="110"/>
                        </a:spcBef>
                      </a:pPr>
                      <a:r>
                        <a:rPr sz="1400" b="1" dirty="0">
                          <a:solidFill>
                            <a:srgbClr val="FFFFFF"/>
                          </a:solidFill>
                          <a:latin typeface="Times New Roman"/>
                          <a:cs typeface="Times New Roman"/>
                        </a:rPr>
                        <a:t>y0</a:t>
                      </a:r>
                      <a:r>
                        <a:rPr sz="1400" b="1" spc="350" dirty="0">
                          <a:solidFill>
                            <a:srgbClr val="FFFFFF"/>
                          </a:solidFill>
                          <a:latin typeface="Times New Roman"/>
                          <a:cs typeface="Times New Roman"/>
                        </a:rPr>
                        <a:t> </a:t>
                      </a:r>
                      <a:r>
                        <a:rPr sz="1400" b="1" dirty="0">
                          <a:solidFill>
                            <a:srgbClr val="FFFFFF"/>
                          </a:solidFill>
                          <a:latin typeface="Times New Roman"/>
                          <a:cs typeface="Times New Roman"/>
                        </a:rPr>
                        <a:t>y1</a:t>
                      </a:r>
                      <a:r>
                        <a:rPr sz="1400" b="1" spc="350" dirty="0">
                          <a:solidFill>
                            <a:srgbClr val="FFFFFF"/>
                          </a:solidFill>
                          <a:latin typeface="Times New Roman"/>
                          <a:cs typeface="Times New Roman"/>
                        </a:rPr>
                        <a:t> </a:t>
                      </a:r>
                      <a:r>
                        <a:rPr sz="1400" b="1" dirty="0">
                          <a:solidFill>
                            <a:srgbClr val="FFFFFF"/>
                          </a:solidFill>
                          <a:latin typeface="Times New Roman"/>
                          <a:cs typeface="Times New Roman"/>
                        </a:rPr>
                        <a:t>y2</a:t>
                      </a:r>
                      <a:r>
                        <a:rPr sz="1400" b="1" spc="350" dirty="0">
                          <a:solidFill>
                            <a:srgbClr val="FFFFFF"/>
                          </a:solidFill>
                          <a:latin typeface="Times New Roman"/>
                          <a:cs typeface="Times New Roman"/>
                        </a:rPr>
                        <a:t> </a:t>
                      </a:r>
                      <a:r>
                        <a:rPr sz="1400" b="1" dirty="0">
                          <a:solidFill>
                            <a:srgbClr val="FFFFFF"/>
                          </a:solidFill>
                          <a:latin typeface="Times New Roman"/>
                          <a:cs typeface="Times New Roman"/>
                        </a:rPr>
                        <a:t>y3</a:t>
                      </a:r>
                      <a:r>
                        <a:rPr sz="1400" b="1" spc="340" dirty="0">
                          <a:solidFill>
                            <a:srgbClr val="FFFFFF"/>
                          </a:solidFill>
                          <a:latin typeface="Times New Roman"/>
                          <a:cs typeface="Times New Roman"/>
                        </a:rPr>
                        <a:t> </a:t>
                      </a:r>
                      <a:r>
                        <a:rPr sz="1400" b="1" dirty="0">
                          <a:solidFill>
                            <a:srgbClr val="FFFFFF"/>
                          </a:solidFill>
                          <a:latin typeface="Times New Roman"/>
                          <a:cs typeface="Times New Roman"/>
                        </a:rPr>
                        <a:t>y4</a:t>
                      </a:r>
                      <a:r>
                        <a:rPr sz="1400" b="1" spc="350" dirty="0">
                          <a:solidFill>
                            <a:srgbClr val="FFFFFF"/>
                          </a:solidFill>
                          <a:latin typeface="Times New Roman"/>
                          <a:cs typeface="Times New Roman"/>
                        </a:rPr>
                        <a:t> </a:t>
                      </a:r>
                      <a:r>
                        <a:rPr sz="1400" b="1" dirty="0">
                          <a:solidFill>
                            <a:srgbClr val="FFFFFF"/>
                          </a:solidFill>
                          <a:latin typeface="Times New Roman"/>
                          <a:cs typeface="Times New Roman"/>
                        </a:rPr>
                        <a:t>y5</a:t>
                      </a:r>
                      <a:r>
                        <a:rPr sz="1400" b="1" spc="350" dirty="0">
                          <a:solidFill>
                            <a:srgbClr val="FFFFFF"/>
                          </a:solidFill>
                          <a:latin typeface="Times New Roman"/>
                          <a:cs typeface="Times New Roman"/>
                        </a:rPr>
                        <a:t> </a:t>
                      </a:r>
                      <a:r>
                        <a:rPr sz="1400" b="1" dirty="0">
                          <a:solidFill>
                            <a:srgbClr val="FFFFFF"/>
                          </a:solidFill>
                          <a:latin typeface="Times New Roman"/>
                          <a:cs typeface="Times New Roman"/>
                        </a:rPr>
                        <a:t>y6</a:t>
                      </a:r>
                      <a:r>
                        <a:rPr sz="1400" b="1" spc="340" dirty="0">
                          <a:solidFill>
                            <a:srgbClr val="FFFFFF"/>
                          </a:solidFill>
                          <a:latin typeface="Times New Roman"/>
                          <a:cs typeface="Times New Roman"/>
                        </a:rPr>
                        <a:t> </a:t>
                      </a:r>
                      <a:r>
                        <a:rPr sz="1400" b="1" spc="-25" dirty="0">
                          <a:solidFill>
                            <a:srgbClr val="FFFFFF"/>
                          </a:solidFill>
                          <a:latin typeface="Times New Roman"/>
                          <a:cs typeface="Times New Roman"/>
                        </a:rPr>
                        <a:t>y7</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679">
                <a:tc>
                  <a:txBody>
                    <a:bodyPr/>
                    <a:lstStyle/>
                    <a:p>
                      <a:pPr marL="71120"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381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008BA7"/>
                    </a:solidFill>
                  </a:tcPr>
                </a:tc>
                <a:tc>
                  <a:txBody>
                    <a:bodyPr/>
                    <a:lstStyle/>
                    <a:p>
                      <a:pPr marR="65405"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L w="12700">
                      <a:solidFill>
                        <a:srgbClr val="FFFFFF"/>
                      </a:solidFill>
                      <a:prstDash val="solid"/>
                    </a:lnL>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marL="88265">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34315">
                <a:tc>
                  <a:txBody>
                    <a:bodyPr/>
                    <a:lstStyle/>
                    <a:p>
                      <a:pPr marL="71120" algn="ct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5"/>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88265">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33679">
                <a:tc>
                  <a:txBody>
                    <a:bodyPr/>
                    <a:lstStyle/>
                    <a:p>
                      <a:pPr marL="71120"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marL="635"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marL="88265">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33679">
                <a:tc>
                  <a:txBody>
                    <a:bodyPr/>
                    <a:lstStyle/>
                    <a:p>
                      <a:pPr marL="71120" algn="ctr">
                        <a:lnSpc>
                          <a:spcPts val="163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0"/>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0"/>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88265">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34315">
                <a:tc>
                  <a:txBody>
                    <a:bodyPr/>
                    <a:lstStyle/>
                    <a:p>
                      <a:pPr marL="71120" algn="ctr">
                        <a:lnSpc>
                          <a:spcPts val="1635"/>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635"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88265">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33679">
                <a:tc>
                  <a:txBody>
                    <a:bodyPr/>
                    <a:lstStyle/>
                    <a:p>
                      <a:pPr marL="71120" algn="ctr">
                        <a:lnSpc>
                          <a:spcPts val="1635"/>
                        </a:lnSpc>
                        <a:spcBef>
                          <a:spcPts val="105"/>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5"/>
                        </a:lnSpc>
                        <a:spcBef>
                          <a:spcPts val="105"/>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marL="88265">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33679">
                <a:tc>
                  <a:txBody>
                    <a:bodyPr/>
                    <a:lstStyle/>
                    <a:p>
                      <a:pPr marL="71755" algn="ctr">
                        <a:lnSpc>
                          <a:spcPts val="1630"/>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0"/>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635"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635" algn="ctr">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88265">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34315">
                <a:tc>
                  <a:txBody>
                    <a:bodyPr/>
                    <a:lstStyle/>
                    <a:p>
                      <a:pPr marL="71755" algn="ctr">
                        <a:lnSpc>
                          <a:spcPts val="1635"/>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008BA7"/>
                    </a:solidFill>
                  </a:tcPr>
                </a:tc>
                <a:tc>
                  <a:txBody>
                    <a:bodyPr/>
                    <a:lstStyle/>
                    <a:p>
                      <a:pPr marR="64769" algn="ctr">
                        <a:lnSpc>
                          <a:spcPts val="1635"/>
                        </a:lnSpc>
                        <a:spcBef>
                          <a:spcPts val="110"/>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635"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88265">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bl>
          </a:graphicData>
        </a:graphic>
      </p:graphicFrame>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9" name="object 9"/>
          <p:cNvSpPr txBox="1"/>
          <p:nvPr/>
        </p:nvSpPr>
        <p:spPr>
          <a:xfrm>
            <a:off x="1036453" y="1931923"/>
            <a:ext cx="233235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微软雅黑"/>
                <a:cs typeface="微软雅黑"/>
              </a:rPr>
              <a:t>表</a:t>
            </a:r>
            <a:r>
              <a:rPr sz="1550" b="1" dirty="0">
                <a:latin typeface="Times New Roman"/>
                <a:cs typeface="Times New Roman"/>
              </a:rPr>
              <a:t>3.4</a:t>
            </a:r>
            <a:r>
              <a:rPr sz="1550" b="1" dirty="0">
                <a:latin typeface="微软雅黑"/>
                <a:cs typeface="微软雅黑"/>
              </a:rPr>
              <a:t>：</a:t>
            </a:r>
            <a:r>
              <a:rPr sz="1550" b="1" dirty="0">
                <a:latin typeface="Times New Roman"/>
                <a:cs typeface="Times New Roman"/>
              </a:rPr>
              <a:t>3.8</a:t>
            </a:r>
            <a:r>
              <a:rPr sz="1550" b="1" spc="-10" dirty="0">
                <a:latin typeface="微软雅黑"/>
                <a:cs typeface="微软雅黑"/>
              </a:rPr>
              <a:t>译码器的真值表</a:t>
            </a:r>
            <a:endParaRPr sz="1550">
              <a:latin typeface="微软雅黑"/>
              <a:cs typeface="微软雅黑"/>
            </a:endParaRPr>
          </a:p>
        </p:txBody>
      </p:sp>
      <p:sp>
        <p:nvSpPr>
          <p:cNvPr id="10" name="object 10"/>
          <p:cNvSpPr txBox="1"/>
          <p:nvPr/>
        </p:nvSpPr>
        <p:spPr>
          <a:xfrm>
            <a:off x="5689239" y="1931923"/>
            <a:ext cx="234886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微软雅黑"/>
                <a:cs typeface="微软雅黑"/>
              </a:rPr>
              <a:t>表</a:t>
            </a:r>
            <a:r>
              <a:rPr sz="1550" b="1" dirty="0">
                <a:latin typeface="Times New Roman"/>
                <a:cs typeface="Times New Roman"/>
              </a:rPr>
              <a:t>3.5</a:t>
            </a:r>
            <a:r>
              <a:rPr sz="1550" b="1" dirty="0">
                <a:latin typeface="微软雅黑"/>
                <a:cs typeface="微软雅黑"/>
              </a:rPr>
              <a:t>：</a:t>
            </a:r>
            <a:r>
              <a:rPr sz="1550" b="1" dirty="0">
                <a:latin typeface="Times New Roman"/>
                <a:cs typeface="Times New Roman"/>
              </a:rPr>
              <a:t>8-3</a:t>
            </a:r>
            <a:r>
              <a:rPr sz="1550" b="1" spc="-10" dirty="0">
                <a:latin typeface="微软雅黑"/>
                <a:cs typeface="微软雅黑"/>
              </a:rPr>
              <a:t>编码器的真值表</a:t>
            </a:r>
            <a:endParaRPr sz="1550">
              <a:latin typeface="微软雅黑"/>
              <a:cs typeface="微软雅黑"/>
            </a:endParaRPr>
          </a:p>
        </p:txBody>
      </p:sp>
      <p:sp>
        <p:nvSpPr>
          <p:cNvPr id="11" name="object 11"/>
          <p:cNvSpPr txBox="1">
            <a:spLocks noGrp="1"/>
          </p:cNvSpPr>
          <p:nvPr>
            <p:ph type="title"/>
          </p:nvPr>
        </p:nvSpPr>
        <p:spPr>
          <a:xfrm>
            <a:off x="477146" y="1054862"/>
            <a:ext cx="32340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3.6.3</a:t>
            </a:r>
            <a:r>
              <a:rPr spc="-20" dirty="0"/>
              <a:t>译码器和编码器</a:t>
            </a:r>
          </a:p>
        </p:txBody>
      </p:sp>
      <p:sp>
        <p:nvSpPr>
          <p:cNvPr id="12" name="object 12"/>
          <p:cNvSpPr txBox="1"/>
          <p:nvPr/>
        </p:nvSpPr>
        <p:spPr>
          <a:xfrm>
            <a:off x="1036453" y="4433269"/>
            <a:ext cx="3027680" cy="1148080"/>
          </a:xfrm>
          <a:prstGeom prst="rect">
            <a:avLst/>
          </a:prstGeom>
        </p:spPr>
        <p:txBody>
          <a:bodyPr vert="horz" wrap="square" lIns="0" tIns="149860" rIns="0" bIns="0" rtlCol="0">
            <a:spAutoFit/>
          </a:bodyPr>
          <a:lstStyle/>
          <a:p>
            <a:pPr marL="262890" indent="-250190">
              <a:lnSpc>
                <a:spcPct val="100000"/>
              </a:lnSpc>
              <a:spcBef>
                <a:spcPts val="1180"/>
              </a:spcBef>
              <a:buFont typeface="Arial"/>
              <a:buChar char="•"/>
              <a:tabLst>
                <a:tab pos="262890" algn="l"/>
              </a:tabLst>
            </a:pPr>
            <a:r>
              <a:rPr sz="1550" dirty="0">
                <a:latin typeface="Times New Roman"/>
                <a:cs typeface="Times New Roman"/>
              </a:rPr>
              <a:t>in[2:0]</a:t>
            </a:r>
            <a:r>
              <a:rPr sz="1550" spc="-5" dirty="0">
                <a:latin typeface="微软雅黑"/>
                <a:cs typeface="微软雅黑"/>
              </a:rPr>
              <a:t>是编码器的三位逻辑输入</a:t>
            </a:r>
            <a:endParaRPr sz="1550">
              <a:latin typeface="微软雅黑"/>
              <a:cs typeface="微软雅黑"/>
            </a:endParaRPr>
          </a:p>
          <a:p>
            <a:pPr marL="262890" indent="-250190">
              <a:lnSpc>
                <a:spcPct val="100000"/>
              </a:lnSpc>
              <a:spcBef>
                <a:spcPts val="1085"/>
              </a:spcBef>
              <a:buFont typeface="Arial"/>
              <a:buChar char="•"/>
              <a:tabLst>
                <a:tab pos="262890" algn="l"/>
              </a:tabLst>
            </a:pPr>
            <a:r>
              <a:rPr sz="1550" dirty="0">
                <a:latin typeface="Times New Roman"/>
                <a:cs typeface="Times New Roman"/>
              </a:rPr>
              <a:t>y[7:0]</a:t>
            </a:r>
            <a:r>
              <a:rPr sz="1550" dirty="0">
                <a:latin typeface="微软雅黑"/>
                <a:cs typeface="微软雅黑"/>
              </a:rPr>
              <a:t>是其</a:t>
            </a:r>
            <a:r>
              <a:rPr sz="1550" dirty="0">
                <a:latin typeface="Times New Roman"/>
                <a:cs typeface="Times New Roman"/>
              </a:rPr>
              <a:t>8</a:t>
            </a:r>
            <a:r>
              <a:rPr sz="1550" spc="-10" dirty="0">
                <a:latin typeface="微软雅黑"/>
                <a:cs typeface="微软雅黑"/>
              </a:rPr>
              <a:t>位译码输出</a:t>
            </a:r>
            <a:endParaRPr sz="1550">
              <a:latin typeface="微软雅黑"/>
              <a:cs typeface="微软雅黑"/>
            </a:endParaRPr>
          </a:p>
          <a:p>
            <a:pPr marL="262890" indent="-250190">
              <a:lnSpc>
                <a:spcPct val="100000"/>
              </a:lnSpc>
              <a:spcBef>
                <a:spcPts val="1085"/>
              </a:spcBef>
              <a:buFont typeface="Arial"/>
              <a:buChar char="•"/>
              <a:tabLst>
                <a:tab pos="262890" algn="l"/>
              </a:tabLst>
            </a:pPr>
            <a:r>
              <a:rPr sz="1550" spc="-5" dirty="0">
                <a:latin typeface="微软雅黑"/>
                <a:cs typeface="微软雅黑"/>
              </a:rPr>
              <a:t>每次只有一位输出为高电平。</a:t>
            </a:r>
            <a:endParaRPr sz="1550">
              <a:latin typeface="微软雅黑"/>
              <a:cs typeface="微软雅黑"/>
            </a:endParaRPr>
          </a:p>
        </p:txBody>
      </p:sp>
      <p:sp>
        <p:nvSpPr>
          <p:cNvPr id="13" name="object 13"/>
          <p:cNvSpPr txBox="1"/>
          <p:nvPr/>
        </p:nvSpPr>
        <p:spPr>
          <a:xfrm>
            <a:off x="5465205" y="4566920"/>
            <a:ext cx="3985260" cy="1468755"/>
          </a:xfrm>
          <a:prstGeom prst="rect">
            <a:avLst/>
          </a:prstGeom>
        </p:spPr>
        <p:txBody>
          <a:bodyPr vert="horz" wrap="square" lIns="0" tIns="11430" rIns="0" bIns="0" rtlCol="0">
            <a:spAutoFit/>
          </a:bodyPr>
          <a:lstStyle/>
          <a:p>
            <a:pPr marL="262890" marR="5715" indent="-250825">
              <a:lnSpc>
                <a:spcPct val="101899"/>
              </a:lnSpc>
              <a:spcBef>
                <a:spcPts val="90"/>
              </a:spcBef>
              <a:buFont typeface="Arial"/>
              <a:buChar char="•"/>
              <a:tabLst>
                <a:tab pos="262890" algn="l"/>
              </a:tabLst>
            </a:pPr>
            <a:r>
              <a:rPr sz="1550" dirty="0">
                <a:latin typeface="微软雅黑"/>
                <a:cs typeface="微软雅黑"/>
              </a:rPr>
              <a:t>每一行的输入只有一个为</a:t>
            </a:r>
            <a:r>
              <a:rPr sz="1550" dirty="0">
                <a:latin typeface="Times New Roman"/>
                <a:cs typeface="Times New Roman"/>
              </a:rPr>
              <a:t>1</a:t>
            </a:r>
            <a:r>
              <a:rPr sz="1550" spc="-10" dirty="0">
                <a:latin typeface="微软雅黑"/>
                <a:cs typeface="微软雅黑"/>
              </a:rPr>
              <a:t>，其余的输入都</a:t>
            </a:r>
            <a:r>
              <a:rPr sz="1550" dirty="0">
                <a:latin typeface="微软雅黑"/>
                <a:cs typeface="微软雅黑"/>
              </a:rPr>
              <a:t>为</a:t>
            </a:r>
            <a:r>
              <a:rPr sz="1550" dirty="0">
                <a:latin typeface="Times New Roman"/>
                <a:cs typeface="Times New Roman"/>
              </a:rPr>
              <a:t>0</a:t>
            </a:r>
            <a:r>
              <a:rPr sz="1550" spc="-50" dirty="0">
                <a:latin typeface="微软雅黑"/>
                <a:cs typeface="微软雅黑"/>
              </a:rPr>
              <a:t>。</a:t>
            </a:r>
            <a:endParaRPr sz="1550">
              <a:latin typeface="微软雅黑"/>
              <a:cs typeface="微软雅黑"/>
            </a:endParaRPr>
          </a:p>
          <a:p>
            <a:pPr marL="262890" marR="5080" indent="-250825">
              <a:lnSpc>
                <a:spcPts val="1900"/>
              </a:lnSpc>
              <a:spcBef>
                <a:spcPts val="60"/>
              </a:spcBef>
              <a:buFont typeface="Arial"/>
              <a:buChar char="•"/>
              <a:tabLst>
                <a:tab pos="262890" algn="l"/>
              </a:tabLst>
            </a:pPr>
            <a:r>
              <a:rPr sz="1550" dirty="0">
                <a:latin typeface="微软雅黑"/>
                <a:cs typeface="微软雅黑"/>
              </a:rPr>
              <a:t>假设剩下的</a:t>
            </a:r>
            <a:r>
              <a:rPr sz="1550" dirty="0">
                <a:latin typeface="Times New Roman"/>
                <a:cs typeface="Times New Roman"/>
              </a:rPr>
              <a:t>248</a:t>
            </a:r>
            <a:r>
              <a:rPr sz="1550" spc="-5" dirty="0">
                <a:latin typeface="微软雅黑"/>
                <a:cs typeface="微软雅黑"/>
              </a:rPr>
              <a:t>种输入的可能组合值都不会发生，因为它们会产生不希望的输出。</a:t>
            </a:r>
            <a:endParaRPr sz="1550">
              <a:latin typeface="微软雅黑"/>
              <a:cs typeface="微软雅黑"/>
            </a:endParaRPr>
          </a:p>
          <a:p>
            <a:pPr marL="262890" marR="105410" indent="-250825">
              <a:lnSpc>
                <a:spcPts val="1889"/>
              </a:lnSpc>
              <a:buFont typeface="Arial"/>
              <a:buChar char="•"/>
              <a:tabLst>
                <a:tab pos="262890" algn="l"/>
              </a:tabLst>
            </a:pPr>
            <a:r>
              <a:rPr sz="1550" dirty="0">
                <a:latin typeface="微软雅黑"/>
                <a:cs typeface="微软雅黑"/>
              </a:rPr>
              <a:t>为了增加代码的鲁棒性，增加一位</a:t>
            </a:r>
            <a:r>
              <a:rPr sz="1550" dirty="0">
                <a:latin typeface="Times New Roman"/>
                <a:cs typeface="Times New Roman"/>
              </a:rPr>
              <a:t>valid</a:t>
            </a:r>
            <a:r>
              <a:rPr sz="1550" spc="-50" dirty="0">
                <a:latin typeface="微软雅黑"/>
                <a:cs typeface="微软雅黑"/>
              </a:rPr>
              <a:t>输</a:t>
            </a:r>
            <a:r>
              <a:rPr sz="1550" spc="-5" dirty="0">
                <a:latin typeface="微软雅黑"/>
                <a:cs typeface="微软雅黑"/>
              </a:rPr>
              <a:t>出，指示输入了不希望的逻辑组合。</a:t>
            </a:r>
            <a:endParaRPr sz="1550">
              <a:latin typeface="微软雅黑"/>
              <a:cs typeface="微软雅黑"/>
            </a:endParaRPr>
          </a:p>
        </p:txBody>
      </p:sp>
      <p:graphicFrame>
        <p:nvGraphicFramePr>
          <p:cNvPr id="14" name="object 14"/>
          <p:cNvGraphicFramePr>
            <a:graphicFrameLocks noGrp="1"/>
          </p:cNvGraphicFramePr>
          <p:nvPr/>
        </p:nvGraphicFramePr>
        <p:xfrm>
          <a:off x="5701696" y="2230901"/>
          <a:ext cx="3505834" cy="2104383"/>
        </p:xfrm>
        <a:graphic>
          <a:graphicData uri="http://schemas.openxmlformats.org/drawingml/2006/table">
            <a:tbl>
              <a:tblPr firstRow="1" bandRow="1">
                <a:tableStyleId>{2D5ABB26-0587-4C30-8999-92F81FD0307C}</a:tableStyleId>
              </a:tblPr>
              <a:tblGrid>
                <a:gridCol w="456565">
                  <a:extLst>
                    <a:ext uri="{9D8B030D-6E8A-4147-A177-3AD203B41FA5}">
                      <a16:colId xmlns:a16="http://schemas.microsoft.com/office/drawing/2014/main" val="20000"/>
                    </a:ext>
                  </a:extLst>
                </a:gridCol>
                <a:gridCol w="2096135">
                  <a:extLst>
                    <a:ext uri="{9D8B030D-6E8A-4147-A177-3AD203B41FA5}">
                      <a16:colId xmlns:a16="http://schemas.microsoft.com/office/drawing/2014/main" val="20001"/>
                    </a:ext>
                  </a:extLst>
                </a:gridCol>
                <a:gridCol w="342264">
                  <a:extLst>
                    <a:ext uri="{9D8B030D-6E8A-4147-A177-3AD203B41FA5}">
                      <a16:colId xmlns:a16="http://schemas.microsoft.com/office/drawing/2014/main" val="20002"/>
                    </a:ext>
                  </a:extLst>
                </a:gridCol>
                <a:gridCol w="267335">
                  <a:extLst>
                    <a:ext uri="{9D8B030D-6E8A-4147-A177-3AD203B41FA5}">
                      <a16:colId xmlns:a16="http://schemas.microsoft.com/office/drawing/2014/main" val="20003"/>
                    </a:ext>
                  </a:extLst>
                </a:gridCol>
                <a:gridCol w="343535">
                  <a:extLst>
                    <a:ext uri="{9D8B030D-6E8A-4147-A177-3AD203B41FA5}">
                      <a16:colId xmlns:a16="http://schemas.microsoft.com/office/drawing/2014/main" val="20004"/>
                    </a:ext>
                  </a:extLst>
                </a:gridCol>
              </a:tblGrid>
              <a:tr h="233679">
                <a:tc>
                  <a:txBody>
                    <a:bodyPr/>
                    <a:lstStyle/>
                    <a:p>
                      <a:pPr marR="50165" algn="r">
                        <a:lnSpc>
                          <a:spcPct val="100000"/>
                        </a:lnSpc>
                        <a:spcBef>
                          <a:spcPts val="120"/>
                        </a:spcBef>
                      </a:pPr>
                      <a:r>
                        <a:rPr sz="1200" b="1" spc="-25" dirty="0">
                          <a:solidFill>
                            <a:srgbClr val="FFFFFF"/>
                          </a:solidFill>
                          <a:latin typeface="Times New Roman"/>
                          <a:cs typeface="Times New Roman"/>
                        </a:rPr>
                        <a:t>y0</a:t>
                      </a:r>
                      <a:endParaRPr sz="1200">
                        <a:latin typeface="Times New Roman"/>
                        <a:cs typeface="Times New Roman"/>
                      </a:endParaRPr>
                    </a:p>
                  </a:txBody>
                  <a:tcPr marL="0" marR="0" marT="15240" marB="0">
                    <a:lnL w="12700">
                      <a:solidFill>
                        <a:srgbClr val="FFFFFF"/>
                      </a:solidFill>
                      <a:prstDash val="solid"/>
                    </a:lnL>
                    <a:lnT w="12700">
                      <a:solidFill>
                        <a:srgbClr val="FFFFFF"/>
                      </a:solidFill>
                      <a:prstDash val="solid"/>
                    </a:lnT>
                    <a:lnB w="38100">
                      <a:solidFill>
                        <a:srgbClr val="FFFFFF"/>
                      </a:solidFill>
                      <a:prstDash val="solid"/>
                    </a:lnB>
                    <a:solidFill>
                      <a:srgbClr val="008BA7"/>
                    </a:solidFill>
                  </a:tcPr>
                </a:tc>
                <a:tc>
                  <a:txBody>
                    <a:bodyPr/>
                    <a:lstStyle/>
                    <a:p>
                      <a:pPr marL="57785">
                        <a:lnSpc>
                          <a:spcPct val="100000"/>
                        </a:lnSpc>
                        <a:spcBef>
                          <a:spcPts val="120"/>
                        </a:spcBef>
                      </a:pPr>
                      <a:r>
                        <a:rPr sz="1200" b="1" dirty="0">
                          <a:solidFill>
                            <a:srgbClr val="FFFFFF"/>
                          </a:solidFill>
                          <a:latin typeface="Times New Roman"/>
                          <a:cs typeface="Times New Roman"/>
                        </a:rPr>
                        <a:t>y1</a:t>
                      </a:r>
                      <a:r>
                        <a:rPr sz="1200" b="1" spc="165" dirty="0">
                          <a:solidFill>
                            <a:srgbClr val="FFFFFF"/>
                          </a:solidFill>
                          <a:latin typeface="Times New Roman"/>
                          <a:cs typeface="Times New Roman"/>
                        </a:rPr>
                        <a:t>  </a:t>
                      </a:r>
                      <a:r>
                        <a:rPr sz="1200" b="1" dirty="0">
                          <a:solidFill>
                            <a:srgbClr val="FFFFFF"/>
                          </a:solidFill>
                          <a:latin typeface="Times New Roman"/>
                          <a:cs typeface="Times New Roman"/>
                        </a:rPr>
                        <a:t>y2</a:t>
                      </a:r>
                      <a:r>
                        <a:rPr sz="1200" b="1" spc="165" dirty="0">
                          <a:solidFill>
                            <a:srgbClr val="FFFFFF"/>
                          </a:solidFill>
                          <a:latin typeface="Times New Roman"/>
                          <a:cs typeface="Times New Roman"/>
                        </a:rPr>
                        <a:t>  </a:t>
                      </a:r>
                      <a:r>
                        <a:rPr sz="1200" b="1" dirty="0">
                          <a:solidFill>
                            <a:srgbClr val="FFFFFF"/>
                          </a:solidFill>
                          <a:latin typeface="Times New Roman"/>
                          <a:cs typeface="Times New Roman"/>
                        </a:rPr>
                        <a:t>y3</a:t>
                      </a:r>
                      <a:r>
                        <a:rPr sz="1200" b="1" spc="170" dirty="0">
                          <a:solidFill>
                            <a:srgbClr val="FFFFFF"/>
                          </a:solidFill>
                          <a:latin typeface="Times New Roman"/>
                          <a:cs typeface="Times New Roman"/>
                        </a:rPr>
                        <a:t>  </a:t>
                      </a:r>
                      <a:r>
                        <a:rPr sz="1200" b="1" dirty="0">
                          <a:solidFill>
                            <a:srgbClr val="FFFFFF"/>
                          </a:solidFill>
                          <a:latin typeface="Times New Roman"/>
                          <a:cs typeface="Times New Roman"/>
                        </a:rPr>
                        <a:t>y4</a:t>
                      </a:r>
                      <a:r>
                        <a:rPr sz="1200" b="1" spc="175" dirty="0">
                          <a:solidFill>
                            <a:srgbClr val="FFFFFF"/>
                          </a:solidFill>
                          <a:latin typeface="Times New Roman"/>
                          <a:cs typeface="Times New Roman"/>
                        </a:rPr>
                        <a:t>  </a:t>
                      </a:r>
                      <a:r>
                        <a:rPr sz="1200" b="1" dirty="0">
                          <a:solidFill>
                            <a:srgbClr val="FFFFFF"/>
                          </a:solidFill>
                          <a:latin typeface="Times New Roman"/>
                          <a:cs typeface="Times New Roman"/>
                        </a:rPr>
                        <a:t>y5</a:t>
                      </a:r>
                      <a:r>
                        <a:rPr sz="1200" b="1" spc="165" dirty="0">
                          <a:solidFill>
                            <a:srgbClr val="FFFFFF"/>
                          </a:solidFill>
                          <a:latin typeface="Times New Roman"/>
                          <a:cs typeface="Times New Roman"/>
                        </a:rPr>
                        <a:t>  </a:t>
                      </a:r>
                      <a:r>
                        <a:rPr sz="1200" b="1" dirty="0">
                          <a:solidFill>
                            <a:srgbClr val="FFFFFF"/>
                          </a:solidFill>
                          <a:latin typeface="Times New Roman"/>
                          <a:cs typeface="Times New Roman"/>
                        </a:rPr>
                        <a:t>y6</a:t>
                      </a:r>
                      <a:r>
                        <a:rPr sz="1200" b="1" spc="165" dirty="0">
                          <a:solidFill>
                            <a:srgbClr val="FFFFFF"/>
                          </a:solidFill>
                          <a:latin typeface="Times New Roman"/>
                          <a:cs typeface="Times New Roman"/>
                        </a:rPr>
                        <a:t>  </a:t>
                      </a:r>
                      <a:r>
                        <a:rPr sz="1200" b="1" spc="-25" dirty="0">
                          <a:solidFill>
                            <a:srgbClr val="FFFFFF"/>
                          </a:solidFill>
                          <a:latin typeface="Times New Roman"/>
                          <a:cs typeface="Times New Roman"/>
                        </a:rPr>
                        <a:t>y7</a:t>
                      </a:r>
                      <a:endParaRPr sz="1200">
                        <a:latin typeface="Times New Roman"/>
                        <a:cs typeface="Times New Roman"/>
                      </a:endParaRPr>
                    </a:p>
                  </a:txBody>
                  <a:tcPr marL="0" marR="0" marT="15240" marB="0">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gridSpan="3">
                  <a:txBody>
                    <a:bodyPr/>
                    <a:lstStyle/>
                    <a:p>
                      <a:pPr marL="123189">
                        <a:lnSpc>
                          <a:spcPct val="100000"/>
                        </a:lnSpc>
                        <a:spcBef>
                          <a:spcPts val="120"/>
                        </a:spcBef>
                      </a:pPr>
                      <a:r>
                        <a:rPr sz="1200" b="1" dirty="0">
                          <a:solidFill>
                            <a:srgbClr val="FFFFFF"/>
                          </a:solidFill>
                          <a:latin typeface="Times New Roman"/>
                          <a:cs typeface="Times New Roman"/>
                        </a:rPr>
                        <a:t>in2</a:t>
                      </a:r>
                      <a:r>
                        <a:rPr sz="1200" b="1" spc="25" dirty="0">
                          <a:solidFill>
                            <a:srgbClr val="FFFFFF"/>
                          </a:solidFill>
                          <a:latin typeface="Times New Roman"/>
                          <a:cs typeface="Times New Roman"/>
                        </a:rPr>
                        <a:t> </a:t>
                      </a:r>
                      <a:r>
                        <a:rPr sz="1200" b="1" dirty="0">
                          <a:solidFill>
                            <a:srgbClr val="FFFFFF"/>
                          </a:solidFill>
                          <a:latin typeface="Times New Roman"/>
                          <a:cs typeface="Times New Roman"/>
                        </a:rPr>
                        <a:t>in1</a:t>
                      </a:r>
                      <a:r>
                        <a:rPr sz="1200" b="1" spc="35" dirty="0">
                          <a:solidFill>
                            <a:srgbClr val="FFFFFF"/>
                          </a:solidFill>
                          <a:latin typeface="Times New Roman"/>
                          <a:cs typeface="Times New Roman"/>
                        </a:rPr>
                        <a:t> </a:t>
                      </a:r>
                      <a:r>
                        <a:rPr sz="1200" b="1" spc="-25" dirty="0">
                          <a:solidFill>
                            <a:srgbClr val="FFFFFF"/>
                          </a:solidFill>
                          <a:latin typeface="Times New Roman"/>
                          <a:cs typeface="Times New Roman"/>
                        </a:rPr>
                        <a:t>in0</a:t>
                      </a:r>
                      <a:endParaRPr sz="1200">
                        <a:latin typeface="Times New Roman"/>
                        <a:cs typeface="Times New Roman"/>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679">
                <a:tc>
                  <a:txBody>
                    <a:bodyPr/>
                    <a:lstStyle/>
                    <a:p>
                      <a:pPr marR="64135" algn="r">
                        <a:lnSpc>
                          <a:spcPts val="1635"/>
                        </a:lnSpc>
                        <a:spcBef>
                          <a:spcPts val="105"/>
                        </a:spcBef>
                      </a:pPr>
                      <a:r>
                        <a:rPr sz="1400" b="1" spc="-50" dirty="0">
                          <a:solidFill>
                            <a:srgbClr val="FFFFFF"/>
                          </a:solidFill>
                          <a:latin typeface="Times New Roman"/>
                          <a:cs typeface="Times New Roman"/>
                        </a:rPr>
                        <a:t>1</a:t>
                      </a:r>
                      <a:endParaRPr sz="1400">
                        <a:latin typeface="Times New Roman"/>
                        <a:cs typeface="Times New Roman"/>
                      </a:endParaRPr>
                    </a:p>
                  </a:txBody>
                  <a:tcPr marL="0" marR="0" marT="13335" marB="0">
                    <a:lnL w="12700">
                      <a:solidFill>
                        <a:srgbClr val="FFFFFF"/>
                      </a:solidFill>
                      <a:prstDash val="solid"/>
                    </a:lnL>
                    <a:lnT w="381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05"/>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381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38100">
                      <a:solidFill>
                        <a:srgbClr val="FFFFFF"/>
                      </a:solidFill>
                      <a:prstDash val="solid"/>
                    </a:lnT>
                    <a:lnB w="12700">
                      <a:solidFill>
                        <a:srgbClr val="FFFFFF"/>
                      </a:solidFill>
                      <a:prstDash val="solid"/>
                    </a:lnB>
                    <a:solidFill>
                      <a:srgbClr val="CADAE0"/>
                    </a:solidFill>
                  </a:tcPr>
                </a:tc>
                <a:tc>
                  <a:txBody>
                    <a:bodyPr/>
                    <a:lstStyle/>
                    <a:p>
                      <a:pPr marL="88900">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33679">
                <a:tc>
                  <a:txBody>
                    <a:bodyPr/>
                    <a:lstStyle/>
                    <a:p>
                      <a:pPr marR="64135" algn="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05"/>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marL="88900">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34315">
                <a:tc>
                  <a:txBody>
                    <a:bodyPr/>
                    <a:lstStyle/>
                    <a:p>
                      <a:pPr marR="64135" algn="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10"/>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88900">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33679">
                <a:tc>
                  <a:txBody>
                    <a:bodyPr/>
                    <a:lstStyle/>
                    <a:p>
                      <a:pPr marR="64135" algn="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05"/>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E6EDF0"/>
                    </a:solidFill>
                  </a:tcPr>
                </a:tc>
                <a:tc>
                  <a:txBody>
                    <a:bodyPr/>
                    <a:lstStyle/>
                    <a:p>
                      <a:pPr marL="88900">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33679">
                <a:tc>
                  <a:txBody>
                    <a:bodyPr/>
                    <a:lstStyle/>
                    <a:p>
                      <a:pPr marR="64135" algn="r">
                        <a:lnSpc>
                          <a:spcPts val="163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0"/>
                        </a:lnSpc>
                        <a:spcBef>
                          <a:spcPts val="110"/>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CADAE0"/>
                    </a:solidFill>
                  </a:tcPr>
                </a:tc>
                <a:tc>
                  <a:txBody>
                    <a:bodyPr/>
                    <a:lstStyle/>
                    <a:p>
                      <a:pPr marL="88900">
                        <a:lnSpc>
                          <a:spcPts val="1630"/>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34315">
                <a:tc>
                  <a:txBody>
                    <a:bodyPr/>
                    <a:lstStyle/>
                    <a:p>
                      <a:pPr marR="64135" algn="r">
                        <a:lnSpc>
                          <a:spcPts val="1635"/>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10"/>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5"/>
                        </a:lnSpc>
                        <a:spcBef>
                          <a:spcPts val="110"/>
                        </a:spcBef>
                      </a:pPr>
                      <a:r>
                        <a:rPr sz="1400" spc="-50" dirty="0">
                          <a:latin typeface="Times New Roman"/>
                          <a:cs typeface="Times New Roman"/>
                        </a:rPr>
                        <a:t>0</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88900">
                        <a:lnSpc>
                          <a:spcPts val="1635"/>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33679">
                <a:tc>
                  <a:txBody>
                    <a:bodyPr/>
                    <a:lstStyle/>
                    <a:p>
                      <a:pPr marR="64135" algn="r">
                        <a:lnSpc>
                          <a:spcPts val="1635"/>
                        </a:lnSpc>
                        <a:spcBef>
                          <a:spcPts val="105"/>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5"/>
                        </a:lnSpc>
                        <a:spcBef>
                          <a:spcPts val="105"/>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ts val="1635"/>
                        </a:lnSpc>
                        <a:spcBef>
                          <a:spcPts val="105"/>
                        </a:spcBef>
                      </a:pPr>
                      <a:r>
                        <a:rPr sz="1400" spc="-50" dirty="0">
                          <a:latin typeface="Times New Roman"/>
                          <a:cs typeface="Times New Roman"/>
                        </a:rPr>
                        <a:t>1</a:t>
                      </a:r>
                      <a:endParaRPr sz="1400">
                        <a:latin typeface="Times New Roman"/>
                        <a:cs typeface="Times New Roman"/>
                      </a:endParaRPr>
                    </a:p>
                  </a:txBody>
                  <a:tcPr marL="0" marR="0" marT="13335" marB="0">
                    <a:lnT w="12700">
                      <a:solidFill>
                        <a:srgbClr val="FFFFFF"/>
                      </a:solidFill>
                      <a:prstDash val="solid"/>
                    </a:lnT>
                    <a:lnB w="12700">
                      <a:solidFill>
                        <a:srgbClr val="FFFFFF"/>
                      </a:solidFill>
                      <a:prstDash val="solid"/>
                    </a:lnB>
                    <a:solidFill>
                      <a:srgbClr val="CADAE0"/>
                    </a:solidFill>
                  </a:tcPr>
                </a:tc>
                <a:tc>
                  <a:txBody>
                    <a:bodyPr/>
                    <a:lstStyle/>
                    <a:p>
                      <a:pPr marL="88900">
                        <a:lnSpc>
                          <a:spcPts val="1635"/>
                        </a:lnSpc>
                        <a:spcBef>
                          <a:spcPts val="105"/>
                        </a:spcBef>
                      </a:pPr>
                      <a:r>
                        <a:rPr sz="1400" spc="-50" dirty="0">
                          <a:latin typeface="Times New Roman"/>
                          <a:cs typeface="Times New Roman"/>
                        </a:rPr>
                        <a:t>0</a:t>
                      </a:r>
                      <a:endParaRPr sz="1400">
                        <a:latin typeface="Times New Roman"/>
                        <a:cs typeface="Times New Roman"/>
                      </a:endParaRPr>
                    </a:p>
                  </a:txBody>
                  <a:tcPr marL="0" marR="0" marT="13335"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33679">
                <a:tc>
                  <a:txBody>
                    <a:bodyPr/>
                    <a:lstStyle/>
                    <a:p>
                      <a:pPr marR="64135" algn="r">
                        <a:lnSpc>
                          <a:spcPts val="1630"/>
                        </a:lnSpc>
                        <a:spcBef>
                          <a:spcPts val="110"/>
                        </a:spcBef>
                      </a:pPr>
                      <a:r>
                        <a:rPr sz="1400" b="1" spc="-50" dirty="0">
                          <a:solidFill>
                            <a:srgbClr val="FFFFFF"/>
                          </a:solidFill>
                          <a:latin typeface="Times New Roman"/>
                          <a:cs typeface="Times New Roman"/>
                        </a:rPr>
                        <a:t>0</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106045">
                        <a:lnSpc>
                          <a:spcPts val="1630"/>
                        </a:lnSpc>
                        <a:spcBef>
                          <a:spcPts val="110"/>
                        </a:spcBef>
                        <a:tabLst>
                          <a:tab pos="374015" algn="l"/>
                          <a:tab pos="641350" algn="l"/>
                          <a:tab pos="907415" algn="l"/>
                          <a:tab pos="1175385" algn="l"/>
                          <a:tab pos="1442720" algn="l"/>
                          <a:tab pos="1709420" algn="l"/>
                        </a:tabLst>
                      </a:pP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0</a:t>
                      </a:r>
                      <a:r>
                        <a:rPr sz="1400" b="1" dirty="0">
                          <a:solidFill>
                            <a:srgbClr val="FFFFFF"/>
                          </a:solidFill>
                          <a:latin typeface="Times New Roman"/>
                          <a:cs typeface="Times New Roman"/>
                        </a:rPr>
                        <a:t>	</a:t>
                      </a:r>
                      <a:r>
                        <a:rPr sz="1400" b="1" spc="-50" dirty="0">
                          <a:solidFill>
                            <a:srgbClr val="FFFFFF"/>
                          </a:solidFill>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81280" algn="r">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T w="12700">
                      <a:solidFill>
                        <a:srgbClr val="FFFFFF"/>
                      </a:solidFill>
                      <a:prstDash val="solid"/>
                    </a:lnT>
                    <a:lnB w="12700">
                      <a:solidFill>
                        <a:srgbClr val="FFFFFF"/>
                      </a:solidFill>
                      <a:prstDash val="solid"/>
                    </a:lnB>
                    <a:solidFill>
                      <a:srgbClr val="E6EDF0"/>
                    </a:solidFill>
                  </a:tcPr>
                </a:tc>
                <a:tc>
                  <a:txBody>
                    <a:bodyPr/>
                    <a:lstStyle/>
                    <a:p>
                      <a:pPr marL="88900">
                        <a:lnSpc>
                          <a:spcPts val="1630"/>
                        </a:lnSpc>
                        <a:spcBef>
                          <a:spcPts val="110"/>
                        </a:spcBef>
                      </a:pPr>
                      <a:r>
                        <a:rPr sz="1400" spc="-50" dirty="0">
                          <a:latin typeface="Times New Roman"/>
                          <a:cs typeface="Times New Roman"/>
                        </a:rPr>
                        <a:t>1</a:t>
                      </a:r>
                      <a:endParaRPr sz="1400">
                        <a:latin typeface="Times New Roman"/>
                        <a:cs typeface="Times New Roman"/>
                      </a:endParaRPr>
                    </a:p>
                  </a:txBody>
                  <a:tcPr marL="0" marR="0" marT="13970"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13117" y="1733550"/>
            <a:ext cx="4026535" cy="4612640"/>
            <a:chOff x="713117" y="1733550"/>
            <a:chExt cx="4026535" cy="4612640"/>
          </a:xfrm>
        </p:grpSpPr>
        <p:sp>
          <p:nvSpPr>
            <p:cNvPr id="3" name="object 3"/>
            <p:cNvSpPr/>
            <p:nvPr/>
          </p:nvSpPr>
          <p:spPr>
            <a:xfrm>
              <a:off x="721499" y="1741932"/>
              <a:ext cx="4010025" cy="4596130"/>
            </a:xfrm>
            <a:custGeom>
              <a:avLst/>
              <a:gdLst/>
              <a:ahLst/>
              <a:cxnLst/>
              <a:rect l="l" t="t" r="r" b="b"/>
              <a:pathLst>
                <a:path w="4010025" h="4596130">
                  <a:moveTo>
                    <a:pt x="4009644" y="4595622"/>
                  </a:moveTo>
                  <a:lnTo>
                    <a:pt x="4009644" y="0"/>
                  </a:lnTo>
                  <a:lnTo>
                    <a:pt x="0" y="0"/>
                  </a:lnTo>
                  <a:lnTo>
                    <a:pt x="0" y="4595622"/>
                  </a:lnTo>
                  <a:lnTo>
                    <a:pt x="4009644" y="4595622"/>
                  </a:lnTo>
                  <a:close/>
                </a:path>
              </a:pathLst>
            </a:custGeom>
            <a:solidFill>
              <a:srgbClr val="F9FABA"/>
            </a:solidFill>
          </p:spPr>
          <p:txBody>
            <a:bodyPr wrap="square" lIns="0" tIns="0" rIns="0" bIns="0" rtlCol="0"/>
            <a:lstStyle/>
            <a:p>
              <a:endParaRPr/>
            </a:p>
          </p:txBody>
        </p:sp>
        <p:sp>
          <p:nvSpPr>
            <p:cNvPr id="4" name="object 4"/>
            <p:cNvSpPr/>
            <p:nvPr/>
          </p:nvSpPr>
          <p:spPr>
            <a:xfrm>
              <a:off x="713117" y="1733550"/>
              <a:ext cx="4026535" cy="4612640"/>
            </a:xfrm>
            <a:custGeom>
              <a:avLst/>
              <a:gdLst/>
              <a:ahLst/>
              <a:cxnLst/>
              <a:rect l="l" t="t" r="r" b="b"/>
              <a:pathLst>
                <a:path w="4026535" h="4612640">
                  <a:moveTo>
                    <a:pt x="4026408" y="4608576"/>
                  </a:moveTo>
                  <a:lnTo>
                    <a:pt x="4026408" y="3810"/>
                  </a:lnTo>
                  <a:lnTo>
                    <a:pt x="4022598" y="0"/>
                  </a:lnTo>
                  <a:lnTo>
                    <a:pt x="3809" y="0"/>
                  </a:lnTo>
                  <a:lnTo>
                    <a:pt x="0" y="3810"/>
                  </a:lnTo>
                  <a:lnTo>
                    <a:pt x="0" y="4608576"/>
                  </a:lnTo>
                  <a:lnTo>
                    <a:pt x="3810" y="4612386"/>
                  </a:lnTo>
                  <a:lnTo>
                    <a:pt x="8382" y="4612386"/>
                  </a:lnTo>
                  <a:lnTo>
                    <a:pt x="8382" y="16764"/>
                  </a:lnTo>
                  <a:lnTo>
                    <a:pt x="16763" y="8382"/>
                  </a:lnTo>
                  <a:lnTo>
                    <a:pt x="16763" y="16764"/>
                  </a:lnTo>
                  <a:lnTo>
                    <a:pt x="4009644" y="16764"/>
                  </a:lnTo>
                  <a:lnTo>
                    <a:pt x="4009644" y="8382"/>
                  </a:lnTo>
                  <a:lnTo>
                    <a:pt x="4018026" y="16764"/>
                  </a:lnTo>
                  <a:lnTo>
                    <a:pt x="4018026" y="4612386"/>
                  </a:lnTo>
                  <a:lnTo>
                    <a:pt x="4022598" y="4612386"/>
                  </a:lnTo>
                  <a:lnTo>
                    <a:pt x="4026408" y="4608576"/>
                  </a:lnTo>
                  <a:close/>
                </a:path>
                <a:path w="4026535" h="4612640">
                  <a:moveTo>
                    <a:pt x="16763" y="16764"/>
                  </a:moveTo>
                  <a:lnTo>
                    <a:pt x="16763" y="8382"/>
                  </a:lnTo>
                  <a:lnTo>
                    <a:pt x="8382" y="16764"/>
                  </a:lnTo>
                  <a:lnTo>
                    <a:pt x="16763" y="16764"/>
                  </a:lnTo>
                  <a:close/>
                </a:path>
                <a:path w="4026535" h="4612640">
                  <a:moveTo>
                    <a:pt x="16764" y="4595622"/>
                  </a:moveTo>
                  <a:lnTo>
                    <a:pt x="16763" y="16764"/>
                  </a:lnTo>
                  <a:lnTo>
                    <a:pt x="8382" y="16764"/>
                  </a:lnTo>
                  <a:lnTo>
                    <a:pt x="8382" y="4595622"/>
                  </a:lnTo>
                  <a:lnTo>
                    <a:pt x="16764" y="4595622"/>
                  </a:lnTo>
                  <a:close/>
                </a:path>
                <a:path w="4026535" h="4612640">
                  <a:moveTo>
                    <a:pt x="4018026" y="4595622"/>
                  </a:moveTo>
                  <a:lnTo>
                    <a:pt x="8382" y="4595622"/>
                  </a:lnTo>
                  <a:lnTo>
                    <a:pt x="16764" y="4604004"/>
                  </a:lnTo>
                  <a:lnTo>
                    <a:pt x="16764" y="4612386"/>
                  </a:lnTo>
                  <a:lnTo>
                    <a:pt x="4009644" y="4612386"/>
                  </a:lnTo>
                  <a:lnTo>
                    <a:pt x="4009644" y="4604004"/>
                  </a:lnTo>
                  <a:lnTo>
                    <a:pt x="4018026" y="4595622"/>
                  </a:lnTo>
                  <a:close/>
                </a:path>
                <a:path w="4026535" h="4612640">
                  <a:moveTo>
                    <a:pt x="16764" y="4612386"/>
                  </a:moveTo>
                  <a:lnTo>
                    <a:pt x="16764" y="4604004"/>
                  </a:lnTo>
                  <a:lnTo>
                    <a:pt x="8382" y="4595622"/>
                  </a:lnTo>
                  <a:lnTo>
                    <a:pt x="8382" y="4612386"/>
                  </a:lnTo>
                  <a:lnTo>
                    <a:pt x="16764" y="4612386"/>
                  </a:lnTo>
                  <a:close/>
                </a:path>
                <a:path w="4026535" h="4612640">
                  <a:moveTo>
                    <a:pt x="4018026" y="16764"/>
                  </a:moveTo>
                  <a:lnTo>
                    <a:pt x="4009644" y="8382"/>
                  </a:lnTo>
                  <a:lnTo>
                    <a:pt x="4009644" y="16764"/>
                  </a:lnTo>
                  <a:lnTo>
                    <a:pt x="4018026" y="16764"/>
                  </a:lnTo>
                  <a:close/>
                </a:path>
                <a:path w="4026535" h="4612640">
                  <a:moveTo>
                    <a:pt x="4018026" y="4595622"/>
                  </a:moveTo>
                  <a:lnTo>
                    <a:pt x="4018026" y="16764"/>
                  </a:lnTo>
                  <a:lnTo>
                    <a:pt x="4009644" y="16764"/>
                  </a:lnTo>
                  <a:lnTo>
                    <a:pt x="4009644" y="4595622"/>
                  </a:lnTo>
                  <a:lnTo>
                    <a:pt x="4018026" y="4595622"/>
                  </a:lnTo>
                  <a:close/>
                </a:path>
                <a:path w="4026535" h="4612640">
                  <a:moveTo>
                    <a:pt x="4018026" y="4612386"/>
                  </a:moveTo>
                  <a:lnTo>
                    <a:pt x="4018026" y="4595622"/>
                  </a:lnTo>
                  <a:lnTo>
                    <a:pt x="4009644" y="4604004"/>
                  </a:lnTo>
                  <a:lnTo>
                    <a:pt x="4009644" y="4612386"/>
                  </a:lnTo>
                  <a:lnTo>
                    <a:pt x="4018026" y="4612386"/>
                  </a:lnTo>
                  <a:close/>
                </a:path>
              </a:pathLst>
            </a:custGeom>
            <a:solidFill>
              <a:srgbClr val="000000"/>
            </a:solidFill>
          </p:spPr>
          <p:txBody>
            <a:bodyPr wrap="square" lIns="0" tIns="0" rIns="0" bIns="0" rtlCol="0"/>
            <a:lstStyle/>
            <a:p>
              <a:endParaRPr/>
            </a:p>
          </p:txBody>
        </p:sp>
      </p:grpSp>
      <p:sp>
        <p:nvSpPr>
          <p:cNvPr id="5" name="object 5"/>
          <p:cNvSpPr txBox="1"/>
          <p:nvPr/>
        </p:nvSpPr>
        <p:spPr>
          <a:xfrm>
            <a:off x="788803" y="1744479"/>
            <a:ext cx="1743075" cy="473709"/>
          </a:xfrm>
          <a:prstGeom prst="rect">
            <a:avLst/>
          </a:prstGeom>
        </p:spPr>
        <p:txBody>
          <a:bodyPr vert="horz" wrap="square" lIns="0" tIns="52705" rIns="0" bIns="0" rtlCol="0">
            <a:spAutoFit/>
          </a:bodyPr>
          <a:lstStyle/>
          <a:p>
            <a:pPr algn="ctr">
              <a:lnSpc>
                <a:spcPct val="100000"/>
              </a:lnSpc>
              <a:spcBef>
                <a:spcPts val="415"/>
              </a:spcBef>
            </a:pPr>
            <a:r>
              <a:rPr sz="1200" b="1" dirty="0">
                <a:latin typeface="微软雅黑"/>
                <a:cs typeface="微软雅黑"/>
              </a:rPr>
              <a:t>例</a:t>
            </a:r>
            <a:r>
              <a:rPr sz="1200" b="1" dirty="0">
                <a:latin typeface="Times New Roman"/>
                <a:cs typeface="Times New Roman"/>
              </a:rPr>
              <a:t>3.20</a:t>
            </a:r>
            <a:r>
              <a:rPr sz="1200" b="1" dirty="0">
                <a:latin typeface="微软雅黑"/>
                <a:cs typeface="微软雅黑"/>
              </a:rPr>
              <a:t>：</a:t>
            </a:r>
            <a:r>
              <a:rPr sz="1200" dirty="0">
                <a:latin typeface="Times New Roman"/>
                <a:cs typeface="Times New Roman"/>
              </a:rPr>
              <a:t>3.8</a:t>
            </a:r>
            <a:r>
              <a:rPr sz="1200" spc="-10" dirty="0">
                <a:latin typeface="微软雅黑"/>
                <a:cs typeface="微软雅黑"/>
              </a:rPr>
              <a:t>译码器的描述</a:t>
            </a:r>
            <a:endParaRPr sz="1200">
              <a:latin typeface="微软雅黑"/>
              <a:cs typeface="微软雅黑"/>
            </a:endParaRPr>
          </a:p>
          <a:p>
            <a:pPr marL="38100" algn="ctr">
              <a:lnSpc>
                <a:spcPct val="100000"/>
              </a:lnSpc>
              <a:spcBef>
                <a:spcPts val="325"/>
              </a:spcBef>
            </a:pPr>
            <a:r>
              <a:rPr sz="1200" b="1" dirty="0">
                <a:latin typeface="Times New Roman"/>
                <a:cs typeface="Times New Roman"/>
              </a:rPr>
              <a:t>module</a:t>
            </a:r>
            <a:r>
              <a:rPr sz="1200" b="1" spc="40" dirty="0">
                <a:latin typeface="Times New Roman"/>
                <a:cs typeface="Times New Roman"/>
              </a:rPr>
              <a:t> </a:t>
            </a:r>
            <a:r>
              <a:rPr sz="1200" spc="-10" dirty="0">
                <a:latin typeface="Times New Roman"/>
                <a:cs typeface="Times New Roman"/>
              </a:rPr>
              <a:t>decode_3_8</a:t>
            </a:r>
            <a:endParaRPr sz="1200">
              <a:latin typeface="Times New Roman"/>
              <a:cs typeface="Times New Roman"/>
            </a:endParaRPr>
          </a:p>
        </p:txBody>
      </p:sp>
      <p:sp>
        <p:nvSpPr>
          <p:cNvPr id="6" name="object 6"/>
          <p:cNvSpPr txBox="1"/>
          <p:nvPr/>
        </p:nvSpPr>
        <p:spPr>
          <a:xfrm>
            <a:off x="1152038" y="2229854"/>
            <a:ext cx="52069" cy="213360"/>
          </a:xfrm>
          <a:prstGeom prst="rect">
            <a:avLst/>
          </a:prstGeom>
        </p:spPr>
        <p:txBody>
          <a:bodyPr vert="horz" wrap="square" lIns="0" tIns="16510" rIns="0" bIns="0" rtlCol="0">
            <a:spAutoFit/>
          </a:bodyPr>
          <a:lstStyle/>
          <a:p>
            <a:pPr>
              <a:lnSpc>
                <a:spcPct val="100000"/>
              </a:lnSpc>
              <a:spcBef>
                <a:spcPts val="130"/>
              </a:spcBef>
            </a:pPr>
            <a:r>
              <a:rPr sz="1200" spc="-50" dirty="0">
                <a:latin typeface="Times New Roman"/>
                <a:cs typeface="Times New Roman"/>
              </a:rPr>
              <a:t>(</a:t>
            </a:r>
            <a:endParaRPr sz="1200">
              <a:latin typeface="Times New Roman"/>
              <a:cs typeface="Times New Roman"/>
            </a:endParaRPr>
          </a:p>
        </p:txBody>
      </p:sp>
      <p:sp>
        <p:nvSpPr>
          <p:cNvPr id="7" name="object 7"/>
          <p:cNvSpPr txBox="1"/>
          <p:nvPr/>
        </p:nvSpPr>
        <p:spPr>
          <a:xfrm>
            <a:off x="995844" y="2418072"/>
            <a:ext cx="2315845" cy="3841115"/>
          </a:xfrm>
          <a:prstGeom prst="rect">
            <a:avLst/>
          </a:prstGeom>
        </p:spPr>
        <p:txBody>
          <a:bodyPr vert="horz" wrap="square" lIns="0" tIns="52705" rIns="0" bIns="0" rtlCol="0">
            <a:spAutoFit/>
          </a:bodyPr>
          <a:lstStyle/>
          <a:p>
            <a:pPr marL="277495">
              <a:lnSpc>
                <a:spcPct val="100000"/>
              </a:lnSpc>
              <a:spcBef>
                <a:spcPts val="415"/>
              </a:spcBef>
            </a:pPr>
            <a:r>
              <a:rPr sz="1200" b="1" dirty="0">
                <a:latin typeface="Times New Roman"/>
                <a:cs typeface="Times New Roman"/>
              </a:rPr>
              <a:t>input</a:t>
            </a:r>
            <a:r>
              <a:rPr sz="1200" b="1" spc="15" dirty="0">
                <a:latin typeface="Times New Roman"/>
                <a:cs typeface="Times New Roman"/>
              </a:rPr>
              <a:t> </a:t>
            </a:r>
            <a:r>
              <a:rPr sz="1200" dirty="0">
                <a:latin typeface="Times New Roman"/>
                <a:cs typeface="Times New Roman"/>
              </a:rPr>
              <a:t>[2:0]</a:t>
            </a:r>
            <a:r>
              <a:rPr sz="1200" spc="30" dirty="0">
                <a:latin typeface="Times New Roman"/>
                <a:cs typeface="Times New Roman"/>
              </a:rPr>
              <a:t> </a:t>
            </a:r>
            <a:r>
              <a:rPr sz="1200" spc="-25" dirty="0">
                <a:latin typeface="Times New Roman"/>
                <a:cs typeface="Times New Roman"/>
              </a:rPr>
              <a:t>in,</a:t>
            </a:r>
            <a:endParaRPr sz="1200">
              <a:latin typeface="Times New Roman"/>
              <a:cs typeface="Times New Roman"/>
            </a:endParaRPr>
          </a:p>
          <a:p>
            <a:pPr marL="277495">
              <a:lnSpc>
                <a:spcPct val="100000"/>
              </a:lnSpc>
              <a:spcBef>
                <a:spcPts val="325"/>
              </a:spcBef>
            </a:pPr>
            <a:r>
              <a:rPr sz="1200" b="1" dirty="0">
                <a:latin typeface="Times New Roman"/>
                <a:cs typeface="Times New Roman"/>
              </a:rPr>
              <a:t>output</a:t>
            </a:r>
            <a:r>
              <a:rPr sz="1200" b="1" spc="310" dirty="0">
                <a:latin typeface="Times New Roman"/>
                <a:cs typeface="Times New Roman"/>
              </a:rPr>
              <a:t> </a:t>
            </a:r>
            <a:r>
              <a:rPr sz="1200" b="1" dirty="0">
                <a:latin typeface="Times New Roman"/>
                <a:cs typeface="Times New Roman"/>
              </a:rPr>
              <a:t>reg</a:t>
            </a:r>
            <a:r>
              <a:rPr sz="1200" b="1" spc="30" dirty="0">
                <a:latin typeface="Times New Roman"/>
                <a:cs typeface="Times New Roman"/>
              </a:rPr>
              <a:t> </a:t>
            </a:r>
            <a:r>
              <a:rPr sz="1200" dirty="0">
                <a:latin typeface="Times New Roman"/>
                <a:cs typeface="Times New Roman"/>
              </a:rPr>
              <a:t>[7:0]</a:t>
            </a:r>
            <a:r>
              <a:rPr sz="1200" spc="325" dirty="0">
                <a:latin typeface="Times New Roman"/>
                <a:cs typeface="Times New Roman"/>
              </a:rPr>
              <a:t> </a:t>
            </a:r>
            <a:r>
              <a:rPr sz="1200" spc="-50" dirty="0">
                <a:latin typeface="Times New Roman"/>
                <a:cs typeface="Times New Roman"/>
              </a:rPr>
              <a:t>y</a:t>
            </a:r>
            <a:endParaRPr sz="1200">
              <a:latin typeface="Times New Roman"/>
              <a:cs typeface="Times New Roman"/>
            </a:endParaRPr>
          </a:p>
          <a:p>
            <a:pPr marL="117475">
              <a:lnSpc>
                <a:spcPct val="100000"/>
              </a:lnSpc>
              <a:spcBef>
                <a:spcPts val="330"/>
              </a:spcBef>
            </a:pPr>
            <a:r>
              <a:rPr sz="1200" spc="-25" dirty="0">
                <a:latin typeface="Times New Roman"/>
                <a:cs typeface="Times New Roman"/>
              </a:rPr>
              <a:t>);</a:t>
            </a:r>
            <a:endParaRPr sz="1200">
              <a:latin typeface="Times New Roman"/>
              <a:cs typeface="Times New Roman"/>
            </a:endParaRPr>
          </a:p>
          <a:p>
            <a:pPr marL="120014">
              <a:lnSpc>
                <a:spcPct val="100000"/>
              </a:lnSpc>
              <a:spcBef>
                <a:spcPts val="325"/>
              </a:spcBef>
            </a:pPr>
            <a:r>
              <a:rPr sz="1200" b="1" dirty="0">
                <a:latin typeface="Times New Roman"/>
                <a:cs typeface="Times New Roman"/>
              </a:rPr>
              <a:t>always</a:t>
            </a:r>
            <a:r>
              <a:rPr sz="1200" b="1" spc="60" dirty="0">
                <a:latin typeface="Times New Roman"/>
                <a:cs typeface="Times New Roman"/>
              </a:rPr>
              <a:t> </a:t>
            </a:r>
            <a:r>
              <a:rPr sz="1200" spc="-25" dirty="0">
                <a:latin typeface="Times New Roman"/>
                <a:cs typeface="Times New Roman"/>
              </a:rPr>
              <a:t>@*</a:t>
            </a:r>
            <a:endParaRPr sz="1200">
              <a:latin typeface="Times New Roman"/>
              <a:cs typeface="Times New Roman"/>
            </a:endParaRPr>
          </a:p>
          <a:p>
            <a:pPr marL="277495">
              <a:lnSpc>
                <a:spcPct val="100000"/>
              </a:lnSpc>
              <a:spcBef>
                <a:spcPts val="330"/>
              </a:spcBef>
            </a:pPr>
            <a:r>
              <a:rPr sz="1200" b="1" spc="-10" dirty="0">
                <a:latin typeface="Times New Roman"/>
                <a:cs typeface="Times New Roman"/>
              </a:rPr>
              <a:t>begin</a:t>
            </a:r>
            <a:endParaRPr sz="1200">
              <a:latin typeface="Times New Roman"/>
              <a:cs typeface="Times New Roman"/>
            </a:endParaRPr>
          </a:p>
          <a:p>
            <a:pPr marL="435609">
              <a:lnSpc>
                <a:spcPct val="100000"/>
              </a:lnSpc>
              <a:spcBef>
                <a:spcPts val="325"/>
              </a:spcBef>
            </a:pPr>
            <a:r>
              <a:rPr sz="1200" b="1" dirty="0">
                <a:latin typeface="Times New Roman"/>
                <a:cs typeface="Times New Roman"/>
              </a:rPr>
              <a:t>case</a:t>
            </a:r>
            <a:r>
              <a:rPr sz="1200" b="1" spc="45" dirty="0">
                <a:latin typeface="Times New Roman"/>
                <a:cs typeface="Times New Roman"/>
              </a:rPr>
              <a:t> </a:t>
            </a:r>
            <a:r>
              <a:rPr sz="1200" spc="-20" dirty="0">
                <a:latin typeface="Times New Roman"/>
                <a:cs typeface="Times New Roman"/>
              </a:rPr>
              <a:t>(in)</a:t>
            </a:r>
            <a:endParaRPr sz="1200">
              <a:latin typeface="Times New Roman"/>
              <a:cs typeface="Times New Roman"/>
            </a:endParaRPr>
          </a:p>
          <a:p>
            <a:pPr marL="593090">
              <a:lnSpc>
                <a:spcPct val="100000"/>
              </a:lnSpc>
              <a:spcBef>
                <a:spcPts val="330"/>
              </a:spcBef>
            </a:pPr>
            <a:r>
              <a:rPr sz="1200" dirty="0">
                <a:latin typeface="Times New Roman"/>
                <a:cs typeface="Times New Roman"/>
              </a:rPr>
              <a:t>3’b000 :</a:t>
            </a:r>
            <a:r>
              <a:rPr sz="1200" spc="35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8’b00000001;</a:t>
            </a:r>
            <a:endParaRPr sz="1200">
              <a:latin typeface="Times New Roman"/>
              <a:cs typeface="Times New Roman"/>
            </a:endParaRPr>
          </a:p>
          <a:p>
            <a:pPr marL="593090">
              <a:lnSpc>
                <a:spcPct val="100000"/>
              </a:lnSpc>
              <a:spcBef>
                <a:spcPts val="330"/>
              </a:spcBef>
            </a:pPr>
            <a:r>
              <a:rPr sz="1200" dirty="0">
                <a:latin typeface="Times New Roman"/>
                <a:cs typeface="Times New Roman"/>
              </a:rPr>
              <a:t>3’b001 :</a:t>
            </a:r>
            <a:r>
              <a:rPr sz="1200" spc="35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8’b00000010;</a:t>
            </a:r>
            <a:endParaRPr sz="1200">
              <a:latin typeface="Times New Roman"/>
              <a:cs typeface="Times New Roman"/>
            </a:endParaRPr>
          </a:p>
          <a:p>
            <a:pPr marL="593090">
              <a:lnSpc>
                <a:spcPct val="100000"/>
              </a:lnSpc>
              <a:spcBef>
                <a:spcPts val="320"/>
              </a:spcBef>
            </a:pPr>
            <a:r>
              <a:rPr sz="1200" dirty="0">
                <a:latin typeface="Times New Roman"/>
                <a:cs typeface="Times New Roman"/>
              </a:rPr>
              <a:t>3’b010 :</a:t>
            </a:r>
            <a:r>
              <a:rPr sz="1200" spc="35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8’b00000100;</a:t>
            </a:r>
            <a:endParaRPr sz="1200">
              <a:latin typeface="Times New Roman"/>
              <a:cs typeface="Times New Roman"/>
            </a:endParaRPr>
          </a:p>
          <a:p>
            <a:pPr marL="593090">
              <a:lnSpc>
                <a:spcPct val="100000"/>
              </a:lnSpc>
              <a:spcBef>
                <a:spcPts val="330"/>
              </a:spcBef>
            </a:pPr>
            <a:r>
              <a:rPr sz="1200" dirty="0">
                <a:latin typeface="Times New Roman"/>
                <a:cs typeface="Times New Roman"/>
              </a:rPr>
              <a:t>3’b011</a:t>
            </a:r>
            <a:r>
              <a:rPr sz="1200" spc="10" dirty="0">
                <a:latin typeface="Times New Roman"/>
                <a:cs typeface="Times New Roman"/>
              </a:rPr>
              <a:t> </a:t>
            </a:r>
            <a:r>
              <a:rPr sz="1200" dirty="0">
                <a:latin typeface="Times New Roman"/>
                <a:cs typeface="Times New Roman"/>
              </a:rPr>
              <a:t>:</a:t>
            </a:r>
            <a:r>
              <a:rPr sz="1200" spc="310" dirty="0">
                <a:latin typeface="Times New Roman"/>
                <a:cs typeface="Times New Roman"/>
              </a:rPr>
              <a:t> </a:t>
            </a:r>
            <a:r>
              <a:rPr sz="1200" dirty="0">
                <a:latin typeface="Times New Roman"/>
                <a:cs typeface="Times New Roman"/>
              </a:rPr>
              <a:t>y</a:t>
            </a:r>
            <a:r>
              <a:rPr sz="1200" spc="1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10" dirty="0">
                <a:latin typeface="Times New Roman"/>
                <a:cs typeface="Times New Roman"/>
              </a:rPr>
              <a:t>8’b00001000;</a:t>
            </a:r>
            <a:endParaRPr sz="1200">
              <a:latin typeface="Times New Roman"/>
              <a:cs typeface="Times New Roman"/>
            </a:endParaRPr>
          </a:p>
          <a:p>
            <a:pPr marL="593090">
              <a:lnSpc>
                <a:spcPct val="100000"/>
              </a:lnSpc>
              <a:spcBef>
                <a:spcPts val="325"/>
              </a:spcBef>
            </a:pPr>
            <a:r>
              <a:rPr sz="1200" dirty="0">
                <a:latin typeface="Times New Roman"/>
                <a:cs typeface="Times New Roman"/>
              </a:rPr>
              <a:t>3’b100 :</a:t>
            </a:r>
            <a:r>
              <a:rPr sz="1200" spc="35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8’b00010000;</a:t>
            </a:r>
            <a:endParaRPr sz="1200">
              <a:latin typeface="Times New Roman"/>
              <a:cs typeface="Times New Roman"/>
            </a:endParaRPr>
          </a:p>
          <a:p>
            <a:pPr marL="593090">
              <a:lnSpc>
                <a:spcPct val="100000"/>
              </a:lnSpc>
              <a:spcBef>
                <a:spcPts val="330"/>
              </a:spcBef>
            </a:pPr>
            <a:r>
              <a:rPr sz="1200" dirty="0">
                <a:latin typeface="Times New Roman"/>
                <a:cs typeface="Times New Roman"/>
              </a:rPr>
              <a:t>3’b101 :</a:t>
            </a:r>
            <a:r>
              <a:rPr sz="1200" spc="35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8’b00100000;</a:t>
            </a:r>
            <a:endParaRPr sz="1200">
              <a:latin typeface="Times New Roman"/>
              <a:cs typeface="Times New Roman"/>
            </a:endParaRPr>
          </a:p>
          <a:p>
            <a:pPr marL="593090">
              <a:lnSpc>
                <a:spcPct val="100000"/>
              </a:lnSpc>
              <a:spcBef>
                <a:spcPts val="325"/>
              </a:spcBef>
            </a:pPr>
            <a:r>
              <a:rPr sz="1200" dirty="0">
                <a:latin typeface="Times New Roman"/>
                <a:cs typeface="Times New Roman"/>
              </a:rPr>
              <a:t>3’b110</a:t>
            </a:r>
            <a:r>
              <a:rPr sz="1200" spc="10" dirty="0">
                <a:latin typeface="Times New Roman"/>
                <a:cs typeface="Times New Roman"/>
              </a:rPr>
              <a:t> </a:t>
            </a:r>
            <a:r>
              <a:rPr sz="1200" dirty="0">
                <a:latin typeface="Times New Roman"/>
                <a:cs typeface="Times New Roman"/>
              </a:rPr>
              <a:t>:</a:t>
            </a:r>
            <a:r>
              <a:rPr sz="1200" spc="310" dirty="0">
                <a:latin typeface="Times New Roman"/>
                <a:cs typeface="Times New Roman"/>
              </a:rPr>
              <a:t> </a:t>
            </a:r>
            <a:r>
              <a:rPr sz="1200" dirty="0">
                <a:latin typeface="Times New Roman"/>
                <a:cs typeface="Times New Roman"/>
              </a:rPr>
              <a:t>y</a:t>
            </a:r>
            <a:r>
              <a:rPr sz="1200" spc="1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10" dirty="0">
                <a:latin typeface="Times New Roman"/>
                <a:cs typeface="Times New Roman"/>
              </a:rPr>
              <a:t>8’b01000000;</a:t>
            </a:r>
            <a:endParaRPr sz="1200">
              <a:latin typeface="Times New Roman"/>
              <a:cs typeface="Times New Roman"/>
            </a:endParaRPr>
          </a:p>
          <a:p>
            <a:pPr marL="593090">
              <a:lnSpc>
                <a:spcPct val="100000"/>
              </a:lnSpc>
              <a:spcBef>
                <a:spcPts val="330"/>
              </a:spcBef>
            </a:pPr>
            <a:r>
              <a:rPr sz="1200" dirty="0">
                <a:latin typeface="Times New Roman"/>
                <a:cs typeface="Times New Roman"/>
              </a:rPr>
              <a:t>3’b111</a:t>
            </a:r>
            <a:r>
              <a:rPr sz="1200" spc="-15" dirty="0">
                <a:latin typeface="Times New Roman"/>
                <a:cs typeface="Times New Roman"/>
              </a:rPr>
              <a:t> </a:t>
            </a:r>
            <a:r>
              <a:rPr sz="1200" dirty="0">
                <a:latin typeface="Times New Roman"/>
                <a:cs typeface="Times New Roman"/>
              </a:rPr>
              <a:t>:</a:t>
            </a:r>
            <a:r>
              <a:rPr sz="1200" spc="310" dirty="0">
                <a:latin typeface="Times New Roman"/>
                <a:cs typeface="Times New Roman"/>
              </a:rPr>
              <a:t> </a:t>
            </a:r>
            <a:r>
              <a:rPr sz="1200" dirty="0">
                <a:latin typeface="Times New Roman"/>
                <a:cs typeface="Times New Roman"/>
              </a:rPr>
              <a:t>y = </a:t>
            </a:r>
            <a:r>
              <a:rPr sz="1200" spc="-10" dirty="0">
                <a:latin typeface="Times New Roman"/>
                <a:cs typeface="Times New Roman"/>
              </a:rPr>
              <a:t>8’b10000000;</a:t>
            </a:r>
            <a:endParaRPr sz="1200">
              <a:latin typeface="Times New Roman"/>
              <a:cs typeface="Times New Roman"/>
            </a:endParaRPr>
          </a:p>
          <a:p>
            <a:pPr marL="120014" marR="1507490" indent="157480">
              <a:lnSpc>
                <a:spcPts val="1770"/>
              </a:lnSpc>
              <a:spcBef>
                <a:spcPts val="110"/>
              </a:spcBef>
            </a:pPr>
            <a:r>
              <a:rPr sz="1200" b="1" spc="-10" dirty="0">
                <a:latin typeface="Times New Roman"/>
                <a:cs typeface="Times New Roman"/>
              </a:rPr>
              <a:t>endcase </a:t>
            </a:r>
            <a:r>
              <a:rPr sz="1200" b="1" spc="-25" dirty="0">
                <a:latin typeface="Times New Roman"/>
                <a:cs typeface="Times New Roman"/>
              </a:rPr>
              <a:t>end</a:t>
            </a:r>
            <a:endParaRPr sz="1200">
              <a:latin typeface="Times New Roman"/>
              <a:cs typeface="Times New Roman"/>
            </a:endParaRPr>
          </a:p>
          <a:p>
            <a:pPr>
              <a:lnSpc>
                <a:spcPct val="100000"/>
              </a:lnSpc>
              <a:spcBef>
                <a:spcPts val="215"/>
              </a:spcBef>
            </a:pPr>
            <a:r>
              <a:rPr sz="1200" b="1" spc="-10" dirty="0">
                <a:latin typeface="Times New Roman"/>
                <a:cs typeface="Times New Roman"/>
              </a:rPr>
              <a:t>endmodule</a:t>
            </a:r>
            <a:endParaRPr sz="1200">
              <a:latin typeface="Times New Roman"/>
              <a:cs typeface="Times New Roman"/>
            </a:endParaRPr>
          </a:p>
        </p:txBody>
      </p:sp>
      <p:grpSp>
        <p:nvGrpSpPr>
          <p:cNvPr id="8" name="object 8"/>
          <p:cNvGrpSpPr/>
          <p:nvPr/>
        </p:nvGrpSpPr>
        <p:grpSpPr>
          <a:xfrm>
            <a:off x="5829185" y="1733550"/>
            <a:ext cx="3857625" cy="4631690"/>
            <a:chOff x="5829185" y="1733550"/>
            <a:chExt cx="3857625" cy="4631690"/>
          </a:xfrm>
        </p:grpSpPr>
        <p:sp>
          <p:nvSpPr>
            <p:cNvPr id="9" name="object 9"/>
            <p:cNvSpPr/>
            <p:nvPr/>
          </p:nvSpPr>
          <p:spPr>
            <a:xfrm>
              <a:off x="5837567" y="1741932"/>
              <a:ext cx="3840479" cy="4615815"/>
            </a:xfrm>
            <a:custGeom>
              <a:avLst/>
              <a:gdLst/>
              <a:ahLst/>
              <a:cxnLst/>
              <a:rect l="l" t="t" r="r" b="b"/>
              <a:pathLst>
                <a:path w="3840479" h="4615815">
                  <a:moveTo>
                    <a:pt x="3840479" y="4615434"/>
                  </a:moveTo>
                  <a:lnTo>
                    <a:pt x="3840479" y="0"/>
                  </a:lnTo>
                  <a:lnTo>
                    <a:pt x="0" y="0"/>
                  </a:lnTo>
                  <a:lnTo>
                    <a:pt x="0" y="4615434"/>
                  </a:lnTo>
                  <a:lnTo>
                    <a:pt x="3840479" y="4615434"/>
                  </a:lnTo>
                  <a:close/>
                </a:path>
              </a:pathLst>
            </a:custGeom>
            <a:solidFill>
              <a:srgbClr val="F9FABA"/>
            </a:solidFill>
          </p:spPr>
          <p:txBody>
            <a:bodyPr wrap="square" lIns="0" tIns="0" rIns="0" bIns="0" rtlCol="0"/>
            <a:lstStyle/>
            <a:p>
              <a:endParaRPr/>
            </a:p>
          </p:txBody>
        </p:sp>
        <p:sp>
          <p:nvSpPr>
            <p:cNvPr id="10" name="object 10"/>
            <p:cNvSpPr/>
            <p:nvPr/>
          </p:nvSpPr>
          <p:spPr>
            <a:xfrm>
              <a:off x="5829185" y="1733550"/>
              <a:ext cx="3857625" cy="4631690"/>
            </a:xfrm>
            <a:custGeom>
              <a:avLst/>
              <a:gdLst/>
              <a:ahLst/>
              <a:cxnLst/>
              <a:rect l="l" t="t" r="r" b="b"/>
              <a:pathLst>
                <a:path w="3857625" h="4631690">
                  <a:moveTo>
                    <a:pt x="3857244" y="4628388"/>
                  </a:moveTo>
                  <a:lnTo>
                    <a:pt x="3857244" y="3810"/>
                  </a:lnTo>
                  <a:lnTo>
                    <a:pt x="3853434" y="0"/>
                  </a:lnTo>
                  <a:lnTo>
                    <a:pt x="3809" y="0"/>
                  </a:lnTo>
                  <a:lnTo>
                    <a:pt x="0" y="3810"/>
                  </a:lnTo>
                  <a:lnTo>
                    <a:pt x="0" y="4628388"/>
                  </a:lnTo>
                  <a:lnTo>
                    <a:pt x="3810" y="4631436"/>
                  </a:lnTo>
                  <a:lnTo>
                    <a:pt x="8382" y="4631436"/>
                  </a:lnTo>
                  <a:lnTo>
                    <a:pt x="8382" y="16764"/>
                  </a:lnTo>
                  <a:lnTo>
                    <a:pt x="16763" y="8382"/>
                  </a:lnTo>
                  <a:lnTo>
                    <a:pt x="16763" y="16764"/>
                  </a:lnTo>
                  <a:lnTo>
                    <a:pt x="3840479" y="16764"/>
                  </a:lnTo>
                  <a:lnTo>
                    <a:pt x="3840479" y="8382"/>
                  </a:lnTo>
                  <a:lnTo>
                    <a:pt x="3848862" y="16764"/>
                  </a:lnTo>
                  <a:lnTo>
                    <a:pt x="3848862" y="4631436"/>
                  </a:lnTo>
                  <a:lnTo>
                    <a:pt x="3853434" y="4631436"/>
                  </a:lnTo>
                  <a:lnTo>
                    <a:pt x="3857244" y="4628388"/>
                  </a:lnTo>
                  <a:close/>
                </a:path>
                <a:path w="3857625" h="4631690">
                  <a:moveTo>
                    <a:pt x="16763" y="16764"/>
                  </a:moveTo>
                  <a:lnTo>
                    <a:pt x="16763" y="8382"/>
                  </a:lnTo>
                  <a:lnTo>
                    <a:pt x="8382" y="16764"/>
                  </a:lnTo>
                  <a:lnTo>
                    <a:pt x="16763" y="16764"/>
                  </a:lnTo>
                  <a:close/>
                </a:path>
                <a:path w="3857625" h="4631690">
                  <a:moveTo>
                    <a:pt x="16764" y="4615434"/>
                  </a:moveTo>
                  <a:lnTo>
                    <a:pt x="16763" y="16764"/>
                  </a:lnTo>
                  <a:lnTo>
                    <a:pt x="8382" y="16764"/>
                  </a:lnTo>
                  <a:lnTo>
                    <a:pt x="8382" y="4615434"/>
                  </a:lnTo>
                  <a:lnTo>
                    <a:pt x="16764" y="4615434"/>
                  </a:lnTo>
                  <a:close/>
                </a:path>
                <a:path w="3857625" h="4631690">
                  <a:moveTo>
                    <a:pt x="3848862" y="4615434"/>
                  </a:moveTo>
                  <a:lnTo>
                    <a:pt x="8382" y="4615434"/>
                  </a:lnTo>
                  <a:lnTo>
                    <a:pt x="16764" y="4623816"/>
                  </a:lnTo>
                  <a:lnTo>
                    <a:pt x="16764" y="4631436"/>
                  </a:lnTo>
                  <a:lnTo>
                    <a:pt x="3840479" y="4631436"/>
                  </a:lnTo>
                  <a:lnTo>
                    <a:pt x="3840479" y="4623816"/>
                  </a:lnTo>
                  <a:lnTo>
                    <a:pt x="3848862" y="4615434"/>
                  </a:lnTo>
                  <a:close/>
                </a:path>
                <a:path w="3857625" h="4631690">
                  <a:moveTo>
                    <a:pt x="16764" y="4631436"/>
                  </a:moveTo>
                  <a:lnTo>
                    <a:pt x="16764" y="4623816"/>
                  </a:lnTo>
                  <a:lnTo>
                    <a:pt x="8382" y="4615434"/>
                  </a:lnTo>
                  <a:lnTo>
                    <a:pt x="8382" y="4631436"/>
                  </a:lnTo>
                  <a:lnTo>
                    <a:pt x="16764" y="4631436"/>
                  </a:lnTo>
                  <a:close/>
                </a:path>
                <a:path w="3857625" h="4631690">
                  <a:moveTo>
                    <a:pt x="3848862" y="16764"/>
                  </a:moveTo>
                  <a:lnTo>
                    <a:pt x="3840479" y="8382"/>
                  </a:lnTo>
                  <a:lnTo>
                    <a:pt x="3840479" y="16764"/>
                  </a:lnTo>
                  <a:lnTo>
                    <a:pt x="3848862" y="16764"/>
                  </a:lnTo>
                  <a:close/>
                </a:path>
                <a:path w="3857625" h="4631690">
                  <a:moveTo>
                    <a:pt x="3848862" y="4615434"/>
                  </a:moveTo>
                  <a:lnTo>
                    <a:pt x="3848862" y="16764"/>
                  </a:lnTo>
                  <a:lnTo>
                    <a:pt x="3840479" y="16764"/>
                  </a:lnTo>
                  <a:lnTo>
                    <a:pt x="3840479" y="4615434"/>
                  </a:lnTo>
                  <a:lnTo>
                    <a:pt x="3848862" y="4615434"/>
                  </a:lnTo>
                  <a:close/>
                </a:path>
                <a:path w="3857625" h="4631690">
                  <a:moveTo>
                    <a:pt x="3848862" y="4631436"/>
                  </a:moveTo>
                  <a:lnTo>
                    <a:pt x="3848862" y="4615434"/>
                  </a:lnTo>
                  <a:lnTo>
                    <a:pt x="3840479" y="4623816"/>
                  </a:lnTo>
                  <a:lnTo>
                    <a:pt x="3840479" y="4631436"/>
                  </a:lnTo>
                  <a:lnTo>
                    <a:pt x="3848862" y="4631436"/>
                  </a:lnTo>
                  <a:close/>
                </a:path>
              </a:pathLst>
            </a:custGeom>
            <a:solidFill>
              <a:srgbClr val="000000"/>
            </a:solidFill>
          </p:spPr>
          <p:txBody>
            <a:bodyPr wrap="square" lIns="0" tIns="0" rIns="0" bIns="0" rtlCol="0"/>
            <a:lstStyle/>
            <a:p>
              <a:endParaRPr/>
            </a:p>
          </p:txBody>
        </p:sp>
      </p:grpSp>
      <p:sp>
        <p:nvSpPr>
          <p:cNvPr id="11" name="object 11"/>
          <p:cNvSpPr txBox="1"/>
          <p:nvPr/>
        </p:nvSpPr>
        <p:spPr>
          <a:xfrm>
            <a:off x="5943733" y="1744479"/>
            <a:ext cx="3138170" cy="3616325"/>
          </a:xfrm>
          <a:prstGeom prst="rect">
            <a:avLst/>
          </a:prstGeom>
        </p:spPr>
        <p:txBody>
          <a:bodyPr vert="horz" wrap="square" lIns="0" tIns="52705" rIns="0" bIns="0" rtlCol="0">
            <a:spAutoFit/>
          </a:bodyPr>
          <a:lstStyle/>
          <a:p>
            <a:pPr marR="1375410" algn="ctr">
              <a:lnSpc>
                <a:spcPct val="100000"/>
              </a:lnSpc>
              <a:spcBef>
                <a:spcPts val="415"/>
              </a:spcBef>
            </a:pPr>
            <a:r>
              <a:rPr sz="1200" b="1" dirty="0">
                <a:latin typeface="微软雅黑"/>
                <a:cs typeface="微软雅黑"/>
              </a:rPr>
              <a:t>例</a:t>
            </a:r>
            <a:r>
              <a:rPr sz="1200" b="1" dirty="0">
                <a:latin typeface="Times New Roman"/>
                <a:cs typeface="Times New Roman"/>
              </a:rPr>
              <a:t>3.21</a:t>
            </a:r>
            <a:r>
              <a:rPr sz="1200" b="1" dirty="0">
                <a:latin typeface="微软雅黑"/>
                <a:cs typeface="微软雅黑"/>
              </a:rPr>
              <a:t>：</a:t>
            </a:r>
            <a:r>
              <a:rPr sz="1200" dirty="0">
                <a:latin typeface="Times New Roman"/>
                <a:cs typeface="Times New Roman"/>
              </a:rPr>
              <a:t>8-3</a:t>
            </a:r>
            <a:r>
              <a:rPr sz="1200" spc="-10" dirty="0">
                <a:latin typeface="微软雅黑"/>
                <a:cs typeface="微软雅黑"/>
              </a:rPr>
              <a:t>编码器的描述</a:t>
            </a:r>
            <a:endParaRPr sz="1200">
              <a:latin typeface="微软雅黑"/>
              <a:cs typeface="微软雅黑"/>
            </a:endParaRPr>
          </a:p>
          <a:p>
            <a:pPr marL="445770" marR="686435" indent="-238760">
              <a:lnSpc>
                <a:spcPts val="1770"/>
              </a:lnSpc>
              <a:spcBef>
                <a:spcPts val="110"/>
              </a:spcBef>
            </a:pPr>
            <a:r>
              <a:rPr sz="1200" b="1" dirty="0">
                <a:latin typeface="Times New Roman"/>
                <a:cs typeface="Times New Roman"/>
              </a:rPr>
              <a:t>module</a:t>
            </a:r>
            <a:r>
              <a:rPr sz="1200" b="1" spc="70" dirty="0">
                <a:latin typeface="Times New Roman"/>
                <a:cs typeface="Times New Roman"/>
              </a:rPr>
              <a:t> </a:t>
            </a:r>
            <a:r>
              <a:rPr sz="1200" dirty="0">
                <a:latin typeface="Times New Roman"/>
                <a:cs typeface="Times New Roman"/>
              </a:rPr>
              <a:t>encode_8_3(</a:t>
            </a:r>
            <a:r>
              <a:rPr sz="1200" b="1" dirty="0">
                <a:latin typeface="Times New Roman"/>
                <a:cs typeface="Times New Roman"/>
              </a:rPr>
              <a:t>input</a:t>
            </a:r>
            <a:r>
              <a:rPr sz="1200" b="1" spc="70" dirty="0">
                <a:latin typeface="Times New Roman"/>
                <a:cs typeface="Times New Roman"/>
              </a:rPr>
              <a:t> </a:t>
            </a:r>
            <a:r>
              <a:rPr sz="1200" dirty="0">
                <a:latin typeface="Times New Roman"/>
                <a:cs typeface="Times New Roman"/>
              </a:rPr>
              <a:t>[7:0]</a:t>
            </a:r>
            <a:r>
              <a:rPr sz="1200" spc="80" dirty="0">
                <a:latin typeface="Times New Roman"/>
                <a:cs typeface="Times New Roman"/>
              </a:rPr>
              <a:t> </a:t>
            </a:r>
            <a:r>
              <a:rPr sz="1200" spc="-25" dirty="0">
                <a:latin typeface="Times New Roman"/>
                <a:cs typeface="Times New Roman"/>
              </a:rPr>
              <a:t>in, </a:t>
            </a:r>
            <a:r>
              <a:rPr sz="1200" b="1" dirty="0">
                <a:latin typeface="Times New Roman"/>
                <a:cs typeface="Times New Roman"/>
              </a:rPr>
              <a:t>output</a:t>
            </a:r>
            <a:r>
              <a:rPr sz="1200" b="1" spc="315" dirty="0">
                <a:latin typeface="Times New Roman"/>
                <a:cs typeface="Times New Roman"/>
              </a:rPr>
              <a:t> </a:t>
            </a:r>
            <a:r>
              <a:rPr sz="1200" b="1" dirty="0">
                <a:latin typeface="Times New Roman"/>
                <a:cs typeface="Times New Roman"/>
              </a:rPr>
              <a:t>reg</a:t>
            </a:r>
            <a:r>
              <a:rPr sz="1200" b="1" spc="30" dirty="0">
                <a:latin typeface="Times New Roman"/>
                <a:cs typeface="Times New Roman"/>
              </a:rPr>
              <a:t> </a:t>
            </a:r>
            <a:r>
              <a:rPr sz="1200" dirty="0">
                <a:latin typeface="Times New Roman"/>
                <a:cs typeface="Times New Roman"/>
              </a:rPr>
              <a:t>[2:0]</a:t>
            </a:r>
            <a:r>
              <a:rPr sz="1200" spc="325" dirty="0">
                <a:latin typeface="Times New Roman"/>
                <a:cs typeface="Times New Roman"/>
              </a:rPr>
              <a:t> </a:t>
            </a:r>
            <a:r>
              <a:rPr sz="1200" spc="-10" dirty="0">
                <a:latin typeface="Times New Roman"/>
                <a:cs typeface="Times New Roman"/>
              </a:rPr>
              <a:t>encode_out, </a:t>
            </a:r>
            <a:r>
              <a:rPr sz="1200" b="1" dirty="0">
                <a:latin typeface="Times New Roman"/>
                <a:cs typeface="Times New Roman"/>
              </a:rPr>
              <a:t>output</a:t>
            </a:r>
            <a:r>
              <a:rPr sz="1200" b="1" spc="310" dirty="0">
                <a:latin typeface="Times New Roman"/>
                <a:cs typeface="Times New Roman"/>
              </a:rPr>
              <a:t> </a:t>
            </a:r>
            <a:r>
              <a:rPr sz="1200" b="1" dirty="0">
                <a:latin typeface="Times New Roman"/>
                <a:cs typeface="Times New Roman"/>
              </a:rPr>
              <a:t>reg</a:t>
            </a:r>
            <a:r>
              <a:rPr sz="1200" b="1" spc="345" dirty="0">
                <a:latin typeface="Times New Roman"/>
                <a:cs typeface="Times New Roman"/>
              </a:rPr>
              <a:t> </a:t>
            </a:r>
            <a:r>
              <a:rPr sz="1200" dirty="0">
                <a:latin typeface="Times New Roman"/>
                <a:cs typeface="Times New Roman"/>
              </a:rPr>
              <a:t>valid </a:t>
            </a:r>
            <a:r>
              <a:rPr sz="1200" spc="-25" dirty="0">
                <a:latin typeface="Times New Roman"/>
                <a:cs typeface="Times New Roman"/>
              </a:rPr>
              <a:t>);</a:t>
            </a:r>
            <a:endParaRPr sz="1200">
              <a:latin typeface="Times New Roman"/>
              <a:cs typeface="Times New Roman"/>
            </a:endParaRPr>
          </a:p>
          <a:p>
            <a:pPr marR="1840230" algn="ctr">
              <a:lnSpc>
                <a:spcPct val="100000"/>
              </a:lnSpc>
              <a:spcBef>
                <a:spcPts val="210"/>
              </a:spcBef>
            </a:pPr>
            <a:r>
              <a:rPr sz="1200" b="1" dirty="0">
                <a:latin typeface="Times New Roman"/>
                <a:cs typeface="Times New Roman"/>
              </a:rPr>
              <a:t>always</a:t>
            </a:r>
            <a:r>
              <a:rPr sz="1200" b="1" spc="60" dirty="0">
                <a:latin typeface="Times New Roman"/>
                <a:cs typeface="Times New Roman"/>
              </a:rPr>
              <a:t> </a:t>
            </a:r>
            <a:r>
              <a:rPr sz="1200" spc="-25" dirty="0">
                <a:latin typeface="Times New Roman"/>
                <a:cs typeface="Times New Roman"/>
              </a:rPr>
              <a:t>@*</a:t>
            </a:r>
            <a:endParaRPr sz="1200">
              <a:latin typeface="Times New Roman"/>
              <a:cs typeface="Times New Roman"/>
            </a:endParaRPr>
          </a:p>
          <a:p>
            <a:pPr marR="1872614" algn="ctr">
              <a:lnSpc>
                <a:spcPct val="100000"/>
              </a:lnSpc>
              <a:spcBef>
                <a:spcPts val="330"/>
              </a:spcBef>
            </a:pPr>
            <a:r>
              <a:rPr sz="1200" b="1" spc="-10" dirty="0">
                <a:latin typeface="Times New Roman"/>
                <a:cs typeface="Times New Roman"/>
              </a:rPr>
              <a:t>begin</a:t>
            </a:r>
            <a:endParaRPr sz="1200">
              <a:latin typeface="Times New Roman"/>
              <a:cs typeface="Times New Roman"/>
            </a:endParaRPr>
          </a:p>
          <a:p>
            <a:pPr marR="1322705" algn="ctr">
              <a:lnSpc>
                <a:spcPct val="100000"/>
              </a:lnSpc>
              <a:spcBef>
                <a:spcPts val="325"/>
              </a:spcBef>
            </a:pPr>
            <a:r>
              <a:rPr sz="1200" dirty="0">
                <a:latin typeface="Times New Roman"/>
                <a:cs typeface="Times New Roman"/>
              </a:rPr>
              <a:t>valid</a:t>
            </a:r>
            <a:r>
              <a:rPr sz="1200" spc="1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25" dirty="0">
                <a:latin typeface="Times New Roman"/>
                <a:cs typeface="Times New Roman"/>
              </a:rPr>
              <a:t>1;</a:t>
            </a:r>
            <a:endParaRPr sz="1200">
              <a:latin typeface="Times New Roman"/>
              <a:cs typeface="Times New Roman"/>
            </a:endParaRPr>
          </a:p>
          <a:p>
            <a:pPr marR="1378585" algn="ctr">
              <a:lnSpc>
                <a:spcPct val="100000"/>
              </a:lnSpc>
              <a:spcBef>
                <a:spcPts val="330"/>
              </a:spcBef>
            </a:pPr>
            <a:r>
              <a:rPr sz="1200" b="1" dirty="0">
                <a:latin typeface="Times New Roman"/>
                <a:cs typeface="Times New Roman"/>
              </a:rPr>
              <a:t>case</a:t>
            </a:r>
            <a:r>
              <a:rPr sz="1200" b="1" spc="45" dirty="0">
                <a:latin typeface="Times New Roman"/>
                <a:cs typeface="Times New Roman"/>
              </a:rPr>
              <a:t> </a:t>
            </a:r>
            <a:r>
              <a:rPr sz="1200" spc="-20" dirty="0">
                <a:latin typeface="Times New Roman"/>
                <a:cs typeface="Times New Roman"/>
              </a:rPr>
              <a:t>(in)</a:t>
            </a:r>
            <a:endParaRPr sz="1200">
              <a:latin typeface="Times New Roman"/>
              <a:cs typeface="Times New Roman"/>
            </a:endParaRPr>
          </a:p>
          <a:p>
            <a:pPr marL="761365" marR="5080">
              <a:lnSpc>
                <a:spcPts val="1770"/>
              </a:lnSpc>
              <a:spcBef>
                <a:spcPts val="105"/>
              </a:spcBef>
            </a:pPr>
            <a:r>
              <a:rPr sz="1200" dirty="0">
                <a:latin typeface="Times New Roman"/>
                <a:cs typeface="Times New Roman"/>
              </a:rPr>
              <a:t>8’b00000001</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3’b000; </a:t>
            </a:r>
            <a:r>
              <a:rPr sz="1200" dirty="0">
                <a:latin typeface="Times New Roman"/>
                <a:cs typeface="Times New Roman"/>
              </a:rPr>
              <a:t>8’b00000010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3’b001;</a:t>
            </a:r>
            <a:endParaRPr sz="1200">
              <a:latin typeface="Times New Roman"/>
              <a:cs typeface="Times New Roman"/>
            </a:endParaRPr>
          </a:p>
          <a:p>
            <a:pPr marL="761365" marR="5080">
              <a:lnSpc>
                <a:spcPts val="1760"/>
              </a:lnSpc>
              <a:spcBef>
                <a:spcPts val="10"/>
              </a:spcBef>
            </a:pPr>
            <a:r>
              <a:rPr sz="1200" dirty="0">
                <a:latin typeface="Times New Roman"/>
                <a:cs typeface="Times New Roman"/>
              </a:rPr>
              <a:t>8’b00000100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3’b010; </a:t>
            </a:r>
            <a:r>
              <a:rPr sz="1200" dirty="0">
                <a:latin typeface="Times New Roman"/>
                <a:cs typeface="Times New Roman"/>
              </a:rPr>
              <a:t>8’b00001000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3’b011;</a:t>
            </a:r>
            <a:endParaRPr sz="1200">
              <a:latin typeface="Times New Roman"/>
              <a:cs typeface="Times New Roman"/>
            </a:endParaRPr>
          </a:p>
          <a:p>
            <a:pPr marL="761365" marR="5080">
              <a:lnSpc>
                <a:spcPts val="1760"/>
              </a:lnSpc>
              <a:spcBef>
                <a:spcPts val="15"/>
              </a:spcBef>
            </a:pPr>
            <a:r>
              <a:rPr sz="1200" dirty="0">
                <a:latin typeface="Times New Roman"/>
                <a:cs typeface="Times New Roman"/>
              </a:rPr>
              <a:t>8’b00010000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3’b100; </a:t>
            </a:r>
            <a:r>
              <a:rPr sz="1200" dirty="0">
                <a:latin typeface="Times New Roman"/>
                <a:cs typeface="Times New Roman"/>
              </a:rPr>
              <a:t>8’b00100000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3’b101;</a:t>
            </a:r>
            <a:endParaRPr sz="1200">
              <a:latin typeface="Times New Roman"/>
              <a:cs typeface="Times New Roman"/>
            </a:endParaRPr>
          </a:p>
          <a:p>
            <a:pPr marL="761365" marR="11430">
              <a:lnSpc>
                <a:spcPts val="1760"/>
              </a:lnSpc>
              <a:spcBef>
                <a:spcPts val="10"/>
              </a:spcBef>
            </a:pPr>
            <a:r>
              <a:rPr sz="1200" dirty="0">
                <a:latin typeface="Times New Roman"/>
                <a:cs typeface="Times New Roman"/>
              </a:rPr>
              <a:t>8’b01000000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3’b110; </a:t>
            </a:r>
            <a:r>
              <a:rPr sz="1200" dirty="0">
                <a:latin typeface="Times New Roman"/>
                <a:cs typeface="Times New Roman"/>
              </a:rPr>
              <a:t>8’b10000000</a:t>
            </a:r>
            <a:r>
              <a:rPr sz="1200" spc="30" dirty="0">
                <a:latin typeface="Times New Roman"/>
                <a:cs typeface="Times New Roman"/>
              </a:rPr>
              <a:t> </a:t>
            </a:r>
            <a:r>
              <a:rPr sz="1200" dirty="0">
                <a:latin typeface="Times New Roman"/>
                <a:cs typeface="Times New Roman"/>
              </a:rPr>
              <a:t>:</a:t>
            </a:r>
            <a:r>
              <a:rPr sz="1200" spc="415" dirty="0">
                <a:latin typeface="Times New Roman"/>
                <a:cs typeface="Times New Roman"/>
              </a:rPr>
              <a:t> </a:t>
            </a:r>
            <a:r>
              <a:rPr sz="1200" dirty="0">
                <a:latin typeface="Times New Roman"/>
                <a:cs typeface="Times New Roman"/>
              </a:rPr>
              <a:t>encode_out</a:t>
            </a:r>
            <a:r>
              <a:rPr sz="1200" spc="3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10" dirty="0">
                <a:latin typeface="Times New Roman"/>
                <a:cs typeface="Times New Roman"/>
              </a:rPr>
              <a:t>3’b111;</a:t>
            </a:r>
            <a:endParaRPr sz="1200">
              <a:latin typeface="Times New Roman"/>
              <a:cs typeface="Times New Roman"/>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p:nvPr/>
        </p:nvSpPr>
        <p:spPr>
          <a:xfrm>
            <a:off x="7320559" y="5372284"/>
            <a:ext cx="746125"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Times New Roman"/>
                <a:cs typeface="Times New Roman"/>
              </a:rPr>
              <a:t>:</a:t>
            </a:r>
            <a:r>
              <a:rPr sz="1200" spc="330" dirty="0">
                <a:latin typeface="Times New Roman"/>
                <a:cs typeface="Times New Roman"/>
              </a:rPr>
              <a:t> </a:t>
            </a:r>
            <a:r>
              <a:rPr sz="1200" dirty="0">
                <a:latin typeface="Times New Roman"/>
                <a:cs typeface="Times New Roman"/>
              </a:rPr>
              <a:t>valid</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0;</a:t>
            </a:r>
            <a:endParaRPr sz="1200">
              <a:latin typeface="Times New Roman"/>
              <a:cs typeface="Times New Roman"/>
            </a:endParaRPr>
          </a:p>
        </p:txBody>
      </p:sp>
      <p:sp>
        <p:nvSpPr>
          <p:cNvPr id="13" name="object 13"/>
          <p:cNvSpPr txBox="1"/>
          <p:nvPr/>
        </p:nvSpPr>
        <p:spPr>
          <a:xfrm>
            <a:off x="6177704" y="5335716"/>
            <a:ext cx="975994" cy="923290"/>
          </a:xfrm>
          <a:prstGeom prst="rect">
            <a:avLst/>
          </a:prstGeom>
        </p:spPr>
        <p:txBody>
          <a:bodyPr vert="horz" wrap="square" lIns="0" tIns="52705" rIns="0" bIns="0" rtlCol="0">
            <a:spAutoFit/>
          </a:bodyPr>
          <a:lstStyle/>
          <a:p>
            <a:pPr marL="527685">
              <a:lnSpc>
                <a:spcPct val="100000"/>
              </a:lnSpc>
              <a:spcBef>
                <a:spcPts val="415"/>
              </a:spcBef>
            </a:pPr>
            <a:r>
              <a:rPr sz="1200" spc="-10" dirty="0">
                <a:latin typeface="Times New Roman"/>
                <a:cs typeface="Times New Roman"/>
              </a:rPr>
              <a:t>default</a:t>
            </a:r>
            <a:endParaRPr sz="1200">
              <a:latin typeface="Times New Roman"/>
              <a:cs typeface="Times New Roman"/>
            </a:endParaRPr>
          </a:p>
          <a:p>
            <a:pPr marL="250825" marR="36830" indent="157480">
              <a:lnSpc>
                <a:spcPts val="1770"/>
              </a:lnSpc>
              <a:spcBef>
                <a:spcPts val="110"/>
              </a:spcBef>
            </a:pPr>
            <a:r>
              <a:rPr sz="1200" b="1" spc="-10" dirty="0">
                <a:latin typeface="Times New Roman"/>
                <a:cs typeface="Times New Roman"/>
              </a:rPr>
              <a:t>endcase </a:t>
            </a:r>
            <a:r>
              <a:rPr sz="1200" b="1" spc="-25" dirty="0">
                <a:latin typeface="Times New Roman"/>
                <a:cs typeface="Times New Roman"/>
              </a:rPr>
              <a:t>end</a:t>
            </a:r>
            <a:endParaRPr sz="1200">
              <a:latin typeface="Times New Roman"/>
              <a:cs typeface="Times New Roman"/>
            </a:endParaRPr>
          </a:p>
          <a:p>
            <a:pPr marL="12700">
              <a:lnSpc>
                <a:spcPct val="100000"/>
              </a:lnSpc>
              <a:spcBef>
                <a:spcPts val="215"/>
              </a:spcBef>
            </a:pPr>
            <a:r>
              <a:rPr sz="1200" b="1" spc="-10" dirty="0">
                <a:latin typeface="Times New Roman"/>
                <a:cs typeface="Times New Roman"/>
              </a:rPr>
              <a:t>endmodule</a:t>
            </a:r>
            <a:endParaRPr sz="1200">
              <a:latin typeface="Times New Roman"/>
              <a:cs typeface="Times New Roman"/>
            </a:endParaRPr>
          </a:p>
        </p:txBody>
      </p:sp>
      <p:sp>
        <p:nvSpPr>
          <p:cNvPr id="14" name="object 14"/>
          <p:cNvSpPr txBox="1">
            <a:spLocks noGrp="1"/>
          </p:cNvSpPr>
          <p:nvPr>
            <p:ph type="title"/>
          </p:nvPr>
        </p:nvSpPr>
        <p:spPr>
          <a:xfrm>
            <a:off x="397135" y="1071625"/>
            <a:ext cx="32340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3.6.3</a:t>
            </a:r>
            <a:r>
              <a:rPr spc="-20" dirty="0"/>
              <a:t>译码器和编码器</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05953" y="3938778"/>
            <a:ext cx="8037830" cy="2075814"/>
            <a:chOff x="1305953" y="3938778"/>
            <a:chExt cx="8037830" cy="2075814"/>
          </a:xfrm>
        </p:grpSpPr>
        <p:sp>
          <p:nvSpPr>
            <p:cNvPr id="3" name="object 3"/>
            <p:cNvSpPr/>
            <p:nvPr/>
          </p:nvSpPr>
          <p:spPr>
            <a:xfrm>
              <a:off x="1311287" y="3944112"/>
              <a:ext cx="8027034" cy="2065020"/>
            </a:xfrm>
            <a:custGeom>
              <a:avLst/>
              <a:gdLst/>
              <a:ahLst/>
              <a:cxnLst/>
              <a:rect l="l" t="t" r="r" b="b"/>
              <a:pathLst>
                <a:path w="8027034" h="2065020">
                  <a:moveTo>
                    <a:pt x="8026908" y="2065019"/>
                  </a:moveTo>
                  <a:lnTo>
                    <a:pt x="8026908" y="0"/>
                  </a:lnTo>
                  <a:lnTo>
                    <a:pt x="0" y="0"/>
                  </a:lnTo>
                  <a:lnTo>
                    <a:pt x="0" y="2065020"/>
                  </a:lnTo>
                  <a:lnTo>
                    <a:pt x="8026908" y="2065019"/>
                  </a:lnTo>
                  <a:close/>
                </a:path>
              </a:pathLst>
            </a:custGeom>
            <a:solidFill>
              <a:srgbClr val="D8D8D8"/>
            </a:solidFill>
          </p:spPr>
          <p:txBody>
            <a:bodyPr wrap="square" lIns="0" tIns="0" rIns="0" bIns="0" rtlCol="0"/>
            <a:lstStyle/>
            <a:p>
              <a:endParaRPr/>
            </a:p>
          </p:txBody>
        </p:sp>
        <p:sp>
          <p:nvSpPr>
            <p:cNvPr id="4" name="object 4"/>
            <p:cNvSpPr/>
            <p:nvPr/>
          </p:nvSpPr>
          <p:spPr>
            <a:xfrm>
              <a:off x="1305953" y="3938778"/>
              <a:ext cx="8037830" cy="2075814"/>
            </a:xfrm>
            <a:custGeom>
              <a:avLst/>
              <a:gdLst/>
              <a:ahLst/>
              <a:cxnLst/>
              <a:rect l="l" t="t" r="r" b="b"/>
              <a:pathLst>
                <a:path w="8037830" h="2075814">
                  <a:moveTo>
                    <a:pt x="8037576" y="2073402"/>
                  </a:moveTo>
                  <a:lnTo>
                    <a:pt x="8037576" y="2285"/>
                  </a:lnTo>
                  <a:lnTo>
                    <a:pt x="8035290" y="0"/>
                  </a:lnTo>
                  <a:lnTo>
                    <a:pt x="2285" y="0"/>
                  </a:lnTo>
                  <a:lnTo>
                    <a:pt x="0" y="2286"/>
                  </a:lnTo>
                  <a:lnTo>
                    <a:pt x="0" y="2073402"/>
                  </a:lnTo>
                  <a:lnTo>
                    <a:pt x="2286" y="2075688"/>
                  </a:lnTo>
                  <a:lnTo>
                    <a:pt x="5333" y="2075688"/>
                  </a:lnTo>
                  <a:lnTo>
                    <a:pt x="5334" y="10668"/>
                  </a:lnTo>
                  <a:lnTo>
                    <a:pt x="11429" y="5334"/>
                  </a:lnTo>
                  <a:lnTo>
                    <a:pt x="11429" y="10668"/>
                  </a:lnTo>
                  <a:lnTo>
                    <a:pt x="8026908" y="10667"/>
                  </a:lnTo>
                  <a:lnTo>
                    <a:pt x="8026908" y="5333"/>
                  </a:lnTo>
                  <a:lnTo>
                    <a:pt x="8032242" y="10667"/>
                  </a:lnTo>
                  <a:lnTo>
                    <a:pt x="8032242" y="2075688"/>
                  </a:lnTo>
                  <a:lnTo>
                    <a:pt x="8035290" y="2075688"/>
                  </a:lnTo>
                  <a:lnTo>
                    <a:pt x="8037576" y="2073402"/>
                  </a:lnTo>
                  <a:close/>
                </a:path>
                <a:path w="8037830" h="2075814">
                  <a:moveTo>
                    <a:pt x="11429" y="10668"/>
                  </a:moveTo>
                  <a:lnTo>
                    <a:pt x="11429" y="5334"/>
                  </a:lnTo>
                  <a:lnTo>
                    <a:pt x="5334" y="10668"/>
                  </a:lnTo>
                  <a:lnTo>
                    <a:pt x="11429" y="10668"/>
                  </a:lnTo>
                  <a:close/>
                </a:path>
                <a:path w="8037830" h="2075814">
                  <a:moveTo>
                    <a:pt x="11429" y="2065020"/>
                  </a:moveTo>
                  <a:lnTo>
                    <a:pt x="11429" y="10668"/>
                  </a:lnTo>
                  <a:lnTo>
                    <a:pt x="5334" y="10668"/>
                  </a:lnTo>
                  <a:lnTo>
                    <a:pt x="5334" y="2065020"/>
                  </a:lnTo>
                  <a:lnTo>
                    <a:pt x="11429" y="2065020"/>
                  </a:lnTo>
                  <a:close/>
                </a:path>
                <a:path w="8037830" h="2075814">
                  <a:moveTo>
                    <a:pt x="8032242" y="2065020"/>
                  </a:moveTo>
                  <a:lnTo>
                    <a:pt x="5334" y="2065020"/>
                  </a:lnTo>
                  <a:lnTo>
                    <a:pt x="11429" y="2070353"/>
                  </a:lnTo>
                  <a:lnTo>
                    <a:pt x="11429" y="2075688"/>
                  </a:lnTo>
                  <a:lnTo>
                    <a:pt x="8026908" y="2075688"/>
                  </a:lnTo>
                  <a:lnTo>
                    <a:pt x="8026908" y="2070353"/>
                  </a:lnTo>
                  <a:lnTo>
                    <a:pt x="8032242" y="2065020"/>
                  </a:lnTo>
                  <a:close/>
                </a:path>
                <a:path w="8037830" h="2075814">
                  <a:moveTo>
                    <a:pt x="11429" y="2075688"/>
                  </a:moveTo>
                  <a:lnTo>
                    <a:pt x="11429" y="2070353"/>
                  </a:lnTo>
                  <a:lnTo>
                    <a:pt x="5334" y="2065020"/>
                  </a:lnTo>
                  <a:lnTo>
                    <a:pt x="5333" y="2075688"/>
                  </a:lnTo>
                  <a:lnTo>
                    <a:pt x="11429" y="2075688"/>
                  </a:lnTo>
                  <a:close/>
                </a:path>
                <a:path w="8037830" h="2075814">
                  <a:moveTo>
                    <a:pt x="8032242" y="10667"/>
                  </a:moveTo>
                  <a:lnTo>
                    <a:pt x="8026908" y="5333"/>
                  </a:lnTo>
                  <a:lnTo>
                    <a:pt x="8026908" y="10667"/>
                  </a:lnTo>
                  <a:lnTo>
                    <a:pt x="8032242" y="10667"/>
                  </a:lnTo>
                  <a:close/>
                </a:path>
                <a:path w="8037830" h="2075814">
                  <a:moveTo>
                    <a:pt x="8032242" y="2065020"/>
                  </a:moveTo>
                  <a:lnTo>
                    <a:pt x="8032242" y="10667"/>
                  </a:lnTo>
                  <a:lnTo>
                    <a:pt x="8026908" y="10667"/>
                  </a:lnTo>
                  <a:lnTo>
                    <a:pt x="8026908" y="2065020"/>
                  </a:lnTo>
                  <a:lnTo>
                    <a:pt x="8032242" y="2065020"/>
                  </a:lnTo>
                  <a:close/>
                </a:path>
                <a:path w="8037830" h="2075814">
                  <a:moveTo>
                    <a:pt x="8032242" y="2075688"/>
                  </a:moveTo>
                  <a:lnTo>
                    <a:pt x="8032242" y="2065020"/>
                  </a:lnTo>
                  <a:lnTo>
                    <a:pt x="8026908" y="2070353"/>
                  </a:lnTo>
                  <a:lnTo>
                    <a:pt x="8026908" y="2075688"/>
                  </a:lnTo>
                  <a:lnTo>
                    <a:pt x="8032242" y="2075688"/>
                  </a:lnTo>
                  <a:close/>
                </a:path>
              </a:pathLst>
            </a:custGeom>
            <a:solidFill>
              <a:srgbClr val="006479"/>
            </a:solidFill>
          </p:spPr>
          <p:txBody>
            <a:bodyPr wrap="square" lIns="0" tIns="0" rIns="0" bIns="0" rtlCol="0"/>
            <a:lstStyle/>
            <a:p>
              <a:endParaRPr/>
            </a:p>
          </p:txBody>
        </p:sp>
        <p:pic>
          <p:nvPicPr>
            <p:cNvPr id="5" name="object 5"/>
            <p:cNvPicPr/>
            <p:nvPr/>
          </p:nvPicPr>
          <p:blipFill>
            <a:blip r:embed="rId2" cstate="print"/>
            <a:stretch>
              <a:fillRect/>
            </a:stretch>
          </p:blipFill>
          <p:spPr>
            <a:xfrm>
              <a:off x="1305953" y="4050792"/>
              <a:ext cx="8026907" cy="1584197"/>
            </a:xfrm>
            <a:prstGeom prst="rect">
              <a:avLst/>
            </a:prstGeom>
          </p:spPr>
        </p:pic>
      </p:grpSp>
      <p:grpSp>
        <p:nvGrpSpPr>
          <p:cNvPr id="6" name="object 6"/>
          <p:cNvGrpSpPr/>
          <p:nvPr/>
        </p:nvGrpSpPr>
        <p:grpSpPr>
          <a:xfrm>
            <a:off x="1298333" y="1783842"/>
            <a:ext cx="8037830" cy="1828164"/>
            <a:chOff x="1298333" y="1783842"/>
            <a:chExt cx="8037830" cy="1828164"/>
          </a:xfrm>
        </p:grpSpPr>
        <p:sp>
          <p:nvSpPr>
            <p:cNvPr id="7" name="object 7"/>
            <p:cNvSpPr/>
            <p:nvPr/>
          </p:nvSpPr>
          <p:spPr>
            <a:xfrm>
              <a:off x="1303667" y="1789176"/>
              <a:ext cx="8027034" cy="1817370"/>
            </a:xfrm>
            <a:custGeom>
              <a:avLst/>
              <a:gdLst/>
              <a:ahLst/>
              <a:cxnLst/>
              <a:rect l="l" t="t" r="r" b="b"/>
              <a:pathLst>
                <a:path w="8027034" h="1817370">
                  <a:moveTo>
                    <a:pt x="8026908" y="1817370"/>
                  </a:moveTo>
                  <a:lnTo>
                    <a:pt x="8026908" y="0"/>
                  </a:lnTo>
                  <a:lnTo>
                    <a:pt x="0" y="0"/>
                  </a:lnTo>
                  <a:lnTo>
                    <a:pt x="0" y="1817370"/>
                  </a:lnTo>
                  <a:lnTo>
                    <a:pt x="8026908" y="1817370"/>
                  </a:lnTo>
                  <a:close/>
                </a:path>
              </a:pathLst>
            </a:custGeom>
            <a:solidFill>
              <a:srgbClr val="F9FABA"/>
            </a:solidFill>
          </p:spPr>
          <p:txBody>
            <a:bodyPr wrap="square" lIns="0" tIns="0" rIns="0" bIns="0" rtlCol="0"/>
            <a:lstStyle/>
            <a:p>
              <a:endParaRPr/>
            </a:p>
          </p:txBody>
        </p:sp>
        <p:sp>
          <p:nvSpPr>
            <p:cNvPr id="8" name="object 8"/>
            <p:cNvSpPr/>
            <p:nvPr/>
          </p:nvSpPr>
          <p:spPr>
            <a:xfrm>
              <a:off x="1298333" y="1783842"/>
              <a:ext cx="8037830" cy="1828164"/>
            </a:xfrm>
            <a:custGeom>
              <a:avLst/>
              <a:gdLst/>
              <a:ahLst/>
              <a:cxnLst/>
              <a:rect l="l" t="t" r="r" b="b"/>
              <a:pathLst>
                <a:path w="8037830" h="1828164">
                  <a:moveTo>
                    <a:pt x="8037576" y="1825752"/>
                  </a:moveTo>
                  <a:lnTo>
                    <a:pt x="8037576" y="2285"/>
                  </a:lnTo>
                  <a:lnTo>
                    <a:pt x="8035290" y="0"/>
                  </a:lnTo>
                  <a:lnTo>
                    <a:pt x="2285" y="0"/>
                  </a:lnTo>
                  <a:lnTo>
                    <a:pt x="0" y="2286"/>
                  </a:lnTo>
                  <a:lnTo>
                    <a:pt x="0" y="1825752"/>
                  </a:lnTo>
                  <a:lnTo>
                    <a:pt x="2286" y="1828038"/>
                  </a:lnTo>
                  <a:lnTo>
                    <a:pt x="5333" y="1828038"/>
                  </a:lnTo>
                  <a:lnTo>
                    <a:pt x="5334" y="10668"/>
                  </a:lnTo>
                  <a:lnTo>
                    <a:pt x="10667" y="5334"/>
                  </a:lnTo>
                  <a:lnTo>
                    <a:pt x="10668" y="10668"/>
                  </a:lnTo>
                  <a:lnTo>
                    <a:pt x="8026146" y="10667"/>
                  </a:lnTo>
                  <a:lnTo>
                    <a:pt x="8026146" y="5333"/>
                  </a:lnTo>
                  <a:lnTo>
                    <a:pt x="8032242" y="10667"/>
                  </a:lnTo>
                  <a:lnTo>
                    <a:pt x="8032242" y="1828038"/>
                  </a:lnTo>
                  <a:lnTo>
                    <a:pt x="8035290" y="1828038"/>
                  </a:lnTo>
                  <a:lnTo>
                    <a:pt x="8037576" y="1825752"/>
                  </a:lnTo>
                  <a:close/>
                </a:path>
                <a:path w="8037830" h="1828164">
                  <a:moveTo>
                    <a:pt x="10667" y="10668"/>
                  </a:moveTo>
                  <a:lnTo>
                    <a:pt x="10667" y="5334"/>
                  </a:lnTo>
                  <a:lnTo>
                    <a:pt x="5334" y="10668"/>
                  </a:lnTo>
                  <a:lnTo>
                    <a:pt x="10667" y="10668"/>
                  </a:lnTo>
                  <a:close/>
                </a:path>
                <a:path w="8037830" h="1828164">
                  <a:moveTo>
                    <a:pt x="10668" y="1817370"/>
                  </a:moveTo>
                  <a:lnTo>
                    <a:pt x="10667" y="10668"/>
                  </a:lnTo>
                  <a:lnTo>
                    <a:pt x="5334" y="10668"/>
                  </a:lnTo>
                  <a:lnTo>
                    <a:pt x="5334" y="1817370"/>
                  </a:lnTo>
                  <a:lnTo>
                    <a:pt x="10668" y="1817370"/>
                  </a:lnTo>
                  <a:close/>
                </a:path>
                <a:path w="8037830" h="1828164">
                  <a:moveTo>
                    <a:pt x="8032242" y="1817370"/>
                  </a:moveTo>
                  <a:lnTo>
                    <a:pt x="5334" y="1817370"/>
                  </a:lnTo>
                  <a:lnTo>
                    <a:pt x="10668" y="1822704"/>
                  </a:lnTo>
                  <a:lnTo>
                    <a:pt x="10668" y="1828038"/>
                  </a:lnTo>
                  <a:lnTo>
                    <a:pt x="8026146" y="1828038"/>
                  </a:lnTo>
                  <a:lnTo>
                    <a:pt x="8026146" y="1822703"/>
                  </a:lnTo>
                  <a:lnTo>
                    <a:pt x="8032242" y="1817370"/>
                  </a:lnTo>
                  <a:close/>
                </a:path>
                <a:path w="8037830" h="1828164">
                  <a:moveTo>
                    <a:pt x="10668" y="1828038"/>
                  </a:moveTo>
                  <a:lnTo>
                    <a:pt x="10668" y="1822704"/>
                  </a:lnTo>
                  <a:lnTo>
                    <a:pt x="5334" y="1817370"/>
                  </a:lnTo>
                  <a:lnTo>
                    <a:pt x="5333" y="1828038"/>
                  </a:lnTo>
                  <a:lnTo>
                    <a:pt x="10668" y="1828038"/>
                  </a:lnTo>
                  <a:close/>
                </a:path>
                <a:path w="8037830" h="1828164">
                  <a:moveTo>
                    <a:pt x="8032242" y="10667"/>
                  </a:moveTo>
                  <a:lnTo>
                    <a:pt x="8026146" y="5333"/>
                  </a:lnTo>
                  <a:lnTo>
                    <a:pt x="8026146" y="10667"/>
                  </a:lnTo>
                  <a:lnTo>
                    <a:pt x="8032242" y="10667"/>
                  </a:lnTo>
                  <a:close/>
                </a:path>
                <a:path w="8037830" h="1828164">
                  <a:moveTo>
                    <a:pt x="8032242" y="1817370"/>
                  </a:moveTo>
                  <a:lnTo>
                    <a:pt x="8032242" y="10667"/>
                  </a:lnTo>
                  <a:lnTo>
                    <a:pt x="8026146" y="10667"/>
                  </a:lnTo>
                  <a:lnTo>
                    <a:pt x="8026146" y="1817370"/>
                  </a:lnTo>
                  <a:lnTo>
                    <a:pt x="8032242" y="1817370"/>
                  </a:lnTo>
                  <a:close/>
                </a:path>
                <a:path w="8037830" h="1828164">
                  <a:moveTo>
                    <a:pt x="8032242" y="1828038"/>
                  </a:moveTo>
                  <a:lnTo>
                    <a:pt x="8032242" y="1817370"/>
                  </a:lnTo>
                  <a:lnTo>
                    <a:pt x="8026146" y="1822703"/>
                  </a:lnTo>
                  <a:lnTo>
                    <a:pt x="8026146" y="1828038"/>
                  </a:lnTo>
                  <a:lnTo>
                    <a:pt x="8032242" y="1828038"/>
                  </a:lnTo>
                  <a:close/>
                </a:path>
              </a:pathLst>
            </a:custGeom>
            <a:solidFill>
              <a:srgbClr val="006479"/>
            </a:solidFill>
          </p:spPr>
          <p:txBody>
            <a:bodyPr wrap="square" lIns="0" tIns="0" rIns="0" bIns="0" rtlCol="0"/>
            <a:lstStyle/>
            <a:p>
              <a:endParaRPr/>
            </a:p>
          </p:txBody>
        </p:sp>
        <p:pic>
          <p:nvPicPr>
            <p:cNvPr id="9" name="object 9"/>
            <p:cNvPicPr/>
            <p:nvPr/>
          </p:nvPicPr>
          <p:blipFill>
            <a:blip r:embed="rId3" cstate="print"/>
            <a:stretch>
              <a:fillRect/>
            </a:stretch>
          </p:blipFill>
          <p:spPr>
            <a:xfrm>
              <a:off x="1305953" y="1889760"/>
              <a:ext cx="8026907" cy="1313688"/>
            </a:xfrm>
            <a:prstGeom prst="rect">
              <a:avLst/>
            </a:prstGeom>
          </p:spPr>
        </p:pic>
      </p:grpSp>
      <p:sp>
        <p:nvSpPr>
          <p:cNvPr id="10" name="object 10"/>
          <p:cNvSpPr txBox="1"/>
          <p:nvPr/>
        </p:nvSpPr>
        <p:spPr>
          <a:xfrm>
            <a:off x="3943483" y="5648197"/>
            <a:ext cx="2752090"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图3.6</a:t>
            </a:r>
            <a:r>
              <a:rPr sz="1550" b="1" spc="290" dirty="0">
                <a:latin typeface="宋体"/>
                <a:cs typeface="宋体"/>
              </a:rPr>
              <a:t> </a:t>
            </a:r>
            <a:r>
              <a:rPr sz="1550" b="1" dirty="0">
                <a:latin typeface="宋体"/>
                <a:cs typeface="宋体"/>
              </a:rPr>
              <a:t>8-3</a:t>
            </a:r>
            <a:r>
              <a:rPr sz="1550" b="1" spc="-10" dirty="0">
                <a:latin typeface="宋体"/>
                <a:cs typeface="宋体"/>
              </a:rPr>
              <a:t>编码器的仿真波形图</a:t>
            </a:r>
            <a:endParaRPr sz="1550">
              <a:latin typeface="宋体"/>
              <a:cs typeface="宋体"/>
            </a:endParaRPr>
          </a:p>
        </p:txBody>
      </p:sp>
      <p:sp>
        <p:nvSpPr>
          <p:cNvPr id="13" name="object 13"/>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1" name="object 11"/>
          <p:cNvSpPr txBox="1"/>
          <p:nvPr/>
        </p:nvSpPr>
        <p:spPr>
          <a:xfrm>
            <a:off x="3845185" y="3235705"/>
            <a:ext cx="2752090"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图3.5</a:t>
            </a:r>
            <a:r>
              <a:rPr sz="1550" b="1" spc="290" dirty="0">
                <a:latin typeface="宋体"/>
                <a:cs typeface="宋体"/>
              </a:rPr>
              <a:t> </a:t>
            </a:r>
            <a:r>
              <a:rPr sz="1550" b="1" dirty="0">
                <a:latin typeface="宋体"/>
                <a:cs typeface="宋体"/>
              </a:rPr>
              <a:t>3.8</a:t>
            </a:r>
            <a:r>
              <a:rPr sz="1550" b="1" spc="-10" dirty="0">
                <a:latin typeface="宋体"/>
                <a:cs typeface="宋体"/>
              </a:rPr>
              <a:t>译码器的仿真波形图</a:t>
            </a:r>
            <a:endParaRPr sz="1550">
              <a:latin typeface="宋体"/>
              <a:cs typeface="宋体"/>
            </a:endParaRPr>
          </a:p>
        </p:txBody>
      </p:sp>
      <p:sp>
        <p:nvSpPr>
          <p:cNvPr id="12" name="object 12"/>
          <p:cNvSpPr txBox="1">
            <a:spLocks noGrp="1"/>
          </p:cNvSpPr>
          <p:nvPr>
            <p:ph type="title"/>
          </p:nvPr>
        </p:nvSpPr>
        <p:spPr>
          <a:xfrm>
            <a:off x="417709" y="1078483"/>
            <a:ext cx="32340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3.6.3</a:t>
            </a:r>
            <a:r>
              <a:rPr spc="-20" dirty="0"/>
              <a:t>译码器和编码器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561" y="1071625"/>
            <a:ext cx="281813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a:t>
            </a:r>
            <a:r>
              <a:rPr dirty="0"/>
              <a:t>、</a:t>
            </a:r>
            <a:r>
              <a:rPr dirty="0">
                <a:latin typeface="Times New Roman"/>
                <a:cs typeface="Times New Roman"/>
              </a:rPr>
              <a:t>8-</a:t>
            </a:r>
            <a:r>
              <a:rPr spc="-10" dirty="0">
                <a:latin typeface="Times New Roman"/>
                <a:cs typeface="Times New Roman"/>
              </a:rPr>
              <a:t>3</a:t>
            </a:r>
            <a:r>
              <a:rPr spc="-20" dirty="0"/>
              <a:t>优先编码器</a:t>
            </a: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graphicFrame>
        <p:nvGraphicFramePr>
          <p:cNvPr id="3" name="object 3"/>
          <p:cNvGraphicFramePr>
            <a:graphicFrameLocks noGrp="1"/>
          </p:cNvGraphicFramePr>
          <p:nvPr/>
        </p:nvGraphicFramePr>
        <p:xfrm>
          <a:off x="981868" y="3624598"/>
          <a:ext cx="3115942" cy="2404110"/>
        </p:xfrm>
        <a:graphic>
          <a:graphicData uri="http://schemas.openxmlformats.org/drawingml/2006/table">
            <a:tbl>
              <a:tblPr firstRow="1" bandRow="1">
                <a:tableStyleId>{2D5ABB26-0587-4C30-8999-92F81FD0307C}</a:tableStyleId>
              </a:tblPr>
              <a:tblGrid>
                <a:gridCol w="383540">
                  <a:extLst>
                    <a:ext uri="{9D8B030D-6E8A-4147-A177-3AD203B41FA5}">
                      <a16:colId xmlns:a16="http://schemas.microsoft.com/office/drawing/2014/main" val="20000"/>
                    </a:ext>
                  </a:extLst>
                </a:gridCol>
                <a:gridCol w="231775">
                  <a:extLst>
                    <a:ext uri="{9D8B030D-6E8A-4147-A177-3AD203B41FA5}">
                      <a16:colId xmlns:a16="http://schemas.microsoft.com/office/drawing/2014/main" val="20001"/>
                    </a:ext>
                  </a:extLst>
                </a:gridCol>
                <a:gridCol w="231140">
                  <a:extLst>
                    <a:ext uri="{9D8B030D-6E8A-4147-A177-3AD203B41FA5}">
                      <a16:colId xmlns:a16="http://schemas.microsoft.com/office/drawing/2014/main" val="20002"/>
                    </a:ext>
                  </a:extLst>
                </a:gridCol>
                <a:gridCol w="232409">
                  <a:extLst>
                    <a:ext uri="{9D8B030D-6E8A-4147-A177-3AD203B41FA5}">
                      <a16:colId xmlns:a16="http://schemas.microsoft.com/office/drawing/2014/main" val="20003"/>
                    </a:ext>
                  </a:extLst>
                </a:gridCol>
                <a:gridCol w="233679">
                  <a:extLst>
                    <a:ext uri="{9D8B030D-6E8A-4147-A177-3AD203B41FA5}">
                      <a16:colId xmlns:a16="http://schemas.microsoft.com/office/drawing/2014/main" val="20004"/>
                    </a:ext>
                  </a:extLst>
                </a:gridCol>
                <a:gridCol w="234315">
                  <a:extLst>
                    <a:ext uri="{9D8B030D-6E8A-4147-A177-3AD203B41FA5}">
                      <a16:colId xmlns:a16="http://schemas.microsoft.com/office/drawing/2014/main" val="20005"/>
                    </a:ext>
                  </a:extLst>
                </a:gridCol>
                <a:gridCol w="233679">
                  <a:extLst>
                    <a:ext uri="{9D8B030D-6E8A-4147-A177-3AD203B41FA5}">
                      <a16:colId xmlns:a16="http://schemas.microsoft.com/office/drawing/2014/main" val="20006"/>
                    </a:ext>
                  </a:extLst>
                </a:gridCol>
                <a:gridCol w="381000">
                  <a:extLst>
                    <a:ext uri="{9D8B030D-6E8A-4147-A177-3AD203B41FA5}">
                      <a16:colId xmlns:a16="http://schemas.microsoft.com/office/drawing/2014/main" val="20007"/>
                    </a:ext>
                  </a:extLst>
                </a:gridCol>
                <a:gridCol w="398780">
                  <a:extLst>
                    <a:ext uri="{9D8B030D-6E8A-4147-A177-3AD203B41FA5}">
                      <a16:colId xmlns:a16="http://schemas.microsoft.com/office/drawing/2014/main" val="20008"/>
                    </a:ext>
                  </a:extLst>
                </a:gridCol>
                <a:gridCol w="155575">
                  <a:extLst>
                    <a:ext uri="{9D8B030D-6E8A-4147-A177-3AD203B41FA5}">
                      <a16:colId xmlns:a16="http://schemas.microsoft.com/office/drawing/2014/main" val="20009"/>
                    </a:ext>
                  </a:extLst>
                </a:gridCol>
                <a:gridCol w="400050">
                  <a:extLst>
                    <a:ext uri="{9D8B030D-6E8A-4147-A177-3AD203B41FA5}">
                      <a16:colId xmlns:a16="http://schemas.microsoft.com/office/drawing/2014/main" val="20010"/>
                    </a:ext>
                  </a:extLst>
                </a:gridCol>
              </a:tblGrid>
              <a:tr h="204470">
                <a:tc>
                  <a:txBody>
                    <a:bodyPr/>
                    <a:lstStyle/>
                    <a:p>
                      <a:pPr marR="35560" algn="r">
                        <a:lnSpc>
                          <a:spcPts val="1390"/>
                        </a:lnSpc>
                        <a:spcBef>
                          <a:spcPts val="125"/>
                        </a:spcBef>
                      </a:pPr>
                      <a:r>
                        <a:rPr sz="1200" b="1" spc="-25" dirty="0">
                          <a:solidFill>
                            <a:srgbClr val="FFFFFF"/>
                          </a:solidFill>
                          <a:latin typeface="Times New Roman"/>
                          <a:cs typeface="Times New Roman"/>
                        </a:rPr>
                        <a:t>y0</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38100">
                      <a:solidFill>
                        <a:srgbClr val="FFFFFF"/>
                      </a:solidFill>
                      <a:prstDash val="solid"/>
                    </a:lnB>
                    <a:solidFill>
                      <a:srgbClr val="008BA7"/>
                    </a:solidFill>
                  </a:tcPr>
                </a:tc>
                <a:tc>
                  <a:txBody>
                    <a:bodyPr/>
                    <a:lstStyle/>
                    <a:p>
                      <a:pPr algn="ctr">
                        <a:lnSpc>
                          <a:spcPts val="1390"/>
                        </a:lnSpc>
                        <a:spcBef>
                          <a:spcPts val="125"/>
                        </a:spcBef>
                      </a:pPr>
                      <a:r>
                        <a:rPr sz="1200" b="1" spc="-25" dirty="0">
                          <a:solidFill>
                            <a:srgbClr val="FFFFFF"/>
                          </a:solidFill>
                          <a:latin typeface="Times New Roman"/>
                          <a:cs typeface="Times New Roman"/>
                        </a:rPr>
                        <a:t>y1</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algn="ctr">
                        <a:lnSpc>
                          <a:spcPts val="1390"/>
                        </a:lnSpc>
                        <a:spcBef>
                          <a:spcPts val="125"/>
                        </a:spcBef>
                      </a:pPr>
                      <a:r>
                        <a:rPr sz="1200" b="1" spc="-25" dirty="0">
                          <a:solidFill>
                            <a:srgbClr val="FFFFFF"/>
                          </a:solidFill>
                          <a:latin typeface="Times New Roman"/>
                          <a:cs typeface="Times New Roman"/>
                        </a:rPr>
                        <a:t>y2</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marR="29845" algn="r">
                        <a:lnSpc>
                          <a:spcPts val="1390"/>
                        </a:lnSpc>
                        <a:spcBef>
                          <a:spcPts val="125"/>
                        </a:spcBef>
                      </a:pPr>
                      <a:r>
                        <a:rPr sz="1200" b="1" spc="-25" dirty="0">
                          <a:solidFill>
                            <a:srgbClr val="FFFFFF"/>
                          </a:solidFill>
                          <a:latin typeface="Times New Roman"/>
                          <a:cs typeface="Times New Roman"/>
                        </a:rPr>
                        <a:t>y3</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algn="ctr">
                        <a:lnSpc>
                          <a:spcPts val="1390"/>
                        </a:lnSpc>
                        <a:spcBef>
                          <a:spcPts val="125"/>
                        </a:spcBef>
                      </a:pPr>
                      <a:r>
                        <a:rPr sz="1200" b="1" spc="-25" dirty="0">
                          <a:solidFill>
                            <a:srgbClr val="FFFFFF"/>
                          </a:solidFill>
                          <a:latin typeface="Times New Roman"/>
                          <a:cs typeface="Times New Roman"/>
                        </a:rPr>
                        <a:t>y4</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algn="ctr">
                        <a:lnSpc>
                          <a:spcPts val="1390"/>
                        </a:lnSpc>
                        <a:spcBef>
                          <a:spcPts val="125"/>
                        </a:spcBef>
                      </a:pPr>
                      <a:r>
                        <a:rPr sz="1200" b="1" spc="-25" dirty="0">
                          <a:solidFill>
                            <a:srgbClr val="FFFFFF"/>
                          </a:solidFill>
                          <a:latin typeface="Times New Roman"/>
                          <a:cs typeface="Times New Roman"/>
                        </a:rPr>
                        <a:t>y5</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algn="ctr">
                        <a:lnSpc>
                          <a:spcPts val="1390"/>
                        </a:lnSpc>
                        <a:spcBef>
                          <a:spcPts val="125"/>
                        </a:spcBef>
                      </a:pPr>
                      <a:r>
                        <a:rPr sz="1200" b="1" spc="-25" dirty="0">
                          <a:solidFill>
                            <a:srgbClr val="FFFFFF"/>
                          </a:solidFill>
                          <a:latin typeface="Times New Roman"/>
                          <a:cs typeface="Times New Roman"/>
                        </a:rPr>
                        <a:t>y6</a:t>
                      </a:r>
                      <a:endParaRPr sz="1200">
                        <a:latin typeface="Times New Roman"/>
                        <a:cs typeface="Times New Roman"/>
                      </a:endParaRPr>
                    </a:p>
                  </a:txBody>
                  <a:tcPr marL="0" marR="0" marT="15875" marB="0">
                    <a:lnT w="12700">
                      <a:solidFill>
                        <a:srgbClr val="FFFFFF"/>
                      </a:solidFill>
                      <a:prstDash val="solid"/>
                    </a:lnT>
                    <a:lnB w="38100">
                      <a:solidFill>
                        <a:srgbClr val="FFFFFF"/>
                      </a:solidFill>
                      <a:prstDash val="solid"/>
                    </a:lnB>
                    <a:solidFill>
                      <a:srgbClr val="008BA7"/>
                    </a:solidFill>
                  </a:tcPr>
                </a:tc>
                <a:tc>
                  <a:txBody>
                    <a:bodyPr/>
                    <a:lstStyle/>
                    <a:p>
                      <a:pPr marL="38100">
                        <a:lnSpc>
                          <a:spcPts val="1390"/>
                        </a:lnSpc>
                        <a:spcBef>
                          <a:spcPts val="125"/>
                        </a:spcBef>
                      </a:pPr>
                      <a:r>
                        <a:rPr sz="1200" b="1" spc="-25" dirty="0">
                          <a:solidFill>
                            <a:srgbClr val="FFFFFF"/>
                          </a:solidFill>
                          <a:latin typeface="Times New Roman"/>
                          <a:cs typeface="Times New Roman"/>
                        </a:rPr>
                        <a:t>y7</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gridSpan="3">
                  <a:txBody>
                    <a:bodyPr/>
                    <a:lstStyle/>
                    <a:p>
                      <a:pPr marL="124460">
                        <a:lnSpc>
                          <a:spcPts val="1390"/>
                        </a:lnSpc>
                        <a:spcBef>
                          <a:spcPts val="125"/>
                        </a:spcBef>
                      </a:pPr>
                      <a:r>
                        <a:rPr sz="1200" b="1" dirty="0">
                          <a:solidFill>
                            <a:srgbClr val="FFFFFF"/>
                          </a:solidFill>
                          <a:latin typeface="Times New Roman"/>
                          <a:cs typeface="Times New Roman"/>
                        </a:rPr>
                        <a:t>in0</a:t>
                      </a:r>
                      <a:r>
                        <a:rPr sz="1200" b="1" spc="25" dirty="0">
                          <a:solidFill>
                            <a:srgbClr val="FFFFFF"/>
                          </a:solidFill>
                          <a:latin typeface="Times New Roman"/>
                          <a:cs typeface="Times New Roman"/>
                        </a:rPr>
                        <a:t> </a:t>
                      </a:r>
                      <a:r>
                        <a:rPr sz="1200" b="1" dirty="0">
                          <a:solidFill>
                            <a:srgbClr val="FFFFFF"/>
                          </a:solidFill>
                          <a:latin typeface="Times New Roman"/>
                          <a:cs typeface="Times New Roman"/>
                        </a:rPr>
                        <a:t>in1</a:t>
                      </a:r>
                      <a:r>
                        <a:rPr sz="1200" b="1" spc="30" dirty="0">
                          <a:solidFill>
                            <a:srgbClr val="FFFFFF"/>
                          </a:solidFill>
                          <a:latin typeface="Times New Roman"/>
                          <a:cs typeface="Times New Roman"/>
                        </a:rPr>
                        <a:t> </a:t>
                      </a:r>
                      <a:r>
                        <a:rPr sz="1200" b="1" spc="-25" dirty="0">
                          <a:solidFill>
                            <a:srgbClr val="FFFFFF"/>
                          </a:solidFill>
                          <a:latin typeface="Times New Roman"/>
                          <a:cs typeface="Times New Roman"/>
                        </a:rPr>
                        <a:t>in2</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4955">
                <a:tc>
                  <a:txBody>
                    <a:bodyPr/>
                    <a:lstStyle/>
                    <a:p>
                      <a:pPr marR="55880" algn="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T w="38100">
                      <a:solidFill>
                        <a:srgbClr val="FFFFFF"/>
                      </a:solidFill>
                      <a:prstDash val="solid"/>
                    </a:lnT>
                    <a:lnB w="12700">
                      <a:solidFill>
                        <a:srgbClr val="FFFFFF"/>
                      </a:solidFill>
                      <a:prstDash val="solid"/>
                    </a:lnB>
                    <a:solidFill>
                      <a:srgbClr val="008BA7"/>
                    </a:solidFill>
                  </a:tcPr>
                </a:tc>
                <a:tc>
                  <a:txBody>
                    <a:bodyPr/>
                    <a:lstStyle/>
                    <a:p>
                      <a:pPr marL="29209"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L="3365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R="50165" algn="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L="4000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L="4000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L="3873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008BA7"/>
                    </a:solidFill>
                  </a:tcPr>
                </a:tc>
                <a:tc>
                  <a:txBody>
                    <a:bodyPr/>
                    <a:lstStyle/>
                    <a:p>
                      <a:pPr marL="57785">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T w="38100">
                      <a:solidFill>
                        <a:srgbClr val="FFFFFF"/>
                      </a:solidFill>
                      <a:prstDash val="solid"/>
                    </a:lnT>
                    <a:lnB w="12700">
                      <a:solidFill>
                        <a:srgbClr val="FFFFFF"/>
                      </a:solidFill>
                      <a:prstDash val="solid"/>
                    </a:lnB>
                    <a:solidFill>
                      <a:srgbClr val="CADAE0"/>
                    </a:solidFill>
                  </a:tcPr>
                </a:tc>
                <a:tc>
                  <a:txBody>
                    <a:bodyPr/>
                    <a:lstStyle/>
                    <a:p>
                      <a:pPr marL="38100">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74955">
                <a:tc>
                  <a:txBody>
                    <a:bodyPr/>
                    <a:lstStyle/>
                    <a:p>
                      <a:pPr marR="3810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65405" algn="ct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985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2384" algn="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493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429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302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4930">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E6EDF0"/>
                    </a:solidFill>
                  </a:tcPr>
                </a:tc>
                <a:tc>
                  <a:txBody>
                    <a:bodyPr/>
                    <a:lstStyle/>
                    <a:p>
                      <a:pPr marL="38100">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74955">
                <a:tc>
                  <a:txBody>
                    <a:bodyPr/>
                    <a:lstStyle/>
                    <a:p>
                      <a:pPr marR="36195"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2540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5405" algn="ct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4290" algn="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112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985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858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3025">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CADAE0"/>
                    </a:solidFill>
                  </a:tcPr>
                </a:tc>
                <a:tc>
                  <a:txBody>
                    <a:bodyPr/>
                    <a:lstStyle/>
                    <a:p>
                      <a:pPr marL="38100">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74955">
                <a:tc>
                  <a:txBody>
                    <a:bodyPr/>
                    <a:lstStyle/>
                    <a:p>
                      <a:pPr marR="3429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2984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2730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6195" algn="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6675"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604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4769"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71120">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E6EDF0"/>
                    </a:solidFill>
                  </a:tcPr>
                </a:tc>
                <a:tc>
                  <a:txBody>
                    <a:bodyPr/>
                    <a:lstStyle/>
                    <a:p>
                      <a:pPr marL="38100">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74955">
                <a:tc>
                  <a:txBody>
                    <a:bodyPr/>
                    <a:lstStyle/>
                    <a:p>
                      <a:pPr marR="3175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3429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3111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810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4135" algn="ct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350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2230"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9215">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CADAE0"/>
                    </a:solidFill>
                  </a:tcPr>
                </a:tc>
                <a:tc>
                  <a:txBody>
                    <a:bodyPr/>
                    <a:lstStyle/>
                    <a:p>
                      <a:pPr marL="38100">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74955">
                <a:tc>
                  <a:txBody>
                    <a:bodyPr/>
                    <a:lstStyle/>
                    <a:p>
                      <a:pPr marR="29209"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3873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3619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6195"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2413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59690" algn="ct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58419" algn="ctr">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7310">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E6EDF0"/>
                    </a:solidFill>
                  </a:tcPr>
                </a:tc>
                <a:tc>
                  <a:txBody>
                    <a:bodyPr/>
                    <a:lstStyle/>
                    <a:p>
                      <a:pPr marL="38100">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74955">
                <a:tc>
                  <a:txBody>
                    <a:bodyPr/>
                    <a:lstStyle/>
                    <a:p>
                      <a:pPr marR="2794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4191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3937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429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2730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1968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53340" algn="ctr">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5405">
                        <a:lnSpc>
                          <a:spcPct val="100000"/>
                        </a:lnSpc>
                        <a:spcBef>
                          <a:spcPts val="125"/>
                        </a:spcBef>
                      </a:pPr>
                      <a:r>
                        <a:rPr sz="1200" b="1" spc="-50" dirty="0">
                          <a:solidFill>
                            <a:srgbClr val="FFFFFF"/>
                          </a:solidFill>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CADAE0"/>
                    </a:solidFill>
                  </a:tcPr>
                </a:tc>
                <a:tc>
                  <a:txBody>
                    <a:bodyPr/>
                    <a:lstStyle/>
                    <a:p>
                      <a:pPr marL="38100">
                        <a:lnSpc>
                          <a:spcPct val="100000"/>
                        </a:lnSpc>
                        <a:spcBef>
                          <a:spcPts val="125"/>
                        </a:spcBef>
                      </a:pPr>
                      <a:r>
                        <a:rPr sz="1200" spc="-50" dirty="0">
                          <a:latin typeface="Times New Roman"/>
                          <a:cs typeface="Times New Roman"/>
                        </a:rPr>
                        <a:t>0</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74955">
                <a:tc>
                  <a:txBody>
                    <a:bodyPr/>
                    <a:lstStyle/>
                    <a:p>
                      <a:pPr marR="25400"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008BA7"/>
                    </a:solidFill>
                  </a:tcPr>
                </a:tc>
                <a:tc>
                  <a:txBody>
                    <a:bodyPr/>
                    <a:lstStyle/>
                    <a:p>
                      <a:pPr marL="4635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4254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R="32384" algn="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3175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23495"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13970" algn="ctr">
                        <a:lnSpc>
                          <a:spcPct val="100000"/>
                        </a:lnSpc>
                        <a:spcBef>
                          <a:spcPts val="125"/>
                        </a:spcBef>
                      </a:pPr>
                      <a:r>
                        <a:rPr sz="1200" b="1" spc="-50" dirty="0">
                          <a:solidFill>
                            <a:srgbClr val="FFFFFF"/>
                          </a:solidFill>
                          <a:latin typeface="Times New Roman"/>
                          <a:cs typeface="Times New Roman"/>
                        </a:rPr>
                        <a:t>X</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008BA7"/>
                    </a:solidFill>
                  </a:tcPr>
                </a:tc>
                <a:tc>
                  <a:txBody>
                    <a:bodyPr/>
                    <a:lstStyle/>
                    <a:p>
                      <a:pPr marL="62865">
                        <a:lnSpc>
                          <a:spcPct val="100000"/>
                        </a:lnSpc>
                        <a:spcBef>
                          <a:spcPts val="125"/>
                        </a:spcBef>
                      </a:pP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31115" algn="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T w="12700">
                      <a:solidFill>
                        <a:srgbClr val="FFFFFF"/>
                      </a:solidFill>
                      <a:prstDash val="solid"/>
                    </a:lnT>
                    <a:lnB w="12700">
                      <a:solidFill>
                        <a:srgbClr val="FFFFFF"/>
                      </a:solidFill>
                      <a:prstDash val="solid"/>
                    </a:lnB>
                    <a:solidFill>
                      <a:srgbClr val="E6EDF0"/>
                    </a:solidFill>
                  </a:tcPr>
                </a:tc>
                <a:tc>
                  <a:txBody>
                    <a:bodyPr/>
                    <a:lstStyle/>
                    <a:p>
                      <a:pPr marL="38100">
                        <a:lnSpc>
                          <a:spcPct val="10000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bl>
          </a:graphicData>
        </a:graphic>
      </p:graphicFrame>
      <p:sp>
        <p:nvSpPr>
          <p:cNvPr id="4" name="object 4"/>
          <p:cNvSpPr txBox="1"/>
          <p:nvPr/>
        </p:nvSpPr>
        <p:spPr>
          <a:xfrm>
            <a:off x="538078" y="1755902"/>
            <a:ext cx="9585325" cy="3474720"/>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上面介绍的</a:t>
            </a:r>
            <a:r>
              <a:rPr sz="2100" spc="-10" dirty="0">
                <a:latin typeface="Times New Roman"/>
                <a:cs typeface="Times New Roman"/>
              </a:rPr>
              <a:t>8-</a:t>
            </a:r>
            <a:r>
              <a:rPr sz="2100" dirty="0">
                <a:latin typeface="Times New Roman"/>
                <a:cs typeface="Times New Roman"/>
              </a:rPr>
              <a:t>3</a:t>
            </a:r>
            <a:r>
              <a:rPr sz="2100" dirty="0">
                <a:latin typeface="微软雅黑"/>
                <a:cs typeface="微软雅黑"/>
              </a:rPr>
              <a:t>编码器，要求在任何时候都只有一个输入为</a:t>
            </a:r>
            <a:r>
              <a:rPr sz="2100" dirty="0">
                <a:latin typeface="Times New Roman"/>
                <a:cs typeface="Times New Roman"/>
              </a:rPr>
              <a:t>1</a:t>
            </a:r>
            <a:r>
              <a:rPr sz="2100" spc="-10" dirty="0">
                <a:latin typeface="微软雅黑"/>
                <a:cs typeface="微软雅黑"/>
              </a:rPr>
              <a:t>，如果输入有一个以</a:t>
            </a:r>
            <a:r>
              <a:rPr sz="2100" dirty="0">
                <a:latin typeface="微软雅黑"/>
                <a:cs typeface="微软雅黑"/>
              </a:rPr>
              <a:t>上的</a:t>
            </a:r>
            <a:r>
              <a:rPr sz="2100" dirty="0">
                <a:latin typeface="Times New Roman"/>
                <a:cs typeface="Times New Roman"/>
              </a:rPr>
              <a:t>1</a:t>
            </a:r>
            <a:r>
              <a:rPr sz="2100" spc="-15" dirty="0">
                <a:latin typeface="微软雅黑"/>
                <a:cs typeface="微软雅黑"/>
              </a:rPr>
              <a:t>的时候，编码器只能输出一个无效信号来指示当前的状态</a:t>
            </a:r>
            <a:endParaRPr sz="2100">
              <a:latin typeface="微软雅黑"/>
              <a:cs typeface="微软雅黑"/>
            </a:endParaRPr>
          </a:p>
          <a:p>
            <a:pPr marL="212725" marR="5080" indent="-203200">
              <a:lnSpc>
                <a:spcPct val="100499"/>
              </a:lnSpc>
              <a:spcBef>
                <a:spcPts val="869"/>
              </a:spcBef>
              <a:buSzPct val="95238"/>
              <a:buFont typeface="Wingdings"/>
              <a:buChar char=""/>
              <a:tabLst>
                <a:tab pos="212725" algn="l"/>
                <a:tab pos="249554" algn="l"/>
              </a:tabLst>
            </a:pPr>
            <a:r>
              <a:rPr sz="2100" dirty="0">
                <a:latin typeface="微软雅黑"/>
                <a:cs typeface="微软雅黑"/>
              </a:rPr>
              <a:t>	优先编码器的输入可以同时包括一个以上的</a:t>
            </a:r>
            <a:r>
              <a:rPr sz="2100" dirty="0">
                <a:latin typeface="Times New Roman"/>
                <a:cs typeface="Times New Roman"/>
              </a:rPr>
              <a:t>1</a:t>
            </a:r>
            <a:r>
              <a:rPr sz="2100" spc="-5" dirty="0">
                <a:latin typeface="微软雅黑"/>
                <a:cs typeface="微软雅黑"/>
              </a:rPr>
              <a:t>，但输出状态会按照输入的优先级</a:t>
            </a:r>
            <a:r>
              <a:rPr sz="2100" spc="-15" dirty="0">
                <a:latin typeface="微软雅黑"/>
                <a:cs typeface="微软雅黑"/>
              </a:rPr>
              <a:t>来确定。</a:t>
            </a:r>
            <a:endParaRPr sz="2100">
              <a:latin typeface="微软雅黑"/>
              <a:cs typeface="微软雅黑"/>
            </a:endParaRPr>
          </a:p>
          <a:p>
            <a:pPr marL="528955">
              <a:lnSpc>
                <a:spcPct val="100000"/>
              </a:lnSpc>
              <a:spcBef>
                <a:spcPts val="1325"/>
              </a:spcBef>
            </a:pPr>
            <a:r>
              <a:rPr sz="1200" b="1" dirty="0">
                <a:solidFill>
                  <a:srgbClr val="FF0000"/>
                </a:solidFill>
                <a:latin typeface="微软雅黑"/>
                <a:cs typeface="微软雅黑"/>
              </a:rPr>
              <a:t>表</a:t>
            </a:r>
            <a:r>
              <a:rPr sz="1200" b="1" dirty="0">
                <a:solidFill>
                  <a:srgbClr val="FF0000"/>
                </a:solidFill>
                <a:latin typeface="Times New Roman"/>
                <a:cs typeface="Times New Roman"/>
              </a:rPr>
              <a:t>3.6</a:t>
            </a:r>
            <a:r>
              <a:rPr sz="1200" b="1" spc="229" dirty="0">
                <a:solidFill>
                  <a:srgbClr val="FF0000"/>
                </a:solidFill>
                <a:latin typeface="Times New Roman"/>
                <a:cs typeface="Times New Roman"/>
              </a:rPr>
              <a:t> </a:t>
            </a:r>
            <a:r>
              <a:rPr sz="1200" b="1" dirty="0">
                <a:solidFill>
                  <a:srgbClr val="FF0000"/>
                </a:solidFill>
                <a:latin typeface="Times New Roman"/>
                <a:cs typeface="Times New Roman"/>
              </a:rPr>
              <a:t>8-3</a:t>
            </a:r>
            <a:r>
              <a:rPr sz="1200" b="1" spc="-10" dirty="0">
                <a:solidFill>
                  <a:srgbClr val="FF0000"/>
                </a:solidFill>
                <a:latin typeface="微软雅黑"/>
                <a:cs typeface="微软雅黑"/>
              </a:rPr>
              <a:t>优先编码器的真值表</a:t>
            </a:r>
            <a:endParaRPr sz="1200">
              <a:latin typeface="微软雅黑"/>
              <a:cs typeface="微软雅黑"/>
            </a:endParaRPr>
          </a:p>
          <a:p>
            <a:pPr>
              <a:lnSpc>
                <a:spcPct val="100000"/>
              </a:lnSpc>
              <a:spcBef>
                <a:spcPts val="825"/>
              </a:spcBef>
            </a:pPr>
            <a:endParaRPr sz="1200">
              <a:latin typeface="微软雅黑"/>
              <a:cs typeface="微软雅黑"/>
            </a:endParaRPr>
          </a:p>
          <a:p>
            <a:pPr marL="4225290" marR="295910" lvl="1" indent="-250825">
              <a:lnSpc>
                <a:spcPct val="101899"/>
              </a:lnSpc>
              <a:buFont typeface="Arial"/>
              <a:buChar char="•"/>
              <a:tabLst>
                <a:tab pos="4225290" algn="l"/>
              </a:tabLst>
            </a:pPr>
            <a:r>
              <a:rPr sz="1550" dirty="0">
                <a:latin typeface="微软雅黑"/>
                <a:cs typeface="微软雅黑"/>
              </a:rPr>
              <a:t>其中每一行</a:t>
            </a:r>
            <a:r>
              <a:rPr sz="1550" dirty="0">
                <a:latin typeface="Times New Roman"/>
                <a:cs typeface="Times New Roman"/>
              </a:rPr>
              <a:t>1</a:t>
            </a:r>
            <a:r>
              <a:rPr sz="1550" dirty="0">
                <a:latin typeface="微软雅黑"/>
                <a:cs typeface="微软雅黑"/>
              </a:rPr>
              <a:t>的左边的</a:t>
            </a:r>
            <a:r>
              <a:rPr sz="1550" dirty="0">
                <a:latin typeface="Times New Roman"/>
                <a:cs typeface="Times New Roman"/>
              </a:rPr>
              <a:t>X</a:t>
            </a:r>
            <a:r>
              <a:rPr sz="1550" spc="-5" dirty="0">
                <a:latin typeface="微软雅黑"/>
                <a:cs typeface="微软雅黑"/>
              </a:rPr>
              <a:t>代表不确定的状态，也就是说，不</a:t>
            </a:r>
            <a:r>
              <a:rPr sz="1550" dirty="0">
                <a:latin typeface="微软雅黑"/>
                <a:cs typeface="微软雅黑"/>
              </a:rPr>
              <a:t>论</a:t>
            </a:r>
            <a:r>
              <a:rPr sz="1550" dirty="0">
                <a:latin typeface="Times New Roman"/>
                <a:cs typeface="Times New Roman"/>
              </a:rPr>
              <a:t>X</a:t>
            </a:r>
            <a:r>
              <a:rPr sz="1550" dirty="0">
                <a:latin typeface="微软雅黑"/>
                <a:cs typeface="微软雅黑"/>
              </a:rPr>
              <a:t>的值是</a:t>
            </a:r>
            <a:r>
              <a:rPr sz="1550" dirty="0">
                <a:latin typeface="Times New Roman"/>
                <a:cs typeface="Times New Roman"/>
              </a:rPr>
              <a:t>1</a:t>
            </a:r>
            <a:r>
              <a:rPr sz="1550" dirty="0">
                <a:latin typeface="微软雅黑"/>
                <a:cs typeface="微软雅黑"/>
              </a:rPr>
              <a:t>还是</a:t>
            </a:r>
            <a:r>
              <a:rPr sz="1550" dirty="0">
                <a:latin typeface="Times New Roman"/>
                <a:cs typeface="Times New Roman"/>
              </a:rPr>
              <a:t>0</a:t>
            </a:r>
            <a:r>
              <a:rPr sz="1550" spc="-5" dirty="0">
                <a:latin typeface="微软雅黑"/>
                <a:cs typeface="微软雅黑"/>
              </a:rPr>
              <a:t>，都不会影响优先编码器的输出。</a:t>
            </a:r>
            <a:endParaRPr sz="1550">
              <a:latin typeface="微软雅黑"/>
              <a:cs typeface="微软雅黑"/>
            </a:endParaRPr>
          </a:p>
          <a:p>
            <a:pPr marL="4225290" lvl="1" indent="-250190">
              <a:lnSpc>
                <a:spcPct val="100000"/>
              </a:lnSpc>
              <a:spcBef>
                <a:spcPts val="1085"/>
              </a:spcBef>
              <a:buFont typeface="Arial"/>
              <a:buChar char="•"/>
              <a:tabLst>
                <a:tab pos="4225290" algn="l"/>
              </a:tabLst>
            </a:pPr>
            <a:r>
              <a:rPr sz="1550" dirty="0">
                <a:latin typeface="微软雅黑"/>
                <a:cs typeface="微软雅黑"/>
              </a:rPr>
              <a:t>从真值表可以看出，输入的优先级顺序依次是</a:t>
            </a:r>
            <a:r>
              <a:rPr sz="1550" spc="-10" dirty="0">
                <a:latin typeface="Times New Roman"/>
                <a:cs typeface="Times New Roman"/>
              </a:rPr>
              <a:t>y7</a:t>
            </a:r>
            <a:r>
              <a:rPr sz="1550" spc="-10" dirty="0">
                <a:latin typeface="微软雅黑"/>
                <a:cs typeface="微软雅黑"/>
              </a:rPr>
              <a:t>，</a:t>
            </a:r>
            <a:r>
              <a:rPr sz="1550" spc="-10" dirty="0">
                <a:latin typeface="Times New Roman"/>
                <a:cs typeface="Times New Roman"/>
              </a:rPr>
              <a:t>y6</a:t>
            </a:r>
            <a:r>
              <a:rPr sz="1550" spc="-10" dirty="0">
                <a:latin typeface="微软雅黑"/>
                <a:cs typeface="微软雅黑"/>
              </a:rPr>
              <a:t>，</a:t>
            </a:r>
            <a:r>
              <a:rPr sz="1550" spc="-10" dirty="0">
                <a:latin typeface="Times New Roman"/>
                <a:cs typeface="Times New Roman"/>
              </a:rPr>
              <a:t>y5</a:t>
            </a:r>
            <a:endParaRPr sz="1550">
              <a:latin typeface="Times New Roman"/>
              <a:cs typeface="Times New Roman"/>
            </a:endParaRPr>
          </a:p>
          <a:p>
            <a:pPr marL="4225290" marR="221615">
              <a:lnSpc>
                <a:spcPts val="1900"/>
              </a:lnSpc>
              <a:spcBef>
                <a:spcPts val="60"/>
              </a:spcBef>
            </a:pPr>
            <a:r>
              <a:rPr sz="1550" dirty="0">
                <a:latin typeface="微软雅黑"/>
                <a:cs typeface="微软雅黑"/>
              </a:rPr>
              <a:t>，</a:t>
            </a:r>
            <a:r>
              <a:rPr sz="1550" dirty="0">
                <a:latin typeface="Times New Roman"/>
                <a:cs typeface="Times New Roman"/>
              </a:rPr>
              <a:t>y4</a:t>
            </a:r>
            <a:r>
              <a:rPr sz="1550" dirty="0">
                <a:latin typeface="微软雅黑"/>
                <a:cs typeface="微软雅黑"/>
              </a:rPr>
              <a:t>，</a:t>
            </a:r>
            <a:r>
              <a:rPr sz="1550" dirty="0">
                <a:latin typeface="Times New Roman"/>
                <a:cs typeface="Times New Roman"/>
              </a:rPr>
              <a:t>y3</a:t>
            </a:r>
            <a:r>
              <a:rPr sz="1550" dirty="0">
                <a:latin typeface="微软雅黑"/>
                <a:cs typeface="微软雅黑"/>
              </a:rPr>
              <a:t>，</a:t>
            </a:r>
            <a:r>
              <a:rPr sz="1550" dirty="0">
                <a:latin typeface="Times New Roman"/>
                <a:cs typeface="Times New Roman"/>
              </a:rPr>
              <a:t>y2</a:t>
            </a:r>
            <a:r>
              <a:rPr sz="1550" dirty="0">
                <a:latin typeface="微软雅黑"/>
                <a:cs typeface="微软雅黑"/>
              </a:rPr>
              <a:t>，</a:t>
            </a:r>
            <a:r>
              <a:rPr sz="1550" dirty="0">
                <a:latin typeface="Times New Roman"/>
                <a:cs typeface="Times New Roman"/>
              </a:rPr>
              <a:t>y1</a:t>
            </a:r>
            <a:r>
              <a:rPr sz="1550" dirty="0">
                <a:latin typeface="微软雅黑"/>
                <a:cs typeface="微软雅黑"/>
              </a:rPr>
              <a:t>和</a:t>
            </a:r>
            <a:r>
              <a:rPr sz="1550" dirty="0">
                <a:latin typeface="Times New Roman"/>
                <a:cs typeface="Times New Roman"/>
              </a:rPr>
              <a:t>y0</a:t>
            </a:r>
            <a:r>
              <a:rPr sz="1550" dirty="0">
                <a:latin typeface="微软雅黑"/>
                <a:cs typeface="微软雅黑"/>
              </a:rPr>
              <a:t>。</a:t>
            </a:r>
            <a:r>
              <a:rPr sz="1550" dirty="0">
                <a:latin typeface="Times New Roman"/>
                <a:cs typeface="Times New Roman"/>
              </a:rPr>
              <a:t>8-3</a:t>
            </a:r>
            <a:r>
              <a:rPr sz="1550" dirty="0">
                <a:latin typeface="微软雅黑"/>
                <a:cs typeface="微软雅黑"/>
              </a:rPr>
              <a:t>优先编码器的仿真结果如图</a:t>
            </a:r>
            <a:r>
              <a:rPr sz="1550" spc="-25" dirty="0">
                <a:latin typeface="Times New Roman"/>
                <a:cs typeface="Times New Roman"/>
              </a:rPr>
              <a:t>3.7</a:t>
            </a:r>
            <a:r>
              <a:rPr sz="1550" spc="-15" dirty="0">
                <a:latin typeface="微软雅黑"/>
                <a:cs typeface="微软雅黑"/>
              </a:rPr>
              <a:t>所示，。</a:t>
            </a:r>
            <a:endParaRPr sz="1550">
              <a:latin typeface="微软雅黑"/>
              <a:cs typeface="微软雅黑"/>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11999" y="2426207"/>
            <a:ext cx="4011929" cy="2138680"/>
            <a:chOff x="911999" y="2426207"/>
            <a:chExt cx="4011929" cy="2138680"/>
          </a:xfrm>
        </p:grpSpPr>
        <p:sp>
          <p:nvSpPr>
            <p:cNvPr id="3" name="object 3"/>
            <p:cNvSpPr/>
            <p:nvPr/>
          </p:nvSpPr>
          <p:spPr>
            <a:xfrm>
              <a:off x="920381" y="2434589"/>
              <a:ext cx="3995420" cy="2122170"/>
            </a:xfrm>
            <a:custGeom>
              <a:avLst/>
              <a:gdLst/>
              <a:ahLst/>
              <a:cxnLst/>
              <a:rect l="l" t="t" r="r" b="b"/>
              <a:pathLst>
                <a:path w="3995420" h="2122170">
                  <a:moveTo>
                    <a:pt x="3995166" y="2122170"/>
                  </a:moveTo>
                  <a:lnTo>
                    <a:pt x="3995166" y="0"/>
                  </a:lnTo>
                  <a:lnTo>
                    <a:pt x="0" y="0"/>
                  </a:lnTo>
                  <a:lnTo>
                    <a:pt x="0" y="2122170"/>
                  </a:lnTo>
                  <a:lnTo>
                    <a:pt x="3995166" y="2122170"/>
                  </a:lnTo>
                  <a:close/>
                </a:path>
              </a:pathLst>
            </a:custGeom>
            <a:solidFill>
              <a:srgbClr val="F9FABA"/>
            </a:solidFill>
          </p:spPr>
          <p:txBody>
            <a:bodyPr wrap="square" lIns="0" tIns="0" rIns="0" bIns="0" rtlCol="0"/>
            <a:lstStyle/>
            <a:p>
              <a:endParaRPr/>
            </a:p>
          </p:txBody>
        </p:sp>
        <p:sp>
          <p:nvSpPr>
            <p:cNvPr id="4" name="object 4"/>
            <p:cNvSpPr/>
            <p:nvPr/>
          </p:nvSpPr>
          <p:spPr>
            <a:xfrm>
              <a:off x="911999" y="2426207"/>
              <a:ext cx="4011929" cy="2138680"/>
            </a:xfrm>
            <a:custGeom>
              <a:avLst/>
              <a:gdLst/>
              <a:ahLst/>
              <a:cxnLst/>
              <a:rect l="l" t="t" r="r" b="b"/>
              <a:pathLst>
                <a:path w="4011929" h="2138679">
                  <a:moveTo>
                    <a:pt x="4011929" y="2135124"/>
                  </a:moveTo>
                  <a:lnTo>
                    <a:pt x="4011929" y="3810"/>
                  </a:lnTo>
                  <a:lnTo>
                    <a:pt x="4008120" y="0"/>
                  </a:lnTo>
                  <a:lnTo>
                    <a:pt x="3809" y="0"/>
                  </a:lnTo>
                  <a:lnTo>
                    <a:pt x="0" y="3810"/>
                  </a:lnTo>
                  <a:lnTo>
                    <a:pt x="0" y="2135124"/>
                  </a:lnTo>
                  <a:lnTo>
                    <a:pt x="3810" y="2138172"/>
                  </a:lnTo>
                  <a:lnTo>
                    <a:pt x="8382" y="2138172"/>
                  </a:lnTo>
                  <a:lnTo>
                    <a:pt x="8382" y="16764"/>
                  </a:lnTo>
                  <a:lnTo>
                    <a:pt x="16763" y="8382"/>
                  </a:lnTo>
                  <a:lnTo>
                    <a:pt x="16763" y="16764"/>
                  </a:lnTo>
                  <a:lnTo>
                    <a:pt x="3995166" y="16764"/>
                  </a:lnTo>
                  <a:lnTo>
                    <a:pt x="3995166" y="8382"/>
                  </a:lnTo>
                  <a:lnTo>
                    <a:pt x="4003548" y="16764"/>
                  </a:lnTo>
                  <a:lnTo>
                    <a:pt x="4003548" y="2138172"/>
                  </a:lnTo>
                  <a:lnTo>
                    <a:pt x="4008120" y="2138172"/>
                  </a:lnTo>
                  <a:lnTo>
                    <a:pt x="4011929" y="2135124"/>
                  </a:lnTo>
                  <a:close/>
                </a:path>
                <a:path w="4011929" h="2138679">
                  <a:moveTo>
                    <a:pt x="16763" y="16764"/>
                  </a:moveTo>
                  <a:lnTo>
                    <a:pt x="16763" y="8382"/>
                  </a:lnTo>
                  <a:lnTo>
                    <a:pt x="8382" y="16764"/>
                  </a:lnTo>
                  <a:lnTo>
                    <a:pt x="16763" y="16764"/>
                  </a:lnTo>
                  <a:close/>
                </a:path>
                <a:path w="4011929" h="2138679">
                  <a:moveTo>
                    <a:pt x="16764" y="2122170"/>
                  </a:moveTo>
                  <a:lnTo>
                    <a:pt x="16763" y="16764"/>
                  </a:lnTo>
                  <a:lnTo>
                    <a:pt x="8382" y="16764"/>
                  </a:lnTo>
                  <a:lnTo>
                    <a:pt x="8382" y="2122170"/>
                  </a:lnTo>
                  <a:lnTo>
                    <a:pt x="16764" y="2122170"/>
                  </a:lnTo>
                  <a:close/>
                </a:path>
                <a:path w="4011929" h="2138679">
                  <a:moveTo>
                    <a:pt x="4003548" y="2122170"/>
                  </a:moveTo>
                  <a:lnTo>
                    <a:pt x="8382" y="2122170"/>
                  </a:lnTo>
                  <a:lnTo>
                    <a:pt x="16764" y="2130552"/>
                  </a:lnTo>
                  <a:lnTo>
                    <a:pt x="16764" y="2138172"/>
                  </a:lnTo>
                  <a:lnTo>
                    <a:pt x="3995166" y="2138172"/>
                  </a:lnTo>
                  <a:lnTo>
                    <a:pt x="3995166" y="2130552"/>
                  </a:lnTo>
                  <a:lnTo>
                    <a:pt x="4003548" y="2122170"/>
                  </a:lnTo>
                  <a:close/>
                </a:path>
                <a:path w="4011929" h="2138679">
                  <a:moveTo>
                    <a:pt x="16764" y="2138172"/>
                  </a:moveTo>
                  <a:lnTo>
                    <a:pt x="16764" y="2130552"/>
                  </a:lnTo>
                  <a:lnTo>
                    <a:pt x="8382" y="2122170"/>
                  </a:lnTo>
                  <a:lnTo>
                    <a:pt x="8382" y="2138172"/>
                  </a:lnTo>
                  <a:lnTo>
                    <a:pt x="16764" y="2138172"/>
                  </a:lnTo>
                  <a:close/>
                </a:path>
                <a:path w="4011929" h="2138679">
                  <a:moveTo>
                    <a:pt x="4003548" y="16764"/>
                  </a:moveTo>
                  <a:lnTo>
                    <a:pt x="3995166" y="8382"/>
                  </a:lnTo>
                  <a:lnTo>
                    <a:pt x="3995166" y="16764"/>
                  </a:lnTo>
                  <a:lnTo>
                    <a:pt x="4003548" y="16764"/>
                  </a:lnTo>
                  <a:close/>
                </a:path>
                <a:path w="4011929" h="2138679">
                  <a:moveTo>
                    <a:pt x="4003548" y="2122170"/>
                  </a:moveTo>
                  <a:lnTo>
                    <a:pt x="4003548" y="16764"/>
                  </a:lnTo>
                  <a:lnTo>
                    <a:pt x="3995166" y="16764"/>
                  </a:lnTo>
                  <a:lnTo>
                    <a:pt x="3995166" y="2122170"/>
                  </a:lnTo>
                  <a:lnTo>
                    <a:pt x="4003548" y="2122170"/>
                  </a:lnTo>
                  <a:close/>
                </a:path>
                <a:path w="4011929" h="2138679">
                  <a:moveTo>
                    <a:pt x="4003548" y="2138172"/>
                  </a:moveTo>
                  <a:lnTo>
                    <a:pt x="4003548" y="2122170"/>
                  </a:lnTo>
                  <a:lnTo>
                    <a:pt x="3995166" y="2130552"/>
                  </a:lnTo>
                  <a:lnTo>
                    <a:pt x="3995166" y="2138172"/>
                  </a:lnTo>
                  <a:lnTo>
                    <a:pt x="4003548" y="2138172"/>
                  </a:lnTo>
                  <a:close/>
                </a:path>
              </a:pathLst>
            </a:custGeom>
            <a:solidFill>
              <a:srgbClr val="000000"/>
            </a:solidFill>
          </p:spPr>
          <p:txBody>
            <a:bodyPr wrap="square" lIns="0" tIns="0" rIns="0" bIns="0" rtlCol="0"/>
            <a:lstStyle/>
            <a:p>
              <a:endParaRPr/>
            </a:p>
          </p:txBody>
        </p:sp>
      </p:grpSp>
      <p:sp>
        <p:nvSpPr>
          <p:cNvPr id="5" name="object 5"/>
          <p:cNvSpPr txBox="1"/>
          <p:nvPr/>
        </p:nvSpPr>
        <p:spPr>
          <a:xfrm>
            <a:off x="1000385" y="2429960"/>
            <a:ext cx="2472690" cy="603250"/>
          </a:xfrm>
          <a:prstGeom prst="rect">
            <a:avLst/>
          </a:prstGeom>
        </p:spPr>
        <p:txBody>
          <a:bodyPr vert="horz" wrap="square" lIns="0" tIns="64135" rIns="0" bIns="0" rtlCol="0">
            <a:spAutoFit/>
          </a:bodyPr>
          <a:lstStyle/>
          <a:p>
            <a:pPr>
              <a:lnSpc>
                <a:spcPct val="100000"/>
              </a:lnSpc>
              <a:spcBef>
                <a:spcPts val="505"/>
              </a:spcBef>
            </a:pPr>
            <a:r>
              <a:rPr sz="1550" b="1" dirty="0">
                <a:latin typeface="微软雅黑"/>
                <a:cs typeface="微软雅黑"/>
              </a:rPr>
              <a:t>例</a:t>
            </a:r>
            <a:r>
              <a:rPr sz="1550" b="1" dirty="0">
                <a:latin typeface="Times New Roman"/>
                <a:cs typeface="Times New Roman"/>
              </a:rPr>
              <a:t>3.22</a:t>
            </a:r>
            <a:r>
              <a:rPr sz="1550" b="1" spc="165" dirty="0">
                <a:latin typeface="Times New Roman"/>
                <a:cs typeface="Times New Roman"/>
              </a:rPr>
              <a:t> </a:t>
            </a:r>
            <a:r>
              <a:rPr sz="1550" dirty="0">
                <a:latin typeface="Times New Roman"/>
                <a:cs typeface="Times New Roman"/>
              </a:rPr>
              <a:t>8-3</a:t>
            </a:r>
            <a:r>
              <a:rPr sz="1550" spc="-10" dirty="0">
                <a:latin typeface="微软雅黑"/>
                <a:cs typeface="微软雅黑"/>
              </a:rPr>
              <a:t>优先编码器的描述</a:t>
            </a:r>
            <a:endParaRPr sz="1550">
              <a:latin typeface="微软雅黑"/>
              <a:cs typeface="微软雅黑"/>
            </a:endParaRPr>
          </a:p>
          <a:p>
            <a:pPr marL="233679">
              <a:lnSpc>
                <a:spcPct val="100000"/>
              </a:lnSpc>
              <a:spcBef>
                <a:spcPts val="415"/>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prio_encode_8_3</a:t>
            </a:r>
            <a:endParaRPr sz="1550">
              <a:latin typeface="Times New Roman"/>
              <a:cs typeface="Times New Roman"/>
            </a:endParaRPr>
          </a:p>
        </p:txBody>
      </p:sp>
      <p:sp>
        <p:nvSpPr>
          <p:cNvPr id="6" name="object 6"/>
          <p:cNvSpPr txBox="1"/>
          <p:nvPr/>
        </p:nvSpPr>
        <p:spPr>
          <a:xfrm>
            <a:off x="1384423" y="3055126"/>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7" name="object 7"/>
          <p:cNvSpPr txBox="1"/>
          <p:nvPr/>
        </p:nvSpPr>
        <p:spPr>
          <a:xfrm>
            <a:off x="1368431" y="3295613"/>
            <a:ext cx="2464435" cy="892175"/>
          </a:xfrm>
          <a:prstGeom prst="rect">
            <a:avLst/>
          </a:prstGeom>
        </p:spPr>
        <p:txBody>
          <a:bodyPr vert="horz" wrap="square" lIns="0" tIns="64135" rIns="0" bIns="0" rtlCol="0">
            <a:spAutoFit/>
          </a:bodyPr>
          <a:lstStyle/>
          <a:p>
            <a:pPr marL="104139">
              <a:lnSpc>
                <a:spcPct val="100000"/>
              </a:lnSpc>
              <a:spcBef>
                <a:spcPts val="505"/>
              </a:spcBef>
            </a:pPr>
            <a:r>
              <a:rPr sz="1550" b="1" dirty="0">
                <a:latin typeface="Times New Roman"/>
                <a:cs typeface="Times New Roman"/>
              </a:rPr>
              <a:t>input</a:t>
            </a:r>
            <a:r>
              <a:rPr sz="1550" b="1" spc="60" dirty="0">
                <a:latin typeface="Times New Roman"/>
                <a:cs typeface="Times New Roman"/>
              </a:rPr>
              <a:t> </a:t>
            </a:r>
            <a:r>
              <a:rPr sz="1550" dirty="0">
                <a:latin typeface="Times New Roman"/>
                <a:cs typeface="Times New Roman"/>
              </a:rPr>
              <a:t>[7:0]</a:t>
            </a:r>
            <a:r>
              <a:rPr sz="1550" spc="50" dirty="0">
                <a:latin typeface="Times New Roman"/>
                <a:cs typeface="Times New Roman"/>
              </a:rPr>
              <a:t> </a:t>
            </a:r>
            <a:r>
              <a:rPr sz="1550" spc="-25" dirty="0">
                <a:latin typeface="Times New Roman"/>
                <a:cs typeface="Times New Roman"/>
              </a:rPr>
              <a:t>in,</a:t>
            </a:r>
            <a:endParaRPr sz="1550">
              <a:latin typeface="Times New Roman"/>
              <a:cs typeface="Times New Roman"/>
            </a:endParaRPr>
          </a:p>
          <a:p>
            <a:pPr marL="104139">
              <a:lnSpc>
                <a:spcPct val="100000"/>
              </a:lnSpc>
              <a:spcBef>
                <a:spcPts val="415"/>
              </a:spcBef>
            </a:pPr>
            <a:r>
              <a:rPr sz="1550" b="1" dirty="0">
                <a:latin typeface="Times New Roman"/>
                <a:cs typeface="Times New Roman"/>
              </a:rPr>
              <a:t>output</a:t>
            </a:r>
            <a:r>
              <a:rPr sz="1550" b="1" spc="440" dirty="0">
                <a:latin typeface="Times New Roman"/>
                <a:cs typeface="Times New Roman"/>
              </a:rPr>
              <a:t> </a:t>
            </a:r>
            <a:r>
              <a:rPr sz="1550" b="1" dirty="0">
                <a:latin typeface="Times New Roman"/>
                <a:cs typeface="Times New Roman"/>
              </a:rPr>
              <a:t>reg</a:t>
            </a:r>
            <a:r>
              <a:rPr sz="1550" b="1" spc="30" dirty="0">
                <a:latin typeface="Times New Roman"/>
                <a:cs typeface="Times New Roman"/>
              </a:rPr>
              <a:t> </a:t>
            </a:r>
            <a:r>
              <a:rPr sz="1550" dirty="0">
                <a:latin typeface="Times New Roman"/>
                <a:cs typeface="Times New Roman"/>
              </a:rPr>
              <a:t>[2:0]</a:t>
            </a:r>
            <a:r>
              <a:rPr sz="1550" spc="20" dirty="0">
                <a:latin typeface="Times New Roman"/>
                <a:cs typeface="Times New Roman"/>
              </a:rPr>
              <a:t> </a:t>
            </a:r>
            <a:r>
              <a:rPr sz="1550" spc="-10" dirty="0">
                <a:latin typeface="Times New Roman"/>
                <a:cs typeface="Times New Roman"/>
              </a:rPr>
              <a:t>encode_out</a:t>
            </a:r>
            <a:endParaRPr sz="1550">
              <a:latin typeface="Times New Roman"/>
              <a:cs typeface="Times New Roman"/>
            </a:endParaRPr>
          </a:p>
          <a:p>
            <a:pPr>
              <a:lnSpc>
                <a:spcPct val="100000"/>
              </a:lnSpc>
              <a:spcBef>
                <a:spcPts val="415"/>
              </a:spcBef>
            </a:pPr>
            <a:r>
              <a:rPr sz="1550" spc="-25" dirty="0">
                <a:latin typeface="Times New Roman"/>
                <a:cs typeface="Times New Roman"/>
              </a:rPr>
              <a:t>);</a:t>
            </a:r>
            <a:endParaRPr sz="1550">
              <a:latin typeface="Times New Roman"/>
              <a:cs typeface="Times New Roman"/>
            </a:endParaRPr>
          </a:p>
        </p:txBody>
      </p:sp>
      <p:sp>
        <p:nvSpPr>
          <p:cNvPr id="8" name="object 8"/>
          <p:cNvSpPr txBox="1">
            <a:spLocks noGrp="1"/>
          </p:cNvSpPr>
          <p:nvPr>
            <p:ph type="title"/>
          </p:nvPr>
        </p:nvSpPr>
        <p:spPr>
          <a:xfrm>
            <a:off x="346843" y="1080007"/>
            <a:ext cx="32340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3.6.3</a:t>
            </a:r>
            <a:r>
              <a:rPr spc="-20" dirty="0"/>
              <a:t>译码器和编码器</a:t>
            </a:r>
          </a:p>
        </p:txBody>
      </p:sp>
      <p:grpSp>
        <p:nvGrpSpPr>
          <p:cNvPr id="9" name="object 9"/>
          <p:cNvGrpSpPr/>
          <p:nvPr/>
        </p:nvGrpSpPr>
        <p:grpSpPr>
          <a:xfrm>
            <a:off x="5736221" y="1066038"/>
            <a:ext cx="4463415" cy="3498850"/>
            <a:chOff x="5736221" y="1066038"/>
            <a:chExt cx="4463415" cy="3498850"/>
          </a:xfrm>
        </p:grpSpPr>
        <p:sp>
          <p:nvSpPr>
            <p:cNvPr id="10" name="object 10"/>
            <p:cNvSpPr/>
            <p:nvPr/>
          </p:nvSpPr>
          <p:spPr>
            <a:xfrm>
              <a:off x="5744603" y="1074420"/>
              <a:ext cx="4446270" cy="3482340"/>
            </a:xfrm>
            <a:custGeom>
              <a:avLst/>
              <a:gdLst/>
              <a:ahLst/>
              <a:cxnLst/>
              <a:rect l="l" t="t" r="r" b="b"/>
              <a:pathLst>
                <a:path w="4446270" h="3482340">
                  <a:moveTo>
                    <a:pt x="4446270" y="3482339"/>
                  </a:moveTo>
                  <a:lnTo>
                    <a:pt x="4446270" y="0"/>
                  </a:lnTo>
                  <a:lnTo>
                    <a:pt x="0" y="0"/>
                  </a:lnTo>
                  <a:lnTo>
                    <a:pt x="0" y="3482340"/>
                  </a:lnTo>
                  <a:lnTo>
                    <a:pt x="4446270" y="3482339"/>
                  </a:lnTo>
                  <a:close/>
                </a:path>
              </a:pathLst>
            </a:custGeom>
            <a:solidFill>
              <a:srgbClr val="F9FABA"/>
            </a:solidFill>
          </p:spPr>
          <p:txBody>
            <a:bodyPr wrap="square" lIns="0" tIns="0" rIns="0" bIns="0" rtlCol="0"/>
            <a:lstStyle/>
            <a:p>
              <a:endParaRPr/>
            </a:p>
          </p:txBody>
        </p:sp>
        <p:sp>
          <p:nvSpPr>
            <p:cNvPr id="11" name="object 11"/>
            <p:cNvSpPr/>
            <p:nvPr/>
          </p:nvSpPr>
          <p:spPr>
            <a:xfrm>
              <a:off x="5736221" y="1066038"/>
              <a:ext cx="4463415" cy="3498850"/>
            </a:xfrm>
            <a:custGeom>
              <a:avLst/>
              <a:gdLst/>
              <a:ahLst/>
              <a:cxnLst/>
              <a:rect l="l" t="t" r="r" b="b"/>
              <a:pathLst>
                <a:path w="4463415" h="3498850">
                  <a:moveTo>
                    <a:pt x="4463034" y="3495294"/>
                  </a:moveTo>
                  <a:lnTo>
                    <a:pt x="4463034" y="3810"/>
                  </a:lnTo>
                  <a:lnTo>
                    <a:pt x="4459224" y="0"/>
                  </a:lnTo>
                  <a:lnTo>
                    <a:pt x="3809" y="0"/>
                  </a:lnTo>
                  <a:lnTo>
                    <a:pt x="0" y="3810"/>
                  </a:lnTo>
                  <a:lnTo>
                    <a:pt x="0" y="3495294"/>
                  </a:lnTo>
                  <a:lnTo>
                    <a:pt x="3810" y="3498342"/>
                  </a:lnTo>
                  <a:lnTo>
                    <a:pt x="8382" y="3498342"/>
                  </a:lnTo>
                  <a:lnTo>
                    <a:pt x="8382" y="16764"/>
                  </a:lnTo>
                  <a:lnTo>
                    <a:pt x="16763" y="8382"/>
                  </a:lnTo>
                  <a:lnTo>
                    <a:pt x="16763" y="16764"/>
                  </a:lnTo>
                  <a:lnTo>
                    <a:pt x="4446270" y="16764"/>
                  </a:lnTo>
                  <a:lnTo>
                    <a:pt x="4446270" y="8382"/>
                  </a:lnTo>
                  <a:lnTo>
                    <a:pt x="4454652" y="16764"/>
                  </a:lnTo>
                  <a:lnTo>
                    <a:pt x="4454652" y="3498342"/>
                  </a:lnTo>
                  <a:lnTo>
                    <a:pt x="4459224" y="3498342"/>
                  </a:lnTo>
                  <a:lnTo>
                    <a:pt x="4463034" y="3495294"/>
                  </a:lnTo>
                  <a:close/>
                </a:path>
                <a:path w="4463415" h="3498850">
                  <a:moveTo>
                    <a:pt x="16763" y="16764"/>
                  </a:moveTo>
                  <a:lnTo>
                    <a:pt x="16763" y="8382"/>
                  </a:lnTo>
                  <a:lnTo>
                    <a:pt x="8382" y="16764"/>
                  </a:lnTo>
                  <a:lnTo>
                    <a:pt x="16763" y="16764"/>
                  </a:lnTo>
                  <a:close/>
                </a:path>
                <a:path w="4463415" h="3498850">
                  <a:moveTo>
                    <a:pt x="16764" y="3482340"/>
                  </a:moveTo>
                  <a:lnTo>
                    <a:pt x="16763" y="16764"/>
                  </a:lnTo>
                  <a:lnTo>
                    <a:pt x="8382" y="16764"/>
                  </a:lnTo>
                  <a:lnTo>
                    <a:pt x="8382" y="3482340"/>
                  </a:lnTo>
                  <a:lnTo>
                    <a:pt x="16764" y="3482340"/>
                  </a:lnTo>
                  <a:close/>
                </a:path>
                <a:path w="4463415" h="3498850">
                  <a:moveTo>
                    <a:pt x="4454652" y="3482340"/>
                  </a:moveTo>
                  <a:lnTo>
                    <a:pt x="8382" y="3482340"/>
                  </a:lnTo>
                  <a:lnTo>
                    <a:pt x="16764" y="3490722"/>
                  </a:lnTo>
                  <a:lnTo>
                    <a:pt x="16764" y="3498342"/>
                  </a:lnTo>
                  <a:lnTo>
                    <a:pt x="4446270" y="3498342"/>
                  </a:lnTo>
                  <a:lnTo>
                    <a:pt x="4446270" y="3490722"/>
                  </a:lnTo>
                  <a:lnTo>
                    <a:pt x="4454652" y="3482340"/>
                  </a:lnTo>
                  <a:close/>
                </a:path>
                <a:path w="4463415" h="3498850">
                  <a:moveTo>
                    <a:pt x="16764" y="3498342"/>
                  </a:moveTo>
                  <a:lnTo>
                    <a:pt x="16764" y="3490722"/>
                  </a:lnTo>
                  <a:lnTo>
                    <a:pt x="8382" y="3482340"/>
                  </a:lnTo>
                  <a:lnTo>
                    <a:pt x="8382" y="3498342"/>
                  </a:lnTo>
                  <a:lnTo>
                    <a:pt x="16764" y="3498342"/>
                  </a:lnTo>
                  <a:close/>
                </a:path>
                <a:path w="4463415" h="3498850">
                  <a:moveTo>
                    <a:pt x="4454652" y="16764"/>
                  </a:moveTo>
                  <a:lnTo>
                    <a:pt x="4446270" y="8382"/>
                  </a:lnTo>
                  <a:lnTo>
                    <a:pt x="4446270" y="16764"/>
                  </a:lnTo>
                  <a:lnTo>
                    <a:pt x="4454652" y="16764"/>
                  </a:lnTo>
                  <a:close/>
                </a:path>
                <a:path w="4463415" h="3498850">
                  <a:moveTo>
                    <a:pt x="4454652" y="3482340"/>
                  </a:moveTo>
                  <a:lnTo>
                    <a:pt x="4454652" y="16764"/>
                  </a:lnTo>
                  <a:lnTo>
                    <a:pt x="4446270" y="16764"/>
                  </a:lnTo>
                  <a:lnTo>
                    <a:pt x="4446270" y="3482340"/>
                  </a:lnTo>
                  <a:lnTo>
                    <a:pt x="4454652" y="3482340"/>
                  </a:lnTo>
                  <a:close/>
                </a:path>
                <a:path w="4463415" h="3498850">
                  <a:moveTo>
                    <a:pt x="4454652" y="3498342"/>
                  </a:moveTo>
                  <a:lnTo>
                    <a:pt x="4454652" y="3482340"/>
                  </a:lnTo>
                  <a:lnTo>
                    <a:pt x="4446270" y="3490722"/>
                  </a:lnTo>
                  <a:lnTo>
                    <a:pt x="4446270" y="3498342"/>
                  </a:lnTo>
                  <a:lnTo>
                    <a:pt x="4454652" y="3498342"/>
                  </a:lnTo>
                  <a:close/>
                </a:path>
              </a:pathLst>
            </a:custGeom>
            <a:solidFill>
              <a:srgbClr val="000000"/>
            </a:solidFill>
          </p:spPr>
          <p:txBody>
            <a:bodyPr wrap="square" lIns="0" tIns="0" rIns="0" bIns="0" rtlCol="0"/>
            <a:lstStyle/>
            <a:p>
              <a:endParaRPr/>
            </a:p>
          </p:txBody>
        </p:sp>
      </p:grpSp>
      <p:sp>
        <p:nvSpPr>
          <p:cNvPr id="12" name="object 12"/>
          <p:cNvSpPr txBox="1"/>
          <p:nvPr/>
        </p:nvSpPr>
        <p:spPr>
          <a:xfrm>
            <a:off x="6029075" y="1095247"/>
            <a:ext cx="3634740" cy="3392804"/>
          </a:xfrm>
          <a:prstGeom prst="rect">
            <a:avLst/>
          </a:prstGeom>
        </p:spPr>
        <p:txBody>
          <a:bodyPr vert="horz" wrap="square" lIns="0" tIns="15875" rIns="0" bIns="0" rtlCol="0">
            <a:spAutoFit/>
          </a:bodyPr>
          <a:lstStyle/>
          <a:p>
            <a:pPr marL="109855">
              <a:lnSpc>
                <a:spcPct val="100000"/>
              </a:lnSpc>
              <a:spcBef>
                <a:spcPts val="125"/>
              </a:spcBef>
            </a:pPr>
            <a:r>
              <a:rPr sz="1550" b="1" dirty="0">
                <a:latin typeface="Times New Roman"/>
                <a:cs typeface="Times New Roman"/>
              </a:rPr>
              <a:t>always</a:t>
            </a:r>
            <a:r>
              <a:rPr sz="1550" b="1" spc="45" dirty="0">
                <a:latin typeface="Times New Roman"/>
                <a:cs typeface="Times New Roman"/>
              </a:rPr>
              <a:t> </a:t>
            </a:r>
            <a:r>
              <a:rPr sz="1550" spc="-25" dirty="0">
                <a:latin typeface="Times New Roman"/>
                <a:cs typeface="Times New Roman"/>
              </a:rPr>
              <a:t>@*</a:t>
            </a:r>
            <a:endParaRPr sz="1550">
              <a:latin typeface="Times New Roman"/>
              <a:cs typeface="Times New Roman"/>
            </a:endParaRPr>
          </a:p>
          <a:p>
            <a:pPr marL="267970">
              <a:lnSpc>
                <a:spcPct val="100000"/>
              </a:lnSpc>
              <a:spcBef>
                <a:spcPts val="35"/>
              </a:spcBef>
            </a:pPr>
            <a:r>
              <a:rPr sz="1550" b="1" spc="-10" dirty="0">
                <a:latin typeface="Times New Roman"/>
                <a:cs typeface="Times New Roman"/>
              </a:rPr>
              <a:t>begin</a:t>
            </a:r>
            <a:endParaRPr sz="1550">
              <a:latin typeface="Times New Roman"/>
              <a:cs typeface="Times New Roman"/>
            </a:endParaRPr>
          </a:p>
          <a:p>
            <a:pPr marL="425450">
              <a:lnSpc>
                <a:spcPct val="100000"/>
              </a:lnSpc>
              <a:spcBef>
                <a:spcPts val="30"/>
              </a:spcBef>
            </a:pPr>
            <a:r>
              <a:rPr sz="1550" b="1" dirty="0">
                <a:latin typeface="Times New Roman"/>
                <a:cs typeface="Times New Roman"/>
              </a:rPr>
              <a:t>casez</a:t>
            </a:r>
            <a:r>
              <a:rPr sz="1550" b="1" spc="30" dirty="0">
                <a:latin typeface="Times New Roman"/>
                <a:cs typeface="Times New Roman"/>
              </a:rPr>
              <a:t> </a:t>
            </a:r>
            <a:r>
              <a:rPr sz="1550" spc="-20" dirty="0">
                <a:latin typeface="Times New Roman"/>
                <a:cs typeface="Times New Roman"/>
              </a:rPr>
              <a:t>(in)</a:t>
            </a:r>
            <a:endParaRPr sz="1550">
              <a:latin typeface="Times New Roman"/>
              <a:cs typeface="Times New Roman"/>
            </a:endParaRPr>
          </a:p>
          <a:p>
            <a:pPr marL="582930">
              <a:lnSpc>
                <a:spcPct val="100000"/>
              </a:lnSpc>
              <a:spcBef>
                <a:spcPts val="40"/>
              </a:spcBef>
            </a:pPr>
            <a:r>
              <a:rPr sz="1550" dirty="0">
                <a:latin typeface="Times New Roman"/>
                <a:cs typeface="Times New Roman"/>
              </a:rPr>
              <a:t>8’b1???????</a:t>
            </a:r>
            <a:r>
              <a:rPr sz="1550" spc="20" dirty="0">
                <a:latin typeface="Times New Roman"/>
                <a:cs typeface="Times New Roman"/>
              </a:rPr>
              <a:t> </a:t>
            </a:r>
            <a:r>
              <a:rPr sz="1550" dirty="0">
                <a:latin typeface="Times New Roman"/>
                <a:cs typeface="Times New Roman"/>
              </a:rPr>
              <a:t>:</a:t>
            </a:r>
            <a:r>
              <a:rPr sz="1550" spc="470" dirty="0">
                <a:latin typeface="Times New Roman"/>
                <a:cs typeface="Times New Roman"/>
              </a:rPr>
              <a:t> </a:t>
            </a:r>
            <a:r>
              <a:rPr sz="1550" dirty="0">
                <a:latin typeface="Times New Roman"/>
                <a:cs typeface="Times New Roman"/>
              </a:rPr>
              <a:t>encode_out</a:t>
            </a:r>
            <a:r>
              <a:rPr sz="1550" spc="25"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3’b111;</a:t>
            </a:r>
            <a:endParaRPr sz="1550">
              <a:latin typeface="Times New Roman"/>
              <a:cs typeface="Times New Roman"/>
            </a:endParaRPr>
          </a:p>
          <a:p>
            <a:pPr marL="582930" marR="48895">
              <a:lnSpc>
                <a:spcPts val="1900"/>
              </a:lnSpc>
              <a:spcBef>
                <a:spcPts val="60"/>
              </a:spcBef>
            </a:pPr>
            <a:r>
              <a:rPr sz="1550" dirty="0">
                <a:latin typeface="Times New Roman"/>
                <a:cs typeface="Times New Roman"/>
              </a:rPr>
              <a:t>8’b01??????</a:t>
            </a:r>
            <a:r>
              <a:rPr sz="1550" spc="20" dirty="0">
                <a:latin typeface="Times New Roman"/>
                <a:cs typeface="Times New Roman"/>
              </a:rPr>
              <a:t> </a:t>
            </a:r>
            <a:r>
              <a:rPr sz="1550" dirty="0">
                <a:latin typeface="Times New Roman"/>
                <a:cs typeface="Times New Roman"/>
              </a:rPr>
              <a:t>:</a:t>
            </a:r>
            <a:r>
              <a:rPr sz="1550" spc="465" dirty="0">
                <a:latin typeface="Times New Roman"/>
                <a:cs typeface="Times New Roman"/>
              </a:rPr>
              <a:t> </a:t>
            </a:r>
            <a:r>
              <a:rPr sz="1550" dirty="0">
                <a:latin typeface="Times New Roman"/>
                <a:cs typeface="Times New Roman"/>
              </a:rPr>
              <a:t>encode_out</a:t>
            </a:r>
            <a:r>
              <a:rPr sz="1550" spc="25"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3’b110; </a:t>
            </a:r>
            <a:r>
              <a:rPr sz="1550" dirty="0">
                <a:latin typeface="Times New Roman"/>
                <a:cs typeface="Times New Roman"/>
              </a:rPr>
              <a:t>8’b001?????</a:t>
            </a:r>
            <a:r>
              <a:rPr sz="1550" spc="15" dirty="0">
                <a:latin typeface="Times New Roman"/>
                <a:cs typeface="Times New Roman"/>
              </a:rPr>
              <a:t> </a:t>
            </a:r>
            <a:r>
              <a:rPr sz="1550" dirty="0">
                <a:latin typeface="Times New Roman"/>
                <a:cs typeface="Times New Roman"/>
              </a:rPr>
              <a:t>:</a:t>
            </a:r>
            <a:r>
              <a:rPr sz="1550" spc="470" dirty="0">
                <a:latin typeface="Times New Roman"/>
                <a:cs typeface="Times New Roman"/>
              </a:rPr>
              <a:t> </a:t>
            </a:r>
            <a:r>
              <a:rPr sz="1550" dirty="0">
                <a:latin typeface="Times New Roman"/>
                <a:cs typeface="Times New Roman"/>
              </a:rPr>
              <a:t>encode_out</a:t>
            </a:r>
            <a:r>
              <a:rPr sz="1550" spc="1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3’b101;</a:t>
            </a:r>
            <a:endParaRPr sz="1550">
              <a:latin typeface="Times New Roman"/>
              <a:cs typeface="Times New Roman"/>
            </a:endParaRPr>
          </a:p>
          <a:p>
            <a:pPr marL="582930" marR="45720">
              <a:lnSpc>
                <a:spcPts val="1889"/>
              </a:lnSpc>
            </a:pPr>
            <a:r>
              <a:rPr sz="1550" dirty="0">
                <a:latin typeface="Times New Roman"/>
                <a:cs typeface="Times New Roman"/>
              </a:rPr>
              <a:t>8’b0001????</a:t>
            </a:r>
            <a:r>
              <a:rPr sz="1550" spc="20" dirty="0">
                <a:latin typeface="Times New Roman"/>
                <a:cs typeface="Times New Roman"/>
              </a:rPr>
              <a:t> </a:t>
            </a:r>
            <a:r>
              <a:rPr sz="1550" dirty="0">
                <a:latin typeface="Times New Roman"/>
                <a:cs typeface="Times New Roman"/>
              </a:rPr>
              <a:t>:</a:t>
            </a:r>
            <a:r>
              <a:rPr sz="1550" spc="470" dirty="0">
                <a:latin typeface="Times New Roman"/>
                <a:cs typeface="Times New Roman"/>
              </a:rPr>
              <a:t> </a:t>
            </a:r>
            <a:r>
              <a:rPr sz="1550" dirty="0">
                <a:latin typeface="Times New Roman"/>
                <a:cs typeface="Times New Roman"/>
              </a:rPr>
              <a:t>encode_out</a:t>
            </a:r>
            <a:r>
              <a:rPr sz="1550" spc="2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3’b100; </a:t>
            </a:r>
            <a:r>
              <a:rPr sz="1550" dirty="0">
                <a:latin typeface="Times New Roman"/>
                <a:cs typeface="Times New Roman"/>
              </a:rPr>
              <a:t>8’b00001???</a:t>
            </a:r>
            <a:r>
              <a:rPr sz="1550" spc="20" dirty="0">
                <a:latin typeface="Times New Roman"/>
                <a:cs typeface="Times New Roman"/>
              </a:rPr>
              <a:t> </a:t>
            </a:r>
            <a:r>
              <a:rPr sz="1550" dirty="0">
                <a:latin typeface="Times New Roman"/>
                <a:cs typeface="Times New Roman"/>
              </a:rPr>
              <a:t>:</a:t>
            </a:r>
            <a:r>
              <a:rPr sz="1550" spc="465" dirty="0">
                <a:latin typeface="Times New Roman"/>
                <a:cs typeface="Times New Roman"/>
              </a:rPr>
              <a:t> </a:t>
            </a:r>
            <a:r>
              <a:rPr sz="1550" dirty="0">
                <a:latin typeface="Times New Roman"/>
                <a:cs typeface="Times New Roman"/>
              </a:rPr>
              <a:t>encode_out</a:t>
            </a:r>
            <a:r>
              <a:rPr sz="1550" spc="25"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3’b011;</a:t>
            </a:r>
            <a:endParaRPr sz="1550">
              <a:latin typeface="Times New Roman"/>
              <a:cs typeface="Times New Roman"/>
            </a:endParaRPr>
          </a:p>
          <a:p>
            <a:pPr marL="582930" marR="15240">
              <a:lnSpc>
                <a:spcPts val="1889"/>
              </a:lnSpc>
              <a:spcBef>
                <a:spcPts val="5"/>
              </a:spcBef>
            </a:pPr>
            <a:r>
              <a:rPr sz="1550" dirty="0">
                <a:latin typeface="Times New Roman"/>
                <a:cs typeface="Times New Roman"/>
              </a:rPr>
              <a:t>8’b000001??</a:t>
            </a:r>
            <a:r>
              <a:rPr sz="1550" spc="15" dirty="0">
                <a:latin typeface="Times New Roman"/>
                <a:cs typeface="Times New Roman"/>
              </a:rPr>
              <a:t> </a:t>
            </a:r>
            <a:r>
              <a:rPr sz="1550" dirty="0">
                <a:latin typeface="Times New Roman"/>
                <a:cs typeface="Times New Roman"/>
              </a:rPr>
              <a:t>:</a:t>
            </a:r>
            <a:r>
              <a:rPr sz="1550" spc="470" dirty="0">
                <a:latin typeface="Times New Roman"/>
                <a:cs typeface="Times New Roman"/>
              </a:rPr>
              <a:t> </a:t>
            </a:r>
            <a:r>
              <a:rPr sz="1550" dirty="0">
                <a:latin typeface="Times New Roman"/>
                <a:cs typeface="Times New Roman"/>
              </a:rPr>
              <a:t>encode_out</a:t>
            </a:r>
            <a:r>
              <a:rPr sz="1550" spc="2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3’b010; </a:t>
            </a:r>
            <a:r>
              <a:rPr sz="1550" dirty="0">
                <a:latin typeface="Times New Roman"/>
                <a:cs typeface="Times New Roman"/>
              </a:rPr>
              <a:t>8’b0000001?</a:t>
            </a:r>
            <a:r>
              <a:rPr sz="1550" spc="20" dirty="0">
                <a:latin typeface="Times New Roman"/>
                <a:cs typeface="Times New Roman"/>
              </a:rPr>
              <a:t> </a:t>
            </a:r>
            <a:r>
              <a:rPr sz="1550" dirty="0">
                <a:latin typeface="Times New Roman"/>
                <a:cs typeface="Times New Roman"/>
              </a:rPr>
              <a:t>:</a:t>
            </a:r>
            <a:r>
              <a:rPr sz="1550" spc="470" dirty="0">
                <a:latin typeface="Times New Roman"/>
                <a:cs typeface="Times New Roman"/>
              </a:rPr>
              <a:t> </a:t>
            </a:r>
            <a:r>
              <a:rPr sz="1550" dirty="0">
                <a:latin typeface="Times New Roman"/>
                <a:cs typeface="Times New Roman"/>
              </a:rPr>
              <a:t>encode_out</a:t>
            </a:r>
            <a:r>
              <a:rPr sz="1550" spc="20"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3’b001;</a:t>
            </a:r>
            <a:endParaRPr sz="1550">
              <a:latin typeface="Times New Roman"/>
              <a:cs typeface="Times New Roman"/>
            </a:endParaRPr>
          </a:p>
          <a:p>
            <a:pPr marL="582930">
              <a:lnSpc>
                <a:spcPts val="1830"/>
              </a:lnSpc>
            </a:pPr>
            <a:r>
              <a:rPr sz="1550" dirty="0">
                <a:latin typeface="Times New Roman"/>
                <a:cs typeface="Times New Roman"/>
              </a:rPr>
              <a:t>8’b00000001</a:t>
            </a:r>
            <a:r>
              <a:rPr sz="1550" spc="15" dirty="0">
                <a:latin typeface="Times New Roman"/>
                <a:cs typeface="Times New Roman"/>
              </a:rPr>
              <a:t> </a:t>
            </a:r>
            <a:r>
              <a:rPr sz="1550" dirty="0">
                <a:latin typeface="Times New Roman"/>
                <a:cs typeface="Times New Roman"/>
              </a:rPr>
              <a:t>:</a:t>
            </a:r>
            <a:r>
              <a:rPr sz="1550" spc="475" dirty="0">
                <a:latin typeface="Times New Roman"/>
                <a:cs typeface="Times New Roman"/>
              </a:rPr>
              <a:t> </a:t>
            </a:r>
            <a:r>
              <a:rPr sz="1550" dirty="0">
                <a:latin typeface="Times New Roman"/>
                <a:cs typeface="Times New Roman"/>
              </a:rPr>
              <a:t>encode_out</a:t>
            </a:r>
            <a:r>
              <a:rPr sz="1550" spc="10" dirty="0">
                <a:latin typeface="Times New Roman"/>
                <a:cs typeface="Times New Roman"/>
              </a:rPr>
              <a:t> </a:t>
            </a:r>
            <a:r>
              <a:rPr sz="1550" dirty="0">
                <a:latin typeface="Times New Roman"/>
                <a:cs typeface="Times New Roman"/>
              </a:rPr>
              <a:t>=</a:t>
            </a:r>
            <a:r>
              <a:rPr sz="1550" spc="45" dirty="0">
                <a:latin typeface="Times New Roman"/>
                <a:cs typeface="Times New Roman"/>
              </a:rPr>
              <a:t> </a:t>
            </a:r>
            <a:r>
              <a:rPr sz="1550" spc="-10" dirty="0">
                <a:latin typeface="Times New Roman"/>
                <a:cs typeface="Times New Roman"/>
              </a:rPr>
              <a:t>3’b000;</a:t>
            </a:r>
            <a:endParaRPr sz="1550">
              <a:latin typeface="Times New Roman"/>
              <a:cs typeface="Times New Roman"/>
            </a:endParaRPr>
          </a:p>
          <a:p>
            <a:pPr marL="267970" marR="2532380" indent="157480">
              <a:lnSpc>
                <a:spcPct val="101600"/>
              </a:lnSpc>
              <a:spcBef>
                <a:spcPts val="5"/>
              </a:spcBef>
            </a:pPr>
            <a:r>
              <a:rPr sz="1550" b="1" spc="-10" dirty="0">
                <a:latin typeface="Times New Roman"/>
                <a:cs typeface="Times New Roman"/>
              </a:rPr>
              <a:t>endcase </a:t>
            </a:r>
            <a:r>
              <a:rPr sz="1550" b="1" spc="-25" dirty="0">
                <a:latin typeface="Times New Roman"/>
                <a:cs typeface="Times New Roman"/>
              </a:rPr>
              <a:t>end</a:t>
            </a:r>
            <a:endParaRPr sz="1550">
              <a:latin typeface="Times New Roman"/>
              <a:cs typeface="Times New Roman"/>
            </a:endParaRPr>
          </a:p>
          <a:p>
            <a:pPr marL="12700">
              <a:lnSpc>
                <a:spcPct val="100000"/>
              </a:lnSpc>
              <a:spcBef>
                <a:spcPts val="35"/>
              </a:spcBef>
            </a:pPr>
            <a:r>
              <a:rPr sz="1550" b="1" spc="-10" dirty="0">
                <a:latin typeface="Times New Roman"/>
                <a:cs typeface="Times New Roman"/>
              </a:rPr>
              <a:t>endmodule</a:t>
            </a:r>
            <a:endParaRPr sz="1550">
              <a:latin typeface="Times New Roman"/>
              <a:cs typeface="Times New Roman"/>
            </a:endParaRPr>
          </a:p>
        </p:txBody>
      </p:sp>
      <p:sp>
        <p:nvSpPr>
          <p:cNvPr id="13" name="object 13"/>
          <p:cNvSpPr txBox="1"/>
          <p:nvPr/>
        </p:nvSpPr>
        <p:spPr>
          <a:xfrm>
            <a:off x="720985" y="1811528"/>
            <a:ext cx="4562475" cy="34671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dirty="0">
                <a:latin typeface="Times New Roman"/>
                <a:cs typeface="Times New Roman"/>
              </a:rPr>
              <a:t>8-3</a:t>
            </a:r>
            <a:r>
              <a:rPr sz="2100" spc="-10" dirty="0">
                <a:latin typeface="微软雅黑"/>
                <a:cs typeface="微软雅黑"/>
              </a:rPr>
              <a:t>优先编码器实现代码如例</a:t>
            </a:r>
            <a:r>
              <a:rPr sz="2100" spc="-10" dirty="0">
                <a:latin typeface="Times New Roman"/>
                <a:cs typeface="Times New Roman"/>
              </a:rPr>
              <a:t>3.22</a:t>
            </a:r>
            <a:r>
              <a:rPr sz="2100" spc="-30" dirty="0">
                <a:latin typeface="微软雅黑"/>
                <a:cs typeface="微软雅黑"/>
              </a:rPr>
              <a:t>所示</a:t>
            </a:r>
            <a:endParaRPr sz="2100">
              <a:latin typeface="微软雅黑"/>
              <a:cs typeface="微软雅黑"/>
            </a:endParaRPr>
          </a:p>
        </p:txBody>
      </p:sp>
      <p:pic>
        <p:nvPicPr>
          <p:cNvPr id="14" name="object 14"/>
          <p:cNvPicPr/>
          <p:nvPr/>
        </p:nvPicPr>
        <p:blipFill>
          <a:blip r:embed="rId3" cstate="print"/>
          <a:stretch>
            <a:fillRect/>
          </a:stretch>
        </p:blipFill>
        <p:spPr>
          <a:xfrm>
            <a:off x="1551664" y="4969700"/>
            <a:ext cx="7394517" cy="1177004"/>
          </a:xfrm>
          <a:prstGeom prst="rect">
            <a:avLst/>
          </a:prstGeom>
        </p:spPr>
      </p:pic>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0881" y="2510732"/>
            <a:ext cx="4533265" cy="3112135"/>
          </a:xfrm>
          <a:prstGeom prst="rect">
            <a:avLst/>
          </a:prstGeom>
        </p:spPr>
        <p:txBody>
          <a:bodyPr vert="horz" wrap="square" lIns="0" tIns="130810" rIns="0" bIns="0" rtlCol="0">
            <a:spAutoFit/>
          </a:bodyPr>
          <a:lstStyle/>
          <a:p>
            <a:pPr marL="260350" indent="-247650" algn="just">
              <a:lnSpc>
                <a:spcPct val="100000"/>
              </a:lnSpc>
              <a:spcBef>
                <a:spcPts val="1030"/>
              </a:spcBef>
              <a:buFont typeface="Arial"/>
              <a:buChar char="•"/>
              <a:tabLst>
                <a:tab pos="260350" algn="l"/>
              </a:tabLst>
            </a:pPr>
            <a:r>
              <a:rPr sz="1550" dirty="0">
                <a:latin typeface="微软雅黑"/>
                <a:cs typeface="微软雅黑"/>
              </a:rPr>
              <a:t>包括七个</a:t>
            </a:r>
            <a:r>
              <a:rPr sz="1550" dirty="0">
                <a:latin typeface="Times New Roman"/>
                <a:cs typeface="Times New Roman"/>
              </a:rPr>
              <a:t>LED</a:t>
            </a:r>
            <a:r>
              <a:rPr sz="1550" dirty="0">
                <a:latin typeface="微软雅黑"/>
                <a:cs typeface="微软雅黑"/>
              </a:rPr>
              <a:t>管和一个圆形</a:t>
            </a:r>
            <a:r>
              <a:rPr sz="1550" dirty="0">
                <a:latin typeface="Times New Roman"/>
                <a:cs typeface="Times New Roman"/>
              </a:rPr>
              <a:t>LED</a:t>
            </a:r>
            <a:r>
              <a:rPr sz="1550" spc="-15" dirty="0">
                <a:latin typeface="微软雅黑"/>
                <a:cs typeface="微软雅黑"/>
              </a:rPr>
              <a:t>小数点。</a:t>
            </a:r>
            <a:endParaRPr sz="1550">
              <a:latin typeface="微软雅黑"/>
              <a:cs typeface="微软雅黑"/>
            </a:endParaRPr>
          </a:p>
          <a:p>
            <a:pPr marL="259715" marR="5080" indent="-247650" algn="just">
              <a:lnSpc>
                <a:spcPct val="122200"/>
              </a:lnSpc>
              <a:spcBef>
                <a:spcPts val="520"/>
              </a:spcBef>
              <a:buFont typeface="Arial"/>
              <a:buChar char="•"/>
              <a:tabLst>
                <a:tab pos="262890" algn="l"/>
              </a:tabLst>
            </a:pPr>
            <a:r>
              <a:rPr sz="1550" dirty="0">
                <a:latin typeface="微软雅黑"/>
                <a:cs typeface="微软雅黑"/>
              </a:rPr>
              <a:t>按</a:t>
            </a:r>
            <a:r>
              <a:rPr sz="1550" dirty="0">
                <a:latin typeface="Times New Roman"/>
                <a:cs typeface="Times New Roman"/>
              </a:rPr>
              <a:t>LED</a:t>
            </a:r>
            <a:r>
              <a:rPr sz="1550" dirty="0">
                <a:latin typeface="微软雅黑"/>
                <a:cs typeface="微软雅黑"/>
              </a:rPr>
              <a:t>单元连接方式可以分为</a:t>
            </a:r>
            <a:r>
              <a:rPr sz="1550" dirty="0">
                <a:solidFill>
                  <a:srgbClr val="FF0000"/>
                </a:solidFill>
                <a:latin typeface="微软雅黑"/>
                <a:cs typeface="微软雅黑"/>
              </a:rPr>
              <a:t>共阳数码管</a:t>
            </a:r>
            <a:r>
              <a:rPr sz="1550" dirty="0">
                <a:latin typeface="微软雅黑"/>
                <a:cs typeface="微软雅黑"/>
              </a:rPr>
              <a:t>和</a:t>
            </a:r>
            <a:r>
              <a:rPr sz="1550" spc="-25" dirty="0">
                <a:solidFill>
                  <a:srgbClr val="FF0000"/>
                </a:solidFill>
                <a:latin typeface="微软雅黑"/>
                <a:cs typeface="微软雅黑"/>
              </a:rPr>
              <a:t>共阴	</a:t>
            </a:r>
            <a:r>
              <a:rPr sz="1550" dirty="0">
                <a:solidFill>
                  <a:srgbClr val="FF0000"/>
                </a:solidFill>
                <a:latin typeface="微软雅黑"/>
                <a:cs typeface="微软雅黑"/>
              </a:rPr>
              <a:t>数码管</a:t>
            </a:r>
            <a:r>
              <a:rPr sz="1550" spc="-5" dirty="0">
                <a:latin typeface="微软雅黑"/>
                <a:cs typeface="微软雅黑"/>
              </a:rPr>
              <a:t>，共阳数码管是指将所有发光二极管的阳	</a:t>
            </a:r>
            <a:r>
              <a:rPr sz="1550" dirty="0">
                <a:latin typeface="微软雅黑"/>
                <a:cs typeface="微软雅黑"/>
              </a:rPr>
              <a:t>极接到一起形成公共阳极</a:t>
            </a:r>
            <a:r>
              <a:rPr sz="1550" dirty="0">
                <a:latin typeface="Times New Roman"/>
                <a:cs typeface="Times New Roman"/>
              </a:rPr>
              <a:t>(COM)</a:t>
            </a:r>
            <a:r>
              <a:rPr sz="1550" spc="-5" dirty="0">
                <a:latin typeface="微软雅黑"/>
                <a:cs typeface="微软雅黑"/>
              </a:rPr>
              <a:t>的数码管，</a:t>
            </a:r>
            <a:r>
              <a:rPr sz="1550" spc="-20" dirty="0">
                <a:latin typeface="Times New Roman"/>
                <a:cs typeface="Times New Roman"/>
              </a:rPr>
              <a:t>COM	</a:t>
            </a:r>
            <a:r>
              <a:rPr sz="1550" spc="-5" dirty="0">
                <a:latin typeface="微软雅黑"/>
                <a:cs typeface="微软雅黑"/>
              </a:rPr>
              <a:t>接到逻辑高电平，当某一字段发光二极管的阴极	为低电平时，相应字段就点亮。</a:t>
            </a:r>
            <a:endParaRPr sz="1550">
              <a:latin typeface="微软雅黑"/>
              <a:cs typeface="微软雅黑"/>
            </a:endParaRPr>
          </a:p>
          <a:p>
            <a:pPr marL="259715" marR="5715" indent="-247650" algn="just">
              <a:lnSpc>
                <a:spcPct val="122200"/>
              </a:lnSpc>
              <a:spcBef>
                <a:spcPts val="530"/>
              </a:spcBef>
              <a:buFont typeface="Arial"/>
              <a:buChar char="•"/>
              <a:tabLst>
                <a:tab pos="262890" algn="l"/>
              </a:tabLst>
            </a:pPr>
            <a:r>
              <a:rPr sz="1550" spc="-5" dirty="0">
                <a:latin typeface="微软雅黑"/>
                <a:cs typeface="微软雅黑"/>
              </a:rPr>
              <a:t>共阴数码管是指将所有发光二极管的阴极接到一	</a:t>
            </a:r>
            <a:r>
              <a:rPr sz="1550" dirty="0">
                <a:latin typeface="微软雅黑"/>
                <a:cs typeface="微软雅黑"/>
              </a:rPr>
              <a:t>起形成公共阴极</a:t>
            </a:r>
            <a:r>
              <a:rPr sz="1550" dirty="0">
                <a:latin typeface="Times New Roman"/>
                <a:cs typeface="Times New Roman"/>
              </a:rPr>
              <a:t>(COM)</a:t>
            </a:r>
            <a:r>
              <a:rPr sz="1550" dirty="0">
                <a:latin typeface="微软雅黑"/>
                <a:cs typeface="微软雅黑"/>
              </a:rPr>
              <a:t>的数码管，</a:t>
            </a:r>
            <a:r>
              <a:rPr sz="1550" dirty="0">
                <a:latin typeface="Times New Roman"/>
                <a:cs typeface="Times New Roman"/>
              </a:rPr>
              <a:t>COM</a:t>
            </a:r>
            <a:r>
              <a:rPr sz="1550" spc="-15" dirty="0">
                <a:latin typeface="微软雅黑"/>
                <a:cs typeface="微软雅黑"/>
              </a:rPr>
              <a:t>接到逻辑	</a:t>
            </a:r>
            <a:r>
              <a:rPr sz="1550" spc="-5" dirty="0">
                <a:latin typeface="微软雅黑"/>
                <a:cs typeface="微软雅黑"/>
              </a:rPr>
              <a:t>低电平，当某一字段发光二极管的阳极为高电平	时，相应字段就点亮。</a:t>
            </a:r>
            <a:endParaRPr sz="1550">
              <a:latin typeface="微软雅黑"/>
              <a:cs typeface="微软雅黑"/>
            </a:endParaRPr>
          </a:p>
        </p:txBody>
      </p:sp>
      <p:sp>
        <p:nvSpPr>
          <p:cNvPr id="3" name="object 3"/>
          <p:cNvSpPr txBox="1">
            <a:spLocks noGrp="1"/>
          </p:cNvSpPr>
          <p:nvPr>
            <p:ph type="title"/>
          </p:nvPr>
        </p:nvSpPr>
        <p:spPr>
          <a:xfrm>
            <a:off x="444379" y="1128013"/>
            <a:ext cx="6249035" cy="466725"/>
          </a:xfrm>
          <a:prstGeom prst="rect">
            <a:avLst/>
          </a:prstGeom>
        </p:spPr>
        <p:txBody>
          <a:bodyPr vert="horz" wrap="square" lIns="0" tIns="11430" rIns="0" bIns="0" rtlCol="0">
            <a:spAutoFit/>
          </a:bodyPr>
          <a:lstStyle/>
          <a:p>
            <a:pPr marL="12700">
              <a:lnSpc>
                <a:spcPct val="100000"/>
              </a:lnSpc>
              <a:spcBef>
                <a:spcPts val="90"/>
              </a:spcBef>
            </a:pPr>
            <a:r>
              <a:rPr sz="2900" spc="-20" dirty="0">
                <a:solidFill>
                  <a:srgbClr val="000000"/>
                </a:solidFill>
                <a:latin typeface="Times New Roman"/>
                <a:cs typeface="Times New Roman"/>
              </a:rPr>
              <a:t>3.6.4</a:t>
            </a:r>
            <a:r>
              <a:rPr sz="2900" spc="-35" dirty="0">
                <a:solidFill>
                  <a:srgbClr val="000000"/>
                </a:solidFill>
              </a:rPr>
              <a:t>：十六进制数七段</a:t>
            </a:r>
            <a:r>
              <a:rPr sz="2900" spc="-30" dirty="0">
                <a:solidFill>
                  <a:srgbClr val="000000"/>
                </a:solidFill>
                <a:latin typeface="Times New Roman"/>
                <a:cs typeface="Times New Roman"/>
              </a:rPr>
              <a:t>LED</a:t>
            </a:r>
            <a:r>
              <a:rPr sz="2900" spc="-40" dirty="0">
                <a:solidFill>
                  <a:srgbClr val="000000"/>
                </a:solidFill>
              </a:rPr>
              <a:t>显示译码器</a:t>
            </a:r>
            <a:endParaRPr sz="2900">
              <a:latin typeface="Times New Roman"/>
              <a:cs typeface="Times New Roman"/>
            </a:endParaRPr>
          </a:p>
        </p:txBody>
      </p:sp>
      <p:sp>
        <p:nvSpPr>
          <p:cNvPr id="4" name="object 4"/>
          <p:cNvSpPr txBox="1"/>
          <p:nvPr/>
        </p:nvSpPr>
        <p:spPr>
          <a:xfrm>
            <a:off x="6562477" y="2602484"/>
            <a:ext cx="2270760"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微软雅黑"/>
                <a:cs typeface="微软雅黑"/>
              </a:rPr>
              <a:t>图</a:t>
            </a:r>
            <a:r>
              <a:rPr sz="1550" dirty="0">
                <a:latin typeface="Times New Roman"/>
                <a:cs typeface="Times New Roman"/>
              </a:rPr>
              <a:t>3.8</a:t>
            </a:r>
            <a:r>
              <a:rPr sz="1550" dirty="0">
                <a:latin typeface="微软雅黑"/>
                <a:cs typeface="微软雅黑"/>
              </a:rPr>
              <a:t>：七段码</a:t>
            </a:r>
            <a:r>
              <a:rPr sz="1550" dirty="0">
                <a:latin typeface="Times New Roman"/>
                <a:cs typeface="Times New Roman"/>
              </a:rPr>
              <a:t>LED</a:t>
            </a:r>
            <a:r>
              <a:rPr sz="1550" spc="-20" dirty="0">
                <a:latin typeface="微软雅黑"/>
                <a:cs typeface="微软雅黑"/>
              </a:rPr>
              <a:t>示意图</a:t>
            </a:r>
            <a:endParaRPr sz="1550">
              <a:latin typeface="微软雅黑"/>
              <a:cs typeface="微软雅黑"/>
            </a:endParaRPr>
          </a:p>
        </p:txBody>
      </p:sp>
      <p:sp>
        <p:nvSpPr>
          <p:cNvPr id="5" name="object 5"/>
          <p:cNvSpPr txBox="1"/>
          <p:nvPr/>
        </p:nvSpPr>
        <p:spPr>
          <a:xfrm>
            <a:off x="650881" y="1925066"/>
            <a:ext cx="7294245" cy="346710"/>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dirty="0">
                <a:latin typeface="微软雅黑"/>
                <a:cs typeface="微软雅黑"/>
              </a:rPr>
              <a:t>七段</a:t>
            </a:r>
            <a:r>
              <a:rPr sz="2100" spc="-10" dirty="0">
                <a:latin typeface="Times New Roman"/>
                <a:cs typeface="Times New Roman"/>
              </a:rPr>
              <a:t>LED</a:t>
            </a:r>
            <a:r>
              <a:rPr sz="2100" spc="-10" dirty="0">
                <a:latin typeface="微软雅黑"/>
                <a:cs typeface="微软雅黑"/>
              </a:rPr>
              <a:t>显示器也称为七段数码管，其示意图如图</a:t>
            </a:r>
            <a:r>
              <a:rPr sz="2100" spc="-10" dirty="0">
                <a:latin typeface="Times New Roman"/>
                <a:cs typeface="Times New Roman"/>
              </a:rPr>
              <a:t>3.8(a)</a:t>
            </a:r>
            <a:r>
              <a:rPr sz="2100" spc="-25" dirty="0">
                <a:latin typeface="微软雅黑"/>
                <a:cs typeface="微软雅黑"/>
              </a:rPr>
              <a:t>所示</a:t>
            </a:r>
            <a:endParaRPr sz="2100">
              <a:latin typeface="微软雅黑"/>
              <a:cs typeface="微软雅黑"/>
            </a:endParaRPr>
          </a:p>
        </p:txBody>
      </p:sp>
      <p:sp>
        <p:nvSpPr>
          <p:cNvPr id="6" name="object 6"/>
          <p:cNvSpPr txBox="1"/>
          <p:nvPr/>
        </p:nvSpPr>
        <p:spPr>
          <a:xfrm>
            <a:off x="6107564" y="5161012"/>
            <a:ext cx="401320" cy="172085"/>
          </a:xfrm>
          <a:prstGeom prst="rect">
            <a:avLst/>
          </a:prstGeom>
        </p:spPr>
        <p:txBody>
          <a:bodyPr vert="horz" wrap="square" lIns="0" tIns="13970" rIns="0" bIns="0" rtlCol="0">
            <a:spAutoFit/>
          </a:bodyPr>
          <a:lstStyle/>
          <a:p>
            <a:pPr marL="12700">
              <a:lnSpc>
                <a:spcPct val="100000"/>
              </a:lnSpc>
              <a:spcBef>
                <a:spcPts val="110"/>
              </a:spcBef>
            </a:pPr>
            <a:r>
              <a:rPr sz="950" dirty="0">
                <a:latin typeface="Calibri"/>
                <a:cs typeface="Calibri"/>
              </a:rPr>
              <a:t>(a)</a:t>
            </a:r>
            <a:r>
              <a:rPr sz="950" spc="-25" dirty="0">
                <a:latin typeface="宋体"/>
                <a:cs typeface="宋体"/>
              </a:rPr>
              <a:t>引脚</a:t>
            </a:r>
            <a:endParaRPr sz="950">
              <a:latin typeface="宋体"/>
              <a:cs typeface="宋体"/>
            </a:endParaRPr>
          </a:p>
        </p:txBody>
      </p:sp>
      <p:sp>
        <p:nvSpPr>
          <p:cNvPr id="7" name="object 7"/>
          <p:cNvSpPr txBox="1"/>
          <p:nvPr/>
        </p:nvSpPr>
        <p:spPr>
          <a:xfrm>
            <a:off x="7333533" y="5161012"/>
            <a:ext cx="529590" cy="172085"/>
          </a:xfrm>
          <a:prstGeom prst="rect">
            <a:avLst/>
          </a:prstGeom>
        </p:spPr>
        <p:txBody>
          <a:bodyPr vert="horz" wrap="square" lIns="0" tIns="13970" rIns="0" bIns="0" rtlCol="0">
            <a:spAutoFit/>
          </a:bodyPr>
          <a:lstStyle/>
          <a:p>
            <a:pPr marL="12700">
              <a:lnSpc>
                <a:spcPct val="100000"/>
              </a:lnSpc>
              <a:spcBef>
                <a:spcPts val="110"/>
              </a:spcBef>
            </a:pPr>
            <a:r>
              <a:rPr sz="950" dirty="0">
                <a:latin typeface="Calibri"/>
                <a:cs typeface="Calibri"/>
              </a:rPr>
              <a:t>(b)</a:t>
            </a:r>
            <a:r>
              <a:rPr sz="950" spc="-20" dirty="0">
                <a:latin typeface="宋体"/>
                <a:cs typeface="宋体"/>
              </a:rPr>
              <a:t>共阴极</a:t>
            </a:r>
            <a:endParaRPr sz="950">
              <a:latin typeface="宋体"/>
              <a:cs typeface="宋体"/>
            </a:endParaRPr>
          </a:p>
        </p:txBody>
      </p:sp>
      <p:sp>
        <p:nvSpPr>
          <p:cNvPr id="8" name="object 8"/>
          <p:cNvSpPr txBox="1"/>
          <p:nvPr/>
        </p:nvSpPr>
        <p:spPr>
          <a:xfrm>
            <a:off x="9233137" y="5161012"/>
            <a:ext cx="516255" cy="172085"/>
          </a:xfrm>
          <a:prstGeom prst="rect">
            <a:avLst/>
          </a:prstGeom>
        </p:spPr>
        <p:txBody>
          <a:bodyPr vert="horz" wrap="square" lIns="0" tIns="13970" rIns="0" bIns="0" rtlCol="0">
            <a:spAutoFit/>
          </a:bodyPr>
          <a:lstStyle/>
          <a:p>
            <a:pPr marL="12700">
              <a:lnSpc>
                <a:spcPct val="100000"/>
              </a:lnSpc>
              <a:spcBef>
                <a:spcPts val="110"/>
              </a:spcBef>
            </a:pPr>
            <a:r>
              <a:rPr sz="950" spc="-10" dirty="0">
                <a:latin typeface="Calibri"/>
                <a:cs typeface="Calibri"/>
              </a:rPr>
              <a:t>(c)</a:t>
            </a:r>
            <a:r>
              <a:rPr sz="950" spc="-25" dirty="0">
                <a:latin typeface="宋体"/>
                <a:cs typeface="宋体"/>
              </a:rPr>
              <a:t>共阳极</a:t>
            </a:r>
            <a:endParaRPr sz="950">
              <a:latin typeface="宋体"/>
              <a:cs typeface="宋体"/>
            </a:endParaRPr>
          </a:p>
        </p:txBody>
      </p:sp>
      <p:grpSp>
        <p:nvGrpSpPr>
          <p:cNvPr id="9" name="object 9"/>
          <p:cNvGrpSpPr/>
          <p:nvPr/>
        </p:nvGrpSpPr>
        <p:grpSpPr>
          <a:xfrm>
            <a:off x="5924562" y="3525139"/>
            <a:ext cx="669290" cy="1366520"/>
            <a:chOff x="5924562" y="3525139"/>
            <a:chExt cx="669290" cy="1366520"/>
          </a:xfrm>
        </p:grpSpPr>
        <p:sp>
          <p:nvSpPr>
            <p:cNvPr id="10" name="object 10"/>
            <p:cNvSpPr/>
            <p:nvPr/>
          </p:nvSpPr>
          <p:spPr>
            <a:xfrm>
              <a:off x="5936627" y="3744468"/>
              <a:ext cx="645160" cy="929005"/>
            </a:xfrm>
            <a:custGeom>
              <a:avLst/>
              <a:gdLst/>
              <a:ahLst/>
              <a:cxnLst/>
              <a:rect l="l" t="t" r="r" b="b"/>
              <a:pathLst>
                <a:path w="645159" h="929004">
                  <a:moveTo>
                    <a:pt x="0" y="928877"/>
                  </a:moveTo>
                  <a:lnTo>
                    <a:pt x="0" y="0"/>
                  </a:lnTo>
                  <a:lnTo>
                    <a:pt x="644651" y="0"/>
                  </a:lnTo>
                  <a:lnTo>
                    <a:pt x="644651" y="928877"/>
                  </a:lnTo>
                  <a:lnTo>
                    <a:pt x="0" y="928877"/>
                  </a:lnTo>
                  <a:close/>
                </a:path>
              </a:pathLst>
            </a:custGeom>
            <a:ln w="23609">
              <a:solidFill>
                <a:srgbClr val="000000"/>
              </a:solidFill>
            </a:ln>
          </p:spPr>
          <p:txBody>
            <a:bodyPr wrap="square" lIns="0" tIns="0" rIns="0" bIns="0" rtlCol="0"/>
            <a:lstStyle/>
            <a:p>
              <a:endParaRPr/>
            </a:p>
          </p:txBody>
        </p:sp>
        <p:sp>
          <p:nvSpPr>
            <p:cNvPr id="11" name="object 11"/>
            <p:cNvSpPr/>
            <p:nvPr/>
          </p:nvSpPr>
          <p:spPr>
            <a:xfrm>
              <a:off x="5991491" y="3534156"/>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2" name="object 12"/>
            <p:cNvSpPr/>
            <p:nvPr/>
          </p:nvSpPr>
          <p:spPr>
            <a:xfrm>
              <a:off x="6119507" y="3534156"/>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3" name="object 13"/>
            <p:cNvSpPr/>
            <p:nvPr/>
          </p:nvSpPr>
          <p:spPr>
            <a:xfrm>
              <a:off x="6262763" y="3529584"/>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4" name="object 14"/>
            <p:cNvSpPr/>
            <p:nvPr/>
          </p:nvSpPr>
          <p:spPr>
            <a:xfrm>
              <a:off x="6390017" y="3529584"/>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5" name="object 15"/>
            <p:cNvSpPr/>
            <p:nvPr/>
          </p:nvSpPr>
          <p:spPr>
            <a:xfrm>
              <a:off x="6530225" y="3536442"/>
              <a:ext cx="2540" cy="209550"/>
            </a:xfrm>
            <a:custGeom>
              <a:avLst/>
              <a:gdLst/>
              <a:ahLst/>
              <a:cxnLst/>
              <a:rect l="l" t="t" r="r" b="b"/>
              <a:pathLst>
                <a:path w="2540" h="209550">
                  <a:moveTo>
                    <a:pt x="0" y="209550"/>
                  </a:moveTo>
                  <a:lnTo>
                    <a:pt x="2285" y="0"/>
                  </a:lnTo>
                </a:path>
              </a:pathLst>
            </a:custGeom>
            <a:ln w="8331">
              <a:solidFill>
                <a:srgbClr val="000000"/>
              </a:solidFill>
            </a:ln>
          </p:spPr>
          <p:txBody>
            <a:bodyPr wrap="square" lIns="0" tIns="0" rIns="0" bIns="0" rtlCol="0"/>
            <a:lstStyle/>
            <a:p>
              <a:endParaRPr/>
            </a:p>
          </p:txBody>
        </p:sp>
        <p:sp>
          <p:nvSpPr>
            <p:cNvPr id="16" name="object 16"/>
            <p:cNvSpPr/>
            <p:nvPr/>
          </p:nvSpPr>
          <p:spPr>
            <a:xfrm>
              <a:off x="5989967" y="4674108"/>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7" name="object 17"/>
            <p:cNvSpPr/>
            <p:nvPr/>
          </p:nvSpPr>
          <p:spPr>
            <a:xfrm>
              <a:off x="6117983" y="4674108"/>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8" name="object 18"/>
            <p:cNvSpPr/>
            <p:nvPr/>
          </p:nvSpPr>
          <p:spPr>
            <a:xfrm>
              <a:off x="6259715" y="4671060"/>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19" name="object 19"/>
            <p:cNvSpPr/>
            <p:nvPr/>
          </p:nvSpPr>
          <p:spPr>
            <a:xfrm>
              <a:off x="6387731" y="4671060"/>
              <a:ext cx="2540" cy="209550"/>
            </a:xfrm>
            <a:custGeom>
              <a:avLst/>
              <a:gdLst/>
              <a:ahLst/>
              <a:cxnLst/>
              <a:rect l="l" t="t" r="r" b="b"/>
              <a:pathLst>
                <a:path w="2539" h="209550">
                  <a:moveTo>
                    <a:pt x="0" y="209550"/>
                  </a:moveTo>
                  <a:lnTo>
                    <a:pt x="2285" y="0"/>
                  </a:lnTo>
                </a:path>
              </a:pathLst>
            </a:custGeom>
            <a:ln w="8331">
              <a:solidFill>
                <a:srgbClr val="000000"/>
              </a:solidFill>
            </a:ln>
          </p:spPr>
          <p:txBody>
            <a:bodyPr wrap="square" lIns="0" tIns="0" rIns="0" bIns="0" rtlCol="0"/>
            <a:lstStyle/>
            <a:p>
              <a:endParaRPr/>
            </a:p>
          </p:txBody>
        </p:sp>
        <p:sp>
          <p:nvSpPr>
            <p:cNvPr id="20" name="object 20"/>
            <p:cNvSpPr/>
            <p:nvPr/>
          </p:nvSpPr>
          <p:spPr>
            <a:xfrm>
              <a:off x="6528701" y="4677156"/>
              <a:ext cx="3175" cy="209550"/>
            </a:xfrm>
            <a:custGeom>
              <a:avLst/>
              <a:gdLst/>
              <a:ahLst/>
              <a:cxnLst/>
              <a:rect l="l" t="t" r="r" b="b"/>
              <a:pathLst>
                <a:path w="3175" h="209550">
                  <a:moveTo>
                    <a:pt x="0" y="209550"/>
                  </a:moveTo>
                  <a:lnTo>
                    <a:pt x="3047" y="0"/>
                  </a:lnTo>
                </a:path>
              </a:pathLst>
            </a:custGeom>
            <a:ln w="8331">
              <a:solidFill>
                <a:srgbClr val="000000"/>
              </a:solidFill>
            </a:ln>
          </p:spPr>
          <p:txBody>
            <a:bodyPr wrap="square" lIns="0" tIns="0" rIns="0" bIns="0" rtlCol="0"/>
            <a:lstStyle/>
            <a:p>
              <a:endParaRPr/>
            </a:p>
          </p:txBody>
        </p:sp>
      </p:grpSp>
      <p:sp>
        <p:nvSpPr>
          <p:cNvPr id="21" name="object 21"/>
          <p:cNvSpPr txBox="1"/>
          <p:nvPr/>
        </p:nvSpPr>
        <p:spPr>
          <a:xfrm>
            <a:off x="5933573" y="3345112"/>
            <a:ext cx="248920" cy="172085"/>
          </a:xfrm>
          <a:prstGeom prst="rect">
            <a:avLst/>
          </a:prstGeom>
        </p:spPr>
        <p:txBody>
          <a:bodyPr vert="horz" wrap="square" lIns="0" tIns="13970" rIns="0" bIns="0" rtlCol="0">
            <a:spAutoFit/>
          </a:bodyPr>
          <a:lstStyle/>
          <a:p>
            <a:pPr marL="38100">
              <a:lnSpc>
                <a:spcPct val="100000"/>
              </a:lnSpc>
              <a:spcBef>
                <a:spcPts val="110"/>
              </a:spcBef>
            </a:pPr>
            <a:r>
              <a:rPr sz="950" dirty="0">
                <a:latin typeface="Calibri"/>
                <a:cs typeface="Calibri"/>
              </a:rPr>
              <a:t>g</a:t>
            </a:r>
            <a:r>
              <a:rPr sz="950" spc="390" dirty="0">
                <a:latin typeface="Calibri"/>
                <a:cs typeface="Calibri"/>
              </a:rPr>
              <a:t> </a:t>
            </a:r>
            <a:r>
              <a:rPr sz="1425" spc="-75" baseline="-11695" dirty="0">
                <a:latin typeface="Calibri"/>
                <a:cs typeface="Calibri"/>
              </a:rPr>
              <a:t>f</a:t>
            </a:r>
            <a:endParaRPr sz="1425" baseline="-11695">
              <a:latin typeface="Calibri"/>
              <a:cs typeface="Calibri"/>
            </a:endParaRPr>
          </a:p>
        </p:txBody>
      </p:sp>
      <p:sp>
        <p:nvSpPr>
          <p:cNvPr id="22" name="object 22"/>
          <p:cNvSpPr txBox="1"/>
          <p:nvPr/>
        </p:nvSpPr>
        <p:spPr>
          <a:xfrm>
            <a:off x="6357484" y="3373310"/>
            <a:ext cx="231775" cy="172085"/>
          </a:xfrm>
          <a:prstGeom prst="rect">
            <a:avLst/>
          </a:prstGeom>
        </p:spPr>
        <p:txBody>
          <a:bodyPr vert="horz" wrap="square" lIns="0" tIns="13970" rIns="0" bIns="0" rtlCol="0">
            <a:spAutoFit/>
          </a:bodyPr>
          <a:lstStyle/>
          <a:p>
            <a:pPr marL="12700">
              <a:lnSpc>
                <a:spcPct val="100000"/>
              </a:lnSpc>
              <a:spcBef>
                <a:spcPts val="110"/>
              </a:spcBef>
            </a:pPr>
            <a:r>
              <a:rPr sz="950" dirty="0">
                <a:latin typeface="Calibri"/>
                <a:cs typeface="Calibri"/>
              </a:rPr>
              <a:t>a</a:t>
            </a:r>
            <a:r>
              <a:rPr sz="950" spc="440" dirty="0">
                <a:latin typeface="Calibri"/>
                <a:cs typeface="Calibri"/>
              </a:rPr>
              <a:t> </a:t>
            </a:r>
            <a:r>
              <a:rPr sz="950" spc="-60" dirty="0">
                <a:latin typeface="Calibri"/>
                <a:cs typeface="Calibri"/>
              </a:rPr>
              <a:t>b</a:t>
            </a:r>
            <a:endParaRPr sz="950">
              <a:latin typeface="Calibri"/>
              <a:cs typeface="Calibri"/>
            </a:endParaRPr>
          </a:p>
        </p:txBody>
      </p:sp>
      <p:sp>
        <p:nvSpPr>
          <p:cNvPr id="23" name="object 23"/>
          <p:cNvSpPr txBox="1"/>
          <p:nvPr/>
        </p:nvSpPr>
        <p:spPr>
          <a:xfrm>
            <a:off x="6181236" y="3290416"/>
            <a:ext cx="147955" cy="258445"/>
          </a:xfrm>
          <a:prstGeom prst="rect">
            <a:avLst/>
          </a:prstGeom>
        </p:spPr>
        <p:txBody>
          <a:bodyPr vert="vert270" wrap="square" lIns="0" tIns="0" rIns="0" bIns="0" rtlCol="0">
            <a:spAutoFit/>
          </a:bodyPr>
          <a:lstStyle/>
          <a:p>
            <a:pPr marL="12700">
              <a:lnSpc>
                <a:spcPts val="1010"/>
              </a:lnSpc>
            </a:pPr>
            <a:r>
              <a:rPr sz="950" spc="-25" dirty="0">
                <a:latin typeface="Calibri"/>
                <a:cs typeface="Calibri"/>
              </a:rPr>
              <a:t>GND</a:t>
            </a:r>
            <a:endParaRPr sz="950">
              <a:latin typeface="Calibri"/>
              <a:cs typeface="Calibri"/>
            </a:endParaRPr>
          </a:p>
        </p:txBody>
      </p:sp>
      <p:sp>
        <p:nvSpPr>
          <p:cNvPr id="24" name="object 24"/>
          <p:cNvSpPr txBox="1"/>
          <p:nvPr/>
        </p:nvSpPr>
        <p:spPr>
          <a:xfrm>
            <a:off x="5990977" y="4276276"/>
            <a:ext cx="86360" cy="172085"/>
          </a:xfrm>
          <a:prstGeom prst="rect">
            <a:avLst/>
          </a:prstGeom>
        </p:spPr>
        <p:txBody>
          <a:bodyPr vert="horz" wrap="square" lIns="0" tIns="13970" rIns="0" bIns="0" rtlCol="0">
            <a:spAutoFit/>
          </a:bodyPr>
          <a:lstStyle/>
          <a:p>
            <a:pPr marL="12700">
              <a:lnSpc>
                <a:spcPct val="100000"/>
              </a:lnSpc>
              <a:spcBef>
                <a:spcPts val="110"/>
              </a:spcBef>
            </a:pPr>
            <a:r>
              <a:rPr sz="950" spc="-50" dirty="0">
                <a:latin typeface="Calibri"/>
                <a:cs typeface="Calibri"/>
              </a:rPr>
              <a:t>e</a:t>
            </a:r>
            <a:endParaRPr sz="950">
              <a:latin typeface="Calibri"/>
              <a:cs typeface="Calibri"/>
            </a:endParaRPr>
          </a:p>
        </p:txBody>
      </p:sp>
      <p:sp>
        <p:nvSpPr>
          <p:cNvPr id="25" name="object 25"/>
          <p:cNvSpPr txBox="1"/>
          <p:nvPr/>
        </p:nvSpPr>
        <p:spPr>
          <a:xfrm>
            <a:off x="6196476" y="4890616"/>
            <a:ext cx="147955" cy="258445"/>
          </a:xfrm>
          <a:prstGeom prst="rect">
            <a:avLst/>
          </a:prstGeom>
        </p:spPr>
        <p:txBody>
          <a:bodyPr vert="vert270" wrap="square" lIns="0" tIns="0" rIns="0" bIns="0" rtlCol="0">
            <a:spAutoFit/>
          </a:bodyPr>
          <a:lstStyle/>
          <a:p>
            <a:pPr marL="12700">
              <a:lnSpc>
                <a:spcPts val="1010"/>
              </a:lnSpc>
            </a:pPr>
            <a:r>
              <a:rPr sz="950" spc="-25" dirty="0">
                <a:latin typeface="Calibri"/>
                <a:cs typeface="Calibri"/>
              </a:rPr>
              <a:t>GND</a:t>
            </a:r>
            <a:endParaRPr sz="950">
              <a:latin typeface="Calibri"/>
              <a:cs typeface="Calibri"/>
            </a:endParaRPr>
          </a:p>
        </p:txBody>
      </p:sp>
      <p:sp>
        <p:nvSpPr>
          <p:cNvPr id="26" name="object 26"/>
          <p:cNvSpPr txBox="1"/>
          <p:nvPr/>
        </p:nvSpPr>
        <p:spPr>
          <a:xfrm>
            <a:off x="6419983" y="3934138"/>
            <a:ext cx="90170" cy="172085"/>
          </a:xfrm>
          <a:prstGeom prst="rect">
            <a:avLst/>
          </a:prstGeom>
        </p:spPr>
        <p:txBody>
          <a:bodyPr vert="horz" wrap="square" lIns="0" tIns="13970" rIns="0" bIns="0" rtlCol="0">
            <a:spAutoFit/>
          </a:bodyPr>
          <a:lstStyle/>
          <a:p>
            <a:pPr marL="12700">
              <a:lnSpc>
                <a:spcPct val="100000"/>
              </a:lnSpc>
              <a:spcBef>
                <a:spcPts val="110"/>
              </a:spcBef>
            </a:pPr>
            <a:r>
              <a:rPr sz="950" spc="-50" dirty="0">
                <a:latin typeface="Calibri"/>
                <a:cs typeface="Calibri"/>
              </a:rPr>
              <a:t>b</a:t>
            </a:r>
            <a:endParaRPr sz="950">
              <a:latin typeface="Calibri"/>
              <a:cs typeface="Calibri"/>
            </a:endParaRPr>
          </a:p>
        </p:txBody>
      </p:sp>
      <p:sp>
        <p:nvSpPr>
          <p:cNvPr id="27" name="object 27"/>
          <p:cNvSpPr txBox="1"/>
          <p:nvPr/>
        </p:nvSpPr>
        <p:spPr>
          <a:xfrm>
            <a:off x="6128975" y="4008815"/>
            <a:ext cx="249554" cy="172085"/>
          </a:xfrm>
          <a:prstGeom prst="rect">
            <a:avLst/>
          </a:prstGeom>
        </p:spPr>
        <p:txBody>
          <a:bodyPr vert="horz" wrap="square" lIns="0" tIns="13970" rIns="0" bIns="0" rtlCol="0">
            <a:spAutoFit/>
          </a:bodyPr>
          <a:lstStyle/>
          <a:p>
            <a:pPr marL="12700" algn="ctr">
              <a:lnSpc>
                <a:spcPct val="100000"/>
              </a:lnSpc>
              <a:spcBef>
                <a:spcPts val="110"/>
              </a:spcBef>
            </a:pPr>
            <a:r>
              <a:rPr sz="950" spc="-50" dirty="0">
                <a:latin typeface="Calibri"/>
                <a:cs typeface="Calibri"/>
              </a:rPr>
              <a:t>g</a:t>
            </a:r>
            <a:endParaRPr sz="950">
              <a:latin typeface="Calibri"/>
              <a:cs typeface="Calibri"/>
            </a:endParaRPr>
          </a:p>
        </p:txBody>
      </p:sp>
      <p:sp>
        <p:nvSpPr>
          <p:cNvPr id="28" name="object 28"/>
          <p:cNvSpPr txBox="1"/>
          <p:nvPr/>
        </p:nvSpPr>
        <p:spPr>
          <a:xfrm>
            <a:off x="6443601" y="4437064"/>
            <a:ext cx="153670" cy="172085"/>
          </a:xfrm>
          <a:prstGeom prst="rect">
            <a:avLst/>
          </a:prstGeom>
        </p:spPr>
        <p:txBody>
          <a:bodyPr vert="horz" wrap="square" lIns="0" tIns="13970" rIns="0" bIns="0" rtlCol="0">
            <a:spAutoFit/>
          </a:bodyPr>
          <a:lstStyle/>
          <a:p>
            <a:pPr marL="12700">
              <a:lnSpc>
                <a:spcPct val="100000"/>
              </a:lnSpc>
              <a:spcBef>
                <a:spcPts val="110"/>
              </a:spcBef>
            </a:pPr>
            <a:r>
              <a:rPr sz="950" spc="-25" dirty="0">
                <a:latin typeface="Calibri"/>
                <a:cs typeface="Calibri"/>
              </a:rPr>
              <a:t>dp</a:t>
            </a:r>
            <a:endParaRPr sz="950">
              <a:latin typeface="Calibri"/>
              <a:cs typeface="Calibri"/>
            </a:endParaRPr>
          </a:p>
        </p:txBody>
      </p:sp>
      <p:sp>
        <p:nvSpPr>
          <p:cNvPr id="29" name="object 29"/>
          <p:cNvSpPr txBox="1"/>
          <p:nvPr/>
        </p:nvSpPr>
        <p:spPr>
          <a:xfrm>
            <a:off x="5953633" y="4866066"/>
            <a:ext cx="653415" cy="172085"/>
          </a:xfrm>
          <a:prstGeom prst="rect">
            <a:avLst/>
          </a:prstGeom>
        </p:spPr>
        <p:txBody>
          <a:bodyPr vert="horz" wrap="square" lIns="0" tIns="13970" rIns="0" bIns="0" rtlCol="0">
            <a:spAutoFit/>
          </a:bodyPr>
          <a:lstStyle/>
          <a:p>
            <a:pPr marL="12700">
              <a:lnSpc>
                <a:spcPct val="100000"/>
              </a:lnSpc>
              <a:spcBef>
                <a:spcPts val="110"/>
              </a:spcBef>
              <a:tabLst>
                <a:tab pos="411480" algn="l"/>
              </a:tabLst>
            </a:pPr>
            <a:r>
              <a:rPr sz="1425" baseline="2923" dirty="0">
                <a:latin typeface="Calibri"/>
                <a:cs typeface="Calibri"/>
              </a:rPr>
              <a:t>e</a:t>
            </a:r>
            <a:r>
              <a:rPr sz="1425" spc="405" baseline="2923" dirty="0">
                <a:latin typeface="Calibri"/>
                <a:cs typeface="Calibri"/>
              </a:rPr>
              <a:t> </a:t>
            </a:r>
            <a:r>
              <a:rPr sz="950" spc="-60" dirty="0">
                <a:latin typeface="Calibri"/>
                <a:cs typeface="Calibri"/>
              </a:rPr>
              <a:t>d</a:t>
            </a:r>
            <a:r>
              <a:rPr sz="950" dirty="0">
                <a:latin typeface="Calibri"/>
                <a:cs typeface="Calibri"/>
              </a:rPr>
              <a:t>	</a:t>
            </a:r>
            <a:r>
              <a:rPr sz="1425" baseline="2923" dirty="0">
                <a:latin typeface="Calibri"/>
                <a:cs typeface="Calibri"/>
              </a:rPr>
              <a:t>c</a:t>
            </a:r>
            <a:r>
              <a:rPr sz="1425" spc="262" baseline="2923" dirty="0">
                <a:latin typeface="Calibri"/>
                <a:cs typeface="Calibri"/>
              </a:rPr>
              <a:t> </a:t>
            </a:r>
            <a:r>
              <a:rPr sz="950" spc="-25" dirty="0">
                <a:latin typeface="Calibri"/>
                <a:cs typeface="Calibri"/>
              </a:rPr>
              <a:t>dp</a:t>
            </a:r>
            <a:endParaRPr sz="950">
              <a:latin typeface="Calibri"/>
              <a:cs typeface="Calibri"/>
            </a:endParaRPr>
          </a:p>
        </p:txBody>
      </p:sp>
      <p:sp>
        <p:nvSpPr>
          <p:cNvPr id="30" name="object 30"/>
          <p:cNvSpPr txBox="1"/>
          <p:nvPr/>
        </p:nvSpPr>
        <p:spPr>
          <a:xfrm>
            <a:off x="6014599" y="3920422"/>
            <a:ext cx="62865" cy="172085"/>
          </a:xfrm>
          <a:prstGeom prst="rect">
            <a:avLst/>
          </a:prstGeom>
        </p:spPr>
        <p:txBody>
          <a:bodyPr vert="horz" wrap="square" lIns="0" tIns="13970" rIns="0" bIns="0" rtlCol="0">
            <a:spAutoFit/>
          </a:bodyPr>
          <a:lstStyle/>
          <a:p>
            <a:pPr marL="12700">
              <a:lnSpc>
                <a:spcPct val="100000"/>
              </a:lnSpc>
              <a:spcBef>
                <a:spcPts val="110"/>
              </a:spcBef>
            </a:pPr>
            <a:r>
              <a:rPr sz="950" spc="-50" dirty="0">
                <a:latin typeface="Calibri"/>
                <a:cs typeface="Calibri"/>
              </a:rPr>
              <a:t>f</a:t>
            </a:r>
            <a:endParaRPr sz="950">
              <a:latin typeface="Calibri"/>
              <a:cs typeface="Calibri"/>
            </a:endParaRPr>
          </a:p>
        </p:txBody>
      </p:sp>
      <p:sp>
        <p:nvSpPr>
          <p:cNvPr id="31" name="object 31"/>
          <p:cNvSpPr txBox="1"/>
          <p:nvPr/>
        </p:nvSpPr>
        <p:spPr>
          <a:xfrm>
            <a:off x="6212719" y="4506398"/>
            <a:ext cx="90170" cy="172085"/>
          </a:xfrm>
          <a:prstGeom prst="rect">
            <a:avLst/>
          </a:prstGeom>
        </p:spPr>
        <p:txBody>
          <a:bodyPr vert="horz" wrap="square" lIns="0" tIns="13970" rIns="0" bIns="0" rtlCol="0">
            <a:spAutoFit/>
          </a:bodyPr>
          <a:lstStyle/>
          <a:p>
            <a:pPr marL="12700">
              <a:lnSpc>
                <a:spcPct val="100000"/>
              </a:lnSpc>
              <a:spcBef>
                <a:spcPts val="110"/>
              </a:spcBef>
            </a:pPr>
            <a:r>
              <a:rPr sz="950" spc="-50" dirty="0">
                <a:latin typeface="Calibri"/>
                <a:cs typeface="Calibri"/>
              </a:rPr>
              <a:t>d</a:t>
            </a:r>
            <a:endParaRPr sz="950">
              <a:latin typeface="Calibri"/>
              <a:cs typeface="Calibri"/>
            </a:endParaRPr>
          </a:p>
        </p:txBody>
      </p:sp>
      <p:sp>
        <p:nvSpPr>
          <p:cNvPr id="32" name="object 32"/>
          <p:cNvSpPr txBox="1"/>
          <p:nvPr/>
        </p:nvSpPr>
        <p:spPr>
          <a:xfrm>
            <a:off x="6425317" y="4274751"/>
            <a:ext cx="77470" cy="172085"/>
          </a:xfrm>
          <a:prstGeom prst="rect">
            <a:avLst/>
          </a:prstGeom>
        </p:spPr>
        <p:txBody>
          <a:bodyPr vert="horz" wrap="square" lIns="0" tIns="13970" rIns="0" bIns="0" rtlCol="0">
            <a:spAutoFit/>
          </a:bodyPr>
          <a:lstStyle/>
          <a:p>
            <a:pPr marL="12700">
              <a:lnSpc>
                <a:spcPct val="100000"/>
              </a:lnSpc>
              <a:spcBef>
                <a:spcPts val="110"/>
              </a:spcBef>
            </a:pPr>
            <a:r>
              <a:rPr sz="950" spc="-50" dirty="0">
                <a:latin typeface="Calibri"/>
                <a:cs typeface="Calibri"/>
              </a:rPr>
              <a:t>c</a:t>
            </a:r>
            <a:endParaRPr sz="950">
              <a:latin typeface="Calibri"/>
              <a:cs typeface="Calibri"/>
            </a:endParaRPr>
          </a:p>
        </p:txBody>
      </p:sp>
      <p:grpSp>
        <p:nvGrpSpPr>
          <p:cNvPr id="33" name="object 33"/>
          <p:cNvGrpSpPr/>
          <p:nvPr/>
        </p:nvGrpSpPr>
        <p:grpSpPr>
          <a:xfrm>
            <a:off x="6106801" y="3920490"/>
            <a:ext cx="389255" cy="731520"/>
            <a:chOff x="6106801" y="3920490"/>
            <a:chExt cx="389255" cy="731520"/>
          </a:xfrm>
        </p:grpSpPr>
        <p:pic>
          <p:nvPicPr>
            <p:cNvPr id="34" name="object 34"/>
            <p:cNvPicPr/>
            <p:nvPr/>
          </p:nvPicPr>
          <p:blipFill>
            <a:blip r:embed="rId2" cstate="print"/>
            <a:stretch>
              <a:fillRect/>
            </a:stretch>
          </p:blipFill>
          <p:spPr>
            <a:xfrm>
              <a:off x="6430778" y="4586865"/>
              <a:ext cx="64757" cy="64757"/>
            </a:xfrm>
            <a:prstGeom prst="rect">
              <a:avLst/>
            </a:prstGeom>
          </p:spPr>
        </p:pic>
        <p:sp>
          <p:nvSpPr>
            <p:cNvPr id="35" name="object 35"/>
            <p:cNvSpPr/>
            <p:nvPr/>
          </p:nvSpPr>
          <p:spPr>
            <a:xfrm>
              <a:off x="6128651" y="4526280"/>
              <a:ext cx="262255" cy="0"/>
            </a:xfrm>
            <a:custGeom>
              <a:avLst/>
              <a:gdLst/>
              <a:ahLst/>
              <a:cxnLst/>
              <a:rect l="l" t="t" r="r" b="b"/>
              <a:pathLst>
                <a:path w="262254">
                  <a:moveTo>
                    <a:pt x="0" y="0"/>
                  </a:moveTo>
                  <a:lnTo>
                    <a:pt x="262128" y="0"/>
                  </a:lnTo>
                </a:path>
              </a:pathLst>
            </a:custGeom>
            <a:ln w="20828">
              <a:solidFill>
                <a:srgbClr val="000000"/>
              </a:solidFill>
            </a:ln>
          </p:spPr>
          <p:txBody>
            <a:bodyPr wrap="square" lIns="0" tIns="0" rIns="0" bIns="0" rtlCol="0"/>
            <a:lstStyle/>
            <a:p>
              <a:endParaRPr/>
            </a:p>
          </p:txBody>
        </p:sp>
        <p:sp>
          <p:nvSpPr>
            <p:cNvPr id="36" name="object 36"/>
            <p:cNvSpPr/>
            <p:nvPr/>
          </p:nvSpPr>
          <p:spPr>
            <a:xfrm>
              <a:off x="6129413" y="4207002"/>
              <a:ext cx="262890" cy="0"/>
            </a:xfrm>
            <a:custGeom>
              <a:avLst/>
              <a:gdLst/>
              <a:ahLst/>
              <a:cxnLst/>
              <a:rect l="l" t="t" r="r" b="b"/>
              <a:pathLst>
                <a:path w="262889">
                  <a:moveTo>
                    <a:pt x="0" y="0"/>
                  </a:moveTo>
                  <a:lnTo>
                    <a:pt x="262890" y="0"/>
                  </a:lnTo>
                </a:path>
              </a:pathLst>
            </a:custGeom>
            <a:ln w="20828">
              <a:solidFill>
                <a:srgbClr val="000000"/>
              </a:solidFill>
            </a:ln>
          </p:spPr>
          <p:txBody>
            <a:bodyPr wrap="square" lIns="0" tIns="0" rIns="0" bIns="0" rtlCol="0"/>
            <a:lstStyle/>
            <a:p>
              <a:endParaRPr/>
            </a:p>
          </p:txBody>
        </p:sp>
        <p:sp>
          <p:nvSpPr>
            <p:cNvPr id="37" name="object 37"/>
            <p:cNvSpPr/>
            <p:nvPr/>
          </p:nvSpPr>
          <p:spPr>
            <a:xfrm>
              <a:off x="6117221" y="3923538"/>
              <a:ext cx="0" cy="262255"/>
            </a:xfrm>
            <a:custGeom>
              <a:avLst/>
              <a:gdLst/>
              <a:ahLst/>
              <a:cxnLst/>
              <a:rect l="l" t="t" r="r" b="b"/>
              <a:pathLst>
                <a:path h="262254">
                  <a:moveTo>
                    <a:pt x="0" y="0"/>
                  </a:moveTo>
                  <a:lnTo>
                    <a:pt x="0" y="262128"/>
                  </a:lnTo>
                </a:path>
              </a:pathLst>
            </a:custGeom>
            <a:ln w="20840">
              <a:solidFill>
                <a:srgbClr val="000000"/>
              </a:solidFill>
            </a:ln>
          </p:spPr>
          <p:txBody>
            <a:bodyPr wrap="square" lIns="0" tIns="0" rIns="0" bIns="0" rtlCol="0"/>
            <a:lstStyle/>
            <a:p>
              <a:endParaRPr/>
            </a:p>
          </p:txBody>
        </p:sp>
        <p:sp>
          <p:nvSpPr>
            <p:cNvPr id="38" name="object 38"/>
            <p:cNvSpPr/>
            <p:nvPr/>
          </p:nvSpPr>
          <p:spPr>
            <a:xfrm>
              <a:off x="6389255" y="3920490"/>
              <a:ext cx="0" cy="262255"/>
            </a:xfrm>
            <a:custGeom>
              <a:avLst/>
              <a:gdLst/>
              <a:ahLst/>
              <a:cxnLst/>
              <a:rect l="l" t="t" r="r" b="b"/>
              <a:pathLst>
                <a:path h="262254">
                  <a:moveTo>
                    <a:pt x="0" y="0"/>
                  </a:moveTo>
                  <a:lnTo>
                    <a:pt x="0" y="262128"/>
                  </a:lnTo>
                </a:path>
              </a:pathLst>
            </a:custGeom>
            <a:ln w="20840">
              <a:solidFill>
                <a:srgbClr val="000000"/>
              </a:solidFill>
            </a:ln>
          </p:spPr>
          <p:txBody>
            <a:bodyPr wrap="square" lIns="0" tIns="0" rIns="0" bIns="0" rtlCol="0"/>
            <a:lstStyle/>
            <a:p>
              <a:endParaRPr/>
            </a:p>
          </p:txBody>
        </p:sp>
        <p:sp>
          <p:nvSpPr>
            <p:cNvPr id="39" name="object 39"/>
            <p:cNvSpPr/>
            <p:nvPr/>
          </p:nvSpPr>
          <p:spPr>
            <a:xfrm>
              <a:off x="6385445" y="4239768"/>
              <a:ext cx="0" cy="262890"/>
            </a:xfrm>
            <a:custGeom>
              <a:avLst/>
              <a:gdLst/>
              <a:ahLst/>
              <a:cxnLst/>
              <a:rect l="l" t="t" r="r" b="b"/>
              <a:pathLst>
                <a:path h="262889">
                  <a:moveTo>
                    <a:pt x="0" y="0"/>
                  </a:moveTo>
                  <a:lnTo>
                    <a:pt x="0" y="262890"/>
                  </a:lnTo>
                </a:path>
              </a:pathLst>
            </a:custGeom>
            <a:ln w="20840">
              <a:solidFill>
                <a:srgbClr val="000000"/>
              </a:solidFill>
            </a:ln>
          </p:spPr>
          <p:txBody>
            <a:bodyPr wrap="square" lIns="0" tIns="0" rIns="0" bIns="0" rtlCol="0"/>
            <a:lstStyle/>
            <a:p>
              <a:endParaRPr/>
            </a:p>
          </p:txBody>
        </p:sp>
        <p:sp>
          <p:nvSpPr>
            <p:cNvPr id="40" name="object 40"/>
            <p:cNvSpPr/>
            <p:nvPr/>
          </p:nvSpPr>
          <p:spPr>
            <a:xfrm>
              <a:off x="6117221" y="4241292"/>
              <a:ext cx="0" cy="262255"/>
            </a:xfrm>
            <a:custGeom>
              <a:avLst/>
              <a:gdLst/>
              <a:ahLst/>
              <a:cxnLst/>
              <a:rect l="l" t="t" r="r" b="b"/>
              <a:pathLst>
                <a:path h="262254">
                  <a:moveTo>
                    <a:pt x="0" y="0"/>
                  </a:moveTo>
                  <a:lnTo>
                    <a:pt x="0" y="262128"/>
                  </a:lnTo>
                </a:path>
              </a:pathLst>
            </a:custGeom>
            <a:ln w="20840">
              <a:solidFill>
                <a:srgbClr val="000000"/>
              </a:solidFill>
            </a:ln>
          </p:spPr>
          <p:txBody>
            <a:bodyPr wrap="square" lIns="0" tIns="0" rIns="0" bIns="0" rtlCol="0"/>
            <a:lstStyle/>
            <a:p>
              <a:endParaRPr/>
            </a:p>
          </p:txBody>
        </p:sp>
      </p:grpSp>
      <p:grpSp>
        <p:nvGrpSpPr>
          <p:cNvPr id="41" name="object 41"/>
          <p:cNvGrpSpPr/>
          <p:nvPr/>
        </p:nvGrpSpPr>
        <p:grpSpPr>
          <a:xfrm>
            <a:off x="7079253" y="3545211"/>
            <a:ext cx="1324610" cy="1410970"/>
            <a:chOff x="7079253" y="3545211"/>
            <a:chExt cx="1324610" cy="1410970"/>
          </a:xfrm>
        </p:grpSpPr>
        <p:sp>
          <p:nvSpPr>
            <p:cNvPr id="42" name="object 42"/>
            <p:cNvSpPr/>
            <p:nvPr/>
          </p:nvSpPr>
          <p:spPr>
            <a:xfrm>
              <a:off x="8314067" y="3624072"/>
              <a:ext cx="0" cy="1327150"/>
            </a:xfrm>
            <a:custGeom>
              <a:avLst/>
              <a:gdLst/>
              <a:ahLst/>
              <a:cxnLst/>
              <a:rect l="l" t="t" r="r" b="b"/>
              <a:pathLst>
                <a:path h="1327150">
                  <a:moveTo>
                    <a:pt x="0" y="1326641"/>
                  </a:moveTo>
                  <a:lnTo>
                    <a:pt x="0" y="0"/>
                  </a:lnTo>
                </a:path>
              </a:pathLst>
            </a:custGeom>
            <a:ln w="5549">
              <a:solidFill>
                <a:srgbClr val="000000"/>
              </a:solidFill>
            </a:ln>
          </p:spPr>
          <p:txBody>
            <a:bodyPr wrap="square" lIns="0" tIns="0" rIns="0" bIns="0" rtlCol="0"/>
            <a:lstStyle/>
            <a:p>
              <a:endParaRPr/>
            </a:p>
          </p:txBody>
        </p:sp>
        <p:sp>
          <p:nvSpPr>
            <p:cNvPr id="43" name="object 43"/>
            <p:cNvSpPr/>
            <p:nvPr/>
          </p:nvSpPr>
          <p:spPr>
            <a:xfrm>
              <a:off x="8224901" y="4949190"/>
              <a:ext cx="174625" cy="2540"/>
            </a:xfrm>
            <a:custGeom>
              <a:avLst/>
              <a:gdLst/>
              <a:ahLst/>
              <a:cxnLst/>
              <a:rect l="l" t="t" r="r" b="b"/>
              <a:pathLst>
                <a:path w="174625" h="2539">
                  <a:moveTo>
                    <a:pt x="174498" y="2286"/>
                  </a:moveTo>
                  <a:lnTo>
                    <a:pt x="0" y="0"/>
                  </a:lnTo>
                </a:path>
              </a:pathLst>
            </a:custGeom>
            <a:ln w="8331">
              <a:solidFill>
                <a:srgbClr val="000000"/>
              </a:solidFill>
            </a:ln>
          </p:spPr>
          <p:txBody>
            <a:bodyPr wrap="square" lIns="0" tIns="0" rIns="0" bIns="0" rtlCol="0"/>
            <a:lstStyle/>
            <a:p>
              <a:endParaRPr/>
            </a:p>
          </p:txBody>
        </p:sp>
        <p:sp>
          <p:nvSpPr>
            <p:cNvPr id="44" name="object 44"/>
            <p:cNvSpPr/>
            <p:nvPr/>
          </p:nvSpPr>
          <p:spPr>
            <a:xfrm>
              <a:off x="7920863" y="3621024"/>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45" name="object 45"/>
            <p:cNvSpPr/>
            <p:nvPr/>
          </p:nvSpPr>
          <p:spPr>
            <a:xfrm>
              <a:off x="7139051" y="3620262"/>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46" name="object 46"/>
            <p:cNvSpPr/>
            <p:nvPr/>
          </p:nvSpPr>
          <p:spPr>
            <a:xfrm>
              <a:off x="7563485" y="3622548"/>
              <a:ext cx="363855" cy="0"/>
            </a:xfrm>
            <a:custGeom>
              <a:avLst/>
              <a:gdLst/>
              <a:ahLst/>
              <a:cxnLst/>
              <a:rect l="l" t="t" r="r" b="b"/>
              <a:pathLst>
                <a:path w="363854">
                  <a:moveTo>
                    <a:pt x="363474" y="0"/>
                  </a:moveTo>
                  <a:lnTo>
                    <a:pt x="0" y="0"/>
                  </a:lnTo>
                </a:path>
              </a:pathLst>
            </a:custGeom>
            <a:ln w="8331">
              <a:solidFill>
                <a:srgbClr val="000000"/>
              </a:solidFill>
            </a:ln>
          </p:spPr>
          <p:txBody>
            <a:bodyPr wrap="square" lIns="0" tIns="0" rIns="0" bIns="0" rtlCol="0"/>
            <a:lstStyle/>
            <a:p>
              <a:endParaRPr/>
            </a:p>
          </p:txBody>
        </p:sp>
        <p:sp>
          <p:nvSpPr>
            <p:cNvPr id="47" name="object 47"/>
            <p:cNvSpPr/>
            <p:nvPr/>
          </p:nvSpPr>
          <p:spPr>
            <a:xfrm>
              <a:off x="7807325" y="3557016"/>
              <a:ext cx="113030" cy="130810"/>
            </a:xfrm>
            <a:custGeom>
              <a:avLst/>
              <a:gdLst/>
              <a:ahLst/>
              <a:cxnLst/>
              <a:rect l="l" t="t" r="r" b="b"/>
              <a:pathLst>
                <a:path w="113029" h="130810">
                  <a:moveTo>
                    <a:pt x="0" y="0"/>
                  </a:moveTo>
                  <a:lnTo>
                    <a:pt x="112776" y="64769"/>
                  </a:lnTo>
                  <a:lnTo>
                    <a:pt x="0" y="130302"/>
                  </a:lnTo>
                  <a:lnTo>
                    <a:pt x="0" y="0"/>
                  </a:lnTo>
                  <a:close/>
                </a:path>
              </a:pathLst>
            </a:custGeom>
            <a:ln w="23609">
              <a:solidFill>
                <a:srgbClr val="000000"/>
              </a:solidFill>
            </a:ln>
          </p:spPr>
          <p:txBody>
            <a:bodyPr wrap="square" lIns="0" tIns="0" rIns="0" bIns="0" rtlCol="0"/>
            <a:lstStyle/>
            <a:p>
              <a:endParaRPr/>
            </a:p>
          </p:txBody>
        </p:sp>
        <p:sp>
          <p:nvSpPr>
            <p:cNvPr id="48" name="object 48"/>
            <p:cNvSpPr/>
            <p:nvPr/>
          </p:nvSpPr>
          <p:spPr>
            <a:xfrm>
              <a:off x="7923161" y="3554730"/>
              <a:ext cx="2540" cy="136525"/>
            </a:xfrm>
            <a:custGeom>
              <a:avLst/>
              <a:gdLst/>
              <a:ahLst/>
              <a:cxnLst/>
              <a:rect l="l" t="t" r="r" b="b"/>
              <a:pathLst>
                <a:path w="2540" h="136525">
                  <a:moveTo>
                    <a:pt x="2285" y="136398"/>
                  </a:moveTo>
                  <a:lnTo>
                    <a:pt x="0" y="0"/>
                  </a:lnTo>
                </a:path>
              </a:pathLst>
            </a:custGeom>
            <a:ln w="8331">
              <a:solidFill>
                <a:srgbClr val="000000"/>
              </a:solidFill>
            </a:ln>
          </p:spPr>
          <p:txBody>
            <a:bodyPr wrap="square" lIns="0" tIns="0" rIns="0" bIns="0" rtlCol="0"/>
            <a:lstStyle/>
            <a:p>
              <a:endParaRPr/>
            </a:p>
          </p:txBody>
        </p:sp>
        <p:sp>
          <p:nvSpPr>
            <p:cNvPr id="49" name="object 49"/>
            <p:cNvSpPr/>
            <p:nvPr/>
          </p:nvSpPr>
          <p:spPr>
            <a:xfrm>
              <a:off x="7393571" y="3594354"/>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50" name="object 50"/>
            <p:cNvPicPr/>
            <p:nvPr/>
          </p:nvPicPr>
          <p:blipFill>
            <a:blip r:embed="rId3" cstate="print"/>
            <a:stretch>
              <a:fillRect/>
            </a:stretch>
          </p:blipFill>
          <p:spPr>
            <a:xfrm>
              <a:off x="7081539" y="3584073"/>
              <a:ext cx="65519" cy="64757"/>
            </a:xfrm>
            <a:prstGeom prst="rect">
              <a:avLst/>
            </a:prstGeom>
          </p:spPr>
        </p:pic>
        <p:sp>
          <p:nvSpPr>
            <p:cNvPr id="51" name="object 51"/>
            <p:cNvSpPr/>
            <p:nvPr/>
          </p:nvSpPr>
          <p:spPr>
            <a:xfrm>
              <a:off x="7917827" y="3797808"/>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52" name="object 52"/>
            <p:cNvSpPr/>
            <p:nvPr/>
          </p:nvSpPr>
          <p:spPr>
            <a:xfrm>
              <a:off x="7134491" y="3796284"/>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53" name="object 53"/>
            <p:cNvSpPr/>
            <p:nvPr/>
          </p:nvSpPr>
          <p:spPr>
            <a:xfrm>
              <a:off x="7559687" y="3800856"/>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54" name="object 54"/>
            <p:cNvSpPr/>
            <p:nvPr/>
          </p:nvSpPr>
          <p:spPr>
            <a:xfrm>
              <a:off x="7805039" y="3734562"/>
              <a:ext cx="112395" cy="130810"/>
            </a:xfrm>
            <a:custGeom>
              <a:avLst/>
              <a:gdLst/>
              <a:ahLst/>
              <a:cxnLst/>
              <a:rect l="l" t="t" r="r" b="b"/>
              <a:pathLst>
                <a:path w="112395" h="130810">
                  <a:moveTo>
                    <a:pt x="0" y="0"/>
                  </a:moveTo>
                  <a:lnTo>
                    <a:pt x="112014" y="65531"/>
                  </a:lnTo>
                  <a:lnTo>
                    <a:pt x="0" y="130302"/>
                  </a:lnTo>
                  <a:lnTo>
                    <a:pt x="0" y="0"/>
                  </a:lnTo>
                  <a:close/>
                </a:path>
              </a:pathLst>
            </a:custGeom>
            <a:ln w="23609">
              <a:solidFill>
                <a:srgbClr val="000000"/>
              </a:solidFill>
            </a:ln>
          </p:spPr>
          <p:txBody>
            <a:bodyPr wrap="square" lIns="0" tIns="0" rIns="0" bIns="0" rtlCol="0"/>
            <a:lstStyle/>
            <a:p>
              <a:endParaRPr/>
            </a:p>
          </p:txBody>
        </p:sp>
        <p:sp>
          <p:nvSpPr>
            <p:cNvPr id="55" name="object 55"/>
            <p:cNvSpPr/>
            <p:nvPr/>
          </p:nvSpPr>
          <p:spPr>
            <a:xfrm>
              <a:off x="7919339" y="3732276"/>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56" name="object 56"/>
            <p:cNvSpPr/>
            <p:nvPr/>
          </p:nvSpPr>
          <p:spPr>
            <a:xfrm>
              <a:off x="7390523" y="3770376"/>
              <a:ext cx="163195" cy="55880"/>
            </a:xfrm>
            <a:custGeom>
              <a:avLst/>
              <a:gdLst/>
              <a:ahLst/>
              <a:cxnLst/>
              <a:rect l="l" t="t" r="r" b="b"/>
              <a:pathLst>
                <a:path w="163195" h="55879">
                  <a:moveTo>
                    <a:pt x="0" y="55625"/>
                  </a:moveTo>
                  <a:lnTo>
                    <a:pt x="0" y="0"/>
                  </a:lnTo>
                  <a:lnTo>
                    <a:pt x="163068" y="0"/>
                  </a:lnTo>
                  <a:lnTo>
                    <a:pt x="163068" y="55625"/>
                  </a:lnTo>
                  <a:lnTo>
                    <a:pt x="0" y="55625"/>
                  </a:lnTo>
                  <a:close/>
                </a:path>
              </a:pathLst>
            </a:custGeom>
            <a:ln w="23609">
              <a:solidFill>
                <a:srgbClr val="000000"/>
              </a:solidFill>
            </a:ln>
          </p:spPr>
          <p:txBody>
            <a:bodyPr wrap="square" lIns="0" tIns="0" rIns="0" bIns="0" rtlCol="0"/>
            <a:lstStyle/>
            <a:p>
              <a:endParaRPr/>
            </a:p>
          </p:txBody>
        </p:sp>
        <p:pic>
          <p:nvPicPr>
            <p:cNvPr id="57" name="object 57"/>
            <p:cNvPicPr/>
            <p:nvPr/>
          </p:nvPicPr>
          <p:blipFill>
            <a:blip r:embed="rId4" cstate="print"/>
            <a:stretch>
              <a:fillRect/>
            </a:stretch>
          </p:blipFill>
          <p:spPr>
            <a:xfrm>
              <a:off x="7079253" y="3760095"/>
              <a:ext cx="64757" cy="65519"/>
            </a:xfrm>
            <a:prstGeom prst="rect">
              <a:avLst/>
            </a:prstGeom>
          </p:spPr>
        </p:pic>
        <p:sp>
          <p:nvSpPr>
            <p:cNvPr id="58" name="object 58"/>
            <p:cNvSpPr/>
            <p:nvPr/>
          </p:nvSpPr>
          <p:spPr>
            <a:xfrm>
              <a:off x="7919351" y="3966972"/>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59" name="object 59"/>
            <p:cNvSpPr/>
            <p:nvPr/>
          </p:nvSpPr>
          <p:spPr>
            <a:xfrm>
              <a:off x="7136015" y="3964686"/>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60" name="object 60"/>
            <p:cNvSpPr/>
            <p:nvPr/>
          </p:nvSpPr>
          <p:spPr>
            <a:xfrm>
              <a:off x="7562735" y="3968496"/>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61" name="object 61"/>
            <p:cNvSpPr/>
            <p:nvPr/>
          </p:nvSpPr>
          <p:spPr>
            <a:xfrm>
              <a:off x="7805801" y="3902964"/>
              <a:ext cx="113030" cy="130810"/>
            </a:xfrm>
            <a:custGeom>
              <a:avLst/>
              <a:gdLst/>
              <a:ahLst/>
              <a:cxnLst/>
              <a:rect l="l" t="t" r="r" b="b"/>
              <a:pathLst>
                <a:path w="113029" h="130810">
                  <a:moveTo>
                    <a:pt x="0" y="0"/>
                  </a:moveTo>
                  <a:lnTo>
                    <a:pt x="112776" y="64769"/>
                  </a:lnTo>
                  <a:lnTo>
                    <a:pt x="0" y="130302"/>
                  </a:lnTo>
                  <a:lnTo>
                    <a:pt x="0" y="0"/>
                  </a:lnTo>
                  <a:close/>
                </a:path>
              </a:pathLst>
            </a:custGeom>
            <a:ln w="23609">
              <a:solidFill>
                <a:srgbClr val="000000"/>
              </a:solidFill>
            </a:ln>
          </p:spPr>
          <p:txBody>
            <a:bodyPr wrap="square" lIns="0" tIns="0" rIns="0" bIns="0" rtlCol="0"/>
            <a:lstStyle/>
            <a:p>
              <a:endParaRPr/>
            </a:p>
          </p:txBody>
        </p:sp>
        <p:sp>
          <p:nvSpPr>
            <p:cNvPr id="62" name="object 62"/>
            <p:cNvSpPr/>
            <p:nvPr/>
          </p:nvSpPr>
          <p:spPr>
            <a:xfrm>
              <a:off x="7920863" y="3900678"/>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63" name="object 63"/>
            <p:cNvSpPr/>
            <p:nvPr/>
          </p:nvSpPr>
          <p:spPr>
            <a:xfrm>
              <a:off x="7392047" y="3938778"/>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64" name="object 64"/>
            <p:cNvPicPr/>
            <p:nvPr/>
          </p:nvPicPr>
          <p:blipFill>
            <a:blip r:embed="rId5" cstate="print"/>
            <a:stretch>
              <a:fillRect/>
            </a:stretch>
          </p:blipFill>
          <p:spPr>
            <a:xfrm>
              <a:off x="7080777" y="3930021"/>
              <a:ext cx="64757" cy="64757"/>
            </a:xfrm>
            <a:prstGeom prst="rect">
              <a:avLst/>
            </a:prstGeom>
          </p:spPr>
        </p:pic>
        <p:sp>
          <p:nvSpPr>
            <p:cNvPr id="65" name="object 65"/>
            <p:cNvSpPr/>
            <p:nvPr/>
          </p:nvSpPr>
          <p:spPr>
            <a:xfrm>
              <a:off x="7917827" y="4142232"/>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66" name="object 66"/>
            <p:cNvSpPr/>
            <p:nvPr/>
          </p:nvSpPr>
          <p:spPr>
            <a:xfrm>
              <a:off x="7134491" y="4140708"/>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67" name="object 67"/>
            <p:cNvSpPr/>
            <p:nvPr/>
          </p:nvSpPr>
          <p:spPr>
            <a:xfrm>
              <a:off x="7559687" y="4143756"/>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68" name="object 68"/>
            <p:cNvSpPr/>
            <p:nvPr/>
          </p:nvSpPr>
          <p:spPr>
            <a:xfrm>
              <a:off x="7805039" y="4077462"/>
              <a:ext cx="112395" cy="131445"/>
            </a:xfrm>
            <a:custGeom>
              <a:avLst/>
              <a:gdLst/>
              <a:ahLst/>
              <a:cxnLst/>
              <a:rect l="l" t="t" r="r" b="b"/>
              <a:pathLst>
                <a:path w="112395" h="131445">
                  <a:moveTo>
                    <a:pt x="0" y="0"/>
                  </a:moveTo>
                  <a:lnTo>
                    <a:pt x="112014" y="65531"/>
                  </a:lnTo>
                  <a:lnTo>
                    <a:pt x="0" y="131064"/>
                  </a:lnTo>
                  <a:lnTo>
                    <a:pt x="0" y="0"/>
                  </a:lnTo>
                  <a:close/>
                </a:path>
              </a:pathLst>
            </a:custGeom>
            <a:ln w="23609">
              <a:solidFill>
                <a:srgbClr val="000000"/>
              </a:solidFill>
            </a:ln>
          </p:spPr>
          <p:txBody>
            <a:bodyPr wrap="square" lIns="0" tIns="0" rIns="0" bIns="0" rtlCol="0"/>
            <a:lstStyle/>
            <a:p>
              <a:endParaRPr/>
            </a:p>
          </p:txBody>
        </p:sp>
        <p:sp>
          <p:nvSpPr>
            <p:cNvPr id="69" name="object 69"/>
            <p:cNvSpPr/>
            <p:nvPr/>
          </p:nvSpPr>
          <p:spPr>
            <a:xfrm>
              <a:off x="7919339" y="4075176"/>
              <a:ext cx="1905" cy="137160"/>
            </a:xfrm>
            <a:custGeom>
              <a:avLst/>
              <a:gdLst/>
              <a:ahLst/>
              <a:cxnLst/>
              <a:rect l="l" t="t" r="r" b="b"/>
              <a:pathLst>
                <a:path w="1904" h="137160">
                  <a:moveTo>
                    <a:pt x="1524" y="137160"/>
                  </a:moveTo>
                  <a:lnTo>
                    <a:pt x="0" y="0"/>
                  </a:lnTo>
                </a:path>
              </a:pathLst>
            </a:custGeom>
            <a:ln w="8331">
              <a:solidFill>
                <a:srgbClr val="000000"/>
              </a:solidFill>
            </a:ln>
          </p:spPr>
          <p:txBody>
            <a:bodyPr wrap="square" lIns="0" tIns="0" rIns="0" bIns="0" rtlCol="0"/>
            <a:lstStyle/>
            <a:p>
              <a:endParaRPr/>
            </a:p>
          </p:txBody>
        </p:sp>
        <p:sp>
          <p:nvSpPr>
            <p:cNvPr id="70" name="object 70"/>
            <p:cNvSpPr/>
            <p:nvPr/>
          </p:nvSpPr>
          <p:spPr>
            <a:xfrm>
              <a:off x="7390523" y="4114800"/>
              <a:ext cx="163195" cy="55880"/>
            </a:xfrm>
            <a:custGeom>
              <a:avLst/>
              <a:gdLst/>
              <a:ahLst/>
              <a:cxnLst/>
              <a:rect l="l" t="t" r="r" b="b"/>
              <a:pathLst>
                <a:path w="163195" h="55879">
                  <a:moveTo>
                    <a:pt x="0" y="55625"/>
                  </a:moveTo>
                  <a:lnTo>
                    <a:pt x="0" y="0"/>
                  </a:lnTo>
                  <a:lnTo>
                    <a:pt x="163068" y="0"/>
                  </a:lnTo>
                  <a:lnTo>
                    <a:pt x="163068" y="55625"/>
                  </a:lnTo>
                  <a:lnTo>
                    <a:pt x="0" y="55625"/>
                  </a:lnTo>
                  <a:close/>
                </a:path>
              </a:pathLst>
            </a:custGeom>
            <a:ln w="23609">
              <a:solidFill>
                <a:srgbClr val="000000"/>
              </a:solidFill>
            </a:ln>
          </p:spPr>
          <p:txBody>
            <a:bodyPr wrap="square" lIns="0" tIns="0" rIns="0" bIns="0" rtlCol="0"/>
            <a:lstStyle/>
            <a:p>
              <a:endParaRPr/>
            </a:p>
          </p:txBody>
        </p:sp>
        <p:pic>
          <p:nvPicPr>
            <p:cNvPr id="71" name="object 71"/>
            <p:cNvPicPr/>
            <p:nvPr/>
          </p:nvPicPr>
          <p:blipFill>
            <a:blip r:embed="rId6" cstate="print"/>
            <a:stretch>
              <a:fillRect/>
            </a:stretch>
          </p:blipFill>
          <p:spPr>
            <a:xfrm>
              <a:off x="7079253" y="4104519"/>
              <a:ext cx="64757" cy="65519"/>
            </a:xfrm>
            <a:prstGeom prst="rect">
              <a:avLst/>
            </a:prstGeom>
          </p:spPr>
        </p:pic>
        <p:sp>
          <p:nvSpPr>
            <p:cNvPr id="72" name="object 72"/>
            <p:cNvSpPr/>
            <p:nvPr/>
          </p:nvSpPr>
          <p:spPr>
            <a:xfrm>
              <a:off x="7917827" y="4317492"/>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73" name="object 73"/>
            <p:cNvSpPr/>
            <p:nvPr/>
          </p:nvSpPr>
          <p:spPr>
            <a:xfrm>
              <a:off x="7134491" y="4315968"/>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74" name="object 74"/>
            <p:cNvSpPr/>
            <p:nvPr/>
          </p:nvSpPr>
          <p:spPr>
            <a:xfrm>
              <a:off x="7559687" y="4318254"/>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75" name="object 75"/>
            <p:cNvSpPr/>
            <p:nvPr/>
          </p:nvSpPr>
          <p:spPr>
            <a:xfrm>
              <a:off x="7805039" y="4252722"/>
              <a:ext cx="112395" cy="132080"/>
            </a:xfrm>
            <a:custGeom>
              <a:avLst/>
              <a:gdLst/>
              <a:ahLst/>
              <a:cxnLst/>
              <a:rect l="l" t="t" r="r" b="b"/>
              <a:pathLst>
                <a:path w="112395" h="132079">
                  <a:moveTo>
                    <a:pt x="0" y="0"/>
                  </a:moveTo>
                  <a:lnTo>
                    <a:pt x="112014" y="65531"/>
                  </a:lnTo>
                  <a:lnTo>
                    <a:pt x="0" y="131826"/>
                  </a:lnTo>
                  <a:lnTo>
                    <a:pt x="0" y="0"/>
                  </a:lnTo>
                  <a:close/>
                </a:path>
              </a:pathLst>
            </a:custGeom>
            <a:ln w="23609">
              <a:solidFill>
                <a:srgbClr val="000000"/>
              </a:solidFill>
            </a:ln>
          </p:spPr>
          <p:txBody>
            <a:bodyPr wrap="square" lIns="0" tIns="0" rIns="0" bIns="0" rtlCol="0"/>
            <a:lstStyle/>
            <a:p>
              <a:endParaRPr/>
            </a:p>
          </p:txBody>
        </p:sp>
        <p:sp>
          <p:nvSpPr>
            <p:cNvPr id="76" name="object 76"/>
            <p:cNvSpPr/>
            <p:nvPr/>
          </p:nvSpPr>
          <p:spPr>
            <a:xfrm>
              <a:off x="7919339" y="4250436"/>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77" name="object 77"/>
            <p:cNvSpPr/>
            <p:nvPr/>
          </p:nvSpPr>
          <p:spPr>
            <a:xfrm>
              <a:off x="7390523" y="4290060"/>
              <a:ext cx="163195" cy="55880"/>
            </a:xfrm>
            <a:custGeom>
              <a:avLst/>
              <a:gdLst/>
              <a:ahLst/>
              <a:cxnLst/>
              <a:rect l="l" t="t" r="r" b="b"/>
              <a:pathLst>
                <a:path w="163195" h="55879">
                  <a:moveTo>
                    <a:pt x="0" y="55625"/>
                  </a:moveTo>
                  <a:lnTo>
                    <a:pt x="0" y="0"/>
                  </a:lnTo>
                  <a:lnTo>
                    <a:pt x="163068" y="0"/>
                  </a:lnTo>
                  <a:lnTo>
                    <a:pt x="163068" y="55625"/>
                  </a:lnTo>
                  <a:lnTo>
                    <a:pt x="0" y="55625"/>
                  </a:lnTo>
                  <a:close/>
                </a:path>
              </a:pathLst>
            </a:custGeom>
            <a:ln w="23609">
              <a:solidFill>
                <a:srgbClr val="000000"/>
              </a:solidFill>
            </a:ln>
          </p:spPr>
          <p:txBody>
            <a:bodyPr wrap="square" lIns="0" tIns="0" rIns="0" bIns="0" rtlCol="0"/>
            <a:lstStyle/>
            <a:p>
              <a:endParaRPr/>
            </a:p>
          </p:txBody>
        </p:sp>
        <p:pic>
          <p:nvPicPr>
            <p:cNvPr id="78" name="object 78"/>
            <p:cNvPicPr/>
            <p:nvPr/>
          </p:nvPicPr>
          <p:blipFill>
            <a:blip r:embed="rId7" cstate="print"/>
            <a:stretch>
              <a:fillRect/>
            </a:stretch>
          </p:blipFill>
          <p:spPr>
            <a:xfrm>
              <a:off x="7079253" y="4279779"/>
              <a:ext cx="64757" cy="65519"/>
            </a:xfrm>
            <a:prstGeom prst="rect">
              <a:avLst/>
            </a:prstGeom>
          </p:spPr>
        </p:pic>
        <p:sp>
          <p:nvSpPr>
            <p:cNvPr id="79" name="object 79"/>
            <p:cNvSpPr/>
            <p:nvPr/>
          </p:nvSpPr>
          <p:spPr>
            <a:xfrm>
              <a:off x="7919351" y="4485132"/>
              <a:ext cx="394970" cy="5715"/>
            </a:xfrm>
            <a:custGeom>
              <a:avLst/>
              <a:gdLst/>
              <a:ahLst/>
              <a:cxnLst/>
              <a:rect l="l" t="t" r="r" b="b"/>
              <a:pathLst>
                <a:path w="394970" h="5714">
                  <a:moveTo>
                    <a:pt x="394716" y="5333"/>
                  </a:moveTo>
                  <a:lnTo>
                    <a:pt x="0" y="0"/>
                  </a:lnTo>
                </a:path>
              </a:pathLst>
            </a:custGeom>
            <a:ln w="8331">
              <a:solidFill>
                <a:srgbClr val="000000"/>
              </a:solidFill>
            </a:ln>
          </p:spPr>
          <p:txBody>
            <a:bodyPr wrap="square" lIns="0" tIns="0" rIns="0" bIns="0" rtlCol="0"/>
            <a:lstStyle/>
            <a:p>
              <a:endParaRPr/>
            </a:p>
          </p:txBody>
        </p:sp>
        <p:sp>
          <p:nvSpPr>
            <p:cNvPr id="80" name="object 80"/>
            <p:cNvSpPr/>
            <p:nvPr/>
          </p:nvSpPr>
          <p:spPr>
            <a:xfrm>
              <a:off x="7136015" y="4483608"/>
              <a:ext cx="252729" cy="2540"/>
            </a:xfrm>
            <a:custGeom>
              <a:avLst/>
              <a:gdLst/>
              <a:ahLst/>
              <a:cxnLst/>
              <a:rect l="l" t="t" r="r" b="b"/>
              <a:pathLst>
                <a:path w="252729" h="2539">
                  <a:moveTo>
                    <a:pt x="252222" y="2285"/>
                  </a:moveTo>
                  <a:lnTo>
                    <a:pt x="0" y="0"/>
                  </a:lnTo>
                </a:path>
              </a:pathLst>
            </a:custGeom>
            <a:ln w="8331">
              <a:solidFill>
                <a:srgbClr val="000000"/>
              </a:solidFill>
            </a:ln>
          </p:spPr>
          <p:txBody>
            <a:bodyPr wrap="square" lIns="0" tIns="0" rIns="0" bIns="0" rtlCol="0"/>
            <a:lstStyle/>
            <a:p>
              <a:endParaRPr/>
            </a:p>
          </p:txBody>
        </p:sp>
        <p:sp>
          <p:nvSpPr>
            <p:cNvPr id="81" name="object 81"/>
            <p:cNvSpPr/>
            <p:nvPr/>
          </p:nvSpPr>
          <p:spPr>
            <a:xfrm>
              <a:off x="7562735" y="4488180"/>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82" name="object 82"/>
            <p:cNvSpPr/>
            <p:nvPr/>
          </p:nvSpPr>
          <p:spPr>
            <a:xfrm>
              <a:off x="7805801" y="4421886"/>
              <a:ext cx="113030" cy="131445"/>
            </a:xfrm>
            <a:custGeom>
              <a:avLst/>
              <a:gdLst/>
              <a:ahLst/>
              <a:cxnLst/>
              <a:rect l="l" t="t" r="r" b="b"/>
              <a:pathLst>
                <a:path w="113029" h="131445">
                  <a:moveTo>
                    <a:pt x="0" y="0"/>
                  </a:moveTo>
                  <a:lnTo>
                    <a:pt x="112776" y="65531"/>
                  </a:lnTo>
                  <a:lnTo>
                    <a:pt x="0" y="131064"/>
                  </a:lnTo>
                  <a:lnTo>
                    <a:pt x="0" y="0"/>
                  </a:lnTo>
                  <a:close/>
                </a:path>
              </a:pathLst>
            </a:custGeom>
            <a:ln w="23609">
              <a:solidFill>
                <a:srgbClr val="000000"/>
              </a:solidFill>
            </a:ln>
          </p:spPr>
          <p:txBody>
            <a:bodyPr wrap="square" lIns="0" tIns="0" rIns="0" bIns="0" rtlCol="0"/>
            <a:lstStyle/>
            <a:p>
              <a:endParaRPr/>
            </a:p>
          </p:txBody>
        </p:sp>
        <p:sp>
          <p:nvSpPr>
            <p:cNvPr id="83" name="object 83"/>
            <p:cNvSpPr/>
            <p:nvPr/>
          </p:nvSpPr>
          <p:spPr>
            <a:xfrm>
              <a:off x="7920863" y="4420362"/>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84" name="object 84"/>
            <p:cNvSpPr/>
            <p:nvPr/>
          </p:nvSpPr>
          <p:spPr>
            <a:xfrm>
              <a:off x="7392047" y="4458462"/>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85" name="object 85"/>
            <p:cNvPicPr/>
            <p:nvPr/>
          </p:nvPicPr>
          <p:blipFill>
            <a:blip r:embed="rId8" cstate="print"/>
            <a:stretch>
              <a:fillRect/>
            </a:stretch>
          </p:blipFill>
          <p:spPr>
            <a:xfrm>
              <a:off x="7080777" y="4447419"/>
              <a:ext cx="64757" cy="65519"/>
            </a:xfrm>
            <a:prstGeom prst="rect">
              <a:avLst/>
            </a:prstGeom>
          </p:spPr>
        </p:pic>
        <p:sp>
          <p:nvSpPr>
            <p:cNvPr id="86" name="object 86"/>
            <p:cNvSpPr/>
            <p:nvPr/>
          </p:nvSpPr>
          <p:spPr>
            <a:xfrm>
              <a:off x="7917827" y="4665726"/>
              <a:ext cx="394970" cy="5715"/>
            </a:xfrm>
            <a:custGeom>
              <a:avLst/>
              <a:gdLst/>
              <a:ahLst/>
              <a:cxnLst/>
              <a:rect l="l" t="t" r="r" b="b"/>
              <a:pathLst>
                <a:path w="394970" h="5714">
                  <a:moveTo>
                    <a:pt x="394716" y="5333"/>
                  </a:moveTo>
                  <a:lnTo>
                    <a:pt x="0" y="0"/>
                  </a:lnTo>
                </a:path>
              </a:pathLst>
            </a:custGeom>
            <a:ln w="8331">
              <a:solidFill>
                <a:srgbClr val="000000"/>
              </a:solidFill>
            </a:ln>
          </p:spPr>
          <p:txBody>
            <a:bodyPr wrap="square" lIns="0" tIns="0" rIns="0" bIns="0" rtlCol="0"/>
            <a:lstStyle/>
            <a:p>
              <a:endParaRPr/>
            </a:p>
          </p:txBody>
        </p:sp>
        <p:sp>
          <p:nvSpPr>
            <p:cNvPr id="87" name="object 87"/>
            <p:cNvSpPr/>
            <p:nvPr/>
          </p:nvSpPr>
          <p:spPr>
            <a:xfrm>
              <a:off x="7134491" y="4664202"/>
              <a:ext cx="252729" cy="2540"/>
            </a:xfrm>
            <a:custGeom>
              <a:avLst/>
              <a:gdLst/>
              <a:ahLst/>
              <a:cxnLst/>
              <a:rect l="l" t="t" r="r" b="b"/>
              <a:pathLst>
                <a:path w="252729" h="2539">
                  <a:moveTo>
                    <a:pt x="252222" y="2285"/>
                  </a:moveTo>
                  <a:lnTo>
                    <a:pt x="0" y="0"/>
                  </a:lnTo>
                </a:path>
              </a:pathLst>
            </a:custGeom>
            <a:ln w="8331">
              <a:solidFill>
                <a:srgbClr val="000000"/>
              </a:solidFill>
            </a:ln>
          </p:spPr>
          <p:txBody>
            <a:bodyPr wrap="square" lIns="0" tIns="0" rIns="0" bIns="0" rtlCol="0"/>
            <a:lstStyle/>
            <a:p>
              <a:endParaRPr/>
            </a:p>
          </p:txBody>
        </p:sp>
        <p:sp>
          <p:nvSpPr>
            <p:cNvPr id="88" name="object 88"/>
            <p:cNvSpPr/>
            <p:nvPr/>
          </p:nvSpPr>
          <p:spPr>
            <a:xfrm>
              <a:off x="7559687" y="4668774"/>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89" name="object 89"/>
            <p:cNvSpPr/>
            <p:nvPr/>
          </p:nvSpPr>
          <p:spPr>
            <a:xfrm>
              <a:off x="7805039" y="4602480"/>
              <a:ext cx="112395" cy="131445"/>
            </a:xfrm>
            <a:custGeom>
              <a:avLst/>
              <a:gdLst/>
              <a:ahLst/>
              <a:cxnLst/>
              <a:rect l="l" t="t" r="r" b="b"/>
              <a:pathLst>
                <a:path w="112395" h="131445">
                  <a:moveTo>
                    <a:pt x="0" y="0"/>
                  </a:moveTo>
                  <a:lnTo>
                    <a:pt x="112014" y="65531"/>
                  </a:lnTo>
                  <a:lnTo>
                    <a:pt x="0" y="131064"/>
                  </a:lnTo>
                  <a:lnTo>
                    <a:pt x="0" y="0"/>
                  </a:lnTo>
                  <a:close/>
                </a:path>
              </a:pathLst>
            </a:custGeom>
            <a:ln w="23609">
              <a:solidFill>
                <a:srgbClr val="000000"/>
              </a:solidFill>
            </a:ln>
          </p:spPr>
          <p:txBody>
            <a:bodyPr wrap="square" lIns="0" tIns="0" rIns="0" bIns="0" rtlCol="0"/>
            <a:lstStyle/>
            <a:p>
              <a:endParaRPr/>
            </a:p>
          </p:txBody>
        </p:sp>
        <p:sp>
          <p:nvSpPr>
            <p:cNvPr id="90" name="object 90"/>
            <p:cNvSpPr/>
            <p:nvPr/>
          </p:nvSpPr>
          <p:spPr>
            <a:xfrm>
              <a:off x="7919339" y="4600956"/>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91" name="object 91"/>
            <p:cNvSpPr/>
            <p:nvPr/>
          </p:nvSpPr>
          <p:spPr>
            <a:xfrm>
              <a:off x="7390523" y="4639056"/>
              <a:ext cx="163195" cy="55880"/>
            </a:xfrm>
            <a:custGeom>
              <a:avLst/>
              <a:gdLst/>
              <a:ahLst/>
              <a:cxnLst/>
              <a:rect l="l" t="t" r="r" b="b"/>
              <a:pathLst>
                <a:path w="163195" h="55879">
                  <a:moveTo>
                    <a:pt x="0" y="55625"/>
                  </a:moveTo>
                  <a:lnTo>
                    <a:pt x="0" y="0"/>
                  </a:lnTo>
                  <a:lnTo>
                    <a:pt x="163068" y="0"/>
                  </a:lnTo>
                  <a:lnTo>
                    <a:pt x="163068" y="55625"/>
                  </a:lnTo>
                  <a:lnTo>
                    <a:pt x="0" y="55625"/>
                  </a:lnTo>
                  <a:close/>
                </a:path>
              </a:pathLst>
            </a:custGeom>
            <a:ln w="23609">
              <a:solidFill>
                <a:srgbClr val="000000"/>
              </a:solidFill>
            </a:ln>
          </p:spPr>
          <p:txBody>
            <a:bodyPr wrap="square" lIns="0" tIns="0" rIns="0" bIns="0" rtlCol="0"/>
            <a:lstStyle/>
            <a:p>
              <a:endParaRPr/>
            </a:p>
          </p:txBody>
        </p:sp>
        <p:pic>
          <p:nvPicPr>
            <p:cNvPr id="92" name="object 92"/>
            <p:cNvPicPr/>
            <p:nvPr/>
          </p:nvPicPr>
          <p:blipFill>
            <a:blip r:embed="rId9" cstate="print"/>
            <a:stretch>
              <a:fillRect/>
            </a:stretch>
          </p:blipFill>
          <p:spPr>
            <a:xfrm>
              <a:off x="7079253" y="4628013"/>
              <a:ext cx="64757" cy="65519"/>
            </a:xfrm>
            <a:prstGeom prst="rect">
              <a:avLst/>
            </a:prstGeom>
          </p:spPr>
        </p:pic>
        <p:sp>
          <p:nvSpPr>
            <p:cNvPr id="93" name="object 93"/>
            <p:cNvSpPr/>
            <p:nvPr/>
          </p:nvSpPr>
          <p:spPr>
            <a:xfrm>
              <a:off x="7919351" y="4850892"/>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94" name="object 94"/>
            <p:cNvSpPr/>
            <p:nvPr/>
          </p:nvSpPr>
          <p:spPr>
            <a:xfrm>
              <a:off x="7136015" y="4849368"/>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95" name="object 95"/>
            <p:cNvSpPr/>
            <p:nvPr/>
          </p:nvSpPr>
          <p:spPr>
            <a:xfrm>
              <a:off x="7562735" y="4851654"/>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96" name="object 96"/>
            <p:cNvSpPr/>
            <p:nvPr/>
          </p:nvSpPr>
          <p:spPr>
            <a:xfrm>
              <a:off x="7805801" y="4786122"/>
              <a:ext cx="113030" cy="130810"/>
            </a:xfrm>
            <a:custGeom>
              <a:avLst/>
              <a:gdLst/>
              <a:ahLst/>
              <a:cxnLst/>
              <a:rect l="l" t="t" r="r" b="b"/>
              <a:pathLst>
                <a:path w="113029" h="130810">
                  <a:moveTo>
                    <a:pt x="0" y="0"/>
                  </a:moveTo>
                  <a:lnTo>
                    <a:pt x="112776" y="65531"/>
                  </a:lnTo>
                  <a:lnTo>
                    <a:pt x="0" y="130302"/>
                  </a:lnTo>
                  <a:lnTo>
                    <a:pt x="0" y="0"/>
                  </a:lnTo>
                  <a:close/>
                </a:path>
              </a:pathLst>
            </a:custGeom>
            <a:ln w="23609">
              <a:solidFill>
                <a:srgbClr val="000000"/>
              </a:solidFill>
            </a:ln>
          </p:spPr>
          <p:txBody>
            <a:bodyPr wrap="square" lIns="0" tIns="0" rIns="0" bIns="0" rtlCol="0"/>
            <a:lstStyle/>
            <a:p>
              <a:endParaRPr/>
            </a:p>
          </p:txBody>
        </p:sp>
        <p:sp>
          <p:nvSpPr>
            <p:cNvPr id="97" name="object 97"/>
            <p:cNvSpPr/>
            <p:nvPr/>
          </p:nvSpPr>
          <p:spPr>
            <a:xfrm>
              <a:off x="7920863" y="4783836"/>
              <a:ext cx="1905" cy="136525"/>
            </a:xfrm>
            <a:custGeom>
              <a:avLst/>
              <a:gdLst/>
              <a:ahLst/>
              <a:cxnLst/>
              <a:rect l="l" t="t" r="r" b="b"/>
              <a:pathLst>
                <a:path w="1904" h="136525">
                  <a:moveTo>
                    <a:pt x="1524" y="136398"/>
                  </a:moveTo>
                  <a:lnTo>
                    <a:pt x="0" y="0"/>
                  </a:lnTo>
                </a:path>
              </a:pathLst>
            </a:custGeom>
            <a:ln w="8331">
              <a:solidFill>
                <a:srgbClr val="000000"/>
              </a:solidFill>
            </a:ln>
          </p:spPr>
          <p:txBody>
            <a:bodyPr wrap="square" lIns="0" tIns="0" rIns="0" bIns="0" rtlCol="0"/>
            <a:lstStyle/>
            <a:p>
              <a:endParaRPr/>
            </a:p>
          </p:txBody>
        </p:sp>
        <p:sp>
          <p:nvSpPr>
            <p:cNvPr id="98" name="object 98"/>
            <p:cNvSpPr/>
            <p:nvPr/>
          </p:nvSpPr>
          <p:spPr>
            <a:xfrm>
              <a:off x="7392047" y="4823460"/>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99" name="object 99"/>
            <p:cNvPicPr/>
            <p:nvPr/>
          </p:nvPicPr>
          <p:blipFill>
            <a:blip r:embed="rId10" cstate="print"/>
            <a:stretch>
              <a:fillRect/>
            </a:stretch>
          </p:blipFill>
          <p:spPr>
            <a:xfrm>
              <a:off x="7080777" y="4813179"/>
              <a:ext cx="64757" cy="65519"/>
            </a:xfrm>
            <a:prstGeom prst="rect">
              <a:avLst/>
            </a:prstGeom>
          </p:spPr>
        </p:pic>
      </p:grpSp>
      <p:sp>
        <p:nvSpPr>
          <p:cNvPr id="100" name="object 100"/>
          <p:cNvSpPr txBox="1"/>
          <p:nvPr/>
        </p:nvSpPr>
        <p:spPr>
          <a:xfrm>
            <a:off x="6932044" y="3488738"/>
            <a:ext cx="155575" cy="1407795"/>
          </a:xfrm>
          <a:prstGeom prst="rect">
            <a:avLst/>
          </a:prstGeom>
        </p:spPr>
        <p:txBody>
          <a:bodyPr vert="horz" wrap="square" lIns="0" tIns="13970" rIns="0" bIns="0" rtlCol="0">
            <a:spAutoFit/>
          </a:bodyPr>
          <a:lstStyle/>
          <a:p>
            <a:pPr marL="74295" marR="5080" indent="3175" algn="just">
              <a:lnSpc>
                <a:spcPct val="119900"/>
              </a:lnSpc>
              <a:spcBef>
                <a:spcPts val="110"/>
              </a:spcBef>
            </a:pPr>
            <a:r>
              <a:rPr sz="950" spc="-50" dirty="0">
                <a:latin typeface="Calibri"/>
                <a:cs typeface="Calibri"/>
              </a:rPr>
              <a:t>a</a:t>
            </a:r>
            <a:r>
              <a:rPr sz="950" spc="500" dirty="0">
                <a:latin typeface="Calibri"/>
                <a:cs typeface="Calibri"/>
              </a:rPr>
              <a:t> </a:t>
            </a:r>
            <a:r>
              <a:rPr sz="950" spc="-50" dirty="0">
                <a:latin typeface="Calibri"/>
                <a:cs typeface="Calibri"/>
              </a:rPr>
              <a:t>b</a:t>
            </a:r>
            <a:r>
              <a:rPr sz="950" spc="500" dirty="0">
                <a:latin typeface="Calibri"/>
                <a:cs typeface="Calibri"/>
              </a:rPr>
              <a:t> </a:t>
            </a:r>
            <a:r>
              <a:rPr sz="950" spc="-50" dirty="0">
                <a:latin typeface="Calibri"/>
                <a:cs typeface="Calibri"/>
              </a:rPr>
              <a:t>c</a:t>
            </a:r>
            <a:r>
              <a:rPr sz="950" spc="500" dirty="0">
                <a:latin typeface="Calibri"/>
                <a:cs typeface="Calibri"/>
              </a:rPr>
              <a:t> </a:t>
            </a:r>
            <a:r>
              <a:rPr sz="950" spc="-50" dirty="0">
                <a:latin typeface="Calibri"/>
                <a:cs typeface="Calibri"/>
              </a:rPr>
              <a:t>d</a:t>
            </a:r>
            <a:r>
              <a:rPr sz="950" spc="500" dirty="0">
                <a:latin typeface="Calibri"/>
                <a:cs typeface="Calibri"/>
              </a:rPr>
              <a:t> </a:t>
            </a:r>
            <a:r>
              <a:rPr sz="950" spc="-50" dirty="0">
                <a:latin typeface="Calibri"/>
                <a:cs typeface="Calibri"/>
              </a:rPr>
              <a:t>e</a:t>
            </a:r>
            <a:r>
              <a:rPr sz="950" spc="500" dirty="0">
                <a:latin typeface="Calibri"/>
                <a:cs typeface="Calibri"/>
              </a:rPr>
              <a:t> </a:t>
            </a:r>
            <a:r>
              <a:rPr sz="950" spc="-50" dirty="0">
                <a:latin typeface="Calibri"/>
                <a:cs typeface="Calibri"/>
              </a:rPr>
              <a:t>f</a:t>
            </a:r>
            <a:r>
              <a:rPr sz="950" spc="500" dirty="0">
                <a:latin typeface="Calibri"/>
                <a:cs typeface="Calibri"/>
              </a:rPr>
              <a:t> </a:t>
            </a:r>
            <a:r>
              <a:rPr sz="950" spc="-50" dirty="0">
                <a:latin typeface="Calibri"/>
                <a:cs typeface="Calibri"/>
              </a:rPr>
              <a:t>g</a:t>
            </a:r>
            <a:endParaRPr sz="950">
              <a:latin typeface="Calibri"/>
              <a:cs typeface="Calibri"/>
            </a:endParaRPr>
          </a:p>
          <a:p>
            <a:pPr marL="12700">
              <a:lnSpc>
                <a:spcPct val="100000"/>
              </a:lnSpc>
              <a:spcBef>
                <a:spcPts val="160"/>
              </a:spcBef>
            </a:pPr>
            <a:r>
              <a:rPr sz="950" spc="-25" dirty="0">
                <a:latin typeface="Calibri"/>
                <a:cs typeface="Calibri"/>
              </a:rPr>
              <a:t>dp</a:t>
            </a:r>
            <a:endParaRPr sz="950">
              <a:latin typeface="Calibri"/>
              <a:cs typeface="Calibri"/>
            </a:endParaRPr>
          </a:p>
        </p:txBody>
      </p:sp>
      <p:sp>
        <p:nvSpPr>
          <p:cNvPr id="101" name="object 101"/>
          <p:cNvSpPr txBox="1"/>
          <p:nvPr/>
        </p:nvSpPr>
        <p:spPr>
          <a:xfrm>
            <a:off x="8834749" y="3514656"/>
            <a:ext cx="153670" cy="1388110"/>
          </a:xfrm>
          <a:prstGeom prst="rect">
            <a:avLst/>
          </a:prstGeom>
        </p:spPr>
        <p:txBody>
          <a:bodyPr vert="horz" wrap="square" lIns="0" tIns="3810" rIns="0" bIns="0" rtlCol="0">
            <a:spAutoFit/>
          </a:bodyPr>
          <a:lstStyle/>
          <a:p>
            <a:pPr marL="71120" marR="6350" indent="5080" algn="just">
              <a:lnSpc>
                <a:spcPct val="118000"/>
              </a:lnSpc>
              <a:spcBef>
                <a:spcPts val="30"/>
              </a:spcBef>
            </a:pPr>
            <a:r>
              <a:rPr sz="950" spc="-50" dirty="0">
                <a:latin typeface="Calibri"/>
                <a:cs typeface="Calibri"/>
              </a:rPr>
              <a:t>a</a:t>
            </a:r>
            <a:r>
              <a:rPr sz="950" spc="500" dirty="0">
                <a:latin typeface="Calibri"/>
                <a:cs typeface="Calibri"/>
              </a:rPr>
              <a:t> </a:t>
            </a:r>
            <a:r>
              <a:rPr sz="950" spc="-50" dirty="0">
                <a:latin typeface="Calibri"/>
                <a:cs typeface="Calibri"/>
              </a:rPr>
              <a:t>b</a:t>
            </a:r>
            <a:r>
              <a:rPr sz="950" spc="500" dirty="0">
                <a:latin typeface="Calibri"/>
                <a:cs typeface="Calibri"/>
              </a:rPr>
              <a:t> </a:t>
            </a:r>
            <a:r>
              <a:rPr sz="950" spc="-50" dirty="0">
                <a:latin typeface="Calibri"/>
                <a:cs typeface="Calibri"/>
              </a:rPr>
              <a:t>c</a:t>
            </a:r>
            <a:r>
              <a:rPr sz="950" spc="500" dirty="0">
                <a:latin typeface="Calibri"/>
                <a:cs typeface="Calibri"/>
              </a:rPr>
              <a:t> </a:t>
            </a:r>
            <a:r>
              <a:rPr sz="950" spc="-50" dirty="0">
                <a:latin typeface="Calibri"/>
                <a:cs typeface="Calibri"/>
              </a:rPr>
              <a:t>d</a:t>
            </a:r>
            <a:r>
              <a:rPr sz="950" spc="500" dirty="0">
                <a:latin typeface="Calibri"/>
                <a:cs typeface="Calibri"/>
              </a:rPr>
              <a:t> </a:t>
            </a:r>
            <a:r>
              <a:rPr sz="950" spc="-50" dirty="0">
                <a:latin typeface="Calibri"/>
                <a:cs typeface="Calibri"/>
              </a:rPr>
              <a:t>e</a:t>
            </a:r>
            <a:r>
              <a:rPr sz="950" spc="500" dirty="0">
                <a:latin typeface="Calibri"/>
                <a:cs typeface="Calibri"/>
              </a:rPr>
              <a:t> </a:t>
            </a:r>
            <a:r>
              <a:rPr sz="950" spc="-50" dirty="0">
                <a:latin typeface="Calibri"/>
                <a:cs typeface="Calibri"/>
              </a:rPr>
              <a:t>f</a:t>
            </a:r>
            <a:r>
              <a:rPr sz="950" spc="500" dirty="0">
                <a:latin typeface="Calibri"/>
                <a:cs typeface="Calibri"/>
              </a:rPr>
              <a:t> </a:t>
            </a:r>
            <a:r>
              <a:rPr sz="950" spc="-50" dirty="0">
                <a:latin typeface="Calibri"/>
                <a:cs typeface="Calibri"/>
              </a:rPr>
              <a:t>g</a:t>
            </a:r>
            <a:endParaRPr sz="950">
              <a:latin typeface="Calibri"/>
              <a:cs typeface="Calibri"/>
            </a:endParaRPr>
          </a:p>
          <a:p>
            <a:pPr marL="12700">
              <a:lnSpc>
                <a:spcPct val="100000"/>
              </a:lnSpc>
              <a:spcBef>
                <a:spcPts val="240"/>
              </a:spcBef>
            </a:pPr>
            <a:r>
              <a:rPr sz="950" spc="-25" dirty="0">
                <a:latin typeface="Calibri"/>
                <a:cs typeface="Calibri"/>
              </a:rPr>
              <a:t>dp</a:t>
            </a:r>
            <a:endParaRPr sz="950">
              <a:latin typeface="Calibri"/>
              <a:cs typeface="Calibri"/>
            </a:endParaRPr>
          </a:p>
        </p:txBody>
      </p:sp>
      <p:sp>
        <p:nvSpPr>
          <p:cNvPr id="102" name="object 102"/>
          <p:cNvSpPr txBox="1"/>
          <p:nvPr/>
        </p:nvSpPr>
        <p:spPr>
          <a:xfrm>
            <a:off x="6116713" y="3713163"/>
            <a:ext cx="288290" cy="172085"/>
          </a:xfrm>
          <a:prstGeom prst="rect">
            <a:avLst/>
          </a:prstGeom>
        </p:spPr>
        <p:txBody>
          <a:bodyPr vert="horz" wrap="square" lIns="0" tIns="13970" rIns="0" bIns="0" rtlCol="0">
            <a:spAutoFit/>
          </a:bodyPr>
          <a:lstStyle/>
          <a:p>
            <a:pPr marL="12700">
              <a:lnSpc>
                <a:spcPct val="100000"/>
              </a:lnSpc>
              <a:spcBef>
                <a:spcPts val="110"/>
              </a:spcBef>
            </a:pPr>
            <a:r>
              <a:rPr sz="950" u="heavy" spc="185" dirty="0">
                <a:uFill>
                  <a:solidFill>
                    <a:srgbClr val="000000"/>
                  </a:solidFill>
                </a:uFill>
                <a:latin typeface="Calibri"/>
                <a:cs typeface="Calibri"/>
              </a:rPr>
              <a:t>  </a:t>
            </a:r>
            <a:r>
              <a:rPr sz="950" u="heavy" spc="-50" dirty="0">
                <a:uFill>
                  <a:solidFill>
                    <a:srgbClr val="000000"/>
                  </a:solidFill>
                </a:uFill>
                <a:latin typeface="Calibri"/>
                <a:cs typeface="Calibri"/>
              </a:rPr>
              <a:t>a</a:t>
            </a:r>
            <a:r>
              <a:rPr sz="950" u="heavy" spc="500" dirty="0">
                <a:uFill>
                  <a:solidFill>
                    <a:srgbClr val="000000"/>
                  </a:solidFill>
                </a:uFill>
                <a:latin typeface="Calibri"/>
                <a:cs typeface="Calibri"/>
              </a:rPr>
              <a:t> </a:t>
            </a:r>
            <a:endParaRPr sz="950">
              <a:latin typeface="Calibri"/>
              <a:cs typeface="Calibri"/>
            </a:endParaRPr>
          </a:p>
        </p:txBody>
      </p:sp>
      <p:sp>
        <p:nvSpPr>
          <p:cNvPr id="103" name="object 103"/>
          <p:cNvSpPr txBox="1"/>
          <p:nvPr/>
        </p:nvSpPr>
        <p:spPr>
          <a:xfrm>
            <a:off x="8190863" y="4953693"/>
            <a:ext cx="258445" cy="172085"/>
          </a:xfrm>
          <a:prstGeom prst="rect">
            <a:avLst/>
          </a:prstGeom>
        </p:spPr>
        <p:txBody>
          <a:bodyPr vert="horz" wrap="square" lIns="0" tIns="13970" rIns="0" bIns="0" rtlCol="0">
            <a:spAutoFit/>
          </a:bodyPr>
          <a:lstStyle/>
          <a:p>
            <a:pPr marL="12700">
              <a:lnSpc>
                <a:spcPct val="100000"/>
              </a:lnSpc>
              <a:spcBef>
                <a:spcPts val="110"/>
              </a:spcBef>
            </a:pPr>
            <a:r>
              <a:rPr sz="950" spc="-25" dirty="0">
                <a:latin typeface="Calibri"/>
                <a:cs typeface="Calibri"/>
              </a:rPr>
              <a:t>GND</a:t>
            </a:r>
            <a:endParaRPr sz="950">
              <a:latin typeface="Calibri"/>
              <a:cs typeface="Calibri"/>
            </a:endParaRPr>
          </a:p>
        </p:txBody>
      </p:sp>
      <p:sp>
        <p:nvSpPr>
          <p:cNvPr id="104" name="object 104"/>
          <p:cNvSpPr txBox="1"/>
          <p:nvPr/>
        </p:nvSpPr>
        <p:spPr>
          <a:xfrm>
            <a:off x="10085191" y="4970452"/>
            <a:ext cx="218440" cy="172085"/>
          </a:xfrm>
          <a:prstGeom prst="rect">
            <a:avLst/>
          </a:prstGeom>
        </p:spPr>
        <p:txBody>
          <a:bodyPr vert="horz" wrap="square" lIns="0" tIns="13970" rIns="0" bIns="0" rtlCol="0">
            <a:spAutoFit/>
          </a:bodyPr>
          <a:lstStyle/>
          <a:p>
            <a:pPr marL="12700">
              <a:lnSpc>
                <a:spcPct val="100000"/>
              </a:lnSpc>
              <a:spcBef>
                <a:spcPts val="110"/>
              </a:spcBef>
            </a:pPr>
            <a:r>
              <a:rPr sz="950" spc="-25" dirty="0">
                <a:latin typeface="Calibri"/>
                <a:cs typeface="Calibri"/>
              </a:rPr>
              <a:t>+5V</a:t>
            </a:r>
            <a:endParaRPr sz="950">
              <a:latin typeface="Calibri"/>
              <a:cs typeface="Calibri"/>
            </a:endParaRPr>
          </a:p>
        </p:txBody>
      </p:sp>
      <p:grpSp>
        <p:nvGrpSpPr>
          <p:cNvPr id="105" name="object 105"/>
          <p:cNvGrpSpPr/>
          <p:nvPr/>
        </p:nvGrpSpPr>
        <p:grpSpPr>
          <a:xfrm>
            <a:off x="8983491" y="3553593"/>
            <a:ext cx="1270000" cy="1435735"/>
            <a:chOff x="8983491" y="3553593"/>
            <a:chExt cx="1270000" cy="1435735"/>
          </a:xfrm>
        </p:grpSpPr>
        <p:sp>
          <p:nvSpPr>
            <p:cNvPr id="106" name="object 106"/>
            <p:cNvSpPr/>
            <p:nvPr/>
          </p:nvSpPr>
          <p:spPr>
            <a:xfrm>
              <a:off x="9820541" y="3629405"/>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107" name="object 107"/>
            <p:cNvSpPr/>
            <p:nvPr/>
          </p:nvSpPr>
          <p:spPr>
            <a:xfrm>
              <a:off x="9038729" y="3627119"/>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108" name="object 108"/>
            <p:cNvSpPr/>
            <p:nvPr/>
          </p:nvSpPr>
          <p:spPr>
            <a:xfrm>
              <a:off x="9463925" y="3630929"/>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109" name="object 109"/>
            <p:cNvSpPr/>
            <p:nvPr/>
          </p:nvSpPr>
          <p:spPr>
            <a:xfrm>
              <a:off x="9707765" y="3565397"/>
              <a:ext cx="113664" cy="130810"/>
            </a:xfrm>
            <a:custGeom>
              <a:avLst/>
              <a:gdLst/>
              <a:ahLst/>
              <a:cxnLst/>
              <a:rect l="l" t="t" r="r" b="b"/>
              <a:pathLst>
                <a:path w="113665" h="130810">
                  <a:moveTo>
                    <a:pt x="113538" y="0"/>
                  </a:moveTo>
                  <a:lnTo>
                    <a:pt x="0" y="64770"/>
                  </a:lnTo>
                  <a:lnTo>
                    <a:pt x="113538" y="130302"/>
                  </a:lnTo>
                  <a:lnTo>
                    <a:pt x="113538" y="0"/>
                  </a:lnTo>
                  <a:close/>
                </a:path>
              </a:pathLst>
            </a:custGeom>
            <a:ln w="23609">
              <a:solidFill>
                <a:srgbClr val="000000"/>
              </a:solidFill>
            </a:ln>
          </p:spPr>
          <p:txBody>
            <a:bodyPr wrap="square" lIns="0" tIns="0" rIns="0" bIns="0" rtlCol="0"/>
            <a:lstStyle/>
            <a:p>
              <a:endParaRPr/>
            </a:p>
          </p:txBody>
        </p:sp>
        <p:sp>
          <p:nvSpPr>
            <p:cNvPr id="110" name="object 110"/>
            <p:cNvSpPr/>
            <p:nvPr/>
          </p:nvSpPr>
          <p:spPr>
            <a:xfrm>
              <a:off x="9708527" y="3564635"/>
              <a:ext cx="1905" cy="136525"/>
            </a:xfrm>
            <a:custGeom>
              <a:avLst/>
              <a:gdLst/>
              <a:ahLst/>
              <a:cxnLst/>
              <a:rect l="l" t="t" r="r" b="b"/>
              <a:pathLst>
                <a:path w="1904" h="136525">
                  <a:moveTo>
                    <a:pt x="0" y="136398"/>
                  </a:moveTo>
                  <a:lnTo>
                    <a:pt x="1523" y="0"/>
                  </a:lnTo>
                </a:path>
              </a:pathLst>
            </a:custGeom>
            <a:ln w="8331">
              <a:solidFill>
                <a:srgbClr val="000000"/>
              </a:solidFill>
            </a:ln>
          </p:spPr>
          <p:txBody>
            <a:bodyPr wrap="square" lIns="0" tIns="0" rIns="0" bIns="0" rtlCol="0"/>
            <a:lstStyle/>
            <a:p>
              <a:endParaRPr/>
            </a:p>
          </p:txBody>
        </p:sp>
        <p:sp>
          <p:nvSpPr>
            <p:cNvPr id="111" name="object 111"/>
            <p:cNvSpPr/>
            <p:nvPr/>
          </p:nvSpPr>
          <p:spPr>
            <a:xfrm>
              <a:off x="9294749" y="3601211"/>
              <a:ext cx="163195" cy="55880"/>
            </a:xfrm>
            <a:custGeom>
              <a:avLst/>
              <a:gdLst/>
              <a:ahLst/>
              <a:cxnLst/>
              <a:rect l="l" t="t" r="r" b="b"/>
              <a:pathLst>
                <a:path w="163195" h="55879">
                  <a:moveTo>
                    <a:pt x="0" y="55625"/>
                  </a:moveTo>
                  <a:lnTo>
                    <a:pt x="0" y="0"/>
                  </a:lnTo>
                  <a:lnTo>
                    <a:pt x="163068" y="0"/>
                  </a:lnTo>
                  <a:lnTo>
                    <a:pt x="163068" y="55625"/>
                  </a:lnTo>
                  <a:lnTo>
                    <a:pt x="0" y="55625"/>
                  </a:lnTo>
                  <a:close/>
                </a:path>
              </a:pathLst>
            </a:custGeom>
            <a:ln w="23609">
              <a:solidFill>
                <a:srgbClr val="000000"/>
              </a:solidFill>
            </a:ln>
          </p:spPr>
          <p:txBody>
            <a:bodyPr wrap="square" lIns="0" tIns="0" rIns="0" bIns="0" rtlCol="0"/>
            <a:lstStyle/>
            <a:p>
              <a:endParaRPr/>
            </a:p>
          </p:txBody>
        </p:sp>
        <p:pic>
          <p:nvPicPr>
            <p:cNvPr id="112" name="object 112"/>
            <p:cNvPicPr/>
            <p:nvPr/>
          </p:nvPicPr>
          <p:blipFill>
            <a:blip r:embed="rId11" cstate="print"/>
            <a:stretch>
              <a:fillRect/>
            </a:stretch>
          </p:blipFill>
          <p:spPr>
            <a:xfrm>
              <a:off x="8983491" y="3592455"/>
              <a:ext cx="64757" cy="64757"/>
            </a:xfrm>
            <a:prstGeom prst="rect">
              <a:avLst/>
            </a:prstGeom>
          </p:spPr>
        </p:pic>
        <p:sp>
          <p:nvSpPr>
            <p:cNvPr id="113" name="object 113"/>
            <p:cNvSpPr/>
            <p:nvPr/>
          </p:nvSpPr>
          <p:spPr>
            <a:xfrm>
              <a:off x="9823589" y="3800855"/>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114" name="object 114"/>
            <p:cNvSpPr/>
            <p:nvPr/>
          </p:nvSpPr>
          <p:spPr>
            <a:xfrm>
              <a:off x="9040253" y="3799331"/>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115" name="object 115"/>
            <p:cNvSpPr/>
            <p:nvPr/>
          </p:nvSpPr>
          <p:spPr>
            <a:xfrm>
              <a:off x="9465449" y="3801617"/>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116" name="object 116"/>
            <p:cNvSpPr/>
            <p:nvPr/>
          </p:nvSpPr>
          <p:spPr>
            <a:xfrm>
              <a:off x="9710051" y="3736085"/>
              <a:ext cx="113030" cy="130810"/>
            </a:xfrm>
            <a:custGeom>
              <a:avLst/>
              <a:gdLst/>
              <a:ahLst/>
              <a:cxnLst/>
              <a:rect l="l" t="t" r="r" b="b"/>
              <a:pathLst>
                <a:path w="113029" h="130810">
                  <a:moveTo>
                    <a:pt x="112775" y="0"/>
                  </a:moveTo>
                  <a:lnTo>
                    <a:pt x="0" y="64770"/>
                  </a:lnTo>
                  <a:lnTo>
                    <a:pt x="112775" y="130302"/>
                  </a:lnTo>
                  <a:lnTo>
                    <a:pt x="112775" y="0"/>
                  </a:lnTo>
                  <a:close/>
                </a:path>
              </a:pathLst>
            </a:custGeom>
            <a:ln w="23609">
              <a:solidFill>
                <a:srgbClr val="000000"/>
              </a:solidFill>
            </a:ln>
          </p:spPr>
          <p:txBody>
            <a:bodyPr wrap="square" lIns="0" tIns="0" rIns="0" bIns="0" rtlCol="0"/>
            <a:lstStyle/>
            <a:p>
              <a:endParaRPr/>
            </a:p>
          </p:txBody>
        </p:sp>
        <p:sp>
          <p:nvSpPr>
            <p:cNvPr id="117" name="object 117"/>
            <p:cNvSpPr/>
            <p:nvPr/>
          </p:nvSpPr>
          <p:spPr>
            <a:xfrm>
              <a:off x="9709277" y="3735323"/>
              <a:ext cx="2540" cy="136525"/>
            </a:xfrm>
            <a:custGeom>
              <a:avLst/>
              <a:gdLst/>
              <a:ahLst/>
              <a:cxnLst/>
              <a:rect l="l" t="t" r="r" b="b"/>
              <a:pathLst>
                <a:path w="2540" h="136525">
                  <a:moveTo>
                    <a:pt x="0" y="136398"/>
                  </a:moveTo>
                  <a:lnTo>
                    <a:pt x="2285" y="0"/>
                  </a:lnTo>
                </a:path>
              </a:pathLst>
            </a:custGeom>
            <a:ln w="8331">
              <a:solidFill>
                <a:srgbClr val="000000"/>
              </a:solidFill>
            </a:ln>
          </p:spPr>
          <p:txBody>
            <a:bodyPr wrap="square" lIns="0" tIns="0" rIns="0" bIns="0" rtlCol="0"/>
            <a:lstStyle/>
            <a:p>
              <a:endParaRPr/>
            </a:p>
          </p:txBody>
        </p:sp>
        <p:sp>
          <p:nvSpPr>
            <p:cNvPr id="118" name="object 118"/>
            <p:cNvSpPr/>
            <p:nvPr/>
          </p:nvSpPr>
          <p:spPr>
            <a:xfrm>
              <a:off x="9296273" y="3773423"/>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119" name="object 119"/>
            <p:cNvPicPr/>
            <p:nvPr/>
          </p:nvPicPr>
          <p:blipFill>
            <a:blip r:embed="rId12" cstate="print"/>
            <a:stretch>
              <a:fillRect/>
            </a:stretch>
          </p:blipFill>
          <p:spPr>
            <a:xfrm>
              <a:off x="8984240" y="3763143"/>
              <a:ext cx="65531" cy="65519"/>
            </a:xfrm>
            <a:prstGeom prst="rect">
              <a:avLst/>
            </a:prstGeom>
          </p:spPr>
        </p:pic>
        <p:sp>
          <p:nvSpPr>
            <p:cNvPr id="120" name="object 120"/>
            <p:cNvSpPr/>
            <p:nvPr/>
          </p:nvSpPr>
          <p:spPr>
            <a:xfrm>
              <a:off x="9822065" y="3970019"/>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121" name="object 121"/>
            <p:cNvSpPr/>
            <p:nvPr/>
          </p:nvSpPr>
          <p:spPr>
            <a:xfrm>
              <a:off x="9040253" y="3966971"/>
              <a:ext cx="252729" cy="2540"/>
            </a:xfrm>
            <a:custGeom>
              <a:avLst/>
              <a:gdLst/>
              <a:ahLst/>
              <a:cxnLst/>
              <a:rect l="l" t="t" r="r" b="b"/>
              <a:pathLst>
                <a:path w="252729" h="2539">
                  <a:moveTo>
                    <a:pt x="252222" y="2286"/>
                  </a:moveTo>
                  <a:lnTo>
                    <a:pt x="0" y="0"/>
                  </a:lnTo>
                </a:path>
              </a:pathLst>
            </a:custGeom>
            <a:ln w="8331">
              <a:solidFill>
                <a:srgbClr val="000000"/>
              </a:solidFill>
            </a:ln>
          </p:spPr>
          <p:txBody>
            <a:bodyPr wrap="square" lIns="0" tIns="0" rIns="0" bIns="0" rtlCol="0"/>
            <a:lstStyle/>
            <a:p>
              <a:endParaRPr/>
            </a:p>
          </p:txBody>
        </p:sp>
        <p:sp>
          <p:nvSpPr>
            <p:cNvPr id="122" name="object 122"/>
            <p:cNvSpPr/>
            <p:nvPr/>
          </p:nvSpPr>
          <p:spPr>
            <a:xfrm>
              <a:off x="9465449" y="3971543"/>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123" name="object 123"/>
            <p:cNvSpPr/>
            <p:nvPr/>
          </p:nvSpPr>
          <p:spPr>
            <a:xfrm>
              <a:off x="9709289" y="3905249"/>
              <a:ext cx="112395" cy="131445"/>
            </a:xfrm>
            <a:custGeom>
              <a:avLst/>
              <a:gdLst/>
              <a:ahLst/>
              <a:cxnLst/>
              <a:rect l="l" t="t" r="r" b="b"/>
              <a:pathLst>
                <a:path w="112395" h="131445">
                  <a:moveTo>
                    <a:pt x="112014" y="0"/>
                  </a:moveTo>
                  <a:lnTo>
                    <a:pt x="0" y="65532"/>
                  </a:lnTo>
                  <a:lnTo>
                    <a:pt x="112014" y="131064"/>
                  </a:lnTo>
                  <a:lnTo>
                    <a:pt x="112014" y="0"/>
                  </a:lnTo>
                  <a:close/>
                </a:path>
              </a:pathLst>
            </a:custGeom>
            <a:ln w="23609">
              <a:solidFill>
                <a:srgbClr val="000000"/>
              </a:solidFill>
            </a:ln>
          </p:spPr>
          <p:txBody>
            <a:bodyPr wrap="square" lIns="0" tIns="0" rIns="0" bIns="0" rtlCol="0"/>
            <a:lstStyle/>
            <a:p>
              <a:endParaRPr/>
            </a:p>
          </p:txBody>
        </p:sp>
        <p:sp>
          <p:nvSpPr>
            <p:cNvPr id="124" name="object 124"/>
            <p:cNvSpPr/>
            <p:nvPr/>
          </p:nvSpPr>
          <p:spPr>
            <a:xfrm>
              <a:off x="9708527" y="3904487"/>
              <a:ext cx="1905" cy="136525"/>
            </a:xfrm>
            <a:custGeom>
              <a:avLst/>
              <a:gdLst/>
              <a:ahLst/>
              <a:cxnLst/>
              <a:rect l="l" t="t" r="r" b="b"/>
              <a:pathLst>
                <a:path w="1904" h="136525">
                  <a:moveTo>
                    <a:pt x="0" y="136398"/>
                  </a:moveTo>
                  <a:lnTo>
                    <a:pt x="1523" y="0"/>
                  </a:lnTo>
                </a:path>
              </a:pathLst>
            </a:custGeom>
            <a:ln w="8331">
              <a:solidFill>
                <a:srgbClr val="000000"/>
              </a:solidFill>
            </a:ln>
          </p:spPr>
          <p:txBody>
            <a:bodyPr wrap="square" lIns="0" tIns="0" rIns="0" bIns="0" rtlCol="0"/>
            <a:lstStyle/>
            <a:p>
              <a:endParaRPr/>
            </a:p>
          </p:txBody>
        </p:sp>
        <p:sp>
          <p:nvSpPr>
            <p:cNvPr id="125" name="object 125"/>
            <p:cNvSpPr/>
            <p:nvPr/>
          </p:nvSpPr>
          <p:spPr>
            <a:xfrm>
              <a:off x="9296273" y="3941825"/>
              <a:ext cx="162560" cy="55244"/>
            </a:xfrm>
            <a:custGeom>
              <a:avLst/>
              <a:gdLst/>
              <a:ahLst/>
              <a:cxnLst/>
              <a:rect l="l" t="t" r="r" b="b"/>
              <a:pathLst>
                <a:path w="162559" h="55245">
                  <a:moveTo>
                    <a:pt x="0" y="54863"/>
                  </a:moveTo>
                  <a:lnTo>
                    <a:pt x="0" y="0"/>
                  </a:lnTo>
                  <a:lnTo>
                    <a:pt x="162305" y="0"/>
                  </a:lnTo>
                  <a:lnTo>
                    <a:pt x="162305" y="54863"/>
                  </a:lnTo>
                  <a:lnTo>
                    <a:pt x="0" y="54863"/>
                  </a:lnTo>
                  <a:close/>
                </a:path>
              </a:pathLst>
            </a:custGeom>
            <a:ln w="23609">
              <a:solidFill>
                <a:srgbClr val="000000"/>
              </a:solidFill>
            </a:ln>
          </p:spPr>
          <p:txBody>
            <a:bodyPr wrap="square" lIns="0" tIns="0" rIns="0" bIns="0" rtlCol="0"/>
            <a:lstStyle/>
            <a:p>
              <a:endParaRPr/>
            </a:p>
          </p:txBody>
        </p:sp>
        <p:pic>
          <p:nvPicPr>
            <p:cNvPr id="126" name="object 126"/>
            <p:cNvPicPr/>
            <p:nvPr/>
          </p:nvPicPr>
          <p:blipFill>
            <a:blip r:embed="rId13" cstate="print"/>
            <a:stretch>
              <a:fillRect/>
            </a:stretch>
          </p:blipFill>
          <p:spPr>
            <a:xfrm>
              <a:off x="8983491" y="3932307"/>
              <a:ext cx="64757" cy="65519"/>
            </a:xfrm>
            <a:prstGeom prst="rect">
              <a:avLst/>
            </a:prstGeom>
          </p:spPr>
        </p:pic>
        <p:sp>
          <p:nvSpPr>
            <p:cNvPr id="127" name="object 127"/>
            <p:cNvSpPr/>
            <p:nvPr/>
          </p:nvSpPr>
          <p:spPr>
            <a:xfrm>
              <a:off x="9825113" y="4149089"/>
              <a:ext cx="394970" cy="5715"/>
            </a:xfrm>
            <a:custGeom>
              <a:avLst/>
              <a:gdLst/>
              <a:ahLst/>
              <a:cxnLst/>
              <a:rect l="l" t="t" r="r" b="b"/>
              <a:pathLst>
                <a:path w="394970" h="5714">
                  <a:moveTo>
                    <a:pt x="394716" y="5334"/>
                  </a:moveTo>
                  <a:lnTo>
                    <a:pt x="0" y="0"/>
                  </a:lnTo>
                </a:path>
              </a:pathLst>
            </a:custGeom>
            <a:ln w="8331">
              <a:solidFill>
                <a:srgbClr val="000000"/>
              </a:solidFill>
            </a:ln>
          </p:spPr>
          <p:txBody>
            <a:bodyPr wrap="square" lIns="0" tIns="0" rIns="0" bIns="0" rtlCol="0"/>
            <a:lstStyle/>
            <a:p>
              <a:endParaRPr/>
            </a:p>
          </p:txBody>
        </p:sp>
        <p:sp>
          <p:nvSpPr>
            <p:cNvPr id="128" name="object 128"/>
            <p:cNvSpPr/>
            <p:nvPr/>
          </p:nvSpPr>
          <p:spPr>
            <a:xfrm>
              <a:off x="9043301" y="4146041"/>
              <a:ext cx="252729" cy="2540"/>
            </a:xfrm>
            <a:custGeom>
              <a:avLst/>
              <a:gdLst/>
              <a:ahLst/>
              <a:cxnLst/>
              <a:rect l="l" t="t" r="r" b="b"/>
              <a:pathLst>
                <a:path w="252729" h="2539">
                  <a:moveTo>
                    <a:pt x="252222" y="2286"/>
                  </a:moveTo>
                  <a:lnTo>
                    <a:pt x="0" y="0"/>
                  </a:lnTo>
                </a:path>
              </a:pathLst>
            </a:custGeom>
            <a:ln w="8331">
              <a:solidFill>
                <a:srgbClr val="000000"/>
              </a:solidFill>
            </a:ln>
          </p:spPr>
          <p:txBody>
            <a:bodyPr wrap="square" lIns="0" tIns="0" rIns="0" bIns="0" rtlCol="0"/>
            <a:lstStyle/>
            <a:p>
              <a:endParaRPr/>
            </a:p>
          </p:txBody>
        </p:sp>
        <p:sp>
          <p:nvSpPr>
            <p:cNvPr id="129" name="object 129"/>
            <p:cNvSpPr/>
            <p:nvPr/>
          </p:nvSpPr>
          <p:spPr>
            <a:xfrm>
              <a:off x="9467735" y="4150613"/>
              <a:ext cx="363855" cy="0"/>
            </a:xfrm>
            <a:custGeom>
              <a:avLst/>
              <a:gdLst/>
              <a:ahLst/>
              <a:cxnLst/>
              <a:rect l="l" t="t" r="r" b="b"/>
              <a:pathLst>
                <a:path w="363854">
                  <a:moveTo>
                    <a:pt x="363474" y="0"/>
                  </a:moveTo>
                  <a:lnTo>
                    <a:pt x="0" y="0"/>
                  </a:lnTo>
                </a:path>
              </a:pathLst>
            </a:custGeom>
            <a:ln w="8331">
              <a:solidFill>
                <a:srgbClr val="000000"/>
              </a:solidFill>
            </a:ln>
          </p:spPr>
          <p:txBody>
            <a:bodyPr wrap="square" lIns="0" tIns="0" rIns="0" bIns="0" rtlCol="0"/>
            <a:lstStyle/>
            <a:p>
              <a:endParaRPr/>
            </a:p>
          </p:txBody>
        </p:sp>
        <p:sp>
          <p:nvSpPr>
            <p:cNvPr id="130" name="object 130"/>
            <p:cNvSpPr/>
            <p:nvPr/>
          </p:nvSpPr>
          <p:spPr>
            <a:xfrm>
              <a:off x="9711575" y="4084319"/>
              <a:ext cx="114300" cy="131445"/>
            </a:xfrm>
            <a:custGeom>
              <a:avLst/>
              <a:gdLst/>
              <a:ahLst/>
              <a:cxnLst/>
              <a:rect l="l" t="t" r="r" b="b"/>
              <a:pathLst>
                <a:path w="114300" h="131445">
                  <a:moveTo>
                    <a:pt x="114300" y="0"/>
                  </a:moveTo>
                  <a:lnTo>
                    <a:pt x="0" y="65532"/>
                  </a:lnTo>
                  <a:lnTo>
                    <a:pt x="114300" y="131064"/>
                  </a:lnTo>
                  <a:lnTo>
                    <a:pt x="114300" y="0"/>
                  </a:lnTo>
                  <a:close/>
                </a:path>
              </a:pathLst>
            </a:custGeom>
            <a:ln w="23609">
              <a:solidFill>
                <a:srgbClr val="000000"/>
              </a:solidFill>
            </a:ln>
          </p:spPr>
          <p:txBody>
            <a:bodyPr wrap="square" lIns="0" tIns="0" rIns="0" bIns="0" rtlCol="0"/>
            <a:lstStyle/>
            <a:p>
              <a:endParaRPr/>
            </a:p>
          </p:txBody>
        </p:sp>
        <p:sp>
          <p:nvSpPr>
            <p:cNvPr id="131" name="object 131"/>
            <p:cNvSpPr/>
            <p:nvPr/>
          </p:nvSpPr>
          <p:spPr>
            <a:xfrm>
              <a:off x="9710801" y="4083557"/>
              <a:ext cx="2540" cy="137160"/>
            </a:xfrm>
            <a:custGeom>
              <a:avLst/>
              <a:gdLst/>
              <a:ahLst/>
              <a:cxnLst/>
              <a:rect l="l" t="t" r="r" b="b"/>
              <a:pathLst>
                <a:path w="2540" h="137160">
                  <a:moveTo>
                    <a:pt x="0" y="137160"/>
                  </a:moveTo>
                  <a:lnTo>
                    <a:pt x="2285" y="0"/>
                  </a:lnTo>
                </a:path>
              </a:pathLst>
            </a:custGeom>
            <a:ln w="8331">
              <a:solidFill>
                <a:srgbClr val="000000"/>
              </a:solidFill>
            </a:ln>
          </p:spPr>
          <p:txBody>
            <a:bodyPr wrap="square" lIns="0" tIns="0" rIns="0" bIns="0" rtlCol="0"/>
            <a:lstStyle/>
            <a:p>
              <a:endParaRPr/>
            </a:p>
          </p:txBody>
        </p:sp>
        <p:sp>
          <p:nvSpPr>
            <p:cNvPr id="132" name="object 132"/>
            <p:cNvSpPr/>
            <p:nvPr/>
          </p:nvSpPr>
          <p:spPr>
            <a:xfrm>
              <a:off x="9299321" y="4122419"/>
              <a:ext cx="162560" cy="55244"/>
            </a:xfrm>
            <a:custGeom>
              <a:avLst/>
              <a:gdLst/>
              <a:ahLst/>
              <a:cxnLst/>
              <a:rect l="l" t="t" r="r" b="b"/>
              <a:pathLst>
                <a:path w="162559" h="55245">
                  <a:moveTo>
                    <a:pt x="0" y="54863"/>
                  </a:moveTo>
                  <a:lnTo>
                    <a:pt x="0" y="0"/>
                  </a:lnTo>
                  <a:lnTo>
                    <a:pt x="162305" y="0"/>
                  </a:lnTo>
                  <a:lnTo>
                    <a:pt x="162305" y="54863"/>
                  </a:lnTo>
                  <a:lnTo>
                    <a:pt x="0" y="54863"/>
                  </a:lnTo>
                  <a:close/>
                </a:path>
              </a:pathLst>
            </a:custGeom>
            <a:ln w="23609">
              <a:solidFill>
                <a:srgbClr val="000000"/>
              </a:solidFill>
            </a:ln>
          </p:spPr>
          <p:txBody>
            <a:bodyPr wrap="square" lIns="0" tIns="0" rIns="0" bIns="0" rtlCol="0"/>
            <a:lstStyle/>
            <a:p>
              <a:endParaRPr/>
            </a:p>
          </p:txBody>
        </p:sp>
        <p:pic>
          <p:nvPicPr>
            <p:cNvPr id="133" name="object 133"/>
            <p:cNvPicPr/>
            <p:nvPr/>
          </p:nvPicPr>
          <p:blipFill>
            <a:blip r:embed="rId14" cstate="print"/>
            <a:stretch>
              <a:fillRect/>
            </a:stretch>
          </p:blipFill>
          <p:spPr>
            <a:xfrm>
              <a:off x="8985777" y="4111377"/>
              <a:ext cx="65519" cy="65519"/>
            </a:xfrm>
            <a:prstGeom prst="rect">
              <a:avLst/>
            </a:prstGeom>
          </p:spPr>
        </p:pic>
        <p:sp>
          <p:nvSpPr>
            <p:cNvPr id="134" name="object 134"/>
            <p:cNvSpPr/>
            <p:nvPr/>
          </p:nvSpPr>
          <p:spPr>
            <a:xfrm>
              <a:off x="9823589" y="4334255"/>
              <a:ext cx="394970" cy="5080"/>
            </a:xfrm>
            <a:custGeom>
              <a:avLst/>
              <a:gdLst/>
              <a:ahLst/>
              <a:cxnLst/>
              <a:rect l="l" t="t" r="r" b="b"/>
              <a:pathLst>
                <a:path w="394970" h="5079">
                  <a:moveTo>
                    <a:pt x="394716" y="4571"/>
                  </a:moveTo>
                  <a:lnTo>
                    <a:pt x="0" y="0"/>
                  </a:lnTo>
                </a:path>
              </a:pathLst>
            </a:custGeom>
            <a:ln w="8331">
              <a:solidFill>
                <a:srgbClr val="000000"/>
              </a:solidFill>
            </a:ln>
          </p:spPr>
          <p:txBody>
            <a:bodyPr wrap="square" lIns="0" tIns="0" rIns="0" bIns="0" rtlCol="0"/>
            <a:lstStyle/>
            <a:p>
              <a:endParaRPr/>
            </a:p>
          </p:txBody>
        </p:sp>
        <p:sp>
          <p:nvSpPr>
            <p:cNvPr id="135" name="object 135"/>
            <p:cNvSpPr/>
            <p:nvPr/>
          </p:nvSpPr>
          <p:spPr>
            <a:xfrm>
              <a:off x="9040253" y="4331207"/>
              <a:ext cx="252729" cy="1905"/>
            </a:xfrm>
            <a:custGeom>
              <a:avLst/>
              <a:gdLst/>
              <a:ahLst/>
              <a:cxnLst/>
              <a:rect l="l" t="t" r="r" b="b"/>
              <a:pathLst>
                <a:path w="252729" h="1904">
                  <a:moveTo>
                    <a:pt x="252222" y="1523"/>
                  </a:moveTo>
                  <a:lnTo>
                    <a:pt x="0" y="0"/>
                  </a:lnTo>
                </a:path>
              </a:pathLst>
            </a:custGeom>
            <a:ln w="8331">
              <a:solidFill>
                <a:srgbClr val="000000"/>
              </a:solidFill>
            </a:ln>
          </p:spPr>
          <p:txBody>
            <a:bodyPr wrap="square" lIns="0" tIns="0" rIns="0" bIns="0" rtlCol="0"/>
            <a:lstStyle/>
            <a:p>
              <a:endParaRPr/>
            </a:p>
          </p:txBody>
        </p:sp>
        <p:sp>
          <p:nvSpPr>
            <p:cNvPr id="136" name="object 136"/>
            <p:cNvSpPr/>
            <p:nvPr/>
          </p:nvSpPr>
          <p:spPr>
            <a:xfrm>
              <a:off x="9465449" y="4335017"/>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137" name="object 137"/>
            <p:cNvSpPr/>
            <p:nvPr/>
          </p:nvSpPr>
          <p:spPr>
            <a:xfrm>
              <a:off x="9710051" y="4269485"/>
              <a:ext cx="113030" cy="130810"/>
            </a:xfrm>
            <a:custGeom>
              <a:avLst/>
              <a:gdLst/>
              <a:ahLst/>
              <a:cxnLst/>
              <a:rect l="l" t="t" r="r" b="b"/>
              <a:pathLst>
                <a:path w="113029" h="130810">
                  <a:moveTo>
                    <a:pt x="112775" y="0"/>
                  </a:moveTo>
                  <a:lnTo>
                    <a:pt x="0" y="64770"/>
                  </a:lnTo>
                  <a:lnTo>
                    <a:pt x="112775" y="130302"/>
                  </a:lnTo>
                  <a:lnTo>
                    <a:pt x="112775" y="0"/>
                  </a:lnTo>
                  <a:close/>
                </a:path>
              </a:pathLst>
            </a:custGeom>
            <a:ln w="23609">
              <a:solidFill>
                <a:srgbClr val="000000"/>
              </a:solidFill>
            </a:ln>
          </p:spPr>
          <p:txBody>
            <a:bodyPr wrap="square" lIns="0" tIns="0" rIns="0" bIns="0" rtlCol="0"/>
            <a:lstStyle/>
            <a:p>
              <a:endParaRPr/>
            </a:p>
          </p:txBody>
        </p:sp>
        <p:sp>
          <p:nvSpPr>
            <p:cNvPr id="138" name="object 138"/>
            <p:cNvSpPr/>
            <p:nvPr/>
          </p:nvSpPr>
          <p:spPr>
            <a:xfrm>
              <a:off x="9709277" y="4268723"/>
              <a:ext cx="2540" cy="136525"/>
            </a:xfrm>
            <a:custGeom>
              <a:avLst/>
              <a:gdLst/>
              <a:ahLst/>
              <a:cxnLst/>
              <a:rect l="l" t="t" r="r" b="b"/>
              <a:pathLst>
                <a:path w="2540" h="136525">
                  <a:moveTo>
                    <a:pt x="0" y="136398"/>
                  </a:moveTo>
                  <a:lnTo>
                    <a:pt x="2285" y="0"/>
                  </a:lnTo>
                </a:path>
              </a:pathLst>
            </a:custGeom>
            <a:ln w="8331">
              <a:solidFill>
                <a:srgbClr val="000000"/>
              </a:solidFill>
            </a:ln>
          </p:spPr>
          <p:txBody>
            <a:bodyPr wrap="square" lIns="0" tIns="0" rIns="0" bIns="0" rtlCol="0"/>
            <a:lstStyle/>
            <a:p>
              <a:endParaRPr/>
            </a:p>
          </p:txBody>
        </p:sp>
        <p:sp>
          <p:nvSpPr>
            <p:cNvPr id="139" name="object 139"/>
            <p:cNvSpPr/>
            <p:nvPr/>
          </p:nvSpPr>
          <p:spPr>
            <a:xfrm>
              <a:off x="9296273" y="4305299"/>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140" name="object 140"/>
            <p:cNvPicPr/>
            <p:nvPr/>
          </p:nvPicPr>
          <p:blipFill>
            <a:blip r:embed="rId15" cstate="print"/>
            <a:stretch>
              <a:fillRect/>
            </a:stretch>
          </p:blipFill>
          <p:spPr>
            <a:xfrm>
              <a:off x="8984240" y="4296543"/>
              <a:ext cx="65531" cy="64757"/>
            </a:xfrm>
            <a:prstGeom prst="rect">
              <a:avLst/>
            </a:prstGeom>
          </p:spPr>
        </p:pic>
        <p:sp>
          <p:nvSpPr>
            <p:cNvPr id="141" name="object 141"/>
            <p:cNvSpPr/>
            <p:nvPr/>
          </p:nvSpPr>
          <p:spPr>
            <a:xfrm>
              <a:off x="9825113" y="4504943"/>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142" name="object 142"/>
            <p:cNvSpPr/>
            <p:nvPr/>
          </p:nvSpPr>
          <p:spPr>
            <a:xfrm>
              <a:off x="9041777" y="4503419"/>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143" name="object 143"/>
            <p:cNvSpPr/>
            <p:nvPr/>
          </p:nvSpPr>
          <p:spPr>
            <a:xfrm>
              <a:off x="9467735" y="4506467"/>
              <a:ext cx="363855" cy="0"/>
            </a:xfrm>
            <a:custGeom>
              <a:avLst/>
              <a:gdLst/>
              <a:ahLst/>
              <a:cxnLst/>
              <a:rect l="l" t="t" r="r" b="b"/>
              <a:pathLst>
                <a:path w="363854">
                  <a:moveTo>
                    <a:pt x="363474" y="0"/>
                  </a:moveTo>
                  <a:lnTo>
                    <a:pt x="0" y="0"/>
                  </a:lnTo>
                </a:path>
              </a:pathLst>
            </a:custGeom>
            <a:ln w="8331">
              <a:solidFill>
                <a:srgbClr val="000000"/>
              </a:solidFill>
            </a:ln>
          </p:spPr>
          <p:txBody>
            <a:bodyPr wrap="square" lIns="0" tIns="0" rIns="0" bIns="0" rtlCol="0"/>
            <a:lstStyle/>
            <a:p>
              <a:endParaRPr/>
            </a:p>
          </p:txBody>
        </p:sp>
        <p:sp>
          <p:nvSpPr>
            <p:cNvPr id="144" name="object 144"/>
            <p:cNvSpPr/>
            <p:nvPr/>
          </p:nvSpPr>
          <p:spPr>
            <a:xfrm>
              <a:off x="9711575" y="4440173"/>
              <a:ext cx="113030" cy="130810"/>
            </a:xfrm>
            <a:custGeom>
              <a:avLst/>
              <a:gdLst/>
              <a:ahLst/>
              <a:cxnLst/>
              <a:rect l="l" t="t" r="r" b="b"/>
              <a:pathLst>
                <a:path w="113029" h="130810">
                  <a:moveTo>
                    <a:pt x="112775" y="0"/>
                  </a:moveTo>
                  <a:lnTo>
                    <a:pt x="0" y="65532"/>
                  </a:lnTo>
                  <a:lnTo>
                    <a:pt x="112775" y="130302"/>
                  </a:lnTo>
                  <a:lnTo>
                    <a:pt x="112775" y="0"/>
                  </a:lnTo>
                  <a:close/>
                </a:path>
              </a:pathLst>
            </a:custGeom>
            <a:ln w="23609">
              <a:solidFill>
                <a:srgbClr val="000000"/>
              </a:solidFill>
            </a:ln>
          </p:spPr>
          <p:txBody>
            <a:bodyPr wrap="square" lIns="0" tIns="0" rIns="0" bIns="0" rtlCol="0"/>
            <a:lstStyle/>
            <a:p>
              <a:endParaRPr/>
            </a:p>
          </p:txBody>
        </p:sp>
        <p:sp>
          <p:nvSpPr>
            <p:cNvPr id="145" name="object 145"/>
            <p:cNvSpPr/>
            <p:nvPr/>
          </p:nvSpPr>
          <p:spPr>
            <a:xfrm>
              <a:off x="9710801" y="4439411"/>
              <a:ext cx="2540" cy="136525"/>
            </a:xfrm>
            <a:custGeom>
              <a:avLst/>
              <a:gdLst/>
              <a:ahLst/>
              <a:cxnLst/>
              <a:rect l="l" t="t" r="r" b="b"/>
              <a:pathLst>
                <a:path w="2540" h="136525">
                  <a:moveTo>
                    <a:pt x="0" y="136398"/>
                  </a:moveTo>
                  <a:lnTo>
                    <a:pt x="2285" y="0"/>
                  </a:lnTo>
                </a:path>
              </a:pathLst>
            </a:custGeom>
            <a:ln w="8331">
              <a:solidFill>
                <a:srgbClr val="000000"/>
              </a:solidFill>
            </a:ln>
          </p:spPr>
          <p:txBody>
            <a:bodyPr wrap="square" lIns="0" tIns="0" rIns="0" bIns="0" rtlCol="0"/>
            <a:lstStyle/>
            <a:p>
              <a:endParaRPr/>
            </a:p>
          </p:txBody>
        </p:sp>
        <p:sp>
          <p:nvSpPr>
            <p:cNvPr id="146" name="object 146"/>
            <p:cNvSpPr/>
            <p:nvPr/>
          </p:nvSpPr>
          <p:spPr>
            <a:xfrm>
              <a:off x="9297797" y="4477511"/>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147" name="object 147"/>
            <p:cNvPicPr/>
            <p:nvPr/>
          </p:nvPicPr>
          <p:blipFill>
            <a:blip r:embed="rId16" cstate="print"/>
            <a:stretch>
              <a:fillRect/>
            </a:stretch>
          </p:blipFill>
          <p:spPr>
            <a:xfrm>
              <a:off x="8985777" y="4467231"/>
              <a:ext cx="65519" cy="65519"/>
            </a:xfrm>
            <a:prstGeom prst="rect">
              <a:avLst/>
            </a:prstGeom>
          </p:spPr>
        </p:pic>
        <p:sp>
          <p:nvSpPr>
            <p:cNvPr id="148" name="object 148"/>
            <p:cNvSpPr/>
            <p:nvPr/>
          </p:nvSpPr>
          <p:spPr>
            <a:xfrm>
              <a:off x="9825113" y="4674107"/>
              <a:ext cx="394970" cy="5715"/>
            </a:xfrm>
            <a:custGeom>
              <a:avLst/>
              <a:gdLst/>
              <a:ahLst/>
              <a:cxnLst/>
              <a:rect l="l" t="t" r="r" b="b"/>
              <a:pathLst>
                <a:path w="394970" h="5714">
                  <a:moveTo>
                    <a:pt x="394716" y="5333"/>
                  </a:moveTo>
                  <a:lnTo>
                    <a:pt x="0" y="0"/>
                  </a:lnTo>
                </a:path>
              </a:pathLst>
            </a:custGeom>
            <a:ln w="8331">
              <a:solidFill>
                <a:srgbClr val="000000"/>
              </a:solidFill>
            </a:ln>
          </p:spPr>
          <p:txBody>
            <a:bodyPr wrap="square" lIns="0" tIns="0" rIns="0" bIns="0" rtlCol="0"/>
            <a:lstStyle/>
            <a:p>
              <a:endParaRPr/>
            </a:p>
          </p:txBody>
        </p:sp>
        <p:sp>
          <p:nvSpPr>
            <p:cNvPr id="149" name="object 149"/>
            <p:cNvSpPr/>
            <p:nvPr/>
          </p:nvSpPr>
          <p:spPr>
            <a:xfrm>
              <a:off x="9041777" y="4671059"/>
              <a:ext cx="252729" cy="2540"/>
            </a:xfrm>
            <a:custGeom>
              <a:avLst/>
              <a:gdLst/>
              <a:ahLst/>
              <a:cxnLst/>
              <a:rect l="l" t="t" r="r" b="b"/>
              <a:pathLst>
                <a:path w="252729" h="2539">
                  <a:moveTo>
                    <a:pt x="252222" y="2285"/>
                  </a:moveTo>
                  <a:lnTo>
                    <a:pt x="0" y="0"/>
                  </a:lnTo>
                </a:path>
              </a:pathLst>
            </a:custGeom>
            <a:ln w="8331">
              <a:solidFill>
                <a:srgbClr val="000000"/>
              </a:solidFill>
            </a:ln>
          </p:spPr>
          <p:txBody>
            <a:bodyPr wrap="square" lIns="0" tIns="0" rIns="0" bIns="0" rtlCol="0"/>
            <a:lstStyle/>
            <a:p>
              <a:endParaRPr/>
            </a:p>
          </p:txBody>
        </p:sp>
        <p:sp>
          <p:nvSpPr>
            <p:cNvPr id="150" name="object 150"/>
            <p:cNvSpPr/>
            <p:nvPr/>
          </p:nvSpPr>
          <p:spPr>
            <a:xfrm>
              <a:off x="9466211" y="4675631"/>
              <a:ext cx="363855" cy="0"/>
            </a:xfrm>
            <a:custGeom>
              <a:avLst/>
              <a:gdLst/>
              <a:ahLst/>
              <a:cxnLst/>
              <a:rect l="l" t="t" r="r" b="b"/>
              <a:pathLst>
                <a:path w="363854">
                  <a:moveTo>
                    <a:pt x="363474" y="0"/>
                  </a:moveTo>
                  <a:lnTo>
                    <a:pt x="0" y="0"/>
                  </a:lnTo>
                </a:path>
              </a:pathLst>
            </a:custGeom>
            <a:ln w="8331">
              <a:solidFill>
                <a:srgbClr val="000000"/>
              </a:solidFill>
            </a:ln>
          </p:spPr>
          <p:txBody>
            <a:bodyPr wrap="square" lIns="0" tIns="0" rIns="0" bIns="0" rtlCol="0"/>
            <a:lstStyle/>
            <a:p>
              <a:endParaRPr/>
            </a:p>
          </p:txBody>
        </p:sp>
        <p:sp>
          <p:nvSpPr>
            <p:cNvPr id="151" name="object 151"/>
            <p:cNvSpPr/>
            <p:nvPr/>
          </p:nvSpPr>
          <p:spPr>
            <a:xfrm>
              <a:off x="9711575" y="4609337"/>
              <a:ext cx="113030" cy="131445"/>
            </a:xfrm>
            <a:custGeom>
              <a:avLst/>
              <a:gdLst/>
              <a:ahLst/>
              <a:cxnLst/>
              <a:rect l="l" t="t" r="r" b="b"/>
              <a:pathLst>
                <a:path w="113029" h="131445">
                  <a:moveTo>
                    <a:pt x="112775" y="0"/>
                  </a:moveTo>
                  <a:lnTo>
                    <a:pt x="0" y="65532"/>
                  </a:lnTo>
                  <a:lnTo>
                    <a:pt x="112775" y="131064"/>
                  </a:lnTo>
                  <a:lnTo>
                    <a:pt x="112775" y="0"/>
                  </a:lnTo>
                  <a:close/>
                </a:path>
              </a:pathLst>
            </a:custGeom>
            <a:ln w="23609">
              <a:solidFill>
                <a:srgbClr val="000000"/>
              </a:solidFill>
            </a:ln>
          </p:spPr>
          <p:txBody>
            <a:bodyPr wrap="square" lIns="0" tIns="0" rIns="0" bIns="0" rtlCol="0"/>
            <a:lstStyle/>
            <a:p>
              <a:endParaRPr/>
            </a:p>
          </p:txBody>
        </p:sp>
        <p:sp>
          <p:nvSpPr>
            <p:cNvPr id="152" name="object 152"/>
            <p:cNvSpPr/>
            <p:nvPr/>
          </p:nvSpPr>
          <p:spPr>
            <a:xfrm>
              <a:off x="9710801" y="4608575"/>
              <a:ext cx="2540" cy="137160"/>
            </a:xfrm>
            <a:custGeom>
              <a:avLst/>
              <a:gdLst/>
              <a:ahLst/>
              <a:cxnLst/>
              <a:rect l="l" t="t" r="r" b="b"/>
              <a:pathLst>
                <a:path w="2540" h="137160">
                  <a:moveTo>
                    <a:pt x="0" y="137160"/>
                  </a:moveTo>
                  <a:lnTo>
                    <a:pt x="2285" y="0"/>
                  </a:lnTo>
                </a:path>
              </a:pathLst>
            </a:custGeom>
            <a:ln w="8331">
              <a:solidFill>
                <a:srgbClr val="000000"/>
              </a:solidFill>
            </a:ln>
          </p:spPr>
          <p:txBody>
            <a:bodyPr wrap="square" lIns="0" tIns="0" rIns="0" bIns="0" rtlCol="0"/>
            <a:lstStyle/>
            <a:p>
              <a:endParaRPr/>
            </a:p>
          </p:txBody>
        </p:sp>
        <p:sp>
          <p:nvSpPr>
            <p:cNvPr id="153" name="object 153"/>
            <p:cNvSpPr/>
            <p:nvPr/>
          </p:nvSpPr>
          <p:spPr>
            <a:xfrm>
              <a:off x="9297797" y="4645913"/>
              <a:ext cx="162560" cy="55880"/>
            </a:xfrm>
            <a:custGeom>
              <a:avLst/>
              <a:gdLst/>
              <a:ahLst/>
              <a:cxnLst/>
              <a:rect l="l" t="t" r="r" b="b"/>
              <a:pathLst>
                <a:path w="162559" h="55879">
                  <a:moveTo>
                    <a:pt x="0" y="55625"/>
                  </a:moveTo>
                  <a:lnTo>
                    <a:pt x="0" y="0"/>
                  </a:lnTo>
                  <a:lnTo>
                    <a:pt x="162305" y="0"/>
                  </a:lnTo>
                  <a:lnTo>
                    <a:pt x="162305" y="55625"/>
                  </a:lnTo>
                  <a:lnTo>
                    <a:pt x="0" y="55625"/>
                  </a:lnTo>
                  <a:close/>
                </a:path>
              </a:pathLst>
            </a:custGeom>
            <a:ln w="23609">
              <a:solidFill>
                <a:srgbClr val="000000"/>
              </a:solidFill>
            </a:ln>
          </p:spPr>
          <p:txBody>
            <a:bodyPr wrap="square" lIns="0" tIns="0" rIns="0" bIns="0" rtlCol="0"/>
            <a:lstStyle/>
            <a:p>
              <a:endParaRPr/>
            </a:p>
          </p:txBody>
        </p:sp>
        <p:pic>
          <p:nvPicPr>
            <p:cNvPr id="154" name="object 154"/>
            <p:cNvPicPr/>
            <p:nvPr/>
          </p:nvPicPr>
          <p:blipFill>
            <a:blip r:embed="rId14" cstate="print"/>
            <a:stretch>
              <a:fillRect/>
            </a:stretch>
          </p:blipFill>
          <p:spPr>
            <a:xfrm>
              <a:off x="8985777" y="4636395"/>
              <a:ext cx="65519" cy="65519"/>
            </a:xfrm>
            <a:prstGeom prst="rect">
              <a:avLst/>
            </a:prstGeom>
          </p:spPr>
        </p:pic>
        <p:sp>
          <p:nvSpPr>
            <p:cNvPr id="155" name="object 155"/>
            <p:cNvSpPr/>
            <p:nvPr/>
          </p:nvSpPr>
          <p:spPr>
            <a:xfrm>
              <a:off x="9827399" y="4850891"/>
              <a:ext cx="394970" cy="5080"/>
            </a:xfrm>
            <a:custGeom>
              <a:avLst/>
              <a:gdLst/>
              <a:ahLst/>
              <a:cxnLst/>
              <a:rect l="l" t="t" r="r" b="b"/>
              <a:pathLst>
                <a:path w="394970" h="5079">
                  <a:moveTo>
                    <a:pt x="394716" y="4572"/>
                  </a:moveTo>
                  <a:lnTo>
                    <a:pt x="0" y="0"/>
                  </a:lnTo>
                </a:path>
              </a:pathLst>
            </a:custGeom>
            <a:ln w="8331">
              <a:solidFill>
                <a:srgbClr val="000000"/>
              </a:solidFill>
            </a:ln>
          </p:spPr>
          <p:txBody>
            <a:bodyPr wrap="square" lIns="0" tIns="0" rIns="0" bIns="0" rtlCol="0"/>
            <a:lstStyle/>
            <a:p>
              <a:endParaRPr/>
            </a:p>
          </p:txBody>
        </p:sp>
        <p:sp>
          <p:nvSpPr>
            <p:cNvPr id="156" name="object 156"/>
            <p:cNvSpPr/>
            <p:nvPr/>
          </p:nvSpPr>
          <p:spPr>
            <a:xfrm>
              <a:off x="9044063" y="4847843"/>
              <a:ext cx="252729" cy="1905"/>
            </a:xfrm>
            <a:custGeom>
              <a:avLst/>
              <a:gdLst/>
              <a:ahLst/>
              <a:cxnLst/>
              <a:rect l="l" t="t" r="r" b="b"/>
              <a:pathLst>
                <a:path w="252729" h="1904">
                  <a:moveTo>
                    <a:pt x="252222" y="1524"/>
                  </a:moveTo>
                  <a:lnTo>
                    <a:pt x="0" y="0"/>
                  </a:lnTo>
                </a:path>
              </a:pathLst>
            </a:custGeom>
            <a:ln w="8331">
              <a:solidFill>
                <a:srgbClr val="000000"/>
              </a:solidFill>
            </a:ln>
          </p:spPr>
          <p:txBody>
            <a:bodyPr wrap="square" lIns="0" tIns="0" rIns="0" bIns="0" rtlCol="0"/>
            <a:lstStyle/>
            <a:p>
              <a:endParaRPr/>
            </a:p>
          </p:txBody>
        </p:sp>
        <p:sp>
          <p:nvSpPr>
            <p:cNvPr id="157" name="object 157"/>
            <p:cNvSpPr/>
            <p:nvPr/>
          </p:nvSpPr>
          <p:spPr>
            <a:xfrm>
              <a:off x="9470783" y="4851653"/>
              <a:ext cx="363220" cy="0"/>
            </a:xfrm>
            <a:custGeom>
              <a:avLst/>
              <a:gdLst/>
              <a:ahLst/>
              <a:cxnLst/>
              <a:rect l="l" t="t" r="r" b="b"/>
              <a:pathLst>
                <a:path w="363220">
                  <a:moveTo>
                    <a:pt x="362711" y="0"/>
                  </a:moveTo>
                  <a:lnTo>
                    <a:pt x="0" y="0"/>
                  </a:lnTo>
                </a:path>
              </a:pathLst>
            </a:custGeom>
            <a:ln w="8331">
              <a:solidFill>
                <a:srgbClr val="000000"/>
              </a:solidFill>
            </a:ln>
          </p:spPr>
          <p:txBody>
            <a:bodyPr wrap="square" lIns="0" tIns="0" rIns="0" bIns="0" rtlCol="0"/>
            <a:lstStyle/>
            <a:p>
              <a:endParaRPr/>
            </a:p>
          </p:txBody>
        </p:sp>
        <p:sp>
          <p:nvSpPr>
            <p:cNvPr id="158" name="object 158"/>
            <p:cNvSpPr/>
            <p:nvPr/>
          </p:nvSpPr>
          <p:spPr>
            <a:xfrm>
              <a:off x="9714611" y="4786121"/>
              <a:ext cx="112395" cy="130810"/>
            </a:xfrm>
            <a:custGeom>
              <a:avLst/>
              <a:gdLst/>
              <a:ahLst/>
              <a:cxnLst/>
              <a:rect l="l" t="t" r="r" b="b"/>
              <a:pathLst>
                <a:path w="112395" h="130810">
                  <a:moveTo>
                    <a:pt x="112014" y="0"/>
                  </a:moveTo>
                  <a:lnTo>
                    <a:pt x="0" y="65532"/>
                  </a:lnTo>
                  <a:lnTo>
                    <a:pt x="112014" y="130302"/>
                  </a:lnTo>
                  <a:lnTo>
                    <a:pt x="112014" y="0"/>
                  </a:lnTo>
                  <a:close/>
                </a:path>
              </a:pathLst>
            </a:custGeom>
            <a:ln w="23609">
              <a:solidFill>
                <a:srgbClr val="000000"/>
              </a:solidFill>
            </a:ln>
          </p:spPr>
          <p:txBody>
            <a:bodyPr wrap="square" lIns="0" tIns="0" rIns="0" bIns="0" rtlCol="0"/>
            <a:lstStyle/>
            <a:p>
              <a:endParaRPr/>
            </a:p>
          </p:txBody>
        </p:sp>
        <p:sp>
          <p:nvSpPr>
            <p:cNvPr id="159" name="object 159"/>
            <p:cNvSpPr/>
            <p:nvPr/>
          </p:nvSpPr>
          <p:spPr>
            <a:xfrm>
              <a:off x="9713849" y="4785359"/>
              <a:ext cx="1905" cy="136525"/>
            </a:xfrm>
            <a:custGeom>
              <a:avLst/>
              <a:gdLst/>
              <a:ahLst/>
              <a:cxnLst/>
              <a:rect l="l" t="t" r="r" b="b"/>
              <a:pathLst>
                <a:path w="1904" h="136525">
                  <a:moveTo>
                    <a:pt x="0" y="136398"/>
                  </a:moveTo>
                  <a:lnTo>
                    <a:pt x="1523" y="0"/>
                  </a:lnTo>
                </a:path>
              </a:pathLst>
            </a:custGeom>
            <a:ln w="8331">
              <a:solidFill>
                <a:srgbClr val="000000"/>
              </a:solidFill>
            </a:ln>
          </p:spPr>
          <p:txBody>
            <a:bodyPr wrap="square" lIns="0" tIns="0" rIns="0" bIns="0" rtlCol="0"/>
            <a:lstStyle/>
            <a:p>
              <a:endParaRPr/>
            </a:p>
          </p:txBody>
        </p:sp>
        <p:sp>
          <p:nvSpPr>
            <p:cNvPr id="160" name="object 160"/>
            <p:cNvSpPr/>
            <p:nvPr/>
          </p:nvSpPr>
          <p:spPr>
            <a:xfrm>
              <a:off x="9300857" y="4821935"/>
              <a:ext cx="163830" cy="55880"/>
            </a:xfrm>
            <a:custGeom>
              <a:avLst/>
              <a:gdLst/>
              <a:ahLst/>
              <a:cxnLst/>
              <a:rect l="l" t="t" r="r" b="b"/>
              <a:pathLst>
                <a:path w="163829" h="55879">
                  <a:moveTo>
                    <a:pt x="0" y="55625"/>
                  </a:moveTo>
                  <a:lnTo>
                    <a:pt x="0" y="0"/>
                  </a:lnTo>
                  <a:lnTo>
                    <a:pt x="163829" y="0"/>
                  </a:lnTo>
                  <a:lnTo>
                    <a:pt x="163829" y="55625"/>
                  </a:lnTo>
                  <a:lnTo>
                    <a:pt x="0" y="55625"/>
                  </a:lnTo>
                  <a:close/>
                </a:path>
              </a:pathLst>
            </a:custGeom>
            <a:ln w="23609">
              <a:solidFill>
                <a:srgbClr val="000000"/>
              </a:solidFill>
            </a:ln>
          </p:spPr>
          <p:txBody>
            <a:bodyPr wrap="square" lIns="0" tIns="0" rIns="0" bIns="0" rtlCol="0"/>
            <a:lstStyle/>
            <a:p>
              <a:endParaRPr/>
            </a:p>
          </p:txBody>
        </p:sp>
        <p:pic>
          <p:nvPicPr>
            <p:cNvPr id="161" name="object 161"/>
            <p:cNvPicPr/>
            <p:nvPr/>
          </p:nvPicPr>
          <p:blipFill>
            <a:blip r:embed="rId17" cstate="print"/>
            <a:stretch>
              <a:fillRect/>
            </a:stretch>
          </p:blipFill>
          <p:spPr>
            <a:xfrm>
              <a:off x="10187451" y="4924431"/>
              <a:ext cx="65519" cy="64757"/>
            </a:xfrm>
            <a:prstGeom prst="rect">
              <a:avLst/>
            </a:prstGeom>
          </p:spPr>
        </p:pic>
        <p:pic>
          <p:nvPicPr>
            <p:cNvPr id="162" name="object 162"/>
            <p:cNvPicPr/>
            <p:nvPr/>
          </p:nvPicPr>
          <p:blipFill>
            <a:blip r:embed="rId18" cstate="print"/>
            <a:stretch>
              <a:fillRect/>
            </a:stretch>
          </p:blipFill>
          <p:spPr>
            <a:xfrm>
              <a:off x="8988825" y="4813179"/>
              <a:ext cx="65506" cy="65519"/>
            </a:xfrm>
            <a:prstGeom prst="rect">
              <a:avLst/>
            </a:prstGeom>
          </p:spPr>
        </p:pic>
        <p:sp>
          <p:nvSpPr>
            <p:cNvPr id="163" name="object 163"/>
            <p:cNvSpPr/>
            <p:nvPr/>
          </p:nvSpPr>
          <p:spPr>
            <a:xfrm>
              <a:off x="10218305" y="3630929"/>
              <a:ext cx="0" cy="1301115"/>
            </a:xfrm>
            <a:custGeom>
              <a:avLst/>
              <a:gdLst/>
              <a:ahLst/>
              <a:cxnLst/>
              <a:rect l="l" t="t" r="r" b="b"/>
              <a:pathLst>
                <a:path h="1301114">
                  <a:moveTo>
                    <a:pt x="0" y="1300734"/>
                  </a:moveTo>
                  <a:lnTo>
                    <a:pt x="0" y="0"/>
                  </a:lnTo>
                </a:path>
              </a:pathLst>
            </a:custGeom>
            <a:ln w="5549">
              <a:solidFill>
                <a:srgbClr val="000000"/>
              </a:solidFill>
            </a:ln>
          </p:spPr>
          <p:txBody>
            <a:bodyPr wrap="square" lIns="0" tIns="0" rIns="0" bIns="0" rtlCol="0"/>
            <a:lstStyle/>
            <a:p>
              <a:endParaRPr/>
            </a:p>
          </p:txBody>
        </p:sp>
      </p:grpSp>
      <p:sp>
        <p:nvSpPr>
          <p:cNvPr id="164" name="object 16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268886" y="2365013"/>
          <a:ext cx="2538730" cy="3976359"/>
        </p:xfrm>
        <a:graphic>
          <a:graphicData uri="http://schemas.openxmlformats.org/drawingml/2006/table">
            <a:tbl>
              <a:tblPr firstRow="1" bandRow="1">
                <a:tableStyleId>{2D5ABB26-0587-4C30-8999-92F81FD0307C}</a:tableStyleId>
              </a:tblPr>
              <a:tblGrid>
                <a:gridCol w="1269365">
                  <a:extLst>
                    <a:ext uri="{9D8B030D-6E8A-4147-A177-3AD203B41FA5}">
                      <a16:colId xmlns:a16="http://schemas.microsoft.com/office/drawing/2014/main" val="20000"/>
                    </a:ext>
                  </a:extLst>
                </a:gridCol>
                <a:gridCol w="1269365">
                  <a:extLst>
                    <a:ext uri="{9D8B030D-6E8A-4147-A177-3AD203B41FA5}">
                      <a16:colId xmlns:a16="http://schemas.microsoft.com/office/drawing/2014/main" val="20001"/>
                    </a:ext>
                  </a:extLst>
                </a:gridCol>
              </a:tblGrid>
              <a:tr h="233679">
                <a:tc>
                  <a:txBody>
                    <a:bodyPr/>
                    <a:lstStyle/>
                    <a:p>
                      <a:pPr algn="ctr">
                        <a:lnSpc>
                          <a:spcPts val="1630"/>
                        </a:lnSpc>
                        <a:spcBef>
                          <a:spcPts val="110"/>
                        </a:spcBef>
                      </a:pPr>
                      <a:r>
                        <a:rPr sz="1400" b="1" spc="-10" dirty="0">
                          <a:solidFill>
                            <a:srgbClr val="FFFFFF"/>
                          </a:solidFill>
                          <a:latin typeface="Times New Roman"/>
                          <a:cs typeface="Times New Roman"/>
                        </a:rPr>
                        <a:t>hex[3:0]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ts val="1630"/>
                        </a:lnSpc>
                        <a:spcBef>
                          <a:spcPts val="110"/>
                        </a:spcBef>
                      </a:pPr>
                      <a:r>
                        <a:rPr sz="1400" b="1" spc="-10" dirty="0">
                          <a:solidFill>
                            <a:srgbClr val="FFFFFF"/>
                          </a:solidFill>
                          <a:latin typeface="Times New Roman"/>
                          <a:cs typeface="Times New Roman"/>
                        </a:rPr>
                        <a:t>sseg[6:0]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0000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0000001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0001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635" algn="ctr">
                        <a:lnSpc>
                          <a:spcPts val="1635"/>
                        </a:lnSpc>
                        <a:spcBef>
                          <a:spcPts val="105"/>
                        </a:spcBef>
                      </a:pPr>
                      <a:r>
                        <a:rPr sz="1400" spc="-10" dirty="0">
                          <a:latin typeface="Times New Roman"/>
                          <a:cs typeface="Times New Roman"/>
                        </a:rPr>
                        <a:t>1001111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0010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0010010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0011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0000110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0100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1001100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0101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0100100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0110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0100000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33679">
                <a:tc>
                  <a:txBody>
                    <a:bodyPr/>
                    <a:lstStyle/>
                    <a:p>
                      <a:pPr marR="3810" algn="ctr">
                        <a:lnSpc>
                          <a:spcPts val="1630"/>
                        </a:lnSpc>
                        <a:spcBef>
                          <a:spcPts val="110"/>
                        </a:spcBef>
                      </a:pPr>
                      <a:r>
                        <a:rPr sz="1400" b="1" spc="-20" dirty="0">
                          <a:solidFill>
                            <a:srgbClr val="FFFFFF"/>
                          </a:solidFill>
                          <a:latin typeface="Times New Roman"/>
                          <a:cs typeface="Times New Roman"/>
                        </a:rPr>
                        <a:t>0111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R="635" algn="ctr">
                        <a:lnSpc>
                          <a:spcPts val="1630"/>
                        </a:lnSpc>
                        <a:spcBef>
                          <a:spcPts val="110"/>
                        </a:spcBef>
                      </a:pPr>
                      <a:r>
                        <a:rPr sz="1400" spc="-10" dirty="0">
                          <a:latin typeface="Times New Roman"/>
                          <a:cs typeface="Times New Roman"/>
                        </a:rPr>
                        <a:t>0001111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1000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0000000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9"/>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1001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0000100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0"/>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1010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0001000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1"/>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1011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1100000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2"/>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1100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0110001</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3"/>
                  </a:ext>
                </a:extLst>
              </a:tr>
              <a:tr h="234315">
                <a:tc>
                  <a:txBody>
                    <a:bodyPr/>
                    <a:lstStyle/>
                    <a:p>
                      <a:pPr algn="ctr">
                        <a:lnSpc>
                          <a:spcPts val="1635"/>
                        </a:lnSpc>
                        <a:spcBef>
                          <a:spcPts val="110"/>
                        </a:spcBef>
                      </a:pPr>
                      <a:r>
                        <a:rPr sz="1400" b="1" spc="-20" dirty="0">
                          <a:solidFill>
                            <a:srgbClr val="FFFFFF"/>
                          </a:solidFill>
                          <a:latin typeface="Times New Roman"/>
                          <a:cs typeface="Times New Roman"/>
                        </a:rPr>
                        <a:t>1101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10"/>
                        </a:spcBef>
                      </a:pPr>
                      <a:r>
                        <a:rPr sz="1400" spc="-10" dirty="0">
                          <a:latin typeface="Times New Roman"/>
                          <a:cs typeface="Times New Roman"/>
                        </a:rPr>
                        <a:t>1000010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4"/>
                  </a:ext>
                </a:extLst>
              </a:tr>
              <a:tr h="233679">
                <a:tc>
                  <a:txBody>
                    <a:bodyPr/>
                    <a:lstStyle/>
                    <a:p>
                      <a:pPr algn="ctr">
                        <a:lnSpc>
                          <a:spcPts val="1635"/>
                        </a:lnSpc>
                        <a:spcBef>
                          <a:spcPts val="105"/>
                        </a:spcBef>
                      </a:pPr>
                      <a:r>
                        <a:rPr sz="1400" b="1" spc="-20" dirty="0">
                          <a:solidFill>
                            <a:srgbClr val="FFFFFF"/>
                          </a:solidFill>
                          <a:latin typeface="Times New Roman"/>
                          <a:cs typeface="Times New Roman"/>
                        </a:rPr>
                        <a:t>1110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5"/>
                        </a:lnSpc>
                        <a:spcBef>
                          <a:spcPts val="105"/>
                        </a:spcBef>
                      </a:pPr>
                      <a:r>
                        <a:rPr sz="1400" spc="-10" dirty="0">
                          <a:latin typeface="Times New Roman"/>
                          <a:cs typeface="Times New Roman"/>
                        </a:rPr>
                        <a:t>0110000</a:t>
                      </a:r>
                      <a:endParaRPr sz="1400">
                        <a:latin typeface="Times New Roman"/>
                        <a:cs typeface="Times New Roman"/>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5"/>
                  </a:ext>
                </a:extLst>
              </a:tr>
              <a:tr h="233679">
                <a:tc>
                  <a:txBody>
                    <a:bodyPr/>
                    <a:lstStyle/>
                    <a:p>
                      <a:pPr marR="2540" algn="ctr">
                        <a:lnSpc>
                          <a:spcPts val="1630"/>
                        </a:lnSpc>
                        <a:spcBef>
                          <a:spcPts val="110"/>
                        </a:spcBef>
                      </a:pPr>
                      <a:r>
                        <a:rPr sz="1400" b="1" spc="-20" dirty="0">
                          <a:solidFill>
                            <a:srgbClr val="FFFFFF"/>
                          </a:solidFill>
                          <a:latin typeface="Times New Roman"/>
                          <a:cs typeface="Times New Roman"/>
                        </a:rPr>
                        <a:t>1111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ts val="1630"/>
                        </a:lnSpc>
                        <a:spcBef>
                          <a:spcPts val="110"/>
                        </a:spcBef>
                      </a:pPr>
                      <a:r>
                        <a:rPr sz="1400" spc="-10" dirty="0">
                          <a:latin typeface="Times New Roman"/>
                          <a:cs typeface="Times New Roman"/>
                        </a:rPr>
                        <a:t>0111000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6"/>
                  </a:ext>
                </a:extLst>
              </a:tr>
            </a:tbl>
          </a:graphicData>
        </a:graphic>
      </p:graphicFrame>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1182758" y="1871726"/>
            <a:ext cx="4264660"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表3.7十六进制数共阳七段LED</a:t>
            </a:r>
            <a:r>
              <a:rPr sz="1550" b="1" spc="-10" dirty="0">
                <a:latin typeface="宋体"/>
                <a:cs typeface="宋体"/>
              </a:rPr>
              <a:t>显示译码器功能表</a:t>
            </a:r>
            <a:endParaRPr sz="1550">
              <a:latin typeface="宋体"/>
              <a:cs typeface="宋体"/>
            </a:endParaRPr>
          </a:p>
        </p:txBody>
      </p:sp>
      <p:sp>
        <p:nvSpPr>
          <p:cNvPr id="4" name="object 4"/>
          <p:cNvSpPr txBox="1">
            <a:spLocks noGrp="1"/>
          </p:cNvSpPr>
          <p:nvPr>
            <p:ph type="title"/>
          </p:nvPr>
        </p:nvSpPr>
        <p:spPr>
          <a:xfrm>
            <a:off x="415423" y="1082294"/>
            <a:ext cx="5972810" cy="466725"/>
          </a:xfrm>
          <a:prstGeom prst="rect">
            <a:avLst/>
          </a:prstGeom>
        </p:spPr>
        <p:txBody>
          <a:bodyPr vert="horz" wrap="square" lIns="0" tIns="11430" rIns="0" bIns="0" rtlCol="0">
            <a:spAutoFit/>
          </a:bodyPr>
          <a:lstStyle/>
          <a:p>
            <a:pPr marL="12700">
              <a:lnSpc>
                <a:spcPct val="100000"/>
              </a:lnSpc>
              <a:spcBef>
                <a:spcPts val="90"/>
              </a:spcBef>
            </a:pPr>
            <a:r>
              <a:rPr sz="2900" dirty="0">
                <a:solidFill>
                  <a:srgbClr val="000000"/>
                </a:solidFill>
                <a:latin typeface="Times New Roman"/>
                <a:cs typeface="Times New Roman"/>
              </a:rPr>
              <a:t>3.6.4</a:t>
            </a:r>
            <a:r>
              <a:rPr sz="2900" spc="25" dirty="0">
                <a:solidFill>
                  <a:srgbClr val="000000"/>
                </a:solidFill>
                <a:latin typeface="Times New Roman"/>
                <a:cs typeface="Times New Roman"/>
              </a:rPr>
              <a:t> </a:t>
            </a:r>
            <a:r>
              <a:rPr sz="2900" spc="-35" dirty="0">
                <a:solidFill>
                  <a:srgbClr val="000000"/>
                </a:solidFill>
              </a:rPr>
              <a:t>十六进制数七段</a:t>
            </a:r>
            <a:r>
              <a:rPr sz="2900" spc="-30" dirty="0">
                <a:solidFill>
                  <a:srgbClr val="000000"/>
                </a:solidFill>
                <a:latin typeface="Times New Roman"/>
                <a:cs typeface="Times New Roman"/>
              </a:rPr>
              <a:t>LED</a:t>
            </a:r>
            <a:r>
              <a:rPr sz="2900" spc="-40" dirty="0">
                <a:solidFill>
                  <a:srgbClr val="000000"/>
                </a:solidFill>
              </a:rPr>
              <a:t>显示译码器</a:t>
            </a:r>
            <a:endParaRPr sz="2900">
              <a:latin typeface="Times New Roman"/>
              <a:cs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3231" y="4405121"/>
            <a:ext cx="5332730" cy="1824989"/>
            <a:chOff x="863231" y="4405121"/>
            <a:chExt cx="5332730" cy="1824989"/>
          </a:xfrm>
        </p:grpSpPr>
        <p:sp>
          <p:nvSpPr>
            <p:cNvPr id="3" name="object 3"/>
            <p:cNvSpPr/>
            <p:nvPr/>
          </p:nvSpPr>
          <p:spPr>
            <a:xfrm>
              <a:off x="871613" y="4413503"/>
              <a:ext cx="5316220" cy="1808480"/>
            </a:xfrm>
            <a:custGeom>
              <a:avLst/>
              <a:gdLst/>
              <a:ahLst/>
              <a:cxnLst/>
              <a:rect l="l" t="t" r="r" b="b"/>
              <a:pathLst>
                <a:path w="5316220" h="1808479">
                  <a:moveTo>
                    <a:pt x="5315712" y="1808226"/>
                  </a:moveTo>
                  <a:lnTo>
                    <a:pt x="5315712" y="0"/>
                  </a:lnTo>
                  <a:lnTo>
                    <a:pt x="0" y="0"/>
                  </a:lnTo>
                  <a:lnTo>
                    <a:pt x="0" y="1808226"/>
                  </a:lnTo>
                  <a:lnTo>
                    <a:pt x="5315712" y="1808226"/>
                  </a:lnTo>
                  <a:close/>
                </a:path>
              </a:pathLst>
            </a:custGeom>
            <a:solidFill>
              <a:srgbClr val="F9FABA"/>
            </a:solidFill>
          </p:spPr>
          <p:txBody>
            <a:bodyPr wrap="square" lIns="0" tIns="0" rIns="0" bIns="0" rtlCol="0"/>
            <a:lstStyle/>
            <a:p>
              <a:endParaRPr/>
            </a:p>
          </p:txBody>
        </p:sp>
        <p:sp>
          <p:nvSpPr>
            <p:cNvPr id="4" name="object 4"/>
            <p:cNvSpPr/>
            <p:nvPr/>
          </p:nvSpPr>
          <p:spPr>
            <a:xfrm>
              <a:off x="863231" y="4405121"/>
              <a:ext cx="5332730" cy="1824989"/>
            </a:xfrm>
            <a:custGeom>
              <a:avLst/>
              <a:gdLst/>
              <a:ahLst/>
              <a:cxnLst/>
              <a:rect l="l" t="t" r="r" b="b"/>
              <a:pathLst>
                <a:path w="5332730" h="1824989">
                  <a:moveTo>
                    <a:pt x="5332476" y="1821180"/>
                  </a:moveTo>
                  <a:lnTo>
                    <a:pt x="5332476" y="3809"/>
                  </a:lnTo>
                  <a:lnTo>
                    <a:pt x="5328666" y="0"/>
                  </a:lnTo>
                  <a:lnTo>
                    <a:pt x="3809" y="0"/>
                  </a:lnTo>
                  <a:lnTo>
                    <a:pt x="0" y="3810"/>
                  </a:lnTo>
                  <a:lnTo>
                    <a:pt x="0" y="1821180"/>
                  </a:lnTo>
                  <a:lnTo>
                    <a:pt x="3810" y="1824990"/>
                  </a:lnTo>
                  <a:lnTo>
                    <a:pt x="8382" y="1824990"/>
                  </a:lnTo>
                  <a:lnTo>
                    <a:pt x="8382" y="16764"/>
                  </a:lnTo>
                  <a:lnTo>
                    <a:pt x="16763" y="8382"/>
                  </a:lnTo>
                  <a:lnTo>
                    <a:pt x="16763" y="16764"/>
                  </a:lnTo>
                  <a:lnTo>
                    <a:pt x="5315711" y="16763"/>
                  </a:lnTo>
                  <a:lnTo>
                    <a:pt x="5315711" y="8381"/>
                  </a:lnTo>
                  <a:lnTo>
                    <a:pt x="5324094" y="16763"/>
                  </a:lnTo>
                  <a:lnTo>
                    <a:pt x="5324094" y="1824989"/>
                  </a:lnTo>
                  <a:lnTo>
                    <a:pt x="5328666" y="1824989"/>
                  </a:lnTo>
                  <a:lnTo>
                    <a:pt x="5332476" y="1821180"/>
                  </a:lnTo>
                  <a:close/>
                </a:path>
                <a:path w="5332730" h="1824989">
                  <a:moveTo>
                    <a:pt x="16763" y="16764"/>
                  </a:moveTo>
                  <a:lnTo>
                    <a:pt x="16763" y="8382"/>
                  </a:lnTo>
                  <a:lnTo>
                    <a:pt x="8382" y="16764"/>
                  </a:lnTo>
                  <a:lnTo>
                    <a:pt x="16763" y="16764"/>
                  </a:lnTo>
                  <a:close/>
                </a:path>
                <a:path w="5332730" h="1824989">
                  <a:moveTo>
                    <a:pt x="16764" y="1808226"/>
                  </a:moveTo>
                  <a:lnTo>
                    <a:pt x="16763" y="16764"/>
                  </a:lnTo>
                  <a:lnTo>
                    <a:pt x="8382" y="16764"/>
                  </a:lnTo>
                  <a:lnTo>
                    <a:pt x="8382" y="1808226"/>
                  </a:lnTo>
                  <a:lnTo>
                    <a:pt x="16764" y="1808226"/>
                  </a:lnTo>
                  <a:close/>
                </a:path>
                <a:path w="5332730" h="1824989">
                  <a:moveTo>
                    <a:pt x="5324094" y="1808226"/>
                  </a:moveTo>
                  <a:lnTo>
                    <a:pt x="8382" y="1808226"/>
                  </a:lnTo>
                  <a:lnTo>
                    <a:pt x="16764" y="1816608"/>
                  </a:lnTo>
                  <a:lnTo>
                    <a:pt x="16764" y="1824990"/>
                  </a:lnTo>
                  <a:lnTo>
                    <a:pt x="5315711" y="1824989"/>
                  </a:lnTo>
                  <a:lnTo>
                    <a:pt x="5315711" y="1816608"/>
                  </a:lnTo>
                  <a:lnTo>
                    <a:pt x="5324094" y="1808226"/>
                  </a:lnTo>
                  <a:close/>
                </a:path>
                <a:path w="5332730" h="1824989">
                  <a:moveTo>
                    <a:pt x="16764" y="1824990"/>
                  </a:moveTo>
                  <a:lnTo>
                    <a:pt x="16764" y="1816608"/>
                  </a:lnTo>
                  <a:lnTo>
                    <a:pt x="8382" y="1808226"/>
                  </a:lnTo>
                  <a:lnTo>
                    <a:pt x="8382" y="1824990"/>
                  </a:lnTo>
                  <a:lnTo>
                    <a:pt x="16764" y="1824990"/>
                  </a:lnTo>
                  <a:close/>
                </a:path>
                <a:path w="5332730" h="1824989">
                  <a:moveTo>
                    <a:pt x="5324094" y="16763"/>
                  </a:moveTo>
                  <a:lnTo>
                    <a:pt x="5315711" y="8381"/>
                  </a:lnTo>
                  <a:lnTo>
                    <a:pt x="5315711" y="16763"/>
                  </a:lnTo>
                  <a:lnTo>
                    <a:pt x="5324094" y="16763"/>
                  </a:lnTo>
                  <a:close/>
                </a:path>
                <a:path w="5332730" h="1824989">
                  <a:moveTo>
                    <a:pt x="5324094" y="1808226"/>
                  </a:moveTo>
                  <a:lnTo>
                    <a:pt x="5324094" y="16763"/>
                  </a:lnTo>
                  <a:lnTo>
                    <a:pt x="5315711" y="16763"/>
                  </a:lnTo>
                  <a:lnTo>
                    <a:pt x="5315711" y="1808226"/>
                  </a:lnTo>
                  <a:lnTo>
                    <a:pt x="5324094" y="1808226"/>
                  </a:lnTo>
                  <a:close/>
                </a:path>
                <a:path w="5332730" h="1824989">
                  <a:moveTo>
                    <a:pt x="5324094" y="1824989"/>
                  </a:moveTo>
                  <a:lnTo>
                    <a:pt x="5324094" y="1808226"/>
                  </a:lnTo>
                  <a:lnTo>
                    <a:pt x="5315711" y="1816608"/>
                  </a:lnTo>
                  <a:lnTo>
                    <a:pt x="5315711" y="1824989"/>
                  </a:lnTo>
                  <a:lnTo>
                    <a:pt x="5324094" y="1824989"/>
                  </a:lnTo>
                  <a:close/>
                </a:path>
              </a:pathLst>
            </a:custGeom>
            <a:solidFill>
              <a:srgbClr val="000000"/>
            </a:solidFill>
          </p:spPr>
          <p:txBody>
            <a:bodyPr wrap="square" lIns="0" tIns="0" rIns="0" bIns="0" rtlCol="0"/>
            <a:lstStyle/>
            <a:p>
              <a:endParaRPr/>
            </a:p>
          </p:txBody>
        </p:sp>
      </p:grpSp>
      <p:sp>
        <p:nvSpPr>
          <p:cNvPr id="5" name="object 5"/>
          <p:cNvSpPr txBox="1"/>
          <p:nvPr/>
        </p:nvSpPr>
        <p:spPr>
          <a:xfrm>
            <a:off x="951617" y="4433570"/>
            <a:ext cx="3510279" cy="454025"/>
          </a:xfrm>
          <a:prstGeom prst="rect">
            <a:avLst/>
          </a:prstGeom>
        </p:spPr>
        <p:txBody>
          <a:bodyPr vert="horz" wrap="square" lIns="0" tIns="12700" rIns="0" bIns="0" rtlCol="0">
            <a:spAutoFit/>
          </a:bodyPr>
          <a:lstStyle/>
          <a:p>
            <a:pPr>
              <a:lnSpc>
                <a:spcPct val="100000"/>
              </a:lnSpc>
              <a:spcBef>
                <a:spcPts val="100"/>
              </a:spcBef>
            </a:pPr>
            <a:r>
              <a:rPr sz="1400" b="1" dirty="0">
                <a:latin typeface="微软雅黑"/>
                <a:cs typeface="微软雅黑"/>
              </a:rPr>
              <a:t>例</a:t>
            </a:r>
            <a:r>
              <a:rPr sz="1400" b="1" dirty="0">
                <a:latin typeface="Times New Roman"/>
                <a:cs typeface="Times New Roman"/>
              </a:rPr>
              <a:t>3.23</a:t>
            </a:r>
            <a:r>
              <a:rPr sz="1400" dirty="0">
                <a:latin typeface="微软雅黑"/>
                <a:cs typeface="微软雅黑"/>
              </a:rPr>
              <a:t>十六进制数七段</a:t>
            </a:r>
            <a:r>
              <a:rPr sz="1400" spc="-10" dirty="0">
                <a:latin typeface="Times New Roman"/>
                <a:cs typeface="Times New Roman"/>
              </a:rPr>
              <a:t>LED</a:t>
            </a:r>
            <a:r>
              <a:rPr sz="1400" spc="-20" dirty="0">
                <a:latin typeface="微软雅黑"/>
                <a:cs typeface="微软雅黑"/>
              </a:rPr>
              <a:t>显示译码器的描述</a:t>
            </a:r>
            <a:endParaRPr sz="1400">
              <a:latin typeface="微软雅黑"/>
              <a:cs typeface="微软雅黑"/>
            </a:endParaRPr>
          </a:p>
          <a:p>
            <a:pPr marL="177800">
              <a:lnSpc>
                <a:spcPct val="100000"/>
              </a:lnSpc>
              <a:spcBef>
                <a:spcPts val="10"/>
              </a:spcBef>
            </a:pPr>
            <a:r>
              <a:rPr sz="1400" b="1" dirty="0">
                <a:latin typeface="Times New Roman"/>
                <a:cs typeface="Times New Roman"/>
              </a:rPr>
              <a:t>module </a:t>
            </a:r>
            <a:r>
              <a:rPr sz="1400" spc="-10" dirty="0">
                <a:latin typeface="Times New Roman"/>
                <a:cs typeface="Times New Roman"/>
              </a:rPr>
              <a:t>hex_7seg</a:t>
            </a:r>
            <a:endParaRPr sz="1400">
              <a:latin typeface="Times New Roman"/>
              <a:cs typeface="Times New Roman"/>
            </a:endParaRPr>
          </a:p>
        </p:txBody>
      </p:sp>
      <p:sp>
        <p:nvSpPr>
          <p:cNvPr id="6" name="object 6"/>
          <p:cNvSpPr txBox="1"/>
          <p:nvPr/>
        </p:nvSpPr>
        <p:spPr>
          <a:xfrm>
            <a:off x="1308233" y="4861829"/>
            <a:ext cx="59690" cy="239395"/>
          </a:xfrm>
          <a:prstGeom prst="rect">
            <a:avLst/>
          </a:prstGeom>
        </p:spPr>
        <p:txBody>
          <a:bodyPr vert="horz" wrap="square" lIns="0" tIns="12700" rIns="0" bIns="0" rtlCol="0">
            <a:spAutoFit/>
          </a:bodyPr>
          <a:lstStyle/>
          <a:p>
            <a:pPr>
              <a:lnSpc>
                <a:spcPct val="100000"/>
              </a:lnSpc>
              <a:spcBef>
                <a:spcPts val="100"/>
              </a:spcBef>
            </a:pPr>
            <a:r>
              <a:rPr sz="1400" spc="-50" dirty="0">
                <a:latin typeface="Times New Roman"/>
                <a:cs typeface="Times New Roman"/>
              </a:rPr>
              <a:t>(</a:t>
            </a:r>
            <a:endParaRPr sz="1400">
              <a:latin typeface="Times New Roman"/>
              <a:cs typeface="Times New Roman"/>
            </a:endParaRPr>
          </a:p>
        </p:txBody>
      </p:sp>
      <p:sp>
        <p:nvSpPr>
          <p:cNvPr id="7" name="object 7"/>
          <p:cNvSpPr txBox="1"/>
          <p:nvPr/>
        </p:nvSpPr>
        <p:spPr>
          <a:xfrm>
            <a:off x="1263281" y="5075193"/>
            <a:ext cx="1743710" cy="1094740"/>
          </a:xfrm>
          <a:prstGeom prst="rect">
            <a:avLst/>
          </a:prstGeom>
        </p:spPr>
        <p:txBody>
          <a:bodyPr vert="horz" wrap="square" lIns="0" tIns="12700" rIns="0" bIns="0" rtlCol="0">
            <a:spAutoFit/>
          </a:bodyPr>
          <a:lstStyle/>
          <a:p>
            <a:pPr marL="160655">
              <a:lnSpc>
                <a:spcPct val="100000"/>
              </a:lnSpc>
              <a:spcBef>
                <a:spcPts val="100"/>
              </a:spcBef>
            </a:pPr>
            <a:r>
              <a:rPr sz="1400" b="1" dirty="0">
                <a:latin typeface="Times New Roman"/>
                <a:cs typeface="Times New Roman"/>
              </a:rPr>
              <a:t>input</a:t>
            </a:r>
            <a:r>
              <a:rPr sz="1400" b="1" spc="-20" dirty="0">
                <a:latin typeface="Times New Roman"/>
                <a:cs typeface="Times New Roman"/>
              </a:rPr>
              <a:t> </a:t>
            </a:r>
            <a:r>
              <a:rPr sz="1400" dirty="0">
                <a:latin typeface="Times New Roman"/>
                <a:cs typeface="Times New Roman"/>
              </a:rPr>
              <a:t>[3:0]</a:t>
            </a:r>
            <a:r>
              <a:rPr sz="1400" spc="-5" dirty="0">
                <a:latin typeface="Times New Roman"/>
                <a:cs typeface="Times New Roman"/>
              </a:rPr>
              <a:t> </a:t>
            </a:r>
            <a:r>
              <a:rPr sz="1400" spc="-20" dirty="0">
                <a:latin typeface="Times New Roman"/>
                <a:cs typeface="Times New Roman"/>
              </a:rPr>
              <a:t>hex,</a:t>
            </a:r>
            <a:endParaRPr sz="1400">
              <a:latin typeface="Times New Roman"/>
              <a:cs typeface="Times New Roman"/>
            </a:endParaRPr>
          </a:p>
          <a:p>
            <a:pPr marL="160655">
              <a:lnSpc>
                <a:spcPct val="100000"/>
              </a:lnSpc>
              <a:spcBef>
                <a:spcPts val="10"/>
              </a:spcBef>
            </a:pPr>
            <a:r>
              <a:rPr sz="1400" b="1" dirty="0">
                <a:latin typeface="Times New Roman"/>
                <a:cs typeface="Times New Roman"/>
              </a:rPr>
              <a:t>input</a:t>
            </a:r>
            <a:r>
              <a:rPr sz="1400" b="1" spc="330" dirty="0">
                <a:latin typeface="Times New Roman"/>
                <a:cs typeface="Times New Roman"/>
              </a:rPr>
              <a:t> </a:t>
            </a:r>
            <a:r>
              <a:rPr sz="1400" spc="-25" dirty="0">
                <a:latin typeface="Times New Roman"/>
                <a:cs typeface="Times New Roman"/>
              </a:rPr>
              <a:t>dp,</a:t>
            </a:r>
            <a:endParaRPr sz="1400">
              <a:latin typeface="Times New Roman"/>
              <a:cs typeface="Times New Roman"/>
            </a:endParaRPr>
          </a:p>
          <a:p>
            <a:pPr marL="160655">
              <a:lnSpc>
                <a:spcPct val="100000"/>
              </a:lnSpc>
            </a:pPr>
            <a:r>
              <a:rPr sz="1400" b="1" dirty="0">
                <a:latin typeface="Times New Roman"/>
                <a:cs typeface="Times New Roman"/>
              </a:rPr>
              <a:t>output</a:t>
            </a:r>
            <a:r>
              <a:rPr sz="1400" b="1" spc="-30" dirty="0">
                <a:latin typeface="Times New Roman"/>
                <a:cs typeface="Times New Roman"/>
              </a:rPr>
              <a:t> </a:t>
            </a:r>
            <a:r>
              <a:rPr sz="1400" b="1" dirty="0">
                <a:latin typeface="Times New Roman"/>
                <a:cs typeface="Times New Roman"/>
              </a:rPr>
              <a:t>reg</a:t>
            </a:r>
            <a:r>
              <a:rPr sz="1400" b="1" spc="-15" dirty="0">
                <a:latin typeface="Times New Roman"/>
                <a:cs typeface="Times New Roman"/>
              </a:rPr>
              <a:t> </a:t>
            </a:r>
            <a:r>
              <a:rPr sz="1400" dirty="0">
                <a:latin typeface="Times New Roman"/>
                <a:cs typeface="Times New Roman"/>
              </a:rPr>
              <a:t>[7:0]</a:t>
            </a:r>
            <a:r>
              <a:rPr sz="1400" spc="320" dirty="0">
                <a:latin typeface="Times New Roman"/>
                <a:cs typeface="Times New Roman"/>
              </a:rPr>
              <a:t> </a:t>
            </a:r>
            <a:r>
              <a:rPr sz="1400" spc="-20" dirty="0">
                <a:latin typeface="Times New Roman"/>
                <a:cs typeface="Times New Roman"/>
              </a:rPr>
              <a:t>sseg</a:t>
            </a:r>
            <a:endParaRPr sz="1400">
              <a:latin typeface="Times New Roman"/>
              <a:cs typeface="Times New Roman"/>
            </a:endParaRPr>
          </a:p>
          <a:p>
            <a:pPr marL="2540">
              <a:lnSpc>
                <a:spcPct val="100000"/>
              </a:lnSpc>
              <a:spcBef>
                <a:spcPts val="5"/>
              </a:spcBef>
            </a:pPr>
            <a:r>
              <a:rPr sz="1400" spc="-25" dirty="0">
                <a:latin typeface="Times New Roman"/>
                <a:cs typeface="Times New Roman"/>
              </a:rPr>
              <a:t>);</a:t>
            </a:r>
            <a:endParaRPr sz="1400">
              <a:latin typeface="Times New Roman"/>
              <a:cs typeface="Times New Roman"/>
            </a:endParaRPr>
          </a:p>
          <a:p>
            <a:pPr>
              <a:lnSpc>
                <a:spcPct val="100000"/>
              </a:lnSpc>
            </a:pPr>
            <a:r>
              <a:rPr sz="1400" b="1" dirty="0">
                <a:latin typeface="Times New Roman"/>
                <a:cs typeface="Times New Roman"/>
              </a:rPr>
              <a:t>always</a:t>
            </a:r>
            <a:r>
              <a:rPr sz="1400" b="1" spc="-15" dirty="0">
                <a:latin typeface="Times New Roman"/>
                <a:cs typeface="Times New Roman"/>
              </a:rPr>
              <a:t> </a:t>
            </a:r>
            <a:r>
              <a:rPr sz="1400" b="1" spc="-25" dirty="0">
                <a:latin typeface="Times New Roman"/>
                <a:cs typeface="Times New Roman"/>
              </a:rPr>
              <a:t>@*</a:t>
            </a:r>
            <a:endParaRPr sz="1400">
              <a:latin typeface="Times New Roman"/>
              <a:cs typeface="Times New Roman"/>
            </a:endParaRPr>
          </a:p>
        </p:txBody>
      </p:sp>
      <p:sp>
        <p:nvSpPr>
          <p:cNvPr id="8" name="object 8"/>
          <p:cNvSpPr txBox="1">
            <a:spLocks noGrp="1"/>
          </p:cNvSpPr>
          <p:nvPr>
            <p:ph type="title"/>
          </p:nvPr>
        </p:nvSpPr>
        <p:spPr>
          <a:xfrm>
            <a:off x="461905" y="1121156"/>
            <a:ext cx="5972810" cy="466725"/>
          </a:xfrm>
          <a:prstGeom prst="rect">
            <a:avLst/>
          </a:prstGeom>
        </p:spPr>
        <p:txBody>
          <a:bodyPr vert="horz" wrap="square" lIns="0" tIns="11430" rIns="0" bIns="0" rtlCol="0">
            <a:spAutoFit/>
          </a:bodyPr>
          <a:lstStyle/>
          <a:p>
            <a:pPr marL="12700">
              <a:lnSpc>
                <a:spcPct val="100000"/>
              </a:lnSpc>
              <a:spcBef>
                <a:spcPts val="90"/>
              </a:spcBef>
            </a:pPr>
            <a:r>
              <a:rPr sz="2900" dirty="0">
                <a:solidFill>
                  <a:srgbClr val="000000"/>
                </a:solidFill>
                <a:latin typeface="Times New Roman"/>
                <a:cs typeface="Times New Roman"/>
              </a:rPr>
              <a:t>3.6.4</a:t>
            </a:r>
            <a:r>
              <a:rPr sz="2900" spc="25" dirty="0">
                <a:solidFill>
                  <a:srgbClr val="000000"/>
                </a:solidFill>
                <a:latin typeface="Times New Roman"/>
                <a:cs typeface="Times New Roman"/>
              </a:rPr>
              <a:t> </a:t>
            </a:r>
            <a:r>
              <a:rPr sz="2900" spc="-35" dirty="0">
                <a:solidFill>
                  <a:srgbClr val="000000"/>
                </a:solidFill>
              </a:rPr>
              <a:t>十六进制数七段</a:t>
            </a:r>
            <a:r>
              <a:rPr sz="2900" spc="-30" dirty="0">
                <a:solidFill>
                  <a:srgbClr val="000000"/>
                </a:solidFill>
                <a:latin typeface="Times New Roman"/>
                <a:cs typeface="Times New Roman"/>
              </a:rPr>
              <a:t>LED</a:t>
            </a:r>
            <a:r>
              <a:rPr sz="2900" spc="-40" dirty="0">
                <a:solidFill>
                  <a:srgbClr val="000000"/>
                </a:solidFill>
              </a:rPr>
              <a:t>显示译码器</a:t>
            </a:r>
            <a:endParaRPr sz="2900">
              <a:latin typeface="Times New Roman"/>
              <a:cs typeface="Times New Roman"/>
            </a:endParaRPr>
          </a:p>
        </p:txBody>
      </p:sp>
      <p:grpSp>
        <p:nvGrpSpPr>
          <p:cNvPr id="9" name="object 9"/>
          <p:cNvGrpSpPr/>
          <p:nvPr/>
        </p:nvGrpSpPr>
        <p:grpSpPr>
          <a:xfrm>
            <a:off x="6655955" y="1382267"/>
            <a:ext cx="3479800" cy="4848225"/>
            <a:chOff x="6655955" y="1382267"/>
            <a:chExt cx="3479800" cy="4848225"/>
          </a:xfrm>
        </p:grpSpPr>
        <p:sp>
          <p:nvSpPr>
            <p:cNvPr id="10" name="object 10"/>
            <p:cNvSpPr/>
            <p:nvPr/>
          </p:nvSpPr>
          <p:spPr>
            <a:xfrm>
              <a:off x="6664325" y="1390649"/>
              <a:ext cx="3462654" cy="4831080"/>
            </a:xfrm>
            <a:custGeom>
              <a:avLst/>
              <a:gdLst/>
              <a:ahLst/>
              <a:cxnLst/>
              <a:rect l="l" t="t" r="r" b="b"/>
              <a:pathLst>
                <a:path w="3462654" h="4831080">
                  <a:moveTo>
                    <a:pt x="3462528" y="4831080"/>
                  </a:moveTo>
                  <a:lnTo>
                    <a:pt x="3462528" y="0"/>
                  </a:lnTo>
                  <a:lnTo>
                    <a:pt x="0" y="0"/>
                  </a:lnTo>
                  <a:lnTo>
                    <a:pt x="0" y="4831080"/>
                  </a:lnTo>
                  <a:lnTo>
                    <a:pt x="3462528" y="4831080"/>
                  </a:lnTo>
                  <a:close/>
                </a:path>
              </a:pathLst>
            </a:custGeom>
            <a:solidFill>
              <a:srgbClr val="F9FABA"/>
            </a:solidFill>
          </p:spPr>
          <p:txBody>
            <a:bodyPr wrap="square" lIns="0" tIns="0" rIns="0" bIns="0" rtlCol="0"/>
            <a:lstStyle/>
            <a:p>
              <a:endParaRPr/>
            </a:p>
          </p:txBody>
        </p:sp>
        <p:sp>
          <p:nvSpPr>
            <p:cNvPr id="11" name="object 11"/>
            <p:cNvSpPr/>
            <p:nvPr/>
          </p:nvSpPr>
          <p:spPr>
            <a:xfrm>
              <a:off x="6655955" y="1382267"/>
              <a:ext cx="3479800" cy="4848225"/>
            </a:xfrm>
            <a:custGeom>
              <a:avLst/>
              <a:gdLst/>
              <a:ahLst/>
              <a:cxnLst/>
              <a:rect l="l" t="t" r="r" b="b"/>
              <a:pathLst>
                <a:path w="3479800" h="4848225">
                  <a:moveTo>
                    <a:pt x="3479291" y="4844034"/>
                  </a:moveTo>
                  <a:lnTo>
                    <a:pt x="3479291" y="3810"/>
                  </a:lnTo>
                  <a:lnTo>
                    <a:pt x="3475482" y="0"/>
                  </a:lnTo>
                  <a:lnTo>
                    <a:pt x="3809" y="0"/>
                  </a:lnTo>
                  <a:lnTo>
                    <a:pt x="0" y="3810"/>
                  </a:lnTo>
                  <a:lnTo>
                    <a:pt x="0" y="4844034"/>
                  </a:lnTo>
                  <a:lnTo>
                    <a:pt x="3810" y="4847844"/>
                  </a:lnTo>
                  <a:lnTo>
                    <a:pt x="8382" y="4847844"/>
                  </a:lnTo>
                  <a:lnTo>
                    <a:pt x="8382" y="16764"/>
                  </a:lnTo>
                  <a:lnTo>
                    <a:pt x="16763" y="8382"/>
                  </a:lnTo>
                  <a:lnTo>
                    <a:pt x="16763" y="16764"/>
                  </a:lnTo>
                  <a:lnTo>
                    <a:pt x="3462528" y="16764"/>
                  </a:lnTo>
                  <a:lnTo>
                    <a:pt x="3462528" y="8382"/>
                  </a:lnTo>
                  <a:lnTo>
                    <a:pt x="3470910" y="16764"/>
                  </a:lnTo>
                  <a:lnTo>
                    <a:pt x="3470910" y="4847844"/>
                  </a:lnTo>
                  <a:lnTo>
                    <a:pt x="3475482" y="4847844"/>
                  </a:lnTo>
                  <a:lnTo>
                    <a:pt x="3479291" y="4844034"/>
                  </a:lnTo>
                  <a:close/>
                </a:path>
                <a:path w="3479800" h="4848225">
                  <a:moveTo>
                    <a:pt x="16763" y="16764"/>
                  </a:moveTo>
                  <a:lnTo>
                    <a:pt x="16763" y="8382"/>
                  </a:lnTo>
                  <a:lnTo>
                    <a:pt x="8382" y="16764"/>
                  </a:lnTo>
                  <a:lnTo>
                    <a:pt x="16763" y="16764"/>
                  </a:lnTo>
                  <a:close/>
                </a:path>
                <a:path w="3479800" h="4848225">
                  <a:moveTo>
                    <a:pt x="16764" y="4831080"/>
                  </a:moveTo>
                  <a:lnTo>
                    <a:pt x="16763" y="16764"/>
                  </a:lnTo>
                  <a:lnTo>
                    <a:pt x="8382" y="16764"/>
                  </a:lnTo>
                  <a:lnTo>
                    <a:pt x="8382" y="4831080"/>
                  </a:lnTo>
                  <a:lnTo>
                    <a:pt x="16764" y="4831080"/>
                  </a:lnTo>
                  <a:close/>
                </a:path>
                <a:path w="3479800" h="4848225">
                  <a:moveTo>
                    <a:pt x="3470910" y="4831080"/>
                  </a:moveTo>
                  <a:lnTo>
                    <a:pt x="8382" y="4831080"/>
                  </a:lnTo>
                  <a:lnTo>
                    <a:pt x="16764" y="4839462"/>
                  </a:lnTo>
                  <a:lnTo>
                    <a:pt x="16764" y="4847844"/>
                  </a:lnTo>
                  <a:lnTo>
                    <a:pt x="3462528" y="4847844"/>
                  </a:lnTo>
                  <a:lnTo>
                    <a:pt x="3462528" y="4839462"/>
                  </a:lnTo>
                  <a:lnTo>
                    <a:pt x="3470910" y="4831080"/>
                  </a:lnTo>
                  <a:close/>
                </a:path>
                <a:path w="3479800" h="4848225">
                  <a:moveTo>
                    <a:pt x="16764" y="4847844"/>
                  </a:moveTo>
                  <a:lnTo>
                    <a:pt x="16764" y="4839462"/>
                  </a:lnTo>
                  <a:lnTo>
                    <a:pt x="8382" y="4831080"/>
                  </a:lnTo>
                  <a:lnTo>
                    <a:pt x="8382" y="4847844"/>
                  </a:lnTo>
                  <a:lnTo>
                    <a:pt x="16764" y="4847844"/>
                  </a:lnTo>
                  <a:close/>
                </a:path>
                <a:path w="3479800" h="4848225">
                  <a:moveTo>
                    <a:pt x="3470910" y="16764"/>
                  </a:moveTo>
                  <a:lnTo>
                    <a:pt x="3462528" y="8382"/>
                  </a:lnTo>
                  <a:lnTo>
                    <a:pt x="3462528" y="16764"/>
                  </a:lnTo>
                  <a:lnTo>
                    <a:pt x="3470910" y="16764"/>
                  </a:lnTo>
                  <a:close/>
                </a:path>
                <a:path w="3479800" h="4848225">
                  <a:moveTo>
                    <a:pt x="3470910" y="4831080"/>
                  </a:moveTo>
                  <a:lnTo>
                    <a:pt x="3470910" y="16764"/>
                  </a:lnTo>
                  <a:lnTo>
                    <a:pt x="3462528" y="16764"/>
                  </a:lnTo>
                  <a:lnTo>
                    <a:pt x="3462528" y="4831080"/>
                  </a:lnTo>
                  <a:lnTo>
                    <a:pt x="3470910" y="4831080"/>
                  </a:lnTo>
                  <a:close/>
                </a:path>
                <a:path w="3479800" h="4848225">
                  <a:moveTo>
                    <a:pt x="3470910" y="4847844"/>
                  </a:moveTo>
                  <a:lnTo>
                    <a:pt x="3470910" y="4831080"/>
                  </a:lnTo>
                  <a:lnTo>
                    <a:pt x="3462528" y="4839462"/>
                  </a:lnTo>
                  <a:lnTo>
                    <a:pt x="3462528" y="4847844"/>
                  </a:lnTo>
                  <a:lnTo>
                    <a:pt x="3470910" y="4847844"/>
                  </a:lnTo>
                  <a:close/>
                </a:path>
              </a:pathLst>
            </a:custGeom>
            <a:solidFill>
              <a:srgbClr val="000000"/>
            </a:solidFill>
          </p:spPr>
          <p:txBody>
            <a:bodyPr wrap="square" lIns="0" tIns="0" rIns="0" bIns="0" rtlCol="0"/>
            <a:lstStyle/>
            <a:p>
              <a:endParaRPr/>
            </a:p>
          </p:txBody>
        </p:sp>
      </p:grpSp>
      <p:sp>
        <p:nvSpPr>
          <p:cNvPr id="12" name="object 12"/>
          <p:cNvSpPr txBox="1"/>
          <p:nvPr/>
        </p:nvSpPr>
        <p:spPr>
          <a:xfrm>
            <a:off x="6731618" y="1411477"/>
            <a:ext cx="2980690" cy="4728845"/>
          </a:xfrm>
          <a:prstGeom prst="rect">
            <a:avLst/>
          </a:prstGeom>
        </p:spPr>
        <p:txBody>
          <a:bodyPr vert="horz" wrap="square" lIns="0" tIns="12700" rIns="0" bIns="0" rtlCol="0">
            <a:spAutoFit/>
          </a:bodyPr>
          <a:lstStyle/>
          <a:p>
            <a:pPr marL="485140">
              <a:lnSpc>
                <a:spcPct val="100000"/>
              </a:lnSpc>
              <a:spcBef>
                <a:spcPts val="100"/>
              </a:spcBef>
            </a:pPr>
            <a:r>
              <a:rPr sz="1400" b="1" spc="-10" dirty="0">
                <a:latin typeface="Times New Roman"/>
                <a:cs typeface="Times New Roman"/>
              </a:rPr>
              <a:t>begin</a:t>
            </a:r>
            <a:endParaRPr sz="1400">
              <a:latin typeface="Times New Roman"/>
              <a:cs typeface="Times New Roman"/>
            </a:endParaRPr>
          </a:p>
          <a:p>
            <a:pPr marL="642620">
              <a:lnSpc>
                <a:spcPct val="100000"/>
              </a:lnSpc>
              <a:spcBef>
                <a:spcPts val="5"/>
              </a:spcBef>
            </a:pPr>
            <a:r>
              <a:rPr sz="1400" b="1" dirty="0">
                <a:latin typeface="Times New Roman"/>
                <a:cs typeface="Times New Roman"/>
              </a:rPr>
              <a:t>case</a:t>
            </a:r>
            <a:r>
              <a:rPr sz="1400" b="1" spc="-25" dirty="0">
                <a:latin typeface="Times New Roman"/>
                <a:cs typeface="Times New Roman"/>
              </a:rPr>
              <a:t> </a:t>
            </a:r>
            <a:r>
              <a:rPr sz="1400" spc="-10" dirty="0">
                <a:latin typeface="Times New Roman"/>
                <a:cs typeface="Times New Roman"/>
              </a:rPr>
              <a:t>(hex)</a:t>
            </a:r>
            <a:endParaRPr sz="1400">
              <a:latin typeface="Times New Roman"/>
              <a:cs typeface="Times New Roman"/>
            </a:endParaRPr>
          </a:p>
          <a:p>
            <a:pPr marL="800100">
              <a:lnSpc>
                <a:spcPct val="100000"/>
              </a:lnSpc>
              <a:spcBef>
                <a:spcPts val="5"/>
              </a:spcBef>
            </a:pPr>
            <a:r>
              <a:rPr sz="1400" dirty="0">
                <a:latin typeface="Times New Roman"/>
                <a:cs typeface="Times New Roman"/>
              </a:rPr>
              <a:t>4'h0:</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7'b0000001;</a:t>
            </a:r>
            <a:endParaRPr sz="1400">
              <a:latin typeface="Times New Roman"/>
              <a:cs typeface="Times New Roman"/>
            </a:endParaRPr>
          </a:p>
          <a:p>
            <a:pPr marL="800100">
              <a:lnSpc>
                <a:spcPct val="100000"/>
              </a:lnSpc>
            </a:pPr>
            <a:r>
              <a:rPr sz="1400" dirty="0">
                <a:latin typeface="Times New Roman"/>
                <a:cs typeface="Times New Roman"/>
              </a:rPr>
              <a:t>4'h1:</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7'b1001111;</a:t>
            </a:r>
            <a:endParaRPr sz="1400">
              <a:latin typeface="Times New Roman"/>
              <a:cs typeface="Times New Roman"/>
            </a:endParaRPr>
          </a:p>
          <a:p>
            <a:pPr marL="800100">
              <a:lnSpc>
                <a:spcPct val="100000"/>
              </a:lnSpc>
              <a:spcBef>
                <a:spcPts val="5"/>
              </a:spcBef>
            </a:pPr>
            <a:r>
              <a:rPr sz="1400" dirty="0">
                <a:latin typeface="Times New Roman"/>
                <a:cs typeface="Times New Roman"/>
              </a:rPr>
              <a:t>4'h2:</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7'b0010010;</a:t>
            </a:r>
            <a:endParaRPr sz="1400">
              <a:latin typeface="Times New Roman"/>
              <a:cs typeface="Times New Roman"/>
            </a:endParaRPr>
          </a:p>
          <a:p>
            <a:pPr marL="800100">
              <a:lnSpc>
                <a:spcPct val="100000"/>
              </a:lnSpc>
            </a:pPr>
            <a:r>
              <a:rPr sz="1400" dirty="0">
                <a:latin typeface="Times New Roman"/>
                <a:cs typeface="Times New Roman"/>
              </a:rPr>
              <a:t>4'h3:</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7'b0000110;</a:t>
            </a:r>
            <a:endParaRPr sz="1400">
              <a:latin typeface="Times New Roman"/>
              <a:cs typeface="Times New Roman"/>
            </a:endParaRPr>
          </a:p>
          <a:p>
            <a:pPr marL="800100">
              <a:lnSpc>
                <a:spcPct val="100000"/>
              </a:lnSpc>
              <a:spcBef>
                <a:spcPts val="5"/>
              </a:spcBef>
            </a:pPr>
            <a:r>
              <a:rPr sz="1400" dirty="0">
                <a:latin typeface="Times New Roman"/>
                <a:cs typeface="Times New Roman"/>
              </a:rPr>
              <a:t>4'h4:</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7'b1001100;</a:t>
            </a:r>
            <a:endParaRPr sz="1400">
              <a:latin typeface="Times New Roman"/>
              <a:cs typeface="Times New Roman"/>
            </a:endParaRPr>
          </a:p>
          <a:p>
            <a:pPr marL="800100">
              <a:lnSpc>
                <a:spcPct val="100000"/>
              </a:lnSpc>
            </a:pPr>
            <a:r>
              <a:rPr sz="1400" dirty="0">
                <a:latin typeface="Times New Roman"/>
                <a:cs typeface="Times New Roman"/>
              </a:rPr>
              <a:t>4'h5:</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7'b0100100;</a:t>
            </a:r>
            <a:endParaRPr sz="1400">
              <a:latin typeface="Times New Roman"/>
              <a:cs typeface="Times New Roman"/>
            </a:endParaRPr>
          </a:p>
          <a:p>
            <a:pPr marL="800100">
              <a:lnSpc>
                <a:spcPct val="100000"/>
              </a:lnSpc>
              <a:spcBef>
                <a:spcPts val="5"/>
              </a:spcBef>
            </a:pPr>
            <a:r>
              <a:rPr sz="1400" dirty="0">
                <a:latin typeface="Times New Roman"/>
                <a:cs typeface="Times New Roman"/>
              </a:rPr>
              <a:t>4'h6:</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7'b0100000;</a:t>
            </a:r>
            <a:endParaRPr sz="1400">
              <a:latin typeface="Times New Roman"/>
              <a:cs typeface="Times New Roman"/>
            </a:endParaRPr>
          </a:p>
          <a:p>
            <a:pPr marL="800100">
              <a:lnSpc>
                <a:spcPct val="100000"/>
              </a:lnSpc>
              <a:spcBef>
                <a:spcPts val="10"/>
              </a:spcBef>
            </a:pPr>
            <a:r>
              <a:rPr sz="1400" dirty="0">
                <a:latin typeface="Times New Roman"/>
                <a:cs typeface="Times New Roman"/>
              </a:rPr>
              <a:t>4'h7:</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7'b0001111;</a:t>
            </a:r>
            <a:endParaRPr sz="1400">
              <a:latin typeface="Times New Roman"/>
              <a:cs typeface="Times New Roman"/>
            </a:endParaRPr>
          </a:p>
          <a:p>
            <a:pPr marL="800100">
              <a:lnSpc>
                <a:spcPct val="100000"/>
              </a:lnSpc>
            </a:pPr>
            <a:r>
              <a:rPr sz="1400" dirty="0">
                <a:latin typeface="Times New Roman"/>
                <a:cs typeface="Times New Roman"/>
              </a:rPr>
              <a:t>4'h8:</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7'b0000000;</a:t>
            </a:r>
            <a:endParaRPr sz="1400">
              <a:latin typeface="Times New Roman"/>
              <a:cs typeface="Times New Roman"/>
            </a:endParaRPr>
          </a:p>
          <a:p>
            <a:pPr marL="800100">
              <a:lnSpc>
                <a:spcPct val="100000"/>
              </a:lnSpc>
              <a:spcBef>
                <a:spcPts val="5"/>
              </a:spcBef>
            </a:pPr>
            <a:r>
              <a:rPr sz="1400" dirty="0">
                <a:latin typeface="Times New Roman"/>
                <a:cs typeface="Times New Roman"/>
              </a:rPr>
              <a:t>4'h9:</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7'b0000100;</a:t>
            </a:r>
            <a:endParaRPr sz="1400">
              <a:latin typeface="Times New Roman"/>
              <a:cs typeface="Times New Roman"/>
            </a:endParaRPr>
          </a:p>
          <a:p>
            <a:pPr marL="800100">
              <a:lnSpc>
                <a:spcPct val="100000"/>
              </a:lnSpc>
            </a:pPr>
            <a:r>
              <a:rPr sz="1400" dirty="0">
                <a:latin typeface="Times New Roman"/>
                <a:cs typeface="Times New Roman"/>
              </a:rPr>
              <a:t>4'ha:</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7'b0001000;</a:t>
            </a:r>
            <a:endParaRPr sz="1400">
              <a:latin typeface="Times New Roman"/>
              <a:cs typeface="Times New Roman"/>
            </a:endParaRPr>
          </a:p>
          <a:p>
            <a:pPr marL="800100">
              <a:lnSpc>
                <a:spcPct val="100000"/>
              </a:lnSpc>
              <a:spcBef>
                <a:spcPts val="5"/>
              </a:spcBef>
            </a:pPr>
            <a:r>
              <a:rPr sz="1400" dirty="0">
                <a:latin typeface="Times New Roman"/>
                <a:cs typeface="Times New Roman"/>
              </a:rPr>
              <a:t>4'hb:</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7'b1100000;</a:t>
            </a:r>
            <a:endParaRPr sz="1400">
              <a:latin typeface="Times New Roman"/>
              <a:cs typeface="Times New Roman"/>
            </a:endParaRPr>
          </a:p>
          <a:p>
            <a:pPr marL="800100">
              <a:lnSpc>
                <a:spcPct val="100000"/>
              </a:lnSpc>
            </a:pPr>
            <a:r>
              <a:rPr sz="1400" dirty="0">
                <a:latin typeface="Times New Roman"/>
                <a:cs typeface="Times New Roman"/>
              </a:rPr>
              <a:t>4'hc:</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7'b0110001;</a:t>
            </a:r>
            <a:endParaRPr sz="1400">
              <a:latin typeface="Times New Roman"/>
              <a:cs typeface="Times New Roman"/>
            </a:endParaRPr>
          </a:p>
          <a:p>
            <a:pPr marL="800100">
              <a:lnSpc>
                <a:spcPct val="100000"/>
              </a:lnSpc>
              <a:spcBef>
                <a:spcPts val="5"/>
              </a:spcBef>
            </a:pPr>
            <a:r>
              <a:rPr sz="1400" dirty="0">
                <a:latin typeface="Times New Roman"/>
                <a:cs typeface="Times New Roman"/>
              </a:rPr>
              <a:t>4'hd:</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7'b1000010;</a:t>
            </a:r>
            <a:endParaRPr sz="1400">
              <a:latin typeface="Times New Roman"/>
              <a:cs typeface="Times New Roman"/>
            </a:endParaRPr>
          </a:p>
          <a:p>
            <a:pPr marL="800100">
              <a:lnSpc>
                <a:spcPct val="100000"/>
              </a:lnSpc>
            </a:pPr>
            <a:r>
              <a:rPr sz="1400" dirty="0">
                <a:latin typeface="Times New Roman"/>
                <a:cs typeface="Times New Roman"/>
              </a:rPr>
              <a:t>4'he:</a:t>
            </a:r>
            <a:r>
              <a:rPr sz="1400" spc="-15"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1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7'b0110000;</a:t>
            </a:r>
            <a:endParaRPr sz="1400">
              <a:latin typeface="Times New Roman"/>
              <a:cs typeface="Times New Roman"/>
            </a:endParaRPr>
          </a:p>
          <a:p>
            <a:pPr marL="800100">
              <a:lnSpc>
                <a:spcPct val="100000"/>
              </a:lnSpc>
              <a:spcBef>
                <a:spcPts val="5"/>
              </a:spcBef>
            </a:pPr>
            <a:r>
              <a:rPr sz="1400" dirty="0">
                <a:latin typeface="Times New Roman"/>
                <a:cs typeface="Times New Roman"/>
              </a:rPr>
              <a:t>4'hf</a:t>
            </a:r>
            <a:r>
              <a:rPr sz="1400" b="1" dirty="0">
                <a:latin typeface="Times New Roman"/>
                <a:cs typeface="Times New Roman"/>
              </a:rPr>
              <a:t>:</a:t>
            </a:r>
            <a:r>
              <a:rPr sz="1400" b="1" spc="-10" dirty="0">
                <a:latin typeface="Times New Roman"/>
                <a:cs typeface="Times New Roman"/>
              </a:rPr>
              <a:t> </a:t>
            </a:r>
            <a:r>
              <a:rPr sz="1400" dirty="0">
                <a:latin typeface="Times New Roman"/>
                <a:cs typeface="Times New Roman"/>
              </a:rPr>
              <a:t>sseg</a:t>
            </a:r>
            <a:r>
              <a:rPr sz="1400" spc="-20" dirty="0">
                <a:latin typeface="Times New Roman"/>
                <a:cs typeface="Times New Roman"/>
              </a:rPr>
              <a:t> </a:t>
            </a:r>
            <a:r>
              <a:rPr sz="1400" dirty="0">
                <a:latin typeface="Times New Roman"/>
                <a:cs typeface="Times New Roman"/>
              </a:rPr>
              <a:t>[6:0]</a:t>
            </a:r>
            <a:r>
              <a:rPr sz="1400" spc="-5"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spc="-10" dirty="0">
                <a:latin typeface="Times New Roman"/>
                <a:cs typeface="Times New Roman"/>
              </a:rPr>
              <a:t>7'b0111000;</a:t>
            </a:r>
            <a:endParaRPr sz="1400">
              <a:latin typeface="Times New Roman"/>
              <a:cs typeface="Times New Roman"/>
            </a:endParaRPr>
          </a:p>
          <a:p>
            <a:pPr marL="687070">
              <a:lnSpc>
                <a:spcPct val="100000"/>
              </a:lnSpc>
            </a:pPr>
            <a:r>
              <a:rPr sz="1400" b="1" spc="-10" dirty="0">
                <a:latin typeface="Times New Roman"/>
                <a:cs typeface="Times New Roman"/>
              </a:rPr>
              <a:t>endcase</a:t>
            </a:r>
            <a:endParaRPr sz="1400">
              <a:latin typeface="Times New Roman"/>
              <a:cs typeface="Times New Roman"/>
            </a:endParaRPr>
          </a:p>
          <a:p>
            <a:pPr marL="687070">
              <a:lnSpc>
                <a:spcPct val="100000"/>
              </a:lnSpc>
              <a:spcBef>
                <a:spcPts val="10"/>
              </a:spcBef>
            </a:pPr>
            <a:r>
              <a:rPr sz="1400" dirty="0">
                <a:latin typeface="Times New Roman"/>
                <a:cs typeface="Times New Roman"/>
              </a:rPr>
              <a:t>sseg [7] =</a:t>
            </a:r>
            <a:r>
              <a:rPr sz="1400" spc="-15" dirty="0">
                <a:latin typeface="Times New Roman"/>
                <a:cs typeface="Times New Roman"/>
              </a:rPr>
              <a:t> </a:t>
            </a:r>
            <a:r>
              <a:rPr sz="1400" spc="-25" dirty="0">
                <a:latin typeface="Times New Roman"/>
                <a:cs typeface="Times New Roman"/>
              </a:rPr>
              <a:t>dp;</a:t>
            </a:r>
            <a:endParaRPr sz="1400">
              <a:latin typeface="Times New Roman"/>
              <a:cs typeface="Times New Roman"/>
            </a:endParaRPr>
          </a:p>
          <a:p>
            <a:pPr marL="12700" marR="2117725" indent="492759">
              <a:lnSpc>
                <a:spcPct val="100000"/>
              </a:lnSpc>
            </a:pPr>
            <a:r>
              <a:rPr sz="1400" b="1" spc="-25" dirty="0">
                <a:latin typeface="Times New Roman"/>
                <a:cs typeface="Times New Roman"/>
              </a:rPr>
              <a:t>end </a:t>
            </a:r>
            <a:r>
              <a:rPr sz="1400" b="1" spc="-10" dirty="0">
                <a:latin typeface="Times New Roman"/>
                <a:cs typeface="Times New Roman"/>
              </a:rPr>
              <a:t>endmodule</a:t>
            </a:r>
            <a:endParaRPr sz="1400">
              <a:latin typeface="Times New Roman"/>
              <a:cs typeface="Times New Roman"/>
            </a:endParaRPr>
          </a:p>
        </p:txBody>
      </p:sp>
      <p:sp>
        <p:nvSpPr>
          <p:cNvPr id="14" name="object 1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p:nvPr/>
        </p:nvSpPr>
        <p:spPr>
          <a:xfrm>
            <a:off x="1024221" y="1925518"/>
            <a:ext cx="5096510" cy="2030730"/>
          </a:xfrm>
          <a:prstGeom prst="rect">
            <a:avLst/>
          </a:prstGeom>
        </p:spPr>
        <p:txBody>
          <a:bodyPr vert="horz" wrap="square" lIns="0" tIns="12065" rIns="0" bIns="0" rtlCol="0">
            <a:spAutoFit/>
          </a:bodyPr>
          <a:lstStyle/>
          <a:p>
            <a:pPr marL="212725" marR="5715" indent="-200660" algn="just">
              <a:lnSpc>
                <a:spcPct val="152600"/>
              </a:lnSpc>
              <a:spcBef>
                <a:spcPts val="95"/>
              </a:spcBef>
              <a:buFont typeface="Wingdings"/>
              <a:buChar char=""/>
              <a:tabLst>
                <a:tab pos="212725" algn="l"/>
              </a:tabLst>
            </a:pPr>
            <a:r>
              <a:rPr sz="1550" dirty="0">
                <a:latin typeface="微软雅黑"/>
                <a:cs typeface="微软雅黑"/>
              </a:rPr>
              <a:t>本节设计的十六进制数七段</a:t>
            </a:r>
            <a:r>
              <a:rPr sz="1550" dirty="0">
                <a:latin typeface="Times New Roman"/>
                <a:cs typeface="Times New Roman"/>
              </a:rPr>
              <a:t>LED</a:t>
            </a:r>
            <a:r>
              <a:rPr sz="1550" spc="-5" dirty="0">
                <a:latin typeface="微软雅黑"/>
                <a:cs typeface="微软雅黑"/>
              </a:rPr>
              <a:t>显示译码器，驱动共阳</a:t>
            </a:r>
            <a:r>
              <a:rPr sz="1550" spc="-20" dirty="0">
                <a:latin typeface="微软雅黑"/>
                <a:cs typeface="微软雅黑"/>
              </a:rPr>
              <a:t>数码管</a:t>
            </a:r>
            <a:endParaRPr sz="1550">
              <a:latin typeface="微软雅黑"/>
              <a:cs typeface="微软雅黑"/>
            </a:endParaRPr>
          </a:p>
          <a:p>
            <a:pPr marL="212725" marR="5080" indent="-200660" algn="just">
              <a:lnSpc>
                <a:spcPct val="122100"/>
              </a:lnSpc>
              <a:spcBef>
                <a:spcPts val="585"/>
              </a:spcBef>
              <a:buFont typeface="Wingdings"/>
              <a:buChar char=""/>
              <a:tabLst>
                <a:tab pos="212725" algn="l"/>
              </a:tabLst>
            </a:pPr>
            <a:r>
              <a:rPr sz="1550" dirty="0">
                <a:latin typeface="微软雅黑"/>
                <a:cs typeface="微软雅黑"/>
              </a:rPr>
              <a:t>把一个</a:t>
            </a:r>
            <a:r>
              <a:rPr sz="1550" dirty="0">
                <a:latin typeface="Times New Roman"/>
                <a:cs typeface="Times New Roman"/>
              </a:rPr>
              <a:t>4</a:t>
            </a:r>
            <a:r>
              <a:rPr sz="1550" dirty="0">
                <a:latin typeface="微软雅黑"/>
                <a:cs typeface="微软雅黑"/>
              </a:rPr>
              <a:t>位十六进制数输入，转换为驱动</a:t>
            </a:r>
            <a:r>
              <a:rPr sz="1550" dirty="0">
                <a:latin typeface="Times New Roman"/>
                <a:cs typeface="Times New Roman"/>
              </a:rPr>
              <a:t>7</a:t>
            </a:r>
            <a:r>
              <a:rPr sz="1550" dirty="0">
                <a:latin typeface="微软雅黑"/>
                <a:cs typeface="微软雅黑"/>
              </a:rPr>
              <a:t>段</a:t>
            </a:r>
            <a:r>
              <a:rPr sz="1550" dirty="0">
                <a:latin typeface="Times New Roman"/>
                <a:cs typeface="Times New Roman"/>
              </a:rPr>
              <a:t>LED</a:t>
            </a:r>
            <a:r>
              <a:rPr sz="1550" spc="-20" dirty="0">
                <a:latin typeface="微软雅黑"/>
                <a:cs typeface="微软雅黑"/>
              </a:rPr>
              <a:t>显示管</a:t>
            </a:r>
            <a:r>
              <a:rPr sz="1550" spc="65" dirty="0">
                <a:latin typeface="微软雅黑"/>
                <a:cs typeface="微软雅黑"/>
              </a:rPr>
              <a:t>的控制逻辑；为了完整，我们把</a:t>
            </a:r>
            <a:r>
              <a:rPr sz="1550" spc="60" dirty="0">
                <a:latin typeface="Times New Roman"/>
                <a:cs typeface="Times New Roman"/>
              </a:rPr>
              <a:t>1</a:t>
            </a:r>
            <a:r>
              <a:rPr sz="1550" spc="65" dirty="0">
                <a:latin typeface="微软雅黑"/>
                <a:cs typeface="微软雅黑"/>
              </a:rPr>
              <a:t>位小数点的控制</a:t>
            </a:r>
            <a:r>
              <a:rPr sz="1550" dirty="0">
                <a:latin typeface="Times New Roman"/>
                <a:cs typeface="Times New Roman"/>
              </a:rPr>
              <a:t>dp</a:t>
            </a:r>
            <a:r>
              <a:rPr sz="1550" spc="-50" dirty="0">
                <a:latin typeface="微软雅黑"/>
                <a:cs typeface="微软雅黑"/>
              </a:rPr>
              <a:t>也</a:t>
            </a:r>
            <a:r>
              <a:rPr sz="1550" spc="-25" dirty="0">
                <a:latin typeface="微软雅黑"/>
                <a:cs typeface="微软雅黑"/>
              </a:rPr>
              <a:t>列出</a:t>
            </a:r>
            <a:endParaRPr sz="1550">
              <a:latin typeface="微软雅黑"/>
              <a:cs typeface="微软雅黑"/>
            </a:endParaRPr>
          </a:p>
          <a:p>
            <a:pPr marL="212090" indent="-199390">
              <a:lnSpc>
                <a:spcPct val="100000"/>
              </a:lnSpc>
              <a:spcBef>
                <a:spcPts val="850"/>
              </a:spcBef>
              <a:buFont typeface="Wingdings"/>
              <a:buChar char=""/>
              <a:tabLst>
                <a:tab pos="212090" algn="l"/>
              </a:tabLst>
            </a:pPr>
            <a:r>
              <a:rPr sz="1550" spc="-10" dirty="0">
                <a:latin typeface="Times New Roman"/>
                <a:cs typeface="Times New Roman"/>
              </a:rPr>
              <a:t>Verilog</a:t>
            </a:r>
            <a:r>
              <a:rPr sz="1550" spc="100" dirty="0">
                <a:latin typeface="Times New Roman"/>
                <a:cs typeface="Times New Roman"/>
              </a:rPr>
              <a:t> </a:t>
            </a:r>
            <a:r>
              <a:rPr sz="1550" dirty="0">
                <a:latin typeface="Times New Roman"/>
                <a:cs typeface="Times New Roman"/>
              </a:rPr>
              <a:t>HDL</a:t>
            </a:r>
            <a:r>
              <a:rPr sz="1550" dirty="0">
                <a:latin typeface="微软雅黑"/>
                <a:cs typeface="微软雅黑"/>
              </a:rPr>
              <a:t>描述如例</a:t>
            </a:r>
            <a:r>
              <a:rPr sz="1550" dirty="0">
                <a:latin typeface="Times New Roman"/>
                <a:cs typeface="Times New Roman"/>
              </a:rPr>
              <a:t>3.23</a:t>
            </a:r>
            <a:r>
              <a:rPr sz="1550" spc="-25" dirty="0">
                <a:latin typeface="微软雅黑"/>
                <a:cs typeface="微软雅黑"/>
              </a:rPr>
              <a:t>所示</a:t>
            </a:r>
            <a:endParaRPr sz="1550">
              <a:latin typeface="微软雅黑"/>
              <a:cs typeface="微软雅黑"/>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0169" y="3286505"/>
            <a:ext cx="7165847" cy="1783842"/>
          </a:xfrm>
          <a:prstGeom prst="rect">
            <a:avLst/>
          </a:prstGeom>
        </p:spPr>
      </p:pic>
      <p:sp>
        <p:nvSpPr>
          <p:cNvPr id="3" name="object 3"/>
          <p:cNvSpPr txBox="1"/>
          <p:nvPr/>
        </p:nvSpPr>
        <p:spPr>
          <a:xfrm>
            <a:off x="2703709" y="2485135"/>
            <a:ext cx="4264660"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图3.9十六进制数七段LED</a:t>
            </a:r>
            <a:r>
              <a:rPr sz="1550" b="1" spc="-5" dirty="0">
                <a:latin typeface="宋体"/>
                <a:cs typeface="宋体"/>
              </a:rPr>
              <a:t>显示译码器仿真波形图</a:t>
            </a:r>
            <a:endParaRPr sz="1550">
              <a:latin typeface="宋体"/>
              <a:cs typeface="宋体"/>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a:spLocks noGrp="1"/>
          </p:cNvSpPr>
          <p:nvPr>
            <p:ph type="title"/>
          </p:nvPr>
        </p:nvSpPr>
        <p:spPr>
          <a:xfrm>
            <a:off x="416185" y="1082294"/>
            <a:ext cx="5972810" cy="466725"/>
          </a:xfrm>
          <a:prstGeom prst="rect">
            <a:avLst/>
          </a:prstGeom>
        </p:spPr>
        <p:txBody>
          <a:bodyPr vert="horz" wrap="square" lIns="0" tIns="11430" rIns="0" bIns="0" rtlCol="0">
            <a:spAutoFit/>
          </a:bodyPr>
          <a:lstStyle/>
          <a:p>
            <a:pPr marL="12700">
              <a:lnSpc>
                <a:spcPct val="100000"/>
              </a:lnSpc>
              <a:spcBef>
                <a:spcPts val="90"/>
              </a:spcBef>
            </a:pPr>
            <a:r>
              <a:rPr sz="2900" dirty="0">
                <a:solidFill>
                  <a:srgbClr val="000000"/>
                </a:solidFill>
                <a:latin typeface="Times New Roman"/>
                <a:cs typeface="Times New Roman"/>
              </a:rPr>
              <a:t>3.6.4</a:t>
            </a:r>
            <a:r>
              <a:rPr sz="2900" spc="25" dirty="0">
                <a:solidFill>
                  <a:srgbClr val="000000"/>
                </a:solidFill>
                <a:latin typeface="Times New Roman"/>
                <a:cs typeface="Times New Roman"/>
              </a:rPr>
              <a:t> </a:t>
            </a:r>
            <a:r>
              <a:rPr sz="2900" spc="-35" dirty="0">
                <a:solidFill>
                  <a:srgbClr val="000000"/>
                </a:solidFill>
              </a:rPr>
              <a:t>十六进制数七段</a:t>
            </a:r>
            <a:r>
              <a:rPr sz="2900" spc="-30" dirty="0">
                <a:solidFill>
                  <a:srgbClr val="000000"/>
                </a:solidFill>
                <a:latin typeface="Times New Roman"/>
                <a:cs typeface="Times New Roman"/>
              </a:rPr>
              <a:t>LED</a:t>
            </a:r>
            <a:r>
              <a:rPr sz="2900" spc="-40" dirty="0">
                <a:solidFill>
                  <a:srgbClr val="000000"/>
                </a:solidFill>
              </a:rPr>
              <a:t>显示译码器</a:t>
            </a:r>
            <a:endParaRPr sz="2900">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2855" y="1113536"/>
            <a:ext cx="441325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3.6.5</a:t>
            </a:r>
            <a:r>
              <a:rPr spc="20" dirty="0">
                <a:latin typeface="Times New Roman"/>
                <a:cs typeface="Times New Roman"/>
              </a:rPr>
              <a:t> </a:t>
            </a:r>
            <a:r>
              <a:rPr dirty="0"/>
              <a:t>二进制</a:t>
            </a:r>
            <a:r>
              <a:rPr spc="-10" dirty="0">
                <a:latin typeface="Times New Roman"/>
                <a:cs typeface="Times New Roman"/>
              </a:rPr>
              <a:t>—BCD</a:t>
            </a:r>
            <a:r>
              <a:rPr spc="-15" dirty="0"/>
              <a:t>码转换器</a:t>
            </a:r>
          </a:p>
        </p:txBody>
      </p:sp>
      <p:pic>
        <p:nvPicPr>
          <p:cNvPr id="3" name="object 3"/>
          <p:cNvPicPr/>
          <p:nvPr/>
        </p:nvPicPr>
        <p:blipFill>
          <a:blip r:embed="rId2" cstate="print"/>
          <a:stretch>
            <a:fillRect/>
          </a:stretch>
        </p:blipFill>
        <p:spPr>
          <a:xfrm>
            <a:off x="537075" y="3057884"/>
            <a:ext cx="137963" cy="133763"/>
          </a:xfrm>
          <a:prstGeom prst="rect">
            <a:avLst/>
          </a:prstGeom>
        </p:spPr>
      </p:pic>
      <p:pic>
        <p:nvPicPr>
          <p:cNvPr id="4" name="object 4"/>
          <p:cNvPicPr/>
          <p:nvPr/>
        </p:nvPicPr>
        <p:blipFill>
          <a:blip r:embed="rId3" cstate="print"/>
          <a:stretch>
            <a:fillRect/>
          </a:stretch>
        </p:blipFill>
        <p:spPr>
          <a:xfrm>
            <a:off x="537075" y="3735302"/>
            <a:ext cx="137963" cy="133763"/>
          </a:xfrm>
          <a:prstGeom prst="rect">
            <a:avLst/>
          </a:prstGeom>
        </p:spPr>
      </p:pic>
      <p:sp>
        <p:nvSpPr>
          <p:cNvPr id="5" name="object 5"/>
          <p:cNvSpPr txBox="1"/>
          <p:nvPr/>
        </p:nvSpPr>
        <p:spPr>
          <a:xfrm>
            <a:off x="523627" y="2123185"/>
            <a:ext cx="5944870" cy="2095500"/>
          </a:xfrm>
          <a:prstGeom prst="rect">
            <a:avLst/>
          </a:prstGeom>
        </p:spPr>
        <p:txBody>
          <a:bodyPr vert="horz" wrap="square" lIns="0" tIns="13335" rIns="0" bIns="0" rtlCol="0">
            <a:spAutoFit/>
          </a:bodyPr>
          <a:lstStyle/>
          <a:p>
            <a:pPr marL="212725" marR="5080" indent="-203200">
              <a:lnSpc>
                <a:spcPct val="100000"/>
              </a:lnSpc>
              <a:spcBef>
                <a:spcPts val="105"/>
              </a:spcBef>
              <a:buSzPct val="95238"/>
              <a:buFont typeface="Wingdings"/>
              <a:buChar char=""/>
              <a:tabLst>
                <a:tab pos="212725" algn="l"/>
                <a:tab pos="249554" algn="l"/>
              </a:tabLst>
            </a:pPr>
            <a:r>
              <a:rPr sz="2100" dirty="0">
                <a:latin typeface="微软雅黑"/>
                <a:cs typeface="微软雅黑"/>
              </a:rPr>
              <a:t>	二</a:t>
            </a:r>
            <a:r>
              <a:rPr sz="2100" spc="-10" dirty="0">
                <a:latin typeface="Times New Roman"/>
                <a:cs typeface="Times New Roman"/>
              </a:rPr>
              <a:t>—</a:t>
            </a:r>
            <a:r>
              <a:rPr sz="2100" spc="-10" dirty="0">
                <a:latin typeface="微软雅黑"/>
                <a:cs typeface="微软雅黑"/>
              </a:rPr>
              <a:t>十进制</a:t>
            </a:r>
            <a:r>
              <a:rPr sz="2100" dirty="0">
                <a:latin typeface="微软雅黑"/>
                <a:cs typeface="微软雅黑"/>
              </a:rPr>
              <a:t>（</a:t>
            </a:r>
            <a:r>
              <a:rPr sz="2100" dirty="0">
                <a:latin typeface="Times New Roman"/>
                <a:cs typeface="Times New Roman"/>
              </a:rPr>
              <a:t>Binary Coded </a:t>
            </a:r>
            <a:r>
              <a:rPr sz="2100" spc="-20" dirty="0">
                <a:latin typeface="Times New Roman"/>
                <a:cs typeface="Times New Roman"/>
              </a:rPr>
              <a:t>Decimal</a:t>
            </a:r>
            <a:r>
              <a:rPr sz="2100" spc="-20" dirty="0">
                <a:latin typeface="微软雅黑"/>
                <a:cs typeface="微软雅黑"/>
              </a:rPr>
              <a:t>，</a:t>
            </a:r>
            <a:r>
              <a:rPr sz="2100" spc="-20" dirty="0">
                <a:solidFill>
                  <a:srgbClr val="FF0000"/>
                </a:solidFill>
                <a:latin typeface="Times New Roman"/>
                <a:cs typeface="Times New Roman"/>
              </a:rPr>
              <a:t>BCD</a:t>
            </a:r>
            <a:r>
              <a:rPr sz="2100" spc="-20" dirty="0">
                <a:latin typeface="微软雅黑"/>
                <a:cs typeface="微软雅黑"/>
              </a:rPr>
              <a:t>）</a:t>
            </a:r>
            <a:r>
              <a:rPr sz="2100" spc="-25" dirty="0">
                <a:latin typeface="微软雅黑"/>
                <a:cs typeface="微软雅黑"/>
              </a:rPr>
              <a:t>码，</a:t>
            </a:r>
            <a:r>
              <a:rPr sz="2100" dirty="0">
                <a:latin typeface="微软雅黑"/>
                <a:cs typeface="微软雅黑"/>
              </a:rPr>
              <a:t>即把十进制数</a:t>
            </a:r>
            <a:r>
              <a:rPr sz="2100" dirty="0">
                <a:latin typeface="Times New Roman"/>
                <a:cs typeface="Times New Roman"/>
              </a:rPr>
              <a:t>0~9</a:t>
            </a:r>
            <a:r>
              <a:rPr sz="2100" spc="-10" dirty="0">
                <a:latin typeface="微软雅黑"/>
                <a:cs typeface="微软雅黑"/>
              </a:rPr>
              <a:t>用二进制码</a:t>
            </a:r>
            <a:r>
              <a:rPr sz="2100" spc="-10" dirty="0">
                <a:latin typeface="Times New Roman"/>
                <a:cs typeface="Times New Roman"/>
              </a:rPr>
              <a:t>0000~1001</a:t>
            </a:r>
            <a:r>
              <a:rPr sz="2100" spc="-30" dirty="0">
                <a:latin typeface="微软雅黑"/>
                <a:cs typeface="微软雅黑"/>
              </a:rPr>
              <a:t>表示</a:t>
            </a:r>
            <a:endParaRPr sz="2100">
              <a:latin typeface="微软雅黑"/>
              <a:cs typeface="微软雅黑"/>
            </a:endParaRPr>
          </a:p>
          <a:p>
            <a:pPr marL="212725" marR="88900">
              <a:lnSpc>
                <a:spcPct val="110300"/>
              </a:lnSpc>
              <a:spcBef>
                <a:spcPts val="1290"/>
              </a:spcBef>
            </a:pPr>
            <a:r>
              <a:rPr sz="1750" dirty="0">
                <a:solidFill>
                  <a:srgbClr val="3E3E3E"/>
                </a:solidFill>
                <a:latin typeface="微软雅黑"/>
                <a:cs typeface="微软雅黑"/>
              </a:rPr>
              <a:t>例如：十进制数</a:t>
            </a:r>
            <a:r>
              <a:rPr sz="1750" dirty="0">
                <a:solidFill>
                  <a:srgbClr val="3E3E3E"/>
                </a:solidFill>
                <a:latin typeface="Times New Roman"/>
                <a:cs typeface="Times New Roman"/>
              </a:rPr>
              <a:t>12</a:t>
            </a:r>
            <a:r>
              <a:rPr sz="1750" dirty="0">
                <a:solidFill>
                  <a:srgbClr val="3E3E3E"/>
                </a:solidFill>
                <a:latin typeface="微软雅黑"/>
                <a:cs typeface="微软雅黑"/>
              </a:rPr>
              <a:t>就用两个</a:t>
            </a:r>
            <a:r>
              <a:rPr sz="1750" dirty="0">
                <a:solidFill>
                  <a:srgbClr val="3E3E3E"/>
                </a:solidFill>
                <a:latin typeface="Times New Roman"/>
                <a:cs typeface="Times New Roman"/>
              </a:rPr>
              <a:t>BCD</a:t>
            </a:r>
            <a:r>
              <a:rPr sz="1750" dirty="0">
                <a:solidFill>
                  <a:srgbClr val="3E3E3E"/>
                </a:solidFill>
                <a:latin typeface="微软雅黑"/>
                <a:cs typeface="微软雅黑"/>
              </a:rPr>
              <a:t>码</a:t>
            </a:r>
            <a:r>
              <a:rPr sz="1750" dirty="0">
                <a:solidFill>
                  <a:srgbClr val="3E3E3E"/>
                </a:solidFill>
                <a:latin typeface="Times New Roman"/>
                <a:cs typeface="Times New Roman"/>
              </a:rPr>
              <a:t>0001</a:t>
            </a:r>
            <a:r>
              <a:rPr sz="1750" spc="-45" dirty="0">
                <a:solidFill>
                  <a:srgbClr val="3E3E3E"/>
                </a:solidFill>
                <a:latin typeface="Times New Roman"/>
                <a:cs typeface="Times New Roman"/>
              </a:rPr>
              <a:t> </a:t>
            </a:r>
            <a:r>
              <a:rPr sz="1750" dirty="0">
                <a:solidFill>
                  <a:srgbClr val="3E3E3E"/>
                </a:solidFill>
                <a:latin typeface="Times New Roman"/>
                <a:cs typeface="Times New Roman"/>
              </a:rPr>
              <a:t>0010</a:t>
            </a:r>
            <a:r>
              <a:rPr sz="1750" spc="-10" dirty="0">
                <a:solidFill>
                  <a:srgbClr val="3E3E3E"/>
                </a:solidFill>
                <a:latin typeface="微软雅黑"/>
                <a:cs typeface="微软雅黑"/>
              </a:rPr>
              <a:t>来表示；十进</a:t>
            </a:r>
            <a:r>
              <a:rPr sz="1750" dirty="0">
                <a:solidFill>
                  <a:srgbClr val="3E3E3E"/>
                </a:solidFill>
                <a:latin typeface="微软雅黑"/>
                <a:cs typeface="微软雅黑"/>
              </a:rPr>
              <a:t>制数</a:t>
            </a:r>
            <a:r>
              <a:rPr sz="1750" dirty="0">
                <a:solidFill>
                  <a:srgbClr val="3E3E3E"/>
                </a:solidFill>
                <a:latin typeface="Times New Roman"/>
                <a:cs typeface="Times New Roman"/>
              </a:rPr>
              <a:t>12</a:t>
            </a:r>
            <a:r>
              <a:rPr sz="1750" dirty="0">
                <a:solidFill>
                  <a:srgbClr val="3E3E3E"/>
                </a:solidFill>
                <a:latin typeface="微软雅黑"/>
                <a:cs typeface="微软雅黑"/>
              </a:rPr>
              <a:t>的十六进制（二进制）表示为</a:t>
            </a:r>
            <a:r>
              <a:rPr sz="1750" dirty="0">
                <a:solidFill>
                  <a:srgbClr val="3E3E3E"/>
                </a:solidFill>
                <a:latin typeface="Times New Roman"/>
                <a:cs typeface="Times New Roman"/>
              </a:rPr>
              <a:t>C</a:t>
            </a:r>
            <a:r>
              <a:rPr sz="1750" dirty="0">
                <a:solidFill>
                  <a:srgbClr val="3E3E3E"/>
                </a:solidFill>
                <a:latin typeface="微软雅黑"/>
                <a:cs typeface="微软雅黑"/>
              </a:rPr>
              <a:t>（</a:t>
            </a:r>
            <a:r>
              <a:rPr sz="1750" dirty="0">
                <a:solidFill>
                  <a:srgbClr val="3E3E3E"/>
                </a:solidFill>
                <a:latin typeface="Times New Roman"/>
                <a:cs typeface="Times New Roman"/>
              </a:rPr>
              <a:t>1100</a:t>
            </a:r>
            <a:r>
              <a:rPr sz="1750" dirty="0">
                <a:solidFill>
                  <a:srgbClr val="3E3E3E"/>
                </a:solidFill>
                <a:latin typeface="微软雅黑"/>
                <a:cs typeface="微软雅黑"/>
              </a:rPr>
              <a:t>）</a:t>
            </a:r>
            <a:r>
              <a:rPr sz="1750" spc="-50" dirty="0">
                <a:solidFill>
                  <a:srgbClr val="3E3E3E"/>
                </a:solidFill>
                <a:latin typeface="微软雅黑"/>
                <a:cs typeface="微软雅黑"/>
              </a:rPr>
              <a:t>。</a:t>
            </a:r>
            <a:endParaRPr sz="1750">
              <a:latin typeface="微软雅黑"/>
              <a:cs typeface="微软雅黑"/>
            </a:endParaRPr>
          </a:p>
          <a:p>
            <a:pPr marL="212725">
              <a:lnSpc>
                <a:spcPct val="100000"/>
              </a:lnSpc>
              <a:spcBef>
                <a:spcPts val="919"/>
              </a:spcBef>
            </a:pPr>
            <a:r>
              <a:rPr sz="1750" dirty="0">
                <a:solidFill>
                  <a:srgbClr val="3E3E3E"/>
                </a:solidFill>
                <a:latin typeface="微软雅黑"/>
                <a:cs typeface="微软雅黑"/>
              </a:rPr>
              <a:t>把单个十六进制数</a:t>
            </a:r>
            <a:r>
              <a:rPr sz="1750" spc="-10" dirty="0">
                <a:solidFill>
                  <a:srgbClr val="3E3E3E"/>
                </a:solidFill>
                <a:latin typeface="微软雅黑"/>
                <a:cs typeface="微软雅黑"/>
              </a:rPr>
              <a:t>（</a:t>
            </a:r>
            <a:r>
              <a:rPr sz="1750" spc="-10" dirty="0">
                <a:solidFill>
                  <a:srgbClr val="3E3E3E"/>
                </a:solidFill>
                <a:latin typeface="Times New Roman"/>
                <a:cs typeface="Times New Roman"/>
              </a:rPr>
              <a:t>0~F</a:t>
            </a:r>
            <a:r>
              <a:rPr sz="1750" spc="-10" dirty="0">
                <a:solidFill>
                  <a:srgbClr val="3E3E3E"/>
                </a:solidFill>
                <a:latin typeface="微软雅黑"/>
                <a:cs typeface="微软雅黑"/>
              </a:rPr>
              <a:t>）</a:t>
            </a:r>
            <a:r>
              <a:rPr sz="1750" dirty="0">
                <a:solidFill>
                  <a:srgbClr val="3E3E3E"/>
                </a:solidFill>
                <a:latin typeface="微软雅黑"/>
                <a:cs typeface="微软雅黑"/>
              </a:rPr>
              <a:t>转换成两个</a:t>
            </a:r>
            <a:r>
              <a:rPr sz="1750" dirty="0">
                <a:solidFill>
                  <a:srgbClr val="3E3E3E"/>
                </a:solidFill>
                <a:latin typeface="Times New Roman"/>
                <a:cs typeface="Times New Roman"/>
              </a:rPr>
              <a:t>BCD</a:t>
            </a:r>
            <a:r>
              <a:rPr sz="1750" spc="-10" dirty="0">
                <a:solidFill>
                  <a:srgbClr val="3E3E3E"/>
                </a:solidFill>
                <a:latin typeface="微软雅黑"/>
                <a:cs typeface="微软雅黑"/>
              </a:rPr>
              <a:t>码的真值表如表</a:t>
            </a:r>
            <a:endParaRPr sz="1750">
              <a:latin typeface="微软雅黑"/>
              <a:cs typeface="微软雅黑"/>
            </a:endParaRPr>
          </a:p>
          <a:p>
            <a:pPr marL="212725">
              <a:lnSpc>
                <a:spcPct val="100000"/>
              </a:lnSpc>
              <a:spcBef>
                <a:spcPts val="210"/>
              </a:spcBef>
            </a:pPr>
            <a:r>
              <a:rPr sz="1750" dirty="0">
                <a:solidFill>
                  <a:srgbClr val="3E3E3E"/>
                </a:solidFill>
                <a:latin typeface="Times New Roman"/>
                <a:cs typeface="Times New Roman"/>
              </a:rPr>
              <a:t>3.8</a:t>
            </a:r>
            <a:r>
              <a:rPr sz="1750" dirty="0">
                <a:solidFill>
                  <a:srgbClr val="3E3E3E"/>
                </a:solidFill>
                <a:latin typeface="微软雅黑"/>
                <a:cs typeface="微软雅黑"/>
              </a:rPr>
              <a:t>所示，这等效于把</a:t>
            </a:r>
            <a:r>
              <a:rPr sz="1750" dirty="0">
                <a:solidFill>
                  <a:srgbClr val="3E3E3E"/>
                </a:solidFill>
                <a:latin typeface="Times New Roman"/>
                <a:cs typeface="Times New Roman"/>
              </a:rPr>
              <a:t>4</a:t>
            </a:r>
            <a:r>
              <a:rPr sz="1750" dirty="0">
                <a:solidFill>
                  <a:srgbClr val="3E3E3E"/>
                </a:solidFill>
                <a:latin typeface="微软雅黑"/>
                <a:cs typeface="微软雅黑"/>
              </a:rPr>
              <a:t>位二进制数转换为</a:t>
            </a:r>
            <a:r>
              <a:rPr sz="1750" dirty="0">
                <a:solidFill>
                  <a:srgbClr val="3E3E3E"/>
                </a:solidFill>
                <a:latin typeface="Times New Roman"/>
                <a:cs typeface="Times New Roman"/>
              </a:rPr>
              <a:t>5</a:t>
            </a:r>
            <a:r>
              <a:rPr sz="1750" spc="-10" dirty="0">
                <a:solidFill>
                  <a:srgbClr val="3E3E3E"/>
                </a:solidFill>
                <a:latin typeface="微软雅黑"/>
                <a:cs typeface="微软雅黑"/>
              </a:rPr>
              <a:t>位二进制数。</a:t>
            </a:r>
            <a:endParaRPr sz="175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graphicFrame>
        <p:nvGraphicFramePr>
          <p:cNvPr id="6" name="object 6"/>
          <p:cNvGraphicFramePr>
            <a:graphicFrameLocks noGrp="1"/>
          </p:cNvGraphicFramePr>
          <p:nvPr/>
        </p:nvGraphicFramePr>
        <p:xfrm>
          <a:off x="6730396" y="1664735"/>
          <a:ext cx="3270885" cy="4313555"/>
        </p:xfrm>
        <a:graphic>
          <a:graphicData uri="http://schemas.openxmlformats.org/drawingml/2006/table">
            <a:tbl>
              <a:tblPr firstRow="1" bandRow="1">
                <a:tableStyleId>{2D5ABB26-0587-4C30-8999-92F81FD0307C}</a:tableStyleId>
              </a:tblPr>
              <a:tblGrid>
                <a:gridCol w="1635125">
                  <a:extLst>
                    <a:ext uri="{9D8B030D-6E8A-4147-A177-3AD203B41FA5}">
                      <a16:colId xmlns:a16="http://schemas.microsoft.com/office/drawing/2014/main" val="20000"/>
                    </a:ext>
                  </a:extLst>
                </a:gridCol>
                <a:gridCol w="1635760">
                  <a:extLst>
                    <a:ext uri="{9D8B030D-6E8A-4147-A177-3AD203B41FA5}">
                      <a16:colId xmlns:a16="http://schemas.microsoft.com/office/drawing/2014/main" val="20001"/>
                    </a:ext>
                  </a:extLst>
                </a:gridCol>
              </a:tblGrid>
              <a:tr h="204470">
                <a:tc>
                  <a:txBody>
                    <a:bodyPr/>
                    <a:lstStyle/>
                    <a:p>
                      <a:pPr marL="1270" algn="ctr">
                        <a:lnSpc>
                          <a:spcPts val="1380"/>
                        </a:lnSpc>
                        <a:spcBef>
                          <a:spcPts val="130"/>
                        </a:spcBef>
                      </a:pPr>
                      <a:r>
                        <a:rPr sz="1200" b="1" spc="-10" dirty="0">
                          <a:solidFill>
                            <a:srgbClr val="FFFFFF"/>
                          </a:solidFill>
                          <a:latin typeface="Times New Roman"/>
                          <a:cs typeface="Times New Roman"/>
                        </a:rPr>
                        <a:t>bin[3:0]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1270" algn="ctr">
                        <a:lnSpc>
                          <a:spcPts val="1380"/>
                        </a:lnSpc>
                        <a:spcBef>
                          <a:spcPts val="130"/>
                        </a:spcBef>
                      </a:pPr>
                      <a:r>
                        <a:rPr sz="1200" b="1" spc="-10" dirty="0">
                          <a:solidFill>
                            <a:srgbClr val="FFFFFF"/>
                          </a:solidFill>
                          <a:latin typeface="Times New Roman"/>
                          <a:cs typeface="Times New Roman"/>
                        </a:rPr>
                        <a:t>bcd5[4:0]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257175">
                <a:tc>
                  <a:txBody>
                    <a:bodyPr/>
                    <a:lstStyle/>
                    <a:p>
                      <a:pPr algn="ctr">
                        <a:lnSpc>
                          <a:spcPct val="100000"/>
                        </a:lnSpc>
                        <a:spcBef>
                          <a:spcPts val="130"/>
                        </a:spcBef>
                      </a:pPr>
                      <a:r>
                        <a:rPr sz="1200" b="1" spc="-20" dirty="0">
                          <a:solidFill>
                            <a:srgbClr val="FFFFFF"/>
                          </a:solidFill>
                          <a:latin typeface="Times New Roman"/>
                          <a:cs typeface="Times New Roman"/>
                        </a:rPr>
                        <a:t>0000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00000</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0001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00001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57175">
                <a:tc>
                  <a:txBody>
                    <a:bodyPr/>
                    <a:lstStyle/>
                    <a:p>
                      <a:pPr algn="ctr">
                        <a:lnSpc>
                          <a:spcPct val="100000"/>
                        </a:lnSpc>
                        <a:spcBef>
                          <a:spcPts val="130"/>
                        </a:spcBef>
                      </a:pPr>
                      <a:r>
                        <a:rPr sz="1200" b="1" spc="-20" dirty="0">
                          <a:solidFill>
                            <a:srgbClr val="FFFFFF"/>
                          </a:solidFill>
                          <a:latin typeface="Times New Roman"/>
                          <a:cs typeface="Times New Roman"/>
                        </a:rPr>
                        <a:t>0010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00010</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0011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635" algn="ctr">
                        <a:lnSpc>
                          <a:spcPct val="100000"/>
                        </a:lnSpc>
                        <a:spcBef>
                          <a:spcPts val="110"/>
                        </a:spcBef>
                      </a:pPr>
                      <a:r>
                        <a:rPr sz="1400" spc="-10" dirty="0">
                          <a:latin typeface="Times New Roman"/>
                          <a:cs typeface="Times New Roman"/>
                        </a:rPr>
                        <a:t>00011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57175">
                <a:tc>
                  <a:txBody>
                    <a:bodyPr/>
                    <a:lstStyle/>
                    <a:p>
                      <a:pPr algn="ctr">
                        <a:lnSpc>
                          <a:spcPct val="100000"/>
                        </a:lnSpc>
                        <a:spcBef>
                          <a:spcPts val="130"/>
                        </a:spcBef>
                      </a:pPr>
                      <a:r>
                        <a:rPr sz="1200" b="1" spc="-20" dirty="0">
                          <a:solidFill>
                            <a:srgbClr val="FFFFFF"/>
                          </a:solidFill>
                          <a:latin typeface="Times New Roman"/>
                          <a:cs typeface="Times New Roman"/>
                        </a:rPr>
                        <a:t>0100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00100</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0101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00101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56540">
                <a:tc>
                  <a:txBody>
                    <a:bodyPr/>
                    <a:lstStyle/>
                    <a:p>
                      <a:pPr marL="635" algn="ctr">
                        <a:lnSpc>
                          <a:spcPct val="100000"/>
                        </a:lnSpc>
                        <a:spcBef>
                          <a:spcPts val="125"/>
                        </a:spcBef>
                      </a:pPr>
                      <a:r>
                        <a:rPr sz="1200" b="1" spc="-20" dirty="0">
                          <a:solidFill>
                            <a:srgbClr val="FFFFFF"/>
                          </a:solidFill>
                          <a:latin typeface="Times New Roman"/>
                          <a:cs typeface="Times New Roman"/>
                        </a:rPr>
                        <a:t>0110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635" algn="ctr">
                        <a:lnSpc>
                          <a:spcPct val="100000"/>
                        </a:lnSpc>
                        <a:spcBef>
                          <a:spcPts val="110"/>
                        </a:spcBef>
                      </a:pPr>
                      <a:r>
                        <a:rPr sz="1400" spc="-10" dirty="0">
                          <a:latin typeface="Times New Roman"/>
                          <a:cs typeface="Times New Roman"/>
                        </a:rPr>
                        <a:t>00110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57175">
                <a:tc>
                  <a:txBody>
                    <a:bodyPr/>
                    <a:lstStyle/>
                    <a:p>
                      <a:pPr marR="635" algn="ctr">
                        <a:lnSpc>
                          <a:spcPct val="100000"/>
                        </a:lnSpc>
                        <a:spcBef>
                          <a:spcPts val="130"/>
                        </a:spcBef>
                      </a:pPr>
                      <a:r>
                        <a:rPr sz="1200" b="1" spc="-20" dirty="0">
                          <a:solidFill>
                            <a:srgbClr val="FFFFFF"/>
                          </a:solidFill>
                          <a:latin typeface="Times New Roman"/>
                          <a:cs typeface="Times New Roman"/>
                        </a:rPr>
                        <a:t>0111</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00111</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1000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01000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9"/>
                  </a:ext>
                </a:extLst>
              </a:tr>
              <a:tr h="257175">
                <a:tc>
                  <a:txBody>
                    <a:bodyPr/>
                    <a:lstStyle/>
                    <a:p>
                      <a:pPr algn="ctr">
                        <a:lnSpc>
                          <a:spcPct val="100000"/>
                        </a:lnSpc>
                        <a:spcBef>
                          <a:spcPts val="130"/>
                        </a:spcBef>
                      </a:pPr>
                      <a:r>
                        <a:rPr sz="1200" b="1" spc="-20" dirty="0">
                          <a:solidFill>
                            <a:srgbClr val="FFFFFF"/>
                          </a:solidFill>
                          <a:latin typeface="Times New Roman"/>
                          <a:cs typeface="Times New Roman"/>
                        </a:rPr>
                        <a:t>1001</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01001</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0"/>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1010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10000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1"/>
                  </a:ext>
                </a:extLst>
              </a:tr>
              <a:tr h="257175">
                <a:tc>
                  <a:txBody>
                    <a:bodyPr/>
                    <a:lstStyle/>
                    <a:p>
                      <a:pPr algn="ctr">
                        <a:lnSpc>
                          <a:spcPct val="100000"/>
                        </a:lnSpc>
                        <a:spcBef>
                          <a:spcPts val="125"/>
                        </a:spcBef>
                      </a:pPr>
                      <a:r>
                        <a:rPr sz="1200" b="1" spc="-20" dirty="0">
                          <a:solidFill>
                            <a:srgbClr val="FFFFFF"/>
                          </a:solidFill>
                          <a:latin typeface="Times New Roman"/>
                          <a:cs typeface="Times New Roman"/>
                        </a:rPr>
                        <a:t>1011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10001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2"/>
                  </a:ext>
                </a:extLst>
              </a:tr>
              <a:tr h="256540">
                <a:tc>
                  <a:txBody>
                    <a:bodyPr/>
                    <a:lstStyle/>
                    <a:p>
                      <a:pPr marL="635" algn="ctr">
                        <a:lnSpc>
                          <a:spcPct val="100000"/>
                        </a:lnSpc>
                        <a:spcBef>
                          <a:spcPts val="125"/>
                        </a:spcBef>
                      </a:pPr>
                      <a:r>
                        <a:rPr sz="1200" b="1" spc="-20" dirty="0">
                          <a:solidFill>
                            <a:srgbClr val="FFFFFF"/>
                          </a:solidFill>
                          <a:latin typeface="Times New Roman"/>
                          <a:cs typeface="Times New Roman"/>
                        </a:rPr>
                        <a:t>1100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10010</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3"/>
                  </a:ext>
                </a:extLst>
              </a:tr>
              <a:tr h="256540">
                <a:tc>
                  <a:txBody>
                    <a:bodyPr/>
                    <a:lstStyle/>
                    <a:p>
                      <a:pPr marL="635" algn="ctr">
                        <a:lnSpc>
                          <a:spcPct val="100000"/>
                        </a:lnSpc>
                        <a:spcBef>
                          <a:spcPts val="125"/>
                        </a:spcBef>
                      </a:pPr>
                      <a:r>
                        <a:rPr sz="1200" b="1" spc="-20" dirty="0">
                          <a:solidFill>
                            <a:srgbClr val="FFFFFF"/>
                          </a:solidFill>
                          <a:latin typeface="Times New Roman"/>
                          <a:cs typeface="Times New Roman"/>
                        </a:rPr>
                        <a:t>1101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635" algn="ctr">
                        <a:lnSpc>
                          <a:spcPct val="100000"/>
                        </a:lnSpc>
                        <a:spcBef>
                          <a:spcPts val="110"/>
                        </a:spcBef>
                      </a:pPr>
                      <a:r>
                        <a:rPr sz="1400" spc="-10" dirty="0">
                          <a:latin typeface="Times New Roman"/>
                          <a:cs typeface="Times New Roman"/>
                        </a:rPr>
                        <a:t>10011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4"/>
                  </a:ext>
                </a:extLst>
              </a:tr>
              <a:tr h="257175">
                <a:tc>
                  <a:txBody>
                    <a:bodyPr/>
                    <a:lstStyle/>
                    <a:p>
                      <a:pPr algn="ctr">
                        <a:lnSpc>
                          <a:spcPct val="100000"/>
                        </a:lnSpc>
                        <a:spcBef>
                          <a:spcPts val="130"/>
                        </a:spcBef>
                      </a:pPr>
                      <a:r>
                        <a:rPr sz="1200" b="1" spc="-20" dirty="0">
                          <a:solidFill>
                            <a:srgbClr val="FFFFFF"/>
                          </a:solidFill>
                          <a:latin typeface="Times New Roman"/>
                          <a:cs typeface="Times New Roman"/>
                        </a:rPr>
                        <a:t>1110</a:t>
                      </a:r>
                      <a:endParaRPr sz="1200">
                        <a:latin typeface="Times New Roman"/>
                        <a:cs typeface="Times New Roman"/>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4"/>
                        </a:spcBef>
                      </a:pPr>
                      <a:r>
                        <a:rPr sz="1400" spc="-10" dirty="0">
                          <a:latin typeface="Times New Roman"/>
                          <a:cs typeface="Times New Roman"/>
                        </a:rPr>
                        <a:t>10100</a:t>
                      </a:r>
                      <a:endParaRPr sz="1400">
                        <a:latin typeface="Times New Roman"/>
                        <a:cs typeface="Times New Roman"/>
                      </a:endParaRPr>
                    </a:p>
                  </a:txBody>
                  <a:tcPr marL="0" marR="0" marT="146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5"/>
                  </a:ext>
                </a:extLst>
              </a:tr>
              <a:tr h="256540">
                <a:tc>
                  <a:txBody>
                    <a:bodyPr/>
                    <a:lstStyle/>
                    <a:p>
                      <a:pPr algn="ctr">
                        <a:lnSpc>
                          <a:spcPct val="100000"/>
                        </a:lnSpc>
                        <a:spcBef>
                          <a:spcPts val="125"/>
                        </a:spcBef>
                      </a:pPr>
                      <a:r>
                        <a:rPr sz="1200" b="1" spc="-20" dirty="0">
                          <a:solidFill>
                            <a:srgbClr val="FFFFFF"/>
                          </a:solidFill>
                          <a:latin typeface="Times New Roman"/>
                          <a:cs typeface="Times New Roman"/>
                        </a:rPr>
                        <a:t>1111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gn="ctr">
                        <a:lnSpc>
                          <a:spcPct val="100000"/>
                        </a:lnSpc>
                        <a:spcBef>
                          <a:spcPts val="110"/>
                        </a:spcBef>
                      </a:pPr>
                      <a:r>
                        <a:rPr sz="1400" spc="-10" dirty="0">
                          <a:latin typeface="Times New Roman"/>
                          <a:cs typeface="Times New Roman"/>
                        </a:rPr>
                        <a:t>10101</a:t>
                      </a:r>
                      <a:endParaRPr sz="1400">
                        <a:latin typeface="Times New Roman"/>
                        <a:cs typeface="Times New Roman"/>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6"/>
                  </a:ext>
                </a:extLst>
              </a:tr>
            </a:tbl>
          </a:graphicData>
        </a:graphic>
      </p:graphicFrame>
      <p:sp>
        <p:nvSpPr>
          <p:cNvPr id="7" name="object 7"/>
          <p:cNvSpPr txBox="1"/>
          <p:nvPr/>
        </p:nvSpPr>
        <p:spPr>
          <a:xfrm>
            <a:off x="6741544" y="1378707"/>
            <a:ext cx="329692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0000"/>
                </a:solidFill>
                <a:latin typeface="微软雅黑"/>
                <a:cs typeface="微软雅黑"/>
              </a:rPr>
              <a:t>表</a:t>
            </a:r>
            <a:r>
              <a:rPr sz="1400" b="1" spc="-10" dirty="0">
                <a:solidFill>
                  <a:srgbClr val="FF0000"/>
                </a:solidFill>
                <a:latin typeface="Times New Roman"/>
                <a:cs typeface="Times New Roman"/>
              </a:rPr>
              <a:t>3.8</a:t>
            </a:r>
            <a:r>
              <a:rPr sz="1400" b="1" spc="-5" dirty="0">
                <a:solidFill>
                  <a:srgbClr val="FF0000"/>
                </a:solidFill>
                <a:latin typeface="微软雅黑"/>
                <a:cs typeface="微软雅黑"/>
              </a:rPr>
              <a:t>：单个十六进制数转</a:t>
            </a:r>
            <a:r>
              <a:rPr sz="1400" b="1" spc="-10" dirty="0">
                <a:solidFill>
                  <a:srgbClr val="FF0000"/>
                </a:solidFill>
                <a:latin typeface="Times New Roman"/>
                <a:cs typeface="Times New Roman"/>
              </a:rPr>
              <a:t>BCD</a:t>
            </a:r>
            <a:r>
              <a:rPr sz="1400" b="1" spc="-20" dirty="0">
                <a:solidFill>
                  <a:srgbClr val="FF0000"/>
                </a:solidFill>
                <a:latin typeface="微软雅黑"/>
                <a:cs typeface="微软雅黑"/>
              </a:rPr>
              <a:t>码的真值表</a:t>
            </a:r>
            <a:endParaRPr sz="1400">
              <a:latin typeface="微软雅黑"/>
              <a:cs typeface="微软雅黑"/>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5923" y="1792985"/>
            <a:ext cx="4026535" cy="4470400"/>
            <a:chOff x="1065923" y="1792985"/>
            <a:chExt cx="4026535" cy="4470400"/>
          </a:xfrm>
        </p:grpSpPr>
        <p:sp>
          <p:nvSpPr>
            <p:cNvPr id="3" name="object 3"/>
            <p:cNvSpPr/>
            <p:nvPr/>
          </p:nvSpPr>
          <p:spPr>
            <a:xfrm>
              <a:off x="1074305" y="1801367"/>
              <a:ext cx="4010025" cy="4453255"/>
            </a:xfrm>
            <a:custGeom>
              <a:avLst/>
              <a:gdLst/>
              <a:ahLst/>
              <a:cxnLst/>
              <a:rect l="l" t="t" r="r" b="b"/>
              <a:pathLst>
                <a:path w="4010025" h="4453255">
                  <a:moveTo>
                    <a:pt x="4009644" y="4453128"/>
                  </a:moveTo>
                  <a:lnTo>
                    <a:pt x="4009644" y="0"/>
                  </a:lnTo>
                  <a:lnTo>
                    <a:pt x="0" y="0"/>
                  </a:lnTo>
                  <a:lnTo>
                    <a:pt x="0" y="4453128"/>
                  </a:lnTo>
                  <a:lnTo>
                    <a:pt x="4009644" y="4453128"/>
                  </a:lnTo>
                  <a:close/>
                </a:path>
              </a:pathLst>
            </a:custGeom>
            <a:solidFill>
              <a:srgbClr val="F9FABA"/>
            </a:solidFill>
          </p:spPr>
          <p:txBody>
            <a:bodyPr wrap="square" lIns="0" tIns="0" rIns="0" bIns="0" rtlCol="0"/>
            <a:lstStyle/>
            <a:p>
              <a:endParaRPr/>
            </a:p>
          </p:txBody>
        </p:sp>
        <p:sp>
          <p:nvSpPr>
            <p:cNvPr id="4" name="object 4"/>
            <p:cNvSpPr/>
            <p:nvPr/>
          </p:nvSpPr>
          <p:spPr>
            <a:xfrm>
              <a:off x="1065923" y="1792985"/>
              <a:ext cx="4026535" cy="4470400"/>
            </a:xfrm>
            <a:custGeom>
              <a:avLst/>
              <a:gdLst/>
              <a:ahLst/>
              <a:cxnLst/>
              <a:rect l="l" t="t" r="r" b="b"/>
              <a:pathLst>
                <a:path w="4026535" h="4470400">
                  <a:moveTo>
                    <a:pt x="4026408" y="4466082"/>
                  </a:moveTo>
                  <a:lnTo>
                    <a:pt x="4026408" y="3810"/>
                  </a:lnTo>
                  <a:lnTo>
                    <a:pt x="4022598" y="0"/>
                  </a:lnTo>
                  <a:lnTo>
                    <a:pt x="3809" y="0"/>
                  </a:lnTo>
                  <a:lnTo>
                    <a:pt x="0" y="3810"/>
                  </a:lnTo>
                  <a:lnTo>
                    <a:pt x="0" y="4466082"/>
                  </a:lnTo>
                  <a:lnTo>
                    <a:pt x="3810" y="4469892"/>
                  </a:lnTo>
                  <a:lnTo>
                    <a:pt x="8382" y="4469892"/>
                  </a:lnTo>
                  <a:lnTo>
                    <a:pt x="8382" y="16764"/>
                  </a:lnTo>
                  <a:lnTo>
                    <a:pt x="16763" y="8382"/>
                  </a:lnTo>
                  <a:lnTo>
                    <a:pt x="16763" y="16764"/>
                  </a:lnTo>
                  <a:lnTo>
                    <a:pt x="4009644" y="16764"/>
                  </a:lnTo>
                  <a:lnTo>
                    <a:pt x="4009644" y="8382"/>
                  </a:lnTo>
                  <a:lnTo>
                    <a:pt x="4018026" y="16764"/>
                  </a:lnTo>
                  <a:lnTo>
                    <a:pt x="4018026" y="4469892"/>
                  </a:lnTo>
                  <a:lnTo>
                    <a:pt x="4022598" y="4469892"/>
                  </a:lnTo>
                  <a:lnTo>
                    <a:pt x="4026408" y="4466082"/>
                  </a:lnTo>
                  <a:close/>
                </a:path>
                <a:path w="4026535" h="4470400">
                  <a:moveTo>
                    <a:pt x="16763" y="16764"/>
                  </a:moveTo>
                  <a:lnTo>
                    <a:pt x="16763" y="8382"/>
                  </a:lnTo>
                  <a:lnTo>
                    <a:pt x="8382" y="16764"/>
                  </a:lnTo>
                  <a:lnTo>
                    <a:pt x="16763" y="16764"/>
                  </a:lnTo>
                  <a:close/>
                </a:path>
                <a:path w="4026535" h="4470400">
                  <a:moveTo>
                    <a:pt x="16764" y="4453128"/>
                  </a:moveTo>
                  <a:lnTo>
                    <a:pt x="16763" y="16764"/>
                  </a:lnTo>
                  <a:lnTo>
                    <a:pt x="8382" y="16764"/>
                  </a:lnTo>
                  <a:lnTo>
                    <a:pt x="8382" y="4453128"/>
                  </a:lnTo>
                  <a:lnTo>
                    <a:pt x="16764" y="4453128"/>
                  </a:lnTo>
                  <a:close/>
                </a:path>
                <a:path w="4026535" h="4470400">
                  <a:moveTo>
                    <a:pt x="4018026" y="4453128"/>
                  </a:moveTo>
                  <a:lnTo>
                    <a:pt x="8382" y="4453128"/>
                  </a:lnTo>
                  <a:lnTo>
                    <a:pt x="16764" y="4461510"/>
                  </a:lnTo>
                  <a:lnTo>
                    <a:pt x="16764" y="4469892"/>
                  </a:lnTo>
                  <a:lnTo>
                    <a:pt x="4009644" y="4469892"/>
                  </a:lnTo>
                  <a:lnTo>
                    <a:pt x="4009644" y="4461510"/>
                  </a:lnTo>
                  <a:lnTo>
                    <a:pt x="4018026" y="4453128"/>
                  </a:lnTo>
                  <a:close/>
                </a:path>
                <a:path w="4026535" h="4470400">
                  <a:moveTo>
                    <a:pt x="16764" y="4469892"/>
                  </a:moveTo>
                  <a:lnTo>
                    <a:pt x="16764" y="4461510"/>
                  </a:lnTo>
                  <a:lnTo>
                    <a:pt x="8382" y="4453128"/>
                  </a:lnTo>
                  <a:lnTo>
                    <a:pt x="8382" y="4469892"/>
                  </a:lnTo>
                  <a:lnTo>
                    <a:pt x="16764" y="4469892"/>
                  </a:lnTo>
                  <a:close/>
                </a:path>
                <a:path w="4026535" h="4470400">
                  <a:moveTo>
                    <a:pt x="4018026" y="16764"/>
                  </a:moveTo>
                  <a:lnTo>
                    <a:pt x="4009644" y="8382"/>
                  </a:lnTo>
                  <a:lnTo>
                    <a:pt x="4009644" y="16764"/>
                  </a:lnTo>
                  <a:lnTo>
                    <a:pt x="4018026" y="16764"/>
                  </a:lnTo>
                  <a:close/>
                </a:path>
                <a:path w="4026535" h="4470400">
                  <a:moveTo>
                    <a:pt x="4018026" y="4453128"/>
                  </a:moveTo>
                  <a:lnTo>
                    <a:pt x="4018026" y="16764"/>
                  </a:lnTo>
                  <a:lnTo>
                    <a:pt x="4009644" y="16764"/>
                  </a:lnTo>
                  <a:lnTo>
                    <a:pt x="4009644" y="4453128"/>
                  </a:lnTo>
                  <a:lnTo>
                    <a:pt x="4018026" y="4453128"/>
                  </a:lnTo>
                  <a:close/>
                </a:path>
                <a:path w="4026535" h="4470400">
                  <a:moveTo>
                    <a:pt x="4018026" y="4469892"/>
                  </a:moveTo>
                  <a:lnTo>
                    <a:pt x="4018026" y="4453128"/>
                  </a:lnTo>
                  <a:lnTo>
                    <a:pt x="4009644" y="4461510"/>
                  </a:lnTo>
                  <a:lnTo>
                    <a:pt x="4009644" y="4469892"/>
                  </a:lnTo>
                  <a:lnTo>
                    <a:pt x="4018026" y="4469892"/>
                  </a:lnTo>
                  <a:close/>
                </a:path>
              </a:pathLst>
            </a:custGeom>
            <a:solidFill>
              <a:srgbClr val="000000"/>
            </a:solidFill>
          </p:spPr>
          <p:txBody>
            <a:bodyPr wrap="square" lIns="0" tIns="0" rIns="0" bIns="0" rtlCol="0"/>
            <a:lstStyle/>
            <a:p>
              <a:endParaRPr/>
            </a:p>
          </p:txBody>
        </p:sp>
      </p:grpSp>
      <p:sp>
        <p:nvSpPr>
          <p:cNvPr id="5" name="object 5"/>
          <p:cNvSpPr txBox="1"/>
          <p:nvPr/>
        </p:nvSpPr>
        <p:spPr>
          <a:xfrm>
            <a:off x="1191902" y="1795976"/>
            <a:ext cx="3493770" cy="603250"/>
          </a:xfrm>
          <a:prstGeom prst="rect">
            <a:avLst/>
          </a:prstGeom>
        </p:spPr>
        <p:txBody>
          <a:bodyPr vert="horz" wrap="square" lIns="0" tIns="64135" rIns="0" bIns="0" rtlCol="0">
            <a:spAutoFit/>
          </a:bodyPr>
          <a:lstStyle/>
          <a:p>
            <a:pPr marL="12700">
              <a:lnSpc>
                <a:spcPct val="100000"/>
              </a:lnSpc>
              <a:spcBef>
                <a:spcPts val="505"/>
              </a:spcBef>
            </a:pPr>
            <a:r>
              <a:rPr sz="1550" b="1" spc="20" dirty="0">
                <a:latin typeface="微软雅黑"/>
                <a:cs typeface="微软雅黑"/>
              </a:rPr>
              <a:t>例 </a:t>
            </a:r>
            <a:r>
              <a:rPr sz="1550" b="1" dirty="0">
                <a:latin typeface="Times New Roman"/>
                <a:cs typeface="Times New Roman"/>
              </a:rPr>
              <a:t>3.12</a:t>
            </a:r>
            <a:r>
              <a:rPr sz="1550" b="1" spc="114" dirty="0">
                <a:latin typeface="Times New Roman"/>
                <a:cs typeface="Times New Roman"/>
              </a:rPr>
              <a:t> </a:t>
            </a:r>
            <a:r>
              <a:rPr sz="1550" dirty="0">
                <a:latin typeface="微软雅黑"/>
                <a:cs typeface="微软雅黑"/>
              </a:rPr>
              <a:t>单个十六进制数转</a:t>
            </a:r>
            <a:r>
              <a:rPr sz="1550" dirty="0">
                <a:latin typeface="Times New Roman"/>
                <a:cs typeface="Times New Roman"/>
              </a:rPr>
              <a:t>BCD</a:t>
            </a:r>
            <a:r>
              <a:rPr sz="1550" spc="-15" dirty="0">
                <a:latin typeface="微软雅黑"/>
                <a:cs typeface="微软雅黑"/>
              </a:rPr>
              <a:t>码的描述</a:t>
            </a:r>
            <a:endParaRPr sz="1550">
              <a:latin typeface="微软雅黑"/>
              <a:cs typeface="微软雅黑"/>
            </a:endParaRPr>
          </a:p>
          <a:p>
            <a:pPr marL="196215">
              <a:lnSpc>
                <a:spcPct val="100000"/>
              </a:lnSpc>
              <a:spcBef>
                <a:spcPts val="415"/>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bin_bcd4</a:t>
            </a:r>
            <a:endParaRPr sz="1550">
              <a:latin typeface="Times New Roman"/>
              <a:cs typeface="Times New Roman"/>
            </a:endParaRPr>
          </a:p>
        </p:txBody>
      </p:sp>
      <p:sp>
        <p:nvSpPr>
          <p:cNvPr id="6" name="object 6"/>
          <p:cNvSpPr txBox="1"/>
          <p:nvPr/>
        </p:nvSpPr>
        <p:spPr>
          <a:xfrm>
            <a:off x="1538338" y="2421142"/>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7" name="object 7"/>
          <p:cNvSpPr txBox="1"/>
          <p:nvPr/>
        </p:nvSpPr>
        <p:spPr>
          <a:xfrm>
            <a:off x="1504810" y="2661629"/>
            <a:ext cx="2299970" cy="3489325"/>
          </a:xfrm>
          <a:prstGeom prst="rect">
            <a:avLst/>
          </a:prstGeom>
        </p:spPr>
        <p:txBody>
          <a:bodyPr vert="horz" wrap="square" lIns="0" tIns="64135" rIns="0" bIns="0" rtlCol="0">
            <a:spAutoFit/>
          </a:bodyPr>
          <a:lstStyle/>
          <a:p>
            <a:pPr marL="121920">
              <a:lnSpc>
                <a:spcPct val="100000"/>
              </a:lnSpc>
              <a:spcBef>
                <a:spcPts val="505"/>
              </a:spcBef>
            </a:pPr>
            <a:r>
              <a:rPr sz="1550" b="1" dirty="0">
                <a:latin typeface="Times New Roman"/>
                <a:cs typeface="Times New Roman"/>
              </a:rPr>
              <a:t>input</a:t>
            </a:r>
            <a:r>
              <a:rPr sz="1550" b="1" spc="60" dirty="0">
                <a:latin typeface="Times New Roman"/>
                <a:cs typeface="Times New Roman"/>
              </a:rPr>
              <a:t> </a:t>
            </a:r>
            <a:r>
              <a:rPr sz="1550" dirty="0">
                <a:latin typeface="Times New Roman"/>
                <a:cs typeface="Times New Roman"/>
              </a:rPr>
              <a:t>[3:0]</a:t>
            </a:r>
            <a:r>
              <a:rPr sz="1550" spc="50" dirty="0">
                <a:latin typeface="Times New Roman"/>
                <a:cs typeface="Times New Roman"/>
              </a:rPr>
              <a:t> </a:t>
            </a:r>
            <a:r>
              <a:rPr sz="1550" spc="-10" dirty="0">
                <a:latin typeface="Times New Roman"/>
                <a:cs typeface="Times New Roman"/>
              </a:rPr>
              <a:t>bin4,</a:t>
            </a:r>
            <a:endParaRPr sz="1550">
              <a:latin typeface="Times New Roman"/>
              <a:cs typeface="Times New Roman"/>
            </a:endParaRPr>
          </a:p>
          <a:p>
            <a:pPr marL="121920">
              <a:lnSpc>
                <a:spcPct val="100000"/>
              </a:lnSpc>
              <a:spcBef>
                <a:spcPts val="415"/>
              </a:spcBef>
            </a:pPr>
            <a:r>
              <a:rPr sz="1550" b="1" dirty="0">
                <a:latin typeface="Times New Roman"/>
                <a:cs typeface="Times New Roman"/>
              </a:rPr>
              <a:t>output</a:t>
            </a:r>
            <a:r>
              <a:rPr sz="1550" b="1" spc="430" dirty="0">
                <a:latin typeface="Times New Roman"/>
                <a:cs typeface="Times New Roman"/>
              </a:rPr>
              <a:t> </a:t>
            </a:r>
            <a:r>
              <a:rPr sz="1550" b="1" dirty="0">
                <a:latin typeface="Times New Roman"/>
                <a:cs typeface="Times New Roman"/>
              </a:rPr>
              <a:t>reg</a:t>
            </a:r>
            <a:r>
              <a:rPr sz="1550" b="1" spc="25" dirty="0">
                <a:latin typeface="Times New Roman"/>
                <a:cs typeface="Times New Roman"/>
              </a:rPr>
              <a:t> </a:t>
            </a:r>
            <a:r>
              <a:rPr sz="1550" dirty="0">
                <a:latin typeface="Times New Roman"/>
                <a:cs typeface="Times New Roman"/>
              </a:rPr>
              <a:t>[4:0]</a:t>
            </a:r>
            <a:r>
              <a:rPr sz="1550" spc="430" dirty="0">
                <a:latin typeface="Times New Roman"/>
                <a:cs typeface="Times New Roman"/>
              </a:rPr>
              <a:t> </a:t>
            </a:r>
            <a:r>
              <a:rPr sz="1550" spc="-20" dirty="0">
                <a:latin typeface="Times New Roman"/>
                <a:cs typeface="Times New Roman"/>
              </a:rPr>
              <a:t>bcd5</a:t>
            </a:r>
            <a:endParaRPr sz="1550">
              <a:latin typeface="Times New Roman"/>
              <a:cs typeface="Times New Roman"/>
            </a:endParaRPr>
          </a:p>
          <a:p>
            <a:pPr marL="17145">
              <a:lnSpc>
                <a:spcPct val="100000"/>
              </a:lnSpc>
              <a:spcBef>
                <a:spcPts val="415"/>
              </a:spcBef>
            </a:pPr>
            <a:r>
              <a:rPr sz="1550" spc="-25" dirty="0">
                <a:latin typeface="Times New Roman"/>
                <a:cs typeface="Times New Roman"/>
              </a:rPr>
              <a:t>);</a:t>
            </a:r>
            <a:endParaRPr sz="1550">
              <a:latin typeface="Times New Roman"/>
              <a:cs typeface="Times New Roman"/>
            </a:endParaRPr>
          </a:p>
          <a:p>
            <a:pPr>
              <a:lnSpc>
                <a:spcPct val="100000"/>
              </a:lnSpc>
              <a:spcBef>
                <a:spcPts val="409"/>
              </a:spcBef>
            </a:pPr>
            <a:r>
              <a:rPr sz="1550" b="1" dirty="0">
                <a:latin typeface="Times New Roman"/>
                <a:cs typeface="Times New Roman"/>
              </a:rPr>
              <a:t>always</a:t>
            </a:r>
            <a:r>
              <a:rPr sz="1550" b="1" spc="45" dirty="0">
                <a:latin typeface="Times New Roman"/>
                <a:cs typeface="Times New Roman"/>
              </a:rPr>
              <a:t> </a:t>
            </a:r>
            <a:r>
              <a:rPr sz="1550" spc="-25" dirty="0">
                <a:latin typeface="Times New Roman"/>
                <a:cs typeface="Times New Roman"/>
              </a:rPr>
              <a:t>@*</a:t>
            </a:r>
            <a:endParaRPr sz="1550">
              <a:latin typeface="Times New Roman"/>
              <a:cs typeface="Times New Roman"/>
            </a:endParaRPr>
          </a:p>
          <a:p>
            <a:pPr marL="121920">
              <a:lnSpc>
                <a:spcPct val="100000"/>
              </a:lnSpc>
              <a:spcBef>
                <a:spcPts val="409"/>
              </a:spcBef>
            </a:pPr>
            <a:r>
              <a:rPr sz="1550" b="1" spc="-10" dirty="0">
                <a:latin typeface="Times New Roman"/>
                <a:cs typeface="Times New Roman"/>
              </a:rPr>
              <a:t>begin</a:t>
            </a:r>
            <a:endParaRPr sz="1550">
              <a:latin typeface="Times New Roman"/>
              <a:cs typeface="Times New Roman"/>
            </a:endParaRPr>
          </a:p>
          <a:p>
            <a:pPr marL="279400">
              <a:lnSpc>
                <a:spcPct val="100000"/>
              </a:lnSpc>
              <a:spcBef>
                <a:spcPts val="415"/>
              </a:spcBef>
            </a:pPr>
            <a:r>
              <a:rPr sz="1550" b="1" dirty="0">
                <a:latin typeface="Times New Roman"/>
                <a:cs typeface="Times New Roman"/>
              </a:rPr>
              <a:t>case</a:t>
            </a:r>
            <a:r>
              <a:rPr sz="1550" b="1" spc="25" dirty="0">
                <a:latin typeface="Times New Roman"/>
                <a:cs typeface="Times New Roman"/>
              </a:rPr>
              <a:t> </a:t>
            </a:r>
            <a:r>
              <a:rPr sz="1550" spc="-10" dirty="0">
                <a:latin typeface="Times New Roman"/>
                <a:cs typeface="Times New Roman"/>
              </a:rPr>
              <a:t>(bin4)</a:t>
            </a:r>
            <a:endParaRPr sz="1550">
              <a:latin typeface="Times New Roman"/>
              <a:cs typeface="Times New Roman"/>
            </a:endParaRPr>
          </a:p>
          <a:p>
            <a:pPr marL="436880">
              <a:lnSpc>
                <a:spcPct val="100000"/>
              </a:lnSpc>
              <a:spcBef>
                <a:spcPts val="415"/>
              </a:spcBef>
            </a:pPr>
            <a:r>
              <a:rPr sz="1550" dirty="0">
                <a:latin typeface="Times New Roman"/>
                <a:cs typeface="Times New Roman"/>
              </a:rPr>
              <a:t>4'h0:</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5'b00000;</a:t>
            </a:r>
            <a:endParaRPr sz="1550">
              <a:latin typeface="Times New Roman"/>
              <a:cs typeface="Times New Roman"/>
            </a:endParaRPr>
          </a:p>
          <a:p>
            <a:pPr marL="436880">
              <a:lnSpc>
                <a:spcPct val="100000"/>
              </a:lnSpc>
              <a:spcBef>
                <a:spcPts val="409"/>
              </a:spcBef>
            </a:pPr>
            <a:r>
              <a:rPr sz="1550" dirty="0">
                <a:latin typeface="Times New Roman"/>
                <a:cs typeface="Times New Roman"/>
              </a:rPr>
              <a:t>4'h1:</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5'b00001;</a:t>
            </a:r>
            <a:endParaRPr sz="1550">
              <a:latin typeface="Times New Roman"/>
              <a:cs typeface="Times New Roman"/>
            </a:endParaRPr>
          </a:p>
          <a:p>
            <a:pPr marL="436880">
              <a:lnSpc>
                <a:spcPct val="100000"/>
              </a:lnSpc>
              <a:spcBef>
                <a:spcPts val="409"/>
              </a:spcBef>
            </a:pPr>
            <a:r>
              <a:rPr sz="1550" dirty="0">
                <a:latin typeface="Times New Roman"/>
                <a:cs typeface="Times New Roman"/>
              </a:rPr>
              <a:t>4'h2:</a:t>
            </a:r>
            <a:r>
              <a:rPr sz="1550" spc="35" dirty="0">
                <a:latin typeface="Times New Roman"/>
                <a:cs typeface="Times New Roman"/>
              </a:rPr>
              <a:t> </a:t>
            </a:r>
            <a:r>
              <a:rPr sz="1550" dirty="0">
                <a:latin typeface="Times New Roman"/>
                <a:cs typeface="Times New Roman"/>
              </a:rPr>
              <a:t>bcd5</a:t>
            </a:r>
            <a:r>
              <a:rPr sz="1550" spc="30"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5'b00010;</a:t>
            </a:r>
            <a:endParaRPr sz="1550">
              <a:latin typeface="Times New Roman"/>
              <a:cs typeface="Times New Roman"/>
            </a:endParaRPr>
          </a:p>
          <a:p>
            <a:pPr marL="451484">
              <a:lnSpc>
                <a:spcPct val="100000"/>
              </a:lnSpc>
              <a:spcBef>
                <a:spcPts val="415"/>
              </a:spcBef>
            </a:pPr>
            <a:r>
              <a:rPr sz="1550" dirty="0">
                <a:latin typeface="Times New Roman"/>
                <a:cs typeface="Times New Roman"/>
              </a:rPr>
              <a:t>4'h3:</a:t>
            </a:r>
            <a:r>
              <a:rPr sz="1550" spc="25" dirty="0">
                <a:latin typeface="Times New Roman"/>
                <a:cs typeface="Times New Roman"/>
              </a:rPr>
              <a:t> </a:t>
            </a:r>
            <a:r>
              <a:rPr sz="1550" dirty="0">
                <a:latin typeface="Times New Roman"/>
                <a:cs typeface="Times New Roman"/>
              </a:rPr>
              <a:t>bcd5</a:t>
            </a:r>
            <a:r>
              <a:rPr sz="1550" spc="30"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5'b00011;</a:t>
            </a:r>
            <a:endParaRPr sz="1550">
              <a:latin typeface="Times New Roman"/>
              <a:cs typeface="Times New Roman"/>
            </a:endParaRPr>
          </a:p>
          <a:p>
            <a:pPr marL="436880">
              <a:lnSpc>
                <a:spcPct val="100000"/>
              </a:lnSpc>
              <a:spcBef>
                <a:spcPts val="409"/>
              </a:spcBef>
            </a:pPr>
            <a:r>
              <a:rPr sz="1550" dirty="0">
                <a:latin typeface="Times New Roman"/>
                <a:cs typeface="Times New Roman"/>
              </a:rPr>
              <a:t>4'h4:</a:t>
            </a:r>
            <a:r>
              <a:rPr sz="1550" spc="35" dirty="0">
                <a:latin typeface="Times New Roman"/>
                <a:cs typeface="Times New Roman"/>
              </a:rPr>
              <a:t> </a:t>
            </a:r>
            <a:r>
              <a:rPr sz="1550" dirty="0">
                <a:latin typeface="Times New Roman"/>
                <a:cs typeface="Times New Roman"/>
              </a:rPr>
              <a:t>bcd5</a:t>
            </a:r>
            <a:r>
              <a:rPr sz="1550" spc="30"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5'b00100;</a:t>
            </a:r>
            <a:endParaRPr sz="1550">
              <a:latin typeface="Times New Roman"/>
              <a:cs typeface="Times New Roman"/>
            </a:endParaRPr>
          </a:p>
          <a:p>
            <a:pPr marL="459105">
              <a:lnSpc>
                <a:spcPct val="100000"/>
              </a:lnSpc>
              <a:spcBef>
                <a:spcPts val="415"/>
              </a:spcBef>
            </a:pPr>
            <a:r>
              <a:rPr sz="1550" dirty="0">
                <a:latin typeface="Times New Roman"/>
                <a:cs typeface="Times New Roman"/>
              </a:rPr>
              <a:t>4'h5:</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5'b00101;</a:t>
            </a:r>
            <a:endParaRPr sz="1550">
              <a:latin typeface="Times New Roman"/>
              <a:cs typeface="Times New Roman"/>
            </a:endParaRPr>
          </a:p>
        </p:txBody>
      </p:sp>
      <p:grpSp>
        <p:nvGrpSpPr>
          <p:cNvPr id="8" name="object 8"/>
          <p:cNvGrpSpPr/>
          <p:nvPr/>
        </p:nvGrpSpPr>
        <p:grpSpPr>
          <a:xfrm>
            <a:off x="5824613" y="1792985"/>
            <a:ext cx="3839210" cy="4470400"/>
            <a:chOff x="5824613" y="1792985"/>
            <a:chExt cx="3839210" cy="4470400"/>
          </a:xfrm>
        </p:grpSpPr>
        <p:sp>
          <p:nvSpPr>
            <p:cNvPr id="9" name="object 9"/>
            <p:cNvSpPr/>
            <p:nvPr/>
          </p:nvSpPr>
          <p:spPr>
            <a:xfrm>
              <a:off x="5832995" y="1801367"/>
              <a:ext cx="3822700" cy="4453255"/>
            </a:xfrm>
            <a:custGeom>
              <a:avLst/>
              <a:gdLst/>
              <a:ahLst/>
              <a:cxnLst/>
              <a:rect l="l" t="t" r="r" b="b"/>
              <a:pathLst>
                <a:path w="3822700" h="4453255">
                  <a:moveTo>
                    <a:pt x="3822191" y="4453128"/>
                  </a:moveTo>
                  <a:lnTo>
                    <a:pt x="3822191" y="0"/>
                  </a:lnTo>
                  <a:lnTo>
                    <a:pt x="0" y="0"/>
                  </a:lnTo>
                  <a:lnTo>
                    <a:pt x="0" y="4453128"/>
                  </a:lnTo>
                  <a:lnTo>
                    <a:pt x="3822191" y="4453128"/>
                  </a:lnTo>
                  <a:close/>
                </a:path>
              </a:pathLst>
            </a:custGeom>
            <a:solidFill>
              <a:srgbClr val="F9FABA"/>
            </a:solidFill>
          </p:spPr>
          <p:txBody>
            <a:bodyPr wrap="square" lIns="0" tIns="0" rIns="0" bIns="0" rtlCol="0"/>
            <a:lstStyle/>
            <a:p>
              <a:endParaRPr/>
            </a:p>
          </p:txBody>
        </p:sp>
        <p:sp>
          <p:nvSpPr>
            <p:cNvPr id="10" name="object 10"/>
            <p:cNvSpPr/>
            <p:nvPr/>
          </p:nvSpPr>
          <p:spPr>
            <a:xfrm>
              <a:off x="5824613" y="1792985"/>
              <a:ext cx="3839210" cy="4470400"/>
            </a:xfrm>
            <a:custGeom>
              <a:avLst/>
              <a:gdLst/>
              <a:ahLst/>
              <a:cxnLst/>
              <a:rect l="l" t="t" r="r" b="b"/>
              <a:pathLst>
                <a:path w="3839209" h="4470400">
                  <a:moveTo>
                    <a:pt x="3838955" y="4466082"/>
                  </a:moveTo>
                  <a:lnTo>
                    <a:pt x="3838955" y="3810"/>
                  </a:lnTo>
                  <a:lnTo>
                    <a:pt x="3835146" y="0"/>
                  </a:lnTo>
                  <a:lnTo>
                    <a:pt x="3809" y="0"/>
                  </a:lnTo>
                  <a:lnTo>
                    <a:pt x="0" y="3810"/>
                  </a:lnTo>
                  <a:lnTo>
                    <a:pt x="0" y="4466082"/>
                  </a:lnTo>
                  <a:lnTo>
                    <a:pt x="3810" y="4469892"/>
                  </a:lnTo>
                  <a:lnTo>
                    <a:pt x="8382" y="4469892"/>
                  </a:lnTo>
                  <a:lnTo>
                    <a:pt x="8382" y="16764"/>
                  </a:lnTo>
                  <a:lnTo>
                    <a:pt x="16763" y="8382"/>
                  </a:lnTo>
                  <a:lnTo>
                    <a:pt x="16763" y="16764"/>
                  </a:lnTo>
                  <a:lnTo>
                    <a:pt x="3822191" y="16764"/>
                  </a:lnTo>
                  <a:lnTo>
                    <a:pt x="3822191" y="8382"/>
                  </a:lnTo>
                  <a:lnTo>
                    <a:pt x="3830574" y="16764"/>
                  </a:lnTo>
                  <a:lnTo>
                    <a:pt x="3830574" y="4469892"/>
                  </a:lnTo>
                  <a:lnTo>
                    <a:pt x="3835146" y="4469892"/>
                  </a:lnTo>
                  <a:lnTo>
                    <a:pt x="3838955" y="4466082"/>
                  </a:lnTo>
                  <a:close/>
                </a:path>
                <a:path w="3839209" h="4470400">
                  <a:moveTo>
                    <a:pt x="16763" y="16764"/>
                  </a:moveTo>
                  <a:lnTo>
                    <a:pt x="16763" y="8382"/>
                  </a:lnTo>
                  <a:lnTo>
                    <a:pt x="8382" y="16764"/>
                  </a:lnTo>
                  <a:lnTo>
                    <a:pt x="16763" y="16764"/>
                  </a:lnTo>
                  <a:close/>
                </a:path>
                <a:path w="3839209" h="4470400">
                  <a:moveTo>
                    <a:pt x="16764" y="4453128"/>
                  </a:moveTo>
                  <a:lnTo>
                    <a:pt x="16763" y="16764"/>
                  </a:lnTo>
                  <a:lnTo>
                    <a:pt x="8382" y="16764"/>
                  </a:lnTo>
                  <a:lnTo>
                    <a:pt x="8382" y="4453128"/>
                  </a:lnTo>
                  <a:lnTo>
                    <a:pt x="16764" y="4453128"/>
                  </a:lnTo>
                  <a:close/>
                </a:path>
                <a:path w="3839209" h="4470400">
                  <a:moveTo>
                    <a:pt x="3830574" y="4453128"/>
                  </a:moveTo>
                  <a:lnTo>
                    <a:pt x="8382" y="4453128"/>
                  </a:lnTo>
                  <a:lnTo>
                    <a:pt x="16764" y="4461510"/>
                  </a:lnTo>
                  <a:lnTo>
                    <a:pt x="16764" y="4469892"/>
                  </a:lnTo>
                  <a:lnTo>
                    <a:pt x="3822191" y="4469892"/>
                  </a:lnTo>
                  <a:lnTo>
                    <a:pt x="3822191" y="4461510"/>
                  </a:lnTo>
                  <a:lnTo>
                    <a:pt x="3830574" y="4453128"/>
                  </a:lnTo>
                  <a:close/>
                </a:path>
                <a:path w="3839209" h="4470400">
                  <a:moveTo>
                    <a:pt x="16764" y="4469892"/>
                  </a:moveTo>
                  <a:lnTo>
                    <a:pt x="16764" y="4461510"/>
                  </a:lnTo>
                  <a:lnTo>
                    <a:pt x="8382" y="4453128"/>
                  </a:lnTo>
                  <a:lnTo>
                    <a:pt x="8382" y="4469892"/>
                  </a:lnTo>
                  <a:lnTo>
                    <a:pt x="16764" y="4469892"/>
                  </a:lnTo>
                  <a:close/>
                </a:path>
                <a:path w="3839209" h="4470400">
                  <a:moveTo>
                    <a:pt x="3830574" y="16764"/>
                  </a:moveTo>
                  <a:lnTo>
                    <a:pt x="3822191" y="8382"/>
                  </a:lnTo>
                  <a:lnTo>
                    <a:pt x="3822191" y="16764"/>
                  </a:lnTo>
                  <a:lnTo>
                    <a:pt x="3830574" y="16764"/>
                  </a:lnTo>
                  <a:close/>
                </a:path>
                <a:path w="3839209" h="4470400">
                  <a:moveTo>
                    <a:pt x="3830574" y="4453128"/>
                  </a:moveTo>
                  <a:lnTo>
                    <a:pt x="3830574" y="16764"/>
                  </a:lnTo>
                  <a:lnTo>
                    <a:pt x="3822191" y="16764"/>
                  </a:lnTo>
                  <a:lnTo>
                    <a:pt x="3822191" y="4453128"/>
                  </a:lnTo>
                  <a:lnTo>
                    <a:pt x="3830574" y="4453128"/>
                  </a:lnTo>
                  <a:close/>
                </a:path>
                <a:path w="3839209" h="4470400">
                  <a:moveTo>
                    <a:pt x="3830574" y="4469892"/>
                  </a:moveTo>
                  <a:lnTo>
                    <a:pt x="3830574" y="4453128"/>
                  </a:lnTo>
                  <a:lnTo>
                    <a:pt x="3822191" y="4461510"/>
                  </a:lnTo>
                  <a:lnTo>
                    <a:pt x="3822191" y="4469892"/>
                  </a:lnTo>
                  <a:lnTo>
                    <a:pt x="3830574" y="4469892"/>
                  </a:lnTo>
                  <a:close/>
                </a:path>
              </a:pathLst>
            </a:custGeom>
            <a:solidFill>
              <a:srgbClr val="000000"/>
            </a:solidFill>
          </p:spPr>
          <p:txBody>
            <a:bodyPr wrap="square" lIns="0" tIns="0" rIns="0" bIns="0" rtlCol="0"/>
            <a:lstStyle/>
            <a:p>
              <a:endParaRPr/>
            </a:p>
          </p:txBody>
        </p:sp>
      </p:grpSp>
      <p:sp>
        <p:nvSpPr>
          <p:cNvPr id="11" name="object 11"/>
          <p:cNvSpPr txBox="1"/>
          <p:nvPr/>
        </p:nvSpPr>
        <p:spPr>
          <a:xfrm>
            <a:off x="6117471" y="1795976"/>
            <a:ext cx="2486025" cy="3777615"/>
          </a:xfrm>
          <a:prstGeom prst="rect">
            <a:avLst/>
          </a:prstGeom>
        </p:spPr>
        <p:txBody>
          <a:bodyPr vert="horz" wrap="square" lIns="0" tIns="64135" rIns="0" bIns="0" rtlCol="0">
            <a:spAutoFit/>
          </a:bodyPr>
          <a:lstStyle/>
          <a:p>
            <a:pPr marL="582930">
              <a:lnSpc>
                <a:spcPct val="100000"/>
              </a:lnSpc>
              <a:spcBef>
                <a:spcPts val="505"/>
              </a:spcBef>
            </a:pPr>
            <a:r>
              <a:rPr sz="1550" dirty="0">
                <a:latin typeface="Times New Roman"/>
                <a:cs typeface="Times New Roman"/>
              </a:rPr>
              <a:t>4'h6:</a:t>
            </a:r>
            <a:r>
              <a:rPr sz="1550" spc="35" dirty="0">
                <a:latin typeface="Times New Roman"/>
                <a:cs typeface="Times New Roman"/>
              </a:rPr>
              <a:t> </a:t>
            </a:r>
            <a:r>
              <a:rPr sz="1550" dirty="0">
                <a:latin typeface="Times New Roman"/>
                <a:cs typeface="Times New Roman"/>
              </a:rPr>
              <a:t>bcd5</a:t>
            </a:r>
            <a:r>
              <a:rPr sz="1550" spc="30"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5'b00110;</a:t>
            </a:r>
            <a:endParaRPr sz="1550">
              <a:latin typeface="Times New Roman"/>
              <a:cs typeface="Times New Roman"/>
            </a:endParaRPr>
          </a:p>
          <a:p>
            <a:pPr marL="580390">
              <a:lnSpc>
                <a:spcPct val="100000"/>
              </a:lnSpc>
              <a:spcBef>
                <a:spcPts val="415"/>
              </a:spcBef>
            </a:pPr>
            <a:r>
              <a:rPr sz="1550" dirty="0">
                <a:latin typeface="Times New Roman"/>
                <a:cs typeface="Times New Roman"/>
              </a:rPr>
              <a:t>4'h7:</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5'b00111;</a:t>
            </a:r>
            <a:endParaRPr sz="1550">
              <a:latin typeface="Times New Roman"/>
              <a:cs typeface="Times New Roman"/>
            </a:endParaRPr>
          </a:p>
          <a:p>
            <a:pPr marL="582930">
              <a:lnSpc>
                <a:spcPct val="100000"/>
              </a:lnSpc>
              <a:spcBef>
                <a:spcPts val="409"/>
              </a:spcBef>
            </a:pPr>
            <a:r>
              <a:rPr sz="1550" dirty="0">
                <a:latin typeface="Times New Roman"/>
                <a:cs typeface="Times New Roman"/>
              </a:rPr>
              <a:t>4'h8</a:t>
            </a:r>
            <a:r>
              <a:rPr sz="1550" spc="20"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dirty="0">
                <a:latin typeface="Times New Roman"/>
                <a:cs typeface="Times New Roman"/>
              </a:rPr>
              <a:t>bcd5</a:t>
            </a:r>
            <a:r>
              <a:rPr sz="1550" spc="15"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spc="-10" dirty="0">
                <a:latin typeface="Times New Roman"/>
                <a:cs typeface="Times New Roman"/>
              </a:rPr>
              <a:t>5'b01000;</a:t>
            </a:r>
            <a:endParaRPr sz="1550">
              <a:latin typeface="Times New Roman"/>
              <a:cs typeface="Times New Roman"/>
            </a:endParaRPr>
          </a:p>
          <a:p>
            <a:pPr marL="605155">
              <a:lnSpc>
                <a:spcPct val="100000"/>
              </a:lnSpc>
              <a:spcBef>
                <a:spcPts val="414"/>
              </a:spcBef>
            </a:pPr>
            <a:r>
              <a:rPr sz="1550" dirty="0">
                <a:latin typeface="Times New Roman"/>
                <a:cs typeface="Times New Roman"/>
              </a:rPr>
              <a:t>4'h9:</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5'b01001;</a:t>
            </a:r>
            <a:endParaRPr sz="1550">
              <a:latin typeface="Times New Roman"/>
              <a:cs typeface="Times New Roman"/>
            </a:endParaRPr>
          </a:p>
          <a:p>
            <a:pPr marL="582930" marR="53340" indent="-28575" algn="just">
              <a:lnSpc>
                <a:spcPct val="122200"/>
              </a:lnSpc>
            </a:pPr>
            <a:r>
              <a:rPr sz="1550" dirty="0">
                <a:latin typeface="Times New Roman"/>
                <a:cs typeface="Times New Roman"/>
              </a:rPr>
              <a:t>4'ha:</a:t>
            </a:r>
            <a:r>
              <a:rPr sz="1550" spc="35" dirty="0">
                <a:latin typeface="Times New Roman"/>
                <a:cs typeface="Times New Roman"/>
              </a:rPr>
              <a:t> </a:t>
            </a:r>
            <a:r>
              <a:rPr sz="1550" dirty="0">
                <a:latin typeface="Times New Roman"/>
                <a:cs typeface="Times New Roman"/>
              </a:rPr>
              <a:t>bcd5</a:t>
            </a:r>
            <a:r>
              <a:rPr sz="1550" spc="2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5'b10000; </a:t>
            </a:r>
            <a:r>
              <a:rPr sz="1550" dirty="0">
                <a:latin typeface="Times New Roman"/>
                <a:cs typeface="Times New Roman"/>
              </a:rPr>
              <a:t>4'hb:</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5'b10001; </a:t>
            </a:r>
            <a:r>
              <a:rPr sz="1550" dirty="0">
                <a:latin typeface="Times New Roman"/>
                <a:cs typeface="Times New Roman"/>
              </a:rPr>
              <a:t>4'hc:</a:t>
            </a:r>
            <a:r>
              <a:rPr sz="1550" spc="35" dirty="0">
                <a:latin typeface="Times New Roman"/>
                <a:cs typeface="Times New Roman"/>
              </a:rPr>
              <a:t> </a:t>
            </a:r>
            <a:r>
              <a:rPr sz="1550" dirty="0">
                <a:latin typeface="Times New Roman"/>
                <a:cs typeface="Times New Roman"/>
              </a:rPr>
              <a:t>bcd5</a:t>
            </a:r>
            <a:r>
              <a:rPr sz="1550" spc="25" dirty="0">
                <a:latin typeface="Times New Roman"/>
                <a:cs typeface="Times New Roman"/>
              </a:rPr>
              <a:t> </a:t>
            </a:r>
            <a:r>
              <a:rPr sz="1550" dirty="0">
                <a:latin typeface="Times New Roman"/>
                <a:cs typeface="Times New Roman"/>
              </a:rPr>
              <a:t>=</a:t>
            </a:r>
            <a:r>
              <a:rPr sz="1550" spc="40" dirty="0">
                <a:latin typeface="Times New Roman"/>
                <a:cs typeface="Times New Roman"/>
              </a:rPr>
              <a:t> </a:t>
            </a:r>
            <a:r>
              <a:rPr sz="1550" spc="-10" dirty="0">
                <a:latin typeface="Times New Roman"/>
                <a:cs typeface="Times New Roman"/>
              </a:rPr>
              <a:t>5'b10010; </a:t>
            </a:r>
            <a:r>
              <a:rPr sz="1550" dirty="0">
                <a:latin typeface="Times New Roman"/>
                <a:cs typeface="Times New Roman"/>
              </a:rPr>
              <a:t>4'hd:</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5'b10011; </a:t>
            </a:r>
            <a:r>
              <a:rPr sz="1550" dirty="0">
                <a:latin typeface="Times New Roman"/>
                <a:cs typeface="Times New Roman"/>
              </a:rPr>
              <a:t>4'he:</a:t>
            </a:r>
            <a:r>
              <a:rPr sz="1550" spc="30" dirty="0">
                <a:latin typeface="Times New Roman"/>
                <a:cs typeface="Times New Roman"/>
              </a:rPr>
              <a:t> </a:t>
            </a:r>
            <a:r>
              <a:rPr sz="1550" dirty="0">
                <a:latin typeface="Times New Roman"/>
                <a:cs typeface="Times New Roman"/>
              </a:rPr>
              <a:t>bcd5</a:t>
            </a:r>
            <a:r>
              <a:rPr sz="1550" spc="35" dirty="0">
                <a:latin typeface="Times New Roman"/>
                <a:cs typeface="Times New Roman"/>
              </a:rPr>
              <a:t> </a:t>
            </a:r>
            <a:r>
              <a:rPr sz="1550" dirty="0">
                <a:latin typeface="Times New Roman"/>
                <a:cs typeface="Times New Roman"/>
              </a:rPr>
              <a:t>=</a:t>
            </a:r>
            <a:r>
              <a:rPr sz="1550" spc="30" dirty="0">
                <a:latin typeface="Times New Roman"/>
                <a:cs typeface="Times New Roman"/>
              </a:rPr>
              <a:t> </a:t>
            </a:r>
            <a:r>
              <a:rPr sz="1550" spc="-10" dirty="0">
                <a:latin typeface="Times New Roman"/>
                <a:cs typeface="Times New Roman"/>
              </a:rPr>
              <a:t>5'b10100; </a:t>
            </a:r>
            <a:r>
              <a:rPr sz="1550" dirty="0">
                <a:latin typeface="Times New Roman"/>
                <a:cs typeface="Times New Roman"/>
              </a:rPr>
              <a:t>4'hf</a:t>
            </a:r>
            <a:r>
              <a:rPr sz="1550" b="1" dirty="0">
                <a:latin typeface="Times New Roman"/>
                <a:cs typeface="Times New Roman"/>
              </a:rPr>
              <a:t>:</a:t>
            </a:r>
            <a:r>
              <a:rPr sz="1550" b="1" spc="30" dirty="0">
                <a:latin typeface="Times New Roman"/>
                <a:cs typeface="Times New Roman"/>
              </a:rPr>
              <a:t> </a:t>
            </a:r>
            <a:r>
              <a:rPr sz="1550" dirty="0">
                <a:latin typeface="Times New Roman"/>
                <a:cs typeface="Times New Roman"/>
              </a:rPr>
              <a:t>bcd5</a:t>
            </a:r>
            <a:r>
              <a:rPr sz="1550" spc="30" dirty="0">
                <a:latin typeface="Times New Roman"/>
                <a:cs typeface="Times New Roman"/>
              </a:rPr>
              <a:t> </a:t>
            </a:r>
            <a:r>
              <a:rPr sz="1550" dirty="0">
                <a:latin typeface="Times New Roman"/>
                <a:cs typeface="Times New Roman"/>
              </a:rPr>
              <a:t>=</a:t>
            </a:r>
            <a:r>
              <a:rPr sz="1550" spc="35" dirty="0">
                <a:latin typeface="Times New Roman"/>
                <a:cs typeface="Times New Roman"/>
              </a:rPr>
              <a:t> </a:t>
            </a:r>
            <a:r>
              <a:rPr sz="1550" spc="-10" dirty="0">
                <a:latin typeface="Times New Roman"/>
                <a:cs typeface="Times New Roman"/>
              </a:rPr>
              <a:t>5'b10101;</a:t>
            </a:r>
            <a:endParaRPr sz="1550">
              <a:latin typeface="Times New Roman"/>
              <a:cs typeface="Times New Roman"/>
            </a:endParaRPr>
          </a:p>
          <a:p>
            <a:pPr marL="12700" marR="1513205" indent="283210">
              <a:lnSpc>
                <a:spcPts val="2270"/>
              </a:lnSpc>
              <a:spcBef>
                <a:spcPts val="110"/>
              </a:spcBef>
            </a:pPr>
            <a:r>
              <a:rPr sz="1550" b="1" spc="-10" dirty="0">
                <a:latin typeface="Times New Roman"/>
                <a:cs typeface="Times New Roman"/>
              </a:rPr>
              <a:t>endcase </a:t>
            </a:r>
            <a:r>
              <a:rPr sz="1550" b="1" spc="-25" dirty="0">
                <a:latin typeface="Times New Roman"/>
                <a:cs typeface="Times New Roman"/>
              </a:rPr>
              <a:t>end </a:t>
            </a:r>
            <a:r>
              <a:rPr sz="1550" b="1" spc="-10" dirty="0">
                <a:latin typeface="Times New Roman"/>
                <a:cs typeface="Times New Roman"/>
              </a:rPr>
              <a:t>endmodule</a:t>
            </a:r>
            <a:endParaRPr sz="1550">
              <a:latin typeface="Times New Roman"/>
              <a:cs typeface="Times New Roman"/>
            </a:endParaRPr>
          </a:p>
        </p:txBody>
      </p:sp>
      <p:sp>
        <p:nvSpPr>
          <p:cNvPr id="13" name="object 13"/>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a:spLocks noGrp="1"/>
          </p:cNvSpPr>
          <p:nvPr>
            <p:ph type="title"/>
          </p:nvPr>
        </p:nvSpPr>
        <p:spPr>
          <a:xfrm>
            <a:off x="358273" y="1098295"/>
            <a:ext cx="441325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3.6.5</a:t>
            </a:r>
            <a:r>
              <a:rPr spc="20" dirty="0">
                <a:latin typeface="Times New Roman"/>
                <a:cs typeface="Times New Roman"/>
              </a:rPr>
              <a:t> </a:t>
            </a:r>
            <a:r>
              <a:rPr dirty="0"/>
              <a:t>二进制</a:t>
            </a:r>
            <a:r>
              <a:rPr spc="-10" dirty="0">
                <a:latin typeface="Times New Roman"/>
                <a:cs typeface="Times New Roman"/>
              </a:rPr>
              <a:t>—BCD</a:t>
            </a:r>
            <a:r>
              <a:rPr spc="-15" dirty="0"/>
              <a:t>码转换器</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318904" y="2090693"/>
          <a:ext cx="3663312" cy="3492500"/>
        </p:xfrm>
        <a:graphic>
          <a:graphicData uri="http://schemas.openxmlformats.org/drawingml/2006/table">
            <a:tbl>
              <a:tblPr firstRow="1" bandRow="1">
                <a:tableStyleId>{2D5ABB26-0587-4C30-8999-92F81FD0307C}</a:tableStyleId>
              </a:tblPr>
              <a:tblGrid>
                <a:gridCol w="610870">
                  <a:extLst>
                    <a:ext uri="{9D8B030D-6E8A-4147-A177-3AD203B41FA5}">
                      <a16:colId xmlns:a16="http://schemas.microsoft.com/office/drawing/2014/main" val="20000"/>
                    </a:ext>
                  </a:extLst>
                </a:gridCol>
                <a:gridCol w="610235">
                  <a:extLst>
                    <a:ext uri="{9D8B030D-6E8A-4147-A177-3AD203B41FA5}">
                      <a16:colId xmlns:a16="http://schemas.microsoft.com/office/drawing/2014/main" val="20001"/>
                    </a:ext>
                  </a:extLst>
                </a:gridCol>
                <a:gridCol w="610234">
                  <a:extLst>
                    <a:ext uri="{9D8B030D-6E8A-4147-A177-3AD203B41FA5}">
                      <a16:colId xmlns:a16="http://schemas.microsoft.com/office/drawing/2014/main" val="20002"/>
                    </a:ext>
                  </a:extLst>
                </a:gridCol>
                <a:gridCol w="610235">
                  <a:extLst>
                    <a:ext uri="{9D8B030D-6E8A-4147-A177-3AD203B41FA5}">
                      <a16:colId xmlns:a16="http://schemas.microsoft.com/office/drawing/2014/main" val="20003"/>
                    </a:ext>
                  </a:extLst>
                </a:gridCol>
                <a:gridCol w="610869">
                  <a:extLst>
                    <a:ext uri="{9D8B030D-6E8A-4147-A177-3AD203B41FA5}">
                      <a16:colId xmlns:a16="http://schemas.microsoft.com/office/drawing/2014/main" val="20004"/>
                    </a:ext>
                  </a:extLst>
                </a:gridCol>
                <a:gridCol w="610869">
                  <a:extLst>
                    <a:ext uri="{9D8B030D-6E8A-4147-A177-3AD203B41FA5}">
                      <a16:colId xmlns:a16="http://schemas.microsoft.com/office/drawing/2014/main" val="20005"/>
                    </a:ext>
                  </a:extLst>
                </a:gridCol>
              </a:tblGrid>
              <a:tr h="202565">
                <a:tc>
                  <a:txBody>
                    <a:bodyPr/>
                    <a:lstStyle/>
                    <a:p>
                      <a:pPr algn="ctr">
                        <a:lnSpc>
                          <a:spcPts val="1375"/>
                        </a:lnSpc>
                        <a:spcBef>
                          <a:spcPts val="120"/>
                        </a:spcBef>
                      </a:pPr>
                      <a:r>
                        <a:rPr sz="1200" b="1" spc="-25" dirty="0">
                          <a:solidFill>
                            <a:srgbClr val="FFFFFF"/>
                          </a:solidFill>
                          <a:latin typeface="宋体"/>
                          <a:cs typeface="宋体"/>
                        </a:rPr>
                        <a:t>操作</a:t>
                      </a:r>
                      <a:endParaRPr sz="1200">
                        <a:latin typeface="宋体"/>
                        <a:cs typeface="宋体"/>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146685">
                        <a:lnSpc>
                          <a:spcPts val="1375"/>
                        </a:lnSpc>
                        <a:spcBef>
                          <a:spcPts val="120"/>
                        </a:spcBef>
                      </a:pPr>
                      <a:r>
                        <a:rPr sz="1200" b="1" spc="-25" dirty="0">
                          <a:solidFill>
                            <a:srgbClr val="FFFFFF"/>
                          </a:solidFill>
                          <a:latin typeface="宋体"/>
                          <a:cs typeface="宋体"/>
                        </a:rPr>
                        <a:t>百位</a:t>
                      </a:r>
                      <a:endParaRPr sz="1200">
                        <a:latin typeface="宋体"/>
                        <a:cs typeface="宋体"/>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147320">
                        <a:lnSpc>
                          <a:spcPts val="1375"/>
                        </a:lnSpc>
                        <a:spcBef>
                          <a:spcPts val="120"/>
                        </a:spcBef>
                      </a:pPr>
                      <a:r>
                        <a:rPr sz="1200" b="1" spc="-25" dirty="0">
                          <a:solidFill>
                            <a:srgbClr val="FFFFFF"/>
                          </a:solidFill>
                          <a:latin typeface="宋体"/>
                          <a:cs typeface="宋体"/>
                        </a:rPr>
                        <a:t>十位</a:t>
                      </a:r>
                      <a:endParaRPr sz="1200">
                        <a:latin typeface="宋体"/>
                        <a:cs typeface="宋体"/>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147320">
                        <a:lnSpc>
                          <a:spcPts val="1375"/>
                        </a:lnSpc>
                        <a:spcBef>
                          <a:spcPts val="120"/>
                        </a:spcBef>
                      </a:pPr>
                      <a:r>
                        <a:rPr sz="1200" b="1" spc="-25" dirty="0">
                          <a:solidFill>
                            <a:srgbClr val="FFFFFF"/>
                          </a:solidFill>
                          <a:latin typeface="宋体"/>
                          <a:cs typeface="宋体"/>
                        </a:rPr>
                        <a:t>个位</a:t>
                      </a:r>
                      <a:endParaRPr sz="1200">
                        <a:latin typeface="宋体"/>
                        <a:cs typeface="宋体"/>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gridSpan="2">
                  <a:txBody>
                    <a:bodyPr/>
                    <a:lstStyle/>
                    <a:p>
                      <a:pPr marL="297180">
                        <a:lnSpc>
                          <a:spcPts val="1375"/>
                        </a:lnSpc>
                        <a:spcBef>
                          <a:spcPts val="120"/>
                        </a:spcBef>
                      </a:pPr>
                      <a:r>
                        <a:rPr sz="1200" b="1" spc="-15" dirty="0">
                          <a:solidFill>
                            <a:srgbClr val="FFFFFF"/>
                          </a:solidFill>
                          <a:latin typeface="宋体"/>
                          <a:cs typeface="宋体"/>
                        </a:rPr>
                        <a:t>二进制数</a:t>
                      </a:r>
                      <a:endParaRPr sz="1200">
                        <a:latin typeface="宋体"/>
                        <a:cs typeface="宋体"/>
                      </a:endParaRPr>
                    </a:p>
                  </a:txBody>
                  <a:tcPr marL="0" marR="0" marT="152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hMerge="1">
                  <a:txBody>
                    <a:bodyPr/>
                    <a:lstStyle/>
                    <a:p>
                      <a:endParaRPr/>
                    </a:p>
                  </a:txBody>
                  <a:tcPr marL="0" marR="0" marT="0" marB="0"/>
                </a:tc>
                <a:extLst>
                  <a:ext uri="{0D108BD9-81ED-4DB2-BD59-A6C34878D82A}">
                    <a16:rowId xmlns:a16="http://schemas.microsoft.com/office/drawing/2014/main" val="10000"/>
                  </a:ext>
                </a:extLst>
              </a:tr>
              <a:tr h="427355">
                <a:tc>
                  <a:txBody>
                    <a:bodyPr/>
                    <a:lstStyle/>
                    <a:p>
                      <a:pPr algn="ctr">
                        <a:lnSpc>
                          <a:spcPct val="100000"/>
                        </a:lnSpc>
                        <a:spcBef>
                          <a:spcPts val="125"/>
                        </a:spcBef>
                      </a:pPr>
                      <a:r>
                        <a:rPr sz="1200" b="1" spc="-20" dirty="0">
                          <a:solidFill>
                            <a:srgbClr val="FFFFFF"/>
                          </a:solidFill>
                          <a:latin typeface="宋体"/>
                          <a:cs typeface="宋体"/>
                        </a:rPr>
                        <a:t>十六进</a:t>
                      </a:r>
                      <a:endParaRPr sz="1200">
                        <a:latin typeface="宋体"/>
                        <a:cs typeface="宋体"/>
                      </a:endParaRPr>
                    </a:p>
                    <a:p>
                      <a:pPr algn="ctr">
                        <a:lnSpc>
                          <a:spcPts val="1375"/>
                        </a:lnSpc>
                        <a:spcBef>
                          <a:spcPts val="325"/>
                        </a:spcBef>
                      </a:pPr>
                      <a:r>
                        <a:rPr sz="1200" b="1" spc="-25" dirty="0">
                          <a:solidFill>
                            <a:srgbClr val="FFFFFF"/>
                          </a:solidFill>
                          <a:latin typeface="宋体"/>
                          <a:cs typeface="宋体"/>
                        </a:rPr>
                        <a:t>制数</a:t>
                      </a:r>
                      <a:endParaRPr sz="1200">
                        <a:latin typeface="宋体"/>
                        <a:cs typeface="宋体"/>
                      </a:endParaRPr>
                    </a:p>
                  </a:txBody>
                  <a:tcPr marL="0" marR="0" marT="158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F</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125"/>
                        </a:spcBef>
                      </a:pPr>
                      <a:r>
                        <a:rPr sz="1200" spc="-50" dirty="0">
                          <a:latin typeface="Times New Roman"/>
                          <a:cs typeface="Times New Roman"/>
                        </a:rPr>
                        <a:t>F</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204470">
                <a:tc>
                  <a:txBody>
                    <a:bodyPr/>
                    <a:lstStyle/>
                    <a:p>
                      <a:pPr algn="ctr">
                        <a:lnSpc>
                          <a:spcPts val="1390"/>
                        </a:lnSpc>
                        <a:spcBef>
                          <a:spcPts val="125"/>
                        </a:spcBef>
                      </a:pPr>
                      <a:r>
                        <a:rPr sz="1200" b="1" spc="-25" dirty="0">
                          <a:solidFill>
                            <a:srgbClr val="FFFFFF"/>
                          </a:solidFill>
                          <a:latin typeface="宋体"/>
                          <a:cs typeface="宋体"/>
                        </a:rPr>
                        <a:t>开始</a:t>
                      </a:r>
                      <a:endParaRPr sz="1200">
                        <a:latin typeface="宋体"/>
                        <a:cs typeface="宋体"/>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2</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3</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5"/>
                  </a:ext>
                </a:extLst>
              </a:tr>
              <a:tr h="204470">
                <a:tc>
                  <a:txBody>
                    <a:bodyPr/>
                    <a:lstStyle/>
                    <a:p>
                      <a:pPr algn="ctr">
                        <a:lnSpc>
                          <a:spcPts val="1390"/>
                        </a:lnSpc>
                        <a:spcBef>
                          <a:spcPts val="125"/>
                        </a:spcBef>
                      </a:pPr>
                      <a:r>
                        <a:rPr sz="1200" b="1" dirty="0">
                          <a:solidFill>
                            <a:srgbClr val="FFFFFF"/>
                          </a:solidFill>
                          <a:latin typeface="宋体"/>
                          <a:cs typeface="宋体"/>
                        </a:rPr>
                        <a:t>加</a:t>
                      </a:r>
                      <a:r>
                        <a:rPr sz="1200" b="1" spc="-50" dirty="0">
                          <a:solidFill>
                            <a:srgbClr val="FFFFFF"/>
                          </a:solidFill>
                          <a:latin typeface="Times New Roman"/>
                          <a:cs typeface="Times New Roman"/>
                        </a:rPr>
                        <a:t>3</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6"/>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4</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0</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7"/>
                  </a:ext>
                </a:extLst>
              </a:tr>
              <a:tr h="204470">
                <a:tc>
                  <a:txBody>
                    <a:bodyPr/>
                    <a:lstStyle/>
                    <a:p>
                      <a:pPr algn="ctr">
                        <a:lnSpc>
                          <a:spcPts val="1390"/>
                        </a:lnSpc>
                        <a:spcBef>
                          <a:spcPts val="125"/>
                        </a:spcBef>
                      </a:pPr>
                      <a:r>
                        <a:rPr sz="1200" b="1" dirty="0">
                          <a:solidFill>
                            <a:srgbClr val="FFFFFF"/>
                          </a:solidFill>
                          <a:latin typeface="宋体"/>
                          <a:cs typeface="宋体"/>
                        </a:rPr>
                        <a:t>加</a:t>
                      </a:r>
                      <a:r>
                        <a:rPr sz="1200" b="1" spc="-50" dirty="0">
                          <a:solidFill>
                            <a:srgbClr val="FFFFFF"/>
                          </a:solidFill>
                          <a:latin typeface="Times New Roman"/>
                          <a:cs typeface="Times New Roman"/>
                        </a:rPr>
                        <a:t>3</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2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8"/>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5</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9"/>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6</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0"/>
                  </a:ext>
                </a:extLst>
              </a:tr>
              <a:tr h="204470">
                <a:tc>
                  <a:txBody>
                    <a:bodyPr/>
                    <a:lstStyle/>
                    <a:p>
                      <a:pPr algn="ctr">
                        <a:lnSpc>
                          <a:spcPts val="1390"/>
                        </a:lnSpc>
                        <a:spcBef>
                          <a:spcPts val="125"/>
                        </a:spcBef>
                      </a:pPr>
                      <a:r>
                        <a:rPr sz="1200" b="1" dirty="0">
                          <a:solidFill>
                            <a:srgbClr val="FFFFFF"/>
                          </a:solidFill>
                          <a:latin typeface="宋体"/>
                          <a:cs typeface="宋体"/>
                        </a:rPr>
                        <a:t>加</a:t>
                      </a:r>
                      <a:r>
                        <a:rPr sz="1200" b="1" spc="-50" dirty="0">
                          <a:solidFill>
                            <a:srgbClr val="FFFFFF"/>
                          </a:solidFill>
                          <a:latin typeface="Times New Roman"/>
                          <a:cs typeface="Times New Roman"/>
                        </a:rPr>
                        <a:t>3</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0</a:t>
                      </a:r>
                      <a:r>
                        <a:rPr sz="1200" spc="10"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0</a:t>
                      </a:r>
                      <a:r>
                        <a:rPr sz="1200" spc="10" dirty="0">
                          <a:latin typeface="Times New Roman"/>
                          <a:cs typeface="Times New Roman"/>
                        </a:rPr>
                        <a:t> </a:t>
                      </a:r>
                      <a:r>
                        <a:rPr sz="1200" dirty="0">
                          <a:latin typeface="Times New Roman"/>
                          <a:cs typeface="Times New Roman"/>
                        </a:rPr>
                        <a:t>0</a:t>
                      </a:r>
                      <a:r>
                        <a:rPr sz="1200" spc="10"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dirty="0">
                          <a:latin typeface="Times New Roman"/>
                          <a:cs typeface="Times New Roman"/>
                        </a:rPr>
                        <a:t>1</a:t>
                      </a:r>
                      <a:r>
                        <a:rPr sz="1200" spc="1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1"/>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7</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49530">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2"/>
                  </a:ext>
                </a:extLst>
              </a:tr>
              <a:tr h="204470">
                <a:tc>
                  <a:txBody>
                    <a:bodyPr/>
                    <a:lstStyle/>
                    <a:p>
                      <a:pPr algn="ctr">
                        <a:lnSpc>
                          <a:spcPts val="1390"/>
                        </a:lnSpc>
                        <a:spcBef>
                          <a:spcPts val="125"/>
                        </a:spcBef>
                      </a:pPr>
                      <a:r>
                        <a:rPr sz="1200" b="1" dirty="0">
                          <a:solidFill>
                            <a:srgbClr val="FFFFFF"/>
                          </a:solidFill>
                          <a:latin typeface="宋体"/>
                          <a:cs typeface="宋体"/>
                        </a:rPr>
                        <a:t>加</a:t>
                      </a:r>
                      <a:r>
                        <a:rPr sz="1200" b="1" spc="-50" dirty="0">
                          <a:solidFill>
                            <a:srgbClr val="FFFFFF"/>
                          </a:solidFill>
                          <a:latin typeface="Times New Roman"/>
                          <a:cs typeface="Times New Roman"/>
                        </a:rPr>
                        <a:t>3</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49530">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3"/>
                  </a:ext>
                </a:extLst>
              </a:tr>
              <a:tr h="204470">
                <a:tc>
                  <a:txBody>
                    <a:bodyPr/>
                    <a:lstStyle/>
                    <a:p>
                      <a:pPr algn="ctr">
                        <a:lnSpc>
                          <a:spcPts val="1390"/>
                        </a:lnSpc>
                        <a:spcBef>
                          <a:spcPts val="125"/>
                        </a:spcBef>
                      </a:pPr>
                      <a:r>
                        <a:rPr sz="1200" b="1" dirty="0">
                          <a:solidFill>
                            <a:srgbClr val="FFFFFF"/>
                          </a:solidFill>
                          <a:latin typeface="宋体"/>
                          <a:cs typeface="宋体"/>
                        </a:rPr>
                        <a:t>左移</a:t>
                      </a:r>
                      <a:r>
                        <a:rPr sz="1200" b="1" spc="-50" dirty="0">
                          <a:solidFill>
                            <a:srgbClr val="FFFFFF"/>
                          </a:solidFill>
                          <a:latin typeface="Times New Roman"/>
                          <a:cs typeface="Times New Roman"/>
                        </a:rPr>
                        <a:t>8</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49530">
                        <a:lnSpc>
                          <a:spcPts val="1390"/>
                        </a:lnSpc>
                        <a:spcBef>
                          <a:spcPts val="125"/>
                        </a:spcBef>
                      </a:pPr>
                      <a:r>
                        <a:rPr sz="1200" dirty="0">
                          <a:latin typeface="Times New Roman"/>
                          <a:cs typeface="Times New Roman"/>
                        </a:rPr>
                        <a:t>1</a:t>
                      </a:r>
                      <a:r>
                        <a:rPr sz="1200" spc="10" dirty="0">
                          <a:latin typeface="Times New Roman"/>
                          <a:cs typeface="Times New Roman"/>
                        </a:rPr>
                        <a:t> </a:t>
                      </a:r>
                      <a:r>
                        <a:rPr sz="1200" spc="-50" dirty="0">
                          <a:latin typeface="Times New Roman"/>
                          <a:cs typeface="Times New Roman"/>
                        </a:rPr>
                        <a:t>0</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49530">
                        <a:lnSpc>
                          <a:spcPts val="1390"/>
                        </a:lnSpc>
                        <a:spcBef>
                          <a:spcPts val="125"/>
                        </a:spcBef>
                      </a:pPr>
                      <a:r>
                        <a:rPr sz="1200" dirty="0">
                          <a:latin typeface="Times New Roman"/>
                          <a:cs typeface="Times New Roman"/>
                        </a:rPr>
                        <a:t>0</a:t>
                      </a:r>
                      <a:r>
                        <a:rPr sz="1200" spc="10" dirty="0">
                          <a:latin typeface="Times New Roman"/>
                          <a:cs typeface="Times New Roman"/>
                        </a:rPr>
                        <a:t>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50165">
                        <a:lnSpc>
                          <a:spcPts val="1390"/>
                        </a:lnSpc>
                        <a:spcBef>
                          <a:spcPts val="125"/>
                        </a:spcBef>
                      </a:pPr>
                      <a:r>
                        <a:rPr sz="1200" dirty="0">
                          <a:latin typeface="Times New Roman"/>
                          <a:cs typeface="Times New Roman"/>
                        </a:rPr>
                        <a:t>0</a:t>
                      </a:r>
                      <a:r>
                        <a:rPr sz="1200" spc="10" dirty="0">
                          <a:latin typeface="Times New Roman"/>
                          <a:cs typeface="Times New Roman"/>
                        </a:rPr>
                        <a:t>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spc="-50" dirty="0">
                          <a:latin typeface="Times New Roman"/>
                          <a:cs typeface="Times New Roman"/>
                        </a:rPr>
                        <a:t>1</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14"/>
                  </a:ext>
                </a:extLst>
              </a:tr>
              <a:tr h="204470">
                <a:tc>
                  <a:txBody>
                    <a:bodyPr/>
                    <a:lstStyle/>
                    <a:p>
                      <a:pPr algn="ctr">
                        <a:lnSpc>
                          <a:spcPts val="1390"/>
                        </a:lnSpc>
                        <a:spcBef>
                          <a:spcPts val="125"/>
                        </a:spcBef>
                      </a:pPr>
                      <a:r>
                        <a:rPr sz="1200" b="1" dirty="0">
                          <a:solidFill>
                            <a:srgbClr val="FFFFFF"/>
                          </a:solidFill>
                          <a:latin typeface="Times New Roman"/>
                          <a:cs typeface="Times New Roman"/>
                        </a:rPr>
                        <a:t>BCD</a:t>
                      </a:r>
                      <a:r>
                        <a:rPr sz="1200" b="1" spc="-50" dirty="0">
                          <a:solidFill>
                            <a:srgbClr val="FFFFFF"/>
                          </a:solidFill>
                          <a:latin typeface="宋体"/>
                          <a:cs typeface="宋体"/>
                        </a:rPr>
                        <a:t>数</a:t>
                      </a:r>
                      <a:endParaRPr sz="1200">
                        <a:latin typeface="宋体"/>
                        <a:cs typeface="宋体"/>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8BA7"/>
                    </a:solidFill>
                  </a:tcPr>
                </a:tc>
                <a:tc>
                  <a:txBody>
                    <a:bodyPr/>
                    <a:lstStyle/>
                    <a:p>
                      <a:pPr marL="49530">
                        <a:lnSpc>
                          <a:spcPts val="1390"/>
                        </a:lnSpc>
                        <a:spcBef>
                          <a:spcPts val="125"/>
                        </a:spcBef>
                      </a:pPr>
                      <a:r>
                        <a:rPr sz="1200" spc="-50" dirty="0">
                          <a:latin typeface="Times New Roman"/>
                          <a:cs typeface="Times New Roman"/>
                        </a:rPr>
                        <a:t>2</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49530">
                        <a:lnSpc>
                          <a:spcPts val="1390"/>
                        </a:lnSpc>
                        <a:spcBef>
                          <a:spcPts val="125"/>
                        </a:spcBef>
                      </a:pPr>
                      <a:r>
                        <a:rPr sz="1200" spc="-50" dirty="0">
                          <a:latin typeface="Times New Roman"/>
                          <a:cs typeface="Times New Roman"/>
                        </a:rPr>
                        <a:t>5</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50165">
                        <a:lnSpc>
                          <a:spcPts val="1390"/>
                        </a:lnSpc>
                        <a:spcBef>
                          <a:spcPts val="125"/>
                        </a:spcBef>
                      </a:pPr>
                      <a:r>
                        <a:rPr sz="1200" spc="-50" dirty="0">
                          <a:latin typeface="Times New Roman"/>
                          <a:cs typeface="Times New Roman"/>
                        </a:rPr>
                        <a:t>5</a:t>
                      </a:r>
                      <a:endParaRPr sz="1200">
                        <a:latin typeface="Times New Roman"/>
                        <a:cs typeface="Times New Roman"/>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15"/>
                  </a:ext>
                </a:extLst>
              </a:tr>
            </a:tbl>
          </a:graphicData>
        </a:graphic>
      </p:graphicFrame>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09911" y="1766066"/>
            <a:ext cx="9206230" cy="2972435"/>
          </a:xfrm>
          <a:prstGeom prst="rect">
            <a:avLst/>
          </a:prstGeom>
        </p:spPr>
        <p:txBody>
          <a:bodyPr vert="horz" wrap="square" lIns="0" tIns="57785" rIns="0" bIns="0" rtlCol="0">
            <a:spAutoFit/>
          </a:bodyPr>
          <a:lstStyle/>
          <a:p>
            <a:pPr marL="5822950">
              <a:lnSpc>
                <a:spcPct val="100000"/>
              </a:lnSpc>
              <a:spcBef>
                <a:spcPts val="455"/>
              </a:spcBef>
            </a:pPr>
            <a:r>
              <a:rPr sz="1400" dirty="0">
                <a:latin typeface="微软雅黑"/>
                <a:cs typeface="微软雅黑"/>
              </a:rPr>
              <a:t>图</a:t>
            </a:r>
            <a:r>
              <a:rPr sz="1400" dirty="0">
                <a:latin typeface="Times New Roman"/>
                <a:cs typeface="Times New Roman"/>
              </a:rPr>
              <a:t>3.10</a:t>
            </a:r>
            <a:r>
              <a:rPr sz="1400" dirty="0">
                <a:latin typeface="微软雅黑"/>
                <a:cs typeface="微软雅黑"/>
              </a:rPr>
              <a:t>十六进制码</a:t>
            </a:r>
            <a:r>
              <a:rPr sz="1400" spc="-10" dirty="0">
                <a:latin typeface="Times New Roman"/>
                <a:cs typeface="Times New Roman"/>
              </a:rPr>
              <a:t>0xFF</a:t>
            </a:r>
            <a:r>
              <a:rPr sz="1400" spc="-10" dirty="0">
                <a:latin typeface="微软雅黑"/>
                <a:cs typeface="微软雅黑"/>
              </a:rPr>
              <a:t>转换成</a:t>
            </a:r>
            <a:r>
              <a:rPr sz="1400" spc="-25" dirty="0">
                <a:latin typeface="Times New Roman"/>
                <a:cs typeface="Times New Roman"/>
              </a:rPr>
              <a:t>BCD</a:t>
            </a:r>
            <a:r>
              <a:rPr sz="1400" spc="-20" dirty="0">
                <a:latin typeface="微软雅黑"/>
                <a:cs typeface="微软雅黑"/>
              </a:rPr>
              <a:t>码的过程</a:t>
            </a:r>
            <a:endParaRPr sz="1400">
              <a:latin typeface="微软雅黑"/>
              <a:cs typeface="微软雅黑"/>
            </a:endParaRPr>
          </a:p>
          <a:p>
            <a:pPr marL="212725" marR="4039235" indent="-200660" algn="just">
              <a:lnSpc>
                <a:spcPts val="2630"/>
              </a:lnSpc>
              <a:spcBef>
                <a:spcPts val="85"/>
              </a:spcBef>
              <a:buSzPct val="94285"/>
              <a:buFont typeface="Wingdings"/>
              <a:buChar char=""/>
              <a:tabLst>
                <a:tab pos="212725" algn="l"/>
              </a:tabLst>
            </a:pPr>
            <a:r>
              <a:rPr sz="1750" dirty="0">
                <a:latin typeface="微软雅黑"/>
                <a:cs typeface="微软雅黑"/>
              </a:rPr>
              <a:t>设计任意数目输入的二进制</a:t>
            </a:r>
            <a:r>
              <a:rPr sz="1750" dirty="0">
                <a:latin typeface="Times New Roman"/>
                <a:cs typeface="Times New Roman"/>
              </a:rPr>
              <a:t>—BCD</a:t>
            </a:r>
            <a:r>
              <a:rPr sz="1750" spc="-10" dirty="0">
                <a:latin typeface="微软雅黑"/>
                <a:cs typeface="微软雅黑"/>
              </a:rPr>
              <a:t>码转换器的一种</a:t>
            </a:r>
            <a:r>
              <a:rPr sz="1750" dirty="0">
                <a:latin typeface="微软雅黑"/>
                <a:cs typeface="微软雅黑"/>
              </a:rPr>
              <a:t>方法是</a:t>
            </a:r>
            <a:r>
              <a:rPr sz="1750" dirty="0">
                <a:solidFill>
                  <a:srgbClr val="C00000"/>
                </a:solidFill>
                <a:latin typeface="微软雅黑"/>
                <a:cs typeface="微软雅黑"/>
              </a:rPr>
              <a:t>左移加</a:t>
            </a:r>
            <a:r>
              <a:rPr sz="1750" dirty="0">
                <a:solidFill>
                  <a:srgbClr val="C00000"/>
                </a:solidFill>
                <a:latin typeface="Times New Roman"/>
                <a:cs typeface="Times New Roman"/>
              </a:rPr>
              <a:t>3</a:t>
            </a:r>
            <a:r>
              <a:rPr sz="1750" dirty="0">
                <a:solidFill>
                  <a:srgbClr val="C00000"/>
                </a:solidFill>
                <a:latin typeface="微软雅黑"/>
                <a:cs typeface="微软雅黑"/>
              </a:rPr>
              <a:t>的算法</a:t>
            </a:r>
            <a:r>
              <a:rPr sz="1750" dirty="0">
                <a:latin typeface="微软雅黑"/>
                <a:cs typeface="微软雅黑"/>
              </a:rPr>
              <a:t>。这里以输入为</a:t>
            </a:r>
            <a:r>
              <a:rPr sz="1750" dirty="0">
                <a:latin typeface="Times New Roman"/>
                <a:cs typeface="Times New Roman"/>
              </a:rPr>
              <a:t>8</a:t>
            </a:r>
            <a:r>
              <a:rPr sz="1750" spc="-10" dirty="0">
                <a:latin typeface="微软雅黑"/>
                <a:cs typeface="微软雅黑"/>
              </a:rPr>
              <a:t>比特二进制</a:t>
            </a:r>
            <a:r>
              <a:rPr sz="1750" dirty="0">
                <a:latin typeface="微软雅黑"/>
                <a:cs typeface="微软雅黑"/>
              </a:rPr>
              <a:t>码为例来介绍这种算法的</a:t>
            </a:r>
            <a:r>
              <a:rPr sz="1750" dirty="0">
                <a:solidFill>
                  <a:srgbClr val="C00000"/>
                </a:solidFill>
                <a:latin typeface="微软雅黑"/>
                <a:cs typeface="微软雅黑"/>
              </a:rPr>
              <a:t>基本步骤</a:t>
            </a:r>
            <a:r>
              <a:rPr sz="1750" spc="-50" dirty="0">
                <a:latin typeface="微软雅黑"/>
                <a:cs typeface="微软雅黑"/>
              </a:rPr>
              <a:t>：</a:t>
            </a:r>
            <a:endParaRPr sz="1750">
              <a:latin typeface="微软雅黑"/>
              <a:cs typeface="微软雅黑"/>
            </a:endParaRPr>
          </a:p>
          <a:p>
            <a:pPr marL="476250" lvl="1" indent="-250825" algn="just">
              <a:lnSpc>
                <a:spcPct val="100000"/>
              </a:lnSpc>
              <a:spcBef>
                <a:spcPts val="990"/>
              </a:spcBef>
              <a:buFont typeface="Arial"/>
              <a:buChar char="•"/>
              <a:tabLst>
                <a:tab pos="476250" algn="l"/>
              </a:tabLst>
            </a:pPr>
            <a:r>
              <a:rPr sz="1750" dirty="0">
                <a:latin typeface="微软雅黑"/>
                <a:cs typeface="微软雅黑"/>
              </a:rPr>
              <a:t>左移要转换的二进制码</a:t>
            </a:r>
            <a:r>
              <a:rPr sz="1750" dirty="0">
                <a:latin typeface="Times New Roman"/>
                <a:cs typeface="Times New Roman"/>
              </a:rPr>
              <a:t>3</a:t>
            </a:r>
            <a:r>
              <a:rPr sz="1750" spc="-25" dirty="0">
                <a:latin typeface="微软雅黑"/>
                <a:cs typeface="微软雅黑"/>
              </a:rPr>
              <a:t>位；</a:t>
            </a:r>
            <a:endParaRPr sz="1750">
              <a:latin typeface="微软雅黑"/>
              <a:cs typeface="微软雅黑"/>
            </a:endParaRPr>
          </a:p>
          <a:p>
            <a:pPr marL="476884" lvl="1" indent="-250825" algn="just">
              <a:lnSpc>
                <a:spcPct val="100000"/>
              </a:lnSpc>
              <a:spcBef>
                <a:spcPts val="425"/>
              </a:spcBef>
              <a:buFont typeface="Arial"/>
              <a:buChar char="•"/>
              <a:tabLst>
                <a:tab pos="476884" algn="l"/>
              </a:tabLst>
            </a:pPr>
            <a:r>
              <a:rPr sz="1750" dirty="0">
                <a:latin typeface="微软雅黑"/>
                <a:cs typeface="微软雅黑"/>
              </a:rPr>
              <a:t>左移之后，</a:t>
            </a:r>
            <a:r>
              <a:rPr sz="1750" dirty="0">
                <a:latin typeface="Times New Roman"/>
                <a:cs typeface="Times New Roman"/>
              </a:rPr>
              <a:t>BCD</a:t>
            </a:r>
            <a:r>
              <a:rPr sz="1750" spc="-5" dirty="0">
                <a:latin typeface="微软雅黑"/>
                <a:cs typeface="微软雅黑"/>
              </a:rPr>
              <a:t>码分别置于百位、十位、个位；</a:t>
            </a:r>
            <a:endParaRPr sz="1750">
              <a:latin typeface="微软雅黑"/>
              <a:cs typeface="微软雅黑"/>
            </a:endParaRPr>
          </a:p>
          <a:p>
            <a:pPr marL="476250" marR="3943350" lvl="1" indent="-250825" algn="just">
              <a:lnSpc>
                <a:spcPct val="120300"/>
              </a:lnSpc>
              <a:buFont typeface="Arial"/>
              <a:buChar char="•"/>
              <a:tabLst>
                <a:tab pos="476250" algn="l"/>
              </a:tabLst>
            </a:pPr>
            <a:r>
              <a:rPr sz="1750" spc="75" dirty="0">
                <a:latin typeface="微软雅黑"/>
                <a:cs typeface="微软雅黑"/>
              </a:rPr>
              <a:t>如果移位后所在的</a:t>
            </a:r>
            <a:r>
              <a:rPr sz="1750" dirty="0">
                <a:latin typeface="Times New Roman"/>
                <a:cs typeface="Times New Roman"/>
              </a:rPr>
              <a:t>BCD</a:t>
            </a:r>
            <a:r>
              <a:rPr sz="1750" spc="80" dirty="0">
                <a:latin typeface="微软雅黑"/>
                <a:cs typeface="微软雅黑"/>
              </a:rPr>
              <a:t>码列大于或等于</a:t>
            </a:r>
            <a:r>
              <a:rPr sz="1750" spc="75" dirty="0">
                <a:latin typeface="Times New Roman"/>
                <a:cs typeface="Times New Roman"/>
              </a:rPr>
              <a:t>5</a:t>
            </a:r>
            <a:r>
              <a:rPr sz="1750" spc="55" dirty="0">
                <a:latin typeface="微软雅黑"/>
                <a:cs typeface="微软雅黑"/>
              </a:rPr>
              <a:t>，则对</a:t>
            </a:r>
            <a:r>
              <a:rPr sz="1750" dirty="0">
                <a:latin typeface="微软雅黑"/>
                <a:cs typeface="微软雅黑"/>
              </a:rPr>
              <a:t>该值加</a:t>
            </a:r>
            <a:r>
              <a:rPr sz="1750" spc="-25" dirty="0">
                <a:latin typeface="Times New Roman"/>
                <a:cs typeface="Times New Roman"/>
              </a:rPr>
              <a:t>3</a:t>
            </a:r>
            <a:r>
              <a:rPr sz="1750" spc="-25" dirty="0">
                <a:latin typeface="微软雅黑"/>
                <a:cs typeface="微软雅黑"/>
              </a:rPr>
              <a:t>；</a:t>
            </a:r>
            <a:endParaRPr sz="1750">
              <a:latin typeface="微软雅黑"/>
              <a:cs typeface="微软雅黑"/>
            </a:endParaRPr>
          </a:p>
          <a:p>
            <a:pPr marL="476884" lvl="1" indent="-250825" algn="just">
              <a:lnSpc>
                <a:spcPct val="100000"/>
              </a:lnSpc>
              <a:spcBef>
                <a:spcPts val="425"/>
              </a:spcBef>
              <a:buFont typeface="Arial"/>
              <a:buChar char="•"/>
              <a:tabLst>
                <a:tab pos="476884" algn="l"/>
              </a:tabLst>
            </a:pPr>
            <a:r>
              <a:rPr sz="1750" spc="-5" dirty="0">
                <a:latin typeface="微软雅黑"/>
                <a:cs typeface="微软雅黑"/>
              </a:rPr>
              <a:t>继续左移的过程直至全部移位完成。</a:t>
            </a:r>
            <a:endParaRPr sz="1750">
              <a:latin typeface="微软雅黑"/>
              <a:cs typeface="微软雅黑"/>
            </a:endParaRPr>
          </a:p>
        </p:txBody>
      </p:sp>
      <p:sp>
        <p:nvSpPr>
          <p:cNvPr id="4" name="object 4"/>
          <p:cNvSpPr txBox="1">
            <a:spLocks noGrp="1"/>
          </p:cNvSpPr>
          <p:nvPr>
            <p:ph type="title"/>
          </p:nvPr>
        </p:nvSpPr>
        <p:spPr>
          <a:xfrm>
            <a:off x="301885" y="1080007"/>
            <a:ext cx="441325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3.6.5</a:t>
            </a:r>
            <a:r>
              <a:rPr spc="20" dirty="0">
                <a:latin typeface="Times New Roman"/>
                <a:cs typeface="Times New Roman"/>
              </a:rPr>
              <a:t> </a:t>
            </a:r>
            <a:r>
              <a:rPr dirty="0"/>
              <a:t>二进制</a:t>
            </a:r>
            <a:r>
              <a:rPr spc="-10" dirty="0">
                <a:latin typeface="Times New Roman"/>
                <a:cs typeface="Times New Roman"/>
              </a:rPr>
              <a:t>—BCD</a:t>
            </a:r>
            <a:r>
              <a:rPr spc="-15" dirty="0"/>
              <a:t>码转换器</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87793" y="2186939"/>
            <a:ext cx="4315460" cy="4178935"/>
            <a:chOff x="787793" y="2186939"/>
            <a:chExt cx="4315460" cy="4178935"/>
          </a:xfrm>
        </p:grpSpPr>
        <p:sp>
          <p:nvSpPr>
            <p:cNvPr id="3" name="object 3"/>
            <p:cNvSpPr/>
            <p:nvPr/>
          </p:nvSpPr>
          <p:spPr>
            <a:xfrm>
              <a:off x="796175" y="2195321"/>
              <a:ext cx="4298950" cy="4162425"/>
            </a:xfrm>
            <a:custGeom>
              <a:avLst/>
              <a:gdLst/>
              <a:ahLst/>
              <a:cxnLst/>
              <a:rect l="l" t="t" r="r" b="b"/>
              <a:pathLst>
                <a:path w="4298950" h="4162425">
                  <a:moveTo>
                    <a:pt x="4298442" y="4162044"/>
                  </a:moveTo>
                  <a:lnTo>
                    <a:pt x="4298441" y="0"/>
                  </a:lnTo>
                  <a:lnTo>
                    <a:pt x="0" y="0"/>
                  </a:lnTo>
                  <a:lnTo>
                    <a:pt x="0" y="4162044"/>
                  </a:lnTo>
                  <a:lnTo>
                    <a:pt x="4298442" y="4162044"/>
                  </a:lnTo>
                  <a:close/>
                </a:path>
              </a:pathLst>
            </a:custGeom>
            <a:solidFill>
              <a:srgbClr val="F9FABA"/>
            </a:solidFill>
          </p:spPr>
          <p:txBody>
            <a:bodyPr wrap="square" lIns="0" tIns="0" rIns="0" bIns="0" rtlCol="0"/>
            <a:lstStyle/>
            <a:p>
              <a:endParaRPr/>
            </a:p>
          </p:txBody>
        </p:sp>
        <p:sp>
          <p:nvSpPr>
            <p:cNvPr id="4" name="object 4"/>
            <p:cNvSpPr/>
            <p:nvPr/>
          </p:nvSpPr>
          <p:spPr>
            <a:xfrm>
              <a:off x="787793" y="2186939"/>
              <a:ext cx="4315460" cy="4178935"/>
            </a:xfrm>
            <a:custGeom>
              <a:avLst/>
              <a:gdLst/>
              <a:ahLst/>
              <a:cxnLst/>
              <a:rect l="l" t="t" r="r" b="b"/>
              <a:pathLst>
                <a:path w="4315460" h="4178935">
                  <a:moveTo>
                    <a:pt x="4315206" y="4174998"/>
                  </a:moveTo>
                  <a:lnTo>
                    <a:pt x="4315206" y="3810"/>
                  </a:lnTo>
                  <a:lnTo>
                    <a:pt x="4311396" y="0"/>
                  </a:lnTo>
                  <a:lnTo>
                    <a:pt x="3809" y="0"/>
                  </a:lnTo>
                  <a:lnTo>
                    <a:pt x="0" y="3810"/>
                  </a:lnTo>
                  <a:lnTo>
                    <a:pt x="0" y="4174998"/>
                  </a:lnTo>
                  <a:lnTo>
                    <a:pt x="3810" y="4178808"/>
                  </a:lnTo>
                  <a:lnTo>
                    <a:pt x="8382" y="4178808"/>
                  </a:lnTo>
                  <a:lnTo>
                    <a:pt x="8382" y="16764"/>
                  </a:lnTo>
                  <a:lnTo>
                    <a:pt x="16763" y="8382"/>
                  </a:lnTo>
                  <a:lnTo>
                    <a:pt x="16763" y="16764"/>
                  </a:lnTo>
                  <a:lnTo>
                    <a:pt x="4298442" y="16764"/>
                  </a:lnTo>
                  <a:lnTo>
                    <a:pt x="4298442" y="8382"/>
                  </a:lnTo>
                  <a:lnTo>
                    <a:pt x="4306824" y="16764"/>
                  </a:lnTo>
                  <a:lnTo>
                    <a:pt x="4306824" y="4178808"/>
                  </a:lnTo>
                  <a:lnTo>
                    <a:pt x="4311396" y="4178808"/>
                  </a:lnTo>
                  <a:lnTo>
                    <a:pt x="4315206" y="4174998"/>
                  </a:lnTo>
                  <a:close/>
                </a:path>
                <a:path w="4315460" h="4178935">
                  <a:moveTo>
                    <a:pt x="16763" y="16764"/>
                  </a:moveTo>
                  <a:lnTo>
                    <a:pt x="16763" y="8382"/>
                  </a:lnTo>
                  <a:lnTo>
                    <a:pt x="8382" y="16764"/>
                  </a:lnTo>
                  <a:lnTo>
                    <a:pt x="16763" y="16764"/>
                  </a:lnTo>
                  <a:close/>
                </a:path>
                <a:path w="4315460" h="4178935">
                  <a:moveTo>
                    <a:pt x="16764" y="4162044"/>
                  </a:moveTo>
                  <a:lnTo>
                    <a:pt x="16763" y="16764"/>
                  </a:lnTo>
                  <a:lnTo>
                    <a:pt x="8382" y="16764"/>
                  </a:lnTo>
                  <a:lnTo>
                    <a:pt x="8382" y="4162044"/>
                  </a:lnTo>
                  <a:lnTo>
                    <a:pt x="16764" y="4162044"/>
                  </a:lnTo>
                  <a:close/>
                </a:path>
                <a:path w="4315460" h="4178935">
                  <a:moveTo>
                    <a:pt x="4306824" y="4162044"/>
                  </a:moveTo>
                  <a:lnTo>
                    <a:pt x="8382" y="4162044"/>
                  </a:lnTo>
                  <a:lnTo>
                    <a:pt x="16764" y="4170426"/>
                  </a:lnTo>
                  <a:lnTo>
                    <a:pt x="16764" y="4178808"/>
                  </a:lnTo>
                  <a:lnTo>
                    <a:pt x="4298442" y="4178808"/>
                  </a:lnTo>
                  <a:lnTo>
                    <a:pt x="4298442" y="4170426"/>
                  </a:lnTo>
                  <a:lnTo>
                    <a:pt x="4306824" y="4162044"/>
                  </a:lnTo>
                  <a:close/>
                </a:path>
                <a:path w="4315460" h="4178935">
                  <a:moveTo>
                    <a:pt x="16764" y="4178808"/>
                  </a:moveTo>
                  <a:lnTo>
                    <a:pt x="16764" y="4170426"/>
                  </a:lnTo>
                  <a:lnTo>
                    <a:pt x="8382" y="4162044"/>
                  </a:lnTo>
                  <a:lnTo>
                    <a:pt x="8382" y="4178808"/>
                  </a:lnTo>
                  <a:lnTo>
                    <a:pt x="16764" y="4178808"/>
                  </a:lnTo>
                  <a:close/>
                </a:path>
                <a:path w="4315460" h="4178935">
                  <a:moveTo>
                    <a:pt x="4306824" y="16764"/>
                  </a:moveTo>
                  <a:lnTo>
                    <a:pt x="4298442" y="8382"/>
                  </a:lnTo>
                  <a:lnTo>
                    <a:pt x="4298442" y="16764"/>
                  </a:lnTo>
                  <a:lnTo>
                    <a:pt x="4306824" y="16764"/>
                  </a:lnTo>
                  <a:close/>
                </a:path>
                <a:path w="4315460" h="4178935">
                  <a:moveTo>
                    <a:pt x="4306824" y="4162044"/>
                  </a:moveTo>
                  <a:lnTo>
                    <a:pt x="4306824" y="16764"/>
                  </a:lnTo>
                  <a:lnTo>
                    <a:pt x="4298442" y="16764"/>
                  </a:lnTo>
                  <a:lnTo>
                    <a:pt x="4298442" y="4162044"/>
                  </a:lnTo>
                  <a:lnTo>
                    <a:pt x="4306824" y="4162044"/>
                  </a:lnTo>
                  <a:close/>
                </a:path>
                <a:path w="4315460" h="4178935">
                  <a:moveTo>
                    <a:pt x="4306824" y="4178808"/>
                  </a:moveTo>
                  <a:lnTo>
                    <a:pt x="4306824" y="4162044"/>
                  </a:lnTo>
                  <a:lnTo>
                    <a:pt x="4298442" y="4170426"/>
                  </a:lnTo>
                  <a:lnTo>
                    <a:pt x="4298442" y="4178808"/>
                  </a:lnTo>
                  <a:lnTo>
                    <a:pt x="4306824" y="4178808"/>
                  </a:lnTo>
                  <a:close/>
                </a:path>
              </a:pathLst>
            </a:custGeom>
            <a:solidFill>
              <a:srgbClr val="000000"/>
            </a:solidFill>
          </p:spPr>
          <p:txBody>
            <a:bodyPr wrap="square" lIns="0" tIns="0" rIns="0" bIns="0" rtlCol="0"/>
            <a:lstStyle/>
            <a:p>
              <a:endParaRPr/>
            </a:p>
          </p:txBody>
        </p:sp>
      </p:grpSp>
      <p:sp>
        <p:nvSpPr>
          <p:cNvPr id="5" name="object 5"/>
          <p:cNvSpPr txBox="1"/>
          <p:nvPr/>
        </p:nvSpPr>
        <p:spPr>
          <a:xfrm>
            <a:off x="1260217" y="2815096"/>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Times New Roman"/>
                <a:cs typeface="Times New Roman"/>
              </a:rPr>
              <a:t>(</a:t>
            </a:r>
            <a:endParaRPr sz="1550">
              <a:latin typeface="Times New Roman"/>
              <a:cs typeface="Times New Roman"/>
            </a:endParaRPr>
          </a:p>
        </p:txBody>
      </p:sp>
      <p:sp>
        <p:nvSpPr>
          <p:cNvPr id="6" name="object 6"/>
          <p:cNvSpPr txBox="1"/>
          <p:nvPr/>
        </p:nvSpPr>
        <p:spPr>
          <a:xfrm>
            <a:off x="1177169" y="3055583"/>
            <a:ext cx="1945005" cy="1757680"/>
          </a:xfrm>
          <a:prstGeom prst="rect">
            <a:avLst/>
          </a:prstGeom>
        </p:spPr>
        <p:txBody>
          <a:bodyPr vert="horz" wrap="square" lIns="0" tIns="64135" rIns="0" bIns="0" rtlCol="0">
            <a:spAutoFit/>
          </a:bodyPr>
          <a:lstStyle/>
          <a:p>
            <a:pPr marL="170815">
              <a:lnSpc>
                <a:spcPct val="100000"/>
              </a:lnSpc>
              <a:spcBef>
                <a:spcPts val="505"/>
              </a:spcBef>
            </a:pPr>
            <a:r>
              <a:rPr sz="1550" b="1" dirty="0">
                <a:latin typeface="Times New Roman"/>
                <a:cs typeface="Times New Roman"/>
              </a:rPr>
              <a:t>input</a:t>
            </a:r>
            <a:r>
              <a:rPr sz="1550" b="1" spc="60" dirty="0">
                <a:latin typeface="Times New Roman"/>
                <a:cs typeface="Times New Roman"/>
              </a:rPr>
              <a:t> </a:t>
            </a:r>
            <a:r>
              <a:rPr sz="1550" dirty="0">
                <a:latin typeface="Times New Roman"/>
                <a:cs typeface="Times New Roman"/>
              </a:rPr>
              <a:t>[7:0]</a:t>
            </a:r>
            <a:r>
              <a:rPr sz="1550" spc="50" dirty="0">
                <a:latin typeface="Times New Roman"/>
                <a:cs typeface="Times New Roman"/>
              </a:rPr>
              <a:t> </a:t>
            </a:r>
            <a:r>
              <a:rPr sz="1550" spc="-10" dirty="0">
                <a:latin typeface="Times New Roman"/>
                <a:cs typeface="Times New Roman"/>
              </a:rPr>
              <a:t>bin4,</a:t>
            </a:r>
            <a:endParaRPr sz="1550">
              <a:latin typeface="Times New Roman"/>
              <a:cs typeface="Times New Roman"/>
            </a:endParaRPr>
          </a:p>
          <a:p>
            <a:pPr marL="170815">
              <a:lnSpc>
                <a:spcPct val="100000"/>
              </a:lnSpc>
              <a:spcBef>
                <a:spcPts val="415"/>
              </a:spcBef>
            </a:pPr>
            <a:r>
              <a:rPr sz="1550" b="1" dirty="0">
                <a:latin typeface="Times New Roman"/>
                <a:cs typeface="Times New Roman"/>
              </a:rPr>
              <a:t>output</a:t>
            </a:r>
            <a:r>
              <a:rPr sz="1550" b="1" spc="430" dirty="0">
                <a:latin typeface="Times New Roman"/>
                <a:cs typeface="Times New Roman"/>
              </a:rPr>
              <a:t> </a:t>
            </a:r>
            <a:r>
              <a:rPr sz="1550" b="1" dirty="0">
                <a:latin typeface="Times New Roman"/>
                <a:cs typeface="Times New Roman"/>
              </a:rPr>
              <a:t>reg</a:t>
            </a:r>
            <a:r>
              <a:rPr sz="1550" b="1" spc="25" dirty="0">
                <a:latin typeface="Times New Roman"/>
                <a:cs typeface="Times New Roman"/>
              </a:rPr>
              <a:t> </a:t>
            </a:r>
            <a:r>
              <a:rPr sz="1550" dirty="0">
                <a:latin typeface="Times New Roman"/>
                <a:cs typeface="Times New Roman"/>
              </a:rPr>
              <a:t>[9:0]</a:t>
            </a:r>
            <a:r>
              <a:rPr sz="1550" spc="430" dirty="0">
                <a:latin typeface="Times New Roman"/>
                <a:cs typeface="Times New Roman"/>
              </a:rPr>
              <a:t> </a:t>
            </a:r>
            <a:r>
              <a:rPr sz="1550" spc="-25" dirty="0">
                <a:latin typeface="Times New Roman"/>
                <a:cs typeface="Times New Roman"/>
              </a:rPr>
              <a:t>bcd</a:t>
            </a:r>
            <a:endParaRPr sz="1550">
              <a:latin typeface="Times New Roman"/>
              <a:cs typeface="Times New Roman"/>
            </a:endParaRPr>
          </a:p>
          <a:p>
            <a:pPr marL="66675">
              <a:lnSpc>
                <a:spcPct val="100000"/>
              </a:lnSpc>
              <a:spcBef>
                <a:spcPts val="415"/>
              </a:spcBef>
            </a:pPr>
            <a:r>
              <a:rPr sz="1550" spc="-25" dirty="0">
                <a:latin typeface="Times New Roman"/>
                <a:cs typeface="Times New Roman"/>
              </a:rPr>
              <a:t>);</a:t>
            </a:r>
            <a:endParaRPr sz="1550">
              <a:latin typeface="Times New Roman"/>
              <a:cs typeface="Times New Roman"/>
            </a:endParaRPr>
          </a:p>
          <a:p>
            <a:pPr marR="915669">
              <a:lnSpc>
                <a:spcPts val="2270"/>
              </a:lnSpc>
              <a:spcBef>
                <a:spcPts val="110"/>
              </a:spcBef>
            </a:pPr>
            <a:r>
              <a:rPr sz="1550" dirty="0">
                <a:solidFill>
                  <a:srgbClr val="31DDFF"/>
                </a:solidFill>
                <a:latin typeface="Times New Roman"/>
                <a:cs typeface="Times New Roman"/>
              </a:rPr>
              <a:t>//</a:t>
            </a:r>
            <a:r>
              <a:rPr sz="1550" spc="-15" dirty="0">
                <a:solidFill>
                  <a:srgbClr val="31DDFF"/>
                </a:solidFill>
                <a:latin typeface="微软雅黑"/>
                <a:cs typeface="微软雅黑"/>
              </a:rPr>
              <a:t>中间变量</a:t>
            </a:r>
            <a:r>
              <a:rPr sz="1550" spc="-50" dirty="0">
                <a:solidFill>
                  <a:srgbClr val="31DDFF"/>
                </a:solidFill>
                <a:latin typeface="微软雅黑"/>
                <a:cs typeface="微软雅黑"/>
              </a:rPr>
              <a:t> </a:t>
            </a:r>
            <a:r>
              <a:rPr sz="1550" b="1" dirty="0">
                <a:latin typeface="Times New Roman"/>
                <a:cs typeface="Times New Roman"/>
              </a:rPr>
              <a:t>reg</a:t>
            </a:r>
            <a:r>
              <a:rPr sz="1550" b="1" spc="35" dirty="0">
                <a:latin typeface="Times New Roman"/>
                <a:cs typeface="Times New Roman"/>
              </a:rPr>
              <a:t> </a:t>
            </a:r>
            <a:r>
              <a:rPr sz="1550" dirty="0">
                <a:latin typeface="Times New Roman"/>
                <a:cs typeface="Times New Roman"/>
              </a:rPr>
              <a:t>[17:0]</a:t>
            </a:r>
            <a:r>
              <a:rPr sz="1550" spc="25" dirty="0">
                <a:latin typeface="Times New Roman"/>
                <a:cs typeface="Times New Roman"/>
              </a:rPr>
              <a:t> </a:t>
            </a:r>
            <a:r>
              <a:rPr sz="1550" spc="-25" dirty="0">
                <a:latin typeface="Times New Roman"/>
                <a:cs typeface="Times New Roman"/>
              </a:rPr>
              <a:t>x; </a:t>
            </a:r>
            <a:r>
              <a:rPr sz="1550" b="1" dirty="0">
                <a:latin typeface="Times New Roman"/>
                <a:cs typeface="Times New Roman"/>
              </a:rPr>
              <a:t>integer</a:t>
            </a:r>
            <a:r>
              <a:rPr sz="1550" b="1" spc="85" dirty="0">
                <a:latin typeface="Times New Roman"/>
                <a:cs typeface="Times New Roman"/>
              </a:rPr>
              <a:t> </a:t>
            </a:r>
            <a:r>
              <a:rPr sz="1550" spc="-25" dirty="0">
                <a:latin typeface="Times New Roman"/>
                <a:cs typeface="Times New Roman"/>
              </a:rPr>
              <a:t>i;</a:t>
            </a:r>
            <a:endParaRPr sz="1550">
              <a:latin typeface="Times New Roman"/>
              <a:cs typeface="Times New Roman"/>
            </a:endParaRPr>
          </a:p>
        </p:txBody>
      </p:sp>
      <p:sp>
        <p:nvSpPr>
          <p:cNvPr id="7" name="object 7"/>
          <p:cNvSpPr txBox="1"/>
          <p:nvPr/>
        </p:nvSpPr>
        <p:spPr>
          <a:xfrm>
            <a:off x="1164469" y="4788414"/>
            <a:ext cx="2810631" cy="1467485"/>
          </a:xfrm>
          <a:prstGeom prst="rect">
            <a:avLst/>
          </a:prstGeom>
        </p:spPr>
        <p:txBody>
          <a:bodyPr vert="horz" wrap="square" lIns="0" tIns="63500" rIns="0" bIns="0" rtlCol="0">
            <a:spAutoFit/>
          </a:bodyPr>
          <a:lstStyle/>
          <a:p>
            <a:pPr marL="12700">
              <a:lnSpc>
                <a:spcPct val="100000"/>
              </a:lnSpc>
              <a:spcBef>
                <a:spcPts val="500"/>
              </a:spcBef>
            </a:pPr>
            <a:r>
              <a:rPr sz="1550" b="1" dirty="0">
                <a:latin typeface="Times New Roman"/>
                <a:cs typeface="Times New Roman"/>
              </a:rPr>
              <a:t>always</a:t>
            </a:r>
            <a:r>
              <a:rPr sz="1550" b="1" spc="35" dirty="0">
                <a:latin typeface="Times New Roman"/>
                <a:cs typeface="Times New Roman"/>
              </a:rPr>
              <a:t> </a:t>
            </a:r>
            <a:r>
              <a:rPr sz="1550" spc="-25" dirty="0">
                <a:latin typeface="Times New Roman"/>
                <a:cs typeface="Times New Roman"/>
              </a:rPr>
              <a:t>@*</a:t>
            </a:r>
            <a:endParaRPr sz="1550" dirty="0">
              <a:latin typeface="Times New Roman"/>
              <a:cs typeface="Times New Roman"/>
            </a:endParaRPr>
          </a:p>
          <a:p>
            <a:pPr marL="183515">
              <a:lnSpc>
                <a:spcPct val="100000"/>
              </a:lnSpc>
              <a:spcBef>
                <a:spcPts val="409"/>
              </a:spcBef>
            </a:pPr>
            <a:r>
              <a:rPr sz="1550" b="1" spc="-10" dirty="0">
                <a:latin typeface="Times New Roman"/>
                <a:cs typeface="Times New Roman"/>
              </a:rPr>
              <a:t>begin</a:t>
            </a:r>
            <a:endParaRPr sz="1550" dirty="0">
              <a:latin typeface="Times New Roman"/>
              <a:cs typeface="Times New Roman"/>
            </a:endParaRPr>
          </a:p>
          <a:p>
            <a:pPr marL="499109" marR="862965" indent="-158115">
              <a:lnSpc>
                <a:spcPct val="122300"/>
              </a:lnSpc>
            </a:pPr>
            <a:r>
              <a:rPr sz="1550" b="1" spc="-10" dirty="0">
                <a:latin typeface="Times New Roman"/>
                <a:cs typeface="Times New Roman"/>
              </a:rPr>
              <a:t>for</a:t>
            </a:r>
            <a:r>
              <a:rPr sz="1550" spc="-10" dirty="0">
                <a:latin typeface="Times New Roman"/>
                <a:cs typeface="Times New Roman"/>
              </a:rPr>
              <a:t>(i=0;i&lt;</a:t>
            </a:r>
            <a:r>
              <a:rPr lang="en-US" sz="1550" spc="-10" dirty="0">
                <a:latin typeface="Times New Roman"/>
                <a:cs typeface="Times New Roman"/>
              </a:rPr>
              <a:t>1</a:t>
            </a:r>
            <a:r>
              <a:rPr sz="1550" spc="-10" dirty="0">
                <a:latin typeface="Times New Roman"/>
                <a:cs typeface="Times New Roman"/>
              </a:rPr>
              <a:t>8;i=i+</a:t>
            </a:r>
            <a:r>
              <a:rPr lang="en-US" sz="1550" spc="-10" dirty="0">
                <a:latin typeface="Times New Roman"/>
                <a:cs typeface="Times New Roman"/>
              </a:rPr>
              <a:t>1</a:t>
            </a:r>
            <a:r>
              <a:rPr sz="1550" spc="-10" dirty="0">
                <a:latin typeface="Times New Roman"/>
                <a:cs typeface="Times New Roman"/>
              </a:rPr>
              <a:t>) </a:t>
            </a:r>
            <a:r>
              <a:rPr sz="1550" dirty="0">
                <a:latin typeface="Times New Roman"/>
                <a:cs typeface="Times New Roman"/>
              </a:rPr>
              <a:t>x[i]</a:t>
            </a:r>
            <a:r>
              <a:rPr sz="1550" spc="25" dirty="0">
                <a:latin typeface="Times New Roman"/>
                <a:cs typeface="Times New Roman"/>
              </a:rPr>
              <a:t> </a:t>
            </a:r>
            <a:r>
              <a:rPr sz="1550" dirty="0">
                <a:latin typeface="Times New Roman"/>
                <a:cs typeface="Times New Roman"/>
              </a:rPr>
              <a:t>=</a:t>
            </a:r>
            <a:r>
              <a:rPr sz="1550" spc="25" dirty="0">
                <a:latin typeface="Times New Roman"/>
                <a:cs typeface="Times New Roman"/>
              </a:rPr>
              <a:t> </a:t>
            </a:r>
            <a:r>
              <a:rPr sz="1550" spc="-25" dirty="0">
                <a:latin typeface="Times New Roman"/>
                <a:cs typeface="Times New Roman"/>
              </a:rPr>
              <a:t>0;</a:t>
            </a:r>
            <a:endParaRPr lang="en-US" sz="1550" dirty="0">
              <a:latin typeface="Times New Roman"/>
              <a:cs typeface="Times New Roman"/>
            </a:endParaRPr>
          </a:p>
          <a:p>
            <a:pPr marL="360000">
              <a:lnSpc>
                <a:spcPct val="100000"/>
              </a:lnSpc>
              <a:spcBef>
                <a:spcPts val="405"/>
              </a:spcBef>
            </a:pPr>
            <a:r>
              <a:rPr lang="en-US" sz="1550" dirty="0">
                <a:latin typeface="Times New Roman"/>
                <a:cs typeface="Times New Roman"/>
              </a:rPr>
              <a:t>x[10:3]</a:t>
            </a:r>
            <a:r>
              <a:rPr lang="en-US" sz="1550" spc="50" dirty="0">
                <a:latin typeface="Times New Roman"/>
                <a:cs typeface="Times New Roman"/>
              </a:rPr>
              <a:t> = </a:t>
            </a:r>
            <a:r>
              <a:rPr lang="en-US" sz="1550" dirty="0">
                <a:latin typeface="Times New Roman"/>
                <a:cs typeface="Times New Roman"/>
              </a:rPr>
              <a:t>bin4;</a:t>
            </a:r>
            <a:r>
              <a:rPr lang="en-US" sz="1550" spc="75" dirty="0">
                <a:latin typeface="Times New Roman"/>
                <a:cs typeface="Times New Roman"/>
              </a:rPr>
              <a:t> </a:t>
            </a:r>
            <a:r>
              <a:rPr lang="en-US" sz="1550" dirty="0">
                <a:solidFill>
                  <a:srgbClr val="31DDFF"/>
                </a:solidFill>
                <a:latin typeface="Times New Roman"/>
                <a:cs typeface="Times New Roman"/>
              </a:rPr>
              <a:t>//</a:t>
            </a:r>
            <a:r>
              <a:rPr lang="zh-CN" altLang="en-US" sz="1550" spc="-15" dirty="0">
                <a:solidFill>
                  <a:srgbClr val="31DDFF"/>
                </a:solidFill>
                <a:latin typeface="微软雅黑"/>
                <a:cs typeface="微软雅黑"/>
              </a:rPr>
              <a:t>左移三位</a:t>
            </a:r>
            <a:endParaRPr lang="zh-CN" altLang="en-US" sz="1550" dirty="0">
              <a:latin typeface="微软雅黑"/>
              <a:cs typeface="微软雅黑"/>
            </a:endParaRPr>
          </a:p>
        </p:txBody>
      </p:sp>
      <p:grpSp>
        <p:nvGrpSpPr>
          <p:cNvPr id="8" name="object 8"/>
          <p:cNvGrpSpPr/>
          <p:nvPr/>
        </p:nvGrpSpPr>
        <p:grpSpPr>
          <a:xfrm>
            <a:off x="5557151" y="2186939"/>
            <a:ext cx="4328160" cy="3304540"/>
            <a:chOff x="5557151" y="2186939"/>
            <a:chExt cx="4328160" cy="3304540"/>
          </a:xfrm>
        </p:grpSpPr>
        <p:sp>
          <p:nvSpPr>
            <p:cNvPr id="9" name="object 9"/>
            <p:cNvSpPr/>
            <p:nvPr/>
          </p:nvSpPr>
          <p:spPr>
            <a:xfrm>
              <a:off x="5565533" y="2195321"/>
              <a:ext cx="4311650" cy="3287395"/>
            </a:xfrm>
            <a:custGeom>
              <a:avLst/>
              <a:gdLst/>
              <a:ahLst/>
              <a:cxnLst/>
              <a:rect l="l" t="t" r="r" b="b"/>
              <a:pathLst>
                <a:path w="4311650" h="3287395">
                  <a:moveTo>
                    <a:pt x="4311396" y="3287267"/>
                  </a:moveTo>
                  <a:lnTo>
                    <a:pt x="4311396" y="0"/>
                  </a:lnTo>
                  <a:lnTo>
                    <a:pt x="0" y="0"/>
                  </a:lnTo>
                  <a:lnTo>
                    <a:pt x="0" y="3287268"/>
                  </a:lnTo>
                  <a:lnTo>
                    <a:pt x="4311396" y="3287267"/>
                  </a:lnTo>
                  <a:close/>
                </a:path>
              </a:pathLst>
            </a:custGeom>
            <a:solidFill>
              <a:srgbClr val="F9FABA"/>
            </a:solidFill>
          </p:spPr>
          <p:txBody>
            <a:bodyPr wrap="square" lIns="0" tIns="0" rIns="0" bIns="0" rtlCol="0"/>
            <a:lstStyle/>
            <a:p>
              <a:endParaRPr/>
            </a:p>
          </p:txBody>
        </p:sp>
        <p:sp>
          <p:nvSpPr>
            <p:cNvPr id="10" name="object 10"/>
            <p:cNvSpPr/>
            <p:nvPr/>
          </p:nvSpPr>
          <p:spPr>
            <a:xfrm>
              <a:off x="5557151" y="2186939"/>
              <a:ext cx="4328160" cy="3304540"/>
            </a:xfrm>
            <a:custGeom>
              <a:avLst/>
              <a:gdLst/>
              <a:ahLst/>
              <a:cxnLst/>
              <a:rect l="l" t="t" r="r" b="b"/>
              <a:pathLst>
                <a:path w="4328159" h="3304540">
                  <a:moveTo>
                    <a:pt x="4328160" y="3300984"/>
                  </a:moveTo>
                  <a:lnTo>
                    <a:pt x="4328160" y="3810"/>
                  </a:lnTo>
                  <a:lnTo>
                    <a:pt x="4324350" y="0"/>
                  </a:lnTo>
                  <a:lnTo>
                    <a:pt x="3809" y="0"/>
                  </a:lnTo>
                  <a:lnTo>
                    <a:pt x="0" y="3810"/>
                  </a:lnTo>
                  <a:lnTo>
                    <a:pt x="0" y="3300984"/>
                  </a:lnTo>
                  <a:lnTo>
                    <a:pt x="3810" y="3304032"/>
                  </a:lnTo>
                  <a:lnTo>
                    <a:pt x="8382" y="3304032"/>
                  </a:lnTo>
                  <a:lnTo>
                    <a:pt x="8382" y="16764"/>
                  </a:lnTo>
                  <a:lnTo>
                    <a:pt x="16763" y="8382"/>
                  </a:lnTo>
                  <a:lnTo>
                    <a:pt x="16763" y="16764"/>
                  </a:lnTo>
                  <a:lnTo>
                    <a:pt x="4311396" y="16764"/>
                  </a:lnTo>
                  <a:lnTo>
                    <a:pt x="4311396" y="8382"/>
                  </a:lnTo>
                  <a:lnTo>
                    <a:pt x="4319778" y="16764"/>
                  </a:lnTo>
                  <a:lnTo>
                    <a:pt x="4319778" y="3304032"/>
                  </a:lnTo>
                  <a:lnTo>
                    <a:pt x="4324350" y="3304032"/>
                  </a:lnTo>
                  <a:lnTo>
                    <a:pt x="4328160" y="3300984"/>
                  </a:lnTo>
                  <a:close/>
                </a:path>
                <a:path w="4328159" h="3304540">
                  <a:moveTo>
                    <a:pt x="16763" y="16764"/>
                  </a:moveTo>
                  <a:lnTo>
                    <a:pt x="16763" y="8382"/>
                  </a:lnTo>
                  <a:lnTo>
                    <a:pt x="8382" y="16764"/>
                  </a:lnTo>
                  <a:lnTo>
                    <a:pt x="16763" y="16764"/>
                  </a:lnTo>
                  <a:close/>
                </a:path>
                <a:path w="4328159" h="3304540">
                  <a:moveTo>
                    <a:pt x="16764" y="3288030"/>
                  </a:moveTo>
                  <a:lnTo>
                    <a:pt x="16763" y="16764"/>
                  </a:lnTo>
                  <a:lnTo>
                    <a:pt x="8382" y="16764"/>
                  </a:lnTo>
                  <a:lnTo>
                    <a:pt x="8382" y="3288030"/>
                  </a:lnTo>
                  <a:lnTo>
                    <a:pt x="16764" y="3288030"/>
                  </a:lnTo>
                  <a:close/>
                </a:path>
                <a:path w="4328159" h="3304540">
                  <a:moveTo>
                    <a:pt x="4319778" y="3288030"/>
                  </a:moveTo>
                  <a:lnTo>
                    <a:pt x="8382" y="3288030"/>
                  </a:lnTo>
                  <a:lnTo>
                    <a:pt x="16764" y="3295650"/>
                  </a:lnTo>
                  <a:lnTo>
                    <a:pt x="16764" y="3304032"/>
                  </a:lnTo>
                  <a:lnTo>
                    <a:pt x="4311396" y="3304032"/>
                  </a:lnTo>
                  <a:lnTo>
                    <a:pt x="4311396" y="3295650"/>
                  </a:lnTo>
                  <a:lnTo>
                    <a:pt x="4319778" y="3288030"/>
                  </a:lnTo>
                  <a:close/>
                </a:path>
                <a:path w="4328159" h="3304540">
                  <a:moveTo>
                    <a:pt x="16764" y="3304032"/>
                  </a:moveTo>
                  <a:lnTo>
                    <a:pt x="16764" y="3295650"/>
                  </a:lnTo>
                  <a:lnTo>
                    <a:pt x="8382" y="3288030"/>
                  </a:lnTo>
                  <a:lnTo>
                    <a:pt x="8382" y="3304032"/>
                  </a:lnTo>
                  <a:lnTo>
                    <a:pt x="16764" y="3304032"/>
                  </a:lnTo>
                  <a:close/>
                </a:path>
                <a:path w="4328159" h="3304540">
                  <a:moveTo>
                    <a:pt x="4319778" y="16764"/>
                  </a:moveTo>
                  <a:lnTo>
                    <a:pt x="4311396" y="8382"/>
                  </a:lnTo>
                  <a:lnTo>
                    <a:pt x="4311396" y="16764"/>
                  </a:lnTo>
                  <a:lnTo>
                    <a:pt x="4319778" y="16764"/>
                  </a:lnTo>
                  <a:close/>
                </a:path>
                <a:path w="4328159" h="3304540">
                  <a:moveTo>
                    <a:pt x="4319778" y="3288030"/>
                  </a:moveTo>
                  <a:lnTo>
                    <a:pt x="4319778" y="16764"/>
                  </a:lnTo>
                  <a:lnTo>
                    <a:pt x="4311396" y="16764"/>
                  </a:lnTo>
                  <a:lnTo>
                    <a:pt x="4311396" y="3288030"/>
                  </a:lnTo>
                  <a:lnTo>
                    <a:pt x="4319778" y="3288030"/>
                  </a:lnTo>
                  <a:close/>
                </a:path>
                <a:path w="4328159" h="3304540">
                  <a:moveTo>
                    <a:pt x="4319778" y="3304032"/>
                  </a:moveTo>
                  <a:lnTo>
                    <a:pt x="4319778" y="3288030"/>
                  </a:lnTo>
                  <a:lnTo>
                    <a:pt x="4311396" y="3295650"/>
                  </a:lnTo>
                  <a:lnTo>
                    <a:pt x="4311396" y="3304032"/>
                  </a:lnTo>
                  <a:lnTo>
                    <a:pt x="4319778" y="3304032"/>
                  </a:lnTo>
                  <a:close/>
                </a:path>
              </a:pathLst>
            </a:custGeom>
            <a:solidFill>
              <a:srgbClr val="000000"/>
            </a:solidFill>
          </p:spPr>
          <p:txBody>
            <a:bodyPr wrap="square" lIns="0" tIns="0" rIns="0" bIns="0" rtlCol="0"/>
            <a:lstStyle/>
            <a:p>
              <a:endParaRPr/>
            </a:p>
          </p:txBody>
        </p:sp>
      </p:grpSp>
      <p:sp>
        <p:nvSpPr>
          <p:cNvPr id="11" name="object 11"/>
          <p:cNvSpPr txBox="1"/>
          <p:nvPr/>
        </p:nvSpPr>
        <p:spPr>
          <a:xfrm>
            <a:off x="8098664" y="2238247"/>
            <a:ext cx="838835" cy="266065"/>
          </a:xfrm>
          <a:prstGeom prst="rect">
            <a:avLst/>
          </a:prstGeom>
        </p:spPr>
        <p:txBody>
          <a:bodyPr vert="horz" wrap="square" lIns="0" tIns="15875" rIns="0" bIns="0" rtlCol="0">
            <a:spAutoFit/>
          </a:bodyPr>
          <a:lstStyle/>
          <a:p>
            <a:pPr marL="12700">
              <a:lnSpc>
                <a:spcPct val="100000"/>
              </a:lnSpc>
              <a:spcBef>
                <a:spcPts val="125"/>
              </a:spcBef>
            </a:pPr>
            <a:r>
              <a:rPr sz="1550" dirty="0">
                <a:solidFill>
                  <a:srgbClr val="31DDFF"/>
                </a:solidFill>
                <a:latin typeface="Times New Roman"/>
                <a:cs typeface="Times New Roman"/>
              </a:rPr>
              <a:t>//</a:t>
            </a:r>
            <a:r>
              <a:rPr sz="1550" dirty="0">
                <a:solidFill>
                  <a:srgbClr val="31DDFF"/>
                </a:solidFill>
                <a:latin typeface="微软雅黑"/>
                <a:cs typeface="微软雅黑"/>
              </a:rPr>
              <a:t>重复</a:t>
            </a:r>
            <a:r>
              <a:rPr sz="1550" dirty="0">
                <a:solidFill>
                  <a:srgbClr val="31DDFF"/>
                </a:solidFill>
                <a:latin typeface="Times New Roman"/>
                <a:cs typeface="Times New Roman"/>
              </a:rPr>
              <a:t>5</a:t>
            </a:r>
            <a:r>
              <a:rPr sz="1550" spc="-50" dirty="0">
                <a:solidFill>
                  <a:srgbClr val="31DDFF"/>
                </a:solidFill>
                <a:latin typeface="微软雅黑"/>
                <a:cs typeface="微软雅黑"/>
              </a:rPr>
              <a:t>次</a:t>
            </a:r>
            <a:endParaRPr sz="1550">
              <a:latin typeface="微软雅黑"/>
              <a:cs typeface="微软雅黑"/>
            </a:endParaRPr>
          </a:p>
        </p:txBody>
      </p:sp>
      <p:sp>
        <p:nvSpPr>
          <p:cNvPr id="18" name="object 1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p:nvPr/>
        </p:nvSpPr>
        <p:spPr>
          <a:xfrm>
            <a:off x="6420725" y="2189929"/>
            <a:ext cx="1235710" cy="891540"/>
          </a:xfrm>
          <a:prstGeom prst="rect">
            <a:avLst/>
          </a:prstGeom>
        </p:spPr>
        <p:txBody>
          <a:bodyPr vert="horz" wrap="square" lIns="0" tIns="11430" rIns="0" bIns="0" rtlCol="0">
            <a:spAutoFit/>
          </a:bodyPr>
          <a:lstStyle/>
          <a:p>
            <a:pPr marL="12700" marR="438784">
              <a:lnSpc>
                <a:spcPct val="122300"/>
              </a:lnSpc>
              <a:spcBef>
                <a:spcPts val="90"/>
              </a:spcBef>
            </a:pPr>
            <a:r>
              <a:rPr sz="1550" b="1" spc="-10" dirty="0">
                <a:latin typeface="Times New Roman"/>
                <a:cs typeface="Times New Roman"/>
              </a:rPr>
              <a:t>repeat</a:t>
            </a:r>
            <a:r>
              <a:rPr sz="1550" spc="-10" dirty="0">
                <a:latin typeface="Times New Roman"/>
                <a:cs typeface="Times New Roman"/>
              </a:rPr>
              <a:t>(5) </a:t>
            </a:r>
            <a:r>
              <a:rPr sz="1550" b="1" spc="-10" dirty="0">
                <a:latin typeface="Times New Roman"/>
                <a:cs typeface="Times New Roman"/>
              </a:rPr>
              <a:t>begin</a:t>
            </a:r>
            <a:endParaRPr sz="1550">
              <a:latin typeface="Times New Roman"/>
              <a:cs typeface="Times New Roman"/>
            </a:endParaRPr>
          </a:p>
          <a:p>
            <a:pPr marL="169545">
              <a:lnSpc>
                <a:spcPct val="100000"/>
              </a:lnSpc>
              <a:spcBef>
                <a:spcPts val="409"/>
              </a:spcBef>
            </a:pPr>
            <a:r>
              <a:rPr sz="1550" b="1" spc="-10" dirty="0">
                <a:latin typeface="Times New Roman"/>
                <a:cs typeface="Times New Roman"/>
              </a:rPr>
              <a:t>if</a:t>
            </a:r>
            <a:r>
              <a:rPr sz="1550" spc="-10" dirty="0">
                <a:latin typeface="Times New Roman"/>
                <a:cs typeface="Times New Roman"/>
              </a:rPr>
              <a:t>(x[11:8]&gt;4)</a:t>
            </a:r>
            <a:endParaRPr sz="1550">
              <a:latin typeface="Times New Roman"/>
              <a:cs typeface="Times New Roman"/>
            </a:endParaRPr>
          </a:p>
        </p:txBody>
      </p:sp>
      <p:sp>
        <p:nvSpPr>
          <p:cNvPr id="13" name="object 13"/>
          <p:cNvSpPr txBox="1"/>
          <p:nvPr/>
        </p:nvSpPr>
        <p:spPr>
          <a:xfrm>
            <a:off x="8080367" y="2815096"/>
            <a:ext cx="1439545" cy="266065"/>
          </a:xfrm>
          <a:prstGeom prst="rect">
            <a:avLst/>
          </a:prstGeom>
        </p:spPr>
        <p:txBody>
          <a:bodyPr vert="horz" wrap="square" lIns="0" tIns="15875" rIns="0" bIns="0" rtlCol="0">
            <a:spAutoFit/>
          </a:bodyPr>
          <a:lstStyle/>
          <a:p>
            <a:pPr marL="12700">
              <a:lnSpc>
                <a:spcPct val="100000"/>
              </a:lnSpc>
              <a:spcBef>
                <a:spcPts val="125"/>
              </a:spcBef>
            </a:pPr>
            <a:r>
              <a:rPr sz="1550" dirty="0">
                <a:solidFill>
                  <a:srgbClr val="31DDFF"/>
                </a:solidFill>
                <a:latin typeface="Times New Roman"/>
                <a:cs typeface="Times New Roman"/>
              </a:rPr>
              <a:t>//</a:t>
            </a:r>
            <a:r>
              <a:rPr sz="1550" dirty="0">
                <a:solidFill>
                  <a:srgbClr val="31DDFF"/>
                </a:solidFill>
                <a:latin typeface="微软雅黑"/>
                <a:cs typeface="微软雅黑"/>
              </a:rPr>
              <a:t>如果个位大于</a:t>
            </a:r>
            <a:r>
              <a:rPr sz="1550" spc="-50" dirty="0">
                <a:solidFill>
                  <a:srgbClr val="31DDFF"/>
                </a:solidFill>
                <a:latin typeface="Times New Roman"/>
                <a:cs typeface="Times New Roman"/>
              </a:rPr>
              <a:t>4</a:t>
            </a:r>
            <a:endParaRPr sz="1550">
              <a:latin typeface="Times New Roman"/>
              <a:cs typeface="Times New Roman"/>
            </a:endParaRPr>
          </a:p>
        </p:txBody>
      </p:sp>
      <p:sp>
        <p:nvSpPr>
          <p:cNvPr id="14" name="object 14"/>
          <p:cNvSpPr txBox="1"/>
          <p:nvPr/>
        </p:nvSpPr>
        <p:spPr>
          <a:xfrm>
            <a:off x="6577683" y="3055583"/>
            <a:ext cx="2950210" cy="603250"/>
          </a:xfrm>
          <a:prstGeom prst="rect">
            <a:avLst/>
          </a:prstGeom>
        </p:spPr>
        <p:txBody>
          <a:bodyPr vert="horz" wrap="square" lIns="0" tIns="64135" rIns="0" bIns="0" rtlCol="0">
            <a:spAutoFit/>
          </a:bodyPr>
          <a:lstStyle/>
          <a:p>
            <a:pPr marL="170180">
              <a:lnSpc>
                <a:spcPct val="100000"/>
              </a:lnSpc>
              <a:spcBef>
                <a:spcPts val="505"/>
              </a:spcBef>
              <a:tabLst>
                <a:tab pos="2167255" algn="l"/>
              </a:tabLst>
            </a:pPr>
            <a:r>
              <a:rPr sz="1550" dirty="0">
                <a:latin typeface="Times New Roman"/>
                <a:cs typeface="Times New Roman"/>
              </a:rPr>
              <a:t>x[11:8] = x[11:8] + </a:t>
            </a:r>
            <a:r>
              <a:rPr sz="1550" spc="-25" dirty="0">
                <a:latin typeface="Times New Roman"/>
                <a:cs typeface="Times New Roman"/>
              </a:rPr>
              <a:t>3;</a:t>
            </a:r>
            <a:r>
              <a:rPr sz="1550" dirty="0">
                <a:latin typeface="Times New Roman"/>
                <a:cs typeface="Times New Roman"/>
              </a:rPr>
              <a:t>	</a:t>
            </a:r>
            <a:r>
              <a:rPr sz="1550" dirty="0">
                <a:solidFill>
                  <a:srgbClr val="31DDFF"/>
                </a:solidFill>
                <a:latin typeface="Times New Roman"/>
                <a:cs typeface="Times New Roman"/>
              </a:rPr>
              <a:t>//</a:t>
            </a:r>
            <a:r>
              <a:rPr sz="1550" dirty="0">
                <a:solidFill>
                  <a:srgbClr val="31DDFF"/>
                </a:solidFill>
                <a:latin typeface="微软雅黑"/>
                <a:cs typeface="微软雅黑"/>
              </a:rPr>
              <a:t>加</a:t>
            </a:r>
            <a:r>
              <a:rPr sz="1550" spc="-50" dirty="0">
                <a:solidFill>
                  <a:srgbClr val="31DDFF"/>
                </a:solidFill>
                <a:latin typeface="Times New Roman"/>
                <a:cs typeface="Times New Roman"/>
              </a:rPr>
              <a:t>3</a:t>
            </a:r>
            <a:endParaRPr sz="1550">
              <a:latin typeface="Times New Roman"/>
              <a:cs typeface="Times New Roman"/>
            </a:endParaRPr>
          </a:p>
          <a:p>
            <a:pPr marL="12700">
              <a:lnSpc>
                <a:spcPct val="100000"/>
              </a:lnSpc>
              <a:spcBef>
                <a:spcPts val="415"/>
              </a:spcBef>
              <a:tabLst>
                <a:tab pos="1522730" algn="l"/>
              </a:tabLst>
            </a:pPr>
            <a:r>
              <a:rPr sz="1550" b="1" spc="-10" dirty="0">
                <a:latin typeface="Times New Roman"/>
                <a:cs typeface="Times New Roman"/>
              </a:rPr>
              <a:t>if</a:t>
            </a:r>
            <a:r>
              <a:rPr sz="1550" spc="-10" dirty="0">
                <a:latin typeface="Times New Roman"/>
                <a:cs typeface="Times New Roman"/>
              </a:rPr>
              <a:t>(x[15:12]&gt;4)</a:t>
            </a:r>
            <a:r>
              <a:rPr sz="1550" dirty="0">
                <a:latin typeface="Times New Roman"/>
                <a:cs typeface="Times New Roman"/>
              </a:rPr>
              <a:t>	</a:t>
            </a:r>
            <a:r>
              <a:rPr sz="1550" dirty="0">
                <a:solidFill>
                  <a:srgbClr val="31DDFF"/>
                </a:solidFill>
                <a:latin typeface="Times New Roman"/>
                <a:cs typeface="Times New Roman"/>
              </a:rPr>
              <a:t>//</a:t>
            </a:r>
            <a:r>
              <a:rPr sz="1550" dirty="0">
                <a:solidFill>
                  <a:srgbClr val="31DDFF"/>
                </a:solidFill>
                <a:latin typeface="微软雅黑"/>
                <a:cs typeface="微软雅黑"/>
              </a:rPr>
              <a:t>如果十位大于</a:t>
            </a:r>
            <a:r>
              <a:rPr sz="1550" spc="-50" dirty="0">
                <a:solidFill>
                  <a:srgbClr val="31DDFF"/>
                </a:solidFill>
                <a:latin typeface="Times New Roman"/>
                <a:cs typeface="Times New Roman"/>
              </a:rPr>
              <a:t>4</a:t>
            </a:r>
            <a:endParaRPr sz="1550">
              <a:latin typeface="Times New Roman"/>
              <a:cs typeface="Times New Roman"/>
            </a:endParaRPr>
          </a:p>
        </p:txBody>
      </p:sp>
      <p:sp>
        <p:nvSpPr>
          <p:cNvPr id="15" name="object 15"/>
          <p:cNvSpPr txBox="1"/>
          <p:nvPr/>
        </p:nvSpPr>
        <p:spPr>
          <a:xfrm>
            <a:off x="5849968" y="3633955"/>
            <a:ext cx="3435350" cy="1756410"/>
          </a:xfrm>
          <a:prstGeom prst="rect">
            <a:avLst/>
          </a:prstGeom>
        </p:spPr>
        <p:txBody>
          <a:bodyPr vert="horz" wrap="square" lIns="0" tIns="63500" rIns="0" bIns="0" rtlCol="0">
            <a:spAutoFit/>
          </a:bodyPr>
          <a:lstStyle/>
          <a:p>
            <a:pPr marL="897890">
              <a:lnSpc>
                <a:spcPct val="100000"/>
              </a:lnSpc>
              <a:spcBef>
                <a:spcPts val="500"/>
              </a:spcBef>
              <a:tabLst>
                <a:tab pos="3009900" algn="l"/>
              </a:tabLst>
            </a:pPr>
            <a:r>
              <a:rPr sz="1550" dirty="0">
                <a:latin typeface="Times New Roman"/>
                <a:cs typeface="Times New Roman"/>
              </a:rPr>
              <a:t>x[15:12]</a:t>
            </a:r>
            <a:r>
              <a:rPr sz="1550" spc="30" dirty="0">
                <a:latin typeface="Times New Roman"/>
                <a:cs typeface="Times New Roman"/>
              </a:rPr>
              <a:t> = </a:t>
            </a:r>
            <a:r>
              <a:rPr sz="1550" dirty="0">
                <a:latin typeface="Times New Roman"/>
                <a:cs typeface="Times New Roman"/>
              </a:rPr>
              <a:t>x[15:12]</a:t>
            </a:r>
            <a:r>
              <a:rPr sz="1550" spc="35" dirty="0">
                <a:latin typeface="Times New Roman"/>
                <a:cs typeface="Times New Roman"/>
              </a:rPr>
              <a:t> + </a:t>
            </a:r>
            <a:r>
              <a:rPr sz="1550" spc="-25" dirty="0">
                <a:latin typeface="Times New Roman"/>
                <a:cs typeface="Times New Roman"/>
              </a:rPr>
              <a:t>3;</a:t>
            </a:r>
            <a:r>
              <a:rPr sz="1550" dirty="0">
                <a:latin typeface="Times New Roman"/>
                <a:cs typeface="Times New Roman"/>
              </a:rPr>
              <a:t>	</a:t>
            </a:r>
            <a:r>
              <a:rPr sz="1550" dirty="0">
                <a:solidFill>
                  <a:srgbClr val="31DDFF"/>
                </a:solidFill>
                <a:latin typeface="Times New Roman"/>
                <a:cs typeface="Times New Roman"/>
              </a:rPr>
              <a:t>//</a:t>
            </a:r>
            <a:r>
              <a:rPr sz="1550" dirty="0">
                <a:solidFill>
                  <a:srgbClr val="31DDFF"/>
                </a:solidFill>
                <a:latin typeface="微软雅黑"/>
                <a:cs typeface="微软雅黑"/>
              </a:rPr>
              <a:t>加</a:t>
            </a:r>
            <a:r>
              <a:rPr sz="1550" spc="-50" dirty="0">
                <a:solidFill>
                  <a:srgbClr val="31DDFF"/>
                </a:solidFill>
                <a:latin typeface="Times New Roman"/>
                <a:cs typeface="Times New Roman"/>
              </a:rPr>
              <a:t>3</a:t>
            </a:r>
            <a:endParaRPr sz="1550">
              <a:latin typeface="Times New Roman"/>
              <a:cs typeface="Times New Roman"/>
            </a:endParaRPr>
          </a:p>
          <a:p>
            <a:pPr marL="740410">
              <a:lnSpc>
                <a:spcPct val="100000"/>
              </a:lnSpc>
              <a:spcBef>
                <a:spcPts val="409"/>
              </a:spcBef>
            </a:pPr>
            <a:r>
              <a:rPr sz="1550" dirty="0">
                <a:latin typeface="Times New Roman"/>
                <a:cs typeface="Times New Roman"/>
              </a:rPr>
              <a:t>x[17:1]</a:t>
            </a:r>
            <a:r>
              <a:rPr sz="1550" spc="50" dirty="0">
                <a:latin typeface="Times New Roman"/>
                <a:cs typeface="Times New Roman"/>
              </a:rPr>
              <a:t> = </a:t>
            </a:r>
            <a:r>
              <a:rPr sz="1550" dirty="0">
                <a:latin typeface="Times New Roman"/>
                <a:cs typeface="Times New Roman"/>
              </a:rPr>
              <a:t>x[16:0];</a:t>
            </a:r>
            <a:r>
              <a:rPr sz="1550" spc="80" dirty="0">
                <a:latin typeface="Times New Roman"/>
                <a:cs typeface="Times New Roman"/>
              </a:rPr>
              <a:t> </a:t>
            </a:r>
            <a:r>
              <a:rPr sz="1550" dirty="0">
                <a:solidFill>
                  <a:srgbClr val="31DDFF"/>
                </a:solidFill>
                <a:latin typeface="Times New Roman"/>
                <a:cs typeface="Times New Roman"/>
              </a:rPr>
              <a:t>//</a:t>
            </a:r>
            <a:r>
              <a:rPr sz="1550" dirty="0">
                <a:solidFill>
                  <a:srgbClr val="31DDFF"/>
                </a:solidFill>
                <a:latin typeface="微软雅黑"/>
                <a:cs typeface="微软雅黑"/>
              </a:rPr>
              <a:t>左移</a:t>
            </a:r>
            <a:r>
              <a:rPr sz="1550" dirty="0">
                <a:solidFill>
                  <a:srgbClr val="31DDFF"/>
                </a:solidFill>
                <a:latin typeface="Times New Roman"/>
                <a:cs typeface="Times New Roman"/>
              </a:rPr>
              <a:t>1</a:t>
            </a:r>
            <a:r>
              <a:rPr sz="1550" spc="-50" dirty="0">
                <a:solidFill>
                  <a:srgbClr val="31DDFF"/>
                </a:solidFill>
                <a:latin typeface="微软雅黑"/>
                <a:cs typeface="微软雅黑"/>
              </a:rPr>
              <a:t>位</a:t>
            </a:r>
            <a:endParaRPr sz="1550">
              <a:latin typeface="微软雅黑"/>
              <a:cs typeface="微软雅黑"/>
            </a:endParaRPr>
          </a:p>
          <a:p>
            <a:pPr marL="582930">
              <a:lnSpc>
                <a:spcPct val="100000"/>
              </a:lnSpc>
              <a:spcBef>
                <a:spcPts val="414"/>
              </a:spcBef>
            </a:pPr>
            <a:r>
              <a:rPr sz="1550" b="1" spc="-25" dirty="0">
                <a:latin typeface="Times New Roman"/>
                <a:cs typeface="Times New Roman"/>
              </a:rPr>
              <a:t>end</a:t>
            </a:r>
            <a:endParaRPr sz="1550">
              <a:latin typeface="Times New Roman"/>
              <a:cs typeface="Times New Roman"/>
            </a:endParaRPr>
          </a:p>
          <a:p>
            <a:pPr marL="582930">
              <a:lnSpc>
                <a:spcPct val="100000"/>
              </a:lnSpc>
              <a:spcBef>
                <a:spcPts val="409"/>
              </a:spcBef>
              <a:tabLst>
                <a:tab pos="2282190" algn="l"/>
              </a:tabLst>
            </a:pPr>
            <a:r>
              <a:rPr sz="1550" dirty="0">
                <a:latin typeface="Times New Roman"/>
                <a:cs typeface="Times New Roman"/>
              </a:rPr>
              <a:t>bcd</a:t>
            </a:r>
            <a:r>
              <a:rPr sz="1550" spc="20" dirty="0">
                <a:latin typeface="Times New Roman"/>
                <a:cs typeface="Times New Roman"/>
              </a:rPr>
              <a:t> </a:t>
            </a:r>
            <a:r>
              <a:rPr sz="1550" dirty="0">
                <a:latin typeface="Times New Roman"/>
                <a:cs typeface="Times New Roman"/>
              </a:rPr>
              <a:t>=</a:t>
            </a:r>
            <a:r>
              <a:rPr sz="1550" spc="15" dirty="0">
                <a:latin typeface="Times New Roman"/>
                <a:cs typeface="Times New Roman"/>
              </a:rPr>
              <a:t> </a:t>
            </a:r>
            <a:r>
              <a:rPr sz="1550" spc="-10" dirty="0">
                <a:latin typeface="Times New Roman"/>
                <a:cs typeface="Times New Roman"/>
              </a:rPr>
              <a:t>x[17:8];</a:t>
            </a:r>
            <a:r>
              <a:rPr sz="1550" dirty="0">
                <a:latin typeface="Times New Roman"/>
                <a:cs typeface="Times New Roman"/>
              </a:rPr>
              <a:t>	</a:t>
            </a:r>
            <a:r>
              <a:rPr sz="1550" spc="-10" dirty="0">
                <a:solidFill>
                  <a:srgbClr val="31DDFF"/>
                </a:solidFill>
                <a:latin typeface="Times New Roman"/>
                <a:cs typeface="Times New Roman"/>
              </a:rPr>
              <a:t>//BCD</a:t>
            </a:r>
            <a:endParaRPr sz="1550">
              <a:latin typeface="Times New Roman"/>
              <a:cs typeface="Times New Roman"/>
            </a:endParaRPr>
          </a:p>
          <a:p>
            <a:pPr marL="12700" marR="2467610" indent="255270">
              <a:lnSpc>
                <a:spcPct val="121900"/>
              </a:lnSpc>
              <a:spcBef>
                <a:spcPts val="10"/>
              </a:spcBef>
            </a:pPr>
            <a:r>
              <a:rPr sz="1550" b="1" spc="-25" dirty="0">
                <a:latin typeface="Times New Roman"/>
                <a:cs typeface="Times New Roman"/>
              </a:rPr>
              <a:t>end </a:t>
            </a:r>
            <a:r>
              <a:rPr sz="1550" b="1" spc="-10" dirty="0">
                <a:latin typeface="Times New Roman"/>
                <a:cs typeface="Times New Roman"/>
              </a:rPr>
              <a:t>endmodule</a:t>
            </a:r>
            <a:endParaRPr sz="1550">
              <a:latin typeface="Times New Roman"/>
              <a:cs typeface="Times New Roman"/>
            </a:endParaRPr>
          </a:p>
        </p:txBody>
      </p:sp>
      <p:sp>
        <p:nvSpPr>
          <p:cNvPr id="16" name="object 16"/>
          <p:cNvSpPr txBox="1"/>
          <p:nvPr/>
        </p:nvSpPr>
        <p:spPr>
          <a:xfrm>
            <a:off x="674503" y="1728470"/>
            <a:ext cx="5692775" cy="1064895"/>
          </a:xfrm>
          <a:prstGeom prst="rect">
            <a:avLst/>
          </a:prstGeom>
        </p:spPr>
        <p:txBody>
          <a:bodyPr vert="horz" wrap="square" lIns="0" tIns="13335" rIns="0" bIns="0" rtlCol="0">
            <a:spAutoFit/>
          </a:bodyPr>
          <a:lstStyle/>
          <a:p>
            <a:pPr marL="250190" indent="-240029">
              <a:lnSpc>
                <a:spcPct val="100000"/>
              </a:lnSpc>
              <a:spcBef>
                <a:spcPts val="105"/>
              </a:spcBef>
              <a:buSzPct val="95238"/>
              <a:buFont typeface="Wingdings"/>
              <a:buChar char=""/>
              <a:tabLst>
                <a:tab pos="250190" algn="l"/>
              </a:tabLst>
            </a:pPr>
            <a:r>
              <a:rPr sz="2100" dirty="0">
                <a:latin typeface="Times New Roman"/>
                <a:cs typeface="Times New Roman"/>
              </a:rPr>
              <a:t>8</a:t>
            </a:r>
            <a:r>
              <a:rPr sz="2100" dirty="0">
                <a:latin typeface="微软雅黑"/>
                <a:cs typeface="微软雅黑"/>
              </a:rPr>
              <a:t>位二进制</a:t>
            </a:r>
            <a:r>
              <a:rPr sz="2100" spc="-10" dirty="0">
                <a:latin typeface="Times New Roman"/>
                <a:cs typeface="Times New Roman"/>
              </a:rPr>
              <a:t>—BCD</a:t>
            </a:r>
            <a:r>
              <a:rPr sz="2100" spc="-10" dirty="0">
                <a:latin typeface="微软雅黑"/>
                <a:cs typeface="微软雅黑"/>
              </a:rPr>
              <a:t>码转换器的实现代码见例</a:t>
            </a:r>
            <a:r>
              <a:rPr sz="2100" spc="-20" dirty="0">
                <a:latin typeface="Times New Roman"/>
                <a:cs typeface="Times New Roman"/>
              </a:rPr>
              <a:t>3.25</a:t>
            </a:r>
            <a:endParaRPr sz="2100">
              <a:latin typeface="Times New Roman"/>
              <a:cs typeface="Times New Roman"/>
            </a:endParaRPr>
          </a:p>
          <a:p>
            <a:pPr marL="201295">
              <a:lnSpc>
                <a:spcPct val="100000"/>
              </a:lnSpc>
              <a:spcBef>
                <a:spcPts val="1515"/>
              </a:spcBef>
            </a:pPr>
            <a:r>
              <a:rPr sz="1550" b="1" dirty="0">
                <a:latin typeface="微软雅黑"/>
                <a:cs typeface="微软雅黑"/>
              </a:rPr>
              <a:t>例</a:t>
            </a:r>
            <a:r>
              <a:rPr sz="1550" b="1" dirty="0">
                <a:latin typeface="Times New Roman"/>
                <a:cs typeface="Times New Roman"/>
              </a:rPr>
              <a:t>3.25</a:t>
            </a:r>
            <a:r>
              <a:rPr sz="1550" b="1" spc="204" dirty="0">
                <a:latin typeface="Times New Roman"/>
                <a:cs typeface="Times New Roman"/>
              </a:rPr>
              <a:t> </a:t>
            </a:r>
            <a:r>
              <a:rPr sz="1550" dirty="0">
                <a:latin typeface="Times New Roman"/>
                <a:cs typeface="Times New Roman"/>
              </a:rPr>
              <a:t>8</a:t>
            </a:r>
            <a:r>
              <a:rPr sz="1550" dirty="0">
                <a:latin typeface="微软雅黑"/>
                <a:cs typeface="微软雅黑"/>
              </a:rPr>
              <a:t>位二进制数转</a:t>
            </a:r>
            <a:r>
              <a:rPr sz="1550" dirty="0">
                <a:latin typeface="Times New Roman"/>
                <a:cs typeface="Times New Roman"/>
              </a:rPr>
              <a:t>BCD</a:t>
            </a:r>
            <a:r>
              <a:rPr sz="1550" spc="-15" dirty="0">
                <a:latin typeface="微软雅黑"/>
                <a:cs typeface="微软雅黑"/>
              </a:rPr>
              <a:t>码的描述</a:t>
            </a:r>
            <a:endParaRPr sz="1550">
              <a:latin typeface="微软雅黑"/>
              <a:cs typeface="微软雅黑"/>
            </a:endParaRPr>
          </a:p>
          <a:p>
            <a:pPr marL="434975">
              <a:lnSpc>
                <a:spcPct val="100000"/>
              </a:lnSpc>
              <a:spcBef>
                <a:spcPts val="415"/>
              </a:spcBef>
            </a:pPr>
            <a:r>
              <a:rPr sz="1550" b="1" dirty="0">
                <a:latin typeface="Times New Roman"/>
                <a:cs typeface="Times New Roman"/>
              </a:rPr>
              <a:t>module</a:t>
            </a:r>
            <a:r>
              <a:rPr sz="1550" b="1" spc="50" dirty="0">
                <a:latin typeface="Times New Roman"/>
                <a:cs typeface="Times New Roman"/>
              </a:rPr>
              <a:t> </a:t>
            </a:r>
            <a:r>
              <a:rPr sz="1550" spc="-10" dirty="0">
                <a:latin typeface="Times New Roman"/>
                <a:cs typeface="Times New Roman"/>
              </a:rPr>
              <a:t>bin_bcd8</a:t>
            </a:r>
            <a:endParaRPr sz="1550">
              <a:latin typeface="Times New Roman"/>
              <a:cs typeface="Times New Roman"/>
            </a:endParaRPr>
          </a:p>
        </p:txBody>
      </p:sp>
      <p:sp>
        <p:nvSpPr>
          <p:cNvPr id="17" name="object 17"/>
          <p:cNvSpPr txBox="1">
            <a:spLocks noGrp="1"/>
          </p:cNvSpPr>
          <p:nvPr>
            <p:ph type="title"/>
          </p:nvPr>
        </p:nvSpPr>
        <p:spPr>
          <a:xfrm>
            <a:off x="355226" y="1019810"/>
            <a:ext cx="441325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3.6.5</a:t>
            </a:r>
            <a:r>
              <a:rPr spc="20" dirty="0">
                <a:latin typeface="Times New Roman"/>
                <a:cs typeface="Times New Roman"/>
              </a:rPr>
              <a:t> </a:t>
            </a:r>
            <a:r>
              <a:rPr dirty="0"/>
              <a:t>二进制</a:t>
            </a:r>
            <a:r>
              <a:rPr spc="-10" dirty="0">
                <a:latin typeface="Times New Roman"/>
                <a:cs typeface="Times New Roman"/>
              </a:rPr>
              <a:t>—BCD</a:t>
            </a:r>
            <a:r>
              <a:rPr spc="-15" dirty="0"/>
              <a:t>码转换器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77285" y="2812476"/>
            <a:ext cx="8513547" cy="1596868"/>
          </a:xfrm>
          <a:prstGeom prst="rect">
            <a:avLst/>
          </a:prstGeom>
        </p:spPr>
      </p:pic>
      <p:sp>
        <p:nvSpPr>
          <p:cNvPr id="3" name="object 3"/>
          <p:cNvSpPr txBox="1"/>
          <p:nvPr/>
        </p:nvSpPr>
        <p:spPr>
          <a:xfrm>
            <a:off x="3451231" y="4505197"/>
            <a:ext cx="376237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宋体"/>
                <a:cs typeface="宋体"/>
              </a:rPr>
              <a:t>图3.11</a:t>
            </a:r>
            <a:r>
              <a:rPr sz="1550" b="1" spc="395" dirty="0">
                <a:latin typeface="宋体"/>
                <a:cs typeface="宋体"/>
              </a:rPr>
              <a:t> </a:t>
            </a:r>
            <a:r>
              <a:rPr sz="1550" b="1" dirty="0">
                <a:latin typeface="宋体"/>
                <a:cs typeface="宋体"/>
              </a:rPr>
              <a:t>8位二进制数转BCD</a:t>
            </a:r>
            <a:r>
              <a:rPr sz="1550" b="1" spc="-10" dirty="0">
                <a:latin typeface="宋体"/>
                <a:cs typeface="宋体"/>
              </a:rPr>
              <a:t>码的仿真波形图</a:t>
            </a:r>
            <a:endParaRPr sz="1550">
              <a:latin typeface="宋体"/>
              <a:cs typeface="宋体"/>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a:spLocks noGrp="1"/>
          </p:cNvSpPr>
          <p:nvPr>
            <p:ph type="title"/>
          </p:nvPr>
        </p:nvSpPr>
        <p:spPr>
          <a:xfrm>
            <a:off x="388753" y="1098295"/>
            <a:ext cx="441325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3.6.5</a:t>
            </a:r>
            <a:r>
              <a:rPr spc="20" dirty="0">
                <a:latin typeface="Times New Roman"/>
                <a:cs typeface="Times New Roman"/>
              </a:rPr>
              <a:t> </a:t>
            </a:r>
            <a:r>
              <a:rPr dirty="0"/>
              <a:t>二进制</a:t>
            </a:r>
            <a:r>
              <a:rPr spc="-10" dirty="0">
                <a:latin typeface="Times New Roman"/>
                <a:cs typeface="Times New Roman"/>
              </a:rPr>
              <a:t>—BCD</a:t>
            </a:r>
            <a:r>
              <a:rPr spc="-15" dirty="0"/>
              <a:t>码转换器</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891" y="1107439"/>
            <a:ext cx="163004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3.7</a:t>
            </a:r>
            <a:r>
              <a:rPr spc="-5" dirty="0">
                <a:latin typeface="Times New Roman"/>
                <a:cs typeface="Times New Roman"/>
              </a:rPr>
              <a:t> </a:t>
            </a:r>
            <a:r>
              <a:rPr spc="-20" dirty="0"/>
              <a:t>练习题</a:t>
            </a:r>
          </a:p>
        </p:txBody>
      </p:sp>
      <p:pic>
        <p:nvPicPr>
          <p:cNvPr id="3" name="object 3"/>
          <p:cNvPicPr/>
          <p:nvPr/>
        </p:nvPicPr>
        <p:blipFill>
          <a:blip r:embed="rId2" cstate="print"/>
          <a:stretch>
            <a:fillRect/>
          </a:stretch>
        </p:blipFill>
        <p:spPr>
          <a:xfrm>
            <a:off x="778596" y="2043647"/>
            <a:ext cx="162412" cy="162741"/>
          </a:xfrm>
          <a:prstGeom prst="rect">
            <a:avLst/>
          </a:prstGeom>
        </p:spPr>
      </p:pic>
      <p:sp>
        <p:nvSpPr>
          <p:cNvPr id="4" name="object 4"/>
          <p:cNvSpPr txBox="1"/>
          <p:nvPr/>
        </p:nvSpPr>
        <p:spPr>
          <a:xfrm>
            <a:off x="964826" y="1803298"/>
            <a:ext cx="2232025" cy="1792605"/>
          </a:xfrm>
          <a:prstGeom prst="rect">
            <a:avLst/>
          </a:prstGeom>
        </p:spPr>
        <p:txBody>
          <a:bodyPr vert="horz" wrap="square" lIns="0" tIns="133985" rIns="0" bIns="0" rtlCol="0">
            <a:spAutoFit/>
          </a:bodyPr>
          <a:lstStyle/>
          <a:p>
            <a:pPr marL="612140" lvl="2" indent="-599440">
              <a:lnSpc>
                <a:spcPct val="100000"/>
              </a:lnSpc>
              <a:spcBef>
                <a:spcPts val="1055"/>
              </a:spcBef>
              <a:buFont typeface="Times New Roman"/>
              <a:buAutoNum type="arabicPeriod"/>
              <a:tabLst>
                <a:tab pos="612140" algn="l"/>
              </a:tabLst>
            </a:pPr>
            <a:r>
              <a:rPr sz="2100" b="1" spc="-10" dirty="0">
                <a:solidFill>
                  <a:srgbClr val="3E3E3E"/>
                </a:solidFill>
                <a:latin typeface="微软雅黑"/>
                <a:cs typeface="微软雅黑"/>
              </a:rPr>
              <a:t>格雷码转换</a:t>
            </a:r>
            <a:endParaRPr sz="2100">
              <a:latin typeface="微软雅黑"/>
              <a:cs typeface="微软雅黑"/>
            </a:endParaRPr>
          </a:p>
          <a:p>
            <a:pPr marL="612140" lvl="2" indent="-599440">
              <a:lnSpc>
                <a:spcPct val="100000"/>
              </a:lnSpc>
              <a:spcBef>
                <a:spcPts val="960"/>
              </a:spcBef>
              <a:buFont typeface="Times New Roman"/>
              <a:buAutoNum type="arabicPeriod"/>
              <a:tabLst>
                <a:tab pos="612140" algn="l"/>
              </a:tabLst>
            </a:pPr>
            <a:r>
              <a:rPr sz="2100" b="1" spc="-10" dirty="0">
                <a:solidFill>
                  <a:srgbClr val="3E3E3E"/>
                </a:solidFill>
                <a:latin typeface="微软雅黑"/>
                <a:cs typeface="微软雅黑"/>
              </a:rPr>
              <a:t>双优先编码器</a:t>
            </a:r>
            <a:endParaRPr sz="2100">
              <a:latin typeface="微软雅黑"/>
              <a:cs typeface="微软雅黑"/>
            </a:endParaRPr>
          </a:p>
          <a:p>
            <a:pPr marL="612140" lvl="2" indent="-599440">
              <a:lnSpc>
                <a:spcPct val="100000"/>
              </a:lnSpc>
              <a:spcBef>
                <a:spcPts val="960"/>
              </a:spcBef>
              <a:buAutoNum type="arabicPeriod"/>
              <a:tabLst>
                <a:tab pos="612140" algn="l"/>
              </a:tabLst>
            </a:pPr>
            <a:r>
              <a:rPr sz="2100" b="1" spc="-10" dirty="0">
                <a:solidFill>
                  <a:srgbClr val="3E3E3E"/>
                </a:solidFill>
                <a:latin typeface="Times New Roman"/>
                <a:cs typeface="Times New Roman"/>
              </a:rPr>
              <a:t>BCD</a:t>
            </a:r>
            <a:r>
              <a:rPr sz="2100" b="1" spc="-20" dirty="0">
                <a:solidFill>
                  <a:srgbClr val="3E3E3E"/>
                </a:solidFill>
                <a:latin typeface="微软雅黑"/>
                <a:cs typeface="微软雅黑"/>
              </a:rPr>
              <a:t>增量器</a:t>
            </a:r>
            <a:endParaRPr sz="2100">
              <a:latin typeface="微软雅黑"/>
              <a:cs typeface="微软雅黑"/>
            </a:endParaRPr>
          </a:p>
          <a:p>
            <a:pPr marL="612140" lvl="2" indent="-599440">
              <a:lnSpc>
                <a:spcPct val="100000"/>
              </a:lnSpc>
              <a:spcBef>
                <a:spcPts val="955"/>
              </a:spcBef>
              <a:buFont typeface="Times New Roman"/>
              <a:buAutoNum type="arabicPeriod"/>
              <a:tabLst>
                <a:tab pos="612140" algn="l"/>
              </a:tabLst>
            </a:pPr>
            <a:r>
              <a:rPr sz="2100" b="1" spc="-15" dirty="0">
                <a:solidFill>
                  <a:srgbClr val="3E3E3E"/>
                </a:solidFill>
                <a:latin typeface="微软雅黑"/>
                <a:cs typeface="微软雅黑"/>
              </a:rPr>
              <a:t>比较电路</a:t>
            </a:r>
            <a:endParaRPr sz="2100">
              <a:latin typeface="微软雅黑"/>
              <a:cs typeface="微软雅黑"/>
            </a:endParaRPr>
          </a:p>
        </p:txBody>
      </p:sp>
      <p:pic>
        <p:nvPicPr>
          <p:cNvPr id="5" name="object 5"/>
          <p:cNvPicPr/>
          <p:nvPr/>
        </p:nvPicPr>
        <p:blipFill>
          <a:blip r:embed="rId3" cstate="print"/>
          <a:stretch>
            <a:fillRect/>
          </a:stretch>
        </p:blipFill>
        <p:spPr>
          <a:xfrm>
            <a:off x="778596" y="2484083"/>
            <a:ext cx="162412" cy="162741"/>
          </a:xfrm>
          <a:prstGeom prst="rect">
            <a:avLst/>
          </a:prstGeom>
        </p:spPr>
      </p:pic>
      <p:pic>
        <p:nvPicPr>
          <p:cNvPr id="6" name="object 6"/>
          <p:cNvPicPr/>
          <p:nvPr/>
        </p:nvPicPr>
        <p:blipFill>
          <a:blip r:embed="rId4" cstate="print"/>
          <a:stretch>
            <a:fillRect/>
          </a:stretch>
        </p:blipFill>
        <p:spPr>
          <a:xfrm>
            <a:off x="778596" y="2924918"/>
            <a:ext cx="162412" cy="162741"/>
          </a:xfrm>
          <a:prstGeom prst="rect">
            <a:avLst/>
          </a:prstGeom>
        </p:spPr>
      </p:pic>
      <p:pic>
        <p:nvPicPr>
          <p:cNvPr id="7" name="object 7"/>
          <p:cNvPicPr/>
          <p:nvPr/>
        </p:nvPicPr>
        <p:blipFill>
          <a:blip r:embed="rId5" cstate="print"/>
          <a:stretch>
            <a:fillRect/>
          </a:stretch>
        </p:blipFill>
        <p:spPr>
          <a:xfrm>
            <a:off x="778596" y="3365355"/>
            <a:ext cx="162412" cy="162741"/>
          </a:xfrm>
          <a:prstGeom prst="rect">
            <a:avLst/>
          </a:prstGeom>
        </p:spPr>
      </p:pic>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799" y="1063243"/>
            <a:ext cx="261048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3.7.1</a:t>
            </a:r>
            <a:r>
              <a:rPr spc="-5" dirty="0">
                <a:latin typeface="Times New Roman"/>
                <a:cs typeface="Times New Roman"/>
              </a:rPr>
              <a:t> </a:t>
            </a:r>
            <a:r>
              <a:rPr spc="-10" dirty="0"/>
              <a:t>格雷码转换</a:t>
            </a:r>
          </a:p>
        </p:txBody>
      </p:sp>
      <p:pic>
        <p:nvPicPr>
          <p:cNvPr id="3" name="object 3"/>
          <p:cNvPicPr/>
          <p:nvPr/>
        </p:nvPicPr>
        <p:blipFill>
          <a:blip r:embed="rId2" cstate="print"/>
          <a:stretch>
            <a:fillRect/>
          </a:stretch>
        </p:blipFill>
        <p:spPr>
          <a:xfrm>
            <a:off x="1035824" y="2970276"/>
            <a:ext cx="134112" cy="121539"/>
          </a:xfrm>
          <a:prstGeom prst="rect">
            <a:avLst/>
          </a:prstGeom>
        </p:spPr>
      </p:pic>
      <p:pic>
        <p:nvPicPr>
          <p:cNvPr id="4" name="object 4"/>
          <p:cNvPicPr/>
          <p:nvPr/>
        </p:nvPicPr>
        <p:blipFill>
          <a:blip r:embed="rId3" cstate="print"/>
          <a:stretch>
            <a:fillRect/>
          </a:stretch>
        </p:blipFill>
        <p:spPr>
          <a:xfrm>
            <a:off x="1035824" y="3922371"/>
            <a:ext cx="134112" cy="125015"/>
          </a:xfrm>
          <a:prstGeom prst="rect">
            <a:avLst/>
          </a:prstGeom>
        </p:spPr>
      </p:pic>
      <p:pic>
        <p:nvPicPr>
          <p:cNvPr id="5" name="object 5"/>
          <p:cNvPicPr/>
          <p:nvPr/>
        </p:nvPicPr>
        <p:blipFill>
          <a:blip r:embed="rId4" cstate="print"/>
          <a:stretch>
            <a:fillRect/>
          </a:stretch>
        </p:blipFill>
        <p:spPr>
          <a:xfrm>
            <a:off x="1035824" y="4678286"/>
            <a:ext cx="134112" cy="121182"/>
          </a:xfrm>
          <a:prstGeom prst="rect">
            <a:avLst/>
          </a:prstGeom>
        </p:spPr>
      </p:pic>
      <p:pic>
        <p:nvPicPr>
          <p:cNvPr id="6" name="object 6"/>
          <p:cNvPicPr/>
          <p:nvPr/>
        </p:nvPicPr>
        <p:blipFill>
          <a:blip r:embed="rId5" cstate="print"/>
          <a:stretch>
            <a:fillRect/>
          </a:stretch>
        </p:blipFill>
        <p:spPr>
          <a:xfrm>
            <a:off x="1035824" y="5057000"/>
            <a:ext cx="134112" cy="121182"/>
          </a:xfrm>
          <a:prstGeom prst="rect">
            <a:avLst/>
          </a:prstGeom>
        </p:spPr>
      </p:pic>
      <p:pic>
        <p:nvPicPr>
          <p:cNvPr id="7" name="object 7"/>
          <p:cNvPicPr/>
          <p:nvPr/>
        </p:nvPicPr>
        <p:blipFill>
          <a:blip r:embed="rId6" cstate="print"/>
          <a:stretch>
            <a:fillRect/>
          </a:stretch>
        </p:blipFill>
        <p:spPr>
          <a:xfrm>
            <a:off x="1035824" y="5435298"/>
            <a:ext cx="134112" cy="120848"/>
          </a:xfrm>
          <a:prstGeom prst="rect">
            <a:avLst/>
          </a:prstGeom>
        </p:spPr>
      </p:pic>
      <p:pic>
        <p:nvPicPr>
          <p:cNvPr id="8" name="object 8"/>
          <p:cNvPicPr/>
          <p:nvPr/>
        </p:nvPicPr>
        <p:blipFill>
          <a:blip r:embed="rId7" cstate="print"/>
          <a:stretch>
            <a:fillRect/>
          </a:stretch>
        </p:blipFill>
        <p:spPr>
          <a:xfrm>
            <a:off x="3804484" y="3889201"/>
            <a:ext cx="3047372" cy="254242"/>
          </a:xfrm>
          <a:prstGeom prst="rect">
            <a:avLst/>
          </a:prstGeom>
        </p:spPr>
      </p:pic>
      <p:sp>
        <p:nvSpPr>
          <p:cNvPr id="9" name="object 9"/>
          <p:cNvSpPr txBox="1"/>
          <p:nvPr/>
        </p:nvSpPr>
        <p:spPr>
          <a:xfrm>
            <a:off x="541915" y="1741568"/>
            <a:ext cx="9365615" cy="3867785"/>
          </a:xfrm>
          <a:prstGeom prst="rect">
            <a:avLst/>
          </a:prstGeom>
        </p:spPr>
        <p:txBody>
          <a:bodyPr vert="horz" wrap="square" lIns="0" tIns="12065" rIns="0" bIns="0" rtlCol="0">
            <a:spAutoFit/>
          </a:bodyPr>
          <a:lstStyle/>
          <a:p>
            <a:pPr marL="212725" marR="5080" indent="-203200">
              <a:lnSpc>
                <a:spcPct val="150500"/>
              </a:lnSpc>
              <a:spcBef>
                <a:spcPts val="95"/>
              </a:spcBef>
              <a:buSzPct val="95238"/>
              <a:buFont typeface="Wingdings"/>
              <a:buChar char=""/>
              <a:tabLst>
                <a:tab pos="212725" algn="l"/>
                <a:tab pos="249554" algn="l"/>
              </a:tabLst>
            </a:pPr>
            <a:r>
              <a:rPr sz="2100" b="1" dirty="0">
                <a:latin typeface="微软雅黑"/>
                <a:cs typeface="微软雅黑"/>
              </a:rPr>
              <a:t>	格雷码</a:t>
            </a:r>
            <a:r>
              <a:rPr sz="2100" dirty="0">
                <a:latin typeface="微软雅黑"/>
                <a:cs typeface="微软雅黑"/>
              </a:rPr>
              <a:t>（循环二进制单位距离码）是</a:t>
            </a:r>
            <a:r>
              <a:rPr sz="2100" spc="-5" dirty="0">
                <a:solidFill>
                  <a:srgbClr val="FF0000"/>
                </a:solidFill>
                <a:latin typeface="微软雅黑"/>
                <a:cs typeface="微软雅黑"/>
              </a:rPr>
              <a:t>任意两个相邻数的代码只有一位二进制数</a:t>
            </a:r>
            <a:r>
              <a:rPr sz="2100" dirty="0">
                <a:solidFill>
                  <a:srgbClr val="FF0000"/>
                </a:solidFill>
                <a:latin typeface="微软雅黑"/>
                <a:cs typeface="微软雅黑"/>
              </a:rPr>
              <a:t>不同</a:t>
            </a:r>
            <a:r>
              <a:rPr sz="2100" spc="-15" dirty="0">
                <a:latin typeface="微软雅黑"/>
                <a:cs typeface="微软雅黑"/>
              </a:rPr>
              <a:t>的编码，它与奇偶校验码同属可靠性编码。</a:t>
            </a:r>
            <a:endParaRPr sz="2100">
              <a:latin typeface="微软雅黑"/>
              <a:cs typeface="微软雅黑"/>
            </a:endParaRPr>
          </a:p>
          <a:p>
            <a:pPr marL="694055" marR="313055">
              <a:lnSpc>
                <a:spcPct val="122100"/>
              </a:lnSpc>
              <a:spcBef>
                <a:spcPts val="980"/>
              </a:spcBef>
            </a:pPr>
            <a:r>
              <a:rPr sz="1550" b="1" spc="15" dirty="0">
                <a:solidFill>
                  <a:srgbClr val="3E3E3E"/>
                </a:solidFill>
                <a:latin typeface="微软雅黑"/>
                <a:cs typeface="微软雅黑"/>
              </a:rPr>
              <a:t>从对应的</a:t>
            </a:r>
            <a:r>
              <a:rPr sz="1550" b="1" dirty="0">
                <a:solidFill>
                  <a:srgbClr val="3E3E3E"/>
                </a:solidFill>
                <a:latin typeface="Times New Roman"/>
                <a:cs typeface="Times New Roman"/>
              </a:rPr>
              <a:t>n</a:t>
            </a:r>
            <a:r>
              <a:rPr sz="1550" b="1" spc="15" dirty="0">
                <a:solidFill>
                  <a:srgbClr val="3E3E3E"/>
                </a:solidFill>
                <a:latin typeface="微软雅黑"/>
                <a:cs typeface="微软雅黑"/>
              </a:rPr>
              <a:t>位二进制码字中直接得到</a:t>
            </a:r>
            <a:r>
              <a:rPr sz="1550" b="1" dirty="0">
                <a:solidFill>
                  <a:srgbClr val="3E3E3E"/>
                </a:solidFill>
                <a:latin typeface="Times New Roman"/>
                <a:cs typeface="Times New Roman"/>
              </a:rPr>
              <a:t>n</a:t>
            </a:r>
            <a:r>
              <a:rPr sz="1550" b="1" spc="15" dirty="0">
                <a:solidFill>
                  <a:srgbClr val="3E3E3E"/>
                </a:solidFill>
                <a:latin typeface="微软雅黑"/>
                <a:cs typeface="微软雅黑"/>
              </a:rPr>
              <a:t>位格雷码码字，需要先对</a:t>
            </a:r>
            <a:r>
              <a:rPr sz="1550" b="1" dirty="0">
                <a:solidFill>
                  <a:srgbClr val="3E3E3E"/>
                </a:solidFill>
                <a:latin typeface="Times New Roman"/>
                <a:cs typeface="Times New Roman"/>
              </a:rPr>
              <a:t>n</a:t>
            </a:r>
            <a:r>
              <a:rPr sz="1550" b="1" spc="15" dirty="0">
                <a:solidFill>
                  <a:srgbClr val="3E3E3E"/>
                </a:solidFill>
                <a:latin typeface="微软雅黑"/>
                <a:cs typeface="微软雅黑"/>
              </a:rPr>
              <a:t>位二进制的码字，从右到左，以</a:t>
            </a:r>
            <a:r>
              <a:rPr sz="1550" b="1" dirty="0">
                <a:solidFill>
                  <a:srgbClr val="3E3E3E"/>
                </a:solidFill>
                <a:latin typeface="微软雅黑"/>
                <a:cs typeface="微软雅黑"/>
              </a:rPr>
              <a:t> </a:t>
            </a:r>
            <a:r>
              <a:rPr sz="1550" b="1" spc="5" dirty="0">
                <a:solidFill>
                  <a:srgbClr val="3E3E3E"/>
                </a:solidFill>
                <a:latin typeface="Times New Roman"/>
                <a:cs typeface="Times New Roman"/>
              </a:rPr>
              <a:t>0</a:t>
            </a:r>
            <a:r>
              <a:rPr sz="1550" b="1" spc="15" dirty="0">
                <a:solidFill>
                  <a:srgbClr val="3E3E3E"/>
                </a:solidFill>
                <a:latin typeface="微软雅黑"/>
                <a:cs typeface="微软雅黑"/>
              </a:rPr>
              <a:t>到</a:t>
            </a:r>
            <a:r>
              <a:rPr sz="1550" b="1" spc="5" dirty="0">
                <a:solidFill>
                  <a:srgbClr val="3E3E3E"/>
                </a:solidFill>
                <a:latin typeface="Times New Roman"/>
                <a:cs typeface="Times New Roman"/>
              </a:rPr>
              <a:t>n-1</a:t>
            </a:r>
            <a:r>
              <a:rPr sz="1550" b="1" spc="15" dirty="0">
                <a:solidFill>
                  <a:srgbClr val="3E3E3E"/>
                </a:solidFill>
                <a:latin typeface="微软雅黑"/>
                <a:cs typeface="微软雅黑"/>
              </a:rPr>
              <a:t>编号。如果二进制码字的第</a:t>
            </a:r>
            <a:r>
              <a:rPr sz="1550" b="1" spc="5" dirty="0">
                <a:solidFill>
                  <a:srgbClr val="3E3E3E"/>
                </a:solidFill>
                <a:latin typeface="Times New Roman"/>
                <a:cs typeface="Times New Roman"/>
              </a:rPr>
              <a:t>i</a:t>
            </a:r>
            <a:r>
              <a:rPr sz="1550" b="1" spc="15" dirty="0">
                <a:solidFill>
                  <a:srgbClr val="3E3E3E"/>
                </a:solidFill>
                <a:latin typeface="微软雅黑"/>
                <a:cs typeface="微软雅黑"/>
              </a:rPr>
              <a:t>位和</a:t>
            </a:r>
            <a:r>
              <a:rPr sz="1550" b="1" spc="5" dirty="0">
                <a:solidFill>
                  <a:srgbClr val="3E3E3E"/>
                </a:solidFill>
                <a:latin typeface="Times New Roman"/>
                <a:cs typeface="Times New Roman"/>
              </a:rPr>
              <a:t>i+1</a:t>
            </a:r>
            <a:r>
              <a:rPr sz="1550" b="1" spc="15" dirty="0">
                <a:solidFill>
                  <a:srgbClr val="3E3E3E"/>
                </a:solidFill>
                <a:latin typeface="微软雅黑"/>
                <a:cs typeface="微软雅黑"/>
              </a:rPr>
              <a:t>位相同，则对应的格雷码的第</a:t>
            </a:r>
            <a:r>
              <a:rPr sz="1550" b="1" spc="5" dirty="0">
                <a:solidFill>
                  <a:srgbClr val="3E3E3E"/>
                </a:solidFill>
                <a:latin typeface="Times New Roman"/>
                <a:cs typeface="Times New Roman"/>
              </a:rPr>
              <a:t>i</a:t>
            </a:r>
            <a:r>
              <a:rPr sz="1550" b="1" spc="15" dirty="0">
                <a:solidFill>
                  <a:srgbClr val="3E3E3E"/>
                </a:solidFill>
                <a:latin typeface="微软雅黑"/>
                <a:cs typeface="微软雅黑"/>
              </a:rPr>
              <a:t>位为</a:t>
            </a:r>
            <a:r>
              <a:rPr sz="1550" b="1" spc="10" dirty="0">
                <a:solidFill>
                  <a:srgbClr val="3E3E3E"/>
                </a:solidFill>
                <a:latin typeface="Times New Roman"/>
                <a:cs typeface="Times New Roman"/>
              </a:rPr>
              <a:t>0</a:t>
            </a:r>
            <a:r>
              <a:rPr sz="1550" b="1" spc="10" dirty="0">
                <a:solidFill>
                  <a:srgbClr val="3E3E3E"/>
                </a:solidFill>
                <a:latin typeface="微软雅黑"/>
                <a:cs typeface="微软雅黑"/>
              </a:rPr>
              <a:t>，否则为</a:t>
            </a:r>
            <a:r>
              <a:rPr sz="1550" b="1" spc="10" dirty="0">
                <a:solidFill>
                  <a:srgbClr val="3E3E3E"/>
                </a:solidFill>
                <a:latin typeface="Times New Roman"/>
                <a:cs typeface="Times New Roman"/>
              </a:rPr>
              <a:t>1</a:t>
            </a:r>
            <a:r>
              <a:rPr sz="1550" b="1" spc="10" dirty="0">
                <a:solidFill>
                  <a:srgbClr val="3E3E3E"/>
                </a:solidFill>
                <a:latin typeface="微软雅黑"/>
                <a:cs typeface="微软雅黑"/>
              </a:rPr>
              <a:t>（</a:t>
            </a:r>
            <a:r>
              <a:rPr sz="1550" b="1" spc="15" dirty="0">
                <a:solidFill>
                  <a:srgbClr val="3E3E3E"/>
                </a:solidFill>
                <a:latin typeface="微软雅黑"/>
                <a:cs typeface="微软雅黑"/>
              </a:rPr>
              <a:t>当</a:t>
            </a:r>
            <a:r>
              <a:rPr sz="1550" b="1" dirty="0">
                <a:solidFill>
                  <a:srgbClr val="3E3E3E"/>
                </a:solidFill>
                <a:latin typeface="微软雅黑"/>
                <a:cs typeface="微软雅黑"/>
              </a:rPr>
              <a:t> </a:t>
            </a:r>
            <a:r>
              <a:rPr sz="1550" b="1" spc="5" dirty="0">
                <a:solidFill>
                  <a:srgbClr val="3E3E3E"/>
                </a:solidFill>
                <a:latin typeface="Times New Roman"/>
                <a:cs typeface="Times New Roman"/>
              </a:rPr>
              <a:t>i+1=n</a:t>
            </a:r>
            <a:r>
              <a:rPr sz="1550" b="1" spc="15" dirty="0">
                <a:solidFill>
                  <a:srgbClr val="3E3E3E"/>
                </a:solidFill>
                <a:latin typeface="微软雅黑"/>
                <a:cs typeface="微软雅黑"/>
              </a:rPr>
              <a:t>时，二进制码字的第</a:t>
            </a:r>
            <a:r>
              <a:rPr sz="1550" b="1" dirty="0">
                <a:solidFill>
                  <a:srgbClr val="3E3E3E"/>
                </a:solidFill>
                <a:latin typeface="Times New Roman"/>
                <a:cs typeface="Times New Roman"/>
              </a:rPr>
              <a:t>n</a:t>
            </a:r>
            <a:r>
              <a:rPr sz="1550" b="1" spc="15" dirty="0">
                <a:solidFill>
                  <a:srgbClr val="3E3E3E"/>
                </a:solidFill>
                <a:latin typeface="微软雅黑"/>
                <a:cs typeface="微软雅黑"/>
              </a:rPr>
              <a:t>位被认为是</a:t>
            </a:r>
            <a:r>
              <a:rPr sz="1550" b="1" spc="10" dirty="0">
                <a:solidFill>
                  <a:srgbClr val="3E3E3E"/>
                </a:solidFill>
                <a:latin typeface="Times New Roman"/>
                <a:cs typeface="Times New Roman"/>
              </a:rPr>
              <a:t>0</a:t>
            </a:r>
            <a:r>
              <a:rPr sz="1550" b="1" spc="10" dirty="0">
                <a:solidFill>
                  <a:srgbClr val="3E3E3E"/>
                </a:solidFill>
                <a:latin typeface="微软雅黑"/>
                <a:cs typeface="微软雅黑"/>
              </a:rPr>
              <a:t>，即第</a:t>
            </a:r>
            <a:r>
              <a:rPr sz="1550" b="1" spc="5" dirty="0">
                <a:solidFill>
                  <a:srgbClr val="3E3E3E"/>
                </a:solidFill>
                <a:latin typeface="Times New Roman"/>
                <a:cs typeface="Times New Roman"/>
              </a:rPr>
              <a:t>n-1</a:t>
            </a:r>
            <a:r>
              <a:rPr sz="1550" b="1" spc="15" dirty="0">
                <a:solidFill>
                  <a:srgbClr val="3E3E3E"/>
                </a:solidFill>
                <a:latin typeface="微软雅黑"/>
                <a:cs typeface="微软雅黑"/>
              </a:rPr>
              <a:t>位不变）</a:t>
            </a:r>
            <a:endParaRPr sz="1550">
              <a:latin typeface="微软雅黑"/>
              <a:cs typeface="微软雅黑"/>
            </a:endParaRPr>
          </a:p>
          <a:p>
            <a:pPr marL="694690">
              <a:lnSpc>
                <a:spcPct val="100000"/>
              </a:lnSpc>
              <a:spcBef>
                <a:spcPts val="1115"/>
              </a:spcBef>
            </a:pPr>
            <a:r>
              <a:rPr sz="1550" b="1" spc="-10" dirty="0">
                <a:solidFill>
                  <a:srgbClr val="3E3E3E"/>
                </a:solidFill>
                <a:latin typeface="微软雅黑"/>
                <a:cs typeface="微软雅黑"/>
              </a:rPr>
              <a:t>公式表示：</a:t>
            </a:r>
            <a:endParaRPr sz="1550">
              <a:latin typeface="微软雅黑"/>
              <a:cs typeface="微软雅黑"/>
            </a:endParaRPr>
          </a:p>
          <a:p>
            <a:pPr marL="203200" algn="ctr">
              <a:lnSpc>
                <a:spcPct val="100000"/>
              </a:lnSpc>
              <a:spcBef>
                <a:spcPts val="1115"/>
              </a:spcBef>
            </a:pPr>
            <a:r>
              <a:rPr sz="1550" b="1" dirty="0">
                <a:solidFill>
                  <a:srgbClr val="3E3E3E"/>
                </a:solidFill>
                <a:latin typeface="微软雅黑"/>
                <a:cs typeface="微软雅黑"/>
              </a:rPr>
              <a:t>（</a:t>
            </a:r>
            <a:r>
              <a:rPr sz="1550" b="1" dirty="0">
                <a:solidFill>
                  <a:srgbClr val="3E3E3E"/>
                </a:solidFill>
                <a:latin typeface="Times New Roman"/>
                <a:cs typeface="Times New Roman"/>
              </a:rPr>
              <a:t>G</a:t>
            </a:r>
            <a:r>
              <a:rPr sz="1550" b="1" dirty="0">
                <a:solidFill>
                  <a:srgbClr val="3E3E3E"/>
                </a:solidFill>
                <a:latin typeface="微软雅黑"/>
                <a:cs typeface="微软雅黑"/>
              </a:rPr>
              <a:t>：格雷码，</a:t>
            </a:r>
            <a:r>
              <a:rPr sz="1550" b="1" dirty="0">
                <a:solidFill>
                  <a:srgbClr val="3E3E3E"/>
                </a:solidFill>
                <a:latin typeface="Times New Roman"/>
                <a:cs typeface="Times New Roman"/>
              </a:rPr>
              <a:t>B</a:t>
            </a:r>
            <a:r>
              <a:rPr sz="1550" b="1" dirty="0">
                <a:solidFill>
                  <a:srgbClr val="3E3E3E"/>
                </a:solidFill>
                <a:latin typeface="微软雅黑"/>
                <a:cs typeface="微软雅黑"/>
              </a:rPr>
              <a:t>：二进制码</a:t>
            </a:r>
            <a:r>
              <a:rPr sz="1550" b="1" spc="-50" dirty="0">
                <a:solidFill>
                  <a:srgbClr val="3E3E3E"/>
                </a:solidFill>
                <a:latin typeface="微软雅黑"/>
                <a:cs typeface="微软雅黑"/>
              </a:rPr>
              <a:t>）</a:t>
            </a:r>
            <a:endParaRPr sz="1550">
              <a:latin typeface="微软雅黑"/>
              <a:cs typeface="微软雅黑"/>
            </a:endParaRPr>
          </a:p>
          <a:p>
            <a:pPr marL="894080" lvl="1" indent="-199390">
              <a:lnSpc>
                <a:spcPct val="100000"/>
              </a:lnSpc>
              <a:spcBef>
                <a:spcPts val="1115"/>
              </a:spcBef>
              <a:buFont typeface="Times New Roman"/>
              <a:buAutoNum type="arabicPeriod"/>
              <a:tabLst>
                <a:tab pos="894080" algn="l"/>
              </a:tabLst>
            </a:pPr>
            <a:r>
              <a:rPr sz="1550" b="1" dirty="0">
                <a:solidFill>
                  <a:srgbClr val="3E3E3E"/>
                </a:solidFill>
                <a:latin typeface="微软雅黑"/>
                <a:cs typeface="微软雅黑"/>
              </a:rPr>
              <a:t>设计一个</a:t>
            </a:r>
            <a:r>
              <a:rPr sz="1550" b="1" dirty="0">
                <a:solidFill>
                  <a:srgbClr val="3E3E3E"/>
                </a:solidFill>
                <a:latin typeface="Times New Roman"/>
                <a:cs typeface="Times New Roman"/>
              </a:rPr>
              <a:t>4</a:t>
            </a:r>
            <a:r>
              <a:rPr sz="1550" b="1" spc="-5" dirty="0">
                <a:solidFill>
                  <a:srgbClr val="3E3E3E"/>
                </a:solidFill>
                <a:latin typeface="微软雅黑"/>
                <a:cs typeface="微软雅黑"/>
              </a:rPr>
              <a:t>位的二进制格雷码转换电路。</a:t>
            </a:r>
            <a:endParaRPr sz="1550">
              <a:latin typeface="微软雅黑"/>
              <a:cs typeface="微软雅黑"/>
            </a:endParaRPr>
          </a:p>
          <a:p>
            <a:pPr marL="894080" lvl="1" indent="-199390">
              <a:lnSpc>
                <a:spcPct val="100000"/>
              </a:lnSpc>
              <a:spcBef>
                <a:spcPts val="1115"/>
              </a:spcBef>
              <a:buFont typeface="Times New Roman"/>
              <a:buAutoNum type="arabicPeriod"/>
              <a:tabLst>
                <a:tab pos="894080" algn="l"/>
              </a:tabLst>
            </a:pPr>
            <a:r>
              <a:rPr sz="1550" b="1" spc="-5" dirty="0">
                <a:solidFill>
                  <a:srgbClr val="3E3E3E"/>
                </a:solidFill>
                <a:latin typeface="微软雅黑"/>
                <a:cs typeface="微软雅黑"/>
              </a:rPr>
              <a:t>推导代码并且进行验证。</a:t>
            </a:r>
            <a:endParaRPr sz="1550">
              <a:latin typeface="微软雅黑"/>
              <a:cs typeface="微软雅黑"/>
            </a:endParaRPr>
          </a:p>
          <a:p>
            <a:pPr marL="894080" lvl="1" indent="-199390">
              <a:lnSpc>
                <a:spcPct val="100000"/>
              </a:lnSpc>
              <a:spcBef>
                <a:spcPts val="1115"/>
              </a:spcBef>
              <a:buFont typeface="Times New Roman"/>
              <a:buAutoNum type="arabicPeriod"/>
              <a:tabLst>
                <a:tab pos="894080" algn="l"/>
              </a:tabLst>
            </a:pPr>
            <a:r>
              <a:rPr sz="1550" b="1" dirty="0">
                <a:solidFill>
                  <a:srgbClr val="3E3E3E"/>
                </a:solidFill>
                <a:latin typeface="微软雅黑"/>
                <a:cs typeface="微软雅黑"/>
              </a:rPr>
              <a:t>利用</a:t>
            </a:r>
            <a:r>
              <a:rPr sz="1550" b="1" dirty="0">
                <a:solidFill>
                  <a:srgbClr val="3E3E3E"/>
                </a:solidFill>
                <a:latin typeface="Times New Roman"/>
                <a:cs typeface="Times New Roman"/>
              </a:rPr>
              <a:t>FPGA</a:t>
            </a:r>
            <a:r>
              <a:rPr sz="1550" b="1" spc="-10" dirty="0">
                <a:solidFill>
                  <a:srgbClr val="3E3E3E"/>
                </a:solidFill>
                <a:latin typeface="微软雅黑"/>
                <a:cs typeface="微软雅黑"/>
              </a:rPr>
              <a:t>进行验证操作。</a:t>
            </a:r>
            <a:endParaRPr sz="1550">
              <a:latin typeface="微软雅黑"/>
              <a:cs typeface="微软雅黑"/>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508" y="1107439"/>
            <a:ext cx="296735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3.7.2</a:t>
            </a:r>
            <a:r>
              <a:rPr spc="-5" dirty="0">
                <a:latin typeface="Times New Roman"/>
                <a:cs typeface="Times New Roman"/>
              </a:rPr>
              <a:t> </a:t>
            </a:r>
            <a:r>
              <a:rPr spc="-10" dirty="0"/>
              <a:t>双优先编码器</a:t>
            </a:r>
          </a:p>
        </p:txBody>
      </p:sp>
      <p:pic>
        <p:nvPicPr>
          <p:cNvPr id="3" name="object 3"/>
          <p:cNvPicPr/>
          <p:nvPr/>
        </p:nvPicPr>
        <p:blipFill>
          <a:blip r:embed="rId2" cstate="print"/>
          <a:stretch>
            <a:fillRect/>
          </a:stretch>
        </p:blipFill>
        <p:spPr>
          <a:xfrm>
            <a:off x="824307" y="3157662"/>
            <a:ext cx="141443" cy="133066"/>
          </a:xfrm>
          <a:prstGeom prst="rect">
            <a:avLst/>
          </a:prstGeom>
        </p:spPr>
      </p:pic>
      <p:pic>
        <p:nvPicPr>
          <p:cNvPr id="4" name="object 4"/>
          <p:cNvPicPr/>
          <p:nvPr/>
        </p:nvPicPr>
        <p:blipFill>
          <a:blip r:embed="rId3" cstate="print"/>
          <a:stretch>
            <a:fillRect/>
          </a:stretch>
        </p:blipFill>
        <p:spPr>
          <a:xfrm>
            <a:off x="824307" y="3539490"/>
            <a:ext cx="141443" cy="138303"/>
          </a:xfrm>
          <a:prstGeom prst="rect">
            <a:avLst/>
          </a:prstGeom>
        </p:spPr>
      </p:pic>
      <p:pic>
        <p:nvPicPr>
          <p:cNvPr id="5" name="object 5"/>
          <p:cNvPicPr/>
          <p:nvPr/>
        </p:nvPicPr>
        <p:blipFill>
          <a:blip r:embed="rId4" cstate="print"/>
          <a:stretch>
            <a:fillRect/>
          </a:stretch>
        </p:blipFill>
        <p:spPr>
          <a:xfrm>
            <a:off x="824307" y="3922384"/>
            <a:ext cx="141443" cy="137943"/>
          </a:xfrm>
          <a:prstGeom prst="rect">
            <a:avLst/>
          </a:prstGeom>
        </p:spPr>
      </p:pic>
      <p:pic>
        <p:nvPicPr>
          <p:cNvPr id="6" name="object 6"/>
          <p:cNvPicPr/>
          <p:nvPr/>
        </p:nvPicPr>
        <p:blipFill>
          <a:blip r:embed="rId5" cstate="print"/>
          <a:stretch>
            <a:fillRect/>
          </a:stretch>
        </p:blipFill>
        <p:spPr>
          <a:xfrm>
            <a:off x="824307" y="4304146"/>
            <a:ext cx="141443" cy="137943"/>
          </a:xfrm>
          <a:prstGeom prst="rect">
            <a:avLst/>
          </a:prstGeom>
        </p:spPr>
      </p:pic>
      <p:pic>
        <p:nvPicPr>
          <p:cNvPr id="7" name="object 7"/>
          <p:cNvPicPr/>
          <p:nvPr/>
        </p:nvPicPr>
        <p:blipFill>
          <a:blip r:embed="rId6" cstate="print"/>
          <a:stretch>
            <a:fillRect/>
          </a:stretch>
        </p:blipFill>
        <p:spPr>
          <a:xfrm>
            <a:off x="824307" y="4686670"/>
            <a:ext cx="141443" cy="137943"/>
          </a:xfrm>
          <a:prstGeom prst="rect">
            <a:avLst/>
          </a:prstGeom>
        </p:spPr>
      </p:pic>
      <p:sp>
        <p:nvSpPr>
          <p:cNvPr id="8" name="object 8"/>
          <p:cNvSpPr txBox="1">
            <a:spLocks noGrp="1"/>
          </p:cNvSpPr>
          <p:nvPr>
            <p:ph type="body" idx="1"/>
          </p:nvPr>
        </p:nvSpPr>
        <p:spPr>
          <a:prstGeom prst="rect">
            <a:avLst/>
          </a:prstGeom>
        </p:spPr>
        <p:txBody>
          <a:bodyPr vert="horz" wrap="square" lIns="0" tIns="12065" rIns="0" bIns="0" rtlCol="0">
            <a:spAutoFit/>
          </a:bodyPr>
          <a:lstStyle/>
          <a:p>
            <a:pPr marL="219075" marR="5080" indent="-203200">
              <a:lnSpc>
                <a:spcPct val="150500"/>
              </a:lnSpc>
              <a:spcBef>
                <a:spcPts val="95"/>
              </a:spcBef>
              <a:buSzPct val="95238"/>
              <a:buFont typeface="Wingdings"/>
              <a:buChar char=""/>
              <a:tabLst>
                <a:tab pos="219710" algn="l"/>
                <a:tab pos="256540" algn="l"/>
              </a:tabLst>
            </a:pPr>
            <a:r>
              <a:rPr dirty="0"/>
              <a:t>	双优先编码器返回</a:t>
            </a:r>
            <a:r>
              <a:rPr dirty="0">
                <a:solidFill>
                  <a:srgbClr val="FF0000"/>
                </a:solidFill>
              </a:rPr>
              <a:t>最高优先级和次最高优先级</a:t>
            </a:r>
            <a:r>
              <a:rPr dirty="0"/>
              <a:t>请求代码，输入是</a:t>
            </a:r>
            <a:r>
              <a:rPr dirty="0">
                <a:latin typeface="Times New Roman"/>
                <a:cs typeface="Times New Roman"/>
              </a:rPr>
              <a:t>15</a:t>
            </a:r>
            <a:r>
              <a:rPr dirty="0"/>
              <a:t>位</a:t>
            </a:r>
            <a:r>
              <a:rPr dirty="0">
                <a:latin typeface="Times New Roman"/>
                <a:cs typeface="Times New Roman"/>
              </a:rPr>
              <a:t>req</a:t>
            </a:r>
            <a:r>
              <a:rPr spc="-20" dirty="0"/>
              <a:t>信号，</a:t>
            </a:r>
            <a:r>
              <a:rPr spc="-10" dirty="0"/>
              <a:t>输出是第一和第二，分别是</a:t>
            </a:r>
            <a:r>
              <a:rPr spc="-10" dirty="0">
                <a:latin typeface="Times New Roman"/>
                <a:cs typeface="Times New Roman"/>
              </a:rPr>
              <a:t>4</a:t>
            </a:r>
            <a:r>
              <a:rPr spc="-15" dirty="0"/>
              <a:t>位二进制代码的最高优先级和次最高优先级请求。</a:t>
            </a:r>
          </a:p>
          <a:p>
            <a:pPr marL="617855" lvl="1" indent="-169545">
              <a:lnSpc>
                <a:spcPct val="100000"/>
              </a:lnSpc>
              <a:spcBef>
                <a:spcPts val="2500"/>
              </a:spcBef>
              <a:buSzPct val="94285"/>
              <a:buFont typeface="Times New Roman"/>
              <a:buAutoNum type="arabicPeriod"/>
              <a:tabLst>
                <a:tab pos="618490" algn="l"/>
              </a:tabLst>
            </a:pPr>
            <a:r>
              <a:rPr sz="1750" b="1" spc="-10" dirty="0">
                <a:solidFill>
                  <a:srgbClr val="3E3E3E"/>
                </a:solidFill>
                <a:latin typeface="微软雅黑"/>
                <a:cs typeface="微软雅黑"/>
              </a:rPr>
              <a:t>列出真值表</a:t>
            </a:r>
            <a:endParaRPr sz="1750">
              <a:latin typeface="微软雅黑"/>
              <a:cs typeface="微软雅黑"/>
            </a:endParaRPr>
          </a:p>
          <a:p>
            <a:pPr marL="617855" lvl="1" indent="-169545">
              <a:lnSpc>
                <a:spcPct val="100000"/>
              </a:lnSpc>
              <a:spcBef>
                <a:spcPts val="920"/>
              </a:spcBef>
              <a:buSzPct val="94285"/>
              <a:buFont typeface="Times New Roman"/>
              <a:buAutoNum type="arabicPeriod"/>
              <a:tabLst>
                <a:tab pos="618490" algn="l"/>
              </a:tabLst>
            </a:pPr>
            <a:r>
              <a:rPr sz="1750" b="1" spc="-5" dirty="0">
                <a:solidFill>
                  <a:srgbClr val="3E3E3E"/>
                </a:solidFill>
                <a:latin typeface="微软雅黑"/>
                <a:cs typeface="微软雅黑"/>
              </a:rPr>
              <a:t>设计电路并推导代码。</a:t>
            </a:r>
            <a:endParaRPr sz="1750">
              <a:latin typeface="微软雅黑"/>
              <a:cs typeface="微软雅黑"/>
            </a:endParaRPr>
          </a:p>
          <a:p>
            <a:pPr marL="617855" lvl="1" indent="-169545">
              <a:lnSpc>
                <a:spcPct val="100000"/>
              </a:lnSpc>
              <a:spcBef>
                <a:spcPts val="915"/>
              </a:spcBef>
              <a:buSzPct val="94285"/>
              <a:buFont typeface="Times New Roman"/>
              <a:buAutoNum type="arabicPeriod"/>
              <a:tabLst>
                <a:tab pos="618490" algn="l"/>
              </a:tabLst>
            </a:pPr>
            <a:r>
              <a:rPr sz="1750" b="1" spc="-5" dirty="0">
                <a:solidFill>
                  <a:srgbClr val="3E3E3E"/>
                </a:solidFill>
                <a:latin typeface="微软雅黑"/>
                <a:cs typeface="微软雅黑"/>
              </a:rPr>
              <a:t>推导测试平台并采用仿真验证代码的操作。</a:t>
            </a:r>
            <a:endParaRPr sz="1750">
              <a:latin typeface="微软雅黑"/>
              <a:cs typeface="微软雅黑"/>
            </a:endParaRPr>
          </a:p>
          <a:p>
            <a:pPr marL="617855" lvl="1" indent="-169545">
              <a:lnSpc>
                <a:spcPct val="100000"/>
              </a:lnSpc>
              <a:spcBef>
                <a:spcPts val="915"/>
              </a:spcBef>
              <a:buSzPct val="94285"/>
              <a:buFont typeface="Times New Roman"/>
              <a:buAutoNum type="arabicPeriod"/>
              <a:tabLst>
                <a:tab pos="618490" algn="l"/>
              </a:tabLst>
            </a:pPr>
            <a:r>
              <a:rPr sz="1750" b="1" dirty="0">
                <a:solidFill>
                  <a:srgbClr val="3E3E3E"/>
                </a:solidFill>
                <a:latin typeface="微软雅黑"/>
                <a:cs typeface="微软雅黑"/>
              </a:rPr>
              <a:t>设计测试电路并在原型板上用七段</a:t>
            </a:r>
            <a:r>
              <a:rPr sz="1750" b="1" dirty="0">
                <a:solidFill>
                  <a:srgbClr val="3E3E3E"/>
                </a:solidFill>
                <a:latin typeface="Times New Roman"/>
                <a:cs typeface="Times New Roman"/>
              </a:rPr>
              <a:t>LED</a:t>
            </a:r>
            <a:r>
              <a:rPr sz="1750" b="1" spc="-5" dirty="0">
                <a:solidFill>
                  <a:srgbClr val="3E3E3E"/>
                </a:solidFill>
                <a:latin typeface="微软雅黑"/>
                <a:cs typeface="微软雅黑"/>
              </a:rPr>
              <a:t>数码管显示两个输出信号，并推导代码。</a:t>
            </a:r>
            <a:endParaRPr sz="1750">
              <a:latin typeface="微软雅黑"/>
              <a:cs typeface="微软雅黑"/>
            </a:endParaRPr>
          </a:p>
          <a:p>
            <a:pPr marL="617855" lvl="1" indent="-169545">
              <a:lnSpc>
                <a:spcPct val="100000"/>
              </a:lnSpc>
              <a:spcBef>
                <a:spcPts val="915"/>
              </a:spcBef>
              <a:buSzPct val="94285"/>
              <a:buFont typeface="Times New Roman"/>
              <a:buAutoNum type="arabicPeriod"/>
              <a:tabLst>
                <a:tab pos="618490" algn="l"/>
              </a:tabLst>
            </a:pPr>
            <a:r>
              <a:rPr sz="1750" b="1" dirty="0">
                <a:solidFill>
                  <a:srgbClr val="3E3E3E"/>
                </a:solidFill>
                <a:latin typeface="微软雅黑"/>
                <a:cs typeface="微软雅黑"/>
              </a:rPr>
              <a:t>综合电路，编程</a:t>
            </a:r>
            <a:r>
              <a:rPr sz="1750" b="1" spc="-25" dirty="0">
                <a:solidFill>
                  <a:srgbClr val="3E3E3E"/>
                </a:solidFill>
                <a:latin typeface="Times New Roman"/>
                <a:cs typeface="Times New Roman"/>
              </a:rPr>
              <a:t>FPGA</a:t>
            </a:r>
            <a:r>
              <a:rPr sz="1750" b="1" spc="-10" dirty="0">
                <a:solidFill>
                  <a:srgbClr val="3E3E3E"/>
                </a:solidFill>
                <a:latin typeface="微软雅黑"/>
                <a:cs typeface="微软雅黑"/>
              </a:rPr>
              <a:t>并验证操作。</a:t>
            </a:r>
            <a:endParaRPr sz="1750">
              <a:latin typeface="微软雅黑"/>
              <a:cs typeface="微软雅黑"/>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514" y="1109725"/>
            <a:ext cx="2630170"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3.7.3</a:t>
            </a:r>
            <a:r>
              <a:rPr spc="-5" dirty="0">
                <a:latin typeface="Times New Roman"/>
                <a:cs typeface="Times New Roman"/>
              </a:rPr>
              <a:t> </a:t>
            </a:r>
            <a:r>
              <a:rPr spc="-10" dirty="0">
                <a:latin typeface="Times New Roman"/>
                <a:cs typeface="Times New Roman"/>
              </a:rPr>
              <a:t>BCD</a:t>
            </a:r>
            <a:r>
              <a:rPr spc="-20" dirty="0"/>
              <a:t>增量器</a:t>
            </a:r>
          </a:p>
        </p:txBody>
      </p:sp>
      <p:pic>
        <p:nvPicPr>
          <p:cNvPr id="3" name="object 3"/>
          <p:cNvPicPr/>
          <p:nvPr/>
        </p:nvPicPr>
        <p:blipFill>
          <a:blip r:embed="rId2" cstate="print"/>
          <a:stretch>
            <a:fillRect/>
          </a:stretch>
        </p:blipFill>
        <p:spPr>
          <a:xfrm>
            <a:off x="1019730" y="2845678"/>
            <a:ext cx="141443" cy="137943"/>
          </a:xfrm>
          <a:prstGeom prst="rect">
            <a:avLst/>
          </a:prstGeom>
        </p:spPr>
      </p:pic>
      <p:pic>
        <p:nvPicPr>
          <p:cNvPr id="4" name="object 4"/>
          <p:cNvPicPr/>
          <p:nvPr/>
        </p:nvPicPr>
        <p:blipFill>
          <a:blip r:embed="rId3" cstate="print"/>
          <a:stretch>
            <a:fillRect/>
          </a:stretch>
        </p:blipFill>
        <p:spPr>
          <a:xfrm>
            <a:off x="1019730" y="3232382"/>
            <a:ext cx="141443" cy="133763"/>
          </a:xfrm>
          <a:prstGeom prst="rect">
            <a:avLst/>
          </a:prstGeom>
        </p:spPr>
      </p:pic>
      <p:pic>
        <p:nvPicPr>
          <p:cNvPr id="5" name="object 5"/>
          <p:cNvPicPr/>
          <p:nvPr/>
        </p:nvPicPr>
        <p:blipFill>
          <a:blip r:embed="rId4" cstate="print"/>
          <a:stretch>
            <a:fillRect/>
          </a:stretch>
        </p:blipFill>
        <p:spPr>
          <a:xfrm>
            <a:off x="1019730" y="3614862"/>
            <a:ext cx="141443" cy="133066"/>
          </a:xfrm>
          <a:prstGeom prst="rect">
            <a:avLst/>
          </a:prstGeom>
        </p:spPr>
      </p:pic>
      <p:pic>
        <p:nvPicPr>
          <p:cNvPr id="6" name="object 6"/>
          <p:cNvPicPr/>
          <p:nvPr/>
        </p:nvPicPr>
        <p:blipFill>
          <a:blip r:embed="rId5" cstate="print"/>
          <a:stretch>
            <a:fillRect/>
          </a:stretch>
        </p:blipFill>
        <p:spPr>
          <a:xfrm>
            <a:off x="1019730" y="3996668"/>
            <a:ext cx="141443" cy="133763"/>
          </a:xfrm>
          <a:prstGeom prst="rect">
            <a:avLst/>
          </a:prstGeom>
        </p:spPr>
      </p:pic>
      <p:sp>
        <p:nvSpPr>
          <p:cNvPr id="7" name="object 7"/>
          <p:cNvSpPr txBox="1"/>
          <p:nvPr/>
        </p:nvSpPr>
        <p:spPr>
          <a:xfrm>
            <a:off x="673741" y="2159761"/>
            <a:ext cx="7384415" cy="2029460"/>
          </a:xfrm>
          <a:prstGeom prst="rect">
            <a:avLst/>
          </a:prstGeom>
        </p:spPr>
        <p:txBody>
          <a:bodyPr vert="horz" wrap="square" lIns="0" tIns="13335" rIns="0" bIns="0" rtlCol="0">
            <a:spAutoFit/>
          </a:bodyPr>
          <a:lstStyle/>
          <a:p>
            <a:pPr marL="316865" indent="-304165">
              <a:lnSpc>
                <a:spcPct val="100000"/>
              </a:lnSpc>
              <a:spcBef>
                <a:spcPts val="105"/>
              </a:spcBef>
              <a:buFont typeface="Wingdings"/>
              <a:buChar char=""/>
              <a:tabLst>
                <a:tab pos="316865" algn="l"/>
              </a:tabLst>
            </a:pPr>
            <a:r>
              <a:rPr sz="2100" dirty="0">
                <a:latin typeface="微软雅黑"/>
                <a:cs typeface="微软雅黑"/>
              </a:rPr>
              <a:t>二进制</a:t>
            </a:r>
            <a:r>
              <a:rPr sz="2100" dirty="0">
                <a:latin typeface="Times New Roman"/>
                <a:cs typeface="Times New Roman"/>
              </a:rPr>
              <a:t>-</a:t>
            </a:r>
            <a:r>
              <a:rPr sz="2100" dirty="0">
                <a:latin typeface="微软雅黑"/>
                <a:cs typeface="微软雅黑"/>
              </a:rPr>
              <a:t>十进制</a:t>
            </a:r>
            <a:r>
              <a:rPr sz="2100" spc="-10" dirty="0">
                <a:latin typeface="微软雅黑"/>
                <a:cs typeface="微软雅黑"/>
              </a:rPr>
              <a:t>（</a:t>
            </a:r>
            <a:r>
              <a:rPr sz="2100" spc="-10" dirty="0">
                <a:latin typeface="Times New Roman"/>
                <a:cs typeface="Times New Roman"/>
              </a:rPr>
              <a:t>BCD</a:t>
            </a:r>
            <a:r>
              <a:rPr sz="2100" spc="-10" dirty="0">
                <a:latin typeface="微软雅黑"/>
                <a:cs typeface="微软雅黑"/>
              </a:rPr>
              <a:t>）</a:t>
            </a:r>
            <a:r>
              <a:rPr sz="2100" dirty="0">
                <a:latin typeface="微软雅黑"/>
                <a:cs typeface="微软雅黑"/>
              </a:rPr>
              <a:t>码用</a:t>
            </a:r>
            <a:r>
              <a:rPr sz="2100" spc="-10" dirty="0">
                <a:solidFill>
                  <a:srgbClr val="FF0000"/>
                </a:solidFill>
                <a:latin typeface="Times New Roman"/>
                <a:cs typeface="Times New Roman"/>
              </a:rPr>
              <a:t>4</a:t>
            </a:r>
            <a:r>
              <a:rPr sz="2100" spc="-10" dirty="0">
                <a:solidFill>
                  <a:srgbClr val="FF0000"/>
                </a:solidFill>
                <a:latin typeface="微软雅黑"/>
                <a:cs typeface="微软雅黑"/>
              </a:rPr>
              <a:t>位二进制数表示</a:t>
            </a:r>
            <a:r>
              <a:rPr sz="2100" spc="-10" dirty="0">
                <a:solidFill>
                  <a:srgbClr val="FF0000"/>
                </a:solidFill>
                <a:latin typeface="Times New Roman"/>
                <a:cs typeface="Times New Roman"/>
              </a:rPr>
              <a:t>1</a:t>
            </a:r>
            <a:r>
              <a:rPr sz="2100" spc="-10" dirty="0">
                <a:solidFill>
                  <a:srgbClr val="FF0000"/>
                </a:solidFill>
                <a:latin typeface="微软雅黑"/>
                <a:cs typeface="微软雅黑"/>
              </a:rPr>
              <a:t>个十进制数</a:t>
            </a:r>
            <a:r>
              <a:rPr sz="2100" spc="-50" dirty="0">
                <a:latin typeface="微软雅黑"/>
                <a:cs typeface="微软雅黑"/>
              </a:rPr>
              <a:t>。</a:t>
            </a:r>
            <a:endParaRPr sz="2100">
              <a:latin typeface="微软雅黑"/>
              <a:cs typeface="微软雅黑"/>
            </a:endParaRPr>
          </a:p>
          <a:p>
            <a:pPr marL="707390" lvl="1" indent="-169545">
              <a:lnSpc>
                <a:spcPct val="100000"/>
              </a:lnSpc>
              <a:spcBef>
                <a:spcPts val="2100"/>
              </a:spcBef>
              <a:buSzPct val="94285"/>
              <a:buFont typeface="Times New Roman"/>
              <a:buAutoNum type="arabicPeriod"/>
              <a:tabLst>
                <a:tab pos="707390" algn="l"/>
              </a:tabLst>
            </a:pPr>
            <a:r>
              <a:rPr sz="1750" b="1" dirty="0">
                <a:solidFill>
                  <a:srgbClr val="3E3E3E"/>
                </a:solidFill>
                <a:latin typeface="微软雅黑"/>
                <a:cs typeface="微软雅黑"/>
              </a:rPr>
              <a:t>设计一个三位数的</a:t>
            </a:r>
            <a:r>
              <a:rPr sz="1750" b="1" dirty="0">
                <a:solidFill>
                  <a:srgbClr val="3E3E3E"/>
                </a:solidFill>
                <a:latin typeface="Times New Roman"/>
                <a:cs typeface="Times New Roman"/>
              </a:rPr>
              <a:t>12</a:t>
            </a:r>
            <a:r>
              <a:rPr sz="1750" b="1" spc="-5" dirty="0">
                <a:solidFill>
                  <a:srgbClr val="3E3E3E"/>
                </a:solidFill>
                <a:latin typeface="微软雅黑"/>
                <a:cs typeface="微软雅黑"/>
              </a:rPr>
              <a:t>位增量器并推导代码。</a:t>
            </a:r>
            <a:endParaRPr sz="1750">
              <a:latin typeface="微软雅黑"/>
              <a:cs typeface="微软雅黑"/>
            </a:endParaRPr>
          </a:p>
          <a:p>
            <a:pPr marL="707390" lvl="1" indent="-169545">
              <a:lnSpc>
                <a:spcPct val="100000"/>
              </a:lnSpc>
              <a:spcBef>
                <a:spcPts val="919"/>
              </a:spcBef>
              <a:buSzPct val="94285"/>
              <a:buFont typeface="Times New Roman"/>
              <a:buAutoNum type="arabicPeriod"/>
              <a:tabLst>
                <a:tab pos="707390" algn="l"/>
              </a:tabLst>
            </a:pPr>
            <a:r>
              <a:rPr sz="1750" b="1" spc="-5" dirty="0">
                <a:solidFill>
                  <a:srgbClr val="3E3E3E"/>
                </a:solidFill>
                <a:latin typeface="微软雅黑"/>
                <a:cs typeface="微软雅黑"/>
              </a:rPr>
              <a:t>推导测试平台并采用仿真验证代码的操作。</a:t>
            </a:r>
            <a:endParaRPr sz="1750">
              <a:latin typeface="微软雅黑"/>
              <a:cs typeface="微软雅黑"/>
            </a:endParaRPr>
          </a:p>
          <a:p>
            <a:pPr marL="707390" lvl="1" indent="-169545">
              <a:lnSpc>
                <a:spcPct val="100000"/>
              </a:lnSpc>
              <a:spcBef>
                <a:spcPts val="920"/>
              </a:spcBef>
              <a:buSzPct val="94285"/>
              <a:buFont typeface="Times New Roman"/>
              <a:buAutoNum type="arabicPeriod"/>
              <a:tabLst>
                <a:tab pos="707390" algn="l"/>
              </a:tabLst>
            </a:pPr>
            <a:r>
              <a:rPr sz="1750" b="1" dirty="0">
                <a:solidFill>
                  <a:srgbClr val="3E3E3E"/>
                </a:solidFill>
                <a:latin typeface="微软雅黑"/>
                <a:cs typeface="微软雅黑"/>
              </a:rPr>
              <a:t>用七段</a:t>
            </a:r>
            <a:r>
              <a:rPr sz="1750" b="1" dirty="0">
                <a:solidFill>
                  <a:srgbClr val="3E3E3E"/>
                </a:solidFill>
                <a:latin typeface="Times New Roman"/>
                <a:cs typeface="Times New Roman"/>
              </a:rPr>
              <a:t>LED</a:t>
            </a:r>
            <a:r>
              <a:rPr sz="1750" b="1" spc="-5" dirty="0">
                <a:solidFill>
                  <a:srgbClr val="3E3E3E"/>
                </a:solidFill>
                <a:latin typeface="微软雅黑"/>
                <a:cs typeface="微软雅黑"/>
              </a:rPr>
              <a:t>数码管显示三位数，并推导代码。</a:t>
            </a:r>
            <a:endParaRPr sz="1750">
              <a:latin typeface="微软雅黑"/>
              <a:cs typeface="微软雅黑"/>
            </a:endParaRPr>
          </a:p>
          <a:p>
            <a:pPr marL="707390" lvl="1" indent="-169545">
              <a:lnSpc>
                <a:spcPct val="100000"/>
              </a:lnSpc>
              <a:spcBef>
                <a:spcPts val="910"/>
              </a:spcBef>
              <a:buSzPct val="94285"/>
              <a:buFont typeface="Times New Roman"/>
              <a:buAutoNum type="arabicPeriod"/>
              <a:tabLst>
                <a:tab pos="707390" algn="l"/>
              </a:tabLst>
            </a:pPr>
            <a:r>
              <a:rPr sz="1750" b="1" dirty="0">
                <a:solidFill>
                  <a:srgbClr val="3E3E3E"/>
                </a:solidFill>
                <a:latin typeface="微软雅黑"/>
                <a:cs typeface="微软雅黑"/>
              </a:rPr>
              <a:t>综合电路，编程</a:t>
            </a:r>
            <a:r>
              <a:rPr sz="1750" b="1" spc="-25" dirty="0">
                <a:solidFill>
                  <a:srgbClr val="3E3E3E"/>
                </a:solidFill>
                <a:latin typeface="Times New Roman"/>
                <a:cs typeface="Times New Roman"/>
              </a:rPr>
              <a:t>FPGA</a:t>
            </a:r>
            <a:r>
              <a:rPr sz="1750" b="1" spc="-10" dirty="0">
                <a:solidFill>
                  <a:srgbClr val="3E3E3E"/>
                </a:solidFill>
                <a:latin typeface="微软雅黑"/>
                <a:cs typeface="微软雅黑"/>
              </a:rPr>
              <a:t>并验证操作。</a:t>
            </a:r>
            <a:endParaRPr sz="175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231" y="1124966"/>
            <a:ext cx="2253615" cy="45339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3.7.4</a:t>
            </a:r>
            <a:r>
              <a:rPr spc="-5" dirty="0">
                <a:latin typeface="Times New Roman"/>
                <a:cs typeface="Times New Roman"/>
              </a:rPr>
              <a:t> </a:t>
            </a:r>
            <a:r>
              <a:rPr spc="-15" dirty="0"/>
              <a:t>比较电路</a:t>
            </a:r>
          </a:p>
        </p:txBody>
      </p:sp>
      <p:pic>
        <p:nvPicPr>
          <p:cNvPr id="3" name="object 3"/>
          <p:cNvPicPr/>
          <p:nvPr/>
        </p:nvPicPr>
        <p:blipFill>
          <a:blip r:embed="rId2" cstate="print"/>
          <a:stretch>
            <a:fillRect/>
          </a:stretch>
        </p:blipFill>
        <p:spPr>
          <a:xfrm>
            <a:off x="940556" y="3095207"/>
            <a:ext cx="166914" cy="162741"/>
          </a:xfrm>
          <a:prstGeom prst="rect">
            <a:avLst/>
          </a:prstGeom>
        </p:spPr>
      </p:pic>
      <p:pic>
        <p:nvPicPr>
          <p:cNvPr id="4" name="object 4"/>
          <p:cNvPicPr/>
          <p:nvPr/>
        </p:nvPicPr>
        <p:blipFill>
          <a:blip r:embed="rId3" cstate="print"/>
          <a:stretch>
            <a:fillRect/>
          </a:stretch>
        </p:blipFill>
        <p:spPr>
          <a:xfrm>
            <a:off x="940556" y="3535289"/>
            <a:ext cx="166914" cy="163086"/>
          </a:xfrm>
          <a:prstGeom prst="rect">
            <a:avLst/>
          </a:prstGeom>
        </p:spPr>
      </p:pic>
      <p:pic>
        <p:nvPicPr>
          <p:cNvPr id="5" name="object 5"/>
          <p:cNvPicPr/>
          <p:nvPr/>
        </p:nvPicPr>
        <p:blipFill>
          <a:blip r:embed="rId4" cstate="print"/>
          <a:stretch>
            <a:fillRect/>
          </a:stretch>
        </p:blipFill>
        <p:spPr>
          <a:xfrm>
            <a:off x="940556" y="3976478"/>
            <a:ext cx="166914" cy="162741"/>
          </a:xfrm>
          <a:prstGeom prst="rect">
            <a:avLst/>
          </a:prstGeom>
        </p:spPr>
      </p:pic>
      <p:pic>
        <p:nvPicPr>
          <p:cNvPr id="6" name="object 6"/>
          <p:cNvPicPr/>
          <p:nvPr/>
        </p:nvPicPr>
        <p:blipFill>
          <a:blip r:embed="rId5" cstate="print"/>
          <a:stretch>
            <a:fillRect/>
          </a:stretch>
        </p:blipFill>
        <p:spPr>
          <a:xfrm>
            <a:off x="940556" y="4421087"/>
            <a:ext cx="166914" cy="162741"/>
          </a:xfrm>
          <a:prstGeom prst="rect">
            <a:avLst/>
          </a:prstGeom>
        </p:spPr>
      </p:pic>
      <p:sp>
        <p:nvSpPr>
          <p:cNvPr id="7" name="object 7"/>
          <p:cNvSpPr txBox="1"/>
          <p:nvPr/>
        </p:nvSpPr>
        <p:spPr>
          <a:xfrm>
            <a:off x="703457" y="1858919"/>
            <a:ext cx="8642985" cy="2788920"/>
          </a:xfrm>
          <a:prstGeom prst="rect">
            <a:avLst/>
          </a:prstGeom>
        </p:spPr>
        <p:txBody>
          <a:bodyPr vert="horz" wrap="square" lIns="0" tIns="12065" rIns="0" bIns="0" rtlCol="0">
            <a:spAutoFit/>
          </a:bodyPr>
          <a:lstStyle/>
          <a:p>
            <a:pPr marL="212725" marR="5080" indent="-203200">
              <a:lnSpc>
                <a:spcPct val="150500"/>
              </a:lnSpc>
              <a:spcBef>
                <a:spcPts val="95"/>
              </a:spcBef>
              <a:buSzPct val="95238"/>
              <a:buFont typeface="Wingdings"/>
              <a:buChar char=""/>
              <a:tabLst>
                <a:tab pos="212725" algn="l"/>
                <a:tab pos="249554" algn="l"/>
              </a:tabLst>
            </a:pPr>
            <a:r>
              <a:rPr sz="2100" dirty="0">
                <a:latin typeface="微软雅黑"/>
                <a:cs typeface="微软雅黑"/>
              </a:rPr>
              <a:t>	在设计实例中所举的比较电路是基于</a:t>
            </a:r>
            <a:r>
              <a:rPr sz="2100" spc="-20" dirty="0">
                <a:latin typeface="Times New Roman"/>
                <a:cs typeface="Times New Roman"/>
              </a:rPr>
              <a:t>if</a:t>
            </a:r>
            <a:r>
              <a:rPr sz="2100" dirty="0">
                <a:latin typeface="微软雅黑"/>
                <a:cs typeface="微软雅黑"/>
              </a:rPr>
              <a:t>语句的，请思考如何用</a:t>
            </a:r>
            <a:r>
              <a:rPr sz="2100" spc="-20" dirty="0">
                <a:latin typeface="Times New Roman"/>
                <a:cs typeface="Times New Roman"/>
              </a:rPr>
              <a:t>case</a:t>
            </a:r>
            <a:r>
              <a:rPr sz="2100" spc="-20" dirty="0">
                <a:latin typeface="微软雅黑"/>
                <a:cs typeface="微软雅黑"/>
              </a:rPr>
              <a:t>语句写</a:t>
            </a:r>
            <a:r>
              <a:rPr sz="2100" spc="-10" dirty="0">
                <a:latin typeface="微软雅黑"/>
                <a:cs typeface="微软雅黑"/>
              </a:rPr>
              <a:t>出比较电路：</a:t>
            </a:r>
            <a:endParaRPr sz="2100">
              <a:latin typeface="微软雅黑"/>
              <a:cs typeface="微软雅黑"/>
            </a:endParaRPr>
          </a:p>
          <a:p>
            <a:pPr marL="638175" lvl="1" indent="-203200">
              <a:lnSpc>
                <a:spcPct val="100000"/>
              </a:lnSpc>
              <a:spcBef>
                <a:spcPts val="1220"/>
              </a:spcBef>
              <a:buSzPct val="95238"/>
              <a:buFont typeface="Times New Roman"/>
              <a:buAutoNum type="arabicPeriod"/>
              <a:tabLst>
                <a:tab pos="638175" algn="l"/>
              </a:tabLst>
            </a:pPr>
            <a:r>
              <a:rPr sz="2100" b="1" dirty="0">
                <a:solidFill>
                  <a:srgbClr val="3E3E3E"/>
                </a:solidFill>
                <a:latin typeface="微软雅黑"/>
                <a:cs typeface="微软雅黑"/>
              </a:rPr>
              <a:t>推出一个</a:t>
            </a:r>
            <a:r>
              <a:rPr sz="2100" b="1" dirty="0">
                <a:solidFill>
                  <a:srgbClr val="3E3E3E"/>
                </a:solidFill>
                <a:latin typeface="Times New Roman"/>
                <a:cs typeface="Times New Roman"/>
              </a:rPr>
              <a:t>2</a:t>
            </a:r>
            <a:r>
              <a:rPr sz="2100" b="1" spc="-15" dirty="0">
                <a:solidFill>
                  <a:srgbClr val="3E3E3E"/>
                </a:solidFill>
                <a:latin typeface="微软雅黑"/>
                <a:cs typeface="微软雅黑"/>
              </a:rPr>
              <a:t>位较大数判断电路的真值表。</a:t>
            </a:r>
            <a:endParaRPr sz="2100">
              <a:latin typeface="微软雅黑"/>
              <a:cs typeface="微软雅黑"/>
            </a:endParaRPr>
          </a:p>
          <a:p>
            <a:pPr marL="638175" lvl="1" indent="-203200">
              <a:lnSpc>
                <a:spcPct val="100000"/>
              </a:lnSpc>
              <a:spcBef>
                <a:spcPts val="960"/>
              </a:spcBef>
              <a:buSzPct val="95238"/>
              <a:buFont typeface="Times New Roman"/>
              <a:buAutoNum type="arabicPeriod"/>
              <a:tabLst>
                <a:tab pos="638175" algn="l"/>
              </a:tabLst>
            </a:pPr>
            <a:r>
              <a:rPr sz="2100" b="1" dirty="0">
                <a:solidFill>
                  <a:srgbClr val="3E3E3E"/>
                </a:solidFill>
                <a:latin typeface="微软雅黑"/>
                <a:cs typeface="微软雅黑"/>
              </a:rPr>
              <a:t>用</a:t>
            </a:r>
            <a:r>
              <a:rPr sz="2100" b="1" spc="-10" dirty="0">
                <a:solidFill>
                  <a:srgbClr val="3E3E3E"/>
                </a:solidFill>
                <a:latin typeface="Times New Roman"/>
                <a:cs typeface="Times New Roman"/>
              </a:rPr>
              <a:t>case</a:t>
            </a:r>
            <a:r>
              <a:rPr sz="2100" b="1" spc="-15" dirty="0">
                <a:solidFill>
                  <a:srgbClr val="3E3E3E"/>
                </a:solidFill>
                <a:latin typeface="微软雅黑"/>
                <a:cs typeface="微软雅黑"/>
              </a:rPr>
              <a:t>语句编写判断电路。</a:t>
            </a:r>
            <a:endParaRPr sz="2100">
              <a:latin typeface="微软雅黑"/>
              <a:cs typeface="微软雅黑"/>
            </a:endParaRPr>
          </a:p>
          <a:p>
            <a:pPr marL="638175" lvl="1" indent="-203200">
              <a:lnSpc>
                <a:spcPct val="100000"/>
              </a:lnSpc>
              <a:spcBef>
                <a:spcPts val="960"/>
              </a:spcBef>
              <a:buSzPct val="95238"/>
              <a:buFont typeface="Times New Roman"/>
              <a:buAutoNum type="arabicPeriod"/>
              <a:tabLst>
                <a:tab pos="638175" algn="l"/>
              </a:tabLst>
            </a:pPr>
            <a:r>
              <a:rPr sz="2100" b="1" dirty="0">
                <a:solidFill>
                  <a:srgbClr val="3E3E3E"/>
                </a:solidFill>
                <a:latin typeface="微软雅黑"/>
                <a:cs typeface="微软雅黑"/>
              </a:rPr>
              <a:t>用</a:t>
            </a:r>
            <a:r>
              <a:rPr sz="2100" b="1" dirty="0">
                <a:solidFill>
                  <a:srgbClr val="3E3E3E"/>
                </a:solidFill>
                <a:latin typeface="Times New Roman"/>
                <a:cs typeface="Times New Roman"/>
              </a:rPr>
              <a:t>Vivado</a:t>
            </a:r>
            <a:r>
              <a:rPr sz="2100" b="1" spc="-10" dirty="0">
                <a:solidFill>
                  <a:srgbClr val="3E3E3E"/>
                </a:solidFill>
                <a:latin typeface="微软雅黑"/>
                <a:cs typeface="微软雅黑"/>
              </a:rPr>
              <a:t>查看电路的</a:t>
            </a:r>
            <a:r>
              <a:rPr sz="2100" b="1" spc="-10" dirty="0">
                <a:solidFill>
                  <a:srgbClr val="3E3E3E"/>
                </a:solidFill>
                <a:latin typeface="Times New Roman"/>
                <a:cs typeface="Times New Roman"/>
              </a:rPr>
              <a:t>RTL</a:t>
            </a:r>
            <a:r>
              <a:rPr sz="2100" b="1" spc="-5" dirty="0">
                <a:solidFill>
                  <a:srgbClr val="3E3E3E"/>
                </a:solidFill>
                <a:latin typeface="微软雅黑"/>
                <a:cs typeface="微软雅黑"/>
              </a:rPr>
              <a:t>，思考</a:t>
            </a:r>
            <a:r>
              <a:rPr sz="2100" b="1" spc="-10" dirty="0">
                <a:solidFill>
                  <a:srgbClr val="3E3E3E"/>
                </a:solidFill>
                <a:latin typeface="Times New Roman"/>
                <a:cs typeface="Times New Roman"/>
              </a:rPr>
              <a:t>RTL</a:t>
            </a:r>
            <a:r>
              <a:rPr sz="2100" b="1" spc="-25" dirty="0">
                <a:solidFill>
                  <a:srgbClr val="3E3E3E"/>
                </a:solidFill>
                <a:latin typeface="微软雅黑"/>
                <a:cs typeface="微软雅黑"/>
              </a:rPr>
              <a:t>结果。</a:t>
            </a:r>
            <a:endParaRPr sz="2100">
              <a:latin typeface="微软雅黑"/>
              <a:cs typeface="微软雅黑"/>
            </a:endParaRPr>
          </a:p>
          <a:p>
            <a:pPr marL="638175" lvl="1" indent="-203200">
              <a:lnSpc>
                <a:spcPct val="100000"/>
              </a:lnSpc>
              <a:spcBef>
                <a:spcPts val="955"/>
              </a:spcBef>
              <a:buSzPct val="95238"/>
              <a:buFont typeface="Times New Roman"/>
              <a:buAutoNum type="arabicPeriod"/>
              <a:tabLst>
                <a:tab pos="638175" algn="l"/>
              </a:tabLst>
            </a:pPr>
            <a:r>
              <a:rPr sz="2100" b="1" spc="-15" dirty="0">
                <a:solidFill>
                  <a:srgbClr val="3E3E3E"/>
                </a:solidFill>
                <a:latin typeface="微软雅黑"/>
                <a:cs typeface="微软雅黑"/>
              </a:rPr>
              <a:t>仿真并且下载到板上验证</a:t>
            </a:r>
            <a:endParaRPr sz="210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17875" y="4695697"/>
            <a:ext cx="1723389" cy="29273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E3E3E"/>
                </a:solidFill>
                <a:latin typeface="Arial"/>
                <a:cs typeface="Arial"/>
                <a:hlinkClick r:id="rId2"/>
              </a:rPr>
              <a:t>xup@xilinx.com</a:t>
            </a:r>
            <a:endParaRPr sz="1750">
              <a:latin typeface="Arial"/>
              <a:cs typeface="Arial"/>
            </a:endParaRPr>
          </a:p>
        </p:txBody>
      </p:sp>
      <p:pic>
        <p:nvPicPr>
          <p:cNvPr id="3" name="object 3"/>
          <p:cNvPicPr/>
          <p:nvPr/>
        </p:nvPicPr>
        <p:blipFill>
          <a:blip r:embed="rId3" cstate="print"/>
          <a:stretch>
            <a:fillRect/>
          </a:stretch>
        </p:blipFill>
        <p:spPr>
          <a:xfrm>
            <a:off x="1775345" y="2769870"/>
            <a:ext cx="1887473" cy="1900427"/>
          </a:xfrm>
          <a:prstGeom prst="rect">
            <a:avLst/>
          </a:prstGeom>
        </p:spPr>
      </p:pic>
      <p:sp>
        <p:nvSpPr>
          <p:cNvPr id="4" name="object 4"/>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5" name="object 5"/>
          <p:cNvSpPr txBox="1"/>
          <p:nvPr/>
        </p:nvSpPr>
        <p:spPr>
          <a:xfrm>
            <a:off x="604399" y="6574090"/>
            <a:ext cx="124460" cy="125095"/>
          </a:xfrm>
          <a:prstGeom prst="rect">
            <a:avLst/>
          </a:prstGeom>
        </p:spPr>
        <p:txBody>
          <a:bodyPr vert="horz" wrap="square" lIns="0" tIns="4445" rIns="0" bIns="0" rtlCol="0">
            <a:spAutoFit/>
          </a:bodyPr>
          <a:lstStyle/>
          <a:p>
            <a:pPr marL="12700">
              <a:lnSpc>
                <a:spcPct val="100000"/>
              </a:lnSpc>
              <a:spcBef>
                <a:spcPts val="35"/>
              </a:spcBef>
            </a:pPr>
            <a:r>
              <a:rPr sz="700" spc="-25" dirty="0">
                <a:latin typeface="Arial"/>
                <a:cs typeface="Arial"/>
              </a:rPr>
              <a:t>84</a:t>
            </a:r>
            <a:endParaRPr sz="700">
              <a:latin typeface="Arial"/>
              <a:cs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934A37C65A7D66FCCD63B38A0D79685F23924E2AF86255C071EF3C13A8FC9686" val="[{&quot;GradientColorId&quot;:&quot;&quot;,&quot;IsFree&quot;:true,&quot;IsGradient&quot;:false,&quot;ImagePath&quot;:&quot;&quot;,&quot;GradientColor&quot;:null,&quot;SimpleColor&quot;:&quot;#FFC000&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E3E3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865</TotalTime>
  <Words>7866</Words>
  <Application>Microsoft Office PowerPoint</Application>
  <PresentationFormat>自定义</PresentationFormat>
  <Paragraphs>1544</Paragraphs>
  <Slides>86</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86</vt:i4>
      </vt:variant>
    </vt:vector>
  </HeadingPairs>
  <TitlesOfParts>
    <vt:vector size="98" baseType="lpstr">
      <vt:lpstr>等线</vt:lpstr>
      <vt:lpstr>黑体</vt:lpstr>
      <vt:lpstr>华文楷体</vt:lpstr>
      <vt:lpstr>宋体</vt:lpstr>
      <vt:lpstr>微软雅黑</vt:lpstr>
      <vt:lpstr>Arial</vt:lpstr>
      <vt:lpstr>Calibri</vt:lpstr>
      <vt:lpstr>Courier New</vt:lpstr>
      <vt:lpstr>Tahoma</vt:lpstr>
      <vt:lpstr>Times New Roman</vt:lpstr>
      <vt:lpstr>Wingdings</vt:lpstr>
      <vt:lpstr>Office Theme</vt:lpstr>
      <vt:lpstr>搭建你的数字积木</vt:lpstr>
      <vt:lpstr>组合逻辑电路设计基础</vt:lpstr>
      <vt:lpstr>本章学习导言</vt:lpstr>
      <vt:lpstr>主要内容</vt:lpstr>
      <vt:lpstr>3.1 组合电路中的always块</vt:lpstr>
      <vt:lpstr>3.1.1 基本语法格式</vt:lpstr>
      <vt:lpstr>3.1.1 基本语法格式</vt:lpstr>
      <vt:lpstr>3.1.1 基本语法格式</vt:lpstr>
      <vt:lpstr>3.1.2 过程赋值</vt:lpstr>
      <vt:lpstr>3.1.2 过程赋值</vt:lpstr>
      <vt:lpstr>3.1.2 过程赋值</vt:lpstr>
      <vt:lpstr>3.1.2 过程赋值</vt:lpstr>
      <vt:lpstr>3.1.3 变量的数据类型</vt:lpstr>
      <vt:lpstr>3.1.4 简单实例----1位比较器</vt:lpstr>
      <vt:lpstr>3.1.4 简单实例----1位比较器</vt:lpstr>
      <vt:lpstr>3.1.4 简单实例----过程赋值语句和持续赋值语句</vt:lpstr>
      <vt:lpstr>3.1.4 简单实例----过程赋值语句和持续赋值语句</vt:lpstr>
      <vt:lpstr>3.2 条件语句</vt:lpstr>
      <vt:lpstr>3.2.1 if-else语句----语法</vt:lpstr>
      <vt:lpstr>3.2.1 if-else语句----语法</vt:lpstr>
      <vt:lpstr>3.2.1 if-else语句----1位比较器的另一种实现</vt:lpstr>
      <vt:lpstr>3.2.1 if-else语句----实例</vt:lpstr>
      <vt:lpstr>3.2.1 if-else语句----实例</vt:lpstr>
      <vt:lpstr>3.2.1 if-else语句----实例</vt:lpstr>
      <vt:lpstr>3.2.1 if-else语句----实例</vt:lpstr>
      <vt:lpstr>3.2.2 case语句</vt:lpstr>
      <vt:lpstr>3.2.2.1 case语句语法</vt:lpstr>
      <vt:lpstr>3.2.2.2 case语句实例</vt:lpstr>
      <vt:lpstr>3.2.2.2 case语句实例</vt:lpstr>
      <vt:lpstr>3.2.2.3 casex 和casez 语句</vt:lpstr>
      <vt:lpstr>3.2.2.3 casex 和casez 语句</vt:lpstr>
      <vt:lpstr>3.2.2.4 full case和parallel case</vt:lpstr>
      <vt:lpstr>3.2.2.4 full case和parallel case</vt:lpstr>
      <vt:lpstr>3.3 循环语句</vt:lpstr>
      <vt:lpstr>3.3.1 for 语句</vt:lpstr>
      <vt:lpstr>3.3.1.2 for语句实例</vt:lpstr>
      <vt:lpstr>3.3.2 repeat语句-语法</vt:lpstr>
      <vt:lpstr>3.3.2 repeat语句-实例</vt:lpstr>
      <vt:lpstr>3.3.3 while语句---语法</vt:lpstr>
      <vt:lpstr>3.3.3 while语句---实例</vt:lpstr>
      <vt:lpstr>3.3.4 forever语句</vt:lpstr>
      <vt:lpstr>3.4 always块的一般编码原则</vt:lpstr>
      <vt:lpstr>3.4.1组合电路代码中的常见错误</vt:lpstr>
      <vt:lpstr>3.4.1组合电路代码中的常见错误</vt:lpstr>
      <vt:lpstr>3.4.1组合电路代码中的常见错误</vt:lpstr>
      <vt:lpstr>3.4.1组合电路代码中的常见错误</vt:lpstr>
      <vt:lpstr>3.4.1组合电路代码中的常见错误</vt:lpstr>
      <vt:lpstr>3.4.1组合电路代码中的常见错误</vt:lpstr>
      <vt:lpstr>3.4.1组合电路代码中的常见错误</vt:lpstr>
      <vt:lpstr>3.4.1组合电路代码中的常见错误</vt:lpstr>
      <vt:lpstr>3.4.2 组合电路中always块的使用原则</vt:lpstr>
      <vt:lpstr>3.5.1 常数</vt:lpstr>
      <vt:lpstr>3.5.1 常数</vt:lpstr>
      <vt:lpstr>3.5.1 常数</vt:lpstr>
      <vt:lpstr>3.5.2 参数</vt:lpstr>
      <vt:lpstr>3.5.2 参数</vt:lpstr>
      <vt:lpstr>3.5.2 参数</vt:lpstr>
      <vt:lpstr>3.6 设计实例</vt:lpstr>
      <vt:lpstr>3.6.1 多路选择器</vt:lpstr>
      <vt:lpstr>3.6.1 多路选择器</vt:lpstr>
      <vt:lpstr>3.6.1 多路选择器</vt:lpstr>
      <vt:lpstr>3.6.2 比较器</vt:lpstr>
      <vt:lpstr>3.6.2 比较器</vt:lpstr>
      <vt:lpstr>3.6.2 比较器</vt:lpstr>
      <vt:lpstr>3.6.2 比较器</vt:lpstr>
      <vt:lpstr>3.6.3译码器和编码器</vt:lpstr>
      <vt:lpstr>3.6.3译码器和编码器</vt:lpstr>
      <vt:lpstr>3.6.3译码器和编码器</vt:lpstr>
      <vt:lpstr>3.6.3译码器和编码器</vt:lpstr>
      <vt:lpstr>3、8-3优先编码器</vt:lpstr>
      <vt:lpstr>3.6.3译码器和编码器</vt:lpstr>
      <vt:lpstr>3.6.4：十六进制数七段LED显示译码器</vt:lpstr>
      <vt:lpstr>3.6.4 十六进制数七段LED显示译码器</vt:lpstr>
      <vt:lpstr>3.6.4 十六进制数七段LED显示译码器</vt:lpstr>
      <vt:lpstr>3.6.4 十六进制数七段LED显示译码器</vt:lpstr>
      <vt:lpstr>3.6.5 二进制—BCD码转换器</vt:lpstr>
      <vt:lpstr>3.6.5 二进制—BCD码转换器</vt:lpstr>
      <vt:lpstr>3.6.5 二进制—BCD码转换器</vt:lpstr>
      <vt:lpstr>3.6.5 二进制—BCD码转换器</vt:lpstr>
      <vt:lpstr>3.6.5 二进制—BCD码转换器</vt:lpstr>
      <vt:lpstr>3.7 练习题</vt:lpstr>
      <vt:lpstr>3.7.1 格雷码转换</vt:lpstr>
      <vt:lpstr>3.7.2 双优先编码器</vt:lpstr>
      <vt:lpstr>3.7.3 BCD增量器</vt:lpstr>
      <vt:lpstr>3.7.4 比较电路</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&lt;4D6963726F736F667420506F776572506F696E74202D20322ED7E9BACFC2DFBCADB5E7C2B7C9E8BCC6BBF9B4A12E70707478&gt;</dc:title>
  <dc:creator>zhang</dc:creator>
  <cp:lastModifiedBy>Tianyi Chen</cp:lastModifiedBy>
  <cp:revision>39</cp:revision>
  <dcterms:created xsi:type="dcterms:W3CDTF">2024-08-19T07:25:43Z</dcterms:created>
  <dcterms:modified xsi:type="dcterms:W3CDTF">2026-08-19T03:07:04Z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2024-06-28T00:00:00Z</vt:filetime>
  </property>
  <property fmtid="{D5CDD505-2E9C-101B-9397-08002B2CF9AE}" pid="3" name="Creator">
    <vt:lpwstr>PScript5.dll Version 5.2.2</vt:lpwstr>
  </property>
  <property fmtid="{D5CDD505-2E9C-101B-9397-08002B2CF9AE}" pid="4" name="LastSaved">
    <vt:filetime>2024-08-19T00:00:00Z</vt:filetime>
  </property>
  <property fmtid="{D5CDD505-2E9C-101B-9397-08002B2CF9AE}" pid="5" name="Producer">
    <vt:lpwstr>Acrobat Distiller 23.0 (Windows)</vt:lpwstr>
  </property>
</Properties>
</file>
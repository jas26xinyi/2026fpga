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198" autoAdjust="0"/>
  </p:normalViewPr>
  <p:slideViewPr>
    <p:cSldViewPr>
      <p:cViewPr varScale="1">
        <p:scale>
          <a:sx n="78" d="100"/>
          <a:sy n="78" d="100"/>
        </p:scale>
        <p:origin x="1452"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92719396-D62B-469E-8DCB-AAF244E1B3F5}" type="datetimeFigureOut">
              <a:rPr lang="zh-CN" altLang="en-US" smtClean="0"/>
              <a:t>2026/8/27</a:t>
            </a:fld>
            <a:endParaRPr lang="zh-CN" altLang="en-US"/>
          </a:p>
        </p:txBody>
      </p:sp>
      <p:sp>
        <p:nvSpPr>
          <p:cNvPr id="4" name="幻灯片图像占位符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59D72CB9-FB20-478D-869E-D905C5FAA4AD}" type="slidenum">
              <a:rPr lang="zh-CN" altLang="en-US" smtClean="0"/>
              <a:t>‹#›</a:t>
            </a:fld>
            <a:endParaRPr lang="zh-CN" altLang="en-US"/>
          </a:p>
        </p:txBody>
      </p:sp>
    </p:spTree>
    <p:extLst>
      <p:ext uri="{BB962C8B-B14F-4D97-AF65-F5344CB8AC3E}">
        <p14:creationId xmlns:p14="http://schemas.microsoft.com/office/powerpoint/2010/main" val="81764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9D72CB9-FB20-478D-869E-D905C5FAA4AD}" type="slidenum">
              <a:rPr lang="zh-CN" altLang="en-US" smtClean="0"/>
              <a:t>30</a:t>
            </a:fld>
            <a:endParaRPr lang="zh-CN" altLang="en-US"/>
          </a:p>
        </p:txBody>
      </p:sp>
    </p:spTree>
    <p:extLst>
      <p:ext uri="{BB962C8B-B14F-4D97-AF65-F5344CB8AC3E}">
        <p14:creationId xmlns:p14="http://schemas.microsoft.com/office/powerpoint/2010/main" val="2004767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2800" b="0" i="0">
                <a:solidFill>
                  <a:srgbClr val="3F3F3F"/>
                </a:solidFill>
                <a:latin typeface="微软雅黑"/>
                <a:cs typeface="微软雅黑"/>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750" b="0" i="0">
                <a:solidFill>
                  <a:schemeClr val="tx1"/>
                </a:solidFill>
                <a:latin typeface="微软雅黑"/>
                <a:cs typeface="微软雅黑"/>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6" name="Holder 6"/>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F3F3F"/>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1750" b="0" i="0">
                <a:solidFill>
                  <a:schemeClr val="tx1"/>
                </a:solidFill>
                <a:latin typeface="微软雅黑"/>
                <a:cs typeface="微软雅黑"/>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6" name="Holder 6"/>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F3F3F"/>
                </a:solidFill>
                <a:latin typeface="微软雅黑"/>
                <a:cs typeface="微软雅黑"/>
              </a:defRPr>
            </a:lvl1pPr>
          </a:lstStyle>
          <a:p>
            <a:endParaRPr/>
          </a:p>
        </p:txBody>
      </p:sp>
      <p:sp>
        <p:nvSpPr>
          <p:cNvPr id="3" name="Holder 3"/>
          <p:cNvSpPr>
            <a:spLocks noGrp="1"/>
          </p:cNvSpPr>
          <p:nvPr>
            <p:ph sz="half" idx="2"/>
          </p:nvPr>
        </p:nvSpPr>
        <p:spPr>
          <a:xfrm>
            <a:off x="558431" y="1566672"/>
            <a:ext cx="4593590" cy="4937759"/>
          </a:xfrm>
          <a:prstGeom prst="rect">
            <a:avLst/>
          </a:prstGeom>
        </p:spPr>
        <p:txBody>
          <a:bodyPr wrap="square" lIns="0" tIns="0" rIns="0" bIns="0">
            <a:spAutoFit/>
          </a:bodyPr>
          <a:lstStyle>
            <a:lvl1pPr>
              <a:defRPr sz="1550" b="0" i="0">
                <a:solidFill>
                  <a:schemeClr val="tx1"/>
                </a:solidFill>
                <a:latin typeface="Arial"/>
                <a:cs typeface="Arial"/>
              </a:defRPr>
            </a:lvl1pPr>
          </a:lstStyle>
          <a:p>
            <a:endParaRPr/>
          </a:p>
        </p:txBody>
      </p:sp>
      <p:sp>
        <p:nvSpPr>
          <p:cNvPr id="4" name="Holder 4"/>
          <p:cNvSpPr>
            <a:spLocks noGrp="1"/>
          </p:cNvSpPr>
          <p:nvPr>
            <p:ph sz="half" idx="3"/>
          </p:nvPr>
        </p:nvSpPr>
        <p:spPr>
          <a:xfrm>
            <a:off x="5501519" y="1696465"/>
            <a:ext cx="4280534" cy="4429125"/>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7" name="Holder 7"/>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64527" y="771905"/>
            <a:ext cx="10128885" cy="134620"/>
          </a:xfrm>
          <a:custGeom>
            <a:avLst/>
            <a:gdLst/>
            <a:ahLst/>
            <a:cxnLst/>
            <a:rect l="l" t="t" r="r" b="b"/>
            <a:pathLst>
              <a:path w="10128885" h="134619">
                <a:moveTo>
                  <a:pt x="10128631" y="134111"/>
                </a:moveTo>
                <a:lnTo>
                  <a:pt x="10128631" y="0"/>
                </a:lnTo>
                <a:lnTo>
                  <a:pt x="0" y="0"/>
                </a:lnTo>
                <a:lnTo>
                  <a:pt x="0" y="134112"/>
                </a:lnTo>
                <a:lnTo>
                  <a:pt x="10128631" y="134111"/>
                </a:lnTo>
                <a:close/>
              </a:path>
            </a:pathLst>
          </a:custGeom>
          <a:solidFill>
            <a:srgbClr val="585858"/>
          </a:solidFill>
        </p:spPr>
        <p:txBody>
          <a:bodyPr wrap="square" lIns="0" tIns="0" rIns="0" bIns="0" rtlCol="0"/>
          <a:lstStyle/>
          <a:p>
            <a:endParaRPr/>
          </a:p>
        </p:txBody>
      </p:sp>
      <p:sp>
        <p:nvSpPr>
          <p:cNvPr id="17" name="bg object 17"/>
          <p:cNvSpPr/>
          <p:nvPr/>
        </p:nvSpPr>
        <p:spPr>
          <a:xfrm>
            <a:off x="1403" y="771905"/>
            <a:ext cx="563245" cy="134620"/>
          </a:xfrm>
          <a:custGeom>
            <a:avLst/>
            <a:gdLst/>
            <a:ahLst/>
            <a:cxnLst/>
            <a:rect l="l" t="t" r="r" b="b"/>
            <a:pathLst>
              <a:path w="563245" h="134619">
                <a:moveTo>
                  <a:pt x="563118" y="134112"/>
                </a:moveTo>
                <a:lnTo>
                  <a:pt x="563118" y="0"/>
                </a:lnTo>
                <a:lnTo>
                  <a:pt x="0" y="0"/>
                </a:lnTo>
                <a:lnTo>
                  <a:pt x="0" y="134112"/>
                </a:lnTo>
                <a:lnTo>
                  <a:pt x="563118" y="134112"/>
                </a:lnTo>
                <a:close/>
              </a:path>
            </a:pathLst>
          </a:custGeom>
          <a:solidFill>
            <a:srgbClr val="FF0000"/>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1403" y="2786633"/>
            <a:ext cx="10691622" cy="1799844"/>
          </a:xfrm>
          <a:prstGeom prst="rect">
            <a:avLst/>
          </a:prstGeom>
        </p:spPr>
      </p:pic>
      <p:sp>
        <p:nvSpPr>
          <p:cNvPr id="19" name="bg object 19"/>
          <p:cNvSpPr/>
          <p:nvPr/>
        </p:nvSpPr>
        <p:spPr>
          <a:xfrm>
            <a:off x="761" y="2786633"/>
            <a:ext cx="118110" cy="1800225"/>
          </a:xfrm>
          <a:custGeom>
            <a:avLst/>
            <a:gdLst/>
            <a:ahLst/>
            <a:cxnLst/>
            <a:rect l="l" t="t" r="r" b="b"/>
            <a:pathLst>
              <a:path w="118110" h="1800225">
                <a:moveTo>
                  <a:pt x="117990" y="1799844"/>
                </a:moveTo>
                <a:lnTo>
                  <a:pt x="117990" y="0"/>
                </a:lnTo>
                <a:lnTo>
                  <a:pt x="0" y="0"/>
                </a:lnTo>
                <a:lnTo>
                  <a:pt x="0" y="1799844"/>
                </a:lnTo>
                <a:lnTo>
                  <a:pt x="117990" y="1799844"/>
                </a:lnTo>
                <a:close/>
              </a:path>
            </a:pathLst>
          </a:custGeom>
          <a:solidFill>
            <a:srgbClr val="FF0000"/>
          </a:solidFill>
        </p:spPr>
        <p:txBody>
          <a:bodyPr wrap="square" lIns="0" tIns="0" rIns="0" bIns="0" rtlCol="0"/>
          <a:lstStyle/>
          <a:p>
            <a:endParaRPr/>
          </a:p>
        </p:txBody>
      </p:sp>
      <p:sp>
        <p:nvSpPr>
          <p:cNvPr id="20" name="bg object 20"/>
          <p:cNvSpPr/>
          <p:nvPr/>
        </p:nvSpPr>
        <p:spPr>
          <a:xfrm>
            <a:off x="1403" y="771905"/>
            <a:ext cx="10692130" cy="284480"/>
          </a:xfrm>
          <a:custGeom>
            <a:avLst/>
            <a:gdLst/>
            <a:ahLst/>
            <a:cxnLst/>
            <a:rect l="l" t="t" r="r" b="b"/>
            <a:pathLst>
              <a:path w="10692130" h="284480">
                <a:moveTo>
                  <a:pt x="10691749" y="284225"/>
                </a:moveTo>
                <a:lnTo>
                  <a:pt x="10691749" y="0"/>
                </a:lnTo>
                <a:lnTo>
                  <a:pt x="0" y="0"/>
                </a:lnTo>
                <a:lnTo>
                  <a:pt x="0" y="284226"/>
                </a:lnTo>
                <a:lnTo>
                  <a:pt x="10691749" y="284225"/>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800" b="0" i="0">
                <a:solidFill>
                  <a:srgbClr val="3F3F3F"/>
                </a:solidFill>
                <a:latin typeface="微软雅黑"/>
                <a:cs typeface="微软雅黑"/>
              </a:defRPr>
            </a:lvl1pPr>
          </a:lstStyle>
          <a:p>
            <a:endParaRPr/>
          </a:p>
        </p:txBody>
      </p:sp>
      <p:sp>
        <p:nvSpPr>
          <p:cNvPr id="3" name="Holder 3"/>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5" name="Holder 5"/>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4" name="Holder 4"/>
          <p:cNvSpPr>
            <a:spLocks noGrp="1"/>
          </p:cNvSpPr>
          <p:nvPr>
            <p:ph type="sldNum" sz="quarter" idx="7"/>
          </p:nvPr>
        </p:nvSpPr>
        <p:spPr/>
        <p:txBody>
          <a:bodyPr lIns="0" tIns="0" rIns="0" bIns="0"/>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64527" y="771905"/>
            <a:ext cx="10128885" cy="134620"/>
          </a:xfrm>
          <a:custGeom>
            <a:avLst/>
            <a:gdLst/>
            <a:ahLst/>
            <a:cxnLst/>
            <a:rect l="l" t="t" r="r" b="b"/>
            <a:pathLst>
              <a:path w="10128885" h="134619">
                <a:moveTo>
                  <a:pt x="10128631" y="134111"/>
                </a:moveTo>
                <a:lnTo>
                  <a:pt x="10128631" y="0"/>
                </a:lnTo>
                <a:lnTo>
                  <a:pt x="0" y="0"/>
                </a:lnTo>
                <a:lnTo>
                  <a:pt x="0" y="134112"/>
                </a:lnTo>
                <a:lnTo>
                  <a:pt x="10128631" y="134111"/>
                </a:lnTo>
                <a:close/>
              </a:path>
            </a:pathLst>
          </a:custGeom>
          <a:solidFill>
            <a:srgbClr val="585858"/>
          </a:solidFill>
        </p:spPr>
        <p:txBody>
          <a:bodyPr wrap="square" lIns="0" tIns="0" rIns="0" bIns="0" rtlCol="0"/>
          <a:lstStyle/>
          <a:p>
            <a:endParaRPr/>
          </a:p>
        </p:txBody>
      </p:sp>
      <p:sp>
        <p:nvSpPr>
          <p:cNvPr id="17" name="bg object 17"/>
          <p:cNvSpPr/>
          <p:nvPr/>
        </p:nvSpPr>
        <p:spPr>
          <a:xfrm>
            <a:off x="1403" y="771905"/>
            <a:ext cx="563245" cy="134620"/>
          </a:xfrm>
          <a:custGeom>
            <a:avLst/>
            <a:gdLst/>
            <a:ahLst/>
            <a:cxnLst/>
            <a:rect l="l" t="t" r="r" b="b"/>
            <a:pathLst>
              <a:path w="563245" h="134619">
                <a:moveTo>
                  <a:pt x="563118" y="134112"/>
                </a:moveTo>
                <a:lnTo>
                  <a:pt x="563118" y="0"/>
                </a:lnTo>
                <a:lnTo>
                  <a:pt x="0" y="0"/>
                </a:lnTo>
                <a:lnTo>
                  <a:pt x="0" y="134112"/>
                </a:lnTo>
                <a:lnTo>
                  <a:pt x="563118" y="134112"/>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523627" y="1072387"/>
            <a:ext cx="4222115" cy="453390"/>
          </a:xfrm>
          <a:prstGeom prst="rect">
            <a:avLst/>
          </a:prstGeom>
        </p:spPr>
        <p:txBody>
          <a:bodyPr wrap="square" lIns="0" tIns="0" rIns="0" bIns="0">
            <a:spAutoFit/>
          </a:bodyPr>
          <a:lstStyle>
            <a:lvl1pPr>
              <a:defRPr sz="2800" b="0" i="0">
                <a:solidFill>
                  <a:srgbClr val="3F3F3F"/>
                </a:solidFill>
                <a:latin typeface="微软雅黑"/>
                <a:cs typeface="微软雅黑"/>
              </a:defRPr>
            </a:lvl1pPr>
          </a:lstStyle>
          <a:p>
            <a:endParaRPr/>
          </a:p>
        </p:txBody>
      </p:sp>
      <p:sp>
        <p:nvSpPr>
          <p:cNvPr id="3" name="Holder 3"/>
          <p:cNvSpPr>
            <a:spLocks noGrp="1"/>
          </p:cNvSpPr>
          <p:nvPr>
            <p:ph type="body" idx="1"/>
          </p:nvPr>
        </p:nvSpPr>
        <p:spPr>
          <a:xfrm>
            <a:off x="396367" y="1731816"/>
            <a:ext cx="5711190" cy="2430779"/>
          </a:xfrm>
          <a:prstGeom prst="rect">
            <a:avLst/>
          </a:prstGeom>
        </p:spPr>
        <p:txBody>
          <a:bodyPr wrap="square" lIns="0" tIns="0" rIns="0" bIns="0">
            <a:spAutoFit/>
          </a:bodyPr>
          <a:lstStyle>
            <a:lvl1pPr>
              <a:defRPr sz="1750" b="0" i="0">
                <a:solidFill>
                  <a:schemeClr val="tx1"/>
                </a:solidFill>
                <a:latin typeface="微软雅黑"/>
                <a:cs typeface="微软雅黑"/>
              </a:defRPr>
            </a:lvl1pPr>
          </a:lstStyle>
          <a:p>
            <a:endParaRPr/>
          </a:p>
        </p:txBody>
      </p:sp>
      <p:sp>
        <p:nvSpPr>
          <p:cNvPr id="4" name="Holder 4"/>
          <p:cNvSpPr>
            <a:spLocks noGrp="1"/>
          </p:cNvSpPr>
          <p:nvPr>
            <p:ph type="ftr" sz="quarter" idx="5"/>
          </p:nvPr>
        </p:nvSpPr>
        <p:spPr>
          <a:xfrm>
            <a:off x="8029327" y="6508039"/>
            <a:ext cx="2454909" cy="260984"/>
          </a:xfrm>
          <a:prstGeom prst="rect">
            <a:avLst/>
          </a:prstGeom>
        </p:spPr>
        <p:txBody>
          <a:bodyPr wrap="square" lIns="0" tIns="0" rIns="0" bIns="0">
            <a:spAutoFit/>
          </a:bodyPr>
          <a:lstStyle>
            <a:lvl1pPr>
              <a:defRPr sz="1400" b="1" i="0">
                <a:solidFill>
                  <a:srgbClr val="3F3F3F"/>
                </a:solidFill>
                <a:latin typeface="微软雅黑"/>
                <a:cs typeface="微软雅黑"/>
              </a:defRPr>
            </a:lvl1pPr>
          </a:lstStyle>
          <a:p>
            <a:pPr marL="12700">
              <a:lnSpc>
                <a:spcPct val="100000"/>
              </a:lnSpc>
              <a:spcBef>
                <a:spcPts val="185"/>
              </a:spcBef>
            </a:pPr>
            <a:r>
              <a:rPr dirty="0"/>
              <a:t>Xilinx</a:t>
            </a:r>
            <a:r>
              <a:rPr spc="-5" dirty="0"/>
              <a:t> 大学合作部 </a:t>
            </a:r>
            <a:r>
              <a:rPr dirty="0"/>
              <a:t>&amp;</a:t>
            </a:r>
            <a:r>
              <a:rPr spc="-10" dirty="0"/>
              <a:t> 东南大学</a:t>
            </a: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8/27/2026</a:t>
            </a:fld>
            <a:endParaRPr lang="en-US"/>
          </a:p>
        </p:txBody>
      </p:sp>
      <p:sp>
        <p:nvSpPr>
          <p:cNvPr id="6" name="Holder 6"/>
          <p:cNvSpPr>
            <a:spLocks noGrp="1"/>
          </p:cNvSpPr>
          <p:nvPr>
            <p:ph type="sldNum" sz="quarter" idx="7"/>
          </p:nvPr>
        </p:nvSpPr>
        <p:spPr>
          <a:xfrm>
            <a:off x="578999" y="6574090"/>
            <a:ext cx="139065" cy="125095"/>
          </a:xfrm>
          <a:prstGeom prst="rect">
            <a:avLst/>
          </a:prstGeom>
        </p:spPr>
        <p:txBody>
          <a:bodyPr wrap="square" lIns="0" tIns="0" rIns="0" bIns="0">
            <a:spAutoFit/>
          </a:bodyPr>
          <a:lstStyle>
            <a:lvl1pPr>
              <a:defRPr sz="700" b="0" i="0">
                <a:solidFill>
                  <a:schemeClr val="tx1"/>
                </a:solidFill>
                <a:latin typeface="Arial"/>
                <a:cs typeface="Arial"/>
              </a:defRPr>
            </a:lvl1pPr>
          </a:lstStyle>
          <a:p>
            <a:pPr marL="38100">
              <a:lnSpc>
                <a:spcPct val="100000"/>
              </a:lnSpc>
              <a:spcBef>
                <a:spcPts val="3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jpg"/><Relationship Id="rId4" Type="http://schemas.openxmlformats.org/officeDocument/2006/relationships/image" Target="../media/image30.jpg"/></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mailto:xup@xilinx.com" TargetMode="External"/><Relationship Id="rId2" Type="http://schemas.openxmlformats.org/officeDocument/2006/relationships/image" Target="../media/image43.jpg"/><Relationship Id="rId1" Type="http://schemas.openxmlformats.org/officeDocument/2006/relationships/slideLayout" Target="../slideLayouts/slideLayout5.xml"/><Relationship Id="rId4" Type="http://schemas.openxmlformats.org/officeDocument/2006/relationships/image" Target="../media/image4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9081" y="1819910"/>
            <a:ext cx="4302760" cy="667385"/>
          </a:xfrm>
          <a:prstGeom prst="rect">
            <a:avLst/>
          </a:prstGeom>
        </p:spPr>
        <p:txBody>
          <a:bodyPr vert="horz" wrap="square" lIns="0" tIns="13970" rIns="0" bIns="0" rtlCol="0">
            <a:spAutoFit/>
          </a:bodyPr>
          <a:lstStyle/>
          <a:p>
            <a:pPr marL="12700">
              <a:lnSpc>
                <a:spcPct val="100000"/>
              </a:lnSpc>
              <a:spcBef>
                <a:spcPts val="110"/>
              </a:spcBef>
            </a:pPr>
            <a:r>
              <a:rPr sz="4200" b="1" spc="-20" dirty="0">
                <a:solidFill>
                  <a:srgbClr val="6F2FA0"/>
                </a:solidFill>
                <a:latin typeface="微软雅黑"/>
                <a:cs typeface="微软雅黑"/>
              </a:rPr>
              <a:t>搭建你的数字积木</a:t>
            </a:r>
            <a:endParaRPr sz="4200">
              <a:latin typeface="微软雅黑"/>
              <a:cs typeface="微软雅黑"/>
            </a:endParaRPr>
          </a:p>
        </p:txBody>
      </p:sp>
      <p:sp>
        <p:nvSpPr>
          <p:cNvPr id="3" name="object 3"/>
          <p:cNvSpPr txBox="1"/>
          <p:nvPr/>
        </p:nvSpPr>
        <p:spPr>
          <a:xfrm>
            <a:off x="1234573" y="2466086"/>
            <a:ext cx="4558030" cy="2202815"/>
          </a:xfrm>
          <a:prstGeom prst="rect">
            <a:avLst/>
          </a:prstGeom>
        </p:spPr>
        <p:txBody>
          <a:bodyPr vert="horz" wrap="square" lIns="0" tIns="16510" rIns="0" bIns="0" rtlCol="0">
            <a:spAutoFit/>
          </a:bodyPr>
          <a:lstStyle/>
          <a:p>
            <a:pPr marL="281940">
              <a:lnSpc>
                <a:spcPct val="100000"/>
              </a:lnSpc>
              <a:spcBef>
                <a:spcPts val="130"/>
              </a:spcBef>
            </a:pPr>
            <a:r>
              <a:rPr sz="3300" b="1" spc="-15" dirty="0">
                <a:solidFill>
                  <a:srgbClr val="6F2FA0"/>
                </a:solidFill>
                <a:latin typeface="微软雅黑"/>
                <a:cs typeface="微软雅黑"/>
              </a:rPr>
              <a:t>—数字电路与逻辑设计</a:t>
            </a:r>
            <a:endParaRPr sz="3300">
              <a:latin typeface="微软雅黑"/>
              <a:cs typeface="微软雅黑"/>
            </a:endParaRPr>
          </a:p>
          <a:p>
            <a:pPr marL="12700">
              <a:lnSpc>
                <a:spcPct val="100000"/>
              </a:lnSpc>
              <a:spcBef>
                <a:spcPts val="35"/>
              </a:spcBef>
            </a:pPr>
            <a:r>
              <a:rPr sz="2800" b="1" dirty="0">
                <a:solidFill>
                  <a:srgbClr val="3F3F3F"/>
                </a:solidFill>
                <a:latin typeface="微软雅黑"/>
                <a:cs typeface="微软雅黑"/>
              </a:rPr>
              <a:t>（</a:t>
            </a:r>
            <a:r>
              <a:rPr sz="2800" b="1" dirty="0">
                <a:solidFill>
                  <a:srgbClr val="3F3F3F"/>
                </a:solidFill>
                <a:latin typeface="Arial"/>
                <a:cs typeface="Arial"/>
              </a:rPr>
              <a:t>Verilog</a:t>
            </a:r>
            <a:r>
              <a:rPr sz="2800" b="1" spc="-20" dirty="0">
                <a:solidFill>
                  <a:srgbClr val="3F3F3F"/>
                </a:solidFill>
                <a:latin typeface="Arial"/>
                <a:cs typeface="Arial"/>
              </a:rPr>
              <a:t> </a:t>
            </a:r>
            <a:r>
              <a:rPr sz="2800" b="1" spc="-10" dirty="0">
                <a:solidFill>
                  <a:srgbClr val="3F3F3F"/>
                </a:solidFill>
                <a:latin typeface="Arial"/>
                <a:cs typeface="Arial"/>
              </a:rPr>
              <a:t>HDL&amp;Vivado</a:t>
            </a:r>
            <a:r>
              <a:rPr sz="2800" b="1" spc="-10" dirty="0">
                <a:solidFill>
                  <a:srgbClr val="3F3F3F"/>
                </a:solidFill>
                <a:latin typeface="微软雅黑"/>
                <a:cs typeface="微软雅黑"/>
              </a:rPr>
              <a:t>版</a:t>
            </a:r>
            <a:r>
              <a:rPr sz="2800" b="1" spc="-50" dirty="0">
                <a:solidFill>
                  <a:srgbClr val="3F3F3F"/>
                </a:solidFill>
                <a:latin typeface="微软雅黑"/>
                <a:cs typeface="微软雅黑"/>
              </a:rPr>
              <a:t>）</a:t>
            </a:r>
            <a:endParaRPr sz="2800">
              <a:latin typeface="微软雅黑"/>
              <a:cs typeface="微软雅黑"/>
            </a:endParaRPr>
          </a:p>
          <a:p>
            <a:pPr marL="1935480">
              <a:lnSpc>
                <a:spcPct val="100000"/>
              </a:lnSpc>
            </a:pPr>
            <a:r>
              <a:rPr sz="2800" b="1" spc="-10" dirty="0">
                <a:solidFill>
                  <a:srgbClr val="C00000"/>
                </a:solidFill>
                <a:latin typeface="微软雅黑"/>
                <a:cs typeface="微软雅黑"/>
              </a:rPr>
              <a:t>— 参考课件</a:t>
            </a:r>
            <a:r>
              <a:rPr sz="2800" b="1" spc="-25" dirty="0">
                <a:solidFill>
                  <a:srgbClr val="C00000"/>
                </a:solidFill>
                <a:latin typeface="微软雅黑"/>
                <a:cs typeface="微软雅黑"/>
              </a:rPr>
              <a:t>PPT</a:t>
            </a:r>
            <a:endParaRPr sz="2800">
              <a:latin typeface="微软雅黑"/>
              <a:cs typeface="微软雅黑"/>
            </a:endParaRPr>
          </a:p>
          <a:p>
            <a:pPr marL="368935">
              <a:lnSpc>
                <a:spcPct val="100000"/>
              </a:lnSpc>
              <a:spcBef>
                <a:spcPts val="3454"/>
              </a:spcBef>
            </a:pPr>
            <a:r>
              <a:rPr sz="2450" b="1" spc="-5" dirty="0">
                <a:solidFill>
                  <a:srgbClr val="7E7E7E"/>
                </a:solidFill>
                <a:latin typeface="微软雅黑"/>
                <a:cs typeface="微软雅黑"/>
              </a:rPr>
              <a:t>东南大学 </a:t>
            </a:r>
            <a:r>
              <a:rPr sz="2450" b="1" dirty="0">
                <a:solidFill>
                  <a:srgbClr val="7E7E7E"/>
                </a:solidFill>
                <a:latin typeface="微软雅黑"/>
                <a:cs typeface="微软雅黑"/>
              </a:rPr>
              <a:t>&amp;</a:t>
            </a:r>
            <a:r>
              <a:rPr sz="2450" b="1" spc="-10" dirty="0">
                <a:solidFill>
                  <a:srgbClr val="7E7E7E"/>
                </a:solidFill>
                <a:latin typeface="微软雅黑"/>
                <a:cs typeface="微软雅黑"/>
              </a:rPr>
              <a:t> </a:t>
            </a:r>
            <a:r>
              <a:rPr sz="2450" b="1" dirty="0">
                <a:solidFill>
                  <a:srgbClr val="7E7E7E"/>
                </a:solidFill>
                <a:latin typeface="微软雅黑"/>
                <a:cs typeface="微软雅黑"/>
              </a:rPr>
              <a:t>Xilinx</a:t>
            </a:r>
            <a:r>
              <a:rPr sz="2450" b="1" spc="-10" dirty="0">
                <a:solidFill>
                  <a:srgbClr val="7E7E7E"/>
                </a:solidFill>
                <a:latin typeface="微软雅黑"/>
                <a:cs typeface="微软雅黑"/>
              </a:rPr>
              <a:t>大学计划部</a:t>
            </a:r>
            <a:endParaRPr sz="2450">
              <a:latin typeface="微软雅黑"/>
              <a:cs typeface="微软雅黑"/>
            </a:endParaRPr>
          </a:p>
        </p:txBody>
      </p:sp>
      <p:pic>
        <p:nvPicPr>
          <p:cNvPr id="4" name="object 4"/>
          <p:cNvPicPr/>
          <p:nvPr/>
        </p:nvPicPr>
        <p:blipFill>
          <a:blip r:embed="rId2" cstate="print"/>
          <a:stretch>
            <a:fillRect/>
          </a:stretch>
        </p:blipFill>
        <p:spPr>
          <a:xfrm>
            <a:off x="6302893" y="1630679"/>
            <a:ext cx="2993379" cy="4238244"/>
          </a:xfrm>
          <a:prstGeom prst="rect">
            <a:avLst/>
          </a:prstGeom>
        </p:spPr>
      </p:pic>
      <p:pic>
        <p:nvPicPr>
          <p:cNvPr id="5" name="object 5"/>
          <p:cNvPicPr/>
          <p:nvPr/>
        </p:nvPicPr>
        <p:blipFill>
          <a:blip r:embed="rId3" cstate="print"/>
          <a:stretch>
            <a:fillRect/>
          </a:stretch>
        </p:blipFill>
        <p:spPr>
          <a:xfrm>
            <a:off x="1426349" y="4620005"/>
            <a:ext cx="2112264" cy="902969"/>
          </a:xfrm>
          <a:prstGeom prst="rect">
            <a:avLst/>
          </a:prstGeom>
        </p:spPr>
      </p:pic>
      <p:pic>
        <p:nvPicPr>
          <p:cNvPr id="6" name="object 6"/>
          <p:cNvPicPr/>
          <p:nvPr/>
        </p:nvPicPr>
        <p:blipFill>
          <a:blip r:embed="rId4" cstate="print"/>
          <a:stretch>
            <a:fillRect/>
          </a:stretch>
        </p:blipFill>
        <p:spPr>
          <a:xfrm>
            <a:off x="3664289" y="4854702"/>
            <a:ext cx="2197662" cy="429158"/>
          </a:xfrm>
          <a:prstGeom prst="rect">
            <a:avLst/>
          </a:prstGeom>
        </p:spPr>
      </p:pic>
      <p:sp>
        <p:nvSpPr>
          <p:cNvPr id="7" name="object 7"/>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8" name="object 8"/>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50" dirty="0"/>
              <a:t>1</a:t>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3391153"/>
            <a:ext cx="4033520" cy="506730"/>
          </a:xfrm>
          <a:prstGeom prst="rect">
            <a:avLst/>
          </a:prstGeom>
        </p:spPr>
        <p:txBody>
          <a:bodyPr vert="horz" wrap="square" lIns="0" tIns="13335" rIns="0" bIns="0" rtlCol="0">
            <a:spAutoFit/>
          </a:bodyPr>
          <a:lstStyle/>
          <a:p>
            <a:pPr marL="12700">
              <a:lnSpc>
                <a:spcPct val="100000"/>
              </a:lnSpc>
              <a:spcBef>
                <a:spcPts val="105"/>
              </a:spcBef>
            </a:pPr>
            <a:r>
              <a:rPr sz="3150" b="1" spc="-5" dirty="0">
                <a:solidFill>
                  <a:srgbClr val="FFFFFF"/>
                </a:solidFill>
                <a:latin typeface="微软雅黑"/>
                <a:cs typeface="微软雅黑"/>
              </a:rPr>
              <a:t>时序逻辑电路设计基础</a:t>
            </a:r>
            <a:endParaRPr sz="3150">
              <a:latin typeface="微软雅黑"/>
              <a:cs typeface="微软雅黑"/>
            </a:endParaRPr>
          </a:p>
        </p:txBody>
      </p:sp>
      <p:sp>
        <p:nvSpPr>
          <p:cNvPr id="3" name="object 3"/>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5952" y="1923222"/>
            <a:ext cx="146324" cy="133066"/>
          </a:xfrm>
          <a:prstGeom prst="rect">
            <a:avLst/>
          </a:prstGeom>
        </p:spPr>
      </p:pic>
      <p:sp>
        <p:nvSpPr>
          <p:cNvPr id="3" name="object 3"/>
          <p:cNvSpPr txBox="1"/>
          <p:nvPr/>
        </p:nvSpPr>
        <p:spPr>
          <a:xfrm>
            <a:off x="859670" y="1686858"/>
            <a:ext cx="9044940" cy="2919730"/>
          </a:xfrm>
          <a:prstGeom prst="rect">
            <a:avLst/>
          </a:prstGeom>
        </p:spPr>
        <p:txBody>
          <a:bodyPr vert="horz" wrap="square" lIns="0" tIns="12700" rIns="0" bIns="0" rtlCol="0">
            <a:spAutoFit/>
          </a:bodyPr>
          <a:lstStyle/>
          <a:p>
            <a:pPr marL="12700" marR="5080" algn="just">
              <a:lnSpc>
                <a:spcPct val="150300"/>
              </a:lnSpc>
              <a:spcBef>
                <a:spcPts val="100"/>
              </a:spcBef>
            </a:pPr>
            <a:r>
              <a:rPr sz="1750" spc="-5" dirty="0">
                <a:solidFill>
                  <a:srgbClr val="3E3E3E"/>
                </a:solidFill>
                <a:latin typeface="微软雅黑"/>
                <a:cs typeface="微软雅黑"/>
              </a:rPr>
              <a:t>前一章讨论了组合逻辑电路的设计，组合逻辑电路的输出只跟当前的输入有关。然而，大量常用逻辑电路的输出不仅跟当前的输入有关，而且跟过去的输入也有关。这就要求在电路中必须包含一些存储元件来记住这些输入的过去值。这种包括锁存器和触发器的电路，我们称</a:t>
            </a:r>
            <a:r>
              <a:rPr sz="1750" dirty="0">
                <a:solidFill>
                  <a:srgbClr val="3E3E3E"/>
                </a:solidFill>
                <a:latin typeface="微软雅黑"/>
                <a:cs typeface="微软雅黑"/>
              </a:rPr>
              <a:t>之为时序电路。时序电路是一种能够记忆电路内部状态的电路。</a:t>
            </a:r>
            <a:r>
              <a:rPr sz="1750" b="1" spc="-5" dirty="0">
                <a:solidFill>
                  <a:srgbClr val="C00000"/>
                </a:solidFill>
                <a:latin typeface="微软雅黑"/>
                <a:cs typeface="微软雅黑"/>
              </a:rPr>
              <a:t>与组合逻辑电路不同，时序逻辑电路的输出不仅取决于当前输入，还与其当前内部状态有关。</a:t>
            </a:r>
            <a:endParaRPr sz="1750">
              <a:latin typeface="微软雅黑"/>
              <a:cs typeface="微软雅黑"/>
            </a:endParaRPr>
          </a:p>
          <a:p>
            <a:pPr marL="12700" marR="7620" indent="-635" algn="just">
              <a:lnSpc>
                <a:spcPct val="150300"/>
              </a:lnSpc>
              <a:spcBef>
                <a:spcPts val="695"/>
              </a:spcBef>
            </a:pPr>
            <a:r>
              <a:rPr sz="1750" dirty="0">
                <a:solidFill>
                  <a:srgbClr val="3E3E3E"/>
                </a:solidFill>
                <a:latin typeface="微软雅黑"/>
                <a:cs typeface="微软雅黑"/>
              </a:rPr>
              <a:t>本章的教学目的是介绍一些常用的时序电路元件模块的</a:t>
            </a:r>
            <a:r>
              <a:rPr sz="1750" dirty="0">
                <a:solidFill>
                  <a:srgbClr val="3E3E3E"/>
                </a:solidFill>
                <a:latin typeface="Arial"/>
                <a:cs typeface="Arial"/>
              </a:rPr>
              <a:t>Verilog HDL</a:t>
            </a:r>
            <a:r>
              <a:rPr sz="1750" spc="-5" dirty="0">
                <a:solidFill>
                  <a:srgbClr val="3E3E3E"/>
                </a:solidFill>
                <a:latin typeface="微软雅黑"/>
                <a:cs typeface="微软雅黑"/>
              </a:rPr>
              <a:t>语言描述，并对其设计进行分析，给出时序电路设计的一般方法。</a:t>
            </a:r>
            <a:endParaRPr sz="1750">
              <a:latin typeface="微软雅黑"/>
              <a:cs typeface="微软雅黑"/>
            </a:endParaRPr>
          </a:p>
        </p:txBody>
      </p:sp>
      <p:pic>
        <p:nvPicPr>
          <p:cNvPr id="4" name="object 4"/>
          <p:cNvPicPr/>
          <p:nvPr/>
        </p:nvPicPr>
        <p:blipFill>
          <a:blip r:embed="rId3" cstate="print"/>
          <a:stretch>
            <a:fillRect/>
          </a:stretch>
        </p:blipFill>
        <p:spPr>
          <a:xfrm>
            <a:off x="615952" y="4013823"/>
            <a:ext cx="146324" cy="137943"/>
          </a:xfrm>
          <a:prstGeom prst="rect">
            <a:avLst/>
          </a:prstGeom>
        </p:spPr>
      </p:pic>
      <p:sp>
        <p:nvSpPr>
          <p:cNvPr id="5" name="object 5"/>
          <p:cNvSpPr txBox="1">
            <a:spLocks noGrp="1"/>
          </p:cNvSpPr>
          <p:nvPr>
            <p:ph type="title"/>
          </p:nvPr>
        </p:nvSpPr>
        <p:spPr>
          <a:xfrm>
            <a:off x="523627" y="1071625"/>
            <a:ext cx="2165350" cy="453390"/>
          </a:xfrm>
          <a:prstGeom prst="rect">
            <a:avLst/>
          </a:prstGeom>
        </p:spPr>
        <p:txBody>
          <a:bodyPr vert="horz" wrap="square" lIns="0" tIns="13335" rIns="0" bIns="0" rtlCol="0">
            <a:spAutoFit/>
          </a:bodyPr>
          <a:lstStyle/>
          <a:p>
            <a:pPr marL="12700">
              <a:lnSpc>
                <a:spcPct val="100000"/>
              </a:lnSpc>
              <a:spcBef>
                <a:spcPts val="105"/>
              </a:spcBef>
            </a:pPr>
            <a:r>
              <a:rPr b="1" spc="-10" dirty="0">
                <a:latin typeface="微软雅黑"/>
                <a:cs typeface="微软雅黑"/>
              </a:rPr>
              <a:t>本章学习导言</a:t>
            </a:r>
          </a:p>
        </p:txBody>
      </p:sp>
      <p:sp>
        <p:nvSpPr>
          <p:cNvPr id="6" name="object 6"/>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68125" y="2040347"/>
            <a:ext cx="162741" cy="162741"/>
          </a:xfrm>
          <a:prstGeom prst="rect">
            <a:avLst/>
          </a:prstGeom>
        </p:spPr>
      </p:pic>
      <p:sp>
        <p:nvSpPr>
          <p:cNvPr id="3" name="object 3"/>
          <p:cNvSpPr txBox="1"/>
          <p:nvPr/>
        </p:nvSpPr>
        <p:spPr>
          <a:xfrm>
            <a:off x="1140847" y="1835911"/>
            <a:ext cx="3520053" cy="3634265"/>
          </a:xfrm>
          <a:prstGeom prst="rect">
            <a:avLst/>
          </a:prstGeom>
        </p:spPr>
        <p:txBody>
          <a:bodyPr vert="horz" wrap="square" lIns="0" tIns="13335" rIns="0" bIns="0" rtlCol="0">
            <a:spAutoFit/>
          </a:bodyPr>
          <a:lstStyle/>
          <a:p>
            <a:pPr>
              <a:lnSpc>
                <a:spcPct val="150000"/>
              </a:lnSpc>
              <a:spcBef>
                <a:spcPts val="600"/>
              </a:spcBef>
              <a:spcAft>
                <a:spcPts val="600"/>
              </a:spcAft>
            </a:pPr>
            <a:r>
              <a:rPr sz="2100" spc="-10" dirty="0" err="1">
                <a:solidFill>
                  <a:srgbClr val="3E3E3E"/>
                </a:solidFill>
                <a:latin typeface="微软雅黑"/>
                <a:cs typeface="微软雅黑"/>
              </a:rPr>
              <a:t>触发器和锁存器</a:t>
            </a:r>
            <a:endParaRPr lang="en-US" sz="2100" spc="-10" dirty="0">
              <a:solidFill>
                <a:srgbClr val="3E3E3E"/>
              </a:solidFill>
              <a:latin typeface="微软雅黑"/>
              <a:cs typeface="微软雅黑"/>
            </a:endParaRPr>
          </a:p>
          <a:p>
            <a:pPr>
              <a:lnSpc>
                <a:spcPct val="150000"/>
              </a:lnSpc>
              <a:spcBef>
                <a:spcPts val="600"/>
              </a:spcBef>
              <a:spcAft>
                <a:spcPts val="600"/>
              </a:spcAft>
            </a:pPr>
            <a:r>
              <a:rPr sz="2100" spc="-20" dirty="0" err="1">
                <a:solidFill>
                  <a:srgbClr val="3E3E3E"/>
                </a:solidFill>
                <a:latin typeface="微软雅黑"/>
                <a:cs typeface="微软雅黑"/>
              </a:rPr>
              <a:t>寄存器</a:t>
            </a:r>
            <a:endParaRPr lang="en-US" sz="2100" spc="-20" dirty="0">
              <a:solidFill>
                <a:srgbClr val="3E3E3E"/>
              </a:solidFill>
              <a:latin typeface="微软雅黑"/>
              <a:cs typeface="微软雅黑"/>
            </a:endParaRPr>
          </a:p>
          <a:p>
            <a:pPr>
              <a:lnSpc>
                <a:spcPct val="150000"/>
              </a:lnSpc>
              <a:spcBef>
                <a:spcPts val="600"/>
              </a:spcBef>
              <a:spcAft>
                <a:spcPts val="600"/>
              </a:spcAft>
            </a:pPr>
            <a:r>
              <a:rPr sz="2100" spc="-10" dirty="0" err="1">
                <a:solidFill>
                  <a:srgbClr val="3E3E3E"/>
                </a:solidFill>
                <a:latin typeface="微软雅黑"/>
                <a:cs typeface="微软雅黑"/>
              </a:rPr>
              <a:t>移位寄存器</a:t>
            </a:r>
            <a:endParaRPr lang="en-US" sz="2100" spc="-10" dirty="0">
              <a:solidFill>
                <a:srgbClr val="3E3E3E"/>
              </a:solidFill>
              <a:latin typeface="微软雅黑"/>
              <a:cs typeface="微软雅黑"/>
            </a:endParaRPr>
          </a:p>
          <a:p>
            <a:pPr>
              <a:lnSpc>
                <a:spcPct val="150000"/>
              </a:lnSpc>
              <a:spcBef>
                <a:spcPts val="600"/>
              </a:spcBef>
              <a:spcAft>
                <a:spcPts val="600"/>
              </a:spcAft>
            </a:pPr>
            <a:r>
              <a:rPr sz="2100" spc="-20" dirty="0" err="1">
                <a:solidFill>
                  <a:srgbClr val="3E3E3E"/>
                </a:solidFill>
                <a:latin typeface="微软雅黑"/>
                <a:cs typeface="微软雅黑"/>
              </a:rPr>
              <a:t>计数器</a:t>
            </a:r>
            <a:endParaRPr lang="en-US" sz="2100" spc="-20" dirty="0">
              <a:solidFill>
                <a:srgbClr val="3E3E3E"/>
              </a:solidFill>
              <a:latin typeface="微软雅黑"/>
              <a:cs typeface="微软雅黑"/>
            </a:endParaRPr>
          </a:p>
          <a:p>
            <a:pPr>
              <a:lnSpc>
                <a:spcPct val="150000"/>
              </a:lnSpc>
              <a:spcBef>
                <a:spcPts val="600"/>
              </a:spcBef>
              <a:spcAft>
                <a:spcPts val="600"/>
              </a:spcAft>
            </a:pPr>
            <a:r>
              <a:rPr sz="2100" spc="-15" dirty="0" err="1">
                <a:solidFill>
                  <a:srgbClr val="3E3E3E"/>
                </a:solidFill>
                <a:latin typeface="微软雅黑"/>
                <a:cs typeface="微软雅黑"/>
              </a:rPr>
              <a:t>常用时序逻辑电路设计实</a:t>
            </a:r>
            <a:r>
              <a:rPr lang="zh-CN" altLang="en-US" sz="2100" spc="-15" dirty="0">
                <a:solidFill>
                  <a:srgbClr val="3E3E3E"/>
                </a:solidFill>
                <a:latin typeface="微软雅黑"/>
                <a:cs typeface="微软雅黑"/>
              </a:rPr>
              <a:t>例</a:t>
            </a:r>
            <a:endParaRPr lang="en-US" altLang="zh-CN" sz="2100" spc="-15" dirty="0">
              <a:solidFill>
                <a:srgbClr val="3E3E3E"/>
              </a:solidFill>
              <a:latin typeface="微软雅黑"/>
              <a:cs typeface="微软雅黑"/>
            </a:endParaRPr>
          </a:p>
          <a:p>
            <a:pPr>
              <a:lnSpc>
                <a:spcPct val="150000"/>
              </a:lnSpc>
              <a:spcBef>
                <a:spcPts val="600"/>
              </a:spcBef>
              <a:spcAft>
                <a:spcPts val="600"/>
              </a:spcAft>
            </a:pPr>
            <a:r>
              <a:rPr sz="2100" spc="-20" dirty="0" err="1">
                <a:solidFill>
                  <a:srgbClr val="3E3E3E"/>
                </a:solidFill>
                <a:latin typeface="微软雅黑"/>
                <a:cs typeface="微软雅黑"/>
              </a:rPr>
              <a:t>练习题</a:t>
            </a:r>
            <a:endParaRPr sz="2100" dirty="0">
              <a:latin typeface="微软雅黑"/>
              <a:cs typeface="微软雅黑"/>
            </a:endParaRPr>
          </a:p>
        </p:txBody>
      </p:sp>
      <p:pic>
        <p:nvPicPr>
          <p:cNvPr id="4" name="object 4"/>
          <p:cNvPicPr/>
          <p:nvPr/>
        </p:nvPicPr>
        <p:blipFill>
          <a:blip r:embed="rId3" cstate="print"/>
          <a:stretch>
            <a:fillRect/>
          </a:stretch>
        </p:blipFill>
        <p:spPr>
          <a:xfrm>
            <a:off x="668125" y="2674370"/>
            <a:ext cx="162741" cy="163448"/>
          </a:xfrm>
          <a:prstGeom prst="rect">
            <a:avLst/>
          </a:prstGeom>
        </p:spPr>
      </p:pic>
      <p:pic>
        <p:nvPicPr>
          <p:cNvPr id="5" name="object 5"/>
          <p:cNvPicPr/>
          <p:nvPr/>
        </p:nvPicPr>
        <p:blipFill>
          <a:blip r:embed="rId4" cstate="print"/>
          <a:stretch>
            <a:fillRect/>
          </a:stretch>
        </p:blipFill>
        <p:spPr>
          <a:xfrm>
            <a:off x="668125" y="3309100"/>
            <a:ext cx="162741" cy="162741"/>
          </a:xfrm>
          <a:prstGeom prst="rect">
            <a:avLst/>
          </a:prstGeom>
        </p:spPr>
      </p:pic>
      <p:pic>
        <p:nvPicPr>
          <p:cNvPr id="6" name="object 6"/>
          <p:cNvPicPr/>
          <p:nvPr/>
        </p:nvPicPr>
        <p:blipFill>
          <a:blip r:embed="rId5" cstate="print"/>
          <a:stretch>
            <a:fillRect/>
          </a:stretch>
        </p:blipFill>
        <p:spPr>
          <a:xfrm>
            <a:off x="668125" y="3943123"/>
            <a:ext cx="162741" cy="162741"/>
          </a:xfrm>
          <a:prstGeom prst="rect">
            <a:avLst/>
          </a:prstGeom>
        </p:spPr>
      </p:pic>
      <p:pic>
        <p:nvPicPr>
          <p:cNvPr id="7" name="object 7"/>
          <p:cNvPicPr/>
          <p:nvPr/>
        </p:nvPicPr>
        <p:blipFill>
          <a:blip r:embed="rId6" cstate="print"/>
          <a:stretch>
            <a:fillRect/>
          </a:stretch>
        </p:blipFill>
        <p:spPr>
          <a:xfrm>
            <a:off x="668125" y="4577146"/>
            <a:ext cx="162741" cy="162361"/>
          </a:xfrm>
          <a:prstGeom prst="rect">
            <a:avLst/>
          </a:prstGeom>
        </p:spPr>
      </p:pic>
      <p:pic>
        <p:nvPicPr>
          <p:cNvPr id="8" name="object 8"/>
          <p:cNvPicPr/>
          <p:nvPr/>
        </p:nvPicPr>
        <p:blipFill>
          <a:blip r:embed="rId7" cstate="print"/>
          <a:stretch>
            <a:fillRect/>
          </a:stretch>
        </p:blipFill>
        <p:spPr>
          <a:xfrm>
            <a:off x="668125" y="5210790"/>
            <a:ext cx="162741" cy="163086"/>
          </a:xfrm>
          <a:prstGeom prst="rect">
            <a:avLst/>
          </a:prstGeom>
        </p:spPr>
      </p:pic>
      <p:sp>
        <p:nvSpPr>
          <p:cNvPr id="9" name="object 9"/>
          <p:cNvSpPr txBox="1">
            <a:spLocks noGrp="1"/>
          </p:cNvSpPr>
          <p:nvPr>
            <p:ph type="title"/>
          </p:nvPr>
        </p:nvSpPr>
        <p:spPr>
          <a:xfrm>
            <a:off x="523627" y="1071625"/>
            <a:ext cx="1452245" cy="453390"/>
          </a:xfrm>
          <a:prstGeom prst="rect">
            <a:avLst/>
          </a:prstGeom>
        </p:spPr>
        <p:txBody>
          <a:bodyPr vert="horz" wrap="square" lIns="0" tIns="13335" rIns="0" bIns="0" rtlCol="0">
            <a:spAutoFit/>
          </a:bodyPr>
          <a:lstStyle/>
          <a:p>
            <a:pPr marL="12700">
              <a:lnSpc>
                <a:spcPct val="100000"/>
              </a:lnSpc>
              <a:spcBef>
                <a:spcPts val="105"/>
              </a:spcBef>
            </a:pPr>
            <a:r>
              <a:rPr b="1" spc="-15" dirty="0">
                <a:latin typeface="微软雅黑"/>
                <a:cs typeface="微软雅黑"/>
              </a:rPr>
              <a:t>主要内容</a:t>
            </a:r>
          </a:p>
        </p:txBody>
      </p:sp>
      <p:sp>
        <p:nvSpPr>
          <p:cNvPr id="10" name="object 10"/>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11" name="object 11"/>
          <p:cNvSpPr txBox="1"/>
          <p:nvPr/>
        </p:nvSpPr>
        <p:spPr>
          <a:xfrm>
            <a:off x="604399" y="6574090"/>
            <a:ext cx="75565" cy="125095"/>
          </a:xfrm>
          <a:prstGeom prst="rect">
            <a:avLst/>
          </a:prstGeom>
        </p:spPr>
        <p:txBody>
          <a:bodyPr vert="horz" wrap="square" lIns="0" tIns="4445" rIns="0" bIns="0" rtlCol="0">
            <a:spAutoFit/>
          </a:bodyPr>
          <a:lstStyle/>
          <a:p>
            <a:pPr marL="12700">
              <a:lnSpc>
                <a:spcPct val="100000"/>
              </a:lnSpc>
              <a:spcBef>
                <a:spcPts val="35"/>
              </a:spcBef>
            </a:pPr>
            <a:r>
              <a:rPr sz="700" spc="-50" dirty="0">
                <a:latin typeface="Arial"/>
                <a:cs typeface="Arial"/>
              </a:rPr>
              <a:t>4</a:t>
            </a:r>
            <a:endParaRPr sz="7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311467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a:t>
            </a:r>
            <a:r>
              <a:rPr spc="-20" dirty="0">
                <a:latin typeface="Arial"/>
                <a:cs typeface="Arial"/>
              </a:rPr>
              <a:t> </a:t>
            </a:r>
            <a:r>
              <a:rPr spc="-10" dirty="0"/>
              <a:t>触发器和锁存器</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579253" y="1981598"/>
            <a:ext cx="9516110" cy="2609850"/>
          </a:xfrm>
          <a:prstGeom prst="rect">
            <a:avLst/>
          </a:prstGeom>
        </p:spPr>
        <p:txBody>
          <a:bodyPr vert="horz" wrap="square" lIns="0" tIns="12065" rIns="0" bIns="0" rtlCol="0">
            <a:spAutoFit/>
          </a:bodyPr>
          <a:lstStyle/>
          <a:p>
            <a:pPr marL="212725" marR="7620" indent="-202565">
              <a:lnSpc>
                <a:spcPct val="150500"/>
              </a:lnSpc>
              <a:spcBef>
                <a:spcPts val="95"/>
              </a:spcBef>
              <a:buSzPct val="83333"/>
              <a:buFont typeface="Wingdings"/>
              <a:buChar char=""/>
              <a:tabLst>
                <a:tab pos="212725" algn="l"/>
                <a:tab pos="221615" algn="l"/>
              </a:tabLst>
            </a:pPr>
            <a:r>
              <a:rPr sz="2100" dirty="0">
                <a:solidFill>
                  <a:srgbClr val="EC891C"/>
                </a:solidFill>
                <a:latin typeface="微软雅黑"/>
                <a:cs typeface="微软雅黑"/>
              </a:rPr>
              <a:t>	</a:t>
            </a:r>
            <a:r>
              <a:rPr sz="2100" b="1" spc="-5" dirty="0">
                <a:solidFill>
                  <a:srgbClr val="3E3E3E"/>
                </a:solidFill>
                <a:latin typeface="微软雅黑"/>
                <a:cs typeface="微软雅黑"/>
              </a:rPr>
              <a:t>不同结构功能和不同用途的触发器和锁存器，是基本的时序电路元件，是时序逻辑电路设计的基础；</a:t>
            </a:r>
            <a:endParaRPr sz="2100">
              <a:latin typeface="微软雅黑"/>
              <a:cs typeface="微软雅黑"/>
            </a:endParaRPr>
          </a:p>
          <a:p>
            <a:pPr>
              <a:lnSpc>
                <a:spcPct val="100000"/>
              </a:lnSpc>
              <a:spcBef>
                <a:spcPts val="1590"/>
              </a:spcBef>
              <a:buClr>
                <a:srgbClr val="EC891C"/>
              </a:buClr>
              <a:buFont typeface="Wingdings"/>
              <a:buChar char=""/>
            </a:pPr>
            <a:endParaRPr sz="2100">
              <a:latin typeface="微软雅黑"/>
              <a:cs typeface="微软雅黑"/>
            </a:endParaRPr>
          </a:p>
          <a:p>
            <a:pPr marL="212725" marR="5080" indent="-202565">
              <a:lnSpc>
                <a:spcPct val="150200"/>
              </a:lnSpc>
              <a:buSzPct val="83333"/>
              <a:buFont typeface="Wingdings"/>
              <a:buChar char=""/>
              <a:tabLst>
                <a:tab pos="212725" algn="l"/>
                <a:tab pos="221615" algn="l"/>
                <a:tab pos="4834890" algn="l"/>
              </a:tabLst>
            </a:pPr>
            <a:r>
              <a:rPr sz="2100" dirty="0">
                <a:solidFill>
                  <a:srgbClr val="EC891C"/>
                </a:solidFill>
                <a:latin typeface="微软雅黑"/>
                <a:cs typeface="微软雅黑"/>
              </a:rPr>
              <a:t>	</a:t>
            </a:r>
            <a:r>
              <a:rPr sz="2100" b="1" spc="50" dirty="0">
                <a:solidFill>
                  <a:srgbClr val="3E3E3E"/>
                </a:solidFill>
                <a:latin typeface="微软雅黑"/>
                <a:cs typeface="微软雅黑"/>
              </a:rPr>
              <a:t>掌握这些基础时序逻辑单元</a:t>
            </a:r>
            <a:r>
              <a:rPr sz="2100" b="1" spc="55" dirty="0">
                <a:solidFill>
                  <a:srgbClr val="3E3E3E"/>
                </a:solidFill>
                <a:latin typeface="微软雅黑"/>
                <a:cs typeface="微软雅黑"/>
              </a:rPr>
              <a:t>的</a:t>
            </a:r>
            <a:r>
              <a:rPr sz="2100" b="1" spc="-10" dirty="0">
                <a:solidFill>
                  <a:srgbClr val="3E3E3E"/>
                </a:solidFill>
                <a:latin typeface="Arial"/>
                <a:cs typeface="Arial"/>
              </a:rPr>
              <a:t>Verilog</a:t>
            </a:r>
            <a:r>
              <a:rPr sz="2100" b="1" dirty="0">
                <a:solidFill>
                  <a:srgbClr val="3E3E3E"/>
                </a:solidFill>
                <a:latin typeface="Arial"/>
                <a:cs typeface="Arial"/>
              </a:rPr>
              <a:t>	HDL</a:t>
            </a:r>
            <a:r>
              <a:rPr sz="2100" b="1" spc="50" dirty="0">
                <a:solidFill>
                  <a:srgbClr val="3E3E3E"/>
                </a:solidFill>
                <a:latin typeface="微软雅黑"/>
                <a:cs typeface="微软雅黑"/>
              </a:rPr>
              <a:t>描述方法，有助于深入了解和掌</a:t>
            </a:r>
            <a:r>
              <a:rPr sz="2100" b="1" dirty="0">
                <a:solidFill>
                  <a:srgbClr val="3E3E3E"/>
                </a:solidFill>
                <a:latin typeface="微软雅黑"/>
                <a:cs typeface="微软雅黑"/>
              </a:rPr>
              <a:t>握</a:t>
            </a:r>
            <a:r>
              <a:rPr sz="2100" b="1" spc="-10" dirty="0">
                <a:solidFill>
                  <a:srgbClr val="3E3E3E"/>
                </a:solidFill>
                <a:latin typeface="微软雅黑"/>
                <a:cs typeface="微软雅黑"/>
              </a:rPr>
              <a:t>时序数字系统的设计方法</a:t>
            </a:r>
            <a:r>
              <a:rPr sz="2100" b="1" spc="-50" dirty="0">
                <a:solidFill>
                  <a:srgbClr val="3E3E3E"/>
                </a:solidFill>
                <a:latin typeface="微软雅黑"/>
                <a:cs typeface="微软雅黑"/>
              </a:rPr>
              <a:t>。</a:t>
            </a:r>
            <a:endParaRPr sz="2100">
              <a:latin typeface="微软雅黑"/>
              <a:cs typeface="微软雅黑"/>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295529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4.1.1</a:t>
            </a:r>
            <a:r>
              <a:rPr spc="-45" dirty="0">
                <a:latin typeface="Arial"/>
                <a:cs typeface="Arial"/>
              </a:rPr>
              <a:t> </a:t>
            </a:r>
            <a:r>
              <a:rPr dirty="0"/>
              <a:t>基本</a:t>
            </a:r>
            <a:r>
              <a:rPr dirty="0">
                <a:latin typeface="Arial"/>
                <a:cs typeface="Arial"/>
              </a:rPr>
              <a:t>D</a:t>
            </a:r>
            <a:r>
              <a:rPr spc="-20" dirty="0"/>
              <a:t>触发器</a:t>
            </a:r>
          </a:p>
        </p:txBody>
      </p:sp>
      <p:sp>
        <p:nvSpPr>
          <p:cNvPr id="3" name="object 3"/>
          <p:cNvSpPr txBox="1"/>
          <p:nvPr/>
        </p:nvSpPr>
        <p:spPr>
          <a:xfrm>
            <a:off x="778897" y="2077466"/>
            <a:ext cx="6295390" cy="916940"/>
          </a:xfrm>
          <a:prstGeom prst="rect">
            <a:avLst/>
          </a:prstGeom>
        </p:spPr>
        <p:txBody>
          <a:bodyPr vert="horz" wrap="square" lIns="0" tIns="13335" rIns="0" bIns="0" rtlCol="0">
            <a:spAutoFit/>
          </a:bodyPr>
          <a:lstStyle/>
          <a:p>
            <a:pPr marL="222250" indent="-211454">
              <a:lnSpc>
                <a:spcPct val="100000"/>
              </a:lnSpc>
              <a:spcBef>
                <a:spcPts val="105"/>
              </a:spcBef>
              <a:buClr>
                <a:srgbClr val="EC891C"/>
              </a:buClr>
              <a:buSzPct val="83333"/>
              <a:buFont typeface="Wingdings"/>
              <a:buChar char=""/>
              <a:tabLst>
                <a:tab pos="222250" algn="l"/>
              </a:tabLst>
            </a:pPr>
            <a:r>
              <a:rPr sz="2100" b="1" spc="-10" dirty="0">
                <a:solidFill>
                  <a:srgbClr val="3E3E3E"/>
                </a:solidFill>
                <a:latin typeface="Arial"/>
                <a:cs typeface="Arial"/>
              </a:rPr>
              <a:t>D</a:t>
            </a:r>
            <a:r>
              <a:rPr sz="2100" b="1" dirty="0">
                <a:solidFill>
                  <a:srgbClr val="3E3E3E"/>
                </a:solidFill>
                <a:latin typeface="微软雅黑"/>
                <a:cs typeface="微软雅黑"/>
              </a:rPr>
              <a:t>触发器</a:t>
            </a:r>
            <a:r>
              <a:rPr sz="2100" b="1" spc="-10" dirty="0">
                <a:solidFill>
                  <a:srgbClr val="3E3E3E"/>
                </a:solidFill>
                <a:latin typeface="微软雅黑"/>
                <a:cs typeface="微软雅黑"/>
              </a:rPr>
              <a:t>（</a:t>
            </a:r>
            <a:r>
              <a:rPr sz="2100" b="1" spc="-10" dirty="0">
                <a:solidFill>
                  <a:srgbClr val="3E3E3E"/>
                </a:solidFill>
                <a:latin typeface="Arial"/>
                <a:cs typeface="Arial"/>
              </a:rPr>
              <a:t>DFF</a:t>
            </a:r>
            <a:r>
              <a:rPr sz="2100" b="1" spc="-10" dirty="0">
                <a:solidFill>
                  <a:srgbClr val="3E3E3E"/>
                </a:solidFill>
                <a:latin typeface="微软雅黑"/>
                <a:cs typeface="微软雅黑"/>
              </a:rPr>
              <a:t>）</a:t>
            </a:r>
            <a:r>
              <a:rPr sz="2100" b="1" spc="-15" dirty="0">
                <a:solidFill>
                  <a:srgbClr val="3E3E3E"/>
                </a:solidFill>
                <a:latin typeface="微软雅黑"/>
                <a:cs typeface="微软雅黑"/>
              </a:rPr>
              <a:t>是逻辑电路中最基本的存储元件。</a:t>
            </a:r>
            <a:endParaRPr sz="2100">
              <a:latin typeface="微软雅黑"/>
              <a:cs typeface="微软雅黑"/>
            </a:endParaRPr>
          </a:p>
          <a:p>
            <a:pPr marL="222250" indent="-211454">
              <a:lnSpc>
                <a:spcPct val="100000"/>
              </a:lnSpc>
              <a:spcBef>
                <a:spcPts val="1964"/>
              </a:spcBef>
              <a:buClr>
                <a:srgbClr val="EC891C"/>
              </a:buClr>
              <a:buSzPct val="83333"/>
              <a:buFont typeface="Wingdings"/>
              <a:buChar char=""/>
              <a:tabLst>
                <a:tab pos="222250" algn="l"/>
              </a:tabLst>
            </a:pPr>
            <a:r>
              <a:rPr sz="2100" b="1" dirty="0">
                <a:solidFill>
                  <a:srgbClr val="3E3E3E"/>
                </a:solidFill>
                <a:latin typeface="微软雅黑"/>
                <a:cs typeface="微软雅黑"/>
              </a:rPr>
              <a:t>上升沿触发的</a:t>
            </a:r>
            <a:r>
              <a:rPr sz="2100" b="1" spc="-10" dirty="0">
                <a:solidFill>
                  <a:srgbClr val="3E3E3E"/>
                </a:solidFill>
                <a:latin typeface="Arial"/>
                <a:cs typeface="Arial"/>
              </a:rPr>
              <a:t>D</a:t>
            </a:r>
            <a:r>
              <a:rPr sz="2100" b="1" spc="-5" dirty="0">
                <a:solidFill>
                  <a:srgbClr val="3E3E3E"/>
                </a:solidFill>
                <a:latin typeface="微软雅黑"/>
                <a:cs typeface="微软雅黑"/>
              </a:rPr>
              <a:t>触发器是最简单的</a:t>
            </a:r>
            <a:r>
              <a:rPr sz="2100" b="1" spc="-10" dirty="0">
                <a:solidFill>
                  <a:srgbClr val="3E3E3E"/>
                </a:solidFill>
                <a:latin typeface="Arial"/>
                <a:cs typeface="Arial"/>
              </a:rPr>
              <a:t>D</a:t>
            </a:r>
            <a:r>
              <a:rPr sz="2100" b="1" spc="-15" dirty="0">
                <a:solidFill>
                  <a:srgbClr val="3E3E3E"/>
                </a:solidFill>
                <a:latin typeface="微软雅黑"/>
                <a:cs typeface="微软雅黑"/>
              </a:rPr>
              <a:t>触发器。</a:t>
            </a:r>
            <a:endParaRPr sz="2100">
              <a:latin typeface="微软雅黑"/>
              <a:cs typeface="微软雅黑"/>
            </a:endParaRPr>
          </a:p>
        </p:txBody>
      </p:sp>
      <p:grpSp>
        <p:nvGrpSpPr>
          <p:cNvPr id="4" name="object 4"/>
          <p:cNvGrpSpPr/>
          <p:nvPr/>
        </p:nvGrpSpPr>
        <p:grpSpPr>
          <a:xfrm>
            <a:off x="3009962" y="3839164"/>
            <a:ext cx="1198245" cy="1367155"/>
            <a:chOff x="3009962" y="3839164"/>
            <a:chExt cx="1198245" cy="1367155"/>
          </a:xfrm>
        </p:grpSpPr>
        <p:sp>
          <p:nvSpPr>
            <p:cNvPr id="5" name="object 5"/>
            <p:cNvSpPr/>
            <p:nvPr/>
          </p:nvSpPr>
          <p:spPr>
            <a:xfrm>
              <a:off x="3022690" y="3851891"/>
              <a:ext cx="1172845" cy="1341120"/>
            </a:xfrm>
            <a:custGeom>
              <a:avLst/>
              <a:gdLst/>
              <a:ahLst/>
              <a:cxnLst/>
              <a:rect l="l" t="t" r="r" b="b"/>
              <a:pathLst>
                <a:path w="1172845" h="1341120">
                  <a:moveTo>
                    <a:pt x="0" y="1341118"/>
                  </a:moveTo>
                  <a:lnTo>
                    <a:pt x="1172703" y="1341118"/>
                  </a:lnTo>
                  <a:lnTo>
                    <a:pt x="1172703" y="0"/>
                  </a:lnTo>
                  <a:lnTo>
                    <a:pt x="0" y="0"/>
                  </a:lnTo>
                  <a:lnTo>
                    <a:pt x="0" y="1341118"/>
                  </a:lnTo>
                  <a:close/>
                </a:path>
              </a:pathLst>
            </a:custGeom>
            <a:ln w="24576">
              <a:solidFill>
                <a:srgbClr val="000000"/>
              </a:solidFill>
            </a:ln>
          </p:spPr>
          <p:txBody>
            <a:bodyPr wrap="square" lIns="0" tIns="0" rIns="0" bIns="0" rtlCol="0"/>
            <a:lstStyle/>
            <a:p>
              <a:endParaRPr/>
            </a:p>
          </p:txBody>
        </p:sp>
        <p:sp>
          <p:nvSpPr>
            <p:cNvPr id="6" name="object 6"/>
            <p:cNvSpPr/>
            <p:nvPr/>
          </p:nvSpPr>
          <p:spPr>
            <a:xfrm>
              <a:off x="3022690" y="4437871"/>
              <a:ext cx="101600" cy="80010"/>
            </a:xfrm>
            <a:custGeom>
              <a:avLst/>
              <a:gdLst/>
              <a:ahLst/>
              <a:cxnLst/>
              <a:rect l="l" t="t" r="r" b="b"/>
              <a:pathLst>
                <a:path w="101600" h="80010">
                  <a:moveTo>
                    <a:pt x="0" y="0"/>
                  </a:moveTo>
                  <a:lnTo>
                    <a:pt x="101341" y="80006"/>
                  </a:lnTo>
                </a:path>
              </a:pathLst>
            </a:custGeom>
            <a:ln w="23342">
              <a:solidFill>
                <a:srgbClr val="000000"/>
              </a:solidFill>
            </a:ln>
          </p:spPr>
          <p:txBody>
            <a:bodyPr wrap="square" lIns="0" tIns="0" rIns="0" bIns="0" rtlCol="0"/>
            <a:lstStyle/>
            <a:p>
              <a:endParaRPr/>
            </a:p>
          </p:txBody>
        </p:sp>
        <p:sp>
          <p:nvSpPr>
            <p:cNvPr id="7" name="object 7"/>
            <p:cNvSpPr/>
            <p:nvPr/>
          </p:nvSpPr>
          <p:spPr>
            <a:xfrm>
              <a:off x="3022690" y="4520161"/>
              <a:ext cx="101600" cy="93345"/>
            </a:xfrm>
            <a:custGeom>
              <a:avLst/>
              <a:gdLst/>
              <a:ahLst/>
              <a:cxnLst/>
              <a:rect l="l" t="t" r="r" b="b"/>
              <a:pathLst>
                <a:path w="101600" h="93345">
                  <a:moveTo>
                    <a:pt x="0" y="92967"/>
                  </a:moveTo>
                  <a:lnTo>
                    <a:pt x="101341" y="0"/>
                  </a:lnTo>
                </a:path>
              </a:pathLst>
            </a:custGeom>
            <a:ln w="23835">
              <a:solidFill>
                <a:srgbClr val="000000"/>
              </a:solidFill>
            </a:ln>
          </p:spPr>
          <p:txBody>
            <a:bodyPr wrap="square" lIns="0" tIns="0" rIns="0" bIns="0" rtlCol="0"/>
            <a:lstStyle/>
            <a:p>
              <a:endParaRPr/>
            </a:p>
          </p:txBody>
        </p:sp>
      </p:grpSp>
      <p:sp>
        <p:nvSpPr>
          <p:cNvPr id="8" name="object 8"/>
          <p:cNvSpPr txBox="1"/>
          <p:nvPr/>
        </p:nvSpPr>
        <p:spPr>
          <a:xfrm>
            <a:off x="3213233" y="4351340"/>
            <a:ext cx="357505" cy="297815"/>
          </a:xfrm>
          <a:prstGeom prst="rect">
            <a:avLst/>
          </a:prstGeom>
        </p:spPr>
        <p:txBody>
          <a:bodyPr vert="horz" wrap="square" lIns="0" tIns="17145" rIns="0" bIns="0" rtlCol="0">
            <a:spAutoFit/>
          </a:bodyPr>
          <a:lstStyle/>
          <a:p>
            <a:pPr>
              <a:lnSpc>
                <a:spcPct val="100000"/>
              </a:lnSpc>
              <a:spcBef>
                <a:spcPts val="135"/>
              </a:spcBef>
            </a:pPr>
            <a:r>
              <a:rPr sz="1750" b="1" spc="125" dirty="0">
                <a:latin typeface="Times New Roman"/>
                <a:cs typeface="Times New Roman"/>
              </a:rPr>
              <a:t>clk</a:t>
            </a:r>
            <a:endParaRPr sz="1750">
              <a:latin typeface="Times New Roman"/>
              <a:cs typeface="Times New Roman"/>
            </a:endParaRPr>
          </a:p>
        </p:txBody>
      </p:sp>
      <p:sp>
        <p:nvSpPr>
          <p:cNvPr id="9" name="object 9"/>
          <p:cNvSpPr txBox="1"/>
          <p:nvPr/>
        </p:nvSpPr>
        <p:spPr>
          <a:xfrm>
            <a:off x="3188080" y="3854529"/>
            <a:ext cx="139065" cy="297815"/>
          </a:xfrm>
          <a:prstGeom prst="rect">
            <a:avLst/>
          </a:prstGeom>
        </p:spPr>
        <p:txBody>
          <a:bodyPr vert="horz" wrap="square" lIns="0" tIns="17145" rIns="0" bIns="0" rtlCol="0">
            <a:spAutoFit/>
          </a:bodyPr>
          <a:lstStyle/>
          <a:p>
            <a:pPr>
              <a:lnSpc>
                <a:spcPct val="100000"/>
              </a:lnSpc>
              <a:spcBef>
                <a:spcPts val="135"/>
              </a:spcBef>
            </a:pPr>
            <a:r>
              <a:rPr sz="1750" b="1" spc="-50" dirty="0">
                <a:latin typeface="Times New Roman"/>
                <a:cs typeface="Times New Roman"/>
              </a:rPr>
              <a:t>d</a:t>
            </a:r>
            <a:endParaRPr sz="1750">
              <a:latin typeface="Times New Roman"/>
              <a:cs typeface="Times New Roman"/>
            </a:endParaRPr>
          </a:p>
        </p:txBody>
      </p:sp>
      <p:sp>
        <p:nvSpPr>
          <p:cNvPr id="10" name="object 10"/>
          <p:cNvSpPr txBox="1"/>
          <p:nvPr/>
        </p:nvSpPr>
        <p:spPr>
          <a:xfrm>
            <a:off x="3863208" y="3827855"/>
            <a:ext cx="139065" cy="297815"/>
          </a:xfrm>
          <a:prstGeom prst="rect">
            <a:avLst/>
          </a:prstGeom>
        </p:spPr>
        <p:txBody>
          <a:bodyPr vert="horz" wrap="square" lIns="0" tIns="17145" rIns="0" bIns="0" rtlCol="0">
            <a:spAutoFit/>
          </a:bodyPr>
          <a:lstStyle/>
          <a:p>
            <a:pPr>
              <a:lnSpc>
                <a:spcPct val="100000"/>
              </a:lnSpc>
              <a:spcBef>
                <a:spcPts val="135"/>
              </a:spcBef>
            </a:pPr>
            <a:r>
              <a:rPr sz="1750" b="1" spc="-50" dirty="0">
                <a:latin typeface="Times New Roman"/>
                <a:cs typeface="Times New Roman"/>
              </a:rPr>
              <a:t>q</a:t>
            </a:r>
            <a:endParaRPr sz="1750">
              <a:latin typeface="Times New Roman"/>
              <a:cs typeface="Times New Roman"/>
            </a:endParaRPr>
          </a:p>
        </p:txBody>
      </p:sp>
      <p:sp>
        <p:nvSpPr>
          <p:cNvPr id="11" name="object 11"/>
          <p:cNvSpPr/>
          <p:nvPr/>
        </p:nvSpPr>
        <p:spPr>
          <a:xfrm>
            <a:off x="4905574" y="3463275"/>
            <a:ext cx="2345690" cy="0"/>
          </a:xfrm>
          <a:custGeom>
            <a:avLst/>
            <a:gdLst/>
            <a:ahLst/>
            <a:cxnLst/>
            <a:rect l="l" t="t" r="r" b="b"/>
            <a:pathLst>
              <a:path w="2345690">
                <a:moveTo>
                  <a:pt x="0" y="0"/>
                </a:moveTo>
                <a:lnTo>
                  <a:pt x="2345407" y="0"/>
                </a:lnTo>
              </a:path>
            </a:pathLst>
          </a:custGeom>
          <a:ln w="20749">
            <a:solidFill>
              <a:srgbClr val="000000"/>
            </a:solidFill>
          </a:ln>
        </p:spPr>
        <p:txBody>
          <a:bodyPr wrap="square" lIns="0" tIns="0" rIns="0" bIns="0" rtlCol="0"/>
          <a:lstStyle/>
          <a:p>
            <a:endParaRPr/>
          </a:p>
        </p:txBody>
      </p:sp>
      <p:sp>
        <p:nvSpPr>
          <p:cNvPr id="12" name="object 12"/>
          <p:cNvSpPr/>
          <p:nvPr/>
        </p:nvSpPr>
        <p:spPr>
          <a:xfrm>
            <a:off x="4905574" y="3851891"/>
            <a:ext cx="2345690" cy="0"/>
          </a:xfrm>
          <a:custGeom>
            <a:avLst/>
            <a:gdLst/>
            <a:ahLst/>
            <a:cxnLst/>
            <a:rect l="l" t="t" r="r" b="b"/>
            <a:pathLst>
              <a:path w="2345690">
                <a:moveTo>
                  <a:pt x="0" y="0"/>
                </a:moveTo>
                <a:lnTo>
                  <a:pt x="2345407" y="0"/>
                </a:lnTo>
              </a:path>
            </a:pathLst>
          </a:custGeom>
          <a:ln w="20749">
            <a:solidFill>
              <a:srgbClr val="000000"/>
            </a:solidFill>
          </a:ln>
        </p:spPr>
        <p:txBody>
          <a:bodyPr wrap="square" lIns="0" tIns="0" rIns="0" bIns="0" rtlCol="0"/>
          <a:lstStyle/>
          <a:p>
            <a:endParaRPr/>
          </a:p>
        </p:txBody>
      </p:sp>
      <p:sp>
        <p:nvSpPr>
          <p:cNvPr id="13" name="object 13"/>
          <p:cNvSpPr txBox="1"/>
          <p:nvPr/>
        </p:nvSpPr>
        <p:spPr>
          <a:xfrm>
            <a:off x="5106295" y="3466293"/>
            <a:ext cx="454025" cy="366395"/>
          </a:xfrm>
          <a:prstGeom prst="rect">
            <a:avLst/>
          </a:prstGeom>
        </p:spPr>
        <p:txBody>
          <a:bodyPr vert="horz" wrap="square" lIns="0" tIns="17145" rIns="0" bIns="0" rtlCol="0">
            <a:spAutoFit/>
          </a:bodyPr>
          <a:lstStyle/>
          <a:p>
            <a:pPr marL="12700">
              <a:lnSpc>
                <a:spcPct val="100000"/>
              </a:lnSpc>
              <a:spcBef>
                <a:spcPts val="135"/>
              </a:spcBef>
            </a:pPr>
            <a:r>
              <a:rPr sz="2200" b="1" dirty="0">
                <a:latin typeface="Times New Roman"/>
                <a:cs typeface="Times New Roman"/>
              </a:rPr>
              <a:t>c</a:t>
            </a:r>
            <a:r>
              <a:rPr sz="2200" b="1" spc="-229" dirty="0">
                <a:latin typeface="Times New Roman"/>
                <a:cs typeface="Times New Roman"/>
              </a:rPr>
              <a:t> </a:t>
            </a:r>
            <a:r>
              <a:rPr sz="2200" b="1" spc="80" dirty="0">
                <a:latin typeface="Times New Roman"/>
                <a:cs typeface="Times New Roman"/>
              </a:rPr>
              <a:t>lk</a:t>
            </a:r>
            <a:endParaRPr sz="2200">
              <a:latin typeface="Times New Roman"/>
              <a:cs typeface="Times New Roman"/>
            </a:endParaRPr>
          </a:p>
        </p:txBody>
      </p:sp>
      <p:sp>
        <p:nvSpPr>
          <p:cNvPr id="14" name="object 14"/>
          <p:cNvSpPr txBox="1"/>
          <p:nvPr/>
        </p:nvSpPr>
        <p:spPr>
          <a:xfrm>
            <a:off x="6719456" y="3412946"/>
            <a:ext cx="428625" cy="366395"/>
          </a:xfrm>
          <a:prstGeom prst="rect">
            <a:avLst/>
          </a:prstGeom>
        </p:spPr>
        <p:txBody>
          <a:bodyPr vert="horz" wrap="square" lIns="0" tIns="17145" rIns="0" bIns="0" rtlCol="0">
            <a:spAutoFit/>
          </a:bodyPr>
          <a:lstStyle/>
          <a:p>
            <a:pPr marL="12700">
              <a:lnSpc>
                <a:spcPct val="100000"/>
              </a:lnSpc>
              <a:spcBef>
                <a:spcPts val="135"/>
              </a:spcBef>
            </a:pPr>
            <a:r>
              <a:rPr sz="2200" b="1" spc="185" dirty="0">
                <a:latin typeface="Times New Roman"/>
                <a:cs typeface="Times New Roman"/>
              </a:rPr>
              <a:t>q* </a:t>
            </a:r>
            <a:endParaRPr sz="2200">
              <a:latin typeface="Times New Roman"/>
              <a:cs typeface="Times New Roman"/>
            </a:endParaRPr>
          </a:p>
        </p:txBody>
      </p:sp>
      <p:sp>
        <p:nvSpPr>
          <p:cNvPr id="15" name="object 15"/>
          <p:cNvSpPr txBox="1"/>
          <p:nvPr/>
        </p:nvSpPr>
        <p:spPr>
          <a:xfrm>
            <a:off x="5271649" y="3934526"/>
            <a:ext cx="139065" cy="297815"/>
          </a:xfrm>
          <a:prstGeom prst="rect">
            <a:avLst/>
          </a:prstGeom>
        </p:spPr>
        <p:txBody>
          <a:bodyPr vert="horz" wrap="square" lIns="0" tIns="17145" rIns="0" bIns="0" rtlCol="0">
            <a:spAutoFit/>
          </a:bodyPr>
          <a:lstStyle/>
          <a:p>
            <a:pPr marL="12700">
              <a:lnSpc>
                <a:spcPct val="100000"/>
              </a:lnSpc>
              <a:spcBef>
                <a:spcPts val="135"/>
              </a:spcBef>
            </a:pPr>
            <a:r>
              <a:rPr sz="1750" b="1" spc="-50" dirty="0">
                <a:latin typeface="Times New Roman"/>
                <a:cs typeface="Times New Roman"/>
              </a:rPr>
              <a:t>0</a:t>
            </a:r>
            <a:endParaRPr sz="1750">
              <a:latin typeface="Times New Roman"/>
              <a:cs typeface="Times New Roman"/>
            </a:endParaRPr>
          </a:p>
        </p:txBody>
      </p:sp>
      <p:sp>
        <p:nvSpPr>
          <p:cNvPr id="16" name="object 16"/>
          <p:cNvSpPr txBox="1"/>
          <p:nvPr/>
        </p:nvSpPr>
        <p:spPr>
          <a:xfrm>
            <a:off x="5271649" y="4418397"/>
            <a:ext cx="139065" cy="297815"/>
          </a:xfrm>
          <a:prstGeom prst="rect">
            <a:avLst/>
          </a:prstGeom>
        </p:spPr>
        <p:txBody>
          <a:bodyPr vert="horz" wrap="square" lIns="0" tIns="17145" rIns="0" bIns="0" rtlCol="0">
            <a:spAutoFit/>
          </a:bodyPr>
          <a:lstStyle/>
          <a:p>
            <a:pPr marL="12700">
              <a:lnSpc>
                <a:spcPct val="100000"/>
              </a:lnSpc>
              <a:spcBef>
                <a:spcPts val="135"/>
              </a:spcBef>
            </a:pPr>
            <a:r>
              <a:rPr sz="1750" b="1" spc="-50" dirty="0">
                <a:latin typeface="Times New Roman"/>
                <a:cs typeface="Times New Roman"/>
              </a:rPr>
              <a:t>1</a:t>
            </a:r>
            <a:endParaRPr sz="1750">
              <a:latin typeface="Times New Roman"/>
              <a:cs typeface="Times New Roman"/>
            </a:endParaRPr>
          </a:p>
        </p:txBody>
      </p:sp>
      <p:sp>
        <p:nvSpPr>
          <p:cNvPr id="17" name="object 17"/>
          <p:cNvSpPr txBox="1"/>
          <p:nvPr/>
        </p:nvSpPr>
        <p:spPr>
          <a:xfrm>
            <a:off x="6834499" y="3881950"/>
            <a:ext cx="151765" cy="297815"/>
          </a:xfrm>
          <a:prstGeom prst="rect">
            <a:avLst/>
          </a:prstGeom>
        </p:spPr>
        <p:txBody>
          <a:bodyPr vert="horz" wrap="square" lIns="0" tIns="17145" rIns="0" bIns="0" rtlCol="0">
            <a:spAutoFit/>
          </a:bodyPr>
          <a:lstStyle/>
          <a:p>
            <a:pPr marL="12700">
              <a:lnSpc>
                <a:spcPct val="100000"/>
              </a:lnSpc>
              <a:spcBef>
                <a:spcPts val="135"/>
              </a:spcBef>
            </a:pPr>
            <a:r>
              <a:rPr sz="1750" b="1" spc="-50" dirty="0">
                <a:latin typeface="Times New Roman"/>
                <a:cs typeface="Times New Roman"/>
              </a:rPr>
              <a:t>q</a:t>
            </a:r>
            <a:endParaRPr sz="1750">
              <a:latin typeface="Times New Roman"/>
              <a:cs typeface="Times New Roman"/>
            </a:endParaRPr>
          </a:p>
        </p:txBody>
      </p:sp>
      <p:sp>
        <p:nvSpPr>
          <p:cNvPr id="18" name="object 18"/>
          <p:cNvSpPr txBox="1"/>
          <p:nvPr/>
        </p:nvSpPr>
        <p:spPr>
          <a:xfrm>
            <a:off x="6834499" y="4364301"/>
            <a:ext cx="151765" cy="297815"/>
          </a:xfrm>
          <a:prstGeom prst="rect">
            <a:avLst/>
          </a:prstGeom>
        </p:spPr>
        <p:txBody>
          <a:bodyPr vert="horz" wrap="square" lIns="0" tIns="17145" rIns="0" bIns="0" rtlCol="0">
            <a:spAutoFit/>
          </a:bodyPr>
          <a:lstStyle/>
          <a:p>
            <a:pPr marL="12700">
              <a:lnSpc>
                <a:spcPct val="100000"/>
              </a:lnSpc>
              <a:spcBef>
                <a:spcPts val="135"/>
              </a:spcBef>
            </a:pPr>
            <a:r>
              <a:rPr sz="1750" b="1" spc="-50" dirty="0">
                <a:latin typeface="Times New Roman"/>
                <a:cs typeface="Times New Roman"/>
              </a:rPr>
              <a:t>q</a:t>
            </a:r>
            <a:endParaRPr sz="1750">
              <a:latin typeface="Times New Roman"/>
              <a:cs typeface="Times New Roman"/>
            </a:endParaRPr>
          </a:p>
        </p:txBody>
      </p:sp>
      <p:sp>
        <p:nvSpPr>
          <p:cNvPr id="19" name="object 19"/>
          <p:cNvSpPr/>
          <p:nvPr/>
        </p:nvSpPr>
        <p:spPr>
          <a:xfrm>
            <a:off x="4905574" y="5340845"/>
            <a:ext cx="2345690" cy="0"/>
          </a:xfrm>
          <a:custGeom>
            <a:avLst/>
            <a:gdLst/>
            <a:ahLst/>
            <a:cxnLst/>
            <a:rect l="l" t="t" r="r" b="b"/>
            <a:pathLst>
              <a:path w="2345690">
                <a:moveTo>
                  <a:pt x="0" y="0"/>
                </a:moveTo>
                <a:lnTo>
                  <a:pt x="2345407" y="0"/>
                </a:lnTo>
              </a:path>
            </a:pathLst>
          </a:custGeom>
          <a:ln w="20749">
            <a:solidFill>
              <a:srgbClr val="000000"/>
            </a:solidFill>
          </a:ln>
        </p:spPr>
        <p:txBody>
          <a:bodyPr wrap="square" lIns="0" tIns="0" rIns="0" bIns="0" rtlCol="0"/>
          <a:lstStyle/>
          <a:p>
            <a:endParaRPr/>
          </a:p>
        </p:txBody>
      </p:sp>
      <p:pic>
        <p:nvPicPr>
          <p:cNvPr id="20" name="object 20"/>
          <p:cNvPicPr/>
          <p:nvPr/>
        </p:nvPicPr>
        <p:blipFill>
          <a:blip r:embed="rId2" cstate="print"/>
          <a:stretch>
            <a:fillRect/>
          </a:stretch>
        </p:blipFill>
        <p:spPr>
          <a:xfrm>
            <a:off x="5248121" y="4900698"/>
            <a:ext cx="162656" cy="345243"/>
          </a:xfrm>
          <a:prstGeom prst="rect">
            <a:avLst/>
          </a:prstGeom>
        </p:spPr>
      </p:pic>
      <p:sp>
        <p:nvSpPr>
          <p:cNvPr id="21" name="object 21"/>
          <p:cNvSpPr txBox="1"/>
          <p:nvPr/>
        </p:nvSpPr>
        <p:spPr>
          <a:xfrm>
            <a:off x="3707263" y="4900748"/>
            <a:ext cx="3279140" cy="912494"/>
          </a:xfrm>
          <a:prstGeom prst="rect">
            <a:avLst/>
          </a:prstGeom>
        </p:spPr>
        <p:txBody>
          <a:bodyPr vert="horz" wrap="square" lIns="0" tIns="17145" rIns="0" bIns="0" rtlCol="0">
            <a:spAutoFit/>
          </a:bodyPr>
          <a:lstStyle/>
          <a:p>
            <a:pPr marR="5080" algn="r">
              <a:lnSpc>
                <a:spcPct val="100000"/>
              </a:lnSpc>
              <a:spcBef>
                <a:spcPts val="135"/>
              </a:spcBef>
            </a:pPr>
            <a:r>
              <a:rPr sz="1750" b="1" spc="-50" dirty="0">
                <a:latin typeface="Times New Roman"/>
                <a:cs typeface="Times New Roman"/>
              </a:rPr>
              <a:t>d</a:t>
            </a:r>
            <a:endParaRPr sz="1750">
              <a:latin typeface="Times New Roman"/>
              <a:cs typeface="Times New Roman"/>
            </a:endParaRPr>
          </a:p>
          <a:p>
            <a:pPr>
              <a:lnSpc>
                <a:spcPct val="100000"/>
              </a:lnSpc>
              <a:spcBef>
                <a:spcPts val="1390"/>
              </a:spcBef>
            </a:pPr>
            <a:endParaRPr sz="1750">
              <a:latin typeface="Times New Roman"/>
              <a:cs typeface="Times New Roman"/>
            </a:endParaRPr>
          </a:p>
          <a:p>
            <a:pPr marL="12700">
              <a:lnSpc>
                <a:spcPct val="100000"/>
              </a:lnSpc>
            </a:pPr>
            <a:r>
              <a:rPr sz="1200" dirty="0">
                <a:latin typeface="微软雅黑"/>
                <a:cs typeface="微软雅黑"/>
              </a:rPr>
              <a:t>图</a:t>
            </a:r>
            <a:r>
              <a:rPr sz="1200" dirty="0">
                <a:latin typeface="Arial"/>
                <a:cs typeface="Arial"/>
              </a:rPr>
              <a:t>4-4.1</a:t>
            </a:r>
            <a:r>
              <a:rPr sz="1200" spc="380" dirty="0">
                <a:latin typeface="Arial"/>
                <a:cs typeface="Arial"/>
              </a:rPr>
              <a:t> </a:t>
            </a:r>
            <a:r>
              <a:rPr sz="1200" dirty="0">
                <a:latin typeface="微软雅黑"/>
                <a:cs typeface="微软雅黑"/>
              </a:rPr>
              <a:t>基本</a:t>
            </a:r>
            <a:r>
              <a:rPr sz="1200" dirty="0">
                <a:latin typeface="Arial"/>
                <a:cs typeface="Arial"/>
              </a:rPr>
              <a:t>D</a:t>
            </a:r>
            <a:r>
              <a:rPr sz="1200" spc="-5" dirty="0">
                <a:latin typeface="微软雅黑"/>
                <a:cs typeface="微软雅黑"/>
              </a:rPr>
              <a:t>触发器的符号及真值表</a:t>
            </a:r>
            <a:endParaRPr sz="1200">
              <a:latin typeface="微软雅黑"/>
              <a:cs typeface="微软雅黑"/>
            </a:endParaRPr>
          </a:p>
        </p:txBody>
      </p:sp>
      <p:sp>
        <p:nvSpPr>
          <p:cNvPr id="22" name="object 22"/>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295529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4.1.1</a:t>
            </a:r>
            <a:r>
              <a:rPr spc="-45" dirty="0">
                <a:latin typeface="Arial"/>
                <a:cs typeface="Arial"/>
              </a:rPr>
              <a:t> </a:t>
            </a:r>
            <a:r>
              <a:rPr dirty="0"/>
              <a:t>基本</a:t>
            </a:r>
            <a:r>
              <a:rPr dirty="0">
                <a:latin typeface="Arial"/>
                <a:cs typeface="Arial"/>
              </a:rPr>
              <a:t>D</a:t>
            </a:r>
            <a:r>
              <a:rPr spc="-20" dirty="0"/>
              <a:t>触发器</a:t>
            </a:r>
          </a:p>
        </p:txBody>
      </p:sp>
      <p:sp>
        <p:nvSpPr>
          <p:cNvPr id="3" name="object 3"/>
          <p:cNvSpPr txBox="1"/>
          <p:nvPr/>
        </p:nvSpPr>
        <p:spPr>
          <a:xfrm>
            <a:off x="518293" y="1972454"/>
            <a:ext cx="9655175" cy="988694"/>
          </a:xfrm>
          <a:prstGeom prst="rect">
            <a:avLst/>
          </a:prstGeom>
        </p:spPr>
        <p:txBody>
          <a:bodyPr vert="horz" wrap="square" lIns="0" tIns="12065" rIns="0" bIns="0" rtlCol="0">
            <a:spAutoFit/>
          </a:bodyPr>
          <a:lstStyle/>
          <a:p>
            <a:pPr marL="212725" marR="5080" indent="-202565">
              <a:lnSpc>
                <a:spcPct val="150500"/>
              </a:lnSpc>
              <a:spcBef>
                <a:spcPts val="95"/>
              </a:spcBef>
              <a:buSzPct val="83333"/>
              <a:buFont typeface="Wingdings"/>
              <a:buChar char=""/>
              <a:tabLst>
                <a:tab pos="212725" algn="l"/>
                <a:tab pos="221615" algn="l"/>
              </a:tabLst>
            </a:pPr>
            <a:r>
              <a:rPr sz="2100" dirty="0">
                <a:solidFill>
                  <a:srgbClr val="EC891C"/>
                </a:solidFill>
                <a:latin typeface="微软雅黑"/>
                <a:cs typeface="微软雅黑"/>
              </a:rPr>
              <a:t>	</a:t>
            </a:r>
            <a:r>
              <a:rPr sz="2100" b="1" dirty="0">
                <a:solidFill>
                  <a:srgbClr val="3E3E3E"/>
                </a:solidFill>
                <a:latin typeface="微软雅黑"/>
                <a:cs typeface="微软雅黑"/>
              </a:rPr>
              <a:t>从时序波形可以看出，输出信号</a:t>
            </a:r>
            <a:r>
              <a:rPr sz="2100" b="1" spc="-10" dirty="0">
                <a:solidFill>
                  <a:srgbClr val="3E3E3E"/>
                </a:solidFill>
                <a:latin typeface="Arial"/>
                <a:cs typeface="Arial"/>
              </a:rPr>
              <a:t>d</a:t>
            </a:r>
            <a:r>
              <a:rPr sz="2100" b="1" dirty="0">
                <a:solidFill>
                  <a:srgbClr val="3E3E3E"/>
                </a:solidFill>
                <a:latin typeface="微软雅黑"/>
                <a:cs typeface="微软雅黑"/>
              </a:rPr>
              <a:t>的值只在</a:t>
            </a:r>
            <a:r>
              <a:rPr sz="2100" b="1" dirty="0">
                <a:solidFill>
                  <a:srgbClr val="3E3E3E"/>
                </a:solidFill>
                <a:latin typeface="Arial"/>
                <a:cs typeface="Arial"/>
              </a:rPr>
              <a:t>clk</a:t>
            </a:r>
            <a:r>
              <a:rPr sz="2100" b="1" spc="-5" dirty="0">
                <a:solidFill>
                  <a:srgbClr val="3E3E3E"/>
                </a:solidFill>
                <a:latin typeface="微软雅黑"/>
                <a:cs typeface="微软雅黑"/>
              </a:rPr>
              <a:t>的上升沿到达时变化，并存储在触</a:t>
            </a:r>
            <a:r>
              <a:rPr sz="2100" b="1" spc="-15" dirty="0">
                <a:solidFill>
                  <a:srgbClr val="3E3E3E"/>
                </a:solidFill>
                <a:latin typeface="微软雅黑"/>
                <a:cs typeface="微软雅黑"/>
              </a:rPr>
              <a:t>发器中。</a:t>
            </a:r>
            <a:endParaRPr sz="2100">
              <a:latin typeface="微软雅黑"/>
              <a:cs typeface="微软雅黑"/>
            </a:endParaRPr>
          </a:p>
        </p:txBody>
      </p:sp>
      <p:pic>
        <p:nvPicPr>
          <p:cNvPr id="4" name="object 4"/>
          <p:cNvPicPr/>
          <p:nvPr/>
        </p:nvPicPr>
        <p:blipFill>
          <a:blip r:embed="rId2" cstate="print"/>
          <a:stretch>
            <a:fillRect/>
          </a:stretch>
        </p:blipFill>
        <p:spPr>
          <a:xfrm>
            <a:off x="2097671" y="3518915"/>
            <a:ext cx="6402323" cy="1600200"/>
          </a:xfrm>
          <a:prstGeom prst="rect">
            <a:avLst/>
          </a:prstGeom>
        </p:spPr>
      </p:pic>
      <p:sp>
        <p:nvSpPr>
          <p:cNvPr id="5" name="object 5"/>
          <p:cNvSpPr txBox="1"/>
          <p:nvPr/>
        </p:nvSpPr>
        <p:spPr>
          <a:xfrm>
            <a:off x="3963295" y="5254244"/>
            <a:ext cx="2263775"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4-4.2</a:t>
            </a:r>
            <a:r>
              <a:rPr sz="1200" spc="345" dirty="0">
                <a:latin typeface="Arial"/>
                <a:cs typeface="Arial"/>
              </a:rPr>
              <a:t> </a:t>
            </a:r>
            <a:r>
              <a:rPr sz="1200" dirty="0">
                <a:latin typeface="微软雅黑"/>
                <a:cs typeface="微软雅黑"/>
              </a:rPr>
              <a:t>基本</a:t>
            </a:r>
            <a:r>
              <a:rPr sz="1200" dirty="0">
                <a:latin typeface="Arial"/>
                <a:cs typeface="Arial"/>
              </a:rPr>
              <a:t>D</a:t>
            </a:r>
            <a:r>
              <a:rPr sz="1200" spc="-10" dirty="0">
                <a:latin typeface="微软雅黑"/>
                <a:cs typeface="微软雅黑"/>
              </a:rPr>
              <a:t>触发器的时序波形</a:t>
            </a:r>
            <a:endParaRPr sz="1200">
              <a:latin typeface="微软雅黑"/>
              <a:cs typeface="微软雅黑"/>
            </a:endParaRPr>
          </a:p>
        </p:txBody>
      </p:sp>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295529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4.1.1</a:t>
            </a:r>
            <a:r>
              <a:rPr spc="-45" dirty="0">
                <a:latin typeface="Arial"/>
                <a:cs typeface="Arial"/>
              </a:rPr>
              <a:t> </a:t>
            </a:r>
            <a:r>
              <a:rPr dirty="0"/>
              <a:t>基本</a:t>
            </a:r>
            <a:r>
              <a:rPr dirty="0">
                <a:latin typeface="Arial"/>
                <a:cs typeface="Arial"/>
              </a:rPr>
              <a:t>D</a:t>
            </a:r>
            <a:r>
              <a:rPr spc="-20" dirty="0"/>
              <a:t>触发器</a:t>
            </a:r>
          </a:p>
        </p:txBody>
      </p:sp>
      <p:sp>
        <p:nvSpPr>
          <p:cNvPr id="3" name="object 3"/>
          <p:cNvSpPr/>
          <p:nvPr/>
        </p:nvSpPr>
        <p:spPr>
          <a:xfrm>
            <a:off x="1048397" y="2573273"/>
            <a:ext cx="2784475" cy="3012440"/>
          </a:xfrm>
          <a:custGeom>
            <a:avLst/>
            <a:gdLst/>
            <a:ahLst/>
            <a:cxnLst/>
            <a:rect l="l" t="t" r="r" b="b"/>
            <a:pathLst>
              <a:path w="2784475" h="3012440">
                <a:moveTo>
                  <a:pt x="2784348" y="3007614"/>
                </a:moveTo>
                <a:lnTo>
                  <a:pt x="2784348" y="4572"/>
                </a:lnTo>
                <a:lnTo>
                  <a:pt x="2780538" y="0"/>
                </a:lnTo>
                <a:lnTo>
                  <a:pt x="4571" y="0"/>
                </a:lnTo>
                <a:lnTo>
                  <a:pt x="0" y="4572"/>
                </a:lnTo>
                <a:lnTo>
                  <a:pt x="0" y="3007614"/>
                </a:lnTo>
                <a:lnTo>
                  <a:pt x="4572" y="3012186"/>
                </a:lnTo>
                <a:lnTo>
                  <a:pt x="9906" y="3012186"/>
                </a:lnTo>
                <a:lnTo>
                  <a:pt x="9906" y="19812"/>
                </a:lnTo>
                <a:lnTo>
                  <a:pt x="19812" y="9906"/>
                </a:lnTo>
                <a:lnTo>
                  <a:pt x="19811" y="19812"/>
                </a:lnTo>
                <a:lnTo>
                  <a:pt x="2765297" y="19812"/>
                </a:lnTo>
                <a:lnTo>
                  <a:pt x="2765297" y="9905"/>
                </a:lnTo>
                <a:lnTo>
                  <a:pt x="2775204" y="19812"/>
                </a:lnTo>
                <a:lnTo>
                  <a:pt x="2775204" y="3012186"/>
                </a:lnTo>
                <a:lnTo>
                  <a:pt x="2780538" y="3012186"/>
                </a:lnTo>
                <a:lnTo>
                  <a:pt x="2784348" y="3007614"/>
                </a:lnTo>
                <a:close/>
              </a:path>
              <a:path w="2784475" h="3012440">
                <a:moveTo>
                  <a:pt x="19812" y="19812"/>
                </a:moveTo>
                <a:lnTo>
                  <a:pt x="19812" y="9906"/>
                </a:lnTo>
                <a:lnTo>
                  <a:pt x="9906" y="19812"/>
                </a:lnTo>
                <a:lnTo>
                  <a:pt x="19812" y="19812"/>
                </a:lnTo>
                <a:close/>
              </a:path>
              <a:path w="2784475" h="3012440">
                <a:moveTo>
                  <a:pt x="19812" y="2992374"/>
                </a:moveTo>
                <a:lnTo>
                  <a:pt x="19812" y="19812"/>
                </a:lnTo>
                <a:lnTo>
                  <a:pt x="9906" y="19812"/>
                </a:lnTo>
                <a:lnTo>
                  <a:pt x="9906" y="2992374"/>
                </a:lnTo>
                <a:lnTo>
                  <a:pt x="19812" y="2992374"/>
                </a:lnTo>
                <a:close/>
              </a:path>
              <a:path w="2784475" h="3012440">
                <a:moveTo>
                  <a:pt x="2775204" y="2992374"/>
                </a:moveTo>
                <a:lnTo>
                  <a:pt x="9906" y="2992374"/>
                </a:lnTo>
                <a:lnTo>
                  <a:pt x="19812" y="3002280"/>
                </a:lnTo>
                <a:lnTo>
                  <a:pt x="19812" y="3012186"/>
                </a:lnTo>
                <a:lnTo>
                  <a:pt x="2765298" y="3012186"/>
                </a:lnTo>
                <a:lnTo>
                  <a:pt x="2765298" y="3002280"/>
                </a:lnTo>
                <a:lnTo>
                  <a:pt x="2775204" y="2992374"/>
                </a:lnTo>
                <a:close/>
              </a:path>
              <a:path w="2784475" h="3012440">
                <a:moveTo>
                  <a:pt x="19812" y="3012186"/>
                </a:moveTo>
                <a:lnTo>
                  <a:pt x="19812" y="3002280"/>
                </a:lnTo>
                <a:lnTo>
                  <a:pt x="9906" y="2992374"/>
                </a:lnTo>
                <a:lnTo>
                  <a:pt x="9906" y="3012186"/>
                </a:lnTo>
                <a:lnTo>
                  <a:pt x="19812" y="3012186"/>
                </a:lnTo>
                <a:close/>
              </a:path>
              <a:path w="2784475" h="3012440">
                <a:moveTo>
                  <a:pt x="2775204" y="19812"/>
                </a:moveTo>
                <a:lnTo>
                  <a:pt x="2765297" y="9905"/>
                </a:lnTo>
                <a:lnTo>
                  <a:pt x="2765297" y="19812"/>
                </a:lnTo>
                <a:lnTo>
                  <a:pt x="2775204" y="19812"/>
                </a:lnTo>
                <a:close/>
              </a:path>
              <a:path w="2784475" h="3012440">
                <a:moveTo>
                  <a:pt x="2775204" y="2992374"/>
                </a:moveTo>
                <a:lnTo>
                  <a:pt x="2775204" y="19812"/>
                </a:lnTo>
                <a:lnTo>
                  <a:pt x="2765297" y="19812"/>
                </a:lnTo>
                <a:lnTo>
                  <a:pt x="2765298" y="2992374"/>
                </a:lnTo>
                <a:lnTo>
                  <a:pt x="2775204" y="2992374"/>
                </a:lnTo>
                <a:close/>
              </a:path>
              <a:path w="2784475" h="3012440">
                <a:moveTo>
                  <a:pt x="2775204" y="3012186"/>
                </a:moveTo>
                <a:lnTo>
                  <a:pt x="2775204" y="2992374"/>
                </a:lnTo>
                <a:lnTo>
                  <a:pt x="2765298" y="3002280"/>
                </a:lnTo>
                <a:lnTo>
                  <a:pt x="2765298" y="3012186"/>
                </a:lnTo>
                <a:lnTo>
                  <a:pt x="2775204" y="3012186"/>
                </a:lnTo>
                <a:close/>
              </a:path>
            </a:pathLst>
          </a:custGeom>
          <a:solidFill>
            <a:srgbClr val="FF0000"/>
          </a:solidFill>
        </p:spPr>
        <p:txBody>
          <a:bodyPr wrap="square" lIns="0" tIns="0" rIns="0" bIns="0" rtlCol="0"/>
          <a:lstStyle/>
          <a:p>
            <a:endParaRPr/>
          </a:p>
        </p:txBody>
      </p:sp>
      <p:sp>
        <p:nvSpPr>
          <p:cNvPr id="4" name="object 4"/>
          <p:cNvSpPr txBox="1"/>
          <p:nvPr/>
        </p:nvSpPr>
        <p:spPr>
          <a:xfrm>
            <a:off x="1193933" y="2625755"/>
            <a:ext cx="1845945" cy="555625"/>
          </a:xfrm>
          <a:prstGeom prst="rect">
            <a:avLst/>
          </a:prstGeom>
        </p:spPr>
        <p:txBody>
          <a:bodyPr vert="horz" wrap="square" lIns="0" tIns="60960" rIns="0" bIns="0" rtlCol="0">
            <a:spAutoFit/>
          </a:bodyPr>
          <a:lstStyle/>
          <a:p>
            <a:pPr>
              <a:lnSpc>
                <a:spcPct val="100000"/>
              </a:lnSpc>
              <a:spcBef>
                <a:spcPts val="480"/>
              </a:spcBef>
            </a:pPr>
            <a:r>
              <a:rPr sz="1200" b="1" spc="-30" dirty="0">
                <a:latin typeface="宋体"/>
                <a:cs typeface="宋体"/>
              </a:rPr>
              <a:t>例 </a:t>
            </a:r>
            <a:r>
              <a:rPr sz="1200" b="1" dirty="0">
                <a:latin typeface="Arial"/>
                <a:cs typeface="Arial"/>
              </a:rPr>
              <a:t>4.1</a:t>
            </a:r>
            <a:r>
              <a:rPr sz="1200" b="1" spc="204" dirty="0">
                <a:latin typeface="Arial"/>
                <a:cs typeface="Arial"/>
              </a:rPr>
              <a:t> </a:t>
            </a:r>
            <a:r>
              <a:rPr sz="1200" dirty="0">
                <a:latin typeface="宋体"/>
                <a:cs typeface="宋体"/>
              </a:rPr>
              <a:t>无异步复位</a:t>
            </a:r>
            <a:r>
              <a:rPr sz="1200" dirty="0">
                <a:latin typeface="Arial"/>
                <a:cs typeface="Arial"/>
              </a:rPr>
              <a:t>D</a:t>
            </a:r>
            <a:r>
              <a:rPr sz="1200" spc="-20" dirty="0">
                <a:latin typeface="宋体"/>
                <a:cs typeface="宋体"/>
              </a:rPr>
              <a:t>触发器</a:t>
            </a:r>
            <a:endParaRPr sz="1200">
              <a:latin typeface="宋体"/>
              <a:cs typeface="宋体"/>
            </a:endParaRPr>
          </a:p>
          <a:p>
            <a:pPr marL="166370">
              <a:lnSpc>
                <a:spcPct val="100000"/>
              </a:lnSpc>
              <a:spcBef>
                <a:spcPts val="484"/>
              </a:spcBef>
            </a:pPr>
            <a:r>
              <a:rPr sz="1550" b="1" dirty="0">
                <a:latin typeface="Arial"/>
                <a:cs typeface="Arial"/>
              </a:rPr>
              <a:t>module</a:t>
            </a:r>
            <a:r>
              <a:rPr sz="1550" b="1" spc="60" dirty="0">
                <a:latin typeface="Arial"/>
                <a:cs typeface="Arial"/>
              </a:rPr>
              <a:t> </a:t>
            </a:r>
            <a:r>
              <a:rPr sz="1550" spc="-25" dirty="0">
                <a:latin typeface="Arial"/>
                <a:cs typeface="Arial"/>
              </a:rPr>
              <a:t>dff</a:t>
            </a:r>
            <a:endParaRPr sz="1550">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5" name="object 5"/>
          <p:cNvSpPr txBox="1"/>
          <p:nvPr/>
        </p:nvSpPr>
        <p:spPr>
          <a:xfrm>
            <a:off x="1472056" y="3202947"/>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Arial"/>
                <a:cs typeface="Arial"/>
              </a:rPr>
              <a:t>(</a:t>
            </a:r>
            <a:endParaRPr sz="1550">
              <a:latin typeface="Arial"/>
              <a:cs typeface="Arial"/>
            </a:endParaRPr>
          </a:p>
        </p:txBody>
      </p:sp>
      <p:sp>
        <p:nvSpPr>
          <p:cNvPr id="6" name="object 6"/>
          <p:cNvSpPr txBox="1"/>
          <p:nvPr/>
        </p:nvSpPr>
        <p:spPr>
          <a:xfrm>
            <a:off x="1366122" y="3443435"/>
            <a:ext cx="2280920" cy="2046605"/>
          </a:xfrm>
          <a:prstGeom prst="rect">
            <a:avLst/>
          </a:prstGeom>
        </p:spPr>
        <p:txBody>
          <a:bodyPr vert="horz" wrap="square" lIns="0" tIns="11430" rIns="0" bIns="0" rtlCol="0">
            <a:spAutoFit/>
          </a:bodyPr>
          <a:lstStyle/>
          <a:p>
            <a:pPr marL="217170" marR="786130">
              <a:lnSpc>
                <a:spcPct val="122300"/>
              </a:lnSpc>
              <a:spcBef>
                <a:spcPts val="90"/>
              </a:spcBef>
            </a:pPr>
            <a:r>
              <a:rPr sz="1550" b="1" dirty="0">
                <a:latin typeface="Arial"/>
                <a:cs typeface="Arial"/>
              </a:rPr>
              <a:t>input</a:t>
            </a:r>
            <a:r>
              <a:rPr sz="1550" b="1" spc="470" dirty="0">
                <a:latin typeface="Arial"/>
                <a:cs typeface="Arial"/>
              </a:rPr>
              <a:t> </a:t>
            </a:r>
            <a:r>
              <a:rPr sz="1550" spc="-20" dirty="0">
                <a:latin typeface="Arial"/>
                <a:cs typeface="Arial"/>
              </a:rPr>
              <a:t>clk, </a:t>
            </a:r>
            <a:r>
              <a:rPr sz="1550" b="1" dirty="0">
                <a:latin typeface="Arial"/>
                <a:cs typeface="Arial"/>
              </a:rPr>
              <a:t>input</a:t>
            </a:r>
            <a:r>
              <a:rPr sz="1550" b="1" spc="470" dirty="0">
                <a:latin typeface="Arial"/>
                <a:cs typeface="Arial"/>
              </a:rPr>
              <a:t> </a:t>
            </a:r>
            <a:r>
              <a:rPr sz="1550" spc="-25" dirty="0">
                <a:latin typeface="Arial"/>
                <a:cs typeface="Arial"/>
              </a:rPr>
              <a:t>d, </a:t>
            </a:r>
            <a:r>
              <a:rPr sz="1550" b="1" dirty="0">
                <a:latin typeface="Arial"/>
                <a:cs typeface="Arial"/>
              </a:rPr>
              <a:t>output</a:t>
            </a:r>
            <a:r>
              <a:rPr sz="1550" b="1" spc="470" dirty="0">
                <a:latin typeface="Arial"/>
                <a:cs typeface="Arial"/>
              </a:rPr>
              <a:t> </a:t>
            </a:r>
            <a:r>
              <a:rPr sz="1550" b="1" dirty="0">
                <a:latin typeface="Arial"/>
                <a:cs typeface="Arial"/>
              </a:rPr>
              <a:t>reg</a:t>
            </a:r>
            <a:r>
              <a:rPr sz="1550" b="1" spc="475" dirty="0">
                <a:latin typeface="Arial"/>
                <a:cs typeface="Arial"/>
              </a:rPr>
              <a:t> </a:t>
            </a:r>
            <a:r>
              <a:rPr sz="1550" spc="-50" dirty="0">
                <a:latin typeface="Arial"/>
                <a:cs typeface="Arial"/>
              </a:rPr>
              <a:t>q</a:t>
            </a:r>
            <a:endParaRPr sz="1550">
              <a:latin typeface="Arial"/>
              <a:cs typeface="Arial"/>
            </a:endParaRPr>
          </a:p>
          <a:p>
            <a:pPr marL="111760">
              <a:lnSpc>
                <a:spcPct val="100000"/>
              </a:lnSpc>
              <a:spcBef>
                <a:spcPts val="409"/>
              </a:spcBef>
            </a:pPr>
            <a:r>
              <a:rPr sz="1550" spc="-25" dirty="0">
                <a:latin typeface="Arial"/>
                <a:cs typeface="Arial"/>
              </a:rPr>
              <a:t>);</a:t>
            </a:r>
            <a:endParaRPr sz="1550">
              <a:latin typeface="Arial"/>
              <a:cs typeface="Arial"/>
            </a:endParaRPr>
          </a:p>
          <a:p>
            <a:pPr marL="328930" indent="-223520">
              <a:lnSpc>
                <a:spcPct val="122300"/>
              </a:lnSpc>
            </a:pPr>
            <a:r>
              <a:rPr sz="1550" b="1" dirty="0">
                <a:latin typeface="Arial"/>
                <a:cs typeface="Arial"/>
              </a:rPr>
              <a:t>always</a:t>
            </a:r>
            <a:r>
              <a:rPr sz="1550" b="1" spc="60" dirty="0">
                <a:latin typeface="Arial"/>
                <a:cs typeface="Arial"/>
              </a:rPr>
              <a:t> </a:t>
            </a:r>
            <a:r>
              <a:rPr sz="1550" dirty="0">
                <a:latin typeface="Arial"/>
                <a:cs typeface="Arial"/>
              </a:rPr>
              <a:t>@(</a:t>
            </a:r>
            <a:r>
              <a:rPr sz="1550" b="1" dirty="0">
                <a:latin typeface="Arial"/>
                <a:cs typeface="Arial"/>
              </a:rPr>
              <a:t>posedge</a:t>
            </a:r>
            <a:r>
              <a:rPr sz="1550" b="1" spc="55" dirty="0">
                <a:latin typeface="Arial"/>
                <a:cs typeface="Arial"/>
              </a:rPr>
              <a:t> </a:t>
            </a:r>
            <a:r>
              <a:rPr sz="1550" spc="-20" dirty="0">
                <a:latin typeface="Arial"/>
                <a:cs typeface="Arial"/>
              </a:rPr>
              <a:t>clk) </a:t>
            </a:r>
            <a:r>
              <a:rPr sz="1550" dirty="0">
                <a:latin typeface="Arial"/>
                <a:cs typeface="Arial"/>
              </a:rPr>
              <a:t>q</a:t>
            </a:r>
            <a:r>
              <a:rPr sz="1550" spc="20" dirty="0">
                <a:latin typeface="Arial"/>
                <a:cs typeface="Arial"/>
              </a:rPr>
              <a:t> </a:t>
            </a:r>
            <a:r>
              <a:rPr sz="1550" dirty="0">
                <a:latin typeface="Arial"/>
                <a:cs typeface="Arial"/>
              </a:rPr>
              <a:t>&lt;=</a:t>
            </a:r>
            <a:r>
              <a:rPr sz="1550" spc="20" dirty="0">
                <a:latin typeface="Arial"/>
                <a:cs typeface="Arial"/>
              </a:rPr>
              <a:t> </a:t>
            </a:r>
            <a:r>
              <a:rPr sz="1550" spc="-25" dirty="0">
                <a:latin typeface="Arial"/>
                <a:cs typeface="Arial"/>
              </a:rPr>
              <a:t>d;</a:t>
            </a:r>
            <a:endParaRPr sz="1550">
              <a:latin typeface="Arial"/>
              <a:cs typeface="Arial"/>
            </a:endParaRPr>
          </a:p>
          <a:p>
            <a:pPr>
              <a:lnSpc>
                <a:spcPct val="100000"/>
              </a:lnSpc>
              <a:spcBef>
                <a:spcPts val="415"/>
              </a:spcBef>
            </a:pPr>
            <a:r>
              <a:rPr sz="1550" b="1" spc="-10" dirty="0">
                <a:latin typeface="Arial"/>
                <a:cs typeface="Arial"/>
              </a:rPr>
              <a:t>endmodule</a:t>
            </a:r>
            <a:endParaRPr sz="1550">
              <a:latin typeface="Arial"/>
              <a:cs typeface="Arial"/>
            </a:endParaRPr>
          </a:p>
        </p:txBody>
      </p:sp>
      <p:sp>
        <p:nvSpPr>
          <p:cNvPr id="7" name="object 7"/>
          <p:cNvSpPr txBox="1"/>
          <p:nvPr/>
        </p:nvSpPr>
        <p:spPr>
          <a:xfrm>
            <a:off x="4333627" y="2391708"/>
            <a:ext cx="5695315" cy="3232150"/>
          </a:xfrm>
          <a:prstGeom prst="rect">
            <a:avLst/>
          </a:prstGeom>
        </p:spPr>
        <p:txBody>
          <a:bodyPr vert="horz" wrap="square" lIns="0" tIns="12700" rIns="0" bIns="0" rtlCol="0">
            <a:spAutoFit/>
          </a:bodyPr>
          <a:lstStyle/>
          <a:p>
            <a:pPr marL="313055" marR="5080" indent="-300990" algn="just">
              <a:lnSpc>
                <a:spcPct val="150300"/>
              </a:lnSpc>
              <a:spcBef>
                <a:spcPts val="100"/>
              </a:spcBef>
              <a:buFont typeface="Wingdings"/>
              <a:buChar char=""/>
              <a:tabLst>
                <a:tab pos="313055" algn="l"/>
              </a:tabLst>
            </a:pPr>
            <a:r>
              <a:rPr sz="1750" spc="5" dirty="0">
                <a:latin typeface="微软雅黑"/>
                <a:cs typeface="微软雅黑"/>
              </a:rPr>
              <a:t>敏感列表中的</a:t>
            </a:r>
            <a:r>
              <a:rPr sz="1750" dirty="0">
                <a:latin typeface="Arial"/>
                <a:cs typeface="Arial"/>
              </a:rPr>
              <a:t>posedge</a:t>
            </a:r>
            <a:r>
              <a:rPr sz="1750" spc="325" dirty="0">
                <a:latin typeface="Arial"/>
                <a:cs typeface="Arial"/>
              </a:rPr>
              <a:t>  </a:t>
            </a:r>
            <a:r>
              <a:rPr sz="1750" dirty="0">
                <a:latin typeface="Arial"/>
                <a:cs typeface="Arial"/>
              </a:rPr>
              <a:t>clk</a:t>
            </a:r>
            <a:r>
              <a:rPr sz="1750" spc="-5" dirty="0">
                <a:latin typeface="微软雅黑"/>
                <a:cs typeface="微软雅黑"/>
              </a:rPr>
              <a:t>是时钟的上升沿检测函数，</a:t>
            </a:r>
            <a:r>
              <a:rPr sz="1750" spc="-50" dirty="0">
                <a:latin typeface="微软雅黑"/>
                <a:cs typeface="微软雅黑"/>
              </a:rPr>
              <a:t> </a:t>
            </a:r>
            <a:r>
              <a:rPr sz="1750" dirty="0">
                <a:latin typeface="Arial"/>
                <a:cs typeface="Arial"/>
              </a:rPr>
              <a:t>posedge(</a:t>
            </a:r>
            <a:r>
              <a:rPr lang="zh-CN" altLang="en-US" sz="1750" dirty="0">
                <a:latin typeface="Arial"/>
                <a:cs typeface="Arial"/>
              </a:rPr>
              <a:t>代表含义</a:t>
            </a:r>
            <a:r>
              <a:rPr sz="1750" dirty="0">
                <a:latin typeface="Arial"/>
                <a:cs typeface="Arial"/>
              </a:rPr>
              <a:t>positive</a:t>
            </a:r>
            <a:r>
              <a:rPr lang="en-US" sz="1750" dirty="0">
                <a:latin typeface="Arial"/>
                <a:cs typeface="Arial"/>
              </a:rPr>
              <a:t> </a:t>
            </a:r>
            <a:r>
              <a:rPr sz="1750" spc="-10" dirty="0">
                <a:latin typeface="Arial"/>
                <a:cs typeface="Arial"/>
              </a:rPr>
              <a:t>edge)</a:t>
            </a:r>
            <a:r>
              <a:rPr sz="1750" dirty="0">
                <a:latin typeface="微软雅黑"/>
                <a:cs typeface="微软雅黑"/>
              </a:rPr>
              <a:t>指定时钟信号的变化方向为由</a:t>
            </a:r>
            <a:r>
              <a:rPr sz="1750" spc="-50" dirty="0">
                <a:latin typeface="Arial"/>
                <a:cs typeface="Arial"/>
              </a:rPr>
              <a:t>0</a:t>
            </a:r>
            <a:r>
              <a:rPr sz="1750" dirty="0">
                <a:latin typeface="微软雅黑"/>
                <a:cs typeface="微软雅黑"/>
              </a:rPr>
              <a:t>变为</a:t>
            </a:r>
            <a:r>
              <a:rPr sz="1750" spc="-20" dirty="0">
                <a:latin typeface="Arial"/>
                <a:cs typeface="Arial"/>
              </a:rPr>
              <a:t>1</a:t>
            </a:r>
            <a:r>
              <a:rPr sz="1750" spc="-50" dirty="0">
                <a:latin typeface="微软雅黑"/>
                <a:cs typeface="微软雅黑"/>
              </a:rPr>
              <a:t>。</a:t>
            </a:r>
            <a:endParaRPr sz="1750" dirty="0">
              <a:latin typeface="微软雅黑"/>
              <a:cs typeface="微软雅黑"/>
            </a:endParaRPr>
          </a:p>
          <a:p>
            <a:pPr marL="313055" marR="10795" indent="-300990" algn="just">
              <a:lnSpc>
                <a:spcPct val="150300"/>
              </a:lnSpc>
              <a:buFont typeface="Wingdings"/>
              <a:buChar char=""/>
              <a:tabLst>
                <a:tab pos="313055" algn="l"/>
              </a:tabLst>
            </a:pPr>
            <a:r>
              <a:rPr sz="1750" spc="65" dirty="0">
                <a:latin typeface="微软雅黑"/>
                <a:cs typeface="微软雅黑"/>
              </a:rPr>
              <a:t>这表明状态变化总是在</a:t>
            </a:r>
            <a:r>
              <a:rPr sz="1750" dirty="0">
                <a:latin typeface="Arial"/>
                <a:cs typeface="Arial"/>
              </a:rPr>
              <a:t>clk</a:t>
            </a:r>
            <a:r>
              <a:rPr sz="1750" spc="55" dirty="0">
                <a:latin typeface="微软雅黑"/>
                <a:cs typeface="微软雅黑"/>
              </a:rPr>
              <a:t>信号的上升沿触发，反应出</a:t>
            </a:r>
            <a:r>
              <a:rPr sz="1750" spc="-5" dirty="0">
                <a:latin typeface="微软雅黑"/>
                <a:cs typeface="微软雅黑"/>
              </a:rPr>
              <a:t>触发器边沿触发的特性。</a:t>
            </a:r>
            <a:endParaRPr sz="1750" dirty="0">
              <a:latin typeface="微软雅黑"/>
              <a:cs typeface="微软雅黑"/>
            </a:endParaRPr>
          </a:p>
          <a:p>
            <a:pPr marL="313055" marR="5080" indent="-300990" algn="just">
              <a:lnSpc>
                <a:spcPct val="150300"/>
              </a:lnSpc>
              <a:buFont typeface="Wingdings"/>
              <a:buChar char=""/>
              <a:tabLst>
                <a:tab pos="313055" algn="l"/>
              </a:tabLst>
            </a:pPr>
            <a:r>
              <a:rPr sz="1750" b="1" dirty="0">
                <a:latin typeface="微软雅黑"/>
                <a:cs typeface="微软雅黑"/>
              </a:rPr>
              <a:t>注意：</a:t>
            </a:r>
            <a:r>
              <a:rPr sz="1750" dirty="0">
                <a:latin typeface="微软雅黑"/>
                <a:cs typeface="微软雅黑"/>
              </a:rPr>
              <a:t>输入信号</a:t>
            </a:r>
            <a:r>
              <a:rPr sz="1750" dirty="0">
                <a:latin typeface="Arial"/>
                <a:cs typeface="Arial"/>
              </a:rPr>
              <a:t>d</a:t>
            </a:r>
            <a:r>
              <a:rPr sz="1750" spc="-5" dirty="0">
                <a:latin typeface="微软雅黑"/>
                <a:cs typeface="微软雅黑"/>
              </a:rPr>
              <a:t>不包含在敏感列表中。这就验证了输</a:t>
            </a:r>
            <a:r>
              <a:rPr sz="1750" dirty="0">
                <a:latin typeface="微软雅黑"/>
                <a:cs typeface="微软雅黑"/>
              </a:rPr>
              <a:t>入信号</a:t>
            </a:r>
            <a:r>
              <a:rPr sz="1750" dirty="0">
                <a:latin typeface="Arial"/>
                <a:cs typeface="Arial"/>
              </a:rPr>
              <a:t>d</a:t>
            </a:r>
            <a:r>
              <a:rPr sz="1750" dirty="0">
                <a:latin typeface="微软雅黑"/>
                <a:cs typeface="微软雅黑"/>
              </a:rPr>
              <a:t>只在时钟信号的上升沿进行采样</a:t>
            </a:r>
            <a:r>
              <a:rPr sz="1750" dirty="0">
                <a:latin typeface="Arial"/>
                <a:cs typeface="Arial"/>
              </a:rPr>
              <a:t>,</a:t>
            </a:r>
            <a:r>
              <a:rPr sz="1750" spc="-10" dirty="0">
                <a:latin typeface="微软雅黑"/>
                <a:cs typeface="微软雅黑"/>
              </a:rPr>
              <a:t>其值的改变并</a:t>
            </a:r>
            <a:r>
              <a:rPr sz="1750" spc="-5" dirty="0">
                <a:latin typeface="微软雅黑"/>
                <a:cs typeface="微软雅黑"/>
              </a:rPr>
              <a:t>不会立即改变输出信号。</a:t>
            </a:r>
            <a:endParaRPr sz="1750" dirty="0">
              <a:latin typeface="微软雅黑"/>
              <a:cs typeface="微软雅黑"/>
            </a:endParaRPr>
          </a:p>
        </p:txBody>
      </p:sp>
      <p:sp>
        <p:nvSpPr>
          <p:cNvPr id="8" name="object 8"/>
          <p:cNvSpPr txBox="1"/>
          <p:nvPr/>
        </p:nvSpPr>
        <p:spPr>
          <a:xfrm>
            <a:off x="602858" y="1950260"/>
            <a:ext cx="6566534" cy="292735"/>
          </a:xfrm>
          <a:prstGeom prst="rect">
            <a:avLst/>
          </a:prstGeom>
        </p:spPr>
        <p:txBody>
          <a:bodyPr vert="horz" wrap="square" lIns="0" tIns="12700" rIns="0" bIns="0" rtlCol="0">
            <a:spAutoFit/>
          </a:bodyPr>
          <a:lstStyle/>
          <a:p>
            <a:pPr marL="12700">
              <a:lnSpc>
                <a:spcPct val="100000"/>
              </a:lnSpc>
              <a:spcBef>
                <a:spcPts val="100"/>
              </a:spcBef>
            </a:pPr>
            <a:r>
              <a:rPr sz="1750" dirty="0">
                <a:latin typeface="微软雅黑"/>
                <a:cs typeface="微软雅黑"/>
              </a:rPr>
              <a:t>例</a:t>
            </a:r>
            <a:r>
              <a:rPr sz="1750" spc="-20" dirty="0">
                <a:latin typeface="Arial"/>
                <a:cs typeface="Arial"/>
              </a:rPr>
              <a:t>4.1</a:t>
            </a:r>
            <a:r>
              <a:rPr sz="1750" spc="-5" dirty="0">
                <a:latin typeface="微软雅黑"/>
                <a:cs typeface="微软雅黑"/>
              </a:rPr>
              <a:t>使用了过程语句，时序电路通常都是用过程语句来进行描述。</a:t>
            </a:r>
            <a:endParaRPr sz="1750">
              <a:latin typeface="微软雅黑"/>
              <a:cs typeface="微软雅黑"/>
            </a:endParaRPr>
          </a:p>
        </p:txBody>
      </p:sp>
      <p:sp>
        <p:nvSpPr>
          <p:cNvPr id="9" name="object 9"/>
          <p:cNvSpPr txBox="1"/>
          <p:nvPr/>
        </p:nvSpPr>
        <p:spPr>
          <a:xfrm>
            <a:off x="1125586" y="5934750"/>
            <a:ext cx="7374890" cy="292735"/>
          </a:xfrm>
          <a:prstGeom prst="rect">
            <a:avLst/>
          </a:prstGeom>
        </p:spPr>
        <p:txBody>
          <a:bodyPr vert="horz" wrap="square" lIns="0" tIns="12700" rIns="0" bIns="0" rtlCol="0">
            <a:spAutoFit/>
          </a:bodyPr>
          <a:lstStyle/>
          <a:p>
            <a:pPr marL="12700">
              <a:lnSpc>
                <a:spcPct val="100000"/>
              </a:lnSpc>
              <a:spcBef>
                <a:spcPts val="100"/>
              </a:spcBef>
            </a:pPr>
            <a:r>
              <a:rPr sz="1750" dirty="0">
                <a:solidFill>
                  <a:srgbClr val="C00000"/>
                </a:solidFill>
                <a:latin typeface="楷体"/>
                <a:cs typeface="楷体"/>
              </a:rPr>
              <a:t>注：与posedge</a:t>
            </a:r>
            <a:r>
              <a:rPr sz="1750" spc="5" dirty="0">
                <a:solidFill>
                  <a:srgbClr val="C00000"/>
                </a:solidFill>
                <a:latin typeface="楷体"/>
                <a:cs typeface="楷体"/>
              </a:rPr>
              <a:t> </a:t>
            </a:r>
            <a:r>
              <a:rPr sz="1750" dirty="0">
                <a:solidFill>
                  <a:srgbClr val="C00000"/>
                </a:solidFill>
                <a:latin typeface="楷体"/>
                <a:cs typeface="楷体"/>
              </a:rPr>
              <a:t>clk对应的还有negedge</a:t>
            </a:r>
            <a:r>
              <a:rPr sz="1750" spc="5" dirty="0">
                <a:solidFill>
                  <a:srgbClr val="C00000"/>
                </a:solidFill>
                <a:latin typeface="楷体"/>
                <a:cs typeface="楷体"/>
              </a:rPr>
              <a:t> </a:t>
            </a:r>
            <a:r>
              <a:rPr sz="1750" dirty="0">
                <a:solidFill>
                  <a:srgbClr val="C00000"/>
                </a:solidFill>
                <a:latin typeface="楷体"/>
                <a:cs typeface="楷体"/>
              </a:rPr>
              <a:t>clk，</a:t>
            </a:r>
            <a:r>
              <a:rPr sz="1750" spc="-5" dirty="0">
                <a:solidFill>
                  <a:srgbClr val="C00000"/>
                </a:solidFill>
                <a:latin typeface="楷体"/>
                <a:cs typeface="楷体"/>
              </a:rPr>
              <a:t>它是时钟下降沿敏感的描述。</a:t>
            </a:r>
            <a:endParaRPr sz="1750">
              <a:latin typeface="楷体"/>
              <a:cs typeface="楷体"/>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438086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4.1.2</a:t>
            </a:r>
            <a:r>
              <a:rPr spc="-25" dirty="0">
                <a:latin typeface="Arial"/>
                <a:cs typeface="Arial"/>
              </a:rPr>
              <a:t> </a:t>
            </a:r>
            <a:r>
              <a:rPr dirty="0"/>
              <a:t>含异步复位的</a:t>
            </a:r>
            <a:r>
              <a:rPr dirty="0">
                <a:latin typeface="Arial"/>
                <a:cs typeface="Arial"/>
              </a:rPr>
              <a:t>D</a:t>
            </a:r>
            <a:r>
              <a:rPr spc="-25" dirty="0"/>
              <a:t>触发器</a:t>
            </a:r>
          </a:p>
        </p:txBody>
      </p:sp>
      <p:sp>
        <p:nvSpPr>
          <p:cNvPr id="3" name="object 3"/>
          <p:cNvSpPr txBox="1"/>
          <p:nvPr/>
        </p:nvSpPr>
        <p:spPr>
          <a:xfrm>
            <a:off x="631831" y="1938317"/>
            <a:ext cx="9523095" cy="827405"/>
          </a:xfrm>
          <a:prstGeom prst="rect">
            <a:avLst/>
          </a:prstGeom>
        </p:spPr>
        <p:txBody>
          <a:bodyPr vert="horz" wrap="square" lIns="0" tIns="12700" rIns="0" bIns="0" rtlCol="0">
            <a:spAutoFit/>
          </a:bodyPr>
          <a:lstStyle/>
          <a:p>
            <a:pPr marL="12700" marR="5080">
              <a:lnSpc>
                <a:spcPct val="150300"/>
              </a:lnSpc>
              <a:spcBef>
                <a:spcPts val="100"/>
              </a:spcBef>
            </a:pPr>
            <a:r>
              <a:rPr sz="1750" dirty="0">
                <a:latin typeface="Arial"/>
                <a:cs typeface="Arial"/>
              </a:rPr>
              <a:t>D</a:t>
            </a:r>
            <a:r>
              <a:rPr sz="1750" spc="-5" dirty="0">
                <a:latin typeface="微软雅黑"/>
                <a:cs typeface="微软雅黑"/>
              </a:rPr>
              <a:t>触发器可以包含异步复位信号，从时序波形可以看出，</a:t>
            </a:r>
            <a:r>
              <a:rPr sz="1750" spc="-10" dirty="0">
                <a:latin typeface="Arial"/>
                <a:cs typeface="Arial"/>
              </a:rPr>
              <a:t>reset</a:t>
            </a:r>
            <a:r>
              <a:rPr sz="1750" dirty="0">
                <a:latin typeface="微软雅黑"/>
                <a:cs typeface="微软雅黑"/>
              </a:rPr>
              <a:t>脚的高电平能够在任意时刻复位</a:t>
            </a:r>
            <a:r>
              <a:rPr sz="1750" dirty="0">
                <a:latin typeface="Arial"/>
                <a:cs typeface="Arial"/>
              </a:rPr>
              <a:t>D</a:t>
            </a:r>
            <a:r>
              <a:rPr sz="1750" spc="-50" dirty="0">
                <a:latin typeface="微软雅黑"/>
                <a:cs typeface="微软雅黑"/>
              </a:rPr>
              <a:t>触</a:t>
            </a:r>
            <a:r>
              <a:rPr sz="1750" spc="-5" dirty="0">
                <a:latin typeface="微软雅黑"/>
                <a:cs typeface="微软雅黑"/>
              </a:rPr>
              <a:t>发器，而不受时钟信号控制，它实际上比定期采样输入优先级更高。</a:t>
            </a:r>
            <a:endParaRPr sz="1750">
              <a:latin typeface="微软雅黑"/>
              <a:cs typeface="微软雅黑"/>
            </a:endParaRPr>
          </a:p>
        </p:txBody>
      </p:sp>
      <p:grpSp>
        <p:nvGrpSpPr>
          <p:cNvPr id="4" name="object 4"/>
          <p:cNvGrpSpPr/>
          <p:nvPr/>
        </p:nvGrpSpPr>
        <p:grpSpPr>
          <a:xfrm>
            <a:off x="1198276" y="3540813"/>
            <a:ext cx="624840" cy="896619"/>
            <a:chOff x="1198276" y="3540813"/>
            <a:chExt cx="624840" cy="896619"/>
          </a:xfrm>
        </p:grpSpPr>
        <p:sp>
          <p:nvSpPr>
            <p:cNvPr id="5" name="object 5"/>
            <p:cNvSpPr/>
            <p:nvPr/>
          </p:nvSpPr>
          <p:spPr>
            <a:xfrm>
              <a:off x="1205347" y="3547883"/>
              <a:ext cx="610870" cy="882650"/>
            </a:xfrm>
            <a:custGeom>
              <a:avLst/>
              <a:gdLst/>
              <a:ahLst/>
              <a:cxnLst/>
              <a:rect l="l" t="t" r="r" b="b"/>
              <a:pathLst>
                <a:path w="610869" h="882650">
                  <a:moveTo>
                    <a:pt x="0" y="882399"/>
                  </a:moveTo>
                  <a:lnTo>
                    <a:pt x="610349" y="882399"/>
                  </a:lnTo>
                  <a:lnTo>
                    <a:pt x="610349" y="0"/>
                  </a:lnTo>
                  <a:lnTo>
                    <a:pt x="0" y="0"/>
                  </a:lnTo>
                  <a:lnTo>
                    <a:pt x="0" y="882399"/>
                  </a:lnTo>
                  <a:close/>
                </a:path>
              </a:pathLst>
            </a:custGeom>
            <a:ln w="14127">
              <a:solidFill>
                <a:srgbClr val="000000"/>
              </a:solidFill>
            </a:ln>
          </p:spPr>
          <p:txBody>
            <a:bodyPr wrap="square" lIns="0" tIns="0" rIns="0" bIns="0" rtlCol="0"/>
            <a:lstStyle/>
            <a:p>
              <a:endParaRPr/>
            </a:p>
          </p:txBody>
        </p:sp>
        <p:sp>
          <p:nvSpPr>
            <p:cNvPr id="6" name="object 6"/>
            <p:cNvSpPr/>
            <p:nvPr/>
          </p:nvSpPr>
          <p:spPr>
            <a:xfrm>
              <a:off x="1205347" y="3933456"/>
              <a:ext cx="52705" cy="52705"/>
            </a:xfrm>
            <a:custGeom>
              <a:avLst/>
              <a:gdLst/>
              <a:ahLst/>
              <a:cxnLst/>
              <a:rect l="l" t="t" r="r" b="b"/>
              <a:pathLst>
                <a:path w="52705" h="52704">
                  <a:moveTo>
                    <a:pt x="0" y="0"/>
                  </a:moveTo>
                  <a:lnTo>
                    <a:pt x="52570" y="52580"/>
                  </a:lnTo>
                </a:path>
              </a:pathLst>
            </a:custGeom>
            <a:ln w="14011">
              <a:solidFill>
                <a:srgbClr val="000000"/>
              </a:solidFill>
            </a:ln>
          </p:spPr>
          <p:txBody>
            <a:bodyPr wrap="square" lIns="0" tIns="0" rIns="0" bIns="0" rtlCol="0"/>
            <a:lstStyle/>
            <a:p>
              <a:endParaRPr/>
            </a:p>
          </p:txBody>
        </p:sp>
        <p:sp>
          <p:nvSpPr>
            <p:cNvPr id="7" name="object 7"/>
            <p:cNvSpPr/>
            <p:nvPr/>
          </p:nvSpPr>
          <p:spPr>
            <a:xfrm>
              <a:off x="1205347" y="3987551"/>
              <a:ext cx="52705" cy="62230"/>
            </a:xfrm>
            <a:custGeom>
              <a:avLst/>
              <a:gdLst/>
              <a:ahLst/>
              <a:cxnLst/>
              <a:rect l="l" t="t" r="r" b="b"/>
              <a:pathLst>
                <a:path w="52705" h="62229">
                  <a:moveTo>
                    <a:pt x="0" y="61724"/>
                  </a:moveTo>
                  <a:lnTo>
                    <a:pt x="52570" y="0"/>
                  </a:lnTo>
                </a:path>
              </a:pathLst>
            </a:custGeom>
            <a:ln w="14063">
              <a:solidFill>
                <a:srgbClr val="000000"/>
              </a:solidFill>
            </a:ln>
          </p:spPr>
          <p:txBody>
            <a:bodyPr wrap="square" lIns="0" tIns="0" rIns="0" bIns="0" rtlCol="0"/>
            <a:lstStyle/>
            <a:p>
              <a:endParaRPr/>
            </a:p>
          </p:txBody>
        </p:sp>
      </p:grpSp>
      <p:sp>
        <p:nvSpPr>
          <p:cNvPr id="8" name="object 8"/>
          <p:cNvSpPr txBox="1"/>
          <p:nvPr/>
        </p:nvSpPr>
        <p:spPr>
          <a:xfrm>
            <a:off x="1291468" y="3544999"/>
            <a:ext cx="95885" cy="205104"/>
          </a:xfrm>
          <a:prstGeom prst="rect">
            <a:avLst/>
          </a:prstGeom>
        </p:spPr>
        <p:txBody>
          <a:bodyPr vert="horz" wrap="square" lIns="0" tIns="15875" rIns="0" bIns="0" rtlCol="0">
            <a:spAutoFit/>
          </a:bodyPr>
          <a:lstStyle/>
          <a:p>
            <a:pPr>
              <a:lnSpc>
                <a:spcPct val="100000"/>
              </a:lnSpc>
              <a:spcBef>
                <a:spcPts val="125"/>
              </a:spcBef>
            </a:pPr>
            <a:r>
              <a:rPr sz="1150" b="1" spc="-50" dirty="0">
                <a:latin typeface="Times New Roman"/>
                <a:cs typeface="Times New Roman"/>
              </a:rPr>
              <a:t>d</a:t>
            </a:r>
            <a:endParaRPr sz="1150">
              <a:latin typeface="Times New Roman"/>
              <a:cs typeface="Times New Roman"/>
            </a:endParaRPr>
          </a:p>
        </p:txBody>
      </p:sp>
      <p:sp>
        <p:nvSpPr>
          <p:cNvPr id="9" name="object 9"/>
          <p:cNvSpPr txBox="1"/>
          <p:nvPr/>
        </p:nvSpPr>
        <p:spPr>
          <a:xfrm>
            <a:off x="1642755" y="3527471"/>
            <a:ext cx="95885" cy="205104"/>
          </a:xfrm>
          <a:prstGeom prst="rect">
            <a:avLst/>
          </a:prstGeom>
        </p:spPr>
        <p:txBody>
          <a:bodyPr vert="horz" wrap="square" lIns="0" tIns="15875" rIns="0" bIns="0" rtlCol="0">
            <a:spAutoFit/>
          </a:bodyPr>
          <a:lstStyle/>
          <a:p>
            <a:pPr>
              <a:lnSpc>
                <a:spcPct val="100000"/>
              </a:lnSpc>
              <a:spcBef>
                <a:spcPts val="125"/>
              </a:spcBef>
            </a:pPr>
            <a:r>
              <a:rPr sz="1150" b="1" spc="-50" dirty="0">
                <a:latin typeface="Times New Roman"/>
                <a:cs typeface="Times New Roman"/>
              </a:rPr>
              <a:t>q</a:t>
            </a:r>
            <a:endParaRPr sz="1150">
              <a:latin typeface="Times New Roman"/>
              <a:cs typeface="Times New Roman"/>
            </a:endParaRPr>
          </a:p>
        </p:txBody>
      </p:sp>
      <p:sp>
        <p:nvSpPr>
          <p:cNvPr id="10" name="object 10"/>
          <p:cNvSpPr txBox="1"/>
          <p:nvPr/>
        </p:nvSpPr>
        <p:spPr>
          <a:xfrm>
            <a:off x="1304423" y="3871901"/>
            <a:ext cx="368300" cy="563880"/>
          </a:xfrm>
          <a:prstGeom prst="rect">
            <a:avLst/>
          </a:prstGeom>
        </p:spPr>
        <p:txBody>
          <a:bodyPr vert="horz" wrap="square" lIns="0" tIns="15875" rIns="0" bIns="0" rtlCol="0">
            <a:spAutoFit/>
          </a:bodyPr>
          <a:lstStyle/>
          <a:p>
            <a:pPr>
              <a:lnSpc>
                <a:spcPct val="100000"/>
              </a:lnSpc>
              <a:spcBef>
                <a:spcPts val="125"/>
              </a:spcBef>
            </a:pPr>
            <a:r>
              <a:rPr sz="1150" b="1" spc="-25" dirty="0">
                <a:latin typeface="Times New Roman"/>
                <a:cs typeface="Times New Roman"/>
              </a:rPr>
              <a:t>clk</a:t>
            </a:r>
            <a:endParaRPr sz="1150">
              <a:latin typeface="Times New Roman"/>
              <a:cs typeface="Times New Roman"/>
            </a:endParaRPr>
          </a:p>
          <a:p>
            <a:pPr>
              <a:lnSpc>
                <a:spcPct val="100000"/>
              </a:lnSpc>
              <a:spcBef>
                <a:spcPts val="125"/>
              </a:spcBef>
            </a:pPr>
            <a:endParaRPr sz="1150">
              <a:latin typeface="Times New Roman"/>
              <a:cs typeface="Times New Roman"/>
            </a:endParaRPr>
          </a:p>
          <a:p>
            <a:pPr marL="35560">
              <a:lnSpc>
                <a:spcPct val="100000"/>
              </a:lnSpc>
            </a:pPr>
            <a:r>
              <a:rPr sz="1150" b="1" spc="-10" dirty="0">
                <a:latin typeface="Times New Roman"/>
                <a:cs typeface="Times New Roman"/>
              </a:rPr>
              <a:t>reset</a:t>
            </a:r>
            <a:endParaRPr sz="1150">
              <a:latin typeface="Times New Roman"/>
              <a:cs typeface="Times New Roman"/>
            </a:endParaRPr>
          </a:p>
        </p:txBody>
      </p:sp>
      <p:sp>
        <p:nvSpPr>
          <p:cNvPr id="11" name="object 11"/>
          <p:cNvSpPr/>
          <p:nvPr/>
        </p:nvSpPr>
        <p:spPr>
          <a:xfrm>
            <a:off x="2185252" y="3291852"/>
            <a:ext cx="1774825" cy="0"/>
          </a:xfrm>
          <a:custGeom>
            <a:avLst/>
            <a:gdLst/>
            <a:ahLst/>
            <a:cxnLst/>
            <a:rect l="l" t="t" r="r" b="b"/>
            <a:pathLst>
              <a:path w="1774825">
                <a:moveTo>
                  <a:pt x="0" y="0"/>
                </a:moveTo>
                <a:lnTo>
                  <a:pt x="1774669" y="0"/>
                </a:lnTo>
              </a:path>
            </a:pathLst>
          </a:custGeom>
          <a:ln w="13684">
            <a:solidFill>
              <a:srgbClr val="000000"/>
            </a:solidFill>
          </a:ln>
        </p:spPr>
        <p:txBody>
          <a:bodyPr wrap="square" lIns="0" tIns="0" rIns="0" bIns="0" rtlCol="0"/>
          <a:lstStyle/>
          <a:p>
            <a:endParaRPr/>
          </a:p>
        </p:txBody>
      </p:sp>
      <p:sp>
        <p:nvSpPr>
          <p:cNvPr id="12" name="object 12"/>
          <p:cNvSpPr/>
          <p:nvPr/>
        </p:nvSpPr>
        <p:spPr>
          <a:xfrm>
            <a:off x="2185252" y="3547884"/>
            <a:ext cx="1774825" cy="0"/>
          </a:xfrm>
          <a:custGeom>
            <a:avLst/>
            <a:gdLst/>
            <a:ahLst/>
            <a:cxnLst/>
            <a:rect l="l" t="t" r="r" b="b"/>
            <a:pathLst>
              <a:path w="1774825">
                <a:moveTo>
                  <a:pt x="0" y="0"/>
                </a:moveTo>
                <a:lnTo>
                  <a:pt x="1774669" y="0"/>
                </a:lnTo>
              </a:path>
            </a:pathLst>
          </a:custGeom>
          <a:ln w="13684">
            <a:solidFill>
              <a:srgbClr val="000000"/>
            </a:solidFill>
          </a:ln>
        </p:spPr>
        <p:txBody>
          <a:bodyPr wrap="square" lIns="0" tIns="0" rIns="0" bIns="0" rtlCol="0"/>
          <a:lstStyle/>
          <a:p>
            <a:endParaRPr/>
          </a:p>
        </p:txBody>
      </p:sp>
      <p:sp>
        <p:nvSpPr>
          <p:cNvPr id="13" name="object 13"/>
          <p:cNvSpPr txBox="1"/>
          <p:nvPr/>
        </p:nvSpPr>
        <p:spPr>
          <a:xfrm>
            <a:off x="3640198" y="3253906"/>
            <a:ext cx="233045" cy="249554"/>
          </a:xfrm>
          <a:prstGeom prst="rect">
            <a:avLst/>
          </a:prstGeom>
        </p:spPr>
        <p:txBody>
          <a:bodyPr vert="horz" wrap="square" lIns="0" tIns="15240" rIns="0" bIns="0" rtlCol="0">
            <a:spAutoFit/>
          </a:bodyPr>
          <a:lstStyle/>
          <a:p>
            <a:pPr marL="12700">
              <a:lnSpc>
                <a:spcPct val="100000"/>
              </a:lnSpc>
              <a:spcBef>
                <a:spcPts val="120"/>
              </a:spcBef>
            </a:pPr>
            <a:r>
              <a:rPr sz="1450" b="1" spc="-25" dirty="0">
                <a:latin typeface="Times New Roman"/>
                <a:cs typeface="Times New Roman"/>
              </a:rPr>
              <a:t>q*</a:t>
            </a:r>
            <a:endParaRPr sz="1450">
              <a:latin typeface="Times New Roman"/>
              <a:cs typeface="Times New Roman"/>
            </a:endParaRPr>
          </a:p>
        </p:txBody>
      </p:sp>
      <p:sp>
        <p:nvSpPr>
          <p:cNvPr id="14" name="object 14"/>
          <p:cNvSpPr txBox="1"/>
          <p:nvPr/>
        </p:nvSpPr>
        <p:spPr>
          <a:xfrm>
            <a:off x="2286133" y="3289712"/>
            <a:ext cx="993140" cy="249554"/>
          </a:xfrm>
          <a:prstGeom prst="rect">
            <a:avLst/>
          </a:prstGeom>
        </p:spPr>
        <p:txBody>
          <a:bodyPr vert="horz" wrap="square" lIns="0" tIns="15240" rIns="0" bIns="0" rtlCol="0">
            <a:spAutoFit/>
          </a:bodyPr>
          <a:lstStyle/>
          <a:p>
            <a:pPr marL="12700">
              <a:lnSpc>
                <a:spcPct val="100000"/>
              </a:lnSpc>
              <a:spcBef>
                <a:spcPts val="120"/>
              </a:spcBef>
              <a:tabLst>
                <a:tab pos="734695" algn="l"/>
              </a:tabLst>
            </a:pPr>
            <a:r>
              <a:rPr sz="1450" b="1" spc="-10" dirty="0">
                <a:latin typeface="Times New Roman"/>
                <a:cs typeface="Times New Roman"/>
              </a:rPr>
              <a:t>reset</a:t>
            </a:r>
            <a:r>
              <a:rPr sz="1450" b="1" dirty="0">
                <a:latin typeface="Times New Roman"/>
                <a:cs typeface="Times New Roman"/>
              </a:rPr>
              <a:t>	</a:t>
            </a:r>
            <a:r>
              <a:rPr sz="1450" b="1" spc="-25" dirty="0">
                <a:latin typeface="Times New Roman"/>
                <a:cs typeface="Times New Roman"/>
              </a:rPr>
              <a:t>clk</a:t>
            </a:r>
            <a:endParaRPr sz="1450">
              <a:latin typeface="Times New Roman"/>
              <a:cs typeface="Times New Roman"/>
            </a:endParaRPr>
          </a:p>
        </p:txBody>
      </p:sp>
      <p:sp>
        <p:nvSpPr>
          <p:cNvPr id="15" name="object 15"/>
          <p:cNvSpPr txBox="1"/>
          <p:nvPr/>
        </p:nvSpPr>
        <p:spPr>
          <a:xfrm>
            <a:off x="3120269" y="3597581"/>
            <a:ext cx="50165" cy="205104"/>
          </a:xfrm>
          <a:prstGeom prst="rect">
            <a:avLst/>
          </a:prstGeom>
        </p:spPr>
        <p:txBody>
          <a:bodyPr vert="horz" wrap="square" lIns="0" tIns="15875" rIns="0" bIns="0" rtlCol="0">
            <a:spAutoFit/>
          </a:bodyPr>
          <a:lstStyle/>
          <a:p>
            <a:pPr>
              <a:lnSpc>
                <a:spcPct val="100000"/>
              </a:lnSpc>
              <a:spcBef>
                <a:spcPts val="125"/>
              </a:spcBef>
            </a:pPr>
            <a:r>
              <a:rPr sz="1150" b="1" spc="-50" dirty="0">
                <a:latin typeface="Times New Roman"/>
                <a:cs typeface="Times New Roman"/>
              </a:rPr>
              <a:t>-</a:t>
            </a:r>
            <a:endParaRPr sz="1150">
              <a:latin typeface="Times New Roman"/>
              <a:cs typeface="Times New Roman"/>
            </a:endParaRPr>
          </a:p>
        </p:txBody>
      </p:sp>
      <p:sp>
        <p:nvSpPr>
          <p:cNvPr id="16" name="object 16"/>
          <p:cNvSpPr txBox="1"/>
          <p:nvPr/>
        </p:nvSpPr>
        <p:spPr>
          <a:xfrm>
            <a:off x="3107314" y="3777655"/>
            <a:ext cx="74930" cy="449580"/>
          </a:xfrm>
          <a:prstGeom prst="rect">
            <a:avLst/>
          </a:prstGeom>
        </p:spPr>
        <p:txBody>
          <a:bodyPr vert="horz" wrap="square" lIns="0" tIns="48260" rIns="0" bIns="0" rtlCol="0">
            <a:spAutoFit/>
          </a:bodyPr>
          <a:lstStyle/>
          <a:p>
            <a:pPr>
              <a:lnSpc>
                <a:spcPct val="100000"/>
              </a:lnSpc>
              <a:spcBef>
                <a:spcPts val="380"/>
              </a:spcBef>
            </a:pPr>
            <a:r>
              <a:rPr sz="1150" b="1" spc="-50" dirty="0">
                <a:latin typeface="Times New Roman"/>
                <a:cs typeface="Times New Roman"/>
              </a:rPr>
              <a:t>0</a:t>
            </a:r>
            <a:endParaRPr sz="1150">
              <a:latin typeface="Times New Roman"/>
              <a:cs typeface="Times New Roman"/>
            </a:endParaRPr>
          </a:p>
          <a:p>
            <a:pPr>
              <a:lnSpc>
                <a:spcPct val="100000"/>
              </a:lnSpc>
              <a:spcBef>
                <a:spcPts val="290"/>
              </a:spcBef>
            </a:pPr>
            <a:r>
              <a:rPr sz="1150" b="1" spc="-50" dirty="0">
                <a:latin typeface="Times New Roman"/>
                <a:cs typeface="Times New Roman"/>
              </a:rPr>
              <a:t>1</a:t>
            </a:r>
            <a:endParaRPr sz="1150">
              <a:latin typeface="Times New Roman"/>
              <a:cs typeface="Times New Roman"/>
            </a:endParaRPr>
          </a:p>
        </p:txBody>
      </p:sp>
      <p:grpSp>
        <p:nvGrpSpPr>
          <p:cNvPr id="17" name="object 17"/>
          <p:cNvGrpSpPr/>
          <p:nvPr/>
        </p:nvGrpSpPr>
        <p:grpSpPr>
          <a:xfrm>
            <a:off x="2185252" y="4273328"/>
            <a:ext cx="1774825" cy="261620"/>
            <a:chOff x="2185252" y="4273328"/>
            <a:chExt cx="1774825" cy="261620"/>
          </a:xfrm>
        </p:grpSpPr>
        <p:sp>
          <p:nvSpPr>
            <p:cNvPr id="18" name="object 18"/>
            <p:cNvSpPr/>
            <p:nvPr/>
          </p:nvSpPr>
          <p:spPr>
            <a:xfrm>
              <a:off x="2185252" y="4527814"/>
              <a:ext cx="1774825" cy="0"/>
            </a:xfrm>
            <a:custGeom>
              <a:avLst/>
              <a:gdLst/>
              <a:ahLst/>
              <a:cxnLst/>
              <a:rect l="l" t="t" r="r" b="b"/>
              <a:pathLst>
                <a:path w="1774825">
                  <a:moveTo>
                    <a:pt x="0" y="0"/>
                  </a:moveTo>
                  <a:lnTo>
                    <a:pt x="1774669" y="0"/>
                  </a:lnTo>
                </a:path>
              </a:pathLst>
            </a:custGeom>
            <a:ln w="13684">
              <a:solidFill>
                <a:srgbClr val="000000"/>
              </a:solidFill>
            </a:ln>
          </p:spPr>
          <p:txBody>
            <a:bodyPr wrap="square" lIns="0" tIns="0" rIns="0" bIns="0" rtlCol="0"/>
            <a:lstStyle/>
            <a:p>
              <a:endParaRPr/>
            </a:p>
          </p:txBody>
        </p:sp>
        <p:pic>
          <p:nvPicPr>
            <p:cNvPr id="19" name="object 19"/>
            <p:cNvPicPr/>
            <p:nvPr/>
          </p:nvPicPr>
          <p:blipFill>
            <a:blip r:embed="rId2" cstate="print"/>
            <a:stretch>
              <a:fillRect/>
            </a:stretch>
          </p:blipFill>
          <p:spPr>
            <a:xfrm>
              <a:off x="3099362" y="4273328"/>
              <a:ext cx="84086" cy="225795"/>
            </a:xfrm>
            <a:prstGeom prst="rect">
              <a:avLst/>
            </a:prstGeom>
          </p:spPr>
        </p:pic>
      </p:grpSp>
      <p:sp>
        <p:nvSpPr>
          <p:cNvPr id="20" name="object 20"/>
          <p:cNvSpPr txBox="1"/>
          <p:nvPr/>
        </p:nvSpPr>
        <p:spPr>
          <a:xfrm>
            <a:off x="3663064" y="3597581"/>
            <a:ext cx="113664" cy="876300"/>
          </a:xfrm>
          <a:prstGeom prst="rect">
            <a:avLst/>
          </a:prstGeom>
        </p:spPr>
        <p:txBody>
          <a:bodyPr vert="horz" wrap="square" lIns="0" tIns="15875" rIns="0" bIns="0" rtlCol="0">
            <a:spAutoFit/>
          </a:bodyPr>
          <a:lstStyle/>
          <a:p>
            <a:pPr marL="17145">
              <a:lnSpc>
                <a:spcPct val="100000"/>
              </a:lnSpc>
              <a:spcBef>
                <a:spcPts val="125"/>
              </a:spcBef>
            </a:pPr>
            <a:r>
              <a:rPr sz="1150" b="1" spc="-50" dirty="0">
                <a:latin typeface="Times New Roman"/>
                <a:cs typeface="Times New Roman"/>
              </a:rPr>
              <a:t>0</a:t>
            </a:r>
            <a:endParaRPr sz="1150">
              <a:latin typeface="Times New Roman"/>
              <a:cs typeface="Times New Roman"/>
            </a:endParaRPr>
          </a:p>
          <a:p>
            <a:pPr marL="12700">
              <a:lnSpc>
                <a:spcPct val="100000"/>
              </a:lnSpc>
              <a:spcBef>
                <a:spcPts val="10"/>
              </a:spcBef>
            </a:pPr>
            <a:r>
              <a:rPr sz="1150" b="1" spc="-50" dirty="0">
                <a:latin typeface="Times New Roman"/>
                <a:cs typeface="Times New Roman"/>
              </a:rPr>
              <a:t>q</a:t>
            </a:r>
            <a:endParaRPr sz="1150">
              <a:latin typeface="Times New Roman"/>
              <a:cs typeface="Times New Roman"/>
            </a:endParaRPr>
          </a:p>
          <a:p>
            <a:pPr marL="17145">
              <a:lnSpc>
                <a:spcPct val="100000"/>
              </a:lnSpc>
              <a:spcBef>
                <a:spcPts val="290"/>
              </a:spcBef>
            </a:pPr>
            <a:r>
              <a:rPr sz="1150" b="1" spc="-50" dirty="0">
                <a:latin typeface="Times New Roman"/>
                <a:cs typeface="Times New Roman"/>
              </a:rPr>
              <a:t>q</a:t>
            </a:r>
            <a:endParaRPr sz="1150">
              <a:latin typeface="Times New Roman"/>
              <a:cs typeface="Times New Roman"/>
            </a:endParaRPr>
          </a:p>
          <a:p>
            <a:pPr marL="12700">
              <a:lnSpc>
                <a:spcPct val="100000"/>
              </a:lnSpc>
              <a:spcBef>
                <a:spcPts val="844"/>
              </a:spcBef>
            </a:pPr>
            <a:r>
              <a:rPr sz="1150" b="1" spc="-50" dirty="0">
                <a:latin typeface="Times New Roman"/>
                <a:cs typeface="Times New Roman"/>
              </a:rPr>
              <a:t>d</a:t>
            </a:r>
            <a:endParaRPr sz="1150">
              <a:latin typeface="Times New Roman"/>
              <a:cs typeface="Times New Roman"/>
            </a:endParaRPr>
          </a:p>
        </p:txBody>
      </p:sp>
      <p:sp>
        <p:nvSpPr>
          <p:cNvPr id="21" name="object 21"/>
          <p:cNvSpPr txBox="1"/>
          <p:nvPr/>
        </p:nvSpPr>
        <p:spPr>
          <a:xfrm>
            <a:off x="2443105" y="3564289"/>
            <a:ext cx="100330" cy="909955"/>
          </a:xfrm>
          <a:prstGeom prst="rect">
            <a:avLst/>
          </a:prstGeom>
        </p:spPr>
        <p:txBody>
          <a:bodyPr vert="horz" wrap="square" lIns="0" tIns="48895" rIns="0" bIns="0" rtlCol="0">
            <a:spAutoFit/>
          </a:bodyPr>
          <a:lstStyle/>
          <a:p>
            <a:pPr marL="12700">
              <a:lnSpc>
                <a:spcPct val="100000"/>
              </a:lnSpc>
              <a:spcBef>
                <a:spcPts val="385"/>
              </a:spcBef>
            </a:pPr>
            <a:r>
              <a:rPr sz="1150" b="1" spc="-50" dirty="0">
                <a:latin typeface="Times New Roman"/>
                <a:cs typeface="Times New Roman"/>
              </a:rPr>
              <a:t>1</a:t>
            </a:r>
            <a:endParaRPr sz="1150">
              <a:latin typeface="Times New Roman"/>
              <a:cs typeface="Times New Roman"/>
            </a:endParaRPr>
          </a:p>
          <a:p>
            <a:pPr marL="12700">
              <a:lnSpc>
                <a:spcPct val="100000"/>
              </a:lnSpc>
              <a:spcBef>
                <a:spcPts val="295"/>
              </a:spcBef>
            </a:pPr>
            <a:r>
              <a:rPr sz="1150" b="1" spc="-50" dirty="0">
                <a:latin typeface="Times New Roman"/>
                <a:cs typeface="Times New Roman"/>
              </a:rPr>
              <a:t>0</a:t>
            </a:r>
            <a:endParaRPr sz="1150">
              <a:latin typeface="Times New Roman"/>
              <a:cs typeface="Times New Roman"/>
            </a:endParaRPr>
          </a:p>
          <a:p>
            <a:pPr marL="12700">
              <a:lnSpc>
                <a:spcPct val="100000"/>
              </a:lnSpc>
              <a:spcBef>
                <a:spcPts val="290"/>
              </a:spcBef>
            </a:pPr>
            <a:r>
              <a:rPr sz="1150" b="1" spc="-50" dirty="0">
                <a:latin typeface="Times New Roman"/>
                <a:cs typeface="Times New Roman"/>
              </a:rPr>
              <a:t>0</a:t>
            </a:r>
            <a:endParaRPr sz="1150">
              <a:latin typeface="Times New Roman"/>
              <a:cs typeface="Times New Roman"/>
            </a:endParaRPr>
          </a:p>
          <a:p>
            <a:pPr marL="12700">
              <a:lnSpc>
                <a:spcPct val="100000"/>
              </a:lnSpc>
              <a:spcBef>
                <a:spcPts val="565"/>
              </a:spcBef>
            </a:pPr>
            <a:r>
              <a:rPr sz="1150" b="1" spc="-50" dirty="0">
                <a:latin typeface="Times New Roman"/>
                <a:cs typeface="Times New Roman"/>
              </a:rPr>
              <a:t>0</a:t>
            </a:r>
            <a:endParaRPr sz="1150">
              <a:latin typeface="Times New Roman"/>
              <a:cs typeface="Times New Roman"/>
            </a:endParaRPr>
          </a:p>
        </p:txBody>
      </p:sp>
      <p:pic>
        <p:nvPicPr>
          <p:cNvPr id="22" name="object 22"/>
          <p:cNvPicPr/>
          <p:nvPr/>
        </p:nvPicPr>
        <p:blipFill>
          <a:blip r:embed="rId3" cstate="print"/>
          <a:stretch>
            <a:fillRect/>
          </a:stretch>
        </p:blipFill>
        <p:spPr>
          <a:xfrm>
            <a:off x="5223395" y="3250692"/>
            <a:ext cx="4576571" cy="1227582"/>
          </a:xfrm>
          <a:prstGeom prst="rect">
            <a:avLst/>
          </a:prstGeom>
        </p:spPr>
      </p:pic>
      <p:sp>
        <p:nvSpPr>
          <p:cNvPr id="23" name="object 23"/>
          <p:cNvSpPr txBox="1"/>
          <p:nvPr/>
        </p:nvSpPr>
        <p:spPr>
          <a:xfrm>
            <a:off x="898531" y="4676647"/>
            <a:ext cx="314452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4-4.3</a:t>
            </a:r>
            <a:r>
              <a:rPr sz="1200" dirty="0">
                <a:latin typeface="微软雅黑"/>
                <a:cs typeface="微软雅黑"/>
              </a:rPr>
              <a:t>含异步复位的</a:t>
            </a:r>
            <a:r>
              <a:rPr sz="1200" dirty="0">
                <a:latin typeface="Arial"/>
                <a:cs typeface="Arial"/>
              </a:rPr>
              <a:t>D</a:t>
            </a:r>
            <a:r>
              <a:rPr sz="1200" spc="-5" dirty="0">
                <a:latin typeface="微软雅黑"/>
                <a:cs typeface="微软雅黑"/>
              </a:rPr>
              <a:t>触发器的符号及真值表</a:t>
            </a:r>
            <a:endParaRPr sz="1200">
              <a:latin typeface="微软雅黑"/>
              <a:cs typeface="微软雅黑"/>
            </a:endParaRPr>
          </a:p>
        </p:txBody>
      </p:sp>
      <p:sp>
        <p:nvSpPr>
          <p:cNvPr id="26" name="object 2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24" name="object 24"/>
          <p:cNvSpPr txBox="1"/>
          <p:nvPr/>
        </p:nvSpPr>
        <p:spPr>
          <a:xfrm>
            <a:off x="6335639" y="4676647"/>
            <a:ext cx="287528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4-4.4</a:t>
            </a:r>
            <a:r>
              <a:rPr sz="1200" spc="325" dirty="0">
                <a:latin typeface="Arial"/>
                <a:cs typeface="Arial"/>
              </a:rPr>
              <a:t> </a:t>
            </a:r>
            <a:r>
              <a:rPr sz="1200" dirty="0">
                <a:latin typeface="微软雅黑"/>
                <a:cs typeface="微软雅黑"/>
              </a:rPr>
              <a:t>含异步复位的</a:t>
            </a:r>
            <a:r>
              <a:rPr sz="1200" dirty="0">
                <a:latin typeface="Arial"/>
                <a:cs typeface="Arial"/>
              </a:rPr>
              <a:t>D</a:t>
            </a:r>
            <a:r>
              <a:rPr sz="1200" spc="-10" dirty="0">
                <a:latin typeface="微软雅黑"/>
                <a:cs typeface="微软雅黑"/>
              </a:rPr>
              <a:t>触发器的时序波形</a:t>
            </a:r>
            <a:endParaRPr sz="1200">
              <a:latin typeface="微软雅黑"/>
              <a:cs typeface="微软雅黑"/>
            </a:endParaRPr>
          </a:p>
        </p:txBody>
      </p:sp>
      <p:sp>
        <p:nvSpPr>
          <p:cNvPr id="25" name="object 25"/>
          <p:cNvSpPr txBox="1"/>
          <p:nvPr/>
        </p:nvSpPr>
        <p:spPr>
          <a:xfrm>
            <a:off x="603637" y="5159536"/>
            <a:ext cx="9597390" cy="1180388"/>
          </a:xfrm>
          <a:prstGeom prst="rect">
            <a:avLst/>
          </a:prstGeom>
        </p:spPr>
        <p:txBody>
          <a:bodyPr vert="horz" wrap="square" lIns="0" tIns="12065" rIns="0" bIns="0" rtlCol="0">
            <a:spAutoFit/>
          </a:bodyPr>
          <a:lstStyle/>
          <a:p>
            <a:pPr marL="12700" marR="5080">
              <a:lnSpc>
                <a:spcPct val="142200"/>
              </a:lnSpc>
              <a:spcBef>
                <a:spcPts val="95"/>
              </a:spcBef>
            </a:pPr>
            <a:r>
              <a:rPr sz="1850" i="1" spc="-120" dirty="0">
                <a:latin typeface="微软雅黑"/>
                <a:cs typeface="微软雅黑"/>
              </a:rPr>
              <a:t>注：</a:t>
            </a:r>
            <a:r>
              <a:rPr lang="zh-CN" altLang="en-US" sz="1850" i="1" spc="-120" dirty="0">
                <a:latin typeface="微软雅黑"/>
                <a:cs typeface="微软雅黑"/>
              </a:rPr>
              <a:t>正常设计中一般尽量采用同步设计方法，复位信号算是一个特例，可以采用异步复位的设计，其主要应用于执行系统初始化，</a:t>
            </a:r>
            <a:r>
              <a:rPr sz="1850" i="1" spc="-120" dirty="0" err="1">
                <a:latin typeface="微软雅黑"/>
                <a:cs typeface="微软雅黑"/>
              </a:rPr>
              <a:t>例如</a:t>
            </a:r>
            <a:r>
              <a:rPr sz="1750" i="1" spc="-10" dirty="0" err="1">
                <a:latin typeface="Arial"/>
                <a:cs typeface="Arial"/>
              </a:rPr>
              <a:t>,</a:t>
            </a:r>
            <a:r>
              <a:rPr sz="1850" i="1" spc="-120" dirty="0" err="1">
                <a:latin typeface="微软雅黑"/>
                <a:cs typeface="微软雅黑"/>
              </a:rPr>
              <a:t>在打开系统电源之后，我们可以生成一个短的复位脉冲迫使系统进入初始状态</a:t>
            </a:r>
            <a:r>
              <a:rPr sz="1850" i="1" spc="-120" dirty="0">
                <a:latin typeface="微软雅黑"/>
                <a:cs typeface="微软雅黑"/>
              </a:rPr>
              <a:t>。</a:t>
            </a:r>
            <a:endParaRPr sz="1850" dirty="0">
              <a:latin typeface="微软雅黑"/>
              <a:cs typeface="微软雅黑"/>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438086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4.1.2</a:t>
            </a:r>
            <a:r>
              <a:rPr spc="-25" dirty="0">
                <a:latin typeface="Arial"/>
                <a:cs typeface="Arial"/>
              </a:rPr>
              <a:t> </a:t>
            </a:r>
            <a:r>
              <a:rPr dirty="0"/>
              <a:t>含异步复位的</a:t>
            </a:r>
            <a:r>
              <a:rPr dirty="0">
                <a:latin typeface="Arial"/>
                <a:cs typeface="Arial"/>
              </a:rPr>
              <a:t>D</a:t>
            </a:r>
            <a:r>
              <a:rPr spc="-25" dirty="0"/>
              <a:t>触发器</a:t>
            </a:r>
          </a:p>
        </p:txBody>
      </p:sp>
      <p:sp>
        <p:nvSpPr>
          <p:cNvPr id="3" name="object 3"/>
          <p:cNvSpPr txBox="1"/>
          <p:nvPr/>
        </p:nvSpPr>
        <p:spPr>
          <a:xfrm>
            <a:off x="5853795" y="1875834"/>
            <a:ext cx="4130040" cy="3232150"/>
          </a:xfrm>
          <a:prstGeom prst="rect">
            <a:avLst/>
          </a:prstGeom>
        </p:spPr>
        <p:txBody>
          <a:bodyPr vert="horz" wrap="square" lIns="0" tIns="146685" rIns="0" bIns="0" rtlCol="0">
            <a:spAutoFit/>
          </a:bodyPr>
          <a:lstStyle/>
          <a:p>
            <a:pPr marL="12700">
              <a:lnSpc>
                <a:spcPct val="100000"/>
              </a:lnSpc>
              <a:spcBef>
                <a:spcPts val="1155"/>
              </a:spcBef>
            </a:pPr>
            <a:r>
              <a:rPr sz="1750" b="1" spc="-20" dirty="0">
                <a:latin typeface="微软雅黑"/>
                <a:cs typeface="微软雅黑"/>
              </a:rPr>
              <a:t>注意：</a:t>
            </a:r>
            <a:endParaRPr sz="1750">
              <a:latin typeface="微软雅黑"/>
              <a:cs typeface="微软雅黑"/>
            </a:endParaRPr>
          </a:p>
          <a:p>
            <a:pPr marL="313690" marR="5080" indent="-300990">
              <a:lnSpc>
                <a:spcPct val="150300"/>
              </a:lnSpc>
              <a:buFont typeface="Wingdings"/>
              <a:buChar char=""/>
              <a:tabLst>
                <a:tab pos="313690" algn="l"/>
              </a:tabLst>
            </a:pPr>
            <a:r>
              <a:rPr sz="1750" dirty="0">
                <a:latin typeface="Arial"/>
                <a:cs typeface="Arial"/>
              </a:rPr>
              <a:t>reset</a:t>
            </a:r>
            <a:r>
              <a:rPr sz="1750" spc="95" dirty="0">
                <a:latin typeface="微软雅黑"/>
                <a:cs typeface="微软雅黑"/>
              </a:rPr>
              <a:t>信号的上升沿也包括在敏感列表</a:t>
            </a:r>
            <a:r>
              <a:rPr sz="1750" dirty="0">
                <a:latin typeface="微软雅黑"/>
                <a:cs typeface="微软雅黑"/>
              </a:rPr>
              <a:t>中，同时在</a:t>
            </a:r>
            <a:r>
              <a:rPr sz="1750" spc="-10" dirty="0">
                <a:latin typeface="Arial"/>
                <a:cs typeface="Arial"/>
              </a:rPr>
              <a:t>if</a:t>
            </a:r>
            <a:r>
              <a:rPr sz="1750" spc="-5" dirty="0">
                <a:latin typeface="微软雅黑"/>
                <a:cs typeface="微软雅黑"/>
              </a:rPr>
              <a:t>语句中要首先检查其值。</a:t>
            </a:r>
            <a:endParaRPr sz="1750">
              <a:latin typeface="微软雅黑"/>
              <a:cs typeface="微软雅黑"/>
            </a:endParaRPr>
          </a:p>
          <a:p>
            <a:pPr marL="313055" indent="-300355">
              <a:lnSpc>
                <a:spcPct val="100000"/>
              </a:lnSpc>
              <a:spcBef>
                <a:spcPts val="1055"/>
              </a:spcBef>
              <a:buFont typeface="Wingdings"/>
              <a:buChar char=""/>
              <a:tabLst>
                <a:tab pos="313055" algn="l"/>
              </a:tabLst>
            </a:pPr>
            <a:r>
              <a:rPr sz="1750" dirty="0">
                <a:latin typeface="微软雅黑"/>
                <a:cs typeface="微软雅黑"/>
              </a:rPr>
              <a:t>如果</a:t>
            </a:r>
            <a:r>
              <a:rPr sz="1750" spc="-20" dirty="0">
                <a:latin typeface="Arial"/>
                <a:cs typeface="Arial"/>
              </a:rPr>
              <a:t>reset</a:t>
            </a:r>
            <a:r>
              <a:rPr sz="1750" dirty="0">
                <a:latin typeface="微软雅黑"/>
                <a:cs typeface="微软雅黑"/>
              </a:rPr>
              <a:t>信号为</a:t>
            </a:r>
            <a:r>
              <a:rPr sz="1750" spc="-10" dirty="0">
                <a:latin typeface="Arial"/>
                <a:cs typeface="Arial"/>
              </a:rPr>
              <a:t>1</a:t>
            </a:r>
            <a:r>
              <a:rPr sz="1750" spc="-5" dirty="0">
                <a:latin typeface="微软雅黑"/>
                <a:cs typeface="微软雅黑"/>
              </a:rPr>
              <a:t>，则将</a:t>
            </a:r>
            <a:r>
              <a:rPr sz="1750" spc="-20" dirty="0">
                <a:latin typeface="Arial"/>
                <a:cs typeface="Arial"/>
              </a:rPr>
              <a:t>q</a:t>
            </a:r>
            <a:r>
              <a:rPr sz="1750" dirty="0">
                <a:latin typeface="微软雅黑"/>
                <a:cs typeface="微软雅黑"/>
              </a:rPr>
              <a:t>信号置为</a:t>
            </a:r>
            <a:r>
              <a:rPr sz="1750" spc="-20" dirty="0">
                <a:latin typeface="Arial"/>
                <a:cs typeface="Arial"/>
              </a:rPr>
              <a:t>0</a:t>
            </a:r>
            <a:r>
              <a:rPr sz="1750" spc="-50" dirty="0">
                <a:latin typeface="微软雅黑"/>
                <a:cs typeface="微软雅黑"/>
              </a:rPr>
              <a:t>。</a:t>
            </a:r>
            <a:endParaRPr sz="1750">
              <a:latin typeface="微软雅黑"/>
              <a:cs typeface="微软雅黑"/>
            </a:endParaRPr>
          </a:p>
          <a:p>
            <a:pPr marL="313055" marR="13335" indent="-300990">
              <a:lnSpc>
                <a:spcPct val="150300"/>
              </a:lnSpc>
              <a:buFont typeface="Wingdings"/>
              <a:buChar char=""/>
              <a:tabLst>
                <a:tab pos="313055" algn="l"/>
              </a:tabLst>
            </a:pPr>
            <a:r>
              <a:rPr sz="1750" dirty="0">
                <a:latin typeface="微软雅黑"/>
                <a:cs typeface="微软雅黑"/>
              </a:rPr>
              <a:t>这里所谓的</a:t>
            </a:r>
            <a:r>
              <a:rPr sz="1750" dirty="0">
                <a:latin typeface="Arial"/>
                <a:cs typeface="Arial"/>
              </a:rPr>
              <a:t>“</a:t>
            </a:r>
            <a:r>
              <a:rPr sz="1750" dirty="0">
                <a:latin typeface="微软雅黑"/>
                <a:cs typeface="微软雅黑"/>
              </a:rPr>
              <a:t>异步</a:t>
            </a:r>
            <a:r>
              <a:rPr sz="1750" dirty="0">
                <a:latin typeface="Arial"/>
                <a:cs typeface="Arial"/>
              </a:rPr>
              <a:t>”</a:t>
            </a:r>
            <a:r>
              <a:rPr sz="1750" spc="-10" dirty="0">
                <a:latin typeface="微软雅黑"/>
                <a:cs typeface="微软雅黑"/>
              </a:rPr>
              <a:t>是指独立于时钟控制</a:t>
            </a:r>
            <a:r>
              <a:rPr sz="1750" spc="-25" dirty="0">
                <a:latin typeface="微软雅黑"/>
                <a:cs typeface="微软雅黑"/>
              </a:rPr>
              <a:t>器。</a:t>
            </a:r>
            <a:endParaRPr sz="1750">
              <a:latin typeface="微软雅黑"/>
              <a:cs typeface="微软雅黑"/>
            </a:endParaRPr>
          </a:p>
          <a:p>
            <a:pPr marL="313055" marR="5715" indent="-300990">
              <a:lnSpc>
                <a:spcPct val="150300"/>
              </a:lnSpc>
              <a:buFont typeface="Wingdings"/>
              <a:buChar char=""/>
              <a:tabLst>
                <a:tab pos="313055" algn="l"/>
              </a:tabLst>
            </a:pPr>
            <a:r>
              <a:rPr sz="1750" spc="100" dirty="0">
                <a:latin typeface="微软雅黑"/>
                <a:cs typeface="微软雅黑"/>
              </a:rPr>
              <a:t>在任何时刻，只要</a:t>
            </a:r>
            <a:r>
              <a:rPr sz="1750" dirty="0">
                <a:latin typeface="Arial"/>
                <a:cs typeface="Arial"/>
              </a:rPr>
              <a:t>reset</a:t>
            </a:r>
            <a:r>
              <a:rPr sz="1750" spc="90" dirty="0">
                <a:latin typeface="微软雅黑"/>
                <a:cs typeface="微软雅黑"/>
              </a:rPr>
              <a:t>是高电平，触</a:t>
            </a:r>
            <a:r>
              <a:rPr sz="1750" dirty="0">
                <a:latin typeface="微软雅黑"/>
                <a:cs typeface="微软雅黑"/>
              </a:rPr>
              <a:t>发器输出端</a:t>
            </a:r>
            <a:r>
              <a:rPr sz="1750" spc="-20" dirty="0">
                <a:latin typeface="Arial"/>
                <a:cs typeface="Arial"/>
              </a:rPr>
              <a:t>q</a:t>
            </a:r>
            <a:r>
              <a:rPr sz="1750" spc="-10" dirty="0">
                <a:latin typeface="微软雅黑"/>
                <a:cs typeface="微软雅黑"/>
              </a:rPr>
              <a:t>的输出即为低电平。</a:t>
            </a:r>
            <a:endParaRPr sz="1750">
              <a:latin typeface="微软雅黑"/>
              <a:cs typeface="微软雅黑"/>
            </a:endParaRPr>
          </a:p>
        </p:txBody>
      </p:sp>
      <p:sp>
        <p:nvSpPr>
          <p:cNvPr id="4" name="object 4"/>
          <p:cNvSpPr/>
          <p:nvPr/>
        </p:nvSpPr>
        <p:spPr>
          <a:xfrm>
            <a:off x="720737" y="1895855"/>
            <a:ext cx="4415155" cy="4466590"/>
          </a:xfrm>
          <a:custGeom>
            <a:avLst/>
            <a:gdLst/>
            <a:ahLst/>
            <a:cxnLst/>
            <a:rect l="l" t="t" r="r" b="b"/>
            <a:pathLst>
              <a:path w="4415155" h="4466590">
                <a:moveTo>
                  <a:pt x="4415028" y="4462272"/>
                </a:moveTo>
                <a:lnTo>
                  <a:pt x="4415028" y="3810"/>
                </a:lnTo>
                <a:lnTo>
                  <a:pt x="4411218" y="0"/>
                </a:lnTo>
                <a:lnTo>
                  <a:pt x="3809" y="0"/>
                </a:lnTo>
                <a:lnTo>
                  <a:pt x="0" y="3810"/>
                </a:lnTo>
                <a:lnTo>
                  <a:pt x="0" y="4462272"/>
                </a:lnTo>
                <a:lnTo>
                  <a:pt x="3810" y="4466082"/>
                </a:lnTo>
                <a:lnTo>
                  <a:pt x="8382" y="4466082"/>
                </a:lnTo>
                <a:lnTo>
                  <a:pt x="8382" y="16764"/>
                </a:lnTo>
                <a:lnTo>
                  <a:pt x="16763" y="8382"/>
                </a:lnTo>
                <a:lnTo>
                  <a:pt x="16763" y="16764"/>
                </a:lnTo>
                <a:lnTo>
                  <a:pt x="4398264" y="16764"/>
                </a:lnTo>
                <a:lnTo>
                  <a:pt x="4398264" y="8382"/>
                </a:lnTo>
                <a:lnTo>
                  <a:pt x="4406646" y="16764"/>
                </a:lnTo>
                <a:lnTo>
                  <a:pt x="4406646" y="4466082"/>
                </a:lnTo>
                <a:lnTo>
                  <a:pt x="4411218" y="4466082"/>
                </a:lnTo>
                <a:lnTo>
                  <a:pt x="4415028" y="4462272"/>
                </a:lnTo>
                <a:close/>
              </a:path>
              <a:path w="4415155" h="4466590">
                <a:moveTo>
                  <a:pt x="16763" y="16764"/>
                </a:moveTo>
                <a:lnTo>
                  <a:pt x="16763" y="8382"/>
                </a:lnTo>
                <a:lnTo>
                  <a:pt x="8382" y="16764"/>
                </a:lnTo>
                <a:lnTo>
                  <a:pt x="16763" y="16764"/>
                </a:lnTo>
                <a:close/>
              </a:path>
              <a:path w="4415155" h="4466590">
                <a:moveTo>
                  <a:pt x="16764" y="4449318"/>
                </a:moveTo>
                <a:lnTo>
                  <a:pt x="16763" y="16764"/>
                </a:lnTo>
                <a:lnTo>
                  <a:pt x="8382" y="16764"/>
                </a:lnTo>
                <a:lnTo>
                  <a:pt x="8382" y="4449318"/>
                </a:lnTo>
                <a:lnTo>
                  <a:pt x="16764" y="4449318"/>
                </a:lnTo>
                <a:close/>
              </a:path>
              <a:path w="4415155" h="4466590">
                <a:moveTo>
                  <a:pt x="4406646" y="4449318"/>
                </a:moveTo>
                <a:lnTo>
                  <a:pt x="8382" y="4449318"/>
                </a:lnTo>
                <a:lnTo>
                  <a:pt x="16764" y="4457700"/>
                </a:lnTo>
                <a:lnTo>
                  <a:pt x="16764" y="4466082"/>
                </a:lnTo>
                <a:lnTo>
                  <a:pt x="4398264" y="4466082"/>
                </a:lnTo>
                <a:lnTo>
                  <a:pt x="4398264" y="4457700"/>
                </a:lnTo>
                <a:lnTo>
                  <a:pt x="4406646" y="4449318"/>
                </a:lnTo>
                <a:close/>
              </a:path>
              <a:path w="4415155" h="4466590">
                <a:moveTo>
                  <a:pt x="16764" y="4466082"/>
                </a:moveTo>
                <a:lnTo>
                  <a:pt x="16764" y="4457700"/>
                </a:lnTo>
                <a:lnTo>
                  <a:pt x="8382" y="4449318"/>
                </a:lnTo>
                <a:lnTo>
                  <a:pt x="8382" y="4466082"/>
                </a:lnTo>
                <a:lnTo>
                  <a:pt x="16764" y="4466082"/>
                </a:lnTo>
                <a:close/>
              </a:path>
              <a:path w="4415155" h="4466590">
                <a:moveTo>
                  <a:pt x="4406646" y="16764"/>
                </a:moveTo>
                <a:lnTo>
                  <a:pt x="4398264" y="8382"/>
                </a:lnTo>
                <a:lnTo>
                  <a:pt x="4398264" y="16764"/>
                </a:lnTo>
                <a:lnTo>
                  <a:pt x="4406646" y="16764"/>
                </a:lnTo>
                <a:close/>
              </a:path>
              <a:path w="4415155" h="4466590">
                <a:moveTo>
                  <a:pt x="4406646" y="4449318"/>
                </a:moveTo>
                <a:lnTo>
                  <a:pt x="4406646" y="16764"/>
                </a:lnTo>
                <a:lnTo>
                  <a:pt x="4398264" y="16764"/>
                </a:lnTo>
                <a:lnTo>
                  <a:pt x="4398264" y="4449318"/>
                </a:lnTo>
                <a:lnTo>
                  <a:pt x="4406646" y="4449318"/>
                </a:lnTo>
                <a:close/>
              </a:path>
              <a:path w="4415155" h="4466590">
                <a:moveTo>
                  <a:pt x="4406646" y="4466082"/>
                </a:moveTo>
                <a:lnTo>
                  <a:pt x="4406646" y="4449318"/>
                </a:lnTo>
                <a:lnTo>
                  <a:pt x="4398264" y="4457700"/>
                </a:lnTo>
                <a:lnTo>
                  <a:pt x="4398264" y="4466082"/>
                </a:lnTo>
                <a:lnTo>
                  <a:pt x="4406646" y="4466082"/>
                </a:lnTo>
                <a:close/>
              </a:path>
            </a:pathLst>
          </a:custGeom>
          <a:solidFill>
            <a:srgbClr val="FF0000"/>
          </a:solidFill>
        </p:spPr>
        <p:txBody>
          <a:bodyPr wrap="square" lIns="0" tIns="0" rIns="0" bIns="0" rtlCol="0"/>
          <a:lstStyle/>
          <a:p>
            <a:endParaRPr/>
          </a:p>
        </p:txBody>
      </p:sp>
      <p:sp>
        <p:nvSpPr>
          <p:cNvPr id="5" name="object 5"/>
          <p:cNvSpPr txBox="1"/>
          <p:nvPr/>
        </p:nvSpPr>
        <p:spPr>
          <a:xfrm>
            <a:off x="864749" y="1946813"/>
            <a:ext cx="3833495" cy="4306570"/>
          </a:xfrm>
          <a:prstGeom prst="rect">
            <a:avLst/>
          </a:prstGeom>
        </p:spPr>
        <p:txBody>
          <a:bodyPr vert="horz" wrap="square" lIns="0" tIns="60960" rIns="0" bIns="0" rtlCol="0">
            <a:spAutoFit/>
          </a:bodyPr>
          <a:lstStyle/>
          <a:p>
            <a:pPr>
              <a:lnSpc>
                <a:spcPct val="100000"/>
              </a:lnSpc>
              <a:spcBef>
                <a:spcPts val="480"/>
              </a:spcBef>
            </a:pPr>
            <a:r>
              <a:rPr sz="1200" b="1" spc="-80" dirty="0">
                <a:latin typeface="宋体"/>
                <a:cs typeface="宋体"/>
              </a:rPr>
              <a:t>例 </a:t>
            </a:r>
            <a:r>
              <a:rPr sz="1200" b="1" dirty="0">
                <a:latin typeface="Arial"/>
                <a:cs typeface="Arial"/>
              </a:rPr>
              <a:t>4.2</a:t>
            </a:r>
            <a:r>
              <a:rPr sz="1200" b="1" spc="110" dirty="0">
                <a:latin typeface="Arial"/>
                <a:cs typeface="Arial"/>
              </a:rPr>
              <a:t> </a:t>
            </a:r>
            <a:r>
              <a:rPr sz="1200" dirty="0">
                <a:latin typeface="宋体"/>
                <a:cs typeface="宋体"/>
              </a:rPr>
              <a:t>有异步复位</a:t>
            </a:r>
            <a:r>
              <a:rPr sz="1200" dirty="0">
                <a:latin typeface="Arial"/>
                <a:cs typeface="Arial"/>
              </a:rPr>
              <a:t>D</a:t>
            </a:r>
            <a:r>
              <a:rPr sz="1200" spc="-20" dirty="0">
                <a:latin typeface="宋体"/>
                <a:cs typeface="宋体"/>
              </a:rPr>
              <a:t>触发器</a:t>
            </a:r>
            <a:endParaRPr sz="1200">
              <a:latin typeface="宋体"/>
              <a:cs typeface="宋体"/>
            </a:endParaRPr>
          </a:p>
          <a:p>
            <a:pPr marL="278130" marR="2169795" indent="-167005">
              <a:lnSpc>
                <a:spcPct val="121900"/>
              </a:lnSpc>
              <a:spcBef>
                <a:spcPts val="75"/>
              </a:spcBef>
            </a:pPr>
            <a:r>
              <a:rPr sz="1550" b="1" dirty="0">
                <a:latin typeface="Arial"/>
                <a:cs typeface="Arial"/>
              </a:rPr>
              <a:t>module</a:t>
            </a:r>
            <a:r>
              <a:rPr sz="1550" b="1" spc="60" dirty="0">
                <a:latin typeface="Arial"/>
                <a:cs typeface="Arial"/>
              </a:rPr>
              <a:t> </a:t>
            </a:r>
            <a:r>
              <a:rPr sz="1550" spc="-10" dirty="0">
                <a:latin typeface="Arial"/>
                <a:cs typeface="Arial"/>
              </a:rPr>
              <a:t>dff_reset </a:t>
            </a:r>
            <a:r>
              <a:rPr sz="1550" spc="-50" dirty="0">
                <a:latin typeface="Arial"/>
                <a:cs typeface="Arial"/>
              </a:rPr>
              <a:t>(</a:t>
            </a:r>
            <a:endParaRPr sz="1550">
              <a:latin typeface="Arial"/>
              <a:cs typeface="Arial"/>
            </a:endParaRPr>
          </a:p>
          <a:p>
            <a:pPr marL="389255" marR="2032000">
              <a:lnSpc>
                <a:spcPct val="122300"/>
              </a:lnSpc>
            </a:pPr>
            <a:r>
              <a:rPr sz="1550" b="1" dirty="0">
                <a:latin typeface="Arial"/>
                <a:cs typeface="Arial"/>
              </a:rPr>
              <a:t>input</a:t>
            </a:r>
            <a:r>
              <a:rPr sz="1550" b="1" spc="470" dirty="0">
                <a:latin typeface="Arial"/>
                <a:cs typeface="Arial"/>
              </a:rPr>
              <a:t> </a:t>
            </a:r>
            <a:r>
              <a:rPr sz="1550" spc="-10" dirty="0">
                <a:latin typeface="Arial"/>
                <a:cs typeface="Arial"/>
              </a:rPr>
              <a:t>clk,reset, </a:t>
            </a:r>
            <a:r>
              <a:rPr sz="1550" b="1" dirty="0">
                <a:latin typeface="Arial"/>
                <a:cs typeface="Arial"/>
              </a:rPr>
              <a:t>input</a:t>
            </a:r>
            <a:r>
              <a:rPr sz="1550" b="1" spc="470" dirty="0">
                <a:latin typeface="Arial"/>
                <a:cs typeface="Arial"/>
              </a:rPr>
              <a:t> </a:t>
            </a:r>
            <a:r>
              <a:rPr sz="1550" spc="-25" dirty="0">
                <a:latin typeface="Arial"/>
                <a:cs typeface="Arial"/>
              </a:rPr>
              <a:t>d,</a:t>
            </a:r>
            <a:r>
              <a:rPr sz="1550" spc="500" dirty="0">
                <a:latin typeface="Arial"/>
                <a:cs typeface="Arial"/>
              </a:rPr>
              <a:t> </a:t>
            </a:r>
            <a:r>
              <a:rPr sz="1550" b="1" dirty="0">
                <a:latin typeface="Arial"/>
                <a:cs typeface="Arial"/>
              </a:rPr>
              <a:t>output</a:t>
            </a:r>
            <a:r>
              <a:rPr sz="1550" b="1" spc="470" dirty="0">
                <a:latin typeface="Arial"/>
                <a:cs typeface="Arial"/>
              </a:rPr>
              <a:t> </a:t>
            </a:r>
            <a:r>
              <a:rPr sz="1550" b="1" dirty="0">
                <a:latin typeface="Arial"/>
                <a:cs typeface="Arial"/>
              </a:rPr>
              <a:t>reg</a:t>
            </a:r>
            <a:r>
              <a:rPr sz="1550" b="1" spc="475" dirty="0">
                <a:latin typeface="Arial"/>
                <a:cs typeface="Arial"/>
              </a:rPr>
              <a:t> </a:t>
            </a:r>
            <a:r>
              <a:rPr sz="1550" spc="-50" dirty="0">
                <a:latin typeface="Arial"/>
                <a:cs typeface="Arial"/>
              </a:rPr>
              <a:t>q</a:t>
            </a:r>
            <a:endParaRPr sz="1550">
              <a:latin typeface="Arial"/>
              <a:cs typeface="Arial"/>
            </a:endParaRPr>
          </a:p>
          <a:p>
            <a:pPr marL="283845">
              <a:lnSpc>
                <a:spcPct val="100000"/>
              </a:lnSpc>
              <a:spcBef>
                <a:spcPts val="409"/>
              </a:spcBef>
            </a:pPr>
            <a:r>
              <a:rPr sz="1550" spc="-25" dirty="0">
                <a:latin typeface="Arial"/>
                <a:cs typeface="Arial"/>
              </a:rPr>
              <a:t>);</a:t>
            </a:r>
            <a:endParaRPr sz="1550">
              <a:latin typeface="Arial"/>
              <a:cs typeface="Arial"/>
            </a:endParaRPr>
          </a:p>
          <a:p>
            <a:pPr marL="278130">
              <a:lnSpc>
                <a:spcPct val="100000"/>
              </a:lnSpc>
              <a:spcBef>
                <a:spcPts val="409"/>
              </a:spcBef>
            </a:pPr>
            <a:r>
              <a:rPr sz="1550" b="1" dirty="0">
                <a:latin typeface="Arial"/>
                <a:cs typeface="Arial"/>
              </a:rPr>
              <a:t>always</a:t>
            </a:r>
            <a:r>
              <a:rPr sz="1550" b="1" spc="65" dirty="0">
                <a:latin typeface="Arial"/>
                <a:cs typeface="Arial"/>
              </a:rPr>
              <a:t> </a:t>
            </a:r>
            <a:r>
              <a:rPr sz="1550" dirty="0">
                <a:latin typeface="Arial"/>
                <a:cs typeface="Arial"/>
              </a:rPr>
              <a:t>@(</a:t>
            </a:r>
            <a:r>
              <a:rPr sz="1550" b="1" dirty="0">
                <a:latin typeface="Arial"/>
                <a:cs typeface="Arial"/>
              </a:rPr>
              <a:t>posedge</a:t>
            </a:r>
            <a:r>
              <a:rPr sz="1550" b="1" spc="65" dirty="0">
                <a:latin typeface="Arial"/>
                <a:cs typeface="Arial"/>
              </a:rPr>
              <a:t> </a:t>
            </a:r>
            <a:r>
              <a:rPr sz="1550" dirty="0">
                <a:latin typeface="Arial"/>
                <a:cs typeface="Arial"/>
              </a:rPr>
              <a:t>clk,</a:t>
            </a:r>
            <a:r>
              <a:rPr sz="1550" b="1" dirty="0">
                <a:latin typeface="Arial"/>
                <a:cs typeface="Arial"/>
              </a:rPr>
              <a:t>posedge</a:t>
            </a:r>
            <a:r>
              <a:rPr sz="1550" b="1" spc="65" dirty="0">
                <a:latin typeface="Arial"/>
                <a:cs typeface="Arial"/>
              </a:rPr>
              <a:t> </a:t>
            </a:r>
            <a:r>
              <a:rPr sz="1550" spc="-10" dirty="0">
                <a:latin typeface="Arial"/>
                <a:cs typeface="Arial"/>
              </a:rPr>
              <a:t>reset)</a:t>
            </a:r>
            <a:endParaRPr sz="1550">
              <a:latin typeface="Arial"/>
              <a:cs typeface="Arial"/>
            </a:endParaRPr>
          </a:p>
          <a:p>
            <a:pPr marL="277495">
              <a:lnSpc>
                <a:spcPct val="100000"/>
              </a:lnSpc>
              <a:spcBef>
                <a:spcPts val="415"/>
              </a:spcBef>
            </a:pPr>
            <a:r>
              <a:rPr sz="1550" b="1" spc="-10" dirty="0">
                <a:latin typeface="Arial"/>
                <a:cs typeface="Arial"/>
              </a:rPr>
              <a:t>begin</a:t>
            </a:r>
            <a:endParaRPr sz="1550">
              <a:latin typeface="Arial"/>
              <a:cs typeface="Arial"/>
            </a:endParaRPr>
          </a:p>
          <a:p>
            <a:pPr marL="612140">
              <a:lnSpc>
                <a:spcPct val="100000"/>
              </a:lnSpc>
              <a:spcBef>
                <a:spcPts val="415"/>
              </a:spcBef>
            </a:pPr>
            <a:r>
              <a:rPr sz="1550" b="1" dirty="0">
                <a:latin typeface="Arial"/>
                <a:cs typeface="Arial"/>
              </a:rPr>
              <a:t>if</a:t>
            </a:r>
            <a:r>
              <a:rPr sz="1550" b="1" spc="10" dirty="0">
                <a:latin typeface="Arial"/>
                <a:cs typeface="Arial"/>
              </a:rPr>
              <a:t> </a:t>
            </a:r>
            <a:r>
              <a:rPr sz="1550" spc="-10" dirty="0">
                <a:latin typeface="Arial"/>
                <a:cs typeface="Arial"/>
              </a:rPr>
              <a:t>(reset)</a:t>
            </a:r>
            <a:endParaRPr sz="1550">
              <a:latin typeface="Arial"/>
              <a:cs typeface="Arial"/>
            </a:endParaRPr>
          </a:p>
          <a:p>
            <a:pPr marL="868044">
              <a:lnSpc>
                <a:spcPct val="100000"/>
              </a:lnSpc>
              <a:spcBef>
                <a:spcPts val="409"/>
              </a:spcBef>
            </a:pPr>
            <a:r>
              <a:rPr sz="1550" dirty="0">
                <a:latin typeface="Arial"/>
                <a:cs typeface="Arial"/>
              </a:rPr>
              <a:t>q</a:t>
            </a:r>
            <a:r>
              <a:rPr sz="1550" spc="15" dirty="0">
                <a:latin typeface="Arial"/>
                <a:cs typeface="Arial"/>
              </a:rPr>
              <a:t> </a:t>
            </a:r>
            <a:r>
              <a:rPr sz="1550" dirty="0">
                <a:latin typeface="Arial"/>
                <a:cs typeface="Arial"/>
              </a:rPr>
              <a:t>&lt;=</a:t>
            </a:r>
            <a:r>
              <a:rPr sz="1550" spc="20" dirty="0">
                <a:latin typeface="Arial"/>
                <a:cs typeface="Arial"/>
              </a:rPr>
              <a:t> </a:t>
            </a:r>
            <a:r>
              <a:rPr sz="1550" spc="-10" dirty="0">
                <a:latin typeface="Arial"/>
                <a:cs typeface="Arial"/>
              </a:rPr>
              <a:t>1’b0;</a:t>
            </a:r>
            <a:endParaRPr sz="1550">
              <a:latin typeface="Arial"/>
              <a:cs typeface="Arial"/>
            </a:endParaRPr>
          </a:p>
          <a:p>
            <a:pPr marL="612140">
              <a:lnSpc>
                <a:spcPct val="100000"/>
              </a:lnSpc>
              <a:spcBef>
                <a:spcPts val="414"/>
              </a:spcBef>
            </a:pPr>
            <a:r>
              <a:rPr sz="1550" b="1" spc="-20" dirty="0">
                <a:latin typeface="Arial"/>
                <a:cs typeface="Arial"/>
              </a:rPr>
              <a:t>else</a:t>
            </a:r>
            <a:endParaRPr sz="1550">
              <a:latin typeface="Arial"/>
              <a:cs typeface="Arial"/>
            </a:endParaRPr>
          </a:p>
          <a:p>
            <a:pPr marL="856615">
              <a:lnSpc>
                <a:spcPct val="100000"/>
              </a:lnSpc>
              <a:spcBef>
                <a:spcPts val="409"/>
              </a:spcBef>
            </a:pPr>
            <a:r>
              <a:rPr sz="1550" dirty="0">
                <a:latin typeface="Arial"/>
                <a:cs typeface="Arial"/>
              </a:rPr>
              <a:t>q</a:t>
            </a:r>
            <a:r>
              <a:rPr sz="1550" spc="20" dirty="0">
                <a:latin typeface="Arial"/>
                <a:cs typeface="Arial"/>
              </a:rPr>
              <a:t> </a:t>
            </a:r>
            <a:r>
              <a:rPr sz="1550" dirty="0">
                <a:latin typeface="Arial"/>
                <a:cs typeface="Arial"/>
              </a:rPr>
              <a:t>&lt;=</a:t>
            </a:r>
            <a:r>
              <a:rPr sz="1550" spc="20" dirty="0">
                <a:latin typeface="Arial"/>
                <a:cs typeface="Arial"/>
              </a:rPr>
              <a:t> </a:t>
            </a:r>
            <a:r>
              <a:rPr sz="1550" spc="-25" dirty="0">
                <a:latin typeface="Arial"/>
                <a:cs typeface="Arial"/>
              </a:rPr>
              <a:t>d;</a:t>
            </a:r>
            <a:endParaRPr sz="1550">
              <a:latin typeface="Arial"/>
              <a:cs typeface="Arial"/>
            </a:endParaRPr>
          </a:p>
          <a:p>
            <a:pPr marL="55244" marR="2700020" indent="222250">
              <a:lnSpc>
                <a:spcPts val="2270"/>
              </a:lnSpc>
              <a:spcBef>
                <a:spcPts val="110"/>
              </a:spcBef>
            </a:pPr>
            <a:r>
              <a:rPr sz="1550" b="1" spc="-25" dirty="0">
                <a:latin typeface="Arial"/>
                <a:cs typeface="Arial"/>
              </a:rPr>
              <a:t>end </a:t>
            </a:r>
            <a:r>
              <a:rPr sz="1550" b="1" spc="-10" dirty="0">
                <a:latin typeface="Arial"/>
                <a:cs typeface="Arial"/>
              </a:rPr>
              <a:t>endmodule</a:t>
            </a:r>
            <a:endParaRPr sz="1550">
              <a:latin typeface="Arial"/>
              <a:cs typeface="Arial"/>
            </a:endParaRPr>
          </a:p>
        </p:txBody>
      </p:sp>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616267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4.1.3</a:t>
            </a:r>
            <a:r>
              <a:rPr spc="25" dirty="0">
                <a:latin typeface="Arial"/>
                <a:cs typeface="Arial"/>
              </a:rPr>
              <a:t> </a:t>
            </a:r>
            <a:r>
              <a:rPr spc="-10" dirty="0"/>
              <a:t>含异步复位和同步使能的</a:t>
            </a:r>
            <a:r>
              <a:rPr dirty="0">
                <a:latin typeface="Arial"/>
                <a:cs typeface="Arial"/>
              </a:rPr>
              <a:t>D</a:t>
            </a:r>
            <a:r>
              <a:rPr spc="-25" dirty="0"/>
              <a:t>触发器</a:t>
            </a:r>
          </a:p>
        </p:txBody>
      </p:sp>
      <p:sp>
        <p:nvSpPr>
          <p:cNvPr id="3" name="object 3"/>
          <p:cNvSpPr txBox="1"/>
          <p:nvPr/>
        </p:nvSpPr>
        <p:spPr>
          <a:xfrm>
            <a:off x="570087" y="1717338"/>
            <a:ext cx="9518015" cy="1228090"/>
          </a:xfrm>
          <a:prstGeom prst="rect">
            <a:avLst/>
          </a:prstGeom>
        </p:spPr>
        <p:txBody>
          <a:bodyPr vert="horz" wrap="square" lIns="0" tIns="12700" rIns="0" bIns="0" rtlCol="0">
            <a:spAutoFit/>
          </a:bodyPr>
          <a:lstStyle/>
          <a:p>
            <a:pPr marL="12700" marR="5080" algn="just">
              <a:lnSpc>
                <a:spcPct val="150300"/>
              </a:lnSpc>
              <a:spcBef>
                <a:spcPts val="100"/>
              </a:spcBef>
            </a:pPr>
            <a:r>
              <a:rPr sz="1750" dirty="0">
                <a:latin typeface="微软雅黑"/>
                <a:cs typeface="微软雅黑"/>
              </a:rPr>
              <a:t>更加实用的</a:t>
            </a:r>
            <a:r>
              <a:rPr sz="1750" dirty="0">
                <a:latin typeface="Arial"/>
                <a:cs typeface="Arial"/>
              </a:rPr>
              <a:t>D</a:t>
            </a:r>
            <a:r>
              <a:rPr sz="1750" dirty="0">
                <a:latin typeface="微软雅黑"/>
                <a:cs typeface="微软雅黑"/>
              </a:rPr>
              <a:t>触发器包含一个额外的控制信号</a:t>
            </a:r>
            <a:r>
              <a:rPr sz="1750" dirty="0">
                <a:latin typeface="Arial"/>
                <a:cs typeface="Arial"/>
              </a:rPr>
              <a:t>en</a:t>
            </a:r>
            <a:r>
              <a:rPr sz="1750" spc="-5" dirty="0">
                <a:latin typeface="微软雅黑"/>
                <a:cs typeface="微软雅黑"/>
              </a:rPr>
              <a:t>，能够控制触发器进行输入值采样。注意，使能</a:t>
            </a:r>
            <a:r>
              <a:rPr sz="1750" dirty="0">
                <a:latin typeface="微软雅黑"/>
                <a:cs typeface="微软雅黑"/>
              </a:rPr>
              <a:t>信号</a:t>
            </a:r>
            <a:r>
              <a:rPr sz="1750" dirty="0">
                <a:latin typeface="Arial"/>
                <a:cs typeface="Arial"/>
              </a:rPr>
              <a:t>en</a:t>
            </a:r>
            <a:r>
              <a:rPr sz="1750" dirty="0">
                <a:latin typeface="微软雅黑"/>
                <a:cs typeface="微软雅黑"/>
              </a:rPr>
              <a:t>只有在时钟上升沿来临时才会生效，所以它是同步信号。如果</a:t>
            </a:r>
            <a:r>
              <a:rPr sz="1750" dirty="0">
                <a:latin typeface="Arial"/>
                <a:cs typeface="Arial"/>
              </a:rPr>
              <a:t>en</a:t>
            </a:r>
            <a:r>
              <a:rPr sz="1750" dirty="0">
                <a:latin typeface="微软雅黑"/>
                <a:cs typeface="微软雅黑"/>
              </a:rPr>
              <a:t>没有置</a:t>
            </a:r>
            <a:r>
              <a:rPr sz="1750" dirty="0">
                <a:latin typeface="Arial"/>
                <a:cs typeface="Arial"/>
              </a:rPr>
              <a:t>1</a:t>
            </a:r>
            <a:r>
              <a:rPr sz="1750" spc="-10" dirty="0">
                <a:latin typeface="微软雅黑"/>
                <a:cs typeface="微软雅黑"/>
              </a:rPr>
              <a:t>，触发器将保持先前的值。</a:t>
            </a:r>
            <a:endParaRPr sz="1750">
              <a:latin typeface="微软雅黑"/>
              <a:cs typeface="微软雅黑"/>
            </a:endParaRPr>
          </a:p>
        </p:txBody>
      </p:sp>
      <p:grpSp>
        <p:nvGrpSpPr>
          <p:cNvPr id="4" name="object 4"/>
          <p:cNvGrpSpPr/>
          <p:nvPr/>
        </p:nvGrpSpPr>
        <p:grpSpPr>
          <a:xfrm>
            <a:off x="892133" y="3603473"/>
            <a:ext cx="921385" cy="1111250"/>
            <a:chOff x="892133" y="3603473"/>
            <a:chExt cx="921385" cy="1111250"/>
          </a:xfrm>
        </p:grpSpPr>
        <p:sp>
          <p:nvSpPr>
            <p:cNvPr id="5" name="object 5"/>
            <p:cNvSpPr/>
            <p:nvPr/>
          </p:nvSpPr>
          <p:spPr>
            <a:xfrm>
              <a:off x="902066" y="3613407"/>
              <a:ext cx="901700" cy="1091565"/>
            </a:xfrm>
            <a:custGeom>
              <a:avLst/>
              <a:gdLst/>
              <a:ahLst/>
              <a:cxnLst/>
              <a:rect l="l" t="t" r="r" b="b"/>
              <a:pathLst>
                <a:path w="901700" h="1091564">
                  <a:moveTo>
                    <a:pt x="0" y="1091189"/>
                  </a:moveTo>
                  <a:lnTo>
                    <a:pt x="901427" y="1091189"/>
                  </a:lnTo>
                  <a:lnTo>
                    <a:pt x="901427" y="0"/>
                  </a:lnTo>
                  <a:lnTo>
                    <a:pt x="0" y="0"/>
                  </a:lnTo>
                  <a:lnTo>
                    <a:pt x="0" y="1091189"/>
                  </a:lnTo>
                  <a:close/>
                </a:path>
              </a:pathLst>
            </a:custGeom>
            <a:ln w="19431">
              <a:solidFill>
                <a:srgbClr val="000000"/>
              </a:solidFill>
            </a:ln>
          </p:spPr>
          <p:txBody>
            <a:bodyPr wrap="square" lIns="0" tIns="0" rIns="0" bIns="0" rtlCol="0"/>
            <a:lstStyle/>
            <a:p>
              <a:endParaRPr/>
            </a:p>
          </p:txBody>
        </p:sp>
        <p:sp>
          <p:nvSpPr>
            <p:cNvPr id="6" name="object 6"/>
            <p:cNvSpPr/>
            <p:nvPr/>
          </p:nvSpPr>
          <p:spPr>
            <a:xfrm>
              <a:off x="902066" y="4218443"/>
              <a:ext cx="78105" cy="66040"/>
            </a:xfrm>
            <a:custGeom>
              <a:avLst/>
              <a:gdLst/>
              <a:ahLst/>
              <a:cxnLst/>
              <a:rect l="l" t="t" r="r" b="b"/>
              <a:pathLst>
                <a:path w="78105" h="66039">
                  <a:moveTo>
                    <a:pt x="0" y="0"/>
                  </a:moveTo>
                  <a:lnTo>
                    <a:pt x="77728" y="65536"/>
                  </a:lnTo>
                </a:path>
              </a:pathLst>
            </a:custGeom>
            <a:ln w="18669">
              <a:solidFill>
                <a:srgbClr val="000000"/>
              </a:solidFill>
            </a:ln>
          </p:spPr>
          <p:txBody>
            <a:bodyPr wrap="square" lIns="0" tIns="0" rIns="0" bIns="0" rtlCol="0"/>
            <a:lstStyle/>
            <a:p>
              <a:endParaRPr/>
            </a:p>
          </p:txBody>
        </p:sp>
        <p:sp>
          <p:nvSpPr>
            <p:cNvPr id="7" name="object 7"/>
            <p:cNvSpPr/>
            <p:nvPr/>
          </p:nvSpPr>
          <p:spPr>
            <a:xfrm>
              <a:off x="902066" y="4285488"/>
              <a:ext cx="78105" cy="76200"/>
            </a:xfrm>
            <a:custGeom>
              <a:avLst/>
              <a:gdLst/>
              <a:ahLst/>
              <a:cxnLst/>
              <a:rect l="l" t="t" r="r" b="b"/>
              <a:pathLst>
                <a:path w="78105" h="76200">
                  <a:moveTo>
                    <a:pt x="0" y="76205"/>
                  </a:moveTo>
                  <a:lnTo>
                    <a:pt x="77728" y="0"/>
                  </a:lnTo>
                </a:path>
              </a:pathLst>
            </a:custGeom>
            <a:ln w="18987">
              <a:solidFill>
                <a:srgbClr val="000000"/>
              </a:solidFill>
            </a:ln>
          </p:spPr>
          <p:txBody>
            <a:bodyPr wrap="square" lIns="0" tIns="0" rIns="0" bIns="0" rtlCol="0"/>
            <a:lstStyle/>
            <a:p>
              <a:endParaRPr/>
            </a:p>
          </p:txBody>
        </p:sp>
      </p:grpSp>
      <p:sp>
        <p:nvSpPr>
          <p:cNvPr id="8" name="object 8"/>
          <p:cNvSpPr txBox="1"/>
          <p:nvPr/>
        </p:nvSpPr>
        <p:spPr>
          <a:xfrm>
            <a:off x="1548266" y="3591233"/>
            <a:ext cx="115570" cy="247650"/>
          </a:xfrm>
          <a:prstGeom prst="rect">
            <a:avLst/>
          </a:prstGeom>
        </p:spPr>
        <p:txBody>
          <a:bodyPr vert="horz" wrap="square" lIns="0" tIns="13335" rIns="0" bIns="0" rtlCol="0">
            <a:spAutoFit/>
          </a:bodyPr>
          <a:lstStyle/>
          <a:p>
            <a:pPr>
              <a:lnSpc>
                <a:spcPct val="100000"/>
              </a:lnSpc>
              <a:spcBef>
                <a:spcPts val="105"/>
              </a:spcBef>
            </a:pPr>
            <a:r>
              <a:rPr sz="1450" b="1" spc="-50" dirty="0">
                <a:latin typeface="Times New Roman"/>
                <a:cs typeface="Times New Roman"/>
              </a:rPr>
              <a:t>q</a:t>
            </a:r>
            <a:endParaRPr sz="1450">
              <a:latin typeface="Times New Roman"/>
              <a:cs typeface="Times New Roman"/>
            </a:endParaRPr>
          </a:p>
        </p:txBody>
      </p:sp>
      <p:sp>
        <p:nvSpPr>
          <p:cNvPr id="9" name="object 9"/>
          <p:cNvSpPr/>
          <p:nvPr/>
        </p:nvSpPr>
        <p:spPr>
          <a:xfrm>
            <a:off x="2349841" y="3297177"/>
            <a:ext cx="2622550" cy="0"/>
          </a:xfrm>
          <a:custGeom>
            <a:avLst/>
            <a:gdLst/>
            <a:ahLst/>
            <a:cxnLst/>
            <a:rect l="l" t="t" r="r" b="b"/>
            <a:pathLst>
              <a:path w="2622550">
                <a:moveTo>
                  <a:pt x="0" y="0"/>
                </a:moveTo>
                <a:lnTo>
                  <a:pt x="2621991" y="0"/>
                </a:lnTo>
              </a:path>
            </a:pathLst>
          </a:custGeom>
          <a:ln w="16900">
            <a:solidFill>
              <a:srgbClr val="000000"/>
            </a:solidFill>
          </a:ln>
        </p:spPr>
        <p:txBody>
          <a:bodyPr wrap="square" lIns="0" tIns="0" rIns="0" bIns="0" rtlCol="0"/>
          <a:lstStyle/>
          <a:p>
            <a:endParaRPr/>
          </a:p>
        </p:txBody>
      </p:sp>
      <p:sp>
        <p:nvSpPr>
          <p:cNvPr id="10" name="object 10"/>
          <p:cNvSpPr/>
          <p:nvPr/>
        </p:nvSpPr>
        <p:spPr>
          <a:xfrm>
            <a:off x="2349841" y="3613406"/>
            <a:ext cx="2622550" cy="0"/>
          </a:xfrm>
          <a:custGeom>
            <a:avLst/>
            <a:gdLst/>
            <a:ahLst/>
            <a:cxnLst/>
            <a:rect l="l" t="t" r="r" b="b"/>
            <a:pathLst>
              <a:path w="2622550">
                <a:moveTo>
                  <a:pt x="0" y="0"/>
                </a:moveTo>
                <a:lnTo>
                  <a:pt x="2621991" y="0"/>
                </a:lnTo>
              </a:path>
            </a:pathLst>
          </a:custGeom>
          <a:ln w="16900">
            <a:solidFill>
              <a:srgbClr val="000000"/>
            </a:solidFill>
          </a:ln>
        </p:spPr>
        <p:txBody>
          <a:bodyPr wrap="square" lIns="0" tIns="0" rIns="0" bIns="0" rtlCol="0"/>
          <a:lstStyle/>
          <a:p>
            <a:endParaRPr/>
          </a:p>
        </p:txBody>
      </p:sp>
      <p:sp>
        <p:nvSpPr>
          <p:cNvPr id="11" name="object 11"/>
          <p:cNvSpPr txBox="1"/>
          <p:nvPr/>
        </p:nvSpPr>
        <p:spPr>
          <a:xfrm>
            <a:off x="4560699" y="3253204"/>
            <a:ext cx="334010" cy="302895"/>
          </a:xfrm>
          <a:prstGeom prst="rect">
            <a:avLst/>
          </a:prstGeom>
        </p:spPr>
        <p:txBody>
          <a:bodyPr vert="horz" wrap="square" lIns="0" tIns="14604" rIns="0" bIns="0" rtlCol="0">
            <a:spAutoFit/>
          </a:bodyPr>
          <a:lstStyle/>
          <a:p>
            <a:pPr marL="12700">
              <a:lnSpc>
                <a:spcPct val="100000"/>
              </a:lnSpc>
              <a:spcBef>
                <a:spcPts val="114"/>
              </a:spcBef>
            </a:pPr>
            <a:r>
              <a:rPr sz="1800" b="1" spc="105" dirty="0">
                <a:latin typeface="Times New Roman"/>
                <a:cs typeface="Times New Roman"/>
              </a:rPr>
              <a:t>q* </a:t>
            </a:r>
            <a:endParaRPr sz="1800">
              <a:latin typeface="Times New Roman"/>
              <a:cs typeface="Times New Roman"/>
            </a:endParaRPr>
          </a:p>
        </p:txBody>
      </p:sp>
      <p:sp>
        <p:nvSpPr>
          <p:cNvPr id="12" name="object 12"/>
          <p:cNvSpPr txBox="1"/>
          <p:nvPr/>
        </p:nvSpPr>
        <p:spPr>
          <a:xfrm>
            <a:off x="2504065" y="3297401"/>
            <a:ext cx="1779905" cy="302895"/>
          </a:xfrm>
          <a:prstGeom prst="rect">
            <a:avLst/>
          </a:prstGeom>
        </p:spPr>
        <p:txBody>
          <a:bodyPr vert="horz" wrap="square" lIns="0" tIns="14604" rIns="0" bIns="0" rtlCol="0">
            <a:spAutoFit/>
          </a:bodyPr>
          <a:lstStyle/>
          <a:p>
            <a:pPr marL="12700">
              <a:lnSpc>
                <a:spcPct val="100000"/>
              </a:lnSpc>
              <a:spcBef>
                <a:spcPts val="114"/>
              </a:spcBef>
              <a:tabLst>
                <a:tab pos="861694" algn="l"/>
                <a:tab pos="1482725" algn="l"/>
              </a:tabLst>
            </a:pPr>
            <a:r>
              <a:rPr sz="1800" b="1" spc="145" dirty="0">
                <a:latin typeface="Times New Roman"/>
                <a:cs typeface="Times New Roman"/>
              </a:rPr>
              <a:t>reset</a:t>
            </a:r>
            <a:r>
              <a:rPr sz="1800" b="1" dirty="0">
                <a:latin typeface="Times New Roman"/>
                <a:cs typeface="Times New Roman"/>
              </a:rPr>
              <a:t>	</a:t>
            </a:r>
            <a:r>
              <a:rPr sz="1800" b="1" spc="85" dirty="0">
                <a:latin typeface="Times New Roman"/>
                <a:cs typeface="Times New Roman"/>
              </a:rPr>
              <a:t>clk</a:t>
            </a:r>
            <a:r>
              <a:rPr sz="1800" b="1" dirty="0">
                <a:latin typeface="Times New Roman"/>
                <a:cs typeface="Times New Roman"/>
              </a:rPr>
              <a:t>	</a:t>
            </a:r>
            <a:r>
              <a:rPr sz="1800" b="1" spc="85" dirty="0">
                <a:latin typeface="Times New Roman"/>
                <a:cs typeface="Times New Roman"/>
              </a:rPr>
              <a:t>en </a:t>
            </a:r>
            <a:endParaRPr sz="1800">
              <a:latin typeface="Times New Roman"/>
              <a:cs typeface="Times New Roman"/>
            </a:endParaRPr>
          </a:p>
        </p:txBody>
      </p:sp>
      <p:sp>
        <p:nvSpPr>
          <p:cNvPr id="13" name="object 13"/>
          <p:cNvSpPr/>
          <p:nvPr/>
        </p:nvSpPr>
        <p:spPr>
          <a:xfrm>
            <a:off x="2349841" y="5130560"/>
            <a:ext cx="2622550" cy="0"/>
          </a:xfrm>
          <a:custGeom>
            <a:avLst/>
            <a:gdLst/>
            <a:ahLst/>
            <a:cxnLst/>
            <a:rect l="l" t="t" r="r" b="b"/>
            <a:pathLst>
              <a:path w="2622550">
                <a:moveTo>
                  <a:pt x="0" y="0"/>
                </a:moveTo>
                <a:lnTo>
                  <a:pt x="2621991" y="0"/>
                </a:lnTo>
              </a:path>
            </a:pathLst>
          </a:custGeom>
          <a:ln w="16900">
            <a:solidFill>
              <a:srgbClr val="000000"/>
            </a:solidFill>
          </a:ln>
        </p:spPr>
        <p:txBody>
          <a:bodyPr wrap="square" lIns="0" tIns="0" rIns="0" bIns="0" rtlCol="0"/>
          <a:lstStyle/>
          <a:p>
            <a:endParaRPr/>
          </a:p>
        </p:txBody>
      </p:sp>
      <p:pic>
        <p:nvPicPr>
          <p:cNvPr id="14" name="object 14"/>
          <p:cNvPicPr/>
          <p:nvPr/>
        </p:nvPicPr>
        <p:blipFill>
          <a:blip r:embed="rId2" cstate="print"/>
          <a:stretch>
            <a:fillRect/>
          </a:stretch>
        </p:blipFill>
        <p:spPr>
          <a:xfrm>
            <a:off x="3486336" y="4488119"/>
            <a:ext cx="126122" cy="281641"/>
          </a:xfrm>
          <a:prstGeom prst="rect">
            <a:avLst/>
          </a:prstGeom>
        </p:spPr>
      </p:pic>
      <p:sp>
        <p:nvSpPr>
          <p:cNvPr id="15" name="object 15"/>
          <p:cNvSpPr txBox="1"/>
          <p:nvPr/>
        </p:nvSpPr>
        <p:spPr>
          <a:xfrm>
            <a:off x="3493644" y="3901311"/>
            <a:ext cx="92710" cy="548640"/>
          </a:xfrm>
          <a:prstGeom prst="rect">
            <a:avLst/>
          </a:prstGeom>
        </p:spPr>
        <p:txBody>
          <a:bodyPr vert="horz" wrap="square" lIns="0" tIns="52705" rIns="0" bIns="0" rtlCol="0">
            <a:spAutoFit/>
          </a:bodyPr>
          <a:lstStyle/>
          <a:p>
            <a:pPr>
              <a:lnSpc>
                <a:spcPct val="100000"/>
              </a:lnSpc>
              <a:spcBef>
                <a:spcPts val="415"/>
              </a:spcBef>
            </a:pPr>
            <a:r>
              <a:rPr sz="1450" b="1" spc="-50" dirty="0">
                <a:latin typeface="Times New Roman"/>
                <a:cs typeface="Times New Roman"/>
              </a:rPr>
              <a:t>0</a:t>
            </a:r>
            <a:endParaRPr sz="1450">
              <a:latin typeface="Times New Roman"/>
              <a:cs typeface="Times New Roman"/>
            </a:endParaRPr>
          </a:p>
          <a:p>
            <a:pPr>
              <a:lnSpc>
                <a:spcPct val="100000"/>
              </a:lnSpc>
              <a:spcBef>
                <a:spcPts val="320"/>
              </a:spcBef>
            </a:pPr>
            <a:r>
              <a:rPr sz="1450" b="1" spc="-50" dirty="0">
                <a:latin typeface="Times New Roman"/>
                <a:cs typeface="Times New Roman"/>
              </a:rPr>
              <a:t>1</a:t>
            </a:r>
            <a:endParaRPr sz="1450">
              <a:latin typeface="Times New Roman"/>
              <a:cs typeface="Times New Roman"/>
            </a:endParaRPr>
          </a:p>
        </p:txBody>
      </p:sp>
      <p:sp>
        <p:nvSpPr>
          <p:cNvPr id="16" name="object 16"/>
          <p:cNvSpPr txBox="1"/>
          <p:nvPr/>
        </p:nvSpPr>
        <p:spPr>
          <a:xfrm>
            <a:off x="3487299" y="3678100"/>
            <a:ext cx="1280160" cy="1383030"/>
          </a:xfrm>
          <a:prstGeom prst="rect">
            <a:avLst/>
          </a:prstGeom>
        </p:spPr>
        <p:txBody>
          <a:bodyPr vert="horz" wrap="square" lIns="0" tIns="13335" rIns="0" bIns="0" rtlCol="0">
            <a:spAutoFit/>
          </a:bodyPr>
          <a:lstStyle/>
          <a:p>
            <a:pPr marL="626110" indent="-600710">
              <a:lnSpc>
                <a:spcPts val="1730"/>
              </a:lnSpc>
              <a:spcBef>
                <a:spcPts val="105"/>
              </a:spcBef>
              <a:buChar char="-"/>
              <a:tabLst>
                <a:tab pos="626110" algn="l"/>
                <a:tab pos="1125855" algn="l"/>
              </a:tabLst>
            </a:pPr>
            <a:r>
              <a:rPr sz="1450" b="1" spc="-50" dirty="0">
                <a:latin typeface="Times New Roman"/>
                <a:cs typeface="Times New Roman"/>
              </a:rPr>
              <a:t>-</a:t>
            </a:r>
            <a:r>
              <a:rPr sz="1450" b="1" dirty="0">
                <a:latin typeface="Times New Roman"/>
                <a:cs typeface="Times New Roman"/>
              </a:rPr>
              <a:t>	</a:t>
            </a:r>
            <a:r>
              <a:rPr sz="1450" b="1" spc="-50" dirty="0">
                <a:latin typeface="Times New Roman"/>
                <a:cs typeface="Times New Roman"/>
              </a:rPr>
              <a:t>0</a:t>
            </a:r>
            <a:endParaRPr sz="1450">
              <a:latin typeface="Times New Roman"/>
              <a:cs typeface="Times New Roman"/>
            </a:endParaRPr>
          </a:p>
          <a:p>
            <a:pPr marL="1119505" lvl="1" indent="-493395">
              <a:lnSpc>
                <a:spcPts val="1730"/>
              </a:lnSpc>
              <a:buChar char="-"/>
              <a:tabLst>
                <a:tab pos="1119505" algn="l"/>
              </a:tabLst>
            </a:pPr>
            <a:r>
              <a:rPr sz="1450" b="1" spc="-50" dirty="0">
                <a:latin typeface="Times New Roman"/>
                <a:cs typeface="Times New Roman"/>
              </a:rPr>
              <a:t>q</a:t>
            </a:r>
            <a:endParaRPr sz="1450">
              <a:latin typeface="Times New Roman"/>
              <a:cs typeface="Times New Roman"/>
            </a:endParaRPr>
          </a:p>
          <a:p>
            <a:pPr marL="1125855" lvl="1" indent="-499745">
              <a:lnSpc>
                <a:spcPct val="100000"/>
              </a:lnSpc>
              <a:spcBef>
                <a:spcPts val="320"/>
              </a:spcBef>
              <a:buChar char="-"/>
              <a:tabLst>
                <a:tab pos="1125855" algn="l"/>
              </a:tabLst>
            </a:pPr>
            <a:r>
              <a:rPr sz="1450" b="1" spc="-50" dirty="0">
                <a:latin typeface="Times New Roman"/>
                <a:cs typeface="Times New Roman"/>
              </a:rPr>
              <a:t>q</a:t>
            </a:r>
            <a:endParaRPr sz="1450">
              <a:latin typeface="Times New Roman"/>
              <a:cs typeface="Times New Roman"/>
            </a:endParaRPr>
          </a:p>
          <a:p>
            <a:pPr marL="1119505" marR="49530" algn="r">
              <a:lnSpc>
                <a:spcPts val="2580"/>
              </a:lnSpc>
              <a:spcBef>
                <a:spcPts val="95"/>
              </a:spcBef>
            </a:pPr>
            <a:r>
              <a:rPr sz="1450" b="1" spc="-50" dirty="0">
                <a:latin typeface="Times New Roman"/>
                <a:cs typeface="Times New Roman"/>
              </a:rPr>
              <a:t>q d</a:t>
            </a:r>
            <a:endParaRPr sz="1450">
              <a:latin typeface="Times New Roman"/>
              <a:cs typeface="Times New Roman"/>
            </a:endParaRPr>
          </a:p>
        </p:txBody>
      </p:sp>
      <p:sp>
        <p:nvSpPr>
          <p:cNvPr id="17" name="object 17"/>
          <p:cNvSpPr txBox="1"/>
          <p:nvPr/>
        </p:nvSpPr>
        <p:spPr>
          <a:xfrm>
            <a:off x="1100970" y="4460674"/>
            <a:ext cx="473709" cy="247650"/>
          </a:xfrm>
          <a:prstGeom prst="rect">
            <a:avLst/>
          </a:prstGeom>
        </p:spPr>
        <p:txBody>
          <a:bodyPr vert="horz" wrap="square" lIns="0" tIns="13335" rIns="0" bIns="0" rtlCol="0">
            <a:spAutoFit/>
          </a:bodyPr>
          <a:lstStyle/>
          <a:p>
            <a:pPr>
              <a:lnSpc>
                <a:spcPct val="100000"/>
              </a:lnSpc>
              <a:spcBef>
                <a:spcPts val="105"/>
              </a:spcBef>
            </a:pPr>
            <a:r>
              <a:rPr sz="1450" b="1" spc="120" dirty="0">
                <a:latin typeface="Times New Roman"/>
                <a:cs typeface="Times New Roman"/>
              </a:rPr>
              <a:t>reset</a:t>
            </a:r>
            <a:endParaRPr sz="1450">
              <a:latin typeface="Times New Roman"/>
              <a:cs typeface="Times New Roman"/>
            </a:endParaRPr>
          </a:p>
        </p:txBody>
      </p:sp>
      <p:sp>
        <p:nvSpPr>
          <p:cNvPr id="18" name="object 18"/>
          <p:cNvSpPr txBox="1"/>
          <p:nvPr/>
        </p:nvSpPr>
        <p:spPr>
          <a:xfrm>
            <a:off x="1007243" y="3593462"/>
            <a:ext cx="283210" cy="786765"/>
          </a:xfrm>
          <a:prstGeom prst="rect">
            <a:avLst/>
          </a:prstGeom>
        </p:spPr>
        <p:txBody>
          <a:bodyPr vert="horz" wrap="square" lIns="0" tIns="12065" rIns="0" bIns="0" rtlCol="0">
            <a:spAutoFit/>
          </a:bodyPr>
          <a:lstStyle/>
          <a:p>
            <a:pPr marL="10795" marR="37465" indent="10160">
              <a:lnSpc>
                <a:spcPct val="109000"/>
              </a:lnSpc>
              <a:spcBef>
                <a:spcPts val="95"/>
              </a:spcBef>
            </a:pPr>
            <a:r>
              <a:rPr sz="1450" b="1" spc="-50" dirty="0">
                <a:latin typeface="Times New Roman"/>
                <a:cs typeface="Times New Roman"/>
              </a:rPr>
              <a:t>d </a:t>
            </a:r>
            <a:r>
              <a:rPr sz="1450" b="1" spc="55" dirty="0">
                <a:latin typeface="Times New Roman"/>
                <a:cs typeface="Times New Roman"/>
              </a:rPr>
              <a:t>en </a:t>
            </a:r>
            <a:endParaRPr sz="1450">
              <a:latin typeface="Times New Roman"/>
              <a:cs typeface="Times New Roman"/>
            </a:endParaRPr>
          </a:p>
          <a:p>
            <a:pPr>
              <a:lnSpc>
                <a:spcPct val="100000"/>
              </a:lnSpc>
              <a:spcBef>
                <a:spcPts val="465"/>
              </a:spcBef>
            </a:pPr>
            <a:r>
              <a:rPr sz="1450" b="1" spc="60" dirty="0">
                <a:latin typeface="Times New Roman"/>
                <a:cs typeface="Times New Roman"/>
              </a:rPr>
              <a:t>clk</a:t>
            </a:r>
            <a:endParaRPr sz="1450">
              <a:latin typeface="Times New Roman"/>
              <a:cs typeface="Times New Roman"/>
            </a:endParaRPr>
          </a:p>
        </p:txBody>
      </p:sp>
      <p:sp>
        <p:nvSpPr>
          <p:cNvPr id="19" name="object 19"/>
          <p:cNvSpPr txBox="1"/>
          <p:nvPr/>
        </p:nvSpPr>
        <p:spPr>
          <a:xfrm>
            <a:off x="2736475" y="3636886"/>
            <a:ext cx="118110" cy="1423670"/>
          </a:xfrm>
          <a:prstGeom prst="rect">
            <a:avLst/>
          </a:prstGeom>
        </p:spPr>
        <p:txBody>
          <a:bodyPr vert="horz" wrap="square" lIns="0" tIns="54610" rIns="0" bIns="0" rtlCol="0">
            <a:spAutoFit/>
          </a:bodyPr>
          <a:lstStyle/>
          <a:p>
            <a:pPr marL="12700">
              <a:lnSpc>
                <a:spcPct val="100000"/>
              </a:lnSpc>
              <a:spcBef>
                <a:spcPts val="430"/>
              </a:spcBef>
            </a:pPr>
            <a:r>
              <a:rPr sz="1450" b="1" spc="-50" dirty="0">
                <a:latin typeface="Times New Roman"/>
                <a:cs typeface="Times New Roman"/>
              </a:rPr>
              <a:t>1</a:t>
            </a:r>
            <a:endParaRPr sz="1450">
              <a:latin typeface="Times New Roman"/>
              <a:cs typeface="Times New Roman"/>
            </a:endParaRPr>
          </a:p>
          <a:p>
            <a:pPr marL="12700">
              <a:lnSpc>
                <a:spcPct val="100000"/>
              </a:lnSpc>
              <a:spcBef>
                <a:spcPts val="330"/>
              </a:spcBef>
            </a:pPr>
            <a:r>
              <a:rPr sz="1450" b="1" spc="-50" dirty="0">
                <a:latin typeface="Times New Roman"/>
                <a:cs typeface="Times New Roman"/>
              </a:rPr>
              <a:t>0</a:t>
            </a:r>
            <a:endParaRPr sz="1450">
              <a:latin typeface="Times New Roman"/>
              <a:cs typeface="Times New Roman"/>
            </a:endParaRPr>
          </a:p>
          <a:p>
            <a:pPr marL="12700">
              <a:lnSpc>
                <a:spcPct val="100000"/>
              </a:lnSpc>
              <a:spcBef>
                <a:spcPts val="315"/>
              </a:spcBef>
            </a:pPr>
            <a:r>
              <a:rPr sz="1450" b="1" spc="-50" dirty="0">
                <a:latin typeface="Times New Roman"/>
                <a:cs typeface="Times New Roman"/>
              </a:rPr>
              <a:t>0</a:t>
            </a:r>
            <a:endParaRPr sz="1450">
              <a:latin typeface="Times New Roman"/>
              <a:cs typeface="Times New Roman"/>
            </a:endParaRPr>
          </a:p>
          <a:p>
            <a:pPr marL="12700">
              <a:lnSpc>
                <a:spcPct val="100000"/>
              </a:lnSpc>
              <a:spcBef>
                <a:spcPts val="495"/>
              </a:spcBef>
            </a:pPr>
            <a:r>
              <a:rPr sz="1450" b="1" spc="-50" dirty="0">
                <a:latin typeface="Times New Roman"/>
                <a:cs typeface="Times New Roman"/>
              </a:rPr>
              <a:t>0</a:t>
            </a:r>
            <a:endParaRPr sz="1450">
              <a:latin typeface="Times New Roman"/>
              <a:cs typeface="Times New Roman"/>
            </a:endParaRPr>
          </a:p>
          <a:p>
            <a:pPr marL="12700">
              <a:lnSpc>
                <a:spcPct val="100000"/>
              </a:lnSpc>
              <a:spcBef>
                <a:spcPts val="840"/>
              </a:spcBef>
            </a:pPr>
            <a:r>
              <a:rPr sz="1450" b="1" spc="-50" dirty="0">
                <a:latin typeface="Times New Roman"/>
                <a:cs typeface="Times New Roman"/>
              </a:rPr>
              <a:t>0</a:t>
            </a:r>
            <a:endParaRPr sz="1450">
              <a:latin typeface="Times New Roman"/>
              <a:cs typeface="Times New Roman"/>
            </a:endParaRPr>
          </a:p>
        </p:txBody>
      </p:sp>
      <p:sp>
        <p:nvSpPr>
          <p:cNvPr id="20" name="object 20"/>
          <p:cNvSpPr txBox="1"/>
          <p:nvPr/>
        </p:nvSpPr>
        <p:spPr>
          <a:xfrm>
            <a:off x="4094871" y="4379840"/>
            <a:ext cx="92710" cy="680720"/>
          </a:xfrm>
          <a:prstGeom prst="rect">
            <a:avLst/>
          </a:prstGeom>
        </p:spPr>
        <p:txBody>
          <a:bodyPr vert="horz" wrap="square" lIns="0" tIns="119380" rIns="0" bIns="0" rtlCol="0">
            <a:spAutoFit/>
          </a:bodyPr>
          <a:lstStyle/>
          <a:p>
            <a:pPr>
              <a:lnSpc>
                <a:spcPct val="100000"/>
              </a:lnSpc>
              <a:spcBef>
                <a:spcPts val="940"/>
              </a:spcBef>
            </a:pPr>
            <a:r>
              <a:rPr sz="1450" b="1" spc="-50" dirty="0">
                <a:latin typeface="Times New Roman"/>
                <a:cs typeface="Times New Roman"/>
              </a:rPr>
              <a:t>0</a:t>
            </a:r>
            <a:endParaRPr sz="1450">
              <a:latin typeface="Times New Roman"/>
              <a:cs typeface="Times New Roman"/>
            </a:endParaRPr>
          </a:p>
          <a:p>
            <a:pPr>
              <a:lnSpc>
                <a:spcPct val="100000"/>
              </a:lnSpc>
              <a:spcBef>
                <a:spcPts val="840"/>
              </a:spcBef>
            </a:pPr>
            <a:r>
              <a:rPr sz="1450" b="1" spc="-50" dirty="0">
                <a:latin typeface="Times New Roman"/>
                <a:cs typeface="Times New Roman"/>
              </a:rPr>
              <a:t>1</a:t>
            </a:r>
            <a:endParaRPr sz="1450">
              <a:latin typeface="Times New Roman"/>
              <a:cs typeface="Times New Roman"/>
            </a:endParaRPr>
          </a:p>
        </p:txBody>
      </p:sp>
      <p:pic>
        <p:nvPicPr>
          <p:cNvPr id="21" name="object 21"/>
          <p:cNvPicPr/>
          <p:nvPr/>
        </p:nvPicPr>
        <p:blipFill>
          <a:blip r:embed="rId3" cstate="print"/>
          <a:stretch>
            <a:fillRect/>
          </a:stretch>
        </p:blipFill>
        <p:spPr>
          <a:xfrm>
            <a:off x="3481751" y="4816538"/>
            <a:ext cx="124612" cy="280130"/>
          </a:xfrm>
          <a:prstGeom prst="rect">
            <a:avLst/>
          </a:prstGeom>
        </p:spPr>
      </p:pic>
      <p:sp>
        <p:nvSpPr>
          <p:cNvPr id="22" name="object 22"/>
          <p:cNvSpPr txBox="1"/>
          <p:nvPr/>
        </p:nvSpPr>
        <p:spPr>
          <a:xfrm>
            <a:off x="1152277" y="5349494"/>
            <a:ext cx="3742054"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5</a:t>
            </a:r>
            <a:r>
              <a:rPr sz="1200" spc="215" dirty="0">
                <a:latin typeface="Arial"/>
                <a:cs typeface="Arial"/>
              </a:rPr>
              <a:t>  </a:t>
            </a:r>
            <a:r>
              <a:rPr sz="1200" dirty="0">
                <a:latin typeface="微软雅黑"/>
                <a:cs typeface="微软雅黑"/>
              </a:rPr>
              <a:t>含异步复位和同步使能的</a:t>
            </a:r>
            <a:r>
              <a:rPr sz="1200" dirty="0">
                <a:latin typeface="Arial"/>
                <a:cs typeface="Arial"/>
              </a:rPr>
              <a:t>D</a:t>
            </a:r>
            <a:r>
              <a:rPr sz="1200" spc="-5" dirty="0">
                <a:latin typeface="微软雅黑"/>
                <a:cs typeface="微软雅黑"/>
              </a:rPr>
              <a:t>触发器的符号及真值表</a:t>
            </a:r>
            <a:endParaRPr sz="1200">
              <a:latin typeface="微软雅黑"/>
              <a:cs typeface="微软雅黑"/>
            </a:endParaRPr>
          </a:p>
        </p:txBody>
      </p:sp>
      <p:pic>
        <p:nvPicPr>
          <p:cNvPr id="23" name="object 23"/>
          <p:cNvPicPr/>
          <p:nvPr/>
        </p:nvPicPr>
        <p:blipFill>
          <a:blip r:embed="rId4" cstate="print"/>
          <a:stretch>
            <a:fillRect/>
          </a:stretch>
        </p:blipFill>
        <p:spPr>
          <a:xfrm>
            <a:off x="5672213" y="3448811"/>
            <a:ext cx="4343400" cy="1495044"/>
          </a:xfrm>
          <a:prstGeom prst="rect">
            <a:avLst/>
          </a:prstGeom>
        </p:spPr>
      </p:pic>
      <p:sp>
        <p:nvSpPr>
          <p:cNvPr id="24" name="object 24"/>
          <p:cNvSpPr txBox="1"/>
          <p:nvPr/>
        </p:nvSpPr>
        <p:spPr>
          <a:xfrm>
            <a:off x="5988691" y="5349494"/>
            <a:ext cx="338709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6</a:t>
            </a:r>
            <a:r>
              <a:rPr sz="1200" spc="385" dirty="0">
                <a:latin typeface="Arial"/>
                <a:cs typeface="Arial"/>
              </a:rPr>
              <a:t> </a:t>
            </a:r>
            <a:r>
              <a:rPr sz="1200" dirty="0">
                <a:latin typeface="微软雅黑"/>
                <a:cs typeface="微软雅黑"/>
              </a:rPr>
              <a:t>含异步复位和同步使能的</a:t>
            </a:r>
            <a:r>
              <a:rPr sz="1200" dirty="0">
                <a:latin typeface="Arial"/>
                <a:cs typeface="Arial"/>
              </a:rPr>
              <a:t>D</a:t>
            </a:r>
            <a:r>
              <a:rPr sz="1200" spc="-10" dirty="0">
                <a:latin typeface="微软雅黑"/>
                <a:cs typeface="微软雅黑"/>
              </a:rPr>
              <a:t>触发器的时序波形</a:t>
            </a:r>
            <a:endParaRPr sz="1200">
              <a:latin typeface="微软雅黑"/>
              <a:cs typeface="微软雅黑"/>
            </a:endParaRPr>
          </a:p>
        </p:txBody>
      </p:sp>
      <p:sp>
        <p:nvSpPr>
          <p:cNvPr id="25" name="object 2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616267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4.1.3</a:t>
            </a:r>
            <a:r>
              <a:rPr spc="25" dirty="0">
                <a:latin typeface="Arial"/>
                <a:cs typeface="Arial"/>
              </a:rPr>
              <a:t> </a:t>
            </a:r>
            <a:r>
              <a:rPr spc="-10" dirty="0"/>
              <a:t>含异步复位和同步使能的</a:t>
            </a:r>
            <a:r>
              <a:rPr dirty="0">
                <a:latin typeface="Arial"/>
                <a:cs typeface="Arial"/>
              </a:rPr>
              <a:t>D</a:t>
            </a:r>
            <a:r>
              <a:rPr spc="-25" dirty="0"/>
              <a:t>触发器</a:t>
            </a:r>
          </a:p>
        </p:txBody>
      </p:sp>
      <p:sp>
        <p:nvSpPr>
          <p:cNvPr id="3" name="object 3"/>
          <p:cNvSpPr txBox="1"/>
          <p:nvPr/>
        </p:nvSpPr>
        <p:spPr>
          <a:xfrm>
            <a:off x="5611501" y="2225294"/>
            <a:ext cx="4145915" cy="2670810"/>
          </a:xfrm>
          <a:prstGeom prst="rect">
            <a:avLst/>
          </a:prstGeom>
        </p:spPr>
        <p:txBody>
          <a:bodyPr vert="horz" wrap="square" lIns="0" tIns="15875" rIns="0" bIns="0" rtlCol="0">
            <a:spAutoFit/>
          </a:bodyPr>
          <a:lstStyle/>
          <a:p>
            <a:pPr marL="262890" indent="-250190">
              <a:lnSpc>
                <a:spcPct val="100000"/>
              </a:lnSpc>
              <a:spcBef>
                <a:spcPts val="125"/>
              </a:spcBef>
              <a:buFont typeface="Wingdings"/>
              <a:buChar char=""/>
              <a:tabLst>
                <a:tab pos="262890" algn="l"/>
              </a:tabLst>
            </a:pPr>
            <a:r>
              <a:rPr sz="1550" dirty="0">
                <a:latin typeface="微软雅黑"/>
                <a:cs typeface="微软雅黑"/>
              </a:rPr>
              <a:t>注意</a:t>
            </a:r>
            <a:r>
              <a:rPr sz="1550" dirty="0">
                <a:latin typeface="宋体"/>
                <a:cs typeface="宋体"/>
              </a:rPr>
              <a:t>，</a:t>
            </a:r>
            <a:r>
              <a:rPr sz="1550" dirty="0">
                <a:latin typeface="微软雅黑"/>
                <a:cs typeface="微软雅黑"/>
              </a:rPr>
              <a:t>第二个</a:t>
            </a:r>
            <a:r>
              <a:rPr sz="1550" spc="-10" dirty="0">
                <a:latin typeface="Arial"/>
                <a:cs typeface="Arial"/>
              </a:rPr>
              <a:t>if</a:t>
            </a:r>
            <a:r>
              <a:rPr sz="1550" dirty="0">
                <a:latin typeface="微软雅黑"/>
                <a:cs typeface="微软雅黑"/>
              </a:rPr>
              <a:t>语句后没有</a:t>
            </a:r>
            <a:r>
              <a:rPr sz="1550" dirty="0">
                <a:latin typeface="Arial"/>
                <a:cs typeface="Arial"/>
              </a:rPr>
              <a:t>else</a:t>
            </a:r>
            <a:r>
              <a:rPr sz="1550" spc="-20" dirty="0">
                <a:latin typeface="微软雅黑"/>
                <a:cs typeface="微软雅黑"/>
              </a:rPr>
              <a:t>分支。</a:t>
            </a:r>
            <a:endParaRPr sz="1550">
              <a:latin typeface="微软雅黑"/>
              <a:cs typeface="微软雅黑"/>
            </a:endParaRPr>
          </a:p>
          <a:p>
            <a:pPr marL="262890" marR="5080" indent="-250825">
              <a:lnSpc>
                <a:spcPct val="203500"/>
              </a:lnSpc>
              <a:spcBef>
                <a:spcPts val="10"/>
              </a:spcBef>
              <a:buFont typeface="Wingdings"/>
              <a:buChar char=""/>
              <a:tabLst>
                <a:tab pos="262890" algn="l"/>
              </a:tabLst>
            </a:pPr>
            <a:r>
              <a:rPr sz="1550" spc="60" dirty="0">
                <a:latin typeface="微软雅黑"/>
                <a:cs typeface="微软雅黑"/>
              </a:rPr>
              <a:t>根据</a:t>
            </a:r>
            <a:r>
              <a:rPr sz="1550" dirty="0">
                <a:latin typeface="Arial"/>
                <a:cs typeface="Arial"/>
              </a:rPr>
              <a:t>Verilog</a:t>
            </a:r>
            <a:r>
              <a:rPr sz="1550" spc="420" dirty="0">
                <a:latin typeface="Arial"/>
                <a:cs typeface="Arial"/>
              </a:rPr>
              <a:t> </a:t>
            </a:r>
            <a:r>
              <a:rPr sz="1550" dirty="0">
                <a:latin typeface="Arial"/>
                <a:cs typeface="Arial"/>
              </a:rPr>
              <a:t>HDL</a:t>
            </a:r>
            <a:r>
              <a:rPr sz="1550" spc="60" dirty="0">
                <a:latin typeface="微软雅黑"/>
                <a:cs typeface="微软雅黑"/>
              </a:rPr>
              <a:t>语法</a:t>
            </a:r>
            <a:r>
              <a:rPr sz="1550" spc="50" dirty="0">
                <a:latin typeface="Arial"/>
                <a:cs typeface="Arial"/>
              </a:rPr>
              <a:t>,</a:t>
            </a:r>
            <a:r>
              <a:rPr sz="1550" spc="50" dirty="0">
                <a:latin typeface="微软雅黑"/>
                <a:cs typeface="微软雅黑"/>
              </a:rPr>
              <a:t>变量如果没有被赋新</a:t>
            </a:r>
            <a:r>
              <a:rPr sz="1550" spc="-10" dirty="0">
                <a:latin typeface="微软雅黑"/>
                <a:cs typeface="微软雅黑"/>
              </a:rPr>
              <a:t>值保持其先前的值。</a:t>
            </a:r>
            <a:endParaRPr sz="1550">
              <a:latin typeface="微软雅黑"/>
              <a:cs typeface="微软雅黑"/>
            </a:endParaRPr>
          </a:p>
          <a:p>
            <a:pPr marL="262890" indent="-250190">
              <a:lnSpc>
                <a:spcPct val="100000"/>
              </a:lnSpc>
              <a:spcBef>
                <a:spcPts val="1925"/>
              </a:spcBef>
              <a:buFont typeface="Wingdings"/>
              <a:buChar char=""/>
              <a:tabLst>
                <a:tab pos="262890" algn="l"/>
              </a:tabLst>
            </a:pPr>
            <a:r>
              <a:rPr sz="1550" dirty="0">
                <a:latin typeface="微软雅黑"/>
                <a:cs typeface="微软雅黑"/>
              </a:rPr>
              <a:t>如果</a:t>
            </a:r>
            <a:r>
              <a:rPr sz="1550" dirty="0">
                <a:latin typeface="Arial"/>
                <a:cs typeface="Arial"/>
              </a:rPr>
              <a:t>en</a:t>
            </a:r>
            <a:r>
              <a:rPr sz="1550" dirty="0">
                <a:latin typeface="微软雅黑"/>
                <a:cs typeface="微软雅黑"/>
              </a:rPr>
              <a:t>等于</a:t>
            </a:r>
            <a:r>
              <a:rPr sz="1550" dirty="0">
                <a:latin typeface="Arial"/>
                <a:cs typeface="Arial"/>
              </a:rPr>
              <a:t>0</a:t>
            </a:r>
            <a:r>
              <a:rPr sz="1550" dirty="0">
                <a:latin typeface="微软雅黑"/>
                <a:cs typeface="微软雅黑"/>
              </a:rPr>
              <a:t>，</a:t>
            </a:r>
            <a:r>
              <a:rPr sz="1550" dirty="0">
                <a:latin typeface="Arial"/>
                <a:cs typeface="Arial"/>
              </a:rPr>
              <a:t>q</a:t>
            </a:r>
            <a:r>
              <a:rPr sz="1550" spc="-10" dirty="0">
                <a:latin typeface="微软雅黑"/>
                <a:cs typeface="微软雅黑"/>
              </a:rPr>
              <a:t>将保持原值。</a:t>
            </a:r>
            <a:endParaRPr sz="1550">
              <a:latin typeface="微软雅黑"/>
              <a:cs typeface="微软雅黑"/>
            </a:endParaRPr>
          </a:p>
          <a:p>
            <a:pPr marL="262890" marR="5080" indent="-250825">
              <a:lnSpc>
                <a:spcPct val="203500"/>
              </a:lnSpc>
              <a:buFont typeface="Wingdings"/>
              <a:buChar char=""/>
              <a:tabLst>
                <a:tab pos="262890" algn="l"/>
              </a:tabLst>
            </a:pPr>
            <a:r>
              <a:rPr sz="1550" spc="55" dirty="0">
                <a:latin typeface="微软雅黑"/>
                <a:cs typeface="微软雅黑"/>
              </a:rPr>
              <a:t>因此</a:t>
            </a:r>
            <a:r>
              <a:rPr sz="1550" spc="55" dirty="0">
                <a:latin typeface="宋体"/>
                <a:cs typeface="宋体"/>
              </a:rPr>
              <a:t>，</a:t>
            </a:r>
            <a:r>
              <a:rPr sz="1550" spc="55" dirty="0">
                <a:latin typeface="微软雅黑"/>
                <a:cs typeface="微软雅黑"/>
              </a:rPr>
              <a:t>省略的</a:t>
            </a:r>
            <a:r>
              <a:rPr sz="1550" dirty="0">
                <a:latin typeface="Arial"/>
                <a:cs typeface="Arial"/>
              </a:rPr>
              <a:t>else</a:t>
            </a:r>
            <a:r>
              <a:rPr sz="1550" spc="50" dirty="0">
                <a:latin typeface="微软雅黑"/>
                <a:cs typeface="微软雅黑"/>
              </a:rPr>
              <a:t>分支描述了这个触发器的</a:t>
            </a:r>
            <a:r>
              <a:rPr sz="1550" spc="-10" dirty="0">
                <a:latin typeface="微软雅黑"/>
                <a:cs typeface="微软雅黑"/>
              </a:rPr>
              <a:t>预期行为。</a:t>
            </a:r>
            <a:endParaRPr sz="1550">
              <a:latin typeface="微软雅黑"/>
              <a:cs typeface="微软雅黑"/>
            </a:endParaRPr>
          </a:p>
        </p:txBody>
      </p:sp>
      <p:sp>
        <p:nvSpPr>
          <p:cNvPr id="4" name="object 4"/>
          <p:cNvSpPr/>
          <p:nvPr/>
        </p:nvSpPr>
        <p:spPr>
          <a:xfrm>
            <a:off x="1021727" y="2109977"/>
            <a:ext cx="3935095" cy="4466590"/>
          </a:xfrm>
          <a:custGeom>
            <a:avLst/>
            <a:gdLst/>
            <a:ahLst/>
            <a:cxnLst/>
            <a:rect l="l" t="t" r="r" b="b"/>
            <a:pathLst>
              <a:path w="3935095" h="4466590">
                <a:moveTo>
                  <a:pt x="3934967" y="4462272"/>
                </a:moveTo>
                <a:lnTo>
                  <a:pt x="3934967" y="3810"/>
                </a:lnTo>
                <a:lnTo>
                  <a:pt x="3931158" y="0"/>
                </a:lnTo>
                <a:lnTo>
                  <a:pt x="3809" y="0"/>
                </a:lnTo>
                <a:lnTo>
                  <a:pt x="0" y="3810"/>
                </a:lnTo>
                <a:lnTo>
                  <a:pt x="0" y="4462272"/>
                </a:lnTo>
                <a:lnTo>
                  <a:pt x="3810" y="4466082"/>
                </a:lnTo>
                <a:lnTo>
                  <a:pt x="8382" y="4466082"/>
                </a:lnTo>
                <a:lnTo>
                  <a:pt x="8382" y="16764"/>
                </a:lnTo>
                <a:lnTo>
                  <a:pt x="16763" y="8382"/>
                </a:lnTo>
                <a:lnTo>
                  <a:pt x="16763" y="16764"/>
                </a:lnTo>
                <a:lnTo>
                  <a:pt x="3918204" y="16764"/>
                </a:lnTo>
                <a:lnTo>
                  <a:pt x="3918204" y="8382"/>
                </a:lnTo>
                <a:lnTo>
                  <a:pt x="3926586" y="16764"/>
                </a:lnTo>
                <a:lnTo>
                  <a:pt x="3926586" y="4466082"/>
                </a:lnTo>
                <a:lnTo>
                  <a:pt x="3931158" y="4466082"/>
                </a:lnTo>
                <a:lnTo>
                  <a:pt x="3934967" y="4462272"/>
                </a:lnTo>
                <a:close/>
              </a:path>
              <a:path w="3935095" h="4466590">
                <a:moveTo>
                  <a:pt x="16763" y="16764"/>
                </a:moveTo>
                <a:lnTo>
                  <a:pt x="16763" y="8382"/>
                </a:lnTo>
                <a:lnTo>
                  <a:pt x="8382" y="16764"/>
                </a:lnTo>
                <a:lnTo>
                  <a:pt x="16763" y="16764"/>
                </a:lnTo>
                <a:close/>
              </a:path>
              <a:path w="3935095" h="4466590">
                <a:moveTo>
                  <a:pt x="16764" y="4449318"/>
                </a:moveTo>
                <a:lnTo>
                  <a:pt x="16763" y="16764"/>
                </a:lnTo>
                <a:lnTo>
                  <a:pt x="8382" y="16764"/>
                </a:lnTo>
                <a:lnTo>
                  <a:pt x="8382" y="4449318"/>
                </a:lnTo>
                <a:lnTo>
                  <a:pt x="16764" y="4449318"/>
                </a:lnTo>
                <a:close/>
              </a:path>
              <a:path w="3935095" h="4466590">
                <a:moveTo>
                  <a:pt x="3926586" y="4449318"/>
                </a:moveTo>
                <a:lnTo>
                  <a:pt x="8382" y="4449318"/>
                </a:lnTo>
                <a:lnTo>
                  <a:pt x="16764" y="4457700"/>
                </a:lnTo>
                <a:lnTo>
                  <a:pt x="16764" y="4466082"/>
                </a:lnTo>
                <a:lnTo>
                  <a:pt x="3918204" y="4466082"/>
                </a:lnTo>
                <a:lnTo>
                  <a:pt x="3918204" y="4457700"/>
                </a:lnTo>
                <a:lnTo>
                  <a:pt x="3926586" y="4449318"/>
                </a:lnTo>
                <a:close/>
              </a:path>
              <a:path w="3935095" h="4466590">
                <a:moveTo>
                  <a:pt x="16764" y="4466082"/>
                </a:moveTo>
                <a:lnTo>
                  <a:pt x="16764" y="4457700"/>
                </a:lnTo>
                <a:lnTo>
                  <a:pt x="8382" y="4449318"/>
                </a:lnTo>
                <a:lnTo>
                  <a:pt x="8382" y="4466082"/>
                </a:lnTo>
                <a:lnTo>
                  <a:pt x="16764" y="4466082"/>
                </a:lnTo>
                <a:close/>
              </a:path>
              <a:path w="3935095" h="4466590">
                <a:moveTo>
                  <a:pt x="3926586" y="16764"/>
                </a:moveTo>
                <a:lnTo>
                  <a:pt x="3918204" y="8382"/>
                </a:lnTo>
                <a:lnTo>
                  <a:pt x="3918204" y="16764"/>
                </a:lnTo>
                <a:lnTo>
                  <a:pt x="3926586" y="16764"/>
                </a:lnTo>
                <a:close/>
              </a:path>
              <a:path w="3935095" h="4466590">
                <a:moveTo>
                  <a:pt x="3926586" y="4449318"/>
                </a:moveTo>
                <a:lnTo>
                  <a:pt x="3926586" y="16764"/>
                </a:lnTo>
                <a:lnTo>
                  <a:pt x="3918204" y="16764"/>
                </a:lnTo>
                <a:lnTo>
                  <a:pt x="3918204" y="4449318"/>
                </a:lnTo>
                <a:lnTo>
                  <a:pt x="3926586" y="4449318"/>
                </a:lnTo>
                <a:close/>
              </a:path>
              <a:path w="3935095" h="4466590">
                <a:moveTo>
                  <a:pt x="3926586" y="4466082"/>
                </a:moveTo>
                <a:lnTo>
                  <a:pt x="3926586" y="4449318"/>
                </a:lnTo>
                <a:lnTo>
                  <a:pt x="3918204" y="4457700"/>
                </a:lnTo>
                <a:lnTo>
                  <a:pt x="3918204" y="4466082"/>
                </a:lnTo>
                <a:lnTo>
                  <a:pt x="3926586" y="4466082"/>
                </a:lnTo>
                <a:close/>
              </a:path>
            </a:pathLst>
          </a:custGeom>
          <a:solidFill>
            <a:srgbClr val="FF0000"/>
          </a:solidFill>
        </p:spPr>
        <p:txBody>
          <a:bodyPr wrap="square" lIns="0" tIns="0" rIns="0" bIns="0" rtlCol="0"/>
          <a:lstStyle/>
          <a:p>
            <a:endParaRPr/>
          </a:p>
        </p:txBody>
      </p:sp>
      <p:sp>
        <p:nvSpPr>
          <p:cNvPr id="5" name="object 5"/>
          <p:cNvSpPr txBox="1"/>
          <p:nvPr/>
        </p:nvSpPr>
        <p:spPr>
          <a:xfrm>
            <a:off x="1018927" y="1729762"/>
            <a:ext cx="3711575" cy="4737735"/>
          </a:xfrm>
          <a:prstGeom prst="rect">
            <a:avLst/>
          </a:prstGeom>
        </p:spPr>
        <p:txBody>
          <a:bodyPr vert="horz" wrap="square" lIns="0" tIns="123189" rIns="0" bIns="0" rtlCol="0">
            <a:spAutoFit/>
          </a:bodyPr>
          <a:lstStyle/>
          <a:p>
            <a:pPr marL="12700">
              <a:lnSpc>
                <a:spcPct val="100000"/>
              </a:lnSpc>
              <a:spcBef>
                <a:spcPts val="969"/>
              </a:spcBef>
            </a:pPr>
            <a:r>
              <a:rPr sz="1200" spc="80" dirty="0">
                <a:latin typeface="微软雅黑"/>
                <a:cs typeface="微软雅黑"/>
              </a:rPr>
              <a:t>例 </a:t>
            </a:r>
            <a:r>
              <a:rPr sz="1200" dirty="0">
                <a:latin typeface="Arial"/>
                <a:cs typeface="Arial"/>
              </a:rPr>
              <a:t>4.3</a:t>
            </a:r>
            <a:r>
              <a:rPr sz="1200" spc="175" dirty="0">
                <a:latin typeface="Arial"/>
                <a:cs typeface="Arial"/>
              </a:rPr>
              <a:t> </a:t>
            </a:r>
            <a:r>
              <a:rPr sz="1200" dirty="0">
                <a:latin typeface="微软雅黑"/>
                <a:cs typeface="微软雅黑"/>
              </a:rPr>
              <a:t>一段式含异步复位和同步使能的</a:t>
            </a:r>
            <a:r>
              <a:rPr sz="1200" dirty="0">
                <a:latin typeface="Arial"/>
                <a:cs typeface="Arial"/>
              </a:rPr>
              <a:t>D</a:t>
            </a:r>
            <a:r>
              <a:rPr sz="1200" spc="-20" dirty="0">
                <a:latin typeface="微软雅黑"/>
                <a:cs typeface="微软雅黑"/>
              </a:rPr>
              <a:t>触发器</a:t>
            </a:r>
            <a:endParaRPr sz="1200">
              <a:latin typeface="微软雅黑"/>
              <a:cs typeface="微软雅黑"/>
            </a:endParaRPr>
          </a:p>
          <a:p>
            <a:pPr marL="90805">
              <a:lnSpc>
                <a:spcPct val="100000"/>
              </a:lnSpc>
              <a:spcBef>
                <a:spcPts val="1115"/>
              </a:spcBef>
            </a:pPr>
            <a:r>
              <a:rPr sz="1550" b="1" dirty="0">
                <a:latin typeface="Calibri"/>
                <a:cs typeface="Calibri"/>
              </a:rPr>
              <a:t>module</a:t>
            </a:r>
            <a:r>
              <a:rPr sz="1550" b="1" spc="10" dirty="0">
                <a:latin typeface="Calibri"/>
                <a:cs typeface="Calibri"/>
              </a:rPr>
              <a:t> </a:t>
            </a:r>
            <a:r>
              <a:rPr sz="1550" spc="-10" dirty="0">
                <a:latin typeface="宋体"/>
                <a:cs typeface="宋体"/>
              </a:rPr>
              <a:t>dff_reset_en_1seg</a:t>
            </a:r>
            <a:endParaRPr sz="1550">
              <a:latin typeface="宋体"/>
              <a:cs typeface="宋体"/>
            </a:endParaRPr>
          </a:p>
          <a:p>
            <a:pPr marL="366395">
              <a:lnSpc>
                <a:spcPct val="100000"/>
              </a:lnSpc>
              <a:spcBef>
                <a:spcPts val="414"/>
              </a:spcBef>
            </a:pPr>
            <a:r>
              <a:rPr sz="1550" spc="-50" dirty="0">
                <a:latin typeface="Calibri"/>
                <a:cs typeface="Calibri"/>
              </a:rPr>
              <a:t>(</a:t>
            </a:r>
            <a:endParaRPr sz="1550">
              <a:latin typeface="Calibri"/>
              <a:cs typeface="Calibri"/>
            </a:endParaRPr>
          </a:p>
          <a:p>
            <a:pPr marL="458470">
              <a:lnSpc>
                <a:spcPct val="100000"/>
              </a:lnSpc>
              <a:spcBef>
                <a:spcPts val="405"/>
              </a:spcBef>
            </a:pPr>
            <a:r>
              <a:rPr sz="1550" b="1" dirty="0">
                <a:latin typeface="Calibri"/>
                <a:cs typeface="Calibri"/>
              </a:rPr>
              <a:t>input</a:t>
            </a:r>
            <a:r>
              <a:rPr sz="1550" b="1" spc="390" dirty="0">
                <a:latin typeface="Calibri"/>
                <a:cs typeface="Calibri"/>
              </a:rPr>
              <a:t> </a:t>
            </a:r>
            <a:r>
              <a:rPr sz="1550" spc="-10" dirty="0">
                <a:latin typeface="宋体"/>
                <a:cs typeface="宋体"/>
              </a:rPr>
              <a:t>clk,reset</a:t>
            </a:r>
            <a:r>
              <a:rPr sz="1550" spc="-10" dirty="0">
                <a:latin typeface="Calibri"/>
                <a:cs typeface="Calibri"/>
              </a:rPr>
              <a:t>,</a:t>
            </a:r>
            <a:endParaRPr sz="1550">
              <a:latin typeface="Calibri"/>
              <a:cs typeface="Calibri"/>
            </a:endParaRPr>
          </a:p>
          <a:p>
            <a:pPr marL="458470" marR="2129790" indent="45085">
              <a:lnSpc>
                <a:spcPct val="122300"/>
              </a:lnSpc>
            </a:pPr>
            <a:r>
              <a:rPr sz="1550" b="1" dirty="0">
                <a:latin typeface="Calibri"/>
                <a:cs typeface="Calibri"/>
              </a:rPr>
              <a:t>input</a:t>
            </a:r>
            <a:r>
              <a:rPr sz="1550" b="1" spc="390" dirty="0">
                <a:latin typeface="Calibri"/>
                <a:cs typeface="Calibri"/>
              </a:rPr>
              <a:t> </a:t>
            </a:r>
            <a:r>
              <a:rPr sz="1550" spc="-25" dirty="0">
                <a:latin typeface="宋体"/>
                <a:cs typeface="宋体"/>
              </a:rPr>
              <a:t>en</a:t>
            </a:r>
            <a:r>
              <a:rPr sz="1550" spc="-25" dirty="0">
                <a:latin typeface="Calibri"/>
                <a:cs typeface="Calibri"/>
              </a:rPr>
              <a:t>, </a:t>
            </a:r>
            <a:r>
              <a:rPr sz="1550" b="1" dirty="0">
                <a:latin typeface="Calibri"/>
                <a:cs typeface="Calibri"/>
              </a:rPr>
              <a:t>input</a:t>
            </a:r>
            <a:r>
              <a:rPr sz="1550" b="1" spc="390" dirty="0">
                <a:latin typeface="Calibri"/>
                <a:cs typeface="Calibri"/>
              </a:rPr>
              <a:t> </a:t>
            </a:r>
            <a:r>
              <a:rPr sz="1550" spc="-25" dirty="0">
                <a:latin typeface="宋体"/>
                <a:cs typeface="宋体"/>
              </a:rPr>
              <a:t>d</a:t>
            </a:r>
            <a:r>
              <a:rPr sz="1550" spc="-25" dirty="0">
                <a:latin typeface="Calibri"/>
                <a:cs typeface="Calibri"/>
              </a:rPr>
              <a:t>, </a:t>
            </a:r>
            <a:r>
              <a:rPr sz="1550" b="1" dirty="0">
                <a:latin typeface="宋体"/>
                <a:cs typeface="宋体"/>
              </a:rPr>
              <a:t>o</a:t>
            </a:r>
            <a:r>
              <a:rPr sz="1550" b="1" dirty="0">
                <a:latin typeface="Calibri"/>
                <a:cs typeface="Calibri"/>
              </a:rPr>
              <a:t>utput</a:t>
            </a:r>
            <a:r>
              <a:rPr sz="1550" b="1" spc="395" dirty="0">
                <a:latin typeface="Calibri"/>
                <a:cs typeface="Calibri"/>
              </a:rPr>
              <a:t> </a:t>
            </a:r>
            <a:r>
              <a:rPr sz="1550" b="1" dirty="0">
                <a:latin typeface="Calibri"/>
                <a:cs typeface="Calibri"/>
              </a:rPr>
              <a:t>reg</a:t>
            </a:r>
            <a:r>
              <a:rPr sz="1550" b="1" spc="385" dirty="0">
                <a:latin typeface="Calibri"/>
                <a:cs typeface="Calibri"/>
              </a:rPr>
              <a:t> </a:t>
            </a:r>
            <a:r>
              <a:rPr sz="1550" spc="-50" dirty="0">
                <a:latin typeface="Calibri"/>
                <a:cs typeface="Calibri"/>
              </a:rPr>
              <a:t>q</a:t>
            </a:r>
            <a:endParaRPr sz="1550">
              <a:latin typeface="Calibri"/>
              <a:cs typeface="Calibri"/>
            </a:endParaRPr>
          </a:p>
          <a:p>
            <a:pPr marL="391795">
              <a:lnSpc>
                <a:spcPct val="100000"/>
              </a:lnSpc>
              <a:spcBef>
                <a:spcPts val="409"/>
              </a:spcBef>
            </a:pPr>
            <a:r>
              <a:rPr sz="1550" spc="-25" dirty="0">
                <a:latin typeface="Calibri"/>
                <a:cs typeface="Calibri"/>
              </a:rPr>
              <a:t>);</a:t>
            </a:r>
            <a:endParaRPr sz="1550">
              <a:latin typeface="Calibri"/>
              <a:cs typeface="Calibri"/>
            </a:endParaRPr>
          </a:p>
          <a:p>
            <a:pPr marL="274320">
              <a:lnSpc>
                <a:spcPct val="100000"/>
              </a:lnSpc>
              <a:spcBef>
                <a:spcPts val="414"/>
              </a:spcBef>
            </a:pPr>
            <a:r>
              <a:rPr sz="1550" b="1" dirty="0">
                <a:latin typeface="Calibri"/>
                <a:cs typeface="Calibri"/>
              </a:rPr>
              <a:t>always</a:t>
            </a:r>
            <a:r>
              <a:rPr sz="1550" b="1" spc="30" dirty="0">
                <a:latin typeface="Calibri"/>
                <a:cs typeface="Calibri"/>
              </a:rPr>
              <a:t> </a:t>
            </a:r>
            <a:r>
              <a:rPr sz="1550" dirty="0">
                <a:latin typeface="Calibri"/>
                <a:cs typeface="Calibri"/>
              </a:rPr>
              <a:t>@(</a:t>
            </a:r>
            <a:r>
              <a:rPr sz="1550" b="1" dirty="0">
                <a:latin typeface="宋体"/>
                <a:cs typeface="宋体"/>
              </a:rPr>
              <a:t>posedge</a:t>
            </a:r>
            <a:r>
              <a:rPr sz="1550" b="1" spc="130" dirty="0">
                <a:latin typeface="宋体"/>
                <a:cs typeface="宋体"/>
              </a:rPr>
              <a:t> </a:t>
            </a:r>
            <a:r>
              <a:rPr sz="1550" dirty="0">
                <a:latin typeface="宋体"/>
                <a:cs typeface="宋体"/>
              </a:rPr>
              <a:t>clk,</a:t>
            </a:r>
            <a:r>
              <a:rPr sz="1550" b="1" dirty="0">
                <a:latin typeface="宋体"/>
                <a:cs typeface="宋体"/>
              </a:rPr>
              <a:t>posedge</a:t>
            </a:r>
            <a:r>
              <a:rPr sz="1550" b="1" spc="110" dirty="0">
                <a:latin typeface="宋体"/>
                <a:cs typeface="宋体"/>
              </a:rPr>
              <a:t> </a:t>
            </a:r>
            <a:r>
              <a:rPr sz="1550" spc="-10" dirty="0">
                <a:latin typeface="宋体"/>
                <a:cs typeface="宋体"/>
              </a:rPr>
              <a:t>reset</a:t>
            </a:r>
            <a:r>
              <a:rPr sz="1550" spc="-10" dirty="0">
                <a:latin typeface="Calibri"/>
                <a:cs typeface="Calibri"/>
              </a:rPr>
              <a:t>)</a:t>
            </a:r>
            <a:endParaRPr sz="1550">
              <a:latin typeface="Calibri"/>
              <a:cs typeface="Calibri"/>
            </a:endParaRPr>
          </a:p>
          <a:p>
            <a:pPr marL="457834">
              <a:lnSpc>
                <a:spcPct val="100000"/>
              </a:lnSpc>
              <a:spcBef>
                <a:spcPts val="409"/>
              </a:spcBef>
            </a:pPr>
            <a:r>
              <a:rPr sz="1550" b="1" spc="-10" dirty="0">
                <a:latin typeface="Calibri"/>
                <a:cs typeface="Calibri"/>
              </a:rPr>
              <a:t>begin</a:t>
            </a:r>
            <a:endParaRPr sz="1550">
              <a:latin typeface="Calibri"/>
              <a:cs typeface="Calibri"/>
            </a:endParaRPr>
          </a:p>
          <a:p>
            <a:pPr marL="688340">
              <a:lnSpc>
                <a:spcPct val="100000"/>
              </a:lnSpc>
              <a:spcBef>
                <a:spcPts val="415"/>
              </a:spcBef>
            </a:pPr>
            <a:r>
              <a:rPr sz="1550" b="1" dirty="0">
                <a:latin typeface="Calibri"/>
                <a:cs typeface="Calibri"/>
              </a:rPr>
              <a:t>if</a:t>
            </a:r>
            <a:r>
              <a:rPr sz="1550" b="1" spc="20" dirty="0">
                <a:latin typeface="Calibri"/>
                <a:cs typeface="Calibri"/>
              </a:rPr>
              <a:t> </a:t>
            </a:r>
            <a:r>
              <a:rPr sz="1550" spc="-10" dirty="0">
                <a:latin typeface="Calibri"/>
                <a:cs typeface="Calibri"/>
              </a:rPr>
              <a:t>(reset)</a:t>
            </a:r>
            <a:endParaRPr sz="1550">
              <a:latin typeface="Calibri"/>
              <a:cs typeface="Calibri"/>
            </a:endParaRPr>
          </a:p>
          <a:p>
            <a:pPr marL="884555">
              <a:lnSpc>
                <a:spcPct val="100000"/>
              </a:lnSpc>
              <a:spcBef>
                <a:spcPts val="409"/>
              </a:spcBef>
            </a:pPr>
            <a:r>
              <a:rPr sz="1550" dirty="0">
                <a:latin typeface="Calibri"/>
                <a:cs typeface="Calibri"/>
              </a:rPr>
              <a:t>q</a:t>
            </a:r>
            <a:r>
              <a:rPr sz="1550" spc="20" dirty="0">
                <a:latin typeface="Calibri"/>
                <a:cs typeface="Calibri"/>
              </a:rPr>
              <a:t> </a:t>
            </a:r>
            <a:r>
              <a:rPr sz="1550" dirty="0">
                <a:latin typeface="Calibri"/>
                <a:cs typeface="Calibri"/>
              </a:rPr>
              <a:t>&lt;=</a:t>
            </a:r>
            <a:r>
              <a:rPr sz="1550" spc="30" dirty="0">
                <a:latin typeface="Calibri"/>
                <a:cs typeface="Calibri"/>
              </a:rPr>
              <a:t> </a:t>
            </a:r>
            <a:r>
              <a:rPr sz="1550" spc="-10" dirty="0">
                <a:latin typeface="Calibri"/>
                <a:cs typeface="Calibri"/>
              </a:rPr>
              <a:t>1’b0;</a:t>
            </a:r>
            <a:endParaRPr sz="1550">
              <a:latin typeface="Calibri"/>
              <a:cs typeface="Calibri"/>
            </a:endParaRPr>
          </a:p>
          <a:p>
            <a:pPr marL="871855" marR="2247265" indent="-230504">
              <a:lnSpc>
                <a:spcPct val="122300"/>
              </a:lnSpc>
            </a:pPr>
            <a:r>
              <a:rPr sz="1550" b="1" dirty="0">
                <a:latin typeface="Calibri"/>
                <a:cs typeface="Calibri"/>
              </a:rPr>
              <a:t>else</a:t>
            </a:r>
            <a:r>
              <a:rPr sz="1550" b="1" spc="30" dirty="0">
                <a:latin typeface="Calibri"/>
                <a:cs typeface="Calibri"/>
              </a:rPr>
              <a:t> </a:t>
            </a:r>
            <a:r>
              <a:rPr sz="1550" b="1" spc="-10" dirty="0">
                <a:latin typeface="Calibri"/>
                <a:cs typeface="Calibri"/>
              </a:rPr>
              <a:t>if</a:t>
            </a:r>
            <a:r>
              <a:rPr sz="1550" spc="-10" dirty="0">
                <a:latin typeface="Calibri"/>
                <a:cs typeface="Calibri"/>
              </a:rPr>
              <a:t>(en) </a:t>
            </a:r>
            <a:r>
              <a:rPr sz="1550" dirty="0">
                <a:latin typeface="Calibri"/>
                <a:cs typeface="Calibri"/>
              </a:rPr>
              <a:t>q</a:t>
            </a:r>
            <a:r>
              <a:rPr sz="1550" spc="20" dirty="0">
                <a:latin typeface="Calibri"/>
                <a:cs typeface="Calibri"/>
              </a:rPr>
              <a:t> </a:t>
            </a:r>
            <a:r>
              <a:rPr sz="1550" dirty="0">
                <a:latin typeface="Calibri"/>
                <a:cs typeface="Calibri"/>
              </a:rPr>
              <a:t>&lt;=</a:t>
            </a:r>
            <a:r>
              <a:rPr sz="1550" spc="25" dirty="0">
                <a:latin typeface="Calibri"/>
                <a:cs typeface="Calibri"/>
              </a:rPr>
              <a:t> </a:t>
            </a:r>
            <a:r>
              <a:rPr sz="1550" spc="-25" dirty="0">
                <a:latin typeface="Calibri"/>
                <a:cs typeface="Calibri"/>
              </a:rPr>
              <a:t>d;</a:t>
            </a:r>
            <a:endParaRPr sz="1550">
              <a:latin typeface="Calibri"/>
              <a:cs typeface="Calibri"/>
            </a:endParaRPr>
          </a:p>
          <a:p>
            <a:pPr marL="136525" marR="2616200" indent="321310">
              <a:lnSpc>
                <a:spcPts val="2270"/>
              </a:lnSpc>
              <a:spcBef>
                <a:spcPts val="105"/>
              </a:spcBef>
            </a:pPr>
            <a:r>
              <a:rPr sz="1550" b="1" spc="-25" dirty="0">
                <a:latin typeface="Calibri"/>
                <a:cs typeface="Calibri"/>
              </a:rPr>
              <a:t>end </a:t>
            </a:r>
            <a:r>
              <a:rPr sz="1550" b="1" spc="-10" dirty="0">
                <a:latin typeface="Calibri"/>
                <a:cs typeface="Calibri"/>
              </a:rPr>
              <a:t>endmodule</a:t>
            </a:r>
            <a:endParaRPr sz="1550">
              <a:latin typeface="Calibri"/>
              <a:cs typeface="Calibri"/>
            </a:endParaRPr>
          </a:p>
        </p:txBody>
      </p:sp>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616267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4.1.3</a:t>
            </a:r>
            <a:r>
              <a:rPr spc="25" dirty="0">
                <a:latin typeface="Arial"/>
                <a:cs typeface="Arial"/>
              </a:rPr>
              <a:t> </a:t>
            </a:r>
            <a:r>
              <a:rPr spc="-10" dirty="0"/>
              <a:t>含异步复位和同步使能的</a:t>
            </a:r>
            <a:r>
              <a:rPr dirty="0">
                <a:latin typeface="Arial"/>
                <a:cs typeface="Arial"/>
              </a:rPr>
              <a:t>D</a:t>
            </a:r>
            <a:r>
              <a:rPr spc="-25" dirty="0"/>
              <a:t>触发器</a:t>
            </a:r>
          </a:p>
        </p:txBody>
      </p:sp>
      <p:sp>
        <p:nvSpPr>
          <p:cNvPr id="3" name="object 3"/>
          <p:cNvSpPr/>
          <p:nvPr/>
        </p:nvSpPr>
        <p:spPr>
          <a:xfrm>
            <a:off x="550049" y="2377439"/>
            <a:ext cx="9606280" cy="1551940"/>
          </a:xfrm>
          <a:custGeom>
            <a:avLst/>
            <a:gdLst/>
            <a:ahLst/>
            <a:cxnLst/>
            <a:rect l="l" t="t" r="r" b="b"/>
            <a:pathLst>
              <a:path w="9606280" h="1551939">
                <a:moveTo>
                  <a:pt x="13716" y="1537716"/>
                </a:moveTo>
                <a:lnTo>
                  <a:pt x="13716" y="1488948"/>
                </a:lnTo>
                <a:lnTo>
                  <a:pt x="0" y="1488948"/>
                </a:lnTo>
                <a:lnTo>
                  <a:pt x="0" y="1544574"/>
                </a:lnTo>
                <a:lnTo>
                  <a:pt x="6858" y="1544574"/>
                </a:lnTo>
                <a:lnTo>
                  <a:pt x="6858" y="1537716"/>
                </a:lnTo>
                <a:lnTo>
                  <a:pt x="13716" y="1537716"/>
                </a:lnTo>
                <a:close/>
              </a:path>
              <a:path w="9606280" h="1551939">
                <a:moveTo>
                  <a:pt x="46482" y="1551432"/>
                </a:moveTo>
                <a:lnTo>
                  <a:pt x="46482" y="1537716"/>
                </a:lnTo>
                <a:lnTo>
                  <a:pt x="6858" y="1537716"/>
                </a:lnTo>
                <a:lnTo>
                  <a:pt x="6858" y="1544574"/>
                </a:lnTo>
                <a:lnTo>
                  <a:pt x="13716" y="1544574"/>
                </a:lnTo>
                <a:lnTo>
                  <a:pt x="13716" y="1551432"/>
                </a:lnTo>
                <a:lnTo>
                  <a:pt x="46482" y="1551432"/>
                </a:lnTo>
                <a:close/>
              </a:path>
              <a:path w="9606280" h="1551939">
                <a:moveTo>
                  <a:pt x="13716" y="1551432"/>
                </a:moveTo>
                <a:lnTo>
                  <a:pt x="13716" y="1544574"/>
                </a:lnTo>
                <a:lnTo>
                  <a:pt x="6858" y="1544574"/>
                </a:lnTo>
                <a:lnTo>
                  <a:pt x="6858" y="1551432"/>
                </a:lnTo>
                <a:lnTo>
                  <a:pt x="13716" y="1551432"/>
                </a:lnTo>
                <a:close/>
              </a:path>
              <a:path w="9606280" h="1551939">
                <a:moveTo>
                  <a:pt x="13716" y="1447038"/>
                </a:moveTo>
                <a:lnTo>
                  <a:pt x="13716" y="1391412"/>
                </a:lnTo>
                <a:lnTo>
                  <a:pt x="0" y="1391412"/>
                </a:lnTo>
                <a:lnTo>
                  <a:pt x="0" y="1447038"/>
                </a:lnTo>
                <a:lnTo>
                  <a:pt x="13716" y="1447038"/>
                </a:lnTo>
                <a:close/>
              </a:path>
              <a:path w="9606280" h="1551939">
                <a:moveTo>
                  <a:pt x="13716" y="1349502"/>
                </a:moveTo>
                <a:lnTo>
                  <a:pt x="13715" y="1293876"/>
                </a:lnTo>
                <a:lnTo>
                  <a:pt x="0" y="1293876"/>
                </a:lnTo>
                <a:lnTo>
                  <a:pt x="0" y="1349502"/>
                </a:lnTo>
                <a:lnTo>
                  <a:pt x="13716" y="1349502"/>
                </a:lnTo>
                <a:close/>
              </a:path>
              <a:path w="9606280" h="1551939">
                <a:moveTo>
                  <a:pt x="13715" y="1251966"/>
                </a:moveTo>
                <a:lnTo>
                  <a:pt x="13715" y="1196340"/>
                </a:lnTo>
                <a:lnTo>
                  <a:pt x="0" y="1196340"/>
                </a:lnTo>
                <a:lnTo>
                  <a:pt x="0" y="1251966"/>
                </a:lnTo>
                <a:lnTo>
                  <a:pt x="13715" y="1251966"/>
                </a:lnTo>
                <a:close/>
              </a:path>
              <a:path w="9606280" h="1551939">
                <a:moveTo>
                  <a:pt x="13715" y="1154430"/>
                </a:moveTo>
                <a:lnTo>
                  <a:pt x="13715" y="1098804"/>
                </a:lnTo>
                <a:lnTo>
                  <a:pt x="0" y="1098804"/>
                </a:lnTo>
                <a:lnTo>
                  <a:pt x="0" y="1154430"/>
                </a:lnTo>
                <a:lnTo>
                  <a:pt x="13715" y="1154430"/>
                </a:lnTo>
                <a:close/>
              </a:path>
              <a:path w="9606280" h="1551939">
                <a:moveTo>
                  <a:pt x="13715" y="1056894"/>
                </a:moveTo>
                <a:lnTo>
                  <a:pt x="13715" y="1001268"/>
                </a:lnTo>
                <a:lnTo>
                  <a:pt x="0" y="1001268"/>
                </a:lnTo>
                <a:lnTo>
                  <a:pt x="0" y="1056894"/>
                </a:lnTo>
                <a:lnTo>
                  <a:pt x="13715" y="1056894"/>
                </a:lnTo>
                <a:close/>
              </a:path>
              <a:path w="9606280" h="1551939">
                <a:moveTo>
                  <a:pt x="13715" y="960120"/>
                </a:moveTo>
                <a:lnTo>
                  <a:pt x="13715" y="903732"/>
                </a:lnTo>
                <a:lnTo>
                  <a:pt x="0" y="903732"/>
                </a:lnTo>
                <a:lnTo>
                  <a:pt x="0" y="960120"/>
                </a:lnTo>
                <a:lnTo>
                  <a:pt x="13715" y="960120"/>
                </a:lnTo>
                <a:close/>
              </a:path>
              <a:path w="9606280" h="1551939">
                <a:moveTo>
                  <a:pt x="13715" y="862584"/>
                </a:moveTo>
                <a:lnTo>
                  <a:pt x="13715" y="806958"/>
                </a:lnTo>
                <a:lnTo>
                  <a:pt x="0" y="806958"/>
                </a:lnTo>
                <a:lnTo>
                  <a:pt x="0" y="862584"/>
                </a:lnTo>
                <a:lnTo>
                  <a:pt x="13715" y="862584"/>
                </a:lnTo>
                <a:close/>
              </a:path>
              <a:path w="9606280" h="1551939">
                <a:moveTo>
                  <a:pt x="13715" y="765048"/>
                </a:moveTo>
                <a:lnTo>
                  <a:pt x="13715" y="709422"/>
                </a:lnTo>
                <a:lnTo>
                  <a:pt x="0" y="709422"/>
                </a:lnTo>
                <a:lnTo>
                  <a:pt x="0" y="765048"/>
                </a:lnTo>
                <a:lnTo>
                  <a:pt x="13715" y="765048"/>
                </a:lnTo>
                <a:close/>
              </a:path>
              <a:path w="9606280" h="1551939">
                <a:moveTo>
                  <a:pt x="13715" y="667512"/>
                </a:moveTo>
                <a:lnTo>
                  <a:pt x="13715" y="611886"/>
                </a:lnTo>
                <a:lnTo>
                  <a:pt x="0" y="611886"/>
                </a:lnTo>
                <a:lnTo>
                  <a:pt x="0" y="667512"/>
                </a:lnTo>
                <a:lnTo>
                  <a:pt x="13715" y="667512"/>
                </a:lnTo>
                <a:close/>
              </a:path>
              <a:path w="9606280" h="1551939">
                <a:moveTo>
                  <a:pt x="13715" y="569976"/>
                </a:moveTo>
                <a:lnTo>
                  <a:pt x="13715" y="514350"/>
                </a:lnTo>
                <a:lnTo>
                  <a:pt x="0" y="514350"/>
                </a:lnTo>
                <a:lnTo>
                  <a:pt x="0" y="569976"/>
                </a:lnTo>
                <a:lnTo>
                  <a:pt x="13715" y="569976"/>
                </a:lnTo>
                <a:close/>
              </a:path>
              <a:path w="9606280" h="1551939">
                <a:moveTo>
                  <a:pt x="13715" y="472440"/>
                </a:moveTo>
                <a:lnTo>
                  <a:pt x="13715" y="416814"/>
                </a:lnTo>
                <a:lnTo>
                  <a:pt x="0" y="416814"/>
                </a:lnTo>
                <a:lnTo>
                  <a:pt x="0" y="472440"/>
                </a:lnTo>
                <a:lnTo>
                  <a:pt x="13715" y="472440"/>
                </a:lnTo>
                <a:close/>
              </a:path>
              <a:path w="9606280" h="1551939">
                <a:moveTo>
                  <a:pt x="13715" y="374904"/>
                </a:moveTo>
                <a:lnTo>
                  <a:pt x="13715" y="319278"/>
                </a:lnTo>
                <a:lnTo>
                  <a:pt x="0" y="319278"/>
                </a:lnTo>
                <a:lnTo>
                  <a:pt x="0" y="374904"/>
                </a:lnTo>
                <a:lnTo>
                  <a:pt x="13715" y="374904"/>
                </a:lnTo>
                <a:close/>
              </a:path>
              <a:path w="9606280" h="1551939">
                <a:moveTo>
                  <a:pt x="13715" y="277368"/>
                </a:moveTo>
                <a:lnTo>
                  <a:pt x="13715" y="221742"/>
                </a:lnTo>
                <a:lnTo>
                  <a:pt x="0" y="221742"/>
                </a:lnTo>
                <a:lnTo>
                  <a:pt x="0" y="277368"/>
                </a:lnTo>
                <a:lnTo>
                  <a:pt x="13715" y="277368"/>
                </a:lnTo>
                <a:close/>
              </a:path>
              <a:path w="9606280" h="1551939">
                <a:moveTo>
                  <a:pt x="13715" y="179832"/>
                </a:moveTo>
                <a:lnTo>
                  <a:pt x="13715" y="124206"/>
                </a:lnTo>
                <a:lnTo>
                  <a:pt x="0" y="124206"/>
                </a:lnTo>
                <a:lnTo>
                  <a:pt x="0" y="179832"/>
                </a:lnTo>
                <a:lnTo>
                  <a:pt x="13715" y="179832"/>
                </a:lnTo>
                <a:close/>
              </a:path>
              <a:path w="9606280" h="1551939">
                <a:moveTo>
                  <a:pt x="13715" y="83058"/>
                </a:moveTo>
                <a:lnTo>
                  <a:pt x="13715" y="26670"/>
                </a:lnTo>
                <a:lnTo>
                  <a:pt x="0" y="26670"/>
                </a:lnTo>
                <a:lnTo>
                  <a:pt x="0" y="83058"/>
                </a:lnTo>
                <a:lnTo>
                  <a:pt x="13715" y="83058"/>
                </a:lnTo>
                <a:close/>
              </a:path>
              <a:path w="9606280" h="1551939">
                <a:moveTo>
                  <a:pt x="84582" y="13716"/>
                </a:moveTo>
                <a:lnTo>
                  <a:pt x="84582" y="0"/>
                </a:lnTo>
                <a:lnTo>
                  <a:pt x="28956" y="0"/>
                </a:lnTo>
                <a:lnTo>
                  <a:pt x="28956" y="13716"/>
                </a:lnTo>
                <a:lnTo>
                  <a:pt x="84582" y="13716"/>
                </a:lnTo>
                <a:close/>
              </a:path>
              <a:path w="9606280" h="1551939">
                <a:moveTo>
                  <a:pt x="181356" y="13716"/>
                </a:moveTo>
                <a:lnTo>
                  <a:pt x="181356" y="0"/>
                </a:lnTo>
                <a:lnTo>
                  <a:pt x="125729" y="0"/>
                </a:lnTo>
                <a:lnTo>
                  <a:pt x="125729" y="13716"/>
                </a:lnTo>
                <a:lnTo>
                  <a:pt x="181356" y="13716"/>
                </a:lnTo>
                <a:close/>
              </a:path>
              <a:path w="9606280" h="1551939">
                <a:moveTo>
                  <a:pt x="278892" y="13716"/>
                </a:moveTo>
                <a:lnTo>
                  <a:pt x="278892" y="0"/>
                </a:lnTo>
                <a:lnTo>
                  <a:pt x="223265" y="0"/>
                </a:lnTo>
                <a:lnTo>
                  <a:pt x="223265" y="13716"/>
                </a:lnTo>
                <a:lnTo>
                  <a:pt x="278892" y="13716"/>
                </a:lnTo>
                <a:close/>
              </a:path>
              <a:path w="9606280" h="1551939">
                <a:moveTo>
                  <a:pt x="376427" y="13716"/>
                </a:moveTo>
                <a:lnTo>
                  <a:pt x="376427" y="0"/>
                </a:lnTo>
                <a:lnTo>
                  <a:pt x="320802" y="0"/>
                </a:lnTo>
                <a:lnTo>
                  <a:pt x="320802" y="13716"/>
                </a:lnTo>
                <a:lnTo>
                  <a:pt x="376427" y="13716"/>
                </a:lnTo>
                <a:close/>
              </a:path>
              <a:path w="9606280" h="1551939">
                <a:moveTo>
                  <a:pt x="473964" y="13716"/>
                </a:moveTo>
                <a:lnTo>
                  <a:pt x="473964" y="0"/>
                </a:lnTo>
                <a:lnTo>
                  <a:pt x="418338" y="0"/>
                </a:lnTo>
                <a:lnTo>
                  <a:pt x="418338" y="13716"/>
                </a:lnTo>
                <a:lnTo>
                  <a:pt x="473964" y="13716"/>
                </a:lnTo>
                <a:close/>
              </a:path>
              <a:path w="9606280" h="1551939">
                <a:moveTo>
                  <a:pt x="571499" y="13716"/>
                </a:moveTo>
                <a:lnTo>
                  <a:pt x="571499" y="0"/>
                </a:lnTo>
                <a:lnTo>
                  <a:pt x="515873" y="0"/>
                </a:lnTo>
                <a:lnTo>
                  <a:pt x="515873" y="13716"/>
                </a:lnTo>
                <a:lnTo>
                  <a:pt x="571499" y="13716"/>
                </a:lnTo>
                <a:close/>
              </a:path>
              <a:path w="9606280" h="1551939">
                <a:moveTo>
                  <a:pt x="669036" y="13716"/>
                </a:moveTo>
                <a:lnTo>
                  <a:pt x="669036" y="0"/>
                </a:lnTo>
                <a:lnTo>
                  <a:pt x="613410" y="0"/>
                </a:lnTo>
                <a:lnTo>
                  <a:pt x="613410" y="13716"/>
                </a:lnTo>
                <a:lnTo>
                  <a:pt x="669036" y="13716"/>
                </a:lnTo>
                <a:close/>
              </a:path>
              <a:path w="9606280" h="1551939">
                <a:moveTo>
                  <a:pt x="766571" y="13716"/>
                </a:moveTo>
                <a:lnTo>
                  <a:pt x="766571" y="0"/>
                </a:lnTo>
                <a:lnTo>
                  <a:pt x="710946" y="0"/>
                </a:lnTo>
                <a:lnTo>
                  <a:pt x="710946" y="13716"/>
                </a:lnTo>
                <a:lnTo>
                  <a:pt x="766571" y="13716"/>
                </a:lnTo>
                <a:close/>
              </a:path>
              <a:path w="9606280" h="1551939">
                <a:moveTo>
                  <a:pt x="864107" y="13716"/>
                </a:moveTo>
                <a:lnTo>
                  <a:pt x="864107" y="0"/>
                </a:lnTo>
                <a:lnTo>
                  <a:pt x="808482" y="0"/>
                </a:lnTo>
                <a:lnTo>
                  <a:pt x="808482" y="13716"/>
                </a:lnTo>
                <a:lnTo>
                  <a:pt x="864107" y="13716"/>
                </a:lnTo>
                <a:close/>
              </a:path>
              <a:path w="9606280" h="1551939">
                <a:moveTo>
                  <a:pt x="961644" y="13716"/>
                </a:moveTo>
                <a:lnTo>
                  <a:pt x="961644" y="0"/>
                </a:lnTo>
                <a:lnTo>
                  <a:pt x="906018" y="0"/>
                </a:lnTo>
                <a:lnTo>
                  <a:pt x="906018" y="13716"/>
                </a:lnTo>
                <a:lnTo>
                  <a:pt x="961644" y="13716"/>
                </a:lnTo>
                <a:close/>
              </a:path>
              <a:path w="9606280" h="1551939">
                <a:moveTo>
                  <a:pt x="1058418" y="13716"/>
                </a:moveTo>
                <a:lnTo>
                  <a:pt x="1058418" y="0"/>
                </a:lnTo>
                <a:lnTo>
                  <a:pt x="1002792" y="0"/>
                </a:lnTo>
                <a:lnTo>
                  <a:pt x="1002792" y="13716"/>
                </a:lnTo>
                <a:lnTo>
                  <a:pt x="1058418" y="13716"/>
                </a:lnTo>
                <a:close/>
              </a:path>
              <a:path w="9606280" h="1551939">
                <a:moveTo>
                  <a:pt x="1155953" y="13716"/>
                </a:moveTo>
                <a:lnTo>
                  <a:pt x="1155953" y="0"/>
                </a:lnTo>
                <a:lnTo>
                  <a:pt x="1100327" y="0"/>
                </a:lnTo>
                <a:lnTo>
                  <a:pt x="1100327" y="13716"/>
                </a:lnTo>
                <a:lnTo>
                  <a:pt x="1155953" y="13716"/>
                </a:lnTo>
                <a:close/>
              </a:path>
              <a:path w="9606280" h="1551939">
                <a:moveTo>
                  <a:pt x="1253489" y="13716"/>
                </a:moveTo>
                <a:lnTo>
                  <a:pt x="1253489" y="0"/>
                </a:lnTo>
                <a:lnTo>
                  <a:pt x="1197864" y="0"/>
                </a:lnTo>
                <a:lnTo>
                  <a:pt x="1197864" y="13716"/>
                </a:lnTo>
                <a:lnTo>
                  <a:pt x="1253489" y="13716"/>
                </a:lnTo>
                <a:close/>
              </a:path>
              <a:path w="9606280" h="1551939">
                <a:moveTo>
                  <a:pt x="1351026" y="13716"/>
                </a:moveTo>
                <a:lnTo>
                  <a:pt x="1351026" y="0"/>
                </a:lnTo>
                <a:lnTo>
                  <a:pt x="1295400" y="0"/>
                </a:lnTo>
                <a:lnTo>
                  <a:pt x="1295400" y="13716"/>
                </a:lnTo>
                <a:lnTo>
                  <a:pt x="1351026" y="13716"/>
                </a:lnTo>
                <a:close/>
              </a:path>
              <a:path w="9606280" h="1551939">
                <a:moveTo>
                  <a:pt x="1448562" y="13716"/>
                </a:moveTo>
                <a:lnTo>
                  <a:pt x="1448562" y="0"/>
                </a:lnTo>
                <a:lnTo>
                  <a:pt x="1392936" y="0"/>
                </a:lnTo>
                <a:lnTo>
                  <a:pt x="1392936" y="13716"/>
                </a:lnTo>
                <a:lnTo>
                  <a:pt x="1448562" y="13716"/>
                </a:lnTo>
                <a:close/>
              </a:path>
              <a:path w="9606280" h="1551939">
                <a:moveTo>
                  <a:pt x="1546097" y="13716"/>
                </a:moveTo>
                <a:lnTo>
                  <a:pt x="1546097" y="0"/>
                </a:lnTo>
                <a:lnTo>
                  <a:pt x="1490471" y="0"/>
                </a:lnTo>
                <a:lnTo>
                  <a:pt x="1490471" y="13716"/>
                </a:lnTo>
                <a:lnTo>
                  <a:pt x="1546097" y="13716"/>
                </a:lnTo>
                <a:close/>
              </a:path>
              <a:path w="9606280" h="1551939">
                <a:moveTo>
                  <a:pt x="1643633" y="13716"/>
                </a:moveTo>
                <a:lnTo>
                  <a:pt x="1643633" y="0"/>
                </a:lnTo>
                <a:lnTo>
                  <a:pt x="1588008" y="0"/>
                </a:lnTo>
                <a:lnTo>
                  <a:pt x="1588008" y="13716"/>
                </a:lnTo>
                <a:lnTo>
                  <a:pt x="1643633" y="13716"/>
                </a:lnTo>
                <a:close/>
              </a:path>
              <a:path w="9606280" h="1551939">
                <a:moveTo>
                  <a:pt x="1741170" y="13716"/>
                </a:moveTo>
                <a:lnTo>
                  <a:pt x="1741170" y="0"/>
                </a:lnTo>
                <a:lnTo>
                  <a:pt x="1685544" y="0"/>
                </a:lnTo>
                <a:lnTo>
                  <a:pt x="1685544" y="13716"/>
                </a:lnTo>
                <a:lnTo>
                  <a:pt x="1741170" y="13716"/>
                </a:lnTo>
                <a:close/>
              </a:path>
              <a:path w="9606280" h="1551939">
                <a:moveTo>
                  <a:pt x="1838706" y="13716"/>
                </a:moveTo>
                <a:lnTo>
                  <a:pt x="1838706" y="0"/>
                </a:lnTo>
                <a:lnTo>
                  <a:pt x="1783080" y="0"/>
                </a:lnTo>
                <a:lnTo>
                  <a:pt x="1783080" y="13716"/>
                </a:lnTo>
                <a:lnTo>
                  <a:pt x="1838706" y="13716"/>
                </a:lnTo>
                <a:close/>
              </a:path>
              <a:path w="9606280" h="1551939">
                <a:moveTo>
                  <a:pt x="1935479" y="13716"/>
                </a:moveTo>
                <a:lnTo>
                  <a:pt x="1935479" y="0"/>
                </a:lnTo>
                <a:lnTo>
                  <a:pt x="1879853" y="0"/>
                </a:lnTo>
                <a:lnTo>
                  <a:pt x="1879853" y="13716"/>
                </a:lnTo>
                <a:lnTo>
                  <a:pt x="1935479" y="13716"/>
                </a:lnTo>
                <a:close/>
              </a:path>
              <a:path w="9606280" h="1551939">
                <a:moveTo>
                  <a:pt x="2033015" y="13716"/>
                </a:moveTo>
                <a:lnTo>
                  <a:pt x="2033015" y="0"/>
                </a:lnTo>
                <a:lnTo>
                  <a:pt x="1977389" y="0"/>
                </a:lnTo>
                <a:lnTo>
                  <a:pt x="1977389" y="13716"/>
                </a:lnTo>
                <a:lnTo>
                  <a:pt x="2033015" y="13716"/>
                </a:lnTo>
                <a:close/>
              </a:path>
              <a:path w="9606280" h="1551939">
                <a:moveTo>
                  <a:pt x="2130552" y="13716"/>
                </a:moveTo>
                <a:lnTo>
                  <a:pt x="2130552" y="0"/>
                </a:lnTo>
                <a:lnTo>
                  <a:pt x="2074926" y="0"/>
                </a:lnTo>
                <a:lnTo>
                  <a:pt x="2074926" y="13716"/>
                </a:lnTo>
                <a:lnTo>
                  <a:pt x="2130552" y="13716"/>
                </a:lnTo>
                <a:close/>
              </a:path>
              <a:path w="9606280" h="1551939">
                <a:moveTo>
                  <a:pt x="2228088" y="13716"/>
                </a:moveTo>
                <a:lnTo>
                  <a:pt x="2228088" y="0"/>
                </a:lnTo>
                <a:lnTo>
                  <a:pt x="2172462" y="0"/>
                </a:lnTo>
                <a:lnTo>
                  <a:pt x="2172462" y="13716"/>
                </a:lnTo>
                <a:lnTo>
                  <a:pt x="2228088" y="13716"/>
                </a:lnTo>
                <a:close/>
              </a:path>
              <a:path w="9606280" h="1551939">
                <a:moveTo>
                  <a:pt x="2325623" y="13716"/>
                </a:moveTo>
                <a:lnTo>
                  <a:pt x="2325623" y="0"/>
                </a:lnTo>
                <a:lnTo>
                  <a:pt x="2269997" y="0"/>
                </a:lnTo>
                <a:lnTo>
                  <a:pt x="2269997" y="13716"/>
                </a:lnTo>
                <a:lnTo>
                  <a:pt x="2325623" y="13716"/>
                </a:lnTo>
                <a:close/>
              </a:path>
              <a:path w="9606280" h="1551939">
                <a:moveTo>
                  <a:pt x="2423160" y="13716"/>
                </a:moveTo>
                <a:lnTo>
                  <a:pt x="2423160" y="0"/>
                </a:lnTo>
                <a:lnTo>
                  <a:pt x="2367534" y="0"/>
                </a:lnTo>
                <a:lnTo>
                  <a:pt x="2367534" y="13716"/>
                </a:lnTo>
                <a:lnTo>
                  <a:pt x="2423160" y="13716"/>
                </a:lnTo>
                <a:close/>
              </a:path>
              <a:path w="9606280" h="1551939">
                <a:moveTo>
                  <a:pt x="2520696" y="13716"/>
                </a:moveTo>
                <a:lnTo>
                  <a:pt x="2520696" y="0"/>
                </a:lnTo>
                <a:lnTo>
                  <a:pt x="2465070" y="0"/>
                </a:lnTo>
                <a:lnTo>
                  <a:pt x="2465070" y="13716"/>
                </a:lnTo>
                <a:lnTo>
                  <a:pt x="2520696" y="13716"/>
                </a:lnTo>
                <a:close/>
              </a:path>
              <a:path w="9606280" h="1551939">
                <a:moveTo>
                  <a:pt x="2618232" y="13716"/>
                </a:moveTo>
                <a:lnTo>
                  <a:pt x="2618232" y="0"/>
                </a:lnTo>
                <a:lnTo>
                  <a:pt x="2562606" y="0"/>
                </a:lnTo>
                <a:lnTo>
                  <a:pt x="2562606" y="13716"/>
                </a:lnTo>
                <a:lnTo>
                  <a:pt x="2618232" y="13716"/>
                </a:lnTo>
                <a:close/>
              </a:path>
              <a:path w="9606280" h="1551939">
                <a:moveTo>
                  <a:pt x="2715768" y="13716"/>
                </a:moveTo>
                <a:lnTo>
                  <a:pt x="2715768" y="0"/>
                </a:lnTo>
                <a:lnTo>
                  <a:pt x="2660141" y="0"/>
                </a:lnTo>
                <a:lnTo>
                  <a:pt x="2660141" y="13716"/>
                </a:lnTo>
                <a:lnTo>
                  <a:pt x="2715768" y="13716"/>
                </a:lnTo>
                <a:close/>
              </a:path>
              <a:path w="9606280" h="1551939">
                <a:moveTo>
                  <a:pt x="2812542" y="13716"/>
                </a:moveTo>
                <a:lnTo>
                  <a:pt x="2812542" y="0"/>
                </a:lnTo>
                <a:lnTo>
                  <a:pt x="2756916" y="0"/>
                </a:lnTo>
                <a:lnTo>
                  <a:pt x="2756916" y="13716"/>
                </a:lnTo>
                <a:lnTo>
                  <a:pt x="2812542" y="13716"/>
                </a:lnTo>
                <a:close/>
              </a:path>
              <a:path w="9606280" h="1551939">
                <a:moveTo>
                  <a:pt x="2910078" y="13716"/>
                </a:moveTo>
                <a:lnTo>
                  <a:pt x="2910078" y="0"/>
                </a:lnTo>
                <a:lnTo>
                  <a:pt x="2854452" y="0"/>
                </a:lnTo>
                <a:lnTo>
                  <a:pt x="2854452" y="13716"/>
                </a:lnTo>
                <a:lnTo>
                  <a:pt x="2910078" y="13716"/>
                </a:lnTo>
                <a:close/>
              </a:path>
              <a:path w="9606280" h="1551939">
                <a:moveTo>
                  <a:pt x="3007613" y="13716"/>
                </a:moveTo>
                <a:lnTo>
                  <a:pt x="3007613" y="0"/>
                </a:lnTo>
                <a:lnTo>
                  <a:pt x="2951987" y="0"/>
                </a:lnTo>
                <a:lnTo>
                  <a:pt x="2951987" y="13716"/>
                </a:lnTo>
                <a:lnTo>
                  <a:pt x="3007613" y="13716"/>
                </a:lnTo>
                <a:close/>
              </a:path>
              <a:path w="9606280" h="1551939">
                <a:moveTo>
                  <a:pt x="3105149" y="13716"/>
                </a:moveTo>
                <a:lnTo>
                  <a:pt x="3105149" y="0"/>
                </a:lnTo>
                <a:lnTo>
                  <a:pt x="3049523" y="0"/>
                </a:lnTo>
                <a:lnTo>
                  <a:pt x="3049523" y="13716"/>
                </a:lnTo>
                <a:lnTo>
                  <a:pt x="3105149" y="13716"/>
                </a:lnTo>
                <a:close/>
              </a:path>
              <a:path w="9606280" h="1551939">
                <a:moveTo>
                  <a:pt x="3202685" y="13716"/>
                </a:moveTo>
                <a:lnTo>
                  <a:pt x="3202685" y="0"/>
                </a:lnTo>
                <a:lnTo>
                  <a:pt x="3147060" y="0"/>
                </a:lnTo>
                <a:lnTo>
                  <a:pt x="3147060" y="13716"/>
                </a:lnTo>
                <a:lnTo>
                  <a:pt x="3202685" y="13716"/>
                </a:lnTo>
                <a:close/>
              </a:path>
              <a:path w="9606280" h="1551939">
                <a:moveTo>
                  <a:pt x="3300221" y="13716"/>
                </a:moveTo>
                <a:lnTo>
                  <a:pt x="3300221" y="0"/>
                </a:lnTo>
                <a:lnTo>
                  <a:pt x="3244596" y="0"/>
                </a:lnTo>
                <a:lnTo>
                  <a:pt x="3244596" y="13716"/>
                </a:lnTo>
                <a:lnTo>
                  <a:pt x="3300221" y="13716"/>
                </a:lnTo>
                <a:close/>
              </a:path>
              <a:path w="9606280" h="1551939">
                <a:moveTo>
                  <a:pt x="3397757" y="13716"/>
                </a:moveTo>
                <a:lnTo>
                  <a:pt x="3397757" y="0"/>
                </a:lnTo>
                <a:lnTo>
                  <a:pt x="3342131" y="0"/>
                </a:lnTo>
                <a:lnTo>
                  <a:pt x="3342131" y="13716"/>
                </a:lnTo>
                <a:lnTo>
                  <a:pt x="3397757" y="13716"/>
                </a:lnTo>
                <a:close/>
              </a:path>
              <a:path w="9606280" h="1551939">
                <a:moveTo>
                  <a:pt x="3495293" y="13716"/>
                </a:moveTo>
                <a:lnTo>
                  <a:pt x="3495293" y="0"/>
                </a:lnTo>
                <a:lnTo>
                  <a:pt x="3439667" y="0"/>
                </a:lnTo>
                <a:lnTo>
                  <a:pt x="3439667" y="13716"/>
                </a:lnTo>
                <a:lnTo>
                  <a:pt x="3495293" y="13716"/>
                </a:lnTo>
                <a:close/>
              </a:path>
              <a:path w="9606280" h="1551939">
                <a:moveTo>
                  <a:pt x="3592829" y="13716"/>
                </a:moveTo>
                <a:lnTo>
                  <a:pt x="3592829" y="0"/>
                </a:lnTo>
                <a:lnTo>
                  <a:pt x="3537204" y="0"/>
                </a:lnTo>
                <a:lnTo>
                  <a:pt x="3537204" y="13716"/>
                </a:lnTo>
                <a:lnTo>
                  <a:pt x="3592829" y="13716"/>
                </a:lnTo>
                <a:close/>
              </a:path>
              <a:path w="9606280" h="1551939">
                <a:moveTo>
                  <a:pt x="3689604" y="13716"/>
                </a:moveTo>
                <a:lnTo>
                  <a:pt x="3689604" y="0"/>
                </a:lnTo>
                <a:lnTo>
                  <a:pt x="3633978" y="0"/>
                </a:lnTo>
                <a:lnTo>
                  <a:pt x="3633978" y="13716"/>
                </a:lnTo>
                <a:lnTo>
                  <a:pt x="3689604" y="13716"/>
                </a:lnTo>
                <a:close/>
              </a:path>
              <a:path w="9606280" h="1551939">
                <a:moveTo>
                  <a:pt x="3787139" y="13716"/>
                </a:moveTo>
                <a:lnTo>
                  <a:pt x="3787139" y="0"/>
                </a:lnTo>
                <a:lnTo>
                  <a:pt x="3731513" y="0"/>
                </a:lnTo>
                <a:lnTo>
                  <a:pt x="3731513" y="13716"/>
                </a:lnTo>
                <a:lnTo>
                  <a:pt x="3787139" y="13716"/>
                </a:lnTo>
                <a:close/>
              </a:path>
              <a:path w="9606280" h="1551939">
                <a:moveTo>
                  <a:pt x="3884675" y="13716"/>
                </a:moveTo>
                <a:lnTo>
                  <a:pt x="3884675" y="0"/>
                </a:lnTo>
                <a:lnTo>
                  <a:pt x="3829049" y="0"/>
                </a:lnTo>
                <a:lnTo>
                  <a:pt x="3829049" y="13716"/>
                </a:lnTo>
                <a:lnTo>
                  <a:pt x="3884675" y="13716"/>
                </a:lnTo>
                <a:close/>
              </a:path>
              <a:path w="9606280" h="1551939">
                <a:moveTo>
                  <a:pt x="3982211" y="13716"/>
                </a:moveTo>
                <a:lnTo>
                  <a:pt x="3982211" y="0"/>
                </a:lnTo>
                <a:lnTo>
                  <a:pt x="3926585" y="0"/>
                </a:lnTo>
                <a:lnTo>
                  <a:pt x="3926585" y="13716"/>
                </a:lnTo>
                <a:lnTo>
                  <a:pt x="3982211" y="13716"/>
                </a:lnTo>
                <a:close/>
              </a:path>
              <a:path w="9606280" h="1551939">
                <a:moveTo>
                  <a:pt x="4079747" y="13716"/>
                </a:moveTo>
                <a:lnTo>
                  <a:pt x="4079747" y="0"/>
                </a:lnTo>
                <a:lnTo>
                  <a:pt x="4024121" y="0"/>
                </a:lnTo>
                <a:lnTo>
                  <a:pt x="4024121" y="13716"/>
                </a:lnTo>
                <a:lnTo>
                  <a:pt x="4079747" y="13716"/>
                </a:lnTo>
                <a:close/>
              </a:path>
              <a:path w="9606280" h="1551939">
                <a:moveTo>
                  <a:pt x="4177283" y="13716"/>
                </a:moveTo>
                <a:lnTo>
                  <a:pt x="4177283" y="0"/>
                </a:lnTo>
                <a:lnTo>
                  <a:pt x="4121657" y="0"/>
                </a:lnTo>
                <a:lnTo>
                  <a:pt x="4121657" y="13716"/>
                </a:lnTo>
                <a:lnTo>
                  <a:pt x="4177283" y="13716"/>
                </a:lnTo>
                <a:close/>
              </a:path>
              <a:path w="9606280" h="1551939">
                <a:moveTo>
                  <a:pt x="4274820" y="13716"/>
                </a:moveTo>
                <a:lnTo>
                  <a:pt x="4274820" y="0"/>
                </a:lnTo>
                <a:lnTo>
                  <a:pt x="4219194" y="0"/>
                </a:lnTo>
                <a:lnTo>
                  <a:pt x="4219194" y="13716"/>
                </a:lnTo>
                <a:lnTo>
                  <a:pt x="4274820" y="13716"/>
                </a:lnTo>
                <a:close/>
              </a:path>
              <a:path w="9606280" h="1551939">
                <a:moveTo>
                  <a:pt x="4372356" y="13716"/>
                </a:moveTo>
                <a:lnTo>
                  <a:pt x="4372356" y="0"/>
                </a:lnTo>
                <a:lnTo>
                  <a:pt x="4316730" y="0"/>
                </a:lnTo>
                <a:lnTo>
                  <a:pt x="4316730" y="13716"/>
                </a:lnTo>
                <a:lnTo>
                  <a:pt x="4372356" y="13716"/>
                </a:lnTo>
                <a:close/>
              </a:path>
              <a:path w="9606280" h="1551939">
                <a:moveTo>
                  <a:pt x="4469892" y="13716"/>
                </a:moveTo>
                <a:lnTo>
                  <a:pt x="4469892" y="0"/>
                </a:lnTo>
                <a:lnTo>
                  <a:pt x="4414266" y="0"/>
                </a:lnTo>
                <a:lnTo>
                  <a:pt x="4414266" y="13716"/>
                </a:lnTo>
                <a:lnTo>
                  <a:pt x="4469892" y="13716"/>
                </a:lnTo>
                <a:close/>
              </a:path>
              <a:path w="9606280" h="1551939">
                <a:moveTo>
                  <a:pt x="4566666" y="13716"/>
                </a:moveTo>
                <a:lnTo>
                  <a:pt x="4566666" y="0"/>
                </a:lnTo>
                <a:lnTo>
                  <a:pt x="4511040" y="0"/>
                </a:lnTo>
                <a:lnTo>
                  <a:pt x="4511040" y="13716"/>
                </a:lnTo>
                <a:lnTo>
                  <a:pt x="4566666" y="13716"/>
                </a:lnTo>
                <a:close/>
              </a:path>
              <a:path w="9606280" h="1551939">
                <a:moveTo>
                  <a:pt x="4664201" y="13716"/>
                </a:moveTo>
                <a:lnTo>
                  <a:pt x="4664201" y="0"/>
                </a:lnTo>
                <a:lnTo>
                  <a:pt x="4608575" y="0"/>
                </a:lnTo>
                <a:lnTo>
                  <a:pt x="4608575" y="13716"/>
                </a:lnTo>
                <a:lnTo>
                  <a:pt x="4664201" y="13716"/>
                </a:lnTo>
                <a:close/>
              </a:path>
              <a:path w="9606280" h="1551939">
                <a:moveTo>
                  <a:pt x="4761737" y="13716"/>
                </a:moveTo>
                <a:lnTo>
                  <a:pt x="4761737" y="0"/>
                </a:lnTo>
                <a:lnTo>
                  <a:pt x="4706111" y="0"/>
                </a:lnTo>
                <a:lnTo>
                  <a:pt x="4706111" y="13716"/>
                </a:lnTo>
                <a:lnTo>
                  <a:pt x="4761737" y="13716"/>
                </a:lnTo>
                <a:close/>
              </a:path>
              <a:path w="9606280" h="1551939">
                <a:moveTo>
                  <a:pt x="4859273" y="13716"/>
                </a:moveTo>
                <a:lnTo>
                  <a:pt x="4859273" y="0"/>
                </a:lnTo>
                <a:lnTo>
                  <a:pt x="4803647" y="0"/>
                </a:lnTo>
                <a:lnTo>
                  <a:pt x="4803647" y="13716"/>
                </a:lnTo>
                <a:lnTo>
                  <a:pt x="4859273" y="13716"/>
                </a:lnTo>
                <a:close/>
              </a:path>
              <a:path w="9606280" h="1551939">
                <a:moveTo>
                  <a:pt x="4956809" y="13716"/>
                </a:moveTo>
                <a:lnTo>
                  <a:pt x="4956809" y="0"/>
                </a:lnTo>
                <a:lnTo>
                  <a:pt x="4901183" y="0"/>
                </a:lnTo>
                <a:lnTo>
                  <a:pt x="4901183" y="13716"/>
                </a:lnTo>
                <a:lnTo>
                  <a:pt x="4956809" y="13716"/>
                </a:lnTo>
                <a:close/>
              </a:path>
              <a:path w="9606280" h="1551939">
                <a:moveTo>
                  <a:pt x="5054345" y="13716"/>
                </a:moveTo>
                <a:lnTo>
                  <a:pt x="5054345" y="0"/>
                </a:lnTo>
                <a:lnTo>
                  <a:pt x="4998720" y="0"/>
                </a:lnTo>
                <a:lnTo>
                  <a:pt x="4998720" y="13716"/>
                </a:lnTo>
                <a:lnTo>
                  <a:pt x="5054345" y="13716"/>
                </a:lnTo>
                <a:close/>
              </a:path>
              <a:path w="9606280" h="1551939">
                <a:moveTo>
                  <a:pt x="5151882" y="13716"/>
                </a:moveTo>
                <a:lnTo>
                  <a:pt x="5151882" y="0"/>
                </a:lnTo>
                <a:lnTo>
                  <a:pt x="5096256" y="0"/>
                </a:lnTo>
                <a:lnTo>
                  <a:pt x="5096256" y="13716"/>
                </a:lnTo>
                <a:lnTo>
                  <a:pt x="5151882" y="13716"/>
                </a:lnTo>
                <a:close/>
              </a:path>
              <a:path w="9606280" h="1551939">
                <a:moveTo>
                  <a:pt x="5249418" y="13716"/>
                </a:moveTo>
                <a:lnTo>
                  <a:pt x="5249418" y="0"/>
                </a:lnTo>
                <a:lnTo>
                  <a:pt x="5193792" y="0"/>
                </a:lnTo>
                <a:lnTo>
                  <a:pt x="5193792" y="13716"/>
                </a:lnTo>
                <a:lnTo>
                  <a:pt x="5249418" y="13716"/>
                </a:lnTo>
                <a:close/>
              </a:path>
              <a:path w="9606280" h="1551939">
                <a:moveTo>
                  <a:pt x="5346954" y="13716"/>
                </a:moveTo>
                <a:lnTo>
                  <a:pt x="5346954" y="0"/>
                </a:lnTo>
                <a:lnTo>
                  <a:pt x="5291328" y="0"/>
                </a:lnTo>
                <a:lnTo>
                  <a:pt x="5291328" y="13716"/>
                </a:lnTo>
                <a:lnTo>
                  <a:pt x="5346954" y="13716"/>
                </a:lnTo>
                <a:close/>
              </a:path>
              <a:path w="9606280" h="1551939">
                <a:moveTo>
                  <a:pt x="5443728" y="13716"/>
                </a:moveTo>
                <a:lnTo>
                  <a:pt x="5443728" y="0"/>
                </a:lnTo>
                <a:lnTo>
                  <a:pt x="5388102" y="0"/>
                </a:lnTo>
                <a:lnTo>
                  <a:pt x="5388102" y="13716"/>
                </a:lnTo>
                <a:lnTo>
                  <a:pt x="5443728" y="13716"/>
                </a:lnTo>
                <a:close/>
              </a:path>
              <a:path w="9606280" h="1551939">
                <a:moveTo>
                  <a:pt x="5541263" y="13716"/>
                </a:moveTo>
                <a:lnTo>
                  <a:pt x="5541263" y="0"/>
                </a:lnTo>
                <a:lnTo>
                  <a:pt x="5485637" y="0"/>
                </a:lnTo>
                <a:lnTo>
                  <a:pt x="5485637" y="13716"/>
                </a:lnTo>
                <a:lnTo>
                  <a:pt x="5541263" y="13716"/>
                </a:lnTo>
                <a:close/>
              </a:path>
              <a:path w="9606280" h="1551939">
                <a:moveTo>
                  <a:pt x="5638799" y="13716"/>
                </a:moveTo>
                <a:lnTo>
                  <a:pt x="5638799" y="0"/>
                </a:lnTo>
                <a:lnTo>
                  <a:pt x="5583173" y="0"/>
                </a:lnTo>
                <a:lnTo>
                  <a:pt x="5583173" y="13716"/>
                </a:lnTo>
                <a:lnTo>
                  <a:pt x="5638799" y="13716"/>
                </a:lnTo>
                <a:close/>
              </a:path>
              <a:path w="9606280" h="1551939">
                <a:moveTo>
                  <a:pt x="5736335" y="13716"/>
                </a:moveTo>
                <a:lnTo>
                  <a:pt x="5736335" y="0"/>
                </a:lnTo>
                <a:lnTo>
                  <a:pt x="5680709" y="0"/>
                </a:lnTo>
                <a:lnTo>
                  <a:pt x="5680709" y="13716"/>
                </a:lnTo>
                <a:lnTo>
                  <a:pt x="5736335" y="13716"/>
                </a:lnTo>
                <a:close/>
              </a:path>
              <a:path w="9606280" h="1551939">
                <a:moveTo>
                  <a:pt x="5833859" y="13716"/>
                </a:moveTo>
                <a:lnTo>
                  <a:pt x="5833859" y="0"/>
                </a:lnTo>
                <a:lnTo>
                  <a:pt x="5778233" y="0"/>
                </a:lnTo>
                <a:lnTo>
                  <a:pt x="5778233" y="13716"/>
                </a:lnTo>
                <a:lnTo>
                  <a:pt x="5833859" y="13716"/>
                </a:lnTo>
                <a:close/>
              </a:path>
              <a:path w="9606280" h="1551939">
                <a:moveTo>
                  <a:pt x="5931408" y="13716"/>
                </a:moveTo>
                <a:lnTo>
                  <a:pt x="5931408" y="0"/>
                </a:lnTo>
                <a:lnTo>
                  <a:pt x="5875782" y="0"/>
                </a:lnTo>
                <a:lnTo>
                  <a:pt x="5875782" y="13716"/>
                </a:lnTo>
                <a:lnTo>
                  <a:pt x="5931408" y="13716"/>
                </a:lnTo>
                <a:close/>
              </a:path>
              <a:path w="9606280" h="1551939">
                <a:moveTo>
                  <a:pt x="6028943" y="13716"/>
                </a:moveTo>
                <a:lnTo>
                  <a:pt x="6028943" y="0"/>
                </a:lnTo>
                <a:lnTo>
                  <a:pt x="5973317" y="0"/>
                </a:lnTo>
                <a:lnTo>
                  <a:pt x="5973317" y="13716"/>
                </a:lnTo>
                <a:lnTo>
                  <a:pt x="6028943" y="13716"/>
                </a:lnTo>
                <a:close/>
              </a:path>
              <a:path w="9606280" h="1551939">
                <a:moveTo>
                  <a:pt x="6126480" y="13716"/>
                </a:moveTo>
                <a:lnTo>
                  <a:pt x="6126480" y="0"/>
                </a:lnTo>
                <a:lnTo>
                  <a:pt x="6070854" y="0"/>
                </a:lnTo>
                <a:lnTo>
                  <a:pt x="6070854" y="13716"/>
                </a:lnTo>
                <a:lnTo>
                  <a:pt x="6126480" y="13716"/>
                </a:lnTo>
                <a:close/>
              </a:path>
              <a:path w="9606280" h="1551939">
                <a:moveTo>
                  <a:pt x="6224003" y="13716"/>
                </a:moveTo>
                <a:lnTo>
                  <a:pt x="6224003" y="0"/>
                </a:lnTo>
                <a:lnTo>
                  <a:pt x="6168377" y="0"/>
                </a:lnTo>
                <a:lnTo>
                  <a:pt x="6168377" y="13716"/>
                </a:lnTo>
                <a:lnTo>
                  <a:pt x="6224003" y="13716"/>
                </a:lnTo>
                <a:close/>
              </a:path>
              <a:path w="9606280" h="1551939">
                <a:moveTo>
                  <a:pt x="6320777" y="13716"/>
                </a:moveTo>
                <a:lnTo>
                  <a:pt x="6320777" y="0"/>
                </a:lnTo>
                <a:lnTo>
                  <a:pt x="6265151" y="0"/>
                </a:lnTo>
                <a:lnTo>
                  <a:pt x="6265151" y="13716"/>
                </a:lnTo>
                <a:lnTo>
                  <a:pt x="6320777" y="13716"/>
                </a:lnTo>
                <a:close/>
              </a:path>
              <a:path w="9606280" h="1551939">
                <a:moveTo>
                  <a:pt x="6418313" y="13716"/>
                </a:moveTo>
                <a:lnTo>
                  <a:pt x="6418313" y="0"/>
                </a:lnTo>
                <a:lnTo>
                  <a:pt x="6362687" y="0"/>
                </a:lnTo>
                <a:lnTo>
                  <a:pt x="6362687" y="13716"/>
                </a:lnTo>
                <a:lnTo>
                  <a:pt x="6418313" y="13716"/>
                </a:lnTo>
                <a:close/>
              </a:path>
              <a:path w="9606280" h="1551939">
                <a:moveTo>
                  <a:pt x="6515849" y="13716"/>
                </a:moveTo>
                <a:lnTo>
                  <a:pt x="6515849" y="0"/>
                </a:lnTo>
                <a:lnTo>
                  <a:pt x="6460223" y="0"/>
                </a:lnTo>
                <a:lnTo>
                  <a:pt x="6460223" y="13716"/>
                </a:lnTo>
                <a:lnTo>
                  <a:pt x="6515849" y="13716"/>
                </a:lnTo>
                <a:close/>
              </a:path>
              <a:path w="9606280" h="1551939">
                <a:moveTo>
                  <a:pt x="6613398" y="13716"/>
                </a:moveTo>
                <a:lnTo>
                  <a:pt x="6613398" y="0"/>
                </a:lnTo>
                <a:lnTo>
                  <a:pt x="6557772" y="0"/>
                </a:lnTo>
                <a:lnTo>
                  <a:pt x="6557772" y="13716"/>
                </a:lnTo>
                <a:lnTo>
                  <a:pt x="6613398" y="13716"/>
                </a:lnTo>
                <a:close/>
              </a:path>
              <a:path w="9606280" h="1551939">
                <a:moveTo>
                  <a:pt x="6710932" y="13716"/>
                </a:moveTo>
                <a:lnTo>
                  <a:pt x="6710932" y="0"/>
                </a:lnTo>
                <a:lnTo>
                  <a:pt x="6655308" y="0"/>
                </a:lnTo>
                <a:lnTo>
                  <a:pt x="6655308" y="13716"/>
                </a:lnTo>
                <a:lnTo>
                  <a:pt x="6710932" y="13716"/>
                </a:lnTo>
                <a:close/>
              </a:path>
              <a:path w="9606280" h="1551939">
                <a:moveTo>
                  <a:pt x="6808469" y="13716"/>
                </a:moveTo>
                <a:lnTo>
                  <a:pt x="6808469" y="0"/>
                </a:lnTo>
                <a:lnTo>
                  <a:pt x="6752843" y="0"/>
                </a:lnTo>
                <a:lnTo>
                  <a:pt x="6752843" y="13716"/>
                </a:lnTo>
                <a:lnTo>
                  <a:pt x="6808469" y="13716"/>
                </a:lnTo>
                <a:close/>
              </a:path>
              <a:path w="9606280" h="1551939">
                <a:moveTo>
                  <a:pt x="6906006" y="13716"/>
                </a:moveTo>
                <a:lnTo>
                  <a:pt x="6906006" y="0"/>
                </a:lnTo>
                <a:lnTo>
                  <a:pt x="6850380" y="0"/>
                </a:lnTo>
                <a:lnTo>
                  <a:pt x="6850380" y="13716"/>
                </a:lnTo>
                <a:lnTo>
                  <a:pt x="6906006" y="13716"/>
                </a:lnTo>
                <a:close/>
              </a:path>
              <a:path w="9606280" h="1551939">
                <a:moveTo>
                  <a:pt x="7003541" y="13716"/>
                </a:moveTo>
                <a:lnTo>
                  <a:pt x="7003541" y="0"/>
                </a:lnTo>
                <a:lnTo>
                  <a:pt x="6947915" y="0"/>
                </a:lnTo>
                <a:lnTo>
                  <a:pt x="6947915" y="13716"/>
                </a:lnTo>
                <a:lnTo>
                  <a:pt x="7003541" y="13716"/>
                </a:lnTo>
                <a:close/>
              </a:path>
              <a:path w="9606280" h="1551939">
                <a:moveTo>
                  <a:pt x="7101065" y="13716"/>
                </a:moveTo>
                <a:lnTo>
                  <a:pt x="7101065" y="0"/>
                </a:lnTo>
                <a:lnTo>
                  <a:pt x="7045439" y="0"/>
                </a:lnTo>
                <a:lnTo>
                  <a:pt x="7045439" y="13716"/>
                </a:lnTo>
                <a:lnTo>
                  <a:pt x="7101065" y="13716"/>
                </a:lnTo>
                <a:close/>
              </a:path>
              <a:path w="9606280" h="1551939">
                <a:moveTo>
                  <a:pt x="7197839" y="13716"/>
                </a:moveTo>
                <a:lnTo>
                  <a:pt x="7197839" y="0"/>
                </a:lnTo>
                <a:lnTo>
                  <a:pt x="7142213" y="0"/>
                </a:lnTo>
                <a:lnTo>
                  <a:pt x="7142213" y="13716"/>
                </a:lnTo>
                <a:lnTo>
                  <a:pt x="7197839" y="13716"/>
                </a:lnTo>
                <a:close/>
              </a:path>
              <a:path w="9606280" h="1551939">
                <a:moveTo>
                  <a:pt x="7295375" y="13716"/>
                </a:moveTo>
                <a:lnTo>
                  <a:pt x="7295375" y="0"/>
                </a:lnTo>
                <a:lnTo>
                  <a:pt x="7239749" y="0"/>
                </a:lnTo>
                <a:lnTo>
                  <a:pt x="7239749" y="13716"/>
                </a:lnTo>
                <a:lnTo>
                  <a:pt x="7295375" y="13716"/>
                </a:lnTo>
                <a:close/>
              </a:path>
              <a:path w="9606280" h="1551939">
                <a:moveTo>
                  <a:pt x="7392924" y="13716"/>
                </a:moveTo>
                <a:lnTo>
                  <a:pt x="7392924" y="0"/>
                </a:lnTo>
                <a:lnTo>
                  <a:pt x="7337298" y="0"/>
                </a:lnTo>
                <a:lnTo>
                  <a:pt x="7337298" y="13716"/>
                </a:lnTo>
                <a:lnTo>
                  <a:pt x="7392924" y="13716"/>
                </a:lnTo>
                <a:close/>
              </a:path>
              <a:path w="9606280" h="1551939">
                <a:moveTo>
                  <a:pt x="7490447" y="13716"/>
                </a:moveTo>
                <a:lnTo>
                  <a:pt x="7490447" y="0"/>
                </a:lnTo>
                <a:lnTo>
                  <a:pt x="7434821" y="0"/>
                </a:lnTo>
                <a:lnTo>
                  <a:pt x="7434821" y="13716"/>
                </a:lnTo>
                <a:lnTo>
                  <a:pt x="7490447" y="13716"/>
                </a:lnTo>
                <a:close/>
              </a:path>
              <a:path w="9606280" h="1551939">
                <a:moveTo>
                  <a:pt x="7587995" y="13716"/>
                </a:moveTo>
                <a:lnTo>
                  <a:pt x="7587995" y="0"/>
                </a:lnTo>
                <a:lnTo>
                  <a:pt x="7532369" y="0"/>
                </a:lnTo>
                <a:lnTo>
                  <a:pt x="7532369" y="13716"/>
                </a:lnTo>
                <a:lnTo>
                  <a:pt x="7587995" y="13716"/>
                </a:lnTo>
                <a:close/>
              </a:path>
              <a:path w="9606280" h="1551939">
                <a:moveTo>
                  <a:pt x="7685532" y="13716"/>
                </a:moveTo>
                <a:lnTo>
                  <a:pt x="7685532" y="0"/>
                </a:lnTo>
                <a:lnTo>
                  <a:pt x="7629906" y="0"/>
                </a:lnTo>
                <a:lnTo>
                  <a:pt x="7629906" y="13716"/>
                </a:lnTo>
                <a:lnTo>
                  <a:pt x="7685532" y="13716"/>
                </a:lnTo>
                <a:close/>
              </a:path>
              <a:path w="9606280" h="1551939">
                <a:moveTo>
                  <a:pt x="7783067" y="13716"/>
                </a:moveTo>
                <a:lnTo>
                  <a:pt x="7783067" y="0"/>
                </a:lnTo>
                <a:lnTo>
                  <a:pt x="7727441" y="0"/>
                </a:lnTo>
                <a:lnTo>
                  <a:pt x="7727441" y="13716"/>
                </a:lnTo>
                <a:lnTo>
                  <a:pt x="7783067" y="13716"/>
                </a:lnTo>
                <a:close/>
              </a:path>
              <a:path w="9606280" h="1551939">
                <a:moveTo>
                  <a:pt x="7880604" y="13716"/>
                </a:moveTo>
                <a:lnTo>
                  <a:pt x="7880604" y="0"/>
                </a:lnTo>
                <a:lnTo>
                  <a:pt x="7824978" y="0"/>
                </a:lnTo>
                <a:lnTo>
                  <a:pt x="7824978" y="13716"/>
                </a:lnTo>
                <a:lnTo>
                  <a:pt x="7880604" y="13716"/>
                </a:lnTo>
                <a:close/>
              </a:path>
              <a:path w="9606280" h="1551939">
                <a:moveTo>
                  <a:pt x="7978127" y="13716"/>
                </a:moveTo>
                <a:lnTo>
                  <a:pt x="7978127" y="0"/>
                </a:lnTo>
                <a:lnTo>
                  <a:pt x="7922501" y="0"/>
                </a:lnTo>
                <a:lnTo>
                  <a:pt x="7922501" y="13716"/>
                </a:lnTo>
                <a:lnTo>
                  <a:pt x="7978127" y="13716"/>
                </a:lnTo>
                <a:close/>
              </a:path>
              <a:path w="9606280" h="1551939">
                <a:moveTo>
                  <a:pt x="8074901" y="13716"/>
                </a:moveTo>
                <a:lnTo>
                  <a:pt x="8074901" y="0"/>
                </a:lnTo>
                <a:lnTo>
                  <a:pt x="8019275" y="0"/>
                </a:lnTo>
                <a:lnTo>
                  <a:pt x="8019275" y="13716"/>
                </a:lnTo>
                <a:lnTo>
                  <a:pt x="8074901" y="13716"/>
                </a:lnTo>
                <a:close/>
              </a:path>
              <a:path w="9606280" h="1551939">
                <a:moveTo>
                  <a:pt x="8172450" y="13716"/>
                </a:moveTo>
                <a:lnTo>
                  <a:pt x="8172450" y="0"/>
                </a:lnTo>
                <a:lnTo>
                  <a:pt x="8116824" y="0"/>
                </a:lnTo>
                <a:lnTo>
                  <a:pt x="8116824" y="13716"/>
                </a:lnTo>
                <a:lnTo>
                  <a:pt x="8172450" y="13716"/>
                </a:lnTo>
                <a:close/>
              </a:path>
              <a:path w="9606280" h="1551939">
                <a:moveTo>
                  <a:pt x="8269973" y="13716"/>
                </a:moveTo>
                <a:lnTo>
                  <a:pt x="8269973" y="0"/>
                </a:lnTo>
                <a:lnTo>
                  <a:pt x="8214347" y="0"/>
                </a:lnTo>
                <a:lnTo>
                  <a:pt x="8214347" y="13716"/>
                </a:lnTo>
                <a:lnTo>
                  <a:pt x="8269973" y="13716"/>
                </a:lnTo>
                <a:close/>
              </a:path>
              <a:path w="9606280" h="1551939">
                <a:moveTo>
                  <a:pt x="8367522" y="13716"/>
                </a:moveTo>
                <a:lnTo>
                  <a:pt x="8367522" y="0"/>
                </a:lnTo>
                <a:lnTo>
                  <a:pt x="8311896" y="0"/>
                </a:lnTo>
                <a:lnTo>
                  <a:pt x="8311896" y="13716"/>
                </a:lnTo>
                <a:lnTo>
                  <a:pt x="8367522" y="13716"/>
                </a:lnTo>
                <a:close/>
              </a:path>
              <a:path w="9606280" h="1551939">
                <a:moveTo>
                  <a:pt x="8465056" y="13716"/>
                </a:moveTo>
                <a:lnTo>
                  <a:pt x="8465056" y="0"/>
                </a:lnTo>
                <a:lnTo>
                  <a:pt x="8409432" y="0"/>
                </a:lnTo>
                <a:lnTo>
                  <a:pt x="8409432" y="13716"/>
                </a:lnTo>
                <a:lnTo>
                  <a:pt x="8465056" y="13716"/>
                </a:lnTo>
                <a:close/>
              </a:path>
              <a:path w="9606280" h="1551939">
                <a:moveTo>
                  <a:pt x="8562593" y="13716"/>
                </a:moveTo>
                <a:lnTo>
                  <a:pt x="8562593" y="0"/>
                </a:lnTo>
                <a:lnTo>
                  <a:pt x="8506967" y="0"/>
                </a:lnTo>
                <a:lnTo>
                  <a:pt x="8506967" y="13716"/>
                </a:lnTo>
                <a:lnTo>
                  <a:pt x="8562593" y="13716"/>
                </a:lnTo>
                <a:close/>
              </a:path>
              <a:path w="9606280" h="1551939">
                <a:moveTo>
                  <a:pt x="8660130" y="13716"/>
                </a:moveTo>
                <a:lnTo>
                  <a:pt x="8660130" y="0"/>
                </a:lnTo>
                <a:lnTo>
                  <a:pt x="8604504" y="0"/>
                </a:lnTo>
                <a:lnTo>
                  <a:pt x="8604504" y="13716"/>
                </a:lnTo>
                <a:lnTo>
                  <a:pt x="8660130" y="13716"/>
                </a:lnTo>
                <a:close/>
              </a:path>
              <a:path w="9606280" h="1551939">
                <a:moveTo>
                  <a:pt x="8757653" y="13716"/>
                </a:moveTo>
                <a:lnTo>
                  <a:pt x="8757653" y="0"/>
                </a:lnTo>
                <a:lnTo>
                  <a:pt x="8702027" y="0"/>
                </a:lnTo>
                <a:lnTo>
                  <a:pt x="8702027" y="13716"/>
                </a:lnTo>
                <a:lnTo>
                  <a:pt x="8757653" y="13716"/>
                </a:lnTo>
                <a:close/>
              </a:path>
              <a:path w="9606280" h="1551939">
                <a:moveTo>
                  <a:pt x="8855200" y="13716"/>
                </a:moveTo>
                <a:lnTo>
                  <a:pt x="8855200" y="0"/>
                </a:lnTo>
                <a:lnTo>
                  <a:pt x="8799576" y="0"/>
                </a:lnTo>
                <a:lnTo>
                  <a:pt x="8799576" y="13716"/>
                </a:lnTo>
                <a:lnTo>
                  <a:pt x="8855200" y="13716"/>
                </a:lnTo>
                <a:close/>
              </a:path>
              <a:path w="9606280" h="1551939">
                <a:moveTo>
                  <a:pt x="8951976" y="13716"/>
                </a:moveTo>
                <a:lnTo>
                  <a:pt x="8951976" y="0"/>
                </a:lnTo>
                <a:lnTo>
                  <a:pt x="8896350" y="0"/>
                </a:lnTo>
                <a:lnTo>
                  <a:pt x="8896350" y="13716"/>
                </a:lnTo>
                <a:lnTo>
                  <a:pt x="8951976" y="13716"/>
                </a:lnTo>
                <a:close/>
              </a:path>
              <a:path w="9606280" h="1551939">
                <a:moveTo>
                  <a:pt x="9049499" y="13716"/>
                </a:moveTo>
                <a:lnTo>
                  <a:pt x="9049499" y="0"/>
                </a:lnTo>
                <a:lnTo>
                  <a:pt x="8993873" y="0"/>
                </a:lnTo>
                <a:lnTo>
                  <a:pt x="8993873" y="13716"/>
                </a:lnTo>
                <a:lnTo>
                  <a:pt x="9049499" y="13716"/>
                </a:lnTo>
                <a:close/>
              </a:path>
              <a:path w="9606280" h="1551939">
                <a:moveTo>
                  <a:pt x="9147048" y="13716"/>
                </a:moveTo>
                <a:lnTo>
                  <a:pt x="9147048" y="0"/>
                </a:lnTo>
                <a:lnTo>
                  <a:pt x="9091422" y="0"/>
                </a:lnTo>
                <a:lnTo>
                  <a:pt x="9091422" y="13716"/>
                </a:lnTo>
                <a:lnTo>
                  <a:pt x="9147048" y="13716"/>
                </a:lnTo>
                <a:close/>
              </a:path>
              <a:path w="9606280" h="1551939">
                <a:moveTo>
                  <a:pt x="9244582" y="13716"/>
                </a:moveTo>
                <a:lnTo>
                  <a:pt x="9244582" y="0"/>
                </a:lnTo>
                <a:lnTo>
                  <a:pt x="9188958" y="0"/>
                </a:lnTo>
                <a:lnTo>
                  <a:pt x="9188958" y="13716"/>
                </a:lnTo>
                <a:lnTo>
                  <a:pt x="9244582" y="13716"/>
                </a:lnTo>
                <a:close/>
              </a:path>
              <a:path w="9606280" h="1551939">
                <a:moveTo>
                  <a:pt x="9342119" y="13716"/>
                </a:moveTo>
                <a:lnTo>
                  <a:pt x="9342119" y="0"/>
                </a:lnTo>
                <a:lnTo>
                  <a:pt x="9286493" y="0"/>
                </a:lnTo>
                <a:lnTo>
                  <a:pt x="9286493" y="13716"/>
                </a:lnTo>
                <a:lnTo>
                  <a:pt x="9342119" y="13716"/>
                </a:lnTo>
                <a:close/>
              </a:path>
              <a:path w="9606280" h="1551939">
                <a:moveTo>
                  <a:pt x="9439656" y="13716"/>
                </a:moveTo>
                <a:lnTo>
                  <a:pt x="9439656" y="0"/>
                </a:lnTo>
                <a:lnTo>
                  <a:pt x="9384030" y="0"/>
                </a:lnTo>
                <a:lnTo>
                  <a:pt x="9384030" y="13716"/>
                </a:lnTo>
                <a:lnTo>
                  <a:pt x="9439656" y="13716"/>
                </a:lnTo>
                <a:close/>
              </a:path>
              <a:path w="9606280" h="1551939">
                <a:moveTo>
                  <a:pt x="9537191" y="13716"/>
                </a:moveTo>
                <a:lnTo>
                  <a:pt x="9537191" y="0"/>
                </a:lnTo>
                <a:lnTo>
                  <a:pt x="9481566" y="0"/>
                </a:lnTo>
                <a:lnTo>
                  <a:pt x="9481566" y="13716"/>
                </a:lnTo>
                <a:lnTo>
                  <a:pt x="9537191" y="13716"/>
                </a:lnTo>
                <a:close/>
              </a:path>
              <a:path w="9606280" h="1551939">
                <a:moveTo>
                  <a:pt x="9605772" y="42672"/>
                </a:moveTo>
                <a:lnTo>
                  <a:pt x="9605772" y="3048"/>
                </a:lnTo>
                <a:lnTo>
                  <a:pt x="9602724" y="0"/>
                </a:lnTo>
                <a:lnTo>
                  <a:pt x="9579102" y="0"/>
                </a:lnTo>
                <a:lnTo>
                  <a:pt x="9579102" y="13716"/>
                </a:lnTo>
                <a:lnTo>
                  <a:pt x="9592056" y="13716"/>
                </a:lnTo>
                <a:lnTo>
                  <a:pt x="9592056" y="6858"/>
                </a:lnTo>
                <a:lnTo>
                  <a:pt x="9598901" y="13716"/>
                </a:lnTo>
                <a:lnTo>
                  <a:pt x="9598901" y="42672"/>
                </a:lnTo>
                <a:lnTo>
                  <a:pt x="9605772" y="42672"/>
                </a:lnTo>
                <a:close/>
              </a:path>
              <a:path w="9606280" h="1551939">
                <a:moveTo>
                  <a:pt x="9598901" y="13716"/>
                </a:moveTo>
                <a:lnTo>
                  <a:pt x="9592056" y="6858"/>
                </a:lnTo>
                <a:lnTo>
                  <a:pt x="9592056" y="13716"/>
                </a:lnTo>
                <a:lnTo>
                  <a:pt x="9598901" y="13716"/>
                </a:lnTo>
                <a:close/>
              </a:path>
              <a:path w="9606280" h="1551939">
                <a:moveTo>
                  <a:pt x="9598901" y="42672"/>
                </a:moveTo>
                <a:lnTo>
                  <a:pt x="9598901" y="13716"/>
                </a:lnTo>
                <a:lnTo>
                  <a:pt x="9592056" y="13716"/>
                </a:lnTo>
                <a:lnTo>
                  <a:pt x="9592056" y="42672"/>
                </a:lnTo>
                <a:lnTo>
                  <a:pt x="9598901" y="42672"/>
                </a:lnTo>
                <a:close/>
              </a:path>
              <a:path w="9606280" h="1551939">
                <a:moveTo>
                  <a:pt x="9605772" y="140208"/>
                </a:moveTo>
                <a:lnTo>
                  <a:pt x="9605772" y="84582"/>
                </a:lnTo>
                <a:lnTo>
                  <a:pt x="9592056" y="84582"/>
                </a:lnTo>
                <a:lnTo>
                  <a:pt x="9592056" y="140208"/>
                </a:lnTo>
                <a:lnTo>
                  <a:pt x="9605772" y="140208"/>
                </a:lnTo>
                <a:close/>
              </a:path>
              <a:path w="9606280" h="1551939">
                <a:moveTo>
                  <a:pt x="9605772" y="237744"/>
                </a:moveTo>
                <a:lnTo>
                  <a:pt x="9605772" y="182118"/>
                </a:lnTo>
                <a:lnTo>
                  <a:pt x="9592056" y="182118"/>
                </a:lnTo>
                <a:lnTo>
                  <a:pt x="9592056" y="237744"/>
                </a:lnTo>
                <a:lnTo>
                  <a:pt x="9605772" y="237744"/>
                </a:lnTo>
                <a:close/>
              </a:path>
              <a:path w="9606280" h="1551939">
                <a:moveTo>
                  <a:pt x="9605772" y="335280"/>
                </a:moveTo>
                <a:lnTo>
                  <a:pt x="9605772" y="279654"/>
                </a:lnTo>
                <a:lnTo>
                  <a:pt x="9592056" y="279654"/>
                </a:lnTo>
                <a:lnTo>
                  <a:pt x="9592056" y="335280"/>
                </a:lnTo>
                <a:lnTo>
                  <a:pt x="9605772" y="335280"/>
                </a:lnTo>
                <a:close/>
              </a:path>
              <a:path w="9606280" h="1551939">
                <a:moveTo>
                  <a:pt x="9605772" y="432816"/>
                </a:moveTo>
                <a:lnTo>
                  <a:pt x="9605772" y="377190"/>
                </a:lnTo>
                <a:lnTo>
                  <a:pt x="9592056" y="377190"/>
                </a:lnTo>
                <a:lnTo>
                  <a:pt x="9592056" y="432816"/>
                </a:lnTo>
                <a:lnTo>
                  <a:pt x="9605772" y="432816"/>
                </a:lnTo>
                <a:close/>
              </a:path>
              <a:path w="9606280" h="1551939">
                <a:moveTo>
                  <a:pt x="9605772" y="530352"/>
                </a:moveTo>
                <a:lnTo>
                  <a:pt x="9605772" y="474726"/>
                </a:lnTo>
                <a:lnTo>
                  <a:pt x="9592056" y="474726"/>
                </a:lnTo>
                <a:lnTo>
                  <a:pt x="9592056" y="530352"/>
                </a:lnTo>
                <a:lnTo>
                  <a:pt x="9605772" y="530352"/>
                </a:lnTo>
                <a:close/>
              </a:path>
              <a:path w="9606280" h="1551939">
                <a:moveTo>
                  <a:pt x="9605772" y="627888"/>
                </a:moveTo>
                <a:lnTo>
                  <a:pt x="9605772" y="571500"/>
                </a:lnTo>
                <a:lnTo>
                  <a:pt x="9592056" y="571500"/>
                </a:lnTo>
                <a:lnTo>
                  <a:pt x="9592056" y="627888"/>
                </a:lnTo>
                <a:lnTo>
                  <a:pt x="9605772" y="627888"/>
                </a:lnTo>
                <a:close/>
              </a:path>
              <a:path w="9606280" h="1551939">
                <a:moveTo>
                  <a:pt x="9605772" y="724662"/>
                </a:moveTo>
                <a:lnTo>
                  <a:pt x="9605772" y="669036"/>
                </a:lnTo>
                <a:lnTo>
                  <a:pt x="9592056" y="669036"/>
                </a:lnTo>
                <a:lnTo>
                  <a:pt x="9592056" y="724662"/>
                </a:lnTo>
                <a:lnTo>
                  <a:pt x="9605772" y="724662"/>
                </a:lnTo>
                <a:close/>
              </a:path>
              <a:path w="9606280" h="1551939">
                <a:moveTo>
                  <a:pt x="9605772" y="822198"/>
                </a:moveTo>
                <a:lnTo>
                  <a:pt x="9605772" y="766572"/>
                </a:lnTo>
                <a:lnTo>
                  <a:pt x="9592056" y="766572"/>
                </a:lnTo>
                <a:lnTo>
                  <a:pt x="9592056" y="822198"/>
                </a:lnTo>
                <a:lnTo>
                  <a:pt x="9605772" y="822198"/>
                </a:lnTo>
                <a:close/>
              </a:path>
              <a:path w="9606280" h="1551939">
                <a:moveTo>
                  <a:pt x="9605772" y="919734"/>
                </a:moveTo>
                <a:lnTo>
                  <a:pt x="9605772" y="864108"/>
                </a:lnTo>
                <a:lnTo>
                  <a:pt x="9592056" y="864108"/>
                </a:lnTo>
                <a:lnTo>
                  <a:pt x="9592056" y="919734"/>
                </a:lnTo>
                <a:lnTo>
                  <a:pt x="9605772" y="919734"/>
                </a:lnTo>
                <a:close/>
              </a:path>
              <a:path w="9606280" h="1551939">
                <a:moveTo>
                  <a:pt x="9605772" y="1017270"/>
                </a:moveTo>
                <a:lnTo>
                  <a:pt x="9605772" y="961644"/>
                </a:lnTo>
                <a:lnTo>
                  <a:pt x="9592056" y="961644"/>
                </a:lnTo>
                <a:lnTo>
                  <a:pt x="9592056" y="1017270"/>
                </a:lnTo>
                <a:lnTo>
                  <a:pt x="9605772" y="1017270"/>
                </a:lnTo>
                <a:close/>
              </a:path>
              <a:path w="9606280" h="1551939">
                <a:moveTo>
                  <a:pt x="9605772" y="1114806"/>
                </a:moveTo>
                <a:lnTo>
                  <a:pt x="9605772" y="1059180"/>
                </a:lnTo>
                <a:lnTo>
                  <a:pt x="9592056" y="1059180"/>
                </a:lnTo>
                <a:lnTo>
                  <a:pt x="9592056" y="1114806"/>
                </a:lnTo>
                <a:lnTo>
                  <a:pt x="9605772" y="1114806"/>
                </a:lnTo>
                <a:close/>
              </a:path>
              <a:path w="9606280" h="1551939">
                <a:moveTo>
                  <a:pt x="9605772" y="1212341"/>
                </a:moveTo>
                <a:lnTo>
                  <a:pt x="9605772" y="1156715"/>
                </a:lnTo>
                <a:lnTo>
                  <a:pt x="9592056" y="1156715"/>
                </a:lnTo>
                <a:lnTo>
                  <a:pt x="9592056" y="1212341"/>
                </a:lnTo>
                <a:lnTo>
                  <a:pt x="9605772" y="1212341"/>
                </a:lnTo>
                <a:close/>
              </a:path>
              <a:path w="9606280" h="1551939">
                <a:moveTo>
                  <a:pt x="9605772" y="1309877"/>
                </a:moveTo>
                <a:lnTo>
                  <a:pt x="9605772" y="1254252"/>
                </a:lnTo>
                <a:lnTo>
                  <a:pt x="9592056" y="1254252"/>
                </a:lnTo>
                <a:lnTo>
                  <a:pt x="9592056" y="1309877"/>
                </a:lnTo>
                <a:lnTo>
                  <a:pt x="9605772" y="1309877"/>
                </a:lnTo>
                <a:close/>
              </a:path>
              <a:path w="9606280" h="1551939">
                <a:moveTo>
                  <a:pt x="9605772" y="1407414"/>
                </a:moveTo>
                <a:lnTo>
                  <a:pt x="9605772" y="1351788"/>
                </a:lnTo>
                <a:lnTo>
                  <a:pt x="9592056" y="1351788"/>
                </a:lnTo>
                <a:lnTo>
                  <a:pt x="9592056" y="1407414"/>
                </a:lnTo>
                <a:lnTo>
                  <a:pt x="9605772" y="1407414"/>
                </a:lnTo>
                <a:close/>
              </a:path>
              <a:path w="9606280" h="1551939">
                <a:moveTo>
                  <a:pt x="9605772" y="1504950"/>
                </a:moveTo>
                <a:lnTo>
                  <a:pt x="9605772" y="1448562"/>
                </a:lnTo>
                <a:lnTo>
                  <a:pt x="9592056" y="1448562"/>
                </a:lnTo>
                <a:lnTo>
                  <a:pt x="9592056" y="1504950"/>
                </a:lnTo>
                <a:lnTo>
                  <a:pt x="9605772" y="1504950"/>
                </a:lnTo>
                <a:close/>
              </a:path>
              <a:path w="9606280" h="1551939">
                <a:moveTo>
                  <a:pt x="9596628" y="1551431"/>
                </a:moveTo>
                <a:lnTo>
                  <a:pt x="9596628" y="1537715"/>
                </a:lnTo>
                <a:lnTo>
                  <a:pt x="9541003" y="1537715"/>
                </a:lnTo>
                <a:lnTo>
                  <a:pt x="9541003" y="1551431"/>
                </a:lnTo>
                <a:lnTo>
                  <a:pt x="9596628" y="1551431"/>
                </a:lnTo>
                <a:close/>
              </a:path>
              <a:path w="9606280" h="1551939">
                <a:moveTo>
                  <a:pt x="9499091" y="1551431"/>
                </a:moveTo>
                <a:lnTo>
                  <a:pt x="9499091" y="1537715"/>
                </a:lnTo>
                <a:lnTo>
                  <a:pt x="9443466" y="1537715"/>
                </a:lnTo>
                <a:lnTo>
                  <a:pt x="9443466" y="1551431"/>
                </a:lnTo>
                <a:lnTo>
                  <a:pt x="9499091" y="1551431"/>
                </a:lnTo>
                <a:close/>
              </a:path>
              <a:path w="9606280" h="1551939">
                <a:moveTo>
                  <a:pt x="9401556" y="1551431"/>
                </a:moveTo>
                <a:lnTo>
                  <a:pt x="9401556" y="1537715"/>
                </a:lnTo>
                <a:lnTo>
                  <a:pt x="9345930" y="1537715"/>
                </a:lnTo>
                <a:lnTo>
                  <a:pt x="9345930" y="1551431"/>
                </a:lnTo>
                <a:lnTo>
                  <a:pt x="9401556" y="1551431"/>
                </a:lnTo>
                <a:close/>
              </a:path>
              <a:path w="9606280" h="1551939">
                <a:moveTo>
                  <a:pt x="9304782" y="1551431"/>
                </a:moveTo>
                <a:lnTo>
                  <a:pt x="9304782" y="1537715"/>
                </a:lnTo>
                <a:lnTo>
                  <a:pt x="9248393" y="1537715"/>
                </a:lnTo>
                <a:lnTo>
                  <a:pt x="9248393" y="1551431"/>
                </a:lnTo>
                <a:lnTo>
                  <a:pt x="9304782" y="1551431"/>
                </a:lnTo>
                <a:close/>
              </a:path>
              <a:path w="9606280" h="1551939">
                <a:moveTo>
                  <a:pt x="9207246" y="1551431"/>
                </a:moveTo>
                <a:lnTo>
                  <a:pt x="9207246" y="1537715"/>
                </a:lnTo>
                <a:lnTo>
                  <a:pt x="9151620" y="1537715"/>
                </a:lnTo>
                <a:lnTo>
                  <a:pt x="9151620" y="1551431"/>
                </a:lnTo>
                <a:lnTo>
                  <a:pt x="9207246" y="1551431"/>
                </a:lnTo>
                <a:close/>
              </a:path>
              <a:path w="9606280" h="1551939">
                <a:moveTo>
                  <a:pt x="9109697" y="1551431"/>
                </a:moveTo>
                <a:lnTo>
                  <a:pt x="9109697" y="1537715"/>
                </a:lnTo>
                <a:lnTo>
                  <a:pt x="9054071" y="1537715"/>
                </a:lnTo>
                <a:lnTo>
                  <a:pt x="9054071" y="1551431"/>
                </a:lnTo>
                <a:lnTo>
                  <a:pt x="9109697" y="1551431"/>
                </a:lnTo>
                <a:close/>
              </a:path>
              <a:path w="9606280" h="1551939">
                <a:moveTo>
                  <a:pt x="9012174" y="1551431"/>
                </a:moveTo>
                <a:lnTo>
                  <a:pt x="9012174" y="1537715"/>
                </a:lnTo>
                <a:lnTo>
                  <a:pt x="8956548" y="1537715"/>
                </a:lnTo>
                <a:lnTo>
                  <a:pt x="8956548" y="1551431"/>
                </a:lnTo>
                <a:lnTo>
                  <a:pt x="9012174" y="1551431"/>
                </a:lnTo>
                <a:close/>
              </a:path>
              <a:path w="9606280" h="1551939">
                <a:moveTo>
                  <a:pt x="8914625" y="1551431"/>
                </a:moveTo>
                <a:lnTo>
                  <a:pt x="8914625" y="1537715"/>
                </a:lnTo>
                <a:lnTo>
                  <a:pt x="8858999" y="1537715"/>
                </a:lnTo>
                <a:lnTo>
                  <a:pt x="8858999" y="1551431"/>
                </a:lnTo>
                <a:lnTo>
                  <a:pt x="8914625" y="1551431"/>
                </a:lnTo>
                <a:close/>
              </a:path>
              <a:path w="9606280" h="1551939">
                <a:moveTo>
                  <a:pt x="8817089" y="1551431"/>
                </a:moveTo>
                <a:lnTo>
                  <a:pt x="8817089" y="1537715"/>
                </a:lnTo>
                <a:lnTo>
                  <a:pt x="8761464" y="1537715"/>
                </a:lnTo>
                <a:lnTo>
                  <a:pt x="8761464" y="1551431"/>
                </a:lnTo>
                <a:lnTo>
                  <a:pt x="8817089" y="1551431"/>
                </a:lnTo>
                <a:close/>
              </a:path>
              <a:path w="9606280" h="1551939">
                <a:moveTo>
                  <a:pt x="8719566" y="1551431"/>
                </a:moveTo>
                <a:lnTo>
                  <a:pt x="8719566" y="1537715"/>
                </a:lnTo>
                <a:lnTo>
                  <a:pt x="8663940" y="1537715"/>
                </a:lnTo>
                <a:lnTo>
                  <a:pt x="8663940" y="1551431"/>
                </a:lnTo>
                <a:lnTo>
                  <a:pt x="8719566" y="1551431"/>
                </a:lnTo>
                <a:close/>
              </a:path>
              <a:path w="9606280" h="1551939">
                <a:moveTo>
                  <a:pt x="8622030" y="1551431"/>
                </a:moveTo>
                <a:lnTo>
                  <a:pt x="8622030" y="1537715"/>
                </a:lnTo>
                <a:lnTo>
                  <a:pt x="8566404" y="1537715"/>
                </a:lnTo>
                <a:lnTo>
                  <a:pt x="8566404" y="1551431"/>
                </a:lnTo>
                <a:lnTo>
                  <a:pt x="8622030" y="1551431"/>
                </a:lnTo>
                <a:close/>
              </a:path>
              <a:path w="9606280" h="1551939">
                <a:moveTo>
                  <a:pt x="8524493" y="1551431"/>
                </a:moveTo>
                <a:lnTo>
                  <a:pt x="8524493" y="1537715"/>
                </a:lnTo>
                <a:lnTo>
                  <a:pt x="8468867" y="1537715"/>
                </a:lnTo>
                <a:lnTo>
                  <a:pt x="8468867" y="1551431"/>
                </a:lnTo>
                <a:lnTo>
                  <a:pt x="8524493" y="1551431"/>
                </a:lnTo>
                <a:close/>
              </a:path>
              <a:path w="9606280" h="1551939">
                <a:moveTo>
                  <a:pt x="8427719" y="1551431"/>
                </a:moveTo>
                <a:lnTo>
                  <a:pt x="8427719" y="1537715"/>
                </a:lnTo>
                <a:lnTo>
                  <a:pt x="8371331" y="1537715"/>
                </a:lnTo>
                <a:lnTo>
                  <a:pt x="8371331" y="1551431"/>
                </a:lnTo>
                <a:lnTo>
                  <a:pt x="8427719" y="1551431"/>
                </a:lnTo>
                <a:close/>
              </a:path>
              <a:path w="9606280" h="1551939">
                <a:moveTo>
                  <a:pt x="8330171" y="1551431"/>
                </a:moveTo>
                <a:lnTo>
                  <a:pt x="8330171" y="1537715"/>
                </a:lnTo>
                <a:lnTo>
                  <a:pt x="8274545" y="1537715"/>
                </a:lnTo>
                <a:lnTo>
                  <a:pt x="8274545" y="1551431"/>
                </a:lnTo>
                <a:lnTo>
                  <a:pt x="8330171" y="1551431"/>
                </a:lnTo>
                <a:close/>
              </a:path>
              <a:path w="9606280" h="1551939">
                <a:moveTo>
                  <a:pt x="8232648" y="1551431"/>
                </a:moveTo>
                <a:lnTo>
                  <a:pt x="8232648" y="1537715"/>
                </a:lnTo>
                <a:lnTo>
                  <a:pt x="8177022" y="1537715"/>
                </a:lnTo>
                <a:lnTo>
                  <a:pt x="8177022" y="1551431"/>
                </a:lnTo>
                <a:lnTo>
                  <a:pt x="8232648" y="1551431"/>
                </a:lnTo>
                <a:close/>
              </a:path>
              <a:path w="9606280" h="1551939">
                <a:moveTo>
                  <a:pt x="8135099" y="1551431"/>
                </a:moveTo>
                <a:lnTo>
                  <a:pt x="8135099" y="1537715"/>
                </a:lnTo>
                <a:lnTo>
                  <a:pt x="8079473" y="1537715"/>
                </a:lnTo>
                <a:lnTo>
                  <a:pt x="8079473" y="1551431"/>
                </a:lnTo>
                <a:lnTo>
                  <a:pt x="8135099" y="1551431"/>
                </a:lnTo>
                <a:close/>
              </a:path>
              <a:path w="9606280" h="1551939">
                <a:moveTo>
                  <a:pt x="8037563" y="1551431"/>
                </a:moveTo>
                <a:lnTo>
                  <a:pt x="8037563" y="1537715"/>
                </a:lnTo>
                <a:lnTo>
                  <a:pt x="7981937" y="1537715"/>
                </a:lnTo>
                <a:lnTo>
                  <a:pt x="7981937" y="1551431"/>
                </a:lnTo>
                <a:lnTo>
                  <a:pt x="8037563" y="1551431"/>
                </a:lnTo>
                <a:close/>
              </a:path>
              <a:path w="9606280" h="1551939">
                <a:moveTo>
                  <a:pt x="7940027" y="1551431"/>
                </a:moveTo>
                <a:lnTo>
                  <a:pt x="7940027" y="1537715"/>
                </a:lnTo>
                <a:lnTo>
                  <a:pt x="7884401" y="1537715"/>
                </a:lnTo>
                <a:lnTo>
                  <a:pt x="7884401" y="1551431"/>
                </a:lnTo>
                <a:lnTo>
                  <a:pt x="7940027" y="1551431"/>
                </a:lnTo>
                <a:close/>
              </a:path>
              <a:path w="9606280" h="1551939">
                <a:moveTo>
                  <a:pt x="7842504" y="1551431"/>
                </a:moveTo>
                <a:lnTo>
                  <a:pt x="7842504" y="1537715"/>
                </a:lnTo>
                <a:lnTo>
                  <a:pt x="7786878" y="1537715"/>
                </a:lnTo>
                <a:lnTo>
                  <a:pt x="7786878" y="1551431"/>
                </a:lnTo>
                <a:lnTo>
                  <a:pt x="7842504" y="1551431"/>
                </a:lnTo>
                <a:close/>
              </a:path>
              <a:path w="9606280" h="1551939">
                <a:moveTo>
                  <a:pt x="7744967" y="1551431"/>
                </a:moveTo>
                <a:lnTo>
                  <a:pt x="7744967" y="1537715"/>
                </a:lnTo>
                <a:lnTo>
                  <a:pt x="7689341" y="1537715"/>
                </a:lnTo>
                <a:lnTo>
                  <a:pt x="7689341" y="1551431"/>
                </a:lnTo>
                <a:lnTo>
                  <a:pt x="7744967" y="1551431"/>
                </a:lnTo>
                <a:close/>
              </a:path>
              <a:path w="9606280" h="1551939">
                <a:moveTo>
                  <a:pt x="7647432" y="1551431"/>
                </a:moveTo>
                <a:lnTo>
                  <a:pt x="7647432" y="1537715"/>
                </a:lnTo>
                <a:lnTo>
                  <a:pt x="7591806" y="1537715"/>
                </a:lnTo>
                <a:lnTo>
                  <a:pt x="7591806" y="1551431"/>
                </a:lnTo>
                <a:lnTo>
                  <a:pt x="7647432" y="1551431"/>
                </a:lnTo>
                <a:close/>
              </a:path>
              <a:path w="9606280" h="1551939">
                <a:moveTo>
                  <a:pt x="7550658" y="1551431"/>
                </a:moveTo>
                <a:lnTo>
                  <a:pt x="7550658" y="1537715"/>
                </a:lnTo>
                <a:lnTo>
                  <a:pt x="7494269" y="1537715"/>
                </a:lnTo>
                <a:lnTo>
                  <a:pt x="7494269" y="1551431"/>
                </a:lnTo>
                <a:lnTo>
                  <a:pt x="7550658" y="1551431"/>
                </a:lnTo>
                <a:close/>
              </a:path>
              <a:path w="9606280" h="1551939">
                <a:moveTo>
                  <a:pt x="7453122" y="1551431"/>
                </a:moveTo>
                <a:lnTo>
                  <a:pt x="7453122" y="1537715"/>
                </a:lnTo>
                <a:lnTo>
                  <a:pt x="7397496" y="1537715"/>
                </a:lnTo>
                <a:lnTo>
                  <a:pt x="7397496" y="1551431"/>
                </a:lnTo>
                <a:lnTo>
                  <a:pt x="7453122" y="1551431"/>
                </a:lnTo>
                <a:close/>
              </a:path>
              <a:path w="9606280" h="1551939">
                <a:moveTo>
                  <a:pt x="7355573" y="1551431"/>
                </a:moveTo>
                <a:lnTo>
                  <a:pt x="7355573" y="1537715"/>
                </a:lnTo>
                <a:lnTo>
                  <a:pt x="7299947" y="1537715"/>
                </a:lnTo>
                <a:lnTo>
                  <a:pt x="7299947" y="1551431"/>
                </a:lnTo>
                <a:lnTo>
                  <a:pt x="7355573" y="1551431"/>
                </a:lnTo>
                <a:close/>
              </a:path>
              <a:path w="9606280" h="1551939">
                <a:moveTo>
                  <a:pt x="7258037" y="1551431"/>
                </a:moveTo>
                <a:lnTo>
                  <a:pt x="7258037" y="1537715"/>
                </a:lnTo>
                <a:lnTo>
                  <a:pt x="7202412" y="1537715"/>
                </a:lnTo>
                <a:lnTo>
                  <a:pt x="7202412" y="1551431"/>
                </a:lnTo>
                <a:lnTo>
                  <a:pt x="7258037" y="1551431"/>
                </a:lnTo>
                <a:close/>
              </a:path>
              <a:path w="9606280" h="1551939">
                <a:moveTo>
                  <a:pt x="7160501" y="1551431"/>
                </a:moveTo>
                <a:lnTo>
                  <a:pt x="7160501" y="1537715"/>
                </a:lnTo>
                <a:lnTo>
                  <a:pt x="7104875" y="1537715"/>
                </a:lnTo>
                <a:lnTo>
                  <a:pt x="7104875" y="1551431"/>
                </a:lnTo>
                <a:lnTo>
                  <a:pt x="7160501" y="1551431"/>
                </a:lnTo>
                <a:close/>
              </a:path>
              <a:path w="9606280" h="1551939">
                <a:moveTo>
                  <a:pt x="7062978" y="1551431"/>
                </a:moveTo>
                <a:lnTo>
                  <a:pt x="7062978" y="1537715"/>
                </a:lnTo>
                <a:lnTo>
                  <a:pt x="7007352" y="1537715"/>
                </a:lnTo>
                <a:lnTo>
                  <a:pt x="7007352" y="1551431"/>
                </a:lnTo>
                <a:lnTo>
                  <a:pt x="7062978" y="1551431"/>
                </a:lnTo>
                <a:close/>
              </a:path>
              <a:path w="9606280" h="1551939">
                <a:moveTo>
                  <a:pt x="6965441" y="1551431"/>
                </a:moveTo>
                <a:lnTo>
                  <a:pt x="6965441" y="1537715"/>
                </a:lnTo>
                <a:lnTo>
                  <a:pt x="6909815" y="1537715"/>
                </a:lnTo>
                <a:lnTo>
                  <a:pt x="6909815" y="1551431"/>
                </a:lnTo>
                <a:lnTo>
                  <a:pt x="6965441" y="1551431"/>
                </a:lnTo>
                <a:close/>
              </a:path>
              <a:path w="9606280" h="1551939">
                <a:moveTo>
                  <a:pt x="6867906" y="1551431"/>
                </a:moveTo>
                <a:lnTo>
                  <a:pt x="6867906" y="1537715"/>
                </a:lnTo>
                <a:lnTo>
                  <a:pt x="6812280" y="1537715"/>
                </a:lnTo>
                <a:lnTo>
                  <a:pt x="6812280" y="1551431"/>
                </a:lnTo>
                <a:lnTo>
                  <a:pt x="6867906" y="1551431"/>
                </a:lnTo>
                <a:close/>
              </a:path>
              <a:path w="9606280" h="1551939">
                <a:moveTo>
                  <a:pt x="6770369" y="1551431"/>
                </a:moveTo>
                <a:lnTo>
                  <a:pt x="6770369" y="1537715"/>
                </a:lnTo>
                <a:lnTo>
                  <a:pt x="6714743" y="1537715"/>
                </a:lnTo>
                <a:lnTo>
                  <a:pt x="6714743" y="1551431"/>
                </a:lnTo>
                <a:lnTo>
                  <a:pt x="6770369" y="1551431"/>
                </a:lnTo>
                <a:close/>
              </a:path>
              <a:path w="9606280" h="1551939">
                <a:moveTo>
                  <a:pt x="6673596" y="1551431"/>
                </a:moveTo>
                <a:lnTo>
                  <a:pt x="6673596" y="1537715"/>
                </a:lnTo>
                <a:lnTo>
                  <a:pt x="6617208" y="1537715"/>
                </a:lnTo>
                <a:lnTo>
                  <a:pt x="6617208" y="1551431"/>
                </a:lnTo>
                <a:lnTo>
                  <a:pt x="6673596" y="1551431"/>
                </a:lnTo>
                <a:close/>
              </a:path>
              <a:path w="9606280" h="1551939">
                <a:moveTo>
                  <a:pt x="6576047" y="1551431"/>
                </a:moveTo>
                <a:lnTo>
                  <a:pt x="6576047" y="1537715"/>
                </a:lnTo>
                <a:lnTo>
                  <a:pt x="6520421" y="1537715"/>
                </a:lnTo>
                <a:lnTo>
                  <a:pt x="6520421" y="1551431"/>
                </a:lnTo>
                <a:lnTo>
                  <a:pt x="6576047" y="1551431"/>
                </a:lnTo>
                <a:close/>
              </a:path>
              <a:path w="9606280" h="1551939">
                <a:moveTo>
                  <a:pt x="6478511" y="1551431"/>
                </a:moveTo>
                <a:lnTo>
                  <a:pt x="6478511" y="1537715"/>
                </a:lnTo>
                <a:lnTo>
                  <a:pt x="6422886" y="1537715"/>
                </a:lnTo>
                <a:lnTo>
                  <a:pt x="6422886" y="1551431"/>
                </a:lnTo>
                <a:lnTo>
                  <a:pt x="6478511" y="1551431"/>
                </a:lnTo>
                <a:close/>
              </a:path>
              <a:path w="9606280" h="1551939">
                <a:moveTo>
                  <a:pt x="6380975" y="1551431"/>
                </a:moveTo>
                <a:lnTo>
                  <a:pt x="6380975" y="1537715"/>
                </a:lnTo>
                <a:lnTo>
                  <a:pt x="6325349" y="1537715"/>
                </a:lnTo>
                <a:lnTo>
                  <a:pt x="6325349" y="1551431"/>
                </a:lnTo>
                <a:lnTo>
                  <a:pt x="6380975" y="1551431"/>
                </a:lnTo>
                <a:close/>
              </a:path>
              <a:path w="9606280" h="1551939">
                <a:moveTo>
                  <a:pt x="6283439" y="1551431"/>
                </a:moveTo>
                <a:lnTo>
                  <a:pt x="6283439" y="1537715"/>
                </a:lnTo>
                <a:lnTo>
                  <a:pt x="6227813" y="1537715"/>
                </a:lnTo>
                <a:lnTo>
                  <a:pt x="6227813" y="1551431"/>
                </a:lnTo>
                <a:lnTo>
                  <a:pt x="6283439" y="1551431"/>
                </a:lnTo>
                <a:close/>
              </a:path>
              <a:path w="9606280" h="1551939">
                <a:moveTo>
                  <a:pt x="6185915" y="1551431"/>
                </a:moveTo>
                <a:lnTo>
                  <a:pt x="6185915" y="1537715"/>
                </a:lnTo>
                <a:lnTo>
                  <a:pt x="6130289" y="1537715"/>
                </a:lnTo>
                <a:lnTo>
                  <a:pt x="6130289" y="1551431"/>
                </a:lnTo>
                <a:lnTo>
                  <a:pt x="6185915" y="1551431"/>
                </a:lnTo>
                <a:close/>
              </a:path>
              <a:path w="9606280" h="1551939">
                <a:moveTo>
                  <a:pt x="6088380" y="1551431"/>
                </a:moveTo>
                <a:lnTo>
                  <a:pt x="6088380" y="1537715"/>
                </a:lnTo>
                <a:lnTo>
                  <a:pt x="6032754" y="1537715"/>
                </a:lnTo>
                <a:lnTo>
                  <a:pt x="6032754" y="1551431"/>
                </a:lnTo>
                <a:lnTo>
                  <a:pt x="6088380" y="1551431"/>
                </a:lnTo>
                <a:close/>
              </a:path>
              <a:path w="9606280" h="1551939">
                <a:moveTo>
                  <a:pt x="5990843" y="1551431"/>
                </a:moveTo>
                <a:lnTo>
                  <a:pt x="5990843" y="1537715"/>
                </a:lnTo>
                <a:lnTo>
                  <a:pt x="5935217" y="1537715"/>
                </a:lnTo>
                <a:lnTo>
                  <a:pt x="5935217" y="1551431"/>
                </a:lnTo>
                <a:lnTo>
                  <a:pt x="5990843" y="1551431"/>
                </a:lnTo>
                <a:close/>
              </a:path>
              <a:path w="9606280" h="1551939">
                <a:moveTo>
                  <a:pt x="5893295" y="1551431"/>
                </a:moveTo>
                <a:lnTo>
                  <a:pt x="5893295" y="1537715"/>
                </a:lnTo>
                <a:lnTo>
                  <a:pt x="5837669" y="1537715"/>
                </a:lnTo>
                <a:lnTo>
                  <a:pt x="5837669" y="1551431"/>
                </a:lnTo>
                <a:lnTo>
                  <a:pt x="5893295" y="1551431"/>
                </a:lnTo>
                <a:close/>
              </a:path>
              <a:path w="9606280" h="1551939">
                <a:moveTo>
                  <a:pt x="5796521" y="1551431"/>
                </a:moveTo>
                <a:lnTo>
                  <a:pt x="5796521" y="1537715"/>
                </a:lnTo>
                <a:lnTo>
                  <a:pt x="5740133" y="1537715"/>
                </a:lnTo>
                <a:lnTo>
                  <a:pt x="5740133" y="1551431"/>
                </a:lnTo>
                <a:lnTo>
                  <a:pt x="5796521" y="1551431"/>
                </a:lnTo>
                <a:close/>
              </a:path>
              <a:path w="9606280" h="1551939">
                <a:moveTo>
                  <a:pt x="5698997" y="1551431"/>
                </a:moveTo>
                <a:lnTo>
                  <a:pt x="5698997" y="1537715"/>
                </a:lnTo>
                <a:lnTo>
                  <a:pt x="5643371" y="1537715"/>
                </a:lnTo>
                <a:lnTo>
                  <a:pt x="5643371" y="1551431"/>
                </a:lnTo>
                <a:lnTo>
                  <a:pt x="5698997" y="1551431"/>
                </a:lnTo>
                <a:close/>
              </a:path>
              <a:path w="9606280" h="1551939">
                <a:moveTo>
                  <a:pt x="5601461" y="1551431"/>
                </a:moveTo>
                <a:lnTo>
                  <a:pt x="5601461" y="1537715"/>
                </a:lnTo>
                <a:lnTo>
                  <a:pt x="5545835" y="1537715"/>
                </a:lnTo>
                <a:lnTo>
                  <a:pt x="5545835" y="1551431"/>
                </a:lnTo>
                <a:lnTo>
                  <a:pt x="5601461" y="1551431"/>
                </a:lnTo>
                <a:close/>
              </a:path>
              <a:path w="9606280" h="1551939">
                <a:moveTo>
                  <a:pt x="5503925" y="1551431"/>
                </a:moveTo>
                <a:lnTo>
                  <a:pt x="5503925" y="1537715"/>
                </a:lnTo>
                <a:lnTo>
                  <a:pt x="5448299" y="1537715"/>
                </a:lnTo>
                <a:lnTo>
                  <a:pt x="5448299" y="1551431"/>
                </a:lnTo>
                <a:lnTo>
                  <a:pt x="5503925" y="1551431"/>
                </a:lnTo>
                <a:close/>
              </a:path>
              <a:path w="9606280" h="1551939">
                <a:moveTo>
                  <a:pt x="5406390" y="1551431"/>
                </a:moveTo>
                <a:lnTo>
                  <a:pt x="5406390" y="1537715"/>
                </a:lnTo>
                <a:lnTo>
                  <a:pt x="5350764" y="1537715"/>
                </a:lnTo>
                <a:lnTo>
                  <a:pt x="5350764" y="1551431"/>
                </a:lnTo>
                <a:lnTo>
                  <a:pt x="5406390" y="1551431"/>
                </a:lnTo>
                <a:close/>
              </a:path>
              <a:path w="9606280" h="1551939">
                <a:moveTo>
                  <a:pt x="5308854" y="1551432"/>
                </a:moveTo>
                <a:lnTo>
                  <a:pt x="5308854" y="1537716"/>
                </a:lnTo>
                <a:lnTo>
                  <a:pt x="5253228" y="1537716"/>
                </a:lnTo>
                <a:lnTo>
                  <a:pt x="5253228" y="1551432"/>
                </a:lnTo>
                <a:lnTo>
                  <a:pt x="5308854" y="1551432"/>
                </a:lnTo>
                <a:close/>
              </a:path>
              <a:path w="9606280" h="1551939">
                <a:moveTo>
                  <a:pt x="5211318" y="1551432"/>
                </a:moveTo>
                <a:lnTo>
                  <a:pt x="5211318" y="1537716"/>
                </a:lnTo>
                <a:lnTo>
                  <a:pt x="5155692" y="1537716"/>
                </a:lnTo>
                <a:lnTo>
                  <a:pt x="5155692" y="1551432"/>
                </a:lnTo>
                <a:lnTo>
                  <a:pt x="5211318" y="1551432"/>
                </a:lnTo>
                <a:close/>
              </a:path>
              <a:path w="9606280" h="1551939">
                <a:moveTo>
                  <a:pt x="5113782" y="1551432"/>
                </a:moveTo>
                <a:lnTo>
                  <a:pt x="5113782" y="1537716"/>
                </a:lnTo>
                <a:lnTo>
                  <a:pt x="5058156" y="1537716"/>
                </a:lnTo>
                <a:lnTo>
                  <a:pt x="5058156" y="1551432"/>
                </a:lnTo>
                <a:lnTo>
                  <a:pt x="5113782" y="1551432"/>
                </a:lnTo>
                <a:close/>
              </a:path>
              <a:path w="9606280" h="1551939">
                <a:moveTo>
                  <a:pt x="5016245" y="1551432"/>
                </a:moveTo>
                <a:lnTo>
                  <a:pt x="5016245" y="1537716"/>
                </a:lnTo>
                <a:lnTo>
                  <a:pt x="4960620" y="1537716"/>
                </a:lnTo>
                <a:lnTo>
                  <a:pt x="4960620" y="1551432"/>
                </a:lnTo>
                <a:lnTo>
                  <a:pt x="5016245" y="1551432"/>
                </a:lnTo>
                <a:close/>
              </a:path>
              <a:path w="9606280" h="1551939">
                <a:moveTo>
                  <a:pt x="4919471" y="1551432"/>
                </a:moveTo>
                <a:lnTo>
                  <a:pt x="4919471" y="1537716"/>
                </a:lnTo>
                <a:lnTo>
                  <a:pt x="4863083" y="1537716"/>
                </a:lnTo>
                <a:lnTo>
                  <a:pt x="4863083" y="1551432"/>
                </a:lnTo>
                <a:lnTo>
                  <a:pt x="4919471" y="1551432"/>
                </a:lnTo>
                <a:close/>
              </a:path>
              <a:path w="9606280" h="1551939">
                <a:moveTo>
                  <a:pt x="4821935" y="1551432"/>
                </a:moveTo>
                <a:lnTo>
                  <a:pt x="4821935" y="1537716"/>
                </a:lnTo>
                <a:lnTo>
                  <a:pt x="4766309" y="1537716"/>
                </a:lnTo>
                <a:lnTo>
                  <a:pt x="4766309" y="1551432"/>
                </a:lnTo>
                <a:lnTo>
                  <a:pt x="4821935" y="1551432"/>
                </a:lnTo>
                <a:close/>
              </a:path>
              <a:path w="9606280" h="1551939">
                <a:moveTo>
                  <a:pt x="4724399" y="1551432"/>
                </a:moveTo>
                <a:lnTo>
                  <a:pt x="4724399" y="1537716"/>
                </a:lnTo>
                <a:lnTo>
                  <a:pt x="4668773" y="1537716"/>
                </a:lnTo>
                <a:lnTo>
                  <a:pt x="4668773" y="1551432"/>
                </a:lnTo>
                <a:lnTo>
                  <a:pt x="4724399" y="1551432"/>
                </a:lnTo>
                <a:close/>
              </a:path>
              <a:path w="9606280" h="1551939">
                <a:moveTo>
                  <a:pt x="4626863" y="1551432"/>
                </a:moveTo>
                <a:lnTo>
                  <a:pt x="4626863" y="1537716"/>
                </a:lnTo>
                <a:lnTo>
                  <a:pt x="4571237" y="1537716"/>
                </a:lnTo>
                <a:lnTo>
                  <a:pt x="4571237" y="1551432"/>
                </a:lnTo>
                <a:lnTo>
                  <a:pt x="4626863" y="1551432"/>
                </a:lnTo>
                <a:close/>
              </a:path>
              <a:path w="9606280" h="1551939">
                <a:moveTo>
                  <a:pt x="4529328" y="1551432"/>
                </a:moveTo>
                <a:lnTo>
                  <a:pt x="4529328" y="1537716"/>
                </a:lnTo>
                <a:lnTo>
                  <a:pt x="4473702" y="1537716"/>
                </a:lnTo>
                <a:lnTo>
                  <a:pt x="4473702" y="1551432"/>
                </a:lnTo>
                <a:lnTo>
                  <a:pt x="4529328" y="1551432"/>
                </a:lnTo>
                <a:close/>
              </a:path>
              <a:path w="9606280" h="1551939">
                <a:moveTo>
                  <a:pt x="4431792" y="1551432"/>
                </a:moveTo>
                <a:lnTo>
                  <a:pt x="4431792" y="1537716"/>
                </a:lnTo>
                <a:lnTo>
                  <a:pt x="4376166" y="1537716"/>
                </a:lnTo>
                <a:lnTo>
                  <a:pt x="4376166" y="1551432"/>
                </a:lnTo>
                <a:lnTo>
                  <a:pt x="4431792" y="1551432"/>
                </a:lnTo>
                <a:close/>
              </a:path>
              <a:path w="9606280" h="1551939">
                <a:moveTo>
                  <a:pt x="4334256" y="1551432"/>
                </a:moveTo>
                <a:lnTo>
                  <a:pt x="4334256" y="1537716"/>
                </a:lnTo>
                <a:lnTo>
                  <a:pt x="4278630" y="1537716"/>
                </a:lnTo>
                <a:lnTo>
                  <a:pt x="4278630" y="1551432"/>
                </a:lnTo>
                <a:lnTo>
                  <a:pt x="4334256" y="1551432"/>
                </a:lnTo>
                <a:close/>
              </a:path>
              <a:path w="9606280" h="1551939">
                <a:moveTo>
                  <a:pt x="4236720" y="1551432"/>
                </a:moveTo>
                <a:lnTo>
                  <a:pt x="4236720" y="1537716"/>
                </a:lnTo>
                <a:lnTo>
                  <a:pt x="4181093" y="1537716"/>
                </a:lnTo>
                <a:lnTo>
                  <a:pt x="4181093" y="1551432"/>
                </a:lnTo>
                <a:lnTo>
                  <a:pt x="4236720" y="1551432"/>
                </a:lnTo>
                <a:close/>
              </a:path>
              <a:path w="9606280" h="1551939">
                <a:moveTo>
                  <a:pt x="4139183" y="1551432"/>
                </a:moveTo>
                <a:lnTo>
                  <a:pt x="4139183" y="1537716"/>
                </a:lnTo>
                <a:lnTo>
                  <a:pt x="4083557" y="1537716"/>
                </a:lnTo>
                <a:lnTo>
                  <a:pt x="4083557" y="1551432"/>
                </a:lnTo>
                <a:lnTo>
                  <a:pt x="4139183" y="1551432"/>
                </a:lnTo>
                <a:close/>
              </a:path>
              <a:path w="9606280" h="1551939">
                <a:moveTo>
                  <a:pt x="4042409" y="1551432"/>
                </a:moveTo>
                <a:lnTo>
                  <a:pt x="4042409" y="1537716"/>
                </a:lnTo>
                <a:lnTo>
                  <a:pt x="3986021" y="1537716"/>
                </a:lnTo>
                <a:lnTo>
                  <a:pt x="3986021" y="1551432"/>
                </a:lnTo>
                <a:lnTo>
                  <a:pt x="4042409" y="1551432"/>
                </a:lnTo>
                <a:close/>
              </a:path>
              <a:path w="9606280" h="1551939">
                <a:moveTo>
                  <a:pt x="3944873" y="1551432"/>
                </a:moveTo>
                <a:lnTo>
                  <a:pt x="3944873" y="1537716"/>
                </a:lnTo>
                <a:lnTo>
                  <a:pt x="3889247" y="1537716"/>
                </a:lnTo>
                <a:lnTo>
                  <a:pt x="3889247" y="1551432"/>
                </a:lnTo>
                <a:lnTo>
                  <a:pt x="3944873" y="1551432"/>
                </a:lnTo>
                <a:close/>
              </a:path>
              <a:path w="9606280" h="1551939">
                <a:moveTo>
                  <a:pt x="3847337" y="1551432"/>
                </a:moveTo>
                <a:lnTo>
                  <a:pt x="3847337" y="1537716"/>
                </a:lnTo>
                <a:lnTo>
                  <a:pt x="3791711" y="1537716"/>
                </a:lnTo>
                <a:lnTo>
                  <a:pt x="3791711" y="1551432"/>
                </a:lnTo>
                <a:lnTo>
                  <a:pt x="3847337" y="1551432"/>
                </a:lnTo>
                <a:close/>
              </a:path>
              <a:path w="9606280" h="1551939">
                <a:moveTo>
                  <a:pt x="3749802" y="1551432"/>
                </a:moveTo>
                <a:lnTo>
                  <a:pt x="3749802" y="1537716"/>
                </a:lnTo>
                <a:lnTo>
                  <a:pt x="3694176" y="1537716"/>
                </a:lnTo>
                <a:lnTo>
                  <a:pt x="3694176" y="1551432"/>
                </a:lnTo>
                <a:lnTo>
                  <a:pt x="3749802" y="1551432"/>
                </a:lnTo>
                <a:close/>
              </a:path>
              <a:path w="9606280" h="1551939">
                <a:moveTo>
                  <a:pt x="3652266" y="1551432"/>
                </a:moveTo>
                <a:lnTo>
                  <a:pt x="3652266" y="1537716"/>
                </a:lnTo>
                <a:lnTo>
                  <a:pt x="3596640" y="1537716"/>
                </a:lnTo>
                <a:lnTo>
                  <a:pt x="3596640" y="1551432"/>
                </a:lnTo>
                <a:lnTo>
                  <a:pt x="3652266" y="1551432"/>
                </a:lnTo>
                <a:close/>
              </a:path>
              <a:path w="9606280" h="1551939">
                <a:moveTo>
                  <a:pt x="3554729" y="1551432"/>
                </a:moveTo>
                <a:lnTo>
                  <a:pt x="3554729" y="1537716"/>
                </a:lnTo>
                <a:lnTo>
                  <a:pt x="3499104" y="1537716"/>
                </a:lnTo>
                <a:lnTo>
                  <a:pt x="3499104" y="1551432"/>
                </a:lnTo>
                <a:lnTo>
                  <a:pt x="3554729" y="1551432"/>
                </a:lnTo>
                <a:close/>
              </a:path>
              <a:path w="9606280" h="1551939">
                <a:moveTo>
                  <a:pt x="3457193" y="1551432"/>
                </a:moveTo>
                <a:lnTo>
                  <a:pt x="3457193" y="1537716"/>
                </a:lnTo>
                <a:lnTo>
                  <a:pt x="3401567" y="1537716"/>
                </a:lnTo>
                <a:lnTo>
                  <a:pt x="3401567" y="1551432"/>
                </a:lnTo>
                <a:lnTo>
                  <a:pt x="3457193" y="1551432"/>
                </a:lnTo>
                <a:close/>
              </a:path>
              <a:path w="9606280" h="1551939">
                <a:moveTo>
                  <a:pt x="3359657" y="1551432"/>
                </a:moveTo>
                <a:lnTo>
                  <a:pt x="3359657" y="1537716"/>
                </a:lnTo>
                <a:lnTo>
                  <a:pt x="3304031" y="1537716"/>
                </a:lnTo>
                <a:lnTo>
                  <a:pt x="3304031" y="1551432"/>
                </a:lnTo>
                <a:lnTo>
                  <a:pt x="3359657" y="1551432"/>
                </a:lnTo>
                <a:close/>
              </a:path>
              <a:path w="9606280" h="1551939">
                <a:moveTo>
                  <a:pt x="3262121" y="1551432"/>
                </a:moveTo>
                <a:lnTo>
                  <a:pt x="3262121" y="1537716"/>
                </a:lnTo>
                <a:lnTo>
                  <a:pt x="3206496" y="1537716"/>
                </a:lnTo>
                <a:lnTo>
                  <a:pt x="3206496" y="1551432"/>
                </a:lnTo>
                <a:lnTo>
                  <a:pt x="3262121" y="1551432"/>
                </a:lnTo>
                <a:close/>
              </a:path>
              <a:path w="9606280" h="1551939">
                <a:moveTo>
                  <a:pt x="3165347" y="1551432"/>
                </a:moveTo>
                <a:lnTo>
                  <a:pt x="3165347" y="1537716"/>
                </a:lnTo>
                <a:lnTo>
                  <a:pt x="3108960" y="1537716"/>
                </a:lnTo>
                <a:lnTo>
                  <a:pt x="3108960" y="1551432"/>
                </a:lnTo>
                <a:lnTo>
                  <a:pt x="3165347" y="1551432"/>
                </a:lnTo>
                <a:close/>
              </a:path>
              <a:path w="9606280" h="1551939">
                <a:moveTo>
                  <a:pt x="3067811" y="1551432"/>
                </a:moveTo>
                <a:lnTo>
                  <a:pt x="3067811" y="1537716"/>
                </a:lnTo>
                <a:lnTo>
                  <a:pt x="3012185" y="1537716"/>
                </a:lnTo>
                <a:lnTo>
                  <a:pt x="3012185" y="1551432"/>
                </a:lnTo>
                <a:lnTo>
                  <a:pt x="3067811" y="1551432"/>
                </a:lnTo>
                <a:close/>
              </a:path>
              <a:path w="9606280" h="1551939">
                <a:moveTo>
                  <a:pt x="2970275" y="1551432"/>
                </a:moveTo>
                <a:lnTo>
                  <a:pt x="2970275" y="1537716"/>
                </a:lnTo>
                <a:lnTo>
                  <a:pt x="2914649" y="1537716"/>
                </a:lnTo>
                <a:lnTo>
                  <a:pt x="2914649" y="1551432"/>
                </a:lnTo>
                <a:lnTo>
                  <a:pt x="2970275" y="1551432"/>
                </a:lnTo>
                <a:close/>
              </a:path>
              <a:path w="9606280" h="1551939">
                <a:moveTo>
                  <a:pt x="2872740" y="1551432"/>
                </a:moveTo>
                <a:lnTo>
                  <a:pt x="2872740" y="1537716"/>
                </a:lnTo>
                <a:lnTo>
                  <a:pt x="2817114" y="1537716"/>
                </a:lnTo>
                <a:lnTo>
                  <a:pt x="2817114" y="1551432"/>
                </a:lnTo>
                <a:lnTo>
                  <a:pt x="2872740" y="1551432"/>
                </a:lnTo>
                <a:close/>
              </a:path>
              <a:path w="9606280" h="1551939">
                <a:moveTo>
                  <a:pt x="2775204" y="1551432"/>
                </a:moveTo>
                <a:lnTo>
                  <a:pt x="2775204" y="1537716"/>
                </a:lnTo>
                <a:lnTo>
                  <a:pt x="2719578" y="1537716"/>
                </a:lnTo>
                <a:lnTo>
                  <a:pt x="2719578" y="1551432"/>
                </a:lnTo>
                <a:lnTo>
                  <a:pt x="2775204" y="1551432"/>
                </a:lnTo>
                <a:close/>
              </a:path>
              <a:path w="9606280" h="1551939">
                <a:moveTo>
                  <a:pt x="2677668" y="1551432"/>
                </a:moveTo>
                <a:lnTo>
                  <a:pt x="2677668" y="1537716"/>
                </a:lnTo>
                <a:lnTo>
                  <a:pt x="2622042" y="1537716"/>
                </a:lnTo>
                <a:lnTo>
                  <a:pt x="2622042" y="1551432"/>
                </a:lnTo>
                <a:lnTo>
                  <a:pt x="2677668" y="1551432"/>
                </a:lnTo>
                <a:close/>
              </a:path>
              <a:path w="9606280" h="1551939">
                <a:moveTo>
                  <a:pt x="2580132" y="1551432"/>
                </a:moveTo>
                <a:lnTo>
                  <a:pt x="2580132" y="1537716"/>
                </a:lnTo>
                <a:lnTo>
                  <a:pt x="2524506" y="1537716"/>
                </a:lnTo>
                <a:lnTo>
                  <a:pt x="2524506" y="1551432"/>
                </a:lnTo>
                <a:lnTo>
                  <a:pt x="2580132" y="1551432"/>
                </a:lnTo>
                <a:close/>
              </a:path>
              <a:path w="9606280" h="1551939">
                <a:moveTo>
                  <a:pt x="2482596" y="1551432"/>
                </a:moveTo>
                <a:lnTo>
                  <a:pt x="2482596" y="1537716"/>
                </a:lnTo>
                <a:lnTo>
                  <a:pt x="2426970" y="1537716"/>
                </a:lnTo>
                <a:lnTo>
                  <a:pt x="2426970" y="1551432"/>
                </a:lnTo>
                <a:lnTo>
                  <a:pt x="2482596" y="1551432"/>
                </a:lnTo>
                <a:close/>
              </a:path>
              <a:path w="9606280" h="1551939">
                <a:moveTo>
                  <a:pt x="2385060" y="1551432"/>
                </a:moveTo>
                <a:lnTo>
                  <a:pt x="2385060" y="1537716"/>
                </a:lnTo>
                <a:lnTo>
                  <a:pt x="2329434" y="1537716"/>
                </a:lnTo>
                <a:lnTo>
                  <a:pt x="2329434" y="1551432"/>
                </a:lnTo>
                <a:lnTo>
                  <a:pt x="2385060" y="1551432"/>
                </a:lnTo>
                <a:close/>
              </a:path>
              <a:path w="9606280" h="1551939">
                <a:moveTo>
                  <a:pt x="2288286" y="1551432"/>
                </a:moveTo>
                <a:lnTo>
                  <a:pt x="2288286" y="1537716"/>
                </a:lnTo>
                <a:lnTo>
                  <a:pt x="2231898" y="1537716"/>
                </a:lnTo>
                <a:lnTo>
                  <a:pt x="2231898" y="1551432"/>
                </a:lnTo>
                <a:lnTo>
                  <a:pt x="2288286" y="1551432"/>
                </a:lnTo>
                <a:close/>
              </a:path>
              <a:path w="9606280" h="1551939">
                <a:moveTo>
                  <a:pt x="2190750" y="1551432"/>
                </a:moveTo>
                <a:lnTo>
                  <a:pt x="2190750" y="1537716"/>
                </a:lnTo>
                <a:lnTo>
                  <a:pt x="2135124" y="1537716"/>
                </a:lnTo>
                <a:lnTo>
                  <a:pt x="2135124" y="1551432"/>
                </a:lnTo>
                <a:lnTo>
                  <a:pt x="2190750" y="1551432"/>
                </a:lnTo>
                <a:close/>
              </a:path>
              <a:path w="9606280" h="1551939">
                <a:moveTo>
                  <a:pt x="2093214" y="1551432"/>
                </a:moveTo>
                <a:lnTo>
                  <a:pt x="2093214" y="1537716"/>
                </a:lnTo>
                <a:lnTo>
                  <a:pt x="2037588" y="1537716"/>
                </a:lnTo>
                <a:lnTo>
                  <a:pt x="2037588" y="1551432"/>
                </a:lnTo>
                <a:lnTo>
                  <a:pt x="2093214" y="1551432"/>
                </a:lnTo>
                <a:close/>
              </a:path>
              <a:path w="9606280" h="1551939">
                <a:moveTo>
                  <a:pt x="1995678" y="1551432"/>
                </a:moveTo>
                <a:lnTo>
                  <a:pt x="1995678" y="1537716"/>
                </a:lnTo>
                <a:lnTo>
                  <a:pt x="1940052" y="1537716"/>
                </a:lnTo>
                <a:lnTo>
                  <a:pt x="1940052" y="1551432"/>
                </a:lnTo>
                <a:lnTo>
                  <a:pt x="1995678" y="1551432"/>
                </a:lnTo>
                <a:close/>
              </a:path>
              <a:path w="9606280" h="1551939">
                <a:moveTo>
                  <a:pt x="1898142" y="1551432"/>
                </a:moveTo>
                <a:lnTo>
                  <a:pt x="1898142" y="1537716"/>
                </a:lnTo>
                <a:lnTo>
                  <a:pt x="1842516" y="1537716"/>
                </a:lnTo>
                <a:lnTo>
                  <a:pt x="1842516" y="1551432"/>
                </a:lnTo>
                <a:lnTo>
                  <a:pt x="1898142" y="1551432"/>
                </a:lnTo>
                <a:close/>
              </a:path>
              <a:path w="9606280" h="1551939">
                <a:moveTo>
                  <a:pt x="1800606" y="1551432"/>
                </a:moveTo>
                <a:lnTo>
                  <a:pt x="1800606" y="1537716"/>
                </a:lnTo>
                <a:lnTo>
                  <a:pt x="1744980" y="1537716"/>
                </a:lnTo>
                <a:lnTo>
                  <a:pt x="1744980" y="1551432"/>
                </a:lnTo>
                <a:lnTo>
                  <a:pt x="1800606" y="1551432"/>
                </a:lnTo>
                <a:close/>
              </a:path>
              <a:path w="9606280" h="1551939">
                <a:moveTo>
                  <a:pt x="1703070" y="1551432"/>
                </a:moveTo>
                <a:lnTo>
                  <a:pt x="1703070" y="1537716"/>
                </a:lnTo>
                <a:lnTo>
                  <a:pt x="1647444" y="1537716"/>
                </a:lnTo>
                <a:lnTo>
                  <a:pt x="1647444" y="1551432"/>
                </a:lnTo>
                <a:lnTo>
                  <a:pt x="1703070" y="1551432"/>
                </a:lnTo>
                <a:close/>
              </a:path>
              <a:path w="9606280" h="1551939">
                <a:moveTo>
                  <a:pt x="1605534" y="1551432"/>
                </a:moveTo>
                <a:lnTo>
                  <a:pt x="1605534" y="1537716"/>
                </a:lnTo>
                <a:lnTo>
                  <a:pt x="1549908" y="1537716"/>
                </a:lnTo>
                <a:lnTo>
                  <a:pt x="1549908" y="1551432"/>
                </a:lnTo>
                <a:lnTo>
                  <a:pt x="1605534" y="1551432"/>
                </a:lnTo>
                <a:close/>
              </a:path>
              <a:path w="9606280" h="1551939">
                <a:moveTo>
                  <a:pt x="1507998" y="1551432"/>
                </a:moveTo>
                <a:lnTo>
                  <a:pt x="1507998" y="1537716"/>
                </a:lnTo>
                <a:lnTo>
                  <a:pt x="1452372" y="1537716"/>
                </a:lnTo>
                <a:lnTo>
                  <a:pt x="1452372" y="1551432"/>
                </a:lnTo>
                <a:lnTo>
                  <a:pt x="1507998" y="1551432"/>
                </a:lnTo>
                <a:close/>
              </a:path>
              <a:path w="9606280" h="1551939">
                <a:moveTo>
                  <a:pt x="1411224" y="1551432"/>
                </a:moveTo>
                <a:lnTo>
                  <a:pt x="1411224" y="1537716"/>
                </a:lnTo>
                <a:lnTo>
                  <a:pt x="1354836" y="1537716"/>
                </a:lnTo>
                <a:lnTo>
                  <a:pt x="1354836" y="1551432"/>
                </a:lnTo>
                <a:lnTo>
                  <a:pt x="1411224" y="1551432"/>
                </a:lnTo>
                <a:close/>
              </a:path>
              <a:path w="9606280" h="1551939">
                <a:moveTo>
                  <a:pt x="1313688" y="1551432"/>
                </a:moveTo>
                <a:lnTo>
                  <a:pt x="1313688" y="1537716"/>
                </a:lnTo>
                <a:lnTo>
                  <a:pt x="1258062" y="1537716"/>
                </a:lnTo>
                <a:lnTo>
                  <a:pt x="1258062" y="1551432"/>
                </a:lnTo>
                <a:lnTo>
                  <a:pt x="1313688" y="1551432"/>
                </a:lnTo>
                <a:close/>
              </a:path>
              <a:path w="9606280" h="1551939">
                <a:moveTo>
                  <a:pt x="1216152" y="1551432"/>
                </a:moveTo>
                <a:lnTo>
                  <a:pt x="1216152" y="1537716"/>
                </a:lnTo>
                <a:lnTo>
                  <a:pt x="1160526" y="1537716"/>
                </a:lnTo>
                <a:lnTo>
                  <a:pt x="1160526" y="1551432"/>
                </a:lnTo>
                <a:lnTo>
                  <a:pt x="1216152" y="1551432"/>
                </a:lnTo>
                <a:close/>
              </a:path>
              <a:path w="9606280" h="1551939">
                <a:moveTo>
                  <a:pt x="1118616" y="1551432"/>
                </a:moveTo>
                <a:lnTo>
                  <a:pt x="1118616" y="1537716"/>
                </a:lnTo>
                <a:lnTo>
                  <a:pt x="1062989" y="1537716"/>
                </a:lnTo>
                <a:lnTo>
                  <a:pt x="1062989" y="1551432"/>
                </a:lnTo>
                <a:lnTo>
                  <a:pt x="1118616" y="1551432"/>
                </a:lnTo>
                <a:close/>
              </a:path>
              <a:path w="9606280" h="1551939">
                <a:moveTo>
                  <a:pt x="1021080" y="1551432"/>
                </a:moveTo>
                <a:lnTo>
                  <a:pt x="1021080" y="1537716"/>
                </a:lnTo>
                <a:lnTo>
                  <a:pt x="965454" y="1537716"/>
                </a:lnTo>
                <a:lnTo>
                  <a:pt x="965454" y="1551432"/>
                </a:lnTo>
                <a:lnTo>
                  <a:pt x="1021080" y="1551432"/>
                </a:lnTo>
                <a:close/>
              </a:path>
              <a:path w="9606280" h="1551939">
                <a:moveTo>
                  <a:pt x="923544" y="1551432"/>
                </a:moveTo>
                <a:lnTo>
                  <a:pt x="923544" y="1537716"/>
                </a:lnTo>
                <a:lnTo>
                  <a:pt x="867918" y="1537716"/>
                </a:lnTo>
                <a:lnTo>
                  <a:pt x="867918" y="1551432"/>
                </a:lnTo>
                <a:lnTo>
                  <a:pt x="923544" y="1551432"/>
                </a:lnTo>
                <a:close/>
              </a:path>
              <a:path w="9606280" h="1551939">
                <a:moveTo>
                  <a:pt x="826007" y="1551432"/>
                </a:moveTo>
                <a:lnTo>
                  <a:pt x="826007" y="1537716"/>
                </a:lnTo>
                <a:lnTo>
                  <a:pt x="770382" y="1537716"/>
                </a:lnTo>
                <a:lnTo>
                  <a:pt x="770382" y="1551432"/>
                </a:lnTo>
                <a:lnTo>
                  <a:pt x="826007" y="1551432"/>
                </a:lnTo>
                <a:close/>
              </a:path>
              <a:path w="9606280" h="1551939">
                <a:moveTo>
                  <a:pt x="728472" y="1551432"/>
                </a:moveTo>
                <a:lnTo>
                  <a:pt x="728472" y="1537716"/>
                </a:lnTo>
                <a:lnTo>
                  <a:pt x="672846" y="1537716"/>
                </a:lnTo>
                <a:lnTo>
                  <a:pt x="672846" y="1551432"/>
                </a:lnTo>
                <a:lnTo>
                  <a:pt x="728472" y="1551432"/>
                </a:lnTo>
                <a:close/>
              </a:path>
              <a:path w="9606280" h="1551939">
                <a:moveTo>
                  <a:pt x="630936" y="1551432"/>
                </a:moveTo>
                <a:lnTo>
                  <a:pt x="630936" y="1537716"/>
                </a:lnTo>
                <a:lnTo>
                  <a:pt x="575310" y="1537716"/>
                </a:lnTo>
                <a:lnTo>
                  <a:pt x="575310" y="1551432"/>
                </a:lnTo>
                <a:lnTo>
                  <a:pt x="630936" y="1551432"/>
                </a:lnTo>
                <a:close/>
              </a:path>
              <a:path w="9606280" h="1551939">
                <a:moveTo>
                  <a:pt x="534161" y="1551432"/>
                </a:moveTo>
                <a:lnTo>
                  <a:pt x="534161" y="1537716"/>
                </a:lnTo>
                <a:lnTo>
                  <a:pt x="477773" y="1537716"/>
                </a:lnTo>
                <a:lnTo>
                  <a:pt x="477773" y="1551432"/>
                </a:lnTo>
                <a:lnTo>
                  <a:pt x="534161" y="1551432"/>
                </a:lnTo>
                <a:close/>
              </a:path>
              <a:path w="9606280" h="1551939">
                <a:moveTo>
                  <a:pt x="436626" y="1551432"/>
                </a:moveTo>
                <a:lnTo>
                  <a:pt x="436626" y="1537716"/>
                </a:lnTo>
                <a:lnTo>
                  <a:pt x="381000" y="1537716"/>
                </a:lnTo>
                <a:lnTo>
                  <a:pt x="381000" y="1551432"/>
                </a:lnTo>
                <a:lnTo>
                  <a:pt x="436626" y="1551432"/>
                </a:lnTo>
                <a:close/>
              </a:path>
              <a:path w="9606280" h="1551939">
                <a:moveTo>
                  <a:pt x="339089" y="1551432"/>
                </a:moveTo>
                <a:lnTo>
                  <a:pt x="339089" y="1537716"/>
                </a:lnTo>
                <a:lnTo>
                  <a:pt x="283464" y="1537716"/>
                </a:lnTo>
                <a:lnTo>
                  <a:pt x="283464" y="1551432"/>
                </a:lnTo>
                <a:lnTo>
                  <a:pt x="339089" y="1551432"/>
                </a:lnTo>
                <a:close/>
              </a:path>
              <a:path w="9606280" h="1551939">
                <a:moveTo>
                  <a:pt x="241554" y="1551432"/>
                </a:moveTo>
                <a:lnTo>
                  <a:pt x="241554" y="1537716"/>
                </a:lnTo>
                <a:lnTo>
                  <a:pt x="185928" y="1537716"/>
                </a:lnTo>
                <a:lnTo>
                  <a:pt x="185928" y="1551432"/>
                </a:lnTo>
                <a:lnTo>
                  <a:pt x="241554" y="1551432"/>
                </a:lnTo>
                <a:close/>
              </a:path>
              <a:path w="9606280" h="1551939">
                <a:moveTo>
                  <a:pt x="144018" y="1551432"/>
                </a:moveTo>
                <a:lnTo>
                  <a:pt x="144018" y="1537716"/>
                </a:lnTo>
                <a:lnTo>
                  <a:pt x="88392" y="1537716"/>
                </a:lnTo>
                <a:lnTo>
                  <a:pt x="88392" y="1551432"/>
                </a:lnTo>
                <a:lnTo>
                  <a:pt x="144018" y="1551432"/>
                </a:lnTo>
                <a:close/>
              </a:path>
            </a:pathLst>
          </a:custGeom>
          <a:solidFill>
            <a:srgbClr val="000000"/>
          </a:solidFill>
        </p:spPr>
        <p:txBody>
          <a:bodyPr wrap="square" lIns="0" tIns="0" rIns="0" bIns="0" rtlCol="0"/>
          <a:lstStyle/>
          <a:p>
            <a:endParaRPr/>
          </a:p>
        </p:txBody>
      </p:sp>
      <p:sp>
        <p:nvSpPr>
          <p:cNvPr id="4" name="object 4"/>
          <p:cNvSpPr txBox="1"/>
          <p:nvPr/>
        </p:nvSpPr>
        <p:spPr>
          <a:xfrm>
            <a:off x="624211" y="1976122"/>
            <a:ext cx="9453245" cy="2415540"/>
          </a:xfrm>
          <a:prstGeom prst="rect">
            <a:avLst/>
          </a:prstGeom>
        </p:spPr>
        <p:txBody>
          <a:bodyPr vert="horz" wrap="square" lIns="0" tIns="15875" rIns="0" bIns="0" rtlCol="0">
            <a:spAutoFit/>
          </a:bodyPr>
          <a:lstStyle/>
          <a:p>
            <a:pPr marL="12700">
              <a:lnSpc>
                <a:spcPct val="100000"/>
              </a:lnSpc>
              <a:spcBef>
                <a:spcPts val="125"/>
              </a:spcBef>
            </a:pPr>
            <a:r>
              <a:rPr sz="1550" dirty="0">
                <a:latin typeface="Arial"/>
                <a:cs typeface="Arial"/>
              </a:rPr>
              <a:t>D</a:t>
            </a:r>
            <a:r>
              <a:rPr sz="1550" spc="-5" dirty="0">
                <a:latin typeface="微软雅黑"/>
                <a:cs typeface="微软雅黑"/>
              </a:rPr>
              <a:t>触发器的使能特性在同步快子系统和慢子系统时是非常有用的。</a:t>
            </a:r>
            <a:endParaRPr sz="1550" dirty="0">
              <a:latin typeface="微软雅黑"/>
              <a:cs typeface="微软雅黑"/>
            </a:endParaRPr>
          </a:p>
          <a:p>
            <a:pPr marL="12700" marR="5080" indent="-635" algn="just">
              <a:lnSpc>
                <a:spcPct val="152700"/>
              </a:lnSpc>
              <a:spcBef>
                <a:spcPts val="1140"/>
              </a:spcBef>
            </a:pPr>
            <a:r>
              <a:rPr sz="1550" dirty="0">
                <a:latin typeface="微软雅黑"/>
                <a:cs typeface="微软雅黑"/>
              </a:rPr>
              <a:t>例如</a:t>
            </a:r>
            <a:r>
              <a:rPr sz="1550" dirty="0">
                <a:latin typeface="Arial"/>
                <a:cs typeface="Arial"/>
              </a:rPr>
              <a:t>,</a:t>
            </a:r>
            <a:r>
              <a:rPr sz="1550" dirty="0">
                <a:latin typeface="微软雅黑"/>
                <a:cs typeface="微软雅黑"/>
              </a:rPr>
              <a:t>假设快子系统和慢子系统的时钟频率分别为</a:t>
            </a:r>
            <a:r>
              <a:rPr sz="1550" dirty="0">
                <a:latin typeface="Arial"/>
                <a:cs typeface="Arial"/>
              </a:rPr>
              <a:t>50</a:t>
            </a:r>
            <a:r>
              <a:rPr sz="1550" spc="500" dirty="0">
                <a:latin typeface="Arial"/>
                <a:cs typeface="Arial"/>
              </a:rPr>
              <a:t> </a:t>
            </a:r>
            <a:r>
              <a:rPr sz="1550" dirty="0">
                <a:latin typeface="Arial"/>
                <a:cs typeface="Arial"/>
              </a:rPr>
              <a:t>MHz</a:t>
            </a:r>
            <a:r>
              <a:rPr sz="1550" dirty="0">
                <a:latin typeface="微软雅黑"/>
                <a:cs typeface="微软雅黑"/>
              </a:rPr>
              <a:t>和</a:t>
            </a:r>
            <a:r>
              <a:rPr sz="1550" dirty="0">
                <a:latin typeface="Arial"/>
                <a:cs typeface="Arial"/>
              </a:rPr>
              <a:t>1</a:t>
            </a:r>
            <a:r>
              <a:rPr sz="1550" spc="500" dirty="0">
                <a:latin typeface="Arial"/>
                <a:cs typeface="Arial"/>
              </a:rPr>
              <a:t> </a:t>
            </a:r>
            <a:r>
              <a:rPr sz="1550" dirty="0">
                <a:latin typeface="Arial"/>
                <a:cs typeface="Arial"/>
              </a:rPr>
              <a:t>MHz</a:t>
            </a:r>
            <a:r>
              <a:rPr sz="1550" spc="-5" dirty="0">
                <a:latin typeface="微软雅黑"/>
                <a:cs typeface="微软雅黑"/>
              </a:rPr>
              <a:t>。我们可以生成一个周期性的使能信号，</a:t>
            </a:r>
            <a:r>
              <a:rPr sz="1550" dirty="0">
                <a:latin typeface="微软雅黑"/>
                <a:cs typeface="微软雅黑"/>
              </a:rPr>
              <a:t>每</a:t>
            </a:r>
            <a:r>
              <a:rPr sz="1550" dirty="0">
                <a:latin typeface="Arial"/>
                <a:cs typeface="Arial"/>
              </a:rPr>
              <a:t>50</a:t>
            </a:r>
            <a:r>
              <a:rPr sz="1550" dirty="0">
                <a:latin typeface="微软雅黑"/>
                <a:cs typeface="微软雅黑"/>
              </a:rPr>
              <a:t>个时钟周期使能一个时钟周期，而不是另外派生出一个</a:t>
            </a:r>
            <a:r>
              <a:rPr sz="1550" dirty="0">
                <a:latin typeface="Arial"/>
                <a:cs typeface="Arial"/>
              </a:rPr>
              <a:t>1 </a:t>
            </a:r>
            <a:r>
              <a:rPr sz="1550" dirty="0" err="1">
                <a:latin typeface="Arial"/>
                <a:cs typeface="Arial"/>
              </a:rPr>
              <a:t>MHz</a:t>
            </a:r>
            <a:r>
              <a:rPr sz="1550" spc="-5" dirty="0" err="1">
                <a:latin typeface="微软雅黑"/>
                <a:cs typeface="微软雅黑"/>
              </a:rPr>
              <a:t>的时钟信号来驱动慢子系统。慢子系统</a:t>
            </a:r>
            <a:r>
              <a:rPr lang="zh-CN" altLang="en-US" sz="1550" spc="-5" dirty="0">
                <a:latin typeface="微软雅黑"/>
                <a:cs typeface="微软雅黑"/>
              </a:rPr>
              <a:t>在</a:t>
            </a:r>
            <a:r>
              <a:rPr sz="1550" dirty="0">
                <a:latin typeface="微软雅黑"/>
                <a:cs typeface="微软雅黑"/>
              </a:rPr>
              <a:t>其余</a:t>
            </a:r>
            <a:r>
              <a:rPr sz="1550" dirty="0">
                <a:latin typeface="Arial"/>
                <a:cs typeface="Arial"/>
              </a:rPr>
              <a:t>49</a:t>
            </a:r>
            <a:r>
              <a:rPr sz="1550" spc="-5" dirty="0">
                <a:latin typeface="微软雅黑"/>
                <a:cs typeface="微软雅黑"/>
              </a:rPr>
              <a:t>个时钟周期中是保持原来状态的。</a:t>
            </a:r>
            <a:endParaRPr sz="1550" dirty="0">
              <a:latin typeface="微软雅黑"/>
              <a:cs typeface="微软雅黑"/>
            </a:endParaRPr>
          </a:p>
          <a:p>
            <a:pPr marL="12700">
              <a:lnSpc>
                <a:spcPct val="100000"/>
              </a:lnSpc>
              <a:spcBef>
                <a:spcPts val="975"/>
              </a:spcBef>
            </a:pPr>
            <a:r>
              <a:rPr sz="1550" spc="-5" dirty="0">
                <a:latin typeface="微软雅黑"/>
                <a:cs typeface="微软雅黑"/>
              </a:rPr>
              <a:t>这种方法同样可应用于消除门控时钟信号。</a:t>
            </a:r>
            <a:endParaRPr sz="1550" dirty="0">
              <a:latin typeface="微软雅黑"/>
              <a:cs typeface="微软雅黑"/>
            </a:endParaRPr>
          </a:p>
          <a:p>
            <a:pPr marL="50800">
              <a:lnSpc>
                <a:spcPct val="100000"/>
              </a:lnSpc>
              <a:spcBef>
                <a:spcPts val="2570"/>
              </a:spcBef>
            </a:pPr>
            <a:r>
              <a:rPr sz="1550" dirty="0">
                <a:latin typeface="微软雅黑"/>
                <a:cs typeface="微软雅黑"/>
              </a:rPr>
              <a:t>由于使能信号是同步的，该电路可以由一个常规的</a:t>
            </a:r>
            <a:r>
              <a:rPr sz="1550" dirty="0">
                <a:latin typeface="Arial"/>
                <a:cs typeface="Arial"/>
              </a:rPr>
              <a:t>D</a:t>
            </a:r>
            <a:r>
              <a:rPr sz="1550" spc="-5" dirty="0">
                <a:latin typeface="微软雅黑"/>
                <a:cs typeface="微软雅黑"/>
              </a:rPr>
              <a:t>触发器和简单下一状态逻辑电路构成。</a:t>
            </a:r>
            <a:endParaRPr sz="1550" dirty="0">
              <a:latin typeface="微软雅黑"/>
              <a:cs typeface="微软雅黑"/>
            </a:endParaRPr>
          </a:p>
        </p:txBody>
      </p:sp>
      <p:grpSp>
        <p:nvGrpSpPr>
          <p:cNvPr id="5" name="object 5"/>
          <p:cNvGrpSpPr/>
          <p:nvPr/>
        </p:nvGrpSpPr>
        <p:grpSpPr>
          <a:xfrm>
            <a:off x="4565662" y="4585589"/>
            <a:ext cx="1486535" cy="1059180"/>
            <a:chOff x="4565662" y="4585589"/>
            <a:chExt cx="1486535" cy="1059180"/>
          </a:xfrm>
        </p:grpSpPr>
        <p:sp>
          <p:nvSpPr>
            <p:cNvPr id="6" name="object 6"/>
            <p:cNvSpPr/>
            <p:nvPr/>
          </p:nvSpPr>
          <p:spPr>
            <a:xfrm>
              <a:off x="4572647" y="4592574"/>
              <a:ext cx="320040" cy="601980"/>
            </a:xfrm>
            <a:custGeom>
              <a:avLst/>
              <a:gdLst/>
              <a:ahLst/>
              <a:cxnLst/>
              <a:rect l="l" t="t" r="r" b="b"/>
              <a:pathLst>
                <a:path w="320039" h="601979">
                  <a:moveTo>
                    <a:pt x="320039" y="513588"/>
                  </a:moveTo>
                  <a:lnTo>
                    <a:pt x="320039" y="89153"/>
                  </a:lnTo>
                  <a:lnTo>
                    <a:pt x="0" y="0"/>
                  </a:lnTo>
                  <a:lnTo>
                    <a:pt x="0" y="601980"/>
                  </a:lnTo>
                  <a:lnTo>
                    <a:pt x="320039" y="513588"/>
                  </a:lnTo>
                  <a:close/>
                </a:path>
              </a:pathLst>
            </a:custGeom>
            <a:ln w="13715">
              <a:solidFill>
                <a:srgbClr val="000000"/>
              </a:solidFill>
            </a:ln>
          </p:spPr>
          <p:txBody>
            <a:bodyPr wrap="square" lIns="0" tIns="0" rIns="0" bIns="0" rtlCol="0"/>
            <a:lstStyle/>
            <a:p>
              <a:endParaRPr/>
            </a:p>
          </p:txBody>
        </p:sp>
        <p:sp>
          <p:nvSpPr>
            <p:cNvPr id="7" name="object 7"/>
            <p:cNvSpPr/>
            <p:nvPr/>
          </p:nvSpPr>
          <p:spPr>
            <a:xfrm>
              <a:off x="5460377" y="4751832"/>
              <a:ext cx="584835" cy="885825"/>
            </a:xfrm>
            <a:custGeom>
              <a:avLst/>
              <a:gdLst/>
              <a:ahLst/>
              <a:cxnLst/>
              <a:rect l="l" t="t" r="r" b="b"/>
              <a:pathLst>
                <a:path w="584835" h="885825">
                  <a:moveTo>
                    <a:pt x="0" y="0"/>
                  </a:moveTo>
                  <a:lnTo>
                    <a:pt x="0" y="885444"/>
                  </a:lnTo>
                  <a:lnTo>
                    <a:pt x="584454" y="885444"/>
                  </a:lnTo>
                  <a:lnTo>
                    <a:pt x="584454" y="0"/>
                  </a:lnTo>
                  <a:lnTo>
                    <a:pt x="0" y="0"/>
                  </a:lnTo>
                  <a:close/>
                </a:path>
              </a:pathLst>
            </a:custGeom>
            <a:ln w="13716">
              <a:solidFill>
                <a:srgbClr val="000000"/>
              </a:solidFill>
            </a:ln>
          </p:spPr>
          <p:txBody>
            <a:bodyPr wrap="square" lIns="0" tIns="0" rIns="0" bIns="0" rtlCol="0"/>
            <a:lstStyle/>
            <a:p>
              <a:endParaRPr/>
            </a:p>
          </p:txBody>
        </p:sp>
        <p:sp>
          <p:nvSpPr>
            <p:cNvPr id="8" name="object 8"/>
            <p:cNvSpPr/>
            <p:nvPr/>
          </p:nvSpPr>
          <p:spPr>
            <a:xfrm>
              <a:off x="5464949" y="5228844"/>
              <a:ext cx="50800" cy="53340"/>
            </a:xfrm>
            <a:custGeom>
              <a:avLst/>
              <a:gdLst/>
              <a:ahLst/>
              <a:cxnLst/>
              <a:rect l="l" t="t" r="r" b="b"/>
              <a:pathLst>
                <a:path w="50800" h="53339">
                  <a:moveTo>
                    <a:pt x="0" y="0"/>
                  </a:moveTo>
                  <a:lnTo>
                    <a:pt x="50292" y="53339"/>
                  </a:lnTo>
                </a:path>
              </a:pathLst>
            </a:custGeom>
            <a:ln w="13716">
              <a:solidFill>
                <a:srgbClr val="000000"/>
              </a:solidFill>
            </a:ln>
          </p:spPr>
          <p:txBody>
            <a:bodyPr wrap="square" lIns="0" tIns="0" rIns="0" bIns="0" rtlCol="0"/>
            <a:lstStyle/>
            <a:p>
              <a:endParaRPr/>
            </a:p>
          </p:txBody>
        </p:sp>
        <p:sp>
          <p:nvSpPr>
            <p:cNvPr id="9" name="object 9"/>
            <p:cNvSpPr/>
            <p:nvPr/>
          </p:nvSpPr>
          <p:spPr>
            <a:xfrm>
              <a:off x="5464949" y="5283708"/>
              <a:ext cx="50800" cy="62230"/>
            </a:xfrm>
            <a:custGeom>
              <a:avLst/>
              <a:gdLst/>
              <a:ahLst/>
              <a:cxnLst/>
              <a:rect l="l" t="t" r="r" b="b"/>
              <a:pathLst>
                <a:path w="50800" h="62229">
                  <a:moveTo>
                    <a:pt x="0" y="61722"/>
                  </a:moveTo>
                  <a:lnTo>
                    <a:pt x="50291" y="0"/>
                  </a:lnTo>
                </a:path>
              </a:pathLst>
            </a:custGeom>
            <a:ln w="13716">
              <a:solidFill>
                <a:srgbClr val="000000"/>
              </a:solidFill>
            </a:ln>
          </p:spPr>
          <p:txBody>
            <a:bodyPr wrap="square" lIns="0" tIns="0" rIns="0" bIns="0" rtlCol="0"/>
            <a:lstStyle/>
            <a:p>
              <a:endParaRPr/>
            </a:p>
          </p:txBody>
        </p:sp>
      </p:grpSp>
      <p:sp>
        <p:nvSpPr>
          <p:cNvPr id="10" name="object 10"/>
          <p:cNvSpPr txBox="1"/>
          <p:nvPr/>
        </p:nvSpPr>
        <p:spPr>
          <a:xfrm>
            <a:off x="5541908" y="4775955"/>
            <a:ext cx="96520" cy="205740"/>
          </a:xfrm>
          <a:prstGeom prst="rect">
            <a:avLst/>
          </a:prstGeom>
        </p:spPr>
        <p:txBody>
          <a:bodyPr vert="horz" wrap="square" lIns="0" tIns="16510" rIns="0" bIns="0" rtlCol="0">
            <a:spAutoFit/>
          </a:bodyPr>
          <a:lstStyle/>
          <a:p>
            <a:pPr>
              <a:lnSpc>
                <a:spcPct val="100000"/>
              </a:lnSpc>
              <a:spcBef>
                <a:spcPts val="130"/>
              </a:spcBef>
            </a:pPr>
            <a:r>
              <a:rPr sz="1150" b="1" spc="-50" dirty="0">
                <a:latin typeface="Times New Roman"/>
                <a:cs typeface="Times New Roman"/>
              </a:rPr>
              <a:t>d</a:t>
            </a:r>
            <a:endParaRPr sz="1150">
              <a:latin typeface="Times New Roman"/>
              <a:cs typeface="Times New Roman"/>
            </a:endParaRPr>
          </a:p>
        </p:txBody>
      </p:sp>
      <p:sp>
        <p:nvSpPr>
          <p:cNvPr id="11" name="object 11"/>
          <p:cNvSpPr txBox="1"/>
          <p:nvPr/>
        </p:nvSpPr>
        <p:spPr>
          <a:xfrm>
            <a:off x="5879476" y="4758435"/>
            <a:ext cx="96520" cy="205740"/>
          </a:xfrm>
          <a:prstGeom prst="rect">
            <a:avLst/>
          </a:prstGeom>
        </p:spPr>
        <p:txBody>
          <a:bodyPr vert="horz" wrap="square" lIns="0" tIns="16510" rIns="0" bIns="0" rtlCol="0">
            <a:spAutoFit/>
          </a:bodyPr>
          <a:lstStyle/>
          <a:p>
            <a:pPr>
              <a:lnSpc>
                <a:spcPct val="100000"/>
              </a:lnSpc>
              <a:spcBef>
                <a:spcPts val="130"/>
              </a:spcBef>
            </a:pPr>
            <a:r>
              <a:rPr sz="1150" b="1" spc="-50" dirty="0">
                <a:latin typeface="Times New Roman"/>
                <a:cs typeface="Times New Roman"/>
              </a:rPr>
              <a:t>q</a:t>
            </a:r>
            <a:endParaRPr sz="1150">
              <a:latin typeface="Times New Roman"/>
              <a:cs typeface="Times New Roman"/>
            </a:endParaRPr>
          </a:p>
        </p:txBody>
      </p:sp>
      <p:sp>
        <p:nvSpPr>
          <p:cNvPr id="12" name="object 12"/>
          <p:cNvSpPr txBox="1"/>
          <p:nvPr/>
        </p:nvSpPr>
        <p:spPr>
          <a:xfrm>
            <a:off x="5545715" y="5047985"/>
            <a:ext cx="367030" cy="591185"/>
          </a:xfrm>
          <a:prstGeom prst="rect">
            <a:avLst/>
          </a:prstGeom>
        </p:spPr>
        <p:txBody>
          <a:bodyPr vert="horz" wrap="square" lIns="0" tIns="12065" rIns="0" bIns="0" rtlCol="0">
            <a:spAutoFit/>
          </a:bodyPr>
          <a:lstStyle/>
          <a:p>
            <a:pPr marL="43815" marR="5080" indent="-44450">
              <a:lnSpc>
                <a:spcPct val="161300"/>
              </a:lnSpc>
              <a:spcBef>
                <a:spcPts val="95"/>
              </a:spcBef>
            </a:pPr>
            <a:r>
              <a:rPr sz="1150" b="1" spc="-25" dirty="0">
                <a:latin typeface="Times New Roman"/>
                <a:cs typeface="Times New Roman"/>
              </a:rPr>
              <a:t>clk </a:t>
            </a:r>
            <a:r>
              <a:rPr sz="1150" b="1" spc="-10" dirty="0">
                <a:latin typeface="Times New Roman"/>
                <a:cs typeface="Times New Roman"/>
              </a:rPr>
              <a:t>reset</a:t>
            </a:r>
            <a:endParaRPr sz="1150">
              <a:latin typeface="Times New Roman"/>
              <a:cs typeface="Times New Roman"/>
            </a:endParaRPr>
          </a:p>
        </p:txBody>
      </p:sp>
      <p:sp>
        <p:nvSpPr>
          <p:cNvPr id="13" name="object 13"/>
          <p:cNvSpPr/>
          <p:nvPr/>
        </p:nvSpPr>
        <p:spPr>
          <a:xfrm>
            <a:off x="4892687" y="4893564"/>
            <a:ext cx="567690" cy="0"/>
          </a:xfrm>
          <a:custGeom>
            <a:avLst/>
            <a:gdLst/>
            <a:ahLst/>
            <a:cxnLst/>
            <a:rect l="l" t="t" r="r" b="b"/>
            <a:pathLst>
              <a:path w="567689">
                <a:moveTo>
                  <a:pt x="0" y="0"/>
                </a:moveTo>
                <a:lnTo>
                  <a:pt x="567690" y="0"/>
                </a:lnTo>
              </a:path>
            </a:pathLst>
          </a:custGeom>
          <a:ln w="13716">
            <a:solidFill>
              <a:srgbClr val="000000"/>
            </a:solidFill>
          </a:ln>
        </p:spPr>
        <p:txBody>
          <a:bodyPr wrap="square" lIns="0" tIns="0" rIns="0" bIns="0" rtlCol="0"/>
          <a:lstStyle/>
          <a:p>
            <a:endParaRPr/>
          </a:p>
        </p:txBody>
      </p:sp>
      <p:sp>
        <p:nvSpPr>
          <p:cNvPr id="14" name="object 14"/>
          <p:cNvSpPr txBox="1"/>
          <p:nvPr/>
        </p:nvSpPr>
        <p:spPr>
          <a:xfrm>
            <a:off x="4580515" y="4584706"/>
            <a:ext cx="100330" cy="520700"/>
          </a:xfrm>
          <a:prstGeom prst="rect">
            <a:avLst/>
          </a:prstGeom>
        </p:spPr>
        <p:txBody>
          <a:bodyPr vert="horz" wrap="square" lIns="0" tIns="83820" rIns="0" bIns="0" rtlCol="0">
            <a:spAutoFit/>
          </a:bodyPr>
          <a:lstStyle/>
          <a:p>
            <a:pPr marL="12700">
              <a:lnSpc>
                <a:spcPct val="100000"/>
              </a:lnSpc>
              <a:spcBef>
                <a:spcPts val="660"/>
              </a:spcBef>
            </a:pPr>
            <a:r>
              <a:rPr sz="1150" b="1" spc="-50" dirty="0">
                <a:latin typeface="Times New Roman"/>
                <a:cs typeface="Times New Roman"/>
              </a:rPr>
              <a:t>1</a:t>
            </a:r>
            <a:endParaRPr sz="1150">
              <a:latin typeface="Times New Roman"/>
              <a:cs typeface="Times New Roman"/>
            </a:endParaRPr>
          </a:p>
          <a:p>
            <a:pPr marL="12700">
              <a:lnSpc>
                <a:spcPct val="100000"/>
              </a:lnSpc>
              <a:spcBef>
                <a:spcPts val="570"/>
              </a:spcBef>
            </a:pPr>
            <a:r>
              <a:rPr sz="1150" b="1" spc="-50" dirty="0">
                <a:latin typeface="Times New Roman"/>
                <a:cs typeface="Times New Roman"/>
              </a:rPr>
              <a:t>0</a:t>
            </a:r>
            <a:endParaRPr sz="1150">
              <a:latin typeface="Times New Roman"/>
              <a:cs typeface="Times New Roman"/>
            </a:endParaRPr>
          </a:p>
        </p:txBody>
      </p:sp>
      <p:grpSp>
        <p:nvGrpSpPr>
          <p:cNvPr id="15" name="object 15"/>
          <p:cNvGrpSpPr/>
          <p:nvPr/>
        </p:nvGrpSpPr>
        <p:grpSpPr>
          <a:xfrm>
            <a:off x="3998861" y="4479797"/>
            <a:ext cx="2827020" cy="1359535"/>
            <a:chOff x="3998861" y="4479797"/>
            <a:chExt cx="2827020" cy="1359535"/>
          </a:xfrm>
        </p:grpSpPr>
        <p:sp>
          <p:nvSpPr>
            <p:cNvPr id="16" name="object 16"/>
            <p:cNvSpPr/>
            <p:nvPr/>
          </p:nvSpPr>
          <p:spPr>
            <a:xfrm>
              <a:off x="4005719" y="4759451"/>
              <a:ext cx="567055" cy="0"/>
            </a:xfrm>
            <a:custGeom>
              <a:avLst/>
              <a:gdLst/>
              <a:ahLst/>
              <a:cxnLst/>
              <a:rect l="l" t="t" r="r" b="b"/>
              <a:pathLst>
                <a:path w="567054">
                  <a:moveTo>
                    <a:pt x="0" y="0"/>
                  </a:moveTo>
                  <a:lnTo>
                    <a:pt x="566928" y="0"/>
                  </a:lnTo>
                </a:path>
              </a:pathLst>
            </a:custGeom>
            <a:ln w="13716">
              <a:solidFill>
                <a:srgbClr val="000000"/>
              </a:solidFill>
            </a:ln>
          </p:spPr>
          <p:txBody>
            <a:bodyPr wrap="square" lIns="0" tIns="0" rIns="0" bIns="0" rtlCol="0"/>
            <a:lstStyle/>
            <a:p>
              <a:endParaRPr/>
            </a:p>
          </p:txBody>
        </p:sp>
        <p:sp>
          <p:nvSpPr>
            <p:cNvPr id="17" name="object 17"/>
            <p:cNvSpPr/>
            <p:nvPr/>
          </p:nvSpPr>
          <p:spPr>
            <a:xfrm>
              <a:off x="4005719" y="5150357"/>
              <a:ext cx="727075" cy="97790"/>
            </a:xfrm>
            <a:custGeom>
              <a:avLst/>
              <a:gdLst/>
              <a:ahLst/>
              <a:cxnLst/>
              <a:rect l="l" t="t" r="r" b="b"/>
              <a:pathLst>
                <a:path w="727075" h="97789">
                  <a:moveTo>
                    <a:pt x="0" y="97536"/>
                  </a:moveTo>
                  <a:lnTo>
                    <a:pt x="726948" y="97536"/>
                  </a:lnTo>
                  <a:lnTo>
                    <a:pt x="726948" y="0"/>
                  </a:lnTo>
                </a:path>
              </a:pathLst>
            </a:custGeom>
            <a:ln w="13716">
              <a:solidFill>
                <a:srgbClr val="000000"/>
              </a:solidFill>
            </a:ln>
          </p:spPr>
          <p:txBody>
            <a:bodyPr wrap="square" lIns="0" tIns="0" rIns="0" bIns="0" rtlCol="0"/>
            <a:lstStyle/>
            <a:p>
              <a:endParaRPr/>
            </a:p>
          </p:txBody>
        </p:sp>
        <p:sp>
          <p:nvSpPr>
            <p:cNvPr id="18" name="object 18"/>
            <p:cNvSpPr/>
            <p:nvPr/>
          </p:nvSpPr>
          <p:spPr>
            <a:xfrm>
              <a:off x="4289183" y="5017769"/>
              <a:ext cx="283845" cy="0"/>
            </a:xfrm>
            <a:custGeom>
              <a:avLst/>
              <a:gdLst/>
              <a:ahLst/>
              <a:cxnLst/>
              <a:rect l="l" t="t" r="r" b="b"/>
              <a:pathLst>
                <a:path w="283845">
                  <a:moveTo>
                    <a:pt x="0" y="0"/>
                  </a:moveTo>
                  <a:lnTo>
                    <a:pt x="283464" y="0"/>
                  </a:lnTo>
                </a:path>
              </a:pathLst>
            </a:custGeom>
            <a:ln w="13716">
              <a:solidFill>
                <a:srgbClr val="000000"/>
              </a:solidFill>
            </a:ln>
          </p:spPr>
          <p:txBody>
            <a:bodyPr wrap="square" lIns="0" tIns="0" rIns="0" bIns="0" rtlCol="0"/>
            <a:lstStyle/>
            <a:p>
              <a:endParaRPr/>
            </a:p>
          </p:txBody>
        </p:sp>
        <p:sp>
          <p:nvSpPr>
            <p:cNvPr id="19" name="object 19"/>
            <p:cNvSpPr/>
            <p:nvPr/>
          </p:nvSpPr>
          <p:spPr>
            <a:xfrm>
              <a:off x="6045593" y="4886705"/>
              <a:ext cx="780415" cy="0"/>
            </a:xfrm>
            <a:custGeom>
              <a:avLst/>
              <a:gdLst/>
              <a:ahLst/>
              <a:cxnLst/>
              <a:rect l="l" t="t" r="r" b="b"/>
              <a:pathLst>
                <a:path w="780415">
                  <a:moveTo>
                    <a:pt x="0" y="0"/>
                  </a:moveTo>
                  <a:lnTo>
                    <a:pt x="780288" y="0"/>
                  </a:lnTo>
                </a:path>
              </a:pathLst>
            </a:custGeom>
            <a:ln w="13716">
              <a:solidFill>
                <a:srgbClr val="000000"/>
              </a:solidFill>
            </a:ln>
          </p:spPr>
          <p:txBody>
            <a:bodyPr wrap="square" lIns="0" tIns="0" rIns="0" bIns="0" rtlCol="0"/>
            <a:lstStyle/>
            <a:p>
              <a:endParaRPr/>
            </a:p>
          </p:txBody>
        </p:sp>
        <p:sp>
          <p:nvSpPr>
            <p:cNvPr id="20" name="object 20"/>
            <p:cNvSpPr/>
            <p:nvPr/>
          </p:nvSpPr>
          <p:spPr>
            <a:xfrm>
              <a:off x="4289183" y="4486655"/>
              <a:ext cx="1986914" cy="531495"/>
            </a:xfrm>
            <a:custGeom>
              <a:avLst/>
              <a:gdLst/>
              <a:ahLst/>
              <a:cxnLst/>
              <a:rect l="l" t="t" r="r" b="b"/>
              <a:pathLst>
                <a:path w="1986914" h="531495">
                  <a:moveTo>
                    <a:pt x="0" y="531114"/>
                  </a:moveTo>
                  <a:lnTo>
                    <a:pt x="0" y="0"/>
                  </a:lnTo>
                  <a:lnTo>
                    <a:pt x="1986533" y="0"/>
                  </a:lnTo>
                  <a:lnTo>
                    <a:pt x="1986533" y="400050"/>
                  </a:lnTo>
                </a:path>
              </a:pathLst>
            </a:custGeom>
            <a:ln w="13716">
              <a:solidFill>
                <a:srgbClr val="000000"/>
              </a:solidFill>
            </a:ln>
          </p:spPr>
          <p:txBody>
            <a:bodyPr wrap="square" lIns="0" tIns="0" rIns="0" bIns="0" rtlCol="0"/>
            <a:lstStyle/>
            <a:p>
              <a:endParaRPr/>
            </a:p>
          </p:txBody>
        </p:sp>
        <p:sp>
          <p:nvSpPr>
            <p:cNvPr id="21" name="object 21"/>
            <p:cNvSpPr/>
            <p:nvPr/>
          </p:nvSpPr>
          <p:spPr>
            <a:xfrm>
              <a:off x="4005719" y="5637275"/>
              <a:ext cx="1746885" cy="195580"/>
            </a:xfrm>
            <a:custGeom>
              <a:avLst/>
              <a:gdLst/>
              <a:ahLst/>
              <a:cxnLst/>
              <a:rect l="l" t="t" r="r" b="b"/>
              <a:pathLst>
                <a:path w="1746885" h="195579">
                  <a:moveTo>
                    <a:pt x="1746504" y="0"/>
                  </a:moveTo>
                  <a:lnTo>
                    <a:pt x="1746504" y="195072"/>
                  </a:lnTo>
                  <a:lnTo>
                    <a:pt x="0" y="195072"/>
                  </a:lnTo>
                </a:path>
              </a:pathLst>
            </a:custGeom>
            <a:ln w="13716">
              <a:solidFill>
                <a:srgbClr val="000000"/>
              </a:solidFill>
            </a:ln>
          </p:spPr>
          <p:txBody>
            <a:bodyPr wrap="square" lIns="0" tIns="0" rIns="0" bIns="0" rtlCol="0"/>
            <a:lstStyle/>
            <a:p>
              <a:endParaRPr/>
            </a:p>
          </p:txBody>
        </p:sp>
        <p:sp>
          <p:nvSpPr>
            <p:cNvPr id="22" name="object 22"/>
            <p:cNvSpPr/>
            <p:nvPr/>
          </p:nvSpPr>
          <p:spPr>
            <a:xfrm>
              <a:off x="4005719" y="5297423"/>
              <a:ext cx="887094" cy="180975"/>
            </a:xfrm>
            <a:custGeom>
              <a:avLst/>
              <a:gdLst/>
              <a:ahLst/>
              <a:cxnLst/>
              <a:rect l="l" t="t" r="r" b="b"/>
              <a:pathLst>
                <a:path w="887095" h="180975">
                  <a:moveTo>
                    <a:pt x="886968" y="0"/>
                  </a:moveTo>
                  <a:lnTo>
                    <a:pt x="886968" y="180594"/>
                  </a:lnTo>
                  <a:lnTo>
                    <a:pt x="0" y="180594"/>
                  </a:lnTo>
                </a:path>
              </a:pathLst>
            </a:custGeom>
            <a:ln w="13715">
              <a:solidFill>
                <a:srgbClr val="000000"/>
              </a:solidFill>
            </a:ln>
          </p:spPr>
          <p:txBody>
            <a:bodyPr wrap="square" lIns="0" tIns="0" rIns="0" bIns="0" rtlCol="0"/>
            <a:lstStyle/>
            <a:p>
              <a:endParaRPr/>
            </a:p>
          </p:txBody>
        </p:sp>
        <p:sp>
          <p:nvSpPr>
            <p:cNvPr id="23" name="object 23"/>
            <p:cNvSpPr/>
            <p:nvPr/>
          </p:nvSpPr>
          <p:spPr>
            <a:xfrm>
              <a:off x="4892687" y="5294375"/>
              <a:ext cx="567690" cy="0"/>
            </a:xfrm>
            <a:custGeom>
              <a:avLst/>
              <a:gdLst/>
              <a:ahLst/>
              <a:cxnLst/>
              <a:rect l="l" t="t" r="r" b="b"/>
              <a:pathLst>
                <a:path w="567689">
                  <a:moveTo>
                    <a:pt x="0" y="0"/>
                  </a:moveTo>
                  <a:lnTo>
                    <a:pt x="567690" y="0"/>
                  </a:lnTo>
                </a:path>
              </a:pathLst>
            </a:custGeom>
            <a:ln w="13716">
              <a:solidFill>
                <a:srgbClr val="000000"/>
              </a:solidFill>
            </a:ln>
          </p:spPr>
          <p:txBody>
            <a:bodyPr wrap="square" lIns="0" tIns="0" rIns="0" bIns="0" rtlCol="0"/>
            <a:lstStyle/>
            <a:p>
              <a:endParaRPr/>
            </a:p>
          </p:txBody>
        </p:sp>
      </p:grpSp>
      <p:sp>
        <p:nvSpPr>
          <p:cNvPr id="24" name="object 24"/>
          <p:cNvSpPr txBox="1"/>
          <p:nvPr/>
        </p:nvSpPr>
        <p:spPr>
          <a:xfrm>
            <a:off x="3861949" y="4657841"/>
            <a:ext cx="109220" cy="205740"/>
          </a:xfrm>
          <a:prstGeom prst="rect">
            <a:avLst/>
          </a:prstGeom>
        </p:spPr>
        <p:txBody>
          <a:bodyPr vert="horz" wrap="square" lIns="0" tIns="16510" rIns="0" bIns="0" rtlCol="0">
            <a:spAutoFit/>
          </a:bodyPr>
          <a:lstStyle/>
          <a:p>
            <a:pPr marL="12700">
              <a:lnSpc>
                <a:spcPct val="100000"/>
              </a:lnSpc>
              <a:spcBef>
                <a:spcPts val="130"/>
              </a:spcBef>
            </a:pPr>
            <a:r>
              <a:rPr sz="1150" b="1" spc="-50" dirty="0">
                <a:latin typeface="Times New Roman"/>
                <a:cs typeface="Times New Roman"/>
              </a:rPr>
              <a:t>d</a:t>
            </a:r>
            <a:endParaRPr sz="1150">
              <a:latin typeface="Times New Roman"/>
              <a:cs typeface="Times New Roman"/>
            </a:endParaRPr>
          </a:p>
        </p:txBody>
      </p:sp>
      <p:sp>
        <p:nvSpPr>
          <p:cNvPr id="30" name="object 3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25" name="object 25"/>
          <p:cNvSpPr txBox="1"/>
          <p:nvPr/>
        </p:nvSpPr>
        <p:spPr>
          <a:xfrm>
            <a:off x="3749936" y="5046470"/>
            <a:ext cx="220345" cy="522605"/>
          </a:xfrm>
          <a:prstGeom prst="rect">
            <a:avLst/>
          </a:prstGeom>
        </p:spPr>
        <p:txBody>
          <a:bodyPr vert="horz" wrap="square" lIns="0" tIns="12065" rIns="0" bIns="0" rtlCol="0">
            <a:spAutoFit/>
          </a:bodyPr>
          <a:lstStyle/>
          <a:p>
            <a:pPr marL="12700" marR="5080" indent="43180">
              <a:lnSpc>
                <a:spcPct val="141700"/>
              </a:lnSpc>
              <a:spcBef>
                <a:spcPts val="95"/>
              </a:spcBef>
            </a:pPr>
            <a:r>
              <a:rPr sz="1150" b="1" spc="-25" dirty="0">
                <a:latin typeface="Times New Roman"/>
                <a:cs typeface="Times New Roman"/>
              </a:rPr>
              <a:t>en clk</a:t>
            </a:r>
            <a:endParaRPr sz="1150">
              <a:latin typeface="Times New Roman"/>
              <a:cs typeface="Times New Roman"/>
            </a:endParaRPr>
          </a:p>
        </p:txBody>
      </p:sp>
      <p:sp>
        <p:nvSpPr>
          <p:cNvPr id="26" name="object 26"/>
          <p:cNvSpPr txBox="1"/>
          <p:nvPr/>
        </p:nvSpPr>
        <p:spPr>
          <a:xfrm>
            <a:off x="4904371" y="4672319"/>
            <a:ext cx="442595" cy="205740"/>
          </a:xfrm>
          <a:prstGeom prst="rect">
            <a:avLst/>
          </a:prstGeom>
        </p:spPr>
        <p:txBody>
          <a:bodyPr vert="horz" wrap="square" lIns="0" tIns="16510" rIns="0" bIns="0" rtlCol="0">
            <a:spAutoFit/>
          </a:bodyPr>
          <a:lstStyle/>
          <a:p>
            <a:pPr marL="12700">
              <a:lnSpc>
                <a:spcPct val="100000"/>
              </a:lnSpc>
              <a:spcBef>
                <a:spcPts val="130"/>
              </a:spcBef>
            </a:pPr>
            <a:r>
              <a:rPr sz="1150" b="1" spc="-10" dirty="0">
                <a:latin typeface="Times New Roman"/>
                <a:cs typeface="Times New Roman"/>
              </a:rPr>
              <a:t>r_next</a:t>
            </a:r>
            <a:endParaRPr sz="1150">
              <a:latin typeface="Times New Roman"/>
              <a:cs typeface="Times New Roman"/>
            </a:endParaRPr>
          </a:p>
        </p:txBody>
      </p:sp>
      <p:sp>
        <p:nvSpPr>
          <p:cNvPr id="27" name="object 27"/>
          <p:cNvSpPr txBox="1"/>
          <p:nvPr/>
        </p:nvSpPr>
        <p:spPr>
          <a:xfrm>
            <a:off x="6167761" y="4867390"/>
            <a:ext cx="377190" cy="205740"/>
          </a:xfrm>
          <a:prstGeom prst="rect">
            <a:avLst/>
          </a:prstGeom>
        </p:spPr>
        <p:txBody>
          <a:bodyPr vert="horz" wrap="square" lIns="0" tIns="16510" rIns="0" bIns="0" rtlCol="0">
            <a:spAutoFit/>
          </a:bodyPr>
          <a:lstStyle/>
          <a:p>
            <a:pPr marL="12700">
              <a:lnSpc>
                <a:spcPct val="100000"/>
              </a:lnSpc>
              <a:spcBef>
                <a:spcPts val="130"/>
              </a:spcBef>
            </a:pPr>
            <a:r>
              <a:rPr sz="1150" b="1" spc="-10" dirty="0">
                <a:latin typeface="Times New Roman"/>
                <a:cs typeface="Times New Roman"/>
              </a:rPr>
              <a:t>r_reg</a:t>
            </a:r>
            <a:endParaRPr sz="1150">
              <a:latin typeface="Times New Roman"/>
              <a:cs typeface="Times New Roman"/>
            </a:endParaRPr>
          </a:p>
        </p:txBody>
      </p:sp>
      <p:sp>
        <p:nvSpPr>
          <p:cNvPr id="28" name="object 28"/>
          <p:cNvSpPr txBox="1"/>
          <p:nvPr/>
        </p:nvSpPr>
        <p:spPr>
          <a:xfrm>
            <a:off x="3638687" y="5711683"/>
            <a:ext cx="2740025" cy="545465"/>
          </a:xfrm>
          <a:prstGeom prst="rect">
            <a:avLst/>
          </a:prstGeom>
        </p:spPr>
        <p:txBody>
          <a:bodyPr vert="horz" wrap="square" lIns="0" tIns="16510" rIns="0" bIns="0" rtlCol="0">
            <a:spAutoFit/>
          </a:bodyPr>
          <a:lstStyle/>
          <a:p>
            <a:pPr marL="12700">
              <a:lnSpc>
                <a:spcPct val="100000"/>
              </a:lnSpc>
              <a:spcBef>
                <a:spcPts val="130"/>
              </a:spcBef>
            </a:pPr>
            <a:r>
              <a:rPr sz="1150" b="1" spc="-10" dirty="0">
                <a:latin typeface="Times New Roman"/>
                <a:cs typeface="Times New Roman"/>
              </a:rPr>
              <a:t>reset</a:t>
            </a:r>
            <a:endParaRPr sz="1150">
              <a:latin typeface="Times New Roman"/>
              <a:cs typeface="Times New Roman"/>
            </a:endParaRPr>
          </a:p>
          <a:p>
            <a:pPr marL="638175">
              <a:lnSpc>
                <a:spcPct val="100000"/>
              </a:lnSpc>
              <a:spcBef>
                <a:spcPts val="1235"/>
              </a:spcBef>
            </a:pPr>
            <a:r>
              <a:rPr sz="1200" dirty="0">
                <a:latin typeface="微软雅黑"/>
                <a:cs typeface="微软雅黑"/>
              </a:rPr>
              <a:t>图</a:t>
            </a:r>
            <a:r>
              <a:rPr sz="1200" dirty="0">
                <a:latin typeface="Arial"/>
                <a:cs typeface="Arial"/>
              </a:rPr>
              <a:t>4.7</a:t>
            </a:r>
            <a:r>
              <a:rPr sz="1200" spc="240" dirty="0">
                <a:latin typeface="Arial"/>
                <a:cs typeface="Arial"/>
              </a:rPr>
              <a:t> </a:t>
            </a:r>
            <a:r>
              <a:rPr sz="1200" dirty="0">
                <a:latin typeface="微软雅黑"/>
                <a:cs typeface="微软雅黑"/>
              </a:rPr>
              <a:t>同步使的</a:t>
            </a:r>
            <a:r>
              <a:rPr sz="1200" dirty="0">
                <a:latin typeface="Arial"/>
                <a:cs typeface="Arial"/>
              </a:rPr>
              <a:t>D</a:t>
            </a:r>
            <a:r>
              <a:rPr sz="1200" spc="-10" dirty="0">
                <a:latin typeface="微软雅黑"/>
                <a:cs typeface="微软雅黑"/>
              </a:rPr>
              <a:t>触发器逻辑图</a:t>
            </a:r>
            <a:endParaRPr sz="1200">
              <a:latin typeface="微软雅黑"/>
              <a:cs typeface="微软雅黑"/>
            </a:endParaRPr>
          </a:p>
        </p:txBody>
      </p:sp>
      <p:sp>
        <p:nvSpPr>
          <p:cNvPr id="29" name="object 29"/>
          <p:cNvSpPr txBox="1"/>
          <p:nvPr/>
        </p:nvSpPr>
        <p:spPr>
          <a:xfrm>
            <a:off x="6895471" y="4775954"/>
            <a:ext cx="109220" cy="205740"/>
          </a:xfrm>
          <a:prstGeom prst="rect">
            <a:avLst/>
          </a:prstGeom>
        </p:spPr>
        <p:txBody>
          <a:bodyPr vert="horz" wrap="square" lIns="0" tIns="16510" rIns="0" bIns="0" rtlCol="0">
            <a:spAutoFit/>
          </a:bodyPr>
          <a:lstStyle/>
          <a:p>
            <a:pPr marL="12700">
              <a:lnSpc>
                <a:spcPct val="100000"/>
              </a:lnSpc>
              <a:spcBef>
                <a:spcPts val="130"/>
              </a:spcBef>
            </a:pPr>
            <a:r>
              <a:rPr sz="1150" b="1" spc="-50" dirty="0">
                <a:latin typeface="Times New Roman"/>
                <a:cs typeface="Times New Roman"/>
              </a:rPr>
              <a:t>q</a:t>
            </a:r>
            <a:endParaRPr sz="115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9219" y="1853957"/>
            <a:ext cx="7998459" cy="4457065"/>
          </a:xfrm>
          <a:custGeom>
            <a:avLst/>
            <a:gdLst/>
            <a:ahLst/>
            <a:cxnLst/>
            <a:rect l="l" t="t" r="r" b="b"/>
            <a:pathLst>
              <a:path w="7998459" h="4457065">
                <a:moveTo>
                  <a:pt x="3818382" y="3810"/>
                </a:moveTo>
                <a:lnTo>
                  <a:pt x="0" y="3810"/>
                </a:lnTo>
                <a:lnTo>
                  <a:pt x="0" y="4456938"/>
                </a:lnTo>
                <a:lnTo>
                  <a:pt x="3818382" y="4456938"/>
                </a:lnTo>
                <a:lnTo>
                  <a:pt x="3818382" y="3810"/>
                </a:lnTo>
                <a:close/>
              </a:path>
              <a:path w="7998459" h="4457065">
                <a:moveTo>
                  <a:pt x="7997952" y="0"/>
                </a:moveTo>
                <a:lnTo>
                  <a:pt x="4366260" y="0"/>
                </a:lnTo>
                <a:lnTo>
                  <a:pt x="4366260" y="4453128"/>
                </a:lnTo>
                <a:lnTo>
                  <a:pt x="7997952" y="4453128"/>
                </a:lnTo>
                <a:lnTo>
                  <a:pt x="7997952" y="0"/>
                </a:lnTo>
                <a:close/>
              </a:path>
            </a:pathLst>
          </a:custGeom>
          <a:solidFill>
            <a:srgbClr val="F9FABA"/>
          </a:solidFill>
        </p:spPr>
        <p:txBody>
          <a:bodyPr wrap="square" lIns="0" tIns="0" rIns="0" bIns="0" rtlCol="0"/>
          <a:lstStyle/>
          <a:p>
            <a:endParaRPr/>
          </a:p>
        </p:txBody>
      </p:sp>
      <p:sp>
        <p:nvSpPr>
          <p:cNvPr id="3" name="object 3"/>
          <p:cNvSpPr txBox="1">
            <a:spLocks noGrp="1"/>
          </p:cNvSpPr>
          <p:nvPr>
            <p:ph type="title"/>
          </p:nvPr>
        </p:nvSpPr>
        <p:spPr>
          <a:xfrm>
            <a:off x="523627" y="1072387"/>
            <a:ext cx="616267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4.1.3</a:t>
            </a:r>
            <a:r>
              <a:rPr spc="25" dirty="0">
                <a:latin typeface="Arial"/>
                <a:cs typeface="Arial"/>
              </a:rPr>
              <a:t> </a:t>
            </a:r>
            <a:r>
              <a:rPr spc="-10" dirty="0"/>
              <a:t>含异步复位和同步使能的</a:t>
            </a:r>
            <a:r>
              <a:rPr dirty="0">
                <a:latin typeface="Arial"/>
                <a:cs typeface="Arial"/>
              </a:rPr>
              <a:t>D</a:t>
            </a:r>
            <a:r>
              <a:rPr spc="-25" dirty="0"/>
              <a:t>触发器</a:t>
            </a:r>
          </a:p>
        </p:txBody>
      </p:sp>
      <p:sp>
        <p:nvSpPr>
          <p:cNvPr id="4" name="object 4"/>
          <p:cNvSpPr txBox="1"/>
          <p:nvPr/>
        </p:nvSpPr>
        <p:spPr>
          <a:xfrm>
            <a:off x="3645541" y="6332473"/>
            <a:ext cx="3404235" cy="213360"/>
          </a:xfrm>
          <a:prstGeom prst="rect">
            <a:avLst/>
          </a:prstGeom>
        </p:spPr>
        <p:txBody>
          <a:bodyPr vert="horz" wrap="square" lIns="0" tIns="16510" rIns="0" bIns="0" rtlCol="0">
            <a:spAutoFit/>
          </a:bodyPr>
          <a:lstStyle/>
          <a:p>
            <a:pPr marL="12700">
              <a:lnSpc>
                <a:spcPct val="100000"/>
              </a:lnSpc>
              <a:spcBef>
                <a:spcPts val="130"/>
              </a:spcBef>
            </a:pPr>
            <a:r>
              <a:rPr sz="1200" spc="80" dirty="0">
                <a:latin typeface="微软雅黑"/>
                <a:cs typeface="微软雅黑"/>
              </a:rPr>
              <a:t>例 </a:t>
            </a:r>
            <a:r>
              <a:rPr sz="1200" dirty="0">
                <a:latin typeface="Arial"/>
                <a:cs typeface="Arial"/>
              </a:rPr>
              <a:t>4.4</a:t>
            </a:r>
            <a:r>
              <a:rPr sz="1200" spc="185" dirty="0">
                <a:latin typeface="Arial"/>
                <a:cs typeface="Arial"/>
              </a:rPr>
              <a:t> </a:t>
            </a:r>
            <a:r>
              <a:rPr sz="1200" dirty="0">
                <a:latin typeface="微软雅黑"/>
                <a:cs typeface="微软雅黑"/>
              </a:rPr>
              <a:t>两段段式含异步复位和同步使能的</a:t>
            </a:r>
            <a:r>
              <a:rPr sz="1200" dirty="0">
                <a:latin typeface="Arial"/>
                <a:cs typeface="Arial"/>
              </a:rPr>
              <a:t>D</a:t>
            </a:r>
            <a:r>
              <a:rPr sz="1200" spc="-20" dirty="0">
                <a:latin typeface="微软雅黑"/>
                <a:cs typeface="微软雅黑"/>
              </a:rPr>
              <a:t>触发器</a:t>
            </a:r>
            <a:endParaRPr sz="1200">
              <a:latin typeface="微软雅黑"/>
              <a:cs typeface="微软雅黑"/>
            </a:endParaRPr>
          </a:p>
        </p:txBody>
      </p:sp>
      <p:sp>
        <p:nvSpPr>
          <p:cNvPr id="5" name="object 5"/>
          <p:cNvSpPr txBox="1"/>
          <p:nvPr/>
        </p:nvSpPr>
        <p:spPr>
          <a:xfrm>
            <a:off x="1601603" y="1900682"/>
            <a:ext cx="2386330" cy="266065"/>
          </a:xfrm>
          <a:prstGeom prst="rect">
            <a:avLst/>
          </a:prstGeom>
        </p:spPr>
        <p:txBody>
          <a:bodyPr vert="horz" wrap="square" lIns="0" tIns="15875" rIns="0" bIns="0" rtlCol="0">
            <a:spAutoFit/>
          </a:bodyPr>
          <a:lstStyle/>
          <a:p>
            <a:pPr>
              <a:lnSpc>
                <a:spcPct val="100000"/>
              </a:lnSpc>
              <a:spcBef>
                <a:spcPts val="125"/>
              </a:spcBef>
            </a:pPr>
            <a:r>
              <a:rPr sz="1550" b="1" dirty="0">
                <a:latin typeface="Calibri"/>
                <a:cs typeface="Calibri"/>
              </a:rPr>
              <a:t>module</a:t>
            </a:r>
            <a:r>
              <a:rPr sz="1550" b="1" spc="15" dirty="0">
                <a:latin typeface="Calibri"/>
                <a:cs typeface="Calibri"/>
              </a:rPr>
              <a:t> </a:t>
            </a:r>
            <a:r>
              <a:rPr sz="1550" spc="-10" dirty="0">
                <a:latin typeface="宋体"/>
                <a:cs typeface="宋体"/>
              </a:rPr>
              <a:t>dff_reset_en_2seg</a:t>
            </a:r>
            <a:endParaRPr sz="1550">
              <a:latin typeface="宋体"/>
              <a:cs typeface="宋体"/>
            </a:endParaRPr>
          </a:p>
        </p:txBody>
      </p:sp>
      <p:sp>
        <p:nvSpPr>
          <p:cNvPr id="6" name="object 6"/>
          <p:cNvSpPr txBox="1"/>
          <p:nvPr/>
        </p:nvSpPr>
        <p:spPr>
          <a:xfrm>
            <a:off x="1831729" y="2189487"/>
            <a:ext cx="60960" cy="266065"/>
          </a:xfrm>
          <a:prstGeom prst="rect">
            <a:avLst/>
          </a:prstGeom>
        </p:spPr>
        <p:txBody>
          <a:bodyPr vert="horz" wrap="square" lIns="0" tIns="15875" rIns="0" bIns="0" rtlCol="0">
            <a:spAutoFit/>
          </a:bodyPr>
          <a:lstStyle/>
          <a:p>
            <a:pPr>
              <a:lnSpc>
                <a:spcPct val="100000"/>
              </a:lnSpc>
              <a:spcBef>
                <a:spcPts val="125"/>
              </a:spcBef>
            </a:pPr>
            <a:r>
              <a:rPr sz="1550" spc="-50" dirty="0">
                <a:latin typeface="Calibri"/>
                <a:cs typeface="Calibri"/>
              </a:rPr>
              <a:t>(</a:t>
            </a:r>
            <a:endParaRPr sz="1550">
              <a:latin typeface="Calibri"/>
              <a:cs typeface="Calibri"/>
            </a:endParaRPr>
          </a:p>
        </p:txBody>
      </p:sp>
      <p:sp>
        <p:nvSpPr>
          <p:cNvPr id="7" name="object 7"/>
          <p:cNvSpPr txBox="1"/>
          <p:nvPr/>
        </p:nvSpPr>
        <p:spPr>
          <a:xfrm>
            <a:off x="1968887" y="2477530"/>
            <a:ext cx="1637030" cy="266065"/>
          </a:xfrm>
          <a:prstGeom prst="rect">
            <a:avLst/>
          </a:prstGeom>
        </p:spPr>
        <p:txBody>
          <a:bodyPr vert="horz" wrap="square" lIns="0" tIns="15875" rIns="0" bIns="0" rtlCol="0">
            <a:spAutoFit/>
          </a:bodyPr>
          <a:lstStyle/>
          <a:p>
            <a:pPr>
              <a:lnSpc>
                <a:spcPct val="100000"/>
              </a:lnSpc>
              <a:spcBef>
                <a:spcPts val="125"/>
              </a:spcBef>
            </a:pPr>
            <a:r>
              <a:rPr sz="1550" b="1" dirty="0">
                <a:latin typeface="Calibri"/>
                <a:cs typeface="Calibri"/>
              </a:rPr>
              <a:t>input</a:t>
            </a:r>
            <a:r>
              <a:rPr sz="1550" b="1" spc="390" dirty="0">
                <a:latin typeface="Calibri"/>
                <a:cs typeface="Calibri"/>
              </a:rPr>
              <a:t> </a:t>
            </a:r>
            <a:r>
              <a:rPr sz="1550" spc="-10" dirty="0">
                <a:latin typeface="宋体"/>
                <a:cs typeface="宋体"/>
              </a:rPr>
              <a:t>clk，reset,</a:t>
            </a:r>
            <a:endParaRPr sz="1550">
              <a:latin typeface="宋体"/>
              <a:cs typeface="宋体"/>
            </a:endParaRPr>
          </a:p>
        </p:txBody>
      </p:sp>
      <p:sp>
        <p:nvSpPr>
          <p:cNvPr id="8" name="object 8"/>
          <p:cNvSpPr txBox="1"/>
          <p:nvPr/>
        </p:nvSpPr>
        <p:spPr>
          <a:xfrm>
            <a:off x="1819009" y="2718018"/>
            <a:ext cx="1503680" cy="1468755"/>
          </a:xfrm>
          <a:prstGeom prst="rect">
            <a:avLst/>
          </a:prstGeom>
        </p:spPr>
        <p:txBody>
          <a:bodyPr vert="horz" wrap="square" lIns="0" tIns="11430" rIns="0" bIns="0" rtlCol="0">
            <a:spAutoFit/>
          </a:bodyPr>
          <a:lstStyle/>
          <a:p>
            <a:pPr marL="149860" marR="231140">
              <a:lnSpc>
                <a:spcPct val="122300"/>
              </a:lnSpc>
              <a:spcBef>
                <a:spcPts val="90"/>
              </a:spcBef>
            </a:pPr>
            <a:r>
              <a:rPr sz="1550" b="1" dirty="0">
                <a:latin typeface="Calibri"/>
                <a:cs typeface="Calibri"/>
              </a:rPr>
              <a:t>input</a:t>
            </a:r>
            <a:r>
              <a:rPr sz="1550" b="1" spc="390" dirty="0">
                <a:latin typeface="Calibri"/>
                <a:cs typeface="Calibri"/>
              </a:rPr>
              <a:t> </a:t>
            </a:r>
            <a:r>
              <a:rPr sz="1550" spc="-25" dirty="0">
                <a:latin typeface="宋体"/>
                <a:cs typeface="宋体"/>
              </a:rPr>
              <a:t>en</a:t>
            </a:r>
            <a:r>
              <a:rPr sz="1550" spc="-25" dirty="0">
                <a:latin typeface="Calibri"/>
                <a:cs typeface="Calibri"/>
              </a:rPr>
              <a:t>, </a:t>
            </a:r>
            <a:r>
              <a:rPr sz="1550" b="1" dirty="0">
                <a:latin typeface="Calibri"/>
                <a:cs typeface="Calibri"/>
              </a:rPr>
              <a:t>input</a:t>
            </a:r>
            <a:r>
              <a:rPr sz="1550" b="1" spc="390" dirty="0">
                <a:latin typeface="Calibri"/>
                <a:cs typeface="Calibri"/>
              </a:rPr>
              <a:t> </a:t>
            </a:r>
            <a:r>
              <a:rPr sz="1550" spc="-25" dirty="0">
                <a:latin typeface="宋体"/>
                <a:cs typeface="宋体"/>
              </a:rPr>
              <a:t>d</a:t>
            </a:r>
            <a:r>
              <a:rPr sz="1550" spc="-25" dirty="0">
                <a:latin typeface="Calibri"/>
                <a:cs typeface="Calibri"/>
              </a:rPr>
              <a:t>, </a:t>
            </a:r>
            <a:r>
              <a:rPr sz="1550" b="1" dirty="0">
                <a:latin typeface="宋体"/>
                <a:cs typeface="宋体"/>
              </a:rPr>
              <a:t>o</a:t>
            </a:r>
            <a:r>
              <a:rPr sz="1550" b="1" dirty="0">
                <a:latin typeface="Calibri"/>
                <a:cs typeface="Calibri"/>
              </a:rPr>
              <a:t>utput</a:t>
            </a:r>
            <a:r>
              <a:rPr sz="1550" b="1" spc="395" dirty="0">
                <a:latin typeface="Calibri"/>
                <a:cs typeface="Calibri"/>
              </a:rPr>
              <a:t> </a:t>
            </a:r>
            <a:r>
              <a:rPr sz="1550" b="1" dirty="0">
                <a:latin typeface="Calibri"/>
                <a:cs typeface="Calibri"/>
              </a:rPr>
              <a:t>reg</a:t>
            </a:r>
            <a:r>
              <a:rPr sz="1550" b="1" spc="385" dirty="0">
                <a:latin typeface="Calibri"/>
                <a:cs typeface="Calibri"/>
              </a:rPr>
              <a:t> </a:t>
            </a:r>
            <a:r>
              <a:rPr sz="1550" spc="-50" dirty="0">
                <a:latin typeface="Calibri"/>
                <a:cs typeface="Calibri"/>
              </a:rPr>
              <a:t>q</a:t>
            </a:r>
            <a:endParaRPr sz="1550">
              <a:latin typeface="Calibri"/>
              <a:cs typeface="Calibri"/>
            </a:endParaRPr>
          </a:p>
          <a:p>
            <a:pPr marL="37465">
              <a:lnSpc>
                <a:spcPct val="100000"/>
              </a:lnSpc>
              <a:spcBef>
                <a:spcPts val="409"/>
              </a:spcBef>
            </a:pPr>
            <a:r>
              <a:rPr sz="1550" spc="-25" dirty="0">
                <a:latin typeface="Calibri"/>
                <a:cs typeface="Calibri"/>
              </a:rPr>
              <a:t>);</a:t>
            </a:r>
            <a:endParaRPr sz="1550">
              <a:latin typeface="Calibri"/>
              <a:cs typeface="Calibri"/>
            </a:endParaRPr>
          </a:p>
          <a:p>
            <a:pPr marL="12700">
              <a:lnSpc>
                <a:spcPct val="100000"/>
              </a:lnSpc>
              <a:spcBef>
                <a:spcPts val="415"/>
              </a:spcBef>
            </a:pPr>
            <a:r>
              <a:rPr sz="1550" b="1" dirty="0">
                <a:latin typeface="Calibri"/>
                <a:cs typeface="Calibri"/>
              </a:rPr>
              <a:t>reg</a:t>
            </a:r>
            <a:r>
              <a:rPr sz="1550" b="1" spc="5" dirty="0">
                <a:latin typeface="Calibri"/>
                <a:cs typeface="Calibri"/>
              </a:rPr>
              <a:t> </a:t>
            </a:r>
            <a:r>
              <a:rPr sz="1550" spc="-10" dirty="0">
                <a:latin typeface="Calibri"/>
                <a:cs typeface="Calibri"/>
              </a:rPr>
              <a:t>r_reg</a:t>
            </a:r>
            <a:r>
              <a:rPr sz="1200" spc="-10" dirty="0">
                <a:latin typeface="宋体"/>
                <a:cs typeface="宋体"/>
              </a:rPr>
              <a:t>，</a:t>
            </a:r>
            <a:r>
              <a:rPr sz="1550" spc="-10" dirty="0">
                <a:latin typeface="Calibri"/>
                <a:cs typeface="Calibri"/>
              </a:rPr>
              <a:t>r_next;</a:t>
            </a:r>
            <a:endParaRPr sz="1550">
              <a:latin typeface="Calibri"/>
              <a:cs typeface="Calibri"/>
            </a:endParaRPr>
          </a:p>
        </p:txBody>
      </p:sp>
      <p:sp>
        <p:nvSpPr>
          <p:cNvPr id="9" name="object 9"/>
          <p:cNvSpPr txBox="1"/>
          <p:nvPr/>
        </p:nvSpPr>
        <p:spPr>
          <a:xfrm>
            <a:off x="1819024" y="4209548"/>
            <a:ext cx="3561715"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Calibri"/>
                <a:cs typeface="Calibri"/>
              </a:rPr>
              <a:t>always</a:t>
            </a:r>
            <a:r>
              <a:rPr sz="1550" b="1" spc="35" dirty="0">
                <a:latin typeface="Calibri"/>
                <a:cs typeface="Calibri"/>
              </a:rPr>
              <a:t> </a:t>
            </a:r>
            <a:r>
              <a:rPr sz="1550" dirty="0">
                <a:latin typeface="Calibri"/>
                <a:cs typeface="Calibri"/>
              </a:rPr>
              <a:t>@(</a:t>
            </a:r>
            <a:r>
              <a:rPr sz="1550" b="1" dirty="0">
                <a:latin typeface="宋体"/>
                <a:cs typeface="宋体"/>
              </a:rPr>
              <a:t>posedge</a:t>
            </a:r>
            <a:r>
              <a:rPr sz="1550" b="1" spc="125" dirty="0">
                <a:latin typeface="宋体"/>
                <a:cs typeface="宋体"/>
              </a:rPr>
              <a:t> </a:t>
            </a:r>
            <a:r>
              <a:rPr sz="1550" dirty="0">
                <a:latin typeface="宋体"/>
                <a:cs typeface="宋体"/>
              </a:rPr>
              <a:t>clk，</a:t>
            </a:r>
            <a:r>
              <a:rPr sz="1550" b="1" dirty="0">
                <a:latin typeface="宋体"/>
                <a:cs typeface="宋体"/>
              </a:rPr>
              <a:t>posedge</a:t>
            </a:r>
            <a:r>
              <a:rPr sz="1550" b="1" spc="125" dirty="0">
                <a:latin typeface="宋体"/>
                <a:cs typeface="宋体"/>
              </a:rPr>
              <a:t> </a:t>
            </a:r>
            <a:r>
              <a:rPr sz="1550" spc="-10" dirty="0">
                <a:latin typeface="宋体"/>
                <a:cs typeface="宋体"/>
              </a:rPr>
              <a:t>reset</a:t>
            </a:r>
            <a:r>
              <a:rPr sz="1550" spc="-10" dirty="0">
                <a:latin typeface="Calibri"/>
                <a:cs typeface="Calibri"/>
              </a:rPr>
              <a:t>)</a:t>
            </a:r>
            <a:endParaRPr sz="1550">
              <a:latin typeface="Calibri"/>
              <a:cs typeface="Calibri"/>
            </a:endParaRPr>
          </a:p>
        </p:txBody>
      </p:sp>
      <p:sp>
        <p:nvSpPr>
          <p:cNvPr id="10" name="object 10"/>
          <p:cNvSpPr txBox="1"/>
          <p:nvPr/>
        </p:nvSpPr>
        <p:spPr>
          <a:xfrm>
            <a:off x="1910450" y="4450797"/>
            <a:ext cx="1809750" cy="1756410"/>
          </a:xfrm>
          <a:prstGeom prst="rect">
            <a:avLst/>
          </a:prstGeom>
        </p:spPr>
        <p:txBody>
          <a:bodyPr vert="horz" wrap="square" lIns="0" tIns="63500" rIns="0" bIns="0" rtlCol="0">
            <a:spAutoFit/>
          </a:bodyPr>
          <a:lstStyle/>
          <a:p>
            <a:pPr marL="12700">
              <a:lnSpc>
                <a:spcPct val="100000"/>
              </a:lnSpc>
              <a:spcBef>
                <a:spcPts val="500"/>
              </a:spcBef>
            </a:pPr>
            <a:r>
              <a:rPr sz="1550" b="1" spc="-10" dirty="0">
                <a:latin typeface="宋体"/>
                <a:cs typeface="宋体"/>
              </a:rPr>
              <a:t>begin</a:t>
            </a:r>
            <a:endParaRPr sz="1550">
              <a:latin typeface="宋体"/>
              <a:cs typeface="宋体"/>
            </a:endParaRPr>
          </a:p>
          <a:p>
            <a:pPr marL="288290">
              <a:lnSpc>
                <a:spcPct val="100000"/>
              </a:lnSpc>
              <a:spcBef>
                <a:spcPts val="409"/>
              </a:spcBef>
            </a:pPr>
            <a:r>
              <a:rPr sz="1550" b="1" dirty="0">
                <a:latin typeface="Calibri"/>
                <a:cs typeface="Calibri"/>
              </a:rPr>
              <a:t>if</a:t>
            </a:r>
            <a:r>
              <a:rPr sz="1550" b="1" spc="20" dirty="0">
                <a:latin typeface="Calibri"/>
                <a:cs typeface="Calibri"/>
              </a:rPr>
              <a:t> </a:t>
            </a:r>
            <a:r>
              <a:rPr sz="1550" spc="-10" dirty="0">
                <a:latin typeface="Calibri"/>
                <a:cs typeface="Calibri"/>
              </a:rPr>
              <a:t>(reset)</a:t>
            </a:r>
            <a:endParaRPr sz="1550">
              <a:latin typeface="Calibri"/>
              <a:cs typeface="Calibri"/>
            </a:endParaRPr>
          </a:p>
          <a:p>
            <a:pPr marL="530860">
              <a:lnSpc>
                <a:spcPct val="100000"/>
              </a:lnSpc>
              <a:spcBef>
                <a:spcPts val="414"/>
              </a:spcBef>
            </a:pPr>
            <a:r>
              <a:rPr sz="1550" dirty="0">
                <a:latin typeface="Calibri"/>
                <a:cs typeface="Calibri"/>
              </a:rPr>
              <a:t>r_reg</a:t>
            </a:r>
            <a:r>
              <a:rPr sz="1550" spc="25" dirty="0">
                <a:latin typeface="Calibri"/>
                <a:cs typeface="Calibri"/>
              </a:rPr>
              <a:t> </a:t>
            </a:r>
            <a:r>
              <a:rPr sz="1550" dirty="0">
                <a:latin typeface="Calibri"/>
                <a:cs typeface="Calibri"/>
              </a:rPr>
              <a:t>&lt;=</a:t>
            </a:r>
            <a:r>
              <a:rPr sz="1550" spc="30" dirty="0">
                <a:latin typeface="Calibri"/>
                <a:cs typeface="Calibri"/>
              </a:rPr>
              <a:t> </a:t>
            </a:r>
            <a:r>
              <a:rPr sz="1550" spc="-10" dirty="0">
                <a:latin typeface="Calibri"/>
                <a:cs typeface="Calibri"/>
              </a:rPr>
              <a:t>1’b0;</a:t>
            </a:r>
            <a:endParaRPr sz="1550">
              <a:latin typeface="Calibri"/>
              <a:cs typeface="Calibri"/>
            </a:endParaRPr>
          </a:p>
          <a:p>
            <a:pPr marL="288290">
              <a:lnSpc>
                <a:spcPct val="100000"/>
              </a:lnSpc>
              <a:spcBef>
                <a:spcPts val="409"/>
              </a:spcBef>
            </a:pPr>
            <a:r>
              <a:rPr sz="1550" b="1" spc="-20" dirty="0">
                <a:latin typeface="Calibri"/>
                <a:cs typeface="Calibri"/>
              </a:rPr>
              <a:t>else</a:t>
            </a:r>
            <a:endParaRPr sz="1550">
              <a:latin typeface="Calibri"/>
              <a:cs typeface="Calibri"/>
            </a:endParaRPr>
          </a:p>
          <a:p>
            <a:pPr marL="492759">
              <a:lnSpc>
                <a:spcPct val="100000"/>
              </a:lnSpc>
              <a:spcBef>
                <a:spcPts val="409"/>
              </a:spcBef>
            </a:pPr>
            <a:r>
              <a:rPr sz="1550" dirty="0">
                <a:latin typeface="Calibri"/>
                <a:cs typeface="Calibri"/>
              </a:rPr>
              <a:t>r_reg</a:t>
            </a:r>
            <a:r>
              <a:rPr sz="1550" spc="25" dirty="0">
                <a:latin typeface="Calibri"/>
                <a:cs typeface="Calibri"/>
              </a:rPr>
              <a:t> </a:t>
            </a:r>
            <a:r>
              <a:rPr sz="1550" dirty="0">
                <a:latin typeface="Calibri"/>
                <a:cs typeface="Calibri"/>
              </a:rPr>
              <a:t>&lt;=</a:t>
            </a:r>
            <a:r>
              <a:rPr sz="1550" spc="35" dirty="0">
                <a:latin typeface="Calibri"/>
                <a:cs typeface="Calibri"/>
              </a:rPr>
              <a:t> </a:t>
            </a:r>
            <a:r>
              <a:rPr sz="1550" spc="-10" dirty="0">
                <a:latin typeface="Calibri"/>
                <a:cs typeface="Calibri"/>
              </a:rPr>
              <a:t>r_next;</a:t>
            </a:r>
            <a:endParaRPr sz="1550">
              <a:latin typeface="Calibri"/>
              <a:cs typeface="Calibri"/>
            </a:endParaRPr>
          </a:p>
          <a:p>
            <a:pPr marL="12700">
              <a:lnSpc>
                <a:spcPct val="100000"/>
              </a:lnSpc>
              <a:spcBef>
                <a:spcPts val="415"/>
              </a:spcBef>
            </a:pPr>
            <a:r>
              <a:rPr sz="1550" b="1" spc="-25" dirty="0">
                <a:latin typeface="Calibri"/>
                <a:cs typeface="Calibri"/>
              </a:rPr>
              <a:t>end</a:t>
            </a:r>
            <a:endParaRPr sz="1550">
              <a:latin typeface="Calibri"/>
              <a:cs typeface="Calibri"/>
            </a:endParaRPr>
          </a:p>
        </p:txBody>
      </p:sp>
      <p:sp>
        <p:nvSpPr>
          <p:cNvPr id="11" name="object 11"/>
          <p:cNvSpPr txBox="1"/>
          <p:nvPr/>
        </p:nvSpPr>
        <p:spPr>
          <a:xfrm>
            <a:off x="6233287" y="1852413"/>
            <a:ext cx="1421130" cy="891540"/>
          </a:xfrm>
          <a:prstGeom prst="rect">
            <a:avLst/>
          </a:prstGeom>
        </p:spPr>
        <p:txBody>
          <a:bodyPr vert="horz" wrap="square" lIns="0" tIns="64135" rIns="0" bIns="0" rtlCol="0">
            <a:spAutoFit/>
          </a:bodyPr>
          <a:lstStyle/>
          <a:p>
            <a:pPr algn="ctr">
              <a:lnSpc>
                <a:spcPct val="100000"/>
              </a:lnSpc>
              <a:spcBef>
                <a:spcPts val="505"/>
              </a:spcBef>
            </a:pPr>
            <a:r>
              <a:rPr sz="1550" dirty="0">
                <a:solidFill>
                  <a:srgbClr val="31DDFF"/>
                </a:solidFill>
                <a:latin typeface="Calibri"/>
                <a:cs typeface="Calibri"/>
              </a:rPr>
              <a:t>//next-state</a:t>
            </a:r>
            <a:r>
              <a:rPr sz="1550" spc="-20" dirty="0">
                <a:solidFill>
                  <a:srgbClr val="31DDFF"/>
                </a:solidFill>
                <a:latin typeface="Calibri"/>
                <a:cs typeface="Calibri"/>
              </a:rPr>
              <a:t> </a:t>
            </a:r>
            <a:r>
              <a:rPr sz="1550" spc="-10" dirty="0">
                <a:solidFill>
                  <a:srgbClr val="31DDFF"/>
                </a:solidFill>
                <a:latin typeface="Calibri"/>
                <a:cs typeface="Calibri"/>
              </a:rPr>
              <a:t>logic</a:t>
            </a:r>
            <a:endParaRPr sz="1550">
              <a:latin typeface="Calibri"/>
              <a:cs typeface="Calibri"/>
            </a:endParaRPr>
          </a:p>
          <a:p>
            <a:pPr marR="41910" algn="ctr">
              <a:lnSpc>
                <a:spcPct val="100000"/>
              </a:lnSpc>
              <a:spcBef>
                <a:spcPts val="415"/>
              </a:spcBef>
            </a:pPr>
            <a:r>
              <a:rPr sz="1550" b="1" dirty="0">
                <a:latin typeface="Calibri"/>
                <a:cs typeface="Calibri"/>
              </a:rPr>
              <a:t>always</a:t>
            </a:r>
            <a:r>
              <a:rPr sz="1550" b="1" spc="10" dirty="0">
                <a:latin typeface="Calibri"/>
                <a:cs typeface="Calibri"/>
              </a:rPr>
              <a:t> </a:t>
            </a:r>
            <a:r>
              <a:rPr sz="1550" spc="-25" dirty="0">
                <a:latin typeface="Calibri"/>
                <a:cs typeface="Calibri"/>
              </a:rPr>
              <a:t>@*</a:t>
            </a:r>
            <a:endParaRPr sz="1550">
              <a:latin typeface="Calibri"/>
              <a:cs typeface="Calibri"/>
            </a:endParaRPr>
          </a:p>
          <a:p>
            <a:pPr marL="75565" algn="ctr">
              <a:lnSpc>
                <a:spcPct val="100000"/>
              </a:lnSpc>
              <a:spcBef>
                <a:spcPts val="409"/>
              </a:spcBef>
            </a:pPr>
            <a:r>
              <a:rPr sz="1550" b="1" spc="-10" dirty="0">
                <a:latin typeface="Calibri"/>
                <a:cs typeface="Calibri"/>
              </a:rPr>
              <a:t>begin</a:t>
            </a:r>
            <a:endParaRPr sz="1550">
              <a:latin typeface="Calibri"/>
              <a:cs typeface="Calibri"/>
            </a:endParaRPr>
          </a:p>
        </p:txBody>
      </p:sp>
      <p:sp>
        <p:nvSpPr>
          <p:cNvPr id="12" name="object 12"/>
          <p:cNvSpPr txBox="1"/>
          <p:nvPr/>
        </p:nvSpPr>
        <p:spPr>
          <a:xfrm>
            <a:off x="7126337" y="2718067"/>
            <a:ext cx="1506855" cy="1180465"/>
          </a:xfrm>
          <a:prstGeom prst="rect">
            <a:avLst/>
          </a:prstGeom>
        </p:spPr>
        <p:txBody>
          <a:bodyPr vert="horz" wrap="square" lIns="0" tIns="64135" rIns="0" bIns="0" rtlCol="0">
            <a:spAutoFit/>
          </a:bodyPr>
          <a:lstStyle/>
          <a:p>
            <a:pPr marL="59055">
              <a:lnSpc>
                <a:spcPct val="100000"/>
              </a:lnSpc>
              <a:spcBef>
                <a:spcPts val="505"/>
              </a:spcBef>
            </a:pPr>
            <a:r>
              <a:rPr sz="1550" b="1" dirty="0">
                <a:latin typeface="Calibri"/>
                <a:cs typeface="Calibri"/>
              </a:rPr>
              <a:t>if</a:t>
            </a:r>
            <a:r>
              <a:rPr sz="1550" b="1" spc="20" dirty="0">
                <a:latin typeface="Calibri"/>
                <a:cs typeface="Calibri"/>
              </a:rPr>
              <a:t> </a:t>
            </a:r>
            <a:r>
              <a:rPr sz="1550" spc="-20" dirty="0">
                <a:latin typeface="Calibri"/>
                <a:cs typeface="Calibri"/>
              </a:rPr>
              <a:t>(en)</a:t>
            </a:r>
            <a:endParaRPr sz="1550">
              <a:latin typeface="Calibri"/>
              <a:cs typeface="Calibri"/>
            </a:endParaRPr>
          </a:p>
          <a:p>
            <a:pPr marL="334010">
              <a:lnSpc>
                <a:spcPct val="100000"/>
              </a:lnSpc>
              <a:spcBef>
                <a:spcPts val="415"/>
              </a:spcBef>
            </a:pPr>
            <a:r>
              <a:rPr sz="1550" dirty="0">
                <a:latin typeface="Calibri"/>
                <a:cs typeface="Calibri"/>
              </a:rPr>
              <a:t>r_next</a:t>
            </a:r>
            <a:r>
              <a:rPr sz="1550" spc="15" dirty="0">
                <a:latin typeface="Calibri"/>
                <a:cs typeface="Calibri"/>
              </a:rPr>
              <a:t> </a:t>
            </a:r>
            <a:r>
              <a:rPr sz="1550" dirty="0">
                <a:latin typeface="Calibri"/>
                <a:cs typeface="Calibri"/>
              </a:rPr>
              <a:t>=</a:t>
            </a:r>
            <a:r>
              <a:rPr sz="1550" spc="25" dirty="0">
                <a:latin typeface="Calibri"/>
                <a:cs typeface="Calibri"/>
              </a:rPr>
              <a:t> </a:t>
            </a:r>
            <a:r>
              <a:rPr sz="1550" spc="-25" dirty="0">
                <a:latin typeface="Calibri"/>
                <a:cs typeface="Calibri"/>
              </a:rPr>
              <a:t>d;</a:t>
            </a:r>
            <a:endParaRPr sz="1550">
              <a:latin typeface="Calibri"/>
              <a:cs typeface="Calibri"/>
            </a:endParaRPr>
          </a:p>
          <a:p>
            <a:pPr marL="12700">
              <a:lnSpc>
                <a:spcPct val="100000"/>
              </a:lnSpc>
              <a:spcBef>
                <a:spcPts val="415"/>
              </a:spcBef>
            </a:pPr>
            <a:r>
              <a:rPr sz="1550" b="1" spc="-20" dirty="0">
                <a:latin typeface="Calibri"/>
                <a:cs typeface="Calibri"/>
              </a:rPr>
              <a:t>else</a:t>
            </a:r>
            <a:endParaRPr sz="1550">
              <a:latin typeface="Calibri"/>
              <a:cs typeface="Calibri"/>
            </a:endParaRPr>
          </a:p>
          <a:p>
            <a:pPr marL="288290">
              <a:lnSpc>
                <a:spcPct val="100000"/>
              </a:lnSpc>
              <a:spcBef>
                <a:spcPts val="409"/>
              </a:spcBef>
            </a:pPr>
            <a:r>
              <a:rPr sz="1550" dirty="0">
                <a:latin typeface="Calibri"/>
                <a:cs typeface="Calibri"/>
              </a:rPr>
              <a:t>r_next</a:t>
            </a:r>
            <a:r>
              <a:rPr sz="1550" spc="15" dirty="0">
                <a:latin typeface="Calibri"/>
                <a:cs typeface="Calibri"/>
              </a:rPr>
              <a:t> </a:t>
            </a:r>
            <a:r>
              <a:rPr sz="1550" dirty="0">
                <a:latin typeface="Calibri"/>
                <a:cs typeface="Calibri"/>
              </a:rPr>
              <a:t>=</a:t>
            </a:r>
            <a:r>
              <a:rPr sz="1550" spc="25" dirty="0">
                <a:latin typeface="Calibri"/>
                <a:cs typeface="Calibri"/>
              </a:rPr>
              <a:t> </a:t>
            </a:r>
            <a:r>
              <a:rPr sz="1550" spc="-10" dirty="0">
                <a:latin typeface="Calibri"/>
                <a:cs typeface="Calibri"/>
              </a:rPr>
              <a:t>r_reg;</a:t>
            </a:r>
            <a:endParaRPr sz="1550">
              <a:latin typeface="Calibri"/>
              <a:cs typeface="Calibri"/>
            </a:endParaRPr>
          </a:p>
        </p:txBody>
      </p:sp>
      <p:sp>
        <p:nvSpPr>
          <p:cNvPr id="13" name="object 13"/>
          <p:cNvSpPr txBox="1"/>
          <p:nvPr/>
        </p:nvSpPr>
        <p:spPr>
          <a:xfrm>
            <a:off x="6141060" y="3872526"/>
            <a:ext cx="1452880" cy="1468755"/>
          </a:xfrm>
          <a:prstGeom prst="rect">
            <a:avLst/>
          </a:prstGeom>
        </p:spPr>
        <p:txBody>
          <a:bodyPr vert="horz" wrap="square" lIns="0" tIns="64135" rIns="0" bIns="0" rtlCol="0">
            <a:spAutoFit/>
          </a:bodyPr>
          <a:lstStyle/>
          <a:p>
            <a:pPr marL="83185" algn="ctr">
              <a:lnSpc>
                <a:spcPct val="100000"/>
              </a:lnSpc>
              <a:spcBef>
                <a:spcPts val="505"/>
              </a:spcBef>
            </a:pPr>
            <a:r>
              <a:rPr sz="1550" b="1" spc="-25" dirty="0">
                <a:latin typeface="Calibri"/>
                <a:cs typeface="Calibri"/>
              </a:rPr>
              <a:t>end</a:t>
            </a:r>
            <a:endParaRPr sz="1550">
              <a:latin typeface="Calibri"/>
              <a:cs typeface="Calibri"/>
            </a:endParaRPr>
          </a:p>
          <a:p>
            <a:pPr marR="287655" algn="ctr">
              <a:lnSpc>
                <a:spcPct val="100000"/>
              </a:lnSpc>
              <a:spcBef>
                <a:spcPts val="415"/>
              </a:spcBef>
            </a:pPr>
            <a:r>
              <a:rPr sz="1550" dirty="0">
                <a:solidFill>
                  <a:srgbClr val="31DDFF"/>
                </a:solidFill>
                <a:latin typeface="Calibri"/>
                <a:cs typeface="Calibri"/>
              </a:rPr>
              <a:t>//output</a:t>
            </a:r>
            <a:r>
              <a:rPr sz="1550" spc="20" dirty="0">
                <a:solidFill>
                  <a:srgbClr val="31DDFF"/>
                </a:solidFill>
                <a:latin typeface="Calibri"/>
                <a:cs typeface="Calibri"/>
              </a:rPr>
              <a:t> </a:t>
            </a:r>
            <a:r>
              <a:rPr sz="1550" spc="-10" dirty="0">
                <a:solidFill>
                  <a:srgbClr val="31DDFF"/>
                </a:solidFill>
                <a:latin typeface="Calibri"/>
                <a:cs typeface="Calibri"/>
              </a:rPr>
              <a:t>logic</a:t>
            </a:r>
            <a:endParaRPr sz="1550">
              <a:latin typeface="Calibri"/>
              <a:cs typeface="Calibri"/>
            </a:endParaRPr>
          </a:p>
          <a:p>
            <a:pPr marL="194310" algn="ctr">
              <a:lnSpc>
                <a:spcPct val="100000"/>
              </a:lnSpc>
              <a:spcBef>
                <a:spcPts val="415"/>
              </a:spcBef>
            </a:pPr>
            <a:r>
              <a:rPr sz="1550" b="1" dirty="0">
                <a:latin typeface="Calibri"/>
                <a:cs typeface="Calibri"/>
              </a:rPr>
              <a:t>always</a:t>
            </a:r>
            <a:r>
              <a:rPr sz="1550" b="1" spc="10" dirty="0">
                <a:latin typeface="Calibri"/>
                <a:cs typeface="Calibri"/>
              </a:rPr>
              <a:t> </a:t>
            </a:r>
            <a:r>
              <a:rPr sz="1550" spc="-25" dirty="0">
                <a:latin typeface="Calibri"/>
                <a:cs typeface="Calibri"/>
              </a:rPr>
              <a:t>@*</a:t>
            </a:r>
            <a:endParaRPr sz="1550">
              <a:latin typeface="Calibri"/>
              <a:cs typeface="Calibri"/>
            </a:endParaRPr>
          </a:p>
          <a:p>
            <a:pPr marL="642620" algn="ctr">
              <a:lnSpc>
                <a:spcPct val="100000"/>
              </a:lnSpc>
              <a:spcBef>
                <a:spcPts val="409"/>
              </a:spcBef>
            </a:pPr>
            <a:r>
              <a:rPr sz="1550" dirty="0">
                <a:latin typeface="Calibri"/>
                <a:cs typeface="Calibri"/>
              </a:rPr>
              <a:t>q</a:t>
            </a:r>
            <a:r>
              <a:rPr sz="1550" spc="25" dirty="0">
                <a:latin typeface="Calibri"/>
                <a:cs typeface="Calibri"/>
              </a:rPr>
              <a:t> </a:t>
            </a:r>
            <a:r>
              <a:rPr sz="1550" dirty="0">
                <a:latin typeface="Calibri"/>
                <a:cs typeface="Calibri"/>
              </a:rPr>
              <a:t>=</a:t>
            </a:r>
            <a:r>
              <a:rPr sz="1550" spc="25" dirty="0">
                <a:latin typeface="Calibri"/>
                <a:cs typeface="Calibri"/>
              </a:rPr>
              <a:t> </a:t>
            </a:r>
            <a:r>
              <a:rPr sz="1550" spc="-10" dirty="0">
                <a:latin typeface="Calibri"/>
                <a:cs typeface="Calibri"/>
              </a:rPr>
              <a:t>r_reg;</a:t>
            </a:r>
            <a:endParaRPr sz="1550">
              <a:latin typeface="Calibri"/>
              <a:cs typeface="Calibri"/>
            </a:endParaRPr>
          </a:p>
          <a:p>
            <a:pPr marR="468630" algn="ctr">
              <a:lnSpc>
                <a:spcPct val="100000"/>
              </a:lnSpc>
              <a:spcBef>
                <a:spcPts val="409"/>
              </a:spcBef>
            </a:pPr>
            <a:r>
              <a:rPr sz="1550" b="1" spc="-10" dirty="0">
                <a:latin typeface="Calibri"/>
                <a:cs typeface="Calibri"/>
              </a:rPr>
              <a:t>endmodule</a:t>
            </a:r>
            <a:endParaRPr sz="1550">
              <a:latin typeface="Calibri"/>
              <a:cs typeface="Calibri"/>
            </a:endParaRPr>
          </a:p>
        </p:txBody>
      </p:sp>
      <p:grpSp>
        <p:nvGrpSpPr>
          <p:cNvPr id="14" name="object 14"/>
          <p:cNvGrpSpPr/>
          <p:nvPr/>
        </p:nvGrpSpPr>
        <p:grpSpPr>
          <a:xfrm>
            <a:off x="3469271" y="2878835"/>
            <a:ext cx="3102610" cy="1291590"/>
            <a:chOff x="3469271" y="2878835"/>
            <a:chExt cx="3102610" cy="1291590"/>
          </a:xfrm>
        </p:grpSpPr>
        <p:sp>
          <p:nvSpPr>
            <p:cNvPr id="15" name="object 15"/>
            <p:cNvSpPr/>
            <p:nvPr/>
          </p:nvSpPr>
          <p:spPr>
            <a:xfrm>
              <a:off x="3480701" y="2890265"/>
              <a:ext cx="3079750" cy="1268095"/>
            </a:xfrm>
            <a:custGeom>
              <a:avLst/>
              <a:gdLst/>
              <a:ahLst/>
              <a:cxnLst/>
              <a:rect l="l" t="t" r="r" b="b"/>
              <a:pathLst>
                <a:path w="3079750" h="1268095">
                  <a:moveTo>
                    <a:pt x="3079242" y="1038605"/>
                  </a:moveTo>
                  <a:lnTo>
                    <a:pt x="3079242" y="0"/>
                  </a:lnTo>
                  <a:lnTo>
                    <a:pt x="0" y="0"/>
                  </a:lnTo>
                  <a:lnTo>
                    <a:pt x="0" y="1038606"/>
                  </a:lnTo>
                  <a:lnTo>
                    <a:pt x="512826" y="1038606"/>
                  </a:lnTo>
                  <a:lnTo>
                    <a:pt x="897636" y="1267968"/>
                  </a:lnTo>
                  <a:lnTo>
                    <a:pt x="1283208" y="1038606"/>
                  </a:lnTo>
                  <a:lnTo>
                    <a:pt x="3079242" y="1038605"/>
                  </a:lnTo>
                  <a:close/>
                </a:path>
              </a:pathLst>
            </a:custGeom>
            <a:solidFill>
              <a:srgbClr val="75E7FF"/>
            </a:solidFill>
          </p:spPr>
          <p:txBody>
            <a:bodyPr wrap="square" lIns="0" tIns="0" rIns="0" bIns="0" rtlCol="0"/>
            <a:lstStyle/>
            <a:p>
              <a:endParaRPr/>
            </a:p>
          </p:txBody>
        </p:sp>
        <p:sp>
          <p:nvSpPr>
            <p:cNvPr id="16" name="object 16"/>
            <p:cNvSpPr/>
            <p:nvPr/>
          </p:nvSpPr>
          <p:spPr>
            <a:xfrm>
              <a:off x="3469271" y="2878835"/>
              <a:ext cx="3102610" cy="1291590"/>
            </a:xfrm>
            <a:custGeom>
              <a:avLst/>
              <a:gdLst/>
              <a:ahLst/>
              <a:cxnLst/>
              <a:rect l="l" t="t" r="r" b="b"/>
              <a:pathLst>
                <a:path w="3102609" h="1291589">
                  <a:moveTo>
                    <a:pt x="3102102" y="1056132"/>
                  </a:moveTo>
                  <a:lnTo>
                    <a:pt x="3102102" y="5334"/>
                  </a:lnTo>
                  <a:lnTo>
                    <a:pt x="3096768" y="0"/>
                  </a:lnTo>
                  <a:lnTo>
                    <a:pt x="5333" y="0"/>
                  </a:lnTo>
                  <a:lnTo>
                    <a:pt x="0" y="5334"/>
                  </a:lnTo>
                  <a:lnTo>
                    <a:pt x="0" y="1056132"/>
                  </a:lnTo>
                  <a:lnTo>
                    <a:pt x="5334" y="1060704"/>
                  </a:lnTo>
                  <a:lnTo>
                    <a:pt x="11430" y="1060704"/>
                  </a:lnTo>
                  <a:lnTo>
                    <a:pt x="11430" y="22098"/>
                  </a:lnTo>
                  <a:lnTo>
                    <a:pt x="22097" y="11430"/>
                  </a:lnTo>
                  <a:lnTo>
                    <a:pt x="22097" y="22098"/>
                  </a:lnTo>
                  <a:lnTo>
                    <a:pt x="3079241" y="22098"/>
                  </a:lnTo>
                  <a:lnTo>
                    <a:pt x="3079241" y="11429"/>
                  </a:lnTo>
                  <a:lnTo>
                    <a:pt x="3090672" y="22098"/>
                  </a:lnTo>
                  <a:lnTo>
                    <a:pt x="3090672" y="1060704"/>
                  </a:lnTo>
                  <a:lnTo>
                    <a:pt x="3096768" y="1060704"/>
                  </a:lnTo>
                  <a:lnTo>
                    <a:pt x="3102102" y="1056132"/>
                  </a:lnTo>
                  <a:close/>
                </a:path>
                <a:path w="3102609" h="1291589">
                  <a:moveTo>
                    <a:pt x="22097" y="22098"/>
                  </a:moveTo>
                  <a:lnTo>
                    <a:pt x="22097" y="11430"/>
                  </a:lnTo>
                  <a:lnTo>
                    <a:pt x="11430" y="22098"/>
                  </a:lnTo>
                  <a:lnTo>
                    <a:pt x="22097" y="22098"/>
                  </a:lnTo>
                  <a:close/>
                </a:path>
                <a:path w="3102609" h="1291589">
                  <a:moveTo>
                    <a:pt x="22097" y="1038606"/>
                  </a:moveTo>
                  <a:lnTo>
                    <a:pt x="22097" y="22098"/>
                  </a:lnTo>
                  <a:lnTo>
                    <a:pt x="11430" y="22098"/>
                  </a:lnTo>
                  <a:lnTo>
                    <a:pt x="11430" y="1038606"/>
                  </a:lnTo>
                  <a:lnTo>
                    <a:pt x="22097" y="1038606"/>
                  </a:lnTo>
                  <a:close/>
                </a:path>
                <a:path w="3102609" h="1291589">
                  <a:moveTo>
                    <a:pt x="909447" y="1266836"/>
                  </a:moveTo>
                  <a:lnTo>
                    <a:pt x="530352" y="1040130"/>
                  </a:lnTo>
                  <a:lnTo>
                    <a:pt x="528828" y="1039368"/>
                  </a:lnTo>
                  <a:lnTo>
                    <a:pt x="526542" y="1038606"/>
                  </a:lnTo>
                  <a:lnTo>
                    <a:pt x="11430" y="1038606"/>
                  </a:lnTo>
                  <a:lnTo>
                    <a:pt x="22097" y="1050036"/>
                  </a:lnTo>
                  <a:lnTo>
                    <a:pt x="22097" y="1060704"/>
                  </a:lnTo>
                  <a:lnTo>
                    <a:pt x="518922" y="1060704"/>
                  </a:lnTo>
                  <a:lnTo>
                    <a:pt x="518922" y="1059180"/>
                  </a:lnTo>
                  <a:lnTo>
                    <a:pt x="524256" y="1060704"/>
                  </a:lnTo>
                  <a:lnTo>
                    <a:pt x="524256" y="1062369"/>
                  </a:lnTo>
                  <a:lnTo>
                    <a:pt x="903732" y="1289311"/>
                  </a:lnTo>
                  <a:lnTo>
                    <a:pt x="903732" y="1270254"/>
                  </a:lnTo>
                  <a:lnTo>
                    <a:pt x="909447" y="1266836"/>
                  </a:lnTo>
                  <a:close/>
                </a:path>
                <a:path w="3102609" h="1291589">
                  <a:moveTo>
                    <a:pt x="22097" y="1060704"/>
                  </a:moveTo>
                  <a:lnTo>
                    <a:pt x="22097" y="1050036"/>
                  </a:lnTo>
                  <a:lnTo>
                    <a:pt x="11430" y="1038606"/>
                  </a:lnTo>
                  <a:lnTo>
                    <a:pt x="11430" y="1060704"/>
                  </a:lnTo>
                  <a:lnTo>
                    <a:pt x="22097" y="1060704"/>
                  </a:lnTo>
                  <a:close/>
                </a:path>
                <a:path w="3102609" h="1291589">
                  <a:moveTo>
                    <a:pt x="524256" y="1060704"/>
                  </a:moveTo>
                  <a:lnTo>
                    <a:pt x="518922" y="1059180"/>
                  </a:lnTo>
                  <a:lnTo>
                    <a:pt x="521470" y="1060704"/>
                  </a:lnTo>
                  <a:lnTo>
                    <a:pt x="524256" y="1060704"/>
                  </a:lnTo>
                  <a:close/>
                </a:path>
                <a:path w="3102609" h="1291589">
                  <a:moveTo>
                    <a:pt x="521470" y="1060704"/>
                  </a:moveTo>
                  <a:lnTo>
                    <a:pt x="518922" y="1059180"/>
                  </a:lnTo>
                  <a:lnTo>
                    <a:pt x="518922" y="1060704"/>
                  </a:lnTo>
                  <a:lnTo>
                    <a:pt x="521470" y="1060704"/>
                  </a:lnTo>
                  <a:close/>
                </a:path>
                <a:path w="3102609" h="1291589">
                  <a:moveTo>
                    <a:pt x="524256" y="1062369"/>
                  </a:moveTo>
                  <a:lnTo>
                    <a:pt x="524256" y="1060704"/>
                  </a:lnTo>
                  <a:lnTo>
                    <a:pt x="521470" y="1060704"/>
                  </a:lnTo>
                  <a:lnTo>
                    <a:pt x="524256" y="1062369"/>
                  </a:lnTo>
                  <a:close/>
                </a:path>
                <a:path w="3102609" h="1291589">
                  <a:moveTo>
                    <a:pt x="915162" y="1270254"/>
                  </a:moveTo>
                  <a:lnTo>
                    <a:pt x="909447" y="1266836"/>
                  </a:lnTo>
                  <a:lnTo>
                    <a:pt x="903732" y="1270254"/>
                  </a:lnTo>
                  <a:lnTo>
                    <a:pt x="915162" y="1270254"/>
                  </a:lnTo>
                  <a:close/>
                </a:path>
                <a:path w="3102609" h="1291589">
                  <a:moveTo>
                    <a:pt x="915162" y="1289311"/>
                  </a:moveTo>
                  <a:lnTo>
                    <a:pt x="915162" y="1270254"/>
                  </a:lnTo>
                  <a:lnTo>
                    <a:pt x="903732" y="1270254"/>
                  </a:lnTo>
                  <a:lnTo>
                    <a:pt x="903732" y="1289311"/>
                  </a:lnTo>
                  <a:lnTo>
                    <a:pt x="907541" y="1291590"/>
                  </a:lnTo>
                  <a:lnTo>
                    <a:pt x="911352" y="1291590"/>
                  </a:lnTo>
                  <a:lnTo>
                    <a:pt x="915162" y="1289311"/>
                  </a:lnTo>
                  <a:close/>
                </a:path>
                <a:path w="3102609" h="1291589">
                  <a:moveTo>
                    <a:pt x="3090672" y="1038606"/>
                  </a:moveTo>
                  <a:lnTo>
                    <a:pt x="1292352" y="1038606"/>
                  </a:lnTo>
                  <a:lnTo>
                    <a:pt x="1290066" y="1039368"/>
                  </a:lnTo>
                  <a:lnTo>
                    <a:pt x="1288542" y="1040130"/>
                  </a:lnTo>
                  <a:lnTo>
                    <a:pt x="909447" y="1266836"/>
                  </a:lnTo>
                  <a:lnTo>
                    <a:pt x="915162" y="1270254"/>
                  </a:lnTo>
                  <a:lnTo>
                    <a:pt x="915162" y="1289311"/>
                  </a:lnTo>
                  <a:lnTo>
                    <a:pt x="1294638" y="1062369"/>
                  </a:lnTo>
                  <a:lnTo>
                    <a:pt x="1294638" y="1060704"/>
                  </a:lnTo>
                  <a:lnTo>
                    <a:pt x="1299972" y="1059180"/>
                  </a:lnTo>
                  <a:lnTo>
                    <a:pt x="1299971" y="1060704"/>
                  </a:lnTo>
                  <a:lnTo>
                    <a:pt x="3079241" y="1060704"/>
                  </a:lnTo>
                  <a:lnTo>
                    <a:pt x="3079241" y="1050036"/>
                  </a:lnTo>
                  <a:lnTo>
                    <a:pt x="3090672" y="1038606"/>
                  </a:lnTo>
                  <a:close/>
                </a:path>
                <a:path w="3102609" h="1291589">
                  <a:moveTo>
                    <a:pt x="1299972" y="1059180"/>
                  </a:moveTo>
                  <a:lnTo>
                    <a:pt x="1294638" y="1060704"/>
                  </a:lnTo>
                  <a:lnTo>
                    <a:pt x="1297423" y="1060704"/>
                  </a:lnTo>
                  <a:lnTo>
                    <a:pt x="1299972" y="1059180"/>
                  </a:lnTo>
                  <a:close/>
                </a:path>
                <a:path w="3102609" h="1291589">
                  <a:moveTo>
                    <a:pt x="1297423" y="1060704"/>
                  </a:moveTo>
                  <a:lnTo>
                    <a:pt x="1294638" y="1060704"/>
                  </a:lnTo>
                  <a:lnTo>
                    <a:pt x="1294638" y="1062369"/>
                  </a:lnTo>
                  <a:lnTo>
                    <a:pt x="1297423" y="1060704"/>
                  </a:lnTo>
                  <a:close/>
                </a:path>
                <a:path w="3102609" h="1291589">
                  <a:moveTo>
                    <a:pt x="1299971" y="1060704"/>
                  </a:moveTo>
                  <a:lnTo>
                    <a:pt x="1299972" y="1059180"/>
                  </a:lnTo>
                  <a:lnTo>
                    <a:pt x="1297423" y="1060704"/>
                  </a:lnTo>
                  <a:lnTo>
                    <a:pt x="1299971" y="1060704"/>
                  </a:lnTo>
                  <a:close/>
                </a:path>
                <a:path w="3102609" h="1291589">
                  <a:moveTo>
                    <a:pt x="3090672" y="22098"/>
                  </a:moveTo>
                  <a:lnTo>
                    <a:pt x="3079241" y="11429"/>
                  </a:lnTo>
                  <a:lnTo>
                    <a:pt x="3079241" y="22098"/>
                  </a:lnTo>
                  <a:lnTo>
                    <a:pt x="3090672" y="22098"/>
                  </a:lnTo>
                  <a:close/>
                </a:path>
                <a:path w="3102609" h="1291589">
                  <a:moveTo>
                    <a:pt x="3090672" y="1038606"/>
                  </a:moveTo>
                  <a:lnTo>
                    <a:pt x="3090672" y="22098"/>
                  </a:lnTo>
                  <a:lnTo>
                    <a:pt x="3079241" y="22098"/>
                  </a:lnTo>
                  <a:lnTo>
                    <a:pt x="3079241" y="1038606"/>
                  </a:lnTo>
                  <a:lnTo>
                    <a:pt x="3090672" y="1038606"/>
                  </a:lnTo>
                  <a:close/>
                </a:path>
                <a:path w="3102609" h="1291589">
                  <a:moveTo>
                    <a:pt x="3090672" y="1060704"/>
                  </a:moveTo>
                  <a:lnTo>
                    <a:pt x="3090672" y="1038606"/>
                  </a:lnTo>
                  <a:lnTo>
                    <a:pt x="3079241" y="1050036"/>
                  </a:lnTo>
                  <a:lnTo>
                    <a:pt x="3079241" y="1060704"/>
                  </a:lnTo>
                  <a:lnTo>
                    <a:pt x="3090672" y="1060704"/>
                  </a:lnTo>
                  <a:close/>
                </a:path>
              </a:pathLst>
            </a:custGeom>
            <a:solidFill>
              <a:srgbClr val="006479"/>
            </a:solidFill>
          </p:spPr>
          <p:txBody>
            <a:bodyPr wrap="square" lIns="0" tIns="0" rIns="0" bIns="0" rtlCol="0"/>
            <a:lstStyle/>
            <a:p>
              <a:endParaRPr/>
            </a:p>
          </p:txBody>
        </p:sp>
      </p:grpSp>
      <p:sp>
        <p:nvSpPr>
          <p:cNvPr id="17" name="object 17"/>
          <p:cNvSpPr txBox="1"/>
          <p:nvPr/>
        </p:nvSpPr>
        <p:spPr>
          <a:xfrm>
            <a:off x="3548005" y="2907284"/>
            <a:ext cx="2962275" cy="266065"/>
          </a:xfrm>
          <a:prstGeom prst="rect">
            <a:avLst/>
          </a:prstGeom>
        </p:spPr>
        <p:txBody>
          <a:bodyPr vert="horz" wrap="square" lIns="0" tIns="15875" rIns="0" bIns="0" rtlCol="0">
            <a:spAutoFit/>
          </a:bodyPr>
          <a:lstStyle/>
          <a:p>
            <a:pPr marL="12700">
              <a:lnSpc>
                <a:spcPct val="100000"/>
              </a:lnSpc>
              <a:spcBef>
                <a:spcPts val="125"/>
              </a:spcBef>
            </a:pPr>
            <a:r>
              <a:rPr sz="1550" b="1" spc="155" dirty="0">
                <a:solidFill>
                  <a:srgbClr val="C00000"/>
                </a:solidFill>
                <a:latin typeface="微软雅黑"/>
                <a:cs typeface="微软雅黑"/>
              </a:rPr>
              <a:t>为了清晰起见,代码使用了后缀</a:t>
            </a:r>
            <a:endParaRPr sz="1550">
              <a:latin typeface="微软雅黑"/>
              <a:cs typeface="微软雅黑"/>
            </a:endParaRPr>
          </a:p>
        </p:txBody>
      </p:sp>
      <p:sp>
        <p:nvSpPr>
          <p:cNvPr id="21" name="object 21"/>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8" name="object 18"/>
          <p:cNvSpPr txBox="1"/>
          <p:nvPr/>
        </p:nvSpPr>
        <p:spPr>
          <a:xfrm>
            <a:off x="3548005" y="3148071"/>
            <a:ext cx="2957830" cy="266065"/>
          </a:xfrm>
          <a:prstGeom prst="rect">
            <a:avLst/>
          </a:prstGeom>
        </p:spPr>
        <p:txBody>
          <a:bodyPr vert="horz" wrap="square" lIns="0" tIns="15875" rIns="0" bIns="0" rtlCol="0">
            <a:spAutoFit/>
          </a:bodyPr>
          <a:lstStyle/>
          <a:p>
            <a:pPr marL="12700">
              <a:lnSpc>
                <a:spcPct val="100000"/>
              </a:lnSpc>
              <a:spcBef>
                <a:spcPts val="125"/>
              </a:spcBef>
            </a:pPr>
            <a:r>
              <a:rPr sz="1550" b="1" dirty="0">
                <a:solidFill>
                  <a:srgbClr val="C00000"/>
                </a:solidFill>
                <a:latin typeface="微软雅黑"/>
                <a:cs typeface="微软雅黑"/>
              </a:rPr>
              <a:t>_next</a:t>
            </a:r>
            <a:r>
              <a:rPr sz="1550" b="1" spc="150" dirty="0">
                <a:solidFill>
                  <a:srgbClr val="C00000"/>
                </a:solidFill>
                <a:latin typeface="微软雅黑"/>
                <a:cs typeface="微软雅黑"/>
              </a:rPr>
              <a:t>和</a:t>
            </a:r>
            <a:r>
              <a:rPr sz="1550" b="1" dirty="0">
                <a:solidFill>
                  <a:srgbClr val="C00000"/>
                </a:solidFill>
                <a:latin typeface="微软雅黑"/>
                <a:cs typeface="微软雅黑"/>
              </a:rPr>
              <a:t>_reg</a:t>
            </a:r>
            <a:r>
              <a:rPr sz="1550" b="1" spc="125" dirty="0">
                <a:solidFill>
                  <a:srgbClr val="C00000"/>
                </a:solidFill>
                <a:latin typeface="微软雅黑"/>
                <a:cs typeface="微软雅黑"/>
              </a:rPr>
              <a:t>强调下一个输入值</a:t>
            </a:r>
            <a:endParaRPr sz="1550">
              <a:latin typeface="微软雅黑"/>
              <a:cs typeface="微软雅黑"/>
            </a:endParaRPr>
          </a:p>
        </p:txBody>
      </p:sp>
      <p:sp>
        <p:nvSpPr>
          <p:cNvPr id="19" name="object 19"/>
          <p:cNvSpPr txBox="1"/>
          <p:nvPr/>
        </p:nvSpPr>
        <p:spPr>
          <a:xfrm>
            <a:off x="3548005" y="3388098"/>
            <a:ext cx="2954020" cy="266065"/>
          </a:xfrm>
          <a:prstGeom prst="rect">
            <a:avLst/>
          </a:prstGeom>
        </p:spPr>
        <p:txBody>
          <a:bodyPr vert="horz" wrap="square" lIns="0" tIns="15875" rIns="0" bIns="0" rtlCol="0">
            <a:spAutoFit/>
          </a:bodyPr>
          <a:lstStyle/>
          <a:p>
            <a:pPr marL="12700">
              <a:lnSpc>
                <a:spcPct val="100000"/>
              </a:lnSpc>
              <a:spcBef>
                <a:spcPts val="125"/>
              </a:spcBef>
            </a:pPr>
            <a:r>
              <a:rPr sz="1550" b="1" spc="105" dirty="0">
                <a:solidFill>
                  <a:srgbClr val="C00000"/>
                </a:solidFill>
                <a:latin typeface="微软雅黑"/>
                <a:cs typeface="微软雅黑"/>
              </a:rPr>
              <a:t>和触发器的输出。它们分别与</a:t>
            </a:r>
            <a:r>
              <a:rPr sz="1550" b="1" spc="50" dirty="0">
                <a:solidFill>
                  <a:srgbClr val="C00000"/>
                </a:solidFill>
                <a:latin typeface="微软雅黑"/>
                <a:cs typeface="微软雅黑"/>
              </a:rPr>
              <a:t>D</a:t>
            </a:r>
            <a:endParaRPr sz="1550">
              <a:latin typeface="微软雅黑"/>
              <a:cs typeface="微软雅黑"/>
            </a:endParaRPr>
          </a:p>
        </p:txBody>
      </p:sp>
      <p:sp>
        <p:nvSpPr>
          <p:cNvPr id="20" name="object 20"/>
          <p:cNvSpPr txBox="1"/>
          <p:nvPr/>
        </p:nvSpPr>
        <p:spPr>
          <a:xfrm>
            <a:off x="3548005" y="3628885"/>
            <a:ext cx="2296160" cy="266065"/>
          </a:xfrm>
          <a:prstGeom prst="rect">
            <a:avLst/>
          </a:prstGeom>
        </p:spPr>
        <p:txBody>
          <a:bodyPr vert="horz" wrap="square" lIns="0" tIns="15875" rIns="0" bIns="0" rtlCol="0">
            <a:spAutoFit/>
          </a:bodyPr>
          <a:lstStyle/>
          <a:p>
            <a:pPr marL="12700">
              <a:lnSpc>
                <a:spcPct val="100000"/>
              </a:lnSpc>
              <a:spcBef>
                <a:spcPts val="125"/>
              </a:spcBef>
            </a:pPr>
            <a:r>
              <a:rPr sz="1550" b="1" dirty="0">
                <a:solidFill>
                  <a:srgbClr val="C00000"/>
                </a:solidFill>
                <a:latin typeface="微软雅黑"/>
                <a:cs typeface="微软雅黑"/>
              </a:rPr>
              <a:t>触发器的d和q</a:t>
            </a:r>
            <a:r>
              <a:rPr sz="1550" b="1" spc="-10" dirty="0">
                <a:solidFill>
                  <a:srgbClr val="C00000"/>
                </a:solidFill>
                <a:latin typeface="微软雅黑"/>
                <a:cs typeface="微软雅黑"/>
              </a:rPr>
              <a:t>信号连接。</a:t>
            </a:r>
            <a:endParaRPr sz="1550">
              <a:latin typeface="微软雅黑"/>
              <a:cs typeface="微软雅黑"/>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69811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4.1.4</a:t>
            </a:r>
            <a:r>
              <a:rPr spc="-45" dirty="0">
                <a:latin typeface="Arial"/>
                <a:cs typeface="Arial"/>
              </a:rPr>
              <a:t> </a:t>
            </a:r>
            <a:r>
              <a:rPr spc="-10" dirty="0"/>
              <a:t>基本锁存器</a:t>
            </a:r>
          </a:p>
        </p:txBody>
      </p:sp>
      <p:sp>
        <p:nvSpPr>
          <p:cNvPr id="3" name="object 3"/>
          <p:cNvSpPr txBox="1"/>
          <p:nvPr/>
        </p:nvSpPr>
        <p:spPr>
          <a:xfrm>
            <a:off x="477888" y="1976120"/>
            <a:ext cx="9772650" cy="1055545"/>
          </a:xfrm>
          <a:prstGeom prst="rect">
            <a:avLst/>
          </a:prstGeom>
        </p:spPr>
        <p:txBody>
          <a:bodyPr vert="horz" wrap="square" lIns="0" tIns="15875" rIns="0" bIns="0" rtlCol="0">
            <a:spAutoFit/>
          </a:bodyPr>
          <a:lstStyle/>
          <a:p>
            <a:pPr marL="12700">
              <a:lnSpc>
                <a:spcPct val="100000"/>
              </a:lnSpc>
              <a:spcBef>
                <a:spcPts val="125"/>
              </a:spcBef>
            </a:pPr>
            <a:r>
              <a:rPr sz="1550" dirty="0">
                <a:latin typeface="微软雅黑"/>
                <a:cs typeface="微软雅黑"/>
              </a:rPr>
              <a:t>基本锁存器电路模块如图</a:t>
            </a:r>
            <a:r>
              <a:rPr sz="1550" dirty="0">
                <a:latin typeface="Arial"/>
                <a:cs typeface="Arial"/>
              </a:rPr>
              <a:t>4.8</a:t>
            </a:r>
            <a:r>
              <a:rPr sz="1550" spc="-5" dirty="0">
                <a:latin typeface="微软雅黑"/>
                <a:cs typeface="微软雅黑"/>
              </a:rPr>
              <a:t>所示，这是一个电平触发型锁存器。</a:t>
            </a:r>
            <a:endParaRPr sz="1550" dirty="0">
              <a:latin typeface="微软雅黑"/>
              <a:cs typeface="微软雅黑"/>
            </a:endParaRPr>
          </a:p>
          <a:p>
            <a:pPr marL="12700" marR="5080">
              <a:lnSpc>
                <a:spcPct val="152600"/>
              </a:lnSpc>
              <a:spcBef>
                <a:spcPts val="890"/>
              </a:spcBef>
            </a:pPr>
            <a:r>
              <a:rPr sz="1550" spc="45" dirty="0">
                <a:latin typeface="微软雅黑"/>
                <a:cs typeface="微软雅黑"/>
              </a:rPr>
              <a:t>它的工作时序如图</a:t>
            </a:r>
            <a:r>
              <a:rPr sz="1550" spc="15" dirty="0">
                <a:latin typeface="Arial"/>
                <a:cs typeface="Arial"/>
              </a:rPr>
              <a:t>4.9</a:t>
            </a:r>
            <a:r>
              <a:rPr sz="1550" spc="45" dirty="0">
                <a:latin typeface="微软雅黑"/>
                <a:cs typeface="微软雅黑"/>
              </a:rPr>
              <a:t>所示，从波形显示可以看出，当时钟</a:t>
            </a:r>
            <a:r>
              <a:rPr sz="1550" spc="15" dirty="0">
                <a:latin typeface="Arial"/>
                <a:cs typeface="Arial"/>
              </a:rPr>
              <a:t>clk</a:t>
            </a:r>
            <a:r>
              <a:rPr sz="1550" spc="45" dirty="0">
                <a:latin typeface="微软雅黑"/>
                <a:cs typeface="微软雅黑"/>
              </a:rPr>
              <a:t>为高电平的时，其输出</a:t>
            </a:r>
            <a:r>
              <a:rPr sz="1550" spc="30" dirty="0">
                <a:latin typeface="Arial"/>
                <a:cs typeface="Arial"/>
              </a:rPr>
              <a:t>q</a:t>
            </a:r>
            <a:r>
              <a:rPr sz="1550" spc="45" dirty="0">
                <a:latin typeface="微软雅黑"/>
                <a:cs typeface="微软雅黑"/>
              </a:rPr>
              <a:t>的值才会随输入</a:t>
            </a:r>
            <a:r>
              <a:rPr sz="1550" spc="30" dirty="0">
                <a:latin typeface="Arial"/>
                <a:cs typeface="Arial"/>
              </a:rPr>
              <a:t>d</a:t>
            </a:r>
            <a:r>
              <a:rPr sz="1550" spc="45" dirty="0">
                <a:latin typeface="微软雅黑"/>
                <a:cs typeface="微软雅黑"/>
              </a:rPr>
              <a:t>的数据</a:t>
            </a:r>
            <a:r>
              <a:rPr sz="1550" spc="15" dirty="0">
                <a:latin typeface="微软雅黑"/>
                <a:cs typeface="微软雅黑"/>
              </a:rPr>
              <a:t>变化而更新；当</a:t>
            </a:r>
            <a:r>
              <a:rPr sz="1550" spc="5" dirty="0">
                <a:latin typeface="Arial"/>
                <a:cs typeface="Arial"/>
              </a:rPr>
              <a:t>clk</a:t>
            </a:r>
            <a:r>
              <a:rPr sz="1550" spc="15" dirty="0">
                <a:latin typeface="微软雅黑"/>
                <a:cs typeface="微软雅黑"/>
              </a:rPr>
              <a:t>为低电平时，锁存器将保持原来高电平时锁存的值。</a:t>
            </a:r>
            <a:endParaRPr sz="1550" dirty="0">
              <a:latin typeface="微软雅黑"/>
              <a:cs typeface="微软雅黑"/>
            </a:endParaRPr>
          </a:p>
        </p:txBody>
      </p:sp>
      <p:sp>
        <p:nvSpPr>
          <p:cNvPr id="4" name="object 4"/>
          <p:cNvSpPr/>
          <p:nvPr/>
        </p:nvSpPr>
        <p:spPr>
          <a:xfrm>
            <a:off x="4487303" y="3346703"/>
            <a:ext cx="777240" cy="864869"/>
          </a:xfrm>
          <a:custGeom>
            <a:avLst/>
            <a:gdLst/>
            <a:ahLst/>
            <a:cxnLst/>
            <a:rect l="l" t="t" r="r" b="b"/>
            <a:pathLst>
              <a:path w="777239" h="864870">
                <a:moveTo>
                  <a:pt x="0" y="0"/>
                </a:moveTo>
                <a:lnTo>
                  <a:pt x="0" y="864870"/>
                </a:lnTo>
                <a:lnTo>
                  <a:pt x="777240" y="864870"/>
                </a:lnTo>
                <a:lnTo>
                  <a:pt x="777240" y="0"/>
                </a:lnTo>
                <a:lnTo>
                  <a:pt x="0" y="0"/>
                </a:lnTo>
                <a:close/>
              </a:path>
            </a:pathLst>
          </a:custGeom>
          <a:ln w="17183">
            <a:solidFill>
              <a:srgbClr val="000000"/>
            </a:solidFill>
          </a:ln>
        </p:spPr>
        <p:txBody>
          <a:bodyPr wrap="square" lIns="0" tIns="0" rIns="0" bIns="0" rtlCol="0"/>
          <a:lstStyle/>
          <a:p>
            <a:endParaRPr/>
          </a:p>
        </p:txBody>
      </p:sp>
      <p:sp>
        <p:nvSpPr>
          <p:cNvPr id="5" name="object 5"/>
          <p:cNvSpPr txBox="1"/>
          <p:nvPr/>
        </p:nvSpPr>
        <p:spPr>
          <a:xfrm>
            <a:off x="4522349" y="3322027"/>
            <a:ext cx="254000" cy="719455"/>
          </a:xfrm>
          <a:prstGeom prst="rect">
            <a:avLst/>
          </a:prstGeom>
        </p:spPr>
        <p:txBody>
          <a:bodyPr vert="horz" wrap="square" lIns="0" tIns="12065" rIns="0" bIns="0" rtlCol="0">
            <a:spAutoFit/>
          </a:bodyPr>
          <a:lstStyle/>
          <a:p>
            <a:pPr marR="5080" indent="12700">
              <a:lnSpc>
                <a:spcPct val="156900"/>
              </a:lnSpc>
              <a:spcBef>
                <a:spcPts val="95"/>
              </a:spcBef>
            </a:pPr>
            <a:r>
              <a:rPr sz="1450" b="1" spc="-50" dirty="0">
                <a:latin typeface="Times New Roman"/>
                <a:cs typeface="Times New Roman"/>
              </a:rPr>
              <a:t>d </a:t>
            </a:r>
            <a:r>
              <a:rPr sz="1450" b="1" spc="-25" dirty="0">
                <a:latin typeface="Times New Roman"/>
                <a:cs typeface="Times New Roman"/>
              </a:rPr>
              <a:t>clk</a:t>
            </a:r>
            <a:endParaRPr sz="1450">
              <a:latin typeface="Times New Roman"/>
              <a:cs typeface="Times New Roman"/>
            </a:endParaRPr>
          </a:p>
        </p:txBody>
      </p:sp>
      <p:sp>
        <p:nvSpPr>
          <p:cNvPr id="6" name="object 6"/>
          <p:cNvSpPr txBox="1"/>
          <p:nvPr/>
        </p:nvSpPr>
        <p:spPr>
          <a:xfrm>
            <a:off x="5112895" y="3436516"/>
            <a:ext cx="117475" cy="250825"/>
          </a:xfrm>
          <a:prstGeom prst="rect">
            <a:avLst/>
          </a:prstGeom>
        </p:spPr>
        <p:txBody>
          <a:bodyPr vert="horz" wrap="square" lIns="0" tIns="15875" rIns="0" bIns="0" rtlCol="0">
            <a:spAutoFit/>
          </a:bodyPr>
          <a:lstStyle/>
          <a:p>
            <a:pPr>
              <a:lnSpc>
                <a:spcPct val="100000"/>
              </a:lnSpc>
              <a:spcBef>
                <a:spcPts val="125"/>
              </a:spcBef>
            </a:pPr>
            <a:r>
              <a:rPr sz="1450" b="1" spc="-50" dirty="0">
                <a:latin typeface="Times New Roman"/>
                <a:cs typeface="Times New Roman"/>
              </a:rPr>
              <a:t>q</a:t>
            </a:r>
            <a:endParaRPr sz="1450">
              <a:latin typeface="Times New Roman"/>
              <a:cs typeface="Times New Roman"/>
            </a:endParaRPr>
          </a:p>
        </p:txBody>
      </p:sp>
      <p:grpSp>
        <p:nvGrpSpPr>
          <p:cNvPr id="7" name="object 7"/>
          <p:cNvGrpSpPr/>
          <p:nvPr/>
        </p:nvGrpSpPr>
        <p:grpSpPr>
          <a:xfrm>
            <a:off x="3446964" y="3518706"/>
            <a:ext cx="2880995" cy="476884"/>
            <a:chOff x="3446964" y="3518706"/>
            <a:chExt cx="2880995" cy="476884"/>
          </a:xfrm>
        </p:grpSpPr>
        <p:sp>
          <p:nvSpPr>
            <p:cNvPr id="8" name="object 8"/>
            <p:cNvSpPr/>
            <p:nvPr/>
          </p:nvSpPr>
          <p:spPr>
            <a:xfrm>
              <a:off x="3822077" y="3590544"/>
              <a:ext cx="665480" cy="0"/>
            </a:xfrm>
            <a:custGeom>
              <a:avLst/>
              <a:gdLst/>
              <a:ahLst/>
              <a:cxnLst/>
              <a:rect l="l" t="t" r="r" b="b"/>
              <a:pathLst>
                <a:path w="665479">
                  <a:moveTo>
                    <a:pt x="0" y="0"/>
                  </a:moveTo>
                  <a:lnTo>
                    <a:pt x="665226" y="0"/>
                  </a:lnTo>
                </a:path>
              </a:pathLst>
            </a:custGeom>
            <a:ln w="17183">
              <a:solidFill>
                <a:srgbClr val="000000"/>
              </a:solidFill>
            </a:ln>
          </p:spPr>
          <p:txBody>
            <a:bodyPr wrap="square" lIns="0" tIns="0" rIns="0" bIns="0" rtlCol="0"/>
            <a:lstStyle/>
            <a:p>
              <a:endParaRPr/>
            </a:p>
          </p:txBody>
        </p:sp>
        <p:sp>
          <p:nvSpPr>
            <p:cNvPr id="9" name="object 9"/>
            <p:cNvSpPr/>
            <p:nvPr/>
          </p:nvSpPr>
          <p:spPr>
            <a:xfrm>
              <a:off x="3455555" y="3527298"/>
              <a:ext cx="360045" cy="108585"/>
            </a:xfrm>
            <a:custGeom>
              <a:avLst/>
              <a:gdLst/>
              <a:ahLst/>
              <a:cxnLst/>
              <a:rect l="l" t="t" r="r" b="b"/>
              <a:pathLst>
                <a:path w="360045" h="108585">
                  <a:moveTo>
                    <a:pt x="359663" y="64770"/>
                  </a:moveTo>
                  <a:lnTo>
                    <a:pt x="288035" y="0"/>
                  </a:lnTo>
                  <a:lnTo>
                    <a:pt x="0" y="0"/>
                  </a:lnTo>
                  <a:lnTo>
                    <a:pt x="0" y="108204"/>
                  </a:lnTo>
                  <a:lnTo>
                    <a:pt x="288035" y="108204"/>
                  </a:lnTo>
                  <a:lnTo>
                    <a:pt x="359663" y="64770"/>
                  </a:lnTo>
                  <a:close/>
                </a:path>
              </a:pathLst>
            </a:custGeom>
            <a:ln w="17183">
              <a:solidFill>
                <a:srgbClr val="000000"/>
              </a:solidFill>
            </a:ln>
          </p:spPr>
          <p:txBody>
            <a:bodyPr wrap="square" lIns="0" tIns="0" rIns="0" bIns="0" rtlCol="0"/>
            <a:lstStyle/>
            <a:p>
              <a:endParaRPr/>
            </a:p>
          </p:txBody>
        </p:sp>
        <p:sp>
          <p:nvSpPr>
            <p:cNvPr id="10" name="object 10"/>
            <p:cNvSpPr/>
            <p:nvPr/>
          </p:nvSpPr>
          <p:spPr>
            <a:xfrm>
              <a:off x="3822077" y="3941826"/>
              <a:ext cx="665480" cy="0"/>
            </a:xfrm>
            <a:custGeom>
              <a:avLst/>
              <a:gdLst/>
              <a:ahLst/>
              <a:cxnLst/>
              <a:rect l="l" t="t" r="r" b="b"/>
              <a:pathLst>
                <a:path w="665479">
                  <a:moveTo>
                    <a:pt x="0" y="0"/>
                  </a:moveTo>
                  <a:lnTo>
                    <a:pt x="665226" y="0"/>
                  </a:lnTo>
                </a:path>
              </a:pathLst>
            </a:custGeom>
            <a:ln w="17183">
              <a:solidFill>
                <a:srgbClr val="000000"/>
              </a:solidFill>
            </a:ln>
          </p:spPr>
          <p:txBody>
            <a:bodyPr wrap="square" lIns="0" tIns="0" rIns="0" bIns="0" rtlCol="0"/>
            <a:lstStyle/>
            <a:p>
              <a:endParaRPr/>
            </a:p>
          </p:txBody>
        </p:sp>
        <p:sp>
          <p:nvSpPr>
            <p:cNvPr id="11" name="object 11"/>
            <p:cNvSpPr/>
            <p:nvPr/>
          </p:nvSpPr>
          <p:spPr>
            <a:xfrm>
              <a:off x="3455555" y="3878580"/>
              <a:ext cx="360045" cy="108585"/>
            </a:xfrm>
            <a:custGeom>
              <a:avLst/>
              <a:gdLst/>
              <a:ahLst/>
              <a:cxnLst/>
              <a:rect l="l" t="t" r="r" b="b"/>
              <a:pathLst>
                <a:path w="360045" h="108585">
                  <a:moveTo>
                    <a:pt x="359663" y="64770"/>
                  </a:moveTo>
                  <a:lnTo>
                    <a:pt x="288035" y="0"/>
                  </a:lnTo>
                  <a:lnTo>
                    <a:pt x="0" y="0"/>
                  </a:lnTo>
                  <a:lnTo>
                    <a:pt x="0" y="108204"/>
                  </a:lnTo>
                  <a:lnTo>
                    <a:pt x="288035" y="108204"/>
                  </a:lnTo>
                  <a:lnTo>
                    <a:pt x="359663" y="64770"/>
                  </a:lnTo>
                  <a:close/>
                </a:path>
              </a:pathLst>
            </a:custGeom>
            <a:ln w="17183">
              <a:solidFill>
                <a:srgbClr val="000000"/>
              </a:solidFill>
            </a:ln>
          </p:spPr>
          <p:txBody>
            <a:bodyPr wrap="square" lIns="0" tIns="0" rIns="0" bIns="0" rtlCol="0"/>
            <a:lstStyle/>
            <a:p>
              <a:endParaRPr/>
            </a:p>
          </p:txBody>
        </p:sp>
        <p:sp>
          <p:nvSpPr>
            <p:cNvPr id="12" name="object 12"/>
            <p:cNvSpPr/>
            <p:nvPr/>
          </p:nvSpPr>
          <p:spPr>
            <a:xfrm>
              <a:off x="5275973" y="3591306"/>
              <a:ext cx="666115" cy="0"/>
            </a:xfrm>
            <a:custGeom>
              <a:avLst/>
              <a:gdLst/>
              <a:ahLst/>
              <a:cxnLst/>
              <a:rect l="l" t="t" r="r" b="b"/>
              <a:pathLst>
                <a:path w="666114">
                  <a:moveTo>
                    <a:pt x="0" y="0"/>
                  </a:moveTo>
                  <a:lnTo>
                    <a:pt x="665988" y="0"/>
                  </a:lnTo>
                </a:path>
              </a:pathLst>
            </a:custGeom>
            <a:ln w="17183">
              <a:solidFill>
                <a:srgbClr val="000000"/>
              </a:solidFill>
            </a:ln>
          </p:spPr>
          <p:txBody>
            <a:bodyPr wrap="square" lIns="0" tIns="0" rIns="0" bIns="0" rtlCol="0"/>
            <a:lstStyle/>
            <a:p>
              <a:endParaRPr/>
            </a:p>
          </p:txBody>
        </p:sp>
        <p:sp>
          <p:nvSpPr>
            <p:cNvPr id="13" name="object 13"/>
            <p:cNvSpPr/>
            <p:nvPr/>
          </p:nvSpPr>
          <p:spPr>
            <a:xfrm>
              <a:off x="5958712" y="3536442"/>
              <a:ext cx="360680" cy="108585"/>
            </a:xfrm>
            <a:custGeom>
              <a:avLst/>
              <a:gdLst/>
              <a:ahLst/>
              <a:cxnLst/>
              <a:rect l="l" t="t" r="r" b="b"/>
              <a:pathLst>
                <a:path w="360679" h="108585">
                  <a:moveTo>
                    <a:pt x="360425" y="64770"/>
                  </a:moveTo>
                  <a:lnTo>
                    <a:pt x="288797" y="0"/>
                  </a:lnTo>
                  <a:lnTo>
                    <a:pt x="0" y="0"/>
                  </a:lnTo>
                  <a:lnTo>
                    <a:pt x="0" y="108204"/>
                  </a:lnTo>
                  <a:lnTo>
                    <a:pt x="288797" y="108204"/>
                  </a:lnTo>
                  <a:lnTo>
                    <a:pt x="360425" y="64770"/>
                  </a:lnTo>
                  <a:close/>
                </a:path>
              </a:pathLst>
            </a:custGeom>
            <a:ln w="17183">
              <a:solidFill>
                <a:srgbClr val="000000"/>
              </a:solidFill>
            </a:ln>
          </p:spPr>
          <p:txBody>
            <a:bodyPr wrap="square" lIns="0" tIns="0" rIns="0" bIns="0" rtlCol="0"/>
            <a:lstStyle/>
            <a:p>
              <a:endParaRPr/>
            </a:p>
          </p:txBody>
        </p:sp>
      </p:grpSp>
      <p:sp>
        <p:nvSpPr>
          <p:cNvPr id="14" name="object 14"/>
          <p:cNvSpPr txBox="1"/>
          <p:nvPr/>
        </p:nvSpPr>
        <p:spPr>
          <a:xfrm>
            <a:off x="3234061" y="3311371"/>
            <a:ext cx="130175" cy="728345"/>
          </a:xfrm>
          <a:prstGeom prst="rect">
            <a:avLst/>
          </a:prstGeom>
        </p:spPr>
        <p:txBody>
          <a:bodyPr vert="horz" wrap="square" lIns="0" tIns="11430" rIns="0" bIns="0" rtlCol="0">
            <a:spAutoFit/>
          </a:bodyPr>
          <a:lstStyle/>
          <a:p>
            <a:pPr marL="18415" marR="5080" indent="-6350">
              <a:lnSpc>
                <a:spcPct val="159000"/>
              </a:lnSpc>
              <a:spcBef>
                <a:spcPts val="90"/>
              </a:spcBef>
            </a:pPr>
            <a:r>
              <a:rPr sz="1450" b="1" spc="-50" dirty="0">
                <a:latin typeface="Times New Roman"/>
                <a:cs typeface="Times New Roman"/>
              </a:rPr>
              <a:t>b a</a:t>
            </a:r>
            <a:endParaRPr sz="1450">
              <a:latin typeface="Times New Roman"/>
              <a:cs typeface="Times New Roman"/>
            </a:endParaRPr>
          </a:p>
        </p:txBody>
      </p:sp>
      <p:sp>
        <p:nvSpPr>
          <p:cNvPr id="15" name="object 15"/>
          <p:cNvSpPr txBox="1"/>
          <p:nvPr/>
        </p:nvSpPr>
        <p:spPr>
          <a:xfrm>
            <a:off x="6370450" y="3446425"/>
            <a:ext cx="119380" cy="250825"/>
          </a:xfrm>
          <a:prstGeom prst="rect">
            <a:avLst/>
          </a:prstGeom>
        </p:spPr>
        <p:txBody>
          <a:bodyPr vert="horz" wrap="square" lIns="0" tIns="15875" rIns="0" bIns="0" rtlCol="0">
            <a:spAutoFit/>
          </a:bodyPr>
          <a:lstStyle/>
          <a:p>
            <a:pPr marL="12700">
              <a:lnSpc>
                <a:spcPct val="100000"/>
              </a:lnSpc>
              <a:spcBef>
                <a:spcPts val="125"/>
              </a:spcBef>
            </a:pPr>
            <a:r>
              <a:rPr sz="1450" b="1" spc="-50" dirty="0">
                <a:latin typeface="Times New Roman"/>
                <a:cs typeface="Times New Roman"/>
              </a:rPr>
              <a:t>y</a:t>
            </a:r>
            <a:endParaRPr sz="1450">
              <a:latin typeface="Times New Roman"/>
              <a:cs typeface="Times New Roman"/>
            </a:endParaRPr>
          </a:p>
        </p:txBody>
      </p:sp>
      <p:pic>
        <p:nvPicPr>
          <p:cNvPr id="16" name="object 16"/>
          <p:cNvPicPr/>
          <p:nvPr/>
        </p:nvPicPr>
        <p:blipFill>
          <a:blip r:embed="rId2" cstate="print"/>
          <a:stretch>
            <a:fillRect/>
          </a:stretch>
        </p:blipFill>
        <p:spPr>
          <a:xfrm>
            <a:off x="2204351" y="4890516"/>
            <a:ext cx="5315711" cy="1196339"/>
          </a:xfrm>
          <a:prstGeom prst="rect">
            <a:avLst/>
          </a:prstGeom>
        </p:spPr>
      </p:pic>
      <p:sp>
        <p:nvSpPr>
          <p:cNvPr id="17" name="object 17"/>
          <p:cNvSpPr txBox="1"/>
          <p:nvPr/>
        </p:nvSpPr>
        <p:spPr>
          <a:xfrm>
            <a:off x="3691261" y="4310126"/>
            <a:ext cx="215773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宋体"/>
                <a:cs typeface="宋体"/>
              </a:rPr>
              <a:t>图</a:t>
            </a:r>
            <a:r>
              <a:rPr sz="1200" dirty="0">
                <a:latin typeface="Arial"/>
                <a:cs typeface="Arial"/>
              </a:rPr>
              <a:t>4.8</a:t>
            </a:r>
            <a:r>
              <a:rPr sz="1200" spc="225" dirty="0">
                <a:latin typeface="Arial"/>
                <a:cs typeface="Arial"/>
              </a:rPr>
              <a:t> </a:t>
            </a:r>
            <a:r>
              <a:rPr sz="1200" spc="-5" dirty="0">
                <a:latin typeface="宋体"/>
                <a:cs typeface="宋体"/>
              </a:rPr>
              <a:t>基本锁存器的电路模块图</a:t>
            </a:r>
            <a:endParaRPr sz="1200">
              <a:latin typeface="宋体"/>
              <a:cs typeface="宋体"/>
            </a:endParaRPr>
          </a:p>
        </p:txBody>
      </p:sp>
      <p:sp>
        <p:nvSpPr>
          <p:cNvPr id="19" name="object 1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8" name="object 18"/>
          <p:cNvSpPr txBox="1"/>
          <p:nvPr/>
        </p:nvSpPr>
        <p:spPr>
          <a:xfrm>
            <a:off x="3691261" y="6168650"/>
            <a:ext cx="215773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宋体"/>
                <a:cs typeface="宋体"/>
              </a:rPr>
              <a:t>图</a:t>
            </a:r>
            <a:r>
              <a:rPr sz="1200" dirty="0">
                <a:latin typeface="Arial"/>
                <a:cs typeface="Arial"/>
              </a:rPr>
              <a:t>4.9</a:t>
            </a:r>
            <a:r>
              <a:rPr sz="1200" spc="225" dirty="0">
                <a:latin typeface="Arial"/>
                <a:cs typeface="Arial"/>
              </a:rPr>
              <a:t> </a:t>
            </a:r>
            <a:r>
              <a:rPr sz="1200" spc="-5" dirty="0">
                <a:latin typeface="宋体"/>
                <a:cs typeface="宋体"/>
              </a:rPr>
              <a:t>基本锁存器的时序波形图</a:t>
            </a:r>
            <a:endParaRPr sz="1200">
              <a:latin typeface="宋体"/>
              <a:cs typeface="宋体"/>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69811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4.1.4</a:t>
            </a:r>
            <a:r>
              <a:rPr spc="-45" dirty="0">
                <a:latin typeface="Arial"/>
                <a:cs typeface="Arial"/>
              </a:rPr>
              <a:t> </a:t>
            </a:r>
            <a:r>
              <a:rPr spc="-10" dirty="0"/>
              <a:t>基本锁存器</a:t>
            </a:r>
          </a:p>
        </p:txBody>
      </p:sp>
      <p:sp>
        <p:nvSpPr>
          <p:cNvPr id="3" name="object 3"/>
          <p:cNvSpPr txBox="1"/>
          <p:nvPr/>
        </p:nvSpPr>
        <p:spPr>
          <a:xfrm>
            <a:off x="512197" y="5677187"/>
            <a:ext cx="9545320" cy="280035"/>
          </a:xfrm>
          <a:prstGeom prst="rect">
            <a:avLst/>
          </a:prstGeom>
        </p:spPr>
        <p:txBody>
          <a:bodyPr vert="horz" wrap="square" lIns="0" tIns="14604" rIns="0" bIns="0" rtlCol="0">
            <a:spAutoFit/>
          </a:bodyPr>
          <a:lstStyle/>
          <a:p>
            <a:pPr marL="12700">
              <a:lnSpc>
                <a:spcPct val="100000"/>
              </a:lnSpc>
              <a:spcBef>
                <a:spcPts val="114"/>
              </a:spcBef>
            </a:pPr>
            <a:r>
              <a:rPr sz="1650" i="1" spc="-90" dirty="0">
                <a:solidFill>
                  <a:srgbClr val="C00000"/>
                </a:solidFill>
                <a:latin typeface="楷体"/>
                <a:cs typeface="楷体"/>
              </a:rPr>
              <a:t>注：与对</a:t>
            </a:r>
            <a:r>
              <a:rPr sz="1650" i="1" spc="-50" dirty="0">
                <a:solidFill>
                  <a:srgbClr val="C00000"/>
                </a:solidFill>
                <a:latin typeface="楷体"/>
                <a:cs typeface="楷体"/>
              </a:rPr>
              <a:t>D</a:t>
            </a:r>
            <a:r>
              <a:rPr sz="1650" i="1" spc="-90" dirty="0">
                <a:solidFill>
                  <a:srgbClr val="C00000"/>
                </a:solidFill>
                <a:latin typeface="楷体"/>
                <a:cs typeface="楷体"/>
              </a:rPr>
              <a:t>触发器的描述不同，基本锁存器的</a:t>
            </a:r>
            <a:r>
              <a:rPr sz="1650" i="1" spc="-25" dirty="0">
                <a:solidFill>
                  <a:srgbClr val="C00000"/>
                </a:solidFill>
                <a:latin typeface="楷体"/>
                <a:cs typeface="楷体"/>
              </a:rPr>
              <a:t>Verilog</a:t>
            </a:r>
            <a:r>
              <a:rPr sz="1650" i="1" spc="210" dirty="0">
                <a:solidFill>
                  <a:srgbClr val="C00000"/>
                </a:solidFill>
                <a:latin typeface="楷体"/>
                <a:cs typeface="楷体"/>
              </a:rPr>
              <a:t> </a:t>
            </a:r>
            <a:r>
              <a:rPr sz="1650" i="1" spc="-50" dirty="0">
                <a:solidFill>
                  <a:srgbClr val="C00000"/>
                </a:solidFill>
                <a:latin typeface="楷体"/>
                <a:cs typeface="楷体"/>
              </a:rPr>
              <a:t>HDL</a:t>
            </a:r>
            <a:r>
              <a:rPr sz="1650" i="1" spc="-90" dirty="0">
                <a:solidFill>
                  <a:srgbClr val="C00000"/>
                </a:solidFill>
                <a:latin typeface="楷体"/>
                <a:cs typeface="楷体"/>
              </a:rPr>
              <a:t>描述中，没有使用时钟边沿敏感的关键词</a:t>
            </a:r>
            <a:r>
              <a:rPr sz="1650" i="1" spc="-50" dirty="0">
                <a:solidFill>
                  <a:srgbClr val="C00000"/>
                </a:solidFill>
                <a:latin typeface="楷体"/>
                <a:cs typeface="楷体"/>
              </a:rPr>
              <a:t>posedge。</a:t>
            </a:r>
            <a:endParaRPr sz="1650">
              <a:latin typeface="楷体"/>
              <a:cs typeface="楷体"/>
            </a:endParaRPr>
          </a:p>
        </p:txBody>
      </p:sp>
      <p:grpSp>
        <p:nvGrpSpPr>
          <p:cNvPr id="4" name="object 4"/>
          <p:cNvGrpSpPr/>
          <p:nvPr/>
        </p:nvGrpSpPr>
        <p:grpSpPr>
          <a:xfrm>
            <a:off x="1325765" y="2161032"/>
            <a:ext cx="2921635" cy="3236595"/>
            <a:chOff x="1325765" y="2161032"/>
            <a:chExt cx="2921635" cy="3236595"/>
          </a:xfrm>
        </p:grpSpPr>
        <p:sp>
          <p:nvSpPr>
            <p:cNvPr id="5" name="object 5"/>
            <p:cNvSpPr/>
            <p:nvPr/>
          </p:nvSpPr>
          <p:spPr>
            <a:xfrm>
              <a:off x="1334147" y="2169414"/>
              <a:ext cx="2905125" cy="3219450"/>
            </a:xfrm>
            <a:custGeom>
              <a:avLst/>
              <a:gdLst/>
              <a:ahLst/>
              <a:cxnLst/>
              <a:rect l="l" t="t" r="r" b="b"/>
              <a:pathLst>
                <a:path w="2905125" h="3219450">
                  <a:moveTo>
                    <a:pt x="2904744" y="3219450"/>
                  </a:moveTo>
                  <a:lnTo>
                    <a:pt x="2904744" y="0"/>
                  </a:lnTo>
                  <a:lnTo>
                    <a:pt x="0" y="0"/>
                  </a:lnTo>
                  <a:lnTo>
                    <a:pt x="0" y="3219450"/>
                  </a:lnTo>
                  <a:lnTo>
                    <a:pt x="2904744" y="3219450"/>
                  </a:lnTo>
                  <a:close/>
                </a:path>
              </a:pathLst>
            </a:custGeom>
            <a:solidFill>
              <a:srgbClr val="F9FABA"/>
            </a:solidFill>
          </p:spPr>
          <p:txBody>
            <a:bodyPr wrap="square" lIns="0" tIns="0" rIns="0" bIns="0" rtlCol="0"/>
            <a:lstStyle/>
            <a:p>
              <a:endParaRPr/>
            </a:p>
          </p:txBody>
        </p:sp>
        <p:sp>
          <p:nvSpPr>
            <p:cNvPr id="6" name="object 6"/>
            <p:cNvSpPr/>
            <p:nvPr/>
          </p:nvSpPr>
          <p:spPr>
            <a:xfrm>
              <a:off x="1325765" y="2161032"/>
              <a:ext cx="2921635" cy="3236595"/>
            </a:xfrm>
            <a:custGeom>
              <a:avLst/>
              <a:gdLst/>
              <a:ahLst/>
              <a:cxnLst/>
              <a:rect l="l" t="t" r="r" b="b"/>
              <a:pathLst>
                <a:path w="2921635" h="3236595">
                  <a:moveTo>
                    <a:pt x="2921508" y="3232404"/>
                  </a:moveTo>
                  <a:lnTo>
                    <a:pt x="2921508" y="3810"/>
                  </a:lnTo>
                  <a:lnTo>
                    <a:pt x="2917698" y="0"/>
                  </a:lnTo>
                  <a:lnTo>
                    <a:pt x="3809" y="0"/>
                  </a:lnTo>
                  <a:lnTo>
                    <a:pt x="0" y="3810"/>
                  </a:lnTo>
                  <a:lnTo>
                    <a:pt x="0" y="3232404"/>
                  </a:lnTo>
                  <a:lnTo>
                    <a:pt x="3810" y="3236214"/>
                  </a:lnTo>
                  <a:lnTo>
                    <a:pt x="8382" y="3236214"/>
                  </a:lnTo>
                  <a:lnTo>
                    <a:pt x="8382" y="16764"/>
                  </a:lnTo>
                  <a:lnTo>
                    <a:pt x="16763" y="8382"/>
                  </a:lnTo>
                  <a:lnTo>
                    <a:pt x="16763" y="16764"/>
                  </a:lnTo>
                  <a:lnTo>
                    <a:pt x="2904744" y="16764"/>
                  </a:lnTo>
                  <a:lnTo>
                    <a:pt x="2904744" y="8382"/>
                  </a:lnTo>
                  <a:lnTo>
                    <a:pt x="2913126" y="16764"/>
                  </a:lnTo>
                  <a:lnTo>
                    <a:pt x="2913126" y="3236214"/>
                  </a:lnTo>
                  <a:lnTo>
                    <a:pt x="2917698" y="3236214"/>
                  </a:lnTo>
                  <a:lnTo>
                    <a:pt x="2921508" y="3232404"/>
                  </a:lnTo>
                  <a:close/>
                </a:path>
                <a:path w="2921635" h="3236595">
                  <a:moveTo>
                    <a:pt x="16763" y="16764"/>
                  </a:moveTo>
                  <a:lnTo>
                    <a:pt x="16763" y="8382"/>
                  </a:lnTo>
                  <a:lnTo>
                    <a:pt x="8382" y="16764"/>
                  </a:lnTo>
                  <a:lnTo>
                    <a:pt x="16763" y="16764"/>
                  </a:lnTo>
                  <a:close/>
                </a:path>
                <a:path w="2921635" h="3236595">
                  <a:moveTo>
                    <a:pt x="16764" y="3219450"/>
                  </a:moveTo>
                  <a:lnTo>
                    <a:pt x="16763" y="16764"/>
                  </a:lnTo>
                  <a:lnTo>
                    <a:pt x="8382" y="16764"/>
                  </a:lnTo>
                  <a:lnTo>
                    <a:pt x="8382" y="3219450"/>
                  </a:lnTo>
                  <a:lnTo>
                    <a:pt x="16764" y="3219450"/>
                  </a:lnTo>
                  <a:close/>
                </a:path>
                <a:path w="2921635" h="3236595">
                  <a:moveTo>
                    <a:pt x="2913126" y="3219450"/>
                  </a:moveTo>
                  <a:lnTo>
                    <a:pt x="8382" y="3219450"/>
                  </a:lnTo>
                  <a:lnTo>
                    <a:pt x="16764" y="3227832"/>
                  </a:lnTo>
                  <a:lnTo>
                    <a:pt x="16763" y="3236214"/>
                  </a:lnTo>
                  <a:lnTo>
                    <a:pt x="2904744" y="3236214"/>
                  </a:lnTo>
                  <a:lnTo>
                    <a:pt x="2904744" y="3227832"/>
                  </a:lnTo>
                  <a:lnTo>
                    <a:pt x="2913126" y="3219450"/>
                  </a:lnTo>
                  <a:close/>
                </a:path>
                <a:path w="2921635" h="3236595">
                  <a:moveTo>
                    <a:pt x="16763" y="3236214"/>
                  </a:moveTo>
                  <a:lnTo>
                    <a:pt x="16764" y="3227832"/>
                  </a:lnTo>
                  <a:lnTo>
                    <a:pt x="8382" y="3219450"/>
                  </a:lnTo>
                  <a:lnTo>
                    <a:pt x="8382" y="3236214"/>
                  </a:lnTo>
                  <a:lnTo>
                    <a:pt x="16763" y="3236214"/>
                  </a:lnTo>
                  <a:close/>
                </a:path>
                <a:path w="2921635" h="3236595">
                  <a:moveTo>
                    <a:pt x="2913126" y="16764"/>
                  </a:moveTo>
                  <a:lnTo>
                    <a:pt x="2904744" y="8382"/>
                  </a:lnTo>
                  <a:lnTo>
                    <a:pt x="2904744" y="16764"/>
                  </a:lnTo>
                  <a:lnTo>
                    <a:pt x="2913126" y="16764"/>
                  </a:lnTo>
                  <a:close/>
                </a:path>
                <a:path w="2921635" h="3236595">
                  <a:moveTo>
                    <a:pt x="2913126" y="3219450"/>
                  </a:moveTo>
                  <a:lnTo>
                    <a:pt x="2913126" y="16764"/>
                  </a:lnTo>
                  <a:lnTo>
                    <a:pt x="2904744" y="16764"/>
                  </a:lnTo>
                  <a:lnTo>
                    <a:pt x="2904744" y="3219450"/>
                  </a:lnTo>
                  <a:lnTo>
                    <a:pt x="2913126" y="3219450"/>
                  </a:lnTo>
                  <a:close/>
                </a:path>
                <a:path w="2921635" h="3236595">
                  <a:moveTo>
                    <a:pt x="2913126" y="3236214"/>
                  </a:moveTo>
                  <a:lnTo>
                    <a:pt x="2913126" y="3219450"/>
                  </a:lnTo>
                  <a:lnTo>
                    <a:pt x="2904744" y="3227832"/>
                  </a:lnTo>
                  <a:lnTo>
                    <a:pt x="2904744" y="3236214"/>
                  </a:lnTo>
                  <a:lnTo>
                    <a:pt x="2913126" y="3236214"/>
                  </a:lnTo>
                  <a:close/>
                </a:path>
              </a:pathLst>
            </a:custGeom>
            <a:solidFill>
              <a:srgbClr val="FF0000"/>
            </a:solidFill>
          </p:spPr>
          <p:txBody>
            <a:bodyPr wrap="square" lIns="0" tIns="0" rIns="0" bIns="0" rtlCol="0"/>
            <a:lstStyle/>
            <a:p>
              <a:endParaRPr/>
            </a:p>
          </p:txBody>
        </p:sp>
      </p:grpSp>
      <p:sp>
        <p:nvSpPr>
          <p:cNvPr id="7" name="object 7"/>
          <p:cNvSpPr txBox="1"/>
          <p:nvPr/>
        </p:nvSpPr>
        <p:spPr>
          <a:xfrm>
            <a:off x="1414152" y="2176456"/>
            <a:ext cx="1987550" cy="527050"/>
          </a:xfrm>
          <a:prstGeom prst="rect">
            <a:avLst/>
          </a:prstGeom>
        </p:spPr>
        <p:txBody>
          <a:bodyPr vert="horz" wrap="square" lIns="0" tIns="48260" rIns="0" bIns="0" rtlCol="0">
            <a:spAutoFit/>
          </a:bodyPr>
          <a:lstStyle/>
          <a:p>
            <a:pPr>
              <a:lnSpc>
                <a:spcPct val="100000"/>
              </a:lnSpc>
              <a:spcBef>
                <a:spcPts val="380"/>
              </a:spcBef>
            </a:pPr>
            <a:r>
              <a:rPr sz="1200" b="1" spc="-120" dirty="0">
                <a:latin typeface="宋体"/>
                <a:cs typeface="宋体"/>
              </a:rPr>
              <a:t>例 </a:t>
            </a:r>
            <a:r>
              <a:rPr sz="1200" b="1" dirty="0">
                <a:latin typeface="Calibri"/>
                <a:cs typeface="Calibri"/>
              </a:rPr>
              <a:t>4.5</a:t>
            </a:r>
            <a:r>
              <a:rPr sz="1200" b="1" spc="110" dirty="0">
                <a:latin typeface="Calibri"/>
                <a:cs typeface="Calibri"/>
              </a:rPr>
              <a:t> </a:t>
            </a:r>
            <a:r>
              <a:rPr sz="1200" spc="-5" dirty="0">
                <a:latin typeface="宋体"/>
                <a:cs typeface="宋体"/>
              </a:rPr>
              <a:t>基本锁存器的一种描述</a:t>
            </a:r>
            <a:endParaRPr sz="1200">
              <a:latin typeface="宋体"/>
              <a:cs typeface="宋体"/>
            </a:endParaRPr>
          </a:p>
          <a:p>
            <a:pPr marL="183515">
              <a:lnSpc>
                <a:spcPct val="100000"/>
              </a:lnSpc>
              <a:spcBef>
                <a:spcPts val="360"/>
              </a:spcBef>
            </a:pPr>
            <a:r>
              <a:rPr sz="1550" b="1" dirty="0">
                <a:latin typeface="Calibri"/>
                <a:cs typeface="Calibri"/>
              </a:rPr>
              <a:t>module</a:t>
            </a:r>
            <a:r>
              <a:rPr sz="1550" b="1" spc="15" dirty="0">
                <a:latin typeface="Calibri"/>
                <a:cs typeface="Calibri"/>
              </a:rPr>
              <a:t> </a:t>
            </a:r>
            <a:r>
              <a:rPr sz="1550" spc="-10" dirty="0">
                <a:latin typeface="宋体"/>
                <a:cs typeface="宋体"/>
              </a:rPr>
              <a:t>latch_1</a:t>
            </a:r>
            <a:endParaRPr sz="1550">
              <a:latin typeface="宋体"/>
              <a:cs typeface="宋体"/>
            </a:endParaRPr>
          </a:p>
        </p:txBody>
      </p:sp>
      <p:sp>
        <p:nvSpPr>
          <p:cNvPr id="11" name="object 11"/>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8" name="object 8"/>
          <p:cNvSpPr txBox="1"/>
          <p:nvPr/>
        </p:nvSpPr>
        <p:spPr>
          <a:xfrm>
            <a:off x="1689980" y="2725173"/>
            <a:ext cx="60960" cy="266065"/>
          </a:xfrm>
          <a:prstGeom prst="rect">
            <a:avLst/>
          </a:prstGeom>
        </p:spPr>
        <p:txBody>
          <a:bodyPr vert="horz" wrap="square" lIns="0" tIns="15875" rIns="0" bIns="0" rtlCol="0">
            <a:spAutoFit/>
          </a:bodyPr>
          <a:lstStyle/>
          <a:p>
            <a:pPr>
              <a:lnSpc>
                <a:spcPct val="100000"/>
              </a:lnSpc>
              <a:spcBef>
                <a:spcPts val="125"/>
              </a:spcBef>
            </a:pPr>
            <a:r>
              <a:rPr sz="1550" spc="-50" dirty="0">
                <a:latin typeface="Calibri"/>
                <a:cs typeface="Calibri"/>
              </a:rPr>
              <a:t>(</a:t>
            </a:r>
            <a:endParaRPr sz="1550">
              <a:latin typeface="Calibri"/>
              <a:cs typeface="Calibri"/>
            </a:endParaRPr>
          </a:p>
        </p:txBody>
      </p:sp>
      <p:sp>
        <p:nvSpPr>
          <p:cNvPr id="9" name="object 9"/>
          <p:cNvSpPr txBox="1"/>
          <p:nvPr/>
        </p:nvSpPr>
        <p:spPr>
          <a:xfrm>
            <a:off x="1643485" y="2965661"/>
            <a:ext cx="1459230" cy="2334895"/>
          </a:xfrm>
          <a:prstGeom prst="rect">
            <a:avLst/>
          </a:prstGeom>
        </p:spPr>
        <p:txBody>
          <a:bodyPr vert="horz" wrap="square" lIns="0" tIns="12065" rIns="0" bIns="0" rtlCol="0">
            <a:spAutoFit/>
          </a:bodyPr>
          <a:lstStyle/>
          <a:p>
            <a:pPr marL="137795" marR="198120">
              <a:lnSpc>
                <a:spcPct val="122100"/>
              </a:lnSpc>
              <a:spcBef>
                <a:spcPts val="95"/>
              </a:spcBef>
            </a:pPr>
            <a:r>
              <a:rPr sz="1550" b="1" dirty="0">
                <a:latin typeface="Calibri"/>
                <a:cs typeface="Calibri"/>
              </a:rPr>
              <a:t>input</a:t>
            </a:r>
            <a:r>
              <a:rPr sz="1550" b="1" spc="390" dirty="0">
                <a:latin typeface="Calibri"/>
                <a:cs typeface="Calibri"/>
              </a:rPr>
              <a:t> </a:t>
            </a:r>
            <a:r>
              <a:rPr sz="1550" spc="-20" dirty="0">
                <a:latin typeface="宋体"/>
                <a:cs typeface="宋体"/>
              </a:rPr>
              <a:t>clk</a:t>
            </a:r>
            <a:r>
              <a:rPr sz="1550" spc="-20" dirty="0">
                <a:latin typeface="Calibri"/>
                <a:cs typeface="Calibri"/>
              </a:rPr>
              <a:t>, </a:t>
            </a:r>
            <a:r>
              <a:rPr sz="1550" b="1" dirty="0">
                <a:latin typeface="Calibri"/>
                <a:cs typeface="Calibri"/>
              </a:rPr>
              <a:t>input</a:t>
            </a:r>
            <a:r>
              <a:rPr sz="1550" b="1" spc="390" dirty="0">
                <a:latin typeface="Calibri"/>
                <a:cs typeface="Calibri"/>
              </a:rPr>
              <a:t> </a:t>
            </a:r>
            <a:r>
              <a:rPr sz="1550" spc="-25" dirty="0">
                <a:latin typeface="宋体"/>
                <a:cs typeface="宋体"/>
              </a:rPr>
              <a:t>d</a:t>
            </a:r>
            <a:r>
              <a:rPr sz="1550" spc="-25" dirty="0">
                <a:latin typeface="Calibri"/>
                <a:cs typeface="Calibri"/>
              </a:rPr>
              <a:t>, </a:t>
            </a:r>
            <a:r>
              <a:rPr sz="1550" b="1" dirty="0">
                <a:latin typeface="宋体"/>
                <a:cs typeface="宋体"/>
              </a:rPr>
              <a:t>o</a:t>
            </a:r>
            <a:r>
              <a:rPr sz="1550" b="1" dirty="0">
                <a:latin typeface="Calibri"/>
                <a:cs typeface="Calibri"/>
              </a:rPr>
              <a:t>utput</a:t>
            </a:r>
            <a:r>
              <a:rPr sz="1550" b="1" spc="395" dirty="0">
                <a:latin typeface="Calibri"/>
                <a:cs typeface="Calibri"/>
              </a:rPr>
              <a:t> </a:t>
            </a:r>
            <a:r>
              <a:rPr sz="1550" b="1" dirty="0">
                <a:latin typeface="Calibri"/>
                <a:cs typeface="Calibri"/>
              </a:rPr>
              <a:t>reg</a:t>
            </a:r>
            <a:r>
              <a:rPr sz="1550" b="1" spc="385" dirty="0">
                <a:latin typeface="Calibri"/>
                <a:cs typeface="Calibri"/>
              </a:rPr>
              <a:t> </a:t>
            </a:r>
            <a:r>
              <a:rPr sz="1550" spc="-50" dirty="0">
                <a:latin typeface="Calibri"/>
                <a:cs typeface="Calibri"/>
              </a:rPr>
              <a:t>q</a:t>
            </a:r>
            <a:endParaRPr sz="1550">
              <a:latin typeface="Calibri"/>
              <a:cs typeface="Calibri"/>
            </a:endParaRPr>
          </a:p>
          <a:p>
            <a:pPr marL="71120">
              <a:lnSpc>
                <a:spcPct val="100000"/>
              </a:lnSpc>
              <a:spcBef>
                <a:spcPts val="415"/>
              </a:spcBef>
            </a:pPr>
            <a:r>
              <a:rPr sz="1550" spc="-25" dirty="0">
                <a:latin typeface="Calibri"/>
                <a:cs typeface="Calibri"/>
              </a:rPr>
              <a:t>);</a:t>
            </a:r>
            <a:endParaRPr sz="1550">
              <a:latin typeface="Calibri"/>
              <a:cs typeface="Calibri"/>
            </a:endParaRPr>
          </a:p>
          <a:p>
            <a:pPr marL="46355">
              <a:lnSpc>
                <a:spcPct val="100000"/>
              </a:lnSpc>
              <a:spcBef>
                <a:spcPts val="415"/>
              </a:spcBef>
            </a:pPr>
            <a:r>
              <a:rPr sz="1550" b="1" dirty="0">
                <a:latin typeface="Calibri"/>
                <a:cs typeface="Calibri"/>
              </a:rPr>
              <a:t>always</a:t>
            </a:r>
            <a:r>
              <a:rPr sz="1550" b="1" spc="15" dirty="0">
                <a:latin typeface="Calibri"/>
                <a:cs typeface="Calibri"/>
              </a:rPr>
              <a:t> </a:t>
            </a:r>
            <a:r>
              <a:rPr sz="1550" spc="-10" dirty="0">
                <a:latin typeface="Calibri"/>
                <a:cs typeface="Calibri"/>
              </a:rPr>
              <a:t>@(</a:t>
            </a:r>
            <a:r>
              <a:rPr sz="1550" spc="-10" dirty="0">
                <a:latin typeface="宋体"/>
                <a:cs typeface="宋体"/>
              </a:rPr>
              <a:t>clk,d</a:t>
            </a:r>
            <a:r>
              <a:rPr sz="1550" spc="-10" dirty="0">
                <a:latin typeface="Calibri"/>
                <a:cs typeface="Calibri"/>
              </a:rPr>
              <a:t>)</a:t>
            </a:r>
            <a:endParaRPr sz="1550">
              <a:latin typeface="Calibri"/>
              <a:cs typeface="Calibri"/>
            </a:endParaRPr>
          </a:p>
          <a:p>
            <a:pPr marL="321310">
              <a:lnSpc>
                <a:spcPct val="100000"/>
              </a:lnSpc>
              <a:spcBef>
                <a:spcPts val="414"/>
              </a:spcBef>
            </a:pPr>
            <a:r>
              <a:rPr sz="1550" b="1" spc="-10" dirty="0">
                <a:latin typeface="Calibri"/>
                <a:cs typeface="Calibri"/>
              </a:rPr>
              <a:t>if</a:t>
            </a:r>
            <a:r>
              <a:rPr sz="1550" spc="-10" dirty="0">
                <a:latin typeface="Calibri"/>
                <a:cs typeface="Calibri"/>
              </a:rPr>
              <a:t>(</a:t>
            </a:r>
            <a:r>
              <a:rPr sz="1550" spc="-10" dirty="0">
                <a:latin typeface="宋体"/>
                <a:cs typeface="宋体"/>
              </a:rPr>
              <a:t>clk)</a:t>
            </a:r>
            <a:endParaRPr sz="1550">
              <a:latin typeface="宋体"/>
              <a:cs typeface="宋体"/>
            </a:endParaRPr>
          </a:p>
          <a:p>
            <a:pPr marL="572135">
              <a:lnSpc>
                <a:spcPct val="100000"/>
              </a:lnSpc>
              <a:spcBef>
                <a:spcPts val="405"/>
              </a:spcBef>
            </a:pPr>
            <a:r>
              <a:rPr sz="1550" dirty="0">
                <a:latin typeface="Calibri"/>
                <a:cs typeface="Calibri"/>
              </a:rPr>
              <a:t>q</a:t>
            </a:r>
            <a:r>
              <a:rPr sz="1550" spc="20" dirty="0">
                <a:latin typeface="Calibri"/>
                <a:cs typeface="Calibri"/>
              </a:rPr>
              <a:t> </a:t>
            </a:r>
            <a:r>
              <a:rPr sz="1550" dirty="0">
                <a:latin typeface="Calibri"/>
                <a:cs typeface="Calibri"/>
              </a:rPr>
              <a:t>&lt;=</a:t>
            </a:r>
            <a:r>
              <a:rPr sz="1550" spc="25" dirty="0">
                <a:latin typeface="Calibri"/>
                <a:cs typeface="Calibri"/>
              </a:rPr>
              <a:t> </a:t>
            </a:r>
            <a:r>
              <a:rPr sz="1550" spc="-25" dirty="0">
                <a:latin typeface="Calibri"/>
                <a:cs typeface="Calibri"/>
              </a:rPr>
              <a:t>d;</a:t>
            </a:r>
            <a:endParaRPr sz="1550">
              <a:latin typeface="Calibri"/>
              <a:cs typeface="Calibri"/>
            </a:endParaRPr>
          </a:p>
          <a:p>
            <a:pPr>
              <a:lnSpc>
                <a:spcPct val="100000"/>
              </a:lnSpc>
              <a:spcBef>
                <a:spcPts val="415"/>
              </a:spcBef>
            </a:pPr>
            <a:r>
              <a:rPr sz="1550" b="1" spc="-10" dirty="0">
                <a:latin typeface="Calibri"/>
                <a:cs typeface="Calibri"/>
              </a:rPr>
              <a:t>endmodule</a:t>
            </a:r>
            <a:endParaRPr sz="1550">
              <a:latin typeface="Calibri"/>
              <a:cs typeface="Calibri"/>
            </a:endParaRPr>
          </a:p>
        </p:txBody>
      </p:sp>
      <p:sp>
        <p:nvSpPr>
          <p:cNvPr id="10" name="object 10"/>
          <p:cNvSpPr txBox="1"/>
          <p:nvPr/>
        </p:nvSpPr>
        <p:spPr>
          <a:xfrm>
            <a:off x="4935501" y="2146561"/>
            <a:ext cx="4719955" cy="2550160"/>
          </a:xfrm>
          <a:prstGeom prst="rect">
            <a:avLst/>
          </a:prstGeom>
        </p:spPr>
        <p:txBody>
          <a:bodyPr vert="horz" wrap="square" lIns="0" tIns="135890" rIns="0" bIns="0" rtlCol="0">
            <a:spAutoFit/>
          </a:bodyPr>
          <a:lstStyle/>
          <a:p>
            <a:pPr marL="262890" indent="-250190">
              <a:lnSpc>
                <a:spcPct val="100000"/>
              </a:lnSpc>
              <a:spcBef>
                <a:spcPts val="1070"/>
              </a:spcBef>
              <a:buFont typeface="Wingdings"/>
              <a:buChar char=""/>
              <a:tabLst>
                <a:tab pos="262890" algn="l"/>
              </a:tabLst>
            </a:pPr>
            <a:r>
              <a:rPr sz="1550" dirty="0">
                <a:latin typeface="微软雅黑"/>
                <a:cs typeface="微软雅黑"/>
              </a:rPr>
              <a:t>当敏感信号</a:t>
            </a:r>
            <a:r>
              <a:rPr sz="1550" dirty="0">
                <a:latin typeface="Arial"/>
                <a:cs typeface="Arial"/>
              </a:rPr>
              <a:t>clk</a:t>
            </a:r>
            <a:r>
              <a:rPr sz="1550" dirty="0">
                <a:latin typeface="微软雅黑"/>
                <a:cs typeface="微软雅黑"/>
              </a:rPr>
              <a:t>或者</a:t>
            </a:r>
            <a:r>
              <a:rPr sz="1550" dirty="0">
                <a:latin typeface="Arial"/>
                <a:cs typeface="Arial"/>
              </a:rPr>
              <a:t>d</a:t>
            </a:r>
            <a:r>
              <a:rPr sz="1550" spc="-5" dirty="0">
                <a:latin typeface="微软雅黑"/>
                <a:cs typeface="微软雅黑"/>
              </a:rPr>
              <a:t>电平变化时，过程语句被启动</a:t>
            </a:r>
            <a:endParaRPr sz="1550">
              <a:latin typeface="微软雅黑"/>
              <a:cs typeface="微软雅黑"/>
            </a:endParaRPr>
          </a:p>
          <a:p>
            <a:pPr marL="262890">
              <a:lnSpc>
                <a:spcPct val="100000"/>
              </a:lnSpc>
              <a:spcBef>
                <a:spcPts val="980"/>
              </a:spcBef>
            </a:pPr>
            <a:r>
              <a:rPr sz="1550" spc="55" dirty="0">
                <a:latin typeface="微软雅黑"/>
                <a:cs typeface="微软雅黑"/>
              </a:rPr>
              <a:t>，顺序执行</a:t>
            </a:r>
            <a:r>
              <a:rPr sz="1550" dirty="0">
                <a:latin typeface="Arial"/>
                <a:cs typeface="Arial"/>
              </a:rPr>
              <a:t>if</a:t>
            </a:r>
            <a:r>
              <a:rPr sz="1550" spc="55" dirty="0">
                <a:latin typeface="微软雅黑"/>
                <a:cs typeface="微软雅黑"/>
              </a:rPr>
              <a:t>语句，如果此时</a:t>
            </a:r>
            <a:r>
              <a:rPr sz="1550" dirty="0">
                <a:latin typeface="Arial"/>
                <a:cs typeface="Arial"/>
              </a:rPr>
              <a:t>clk</a:t>
            </a:r>
            <a:r>
              <a:rPr sz="1550" spc="55" dirty="0">
                <a:latin typeface="微软雅黑"/>
                <a:cs typeface="微软雅黑"/>
              </a:rPr>
              <a:t>为</a:t>
            </a:r>
            <a:r>
              <a:rPr sz="1550" spc="50" dirty="0">
                <a:latin typeface="Arial"/>
                <a:cs typeface="Arial"/>
              </a:rPr>
              <a:t>1</a:t>
            </a:r>
            <a:r>
              <a:rPr sz="1550" spc="50" dirty="0">
                <a:latin typeface="微软雅黑"/>
                <a:cs typeface="微软雅黑"/>
              </a:rPr>
              <a:t>，则执行</a:t>
            </a:r>
            <a:r>
              <a:rPr sz="1550" spc="-20" dirty="0">
                <a:latin typeface="Arial"/>
                <a:cs typeface="Arial"/>
              </a:rPr>
              <a:t>q&lt;=d</a:t>
            </a:r>
            <a:endParaRPr sz="1550">
              <a:latin typeface="Arial"/>
              <a:cs typeface="Arial"/>
            </a:endParaRPr>
          </a:p>
          <a:p>
            <a:pPr marL="262890">
              <a:lnSpc>
                <a:spcPct val="100000"/>
              </a:lnSpc>
              <a:spcBef>
                <a:spcPts val="985"/>
              </a:spcBef>
            </a:pPr>
            <a:r>
              <a:rPr sz="1550" dirty="0">
                <a:latin typeface="微软雅黑"/>
                <a:cs typeface="微软雅黑"/>
              </a:rPr>
              <a:t>，把</a:t>
            </a:r>
            <a:r>
              <a:rPr sz="1550" dirty="0">
                <a:latin typeface="Arial"/>
                <a:cs typeface="Arial"/>
              </a:rPr>
              <a:t>d</a:t>
            </a:r>
            <a:r>
              <a:rPr sz="1550" dirty="0">
                <a:latin typeface="微软雅黑"/>
                <a:cs typeface="微软雅黑"/>
              </a:rPr>
              <a:t>的数据更新至</a:t>
            </a:r>
            <a:r>
              <a:rPr sz="1550" dirty="0">
                <a:latin typeface="Arial"/>
                <a:cs typeface="Arial"/>
              </a:rPr>
              <a:t>q</a:t>
            </a:r>
            <a:r>
              <a:rPr sz="1550" dirty="0">
                <a:latin typeface="微软雅黑"/>
                <a:cs typeface="微软雅黑"/>
              </a:rPr>
              <a:t>，然后结束</a:t>
            </a:r>
            <a:r>
              <a:rPr sz="1550" spc="-10" dirty="0">
                <a:latin typeface="Arial"/>
                <a:cs typeface="Arial"/>
              </a:rPr>
              <a:t>if</a:t>
            </a:r>
            <a:r>
              <a:rPr sz="1550" spc="-20" dirty="0">
                <a:latin typeface="微软雅黑"/>
                <a:cs typeface="微软雅黑"/>
              </a:rPr>
              <a:t>语句。</a:t>
            </a:r>
            <a:endParaRPr sz="1550">
              <a:latin typeface="微软雅黑"/>
              <a:cs typeface="微软雅黑"/>
            </a:endParaRPr>
          </a:p>
          <a:p>
            <a:pPr marL="262890" indent="-250825" algn="just">
              <a:lnSpc>
                <a:spcPct val="100000"/>
              </a:lnSpc>
              <a:spcBef>
                <a:spcPts val="975"/>
              </a:spcBef>
              <a:buFont typeface="Wingdings"/>
              <a:buChar char=""/>
              <a:tabLst>
                <a:tab pos="262890" algn="l"/>
              </a:tabLst>
            </a:pPr>
            <a:r>
              <a:rPr sz="1550" spc="75" dirty="0">
                <a:latin typeface="微软雅黑"/>
                <a:cs typeface="微软雅黑"/>
              </a:rPr>
              <a:t>当</a:t>
            </a:r>
            <a:r>
              <a:rPr sz="1550" dirty="0">
                <a:latin typeface="Arial"/>
                <a:cs typeface="Arial"/>
              </a:rPr>
              <a:t>clk</a:t>
            </a:r>
            <a:r>
              <a:rPr sz="1550" spc="65" dirty="0">
                <a:latin typeface="微软雅黑"/>
                <a:cs typeface="微软雅黑"/>
              </a:rPr>
              <a:t>从</a:t>
            </a:r>
            <a:r>
              <a:rPr sz="1550" spc="60" dirty="0">
                <a:latin typeface="Arial"/>
                <a:cs typeface="Arial"/>
              </a:rPr>
              <a:t>1</a:t>
            </a:r>
            <a:r>
              <a:rPr sz="1550" spc="75" dirty="0">
                <a:latin typeface="微软雅黑"/>
                <a:cs typeface="微软雅黑"/>
              </a:rPr>
              <a:t>变为</a:t>
            </a:r>
            <a:r>
              <a:rPr sz="1550" spc="60" dirty="0">
                <a:latin typeface="Arial"/>
                <a:cs typeface="Arial"/>
              </a:rPr>
              <a:t>0</a:t>
            </a:r>
            <a:r>
              <a:rPr sz="1550" spc="65" dirty="0">
                <a:latin typeface="微软雅黑"/>
                <a:cs typeface="微软雅黑"/>
              </a:rPr>
              <a:t>或者保持低电平都不会触发过程，</a:t>
            </a:r>
            <a:endParaRPr sz="1550">
              <a:latin typeface="微软雅黑"/>
              <a:cs typeface="微软雅黑"/>
            </a:endParaRPr>
          </a:p>
          <a:p>
            <a:pPr marL="262890" marR="5080" algn="just">
              <a:lnSpc>
                <a:spcPct val="152600"/>
              </a:lnSpc>
              <a:spcBef>
                <a:spcPts val="5"/>
              </a:spcBef>
            </a:pPr>
            <a:r>
              <a:rPr sz="1550" spc="55" dirty="0">
                <a:latin typeface="微软雅黑"/>
                <a:cs typeface="微软雅黑"/>
              </a:rPr>
              <a:t>锁存器的输出</a:t>
            </a:r>
            <a:r>
              <a:rPr sz="1550" dirty="0">
                <a:latin typeface="Arial"/>
                <a:cs typeface="Arial"/>
              </a:rPr>
              <a:t>q</a:t>
            </a:r>
            <a:r>
              <a:rPr sz="1550" spc="50" dirty="0">
                <a:latin typeface="微软雅黑"/>
                <a:cs typeface="微软雅黑"/>
              </a:rPr>
              <a:t>将保持原来的状态，这就意味着在</a:t>
            </a:r>
            <a:r>
              <a:rPr sz="1550" spc="95" dirty="0">
                <a:latin typeface="微软雅黑"/>
                <a:cs typeface="微软雅黑"/>
              </a:rPr>
              <a:t>设计模块中引入了存储元件。而此处也是省略的</a:t>
            </a:r>
            <a:r>
              <a:rPr sz="1550" spc="50" dirty="0">
                <a:latin typeface="微软雅黑"/>
                <a:cs typeface="微软雅黑"/>
              </a:rPr>
              <a:t> </a:t>
            </a:r>
            <a:r>
              <a:rPr sz="1550" dirty="0">
                <a:latin typeface="Arial"/>
                <a:cs typeface="Arial"/>
              </a:rPr>
              <a:t>else</a:t>
            </a:r>
            <a:r>
              <a:rPr sz="1550" spc="-5" dirty="0">
                <a:latin typeface="微软雅黑"/>
                <a:cs typeface="微软雅黑"/>
              </a:rPr>
              <a:t>分支描述了这个触发器的预期行为。</a:t>
            </a:r>
            <a:endParaRPr sz="1550">
              <a:latin typeface="微软雅黑"/>
              <a:cs typeface="微软雅黑"/>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396494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4.1.5</a:t>
            </a:r>
            <a:r>
              <a:rPr spc="-5" dirty="0">
                <a:latin typeface="Arial"/>
                <a:cs typeface="Arial"/>
              </a:rPr>
              <a:t> </a:t>
            </a:r>
            <a:r>
              <a:rPr dirty="0"/>
              <a:t>含清</a:t>
            </a:r>
            <a:r>
              <a:rPr spc="-30" dirty="0">
                <a:latin typeface="Arial"/>
                <a:cs typeface="Arial"/>
              </a:rPr>
              <a:t>0</a:t>
            </a:r>
            <a:r>
              <a:rPr spc="-20" dirty="0"/>
              <a:t>控制的锁存器</a:t>
            </a:r>
          </a:p>
        </p:txBody>
      </p:sp>
      <p:sp>
        <p:nvSpPr>
          <p:cNvPr id="3" name="object 3"/>
          <p:cNvSpPr txBox="1"/>
          <p:nvPr/>
        </p:nvSpPr>
        <p:spPr>
          <a:xfrm>
            <a:off x="672217" y="1885740"/>
            <a:ext cx="9483725" cy="827405"/>
          </a:xfrm>
          <a:prstGeom prst="rect">
            <a:avLst/>
          </a:prstGeom>
        </p:spPr>
        <p:txBody>
          <a:bodyPr vert="horz" wrap="square" lIns="0" tIns="12700" rIns="0" bIns="0" rtlCol="0">
            <a:spAutoFit/>
          </a:bodyPr>
          <a:lstStyle/>
          <a:p>
            <a:pPr marL="12700" marR="5080">
              <a:lnSpc>
                <a:spcPct val="150300"/>
              </a:lnSpc>
              <a:spcBef>
                <a:spcPts val="100"/>
              </a:spcBef>
            </a:pPr>
            <a:r>
              <a:rPr sz="1750" dirty="0">
                <a:latin typeface="微软雅黑"/>
                <a:cs typeface="微软雅黑"/>
              </a:rPr>
              <a:t>含异步清</a:t>
            </a:r>
            <a:r>
              <a:rPr sz="1750" spc="-10" dirty="0">
                <a:latin typeface="Arial"/>
                <a:cs typeface="Arial"/>
              </a:rPr>
              <a:t>0</a:t>
            </a:r>
            <a:r>
              <a:rPr sz="1750" dirty="0">
                <a:latin typeface="微软雅黑"/>
                <a:cs typeface="微软雅黑"/>
              </a:rPr>
              <a:t>控制的锁存器电路模块如图</a:t>
            </a:r>
            <a:r>
              <a:rPr sz="1750" spc="-10" dirty="0">
                <a:latin typeface="Arial"/>
                <a:cs typeface="Arial"/>
              </a:rPr>
              <a:t>4.10</a:t>
            </a:r>
            <a:r>
              <a:rPr sz="1750" dirty="0">
                <a:latin typeface="微软雅黑"/>
                <a:cs typeface="微软雅黑"/>
              </a:rPr>
              <a:t>所示，它的工作时序如图</a:t>
            </a:r>
            <a:r>
              <a:rPr sz="1750" spc="-45" dirty="0">
                <a:latin typeface="Arial"/>
                <a:cs typeface="Arial"/>
              </a:rPr>
              <a:t>4.11</a:t>
            </a:r>
            <a:r>
              <a:rPr sz="1750" dirty="0">
                <a:latin typeface="微软雅黑"/>
                <a:cs typeface="微软雅黑"/>
              </a:rPr>
              <a:t>所示。例</a:t>
            </a:r>
            <a:r>
              <a:rPr sz="1750" spc="-10" dirty="0">
                <a:latin typeface="Arial"/>
                <a:cs typeface="Arial"/>
              </a:rPr>
              <a:t>4.6</a:t>
            </a:r>
            <a:r>
              <a:rPr sz="1750" dirty="0">
                <a:latin typeface="微软雅黑"/>
                <a:cs typeface="微软雅黑"/>
              </a:rPr>
              <a:t>和例</a:t>
            </a:r>
            <a:r>
              <a:rPr sz="1750" spc="-10" dirty="0">
                <a:latin typeface="Arial"/>
                <a:cs typeface="Arial"/>
              </a:rPr>
              <a:t>4.7</a:t>
            </a:r>
            <a:r>
              <a:rPr sz="1750" spc="-25" dirty="0">
                <a:latin typeface="微软雅黑"/>
                <a:cs typeface="微软雅黑"/>
              </a:rPr>
              <a:t>分别</a:t>
            </a:r>
            <a:r>
              <a:rPr sz="1750" dirty="0">
                <a:latin typeface="微软雅黑"/>
                <a:cs typeface="微软雅黑"/>
              </a:rPr>
              <a:t>是它的两种不同风格的</a:t>
            </a:r>
            <a:r>
              <a:rPr sz="1750" spc="-10" dirty="0">
                <a:latin typeface="Arial"/>
                <a:cs typeface="Arial"/>
              </a:rPr>
              <a:t>Verilog</a:t>
            </a:r>
            <a:r>
              <a:rPr sz="1750" spc="-55" dirty="0">
                <a:latin typeface="Arial"/>
                <a:cs typeface="Arial"/>
              </a:rPr>
              <a:t> </a:t>
            </a:r>
            <a:r>
              <a:rPr sz="1750" spc="-10" dirty="0">
                <a:latin typeface="Arial"/>
                <a:cs typeface="Arial"/>
              </a:rPr>
              <a:t>HDL</a:t>
            </a:r>
            <a:r>
              <a:rPr sz="1750" spc="-20" dirty="0">
                <a:latin typeface="微软雅黑"/>
                <a:cs typeface="微软雅黑"/>
              </a:rPr>
              <a:t>描述。</a:t>
            </a:r>
            <a:endParaRPr sz="1750">
              <a:latin typeface="微软雅黑"/>
              <a:cs typeface="微软雅黑"/>
            </a:endParaRPr>
          </a:p>
        </p:txBody>
      </p:sp>
      <p:sp>
        <p:nvSpPr>
          <p:cNvPr id="4" name="object 4"/>
          <p:cNvSpPr/>
          <p:nvPr/>
        </p:nvSpPr>
        <p:spPr>
          <a:xfrm>
            <a:off x="2520581" y="3457955"/>
            <a:ext cx="713740" cy="1081405"/>
          </a:xfrm>
          <a:custGeom>
            <a:avLst/>
            <a:gdLst/>
            <a:ahLst/>
            <a:cxnLst/>
            <a:rect l="l" t="t" r="r" b="b"/>
            <a:pathLst>
              <a:path w="713739" h="1081404">
                <a:moveTo>
                  <a:pt x="0" y="0"/>
                </a:moveTo>
                <a:lnTo>
                  <a:pt x="0" y="1081277"/>
                </a:lnTo>
                <a:lnTo>
                  <a:pt x="713232" y="1081277"/>
                </a:lnTo>
                <a:lnTo>
                  <a:pt x="713231" y="0"/>
                </a:lnTo>
                <a:lnTo>
                  <a:pt x="0" y="0"/>
                </a:lnTo>
                <a:close/>
              </a:path>
            </a:pathLst>
          </a:custGeom>
          <a:ln w="15773">
            <a:solidFill>
              <a:srgbClr val="000000"/>
            </a:solidFill>
          </a:ln>
        </p:spPr>
        <p:txBody>
          <a:bodyPr wrap="square" lIns="0" tIns="0" rIns="0" bIns="0" rtlCol="0"/>
          <a:lstStyle/>
          <a:p>
            <a:endParaRPr/>
          </a:p>
        </p:txBody>
      </p:sp>
      <p:sp>
        <p:nvSpPr>
          <p:cNvPr id="5" name="object 5"/>
          <p:cNvSpPr txBox="1"/>
          <p:nvPr/>
        </p:nvSpPr>
        <p:spPr>
          <a:xfrm>
            <a:off x="2552579" y="3434827"/>
            <a:ext cx="234315" cy="662940"/>
          </a:xfrm>
          <a:prstGeom prst="rect">
            <a:avLst/>
          </a:prstGeom>
        </p:spPr>
        <p:txBody>
          <a:bodyPr vert="horz" wrap="square" lIns="0" tIns="12065" rIns="0" bIns="0" rtlCol="0">
            <a:spAutoFit/>
          </a:bodyPr>
          <a:lstStyle/>
          <a:p>
            <a:pPr marR="5080" indent="11430">
              <a:lnSpc>
                <a:spcPct val="154800"/>
              </a:lnSpc>
              <a:spcBef>
                <a:spcPts val="95"/>
              </a:spcBef>
            </a:pPr>
            <a:r>
              <a:rPr sz="1350" b="1" spc="-50" dirty="0">
                <a:latin typeface="Times New Roman"/>
                <a:cs typeface="Times New Roman"/>
              </a:rPr>
              <a:t>d </a:t>
            </a:r>
            <a:r>
              <a:rPr sz="1350" b="1" spc="-25" dirty="0">
                <a:latin typeface="Times New Roman"/>
                <a:cs typeface="Times New Roman"/>
              </a:rPr>
              <a:t>clk</a:t>
            </a:r>
            <a:endParaRPr sz="1350">
              <a:latin typeface="Times New Roman"/>
              <a:cs typeface="Times New Roman"/>
            </a:endParaRPr>
          </a:p>
        </p:txBody>
      </p:sp>
      <p:sp>
        <p:nvSpPr>
          <p:cNvPr id="6" name="object 6"/>
          <p:cNvSpPr txBox="1"/>
          <p:nvPr/>
        </p:nvSpPr>
        <p:spPr>
          <a:xfrm>
            <a:off x="3094358" y="3539245"/>
            <a:ext cx="109220" cy="233045"/>
          </a:xfrm>
          <a:prstGeom prst="rect">
            <a:avLst/>
          </a:prstGeom>
        </p:spPr>
        <p:txBody>
          <a:bodyPr vert="horz" wrap="square" lIns="0" tIns="13970" rIns="0" bIns="0" rtlCol="0">
            <a:spAutoFit/>
          </a:bodyPr>
          <a:lstStyle/>
          <a:p>
            <a:pPr>
              <a:lnSpc>
                <a:spcPct val="100000"/>
              </a:lnSpc>
              <a:spcBef>
                <a:spcPts val="110"/>
              </a:spcBef>
            </a:pPr>
            <a:r>
              <a:rPr sz="1350" b="1" spc="-50" dirty="0">
                <a:latin typeface="Times New Roman"/>
                <a:cs typeface="Times New Roman"/>
              </a:rPr>
              <a:t>q</a:t>
            </a:r>
            <a:endParaRPr sz="1350">
              <a:latin typeface="Times New Roman"/>
              <a:cs typeface="Times New Roman"/>
            </a:endParaRPr>
          </a:p>
        </p:txBody>
      </p:sp>
      <p:sp>
        <p:nvSpPr>
          <p:cNvPr id="7" name="object 7"/>
          <p:cNvSpPr txBox="1"/>
          <p:nvPr/>
        </p:nvSpPr>
        <p:spPr>
          <a:xfrm>
            <a:off x="2547242" y="4240294"/>
            <a:ext cx="367665" cy="233045"/>
          </a:xfrm>
          <a:prstGeom prst="rect">
            <a:avLst/>
          </a:prstGeom>
        </p:spPr>
        <p:txBody>
          <a:bodyPr vert="horz" wrap="square" lIns="0" tIns="13970" rIns="0" bIns="0" rtlCol="0">
            <a:spAutoFit/>
          </a:bodyPr>
          <a:lstStyle/>
          <a:p>
            <a:pPr>
              <a:lnSpc>
                <a:spcPct val="100000"/>
              </a:lnSpc>
              <a:spcBef>
                <a:spcPts val="110"/>
              </a:spcBef>
            </a:pPr>
            <a:r>
              <a:rPr sz="1350" b="1" spc="-10" dirty="0">
                <a:latin typeface="Times New Roman"/>
                <a:cs typeface="Times New Roman"/>
              </a:rPr>
              <a:t>reset</a:t>
            </a:r>
            <a:endParaRPr sz="1350">
              <a:latin typeface="Times New Roman"/>
              <a:cs typeface="Times New Roman"/>
            </a:endParaRPr>
          </a:p>
        </p:txBody>
      </p:sp>
      <p:grpSp>
        <p:nvGrpSpPr>
          <p:cNvPr id="8" name="object 8"/>
          <p:cNvGrpSpPr/>
          <p:nvPr/>
        </p:nvGrpSpPr>
        <p:grpSpPr>
          <a:xfrm>
            <a:off x="1564766" y="3616185"/>
            <a:ext cx="2646045" cy="815340"/>
            <a:chOff x="1564766" y="3616185"/>
            <a:chExt cx="2646045" cy="815340"/>
          </a:xfrm>
        </p:grpSpPr>
        <p:sp>
          <p:nvSpPr>
            <p:cNvPr id="9" name="object 9"/>
            <p:cNvSpPr/>
            <p:nvPr/>
          </p:nvSpPr>
          <p:spPr>
            <a:xfrm>
              <a:off x="1909457" y="3681984"/>
              <a:ext cx="611505" cy="0"/>
            </a:xfrm>
            <a:custGeom>
              <a:avLst/>
              <a:gdLst/>
              <a:ahLst/>
              <a:cxnLst/>
              <a:rect l="l" t="t" r="r" b="b"/>
              <a:pathLst>
                <a:path w="611505">
                  <a:moveTo>
                    <a:pt x="0" y="0"/>
                  </a:moveTo>
                  <a:lnTo>
                    <a:pt x="611124" y="0"/>
                  </a:lnTo>
                </a:path>
              </a:pathLst>
            </a:custGeom>
            <a:ln w="15773">
              <a:solidFill>
                <a:srgbClr val="000000"/>
              </a:solidFill>
            </a:ln>
          </p:spPr>
          <p:txBody>
            <a:bodyPr wrap="square" lIns="0" tIns="0" rIns="0" bIns="0" rtlCol="0"/>
            <a:lstStyle/>
            <a:p>
              <a:endParaRPr/>
            </a:p>
          </p:txBody>
        </p:sp>
        <p:sp>
          <p:nvSpPr>
            <p:cNvPr id="10" name="object 10"/>
            <p:cNvSpPr/>
            <p:nvPr/>
          </p:nvSpPr>
          <p:spPr>
            <a:xfrm>
              <a:off x="1572653" y="3624072"/>
              <a:ext cx="330835" cy="99060"/>
            </a:xfrm>
            <a:custGeom>
              <a:avLst/>
              <a:gdLst/>
              <a:ahLst/>
              <a:cxnLst/>
              <a:rect l="l" t="t" r="r" b="b"/>
              <a:pathLst>
                <a:path w="330835" h="99060">
                  <a:moveTo>
                    <a:pt x="330707" y="59436"/>
                  </a:moveTo>
                  <a:lnTo>
                    <a:pt x="264413" y="0"/>
                  </a:lnTo>
                  <a:lnTo>
                    <a:pt x="0" y="0"/>
                  </a:lnTo>
                  <a:lnTo>
                    <a:pt x="0" y="99060"/>
                  </a:lnTo>
                  <a:lnTo>
                    <a:pt x="264413" y="99060"/>
                  </a:lnTo>
                  <a:lnTo>
                    <a:pt x="330707" y="59436"/>
                  </a:lnTo>
                  <a:close/>
                </a:path>
              </a:pathLst>
            </a:custGeom>
            <a:ln w="15773">
              <a:solidFill>
                <a:srgbClr val="000000"/>
              </a:solidFill>
            </a:ln>
          </p:spPr>
          <p:txBody>
            <a:bodyPr wrap="square" lIns="0" tIns="0" rIns="0" bIns="0" rtlCol="0"/>
            <a:lstStyle/>
            <a:p>
              <a:endParaRPr/>
            </a:p>
          </p:txBody>
        </p:sp>
        <p:sp>
          <p:nvSpPr>
            <p:cNvPr id="11" name="object 11"/>
            <p:cNvSpPr/>
            <p:nvPr/>
          </p:nvSpPr>
          <p:spPr>
            <a:xfrm>
              <a:off x="1909457" y="4005072"/>
              <a:ext cx="611505" cy="0"/>
            </a:xfrm>
            <a:custGeom>
              <a:avLst/>
              <a:gdLst/>
              <a:ahLst/>
              <a:cxnLst/>
              <a:rect l="l" t="t" r="r" b="b"/>
              <a:pathLst>
                <a:path w="611505">
                  <a:moveTo>
                    <a:pt x="0" y="0"/>
                  </a:moveTo>
                  <a:lnTo>
                    <a:pt x="611124" y="0"/>
                  </a:lnTo>
                </a:path>
              </a:pathLst>
            </a:custGeom>
            <a:ln w="15773">
              <a:solidFill>
                <a:srgbClr val="000000"/>
              </a:solidFill>
            </a:ln>
          </p:spPr>
          <p:txBody>
            <a:bodyPr wrap="square" lIns="0" tIns="0" rIns="0" bIns="0" rtlCol="0"/>
            <a:lstStyle/>
            <a:p>
              <a:endParaRPr/>
            </a:p>
          </p:txBody>
        </p:sp>
        <p:sp>
          <p:nvSpPr>
            <p:cNvPr id="12" name="object 12"/>
            <p:cNvSpPr/>
            <p:nvPr/>
          </p:nvSpPr>
          <p:spPr>
            <a:xfrm>
              <a:off x="1572653" y="3947160"/>
              <a:ext cx="330835" cy="99060"/>
            </a:xfrm>
            <a:custGeom>
              <a:avLst/>
              <a:gdLst/>
              <a:ahLst/>
              <a:cxnLst/>
              <a:rect l="l" t="t" r="r" b="b"/>
              <a:pathLst>
                <a:path w="330835" h="99060">
                  <a:moveTo>
                    <a:pt x="330707" y="59436"/>
                  </a:moveTo>
                  <a:lnTo>
                    <a:pt x="264413" y="0"/>
                  </a:lnTo>
                  <a:lnTo>
                    <a:pt x="0" y="0"/>
                  </a:lnTo>
                  <a:lnTo>
                    <a:pt x="0" y="99060"/>
                  </a:lnTo>
                  <a:lnTo>
                    <a:pt x="264413" y="99060"/>
                  </a:lnTo>
                  <a:lnTo>
                    <a:pt x="330707" y="59436"/>
                  </a:lnTo>
                  <a:close/>
                </a:path>
              </a:pathLst>
            </a:custGeom>
            <a:ln w="15773">
              <a:solidFill>
                <a:srgbClr val="000000"/>
              </a:solidFill>
            </a:ln>
          </p:spPr>
          <p:txBody>
            <a:bodyPr wrap="square" lIns="0" tIns="0" rIns="0" bIns="0" rtlCol="0"/>
            <a:lstStyle/>
            <a:p>
              <a:endParaRPr/>
            </a:p>
          </p:txBody>
        </p:sp>
        <p:sp>
          <p:nvSpPr>
            <p:cNvPr id="13" name="object 13"/>
            <p:cNvSpPr/>
            <p:nvPr/>
          </p:nvSpPr>
          <p:spPr>
            <a:xfrm>
              <a:off x="3244481" y="3682746"/>
              <a:ext cx="611505" cy="0"/>
            </a:xfrm>
            <a:custGeom>
              <a:avLst/>
              <a:gdLst/>
              <a:ahLst/>
              <a:cxnLst/>
              <a:rect l="l" t="t" r="r" b="b"/>
              <a:pathLst>
                <a:path w="611504">
                  <a:moveTo>
                    <a:pt x="0" y="0"/>
                  </a:moveTo>
                  <a:lnTo>
                    <a:pt x="611124" y="0"/>
                  </a:lnTo>
                </a:path>
              </a:pathLst>
            </a:custGeom>
            <a:ln w="15773">
              <a:solidFill>
                <a:srgbClr val="000000"/>
              </a:solidFill>
            </a:ln>
          </p:spPr>
          <p:txBody>
            <a:bodyPr wrap="square" lIns="0" tIns="0" rIns="0" bIns="0" rtlCol="0"/>
            <a:lstStyle/>
            <a:p>
              <a:endParaRPr/>
            </a:p>
          </p:txBody>
        </p:sp>
        <p:sp>
          <p:nvSpPr>
            <p:cNvPr id="14" name="object 14"/>
            <p:cNvSpPr/>
            <p:nvPr/>
          </p:nvSpPr>
          <p:spPr>
            <a:xfrm>
              <a:off x="3870845" y="3632454"/>
              <a:ext cx="331470" cy="100330"/>
            </a:xfrm>
            <a:custGeom>
              <a:avLst/>
              <a:gdLst/>
              <a:ahLst/>
              <a:cxnLst/>
              <a:rect l="l" t="t" r="r" b="b"/>
              <a:pathLst>
                <a:path w="331470" h="100329">
                  <a:moveTo>
                    <a:pt x="331470" y="60198"/>
                  </a:moveTo>
                  <a:lnTo>
                    <a:pt x="265176" y="0"/>
                  </a:lnTo>
                  <a:lnTo>
                    <a:pt x="0" y="0"/>
                  </a:lnTo>
                  <a:lnTo>
                    <a:pt x="0" y="99822"/>
                  </a:lnTo>
                  <a:lnTo>
                    <a:pt x="265176" y="99822"/>
                  </a:lnTo>
                  <a:lnTo>
                    <a:pt x="331470" y="60198"/>
                  </a:lnTo>
                  <a:close/>
                </a:path>
              </a:pathLst>
            </a:custGeom>
            <a:ln w="15773">
              <a:solidFill>
                <a:srgbClr val="000000"/>
              </a:solidFill>
            </a:ln>
          </p:spPr>
          <p:txBody>
            <a:bodyPr wrap="square" lIns="0" tIns="0" rIns="0" bIns="0" rtlCol="0"/>
            <a:lstStyle/>
            <a:p>
              <a:endParaRPr/>
            </a:p>
          </p:txBody>
        </p:sp>
        <p:sp>
          <p:nvSpPr>
            <p:cNvPr id="15" name="object 15"/>
            <p:cNvSpPr/>
            <p:nvPr/>
          </p:nvSpPr>
          <p:spPr>
            <a:xfrm>
              <a:off x="1909457" y="4382262"/>
              <a:ext cx="611505" cy="0"/>
            </a:xfrm>
            <a:custGeom>
              <a:avLst/>
              <a:gdLst/>
              <a:ahLst/>
              <a:cxnLst/>
              <a:rect l="l" t="t" r="r" b="b"/>
              <a:pathLst>
                <a:path w="611505">
                  <a:moveTo>
                    <a:pt x="0" y="0"/>
                  </a:moveTo>
                  <a:lnTo>
                    <a:pt x="611124" y="0"/>
                  </a:lnTo>
                </a:path>
              </a:pathLst>
            </a:custGeom>
            <a:ln w="15773">
              <a:solidFill>
                <a:srgbClr val="000000"/>
              </a:solidFill>
            </a:ln>
          </p:spPr>
          <p:txBody>
            <a:bodyPr wrap="square" lIns="0" tIns="0" rIns="0" bIns="0" rtlCol="0"/>
            <a:lstStyle/>
            <a:p>
              <a:endParaRPr/>
            </a:p>
          </p:txBody>
        </p:sp>
        <p:sp>
          <p:nvSpPr>
            <p:cNvPr id="16" name="object 16"/>
            <p:cNvSpPr/>
            <p:nvPr/>
          </p:nvSpPr>
          <p:spPr>
            <a:xfrm>
              <a:off x="1572653" y="4324350"/>
              <a:ext cx="330835" cy="99060"/>
            </a:xfrm>
            <a:custGeom>
              <a:avLst/>
              <a:gdLst/>
              <a:ahLst/>
              <a:cxnLst/>
              <a:rect l="l" t="t" r="r" b="b"/>
              <a:pathLst>
                <a:path w="330835" h="99060">
                  <a:moveTo>
                    <a:pt x="330707" y="59436"/>
                  </a:moveTo>
                  <a:lnTo>
                    <a:pt x="264413" y="0"/>
                  </a:lnTo>
                  <a:lnTo>
                    <a:pt x="0" y="0"/>
                  </a:lnTo>
                  <a:lnTo>
                    <a:pt x="0" y="99060"/>
                  </a:lnTo>
                  <a:lnTo>
                    <a:pt x="264413" y="99060"/>
                  </a:lnTo>
                  <a:lnTo>
                    <a:pt x="330707" y="59436"/>
                  </a:lnTo>
                  <a:close/>
                </a:path>
              </a:pathLst>
            </a:custGeom>
            <a:ln w="15773">
              <a:solidFill>
                <a:srgbClr val="000000"/>
              </a:solidFill>
            </a:ln>
          </p:spPr>
          <p:txBody>
            <a:bodyPr wrap="square" lIns="0" tIns="0" rIns="0" bIns="0" rtlCol="0"/>
            <a:lstStyle/>
            <a:p>
              <a:endParaRPr/>
            </a:p>
          </p:txBody>
        </p:sp>
      </p:grpSp>
      <p:sp>
        <p:nvSpPr>
          <p:cNvPr id="17" name="object 17"/>
          <p:cNvSpPr txBox="1"/>
          <p:nvPr/>
        </p:nvSpPr>
        <p:spPr>
          <a:xfrm>
            <a:off x="1368685" y="3424178"/>
            <a:ext cx="121920" cy="671830"/>
          </a:xfrm>
          <a:prstGeom prst="rect">
            <a:avLst/>
          </a:prstGeom>
        </p:spPr>
        <p:txBody>
          <a:bodyPr vert="horz" wrap="square" lIns="0" tIns="12065" rIns="0" bIns="0" rtlCol="0">
            <a:spAutoFit/>
          </a:bodyPr>
          <a:lstStyle/>
          <a:p>
            <a:pPr marL="17780" marR="5080" indent="-5715">
              <a:lnSpc>
                <a:spcPct val="157000"/>
              </a:lnSpc>
              <a:spcBef>
                <a:spcPts val="95"/>
              </a:spcBef>
            </a:pPr>
            <a:r>
              <a:rPr sz="1350" b="1" spc="-50" dirty="0">
                <a:latin typeface="Times New Roman"/>
                <a:cs typeface="Times New Roman"/>
              </a:rPr>
              <a:t>b a</a:t>
            </a:r>
            <a:endParaRPr sz="1350">
              <a:latin typeface="Times New Roman"/>
              <a:cs typeface="Times New Roman"/>
            </a:endParaRPr>
          </a:p>
        </p:txBody>
      </p:sp>
      <p:sp>
        <p:nvSpPr>
          <p:cNvPr id="18" name="object 18"/>
          <p:cNvSpPr txBox="1"/>
          <p:nvPr/>
        </p:nvSpPr>
        <p:spPr>
          <a:xfrm>
            <a:off x="4248282" y="3548388"/>
            <a:ext cx="111760" cy="233045"/>
          </a:xfrm>
          <a:prstGeom prst="rect">
            <a:avLst/>
          </a:prstGeom>
        </p:spPr>
        <p:txBody>
          <a:bodyPr vert="horz" wrap="square" lIns="0" tIns="13970" rIns="0" bIns="0" rtlCol="0">
            <a:spAutoFit/>
          </a:bodyPr>
          <a:lstStyle/>
          <a:p>
            <a:pPr marL="12700">
              <a:lnSpc>
                <a:spcPct val="100000"/>
              </a:lnSpc>
              <a:spcBef>
                <a:spcPts val="110"/>
              </a:spcBef>
            </a:pPr>
            <a:r>
              <a:rPr sz="1350" b="1" spc="-50" dirty="0">
                <a:latin typeface="Times New Roman"/>
                <a:cs typeface="Times New Roman"/>
              </a:rPr>
              <a:t>y</a:t>
            </a:r>
            <a:endParaRPr sz="1350">
              <a:latin typeface="Times New Roman"/>
              <a:cs typeface="Times New Roman"/>
            </a:endParaRPr>
          </a:p>
        </p:txBody>
      </p:sp>
      <p:sp>
        <p:nvSpPr>
          <p:cNvPr id="19" name="object 19"/>
          <p:cNvSpPr txBox="1"/>
          <p:nvPr/>
        </p:nvSpPr>
        <p:spPr>
          <a:xfrm>
            <a:off x="1379353" y="4240290"/>
            <a:ext cx="102235" cy="233045"/>
          </a:xfrm>
          <a:prstGeom prst="rect">
            <a:avLst/>
          </a:prstGeom>
        </p:spPr>
        <p:txBody>
          <a:bodyPr vert="horz" wrap="square" lIns="0" tIns="13970" rIns="0" bIns="0" rtlCol="0">
            <a:spAutoFit/>
          </a:bodyPr>
          <a:lstStyle/>
          <a:p>
            <a:pPr marL="12700">
              <a:lnSpc>
                <a:spcPct val="100000"/>
              </a:lnSpc>
              <a:spcBef>
                <a:spcPts val="110"/>
              </a:spcBef>
            </a:pPr>
            <a:r>
              <a:rPr sz="1350" b="1" spc="-50" dirty="0">
                <a:latin typeface="Times New Roman"/>
                <a:cs typeface="Times New Roman"/>
              </a:rPr>
              <a:t>c</a:t>
            </a:r>
            <a:endParaRPr sz="1350">
              <a:latin typeface="Times New Roman"/>
              <a:cs typeface="Times New Roman"/>
            </a:endParaRPr>
          </a:p>
        </p:txBody>
      </p:sp>
      <p:sp>
        <p:nvSpPr>
          <p:cNvPr id="20" name="object 20"/>
          <p:cNvSpPr txBox="1"/>
          <p:nvPr/>
        </p:nvSpPr>
        <p:spPr>
          <a:xfrm>
            <a:off x="1543184" y="4989829"/>
            <a:ext cx="2640965"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4.10</a:t>
            </a:r>
            <a:r>
              <a:rPr sz="1200" spc="305" dirty="0">
                <a:latin typeface="Arial"/>
                <a:cs typeface="Arial"/>
              </a:rPr>
              <a:t> </a:t>
            </a:r>
            <a:r>
              <a:rPr sz="1200" dirty="0">
                <a:latin typeface="微软雅黑"/>
                <a:cs typeface="微软雅黑"/>
              </a:rPr>
              <a:t>含异步清</a:t>
            </a:r>
            <a:r>
              <a:rPr sz="1200" dirty="0">
                <a:latin typeface="Arial"/>
                <a:cs typeface="Arial"/>
              </a:rPr>
              <a:t>0</a:t>
            </a:r>
            <a:r>
              <a:rPr sz="1200" spc="-10" dirty="0">
                <a:latin typeface="微软雅黑"/>
                <a:cs typeface="微软雅黑"/>
              </a:rPr>
              <a:t>控制的锁存器模块图</a:t>
            </a:r>
            <a:endParaRPr sz="1200">
              <a:latin typeface="微软雅黑"/>
              <a:cs typeface="微软雅黑"/>
            </a:endParaRPr>
          </a:p>
        </p:txBody>
      </p:sp>
      <p:pic>
        <p:nvPicPr>
          <p:cNvPr id="21" name="object 21"/>
          <p:cNvPicPr/>
          <p:nvPr/>
        </p:nvPicPr>
        <p:blipFill>
          <a:blip r:embed="rId2" cstate="print"/>
          <a:stretch>
            <a:fillRect/>
          </a:stretch>
        </p:blipFill>
        <p:spPr>
          <a:xfrm>
            <a:off x="5190629" y="3452621"/>
            <a:ext cx="4466844" cy="1102613"/>
          </a:xfrm>
          <a:prstGeom prst="rect">
            <a:avLst/>
          </a:prstGeom>
        </p:spPr>
      </p:pic>
      <p:sp>
        <p:nvSpPr>
          <p:cNvPr id="22" name="object 22"/>
          <p:cNvSpPr txBox="1"/>
          <p:nvPr/>
        </p:nvSpPr>
        <p:spPr>
          <a:xfrm>
            <a:off x="5895727" y="4989829"/>
            <a:ext cx="305435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spc="-20" dirty="0">
                <a:latin typeface="Arial"/>
                <a:cs typeface="Arial"/>
              </a:rPr>
              <a:t>4.11</a:t>
            </a:r>
            <a:r>
              <a:rPr sz="1200" dirty="0">
                <a:latin typeface="微软雅黑"/>
                <a:cs typeface="微软雅黑"/>
              </a:rPr>
              <a:t>含异步清</a:t>
            </a:r>
            <a:r>
              <a:rPr sz="1200" dirty="0">
                <a:latin typeface="Arial"/>
                <a:cs typeface="Arial"/>
              </a:rPr>
              <a:t>0</a:t>
            </a:r>
            <a:r>
              <a:rPr sz="1200" spc="-5" dirty="0">
                <a:latin typeface="微软雅黑"/>
                <a:cs typeface="微软雅黑"/>
              </a:rPr>
              <a:t>控制的锁存器的时序波形图</a:t>
            </a:r>
            <a:endParaRPr sz="1200">
              <a:latin typeface="微软雅黑"/>
              <a:cs typeface="微软雅黑"/>
            </a:endParaRPr>
          </a:p>
        </p:txBody>
      </p:sp>
      <p:sp>
        <p:nvSpPr>
          <p:cNvPr id="23" name="object 23"/>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396494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4.1.5</a:t>
            </a:r>
            <a:r>
              <a:rPr spc="-5" dirty="0">
                <a:latin typeface="Arial"/>
                <a:cs typeface="Arial"/>
              </a:rPr>
              <a:t> </a:t>
            </a:r>
            <a:r>
              <a:rPr dirty="0"/>
              <a:t>含清</a:t>
            </a:r>
            <a:r>
              <a:rPr spc="-30" dirty="0">
                <a:latin typeface="Arial"/>
                <a:cs typeface="Arial"/>
              </a:rPr>
              <a:t>0</a:t>
            </a:r>
            <a:r>
              <a:rPr spc="-20" dirty="0"/>
              <a:t>控制的锁存器</a:t>
            </a:r>
          </a:p>
        </p:txBody>
      </p:sp>
      <p:grpSp>
        <p:nvGrpSpPr>
          <p:cNvPr id="3" name="object 3"/>
          <p:cNvGrpSpPr/>
          <p:nvPr/>
        </p:nvGrpSpPr>
        <p:grpSpPr>
          <a:xfrm>
            <a:off x="1066685" y="1751076"/>
            <a:ext cx="3762375" cy="2715260"/>
            <a:chOff x="1066685" y="1751076"/>
            <a:chExt cx="3762375" cy="2715260"/>
          </a:xfrm>
        </p:grpSpPr>
        <p:sp>
          <p:nvSpPr>
            <p:cNvPr id="4" name="object 4"/>
            <p:cNvSpPr/>
            <p:nvPr/>
          </p:nvSpPr>
          <p:spPr>
            <a:xfrm>
              <a:off x="1073543" y="1757934"/>
              <a:ext cx="3748404" cy="2701290"/>
            </a:xfrm>
            <a:custGeom>
              <a:avLst/>
              <a:gdLst/>
              <a:ahLst/>
              <a:cxnLst/>
              <a:rect l="l" t="t" r="r" b="b"/>
              <a:pathLst>
                <a:path w="3748404" h="2701290">
                  <a:moveTo>
                    <a:pt x="3748278" y="2701290"/>
                  </a:moveTo>
                  <a:lnTo>
                    <a:pt x="3748278" y="0"/>
                  </a:lnTo>
                  <a:lnTo>
                    <a:pt x="0" y="0"/>
                  </a:lnTo>
                  <a:lnTo>
                    <a:pt x="0" y="2701290"/>
                  </a:lnTo>
                  <a:lnTo>
                    <a:pt x="3748278" y="2701290"/>
                  </a:lnTo>
                  <a:close/>
                </a:path>
              </a:pathLst>
            </a:custGeom>
            <a:solidFill>
              <a:srgbClr val="F9FABA"/>
            </a:solidFill>
          </p:spPr>
          <p:txBody>
            <a:bodyPr wrap="square" lIns="0" tIns="0" rIns="0" bIns="0" rtlCol="0"/>
            <a:lstStyle/>
            <a:p>
              <a:endParaRPr/>
            </a:p>
          </p:txBody>
        </p:sp>
        <p:sp>
          <p:nvSpPr>
            <p:cNvPr id="5" name="object 5"/>
            <p:cNvSpPr/>
            <p:nvPr/>
          </p:nvSpPr>
          <p:spPr>
            <a:xfrm>
              <a:off x="1066685" y="1751076"/>
              <a:ext cx="3762375" cy="2715260"/>
            </a:xfrm>
            <a:custGeom>
              <a:avLst/>
              <a:gdLst/>
              <a:ahLst/>
              <a:cxnLst/>
              <a:rect l="l" t="t" r="r" b="b"/>
              <a:pathLst>
                <a:path w="3762375" h="2715260">
                  <a:moveTo>
                    <a:pt x="3761994" y="2711958"/>
                  </a:moveTo>
                  <a:lnTo>
                    <a:pt x="3761994" y="3048"/>
                  </a:lnTo>
                  <a:lnTo>
                    <a:pt x="3758946" y="0"/>
                  </a:lnTo>
                  <a:lnTo>
                    <a:pt x="3047" y="0"/>
                  </a:lnTo>
                  <a:lnTo>
                    <a:pt x="0" y="3048"/>
                  </a:lnTo>
                  <a:lnTo>
                    <a:pt x="0" y="2711958"/>
                  </a:lnTo>
                  <a:lnTo>
                    <a:pt x="3048" y="2715006"/>
                  </a:lnTo>
                  <a:lnTo>
                    <a:pt x="6858" y="2715006"/>
                  </a:lnTo>
                  <a:lnTo>
                    <a:pt x="6858" y="13716"/>
                  </a:lnTo>
                  <a:lnTo>
                    <a:pt x="13715" y="6858"/>
                  </a:lnTo>
                  <a:lnTo>
                    <a:pt x="13715" y="13716"/>
                  </a:lnTo>
                  <a:lnTo>
                    <a:pt x="3748278" y="13716"/>
                  </a:lnTo>
                  <a:lnTo>
                    <a:pt x="3748278" y="6858"/>
                  </a:lnTo>
                  <a:lnTo>
                    <a:pt x="3755136" y="13716"/>
                  </a:lnTo>
                  <a:lnTo>
                    <a:pt x="3755136" y="2715006"/>
                  </a:lnTo>
                  <a:lnTo>
                    <a:pt x="3758946" y="2715006"/>
                  </a:lnTo>
                  <a:lnTo>
                    <a:pt x="3761994" y="2711958"/>
                  </a:lnTo>
                  <a:close/>
                </a:path>
                <a:path w="3762375" h="2715260">
                  <a:moveTo>
                    <a:pt x="13715" y="13716"/>
                  </a:moveTo>
                  <a:lnTo>
                    <a:pt x="13715" y="6858"/>
                  </a:lnTo>
                  <a:lnTo>
                    <a:pt x="6858" y="13716"/>
                  </a:lnTo>
                  <a:lnTo>
                    <a:pt x="13715" y="13716"/>
                  </a:lnTo>
                  <a:close/>
                </a:path>
                <a:path w="3762375" h="2715260">
                  <a:moveTo>
                    <a:pt x="13715" y="2701290"/>
                  </a:moveTo>
                  <a:lnTo>
                    <a:pt x="13715" y="13716"/>
                  </a:lnTo>
                  <a:lnTo>
                    <a:pt x="6858" y="13716"/>
                  </a:lnTo>
                  <a:lnTo>
                    <a:pt x="6858" y="2701290"/>
                  </a:lnTo>
                  <a:lnTo>
                    <a:pt x="13715" y="2701290"/>
                  </a:lnTo>
                  <a:close/>
                </a:path>
                <a:path w="3762375" h="2715260">
                  <a:moveTo>
                    <a:pt x="3755136" y="2701290"/>
                  </a:moveTo>
                  <a:lnTo>
                    <a:pt x="6858" y="2701290"/>
                  </a:lnTo>
                  <a:lnTo>
                    <a:pt x="13715" y="2708147"/>
                  </a:lnTo>
                  <a:lnTo>
                    <a:pt x="13716" y="2715006"/>
                  </a:lnTo>
                  <a:lnTo>
                    <a:pt x="3748278" y="2715006"/>
                  </a:lnTo>
                  <a:lnTo>
                    <a:pt x="3748278" y="2708147"/>
                  </a:lnTo>
                  <a:lnTo>
                    <a:pt x="3755136" y="2701290"/>
                  </a:lnTo>
                  <a:close/>
                </a:path>
                <a:path w="3762375" h="2715260">
                  <a:moveTo>
                    <a:pt x="13716" y="2715006"/>
                  </a:moveTo>
                  <a:lnTo>
                    <a:pt x="13715" y="2708147"/>
                  </a:lnTo>
                  <a:lnTo>
                    <a:pt x="6858" y="2701290"/>
                  </a:lnTo>
                  <a:lnTo>
                    <a:pt x="6858" y="2715006"/>
                  </a:lnTo>
                  <a:lnTo>
                    <a:pt x="13716" y="2715006"/>
                  </a:lnTo>
                  <a:close/>
                </a:path>
                <a:path w="3762375" h="2715260">
                  <a:moveTo>
                    <a:pt x="3755136" y="13716"/>
                  </a:moveTo>
                  <a:lnTo>
                    <a:pt x="3748278" y="6858"/>
                  </a:lnTo>
                  <a:lnTo>
                    <a:pt x="3748278" y="13716"/>
                  </a:lnTo>
                  <a:lnTo>
                    <a:pt x="3755136" y="13716"/>
                  </a:lnTo>
                  <a:close/>
                </a:path>
                <a:path w="3762375" h="2715260">
                  <a:moveTo>
                    <a:pt x="3755136" y="2701290"/>
                  </a:moveTo>
                  <a:lnTo>
                    <a:pt x="3755136" y="13716"/>
                  </a:lnTo>
                  <a:lnTo>
                    <a:pt x="3748278" y="13716"/>
                  </a:lnTo>
                  <a:lnTo>
                    <a:pt x="3748278" y="2701290"/>
                  </a:lnTo>
                  <a:lnTo>
                    <a:pt x="3755136" y="2701290"/>
                  </a:lnTo>
                  <a:close/>
                </a:path>
                <a:path w="3762375" h="2715260">
                  <a:moveTo>
                    <a:pt x="3755136" y="2715006"/>
                  </a:moveTo>
                  <a:lnTo>
                    <a:pt x="3755136" y="2701290"/>
                  </a:lnTo>
                  <a:lnTo>
                    <a:pt x="3748278" y="2708147"/>
                  </a:lnTo>
                  <a:lnTo>
                    <a:pt x="3748278" y="2715006"/>
                  </a:lnTo>
                  <a:lnTo>
                    <a:pt x="3755136" y="2715006"/>
                  </a:lnTo>
                  <a:close/>
                </a:path>
              </a:pathLst>
            </a:custGeom>
            <a:solidFill>
              <a:srgbClr val="FF0000"/>
            </a:solidFill>
          </p:spPr>
          <p:txBody>
            <a:bodyPr wrap="square" lIns="0" tIns="0" rIns="0" bIns="0" rtlCol="0"/>
            <a:lstStyle/>
            <a:p>
              <a:endParaRPr/>
            </a:p>
          </p:txBody>
        </p:sp>
      </p:grpSp>
      <p:sp>
        <p:nvSpPr>
          <p:cNvPr id="6" name="object 6"/>
          <p:cNvSpPr txBox="1"/>
          <p:nvPr/>
        </p:nvSpPr>
        <p:spPr>
          <a:xfrm>
            <a:off x="1186567" y="1800509"/>
            <a:ext cx="2715260" cy="555625"/>
          </a:xfrm>
          <a:prstGeom prst="rect">
            <a:avLst/>
          </a:prstGeom>
        </p:spPr>
        <p:txBody>
          <a:bodyPr vert="horz" wrap="square" lIns="0" tIns="60960" rIns="0" bIns="0" rtlCol="0">
            <a:spAutoFit/>
          </a:bodyPr>
          <a:lstStyle/>
          <a:p>
            <a:pPr marL="12700">
              <a:lnSpc>
                <a:spcPct val="100000"/>
              </a:lnSpc>
              <a:spcBef>
                <a:spcPts val="480"/>
              </a:spcBef>
            </a:pPr>
            <a:r>
              <a:rPr sz="1200" b="1" spc="-95" dirty="0">
                <a:latin typeface="宋体"/>
                <a:cs typeface="宋体"/>
              </a:rPr>
              <a:t>例 </a:t>
            </a:r>
            <a:r>
              <a:rPr sz="1200" b="1" dirty="0">
                <a:latin typeface="Calibri"/>
                <a:cs typeface="Calibri"/>
              </a:rPr>
              <a:t>4.6</a:t>
            </a:r>
            <a:r>
              <a:rPr sz="1200" b="1" spc="160" dirty="0">
                <a:latin typeface="Calibri"/>
                <a:cs typeface="Calibri"/>
              </a:rPr>
              <a:t> </a:t>
            </a:r>
            <a:r>
              <a:rPr sz="1200" dirty="0">
                <a:latin typeface="宋体"/>
                <a:cs typeface="宋体"/>
              </a:rPr>
              <a:t>含异步清</a:t>
            </a:r>
            <a:r>
              <a:rPr sz="1200" dirty="0">
                <a:latin typeface="Calibri"/>
                <a:cs typeface="Calibri"/>
              </a:rPr>
              <a:t>0</a:t>
            </a:r>
            <a:r>
              <a:rPr sz="1200" spc="-5" dirty="0">
                <a:latin typeface="宋体"/>
                <a:cs typeface="宋体"/>
              </a:rPr>
              <a:t>控制锁存器的一种描述</a:t>
            </a:r>
            <a:endParaRPr sz="1200">
              <a:latin typeface="宋体"/>
              <a:cs typeface="宋体"/>
            </a:endParaRPr>
          </a:p>
          <a:p>
            <a:pPr marL="150495">
              <a:lnSpc>
                <a:spcPct val="100000"/>
              </a:lnSpc>
              <a:spcBef>
                <a:spcPts val="484"/>
              </a:spcBef>
            </a:pPr>
            <a:r>
              <a:rPr sz="1550" b="1" dirty="0">
                <a:latin typeface="Calibri"/>
                <a:cs typeface="Calibri"/>
              </a:rPr>
              <a:t>module</a:t>
            </a:r>
            <a:r>
              <a:rPr sz="1550" b="1" spc="15" dirty="0">
                <a:latin typeface="Calibri"/>
                <a:cs typeface="Calibri"/>
              </a:rPr>
              <a:t> </a:t>
            </a:r>
            <a:r>
              <a:rPr sz="1550" spc="-10" dirty="0">
                <a:latin typeface="宋体"/>
                <a:cs typeface="宋体"/>
              </a:rPr>
              <a:t>latch_reset_1</a:t>
            </a:r>
            <a:endParaRPr sz="1550">
              <a:latin typeface="宋体"/>
              <a:cs typeface="宋体"/>
            </a:endParaRPr>
          </a:p>
        </p:txBody>
      </p:sp>
      <p:sp>
        <p:nvSpPr>
          <p:cNvPr id="7" name="object 7"/>
          <p:cNvSpPr txBox="1"/>
          <p:nvPr/>
        </p:nvSpPr>
        <p:spPr>
          <a:xfrm>
            <a:off x="1429377" y="2377701"/>
            <a:ext cx="60960" cy="266065"/>
          </a:xfrm>
          <a:prstGeom prst="rect">
            <a:avLst/>
          </a:prstGeom>
        </p:spPr>
        <p:txBody>
          <a:bodyPr vert="horz" wrap="square" lIns="0" tIns="15875" rIns="0" bIns="0" rtlCol="0">
            <a:spAutoFit/>
          </a:bodyPr>
          <a:lstStyle/>
          <a:p>
            <a:pPr>
              <a:lnSpc>
                <a:spcPct val="100000"/>
              </a:lnSpc>
              <a:spcBef>
                <a:spcPts val="125"/>
              </a:spcBef>
            </a:pPr>
            <a:r>
              <a:rPr sz="1550" spc="-50" dirty="0">
                <a:latin typeface="Calibri"/>
                <a:cs typeface="Calibri"/>
              </a:rPr>
              <a:t>(</a:t>
            </a:r>
            <a:endParaRPr sz="1550">
              <a:latin typeface="Calibri"/>
              <a:cs typeface="Calibri"/>
            </a:endParaRPr>
          </a:p>
        </p:txBody>
      </p:sp>
      <p:sp>
        <p:nvSpPr>
          <p:cNvPr id="8" name="object 8"/>
          <p:cNvSpPr txBox="1"/>
          <p:nvPr/>
        </p:nvSpPr>
        <p:spPr>
          <a:xfrm>
            <a:off x="1382923" y="2618188"/>
            <a:ext cx="2592705" cy="1757680"/>
          </a:xfrm>
          <a:prstGeom prst="rect">
            <a:avLst/>
          </a:prstGeom>
        </p:spPr>
        <p:txBody>
          <a:bodyPr vert="horz" wrap="square" lIns="0" tIns="64135" rIns="0" bIns="0" rtlCol="0">
            <a:spAutoFit/>
          </a:bodyPr>
          <a:lstStyle/>
          <a:p>
            <a:pPr marL="137795">
              <a:lnSpc>
                <a:spcPct val="100000"/>
              </a:lnSpc>
              <a:spcBef>
                <a:spcPts val="505"/>
              </a:spcBef>
            </a:pPr>
            <a:r>
              <a:rPr sz="1550" b="1" dirty="0">
                <a:latin typeface="Calibri"/>
                <a:cs typeface="Calibri"/>
              </a:rPr>
              <a:t>input</a:t>
            </a:r>
            <a:r>
              <a:rPr sz="1550" b="1" spc="390" dirty="0">
                <a:latin typeface="Calibri"/>
                <a:cs typeface="Calibri"/>
              </a:rPr>
              <a:t> </a:t>
            </a:r>
            <a:r>
              <a:rPr sz="1550" spc="-10" dirty="0">
                <a:latin typeface="宋体"/>
                <a:cs typeface="宋体"/>
              </a:rPr>
              <a:t>clk,reset,</a:t>
            </a:r>
            <a:endParaRPr sz="1550">
              <a:latin typeface="宋体"/>
              <a:cs typeface="宋体"/>
            </a:endParaRPr>
          </a:p>
          <a:p>
            <a:pPr marL="137795" marR="1664335" indent="45085">
              <a:lnSpc>
                <a:spcPct val="122300"/>
              </a:lnSpc>
              <a:tabLst>
                <a:tab pos="768985" algn="l"/>
              </a:tabLst>
            </a:pPr>
            <a:r>
              <a:rPr sz="1550" b="1" spc="-10" dirty="0">
                <a:latin typeface="Calibri"/>
                <a:cs typeface="Calibri"/>
              </a:rPr>
              <a:t>input</a:t>
            </a:r>
            <a:r>
              <a:rPr sz="1550" b="1" dirty="0">
                <a:latin typeface="Calibri"/>
                <a:cs typeface="Calibri"/>
              </a:rPr>
              <a:t>	</a:t>
            </a:r>
            <a:r>
              <a:rPr sz="1550" spc="-25" dirty="0">
                <a:latin typeface="宋体"/>
                <a:cs typeface="宋体"/>
              </a:rPr>
              <a:t>d</a:t>
            </a:r>
            <a:r>
              <a:rPr sz="1550" spc="-25" dirty="0">
                <a:latin typeface="Calibri"/>
                <a:cs typeface="Calibri"/>
              </a:rPr>
              <a:t>, </a:t>
            </a:r>
            <a:r>
              <a:rPr sz="1550" b="1" dirty="0">
                <a:latin typeface="宋体"/>
                <a:cs typeface="宋体"/>
              </a:rPr>
              <a:t>o</a:t>
            </a:r>
            <a:r>
              <a:rPr sz="1550" b="1" dirty="0">
                <a:latin typeface="Calibri"/>
                <a:cs typeface="Calibri"/>
              </a:rPr>
              <a:t>utput</a:t>
            </a:r>
            <a:r>
              <a:rPr sz="1550" b="1" spc="30" dirty="0">
                <a:latin typeface="Calibri"/>
                <a:cs typeface="Calibri"/>
              </a:rPr>
              <a:t> </a:t>
            </a:r>
            <a:r>
              <a:rPr sz="1550" spc="-50" dirty="0">
                <a:latin typeface="Calibri"/>
                <a:cs typeface="Calibri"/>
              </a:rPr>
              <a:t>q</a:t>
            </a:r>
            <a:endParaRPr sz="1550">
              <a:latin typeface="Calibri"/>
              <a:cs typeface="Calibri"/>
            </a:endParaRPr>
          </a:p>
          <a:p>
            <a:pPr marL="71120">
              <a:lnSpc>
                <a:spcPct val="100000"/>
              </a:lnSpc>
              <a:spcBef>
                <a:spcPts val="409"/>
              </a:spcBef>
            </a:pPr>
            <a:r>
              <a:rPr sz="1550" spc="-25" dirty="0">
                <a:latin typeface="Calibri"/>
                <a:cs typeface="Calibri"/>
              </a:rPr>
              <a:t>);</a:t>
            </a:r>
            <a:endParaRPr sz="1550">
              <a:latin typeface="Calibri"/>
              <a:cs typeface="Calibri"/>
            </a:endParaRPr>
          </a:p>
          <a:p>
            <a:pPr marL="92075">
              <a:lnSpc>
                <a:spcPct val="100000"/>
              </a:lnSpc>
              <a:spcBef>
                <a:spcPts val="414"/>
              </a:spcBef>
            </a:pPr>
            <a:r>
              <a:rPr sz="1550" b="1" dirty="0">
                <a:latin typeface="Calibri"/>
                <a:cs typeface="Calibri"/>
              </a:rPr>
              <a:t>assign</a:t>
            </a:r>
            <a:r>
              <a:rPr sz="1550" b="1" spc="15" dirty="0">
                <a:latin typeface="Calibri"/>
                <a:cs typeface="Calibri"/>
              </a:rPr>
              <a:t> </a:t>
            </a:r>
            <a:r>
              <a:rPr sz="1550" dirty="0">
                <a:latin typeface="Calibri"/>
                <a:cs typeface="Calibri"/>
              </a:rPr>
              <a:t>q</a:t>
            </a:r>
            <a:r>
              <a:rPr sz="1550" spc="45" dirty="0">
                <a:latin typeface="Calibri"/>
                <a:cs typeface="Calibri"/>
              </a:rPr>
              <a:t> </a:t>
            </a:r>
            <a:r>
              <a:rPr sz="1550" dirty="0">
                <a:latin typeface="Calibri"/>
                <a:cs typeface="Calibri"/>
              </a:rPr>
              <a:t>=</a:t>
            </a:r>
            <a:r>
              <a:rPr sz="1550" spc="40" dirty="0">
                <a:latin typeface="Calibri"/>
                <a:cs typeface="Calibri"/>
              </a:rPr>
              <a:t> </a:t>
            </a:r>
            <a:r>
              <a:rPr sz="1550" dirty="0">
                <a:latin typeface="Calibri"/>
                <a:cs typeface="Calibri"/>
              </a:rPr>
              <a:t>(!reset)?</a:t>
            </a:r>
            <a:r>
              <a:rPr sz="1550" spc="30" dirty="0">
                <a:latin typeface="Calibri"/>
                <a:cs typeface="Calibri"/>
              </a:rPr>
              <a:t> </a:t>
            </a:r>
            <a:r>
              <a:rPr sz="1550" spc="-10" dirty="0">
                <a:latin typeface="Calibri"/>
                <a:cs typeface="Calibri"/>
              </a:rPr>
              <a:t>0:(clk?d:q);</a:t>
            </a:r>
            <a:endParaRPr sz="1550">
              <a:latin typeface="Calibri"/>
              <a:cs typeface="Calibri"/>
            </a:endParaRPr>
          </a:p>
          <a:p>
            <a:pPr>
              <a:lnSpc>
                <a:spcPct val="100000"/>
              </a:lnSpc>
              <a:spcBef>
                <a:spcPts val="409"/>
              </a:spcBef>
            </a:pPr>
            <a:r>
              <a:rPr sz="1550" b="1" spc="-10" dirty="0">
                <a:latin typeface="Calibri"/>
                <a:cs typeface="Calibri"/>
              </a:rPr>
              <a:t>endmodule</a:t>
            </a:r>
            <a:endParaRPr sz="1550">
              <a:latin typeface="Calibri"/>
              <a:cs typeface="Calibri"/>
            </a:endParaRPr>
          </a:p>
        </p:txBody>
      </p:sp>
      <p:grpSp>
        <p:nvGrpSpPr>
          <p:cNvPr id="9" name="object 9"/>
          <p:cNvGrpSpPr/>
          <p:nvPr/>
        </p:nvGrpSpPr>
        <p:grpSpPr>
          <a:xfrm>
            <a:off x="5741555" y="1751076"/>
            <a:ext cx="4093210" cy="3815715"/>
            <a:chOff x="5741555" y="1751076"/>
            <a:chExt cx="4093210" cy="3815715"/>
          </a:xfrm>
        </p:grpSpPr>
        <p:sp>
          <p:nvSpPr>
            <p:cNvPr id="10" name="object 10"/>
            <p:cNvSpPr/>
            <p:nvPr/>
          </p:nvSpPr>
          <p:spPr>
            <a:xfrm>
              <a:off x="5748413" y="1757934"/>
              <a:ext cx="4079240" cy="3801745"/>
            </a:xfrm>
            <a:custGeom>
              <a:avLst/>
              <a:gdLst/>
              <a:ahLst/>
              <a:cxnLst/>
              <a:rect l="l" t="t" r="r" b="b"/>
              <a:pathLst>
                <a:path w="4079240" h="3801745">
                  <a:moveTo>
                    <a:pt x="4078985" y="3801617"/>
                  </a:moveTo>
                  <a:lnTo>
                    <a:pt x="4078985" y="0"/>
                  </a:lnTo>
                  <a:lnTo>
                    <a:pt x="0" y="0"/>
                  </a:lnTo>
                  <a:lnTo>
                    <a:pt x="0" y="3801618"/>
                  </a:lnTo>
                  <a:lnTo>
                    <a:pt x="4078985" y="3801617"/>
                  </a:lnTo>
                  <a:close/>
                </a:path>
              </a:pathLst>
            </a:custGeom>
            <a:solidFill>
              <a:srgbClr val="F9FABA"/>
            </a:solidFill>
          </p:spPr>
          <p:txBody>
            <a:bodyPr wrap="square" lIns="0" tIns="0" rIns="0" bIns="0" rtlCol="0"/>
            <a:lstStyle/>
            <a:p>
              <a:endParaRPr/>
            </a:p>
          </p:txBody>
        </p:sp>
        <p:sp>
          <p:nvSpPr>
            <p:cNvPr id="11" name="object 11"/>
            <p:cNvSpPr/>
            <p:nvPr/>
          </p:nvSpPr>
          <p:spPr>
            <a:xfrm>
              <a:off x="5741555" y="1751076"/>
              <a:ext cx="4093210" cy="3815715"/>
            </a:xfrm>
            <a:custGeom>
              <a:avLst/>
              <a:gdLst/>
              <a:ahLst/>
              <a:cxnLst/>
              <a:rect l="l" t="t" r="r" b="b"/>
              <a:pathLst>
                <a:path w="4093209" h="3815715">
                  <a:moveTo>
                    <a:pt x="4092702" y="3812286"/>
                  </a:moveTo>
                  <a:lnTo>
                    <a:pt x="4092702" y="3048"/>
                  </a:lnTo>
                  <a:lnTo>
                    <a:pt x="4089654" y="0"/>
                  </a:lnTo>
                  <a:lnTo>
                    <a:pt x="3047" y="0"/>
                  </a:lnTo>
                  <a:lnTo>
                    <a:pt x="0" y="3048"/>
                  </a:lnTo>
                  <a:lnTo>
                    <a:pt x="0" y="3812286"/>
                  </a:lnTo>
                  <a:lnTo>
                    <a:pt x="3048" y="3815334"/>
                  </a:lnTo>
                  <a:lnTo>
                    <a:pt x="6858" y="3815334"/>
                  </a:lnTo>
                  <a:lnTo>
                    <a:pt x="6858" y="13716"/>
                  </a:lnTo>
                  <a:lnTo>
                    <a:pt x="13715" y="6858"/>
                  </a:lnTo>
                  <a:lnTo>
                    <a:pt x="13715" y="13716"/>
                  </a:lnTo>
                  <a:lnTo>
                    <a:pt x="4078986" y="13716"/>
                  </a:lnTo>
                  <a:lnTo>
                    <a:pt x="4078986" y="6858"/>
                  </a:lnTo>
                  <a:lnTo>
                    <a:pt x="4085844" y="13716"/>
                  </a:lnTo>
                  <a:lnTo>
                    <a:pt x="4085844" y="3815334"/>
                  </a:lnTo>
                  <a:lnTo>
                    <a:pt x="4089654" y="3815334"/>
                  </a:lnTo>
                  <a:lnTo>
                    <a:pt x="4092702" y="3812286"/>
                  </a:lnTo>
                  <a:close/>
                </a:path>
                <a:path w="4093209" h="3815715">
                  <a:moveTo>
                    <a:pt x="13715" y="13716"/>
                  </a:moveTo>
                  <a:lnTo>
                    <a:pt x="13715" y="6858"/>
                  </a:lnTo>
                  <a:lnTo>
                    <a:pt x="6858" y="13716"/>
                  </a:lnTo>
                  <a:lnTo>
                    <a:pt x="13715" y="13716"/>
                  </a:lnTo>
                  <a:close/>
                </a:path>
                <a:path w="4093209" h="3815715">
                  <a:moveTo>
                    <a:pt x="13716" y="3801618"/>
                  </a:moveTo>
                  <a:lnTo>
                    <a:pt x="13715" y="13716"/>
                  </a:lnTo>
                  <a:lnTo>
                    <a:pt x="6858" y="13716"/>
                  </a:lnTo>
                  <a:lnTo>
                    <a:pt x="6858" y="3801618"/>
                  </a:lnTo>
                  <a:lnTo>
                    <a:pt x="13716" y="3801618"/>
                  </a:lnTo>
                  <a:close/>
                </a:path>
                <a:path w="4093209" h="3815715">
                  <a:moveTo>
                    <a:pt x="4085844" y="3801618"/>
                  </a:moveTo>
                  <a:lnTo>
                    <a:pt x="6858" y="3801618"/>
                  </a:lnTo>
                  <a:lnTo>
                    <a:pt x="13716" y="3808476"/>
                  </a:lnTo>
                  <a:lnTo>
                    <a:pt x="13716" y="3815334"/>
                  </a:lnTo>
                  <a:lnTo>
                    <a:pt x="4078986" y="3815334"/>
                  </a:lnTo>
                  <a:lnTo>
                    <a:pt x="4078986" y="3808476"/>
                  </a:lnTo>
                  <a:lnTo>
                    <a:pt x="4085844" y="3801618"/>
                  </a:lnTo>
                  <a:close/>
                </a:path>
                <a:path w="4093209" h="3815715">
                  <a:moveTo>
                    <a:pt x="13716" y="3815334"/>
                  </a:moveTo>
                  <a:lnTo>
                    <a:pt x="13716" y="3808476"/>
                  </a:lnTo>
                  <a:lnTo>
                    <a:pt x="6858" y="3801618"/>
                  </a:lnTo>
                  <a:lnTo>
                    <a:pt x="6858" y="3815334"/>
                  </a:lnTo>
                  <a:lnTo>
                    <a:pt x="13716" y="3815334"/>
                  </a:lnTo>
                  <a:close/>
                </a:path>
                <a:path w="4093209" h="3815715">
                  <a:moveTo>
                    <a:pt x="4085844" y="13716"/>
                  </a:moveTo>
                  <a:lnTo>
                    <a:pt x="4078986" y="6858"/>
                  </a:lnTo>
                  <a:lnTo>
                    <a:pt x="4078986" y="13716"/>
                  </a:lnTo>
                  <a:lnTo>
                    <a:pt x="4085844" y="13716"/>
                  </a:lnTo>
                  <a:close/>
                </a:path>
                <a:path w="4093209" h="3815715">
                  <a:moveTo>
                    <a:pt x="4085844" y="3801618"/>
                  </a:moveTo>
                  <a:lnTo>
                    <a:pt x="4085844" y="13716"/>
                  </a:lnTo>
                  <a:lnTo>
                    <a:pt x="4078986" y="13716"/>
                  </a:lnTo>
                  <a:lnTo>
                    <a:pt x="4078986" y="3801618"/>
                  </a:lnTo>
                  <a:lnTo>
                    <a:pt x="4085844" y="3801618"/>
                  </a:lnTo>
                  <a:close/>
                </a:path>
                <a:path w="4093209" h="3815715">
                  <a:moveTo>
                    <a:pt x="4085844" y="3815334"/>
                  </a:moveTo>
                  <a:lnTo>
                    <a:pt x="4085844" y="3801618"/>
                  </a:lnTo>
                  <a:lnTo>
                    <a:pt x="4078986" y="3808476"/>
                  </a:lnTo>
                  <a:lnTo>
                    <a:pt x="4078986" y="3815334"/>
                  </a:lnTo>
                  <a:lnTo>
                    <a:pt x="4085844" y="3815334"/>
                  </a:lnTo>
                  <a:close/>
                </a:path>
              </a:pathLst>
            </a:custGeom>
            <a:solidFill>
              <a:srgbClr val="FF0000"/>
            </a:solidFill>
          </p:spPr>
          <p:txBody>
            <a:bodyPr wrap="square" lIns="0" tIns="0" rIns="0" bIns="0" rtlCol="0"/>
            <a:lstStyle/>
            <a:p>
              <a:endParaRPr/>
            </a:p>
          </p:txBody>
        </p:sp>
      </p:grpSp>
      <p:sp>
        <p:nvSpPr>
          <p:cNvPr id="12" name="object 12"/>
          <p:cNvSpPr txBox="1"/>
          <p:nvPr/>
        </p:nvSpPr>
        <p:spPr>
          <a:xfrm>
            <a:off x="5828417" y="1764976"/>
            <a:ext cx="3001645" cy="527050"/>
          </a:xfrm>
          <a:prstGeom prst="rect">
            <a:avLst/>
          </a:prstGeom>
        </p:spPr>
        <p:txBody>
          <a:bodyPr vert="horz" wrap="square" lIns="0" tIns="48260" rIns="0" bIns="0" rtlCol="0">
            <a:spAutoFit/>
          </a:bodyPr>
          <a:lstStyle/>
          <a:p>
            <a:pPr>
              <a:lnSpc>
                <a:spcPct val="100000"/>
              </a:lnSpc>
              <a:spcBef>
                <a:spcPts val="380"/>
              </a:spcBef>
            </a:pPr>
            <a:r>
              <a:rPr sz="1200" b="1" spc="-85" dirty="0">
                <a:latin typeface="宋体"/>
                <a:cs typeface="宋体"/>
              </a:rPr>
              <a:t>例 </a:t>
            </a:r>
            <a:r>
              <a:rPr sz="1200" b="1" dirty="0">
                <a:latin typeface="Calibri"/>
                <a:cs typeface="Calibri"/>
              </a:rPr>
              <a:t>4.7</a:t>
            </a:r>
            <a:r>
              <a:rPr sz="1200" b="1" spc="180" dirty="0">
                <a:latin typeface="Calibri"/>
                <a:cs typeface="Calibri"/>
              </a:rPr>
              <a:t> </a:t>
            </a:r>
            <a:r>
              <a:rPr sz="1200" dirty="0">
                <a:latin typeface="宋体"/>
                <a:cs typeface="宋体"/>
              </a:rPr>
              <a:t>含异步清</a:t>
            </a:r>
            <a:r>
              <a:rPr sz="1200" dirty="0">
                <a:latin typeface="Calibri"/>
                <a:cs typeface="Calibri"/>
              </a:rPr>
              <a:t>0</a:t>
            </a:r>
            <a:r>
              <a:rPr sz="1200" spc="-5" dirty="0">
                <a:latin typeface="宋体"/>
                <a:cs typeface="宋体"/>
              </a:rPr>
              <a:t>控制锁存器的另外一种描述</a:t>
            </a:r>
            <a:endParaRPr sz="1200">
              <a:latin typeface="宋体"/>
              <a:cs typeface="宋体"/>
            </a:endParaRPr>
          </a:p>
          <a:p>
            <a:pPr marL="183515">
              <a:lnSpc>
                <a:spcPct val="100000"/>
              </a:lnSpc>
              <a:spcBef>
                <a:spcPts val="360"/>
              </a:spcBef>
            </a:pPr>
            <a:r>
              <a:rPr sz="1550" b="1" dirty="0">
                <a:latin typeface="Calibri"/>
                <a:cs typeface="Calibri"/>
              </a:rPr>
              <a:t>module</a:t>
            </a:r>
            <a:r>
              <a:rPr sz="1550" b="1" spc="15" dirty="0">
                <a:latin typeface="Calibri"/>
                <a:cs typeface="Calibri"/>
              </a:rPr>
              <a:t> </a:t>
            </a:r>
            <a:r>
              <a:rPr sz="1550" spc="-10" dirty="0">
                <a:latin typeface="宋体"/>
                <a:cs typeface="宋体"/>
              </a:rPr>
              <a:t>latch_reset_2</a:t>
            </a:r>
            <a:endParaRPr sz="1550">
              <a:latin typeface="宋体"/>
              <a:cs typeface="宋体"/>
            </a:endParaRPr>
          </a:p>
        </p:txBody>
      </p:sp>
      <p:sp>
        <p:nvSpPr>
          <p:cNvPr id="16" name="object 1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3" name="object 13"/>
          <p:cNvSpPr txBox="1"/>
          <p:nvPr/>
        </p:nvSpPr>
        <p:spPr>
          <a:xfrm>
            <a:off x="6104246" y="2313693"/>
            <a:ext cx="60960" cy="266065"/>
          </a:xfrm>
          <a:prstGeom prst="rect">
            <a:avLst/>
          </a:prstGeom>
        </p:spPr>
        <p:txBody>
          <a:bodyPr vert="horz" wrap="square" lIns="0" tIns="15875" rIns="0" bIns="0" rtlCol="0">
            <a:spAutoFit/>
          </a:bodyPr>
          <a:lstStyle/>
          <a:p>
            <a:pPr>
              <a:lnSpc>
                <a:spcPct val="100000"/>
              </a:lnSpc>
              <a:spcBef>
                <a:spcPts val="125"/>
              </a:spcBef>
            </a:pPr>
            <a:r>
              <a:rPr sz="1550" spc="-50" dirty="0">
                <a:latin typeface="Calibri"/>
                <a:cs typeface="Calibri"/>
              </a:rPr>
              <a:t>(</a:t>
            </a:r>
            <a:endParaRPr sz="1550">
              <a:latin typeface="Calibri"/>
              <a:cs typeface="Calibri"/>
            </a:endParaRPr>
          </a:p>
        </p:txBody>
      </p:sp>
      <p:sp>
        <p:nvSpPr>
          <p:cNvPr id="14" name="object 14"/>
          <p:cNvSpPr txBox="1"/>
          <p:nvPr/>
        </p:nvSpPr>
        <p:spPr>
          <a:xfrm>
            <a:off x="6057772" y="2554180"/>
            <a:ext cx="2060575" cy="2912110"/>
          </a:xfrm>
          <a:prstGeom prst="rect">
            <a:avLst/>
          </a:prstGeom>
        </p:spPr>
        <p:txBody>
          <a:bodyPr vert="horz" wrap="square" lIns="0" tIns="64135" rIns="0" bIns="0" rtlCol="0">
            <a:spAutoFit/>
          </a:bodyPr>
          <a:lstStyle/>
          <a:p>
            <a:pPr marL="137795">
              <a:lnSpc>
                <a:spcPct val="100000"/>
              </a:lnSpc>
              <a:spcBef>
                <a:spcPts val="505"/>
              </a:spcBef>
            </a:pPr>
            <a:r>
              <a:rPr sz="1550" b="1" dirty="0">
                <a:latin typeface="Calibri"/>
                <a:cs typeface="Calibri"/>
              </a:rPr>
              <a:t>input</a:t>
            </a:r>
            <a:r>
              <a:rPr sz="1550" b="1" spc="390" dirty="0">
                <a:latin typeface="Calibri"/>
                <a:cs typeface="Calibri"/>
              </a:rPr>
              <a:t> </a:t>
            </a:r>
            <a:r>
              <a:rPr sz="1550" spc="-10" dirty="0">
                <a:latin typeface="宋体"/>
                <a:cs typeface="宋体"/>
              </a:rPr>
              <a:t>clk,reset</a:t>
            </a:r>
            <a:r>
              <a:rPr sz="1550" spc="-10" dirty="0">
                <a:latin typeface="Calibri"/>
                <a:cs typeface="Calibri"/>
              </a:rPr>
              <a:t>,</a:t>
            </a:r>
            <a:endParaRPr sz="1550">
              <a:latin typeface="Calibri"/>
              <a:cs typeface="Calibri"/>
            </a:endParaRPr>
          </a:p>
          <a:p>
            <a:pPr marL="137795" marR="799465" indent="45085">
              <a:lnSpc>
                <a:spcPct val="121900"/>
              </a:lnSpc>
              <a:spcBef>
                <a:spcPts val="10"/>
              </a:spcBef>
            </a:pPr>
            <a:r>
              <a:rPr sz="1550" b="1" dirty="0">
                <a:latin typeface="Calibri"/>
                <a:cs typeface="Calibri"/>
              </a:rPr>
              <a:t>input</a:t>
            </a:r>
            <a:r>
              <a:rPr sz="1550" b="1" spc="390" dirty="0">
                <a:latin typeface="Calibri"/>
                <a:cs typeface="Calibri"/>
              </a:rPr>
              <a:t> </a:t>
            </a:r>
            <a:r>
              <a:rPr sz="1550" spc="-25" dirty="0">
                <a:latin typeface="宋体"/>
                <a:cs typeface="宋体"/>
              </a:rPr>
              <a:t>d, </a:t>
            </a:r>
            <a:r>
              <a:rPr sz="1550" b="1" dirty="0">
                <a:latin typeface="宋体"/>
                <a:cs typeface="宋体"/>
              </a:rPr>
              <a:t>o</a:t>
            </a:r>
            <a:r>
              <a:rPr sz="1550" b="1" dirty="0">
                <a:latin typeface="Calibri"/>
                <a:cs typeface="Calibri"/>
              </a:rPr>
              <a:t>utput</a:t>
            </a:r>
            <a:r>
              <a:rPr sz="1550" b="1" spc="395" dirty="0">
                <a:latin typeface="Calibri"/>
                <a:cs typeface="Calibri"/>
              </a:rPr>
              <a:t> </a:t>
            </a:r>
            <a:r>
              <a:rPr sz="1550" b="1" dirty="0">
                <a:latin typeface="Calibri"/>
                <a:cs typeface="Calibri"/>
              </a:rPr>
              <a:t>reg</a:t>
            </a:r>
            <a:r>
              <a:rPr sz="1550" b="1" spc="385" dirty="0">
                <a:latin typeface="Calibri"/>
                <a:cs typeface="Calibri"/>
              </a:rPr>
              <a:t> </a:t>
            </a:r>
            <a:r>
              <a:rPr sz="1550" spc="-50" dirty="0">
                <a:latin typeface="Calibri"/>
                <a:cs typeface="Calibri"/>
              </a:rPr>
              <a:t>q</a:t>
            </a:r>
            <a:endParaRPr sz="1550">
              <a:latin typeface="Calibri"/>
              <a:cs typeface="Calibri"/>
            </a:endParaRPr>
          </a:p>
          <a:p>
            <a:pPr marL="71120">
              <a:lnSpc>
                <a:spcPct val="100000"/>
              </a:lnSpc>
              <a:spcBef>
                <a:spcPts val="414"/>
              </a:spcBef>
            </a:pPr>
            <a:r>
              <a:rPr sz="1550" spc="-25" dirty="0">
                <a:latin typeface="Calibri"/>
                <a:cs typeface="Calibri"/>
              </a:rPr>
              <a:t>);</a:t>
            </a:r>
            <a:endParaRPr sz="1550">
              <a:latin typeface="Calibri"/>
              <a:cs typeface="Calibri"/>
            </a:endParaRPr>
          </a:p>
          <a:p>
            <a:pPr marL="46355">
              <a:lnSpc>
                <a:spcPct val="100000"/>
              </a:lnSpc>
              <a:spcBef>
                <a:spcPts val="409"/>
              </a:spcBef>
            </a:pPr>
            <a:r>
              <a:rPr sz="1550" b="1" dirty="0">
                <a:latin typeface="Calibri"/>
                <a:cs typeface="Calibri"/>
              </a:rPr>
              <a:t>always</a:t>
            </a:r>
            <a:r>
              <a:rPr sz="1550" b="1" spc="15" dirty="0">
                <a:latin typeface="Calibri"/>
                <a:cs typeface="Calibri"/>
              </a:rPr>
              <a:t> </a:t>
            </a:r>
            <a:r>
              <a:rPr sz="1550" spc="-10" dirty="0">
                <a:latin typeface="Calibri"/>
                <a:cs typeface="Calibri"/>
              </a:rPr>
              <a:t>@(</a:t>
            </a:r>
            <a:r>
              <a:rPr sz="1550" spc="-10" dirty="0">
                <a:latin typeface="宋体"/>
                <a:cs typeface="宋体"/>
              </a:rPr>
              <a:t>clk,d,reset</a:t>
            </a:r>
            <a:r>
              <a:rPr sz="1550" spc="-10" dirty="0">
                <a:latin typeface="Calibri"/>
                <a:cs typeface="Calibri"/>
              </a:rPr>
              <a:t>)</a:t>
            </a:r>
            <a:endParaRPr sz="1550">
              <a:latin typeface="Calibri"/>
              <a:cs typeface="Calibri"/>
            </a:endParaRPr>
          </a:p>
          <a:p>
            <a:pPr marL="229870">
              <a:lnSpc>
                <a:spcPct val="100000"/>
              </a:lnSpc>
              <a:spcBef>
                <a:spcPts val="415"/>
              </a:spcBef>
            </a:pPr>
            <a:r>
              <a:rPr sz="1550" b="1" spc="-10" dirty="0">
                <a:latin typeface="Calibri"/>
                <a:cs typeface="Calibri"/>
              </a:rPr>
              <a:t>if</a:t>
            </a:r>
            <a:r>
              <a:rPr sz="1550" spc="-10" dirty="0">
                <a:latin typeface="Calibri"/>
                <a:cs typeface="Calibri"/>
              </a:rPr>
              <a:t>(!reset)</a:t>
            </a:r>
            <a:endParaRPr sz="1550">
              <a:latin typeface="Calibri"/>
              <a:cs typeface="Calibri"/>
            </a:endParaRPr>
          </a:p>
          <a:p>
            <a:pPr marL="504825">
              <a:lnSpc>
                <a:spcPct val="100000"/>
              </a:lnSpc>
              <a:spcBef>
                <a:spcPts val="409"/>
              </a:spcBef>
            </a:pPr>
            <a:r>
              <a:rPr sz="1550" dirty="0">
                <a:latin typeface="Calibri"/>
                <a:cs typeface="Calibri"/>
              </a:rPr>
              <a:t>q</a:t>
            </a:r>
            <a:r>
              <a:rPr sz="1550" spc="25" dirty="0">
                <a:latin typeface="Calibri"/>
                <a:cs typeface="Calibri"/>
              </a:rPr>
              <a:t> </a:t>
            </a:r>
            <a:r>
              <a:rPr sz="1550" dirty="0">
                <a:latin typeface="Calibri"/>
                <a:cs typeface="Calibri"/>
              </a:rPr>
              <a:t>&lt;=</a:t>
            </a:r>
            <a:r>
              <a:rPr sz="1550" spc="30" dirty="0">
                <a:latin typeface="Calibri"/>
                <a:cs typeface="Calibri"/>
              </a:rPr>
              <a:t> </a:t>
            </a:r>
            <a:r>
              <a:rPr sz="1550" spc="-25" dirty="0">
                <a:latin typeface="Calibri"/>
                <a:cs typeface="Calibri"/>
              </a:rPr>
              <a:t>0;</a:t>
            </a:r>
            <a:endParaRPr sz="1550">
              <a:latin typeface="Calibri"/>
              <a:cs typeface="Calibri"/>
            </a:endParaRPr>
          </a:p>
          <a:p>
            <a:pPr marL="239395">
              <a:lnSpc>
                <a:spcPct val="100000"/>
              </a:lnSpc>
              <a:spcBef>
                <a:spcPts val="414"/>
              </a:spcBef>
            </a:pPr>
            <a:r>
              <a:rPr sz="1550" b="1" dirty="0">
                <a:latin typeface="Calibri"/>
                <a:cs typeface="Calibri"/>
              </a:rPr>
              <a:t>else</a:t>
            </a:r>
            <a:r>
              <a:rPr sz="1550" b="1" spc="25" dirty="0">
                <a:latin typeface="Calibri"/>
                <a:cs typeface="Calibri"/>
              </a:rPr>
              <a:t> </a:t>
            </a:r>
            <a:r>
              <a:rPr sz="1550" b="1" spc="-10" dirty="0">
                <a:latin typeface="Calibri"/>
                <a:cs typeface="Calibri"/>
              </a:rPr>
              <a:t>if</a:t>
            </a:r>
            <a:r>
              <a:rPr sz="1550" spc="-10" dirty="0">
                <a:latin typeface="Calibri"/>
                <a:cs typeface="Calibri"/>
              </a:rPr>
              <a:t>(</a:t>
            </a:r>
            <a:r>
              <a:rPr sz="1550" spc="-10" dirty="0">
                <a:latin typeface="宋体"/>
                <a:cs typeface="宋体"/>
              </a:rPr>
              <a:t>clk)</a:t>
            </a:r>
            <a:endParaRPr sz="1550">
              <a:latin typeface="宋体"/>
              <a:cs typeface="宋体"/>
            </a:endParaRPr>
          </a:p>
          <a:p>
            <a:pPr marL="504825">
              <a:lnSpc>
                <a:spcPct val="100000"/>
              </a:lnSpc>
              <a:spcBef>
                <a:spcPts val="409"/>
              </a:spcBef>
            </a:pPr>
            <a:r>
              <a:rPr sz="1550" dirty="0">
                <a:latin typeface="Calibri"/>
                <a:cs typeface="Calibri"/>
              </a:rPr>
              <a:t>q</a:t>
            </a:r>
            <a:r>
              <a:rPr sz="1550" spc="25" dirty="0">
                <a:latin typeface="Calibri"/>
                <a:cs typeface="Calibri"/>
              </a:rPr>
              <a:t> </a:t>
            </a:r>
            <a:r>
              <a:rPr sz="1550" dirty="0">
                <a:latin typeface="Calibri"/>
                <a:cs typeface="Calibri"/>
              </a:rPr>
              <a:t>&lt;=</a:t>
            </a:r>
            <a:r>
              <a:rPr sz="1550" spc="30" dirty="0">
                <a:latin typeface="Calibri"/>
                <a:cs typeface="Calibri"/>
              </a:rPr>
              <a:t> </a:t>
            </a:r>
            <a:r>
              <a:rPr sz="1550" spc="-25" dirty="0">
                <a:latin typeface="Calibri"/>
                <a:cs typeface="Calibri"/>
              </a:rPr>
              <a:t>d;</a:t>
            </a:r>
            <a:endParaRPr sz="1550">
              <a:latin typeface="Calibri"/>
              <a:cs typeface="Calibri"/>
            </a:endParaRPr>
          </a:p>
          <a:p>
            <a:pPr>
              <a:lnSpc>
                <a:spcPct val="100000"/>
              </a:lnSpc>
              <a:spcBef>
                <a:spcPts val="415"/>
              </a:spcBef>
            </a:pPr>
            <a:r>
              <a:rPr sz="1550" b="1" spc="-10" dirty="0">
                <a:latin typeface="Calibri"/>
                <a:cs typeface="Calibri"/>
              </a:rPr>
              <a:t>endmodule</a:t>
            </a:r>
            <a:endParaRPr sz="1550">
              <a:latin typeface="Calibri"/>
              <a:cs typeface="Calibri"/>
            </a:endParaRPr>
          </a:p>
        </p:txBody>
      </p:sp>
      <p:sp>
        <p:nvSpPr>
          <p:cNvPr id="15" name="object 15"/>
          <p:cNvSpPr txBox="1"/>
          <p:nvPr/>
        </p:nvSpPr>
        <p:spPr>
          <a:xfrm>
            <a:off x="612005" y="4497357"/>
            <a:ext cx="4608195" cy="1829435"/>
          </a:xfrm>
          <a:prstGeom prst="rect">
            <a:avLst/>
          </a:prstGeom>
        </p:spPr>
        <p:txBody>
          <a:bodyPr vert="horz" wrap="square" lIns="0" tIns="12065" rIns="0" bIns="0" rtlCol="0">
            <a:spAutoFit/>
          </a:bodyPr>
          <a:lstStyle/>
          <a:p>
            <a:pPr marL="262890" marR="6985" indent="-250825" algn="just">
              <a:lnSpc>
                <a:spcPct val="152600"/>
              </a:lnSpc>
              <a:spcBef>
                <a:spcPts val="95"/>
              </a:spcBef>
              <a:buFont typeface="Wingdings"/>
              <a:buChar char=""/>
              <a:tabLst>
                <a:tab pos="262890" algn="l"/>
              </a:tabLst>
            </a:pPr>
            <a:r>
              <a:rPr sz="1550" dirty="0">
                <a:latin typeface="微软雅黑"/>
                <a:cs typeface="微软雅黑"/>
              </a:rPr>
              <a:t>例</a:t>
            </a:r>
            <a:r>
              <a:rPr sz="1550" dirty="0">
                <a:latin typeface="Arial"/>
                <a:cs typeface="Arial"/>
              </a:rPr>
              <a:t>4.6</a:t>
            </a:r>
            <a:r>
              <a:rPr sz="1550" spc="-5" dirty="0">
                <a:latin typeface="微软雅黑"/>
                <a:cs typeface="微软雅黑"/>
              </a:rPr>
              <a:t>中的描述使用了具有并行语句特色的连续赋值语句，其中使用了条件操作。</a:t>
            </a:r>
            <a:endParaRPr sz="1550">
              <a:latin typeface="微软雅黑"/>
              <a:cs typeface="微软雅黑"/>
            </a:endParaRPr>
          </a:p>
          <a:p>
            <a:pPr marL="262890" marR="5080" indent="-250825" algn="just">
              <a:lnSpc>
                <a:spcPct val="152700"/>
              </a:lnSpc>
              <a:buFont typeface="Wingdings"/>
              <a:buChar char=""/>
              <a:tabLst>
                <a:tab pos="262890" algn="l"/>
              </a:tabLst>
            </a:pPr>
            <a:r>
              <a:rPr sz="1550" spc="65" dirty="0">
                <a:latin typeface="微软雅黑"/>
                <a:cs typeface="微软雅黑"/>
              </a:rPr>
              <a:t>例</a:t>
            </a:r>
            <a:r>
              <a:rPr sz="1550" dirty="0">
                <a:latin typeface="Arial"/>
                <a:cs typeface="Arial"/>
              </a:rPr>
              <a:t>4.7</a:t>
            </a:r>
            <a:r>
              <a:rPr sz="1550" spc="60" dirty="0">
                <a:latin typeface="微软雅黑"/>
                <a:cs typeface="微软雅黑"/>
              </a:rPr>
              <a:t>使用的是过程语句，把数据信号</a:t>
            </a:r>
            <a:r>
              <a:rPr sz="1550" spc="55" dirty="0">
                <a:latin typeface="Arial"/>
                <a:cs typeface="Arial"/>
              </a:rPr>
              <a:t>d</a:t>
            </a:r>
            <a:r>
              <a:rPr sz="1550" spc="40" dirty="0">
                <a:latin typeface="微软雅黑"/>
                <a:cs typeface="微软雅黑"/>
              </a:rPr>
              <a:t>，复位信</a:t>
            </a:r>
            <a:r>
              <a:rPr sz="1550" dirty="0">
                <a:latin typeface="微软雅黑"/>
                <a:cs typeface="微软雅黑"/>
              </a:rPr>
              <a:t>号</a:t>
            </a:r>
            <a:r>
              <a:rPr sz="1550" dirty="0">
                <a:latin typeface="Arial"/>
                <a:cs typeface="Arial"/>
              </a:rPr>
              <a:t>reset</a:t>
            </a:r>
            <a:r>
              <a:rPr sz="1550" dirty="0">
                <a:latin typeface="微软雅黑"/>
                <a:cs typeface="微软雅黑"/>
              </a:rPr>
              <a:t>和时钟信号</a:t>
            </a:r>
            <a:r>
              <a:rPr sz="1550" dirty="0">
                <a:latin typeface="Arial"/>
                <a:cs typeface="Arial"/>
              </a:rPr>
              <a:t>clk</a:t>
            </a:r>
            <a:r>
              <a:rPr sz="1550" spc="-5" dirty="0">
                <a:latin typeface="微软雅黑"/>
                <a:cs typeface="微软雅黑"/>
              </a:rPr>
              <a:t>都列在敏感信号列表中，从</a:t>
            </a:r>
            <a:r>
              <a:rPr sz="1550" dirty="0">
                <a:latin typeface="微软雅黑"/>
                <a:cs typeface="微软雅黑"/>
              </a:rPr>
              <a:t>而实现例</a:t>
            </a:r>
            <a:r>
              <a:rPr sz="1550" dirty="0">
                <a:latin typeface="Arial"/>
                <a:cs typeface="Arial"/>
              </a:rPr>
              <a:t>reset</a:t>
            </a:r>
            <a:r>
              <a:rPr sz="1550" dirty="0">
                <a:latin typeface="微软雅黑"/>
                <a:cs typeface="微软雅黑"/>
              </a:rPr>
              <a:t>的异步特性和</a:t>
            </a:r>
            <a:r>
              <a:rPr sz="1550" dirty="0">
                <a:latin typeface="Arial"/>
                <a:cs typeface="Arial"/>
              </a:rPr>
              <a:t>clk</a:t>
            </a:r>
            <a:r>
              <a:rPr sz="1550" spc="-10" dirty="0">
                <a:latin typeface="微软雅黑"/>
                <a:cs typeface="微软雅黑"/>
              </a:rPr>
              <a:t>的电平触发特性。</a:t>
            </a:r>
            <a:endParaRPr sz="1550">
              <a:latin typeface="微软雅黑"/>
              <a:cs typeface="微软雅黑"/>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53936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4.2.1</a:t>
            </a:r>
            <a:r>
              <a:rPr spc="-35" dirty="0">
                <a:latin typeface="Arial"/>
                <a:cs typeface="Arial"/>
              </a:rPr>
              <a:t> </a:t>
            </a:r>
            <a:r>
              <a:rPr spc="-25" dirty="0">
                <a:latin typeface="Arial"/>
                <a:cs typeface="Arial"/>
              </a:rPr>
              <a:t>1</a:t>
            </a:r>
            <a:r>
              <a:rPr spc="-15" dirty="0"/>
              <a:t>位寄存器</a:t>
            </a:r>
          </a:p>
        </p:txBody>
      </p:sp>
      <p:sp>
        <p:nvSpPr>
          <p:cNvPr id="3" name="object 3"/>
          <p:cNvSpPr/>
          <p:nvPr/>
        </p:nvSpPr>
        <p:spPr>
          <a:xfrm>
            <a:off x="493661" y="3624071"/>
            <a:ext cx="9709150" cy="1176020"/>
          </a:xfrm>
          <a:custGeom>
            <a:avLst/>
            <a:gdLst/>
            <a:ahLst/>
            <a:cxnLst/>
            <a:rect l="l" t="t" r="r" b="b"/>
            <a:pathLst>
              <a:path w="9709150" h="1176020">
                <a:moveTo>
                  <a:pt x="16764" y="1159002"/>
                </a:moveTo>
                <a:lnTo>
                  <a:pt x="16764" y="1100328"/>
                </a:lnTo>
                <a:lnTo>
                  <a:pt x="0" y="1100328"/>
                </a:lnTo>
                <a:lnTo>
                  <a:pt x="0" y="1167384"/>
                </a:lnTo>
                <a:lnTo>
                  <a:pt x="9906" y="1167384"/>
                </a:lnTo>
                <a:lnTo>
                  <a:pt x="9906" y="1159002"/>
                </a:lnTo>
                <a:lnTo>
                  <a:pt x="16764" y="1159002"/>
                </a:lnTo>
                <a:close/>
              </a:path>
              <a:path w="9709150" h="1176020">
                <a:moveTo>
                  <a:pt x="76962" y="1175766"/>
                </a:moveTo>
                <a:lnTo>
                  <a:pt x="76962" y="1159002"/>
                </a:lnTo>
                <a:lnTo>
                  <a:pt x="9906" y="1159002"/>
                </a:lnTo>
                <a:lnTo>
                  <a:pt x="9906" y="1167384"/>
                </a:lnTo>
                <a:lnTo>
                  <a:pt x="16764" y="1167384"/>
                </a:lnTo>
                <a:lnTo>
                  <a:pt x="16764" y="1175766"/>
                </a:lnTo>
                <a:lnTo>
                  <a:pt x="76962" y="1175766"/>
                </a:lnTo>
                <a:close/>
              </a:path>
              <a:path w="9709150" h="1176020">
                <a:moveTo>
                  <a:pt x="16764" y="1175766"/>
                </a:moveTo>
                <a:lnTo>
                  <a:pt x="16764" y="1167384"/>
                </a:lnTo>
                <a:lnTo>
                  <a:pt x="9906" y="1167384"/>
                </a:lnTo>
                <a:lnTo>
                  <a:pt x="9906" y="1175766"/>
                </a:lnTo>
                <a:lnTo>
                  <a:pt x="16764" y="1175766"/>
                </a:lnTo>
                <a:close/>
              </a:path>
              <a:path w="9709150" h="1176020">
                <a:moveTo>
                  <a:pt x="16764" y="1050798"/>
                </a:moveTo>
                <a:lnTo>
                  <a:pt x="16764" y="983742"/>
                </a:lnTo>
                <a:lnTo>
                  <a:pt x="0" y="983742"/>
                </a:lnTo>
                <a:lnTo>
                  <a:pt x="0" y="1050798"/>
                </a:lnTo>
                <a:lnTo>
                  <a:pt x="16764" y="1050798"/>
                </a:lnTo>
                <a:close/>
              </a:path>
              <a:path w="9709150" h="1176020">
                <a:moveTo>
                  <a:pt x="16764" y="933450"/>
                </a:moveTo>
                <a:lnTo>
                  <a:pt x="16764" y="866394"/>
                </a:lnTo>
                <a:lnTo>
                  <a:pt x="0" y="866394"/>
                </a:lnTo>
                <a:lnTo>
                  <a:pt x="0" y="933450"/>
                </a:lnTo>
                <a:lnTo>
                  <a:pt x="16764" y="933450"/>
                </a:lnTo>
                <a:close/>
              </a:path>
              <a:path w="9709150" h="1176020">
                <a:moveTo>
                  <a:pt x="16764" y="816864"/>
                </a:moveTo>
                <a:lnTo>
                  <a:pt x="16764" y="749808"/>
                </a:lnTo>
                <a:lnTo>
                  <a:pt x="0" y="749808"/>
                </a:lnTo>
                <a:lnTo>
                  <a:pt x="0" y="816864"/>
                </a:lnTo>
                <a:lnTo>
                  <a:pt x="16764" y="816864"/>
                </a:lnTo>
                <a:close/>
              </a:path>
              <a:path w="9709150" h="1176020">
                <a:moveTo>
                  <a:pt x="16764" y="699516"/>
                </a:moveTo>
                <a:lnTo>
                  <a:pt x="16764" y="632460"/>
                </a:lnTo>
                <a:lnTo>
                  <a:pt x="0" y="632460"/>
                </a:lnTo>
                <a:lnTo>
                  <a:pt x="0" y="699516"/>
                </a:lnTo>
                <a:lnTo>
                  <a:pt x="16764" y="699516"/>
                </a:lnTo>
                <a:close/>
              </a:path>
              <a:path w="9709150" h="1176020">
                <a:moveTo>
                  <a:pt x="16764" y="582930"/>
                </a:moveTo>
                <a:lnTo>
                  <a:pt x="16764" y="515874"/>
                </a:lnTo>
                <a:lnTo>
                  <a:pt x="0" y="515874"/>
                </a:lnTo>
                <a:lnTo>
                  <a:pt x="0" y="582930"/>
                </a:lnTo>
                <a:lnTo>
                  <a:pt x="16764" y="582930"/>
                </a:lnTo>
                <a:close/>
              </a:path>
              <a:path w="9709150" h="1176020">
                <a:moveTo>
                  <a:pt x="16764" y="465582"/>
                </a:moveTo>
                <a:lnTo>
                  <a:pt x="16764" y="399288"/>
                </a:lnTo>
                <a:lnTo>
                  <a:pt x="0" y="399288"/>
                </a:lnTo>
                <a:lnTo>
                  <a:pt x="0" y="465582"/>
                </a:lnTo>
                <a:lnTo>
                  <a:pt x="16764" y="465582"/>
                </a:lnTo>
                <a:close/>
              </a:path>
              <a:path w="9709150" h="1176020">
                <a:moveTo>
                  <a:pt x="16764" y="348996"/>
                </a:moveTo>
                <a:lnTo>
                  <a:pt x="16764" y="281940"/>
                </a:lnTo>
                <a:lnTo>
                  <a:pt x="0" y="281940"/>
                </a:lnTo>
                <a:lnTo>
                  <a:pt x="0" y="348996"/>
                </a:lnTo>
                <a:lnTo>
                  <a:pt x="16764" y="348996"/>
                </a:lnTo>
                <a:close/>
              </a:path>
              <a:path w="9709150" h="1176020">
                <a:moveTo>
                  <a:pt x="16764" y="231648"/>
                </a:moveTo>
                <a:lnTo>
                  <a:pt x="16764" y="165354"/>
                </a:lnTo>
                <a:lnTo>
                  <a:pt x="0" y="165354"/>
                </a:lnTo>
                <a:lnTo>
                  <a:pt x="0" y="231648"/>
                </a:lnTo>
                <a:lnTo>
                  <a:pt x="16764" y="231648"/>
                </a:lnTo>
                <a:close/>
              </a:path>
              <a:path w="9709150" h="1176020">
                <a:moveTo>
                  <a:pt x="16764" y="115062"/>
                </a:moveTo>
                <a:lnTo>
                  <a:pt x="16764" y="48006"/>
                </a:lnTo>
                <a:lnTo>
                  <a:pt x="0" y="48006"/>
                </a:lnTo>
                <a:lnTo>
                  <a:pt x="0" y="115062"/>
                </a:lnTo>
                <a:lnTo>
                  <a:pt x="16764" y="115062"/>
                </a:lnTo>
                <a:close/>
              </a:path>
              <a:path w="9709150" h="1176020">
                <a:moveTo>
                  <a:pt x="84581" y="16002"/>
                </a:moveTo>
                <a:lnTo>
                  <a:pt x="84581" y="0"/>
                </a:lnTo>
                <a:lnTo>
                  <a:pt x="18287" y="0"/>
                </a:lnTo>
                <a:lnTo>
                  <a:pt x="18287" y="16002"/>
                </a:lnTo>
                <a:lnTo>
                  <a:pt x="84581" y="16002"/>
                </a:lnTo>
                <a:close/>
              </a:path>
              <a:path w="9709150" h="1176020">
                <a:moveTo>
                  <a:pt x="201929" y="16002"/>
                </a:moveTo>
                <a:lnTo>
                  <a:pt x="201929" y="0"/>
                </a:lnTo>
                <a:lnTo>
                  <a:pt x="134873" y="0"/>
                </a:lnTo>
                <a:lnTo>
                  <a:pt x="134873" y="16002"/>
                </a:lnTo>
                <a:lnTo>
                  <a:pt x="201929" y="16002"/>
                </a:lnTo>
                <a:close/>
              </a:path>
              <a:path w="9709150" h="1176020">
                <a:moveTo>
                  <a:pt x="318516" y="16002"/>
                </a:moveTo>
                <a:lnTo>
                  <a:pt x="318516" y="0"/>
                </a:lnTo>
                <a:lnTo>
                  <a:pt x="252222" y="0"/>
                </a:lnTo>
                <a:lnTo>
                  <a:pt x="252222" y="16002"/>
                </a:lnTo>
                <a:lnTo>
                  <a:pt x="318516" y="16002"/>
                </a:lnTo>
                <a:close/>
              </a:path>
              <a:path w="9709150" h="1176020">
                <a:moveTo>
                  <a:pt x="435864" y="16002"/>
                </a:moveTo>
                <a:lnTo>
                  <a:pt x="435864" y="0"/>
                </a:lnTo>
                <a:lnTo>
                  <a:pt x="368808" y="0"/>
                </a:lnTo>
                <a:lnTo>
                  <a:pt x="368808" y="16002"/>
                </a:lnTo>
                <a:lnTo>
                  <a:pt x="435864" y="16002"/>
                </a:lnTo>
                <a:close/>
              </a:path>
              <a:path w="9709150" h="1176020">
                <a:moveTo>
                  <a:pt x="552449" y="16002"/>
                </a:moveTo>
                <a:lnTo>
                  <a:pt x="552449" y="0"/>
                </a:lnTo>
                <a:lnTo>
                  <a:pt x="486155" y="0"/>
                </a:lnTo>
                <a:lnTo>
                  <a:pt x="486155" y="16002"/>
                </a:lnTo>
                <a:lnTo>
                  <a:pt x="552449" y="16002"/>
                </a:lnTo>
                <a:close/>
              </a:path>
              <a:path w="9709150" h="1176020">
                <a:moveTo>
                  <a:pt x="669798" y="16002"/>
                </a:moveTo>
                <a:lnTo>
                  <a:pt x="669798" y="0"/>
                </a:lnTo>
                <a:lnTo>
                  <a:pt x="602742" y="0"/>
                </a:lnTo>
                <a:lnTo>
                  <a:pt x="602742" y="16002"/>
                </a:lnTo>
                <a:lnTo>
                  <a:pt x="669798" y="16002"/>
                </a:lnTo>
                <a:close/>
              </a:path>
              <a:path w="9709150" h="1176020">
                <a:moveTo>
                  <a:pt x="786383" y="16002"/>
                </a:moveTo>
                <a:lnTo>
                  <a:pt x="786383" y="0"/>
                </a:lnTo>
                <a:lnTo>
                  <a:pt x="720090" y="0"/>
                </a:lnTo>
                <a:lnTo>
                  <a:pt x="720090" y="16002"/>
                </a:lnTo>
                <a:lnTo>
                  <a:pt x="786383" y="16002"/>
                </a:lnTo>
                <a:close/>
              </a:path>
              <a:path w="9709150" h="1176020">
                <a:moveTo>
                  <a:pt x="903732" y="16002"/>
                </a:moveTo>
                <a:lnTo>
                  <a:pt x="903732" y="0"/>
                </a:lnTo>
                <a:lnTo>
                  <a:pt x="836676" y="0"/>
                </a:lnTo>
                <a:lnTo>
                  <a:pt x="836676" y="16002"/>
                </a:lnTo>
                <a:lnTo>
                  <a:pt x="903732" y="16002"/>
                </a:lnTo>
                <a:close/>
              </a:path>
              <a:path w="9709150" h="1176020">
                <a:moveTo>
                  <a:pt x="1020318" y="16002"/>
                </a:moveTo>
                <a:lnTo>
                  <a:pt x="1020318" y="0"/>
                </a:lnTo>
                <a:lnTo>
                  <a:pt x="953262" y="0"/>
                </a:lnTo>
                <a:lnTo>
                  <a:pt x="953262" y="16002"/>
                </a:lnTo>
                <a:lnTo>
                  <a:pt x="1020318" y="16002"/>
                </a:lnTo>
                <a:close/>
              </a:path>
              <a:path w="9709150" h="1176020">
                <a:moveTo>
                  <a:pt x="1137666" y="16002"/>
                </a:moveTo>
                <a:lnTo>
                  <a:pt x="1137666" y="0"/>
                </a:lnTo>
                <a:lnTo>
                  <a:pt x="1070610" y="0"/>
                </a:lnTo>
                <a:lnTo>
                  <a:pt x="1070610" y="16002"/>
                </a:lnTo>
                <a:lnTo>
                  <a:pt x="1137666" y="16002"/>
                </a:lnTo>
                <a:close/>
              </a:path>
              <a:path w="9709150" h="1176020">
                <a:moveTo>
                  <a:pt x="1254252" y="16002"/>
                </a:moveTo>
                <a:lnTo>
                  <a:pt x="1254252" y="0"/>
                </a:lnTo>
                <a:lnTo>
                  <a:pt x="1187196" y="0"/>
                </a:lnTo>
                <a:lnTo>
                  <a:pt x="1187196" y="16002"/>
                </a:lnTo>
                <a:lnTo>
                  <a:pt x="1254252" y="16002"/>
                </a:lnTo>
                <a:close/>
              </a:path>
              <a:path w="9709150" h="1176020">
                <a:moveTo>
                  <a:pt x="1371600" y="16002"/>
                </a:moveTo>
                <a:lnTo>
                  <a:pt x="1371600" y="0"/>
                </a:lnTo>
                <a:lnTo>
                  <a:pt x="1304544" y="0"/>
                </a:lnTo>
                <a:lnTo>
                  <a:pt x="1304544" y="16002"/>
                </a:lnTo>
                <a:lnTo>
                  <a:pt x="1371600" y="16002"/>
                </a:lnTo>
                <a:close/>
              </a:path>
              <a:path w="9709150" h="1176020">
                <a:moveTo>
                  <a:pt x="1488186" y="16002"/>
                </a:moveTo>
                <a:lnTo>
                  <a:pt x="1488186" y="0"/>
                </a:lnTo>
                <a:lnTo>
                  <a:pt x="1421130" y="0"/>
                </a:lnTo>
                <a:lnTo>
                  <a:pt x="1421130" y="16002"/>
                </a:lnTo>
                <a:lnTo>
                  <a:pt x="1488186" y="16002"/>
                </a:lnTo>
                <a:close/>
              </a:path>
              <a:path w="9709150" h="1176020">
                <a:moveTo>
                  <a:pt x="1604772" y="16002"/>
                </a:moveTo>
                <a:lnTo>
                  <a:pt x="1604772" y="0"/>
                </a:lnTo>
                <a:lnTo>
                  <a:pt x="1538478" y="0"/>
                </a:lnTo>
                <a:lnTo>
                  <a:pt x="1538478" y="16002"/>
                </a:lnTo>
                <a:lnTo>
                  <a:pt x="1604772" y="16002"/>
                </a:lnTo>
                <a:close/>
              </a:path>
              <a:path w="9709150" h="1176020">
                <a:moveTo>
                  <a:pt x="1722120" y="16002"/>
                </a:moveTo>
                <a:lnTo>
                  <a:pt x="1722120" y="0"/>
                </a:lnTo>
                <a:lnTo>
                  <a:pt x="1655064" y="0"/>
                </a:lnTo>
                <a:lnTo>
                  <a:pt x="1655064" y="16002"/>
                </a:lnTo>
                <a:lnTo>
                  <a:pt x="1722120" y="16002"/>
                </a:lnTo>
                <a:close/>
              </a:path>
              <a:path w="9709150" h="1176020">
                <a:moveTo>
                  <a:pt x="1838706" y="16002"/>
                </a:moveTo>
                <a:lnTo>
                  <a:pt x="1838706" y="0"/>
                </a:lnTo>
                <a:lnTo>
                  <a:pt x="1772412" y="0"/>
                </a:lnTo>
                <a:lnTo>
                  <a:pt x="1772412" y="16002"/>
                </a:lnTo>
                <a:lnTo>
                  <a:pt x="1838706" y="16002"/>
                </a:lnTo>
                <a:close/>
              </a:path>
              <a:path w="9709150" h="1176020">
                <a:moveTo>
                  <a:pt x="1956054" y="16002"/>
                </a:moveTo>
                <a:lnTo>
                  <a:pt x="1956054" y="0"/>
                </a:lnTo>
                <a:lnTo>
                  <a:pt x="1888998" y="0"/>
                </a:lnTo>
                <a:lnTo>
                  <a:pt x="1888998" y="16002"/>
                </a:lnTo>
                <a:lnTo>
                  <a:pt x="1956054" y="16002"/>
                </a:lnTo>
                <a:close/>
              </a:path>
              <a:path w="9709150" h="1176020">
                <a:moveTo>
                  <a:pt x="2072640" y="16002"/>
                </a:moveTo>
                <a:lnTo>
                  <a:pt x="2072640" y="0"/>
                </a:lnTo>
                <a:lnTo>
                  <a:pt x="2006346" y="0"/>
                </a:lnTo>
                <a:lnTo>
                  <a:pt x="2006346" y="16002"/>
                </a:lnTo>
                <a:lnTo>
                  <a:pt x="2072640" y="16002"/>
                </a:lnTo>
                <a:close/>
              </a:path>
              <a:path w="9709150" h="1176020">
                <a:moveTo>
                  <a:pt x="2189988" y="16002"/>
                </a:moveTo>
                <a:lnTo>
                  <a:pt x="2189988" y="0"/>
                </a:lnTo>
                <a:lnTo>
                  <a:pt x="2122932" y="0"/>
                </a:lnTo>
                <a:lnTo>
                  <a:pt x="2122932" y="16002"/>
                </a:lnTo>
                <a:lnTo>
                  <a:pt x="2189988" y="16002"/>
                </a:lnTo>
                <a:close/>
              </a:path>
              <a:path w="9709150" h="1176020">
                <a:moveTo>
                  <a:pt x="2306574" y="16002"/>
                </a:moveTo>
                <a:lnTo>
                  <a:pt x="2306574" y="0"/>
                </a:lnTo>
                <a:lnTo>
                  <a:pt x="2240280" y="0"/>
                </a:lnTo>
                <a:lnTo>
                  <a:pt x="2240280" y="16002"/>
                </a:lnTo>
                <a:lnTo>
                  <a:pt x="2306574" y="16002"/>
                </a:lnTo>
                <a:close/>
              </a:path>
              <a:path w="9709150" h="1176020">
                <a:moveTo>
                  <a:pt x="2423922" y="16002"/>
                </a:moveTo>
                <a:lnTo>
                  <a:pt x="2423922" y="0"/>
                </a:lnTo>
                <a:lnTo>
                  <a:pt x="2356866" y="0"/>
                </a:lnTo>
                <a:lnTo>
                  <a:pt x="2356866" y="16002"/>
                </a:lnTo>
                <a:lnTo>
                  <a:pt x="2423922" y="16002"/>
                </a:lnTo>
                <a:close/>
              </a:path>
              <a:path w="9709150" h="1176020">
                <a:moveTo>
                  <a:pt x="2540508" y="16002"/>
                </a:moveTo>
                <a:lnTo>
                  <a:pt x="2540508" y="0"/>
                </a:lnTo>
                <a:lnTo>
                  <a:pt x="2474214" y="0"/>
                </a:lnTo>
                <a:lnTo>
                  <a:pt x="2474214" y="16002"/>
                </a:lnTo>
                <a:lnTo>
                  <a:pt x="2540508" y="16002"/>
                </a:lnTo>
                <a:close/>
              </a:path>
              <a:path w="9709150" h="1176020">
                <a:moveTo>
                  <a:pt x="2657856" y="16002"/>
                </a:moveTo>
                <a:lnTo>
                  <a:pt x="2657856" y="0"/>
                </a:lnTo>
                <a:lnTo>
                  <a:pt x="2590800" y="0"/>
                </a:lnTo>
                <a:lnTo>
                  <a:pt x="2590800" y="16002"/>
                </a:lnTo>
                <a:lnTo>
                  <a:pt x="2657856" y="16002"/>
                </a:lnTo>
                <a:close/>
              </a:path>
              <a:path w="9709150" h="1176020">
                <a:moveTo>
                  <a:pt x="2774441" y="16002"/>
                </a:moveTo>
                <a:lnTo>
                  <a:pt x="2774441" y="0"/>
                </a:lnTo>
                <a:lnTo>
                  <a:pt x="2707386" y="0"/>
                </a:lnTo>
                <a:lnTo>
                  <a:pt x="2707386" y="16002"/>
                </a:lnTo>
                <a:lnTo>
                  <a:pt x="2774441" y="16002"/>
                </a:lnTo>
                <a:close/>
              </a:path>
              <a:path w="9709150" h="1176020">
                <a:moveTo>
                  <a:pt x="2891789" y="16002"/>
                </a:moveTo>
                <a:lnTo>
                  <a:pt x="2891789" y="0"/>
                </a:lnTo>
                <a:lnTo>
                  <a:pt x="2824734" y="0"/>
                </a:lnTo>
                <a:lnTo>
                  <a:pt x="2824734" y="16002"/>
                </a:lnTo>
                <a:lnTo>
                  <a:pt x="2891789" y="16002"/>
                </a:lnTo>
                <a:close/>
              </a:path>
              <a:path w="9709150" h="1176020">
                <a:moveTo>
                  <a:pt x="3008375" y="16002"/>
                </a:moveTo>
                <a:lnTo>
                  <a:pt x="3008375" y="0"/>
                </a:lnTo>
                <a:lnTo>
                  <a:pt x="2941320" y="0"/>
                </a:lnTo>
                <a:lnTo>
                  <a:pt x="2941320" y="16002"/>
                </a:lnTo>
                <a:lnTo>
                  <a:pt x="3008375" y="16002"/>
                </a:lnTo>
                <a:close/>
              </a:path>
              <a:path w="9709150" h="1176020">
                <a:moveTo>
                  <a:pt x="3125723" y="16002"/>
                </a:moveTo>
                <a:lnTo>
                  <a:pt x="3125723" y="0"/>
                </a:lnTo>
                <a:lnTo>
                  <a:pt x="3058668" y="0"/>
                </a:lnTo>
                <a:lnTo>
                  <a:pt x="3058668" y="16002"/>
                </a:lnTo>
                <a:lnTo>
                  <a:pt x="3125723" y="16002"/>
                </a:lnTo>
                <a:close/>
              </a:path>
              <a:path w="9709150" h="1176020">
                <a:moveTo>
                  <a:pt x="3242310" y="16002"/>
                </a:moveTo>
                <a:lnTo>
                  <a:pt x="3242310" y="0"/>
                </a:lnTo>
                <a:lnTo>
                  <a:pt x="3175254" y="0"/>
                </a:lnTo>
                <a:lnTo>
                  <a:pt x="3175254" y="16002"/>
                </a:lnTo>
                <a:lnTo>
                  <a:pt x="3242310" y="16002"/>
                </a:lnTo>
                <a:close/>
              </a:path>
              <a:path w="9709150" h="1176020">
                <a:moveTo>
                  <a:pt x="3358895" y="16002"/>
                </a:moveTo>
                <a:lnTo>
                  <a:pt x="3358895" y="0"/>
                </a:lnTo>
                <a:lnTo>
                  <a:pt x="3292601" y="0"/>
                </a:lnTo>
                <a:lnTo>
                  <a:pt x="3292601" y="16002"/>
                </a:lnTo>
                <a:lnTo>
                  <a:pt x="3358895" y="16002"/>
                </a:lnTo>
                <a:close/>
              </a:path>
              <a:path w="9709150" h="1176020">
                <a:moveTo>
                  <a:pt x="3476243" y="16002"/>
                </a:moveTo>
                <a:lnTo>
                  <a:pt x="3476243" y="0"/>
                </a:lnTo>
                <a:lnTo>
                  <a:pt x="3409187" y="0"/>
                </a:lnTo>
                <a:lnTo>
                  <a:pt x="3409187" y="16002"/>
                </a:lnTo>
                <a:lnTo>
                  <a:pt x="3476243" y="16002"/>
                </a:lnTo>
                <a:close/>
              </a:path>
              <a:path w="9709150" h="1176020">
                <a:moveTo>
                  <a:pt x="3592829" y="16002"/>
                </a:moveTo>
                <a:lnTo>
                  <a:pt x="3592829" y="0"/>
                </a:lnTo>
                <a:lnTo>
                  <a:pt x="3526535" y="0"/>
                </a:lnTo>
                <a:lnTo>
                  <a:pt x="3526535" y="16002"/>
                </a:lnTo>
                <a:lnTo>
                  <a:pt x="3592829" y="16002"/>
                </a:lnTo>
                <a:close/>
              </a:path>
              <a:path w="9709150" h="1176020">
                <a:moveTo>
                  <a:pt x="3710177" y="16002"/>
                </a:moveTo>
                <a:lnTo>
                  <a:pt x="3710177" y="0"/>
                </a:lnTo>
                <a:lnTo>
                  <a:pt x="3643121" y="0"/>
                </a:lnTo>
                <a:lnTo>
                  <a:pt x="3643121" y="16002"/>
                </a:lnTo>
                <a:lnTo>
                  <a:pt x="3710177" y="16002"/>
                </a:lnTo>
                <a:close/>
              </a:path>
              <a:path w="9709150" h="1176020">
                <a:moveTo>
                  <a:pt x="3826764" y="16002"/>
                </a:moveTo>
                <a:lnTo>
                  <a:pt x="3826764" y="0"/>
                </a:lnTo>
                <a:lnTo>
                  <a:pt x="3760469" y="0"/>
                </a:lnTo>
                <a:lnTo>
                  <a:pt x="3760469" y="16002"/>
                </a:lnTo>
                <a:lnTo>
                  <a:pt x="3826764" y="16002"/>
                </a:lnTo>
                <a:close/>
              </a:path>
              <a:path w="9709150" h="1176020">
                <a:moveTo>
                  <a:pt x="3944111" y="16002"/>
                </a:moveTo>
                <a:lnTo>
                  <a:pt x="3944111" y="0"/>
                </a:lnTo>
                <a:lnTo>
                  <a:pt x="3877055" y="0"/>
                </a:lnTo>
                <a:lnTo>
                  <a:pt x="3877055" y="16002"/>
                </a:lnTo>
                <a:lnTo>
                  <a:pt x="3944111" y="16002"/>
                </a:lnTo>
                <a:close/>
              </a:path>
              <a:path w="9709150" h="1176020">
                <a:moveTo>
                  <a:pt x="4060698" y="16002"/>
                </a:moveTo>
                <a:lnTo>
                  <a:pt x="4060698" y="0"/>
                </a:lnTo>
                <a:lnTo>
                  <a:pt x="3994404" y="0"/>
                </a:lnTo>
                <a:lnTo>
                  <a:pt x="3994404" y="16002"/>
                </a:lnTo>
                <a:lnTo>
                  <a:pt x="4060698" y="16002"/>
                </a:lnTo>
                <a:close/>
              </a:path>
              <a:path w="9709150" h="1176020">
                <a:moveTo>
                  <a:pt x="4178045" y="16002"/>
                </a:moveTo>
                <a:lnTo>
                  <a:pt x="4178045" y="0"/>
                </a:lnTo>
                <a:lnTo>
                  <a:pt x="4110990" y="0"/>
                </a:lnTo>
                <a:lnTo>
                  <a:pt x="4110990" y="16002"/>
                </a:lnTo>
                <a:lnTo>
                  <a:pt x="4178045" y="16002"/>
                </a:lnTo>
                <a:close/>
              </a:path>
              <a:path w="9709150" h="1176020">
                <a:moveTo>
                  <a:pt x="4294632" y="16002"/>
                </a:moveTo>
                <a:lnTo>
                  <a:pt x="4294632" y="0"/>
                </a:lnTo>
                <a:lnTo>
                  <a:pt x="4228337" y="0"/>
                </a:lnTo>
                <a:lnTo>
                  <a:pt x="4228337" y="16002"/>
                </a:lnTo>
                <a:lnTo>
                  <a:pt x="4294632" y="16002"/>
                </a:lnTo>
                <a:close/>
              </a:path>
              <a:path w="9709150" h="1176020">
                <a:moveTo>
                  <a:pt x="4411979" y="16002"/>
                </a:moveTo>
                <a:lnTo>
                  <a:pt x="4411979" y="0"/>
                </a:lnTo>
                <a:lnTo>
                  <a:pt x="4344923" y="0"/>
                </a:lnTo>
                <a:lnTo>
                  <a:pt x="4344923" y="16002"/>
                </a:lnTo>
                <a:lnTo>
                  <a:pt x="4411979" y="16002"/>
                </a:lnTo>
                <a:close/>
              </a:path>
              <a:path w="9709150" h="1176020">
                <a:moveTo>
                  <a:pt x="4528565" y="16002"/>
                </a:moveTo>
                <a:lnTo>
                  <a:pt x="4528565" y="0"/>
                </a:lnTo>
                <a:lnTo>
                  <a:pt x="4461509" y="0"/>
                </a:lnTo>
                <a:lnTo>
                  <a:pt x="4461509" y="16002"/>
                </a:lnTo>
                <a:lnTo>
                  <a:pt x="4528565" y="16002"/>
                </a:lnTo>
                <a:close/>
              </a:path>
              <a:path w="9709150" h="1176020">
                <a:moveTo>
                  <a:pt x="4645913" y="16002"/>
                </a:moveTo>
                <a:lnTo>
                  <a:pt x="4645913" y="0"/>
                </a:lnTo>
                <a:lnTo>
                  <a:pt x="4578858" y="0"/>
                </a:lnTo>
                <a:lnTo>
                  <a:pt x="4578858" y="16002"/>
                </a:lnTo>
                <a:lnTo>
                  <a:pt x="4645913" y="16002"/>
                </a:lnTo>
                <a:close/>
              </a:path>
              <a:path w="9709150" h="1176020">
                <a:moveTo>
                  <a:pt x="4762499" y="16002"/>
                </a:moveTo>
                <a:lnTo>
                  <a:pt x="4762499" y="0"/>
                </a:lnTo>
                <a:lnTo>
                  <a:pt x="4695444" y="0"/>
                </a:lnTo>
                <a:lnTo>
                  <a:pt x="4695444" y="16002"/>
                </a:lnTo>
                <a:lnTo>
                  <a:pt x="4762499" y="16002"/>
                </a:lnTo>
                <a:close/>
              </a:path>
              <a:path w="9709150" h="1176020">
                <a:moveTo>
                  <a:pt x="4879847" y="16002"/>
                </a:moveTo>
                <a:lnTo>
                  <a:pt x="4879847" y="0"/>
                </a:lnTo>
                <a:lnTo>
                  <a:pt x="4812792" y="0"/>
                </a:lnTo>
                <a:lnTo>
                  <a:pt x="4812792" y="16002"/>
                </a:lnTo>
                <a:lnTo>
                  <a:pt x="4879847" y="16002"/>
                </a:lnTo>
                <a:close/>
              </a:path>
              <a:path w="9709150" h="1176020">
                <a:moveTo>
                  <a:pt x="4996433" y="16002"/>
                </a:moveTo>
                <a:lnTo>
                  <a:pt x="4996433" y="0"/>
                </a:lnTo>
                <a:lnTo>
                  <a:pt x="4929378" y="0"/>
                </a:lnTo>
                <a:lnTo>
                  <a:pt x="4929378" y="16002"/>
                </a:lnTo>
                <a:lnTo>
                  <a:pt x="4996433" y="16002"/>
                </a:lnTo>
                <a:close/>
              </a:path>
              <a:path w="9709150" h="1176020">
                <a:moveTo>
                  <a:pt x="5113020" y="16002"/>
                </a:moveTo>
                <a:lnTo>
                  <a:pt x="5113020" y="0"/>
                </a:lnTo>
                <a:lnTo>
                  <a:pt x="5046725" y="0"/>
                </a:lnTo>
                <a:lnTo>
                  <a:pt x="5046725" y="16002"/>
                </a:lnTo>
                <a:lnTo>
                  <a:pt x="5113020" y="16002"/>
                </a:lnTo>
                <a:close/>
              </a:path>
              <a:path w="9709150" h="1176020">
                <a:moveTo>
                  <a:pt x="5230367" y="16002"/>
                </a:moveTo>
                <a:lnTo>
                  <a:pt x="5230367" y="0"/>
                </a:lnTo>
                <a:lnTo>
                  <a:pt x="5163311" y="0"/>
                </a:lnTo>
                <a:lnTo>
                  <a:pt x="5163311" y="16002"/>
                </a:lnTo>
                <a:lnTo>
                  <a:pt x="5230367" y="16002"/>
                </a:lnTo>
                <a:close/>
              </a:path>
              <a:path w="9709150" h="1176020">
                <a:moveTo>
                  <a:pt x="5346954" y="16002"/>
                </a:moveTo>
                <a:lnTo>
                  <a:pt x="5346954" y="0"/>
                </a:lnTo>
                <a:lnTo>
                  <a:pt x="5280659" y="0"/>
                </a:lnTo>
                <a:lnTo>
                  <a:pt x="5280659" y="16002"/>
                </a:lnTo>
                <a:lnTo>
                  <a:pt x="5346954" y="16002"/>
                </a:lnTo>
                <a:close/>
              </a:path>
              <a:path w="9709150" h="1176020">
                <a:moveTo>
                  <a:pt x="5464301" y="16001"/>
                </a:moveTo>
                <a:lnTo>
                  <a:pt x="5464301" y="0"/>
                </a:lnTo>
                <a:lnTo>
                  <a:pt x="5397245" y="0"/>
                </a:lnTo>
                <a:lnTo>
                  <a:pt x="5397245" y="16002"/>
                </a:lnTo>
                <a:lnTo>
                  <a:pt x="5464301" y="16001"/>
                </a:lnTo>
                <a:close/>
              </a:path>
              <a:path w="9709150" h="1176020">
                <a:moveTo>
                  <a:pt x="5580888" y="16001"/>
                </a:moveTo>
                <a:lnTo>
                  <a:pt x="5580888" y="0"/>
                </a:lnTo>
                <a:lnTo>
                  <a:pt x="5514594" y="0"/>
                </a:lnTo>
                <a:lnTo>
                  <a:pt x="5514594" y="16001"/>
                </a:lnTo>
                <a:lnTo>
                  <a:pt x="5580888" y="16001"/>
                </a:lnTo>
                <a:close/>
              </a:path>
              <a:path w="9709150" h="1176020">
                <a:moveTo>
                  <a:pt x="5698235" y="16001"/>
                </a:moveTo>
                <a:lnTo>
                  <a:pt x="5698235" y="0"/>
                </a:lnTo>
                <a:lnTo>
                  <a:pt x="5631180" y="0"/>
                </a:lnTo>
                <a:lnTo>
                  <a:pt x="5631180" y="16001"/>
                </a:lnTo>
                <a:lnTo>
                  <a:pt x="5698235" y="16001"/>
                </a:lnTo>
                <a:close/>
              </a:path>
              <a:path w="9709150" h="1176020">
                <a:moveTo>
                  <a:pt x="5814822" y="16001"/>
                </a:moveTo>
                <a:lnTo>
                  <a:pt x="5814822" y="0"/>
                </a:lnTo>
                <a:lnTo>
                  <a:pt x="5748528" y="0"/>
                </a:lnTo>
                <a:lnTo>
                  <a:pt x="5748528" y="16001"/>
                </a:lnTo>
                <a:lnTo>
                  <a:pt x="5814822" y="16001"/>
                </a:lnTo>
                <a:close/>
              </a:path>
              <a:path w="9709150" h="1176020">
                <a:moveTo>
                  <a:pt x="5932157" y="16001"/>
                </a:moveTo>
                <a:lnTo>
                  <a:pt x="5932157" y="0"/>
                </a:lnTo>
                <a:lnTo>
                  <a:pt x="5865101" y="0"/>
                </a:lnTo>
                <a:lnTo>
                  <a:pt x="5865101" y="16001"/>
                </a:lnTo>
                <a:lnTo>
                  <a:pt x="5932157" y="16001"/>
                </a:lnTo>
                <a:close/>
              </a:path>
              <a:path w="9709150" h="1176020">
                <a:moveTo>
                  <a:pt x="6048755" y="16001"/>
                </a:moveTo>
                <a:lnTo>
                  <a:pt x="6048755" y="0"/>
                </a:lnTo>
                <a:lnTo>
                  <a:pt x="5982461" y="0"/>
                </a:lnTo>
                <a:lnTo>
                  <a:pt x="5982461" y="16001"/>
                </a:lnTo>
                <a:lnTo>
                  <a:pt x="6048755" y="16001"/>
                </a:lnTo>
                <a:close/>
              </a:path>
              <a:path w="9709150" h="1176020">
                <a:moveTo>
                  <a:pt x="6166091" y="16001"/>
                </a:moveTo>
                <a:lnTo>
                  <a:pt x="6166091" y="0"/>
                </a:lnTo>
                <a:lnTo>
                  <a:pt x="6099035" y="0"/>
                </a:lnTo>
                <a:lnTo>
                  <a:pt x="6099035" y="16001"/>
                </a:lnTo>
                <a:lnTo>
                  <a:pt x="6166091" y="16001"/>
                </a:lnTo>
                <a:close/>
              </a:path>
              <a:path w="9709150" h="1176020">
                <a:moveTo>
                  <a:pt x="6282690" y="16001"/>
                </a:moveTo>
                <a:lnTo>
                  <a:pt x="6282690" y="0"/>
                </a:lnTo>
                <a:lnTo>
                  <a:pt x="6215634" y="0"/>
                </a:lnTo>
                <a:lnTo>
                  <a:pt x="6215634" y="16001"/>
                </a:lnTo>
                <a:lnTo>
                  <a:pt x="6282690" y="16001"/>
                </a:lnTo>
                <a:close/>
              </a:path>
              <a:path w="9709150" h="1176020">
                <a:moveTo>
                  <a:pt x="6400037" y="16001"/>
                </a:moveTo>
                <a:lnTo>
                  <a:pt x="6400037" y="0"/>
                </a:lnTo>
                <a:lnTo>
                  <a:pt x="6332981" y="0"/>
                </a:lnTo>
                <a:lnTo>
                  <a:pt x="6332981" y="16001"/>
                </a:lnTo>
                <a:lnTo>
                  <a:pt x="6400037" y="16001"/>
                </a:lnTo>
                <a:close/>
              </a:path>
              <a:path w="9709150" h="1176020">
                <a:moveTo>
                  <a:pt x="6516624" y="16001"/>
                </a:moveTo>
                <a:lnTo>
                  <a:pt x="6516624" y="0"/>
                </a:lnTo>
                <a:lnTo>
                  <a:pt x="6449568" y="0"/>
                </a:lnTo>
                <a:lnTo>
                  <a:pt x="6449568" y="16001"/>
                </a:lnTo>
                <a:lnTo>
                  <a:pt x="6516624" y="16001"/>
                </a:lnTo>
                <a:close/>
              </a:path>
              <a:path w="9709150" h="1176020">
                <a:moveTo>
                  <a:pt x="6633972" y="16001"/>
                </a:moveTo>
                <a:lnTo>
                  <a:pt x="6633972" y="0"/>
                </a:lnTo>
                <a:lnTo>
                  <a:pt x="6566916" y="0"/>
                </a:lnTo>
                <a:lnTo>
                  <a:pt x="6566916" y="16001"/>
                </a:lnTo>
                <a:lnTo>
                  <a:pt x="6633972" y="16001"/>
                </a:lnTo>
                <a:close/>
              </a:path>
              <a:path w="9709150" h="1176020">
                <a:moveTo>
                  <a:pt x="6750545" y="16001"/>
                </a:moveTo>
                <a:lnTo>
                  <a:pt x="6750545" y="0"/>
                </a:lnTo>
                <a:lnTo>
                  <a:pt x="6683489" y="0"/>
                </a:lnTo>
                <a:lnTo>
                  <a:pt x="6683489" y="16001"/>
                </a:lnTo>
                <a:lnTo>
                  <a:pt x="6750545" y="16001"/>
                </a:lnTo>
                <a:close/>
              </a:path>
              <a:path w="9709150" h="1176020">
                <a:moveTo>
                  <a:pt x="6867131" y="16001"/>
                </a:moveTo>
                <a:lnTo>
                  <a:pt x="6867131" y="0"/>
                </a:lnTo>
                <a:lnTo>
                  <a:pt x="6800837" y="0"/>
                </a:lnTo>
                <a:lnTo>
                  <a:pt x="6800837" y="16001"/>
                </a:lnTo>
                <a:lnTo>
                  <a:pt x="6867131" y="16001"/>
                </a:lnTo>
                <a:close/>
              </a:path>
              <a:path w="9709150" h="1176020">
                <a:moveTo>
                  <a:pt x="6984492" y="16001"/>
                </a:moveTo>
                <a:lnTo>
                  <a:pt x="6984492" y="0"/>
                </a:lnTo>
                <a:lnTo>
                  <a:pt x="6917436" y="0"/>
                </a:lnTo>
                <a:lnTo>
                  <a:pt x="6917436" y="16001"/>
                </a:lnTo>
                <a:lnTo>
                  <a:pt x="6984492" y="16001"/>
                </a:lnTo>
                <a:close/>
              </a:path>
              <a:path w="9709150" h="1176020">
                <a:moveTo>
                  <a:pt x="7101078" y="16001"/>
                </a:moveTo>
                <a:lnTo>
                  <a:pt x="7101078" y="0"/>
                </a:lnTo>
                <a:lnTo>
                  <a:pt x="7034784" y="0"/>
                </a:lnTo>
                <a:lnTo>
                  <a:pt x="7034784" y="16001"/>
                </a:lnTo>
                <a:lnTo>
                  <a:pt x="7101078" y="16001"/>
                </a:lnTo>
                <a:close/>
              </a:path>
              <a:path w="9709150" h="1176020">
                <a:moveTo>
                  <a:pt x="7218426" y="16001"/>
                </a:moveTo>
                <a:lnTo>
                  <a:pt x="7218426" y="0"/>
                </a:lnTo>
                <a:lnTo>
                  <a:pt x="7151370" y="0"/>
                </a:lnTo>
                <a:lnTo>
                  <a:pt x="7151370" y="16001"/>
                </a:lnTo>
                <a:lnTo>
                  <a:pt x="7218426" y="16001"/>
                </a:lnTo>
                <a:close/>
              </a:path>
              <a:path w="9709150" h="1176020">
                <a:moveTo>
                  <a:pt x="7335012" y="16001"/>
                </a:moveTo>
                <a:lnTo>
                  <a:pt x="7335012" y="0"/>
                </a:lnTo>
                <a:lnTo>
                  <a:pt x="7268718" y="0"/>
                </a:lnTo>
                <a:lnTo>
                  <a:pt x="7268718" y="16001"/>
                </a:lnTo>
                <a:lnTo>
                  <a:pt x="7335012" y="16001"/>
                </a:lnTo>
                <a:close/>
              </a:path>
              <a:path w="9709150" h="1176020">
                <a:moveTo>
                  <a:pt x="7452359" y="16001"/>
                </a:moveTo>
                <a:lnTo>
                  <a:pt x="7452359" y="0"/>
                </a:lnTo>
                <a:lnTo>
                  <a:pt x="7385304" y="0"/>
                </a:lnTo>
                <a:lnTo>
                  <a:pt x="7385304" y="16001"/>
                </a:lnTo>
                <a:lnTo>
                  <a:pt x="7452359" y="16001"/>
                </a:lnTo>
                <a:close/>
              </a:path>
              <a:path w="9709150" h="1176020">
                <a:moveTo>
                  <a:pt x="7568933" y="16001"/>
                </a:moveTo>
                <a:lnTo>
                  <a:pt x="7568933" y="0"/>
                </a:lnTo>
                <a:lnTo>
                  <a:pt x="7502639" y="0"/>
                </a:lnTo>
                <a:lnTo>
                  <a:pt x="7502639" y="16001"/>
                </a:lnTo>
                <a:lnTo>
                  <a:pt x="7568933" y="16001"/>
                </a:lnTo>
                <a:close/>
              </a:path>
              <a:path w="9709150" h="1176020">
                <a:moveTo>
                  <a:pt x="7686281" y="16001"/>
                </a:moveTo>
                <a:lnTo>
                  <a:pt x="7686281" y="0"/>
                </a:lnTo>
                <a:lnTo>
                  <a:pt x="7619225" y="0"/>
                </a:lnTo>
                <a:lnTo>
                  <a:pt x="7619225" y="16001"/>
                </a:lnTo>
                <a:lnTo>
                  <a:pt x="7686281" y="16001"/>
                </a:lnTo>
                <a:close/>
              </a:path>
              <a:path w="9709150" h="1176020">
                <a:moveTo>
                  <a:pt x="7802880" y="16001"/>
                </a:moveTo>
                <a:lnTo>
                  <a:pt x="7802880" y="0"/>
                </a:lnTo>
                <a:lnTo>
                  <a:pt x="7736586" y="0"/>
                </a:lnTo>
                <a:lnTo>
                  <a:pt x="7736586" y="16001"/>
                </a:lnTo>
                <a:lnTo>
                  <a:pt x="7802880" y="16001"/>
                </a:lnTo>
                <a:close/>
              </a:path>
              <a:path w="9709150" h="1176020">
                <a:moveTo>
                  <a:pt x="7920228" y="16001"/>
                </a:moveTo>
                <a:lnTo>
                  <a:pt x="7920228" y="0"/>
                </a:lnTo>
                <a:lnTo>
                  <a:pt x="7853172" y="0"/>
                </a:lnTo>
                <a:lnTo>
                  <a:pt x="7853172" y="16001"/>
                </a:lnTo>
                <a:lnTo>
                  <a:pt x="7920228" y="16001"/>
                </a:lnTo>
                <a:close/>
              </a:path>
              <a:path w="9709150" h="1176020">
                <a:moveTo>
                  <a:pt x="8036813" y="16001"/>
                </a:moveTo>
                <a:lnTo>
                  <a:pt x="8036813" y="0"/>
                </a:lnTo>
                <a:lnTo>
                  <a:pt x="7969758" y="0"/>
                </a:lnTo>
                <a:lnTo>
                  <a:pt x="7969758" y="16001"/>
                </a:lnTo>
                <a:lnTo>
                  <a:pt x="8036813" y="16001"/>
                </a:lnTo>
                <a:close/>
              </a:path>
              <a:path w="9709150" h="1176020">
                <a:moveTo>
                  <a:pt x="8154161" y="16001"/>
                </a:moveTo>
                <a:lnTo>
                  <a:pt x="8154161" y="0"/>
                </a:lnTo>
                <a:lnTo>
                  <a:pt x="8087106" y="0"/>
                </a:lnTo>
                <a:lnTo>
                  <a:pt x="8087106" y="16001"/>
                </a:lnTo>
                <a:lnTo>
                  <a:pt x="8154161" y="16001"/>
                </a:lnTo>
                <a:close/>
              </a:path>
              <a:path w="9709150" h="1176020">
                <a:moveTo>
                  <a:pt x="8270748" y="16001"/>
                </a:moveTo>
                <a:lnTo>
                  <a:pt x="8270748" y="0"/>
                </a:lnTo>
                <a:lnTo>
                  <a:pt x="8203692" y="0"/>
                </a:lnTo>
                <a:lnTo>
                  <a:pt x="8203692" y="16001"/>
                </a:lnTo>
                <a:lnTo>
                  <a:pt x="8270748" y="16001"/>
                </a:lnTo>
                <a:close/>
              </a:path>
              <a:path w="9709150" h="1176020">
                <a:moveTo>
                  <a:pt x="8388083" y="16001"/>
                </a:moveTo>
                <a:lnTo>
                  <a:pt x="8388083" y="0"/>
                </a:lnTo>
                <a:lnTo>
                  <a:pt x="8321027" y="0"/>
                </a:lnTo>
                <a:lnTo>
                  <a:pt x="8321027" y="16001"/>
                </a:lnTo>
                <a:lnTo>
                  <a:pt x="8388083" y="16001"/>
                </a:lnTo>
                <a:close/>
              </a:path>
              <a:path w="9709150" h="1176020">
                <a:moveTo>
                  <a:pt x="8504669" y="16001"/>
                </a:moveTo>
                <a:lnTo>
                  <a:pt x="8504669" y="0"/>
                </a:lnTo>
                <a:lnTo>
                  <a:pt x="8437613" y="0"/>
                </a:lnTo>
                <a:lnTo>
                  <a:pt x="8437613" y="16001"/>
                </a:lnTo>
                <a:lnTo>
                  <a:pt x="8504669" y="16001"/>
                </a:lnTo>
                <a:close/>
              </a:path>
              <a:path w="9709150" h="1176020">
                <a:moveTo>
                  <a:pt x="8621255" y="16001"/>
                </a:moveTo>
                <a:lnTo>
                  <a:pt x="8621255" y="0"/>
                </a:lnTo>
                <a:lnTo>
                  <a:pt x="8554961" y="0"/>
                </a:lnTo>
                <a:lnTo>
                  <a:pt x="8554961" y="16001"/>
                </a:lnTo>
                <a:lnTo>
                  <a:pt x="8621255" y="16001"/>
                </a:lnTo>
                <a:close/>
              </a:path>
              <a:path w="9709150" h="1176020">
                <a:moveTo>
                  <a:pt x="8738616" y="16001"/>
                </a:moveTo>
                <a:lnTo>
                  <a:pt x="8738616" y="0"/>
                </a:lnTo>
                <a:lnTo>
                  <a:pt x="8671560" y="0"/>
                </a:lnTo>
                <a:lnTo>
                  <a:pt x="8671560" y="16001"/>
                </a:lnTo>
                <a:lnTo>
                  <a:pt x="8738616" y="16001"/>
                </a:lnTo>
                <a:close/>
              </a:path>
              <a:path w="9709150" h="1176020">
                <a:moveTo>
                  <a:pt x="8855202" y="16001"/>
                </a:moveTo>
                <a:lnTo>
                  <a:pt x="8855202" y="0"/>
                </a:lnTo>
                <a:lnTo>
                  <a:pt x="8788908" y="0"/>
                </a:lnTo>
                <a:lnTo>
                  <a:pt x="8788908" y="16001"/>
                </a:lnTo>
                <a:lnTo>
                  <a:pt x="8855202" y="16001"/>
                </a:lnTo>
                <a:close/>
              </a:path>
              <a:path w="9709150" h="1176020">
                <a:moveTo>
                  <a:pt x="8972550" y="16001"/>
                </a:moveTo>
                <a:lnTo>
                  <a:pt x="8972550" y="0"/>
                </a:lnTo>
                <a:lnTo>
                  <a:pt x="8905494" y="0"/>
                </a:lnTo>
                <a:lnTo>
                  <a:pt x="8905494" y="16001"/>
                </a:lnTo>
                <a:lnTo>
                  <a:pt x="8972550" y="16001"/>
                </a:lnTo>
                <a:close/>
              </a:path>
              <a:path w="9709150" h="1176020">
                <a:moveTo>
                  <a:pt x="9089136" y="16001"/>
                </a:moveTo>
                <a:lnTo>
                  <a:pt x="9089136" y="0"/>
                </a:lnTo>
                <a:lnTo>
                  <a:pt x="9022842" y="0"/>
                </a:lnTo>
                <a:lnTo>
                  <a:pt x="9022842" y="16001"/>
                </a:lnTo>
                <a:lnTo>
                  <a:pt x="9089136" y="16001"/>
                </a:lnTo>
                <a:close/>
              </a:path>
              <a:path w="9709150" h="1176020">
                <a:moveTo>
                  <a:pt x="9206471" y="16001"/>
                </a:moveTo>
                <a:lnTo>
                  <a:pt x="9206471" y="0"/>
                </a:lnTo>
                <a:lnTo>
                  <a:pt x="9139415" y="0"/>
                </a:lnTo>
                <a:lnTo>
                  <a:pt x="9139415" y="16001"/>
                </a:lnTo>
                <a:lnTo>
                  <a:pt x="9206471" y="16001"/>
                </a:lnTo>
                <a:close/>
              </a:path>
              <a:path w="9709150" h="1176020">
                <a:moveTo>
                  <a:pt x="9323057" y="16001"/>
                </a:moveTo>
                <a:lnTo>
                  <a:pt x="9323057" y="0"/>
                </a:lnTo>
                <a:lnTo>
                  <a:pt x="9256763" y="0"/>
                </a:lnTo>
                <a:lnTo>
                  <a:pt x="9256763" y="16001"/>
                </a:lnTo>
                <a:lnTo>
                  <a:pt x="9323057" y="16001"/>
                </a:lnTo>
                <a:close/>
              </a:path>
              <a:path w="9709150" h="1176020">
                <a:moveTo>
                  <a:pt x="9440418" y="16001"/>
                </a:moveTo>
                <a:lnTo>
                  <a:pt x="9440418" y="0"/>
                </a:lnTo>
                <a:lnTo>
                  <a:pt x="9373362" y="0"/>
                </a:lnTo>
                <a:lnTo>
                  <a:pt x="9373362" y="16001"/>
                </a:lnTo>
                <a:lnTo>
                  <a:pt x="9440418" y="16001"/>
                </a:lnTo>
                <a:close/>
              </a:path>
              <a:path w="9709150" h="1176020">
                <a:moveTo>
                  <a:pt x="9557004" y="16001"/>
                </a:moveTo>
                <a:lnTo>
                  <a:pt x="9557004" y="0"/>
                </a:lnTo>
                <a:lnTo>
                  <a:pt x="9490710" y="0"/>
                </a:lnTo>
                <a:lnTo>
                  <a:pt x="9490710" y="16001"/>
                </a:lnTo>
                <a:lnTo>
                  <a:pt x="9557004" y="16001"/>
                </a:lnTo>
                <a:close/>
              </a:path>
              <a:path w="9709150" h="1176020">
                <a:moveTo>
                  <a:pt x="9674352" y="16001"/>
                </a:moveTo>
                <a:lnTo>
                  <a:pt x="9674352" y="0"/>
                </a:lnTo>
                <a:lnTo>
                  <a:pt x="9607296" y="0"/>
                </a:lnTo>
                <a:lnTo>
                  <a:pt x="9607296" y="16001"/>
                </a:lnTo>
                <a:lnTo>
                  <a:pt x="9674352" y="16001"/>
                </a:lnTo>
                <a:close/>
              </a:path>
              <a:path w="9709150" h="1176020">
                <a:moveTo>
                  <a:pt x="9708642" y="99059"/>
                </a:moveTo>
                <a:lnTo>
                  <a:pt x="9708642" y="32003"/>
                </a:lnTo>
                <a:lnTo>
                  <a:pt x="9691878" y="32003"/>
                </a:lnTo>
                <a:lnTo>
                  <a:pt x="9691878" y="99059"/>
                </a:lnTo>
                <a:lnTo>
                  <a:pt x="9708642" y="99059"/>
                </a:lnTo>
                <a:close/>
              </a:path>
              <a:path w="9709150" h="1176020">
                <a:moveTo>
                  <a:pt x="9708642" y="215646"/>
                </a:moveTo>
                <a:lnTo>
                  <a:pt x="9708642" y="149351"/>
                </a:lnTo>
                <a:lnTo>
                  <a:pt x="9691878" y="149351"/>
                </a:lnTo>
                <a:lnTo>
                  <a:pt x="9691878" y="215646"/>
                </a:lnTo>
                <a:lnTo>
                  <a:pt x="9708642" y="215646"/>
                </a:lnTo>
                <a:close/>
              </a:path>
              <a:path w="9709150" h="1176020">
                <a:moveTo>
                  <a:pt x="9708642" y="332993"/>
                </a:moveTo>
                <a:lnTo>
                  <a:pt x="9708642" y="265938"/>
                </a:lnTo>
                <a:lnTo>
                  <a:pt x="9691878" y="265938"/>
                </a:lnTo>
                <a:lnTo>
                  <a:pt x="9691878" y="332993"/>
                </a:lnTo>
                <a:lnTo>
                  <a:pt x="9708642" y="332993"/>
                </a:lnTo>
                <a:close/>
              </a:path>
              <a:path w="9709150" h="1176020">
                <a:moveTo>
                  <a:pt x="9708642" y="449580"/>
                </a:moveTo>
                <a:lnTo>
                  <a:pt x="9708642" y="383286"/>
                </a:lnTo>
                <a:lnTo>
                  <a:pt x="9691878" y="383286"/>
                </a:lnTo>
                <a:lnTo>
                  <a:pt x="9691878" y="449580"/>
                </a:lnTo>
                <a:lnTo>
                  <a:pt x="9708642" y="449580"/>
                </a:lnTo>
                <a:close/>
              </a:path>
              <a:path w="9709150" h="1176020">
                <a:moveTo>
                  <a:pt x="9708642" y="566927"/>
                </a:moveTo>
                <a:lnTo>
                  <a:pt x="9708642" y="499872"/>
                </a:lnTo>
                <a:lnTo>
                  <a:pt x="9691878" y="499872"/>
                </a:lnTo>
                <a:lnTo>
                  <a:pt x="9691878" y="566927"/>
                </a:lnTo>
                <a:lnTo>
                  <a:pt x="9708642" y="566927"/>
                </a:lnTo>
                <a:close/>
              </a:path>
              <a:path w="9709150" h="1176020">
                <a:moveTo>
                  <a:pt x="9708642" y="683513"/>
                </a:moveTo>
                <a:lnTo>
                  <a:pt x="9708642" y="617219"/>
                </a:lnTo>
                <a:lnTo>
                  <a:pt x="9691878" y="617219"/>
                </a:lnTo>
                <a:lnTo>
                  <a:pt x="9691878" y="683513"/>
                </a:lnTo>
                <a:lnTo>
                  <a:pt x="9708642" y="683513"/>
                </a:lnTo>
                <a:close/>
              </a:path>
              <a:path w="9709150" h="1176020">
                <a:moveTo>
                  <a:pt x="9708642" y="800861"/>
                </a:moveTo>
                <a:lnTo>
                  <a:pt x="9708642" y="733805"/>
                </a:lnTo>
                <a:lnTo>
                  <a:pt x="9691878" y="733805"/>
                </a:lnTo>
                <a:lnTo>
                  <a:pt x="9691878" y="800861"/>
                </a:lnTo>
                <a:lnTo>
                  <a:pt x="9708642" y="800861"/>
                </a:lnTo>
                <a:close/>
              </a:path>
              <a:path w="9709150" h="1176020">
                <a:moveTo>
                  <a:pt x="9708642" y="917447"/>
                </a:moveTo>
                <a:lnTo>
                  <a:pt x="9708642" y="850391"/>
                </a:lnTo>
                <a:lnTo>
                  <a:pt x="9691878" y="850391"/>
                </a:lnTo>
                <a:lnTo>
                  <a:pt x="9691878" y="917447"/>
                </a:lnTo>
                <a:lnTo>
                  <a:pt x="9708642" y="917447"/>
                </a:lnTo>
                <a:close/>
              </a:path>
              <a:path w="9709150" h="1176020">
                <a:moveTo>
                  <a:pt x="9708642" y="1034795"/>
                </a:moveTo>
                <a:lnTo>
                  <a:pt x="9708642" y="967739"/>
                </a:lnTo>
                <a:lnTo>
                  <a:pt x="9691878" y="967739"/>
                </a:lnTo>
                <a:lnTo>
                  <a:pt x="9691878" y="1034795"/>
                </a:lnTo>
                <a:lnTo>
                  <a:pt x="9708642" y="1034795"/>
                </a:lnTo>
                <a:close/>
              </a:path>
              <a:path w="9709150" h="1176020">
                <a:moveTo>
                  <a:pt x="9708642" y="1151381"/>
                </a:moveTo>
                <a:lnTo>
                  <a:pt x="9708642" y="1084326"/>
                </a:lnTo>
                <a:lnTo>
                  <a:pt x="9691878" y="1084326"/>
                </a:lnTo>
                <a:lnTo>
                  <a:pt x="9691878" y="1151381"/>
                </a:lnTo>
                <a:lnTo>
                  <a:pt x="9708642" y="1151381"/>
                </a:lnTo>
                <a:close/>
              </a:path>
              <a:path w="9709150" h="1176020">
                <a:moveTo>
                  <a:pt x="9665970" y="1175765"/>
                </a:moveTo>
                <a:lnTo>
                  <a:pt x="9665970" y="1159002"/>
                </a:lnTo>
                <a:lnTo>
                  <a:pt x="9598914" y="1159002"/>
                </a:lnTo>
                <a:lnTo>
                  <a:pt x="9598914" y="1175765"/>
                </a:lnTo>
                <a:lnTo>
                  <a:pt x="9665970" y="1175765"/>
                </a:lnTo>
                <a:close/>
              </a:path>
              <a:path w="9709150" h="1176020">
                <a:moveTo>
                  <a:pt x="9548609" y="1175765"/>
                </a:moveTo>
                <a:lnTo>
                  <a:pt x="9548609" y="1159002"/>
                </a:lnTo>
                <a:lnTo>
                  <a:pt x="9482315" y="1159002"/>
                </a:lnTo>
                <a:lnTo>
                  <a:pt x="9482315" y="1175765"/>
                </a:lnTo>
                <a:lnTo>
                  <a:pt x="9548609" y="1175765"/>
                </a:lnTo>
                <a:close/>
              </a:path>
              <a:path w="9709150" h="1176020">
                <a:moveTo>
                  <a:pt x="9432036" y="1175765"/>
                </a:moveTo>
                <a:lnTo>
                  <a:pt x="9432036" y="1159002"/>
                </a:lnTo>
                <a:lnTo>
                  <a:pt x="9364980" y="1159002"/>
                </a:lnTo>
                <a:lnTo>
                  <a:pt x="9364980" y="1175765"/>
                </a:lnTo>
                <a:lnTo>
                  <a:pt x="9432036" y="1175765"/>
                </a:lnTo>
                <a:close/>
              </a:path>
              <a:path w="9709150" h="1176020">
                <a:moveTo>
                  <a:pt x="9314688" y="1175765"/>
                </a:moveTo>
                <a:lnTo>
                  <a:pt x="9314688" y="1159002"/>
                </a:lnTo>
                <a:lnTo>
                  <a:pt x="9248394" y="1159002"/>
                </a:lnTo>
                <a:lnTo>
                  <a:pt x="9248394" y="1175765"/>
                </a:lnTo>
                <a:lnTo>
                  <a:pt x="9314688" y="1175765"/>
                </a:lnTo>
                <a:close/>
              </a:path>
              <a:path w="9709150" h="1176020">
                <a:moveTo>
                  <a:pt x="9198089" y="1175765"/>
                </a:moveTo>
                <a:lnTo>
                  <a:pt x="9198089" y="1159002"/>
                </a:lnTo>
                <a:lnTo>
                  <a:pt x="9131033" y="1159002"/>
                </a:lnTo>
                <a:lnTo>
                  <a:pt x="9131033" y="1175765"/>
                </a:lnTo>
                <a:lnTo>
                  <a:pt x="9198089" y="1175765"/>
                </a:lnTo>
                <a:close/>
              </a:path>
              <a:path w="9709150" h="1176020">
                <a:moveTo>
                  <a:pt x="9081516" y="1175765"/>
                </a:moveTo>
                <a:lnTo>
                  <a:pt x="9081516" y="1159002"/>
                </a:lnTo>
                <a:lnTo>
                  <a:pt x="9014460" y="1159002"/>
                </a:lnTo>
                <a:lnTo>
                  <a:pt x="9014460" y="1175765"/>
                </a:lnTo>
                <a:lnTo>
                  <a:pt x="9081516" y="1175765"/>
                </a:lnTo>
                <a:close/>
              </a:path>
              <a:path w="9709150" h="1176020">
                <a:moveTo>
                  <a:pt x="8964168" y="1175765"/>
                </a:moveTo>
                <a:lnTo>
                  <a:pt x="8964168" y="1159002"/>
                </a:lnTo>
                <a:lnTo>
                  <a:pt x="8897112" y="1159002"/>
                </a:lnTo>
                <a:lnTo>
                  <a:pt x="8897112" y="1175765"/>
                </a:lnTo>
                <a:lnTo>
                  <a:pt x="8964168" y="1175765"/>
                </a:lnTo>
                <a:close/>
              </a:path>
              <a:path w="9709150" h="1176020">
                <a:moveTo>
                  <a:pt x="8847582" y="1175765"/>
                </a:moveTo>
                <a:lnTo>
                  <a:pt x="8847582" y="1159002"/>
                </a:lnTo>
                <a:lnTo>
                  <a:pt x="8780526" y="1159002"/>
                </a:lnTo>
                <a:lnTo>
                  <a:pt x="8780526" y="1175765"/>
                </a:lnTo>
                <a:lnTo>
                  <a:pt x="8847582" y="1175765"/>
                </a:lnTo>
                <a:close/>
              </a:path>
              <a:path w="9709150" h="1176020">
                <a:moveTo>
                  <a:pt x="8730234" y="1175765"/>
                </a:moveTo>
                <a:lnTo>
                  <a:pt x="8730234" y="1159002"/>
                </a:lnTo>
                <a:lnTo>
                  <a:pt x="8663178" y="1159002"/>
                </a:lnTo>
                <a:lnTo>
                  <a:pt x="8663178" y="1175765"/>
                </a:lnTo>
                <a:lnTo>
                  <a:pt x="8730234" y="1175765"/>
                </a:lnTo>
                <a:close/>
              </a:path>
              <a:path w="9709150" h="1176020">
                <a:moveTo>
                  <a:pt x="8613635" y="1175765"/>
                </a:moveTo>
                <a:lnTo>
                  <a:pt x="8613635" y="1159002"/>
                </a:lnTo>
                <a:lnTo>
                  <a:pt x="8546579" y="1159002"/>
                </a:lnTo>
                <a:lnTo>
                  <a:pt x="8546579" y="1175765"/>
                </a:lnTo>
                <a:lnTo>
                  <a:pt x="8613635" y="1175765"/>
                </a:lnTo>
                <a:close/>
              </a:path>
              <a:path w="9709150" h="1176020">
                <a:moveTo>
                  <a:pt x="8496287" y="1175765"/>
                </a:moveTo>
                <a:lnTo>
                  <a:pt x="8496287" y="1159002"/>
                </a:lnTo>
                <a:lnTo>
                  <a:pt x="8429993" y="1159002"/>
                </a:lnTo>
                <a:lnTo>
                  <a:pt x="8429993" y="1175765"/>
                </a:lnTo>
                <a:lnTo>
                  <a:pt x="8496287" y="1175765"/>
                </a:lnTo>
                <a:close/>
              </a:path>
              <a:path w="9709150" h="1176020">
                <a:moveTo>
                  <a:pt x="8379714" y="1175765"/>
                </a:moveTo>
                <a:lnTo>
                  <a:pt x="8379714" y="1159002"/>
                </a:lnTo>
                <a:lnTo>
                  <a:pt x="8312658" y="1159002"/>
                </a:lnTo>
                <a:lnTo>
                  <a:pt x="8312658" y="1175765"/>
                </a:lnTo>
                <a:lnTo>
                  <a:pt x="8379714" y="1175765"/>
                </a:lnTo>
                <a:close/>
              </a:path>
              <a:path w="9709150" h="1176020">
                <a:moveTo>
                  <a:pt x="8262366" y="1175765"/>
                </a:moveTo>
                <a:lnTo>
                  <a:pt x="8262366" y="1159002"/>
                </a:lnTo>
                <a:lnTo>
                  <a:pt x="8196072" y="1159002"/>
                </a:lnTo>
                <a:lnTo>
                  <a:pt x="8196072" y="1175765"/>
                </a:lnTo>
                <a:lnTo>
                  <a:pt x="8262366" y="1175765"/>
                </a:lnTo>
                <a:close/>
              </a:path>
              <a:path w="9709150" h="1176020">
                <a:moveTo>
                  <a:pt x="8145780" y="1175765"/>
                </a:moveTo>
                <a:lnTo>
                  <a:pt x="8145780" y="1159002"/>
                </a:lnTo>
                <a:lnTo>
                  <a:pt x="8078724" y="1159002"/>
                </a:lnTo>
                <a:lnTo>
                  <a:pt x="8078724" y="1175765"/>
                </a:lnTo>
                <a:lnTo>
                  <a:pt x="8145780" y="1175765"/>
                </a:lnTo>
                <a:close/>
              </a:path>
              <a:path w="9709150" h="1176020">
                <a:moveTo>
                  <a:pt x="8028432" y="1175765"/>
                </a:moveTo>
                <a:lnTo>
                  <a:pt x="8028432" y="1159002"/>
                </a:lnTo>
                <a:lnTo>
                  <a:pt x="7962137" y="1159002"/>
                </a:lnTo>
                <a:lnTo>
                  <a:pt x="7962137" y="1175765"/>
                </a:lnTo>
                <a:lnTo>
                  <a:pt x="8028432" y="1175765"/>
                </a:lnTo>
                <a:close/>
              </a:path>
              <a:path w="9709150" h="1176020">
                <a:moveTo>
                  <a:pt x="7911846" y="1175765"/>
                </a:moveTo>
                <a:lnTo>
                  <a:pt x="7911846" y="1159002"/>
                </a:lnTo>
                <a:lnTo>
                  <a:pt x="7844790" y="1159002"/>
                </a:lnTo>
                <a:lnTo>
                  <a:pt x="7844790" y="1175765"/>
                </a:lnTo>
                <a:lnTo>
                  <a:pt x="7911846" y="1175765"/>
                </a:lnTo>
                <a:close/>
              </a:path>
              <a:path w="9709150" h="1176020">
                <a:moveTo>
                  <a:pt x="7794485" y="1175765"/>
                </a:moveTo>
                <a:lnTo>
                  <a:pt x="7794485" y="1159002"/>
                </a:lnTo>
                <a:lnTo>
                  <a:pt x="7728191" y="1159002"/>
                </a:lnTo>
                <a:lnTo>
                  <a:pt x="7728191" y="1175765"/>
                </a:lnTo>
                <a:lnTo>
                  <a:pt x="7794485" y="1175765"/>
                </a:lnTo>
                <a:close/>
              </a:path>
              <a:path w="9709150" h="1176020">
                <a:moveTo>
                  <a:pt x="7677912" y="1175765"/>
                </a:moveTo>
                <a:lnTo>
                  <a:pt x="7677912" y="1159002"/>
                </a:lnTo>
                <a:lnTo>
                  <a:pt x="7610856" y="1159002"/>
                </a:lnTo>
                <a:lnTo>
                  <a:pt x="7610856" y="1175765"/>
                </a:lnTo>
                <a:lnTo>
                  <a:pt x="7677912" y="1175765"/>
                </a:lnTo>
                <a:close/>
              </a:path>
              <a:path w="9709150" h="1176020">
                <a:moveTo>
                  <a:pt x="7560551" y="1175765"/>
                </a:moveTo>
                <a:lnTo>
                  <a:pt x="7560551" y="1159002"/>
                </a:lnTo>
                <a:lnTo>
                  <a:pt x="7494257" y="1159002"/>
                </a:lnTo>
                <a:lnTo>
                  <a:pt x="7494257" y="1175765"/>
                </a:lnTo>
                <a:lnTo>
                  <a:pt x="7560551" y="1175765"/>
                </a:lnTo>
                <a:close/>
              </a:path>
              <a:path w="9709150" h="1176020">
                <a:moveTo>
                  <a:pt x="7443965" y="1175765"/>
                </a:moveTo>
                <a:lnTo>
                  <a:pt x="7443965" y="1159002"/>
                </a:lnTo>
                <a:lnTo>
                  <a:pt x="7376909" y="1159002"/>
                </a:lnTo>
                <a:lnTo>
                  <a:pt x="7376909" y="1175765"/>
                </a:lnTo>
                <a:lnTo>
                  <a:pt x="7443965" y="1175765"/>
                </a:lnTo>
                <a:close/>
              </a:path>
              <a:path w="9709150" h="1176020">
                <a:moveTo>
                  <a:pt x="7327392" y="1175765"/>
                </a:moveTo>
                <a:lnTo>
                  <a:pt x="7327392" y="1159002"/>
                </a:lnTo>
                <a:lnTo>
                  <a:pt x="7260336" y="1159002"/>
                </a:lnTo>
                <a:lnTo>
                  <a:pt x="7260336" y="1175765"/>
                </a:lnTo>
                <a:lnTo>
                  <a:pt x="7327392" y="1175765"/>
                </a:lnTo>
                <a:close/>
              </a:path>
              <a:path w="9709150" h="1176020">
                <a:moveTo>
                  <a:pt x="7210044" y="1175765"/>
                </a:moveTo>
                <a:lnTo>
                  <a:pt x="7210044" y="1159002"/>
                </a:lnTo>
                <a:lnTo>
                  <a:pt x="7142988" y="1159002"/>
                </a:lnTo>
                <a:lnTo>
                  <a:pt x="7142988" y="1175765"/>
                </a:lnTo>
                <a:lnTo>
                  <a:pt x="7210044" y="1175765"/>
                </a:lnTo>
                <a:close/>
              </a:path>
              <a:path w="9709150" h="1176020">
                <a:moveTo>
                  <a:pt x="7093458" y="1175765"/>
                </a:moveTo>
                <a:lnTo>
                  <a:pt x="7093458" y="1159002"/>
                </a:lnTo>
                <a:lnTo>
                  <a:pt x="7026402" y="1159002"/>
                </a:lnTo>
                <a:lnTo>
                  <a:pt x="7026402" y="1175765"/>
                </a:lnTo>
                <a:lnTo>
                  <a:pt x="7093458" y="1175765"/>
                </a:lnTo>
                <a:close/>
              </a:path>
              <a:path w="9709150" h="1176020">
                <a:moveTo>
                  <a:pt x="6976110" y="1175765"/>
                </a:moveTo>
                <a:lnTo>
                  <a:pt x="6976110" y="1159002"/>
                </a:lnTo>
                <a:lnTo>
                  <a:pt x="6909054" y="1159002"/>
                </a:lnTo>
                <a:lnTo>
                  <a:pt x="6909054" y="1175765"/>
                </a:lnTo>
                <a:lnTo>
                  <a:pt x="6976110" y="1175765"/>
                </a:lnTo>
                <a:close/>
              </a:path>
              <a:path w="9709150" h="1176020">
                <a:moveTo>
                  <a:pt x="6859511" y="1175765"/>
                </a:moveTo>
                <a:lnTo>
                  <a:pt x="6859511" y="1159002"/>
                </a:lnTo>
                <a:lnTo>
                  <a:pt x="6792455" y="1159002"/>
                </a:lnTo>
                <a:lnTo>
                  <a:pt x="6792455" y="1175765"/>
                </a:lnTo>
                <a:lnTo>
                  <a:pt x="6859511" y="1175765"/>
                </a:lnTo>
                <a:close/>
              </a:path>
              <a:path w="9709150" h="1176020">
                <a:moveTo>
                  <a:pt x="6742163" y="1175765"/>
                </a:moveTo>
                <a:lnTo>
                  <a:pt x="6742163" y="1159002"/>
                </a:lnTo>
                <a:lnTo>
                  <a:pt x="6675869" y="1159002"/>
                </a:lnTo>
                <a:lnTo>
                  <a:pt x="6675869" y="1175765"/>
                </a:lnTo>
                <a:lnTo>
                  <a:pt x="6742163" y="1175765"/>
                </a:lnTo>
                <a:close/>
              </a:path>
              <a:path w="9709150" h="1176020">
                <a:moveTo>
                  <a:pt x="6625577" y="1175765"/>
                </a:moveTo>
                <a:lnTo>
                  <a:pt x="6625577" y="1159002"/>
                </a:lnTo>
                <a:lnTo>
                  <a:pt x="6558521" y="1159002"/>
                </a:lnTo>
                <a:lnTo>
                  <a:pt x="6558521" y="1175765"/>
                </a:lnTo>
                <a:lnTo>
                  <a:pt x="6625577" y="1175765"/>
                </a:lnTo>
                <a:close/>
              </a:path>
              <a:path w="9709150" h="1176020">
                <a:moveTo>
                  <a:pt x="6508242" y="1175765"/>
                </a:moveTo>
                <a:lnTo>
                  <a:pt x="6508242" y="1159002"/>
                </a:lnTo>
                <a:lnTo>
                  <a:pt x="6441947" y="1159002"/>
                </a:lnTo>
                <a:lnTo>
                  <a:pt x="6441947" y="1175765"/>
                </a:lnTo>
                <a:lnTo>
                  <a:pt x="6508242" y="1175765"/>
                </a:lnTo>
                <a:close/>
              </a:path>
              <a:path w="9709150" h="1176020">
                <a:moveTo>
                  <a:pt x="6391655" y="1175765"/>
                </a:moveTo>
                <a:lnTo>
                  <a:pt x="6391655" y="1159002"/>
                </a:lnTo>
                <a:lnTo>
                  <a:pt x="6324599" y="1159002"/>
                </a:lnTo>
                <a:lnTo>
                  <a:pt x="6324599" y="1175765"/>
                </a:lnTo>
                <a:lnTo>
                  <a:pt x="6391655" y="1175765"/>
                </a:lnTo>
                <a:close/>
              </a:path>
              <a:path w="9709150" h="1176020">
                <a:moveTo>
                  <a:pt x="6274307" y="1175765"/>
                </a:moveTo>
                <a:lnTo>
                  <a:pt x="6274307" y="1159002"/>
                </a:lnTo>
                <a:lnTo>
                  <a:pt x="6208013" y="1159002"/>
                </a:lnTo>
                <a:lnTo>
                  <a:pt x="6208013" y="1175765"/>
                </a:lnTo>
                <a:lnTo>
                  <a:pt x="6274307" y="1175765"/>
                </a:lnTo>
                <a:close/>
              </a:path>
              <a:path w="9709150" h="1176020">
                <a:moveTo>
                  <a:pt x="6157709" y="1175765"/>
                </a:moveTo>
                <a:lnTo>
                  <a:pt x="6157709" y="1159002"/>
                </a:lnTo>
                <a:lnTo>
                  <a:pt x="6090653" y="1159002"/>
                </a:lnTo>
                <a:lnTo>
                  <a:pt x="6090653" y="1175765"/>
                </a:lnTo>
                <a:lnTo>
                  <a:pt x="6157709" y="1175765"/>
                </a:lnTo>
                <a:close/>
              </a:path>
              <a:path w="9709150" h="1176020">
                <a:moveTo>
                  <a:pt x="6040361" y="1175765"/>
                </a:moveTo>
                <a:lnTo>
                  <a:pt x="6040361" y="1159002"/>
                </a:lnTo>
                <a:lnTo>
                  <a:pt x="5974067" y="1159002"/>
                </a:lnTo>
                <a:lnTo>
                  <a:pt x="5974067" y="1175765"/>
                </a:lnTo>
                <a:lnTo>
                  <a:pt x="6040361" y="1175765"/>
                </a:lnTo>
                <a:close/>
              </a:path>
              <a:path w="9709150" h="1176020">
                <a:moveTo>
                  <a:pt x="5923775" y="1175765"/>
                </a:moveTo>
                <a:lnTo>
                  <a:pt x="5923775" y="1159002"/>
                </a:lnTo>
                <a:lnTo>
                  <a:pt x="5856719" y="1159002"/>
                </a:lnTo>
                <a:lnTo>
                  <a:pt x="5856719" y="1175765"/>
                </a:lnTo>
                <a:lnTo>
                  <a:pt x="5923775" y="1175765"/>
                </a:lnTo>
                <a:close/>
              </a:path>
              <a:path w="9709150" h="1176020">
                <a:moveTo>
                  <a:pt x="5806427" y="1175765"/>
                </a:moveTo>
                <a:lnTo>
                  <a:pt x="5806427" y="1159002"/>
                </a:lnTo>
                <a:lnTo>
                  <a:pt x="5740133" y="1159002"/>
                </a:lnTo>
                <a:lnTo>
                  <a:pt x="5740133" y="1175765"/>
                </a:lnTo>
                <a:lnTo>
                  <a:pt x="5806427" y="1175765"/>
                </a:lnTo>
                <a:close/>
              </a:path>
              <a:path w="9709150" h="1176020">
                <a:moveTo>
                  <a:pt x="5689854" y="1175765"/>
                </a:moveTo>
                <a:lnTo>
                  <a:pt x="5689854" y="1159002"/>
                </a:lnTo>
                <a:lnTo>
                  <a:pt x="5622798" y="1159002"/>
                </a:lnTo>
                <a:lnTo>
                  <a:pt x="5622798" y="1175765"/>
                </a:lnTo>
                <a:lnTo>
                  <a:pt x="5689854" y="1175765"/>
                </a:lnTo>
                <a:close/>
              </a:path>
              <a:path w="9709150" h="1176020">
                <a:moveTo>
                  <a:pt x="5573268" y="1175765"/>
                </a:moveTo>
                <a:lnTo>
                  <a:pt x="5573268" y="1159002"/>
                </a:lnTo>
                <a:lnTo>
                  <a:pt x="5506212" y="1159002"/>
                </a:lnTo>
                <a:lnTo>
                  <a:pt x="5506212" y="1175765"/>
                </a:lnTo>
                <a:lnTo>
                  <a:pt x="5573268" y="1175765"/>
                </a:lnTo>
                <a:close/>
              </a:path>
              <a:path w="9709150" h="1176020">
                <a:moveTo>
                  <a:pt x="5455920" y="1175765"/>
                </a:moveTo>
                <a:lnTo>
                  <a:pt x="5455920" y="1159002"/>
                </a:lnTo>
                <a:lnTo>
                  <a:pt x="5388864" y="1159002"/>
                </a:lnTo>
                <a:lnTo>
                  <a:pt x="5388864" y="1175766"/>
                </a:lnTo>
                <a:lnTo>
                  <a:pt x="5455920" y="1175765"/>
                </a:lnTo>
                <a:close/>
              </a:path>
              <a:path w="9709150" h="1176020">
                <a:moveTo>
                  <a:pt x="5339333" y="1175766"/>
                </a:moveTo>
                <a:lnTo>
                  <a:pt x="5339333" y="1159002"/>
                </a:lnTo>
                <a:lnTo>
                  <a:pt x="5272278" y="1159002"/>
                </a:lnTo>
                <a:lnTo>
                  <a:pt x="5272278" y="1175766"/>
                </a:lnTo>
                <a:lnTo>
                  <a:pt x="5339333" y="1175766"/>
                </a:lnTo>
                <a:close/>
              </a:path>
              <a:path w="9709150" h="1176020">
                <a:moveTo>
                  <a:pt x="5221985" y="1175766"/>
                </a:moveTo>
                <a:lnTo>
                  <a:pt x="5221985" y="1159002"/>
                </a:lnTo>
                <a:lnTo>
                  <a:pt x="5154930" y="1159002"/>
                </a:lnTo>
                <a:lnTo>
                  <a:pt x="5154930" y="1175766"/>
                </a:lnTo>
                <a:lnTo>
                  <a:pt x="5221985" y="1175766"/>
                </a:lnTo>
                <a:close/>
              </a:path>
              <a:path w="9709150" h="1176020">
                <a:moveTo>
                  <a:pt x="5105399" y="1175766"/>
                </a:moveTo>
                <a:lnTo>
                  <a:pt x="5105399" y="1159002"/>
                </a:lnTo>
                <a:lnTo>
                  <a:pt x="5038344" y="1159002"/>
                </a:lnTo>
                <a:lnTo>
                  <a:pt x="5038344" y="1175766"/>
                </a:lnTo>
                <a:lnTo>
                  <a:pt x="5105399" y="1175766"/>
                </a:lnTo>
                <a:close/>
              </a:path>
              <a:path w="9709150" h="1176020">
                <a:moveTo>
                  <a:pt x="4988051" y="1175766"/>
                </a:moveTo>
                <a:lnTo>
                  <a:pt x="4988051" y="1159002"/>
                </a:lnTo>
                <a:lnTo>
                  <a:pt x="4921757" y="1159002"/>
                </a:lnTo>
                <a:lnTo>
                  <a:pt x="4921757" y="1175766"/>
                </a:lnTo>
                <a:lnTo>
                  <a:pt x="4988051" y="1175766"/>
                </a:lnTo>
                <a:close/>
              </a:path>
              <a:path w="9709150" h="1176020">
                <a:moveTo>
                  <a:pt x="4871466" y="1175766"/>
                </a:moveTo>
                <a:lnTo>
                  <a:pt x="4871466" y="1159002"/>
                </a:lnTo>
                <a:lnTo>
                  <a:pt x="4804410" y="1159002"/>
                </a:lnTo>
                <a:lnTo>
                  <a:pt x="4804410" y="1175766"/>
                </a:lnTo>
                <a:lnTo>
                  <a:pt x="4871466" y="1175766"/>
                </a:lnTo>
                <a:close/>
              </a:path>
              <a:path w="9709150" h="1176020">
                <a:moveTo>
                  <a:pt x="4754118" y="1175766"/>
                </a:moveTo>
                <a:lnTo>
                  <a:pt x="4754118" y="1159002"/>
                </a:lnTo>
                <a:lnTo>
                  <a:pt x="4687823" y="1159002"/>
                </a:lnTo>
                <a:lnTo>
                  <a:pt x="4687823" y="1175766"/>
                </a:lnTo>
                <a:lnTo>
                  <a:pt x="4754118" y="1175766"/>
                </a:lnTo>
                <a:close/>
              </a:path>
              <a:path w="9709150" h="1176020">
                <a:moveTo>
                  <a:pt x="4637532" y="1175766"/>
                </a:moveTo>
                <a:lnTo>
                  <a:pt x="4637532" y="1159002"/>
                </a:lnTo>
                <a:lnTo>
                  <a:pt x="4570476" y="1159002"/>
                </a:lnTo>
                <a:lnTo>
                  <a:pt x="4570476" y="1175766"/>
                </a:lnTo>
                <a:lnTo>
                  <a:pt x="4637532" y="1175766"/>
                </a:lnTo>
                <a:close/>
              </a:path>
              <a:path w="9709150" h="1176020">
                <a:moveTo>
                  <a:pt x="4520183" y="1175766"/>
                </a:moveTo>
                <a:lnTo>
                  <a:pt x="4520183" y="1159002"/>
                </a:lnTo>
                <a:lnTo>
                  <a:pt x="4453889" y="1159002"/>
                </a:lnTo>
                <a:lnTo>
                  <a:pt x="4453889" y="1175766"/>
                </a:lnTo>
                <a:lnTo>
                  <a:pt x="4520183" y="1175766"/>
                </a:lnTo>
                <a:close/>
              </a:path>
              <a:path w="9709150" h="1176020">
                <a:moveTo>
                  <a:pt x="4403597" y="1175766"/>
                </a:moveTo>
                <a:lnTo>
                  <a:pt x="4403597" y="1159002"/>
                </a:lnTo>
                <a:lnTo>
                  <a:pt x="4336542" y="1159002"/>
                </a:lnTo>
                <a:lnTo>
                  <a:pt x="4336542" y="1175766"/>
                </a:lnTo>
                <a:lnTo>
                  <a:pt x="4403597" y="1175766"/>
                </a:lnTo>
                <a:close/>
              </a:path>
              <a:path w="9709150" h="1176020">
                <a:moveTo>
                  <a:pt x="4286249" y="1175766"/>
                </a:moveTo>
                <a:lnTo>
                  <a:pt x="4286249" y="1159002"/>
                </a:lnTo>
                <a:lnTo>
                  <a:pt x="4219955" y="1159002"/>
                </a:lnTo>
                <a:lnTo>
                  <a:pt x="4219955" y="1175766"/>
                </a:lnTo>
                <a:lnTo>
                  <a:pt x="4286249" y="1175766"/>
                </a:lnTo>
                <a:close/>
              </a:path>
              <a:path w="9709150" h="1176020">
                <a:moveTo>
                  <a:pt x="4169663" y="1175766"/>
                </a:moveTo>
                <a:lnTo>
                  <a:pt x="4169663" y="1159002"/>
                </a:lnTo>
                <a:lnTo>
                  <a:pt x="4102607" y="1159002"/>
                </a:lnTo>
                <a:lnTo>
                  <a:pt x="4102607" y="1175766"/>
                </a:lnTo>
                <a:lnTo>
                  <a:pt x="4169663" y="1175766"/>
                </a:lnTo>
                <a:close/>
              </a:path>
              <a:path w="9709150" h="1176020">
                <a:moveTo>
                  <a:pt x="4052316" y="1175766"/>
                </a:moveTo>
                <a:lnTo>
                  <a:pt x="4052316" y="1159002"/>
                </a:lnTo>
                <a:lnTo>
                  <a:pt x="3986021" y="1159002"/>
                </a:lnTo>
                <a:lnTo>
                  <a:pt x="3986021" y="1175766"/>
                </a:lnTo>
                <a:lnTo>
                  <a:pt x="4052316" y="1175766"/>
                </a:lnTo>
                <a:close/>
              </a:path>
              <a:path w="9709150" h="1176020">
                <a:moveTo>
                  <a:pt x="3935729" y="1175766"/>
                </a:moveTo>
                <a:lnTo>
                  <a:pt x="3935729" y="1159002"/>
                </a:lnTo>
                <a:lnTo>
                  <a:pt x="3868674" y="1159002"/>
                </a:lnTo>
                <a:lnTo>
                  <a:pt x="3868674" y="1175766"/>
                </a:lnTo>
                <a:lnTo>
                  <a:pt x="3935729" y="1175766"/>
                </a:lnTo>
                <a:close/>
              </a:path>
              <a:path w="9709150" h="1176020">
                <a:moveTo>
                  <a:pt x="3819143" y="1175766"/>
                </a:moveTo>
                <a:lnTo>
                  <a:pt x="3819143" y="1159002"/>
                </a:lnTo>
                <a:lnTo>
                  <a:pt x="3752088" y="1159002"/>
                </a:lnTo>
                <a:lnTo>
                  <a:pt x="3752088" y="1175766"/>
                </a:lnTo>
                <a:lnTo>
                  <a:pt x="3819143" y="1175766"/>
                </a:lnTo>
                <a:close/>
              </a:path>
              <a:path w="9709150" h="1176020">
                <a:moveTo>
                  <a:pt x="3701795" y="1175766"/>
                </a:moveTo>
                <a:lnTo>
                  <a:pt x="3701795" y="1159002"/>
                </a:lnTo>
                <a:lnTo>
                  <a:pt x="3634740" y="1159002"/>
                </a:lnTo>
                <a:lnTo>
                  <a:pt x="3634740" y="1175766"/>
                </a:lnTo>
                <a:lnTo>
                  <a:pt x="3701795" y="1175766"/>
                </a:lnTo>
                <a:close/>
              </a:path>
              <a:path w="9709150" h="1176020">
                <a:moveTo>
                  <a:pt x="3585209" y="1175766"/>
                </a:moveTo>
                <a:lnTo>
                  <a:pt x="3585209" y="1159002"/>
                </a:lnTo>
                <a:lnTo>
                  <a:pt x="3518154" y="1159002"/>
                </a:lnTo>
                <a:lnTo>
                  <a:pt x="3518154" y="1175766"/>
                </a:lnTo>
                <a:lnTo>
                  <a:pt x="3585209" y="1175766"/>
                </a:lnTo>
                <a:close/>
              </a:path>
              <a:path w="9709150" h="1176020">
                <a:moveTo>
                  <a:pt x="3467861" y="1175766"/>
                </a:moveTo>
                <a:lnTo>
                  <a:pt x="3467861" y="1159002"/>
                </a:lnTo>
                <a:lnTo>
                  <a:pt x="3400805" y="1159002"/>
                </a:lnTo>
                <a:lnTo>
                  <a:pt x="3400805" y="1175766"/>
                </a:lnTo>
                <a:lnTo>
                  <a:pt x="3467861" y="1175766"/>
                </a:lnTo>
                <a:close/>
              </a:path>
              <a:path w="9709150" h="1176020">
                <a:moveTo>
                  <a:pt x="3351275" y="1175766"/>
                </a:moveTo>
                <a:lnTo>
                  <a:pt x="3351275" y="1159002"/>
                </a:lnTo>
                <a:lnTo>
                  <a:pt x="3284219" y="1159002"/>
                </a:lnTo>
                <a:lnTo>
                  <a:pt x="3284219" y="1175766"/>
                </a:lnTo>
                <a:lnTo>
                  <a:pt x="3351275" y="1175766"/>
                </a:lnTo>
                <a:close/>
              </a:path>
              <a:path w="9709150" h="1176020">
                <a:moveTo>
                  <a:pt x="3233928" y="1175766"/>
                </a:moveTo>
                <a:lnTo>
                  <a:pt x="3233928" y="1159002"/>
                </a:lnTo>
                <a:lnTo>
                  <a:pt x="3167634" y="1159002"/>
                </a:lnTo>
                <a:lnTo>
                  <a:pt x="3167634" y="1175766"/>
                </a:lnTo>
                <a:lnTo>
                  <a:pt x="3233928" y="1175766"/>
                </a:lnTo>
                <a:close/>
              </a:path>
              <a:path w="9709150" h="1176020">
                <a:moveTo>
                  <a:pt x="3117342" y="1175766"/>
                </a:moveTo>
                <a:lnTo>
                  <a:pt x="3117342" y="1159002"/>
                </a:lnTo>
                <a:lnTo>
                  <a:pt x="3050286" y="1159002"/>
                </a:lnTo>
                <a:lnTo>
                  <a:pt x="3050286" y="1175766"/>
                </a:lnTo>
                <a:lnTo>
                  <a:pt x="3117342" y="1175766"/>
                </a:lnTo>
                <a:close/>
              </a:path>
              <a:path w="9709150" h="1176020">
                <a:moveTo>
                  <a:pt x="2999994" y="1175766"/>
                </a:moveTo>
                <a:lnTo>
                  <a:pt x="2999994" y="1159002"/>
                </a:lnTo>
                <a:lnTo>
                  <a:pt x="2933699" y="1159002"/>
                </a:lnTo>
                <a:lnTo>
                  <a:pt x="2933699" y="1175766"/>
                </a:lnTo>
                <a:lnTo>
                  <a:pt x="2999994" y="1175766"/>
                </a:lnTo>
                <a:close/>
              </a:path>
              <a:path w="9709150" h="1176020">
                <a:moveTo>
                  <a:pt x="2883408" y="1175766"/>
                </a:moveTo>
                <a:lnTo>
                  <a:pt x="2883408" y="1159002"/>
                </a:lnTo>
                <a:lnTo>
                  <a:pt x="2816352" y="1159002"/>
                </a:lnTo>
                <a:lnTo>
                  <a:pt x="2816352" y="1175766"/>
                </a:lnTo>
                <a:lnTo>
                  <a:pt x="2883408" y="1175766"/>
                </a:lnTo>
                <a:close/>
              </a:path>
              <a:path w="9709150" h="1176020">
                <a:moveTo>
                  <a:pt x="2766060" y="1175766"/>
                </a:moveTo>
                <a:lnTo>
                  <a:pt x="2766060" y="1159002"/>
                </a:lnTo>
                <a:lnTo>
                  <a:pt x="2699766" y="1159002"/>
                </a:lnTo>
                <a:lnTo>
                  <a:pt x="2699766" y="1175766"/>
                </a:lnTo>
                <a:lnTo>
                  <a:pt x="2766060" y="1175766"/>
                </a:lnTo>
                <a:close/>
              </a:path>
              <a:path w="9709150" h="1176020">
                <a:moveTo>
                  <a:pt x="2649474" y="1175766"/>
                </a:moveTo>
                <a:lnTo>
                  <a:pt x="2649474" y="1159002"/>
                </a:lnTo>
                <a:lnTo>
                  <a:pt x="2582418" y="1159002"/>
                </a:lnTo>
                <a:lnTo>
                  <a:pt x="2582418" y="1175766"/>
                </a:lnTo>
                <a:lnTo>
                  <a:pt x="2649474" y="1175766"/>
                </a:lnTo>
                <a:close/>
              </a:path>
              <a:path w="9709150" h="1176020">
                <a:moveTo>
                  <a:pt x="2532126" y="1175766"/>
                </a:moveTo>
                <a:lnTo>
                  <a:pt x="2532126" y="1159002"/>
                </a:lnTo>
                <a:lnTo>
                  <a:pt x="2465832" y="1159002"/>
                </a:lnTo>
                <a:lnTo>
                  <a:pt x="2465832" y="1175766"/>
                </a:lnTo>
                <a:lnTo>
                  <a:pt x="2532126" y="1175766"/>
                </a:lnTo>
                <a:close/>
              </a:path>
              <a:path w="9709150" h="1176020">
                <a:moveTo>
                  <a:pt x="2415540" y="1175766"/>
                </a:moveTo>
                <a:lnTo>
                  <a:pt x="2415540" y="1159002"/>
                </a:lnTo>
                <a:lnTo>
                  <a:pt x="2348484" y="1159002"/>
                </a:lnTo>
                <a:lnTo>
                  <a:pt x="2348484" y="1175766"/>
                </a:lnTo>
                <a:lnTo>
                  <a:pt x="2415540" y="1175766"/>
                </a:lnTo>
                <a:close/>
              </a:path>
              <a:path w="9709150" h="1176020">
                <a:moveTo>
                  <a:pt x="2298192" y="1175766"/>
                </a:moveTo>
                <a:lnTo>
                  <a:pt x="2298192" y="1159002"/>
                </a:lnTo>
                <a:lnTo>
                  <a:pt x="2231898" y="1159002"/>
                </a:lnTo>
                <a:lnTo>
                  <a:pt x="2231898" y="1175766"/>
                </a:lnTo>
                <a:lnTo>
                  <a:pt x="2298192" y="1175766"/>
                </a:lnTo>
                <a:close/>
              </a:path>
              <a:path w="9709150" h="1176020">
                <a:moveTo>
                  <a:pt x="2181606" y="1175766"/>
                </a:moveTo>
                <a:lnTo>
                  <a:pt x="2181606" y="1159002"/>
                </a:lnTo>
                <a:lnTo>
                  <a:pt x="2114550" y="1159002"/>
                </a:lnTo>
                <a:lnTo>
                  <a:pt x="2114550" y="1175766"/>
                </a:lnTo>
                <a:lnTo>
                  <a:pt x="2181606" y="1175766"/>
                </a:lnTo>
                <a:close/>
              </a:path>
              <a:path w="9709150" h="1176020">
                <a:moveTo>
                  <a:pt x="2065020" y="1175766"/>
                </a:moveTo>
                <a:lnTo>
                  <a:pt x="2065020" y="1159002"/>
                </a:lnTo>
                <a:lnTo>
                  <a:pt x="1997964" y="1159002"/>
                </a:lnTo>
                <a:lnTo>
                  <a:pt x="1997964" y="1175766"/>
                </a:lnTo>
                <a:lnTo>
                  <a:pt x="2065020" y="1175766"/>
                </a:lnTo>
                <a:close/>
              </a:path>
              <a:path w="9709150" h="1176020">
                <a:moveTo>
                  <a:pt x="1947672" y="1175766"/>
                </a:moveTo>
                <a:lnTo>
                  <a:pt x="1947672" y="1159002"/>
                </a:lnTo>
                <a:lnTo>
                  <a:pt x="1880616" y="1159002"/>
                </a:lnTo>
                <a:lnTo>
                  <a:pt x="1880616" y="1175766"/>
                </a:lnTo>
                <a:lnTo>
                  <a:pt x="1947672" y="1175766"/>
                </a:lnTo>
                <a:close/>
              </a:path>
              <a:path w="9709150" h="1176020">
                <a:moveTo>
                  <a:pt x="1831086" y="1175766"/>
                </a:moveTo>
                <a:lnTo>
                  <a:pt x="1831086" y="1159002"/>
                </a:lnTo>
                <a:lnTo>
                  <a:pt x="1764030" y="1159002"/>
                </a:lnTo>
                <a:lnTo>
                  <a:pt x="1764030" y="1175766"/>
                </a:lnTo>
                <a:lnTo>
                  <a:pt x="1831086" y="1175766"/>
                </a:lnTo>
                <a:close/>
              </a:path>
              <a:path w="9709150" h="1176020">
                <a:moveTo>
                  <a:pt x="1713738" y="1175766"/>
                </a:moveTo>
                <a:lnTo>
                  <a:pt x="1713738" y="1159002"/>
                </a:lnTo>
                <a:lnTo>
                  <a:pt x="1646682" y="1159002"/>
                </a:lnTo>
                <a:lnTo>
                  <a:pt x="1646682" y="1175766"/>
                </a:lnTo>
                <a:lnTo>
                  <a:pt x="1713738" y="1175766"/>
                </a:lnTo>
                <a:close/>
              </a:path>
              <a:path w="9709150" h="1176020">
                <a:moveTo>
                  <a:pt x="1597152" y="1175766"/>
                </a:moveTo>
                <a:lnTo>
                  <a:pt x="1597152" y="1159002"/>
                </a:lnTo>
                <a:lnTo>
                  <a:pt x="1530096" y="1159002"/>
                </a:lnTo>
                <a:lnTo>
                  <a:pt x="1530096" y="1175766"/>
                </a:lnTo>
                <a:lnTo>
                  <a:pt x="1597152" y="1175766"/>
                </a:lnTo>
                <a:close/>
              </a:path>
              <a:path w="9709150" h="1176020">
                <a:moveTo>
                  <a:pt x="1479804" y="1175766"/>
                </a:moveTo>
                <a:lnTo>
                  <a:pt x="1479804" y="1159002"/>
                </a:lnTo>
                <a:lnTo>
                  <a:pt x="1413510" y="1159002"/>
                </a:lnTo>
                <a:lnTo>
                  <a:pt x="1413510" y="1175766"/>
                </a:lnTo>
                <a:lnTo>
                  <a:pt x="1479804" y="1175766"/>
                </a:lnTo>
                <a:close/>
              </a:path>
              <a:path w="9709150" h="1176020">
                <a:moveTo>
                  <a:pt x="1363218" y="1175766"/>
                </a:moveTo>
                <a:lnTo>
                  <a:pt x="1363218" y="1159002"/>
                </a:lnTo>
                <a:lnTo>
                  <a:pt x="1296162" y="1159002"/>
                </a:lnTo>
                <a:lnTo>
                  <a:pt x="1296162" y="1175766"/>
                </a:lnTo>
                <a:lnTo>
                  <a:pt x="1363218" y="1175766"/>
                </a:lnTo>
                <a:close/>
              </a:path>
              <a:path w="9709150" h="1176020">
                <a:moveTo>
                  <a:pt x="1245870" y="1175766"/>
                </a:moveTo>
                <a:lnTo>
                  <a:pt x="1245870" y="1159002"/>
                </a:lnTo>
                <a:lnTo>
                  <a:pt x="1179576" y="1159002"/>
                </a:lnTo>
                <a:lnTo>
                  <a:pt x="1179576" y="1175766"/>
                </a:lnTo>
                <a:lnTo>
                  <a:pt x="1245870" y="1175766"/>
                </a:lnTo>
                <a:close/>
              </a:path>
              <a:path w="9709150" h="1176020">
                <a:moveTo>
                  <a:pt x="1129284" y="1175766"/>
                </a:moveTo>
                <a:lnTo>
                  <a:pt x="1129284" y="1159002"/>
                </a:lnTo>
                <a:lnTo>
                  <a:pt x="1062228" y="1159002"/>
                </a:lnTo>
                <a:lnTo>
                  <a:pt x="1062228" y="1175766"/>
                </a:lnTo>
                <a:lnTo>
                  <a:pt x="1129284" y="1175766"/>
                </a:lnTo>
                <a:close/>
              </a:path>
              <a:path w="9709150" h="1176020">
                <a:moveTo>
                  <a:pt x="1011936" y="1175766"/>
                </a:moveTo>
                <a:lnTo>
                  <a:pt x="1011936" y="1159002"/>
                </a:lnTo>
                <a:lnTo>
                  <a:pt x="945642" y="1159002"/>
                </a:lnTo>
                <a:lnTo>
                  <a:pt x="945642" y="1175766"/>
                </a:lnTo>
                <a:lnTo>
                  <a:pt x="1011936" y="1175766"/>
                </a:lnTo>
                <a:close/>
              </a:path>
              <a:path w="9709150" h="1176020">
                <a:moveTo>
                  <a:pt x="895350" y="1175766"/>
                </a:moveTo>
                <a:lnTo>
                  <a:pt x="895350" y="1159002"/>
                </a:lnTo>
                <a:lnTo>
                  <a:pt x="828294" y="1159002"/>
                </a:lnTo>
                <a:lnTo>
                  <a:pt x="828294" y="1175766"/>
                </a:lnTo>
                <a:lnTo>
                  <a:pt x="895350" y="1175766"/>
                </a:lnTo>
                <a:close/>
              </a:path>
              <a:path w="9709150" h="1176020">
                <a:moveTo>
                  <a:pt x="778002" y="1175766"/>
                </a:moveTo>
                <a:lnTo>
                  <a:pt x="778002" y="1159002"/>
                </a:lnTo>
                <a:lnTo>
                  <a:pt x="711708" y="1159002"/>
                </a:lnTo>
                <a:lnTo>
                  <a:pt x="711708" y="1175766"/>
                </a:lnTo>
                <a:lnTo>
                  <a:pt x="778002" y="1175766"/>
                </a:lnTo>
                <a:close/>
              </a:path>
              <a:path w="9709150" h="1176020">
                <a:moveTo>
                  <a:pt x="661416" y="1175766"/>
                </a:moveTo>
                <a:lnTo>
                  <a:pt x="661416" y="1159002"/>
                </a:lnTo>
                <a:lnTo>
                  <a:pt x="594360" y="1159002"/>
                </a:lnTo>
                <a:lnTo>
                  <a:pt x="594360" y="1175766"/>
                </a:lnTo>
                <a:lnTo>
                  <a:pt x="661416" y="1175766"/>
                </a:lnTo>
                <a:close/>
              </a:path>
              <a:path w="9709150" h="1176020">
                <a:moveTo>
                  <a:pt x="544068" y="1175766"/>
                </a:moveTo>
                <a:lnTo>
                  <a:pt x="544068" y="1159002"/>
                </a:lnTo>
                <a:lnTo>
                  <a:pt x="477774" y="1159002"/>
                </a:lnTo>
                <a:lnTo>
                  <a:pt x="477774" y="1175766"/>
                </a:lnTo>
                <a:lnTo>
                  <a:pt x="544068" y="1175766"/>
                </a:lnTo>
                <a:close/>
              </a:path>
              <a:path w="9709150" h="1176020">
                <a:moveTo>
                  <a:pt x="427482" y="1175766"/>
                </a:moveTo>
                <a:lnTo>
                  <a:pt x="427482" y="1159002"/>
                </a:lnTo>
                <a:lnTo>
                  <a:pt x="360426" y="1159002"/>
                </a:lnTo>
                <a:lnTo>
                  <a:pt x="360426" y="1175766"/>
                </a:lnTo>
                <a:lnTo>
                  <a:pt x="427482" y="1175766"/>
                </a:lnTo>
                <a:close/>
              </a:path>
              <a:path w="9709150" h="1176020">
                <a:moveTo>
                  <a:pt x="310896" y="1175766"/>
                </a:moveTo>
                <a:lnTo>
                  <a:pt x="310896" y="1159002"/>
                </a:lnTo>
                <a:lnTo>
                  <a:pt x="243840" y="1159002"/>
                </a:lnTo>
                <a:lnTo>
                  <a:pt x="243840" y="1175766"/>
                </a:lnTo>
                <a:lnTo>
                  <a:pt x="310896" y="1175766"/>
                </a:lnTo>
                <a:close/>
              </a:path>
              <a:path w="9709150" h="1176020">
                <a:moveTo>
                  <a:pt x="193548" y="1175766"/>
                </a:moveTo>
                <a:lnTo>
                  <a:pt x="193548" y="1159002"/>
                </a:lnTo>
                <a:lnTo>
                  <a:pt x="126492" y="1159002"/>
                </a:lnTo>
                <a:lnTo>
                  <a:pt x="126492" y="1175766"/>
                </a:lnTo>
                <a:lnTo>
                  <a:pt x="193548" y="1175766"/>
                </a:lnTo>
                <a:close/>
              </a:path>
            </a:pathLst>
          </a:custGeom>
          <a:solidFill>
            <a:srgbClr val="FF0000"/>
          </a:solidFill>
        </p:spPr>
        <p:txBody>
          <a:bodyPr wrap="square" lIns="0" tIns="0" rIns="0" bIns="0" rtlCol="0"/>
          <a:lstStyle/>
          <a:p>
            <a:endParaRPr/>
          </a:p>
        </p:txBody>
      </p:sp>
      <p:sp>
        <p:nvSpPr>
          <p:cNvPr id="4" name="object 4"/>
          <p:cNvSpPr txBox="1"/>
          <p:nvPr/>
        </p:nvSpPr>
        <p:spPr>
          <a:xfrm>
            <a:off x="531247" y="2376931"/>
            <a:ext cx="9591675" cy="2287905"/>
          </a:xfrm>
          <a:prstGeom prst="rect">
            <a:avLst/>
          </a:prstGeom>
        </p:spPr>
        <p:txBody>
          <a:bodyPr vert="horz" wrap="square" lIns="0" tIns="12700" rIns="0" bIns="0" rtlCol="0">
            <a:spAutoFit/>
          </a:bodyPr>
          <a:lstStyle/>
          <a:p>
            <a:pPr marL="12700">
              <a:lnSpc>
                <a:spcPct val="100000"/>
              </a:lnSpc>
              <a:spcBef>
                <a:spcPts val="100"/>
              </a:spcBef>
            </a:pPr>
            <a:r>
              <a:rPr sz="1750" dirty="0">
                <a:latin typeface="微软雅黑"/>
                <a:cs typeface="微软雅黑"/>
              </a:rPr>
              <a:t>在</a:t>
            </a:r>
            <a:r>
              <a:rPr sz="1750" spc="-10" dirty="0">
                <a:latin typeface="Arial"/>
                <a:cs typeface="Arial"/>
              </a:rPr>
              <a:t>4.1</a:t>
            </a:r>
            <a:r>
              <a:rPr sz="1750" dirty="0">
                <a:latin typeface="微软雅黑"/>
                <a:cs typeface="微软雅黑"/>
              </a:rPr>
              <a:t>节的讨论中，我们知道</a:t>
            </a:r>
            <a:r>
              <a:rPr sz="1750" dirty="0">
                <a:latin typeface="Arial"/>
                <a:cs typeface="Arial"/>
              </a:rPr>
              <a:t>D</a:t>
            </a:r>
            <a:r>
              <a:rPr sz="1750" dirty="0">
                <a:latin typeface="微软雅黑"/>
                <a:cs typeface="微软雅黑"/>
              </a:rPr>
              <a:t>触发器可以用于比特信号的存储。如果</a:t>
            </a:r>
            <a:r>
              <a:rPr sz="1750" dirty="0">
                <a:latin typeface="Arial"/>
                <a:cs typeface="Arial"/>
              </a:rPr>
              <a:t>d</a:t>
            </a:r>
            <a:r>
              <a:rPr sz="1750" dirty="0">
                <a:latin typeface="微软雅黑"/>
                <a:cs typeface="微软雅黑"/>
              </a:rPr>
              <a:t>为</a:t>
            </a:r>
            <a:r>
              <a:rPr sz="1750" dirty="0">
                <a:latin typeface="Arial"/>
                <a:cs typeface="Arial"/>
              </a:rPr>
              <a:t>1</a:t>
            </a:r>
            <a:r>
              <a:rPr sz="1750" spc="-5" dirty="0">
                <a:latin typeface="微软雅黑"/>
                <a:cs typeface="微软雅黑"/>
              </a:rPr>
              <a:t>，那么在时钟的上升沿</a:t>
            </a:r>
            <a:endParaRPr sz="1750">
              <a:latin typeface="微软雅黑"/>
              <a:cs typeface="微软雅黑"/>
            </a:endParaRPr>
          </a:p>
          <a:p>
            <a:pPr marL="12700">
              <a:lnSpc>
                <a:spcPct val="100000"/>
              </a:lnSpc>
              <a:spcBef>
                <a:spcPts val="2105"/>
              </a:spcBef>
            </a:pPr>
            <a:r>
              <a:rPr sz="1750" dirty="0">
                <a:latin typeface="微软雅黑"/>
                <a:cs typeface="微软雅黑"/>
              </a:rPr>
              <a:t>，</a:t>
            </a:r>
            <a:r>
              <a:rPr sz="1750" dirty="0">
                <a:latin typeface="Arial"/>
                <a:cs typeface="Arial"/>
              </a:rPr>
              <a:t>D</a:t>
            </a:r>
            <a:r>
              <a:rPr sz="1750" dirty="0">
                <a:latin typeface="微软雅黑"/>
                <a:cs typeface="微软雅黑"/>
              </a:rPr>
              <a:t>触发器的输出</a:t>
            </a:r>
            <a:r>
              <a:rPr sz="1750" spc="-20" dirty="0">
                <a:latin typeface="Arial"/>
                <a:cs typeface="Arial"/>
              </a:rPr>
              <a:t>q</a:t>
            </a:r>
            <a:r>
              <a:rPr sz="1750" dirty="0">
                <a:latin typeface="微软雅黑"/>
                <a:cs typeface="微软雅黑"/>
              </a:rPr>
              <a:t>将变为</a:t>
            </a:r>
            <a:r>
              <a:rPr sz="1750" spc="-20" dirty="0">
                <a:latin typeface="Arial"/>
                <a:cs typeface="Arial"/>
              </a:rPr>
              <a:t>1</a:t>
            </a:r>
            <a:r>
              <a:rPr sz="1750" dirty="0">
                <a:latin typeface="微软雅黑"/>
                <a:cs typeface="微软雅黑"/>
              </a:rPr>
              <a:t>。如果</a:t>
            </a:r>
            <a:r>
              <a:rPr sz="1750" spc="-10" dirty="0">
                <a:latin typeface="Arial"/>
                <a:cs typeface="Arial"/>
              </a:rPr>
              <a:t>d</a:t>
            </a:r>
            <a:r>
              <a:rPr sz="1750" dirty="0">
                <a:latin typeface="微软雅黑"/>
                <a:cs typeface="微软雅黑"/>
              </a:rPr>
              <a:t>为</a:t>
            </a:r>
            <a:r>
              <a:rPr sz="1750" spc="-10" dirty="0">
                <a:latin typeface="Arial"/>
                <a:cs typeface="Arial"/>
              </a:rPr>
              <a:t>0</a:t>
            </a:r>
            <a:r>
              <a:rPr sz="1750" spc="-5" dirty="0">
                <a:latin typeface="微软雅黑"/>
                <a:cs typeface="微软雅黑"/>
              </a:rPr>
              <a:t>，那么在时钟的上升沿，</a:t>
            </a:r>
            <a:r>
              <a:rPr sz="1750" dirty="0">
                <a:latin typeface="Arial"/>
                <a:cs typeface="Arial"/>
              </a:rPr>
              <a:t>D</a:t>
            </a:r>
            <a:r>
              <a:rPr sz="1750" dirty="0">
                <a:latin typeface="微软雅黑"/>
                <a:cs typeface="微软雅黑"/>
              </a:rPr>
              <a:t>触发器的输出</a:t>
            </a:r>
            <a:r>
              <a:rPr sz="1750" spc="-10" dirty="0">
                <a:latin typeface="Arial"/>
                <a:cs typeface="Arial"/>
              </a:rPr>
              <a:t>q</a:t>
            </a:r>
            <a:r>
              <a:rPr sz="1750" dirty="0">
                <a:latin typeface="微软雅黑"/>
                <a:cs typeface="微软雅黑"/>
              </a:rPr>
              <a:t>将为</a:t>
            </a:r>
            <a:r>
              <a:rPr sz="1750" spc="-10" dirty="0">
                <a:latin typeface="Arial"/>
                <a:cs typeface="Arial"/>
              </a:rPr>
              <a:t>0</a:t>
            </a:r>
            <a:r>
              <a:rPr sz="1750" spc="-50" dirty="0">
                <a:latin typeface="微软雅黑"/>
                <a:cs typeface="微软雅黑"/>
              </a:rPr>
              <a:t>。</a:t>
            </a:r>
            <a:endParaRPr sz="1750">
              <a:latin typeface="微软雅黑"/>
              <a:cs typeface="微软雅黑"/>
            </a:endParaRPr>
          </a:p>
          <a:p>
            <a:pPr>
              <a:lnSpc>
                <a:spcPct val="100000"/>
              </a:lnSpc>
              <a:spcBef>
                <a:spcPts val="90"/>
              </a:spcBef>
            </a:pPr>
            <a:endParaRPr sz="1750">
              <a:latin typeface="微软雅黑"/>
              <a:cs typeface="微软雅黑"/>
            </a:endParaRPr>
          </a:p>
          <a:p>
            <a:pPr marL="49530" marR="5080">
              <a:lnSpc>
                <a:spcPct val="200300"/>
              </a:lnSpc>
            </a:pPr>
            <a:r>
              <a:rPr sz="1750" dirty="0">
                <a:latin typeface="微软雅黑"/>
                <a:cs typeface="微软雅黑"/>
              </a:rPr>
              <a:t>在实际的数字系统中，一般</a:t>
            </a:r>
            <a:r>
              <a:rPr sz="1750" dirty="0">
                <a:latin typeface="Arial"/>
                <a:cs typeface="Arial"/>
              </a:rPr>
              <a:t>D</a:t>
            </a:r>
            <a:r>
              <a:rPr sz="1750" spc="-10" dirty="0">
                <a:latin typeface="微软雅黑"/>
                <a:cs typeface="微软雅黑"/>
              </a:rPr>
              <a:t>触发器的时钟输入端始终都有时钟信号输入。这就意味着在每个时钟</a:t>
            </a:r>
            <a:r>
              <a:rPr sz="1750" dirty="0">
                <a:latin typeface="微软雅黑"/>
                <a:cs typeface="微软雅黑"/>
              </a:rPr>
              <a:t>的上升沿，当前的</a:t>
            </a:r>
            <a:r>
              <a:rPr sz="1750" spc="-20" dirty="0">
                <a:latin typeface="Arial"/>
                <a:cs typeface="Arial"/>
              </a:rPr>
              <a:t>d</a:t>
            </a:r>
            <a:r>
              <a:rPr sz="1750" dirty="0">
                <a:latin typeface="微软雅黑"/>
                <a:cs typeface="微软雅黑"/>
              </a:rPr>
              <a:t>值都将被锁存在</a:t>
            </a:r>
            <a:r>
              <a:rPr sz="1750" spc="-20" dirty="0">
                <a:latin typeface="Arial"/>
                <a:cs typeface="Arial"/>
              </a:rPr>
              <a:t>q</a:t>
            </a:r>
            <a:r>
              <a:rPr sz="1750" spc="-5" dirty="0">
                <a:latin typeface="微软雅黑"/>
                <a:cs typeface="微软雅黑"/>
              </a:rPr>
              <a:t>中，而时钟的变化频率通常是每秒几百万次。</a:t>
            </a:r>
            <a:endParaRPr sz="1750">
              <a:latin typeface="微软雅黑"/>
              <a:cs typeface="微软雅黑"/>
            </a:endParaRP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29327" y="6518400"/>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txBox="1">
            <a:spLocks noGrp="1"/>
          </p:cNvSpPr>
          <p:nvPr>
            <p:ph type="title"/>
          </p:nvPr>
        </p:nvSpPr>
        <p:spPr>
          <a:xfrm>
            <a:off x="523627" y="1072387"/>
            <a:ext cx="253936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4.2.1</a:t>
            </a:r>
            <a:r>
              <a:rPr spc="-35" dirty="0">
                <a:latin typeface="Arial"/>
                <a:cs typeface="Arial"/>
              </a:rPr>
              <a:t> </a:t>
            </a:r>
            <a:r>
              <a:rPr spc="-25" dirty="0">
                <a:latin typeface="Arial"/>
                <a:cs typeface="Arial"/>
              </a:rPr>
              <a:t>1</a:t>
            </a:r>
            <a:r>
              <a:rPr spc="-15" dirty="0"/>
              <a:t>位寄存器</a:t>
            </a:r>
          </a:p>
        </p:txBody>
      </p:sp>
      <p:sp>
        <p:nvSpPr>
          <p:cNvPr id="4" name="object 4"/>
          <p:cNvSpPr txBox="1"/>
          <p:nvPr/>
        </p:nvSpPr>
        <p:spPr>
          <a:xfrm>
            <a:off x="603615" y="1660949"/>
            <a:ext cx="9468485" cy="827405"/>
          </a:xfrm>
          <a:prstGeom prst="rect">
            <a:avLst/>
          </a:prstGeom>
        </p:spPr>
        <p:txBody>
          <a:bodyPr vert="horz" wrap="square" lIns="0" tIns="12700" rIns="0" bIns="0" rtlCol="0">
            <a:spAutoFit/>
          </a:bodyPr>
          <a:lstStyle/>
          <a:p>
            <a:pPr marL="12700" marR="5080">
              <a:lnSpc>
                <a:spcPct val="150300"/>
              </a:lnSpc>
              <a:spcBef>
                <a:spcPts val="100"/>
              </a:spcBef>
            </a:pPr>
            <a:r>
              <a:rPr sz="1750" dirty="0">
                <a:latin typeface="微软雅黑"/>
                <a:cs typeface="微软雅黑"/>
              </a:rPr>
              <a:t>为了设计一个</a:t>
            </a:r>
            <a:r>
              <a:rPr sz="1750" dirty="0">
                <a:latin typeface="Arial"/>
                <a:cs typeface="Arial"/>
              </a:rPr>
              <a:t>1</a:t>
            </a:r>
            <a:r>
              <a:rPr sz="1750" dirty="0">
                <a:latin typeface="微软雅黑"/>
                <a:cs typeface="微软雅黑"/>
              </a:rPr>
              <a:t>位寄存器，它可以在需要时从输入线</a:t>
            </a:r>
            <a:r>
              <a:rPr sz="1750" spc="-10" dirty="0">
                <a:latin typeface="Arial"/>
                <a:cs typeface="Arial"/>
              </a:rPr>
              <a:t>in_data</a:t>
            </a:r>
            <a:r>
              <a:rPr sz="1750" dirty="0">
                <a:latin typeface="微软雅黑"/>
                <a:cs typeface="微软雅黑"/>
              </a:rPr>
              <a:t>加载一个值，我们给</a:t>
            </a:r>
            <a:r>
              <a:rPr sz="1750" dirty="0">
                <a:latin typeface="Arial"/>
                <a:cs typeface="Arial"/>
              </a:rPr>
              <a:t>D</a:t>
            </a:r>
            <a:r>
              <a:rPr sz="1750" spc="-10" dirty="0">
                <a:latin typeface="微软雅黑"/>
                <a:cs typeface="微软雅黑"/>
              </a:rPr>
              <a:t>触发器增加一</a:t>
            </a:r>
            <a:r>
              <a:rPr sz="1750" dirty="0">
                <a:latin typeface="微软雅黑"/>
                <a:cs typeface="微软雅黑"/>
              </a:rPr>
              <a:t>根输入线</a:t>
            </a:r>
            <a:r>
              <a:rPr sz="1750" dirty="0">
                <a:latin typeface="Arial"/>
                <a:cs typeface="Arial"/>
              </a:rPr>
              <a:t>load</a:t>
            </a:r>
            <a:r>
              <a:rPr sz="1750" dirty="0">
                <a:latin typeface="微软雅黑"/>
                <a:cs typeface="微软雅黑"/>
              </a:rPr>
              <a:t>，当我们想要从</a:t>
            </a:r>
            <a:r>
              <a:rPr sz="1750" spc="-10" dirty="0">
                <a:latin typeface="Arial"/>
                <a:cs typeface="Arial"/>
              </a:rPr>
              <a:t>in_data</a:t>
            </a:r>
            <a:r>
              <a:rPr sz="1750" dirty="0">
                <a:latin typeface="微软雅黑"/>
                <a:cs typeface="微软雅黑"/>
              </a:rPr>
              <a:t>加载一个值时，就把</a:t>
            </a:r>
            <a:r>
              <a:rPr sz="1750" dirty="0">
                <a:latin typeface="Arial"/>
                <a:cs typeface="Arial"/>
              </a:rPr>
              <a:t>load</a:t>
            </a:r>
            <a:r>
              <a:rPr sz="1750" dirty="0">
                <a:latin typeface="微软雅黑"/>
                <a:cs typeface="微软雅黑"/>
              </a:rPr>
              <a:t>设置为</a:t>
            </a:r>
            <a:r>
              <a:rPr sz="1750" dirty="0">
                <a:latin typeface="Arial"/>
                <a:cs typeface="Arial"/>
              </a:rPr>
              <a:t>1</a:t>
            </a:r>
            <a:r>
              <a:rPr sz="1750" spc="-5" dirty="0">
                <a:latin typeface="微软雅黑"/>
                <a:cs typeface="微软雅黑"/>
              </a:rPr>
              <a:t>，那么在下一个时钟上升</a:t>
            </a:r>
            <a:endParaRPr sz="1750">
              <a:latin typeface="微软雅黑"/>
              <a:cs typeface="微软雅黑"/>
            </a:endParaRPr>
          </a:p>
        </p:txBody>
      </p:sp>
      <p:sp>
        <p:nvSpPr>
          <p:cNvPr id="5" name="object 5"/>
          <p:cNvSpPr txBox="1"/>
          <p:nvPr/>
        </p:nvSpPr>
        <p:spPr>
          <a:xfrm>
            <a:off x="603615" y="2596401"/>
            <a:ext cx="3326129" cy="292735"/>
          </a:xfrm>
          <a:prstGeom prst="rect">
            <a:avLst/>
          </a:prstGeom>
        </p:spPr>
        <p:txBody>
          <a:bodyPr vert="horz" wrap="square" lIns="0" tIns="12700" rIns="0" bIns="0" rtlCol="0">
            <a:spAutoFit/>
          </a:bodyPr>
          <a:lstStyle/>
          <a:p>
            <a:pPr marL="12700">
              <a:lnSpc>
                <a:spcPct val="100000"/>
              </a:lnSpc>
              <a:spcBef>
                <a:spcPts val="100"/>
              </a:spcBef>
            </a:pPr>
            <a:r>
              <a:rPr sz="1750" spc="-10" dirty="0">
                <a:latin typeface="微软雅黑"/>
                <a:cs typeface="微软雅黑"/>
              </a:rPr>
              <a:t>沿，</a:t>
            </a:r>
            <a:r>
              <a:rPr sz="1750" spc="-20" dirty="0">
                <a:latin typeface="Arial"/>
                <a:cs typeface="Arial"/>
              </a:rPr>
              <a:t>in_data</a:t>
            </a:r>
            <a:r>
              <a:rPr sz="1750" dirty="0">
                <a:latin typeface="微软雅黑"/>
                <a:cs typeface="微软雅黑"/>
              </a:rPr>
              <a:t>的值将被存储在</a:t>
            </a:r>
            <a:r>
              <a:rPr sz="1750" spc="-10" dirty="0">
                <a:latin typeface="Arial"/>
                <a:cs typeface="Arial"/>
              </a:rPr>
              <a:t>q</a:t>
            </a:r>
            <a:r>
              <a:rPr sz="1750" spc="-25" dirty="0">
                <a:latin typeface="微软雅黑"/>
                <a:cs typeface="微软雅黑"/>
              </a:rPr>
              <a:t>中。</a:t>
            </a:r>
            <a:endParaRPr sz="1750">
              <a:latin typeface="微软雅黑"/>
              <a:cs typeface="微软雅黑"/>
            </a:endParaRPr>
          </a:p>
        </p:txBody>
      </p:sp>
      <p:grpSp>
        <p:nvGrpSpPr>
          <p:cNvPr id="6" name="object 6"/>
          <p:cNvGrpSpPr/>
          <p:nvPr/>
        </p:nvGrpSpPr>
        <p:grpSpPr>
          <a:xfrm>
            <a:off x="1522997" y="3530079"/>
            <a:ext cx="989330" cy="137160"/>
            <a:chOff x="1522997" y="3530079"/>
            <a:chExt cx="989330" cy="137160"/>
          </a:xfrm>
        </p:grpSpPr>
        <p:sp>
          <p:nvSpPr>
            <p:cNvPr id="7" name="object 7"/>
            <p:cNvSpPr/>
            <p:nvPr/>
          </p:nvSpPr>
          <p:spPr>
            <a:xfrm>
              <a:off x="1879733" y="3608681"/>
              <a:ext cx="632460" cy="0"/>
            </a:xfrm>
            <a:custGeom>
              <a:avLst/>
              <a:gdLst/>
              <a:ahLst/>
              <a:cxnLst/>
              <a:rect l="l" t="t" r="r" b="b"/>
              <a:pathLst>
                <a:path w="632460">
                  <a:moveTo>
                    <a:pt x="0" y="0"/>
                  </a:moveTo>
                  <a:lnTo>
                    <a:pt x="632461" y="0"/>
                  </a:lnTo>
                </a:path>
              </a:pathLst>
            </a:custGeom>
            <a:ln w="18722">
              <a:solidFill>
                <a:srgbClr val="000000"/>
              </a:solidFill>
            </a:ln>
          </p:spPr>
          <p:txBody>
            <a:bodyPr wrap="square" lIns="0" tIns="0" rIns="0" bIns="0" rtlCol="0"/>
            <a:lstStyle/>
            <a:p>
              <a:endParaRPr/>
            </a:p>
          </p:txBody>
        </p:sp>
        <p:sp>
          <p:nvSpPr>
            <p:cNvPr id="8" name="object 8"/>
            <p:cNvSpPr/>
            <p:nvPr/>
          </p:nvSpPr>
          <p:spPr>
            <a:xfrm>
              <a:off x="1532258" y="3539341"/>
              <a:ext cx="342265" cy="118110"/>
            </a:xfrm>
            <a:custGeom>
              <a:avLst/>
              <a:gdLst/>
              <a:ahLst/>
              <a:cxnLst/>
              <a:rect l="l" t="t" r="r" b="b"/>
              <a:pathLst>
                <a:path w="342264" h="118110">
                  <a:moveTo>
                    <a:pt x="342141" y="70864"/>
                  </a:moveTo>
                  <a:lnTo>
                    <a:pt x="274317" y="0"/>
                  </a:lnTo>
                  <a:lnTo>
                    <a:pt x="0" y="0"/>
                  </a:lnTo>
                  <a:lnTo>
                    <a:pt x="0" y="118106"/>
                  </a:lnTo>
                  <a:lnTo>
                    <a:pt x="274317" y="118106"/>
                  </a:lnTo>
                  <a:lnTo>
                    <a:pt x="342141" y="70864"/>
                  </a:lnTo>
                  <a:close/>
                </a:path>
              </a:pathLst>
            </a:custGeom>
            <a:ln w="18466">
              <a:solidFill>
                <a:srgbClr val="000000"/>
              </a:solidFill>
            </a:ln>
          </p:spPr>
          <p:txBody>
            <a:bodyPr wrap="square" lIns="0" tIns="0" rIns="0" bIns="0" rtlCol="0"/>
            <a:lstStyle/>
            <a:p>
              <a:endParaRPr/>
            </a:p>
          </p:txBody>
        </p:sp>
      </p:grpSp>
      <p:grpSp>
        <p:nvGrpSpPr>
          <p:cNvPr id="9" name="object 9"/>
          <p:cNvGrpSpPr/>
          <p:nvPr/>
        </p:nvGrpSpPr>
        <p:grpSpPr>
          <a:xfrm>
            <a:off x="1522995" y="3893529"/>
            <a:ext cx="989330" cy="135890"/>
            <a:chOff x="1522995" y="3893529"/>
            <a:chExt cx="989330" cy="135890"/>
          </a:xfrm>
        </p:grpSpPr>
        <p:sp>
          <p:nvSpPr>
            <p:cNvPr id="10" name="object 10"/>
            <p:cNvSpPr/>
            <p:nvPr/>
          </p:nvSpPr>
          <p:spPr>
            <a:xfrm>
              <a:off x="1879733" y="3971383"/>
              <a:ext cx="632460" cy="0"/>
            </a:xfrm>
            <a:custGeom>
              <a:avLst/>
              <a:gdLst/>
              <a:ahLst/>
              <a:cxnLst/>
              <a:rect l="l" t="t" r="r" b="b"/>
              <a:pathLst>
                <a:path w="632460">
                  <a:moveTo>
                    <a:pt x="0" y="0"/>
                  </a:moveTo>
                  <a:lnTo>
                    <a:pt x="632461" y="0"/>
                  </a:lnTo>
                </a:path>
              </a:pathLst>
            </a:custGeom>
            <a:ln w="18722">
              <a:solidFill>
                <a:srgbClr val="000000"/>
              </a:solidFill>
            </a:ln>
          </p:spPr>
          <p:txBody>
            <a:bodyPr wrap="square" lIns="0" tIns="0" rIns="0" bIns="0" rtlCol="0"/>
            <a:lstStyle/>
            <a:p>
              <a:endParaRPr/>
            </a:p>
          </p:txBody>
        </p:sp>
        <p:sp>
          <p:nvSpPr>
            <p:cNvPr id="11" name="object 11"/>
            <p:cNvSpPr/>
            <p:nvPr/>
          </p:nvSpPr>
          <p:spPr>
            <a:xfrm>
              <a:off x="1532258" y="3902791"/>
              <a:ext cx="342265" cy="117475"/>
            </a:xfrm>
            <a:custGeom>
              <a:avLst/>
              <a:gdLst/>
              <a:ahLst/>
              <a:cxnLst/>
              <a:rect l="l" t="t" r="r" b="b"/>
              <a:pathLst>
                <a:path w="342264" h="117475">
                  <a:moveTo>
                    <a:pt x="342141" y="70102"/>
                  </a:moveTo>
                  <a:lnTo>
                    <a:pt x="274317" y="0"/>
                  </a:lnTo>
                  <a:lnTo>
                    <a:pt x="0" y="0"/>
                  </a:lnTo>
                  <a:lnTo>
                    <a:pt x="0" y="117344"/>
                  </a:lnTo>
                  <a:lnTo>
                    <a:pt x="274317" y="117344"/>
                  </a:lnTo>
                  <a:lnTo>
                    <a:pt x="342141" y="70102"/>
                  </a:lnTo>
                  <a:close/>
                </a:path>
              </a:pathLst>
            </a:custGeom>
            <a:ln w="18468">
              <a:solidFill>
                <a:srgbClr val="000000"/>
              </a:solidFill>
            </a:ln>
          </p:spPr>
          <p:txBody>
            <a:bodyPr wrap="square" lIns="0" tIns="0" rIns="0" bIns="0" rtlCol="0"/>
            <a:lstStyle/>
            <a:p>
              <a:endParaRPr/>
            </a:p>
          </p:txBody>
        </p:sp>
      </p:grpSp>
      <p:sp>
        <p:nvSpPr>
          <p:cNvPr id="12" name="object 12"/>
          <p:cNvSpPr txBox="1"/>
          <p:nvPr/>
        </p:nvSpPr>
        <p:spPr>
          <a:xfrm>
            <a:off x="2512195" y="3342750"/>
            <a:ext cx="737235" cy="1450975"/>
          </a:xfrm>
          <a:prstGeom prst="rect">
            <a:avLst/>
          </a:prstGeom>
          <a:ln w="16922">
            <a:solidFill>
              <a:srgbClr val="000000"/>
            </a:solidFill>
          </a:ln>
        </p:spPr>
        <p:txBody>
          <a:bodyPr vert="horz" wrap="square" lIns="0" tIns="120650" rIns="0" bIns="0" rtlCol="0">
            <a:spAutoFit/>
          </a:bodyPr>
          <a:lstStyle/>
          <a:p>
            <a:pPr marL="44450">
              <a:lnSpc>
                <a:spcPct val="100000"/>
              </a:lnSpc>
              <a:spcBef>
                <a:spcPts val="950"/>
              </a:spcBef>
              <a:tabLst>
                <a:tab pos="591820" algn="l"/>
              </a:tabLst>
            </a:pPr>
            <a:r>
              <a:rPr sz="1600" b="1" spc="-50" dirty="0">
                <a:latin typeface="Times New Roman"/>
                <a:cs typeface="Times New Roman"/>
              </a:rPr>
              <a:t>d</a:t>
            </a:r>
            <a:r>
              <a:rPr sz="1600" b="1" dirty="0">
                <a:latin typeface="Times New Roman"/>
                <a:cs typeface="Times New Roman"/>
              </a:rPr>
              <a:t>	</a:t>
            </a:r>
            <a:r>
              <a:rPr sz="2400" b="1" spc="-75" baseline="1736" dirty="0">
                <a:latin typeface="Times New Roman"/>
                <a:cs typeface="Times New Roman"/>
              </a:rPr>
              <a:t>q</a:t>
            </a:r>
            <a:endParaRPr sz="2400" baseline="1736">
              <a:latin typeface="Times New Roman"/>
              <a:cs typeface="Times New Roman"/>
            </a:endParaRPr>
          </a:p>
          <a:p>
            <a:pPr marL="27305" marR="337820" indent="-5080">
              <a:lnSpc>
                <a:spcPct val="135200"/>
              </a:lnSpc>
              <a:spcBef>
                <a:spcPts val="204"/>
              </a:spcBef>
            </a:pPr>
            <a:r>
              <a:rPr sz="1600" b="1" spc="-25" dirty="0">
                <a:latin typeface="Times New Roman"/>
                <a:cs typeface="Times New Roman"/>
              </a:rPr>
              <a:t>clk </a:t>
            </a:r>
            <a:r>
              <a:rPr sz="1600" b="1" spc="-35" dirty="0">
                <a:latin typeface="Times New Roman"/>
                <a:cs typeface="Times New Roman"/>
              </a:rPr>
              <a:t>load </a:t>
            </a:r>
            <a:r>
              <a:rPr sz="1600" b="1" spc="-100" dirty="0">
                <a:latin typeface="Times New Roman"/>
                <a:cs typeface="Times New Roman"/>
              </a:rPr>
              <a:t>reset</a:t>
            </a:r>
            <a:endParaRPr sz="1600">
              <a:latin typeface="Times New Roman"/>
              <a:cs typeface="Times New Roman"/>
            </a:endParaRPr>
          </a:p>
        </p:txBody>
      </p:sp>
      <p:grpSp>
        <p:nvGrpSpPr>
          <p:cNvPr id="13" name="object 13"/>
          <p:cNvGrpSpPr/>
          <p:nvPr/>
        </p:nvGrpSpPr>
        <p:grpSpPr>
          <a:xfrm>
            <a:off x="3259714" y="3540746"/>
            <a:ext cx="999490" cy="135890"/>
            <a:chOff x="3259714" y="3540746"/>
            <a:chExt cx="999490" cy="135890"/>
          </a:xfrm>
        </p:grpSpPr>
        <p:sp>
          <p:nvSpPr>
            <p:cNvPr id="14" name="object 14"/>
            <p:cNvSpPr/>
            <p:nvPr/>
          </p:nvSpPr>
          <p:spPr>
            <a:xfrm>
              <a:off x="3259714" y="3609429"/>
              <a:ext cx="632460" cy="0"/>
            </a:xfrm>
            <a:custGeom>
              <a:avLst/>
              <a:gdLst/>
              <a:ahLst/>
              <a:cxnLst/>
              <a:rect l="l" t="t" r="r" b="b"/>
              <a:pathLst>
                <a:path w="632460">
                  <a:moveTo>
                    <a:pt x="0" y="0"/>
                  </a:moveTo>
                  <a:lnTo>
                    <a:pt x="632461" y="0"/>
                  </a:lnTo>
                </a:path>
              </a:pathLst>
            </a:custGeom>
            <a:ln w="18722">
              <a:solidFill>
                <a:srgbClr val="000000"/>
              </a:solidFill>
            </a:ln>
          </p:spPr>
          <p:txBody>
            <a:bodyPr wrap="square" lIns="0" tIns="0" rIns="0" bIns="0" rtlCol="0"/>
            <a:lstStyle/>
            <a:p>
              <a:endParaRPr/>
            </a:p>
          </p:txBody>
        </p:sp>
        <p:sp>
          <p:nvSpPr>
            <p:cNvPr id="15" name="object 15"/>
            <p:cNvSpPr/>
            <p:nvPr/>
          </p:nvSpPr>
          <p:spPr>
            <a:xfrm>
              <a:off x="3907419" y="3550008"/>
              <a:ext cx="342265" cy="117475"/>
            </a:xfrm>
            <a:custGeom>
              <a:avLst/>
              <a:gdLst/>
              <a:ahLst/>
              <a:cxnLst/>
              <a:rect l="l" t="t" r="r" b="b"/>
              <a:pathLst>
                <a:path w="342264" h="117475">
                  <a:moveTo>
                    <a:pt x="342141" y="70864"/>
                  </a:moveTo>
                  <a:lnTo>
                    <a:pt x="274317" y="0"/>
                  </a:lnTo>
                  <a:lnTo>
                    <a:pt x="0" y="0"/>
                  </a:lnTo>
                  <a:lnTo>
                    <a:pt x="0" y="117344"/>
                  </a:lnTo>
                  <a:lnTo>
                    <a:pt x="274317" y="117344"/>
                  </a:lnTo>
                  <a:lnTo>
                    <a:pt x="342141" y="70864"/>
                  </a:lnTo>
                  <a:close/>
                </a:path>
              </a:pathLst>
            </a:custGeom>
            <a:ln w="18468">
              <a:solidFill>
                <a:srgbClr val="000000"/>
              </a:solidFill>
            </a:ln>
          </p:spPr>
          <p:txBody>
            <a:bodyPr wrap="square" lIns="0" tIns="0" rIns="0" bIns="0" rtlCol="0"/>
            <a:lstStyle/>
            <a:p>
              <a:endParaRPr/>
            </a:p>
          </p:txBody>
        </p:sp>
      </p:grpSp>
      <p:sp>
        <p:nvSpPr>
          <p:cNvPr id="16" name="object 16"/>
          <p:cNvSpPr txBox="1"/>
          <p:nvPr/>
        </p:nvSpPr>
        <p:spPr>
          <a:xfrm>
            <a:off x="4275708" y="3453073"/>
            <a:ext cx="762000" cy="271145"/>
          </a:xfrm>
          <a:prstGeom prst="rect">
            <a:avLst/>
          </a:prstGeom>
        </p:spPr>
        <p:txBody>
          <a:bodyPr vert="horz" wrap="square" lIns="0" tIns="13970" rIns="0" bIns="0" rtlCol="0">
            <a:spAutoFit/>
          </a:bodyPr>
          <a:lstStyle/>
          <a:p>
            <a:pPr marL="12700">
              <a:lnSpc>
                <a:spcPct val="100000"/>
              </a:lnSpc>
              <a:spcBef>
                <a:spcPts val="110"/>
              </a:spcBef>
            </a:pPr>
            <a:r>
              <a:rPr sz="1600" b="1" spc="-90" dirty="0">
                <a:latin typeface="Times New Roman"/>
                <a:cs typeface="Times New Roman"/>
              </a:rPr>
              <a:t>Out_data</a:t>
            </a:r>
            <a:endParaRPr sz="1600">
              <a:latin typeface="Times New Roman"/>
              <a:cs typeface="Times New Roman"/>
            </a:endParaRPr>
          </a:p>
        </p:txBody>
      </p:sp>
      <p:grpSp>
        <p:nvGrpSpPr>
          <p:cNvPr id="17" name="object 17"/>
          <p:cNvGrpSpPr/>
          <p:nvPr/>
        </p:nvGrpSpPr>
        <p:grpSpPr>
          <a:xfrm>
            <a:off x="1512326" y="4551877"/>
            <a:ext cx="989330" cy="135255"/>
            <a:chOff x="1512326" y="4551877"/>
            <a:chExt cx="989330" cy="135255"/>
          </a:xfrm>
        </p:grpSpPr>
        <p:sp>
          <p:nvSpPr>
            <p:cNvPr id="18" name="object 18"/>
            <p:cNvSpPr/>
            <p:nvPr/>
          </p:nvSpPr>
          <p:spPr>
            <a:xfrm>
              <a:off x="1869836" y="4629720"/>
              <a:ext cx="631825" cy="0"/>
            </a:xfrm>
            <a:custGeom>
              <a:avLst/>
              <a:gdLst/>
              <a:ahLst/>
              <a:cxnLst/>
              <a:rect l="l" t="t" r="r" b="b"/>
              <a:pathLst>
                <a:path w="631825">
                  <a:moveTo>
                    <a:pt x="0" y="0"/>
                  </a:moveTo>
                  <a:lnTo>
                    <a:pt x="631702" y="0"/>
                  </a:lnTo>
                </a:path>
              </a:pathLst>
            </a:custGeom>
            <a:ln w="18722">
              <a:solidFill>
                <a:srgbClr val="000000"/>
              </a:solidFill>
            </a:ln>
          </p:spPr>
          <p:txBody>
            <a:bodyPr wrap="square" lIns="0" tIns="0" rIns="0" bIns="0" rtlCol="0"/>
            <a:lstStyle/>
            <a:p>
              <a:endParaRPr/>
            </a:p>
          </p:txBody>
        </p:sp>
        <p:sp>
          <p:nvSpPr>
            <p:cNvPr id="19" name="object 19"/>
            <p:cNvSpPr/>
            <p:nvPr/>
          </p:nvSpPr>
          <p:spPr>
            <a:xfrm>
              <a:off x="1521590" y="4561142"/>
              <a:ext cx="342900" cy="116839"/>
            </a:xfrm>
            <a:custGeom>
              <a:avLst/>
              <a:gdLst/>
              <a:ahLst/>
              <a:cxnLst/>
              <a:rect l="l" t="t" r="r" b="b"/>
              <a:pathLst>
                <a:path w="342900" h="116839">
                  <a:moveTo>
                    <a:pt x="342900" y="70864"/>
                  </a:moveTo>
                  <a:lnTo>
                    <a:pt x="274317" y="0"/>
                  </a:lnTo>
                  <a:lnTo>
                    <a:pt x="0" y="0"/>
                  </a:lnTo>
                  <a:lnTo>
                    <a:pt x="0" y="116582"/>
                  </a:lnTo>
                  <a:lnTo>
                    <a:pt x="274317" y="116582"/>
                  </a:lnTo>
                  <a:lnTo>
                    <a:pt x="342900" y="70864"/>
                  </a:lnTo>
                  <a:close/>
                </a:path>
              </a:pathLst>
            </a:custGeom>
            <a:ln w="18472">
              <a:solidFill>
                <a:srgbClr val="000000"/>
              </a:solidFill>
            </a:ln>
          </p:spPr>
          <p:txBody>
            <a:bodyPr wrap="square" lIns="0" tIns="0" rIns="0" bIns="0" rtlCol="0"/>
            <a:lstStyle/>
            <a:p>
              <a:endParaRPr/>
            </a:p>
          </p:txBody>
        </p:sp>
      </p:grpSp>
      <p:sp>
        <p:nvSpPr>
          <p:cNvPr id="20" name="object 20"/>
          <p:cNvSpPr txBox="1"/>
          <p:nvPr/>
        </p:nvSpPr>
        <p:spPr>
          <a:xfrm>
            <a:off x="885577" y="3325433"/>
            <a:ext cx="634365" cy="1410335"/>
          </a:xfrm>
          <a:prstGeom prst="rect">
            <a:avLst/>
          </a:prstGeom>
        </p:spPr>
        <p:txBody>
          <a:bodyPr vert="horz" wrap="square" lIns="0" tIns="130810" rIns="0" bIns="0" rtlCol="0">
            <a:spAutoFit/>
          </a:bodyPr>
          <a:lstStyle/>
          <a:p>
            <a:pPr marL="12700">
              <a:lnSpc>
                <a:spcPct val="100000"/>
              </a:lnSpc>
              <a:spcBef>
                <a:spcPts val="1030"/>
              </a:spcBef>
            </a:pPr>
            <a:r>
              <a:rPr sz="1600" b="1" spc="-80" dirty="0">
                <a:latin typeface="Times New Roman"/>
                <a:cs typeface="Times New Roman"/>
              </a:rPr>
              <a:t>In_data</a:t>
            </a:r>
            <a:endParaRPr sz="1600">
              <a:latin typeface="Times New Roman"/>
              <a:cs typeface="Times New Roman"/>
            </a:endParaRPr>
          </a:p>
          <a:p>
            <a:pPr marL="222250" marR="18415" indent="142240" algn="just">
              <a:lnSpc>
                <a:spcPct val="135200"/>
              </a:lnSpc>
              <a:spcBef>
                <a:spcPts val="260"/>
              </a:spcBef>
            </a:pPr>
            <a:r>
              <a:rPr sz="1600" b="1" spc="-65" dirty="0">
                <a:latin typeface="Times New Roman"/>
                <a:cs typeface="Times New Roman"/>
              </a:rPr>
              <a:t>clk </a:t>
            </a:r>
            <a:r>
              <a:rPr sz="1600" b="1" spc="-20" dirty="0">
                <a:latin typeface="Times New Roman"/>
                <a:cs typeface="Times New Roman"/>
              </a:rPr>
              <a:t>load </a:t>
            </a:r>
            <a:r>
              <a:rPr sz="1600" b="1" spc="-70" dirty="0">
                <a:latin typeface="Times New Roman"/>
                <a:cs typeface="Times New Roman"/>
              </a:rPr>
              <a:t>reset</a:t>
            </a:r>
            <a:endParaRPr sz="1600">
              <a:latin typeface="Times New Roman"/>
              <a:cs typeface="Times New Roman"/>
            </a:endParaRPr>
          </a:p>
        </p:txBody>
      </p:sp>
      <p:grpSp>
        <p:nvGrpSpPr>
          <p:cNvPr id="21" name="object 21"/>
          <p:cNvGrpSpPr/>
          <p:nvPr/>
        </p:nvGrpSpPr>
        <p:grpSpPr>
          <a:xfrm>
            <a:off x="1522995" y="4231848"/>
            <a:ext cx="989330" cy="135890"/>
            <a:chOff x="1522995" y="4231848"/>
            <a:chExt cx="989330" cy="135890"/>
          </a:xfrm>
        </p:grpSpPr>
        <p:sp>
          <p:nvSpPr>
            <p:cNvPr id="22" name="object 22"/>
            <p:cNvSpPr/>
            <p:nvPr/>
          </p:nvSpPr>
          <p:spPr>
            <a:xfrm>
              <a:off x="1879733" y="4309689"/>
              <a:ext cx="632460" cy="0"/>
            </a:xfrm>
            <a:custGeom>
              <a:avLst/>
              <a:gdLst/>
              <a:ahLst/>
              <a:cxnLst/>
              <a:rect l="l" t="t" r="r" b="b"/>
              <a:pathLst>
                <a:path w="632460">
                  <a:moveTo>
                    <a:pt x="0" y="0"/>
                  </a:moveTo>
                  <a:lnTo>
                    <a:pt x="632461" y="0"/>
                  </a:lnTo>
                </a:path>
              </a:pathLst>
            </a:custGeom>
            <a:ln w="18722">
              <a:solidFill>
                <a:srgbClr val="000000"/>
              </a:solidFill>
            </a:ln>
          </p:spPr>
          <p:txBody>
            <a:bodyPr wrap="square" lIns="0" tIns="0" rIns="0" bIns="0" rtlCol="0"/>
            <a:lstStyle/>
            <a:p>
              <a:endParaRPr/>
            </a:p>
          </p:txBody>
        </p:sp>
        <p:sp>
          <p:nvSpPr>
            <p:cNvPr id="23" name="object 23"/>
            <p:cNvSpPr/>
            <p:nvPr/>
          </p:nvSpPr>
          <p:spPr>
            <a:xfrm>
              <a:off x="1532258" y="4241110"/>
              <a:ext cx="342265" cy="117475"/>
            </a:xfrm>
            <a:custGeom>
              <a:avLst/>
              <a:gdLst/>
              <a:ahLst/>
              <a:cxnLst/>
              <a:rect l="l" t="t" r="r" b="b"/>
              <a:pathLst>
                <a:path w="342264" h="117475">
                  <a:moveTo>
                    <a:pt x="342141" y="70864"/>
                  </a:moveTo>
                  <a:lnTo>
                    <a:pt x="274317" y="0"/>
                  </a:lnTo>
                  <a:lnTo>
                    <a:pt x="0" y="0"/>
                  </a:lnTo>
                  <a:lnTo>
                    <a:pt x="0" y="117344"/>
                  </a:lnTo>
                  <a:lnTo>
                    <a:pt x="274317" y="117344"/>
                  </a:lnTo>
                  <a:lnTo>
                    <a:pt x="342141" y="70864"/>
                  </a:lnTo>
                  <a:close/>
                </a:path>
              </a:pathLst>
            </a:custGeom>
            <a:ln w="18468">
              <a:solidFill>
                <a:srgbClr val="000000"/>
              </a:solidFill>
            </a:ln>
          </p:spPr>
          <p:txBody>
            <a:bodyPr wrap="square" lIns="0" tIns="0" rIns="0" bIns="0" rtlCol="0"/>
            <a:lstStyle/>
            <a:p>
              <a:endParaRPr/>
            </a:p>
          </p:txBody>
        </p:sp>
      </p:grpSp>
      <p:sp>
        <p:nvSpPr>
          <p:cNvPr id="24" name="object 24"/>
          <p:cNvSpPr txBox="1"/>
          <p:nvPr/>
        </p:nvSpPr>
        <p:spPr>
          <a:xfrm>
            <a:off x="2023243" y="5064505"/>
            <a:ext cx="1863089"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宋体"/>
                <a:cs typeface="宋体"/>
              </a:rPr>
              <a:t>图</a:t>
            </a:r>
            <a:r>
              <a:rPr sz="1200" dirty="0">
                <a:latin typeface="Arial"/>
                <a:cs typeface="Arial"/>
              </a:rPr>
              <a:t>4.12</a:t>
            </a:r>
            <a:r>
              <a:rPr sz="1200" spc="195" dirty="0">
                <a:latin typeface="Arial"/>
                <a:cs typeface="Arial"/>
              </a:rPr>
              <a:t> </a:t>
            </a:r>
            <a:r>
              <a:rPr sz="1200" dirty="0">
                <a:latin typeface="Arial"/>
                <a:cs typeface="Arial"/>
              </a:rPr>
              <a:t>1</a:t>
            </a:r>
            <a:r>
              <a:rPr sz="1200" spc="-10" dirty="0">
                <a:latin typeface="宋体"/>
                <a:cs typeface="宋体"/>
              </a:rPr>
              <a:t>位寄存器逻辑符号</a:t>
            </a:r>
            <a:endParaRPr sz="1200">
              <a:latin typeface="宋体"/>
              <a:cs typeface="宋体"/>
            </a:endParaRPr>
          </a:p>
        </p:txBody>
      </p:sp>
      <p:grpSp>
        <p:nvGrpSpPr>
          <p:cNvPr id="25" name="object 25"/>
          <p:cNvGrpSpPr/>
          <p:nvPr/>
        </p:nvGrpSpPr>
        <p:grpSpPr>
          <a:xfrm>
            <a:off x="5666879" y="2532888"/>
            <a:ext cx="3981450" cy="3883660"/>
            <a:chOff x="5666879" y="2532888"/>
            <a:chExt cx="3981450" cy="3883660"/>
          </a:xfrm>
        </p:grpSpPr>
        <p:sp>
          <p:nvSpPr>
            <p:cNvPr id="26" name="object 26"/>
            <p:cNvSpPr/>
            <p:nvPr/>
          </p:nvSpPr>
          <p:spPr>
            <a:xfrm>
              <a:off x="5675261" y="2541270"/>
              <a:ext cx="3964940" cy="3866515"/>
            </a:xfrm>
            <a:custGeom>
              <a:avLst/>
              <a:gdLst/>
              <a:ahLst/>
              <a:cxnLst/>
              <a:rect l="l" t="t" r="r" b="b"/>
              <a:pathLst>
                <a:path w="3964940" h="3866515">
                  <a:moveTo>
                    <a:pt x="3964685" y="3866388"/>
                  </a:moveTo>
                  <a:lnTo>
                    <a:pt x="3964685" y="0"/>
                  </a:lnTo>
                  <a:lnTo>
                    <a:pt x="0" y="0"/>
                  </a:lnTo>
                  <a:lnTo>
                    <a:pt x="0" y="3866388"/>
                  </a:lnTo>
                  <a:lnTo>
                    <a:pt x="3964685" y="3866388"/>
                  </a:lnTo>
                  <a:close/>
                </a:path>
              </a:pathLst>
            </a:custGeom>
            <a:solidFill>
              <a:srgbClr val="F9FABA"/>
            </a:solidFill>
          </p:spPr>
          <p:txBody>
            <a:bodyPr wrap="square" lIns="0" tIns="0" rIns="0" bIns="0" rtlCol="0"/>
            <a:lstStyle/>
            <a:p>
              <a:endParaRPr/>
            </a:p>
          </p:txBody>
        </p:sp>
        <p:sp>
          <p:nvSpPr>
            <p:cNvPr id="27" name="object 27"/>
            <p:cNvSpPr/>
            <p:nvPr/>
          </p:nvSpPr>
          <p:spPr>
            <a:xfrm>
              <a:off x="5666879" y="2532888"/>
              <a:ext cx="3981450" cy="3883660"/>
            </a:xfrm>
            <a:custGeom>
              <a:avLst/>
              <a:gdLst/>
              <a:ahLst/>
              <a:cxnLst/>
              <a:rect l="l" t="t" r="r" b="b"/>
              <a:pathLst>
                <a:path w="3981450" h="3883660">
                  <a:moveTo>
                    <a:pt x="3981450" y="3879342"/>
                  </a:moveTo>
                  <a:lnTo>
                    <a:pt x="3981450" y="3810"/>
                  </a:lnTo>
                  <a:lnTo>
                    <a:pt x="3977640" y="0"/>
                  </a:lnTo>
                  <a:lnTo>
                    <a:pt x="3809" y="0"/>
                  </a:lnTo>
                  <a:lnTo>
                    <a:pt x="0" y="3810"/>
                  </a:lnTo>
                  <a:lnTo>
                    <a:pt x="0" y="3879342"/>
                  </a:lnTo>
                  <a:lnTo>
                    <a:pt x="3810" y="3883152"/>
                  </a:lnTo>
                  <a:lnTo>
                    <a:pt x="8382" y="3883152"/>
                  </a:lnTo>
                  <a:lnTo>
                    <a:pt x="8382" y="16764"/>
                  </a:lnTo>
                  <a:lnTo>
                    <a:pt x="16763" y="8382"/>
                  </a:lnTo>
                  <a:lnTo>
                    <a:pt x="16763" y="16764"/>
                  </a:lnTo>
                  <a:lnTo>
                    <a:pt x="3964686" y="16764"/>
                  </a:lnTo>
                  <a:lnTo>
                    <a:pt x="3964686" y="8382"/>
                  </a:lnTo>
                  <a:lnTo>
                    <a:pt x="3973067" y="16764"/>
                  </a:lnTo>
                  <a:lnTo>
                    <a:pt x="3973067" y="3883152"/>
                  </a:lnTo>
                  <a:lnTo>
                    <a:pt x="3977640" y="3883152"/>
                  </a:lnTo>
                  <a:lnTo>
                    <a:pt x="3981450" y="3879342"/>
                  </a:lnTo>
                  <a:close/>
                </a:path>
                <a:path w="3981450" h="3883660">
                  <a:moveTo>
                    <a:pt x="16763" y="16764"/>
                  </a:moveTo>
                  <a:lnTo>
                    <a:pt x="16763" y="8382"/>
                  </a:lnTo>
                  <a:lnTo>
                    <a:pt x="8382" y="16764"/>
                  </a:lnTo>
                  <a:lnTo>
                    <a:pt x="16763" y="16764"/>
                  </a:lnTo>
                  <a:close/>
                </a:path>
                <a:path w="3981450" h="3883660">
                  <a:moveTo>
                    <a:pt x="16763" y="3866388"/>
                  </a:moveTo>
                  <a:lnTo>
                    <a:pt x="16763" y="16764"/>
                  </a:lnTo>
                  <a:lnTo>
                    <a:pt x="8382" y="16764"/>
                  </a:lnTo>
                  <a:lnTo>
                    <a:pt x="8382" y="3866388"/>
                  </a:lnTo>
                  <a:lnTo>
                    <a:pt x="16763" y="3866388"/>
                  </a:lnTo>
                  <a:close/>
                </a:path>
                <a:path w="3981450" h="3883660">
                  <a:moveTo>
                    <a:pt x="3973067" y="3866388"/>
                  </a:moveTo>
                  <a:lnTo>
                    <a:pt x="8382" y="3866388"/>
                  </a:lnTo>
                  <a:lnTo>
                    <a:pt x="16763" y="3874769"/>
                  </a:lnTo>
                  <a:lnTo>
                    <a:pt x="16764" y="3883152"/>
                  </a:lnTo>
                  <a:lnTo>
                    <a:pt x="3964686" y="3883152"/>
                  </a:lnTo>
                  <a:lnTo>
                    <a:pt x="3964686" y="3874770"/>
                  </a:lnTo>
                  <a:lnTo>
                    <a:pt x="3973067" y="3866388"/>
                  </a:lnTo>
                  <a:close/>
                </a:path>
                <a:path w="3981450" h="3883660">
                  <a:moveTo>
                    <a:pt x="16764" y="3883152"/>
                  </a:moveTo>
                  <a:lnTo>
                    <a:pt x="16763" y="3874769"/>
                  </a:lnTo>
                  <a:lnTo>
                    <a:pt x="8382" y="3866388"/>
                  </a:lnTo>
                  <a:lnTo>
                    <a:pt x="8382" y="3883152"/>
                  </a:lnTo>
                  <a:lnTo>
                    <a:pt x="16764" y="3883152"/>
                  </a:lnTo>
                  <a:close/>
                </a:path>
                <a:path w="3981450" h="3883660">
                  <a:moveTo>
                    <a:pt x="3973067" y="16764"/>
                  </a:moveTo>
                  <a:lnTo>
                    <a:pt x="3964686" y="8382"/>
                  </a:lnTo>
                  <a:lnTo>
                    <a:pt x="3964686" y="16764"/>
                  </a:lnTo>
                  <a:lnTo>
                    <a:pt x="3973067" y="16764"/>
                  </a:lnTo>
                  <a:close/>
                </a:path>
                <a:path w="3981450" h="3883660">
                  <a:moveTo>
                    <a:pt x="3973067" y="3866388"/>
                  </a:moveTo>
                  <a:lnTo>
                    <a:pt x="3973067" y="16764"/>
                  </a:lnTo>
                  <a:lnTo>
                    <a:pt x="3964686" y="16764"/>
                  </a:lnTo>
                  <a:lnTo>
                    <a:pt x="3964686" y="3866388"/>
                  </a:lnTo>
                  <a:lnTo>
                    <a:pt x="3973067" y="3866388"/>
                  </a:lnTo>
                  <a:close/>
                </a:path>
                <a:path w="3981450" h="3883660">
                  <a:moveTo>
                    <a:pt x="3973067" y="3883152"/>
                  </a:moveTo>
                  <a:lnTo>
                    <a:pt x="3973067" y="3866388"/>
                  </a:lnTo>
                  <a:lnTo>
                    <a:pt x="3964686" y="3874770"/>
                  </a:lnTo>
                  <a:lnTo>
                    <a:pt x="3964686" y="3883152"/>
                  </a:lnTo>
                  <a:lnTo>
                    <a:pt x="3973067" y="3883152"/>
                  </a:lnTo>
                  <a:close/>
                </a:path>
              </a:pathLst>
            </a:custGeom>
            <a:solidFill>
              <a:srgbClr val="FF0000"/>
            </a:solidFill>
          </p:spPr>
          <p:txBody>
            <a:bodyPr wrap="square" lIns="0" tIns="0" rIns="0" bIns="0" rtlCol="0"/>
            <a:lstStyle/>
            <a:p>
              <a:endParaRPr/>
            </a:p>
          </p:txBody>
        </p:sp>
      </p:grpSp>
      <p:sp>
        <p:nvSpPr>
          <p:cNvPr id="28" name="object 28"/>
          <p:cNvSpPr txBox="1"/>
          <p:nvPr/>
        </p:nvSpPr>
        <p:spPr>
          <a:xfrm>
            <a:off x="5894711" y="2584958"/>
            <a:ext cx="1182370" cy="266065"/>
          </a:xfrm>
          <a:prstGeom prst="rect">
            <a:avLst/>
          </a:prstGeom>
        </p:spPr>
        <p:txBody>
          <a:bodyPr vert="horz" wrap="square" lIns="0" tIns="15875" rIns="0" bIns="0" rtlCol="0">
            <a:spAutoFit/>
          </a:bodyPr>
          <a:lstStyle/>
          <a:p>
            <a:pPr>
              <a:lnSpc>
                <a:spcPct val="100000"/>
              </a:lnSpc>
              <a:spcBef>
                <a:spcPts val="125"/>
              </a:spcBef>
            </a:pPr>
            <a:r>
              <a:rPr sz="1550" b="1" dirty="0">
                <a:latin typeface="Calibri"/>
                <a:cs typeface="Calibri"/>
              </a:rPr>
              <a:t>module</a:t>
            </a:r>
            <a:r>
              <a:rPr sz="1550" b="1" spc="10" dirty="0">
                <a:latin typeface="Calibri"/>
                <a:cs typeface="Calibri"/>
              </a:rPr>
              <a:t> </a:t>
            </a:r>
            <a:r>
              <a:rPr sz="1550" spc="-10" dirty="0">
                <a:latin typeface="宋体"/>
                <a:cs typeface="宋体"/>
              </a:rPr>
              <a:t>reg_1</a:t>
            </a:r>
            <a:endParaRPr sz="1550">
              <a:latin typeface="宋体"/>
              <a:cs typeface="宋体"/>
            </a:endParaRPr>
          </a:p>
        </p:txBody>
      </p:sp>
      <p:sp>
        <p:nvSpPr>
          <p:cNvPr id="29" name="object 29"/>
          <p:cNvSpPr txBox="1"/>
          <p:nvPr/>
        </p:nvSpPr>
        <p:spPr>
          <a:xfrm>
            <a:off x="6031107" y="2873762"/>
            <a:ext cx="60960" cy="266065"/>
          </a:xfrm>
          <a:prstGeom prst="rect">
            <a:avLst/>
          </a:prstGeom>
        </p:spPr>
        <p:txBody>
          <a:bodyPr vert="horz" wrap="square" lIns="0" tIns="15875" rIns="0" bIns="0" rtlCol="0">
            <a:spAutoFit/>
          </a:bodyPr>
          <a:lstStyle/>
          <a:p>
            <a:pPr>
              <a:lnSpc>
                <a:spcPct val="100000"/>
              </a:lnSpc>
              <a:spcBef>
                <a:spcPts val="125"/>
              </a:spcBef>
            </a:pPr>
            <a:r>
              <a:rPr sz="1550" spc="-50" dirty="0">
                <a:latin typeface="Calibri"/>
                <a:cs typeface="Calibri"/>
              </a:rPr>
              <a:t>(</a:t>
            </a:r>
            <a:endParaRPr sz="1550">
              <a:latin typeface="Calibri"/>
              <a:cs typeface="Calibri"/>
            </a:endParaRPr>
          </a:p>
        </p:txBody>
      </p:sp>
      <p:sp>
        <p:nvSpPr>
          <p:cNvPr id="30" name="object 30"/>
          <p:cNvSpPr txBox="1"/>
          <p:nvPr/>
        </p:nvSpPr>
        <p:spPr>
          <a:xfrm>
            <a:off x="5893168" y="3113488"/>
            <a:ext cx="3441065" cy="3201035"/>
          </a:xfrm>
          <a:prstGeom prst="rect">
            <a:avLst/>
          </a:prstGeom>
        </p:spPr>
        <p:txBody>
          <a:bodyPr vert="horz" wrap="square" lIns="0" tIns="11430" rIns="0" bIns="0" rtlCol="0">
            <a:spAutoFit/>
          </a:bodyPr>
          <a:lstStyle/>
          <a:p>
            <a:pPr marL="274955" marR="1671320">
              <a:lnSpc>
                <a:spcPct val="122300"/>
              </a:lnSpc>
              <a:spcBef>
                <a:spcPts val="90"/>
              </a:spcBef>
            </a:pPr>
            <a:r>
              <a:rPr sz="1550" b="1" dirty="0">
                <a:latin typeface="Calibri"/>
                <a:cs typeface="Calibri"/>
              </a:rPr>
              <a:t>input</a:t>
            </a:r>
            <a:r>
              <a:rPr sz="1550" b="1" spc="390" dirty="0">
                <a:latin typeface="Calibri"/>
                <a:cs typeface="Calibri"/>
              </a:rPr>
              <a:t> </a:t>
            </a:r>
            <a:r>
              <a:rPr sz="1550" spc="-10" dirty="0">
                <a:latin typeface="宋体"/>
                <a:cs typeface="宋体"/>
              </a:rPr>
              <a:t>clk,reset</a:t>
            </a:r>
            <a:r>
              <a:rPr sz="1550" spc="-10" dirty="0">
                <a:latin typeface="Calibri"/>
                <a:cs typeface="Calibri"/>
              </a:rPr>
              <a:t>, </a:t>
            </a:r>
            <a:r>
              <a:rPr sz="1550" b="1" dirty="0">
                <a:latin typeface="Calibri"/>
                <a:cs typeface="Calibri"/>
              </a:rPr>
              <a:t>input</a:t>
            </a:r>
            <a:r>
              <a:rPr sz="1550" b="1" spc="390" dirty="0">
                <a:latin typeface="Calibri"/>
                <a:cs typeface="Calibri"/>
              </a:rPr>
              <a:t> </a:t>
            </a:r>
            <a:r>
              <a:rPr sz="1550" spc="-10" dirty="0">
                <a:latin typeface="宋体"/>
                <a:cs typeface="宋体"/>
              </a:rPr>
              <a:t>in_data</a:t>
            </a:r>
            <a:r>
              <a:rPr sz="1550" spc="-10" dirty="0">
                <a:latin typeface="Calibri"/>
                <a:cs typeface="Calibri"/>
              </a:rPr>
              <a:t>, </a:t>
            </a:r>
            <a:r>
              <a:rPr sz="1550" b="1" dirty="0">
                <a:latin typeface="Calibri"/>
                <a:cs typeface="Calibri"/>
              </a:rPr>
              <a:t>input</a:t>
            </a:r>
            <a:r>
              <a:rPr sz="1550" b="1" spc="390" dirty="0">
                <a:latin typeface="Calibri"/>
                <a:cs typeface="Calibri"/>
              </a:rPr>
              <a:t> </a:t>
            </a:r>
            <a:r>
              <a:rPr sz="1550" spc="-20" dirty="0">
                <a:latin typeface="宋体"/>
                <a:cs typeface="宋体"/>
              </a:rPr>
              <a:t>load</a:t>
            </a:r>
            <a:r>
              <a:rPr sz="1550" spc="-20" dirty="0">
                <a:latin typeface="Calibri"/>
                <a:cs typeface="Calibri"/>
              </a:rPr>
              <a:t>,</a:t>
            </a:r>
            <a:endParaRPr sz="1550">
              <a:latin typeface="Calibri"/>
              <a:cs typeface="Calibri"/>
            </a:endParaRPr>
          </a:p>
          <a:p>
            <a:pPr marL="274955">
              <a:lnSpc>
                <a:spcPct val="100000"/>
              </a:lnSpc>
              <a:spcBef>
                <a:spcPts val="415"/>
              </a:spcBef>
            </a:pPr>
            <a:r>
              <a:rPr sz="1550" b="1" dirty="0">
                <a:latin typeface="宋体"/>
                <a:cs typeface="宋体"/>
              </a:rPr>
              <a:t>o</a:t>
            </a:r>
            <a:r>
              <a:rPr sz="1550" b="1" dirty="0">
                <a:latin typeface="Calibri"/>
                <a:cs typeface="Calibri"/>
              </a:rPr>
              <a:t>utput</a:t>
            </a:r>
            <a:r>
              <a:rPr sz="1550" b="1" spc="395" dirty="0">
                <a:latin typeface="Calibri"/>
                <a:cs typeface="Calibri"/>
              </a:rPr>
              <a:t> </a:t>
            </a:r>
            <a:r>
              <a:rPr sz="1550" b="1" dirty="0">
                <a:latin typeface="Calibri"/>
                <a:cs typeface="Calibri"/>
              </a:rPr>
              <a:t>reg</a:t>
            </a:r>
            <a:r>
              <a:rPr sz="1550" b="1" spc="385" dirty="0">
                <a:latin typeface="Calibri"/>
                <a:cs typeface="Calibri"/>
              </a:rPr>
              <a:t> </a:t>
            </a:r>
            <a:r>
              <a:rPr sz="1550" spc="-10" dirty="0">
                <a:latin typeface="宋体"/>
                <a:cs typeface="宋体"/>
              </a:rPr>
              <a:t>out_data</a:t>
            </a:r>
            <a:endParaRPr sz="1550">
              <a:latin typeface="宋体"/>
              <a:cs typeface="宋体"/>
            </a:endParaRPr>
          </a:p>
          <a:p>
            <a:pPr marL="162560">
              <a:lnSpc>
                <a:spcPct val="100000"/>
              </a:lnSpc>
              <a:spcBef>
                <a:spcPts val="409"/>
              </a:spcBef>
            </a:pPr>
            <a:r>
              <a:rPr sz="1550" spc="-25" dirty="0">
                <a:latin typeface="Calibri"/>
                <a:cs typeface="Calibri"/>
              </a:rPr>
              <a:t>);</a:t>
            </a:r>
            <a:endParaRPr sz="1550">
              <a:latin typeface="Calibri"/>
              <a:cs typeface="Calibri"/>
            </a:endParaRPr>
          </a:p>
          <a:p>
            <a:pPr marL="137795">
              <a:lnSpc>
                <a:spcPct val="100000"/>
              </a:lnSpc>
              <a:spcBef>
                <a:spcPts val="414"/>
              </a:spcBef>
            </a:pPr>
            <a:r>
              <a:rPr sz="1550" b="1" dirty="0">
                <a:latin typeface="Calibri"/>
                <a:cs typeface="Calibri"/>
              </a:rPr>
              <a:t>always</a:t>
            </a:r>
            <a:r>
              <a:rPr sz="1550" b="1" spc="25" dirty="0">
                <a:latin typeface="Calibri"/>
                <a:cs typeface="Calibri"/>
              </a:rPr>
              <a:t> </a:t>
            </a:r>
            <a:r>
              <a:rPr sz="1550" dirty="0">
                <a:latin typeface="Calibri"/>
                <a:cs typeface="Calibri"/>
              </a:rPr>
              <a:t>@(</a:t>
            </a:r>
            <a:r>
              <a:rPr sz="1550" b="1" dirty="0">
                <a:latin typeface="Calibri"/>
                <a:cs typeface="Calibri"/>
              </a:rPr>
              <a:t>posedge</a:t>
            </a:r>
            <a:r>
              <a:rPr sz="1550" b="1" spc="25" dirty="0">
                <a:latin typeface="Calibri"/>
                <a:cs typeface="Calibri"/>
              </a:rPr>
              <a:t> </a:t>
            </a:r>
            <a:r>
              <a:rPr sz="1550" dirty="0">
                <a:latin typeface="宋体"/>
                <a:cs typeface="宋体"/>
              </a:rPr>
              <a:t>clk，</a:t>
            </a:r>
            <a:r>
              <a:rPr sz="1550" b="1" dirty="0">
                <a:latin typeface="Calibri"/>
                <a:cs typeface="Calibri"/>
              </a:rPr>
              <a:t>posedge</a:t>
            </a:r>
            <a:r>
              <a:rPr sz="1550" b="1" spc="35" dirty="0">
                <a:latin typeface="Calibri"/>
                <a:cs typeface="Calibri"/>
              </a:rPr>
              <a:t> </a:t>
            </a:r>
            <a:r>
              <a:rPr sz="1550" spc="-10" dirty="0">
                <a:latin typeface="Calibri"/>
                <a:cs typeface="Calibri"/>
              </a:rPr>
              <a:t>reset)</a:t>
            </a:r>
            <a:endParaRPr sz="1550">
              <a:latin typeface="Calibri"/>
              <a:cs typeface="Calibri"/>
            </a:endParaRPr>
          </a:p>
          <a:p>
            <a:pPr marL="321310">
              <a:lnSpc>
                <a:spcPct val="100000"/>
              </a:lnSpc>
              <a:spcBef>
                <a:spcPts val="409"/>
              </a:spcBef>
            </a:pPr>
            <a:r>
              <a:rPr sz="1550" b="1" spc="-10" dirty="0">
                <a:latin typeface="Calibri"/>
                <a:cs typeface="Calibri"/>
              </a:rPr>
              <a:t>if</a:t>
            </a:r>
            <a:r>
              <a:rPr sz="1550" spc="-10" dirty="0">
                <a:latin typeface="Calibri"/>
                <a:cs typeface="Calibri"/>
              </a:rPr>
              <a:t>(reset)</a:t>
            </a:r>
            <a:endParaRPr sz="1550">
              <a:latin typeface="Calibri"/>
              <a:cs typeface="Calibri"/>
            </a:endParaRPr>
          </a:p>
          <a:p>
            <a:pPr marL="688340">
              <a:lnSpc>
                <a:spcPct val="100000"/>
              </a:lnSpc>
              <a:spcBef>
                <a:spcPts val="415"/>
              </a:spcBef>
            </a:pPr>
            <a:r>
              <a:rPr sz="1550" dirty="0">
                <a:latin typeface="Calibri"/>
                <a:cs typeface="Calibri"/>
              </a:rPr>
              <a:t>out_data</a:t>
            </a:r>
            <a:r>
              <a:rPr sz="1550" spc="20" dirty="0">
                <a:latin typeface="Calibri"/>
                <a:cs typeface="Calibri"/>
              </a:rPr>
              <a:t> </a:t>
            </a:r>
            <a:r>
              <a:rPr sz="1550" dirty="0">
                <a:latin typeface="Calibri"/>
                <a:cs typeface="Calibri"/>
              </a:rPr>
              <a:t>&lt;=</a:t>
            </a:r>
            <a:r>
              <a:rPr sz="1550" spc="20" dirty="0">
                <a:latin typeface="Calibri"/>
                <a:cs typeface="Calibri"/>
              </a:rPr>
              <a:t> </a:t>
            </a:r>
            <a:r>
              <a:rPr sz="1550" spc="-25" dirty="0">
                <a:latin typeface="Calibri"/>
                <a:cs typeface="Calibri"/>
              </a:rPr>
              <a:t>0;</a:t>
            </a:r>
            <a:endParaRPr sz="1550">
              <a:latin typeface="Calibri"/>
              <a:cs typeface="Calibri"/>
            </a:endParaRPr>
          </a:p>
          <a:p>
            <a:pPr marL="330835">
              <a:lnSpc>
                <a:spcPct val="100000"/>
              </a:lnSpc>
              <a:spcBef>
                <a:spcPts val="409"/>
              </a:spcBef>
            </a:pPr>
            <a:r>
              <a:rPr sz="1550" b="1" dirty="0">
                <a:latin typeface="Calibri"/>
                <a:cs typeface="Calibri"/>
              </a:rPr>
              <a:t>else</a:t>
            </a:r>
            <a:r>
              <a:rPr sz="1550" b="1" spc="5" dirty="0">
                <a:latin typeface="Calibri"/>
                <a:cs typeface="Calibri"/>
              </a:rPr>
              <a:t> </a:t>
            </a:r>
            <a:r>
              <a:rPr sz="1550" b="1" dirty="0">
                <a:latin typeface="Calibri"/>
                <a:cs typeface="Calibri"/>
              </a:rPr>
              <a:t>if</a:t>
            </a:r>
            <a:r>
              <a:rPr sz="1550" dirty="0">
                <a:latin typeface="Calibri"/>
                <a:cs typeface="Calibri"/>
              </a:rPr>
              <a:t>(</a:t>
            </a:r>
            <a:r>
              <a:rPr sz="1550" dirty="0">
                <a:latin typeface="宋体"/>
                <a:cs typeface="宋体"/>
              </a:rPr>
              <a:t>load</a:t>
            </a:r>
            <a:r>
              <a:rPr sz="1550" spc="45" dirty="0">
                <a:latin typeface="宋体"/>
                <a:cs typeface="宋体"/>
              </a:rPr>
              <a:t> </a:t>
            </a:r>
            <a:r>
              <a:rPr sz="1550" dirty="0">
                <a:latin typeface="宋体"/>
                <a:cs typeface="宋体"/>
              </a:rPr>
              <a:t>==</a:t>
            </a:r>
            <a:r>
              <a:rPr sz="1550" spc="50" dirty="0">
                <a:latin typeface="宋体"/>
                <a:cs typeface="宋体"/>
              </a:rPr>
              <a:t> </a:t>
            </a:r>
            <a:r>
              <a:rPr sz="1550" spc="-25" dirty="0">
                <a:latin typeface="宋体"/>
                <a:cs typeface="宋体"/>
              </a:rPr>
              <a:t>1)</a:t>
            </a:r>
            <a:endParaRPr sz="1550">
              <a:latin typeface="宋体"/>
              <a:cs typeface="宋体"/>
            </a:endParaRPr>
          </a:p>
          <a:p>
            <a:pPr marL="663575">
              <a:lnSpc>
                <a:spcPct val="100000"/>
              </a:lnSpc>
              <a:spcBef>
                <a:spcPts val="415"/>
              </a:spcBef>
            </a:pPr>
            <a:r>
              <a:rPr sz="1550" dirty="0">
                <a:latin typeface="Calibri"/>
                <a:cs typeface="Calibri"/>
              </a:rPr>
              <a:t>out_data</a:t>
            </a:r>
            <a:r>
              <a:rPr sz="1550" spc="20" dirty="0">
                <a:latin typeface="Calibri"/>
                <a:cs typeface="Calibri"/>
              </a:rPr>
              <a:t> </a:t>
            </a:r>
            <a:r>
              <a:rPr sz="1550" dirty="0">
                <a:latin typeface="Calibri"/>
                <a:cs typeface="Calibri"/>
              </a:rPr>
              <a:t>&lt;=</a:t>
            </a:r>
            <a:r>
              <a:rPr sz="1550" spc="20" dirty="0">
                <a:latin typeface="Calibri"/>
                <a:cs typeface="Calibri"/>
              </a:rPr>
              <a:t> </a:t>
            </a:r>
            <a:r>
              <a:rPr sz="1550" spc="-10" dirty="0">
                <a:latin typeface="Calibri"/>
                <a:cs typeface="Calibri"/>
              </a:rPr>
              <a:t>in_data;</a:t>
            </a:r>
            <a:endParaRPr sz="1550">
              <a:latin typeface="Calibri"/>
              <a:cs typeface="Calibri"/>
            </a:endParaRPr>
          </a:p>
          <a:p>
            <a:pPr>
              <a:lnSpc>
                <a:spcPct val="100000"/>
              </a:lnSpc>
              <a:spcBef>
                <a:spcPts val="414"/>
              </a:spcBef>
            </a:pPr>
            <a:r>
              <a:rPr sz="1550" b="1" spc="-10" dirty="0">
                <a:latin typeface="Calibri"/>
                <a:cs typeface="Calibri"/>
              </a:rPr>
              <a:t>endmodule</a:t>
            </a:r>
            <a:endParaRPr sz="1550">
              <a:latin typeface="Calibri"/>
              <a:cs typeface="Calibri"/>
            </a:endParaRPr>
          </a:p>
        </p:txBody>
      </p:sp>
      <p:sp>
        <p:nvSpPr>
          <p:cNvPr id="31" name="object 31"/>
          <p:cNvSpPr txBox="1"/>
          <p:nvPr/>
        </p:nvSpPr>
        <p:spPr>
          <a:xfrm>
            <a:off x="5699893" y="6457440"/>
            <a:ext cx="2181225" cy="213360"/>
          </a:xfrm>
          <a:prstGeom prst="rect">
            <a:avLst/>
          </a:prstGeom>
        </p:spPr>
        <p:txBody>
          <a:bodyPr vert="horz" wrap="square" lIns="0" tIns="16510" rIns="0" bIns="0" rtlCol="0">
            <a:spAutoFit/>
          </a:bodyPr>
          <a:lstStyle/>
          <a:p>
            <a:pPr marL="12700">
              <a:lnSpc>
                <a:spcPct val="100000"/>
              </a:lnSpc>
              <a:spcBef>
                <a:spcPts val="130"/>
              </a:spcBef>
            </a:pPr>
            <a:r>
              <a:rPr sz="1200" spc="30" dirty="0">
                <a:latin typeface="微软雅黑"/>
                <a:cs typeface="微软雅黑"/>
              </a:rPr>
              <a:t>例 </a:t>
            </a:r>
            <a:r>
              <a:rPr sz="1200" dirty="0">
                <a:latin typeface="Arial"/>
                <a:cs typeface="Arial"/>
              </a:rPr>
              <a:t>4.8</a:t>
            </a:r>
            <a:r>
              <a:rPr sz="1200" spc="90" dirty="0">
                <a:latin typeface="Arial"/>
                <a:cs typeface="Arial"/>
              </a:rPr>
              <a:t>  </a:t>
            </a:r>
            <a:r>
              <a:rPr sz="1200" dirty="0">
                <a:latin typeface="Arial"/>
                <a:cs typeface="Arial"/>
              </a:rPr>
              <a:t>1</a:t>
            </a:r>
            <a:r>
              <a:rPr sz="1200" dirty="0">
                <a:latin typeface="微软雅黑"/>
                <a:cs typeface="微软雅黑"/>
              </a:rPr>
              <a:t>位寄存器的</a:t>
            </a:r>
            <a:r>
              <a:rPr sz="1200" spc="-10" dirty="0">
                <a:latin typeface="Arial"/>
                <a:cs typeface="Arial"/>
              </a:rPr>
              <a:t>Verilog</a:t>
            </a:r>
            <a:r>
              <a:rPr sz="1200" spc="-25" dirty="0">
                <a:latin typeface="微软雅黑"/>
                <a:cs typeface="微软雅黑"/>
              </a:rPr>
              <a:t>描述</a:t>
            </a:r>
            <a:endParaRPr sz="1200">
              <a:latin typeface="微软雅黑"/>
              <a:cs typeface="微软雅黑"/>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53936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4.2.1</a:t>
            </a:r>
            <a:r>
              <a:rPr spc="-35" dirty="0">
                <a:latin typeface="Arial"/>
                <a:cs typeface="Arial"/>
              </a:rPr>
              <a:t> </a:t>
            </a:r>
            <a:r>
              <a:rPr spc="-25" dirty="0">
                <a:latin typeface="Arial"/>
                <a:cs typeface="Arial"/>
              </a:rPr>
              <a:t>1</a:t>
            </a:r>
            <a:r>
              <a:rPr spc="-15" dirty="0"/>
              <a:t>位寄存器</a:t>
            </a:r>
          </a:p>
        </p:txBody>
      </p:sp>
      <p:sp>
        <p:nvSpPr>
          <p:cNvPr id="3" name="object 3"/>
          <p:cNvSpPr txBox="1"/>
          <p:nvPr/>
        </p:nvSpPr>
        <p:spPr>
          <a:xfrm>
            <a:off x="6371977" y="1947616"/>
            <a:ext cx="3465195" cy="1829435"/>
          </a:xfrm>
          <a:prstGeom prst="rect">
            <a:avLst/>
          </a:prstGeom>
        </p:spPr>
        <p:txBody>
          <a:bodyPr vert="horz" wrap="square" lIns="0" tIns="135890" rIns="0" bIns="0" rtlCol="0">
            <a:spAutoFit/>
          </a:bodyPr>
          <a:lstStyle/>
          <a:p>
            <a:pPr marL="12700">
              <a:lnSpc>
                <a:spcPct val="100000"/>
              </a:lnSpc>
              <a:spcBef>
                <a:spcPts val="1070"/>
              </a:spcBef>
            </a:pPr>
            <a:r>
              <a:rPr sz="1550" b="1" dirty="0">
                <a:latin typeface="微软雅黑"/>
                <a:cs typeface="微软雅黑"/>
              </a:rPr>
              <a:t>从仿真结果我们可以看出</a:t>
            </a:r>
            <a:r>
              <a:rPr sz="1550" b="1" spc="-50" dirty="0">
                <a:latin typeface="Arial"/>
                <a:cs typeface="Arial"/>
              </a:rPr>
              <a:t>:</a:t>
            </a:r>
            <a:endParaRPr sz="1550">
              <a:latin typeface="Arial"/>
              <a:cs typeface="Arial"/>
            </a:endParaRPr>
          </a:p>
          <a:p>
            <a:pPr marL="262890" indent="-250825" algn="just">
              <a:lnSpc>
                <a:spcPct val="100000"/>
              </a:lnSpc>
              <a:spcBef>
                <a:spcPts val="980"/>
              </a:spcBef>
              <a:buFont typeface="Wingdings"/>
              <a:buChar char=""/>
              <a:tabLst>
                <a:tab pos="262890" algn="l"/>
              </a:tabLst>
            </a:pPr>
            <a:r>
              <a:rPr sz="1550" spc="60" dirty="0">
                <a:latin typeface="微软雅黑"/>
                <a:cs typeface="微软雅黑"/>
              </a:rPr>
              <a:t>当</a:t>
            </a:r>
            <a:r>
              <a:rPr sz="1550" dirty="0">
                <a:latin typeface="Arial"/>
                <a:cs typeface="Arial"/>
              </a:rPr>
              <a:t>load</a:t>
            </a:r>
            <a:r>
              <a:rPr sz="1550" spc="60" dirty="0">
                <a:latin typeface="微软雅黑"/>
                <a:cs typeface="微软雅黑"/>
              </a:rPr>
              <a:t>信号为</a:t>
            </a:r>
            <a:r>
              <a:rPr sz="1550" spc="55" dirty="0">
                <a:latin typeface="Arial"/>
                <a:cs typeface="Arial"/>
              </a:rPr>
              <a:t>0</a:t>
            </a:r>
            <a:r>
              <a:rPr sz="1550" spc="50" dirty="0">
                <a:latin typeface="微软雅黑"/>
                <a:cs typeface="微软雅黑"/>
              </a:rPr>
              <a:t>时，输入线上的数据</a:t>
            </a:r>
            <a:endParaRPr sz="1550">
              <a:latin typeface="微软雅黑"/>
              <a:cs typeface="微软雅黑"/>
            </a:endParaRPr>
          </a:p>
          <a:p>
            <a:pPr marL="262890" marR="6350" algn="just">
              <a:lnSpc>
                <a:spcPct val="152700"/>
              </a:lnSpc>
              <a:spcBef>
                <a:spcPts val="5"/>
              </a:spcBef>
            </a:pPr>
            <a:r>
              <a:rPr sz="1550" dirty="0">
                <a:latin typeface="Arial"/>
                <a:cs typeface="Arial"/>
              </a:rPr>
              <a:t>in_data</a:t>
            </a:r>
            <a:r>
              <a:rPr sz="1550" spc="60" dirty="0">
                <a:latin typeface="微软雅黑"/>
                <a:cs typeface="微软雅黑"/>
              </a:rPr>
              <a:t>就不会在每个时钟</a:t>
            </a:r>
            <a:r>
              <a:rPr sz="1550" dirty="0">
                <a:latin typeface="Arial"/>
                <a:cs typeface="Arial"/>
              </a:rPr>
              <a:t>clk</a:t>
            </a:r>
            <a:r>
              <a:rPr sz="1550" spc="40" dirty="0">
                <a:latin typeface="微软雅黑"/>
                <a:cs typeface="微软雅黑"/>
              </a:rPr>
              <a:t>的上升</a:t>
            </a:r>
            <a:r>
              <a:rPr sz="1550" spc="155" dirty="0">
                <a:latin typeface="微软雅黑"/>
                <a:cs typeface="微软雅黑"/>
              </a:rPr>
              <a:t>沿被不断地重新加载到</a:t>
            </a:r>
            <a:r>
              <a:rPr sz="1550" spc="-25" dirty="0">
                <a:latin typeface="Arial"/>
                <a:cs typeface="Arial"/>
              </a:rPr>
              <a:t>out_data</a:t>
            </a:r>
            <a:r>
              <a:rPr sz="1550" spc="-65" dirty="0">
                <a:latin typeface="Arial"/>
                <a:cs typeface="Arial"/>
              </a:rPr>
              <a:t> </a:t>
            </a:r>
            <a:r>
              <a:rPr sz="1550" spc="-50" dirty="0">
                <a:latin typeface="微软雅黑"/>
                <a:cs typeface="微软雅黑"/>
              </a:rPr>
              <a:t>，</a:t>
            </a:r>
            <a:r>
              <a:rPr sz="1550" dirty="0">
                <a:latin typeface="微软雅黑"/>
                <a:cs typeface="微软雅黑"/>
              </a:rPr>
              <a:t>寄存器的输入</a:t>
            </a:r>
            <a:r>
              <a:rPr sz="1550" dirty="0">
                <a:latin typeface="Arial"/>
                <a:cs typeface="Arial"/>
              </a:rPr>
              <a:t>out_data</a:t>
            </a:r>
            <a:r>
              <a:rPr sz="1550" spc="-10" dirty="0">
                <a:latin typeface="微软雅黑"/>
                <a:cs typeface="微软雅黑"/>
              </a:rPr>
              <a:t>保持不变；</a:t>
            </a:r>
            <a:endParaRPr sz="1550">
              <a:latin typeface="微软雅黑"/>
              <a:cs typeface="微软雅黑"/>
            </a:endParaRPr>
          </a:p>
        </p:txBody>
      </p:sp>
      <p:sp>
        <p:nvSpPr>
          <p:cNvPr id="4" name="object 4"/>
          <p:cNvSpPr txBox="1"/>
          <p:nvPr/>
        </p:nvSpPr>
        <p:spPr>
          <a:xfrm>
            <a:off x="6371997" y="4110959"/>
            <a:ext cx="3458845" cy="1108710"/>
          </a:xfrm>
          <a:prstGeom prst="rect">
            <a:avLst/>
          </a:prstGeom>
        </p:spPr>
        <p:txBody>
          <a:bodyPr vert="horz" wrap="square" lIns="0" tIns="12065" rIns="0" bIns="0" rtlCol="0">
            <a:spAutoFit/>
          </a:bodyPr>
          <a:lstStyle/>
          <a:p>
            <a:pPr marL="262890" marR="5080" indent="-250825" algn="just">
              <a:lnSpc>
                <a:spcPct val="152700"/>
              </a:lnSpc>
              <a:spcBef>
                <a:spcPts val="95"/>
              </a:spcBef>
              <a:buFont typeface="Wingdings"/>
              <a:buChar char=""/>
              <a:tabLst>
                <a:tab pos="262890" algn="l"/>
              </a:tabLst>
            </a:pPr>
            <a:r>
              <a:rPr sz="1550" dirty="0">
                <a:latin typeface="微软雅黑"/>
                <a:cs typeface="微软雅黑"/>
              </a:rPr>
              <a:t>当</a:t>
            </a:r>
            <a:r>
              <a:rPr sz="1550" dirty="0">
                <a:latin typeface="Arial"/>
                <a:cs typeface="Arial"/>
              </a:rPr>
              <a:t>load</a:t>
            </a:r>
            <a:r>
              <a:rPr sz="1550" dirty="0">
                <a:latin typeface="微软雅黑"/>
                <a:cs typeface="微软雅黑"/>
              </a:rPr>
              <a:t>信号为</a:t>
            </a:r>
            <a:r>
              <a:rPr sz="1550" dirty="0">
                <a:latin typeface="Arial"/>
                <a:cs typeface="Arial"/>
              </a:rPr>
              <a:t>1</a:t>
            </a:r>
            <a:r>
              <a:rPr sz="1550" dirty="0">
                <a:latin typeface="微软雅黑"/>
                <a:cs typeface="微软雅黑"/>
              </a:rPr>
              <a:t>时，在下一个时钟</a:t>
            </a:r>
            <a:r>
              <a:rPr sz="1550" spc="-25" dirty="0">
                <a:latin typeface="Arial"/>
                <a:cs typeface="Arial"/>
              </a:rPr>
              <a:t>clk</a:t>
            </a:r>
            <a:r>
              <a:rPr sz="1550" spc="110" dirty="0">
                <a:latin typeface="微软雅黑"/>
                <a:cs typeface="微软雅黑"/>
              </a:rPr>
              <a:t>的上升沿，</a:t>
            </a:r>
            <a:r>
              <a:rPr sz="1550" dirty="0">
                <a:latin typeface="Arial"/>
                <a:cs typeface="Arial"/>
              </a:rPr>
              <a:t>out_data</a:t>
            </a:r>
            <a:r>
              <a:rPr sz="1550" spc="140" dirty="0">
                <a:latin typeface="微软雅黑"/>
                <a:cs typeface="微软雅黑"/>
              </a:rPr>
              <a:t>就变为</a:t>
            </a:r>
            <a:r>
              <a:rPr sz="1550" spc="-10" dirty="0">
                <a:latin typeface="Arial"/>
                <a:cs typeface="Arial"/>
              </a:rPr>
              <a:t>in_data</a:t>
            </a:r>
            <a:r>
              <a:rPr sz="1550" spc="-20" dirty="0">
                <a:latin typeface="微软雅黑"/>
                <a:cs typeface="微软雅黑"/>
              </a:rPr>
              <a:t>的值。</a:t>
            </a:r>
            <a:endParaRPr sz="1550">
              <a:latin typeface="微软雅黑"/>
              <a:cs typeface="微软雅黑"/>
            </a:endParaRPr>
          </a:p>
        </p:txBody>
      </p:sp>
      <p:pic>
        <p:nvPicPr>
          <p:cNvPr id="5" name="object 5"/>
          <p:cNvPicPr/>
          <p:nvPr/>
        </p:nvPicPr>
        <p:blipFill>
          <a:blip r:embed="rId2" cstate="print"/>
          <a:stretch>
            <a:fillRect/>
          </a:stretch>
        </p:blipFill>
        <p:spPr>
          <a:xfrm>
            <a:off x="536333" y="2828544"/>
            <a:ext cx="5366003" cy="1501902"/>
          </a:xfrm>
          <a:prstGeom prst="rect">
            <a:avLst/>
          </a:prstGeom>
        </p:spPr>
      </p:pic>
      <p:sp>
        <p:nvSpPr>
          <p:cNvPr id="6" name="object 6"/>
          <p:cNvSpPr txBox="1"/>
          <p:nvPr/>
        </p:nvSpPr>
        <p:spPr>
          <a:xfrm>
            <a:off x="1983619" y="4552441"/>
            <a:ext cx="217424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4.13</a:t>
            </a:r>
            <a:r>
              <a:rPr sz="1200" spc="235" dirty="0">
                <a:latin typeface="Arial"/>
                <a:cs typeface="Arial"/>
              </a:rPr>
              <a:t> </a:t>
            </a:r>
            <a:r>
              <a:rPr sz="1200" dirty="0">
                <a:latin typeface="Arial"/>
                <a:cs typeface="Arial"/>
              </a:rPr>
              <a:t>1</a:t>
            </a:r>
            <a:r>
              <a:rPr sz="1200" spc="-5" dirty="0">
                <a:latin typeface="微软雅黑"/>
                <a:cs typeface="微软雅黑"/>
              </a:rPr>
              <a:t>位寄存器的仿真时序图</a:t>
            </a:r>
            <a:endParaRPr sz="1200">
              <a:latin typeface="微软雅黑"/>
              <a:cs typeface="微软雅黑"/>
            </a:endParaRPr>
          </a:p>
        </p:txBody>
      </p:sp>
      <p:sp>
        <p:nvSpPr>
          <p:cNvPr id="7" name="object 7"/>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59905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4.2.2</a:t>
            </a:r>
            <a:r>
              <a:rPr spc="-40" dirty="0">
                <a:latin typeface="Arial"/>
                <a:cs typeface="Arial"/>
              </a:rPr>
              <a:t> </a:t>
            </a:r>
            <a:r>
              <a:rPr dirty="0">
                <a:latin typeface="Arial"/>
                <a:cs typeface="Arial"/>
              </a:rPr>
              <a:t>N</a:t>
            </a:r>
            <a:r>
              <a:rPr spc="-15" dirty="0"/>
              <a:t>位寄存器</a:t>
            </a:r>
          </a:p>
        </p:txBody>
      </p:sp>
      <p:sp>
        <p:nvSpPr>
          <p:cNvPr id="3" name="object 3"/>
          <p:cNvSpPr txBox="1"/>
          <p:nvPr/>
        </p:nvSpPr>
        <p:spPr>
          <a:xfrm>
            <a:off x="394829" y="1846271"/>
            <a:ext cx="4591050" cy="1829435"/>
          </a:xfrm>
          <a:prstGeom prst="rect">
            <a:avLst/>
          </a:prstGeom>
        </p:spPr>
        <p:txBody>
          <a:bodyPr vert="horz" wrap="square" lIns="0" tIns="12065" rIns="0" bIns="0" rtlCol="0">
            <a:spAutoFit/>
          </a:bodyPr>
          <a:lstStyle/>
          <a:p>
            <a:pPr marL="262890" marR="5080" indent="-250825">
              <a:lnSpc>
                <a:spcPct val="152600"/>
              </a:lnSpc>
              <a:spcBef>
                <a:spcPts val="95"/>
              </a:spcBef>
              <a:buFont typeface="Wingdings"/>
              <a:buChar char=""/>
              <a:tabLst>
                <a:tab pos="262890" algn="l"/>
              </a:tabLst>
            </a:pPr>
            <a:r>
              <a:rPr sz="1550" dirty="0">
                <a:latin typeface="微软雅黑"/>
                <a:cs typeface="微软雅黑"/>
              </a:rPr>
              <a:t>如果我们把</a:t>
            </a:r>
            <a:r>
              <a:rPr sz="1550" dirty="0">
                <a:latin typeface="Arial"/>
                <a:cs typeface="Arial"/>
              </a:rPr>
              <a:t>N</a:t>
            </a:r>
            <a:r>
              <a:rPr sz="1550" dirty="0">
                <a:latin typeface="微软雅黑"/>
                <a:cs typeface="微软雅黑"/>
              </a:rPr>
              <a:t>个</a:t>
            </a:r>
            <a:r>
              <a:rPr sz="1550" dirty="0">
                <a:latin typeface="Arial"/>
                <a:cs typeface="Arial"/>
              </a:rPr>
              <a:t>1</a:t>
            </a:r>
            <a:r>
              <a:rPr sz="1550" spc="-5" dirty="0">
                <a:latin typeface="微软雅黑"/>
                <a:cs typeface="微软雅黑"/>
              </a:rPr>
              <a:t>位寄存器模块组合起来，就可以</a:t>
            </a:r>
            <a:r>
              <a:rPr sz="1550" dirty="0">
                <a:latin typeface="微软雅黑"/>
                <a:cs typeface="微软雅黑"/>
              </a:rPr>
              <a:t>构成一个</a:t>
            </a:r>
            <a:r>
              <a:rPr sz="1550" dirty="0">
                <a:latin typeface="Arial"/>
                <a:cs typeface="Arial"/>
              </a:rPr>
              <a:t>N</a:t>
            </a:r>
            <a:r>
              <a:rPr sz="1550" spc="-10" dirty="0">
                <a:latin typeface="微软雅黑"/>
                <a:cs typeface="微软雅黑"/>
              </a:rPr>
              <a:t>位寄存器。</a:t>
            </a:r>
            <a:endParaRPr sz="1550">
              <a:latin typeface="微软雅黑"/>
              <a:cs typeface="微软雅黑"/>
            </a:endParaRPr>
          </a:p>
          <a:p>
            <a:pPr marL="262890" marR="6985" indent="-250825">
              <a:lnSpc>
                <a:spcPct val="152600"/>
              </a:lnSpc>
              <a:spcBef>
                <a:spcPts val="5"/>
              </a:spcBef>
              <a:buFont typeface="Wingdings"/>
              <a:buChar char=""/>
              <a:tabLst>
                <a:tab pos="262890" algn="l"/>
              </a:tabLst>
            </a:pPr>
            <a:r>
              <a:rPr sz="1550" spc="75" dirty="0">
                <a:latin typeface="微软雅黑"/>
                <a:cs typeface="微软雅黑"/>
              </a:rPr>
              <a:t>和</a:t>
            </a:r>
            <a:r>
              <a:rPr sz="1550" spc="60" dirty="0">
                <a:latin typeface="Arial"/>
                <a:cs typeface="Arial"/>
              </a:rPr>
              <a:t>1</a:t>
            </a:r>
            <a:r>
              <a:rPr sz="1550" spc="75" dirty="0">
                <a:latin typeface="微软雅黑"/>
                <a:cs typeface="微软雅黑"/>
              </a:rPr>
              <a:t>位寄存器不同之处在于，我们把输入</a:t>
            </a:r>
            <a:r>
              <a:rPr sz="1550" spc="-10" dirty="0">
                <a:latin typeface="Arial"/>
                <a:cs typeface="Arial"/>
              </a:rPr>
              <a:t>in_data</a:t>
            </a:r>
            <a:r>
              <a:rPr sz="1550" dirty="0">
                <a:latin typeface="微软雅黑"/>
                <a:cs typeface="微软雅黑"/>
              </a:rPr>
              <a:t>和输出</a:t>
            </a:r>
            <a:r>
              <a:rPr sz="1550" dirty="0">
                <a:latin typeface="Arial"/>
                <a:cs typeface="Arial"/>
              </a:rPr>
              <a:t>out_data</a:t>
            </a:r>
            <a:r>
              <a:rPr sz="1550" dirty="0">
                <a:latin typeface="微软雅黑"/>
                <a:cs typeface="微软雅黑"/>
              </a:rPr>
              <a:t>定义为一个</a:t>
            </a:r>
            <a:r>
              <a:rPr sz="1550" dirty="0">
                <a:latin typeface="Arial"/>
                <a:cs typeface="Arial"/>
              </a:rPr>
              <a:t>N</a:t>
            </a:r>
            <a:r>
              <a:rPr sz="1550" spc="-10" dirty="0">
                <a:latin typeface="微软雅黑"/>
                <a:cs typeface="微软雅黑"/>
              </a:rPr>
              <a:t>位的数组。</a:t>
            </a:r>
            <a:endParaRPr sz="1550">
              <a:latin typeface="微软雅黑"/>
              <a:cs typeface="微软雅黑"/>
            </a:endParaRPr>
          </a:p>
          <a:p>
            <a:pPr marL="12700">
              <a:lnSpc>
                <a:spcPct val="100000"/>
              </a:lnSpc>
              <a:spcBef>
                <a:spcPts val="980"/>
              </a:spcBef>
            </a:pPr>
            <a:r>
              <a:rPr sz="1550" dirty="0">
                <a:latin typeface="Arial"/>
                <a:cs typeface="Arial"/>
              </a:rPr>
              <a:t>N</a:t>
            </a:r>
            <a:r>
              <a:rPr sz="1550" dirty="0">
                <a:latin typeface="微软雅黑"/>
                <a:cs typeface="微软雅黑"/>
              </a:rPr>
              <a:t>位寄存器的逻辑符号如图</a:t>
            </a:r>
            <a:r>
              <a:rPr sz="1550" dirty="0">
                <a:latin typeface="Arial"/>
                <a:cs typeface="Arial"/>
              </a:rPr>
              <a:t>4.14</a:t>
            </a:r>
            <a:r>
              <a:rPr sz="1550" dirty="0">
                <a:latin typeface="微软雅黑"/>
                <a:cs typeface="微软雅黑"/>
              </a:rPr>
              <a:t>所示</a:t>
            </a:r>
            <a:r>
              <a:rPr sz="1550" spc="-50" dirty="0">
                <a:latin typeface="Arial"/>
                <a:cs typeface="Arial"/>
              </a:rPr>
              <a:t>:</a:t>
            </a:r>
            <a:endParaRPr sz="1550">
              <a:latin typeface="Arial"/>
              <a:cs typeface="Arial"/>
            </a:endParaRPr>
          </a:p>
        </p:txBody>
      </p:sp>
      <p:grpSp>
        <p:nvGrpSpPr>
          <p:cNvPr id="4" name="object 4"/>
          <p:cNvGrpSpPr/>
          <p:nvPr/>
        </p:nvGrpSpPr>
        <p:grpSpPr>
          <a:xfrm>
            <a:off x="1765009" y="4226236"/>
            <a:ext cx="880744" cy="130810"/>
            <a:chOff x="1765009" y="4226236"/>
            <a:chExt cx="880744" cy="130810"/>
          </a:xfrm>
        </p:grpSpPr>
        <p:sp>
          <p:nvSpPr>
            <p:cNvPr id="5" name="object 5"/>
            <p:cNvSpPr/>
            <p:nvPr/>
          </p:nvSpPr>
          <p:spPr>
            <a:xfrm>
              <a:off x="2083184" y="4301329"/>
              <a:ext cx="562610" cy="0"/>
            </a:xfrm>
            <a:custGeom>
              <a:avLst/>
              <a:gdLst/>
              <a:ahLst/>
              <a:cxnLst/>
              <a:rect l="l" t="t" r="r" b="b"/>
              <a:pathLst>
                <a:path w="562610">
                  <a:moveTo>
                    <a:pt x="0" y="0"/>
                  </a:moveTo>
                  <a:lnTo>
                    <a:pt x="562348" y="0"/>
                  </a:lnTo>
                </a:path>
              </a:pathLst>
            </a:custGeom>
            <a:ln w="17869">
              <a:solidFill>
                <a:srgbClr val="000000"/>
              </a:solidFill>
            </a:ln>
          </p:spPr>
          <p:txBody>
            <a:bodyPr wrap="square" lIns="0" tIns="0" rIns="0" bIns="0" rtlCol="0"/>
            <a:lstStyle/>
            <a:p>
              <a:endParaRPr/>
            </a:p>
          </p:txBody>
        </p:sp>
        <p:sp>
          <p:nvSpPr>
            <p:cNvPr id="6" name="object 6"/>
            <p:cNvSpPr/>
            <p:nvPr/>
          </p:nvSpPr>
          <p:spPr>
            <a:xfrm>
              <a:off x="1773806" y="4235032"/>
              <a:ext cx="304800" cy="113030"/>
            </a:xfrm>
            <a:custGeom>
              <a:avLst/>
              <a:gdLst/>
              <a:ahLst/>
              <a:cxnLst/>
              <a:rect l="l" t="t" r="r" b="b"/>
              <a:pathLst>
                <a:path w="304800" h="113029">
                  <a:moveTo>
                    <a:pt x="304797" y="67817"/>
                  </a:moveTo>
                  <a:lnTo>
                    <a:pt x="243842" y="0"/>
                  </a:lnTo>
                  <a:lnTo>
                    <a:pt x="0" y="0"/>
                  </a:lnTo>
                  <a:lnTo>
                    <a:pt x="0" y="112780"/>
                  </a:lnTo>
                  <a:lnTo>
                    <a:pt x="243842" y="112780"/>
                  </a:lnTo>
                  <a:lnTo>
                    <a:pt x="304797" y="67817"/>
                  </a:lnTo>
                  <a:close/>
                </a:path>
              </a:pathLst>
            </a:custGeom>
            <a:ln w="17468">
              <a:solidFill>
                <a:srgbClr val="000000"/>
              </a:solidFill>
            </a:ln>
          </p:spPr>
          <p:txBody>
            <a:bodyPr wrap="square" lIns="0" tIns="0" rIns="0" bIns="0" rtlCol="0"/>
            <a:lstStyle/>
            <a:p>
              <a:endParaRPr/>
            </a:p>
          </p:txBody>
        </p:sp>
      </p:grpSp>
      <p:sp>
        <p:nvSpPr>
          <p:cNvPr id="7" name="object 7"/>
          <p:cNvSpPr txBox="1"/>
          <p:nvPr/>
        </p:nvSpPr>
        <p:spPr>
          <a:xfrm>
            <a:off x="2645533" y="4047590"/>
            <a:ext cx="656590" cy="1385570"/>
          </a:xfrm>
          <a:prstGeom prst="rect">
            <a:avLst/>
          </a:prstGeom>
          <a:ln w="15378">
            <a:solidFill>
              <a:srgbClr val="000000"/>
            </a:solidFill>
          </a:ln>
        </p:spPr>
        <p:txBody>
          <a:bodyPr vert="horz" wrap="square" lIns="0" tIns="118745" rIns="0" bIns="0" rtlCol="0">
            <a:spAutoFit/>
          </a:bodyPr>
          <a:lstStyle/>
          <a:p>
            <a:pPr marL="39370">
              <a:lnSpc>
                <a:spcPct val="100000"/>
              </a:lnSpc>
              <a:spcBef>
                <a:spcPts val="935"/>
              </a:spcBef>
              <a:tabLst>
                <a:tab pos="527685" algn="l"/>
              </a:tabLst>
            </a:pPr>
            <a:r>
              <a:rPr sz="1500" b="1" spc="-50" dirty="0">
                <a:latin typeface="Times New Roman"/>
                <a:cs typeface="Times New Roman"/>
              </a:rPr>
              <a:t>d</a:t>
            </a:r>
            <a:r>
              <a:rPr sz="1500" b="1" dirty="0">
                <a:latin typeface="Times New Roman"/>
                <a:cs typeface="Times New Roman"/>
              </a:rPr>
              <a:t>	</a:t>
            </a:r>
            <a:r>
              <a:rPr sz="2250" b="1" spc="-75" baseline="1851" dirty="0">
                <a:latin typeface="Times New Roman"/>
                <a:cs typeface="Times New Roman"/>
              </a:rPr>
              <a:t>q</a:t>
            </a:r>
            <a:endParaRPr sz="2250" baseline="1851">
              <a:latin typeface="Times New Roman"/>
              <a:cs typeface="Times New Roman"/>
            </a:endParaRPr>
          </a:p>
          <a:p>
            <a:pPr marL="24765" marR="284480" indent="-5715">
              <a:lnSpc>
                <a:spcPct val="137500"/>
              </a:lnSpc>
              <a:spcBef>
                <a:spcPts val="195"/>
              </a:spcBef>
            </a:pPr>
            <a:r>
              <a:rPr sz="1500" b="1" spc="-25" dirty="0">
                <a:latin typeface="Times New Roman"/>
                <a:cs typeface="Times New Roman"/>
              </a:rPr>
              <a:t>clk </a:t>
            </a:r>
            <a:r>
              <a:rPr sz="1500" b="1" spc="-35" dirty="0">
                <a:latin typeface="Times New Roman"/>
                <a:cs typeface="Times New Roman"/>
              </a:rPr>
              <a:t>load </a:t>
            </a:r>
            <a:r>
              <a:rPr sz="1500" b="1" spc="-95" dirty="0">
                <a:latin typeface="Times New Roman"/>
                <a:cs typeface="Times New Roman"/>
              </a:rPr>
              <a:t>reset</a:t>
            </a:r>
            <a:endParaRPr sz="1500">
              <a:latin typeface="Times New Roman"/>
              <a:cs typeface="Times New Roman"/>
            </a:endParaRPr>
          </a:p>
        </p:txBody>
      </p:sp>
      <p:grpSp>
        <p:nvGrpSpPr>
          <p:cNvPr id="8" name="object 8"/>
          <p:cNvGrpSpPr/>
          <p:nvPr/>
        </p:nvGrpSpPr>
        <p:grpSpPr>
          <a:xfrm>
            <a:off x="1765006" y="4573700"/>
            <a:ext cx="880744" cy="128905"/>
            <a:chOff x="1765006" y="4573700"/>
            <a:chExt cx="880744" cy="128905"/>
          </a:xfrm>
        </p:grpSpPr>
        <p:sp>
          <p:nvSpPr>
            <p:cNvPr id="9" name="object 9"/>
            <p:cNvSpPr/>
            <p:nvPr/>
          </p:nvSpPr>
          <p:spPr>
            <a:xfrm>
              <a:off x="2083172" y="4647262"/>
              <a:ext cx="562610" cy="0"/>
            </a:xfrm>
            <a:custGeom>
              <a:avLst/>
              <a:gdLst/>
              <a:ahLst/>
              <a:cxnLst/>
              <a:rect l="l" t="t" r="r" b="b"/>
              <a:pathLst>
                <a:path w="562610">
                  <a:moveTo>
                    <a:pt x="0" y="0"/>
                  </a:moveTo>
                  <a:lnTo>
                    <a:pt x="562348" y="0"/>
                  </a:lnTo>
                </a:path>
              </a:pathLst>
            </a:custGeom>
            <a:ln w="17869">
              <a:solidFill>
                <a:srgbClr val="000000"/>
              </a:solidFill>
            </a:ln>
          </p:spPr>
          <p:txBody>
            <a:bodyPr wrap="square" lIns="0" tIns="0" rIns="0" bIns="0" rtlCol="0"/>
            <a:lstStyle/>
            <a:p>
              <a:endParaRPr/>
            </a:p>
          </p:txBody>
        </p:sp>
        <p:sp>
          <p:nvSpPr>
            <p:cNvPr id="10" name="object 10"/>
            <p:cNvSpPr/>
            <p:nvPr/>
          </p:nvSpPr>
          <p:spPr>
            <a:xfrm>
              <a:off x="1773806" y="4582500"/>
              <a:ext cx="304800" cy="111760"/>
            </a:xfrm>
            <a:custGeom>
              <a:avLst/>
              <a:gdLst/>
              <a:ahLst/>
              <a:cxnLst/>
              <a:rect l="l" t="t" r="r" b="b"/>
              <a:pathLst>
                <a:path w="304800" h="111760">
                  <a:moveTo>
                    <a:pt x="304797" y="66296"/>
                  </a:moveTo>
                  <a:lnTo>
                    <a:pt x="243842" y="0"/>
                  </a:lnTo>
                  <a:lnTo>
                    <a:pt x="0" y="0"/>
                  </a:lnTo>
                  <a:lnTo>
                    <a:pt x="0" y="111259"/>
                  </a:lnTo>
                  <a:lnTo>
                    <a:pt x="243842" y="111259"/>
                  </a:lnTo>
                  <a:lnTo>
                    <a:pt x="304797" y="66296"/>
                  </a:lnTo>
                  <a:close/>
                </a:path>
              </a:pathLst>
            </a:custGeom>
            <a:ln w="17477">
              <a:solidFill>
                <a:srgbClr val="000000"/>
              </a:solidFill>
            </a:ln>
          </p:spPr>
          <p:txBody>
            <a:bodyPr wrap="square" lIns="0" tIns="0" rIns="0" bIns="0" rtlCol="0"/>
            <a:lstStyle/>
            <a:p>
              <a:endParaRPr/>
            </a:p>
          </p:txBody>
        </p:sp>
      </p:grpSp>
      <p:grpSp>
        <p:nvGrpSpPr>
          <p:cNvPr id="11" name="object 11"/>
          <p:cNvGrpSpPr/>
          <p:nvPr/>
        </p:nvGrpSpPr>
        <p:grpSpPr>
          <a:xfrm>
            <a:off x="3311512" y="4236150"/>
            <a:ext cx="890269" cy="130810"/>
            <a:chOff x="3311512" y="4236150"/>
            <a:chExt cx="890269" cy="130810"/>
          </a:xfrm>
        </p:grpSpPr>
        <p:sp>
          <p:nvSpPr>
            <p:cNvPr id="12" name="object 12"/>
            <p:cNvSpPr/>
            <p:nvPr/>
          </p:nvSpPr>
          <p:spPr>
            <a:xfrm>
              <a:off x="3311512" y="4302104"/>
              <a:ext cx="562610" cy="0"/>
            </a:xfrm>
            <a:custGeom>
              <a:avLst/>
              <a:gdLst/>
              <a:ahLst/>
              <a:cxnLst/>
              <a:rect l="l" t="t" r="r" b="b"/>
              <a:pathLst>
                <a:path w="562610">
                  <a:moveTo>
                    <a:pt x="0" y="0"/>
                  </a:moveTo>
                  <a:lnTo>
                    <a:pt x="562348" y="0"/>
                  </a:lnTo>
                </a:path>
              </a:pathLst>
            </a:custGeom>
            <a:ln w="17869">
              <a:solidFill>
                <a:srgbClr val="000000"/>
              </a:solidFill>
            </a:ln>
          </p:spPr>
          <p:txBody>
            <a:bodyPr wrap="square" lIns="0" tIns="0" rIns="0" bIns="0" rtlCol="0"/>
            <a:lstStyle/>
            <a:p>
              <a:endParaRPr/>
            </a:p>
          </p:txBody>
        </p:sp>
        <p:sp>
          <p:nvSpPr>
            <p:cNvPr id="13" name="object 13"/>
            <p:cNvSpPr/>
            <p:nvPr/>
          </p:nvSpPr>
          <p:spPr>
            <a:xfrm>
              <a:off x="3888349" y="4244946"/>
              <a:ext cx="304165" cy="113030"/>
            </a:xfrm>
            <a:custGeom>
              <a:avLst/>
              <a:gdLst/>
              <a:ahLst/>
              <a:cxnLst/>
              <a:rect l="l" t="t" r="r" b="b"/>
              <a:pathLst>
                <a:path w="304164" h="113029">
                  <a:moveTo>
                    <a:pt x="304041" y="67817"/>
                  </a:moveTo>
                  <a:lnTo>
                    <a:pt x="243086" y="0"/>
                  </a:lnTo>
                  <a:lnTo>
                    <a:pt x="0" y="0"/>
                  </a:lnTo>
                  <a:lnTo>
                    <a:pt x="0" y="112780"/>
                  </a:lnTo>
                  <a:lnTo>
                    <a:pt x="243086" y="112780"/>
                  </a:lnTo>
                  <a:lnTo>
                    <a:pt x="304041" y="67817"/>
                  </a:lnTo>
                  <a:close/>
                </a:path>
              </a:pathLst>
            </a:custGeom>
            <a:ln w="17466">
              <a:solidFill>
                <a:srgbClr val="000000"/>
              </a:solidFill>
            </a:ln>
          </p:spPr>
          <p:txBody>
            <a:bodyPr wrap="square" lIns="0" tIns="0" rIns="0" bIns="0" rtlCol="0"/>
            <a:lstStyle/>
            <a:p>
              <a:endParaRPr/>
            </a:p>
          </p:txBody>
        </p:sp>
      </p:grpSp>
      <p:sp>
        <p:nvSpPr>
          <p:cNvPr id="14" name="object 14"/>
          <p:cNvSpPr txBox="1"/>
          <p:nvPr/>
        </p:nvSpPr>
        <p:spPr>
          <a:xfrm>
            <a:off x="4220073" y="4152012"/>
            <a:ext cx="1166495" cy="260350"/>
          </a:xfrm>
          <a:prstGeom prst="rect">
            <a:avLst/>
          </a:prstGeom>
        </p:spPr>
        <p:txBody>
          <a:bodyPr vert="horz" wrap="square" lIns="0" tIns="17780" rIns="0" bIns="0" rtlCol="0">
            <a:spAutoFit/>
          </a:bodyPr>
          <a:lstStyle/>
          <a:p>
            <a:pPr marL="12700">
              <a:lnSpc>
                <a:spcPct val="100000"/>
              </a:lnSpc>
              <a:spcBef>
                <a:spcPts val="140"/>
              </a:spcBef>
            </a:pPr>
            <a:r>
              <a:rPr sz="1500" b="1" spc="-140" dirty="0">
                <a:latin typeface="Times New Roman"/>
                <a:cs typeface="Times New Roman"/>
              </a:rPr>
              <a:t>Out_data[N-</a:t>
            </a:r>
            <a:r>
              <a:rPr sz="1500" b="1" spc="-55" dirty="0">
                <a:latin typeface="Times New Roman"/>
                <a:cs typeface="Times New Roman"/>
              </a:rPr>
              <a:t>1:0]</a:t>
            </a:r>
            <a:endParaRPr sz="1500">
              <a:latin typeface="Times New Roman"/>
              <a:cs typeface="Times New Roman"/>
            </a:endParaRPr>
          </a:p>
        </p:txBody>
      </p:sp>
      <p:grpSp>
        <p:nvGrpSpPr>
          <p:cNvPr id="15" name="object 15"/>
          <p:cNvGrpSpPr/>
          <p:nvPr/>
        </p:nvGrpSpPr>
        <p:grpSpPr>
          <a:xfrm>
            <a:off x="1755868" y="5201565"/>
            <a:ext cx="880110" cy="130175"/>
            <a:chOff x="1755868" y="5201565"/>
            <a:chExt cx="880110" cy="130175"/>
          </a:xfrm>
        </p:grpSpPr>
        <p:sp>
          <p:nvSpPr>
            <p:cNvPr id="16" name="object 16"/>
            <p:cNvSpPr/>
            <p:nvPr/>
          </p:nvSpPr>
          <p:spPr>
            <a:xfrm>
              <a:off x="2074033" y="5275900"/>
              <a:ext cx="561975" cy="0"/>
            </a:xfrm>
            <a:custGeom>
              <a:avLst/>
              <a:gdLst/>
              <a:ahLst/>
              <a:cxnLst/>
              <a:rect l="l" t="t" r="r" b="b"/>
              <a:pathLst>
                <a:path w="561975">
                  <a:moveTo>
                    <a:pt x="0" y="0"/>
                  </a:moveTo>
                  <a:lnTo>
                    <a:pt x="561592" y="0"/>
                  </a:lnTo>
                </a:path>
              </a:pathLst>
            </a:custGeom>
            <a:ln w="17869">
              <a:solidFill>
                <a:srgbClr val="000000"/>
              </a:solidFill>
            </a:ln>
          </p:spPr>
          <p:txBody>
            <a:bodyPr wrap="square" lIns="0" tIns="0" rIns="0" bIns="0" rtlCol="0"/>
            <a:lstStyle/>
            <a:p>
              <a:endParaRPr/>
            </a:p>
          </p:txBody>
        </p:sp>
        <p:sp>
          <p:nvSpPr>
            <p:cNvPr id="17" name="object 17"/>
            <p:cNvSpPr/>
            <p:nvPr/>
          </p:nvSpPr>
          <p:spPr>
            <a:xfrm>
              <a:off x="1764666" y="5210363"/>
              <a:ext cx="304800" cy="112395"/>
            </a:xfrm>
            <a:custGeom>
              <a:avLst/>
              <a:gdLst/>
              <a:ahLst/>
              <a:cxnLst/>
              <a:rect l="l" t="t" r="r" b="b"/>
              <a:pathLst>
                <a:path w="304800" h="112395">
                  <a:moveTo>
                    <a:pt x="304797" y="67057"/>
                  </a:moveTo>
                  <a:lnTo>
                    <a:pt x="243074" y="0"/>
                  </a:lnTo>
                  <a:lnTo>
                    <a:pt x="0" y="0"/>
                  </a:lnTo>
                  <a:lnTo>
                    <a:pt x="0" y="112020"/>
                  </a:lnTo>
                  <a:lnTo>
                    <a:pt x="243074" y="112020"/>
                  </a:lnTo>
                  <a:lnTo>
                    <a:pt x="304797" y="67057"/>
                  </a:lnTo>
                  <a:close/>
                </a:path>
              </a:pathLst>
            </a:custGeom>
            <a:ln w="17472">
              <a:solidFill>
                <a:srgbClr val="000000"/>
              </a:solidFill>
            </a:ln>
          </p:spPr>
          <p:txBody>
            <a:bodyPr wrap="square" lIns="0" tIns="0" rIns="0" bIns="0" rtlCol="0"/>
            <a:lstStyle/>
            <a:p>
              <a:endParaRPr/>
            </a:p>
          </p:txBody>
        </p:sp>
      </p:grpSp>
      <p:sp>
        <p:nvSpPr>
          <p:cNvPr id="18" name="object 18"/>
          <p:cNvSpPr txBox="1"/>
          <p:nvPr/>
        </p:nvSpPr>
        <p:spPr>
          <a:xfrm>
            <a:off x="710317" y="4030692"/>
            <a:ext cx="1048385" cy="1346200"/>
          </a:xfrm>
          <a:prstGeom prst="rect">
            <a:avLst/>
          </a:prstGeom>
        </p:spPr>
        <p:txBody>
          <a:bodyPr vert="horz" wrap="square" lIns="0" tIns="128905" rIns="0" bIns="0" rtlCol="0">
            <a:spAutoFit/>
          </a:bodyPr>
          <a:lstStyle/>
          <a:p>
            <a:pPr marL="12700">
              <a:lnSpc>
                <a:spcPct val="100000"/>
              </a:lnSpc>
              <a:spcBef>
                <a:spcPts val="1015"/>
              </a:spcBef>
            </a:pPr>
            <a:r>
              <a:rPr sz="1500" b="1" spc="-135" dirty="0">
                <a:latin typeface="Times New Roman"/>
                <a:cs typeface="Times New Roman"/>
              </a:rPr>
              <a:t>In_data[N-</a:t>
            </a:r>
            <a:r>
              <a:rPr sz="1500" b="1" spc="-70" dirty="0">
                <a:latin typeface="Times New Roman"/>
                <a:cs typeface="Times New Roman"/>
              </a:rPr>
              <a:t>1:0]</a:t>
            </a:r>
            <a:endParaRPr sz="1500">
              <a:latin typeface="Times New Roman"/>
              <a:cs typeface="Times New Roman"/>
            </a:endParaRPr>
          </a:p>
          <a:p>
            <a:pPr marL="684530" marR="5080" indent="126364" algn="just">
              <a:lnSpc>
                <a:spcPct val="137500"/>
              </a:lnSpc>
              <a:spcBef>
                <a:spcPts val="250"/>
              </a:spcBef>
            </a:pPr>
            <a:r>
              <a:rPr sz="1500" b="1" spc="-70" dirty="0">
                <a:latin typeface="Times New Roman"/>
                <a:cs typeface="Times New Roman"/>
              </a:rPr>
              <a:t>clk </a:t>
            </a:r>
            <a:r>
              <a:rPr sz="1500" b="1" spc="-20" dirty="0">
                <a:latin typeface="Times New Roman"/>
                <a:cs typeface="Times New Roman"/>
              </a:rPr>
              <a:t>load </a:t>
            </a:r>
            <a:r>
              <a:rPr sz="1500" b="1" spc="-80" dirty="0">
                <a:latin typeface="Times New Roman"/>
                <a:cs typeface="Times New Roman"/>
              </a:rPr>
              <a:t>reset</a:t>
            </a:r>
            <a:endParaRPr sz="1500">
              <a:latin typeface="Times New Roman"/>
              <a:cs typeface="Times New Roman"/>
            </a:endParaRPr>
          </a:p>
        </p:txBody>
      </p:sp>
      <p:grpSp>
        <p:nvGrpSpPr>
          <p:cNvPr id="19" name="object 19"/>
          <p:cNvGrpSpPr/>
          <p:nvPr/>
        </p:nvGrpSpPr>
        <p:grpSpPr>
          <a:xfrm>
            <a:off x="1765007" y="4896019"/>
            <a:ext cx="880744" cy="130175"/>
            <a:chOff x="1765007" y="4896019"/>
            <a:chExt cx="880744" cy="130175"/>
          </a:xfrm>
        </p:grpSpPr>
        <p:sp>
          <p:nvSpPr>
            <p:cNvPr id="20" name="object 20"/>
            <p:cNvSpPr/>
            <p:nvPr/>
          </p:nvSpPr>
          <p:spPr>
            <a:xfrm>
              <a:off x="2083184" y="4971100"/>
              <a:ext cx="562610" cy="0"/>
            </a:xfrm>
            <a:custGeom>
              <a:avLst/>
              <a:gdLst/>
              <a:ahLst/>
              <a:cxnLst/>
              <a:rect l="l" t="t" r="r" b="b"/>
              <a:pathLst>
                <a:path w="562610">
                  <a:moveTo>
                    <a:pt x="0" y="0"/>
                  </a:moveTo>
                  <a:lnTo>
                    <a:pt x="562348" y="0"/>
                  </a:lnTo>
                </a:path>
              </a:pathLst>
            </a:custGeom>
            <a:ln w="17869">
              <a:solidFill>
                <a:srgbClr val="000000"/>
              </a:solidFill>
            </a:ln>
          </p:spPr>
          <p:txBody>
            <a:bodyPr wrap="square" lIns="0" tIns="0" rIns="0" bIns="0" rtlCol="0"/>
            <a:lstStyle/>
            <a:p>
              <a:endParaRPr/>
            </a:p>
          </p:txBody>
        </p:sp>
        <p:sp>
          <p:nvSpPr>
            <p:cNvPr id="21" name="object 21"/>
            <p:cNvSpPr/>
            <p:nvPr/>
          </p:nvSpPr>
          <p:spPr>
            <a:xfrm>
              <a:off x="1773806" y="4904817"/>
              <a:ext cx="304800" cy="112395"/>
            </a:xfrm>
            <a:custGeom>
              <a:avLst/>
              <a:gdLst/>
              <a:ahLst/>
              <a:cxnLst/>
              <a:rect l="l" t="t" r="r" b="b"/>
              <a:pathLst>
                <a:path w="304800" h="112395">
                  <a:moveTo>
                    <a:pt x="304797" y="67817"/>
                  </a:moveTo>
                  <a:lnTo>
                    <a:pt x="243842" y="0"/>
                  </a:lnTo>
                  <a:lnTo>
                    <a:pt x="0" y="0"/>
                  </a:lnTo>
                  <a:lnTo>
                    <a:pt x="0" y="112006"/>
                  </a:lnTo>
                  <a:lnTo>
                    <a:pt x="243842" y="112006"/>
                  </a:lnTo>
                  <a:lnTo>
                    <a:pt x="304797" y="67817"/>
                  </a:lnTo>
                  <a:close/>
                </a:path>
              </a:pathLst>
            </a:custGeom>
            <a:ln w="17472">
              <a:solidFill>
                <a:srgbClr val="000000"/>
              </a:solidFill>
            </a:ln>
          </p:spPr>
          <p:txBody>
            <a:bodyPr wrap="square" lIns="0" tIns="0" rIns="0" bIns="0" rtlCol="0"/>
            <a:lstStyle/>
            <a:p>
              <a:endParaRPr/>
            </a:p>
          </p:txBody>
        </p:sp>
      </p:grpSp>
      <p:sp>
        <p:nvSpPr>
          <p:cNvPr id="22" name="object 22"/>
          <p:cNvSpPr txBox="1"/>
          <p:nvPr/>
        </p:nvSpPr>
        <p:spPr>
          <a:xfrm>
            <a:off x="1842649" y="5646673"/>
            <a:ext cx="1888489"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4.14</a:t>
            </a:r>
            <a:r>
              <a:rPr sz="1200" spc="195" dirty="0">
                <a:latin typeface="Arial"/>
                <a:cs typeface="Arial"/>
              </a:rPr>
              <a:t> </a:t>
            </a:r>
            <a:r>
              <a:rPr sz="1200" dirty="0">
                <a:latin typeface="Arial"/>
                <a:cs typeface="Arial"/>
              </a:rPr>
              <a:t>N</a:t>
            </a:r>
            <a:r>
              <a:rPr sz="1200" spc="-10" dirty="0">
                <a:latin typeface="微软雅黑"/>
                <a:cs typeface="微软雅黑"/>
              </a:rPr>
              <a:t>位寄存器逻辑符号</a:t>
            </a:r>
            <a:endParaRPr sz="1200">
              <a:latin typeface="微软雅黑"/>
              <a:cs typeface="微软雅黑"/>
            </a:endParaRPr>
          </a:p>
        </p:txBody>
      </p:sp>
      <p:sp>
        <p:nvSpPr>
          <p:cNvPr id="23" name="object 23"/>
          <p:cNvSpPr txBox="1"/>
          <p:nvPr/>
        </p:nvSpPr>
        <p:spPr>
          <a:xfrm>
            <a:off x="7128639" y="5646673"/>
            <a:ext cx="217424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4.15</a:t>
            </a:r>
            <a:r>
              <a:rPr sz="1200" spc="235" dirty="0">
                <a:latin typeface="Arial"/>
                <a:cs typeface="Arial"/>
              </a:rPr>
              <a:t> </a:t>
            </a:r>
            <a:r>
              <a:rPr sz="1200" dirty="0">
                <a:latin typeface="Arial"/>
                <a:cs typeface="Arial"/>
              </a:rPr>
              <a:t>8</a:t>
            </a:r>
            <a:r>
              <a:rPr sz="1200" spc="-5" dirty="0">
                <a:latin typeface="微软雅黑"/>
                <a:cs typeface="微软雅黑"/>
              </a:rPr>
              <a:t>位寄存器的仿真时序图</a:t>
            </a:r>
            <a:endParaRPr sz="1200">
              <a:latin typeface="微软雅黑"/>
              <a:cs typeface="微软雅黑"/>
            </a:endParaRPr>
          </a:p>
        </p:txBody>
      </p:sp>
      <p:pic>
        <p:nvPicPr>
          <p:cNvPr id="24" name="object 24"/>
          <p:cNvPicPr/>
          <p:nvPr/>
        </p:nvPicPr>
        <p:blipFill>
          <a:blip r:embed="rId2" cstate="print"/>
          <a:stretch>
            <a:fillRect/>
          </a:stretch>
        </p:blipFill>
        <p:spPr>
          <a:xfrm>
            <a:off x="5757904" y="2217768"/>
            <a:ext cx="4527109" cy="3122741"/>
          </a:xfrm>
          <a:prstGeom prst="rect">
            <a:avLst/>
          </a:prstGeom>
        </p:spPr>
      </p:pic>
      <p:sp>
        <p:nvSpPr>
          <p:cNvPr id="25" name="object 25"/>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59905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4.2.2</a:t>
            </a:r>
            <a:r>
              <a:rPr spc="-40" dirty="0">
                <a:latin typeface="Arial"/>
                <a:cs typeface="Arial"/>
              </a:rPr>
              <a:t> </a:t>
            </a:r>
            <a:r>
              <a:rPr dirty="0">
                <a:latin typeface="Arial"/>
                <a:cs typeface="Arial"/>
              </a:rPr>
              <a:t>N</a:t>
            </a:r>
            <a:r>
              <a:rPr spc="-15" dirty="0"/>
              <a:t>位寄存器</a:t>
            </a:r>
          </a:p>
        </p:txBody>
      </p:sp>
      <p:sp>
        <p:nvSpPr>
          <p:cNvPr id="6" name="object 6"/>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txBox="1"/>
          <p:nvPr/>
        </p:nvSpPr>
        <p:spPr>
          <a:xfrm>
            <a:off x="2319661" y="5877559"/>
            <a:ext cx="1733550" cy="213360"/>
          </a:xfrm>
          <a:prstGeom prst="rect">
            <a:avLst/>
          </a:prstGeom>
        </p:spPr>
        <p:txBody>
          <a:bodyPr vert="horz" wrap="square" lIns="0" tIns="16510" rIns="0" bIns="0" rtlCol="0">
            <a:spAutoFit/>
          </a:bodyPr>
          <a:lstStyle/>
          <a:p>
            <a:pPr marL="12700">
              <a:lnSpc>
                <a:spcPct val="100000"/>
              </a:lnSpc>
              <a:spcBef>
                <a:spcPts val="130"/>
              </a:spcBef>
            </a:pPr>
            <a:r>
              <a:rPr sz="1200" spc="20" dirty="0">
                <a:latin typeface="微软雅黑"/>
                <a:cs typeface="微软雅黑"/>
              </a:rPr>
              <a:t>例 </a:t>
            </a:r>
            <a:r>
              <a:rPr sz="1200" dirty="0">
                <a:latin typeface="Arial"/>
                <a:cs typeface="Arial"/>
              </a:rPr>
              <a:t>4.9</a:t>
            </a:r>
            <a:r>
              <a:rPr sz="1200" spc="475" dirty="0">
                <a:latin typeface="Arial"/>
                <a:cs typeface="Arial"/>
              </a:rPr>
              <a:t> </a:t>
            </a:r>
            <a:r>
              <a:rPr sz="1200" dirty="0">
                <a:latin typeface="Arial"/>
                <a:cs typeface="Arial"/>
              </a:rPr>
              <a:t>N</a:t>
            </a:r>
            <a:r>
              <a:rPr sz="1200" spc="-10" dirty="0">
                <a:latin typeface="微软雅黑"/>
                <a:cs typeface="微软雅黑"/>
              </a:rPr>
              <a:t>位寄存器的描述</a:t>
            </a:r>
            <a:endParaRPr sz="1200">
              <a:latin typeface="微软雅黑"/>
              <a:cs typeface="微软雅黑"/>
            </a:endParaRPr>
          </a:p>
        </p:txBody>
      </p:sp>
      <p:sp>
        <p:nvSpPr>
          <p:cNvPr id="4" name="object 4"/>
          <p:cNvSpPr txBox="1"/>
          <p:nvPr/>
        </p:nvSpPr>
        <p:spPr>
          <a:xfrm>
            <a:off x="1288427" y="1856232"/>
            <a:ext cx="3796665" cy="4000500"/>
          </a:xfrm>
          <a:prstGeom prst="rect">
            <a:avLst/>
          </a:prstGeom>
          <a:solidFill>
            <a:srgbClr val="F9FABA"/>
          </a:solidFill>
        </p:spPr>
        <p:txBody>
          <a:bodyPr vert="horz" wrap="square" lIns="0" tIns="172720" rIns="0" bIns="0" rtlCol="0">
            <a:spAutoFit/>
          </a:bodyPr>
          <a:lstStyle/>
          <a:p>
            <a:pPr marL="191135" marR="1843405" indent="-111760">
              <a:lnSpc>
                <a:spcPct val="101600"/>
              </a:lnSpc>
              <a:spcBef>
                <a:spcPts val="1360"/>
              </a:spcBef>
            </a:pPr>
            <a:r>
              <a:rPr sz="1550" b="1" dirty="0">
                <a:latin typeface="Arial"/>
                <a:cs typeface="Arial"/>
              </a:rPr>
              <a:t>module</a:t>
            </a:r>
            <a:r>
              <a:rPr sz="1550" b="1" spc="55" dirty="0">
                <a:latin typeface="Arial"/>
                <a:cs typeface="Arial"/>
              </a:rPr>
              <a:t> </a:t>
            </a:r>
            <a:r>
              <a:rPr sz="1550" spc="-10" dirty="0">
                <a:latin typeface="Arial"/>
                <a:cs typeface="Arial"/>
              </a:rPr>
              <a:t>reg_N </a:t>
            </a:r>
            <a:r>
              <a:rPr sz="1550" dirty="0">
                <a:latin typeface="Arial"/>
                <a:cs typeface="Arial"/>
              </a:rPr>
              <a:t>#(</a:t>
            </a:r>
            <a:r>
              <a:rPr sz="1550" b="1" dirty="0">
                <a:latin typeface="Arial"/>
                <a:cs typeface="Arial"/>
              </a:rPr>
              <a:t>parameter</a:t>
            </a:r>
            <a:r>
              <a:rPr sz="1550" b="1" spc="30" dirty="0">
                <a:latin typeface="Arial"/>
                <a:cs typeface="Arial"/>
              </a:rPr>
              <a:t> </a:t>
            </a:r>
            <a:r>
              <a:rPr sz="1550" dirty="0">
                <a:latin typeface="Arial"/>
                <a:cs typeface="Arial"/>
              </a:rPr>
              <a:t>N</a:t>
            </a:r>
            <a:r>
              <a:rPr sz="1550" spc="35" dirty="0">
                <a:latin typeface="Arial"/>
                <a:cs typeface="Arial"/>
              </a:rPr>
              <a:t> </a:t>
            </a:r>
            <a:r>
              <a:rPr sz="1550" dirty="0">
                <a:latin typeface="Arial"/>
                <a:cs typeface="Arial"/>
              </a:rPr>
              <a:t>=</a:t>
            </a:r>
            <a:r>
              <a:rPr sz="1550" spc="35" dirty="0">
                <a:latin typeface="Arial"/>
                <a:cs typeface="Arial"/>
              </a:rPr>
              <a:t> </a:t>
            </a:r>
            <a:r>
              <a:rPr sz="1550" spc="-25" dirty="0">
                <a:latin typeface="Arial"/>
                <a:cs typeface="Arial"/>
              </a:rPr>
              <a:t>8)</a:t>
            </a:r>
            <a:endParaRPr sz="1550">
              <a:latin typeface="Arial"/>
              <a:cs typeface="Arial"/>
            </a:endParaRPr>
          </a:p>
          <a:p>
            <a:pPr marL="357505">
              <a:lnSpc>
                <a:spcPct val="100000"/>
              </a:lnSpc>
              <a:spcBef>
                <a:spcPts val="35"/>
              </a:spcBef>
            </a:pPr>
            <a:r>
              <a:rPr sz="1550" spc="-50" dirty="0">
                <a:latin typeface="Arial"/>
                <a:cs typeface="Arial"/>
              </a:rPr>
              <a:t>(</a:t>
            </a:r>
            <a:endParaRPr sz="1550">
              <a:latin typeface="Arial"/>
              <a:cs typeface="Arial"/>
            </a:endParaRPr>
          </a:p>
          <a:p>
            <a:pPr marL="581025">
              <a:lnSpc>
                <a:spcPct val="100000"/>
              </a:lnSpc>
              <a:spcBef>
                <a:spcPts val="30"/>
              </a:spcBef>
            </a:pPr>
            <a:r>
              <a:rPr sz="1550" b="1" dirty="0">
                <a:latin typeface="Arial"/>
                <a:cs typeface="Arial"/>
              </a:rPr>
              <a:t>input</a:t>
            </a:r>
            <a:r>
              <a:rPr sz="1550" b="1" spc="470" dirty="0">
                <a:latin typeface="Arial"/>
                <a:cs typeface="Arial"/>
              </a:rPr>
              <a:t> </a:t>
            </a:r>
            <a:r>
              <a:rPr sz="1550" spc="-20" dirty="0">
                <a:latin typeface="Arial"/>
                <a:cs typeface="Arial"/>
              </a:rPr>
              <a:t>clk,</a:t>
            </a:r>
            <a:endParaRPr sz="1550">
              <a:latin typeface="Arial"/>
              <a:cs typeface="Arial"/>
            </a:endParaRPr>
          </a:p>
          <a:p>
            <a:pPr marL="581025">
              <a:lnSpc>
                <a:spcPct val="100000"/>
              </a:lnSpc>
              <a:spcBef>
                <a:spcPts val="35"/>
              </a:spcBef>
            </a:pPr>
            <a:r>
              <a:rPr sz="1550" b="1" dirty="0">
                <a:latin typeface="Arial"/>
                <a:cs typeface="Arial"/>
              </a:rPr>
              <a:t>input</a:t>
            </a:r>
            <a:r>
              <a:rPr sz="1550" b="1" spc="470" dirty="0">
                <a:latin typeface="Arial"/>
                <a:cs typeface="Arial"/>
              </a:rPr>
              <a:t> </a:t>
            </a:r>
            <a:r>
              <a:rPr sz="1550" spc="-10" dirty="0">
                <a:latin typeface="Arial"/>
                <a:cs typeface="Arial"/>
              </a:rPr>
              <a:t>reset,</a:t>
            </a:r>
            <a:endParaRPr sz="1550">
              <a:latin typeface="Arial"/>
              <a:cs typeface="Arial"/>
            </a:endParaRPr>
          </a:p>
          <a:p>
            <a:pPr marL="581025">
              <a:lnSpc>
                <a:spcPct val="100000"/>
              </a:lnSpc>
              <a:spcBef>
                <a:spcPts val="35"/>
              </a:spcBef>
            </a:pPr>
            <a:r>
              <a:rPr sz="1550" b="1" dirty="0">
                <a:latin typeface="Arial"/>
                <a:cs typeface="Arial"/>
              </a:rPr>
              <a:t>input</a:t>
            </a:r>
            <a:r>
              <a:rPr sz="1550" b="1" spc="40" dirty="0">
                <a:latin typeface="Arial"/>
                <a:cs typeface="Arial"/>
              </a:rPr>
              <a:t> </a:t>
            </a:r>
            <a:r>
              <a:rPr sz="1550" dirty="0">
                <a:latin typeface="Arial"/>
                <a:cs typeface="Arial"/>
              </a:rPr>
              <a:t>[N-1:0]</a:t>
            </a:r>
            <a:r>
              <a:rPr sz="1550" spc="65" dirty="0">
                <a:latin typeface="Arial"/>
                <a:cs typeface="Arial"/>
              </a:rPr>
              <a:t> </a:t>
            </a:r>
            <a:r>
              <a:rPr sz="1550" spc="-10" dirty="0">
                <a:latin typeface="Arial"/>
                <a:cs typeface="Arial"/>
              </a:rPr>
              <a:t>in_data,</a:t>
            </a:r>
            <a:endParaRPr sz="1550">
              <a:latin typeface="Arial"/>
              <a:cs typeface="Arial"/>
            </a:endParaRPr>
          </a:p>
          <a:p>
            <a:pPr marL="581025">
              <a:lnSpc>
                <a:spcPct val="100000"/>
              </a:lnSpc>
              <a:spcBef>
                <a:spcPts val="30"/>
              </a:spcBef>
              <a:tabLst>
                <a:tab pos="1237615" algn="l"/>
              </a:tabLst>
            </a:pPr>
            <a:r>
              <a:rPr sz="1550" b="1" spc="-10" dirty="0">
                <a:latin typeface="Arial"/>
                <a:cs typeface="Arial"/>
              </a:rPr>
              <a:t>input</a:t>
            </a:r>
            <a:r>
              <a:rPr sz="1550" b="1" dirty="0">
                <a:latin typeface="Arial"/>
                <a:cs typeface="Arial"/>
              </a:rPr>
              <a:t>	</a:t>
            </a:r>
            <a:r>
              <a:rPr sz="1550" spc="-10" dirty="0">
                <a:latin typeface="Arial"/>
                <a:cs typeface="Arial"/>
              </a:rPr>
              <a:t>load,</a:t>
            </a:r>
            <a:endParaRPr sz="1550">
              <a:latin typeface="Arial"/>
              <a:cs typeface="Arial"/>
            </a:endParaRPr>
          </a:p>
          <a:p>
            <a:pPr marL="581025">
              <a:lnSpc>
                <a:spcPct val="100000"/>
              </a:lnSpc>
              <a:spcBef>
                <a:spcPts val="40"/>
              </a:spcBef>
            </a:pPr>
            <a:r>
              <a:rPr sz="1550" b="1" dirty="0">
                <a:latin typeface="Arial"/>
                <a:cs typeface="Arial"/>
              </a:rPr>
              <a:t>output</a:t>
            </a:r>
            <a:r>
              <a:rPr sz="1550" b="1" spc="495" dirty="0">
                <a:latin typeface="Arial"/>
                <a:cs typeface="Arial"/>
              </a:rPr>
              <a:t> </a:t>
            </a:r>
            <a:r>
              <a:rPr sz="1550" b="1" dirty="0">
                <a:latin typeface="Arial"/>
                <a:cs typeface="Arial"/>
              </a:rPr>
              <a:t>reg</a:t>
            </a:r>
            <a:r>
              <a:rPr sz="1550" b="1" spc="40" dirty="0">
                <a:latin typeface="Arial"/>
                <a:cs typeface="Arial"/>
              </a:rPr>
              <a:t> </a:t>
            </a:r>
            <a:r>
              <a:rPr sz="1550" dirty="0">
                <a:latin typeface="Arial"/>
                <a:cs typeface="Arial"/>
              </a:rPr>
              <a:t>[N-1:0]</a:t>
            </a:r>
            <a:r>
              <a:rPr sz="1550" spc="40" dirty="0">
                <a:latin typeface="Arial"/>
                <a:cs typeface="Arial"/>
              </a:rPr>
              <a:t> </a:t>
            </a:r>
            <a:r>
              <a:rPr sz="1550" spc="-10" dirty="0">
                <a:latin typeface="Arial"/>
                <a:cs typeface="Arial"/>
              </a:rPr>
              <a:t>out_data</a:t>
            </a:r>
            <a:endParaRPr sz="1550">
              <a:latin typeface="Arial"/>
              <a:cs typeface="Arial"/>
            </a:endParaRPr>
          </a:p>
          <a:p>
            <a:pPr marL="302260">
              <a:lnSpc>
                <a:spcPct val="100000"/>
              </a:lnSpc>
              <a:spcBef>
                <a:spcPts val="30"/>
              </a:spcBef>
            </a:pPr>
            <a:r>
              <a:rPr sz="1550" spc="-25" dirty="0">
                <a:latin typeface="Arial"/>
                <a:cs typeface="Arial"/>
              </a:rPr>
              <a:t>);</a:t>
            </a:r>
            <a:endParaRPr sz="1550">
              <a:latin typeface="Arial"/>
              <a:cs typeface="Arial"/>
            </a:endParaRPr>
          </a:p>
          <a:p>
            <a:pPr marL="191135">
              <a:lnSpc>
                <a:spcPct val="100000"/>
              </a:lnSpc>
              <a:spcBef>
                <a:spcPts val="35"/>
              </a:spcBef>
            </a:pPr>
            <a:r>
              <a:rPr sz="1550" b="1" dirty="0">
                <a:latin typeface="Arial"/>
                <a:cs typeface="Arial"/>
              </a:rPr>
              <a:t>always</a:t>
            </a:r>
            <a:r>
              <a:rPr sz="1550" b="1" spc="45" dirty="0">
                <a:latin typeface="Arial"/>
                <a:cs typeface="Arial"/>
              </a:rPr>
              <a:t> </a:t>
            </a:r>
            <a:r>
              <a:rPr sz="1550" dirty="0">
                <a:latin typeface="Arial"/>
                <a:cs typeface="Arial"/>
              </a:rPr>
              <a:t>@(</a:t>
            </a:r>
            <a:r>
              <a:rPr sz="1550" b="1" dirty="0">
                <a:latin typeface="Arial"/>
                <a:cs typeface="Arial"/>
              </a:rPr>
              <a:t>posedge</a:t>
            </a:r>
            <a:r>
              <a:rPr sz="1550" b="1" spc="45" dirty="0">
                <a:latin typeface="Arial"/>
                <a:cs typeface="Arial"/>
              </a:rPr>
              <a:t> </a:t>
            </a:r>
            <a:r>
              <a:rPr sz="1550" dirty="0">
                <a:latin typeface="Arial"/>
                <a:cs typeface="Arial"/>
              </a:rPr>
              <a:t>clk,</a:t>
            </a:r>
            <a:r>
              <a:rPr sz="1550" spc="45" dirty="0">
                <a:latin typeface="Arial"/>
                <a:cs typeface="Arial"/>
              </a:rPr>
              <a:t> </a:t>
            </a:r>
            <a:r>
              <a:rPr sz="1550" b="1" spc="-10" dirty="0">
                <a:latin typeface="Arial"/>
                <a:cs typeface="Arial"/>
              </a:rPr>
              <a:t>posedge</a:t>
            </a:r>
            <a:endParaRPr sz="1550">
              <a:latin typeface="Arial"/>
              <a:cs typeface="Arial"/>
            </a:endParaRPr>
          </a:p>
          <a:p>
            <a:pPr marL="79375">
              <a:lnSpc>
                <a:spcPct val="100000"/>
              </a:lnSpc>
              <a:spcBef>
                <a:spcPts val="35"/>
              </a:spcBef>
            </a:pPr>
            <a:r>
              <a:rPr sz="1550" spc="-10" dirty="0">
                <a:latin typeface="Arial"/>
                <a:cs typeface="Arial"/>
              </a:rPr>
              <a:t>reset)</a:t>
            </a:r>
            <a:endParaRPr sz="1550">
              <a:latin typeface="Arial"/>
              <a:cs typeface="Arial"/>
            </a:endParaRPr>
          </a:p>
          <a:p>
            <a:pPr marL="524510">
              <a:lnSpc>
                <a:spcPct val="100000"/>
              </a:lnSpc>
              <a:spcBef>
                <a:spcPts val="30"/>
              </a:spcBef>
            </a:pPr>
            <a:r>
              <a:rPr sz="1550" b="1" spc="-10" dirty="0">
                <a:latin typeface="Arial"/>
                <a:cs typeface="Arial"/>
              </a:rPr>
              <a:t>if</a:t>
            </a:r>
            <a:r>
              <a:rPr sz="1550" spc="-10" dirty="0">
                <a:latin typeface="Arial"/>
                <a:cs typeface="Arial"/>
              </a:rPr>
              <a:t>(reset)</a:t>
            </a:r>
            <a:endParaRPr sz="1550">
              <a:latin typeface="Arial"/>
              <a:cs typeface="Arial"/>
            </a:endParaRPr>
          </a:p>
          <a:p>
            <a:pPr marL="915035">
              <a:lnSpc>
                <a:spcPct val="100000"/>
              </a:lnSpc>
              <a:spcBef>
                <a:spcPts val="35"/>
              </a:spcBef>
            </a:pPr>
            <a:r>
              <a:rPr sz="1550" dirty="0">
                <a:latin typeface="Arial"/>
                <a:cs typeface="Arial"/>
              </a:rPr>
              <a:t>out_data</a:t>
            </a:r>
            <a:r>
              <a:rPr sz="1550" spc="35" dirty="0">
                <a:latin typeface="Arial"/>
                <a:cs typeface="Arial"/>
              </a:rPr>
              <a:t> </a:t>
            </a:r>
            <a:r>
              <a:rPr sz="1550" dirty="0">
                <a:latin typeface="Arial"/>
                <a:cs typeface="Arial"/>
              </a:rPr>
              <a:t>&lt;=</a:t>
            </a:r>
            <a:r>
              <a:rPr sz="1550" spc="30" dirty="0">
                <a:latin typeface="Arial"/>
                <a:cs typeface="Arial"/>
              </a:rPr>
              <a:t> </a:t>
            </a:r>
            <a:r>
              <a:rPr sz="1550" spc="-25" dirty="0">
                <a:latin typeface="Arial"/>
                <a:cs typeface="Arial"/>
              </a:rPr>
              <a:t>0;</a:t>
            </a:r>
            <a:endParaRPr sz="1550">
              <a:latin typeface="Arial"/>
              <a:cs typeface="Arial"/>
            </a:endParaRPr>
          </a:p>
          <a:p>
            <a:pPr marL="881380" marR="1069975" indent="-356870">
              <a:lnSpc>
                <a:spcPts val="1900"/>
              </a:lnSpc>
              <a:spcBef>
                <a:spcPts val="60"/>
              </a:spcBef>
            </a:pPr>
            <a:r>
              <a:rPr sz="1550" b="1" dirty="0">
                <a:latin typeface="Arial"/>
                <a:cs typeface="Arial"/>
              </a:rPr>
              <a:t>else</a:t>
            </a:r>
            <a:r>
              <a:rPr sz="1550" b="1" spc="35" dirty="0">
                <a:latin typeface="Arial"/>
                <a:cs typeface="Arial"/>
              </a:rPr>
              <a:t> </a:t>
            </a:r>
            <a:r>
              <a:rPr sz="1550" b="1" dirty="0">
                <a:latin typeface="Arial"/>
                <a:cs typeface="Arial"/>
              </a:rPr>
              <a:t>if</a:t>
            </a:r>
            <a:r>
              <a:rPr sz="1550" dirty="0">
                <a:latin typeface="Arial"/>
                <a:cs typeface="Arial"/>
              </a:rPr>
              <a:t>(load</a:t>
            </a:r>
            <a:r>
              <a:rPr sz="1550" spc="20" dirty="0">
                <a:latin typeface="Arial"/>
                <a:cs typeface="Arial"/>
              </a:rPr>
              <a:t> </a:t>
            </a:r>
            <a:r>
              <a:rPr sz="1550" dirty="0">
                <a:latin typeface="Arial"/>
                <a:cs typeface="Arial"/>
              </a:rPr>
              <a:t>==</a:t>
            </a:r>
            <a:r>
              <a:rPr sz="1550" spc="25" dirty="0">
                <a:latin typeface="Arial"/>
                <a:cs typeface="Arial"/>
              </a:rPr>
              <a:t> </a:t>
            </a:r>
            <a:r>
              <a:rPr sz="1550" spc="-25" dirty="0">
                <a:latin typeface="Arial"/>
                <a:cs typeface="Arial"/>
              </a:rPr>
              <a:t>1) </a:t>
            </a:r>
            <a:r>
              <a:rPr sz="1550" dirty="0">
                <a:latin typeface="Arial"/>
                <a:cs typeface="Arial"/>
              </a:rPr>
              <a:t>out_data</a:t>
            </a:r>
            <a:r>
              <a:rPr sz="1550" spc="35" dirty="0">
                <a:latin typeface="Arial"/>
                <a:cs typeface="Arial"/>
              </a:rPr>
              <a:t> </a:t>
            </a:r>
            <a:r>
              <a:rPr sz="1550" dirty="0">
                <a:latin typeface="Arial"/>
                <a:cs typeface="Arial"/>
              </a:rPr>
              <a:t>&lt;=</a:t>
            </a:r>
            <a:r>
              <a:rPr sz="1550" spc="30" dirty="0">
                <a:latin typeface="Arial"/>
                <a:cs typeface="Arial"/>
              </a:rPr>
              <a:t> </a:t>
            </a:r>
            <a:r>
              <a:rPr sz="1550" spc="-10" dirty="0">
                <a:latin typeface="Arial"/>
                <a:cs typeface="Arial"/>
              </a:rPr>
              <a:t>in_data;</a:t>
            </a:r>
            <a:endParaRPr sz="1550">
              <a:latin typeface="Arial"/>
              <a:cs typeface="Arial"/>
            </a:endParaRPr>
          </a:p>
          <a:p>
            <a:pPr marL="79375">
              <a:lnSpc>
                <a:spcPts val="1670"/>
              </a:lnSpc>
            </a:pPr>
            <a:r>
              <a:rPr sz="1550" b="1" spc="-10" dirty="0">
                <a:latin typeface="Arial"/>
                <a:cs typeface="Arial"/>
              </a:rPr>
              <a:t>endmodule</a:t>
            </a:r>
            <a:endParaRPr sz="1550">
              <a:latin typeface="Arial"/>
              <a:cs typeface="Arial"/>
            </a:endParaRPr>
          </a:p>
        </p:txBody>
      </p:sp>
      <p:sp>
        <p:nvSpPr>
          <p:cNvPr id="5" name="object 5"/>
          <p:cNvSpPr txBox="1"/>
          <p:nvPr/>
        </p:nvSpPr>
        <p:spPr>
          <a:xfrm>
            <a:off x="5504059" y="2148629"/>
            <a:ext cx="4094479" cy="1228090"/>
          </a:xfrm>
          <a:prstGeom prst="rect">
            <a:avLst/>
          </a:prstGeom>
        </p:spPr>
        <p:txBody>
          <a:bodyPr vert="horz" wrap="square" lIns="0" tIns="12700" rIns="0" bIns="0" rtlCol="0">
            <a:spAutoFit/>
          </a:bodyPr>
          <a:lstStyle/>
          <a:p>
            <a:pPr marL="313055" marR="5080" indent="-300990">
              <a:lnSpc>
                <a:spcPct val="150300"/>
              </a:lnSpc>
              <a:spcBef>
                <a:spcPts val="100"/>
              </a:spcBef>
              <a:buFont typeface="Wingdings"/>
              <a:buChar char=""/>
              <a:tabLst>
                <a:tab pos="313055" algn="l"/>
              </a:tabLst>
            </a:pPr>
            <a:r>
              <a:rPr sz="1750" dirty="0">
                <a:latin typeface="微软雅黑"/>
                <a:cs typeface="微软雅黑"/>
              </a:rPr>
              <a:t>在例</a:t>
            </a:r>
            <a:r>
              <a:rPr sz="1750" spc="-20" dirty="0">
                <a:latin typeface="Arial"/>
                <a:cs typeface="Arial"/>
              </a:rPr>
              <a:t>4.9</a:t>
            </a:r>
            <a:r>
              <a:rPr sz="1750" dirty="0">
                <a:latin typeface="微软雅黑"/>
                <a:cs typeface="微软雅黑"/>
              </a:rPr>
              <a:t>中使用</a:t>
            </a:r>
            <a:r>
              <a:rPr sz="1750" spc="-20" dirty="0">
                <a:latin typeface="Arial"/>
                <a:cs typeface="Arial"/>
              </a:rPr>
              <a:t>parameter</a:t>
            </a:r>
            <a:r>
              <a:rPr sz="1750" spc="-10" dirty="0">
                <a:latin typeface="微软雅黑"/>
                <a:cs typeface="微软雅黑"/>
              </a:rPr>
              <a:t>语句，是为了使总线宽度可调。</a:t>
            </a:r>
            <a:endParaRPr sz="1750">
              <a:latin typeface="微软雅黑"/>
              <a:cs typeface="微软雅黑"/>
            </a:endParaRPr>
          </a:p>
          <a:p>
            <a:pPr marL="313055" indent="-300355">
              <a:lnSpc>
                <a:spcPct val="100000"/>
              </a:lnSpc>
              <a:spcBef>
                <a:spcPts val="1055"/>
              </a:spcBef>
              <a:buFont typeface="Wingdings"/>
              <a:buChar char=""/>
              <a:tabLst>
                <a:tab pos="313055" algn="l"/>
              </a:tabLst>
            </a:pPr>
            <a:r>
              <a:rPr sz="1750" dirty="0">
                <a:latin typeface="微软雅黑"/>
                <a:cs typeface="微软雅黑"/>
              </a:rPr>
              <a:t>默认状态下，总线宽度为</a:t>
            </a:r>
            <a:r>
              <a:rPr sz="1750" spc="-20" dirty="0">
                <a:latin typeface="Arial"/>
                <a:cs typeface="Arial"/>
              </a:rPr>
              <a:t>8</a:t>
            </a:r>
            <a:r>
              <a:rPr sz="1750" spc="-50" dirty="0">
                <a:latin typeface="微软雅黑"/>
                <a:cs typeface="微软雅黑"/>
              </a:rPr>
              <a:t>。</a:t>
            </a:r>
            <a:endParaRPr sz="1750">
              <a:latin typeface="微软雅黑"/>
              <a:cs typeface="微软雅黑"/>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59905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4.2.2</a:t>
            </a:r>
            <a:r>
              <a:rPr spc="-40" dirty="0">
                <a:latin typeface="Arial"/>
                <a:cs typeface="Arial"/>
              </a:rPr>
              <a:t> </a:t>
            </a:r>
            <a:r>
              <a:rPr dirty="0">
                <a:latin typeface="Arial"/>
                <a:cs typeface="Arial"/>
              </a:rPr>
              <a:t>N</a:t>
            </a:r>
            <a:r>
              <a:rPr spc="-15" dirty="0"/>
              <a:t>位寄存器</a:t>
            </a:r>
          </a:p>
        </p:txBody>
      </p:sp>
      <p:sp>
        <p:nvSpPr>
          <p:cNvPr id="7" name="object 7"/>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txBox="1"/>
          <p:nvPr/>
        </p:nvSpPr>
        <p:spPr>
          <a:xfrm>
            <a:off x="2085727" y="6033770"/>
            <a:ext cx="1733550" cy="213360"/>
          </a:xfrm>
          <a:prstGeom prst="rect">
            <a:avLst/>
          </a:prstGeom>
        </p:spPr>
        <p:txBody>
          <a:bodyPr vert="horz" wrap="square" lIns="0" tIns="16510" rIns="0" bIns="0" rtlCol="0">
            <a:spAutoFit/>
          </a:bodyPr>
          <a:lstStyle/>
          <a:p>
            <a:pPr marL="12700">
              <a:lnSpc>
                <a:spcPct val="100000"/>
              </a:lnSpc>
              <a:spcBef>
                <a:spcPts val="130"/>
              </a:spcBef>
            </a:pPr>
            <a:r>
              <a:rPr sz="1200" spc="20" dirty="0">
                <a:latin typeface="微软雅黑"/>
                <a:cs typeface="微软雅黑"/>
              </a:rPr>
              <a:t>例 </a:t>
            </a:r>
            <a:r>
              <a:rPr sz="1200" dirty="0">
                <a:latin typeface="Arial"/>
                <a:cs typeface="Arial"/>
              </a:rPr>
              <a:t>4.9</a:t>
            </a:r>
            <a:r>
              <a:rPr sz="1200" spc="475" dirty="0">
                <a:latin typeface="Arial"/>
                <a:cs typeface="Arial"/>
              </a:rPr>
              <a:t> </a:t>
            </a:r>
            <a:r>
              <a:rPr sz="1200" dirty="0">
                <a:latin typeface="Arial"/>
                <a:cs typeface="Arial"/>
              </a:rPr>
              <a:t>N</a:t>
            </a:r>
            <a:r>
              <a:rPr sz="1200" spc="-10" dirty="0">
                <a:latin typeface="微软雅黑"/>
                <a:cs typeface="微软雅黑"/>
              </a:rPr>
              <a:t>位寄存器的描述</a:t>
            </a:r>
            <a:endParaRPr sz="1200">
              <a:latin typeface="微软雅黑"/>
              <a:cs typeface="微软雅黑"/>
            </a:endParaRPr>
          </a:p>
        </p:txBody>
      </p:sp>
      <p:sp>
        <p:nvSpPr>
          <p:cNvPr id="4" name="object 4"/>
          <p:cNvSpPr txBox="1"/>
          <p:nvPr/>
        </p:nvSpPr>
        <p:spPr>
          <a:xfrm>
            <a:off x="1044587" y="2001011"/>
            <a:ext cx="3884929" cy="4000500"/>
          </a:xfrm>
          <a:prstGeom prst="rect">
            <a:avLst/>
          </a:prstGeom>
          <a:solidFill>
            <a:srgbClr val="F9FABA"/>
          </a:solidFill>
        </p:spPr>
        <p:txBody>
          <a:bodyPr vert="horz" wrap="square" lIns="0" tIns="78105" rIns="0" bIns="0" rtlCol="0">
            <a:spAutoFit/>
          </a:bodyPr>
          <a:lstStyle/>
          <a:p>
            <a:pPr marL="191135" marR="1931670" indent="-111760">
              <a:lnSpc>
                <a:spcPct val="101600"/>
              </a:lnSpc>
              <a:spcBef>
                <a:spcPts val="615"/>
              </a:spcBef>
            </a:pPr>
            <a:r>
              <a:rPr sz="1550" b="1" dirty="0">
                <a:latin typeface="Arial"/>
                <a:cs typeface="Arial"/>
              </a:rPr>
              <a:t>module</a:t>
            </a:r>
            <a:r>
              <a:rPr sz="1550" b="1" spc="55" dirty="0">
                <a:latin typeface="Arial"/>
                <a:cs typeface="Arial"/>
              </a:rPr>
              <a:t> </a:t>
            </a:r>
            <a:r>
              <a:rPr sz="1550" spc="-10" dirty="0">
                <a:latin typeface="Arial"/>
                <a:cs typeface="Arial"/>
              </a:rPr>
              <a:t>reg_N </a:t>
            </a:r>
            <a:r>
              <a:rPr sz="1550" dirty="0">
                <a:latin typeface="Arial"/>
                <a:cs typeface="Arial"/>
              </a:rPr>
              <a:t>#(</a:t>
            </a:r>
            <a:r>
              <a:rPr sz="1550" b="1" dirty="0">
                <a:latin typeface="Arial"/>
                <a:cs typeface="Arial"/>
              </a:rPr>
              <a:t>parameter</a:t>
            </a:r>
            <a:r>
              <a:rPr sz="1550" b="1" spc="30" dirty="0">
                <a:latin typeface="Arial"/>
                <a:cs typeface="Arial"/>
              </a:rPr>
              <a:t> </a:t>
            </a:r>
            <a:r>
              <a:rPr sz="1550" dirty="0">
                <a:latin typeface="Arial"/>
                <a:cs typeface="Arial"/>
              </a:rPr>
              <a:t>N</a:t>
            </a:r>
            <a:r>
              <a:rPr sz="1550" spc="35" dirty="0">
                <a:latin typeface="Arial"/>
                <a:cs typeface="Arial"/>
              </a:rPr>
              <a:t> </a:t>
            </a:r>
            <a:r>
              <a:rPr sz="1550" dirty="0">
                <a:latin typeface="Arial"/>
                <a:cs typeface="Arial"/>
              </a:rPr>
              <a:t>=</a:t>
            </a:r>
            <a:r>
              <a:rPr sz="1550" spc="35" dirty="0">
                <a:latin typeface="Arial"/>
                <a:cs typeface="Arial"/>
              </a:rPr>
              <a:t> </a:t>
            </a:r>
            <a:r>
              <a:rPr sz="1550" spc="-25" dirty="0">
                <a:latin typeface="Arial"/>
                <a:cs typeface="Arial"/>
              </a:rPr>
              <a:t>8)</a:t>
            </a:r>
            <a:endParaRPr sz="1550">
              <a:latin typeface="Arial"/>
              <a:cs typeface="Arial"/>
            </a:endParaRPr>
          </a:p>
          <a:p>
            <a:pPr marL="413384">
              <a:lnSpc>
                <a:spcPct val="100000"/>
              </a:lnSpc>
              <a:spcBef>
                <a:spcPts val="35"/>
              </a:spcBef>
            </a:pPr>
            <a:r>
              <a:rPr sz="1550" spc="-50" dirty="0">
                <a:latin typeface="Arial"/>
                <a:cs typeface="Arial"/>
              </a:rPr>
              <a:t>(</a:t>
            </a:r>
            <a:endParaRPr sz="1550">
              <a:latin typeface="Arial"/>
              <a:cs typeface="Arial"/>
            </a:endParaRPr>
          </a:p>
          <a:p>
            <a:pPr marL="581025">
              <a:lnSpc>
                <a:spcPct val="100000"/>
              </a:lnSpc>
              <a:spcBef>
                <a:spcPts val="30"/>
              </a:spcBef>
            </a:pPr>
            <a:r>
              <a:rPr sz="1550" b="1" dirty="0">
                <a:latin typeface="Arial"/>
                <a:cs typeface="Arial"/>
              </a:rPr>
              <a:t>input</a:t>
            </a:r>
            <a:r>
              <a:rPr sz="1550" b="1" spc="470" dirty="0">
                <a:latin typeface="Arial"/>
                <a:cs typeface="Arial"/>
              </a:rPr>
              <a:t> </a:t>
            </a:r>
            <a:r>
              <a:rPr sz="1550" spc="-20" dirty="0">
                <a:latin typeface="Arial"/>
                <a:cs typeface="Arial"/>
              </a:rPr>
              <a:t>clk,</a:t>
            </a:r>
            <a:endParaRPr sz="1550">
              <a:latin typeface="Arial"/>
              <a:cs typeface="Arial"/>
            </a:endParaRPr>
          </a:p>
          <a:p>
            <a:pPr marL="581025">
              <a:lnSpc>
                <a:spcPct val="100000"/>
              </a:lnSpc>
              <a:spcBef>
                <a:spcPts val="35"/>
              </a:spcBef>
            </a:pPr>
            <a:r>
              <a:rPr sz="1550" b="1" dirty="0">
                <a:latin typeface="Arial"/>
                <a:cs typeface="Arial"/>
              </a:rPr>
              <a:t>input</a:t>
            </a:r>
            <a:r>
              <a:rPr sz="1550" b="1" spc="470" dirty="0">
                <a:latin typeface="Arial"/>
                <a:cs typeface="Arial"/>
              </a:rPr>
              <a:t> </a:t>
            </a:r>
            <a:r>
              <a:rPr sz="1550" spc="-10" dirty="0">
                <a:latin typeface="Arial"/>
                <a:cs typeface="Arial"/>
              </a:rPr>
              <a:t>reset,</a:t>
            </a:r>
            <a:endParaRPr sz="1550">
              <a:latin typeface="Arial"/>
              <a:cs typeface="Arial"/>
            </a:endParaRPr>
          </a:p>
          <a:p>
            <a:pPr marL="581025">
              <a:lnSpc>
                <a:spcPct val="100000"/>
              </a:lnSpc>
              <a:spcBef>
                <a:spcPts val="40"/>
              </a:spcBef>
            </a:pPr>
            <a:r>
              <a:rPr sz="1550" b="1" dirty="0">
                <a:latin typeface="Arial"/>
                <a:cs typeface="Arial"/>
              </a:rPr>
              <a:t>input</a:t>
            </a:r>
            <a:r>
              <a:rPr sz="1550" b="1" spc="40" dirty="0">
                <a:latin typeface="Arial"/>
                <a:cs typeface="Arial"/>
              </a:rPr>
              <a:t> </a:t>
            </a:r>
            <a:r>
              <a:rPr sz="1550" dirty="0">
                <a:latin typeface="Arial"/>
                <a:cs typeface="Arial"/>
              </a:rPr>
              <a:t>[N-1:0]</a:t>
            </a:r>
            <a:r>
              <a:rPr sz="1550" spc="65" dirty="0">
                <a:latin typeface="Arial"/>
                <a:cs typeface="Arial"/>
              </a:rPr>
              <a:t> </a:t>
            </a:r>
            <a:r>
              <a:rPr sz="1550" spc="-10" dirty="0">
                <a:latin typeface="Arial"/>
                <a:cs typeface="Arial"/>
              </a:rPr>
              <a:t>in_data,</a:t>
            </a:r>
            <a:endParaRPr sz="1550">
              <a:latin typeface="Arial"/>
              <a:cs typeface="Arial"/>
            </a:endParaRPr>
          </a:p>
          <a:p>
            <a:pPr marL="581025">
              <a:lnSpc>
                <a:spcPct val="100000"/>
              </a:lnSpc>
              <a:spcBef>
                <a:spcPts val="30"/>
              </a:spcBef>
              <a:tabLst>
                <a:tab pos="1237615" algn="l"/>
              </a:tabLst>
            </a:pPr>
            <a:r>
              <a:rPr sz="1550" b="1" spc="-10" dirty="0">
                <a:latin typeface="Arial"/>
                <a:cs typeface="Arial"/>
              </a:rPr>
              <a:t>input</a:t>
            </a:r>
            <a:r>
              <a:rPr sz="1550" b="1" dirty="0">
                <a:latin typeface="Arial"/>
                <a:cs typeface="Arial"/>
              </a:rPr>
              <a:t>	</a:t>
            </a:r>
            <a:r>
              <a:rPr sz="1550" spc="-10" dirty="0">
                <a:latin typeface="Arial"/>
                <a:cs typeface="Arial"/>
              </a:rPr>
              <a:t>load,</a:t>
            </a:r>
            <a:endParaRPr sz="1550">
              <a:latin typeface="Arial"/>
              <a:cs typeface="Arial"/>
            </a:endParaRPr>
          </a:p>
          <a:p>
            <a:pPr marL="581025">
              <a:lnSpc>
                <a:spcPct val="100000"/>
              </a:lnSpc>
              <a:spcBef>
                <a:spcPts val="35"/>
              </a:spcBef>
            </a:pPr>
            <a:r>
              <a:rPr sz="1550" b="1" dirty="0">
                <a:latin typeface="Arial"/>
                <a:cs typeface="Arial"/>
              </a:rPr>
              <a:t>output</a:t>
            </a:r>
            <a:r>
              <a:rPr sz="1550" b="1" spc="490" dirty="0">
                <a:latin typeface="Arial"/>
                <a:cs typeface="Arial"/>
              </a:rPr>
              <a:t> </a:t>
            </a:r>
            <a:r>
              <a:rPr sz="1550" b="1" dirty="0">
                <a:latin typeface="Arial"/>
                <a:cs typeface="Arial"/>
              </a:rPr>
              <a:t>reg</a:t>
            </a:r>
            <a:r>
              <a:rPr sz="1550" b="1" spc="40" dirty="0">
                <a:latin typeface="Arial"/>
                <a:cs typeface="Arial"/>
              </a:rPr>
              <a:t> </a:t>
            </a:r>
            <a:r>
              <a:rPr sz="1550" dirty="0">
                <a:latin typeface="Arial"/>
                <a:cs typeface="Arial"/>
              </a:rPr>
              <a:t>[N-1:0]</a:t>
            </a:r>
            <a:r>
              <a:rPr sz="1550" spc="40" dirty="0">
                <a:latin typeface="Arial"/>
                <a:cs typeface="Arial"/>
              </a:rPr>
              <a:t> </a:t>
            </a:r>
            <a:r>
              <a:rPr sz="1550" spc="-10" dirty="0">
                <a:latin typeface="Arial"/>
                <a:cs typeface="Arial"/>
              </a:rPr>
              <a:t>out_data</a:t>
            </a:r>
            <a:endParaRPr sz="1550">
              <a:latin typeface="Arial"/>
              <a:cs typeface="Arial"/>
            </a:endParaRPr>
          </a:p>
          <a:p>
            <a:pPr marL="302260">
              <a:lnSpc>
                <a:spcPct val="100000"/>
              </a:lnSpc>
              <a:spcBef>
                <a:spcPts val="30"/>
              </a:spcBef>
            </a:pPr>
            <a:r>
              <a:rPr sz="1550" spc="-25" dirty="0">
                <a:latin typeface="Arial"/>
                <a:cs typeface="Arial"/>
              </a:rPr>
              <a:t>);</a:t>
            </a:r>
            <a:endParaRPr sz="1550">
              <a:latin typeface="Arial"/>
              <a:cs typeface="Arial"/>
            </a:endParaRPr>
          </a:p>
          <a:p>
            <a:pPr marL="191135">
              <a:lnSpc>
                <a:spcPct val="100000"/>
              </a:lnSpc>
              <a:spcBef>
                <a:spcPts val="35"/>
              </a:spcBef>
            </a:pPr>
            <a:r>
              <a:rPr sz="1550" b="1" dirty="0">
                <a:latin typeface="Arial"/>
                <a:cs typeface="Arial"/>
              </a:rPr>
              <a:t>always</a:t>
            </a:r>
            <a:r>
              <a:rPr sz="1550" b="1" spc="45" dirty="0">
                <a:latin typeface="Arial"/>
                <a:cs typeface="Arial"/>
              </a:rPr>
              <a:t> </a:t>
            </a:r>
            <a:r>
              <a:rPr sz="1550" dirty="0">
                <a:latin typeface="Arial"/>
                <a:cs typeface="Arial"/>
              </a:rPr>
              <a:t>@(</a:t>
            </a:r>
            <a:r>
              <a:rPr sz="1550" b="1" dirty="0">
                <a:latin typeface="Arial"/>
                <a:cs typeface="Arial"/>
              </a:rPr>
              <a:t>posedge</a:t>
            </a:r>
            <a:r>
              <a:rPr sz="1550" b="1" spc="45" dirty="0">
                <a:latin typeface="Arial"/>
                <a:cs typeface="Arial"/>
              </a:rPr>
              <a:t> </a:t>
            </a:r>
            <a:r>
              <a:rPr sz="1550" dirty="0">
                <a:latin typeface="Arial"/>
                <a:cs typeface="Arial"/>
              </a:rPr>
              <a:t>clk,</a:t>
            </a:r>
            <a:r>
              <a:rPr sz="1550" spc="45" dirty="0">
                <a:latin typeface="Arial"/>
                <a:cs typeface="Arial"/>
              </a:rPr>
              <a:t> </a:t>
            </a:r>
            <a:r>
              <a:rPr sz="1550" b="1" spc="-10" dirty="0">
                <a:latin typeface="Arial"/>
                <a:cs typeface="Arial"/>
              </a:rPr>
              <a:t>posedge</a:t>
            </a:r>
            <a:endParaRPr sz="1550">
              <a:latin typeface="Arial"/>
              <a:cs typeface="Arial"/>
            </a:endParaRPr>
          </a:p>
          <a:p>
            <a:pPr marL="79375">
              <a:lnSpc>
                <a:spcPct val="100000"/>
              </a:lnSpc>
              <a:spcBef>
                <a:spcPts val="35"/>
              </a:spcBef>
            </a:pPr>
            <a:r>
              <a:rPr sz="1550" spc="-10" dirty="0">
                <a:latin typeface="Arial"/>
                <a:cs typeface="Arial"/>
              </a:rPr>
              <a:t>reset)</a:t>
            </a:r>
            <a:endParaRPr sz="1550">
              <a:latin typeface="Arial"/>
              <a:cs typeface="Arial"/>
            </a:endParaRPr>
          </a:p>
          <a:p>
            <a:pPr marL="524510">
              <a:lnSpc>
                <a:spcPct val="100000"/>
              </a:lnSpc>
              <a:spcBef>
                <a:spcPts val="30"/>
              </a:spcBef>
            </a:pPr>
            <a:r>
              <a:rPr sz="1550" b="1" spc="-10" dirty="0">
                <a:latin typeface="Arial"/>
                <a:cs typeface="Arial"/>
              </a:rPr>
              <a:t>if</a:t>
            </a:r>
            <a:r>
              <a:rPr sz="1550" spc="-10" dirty="0">
                <a:latin typeface="Arial"/>
                <a:cs typeface="Arial"/>
              </a:rPr>
              <a:t>(reset)</a:t>
            </a:r>
            <a:endParaRPr sz="1550">
              <a:latin typeface="Arial"/>
              <a:cs typeface="Arial"/>
            </a:endParaRPr>
          </a:p>
          <a:p>
            <a:pPr marL="915035">
              <a:lnSpc>
                <a:spcPct val="100000"/>
              </a:lnSpc>
              <a:spcBef>
                <a:spcPts val="35"/>
              </a:spcBef>
            </a:pPr>
            <a:r>
              <a:rPr sz="1550" dirty="0">
                <a:latin typeface="Arial"/>
                <a:cs typeface="Arial"/>
              </a:rPr>
              <a:t>out_data</a:t>
            </a:r>
            <a:r>
              <a:rPr sz="1550" spc="35" dirty="0">
                <a:latin typeface="Arial"/>
                <a:cs typeface="Arial"/>
              </a:rPr>
              <a:t> </a:t>
            </a:r>
            <a:r>
              <a:rPr sz="1550" dirty="0">
                <a:latin typeface="Arial"/>
                <a:cs typeface="Arial"/>
              </a:rPr>
              <a:t>&lt;=</a:t>
            </a:r>
            <a:r>
              <a:rPr sz="1550" spc="30" dirty="0">
                <a:latin typeface="Arial"/>
                <a:cs typeface="Arial"/>
              </a:rPr>
              <a:t> </a:t>
            </a:r>
            <a:r>
              <a:rPr sz="1550" spc="-25" dirty="0">
                <a:latin typeface="Arial"/>
                <a:cs typeface="Arial"/>
              </a:rPr>
              <a:t>0;</a:t>
            </a:r>
            <a:endParaRPr sz="1550">
              <a:latin typeface="Arial"/>
              <a:cs typeface="Arial"/>
            </a:endParaRPr>
          </a:p>
          <a:p>
            <a:pPr marL="881380" marR="1158240" indent="-356870">
              <a:lnSpc>
                <a:spcPts val="1900"/>
              </a:lnSpc>
              <a:spcBef>
                <a:spcPts val="60"/>
              </a:spcBef>
            </a:pPr>
            <a:r>
              <a:rPr sz="1550" b="1" dirty="0">
                <a:latin typeface="Arial"/>
                <a:cs typeface="Arial"/>
              </a:rPr>
              <a:t>else</a:t>
            </a:r>
            <a:r>
              <a:rPr sz="1550" b="1" spc="35" dirty="0">
                <a:latin typeface="Arial"/>
                <a:cs typeface="Arial"/>
              </a:rPr>
              <a:t> </a:t>
            </a:r>
            <a:r>
              <a:rPr sz="1550" b="1" dirty="0">
                <a:latin typeface="Arial"/>
                <a:cs typeface="Arial"/>
              </a:rPr>
              <a:t>if</a:t>
            </a:r>
            <a:r>
              <a:rPr sz="1550" dirty="0">
                <a:latin typeface="Arial"/>
                <a:cs typeface="Arial"/>
              </a:rPr>
              <a:t>(load</a:t>
            </a:r>
            <a:r>
              <a:rPr sz="1550" spc="20" dirty="0">
                <a:latin typeface="Arial"/>
                <a:cs typeface="Arial"/>
              </a:rPr>
              <a:t> </a:t>
            </a:r>
            <a:r>
              <a:rPr sz="1550" dirty="0">
                <a:latin typeface="Arial"/>
                <a:cs typeface="Arial"/>
              </a:rPr>
              <a:t>==</a:t>
            </a:r>
            <a:r>
              <a:rPr sz="1550" spc="25" dirty="0">
                <a:latin typeface="Arial"/>
                <a:cs typeface="Arial"/>
              </a:rPr>
              <a:t> </a:t>
            </a:r>
            <a:r>
              <a:rPr sz="1550" spc="-25" dirty="0">
                <a:latin typeface="Arial"/>
                <a:cs typeface="Arial"/>
              </a:rPr>
              <a:t>1) </a:t>
            </a:r>
            <a:r>
              <a:rPr sz="1550" dirty="0">
                <a:latin typeface="Arial"/>
                <a:cs typeface="Arial"/>
              </a:rPr>
              <a:t>out_data</a:t>
            </a:r>
            <a:r>
              <a:rPr sz="1550" spc="35" dirty="0">
                <a:latin typeface="Arial"/>
                <a:cs typeface="Arial"/>
              </a:rPr>
              <a:t> </a:t>
            </a:r>
            <a:r>
              <a:rPr sz="1550" dirty="0">
                <a:latin typeface="Arial"/>
                <a:cs typeface="Arial"/>
              </a:rPr>
              <a:t>&lt;=</a:t>
            </a:r>
            <a:r>
              <a:rPr sz="1550" spc="30" dirty="0">
                <a:latin typeface="Arial"/>
                <a:cs typeface="Arial"/>
              </a:rPr>
              <a:t> </a:t>
            </a:r>
            <a:r>
              <a:rPr sz="1550" spc="-10" dirty="0">
                <a:latin typeface="Arial"/>
                <a:cs typeface="Arial"/>
              </a:rPr>
              <a:t>in_data;</a:t>
            </a:r>
            <a:endParaRPr sz="1550">
              <a:latin typeface="Arial"/>
              <a:cs typeface="Arial"/>
            </a:endParaRPr>
          </a:p>
          <a:p>
            <a:pPr marL="79375">
              <a:lnSpc>
                <a:spcPts val="1820"/>
              </a:lnSpc>
            </a:pPr>
            <a:r>
              <a:rPr sz="1550" b="1" spc="-10" dirty="0">
                <a:latin typeface="Arial"/>
                <a:cs typeface="Arial"/>
              </a:rPr>
              <a:t>endmodule</a:t>
            </a:r>
            <a:endParaRPr sz="1550">
              <a:latin typeface="Arial"/>
              <a:cs typeface="Arial"/>
            </a:endParaRPr>
          </a:p>
        </p:txBody>
      </p:sp>
      <p:sp>
        <p:nvSpPr>
          <p:cNvPr id="5" name="object 5"/>
          <p:cNvSpPr txBox="1"/>
          <p:nvPr/>
        </p:nvSpPr>
        <p:spPr>
          <a:xfrm>
            <a:off x="5133727" y="2064047"/>
            <a:ext cx="5025390" cy="1176669"/>
          </a:xfrm>
          <a:prstGeom prst="rect">
            <a:avLst/>
          </a:prstGeom>
        </p:spPr>
        <p:txBody>
          <a:bodyPr vert="horz" wrap="square" lIns="0" tIns="12700" rIns="0" bIns="0" rtlCol="0">
            <a:spAutoFit/>
          </a:bodyPr>
          <a:lstStyle/>
          <a:p>
            <a:pPr marL="313055" marR="5080" indent="-300990" algn="just">
              <a:lnSpc>
                <a:spcPct val="150300"/>
              </a:lnSpc>
              <a:spcBef>
                <a:spcPts val="100"/>
              </a:spcBef>
              <a:buFont typeface="Wingdings"/>
              <a:buChar char=""/>
              <a:tabLst>
                <a:tab pos="313055" algn="l"/>
              </a:tabLst>
            </a:pPr>
            <a:r>
              <a:rPr sz="1750" dirty="0" err="1">
                <a:latin typeface="微软雅黑"/>
                <a:cs typeface="微软雅黑"/>
              </a:rPr>
              <a:t>如果我们想修改寄存器的位宽，可以使用</a:t>
            </a:r>
            <a:r>
              <a:rPr lang="zh-CN" altLang="en-US" sz="1750" dirty="0">
                <a:latin typeface="微软雅黑"/>
                <a:cs typeface="微软雅黑"/>
              </a:rPr>
              <a:t>在实例化</a:t>
            </a:r>
            <a:r>
              <a:rPr sz="1750" spc="-10" dirty="0">
                <a:latin typeface="Arial"/>
                <a:cs typeface="Arial"/>
              </a:rPr>
              <a:t>Verilog</a:t>
            </a:r>
            <a:r>
              <a:rPr lang="zh-CN" altLang="en-US" sz="1750" spc="-10" dirty="0">
                <a:latin typeface="Arial"/>
                <a:cs typeface="Arial"/>
              </a:rPr>
              <a:t>模块</a:t>
            </a:r>
            <a:r>
              <a:rPr sz="1750" dirty="0">
                <a:latin typeface="微软雅黑"/>
                <a:cs typeface="微软雅黑"/>
              </a:rPr>
              <a:t>的</a:t>
            </a:r>
            <a:r>
              <a:rPr lang="zh-CN" altLang="en-US" sz="1750" dirty="0">
                <a:latin typeface="微软雅黑"/>
                <a:cs typeface="微软雅黑"/>
              </a:rPr>
              <a:t>时候对参数进行重载</a:t>
            </a:r>
            <a:r>
              <a:rPr sz="1750" dirty="0">
                <a:latin typeface="微软雅黑"/>
                <a:cs typeface="微软雅黑"/>
              </a:rPr>
              <a:t>。我们可以实现一个如下所示的</a:t>
            </a:r>
            <a:r>
              <a:rPr sz="1750" spc="-25" dirty="0">
                <a:latin typeface="Arial"/>
                <a:cs typeface="Arial"/>
              </a:rPr>
              <a:t>16</a:t>
            </a:r>
            <a:r>
              <a:rPr sz="1750" dirty="0">
                <a:latin typeface="微软雅黑"/>
                <a:cs typeface="微软雅黑"/>
              </a:rPr>
              <a:t>位寄存器，称为</a:t>
            </a:r>
            <a:r>
              <a:rPr sz="1750" spc="-10" dirty="0">
                <a:latin typeface="Arial"/>
                <a:cs typeface="Arial"/>
              </a:rPr>
              <a:t>fReg</a:t>
            </a:r>
            <a:r>
              <a:rPr sz="1750" spc="-50" dirty="0">
                <a:latin typeface="微软雅黑"/>
                <a:cs typeface="微软雅黑"/>
              </a:rPr>
              <a:t>。</a:t>
            </a:r>
            <a:endParaRPr sz="1750" dirty="0">
              <a:latin typeface="微软雅黑"/>
              <a:cs typeface="微软雅黑"/>
            </a:endParaRPr>
          </a:p>
        </p:txBody>
      </p:sp>
      <p:sp>
        <p:nvSpPr>
          <p:cNvPr id="6" name="object 6"/>
          <p:cNvSpPr txBox="1"/>
          <p:nvPr/>
        </p:nvSpPr>
        <p:spPr>
          <a:xfrm>
            <a:off x="6382397" y="3583685"/>
            <a:ext cx="2588895" cy="2329180"/>
          </a:xfrm>
          <a:prstGeom prst="rect">
            <a:avLst/>
          </a:prstGeom>
          <a:solidFill>
            <a:srgbClr val="F9FABA"/>
          </a:solidFill>
        </p:spPr>
        <p:txBody>
          <a:bodyPr vert="horz" wrap="square" lIns="0" tIns="191770" rIns="0" bIns="0" rtlCol="0">
            <a:spAutoFit/>
          </a:bodyPr>
          <a:lstStyle/>
          <a:p>
            <a:pPr marL="180340">
              <a:lnSpc>
                <a:spcPct val="100000"/>
              </a:lnSpc>
              <a:spcBef>
                <a:spcPts val="1510"/>
              </a:spcBef>
            </a:pPr>
            <a:r>
              <a:rPr sz="1550" dirty="0">
                <a:latin typeface="Arial"/>
                <a:cs typeface="Arial"/>
              </a:rPr>
              <a:t>reg_N</a:t>
            </a:r>
            <a:r>
              <a:rPr sz="1550" spc="25" dirty="0">
                <a:latin typeface="Arial"/>
                <a:cs typeface="Arial"/>
              </a:rPr>
              <a:t> </a:t>
            </a:r>
            <a:r>
              <a:rPr sz="1550" spc="-35" dirty="0">
                <a:latin typeface="Arial"/>
                <a:cs typeface="Arial"/>
              </a:rPr>
              <a:t>#(</a:t>
            </a:r>
            <a:endParaRPr sz="1550">
              <a:latin typeface="Arial"/>
              <a:cs typeface="Arial"/>
            </a:endParaRPr>
          </a:p>
          <a:p>
            <a:pPr marL="626110">
              <a:lnSpc>
                <a:spcPct val="100000"/>
              </a:lnSpc>
              <a:spcBef>
                <a:spcPts val="30"/>
              </a:spcBef>
            </a:pPr>
            <a:r>
              <a:rPr sz="1550" spc="-10" dirty="0">
                <a:latin typeface="Arial"/>
                <a:cs typeface="Arial"/>
              </a:rPr>
              <a:t>.N(16))</a:t>
            </a:r>
            <a:endParaRPr sz="1550">
              <a:latin typeface="Arial"/>
              <a:cs typeface="Arial"/>
            </a:endParaRPr>
          </a:p>
          <a:p>
            <a:pPr marL="569595">
              <a:lnSpc>
                <a:spcPct val="100000"/>
              </a:lnSpc>
              <a:spcBef>
                <a:spcPts val="35"/>
              </a:spcBef>
            </a:pPr>
            <a:r>
              <a:rPr sz="1550" spc="-10" dirty="0">
                <a:latin typeface="Arial"/>
                <a:cs typeface="Arial"/>
              </a:rPr>
              <a:t>fReg(.clk(clk),</a:t>
            </a:r>
            <a:endParaRPr sz="1550">
              <a:latin typeface="Arial"/>
              <a:cs typeface="Arial"/>
            </a:endParaRPr>
          </a:p>
          <a:p>
            <a:pPr marL="513715">
              <a:lnSpc>
                <a:spcPct val="100000"/>
              </a:lnSpc>
              <a:spcBef>
                <a:spcPts val="30"/>
              </a:spcBef>
            </a:pPr>
            <a:r>
              <a:rPr sz="1550" spc="-10" dirty="0">
                <a:latin typeface="Arial"/>
                <a:cs typeface="Arial"/>
              </a:rPr>
              <a:t>.reset(reset),</a:t>
            </a:r>
            <a:endParaRPr sz="1550">
              <a:latin typeface="Arial"/>
              <a:cs typeface="Arial"/>
            </a:endParaRPr>
          </a:p>
          <a:p>
            <a:pPr marL="513715">
              <a:lnSpc>
                <a:spcPct val="100000"/>
              </a:lnSpc>
              <a:spcBef>
                <a:spcPts val="35"/>
              </a:spcBef>
            </a:pPr>
            <a:r>
              <a:rPr sz="1550" spc="-10" dirty="0">
                <a:latin typeface="Arial"/>
                <a:cs typeface="Arial"/>
              </a:rPr>
              <a:t>.load(load),</a:t>
            </a:r>
            <a:endParaRPr sz="1550">
              <a:latin typeface="Arial"/>
              <a:cs typeface="Arial"/>
            </a:endParaRPr>
          </a:p>
          <a:p>
            <a:pPr marL="513715">
              <a:lnSpc>
                <a:spcPct val="100000"/>
              </a:lnSpc>
              <a:spcBef>
                <a:spcPts val="35"/>
              </a:spcBef>
            </a:pPr>
            <a:r>
              <a:rPr sz="1550" spc="-10" dirty="0">
                <a:latin typeface="Arial"/>
                <a:cs typeface="Arial"/>
              </a:rPr>
              <a:t>.in_data(indata),</a:t>
            </a:r>
            <a:endParaRPr sz="1550">
              <a:latin typeface="Arial"/>
              <a:cs typeface="Arial"/>
            </a:endParaRPr>
          </a:p>
          <a:p>
            <a:pPr marL="513715">
              <a:lnSpc>
                <a:spcPct val="100000"/>
              </a:lnSpc>
              <a:spcBef>
                <a:spcPts val="30"/>
              </a:spcBef>
            </a:pPr>
            <a:r>
              <a:rPr sz="1550" spc="-10" dirty="0">
                <a:latin typeface="Arial"/>
                <a:cs typeface="Arial"/>
              </a:rPr>
              <a:t>.out_data(out_data)</a:t>
            </a:r>
            <a:endParaRPr sz="1550">
              <a:latin typeface="Arial"/>
              <a:cs typeface="Arial"/>
            </a:endParaRPr>
          </a:p>
          <a:p>
            <a:pPr marL="124460">
              <a:lnSpc>
                <a:spcPct val="100000"/>
              </a:lnSpc>
              <a:spcBef>
                <a:spcPts val="35"/>
              </a:spcBef>
            </a:pPr>
            <a:r>
              <a:rPr sz="1550" spc="-25" dirty="0">
                <a:latin typeface="Arial"/>
                <a:cs typeface="Arial"/>
              </a:rPr>
              <a:t>);</a:t>
            </a:r>
            <a:endParaRPr sz="155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112012"/>
            <a:ext cx="23412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4.2.3</a:t>
            </a:r>
            <a:r>
              <a:rPr spc="-45" dirty="0">
                <a:latin typeface="Arial"/>
                <a:cs typeface="Arial"/>
              </a:rPr>
              <a:t> </a:t>
            </a:r>
            <a:r>
              <a:rPr spc="-15" dirty="0"/>
              <a:t>寄存器组</a:t>
            </a:r>
          </a:p>
        </p:txBody>
      </p:sp>
      <p:sp>
        <p:nvSpPr>
          <p:cNvPr id="4" name="object 4"/>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txBox="1"/>
          <p:nvPr/>
        </p:nvSpPr>
        <p:spPr>
          <a:xfrm>
            <a:off x="562489" y="2771030"/>
            <a:ext cx="9605010" cy="1950720"/>
          </a:xfrm>
          <a:prstGeom prst="rect">
            <a:avLst/>
          </a:prstGeom>
        </p:spPr>
        <p:txBody>
          <a:bodyPr vert="horz" wrap="square" lIns="0" tIns="12700" rIns="0" bIns="0" rtlCol="0">
            <a:spAutoFit/>
          </a:bodyPr>
          <a:lstStyle/>
          <a:p>
            <a:pPr marL="312420" marR="5080" indent="-300355" algn="just">
              <a:lnSpc>
                <a:spcPct val="150400"/>
              </a:lnSpc>
              <a:spcBef>
                <a:spcPts val="100"/>
              </a:spcBef>
              <a:buFont typeface="Wingdings"/>
              <a:buChar char=""/>
              <a:tabLst>
                <a:tab pos="313690" algn="l"/>
              </a:tabLst>
            </a:pPr>
            <a:r>
              <a:rPr sz="2100" spc="-5" dirty="0">
                <a:latin typeface="微软雅黑"/>
                <a:cs typeface="微软雅黑"/>
              </a:rPr>
              <a:t>寄存器组是由一组拥有同一个输入端口和一个或多个输出端口的寄存器组成。	</a:t>
            </a:r>
            <a:r>
              <a:rPr sz="2100" dirty="0">
                <a:latin typeface="微软雅黑"/>
                <a:cs typeface="微软雅黑"/>
              </a:rPr>
              <a:t>写地址信号</a:t>
            </a:r>
            <a:r>
              <a:rPr sz="2100" dirty="0">
                <a:latin typeface="Arial"/>
                <a:cs typeface="Arial"/>
              </a:rPr>
              <a:t>w_addr</a:t>
            </a:r>
            <a:r>
              <a:rPr sz="2100" dirty="0">
                <a:latin typeface="微软雅黑"/>
                <a:cs typeface="微软雅黑"/>
              </a:rPr>
              <a:t>指定了数据存储位置，读取地址信号</a:t>
            </a:r>
            <a:r>
              <a:rPr sz="2100" dirty="0">
                <a:latin typeface="Arial"/>
                <a:cs typeface="Arial"/>
              </a:rPr>
              <a:t>r_addr</a:t>
            </a:r>
            <a:r>
              <a:rPr sz="2100" spc="-10" dirty="0">
                <a:latin typeface="微软雅黑"/>
                <a:cs typeface="微软雅黑"/>
              </a:rPr>
              <a:t>指定数据检索位	</a:t>
            </a:r>
            <a:r>
              <a:rPr sz="2100" spc="-25" dirty="0">
                <a:latin typeface="微软雅黑"/>
                <a:cs typeface="微软雅黑"/>
              </a:rPr>
              <a:t>置。</a:t>
            </a:r>
            <a:endParaRPr sz="2100">
              <a:latin typeface="微软雅黑"/>
              <a:cs typeface="微软雅黑"/>
            </a:endParaRPr>
          </a:p>
          <a:p>
            <a:pPr marL="313055" indent="-300355" algn="just">
              <a:lnSpc>
                <a:spcPct val="100000"/>
              </a:lnSpc>
              <a:spcBef>
                <a:spcPts val="1265"/>
              </a:spcBef>
              <a:buFont typeface="Wingdings"/>
              <a:buChar char=""/>
              <a:tabLst>
                <a:tab pos="313055" algn="l"/>
              </a:tabLst>
            </a:pPr>
            <a:r>
              <a:rPr sz="2100" spc="-15" dirty="0">
                <a:latin typeface="微软雅黑"/>
                <a:cs typeface="微软雅黑"/>
              </a:rPr>
              <a:t>寄存器组通常用于快速、临时存储。</a:t>
            </a:r>
            <a:endParaRPr sz="2100">
              <a:latin typeface="微软雅黑"/>
              <a:cs typeface="微软雅黑"/>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3412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4.2.3</a:t>
            </a:r>
            <a:r>
              <a:rPr spc="-45" dirty="0">
                <a:latin typeface="Arial"/>
                <a:cs typeface="Arial"/>
              </a:rPr>
              <a:t> </a:t>
            </a:r>
            <a:r>
              <a:rPr spc="-15" dirty="0"/>
              <a:t>寄存器组</a:t>
            </a:r>
          </a:p>
        </p:txBody>
      </p:sp>
      <p:sp>
        <p:nvSpPr>
          <p:cNvPr id="3" name="object 3"/>
          <p:cNvSpPr txBox="1"/>
          <p:nvPr/>
        </p:nvSpPr>
        <p:spPr>
          <a:xfrm>
            <a:off x="587889" y="1754068"/>
            <a:ext cx="9684385" cy="746760"/>
          </a:xfrm>
          <a:prstGeom prst="rect">
            <a:avLst/>
          </a:prstGeom>
        </p:spPr>
        <p:txBody>
          <a:bodyPr vert="horz" wrap="square" lIns="0" tIns="12065" rIns="0" bIns="0" rtlCol="0">
            <a:spAutoFit/>
          </a:bodyPr>
          <a:lstStyle/>
          <a:p>
            <a:pPr marL="25400" marR="17780" indent="-635">
              <a:lnSpc>
                <a:spcPct val="152600"/>
              </a:lnSpc>
              <a:spcBef>
                <a:spcPts val="95"/>
              </a:spcBef>
            </a:pPr>
            <a:r>
              <a:rPr sz="1550" dirty="0">
                <a:latin typeface="微软雅黑"/>
                <a:cs typeface="微软雅黑"/>
              </a:rPr>
              <a:t>例</a:t>
            </a:r>
            <a:r>
              <a:rPr sz="1550" dirty="0">
                <a:latin typeface="Arial"/>
                <a:cs typeface="Arial"/>
              </a:rPr>
              <a:t>4.10</a:t>
            </a:r>
            <a:r>
              <a:rPr sz="1550" dirty="0">
                <a:latin typeface="微软雅黑"/>
                <a:cs typeface="微软雅黑"/>
              </a:rPr>
              <a:t>给出了一个参数化的寄存器组的实现代码。参数</a:t>
            </a:r>
            <a:r>
              <a:rPr sz="1550" dirty="0">
                <a:latin typeface="Arial"/>
                <a:cs typeface="Arial"/>
              </a:rPr>
              <a:t>W</a:t>
            </a:r>
            <a:r>
              <a:rPr sz="1550" dirty="0">
                <a:latin typeface="微软雅黑"/>
                <a:cs typeface="微软雅黑"/>
              </a:rPr>
              <a:t>指定了地址线的位数，表明在这个寄存器组中有</a:t>
            </a:r>
            <a:r>
              <a:rPr sz="1550" spc="-10" dirty="0">
                <a:latin typeface="Arial"/>
                <a:cs typeface="Arial"/>
              </a:rPr>
              <a:t>2</a:t>
            </a:r>
            <a:r>
              <a:rPr sz="1575" spc="-15" baseline="23809" dirty="0">
                <a:latin typeface="Arial"/>
                <a:cs typeface="Arial"/>
              </a:rPr>
              <a:t>W</a:t>
            </a:r>
            <a:r>
              <a:rPr sz="1550" spc="-50" dirty="0">
                <a:latin typeface="微软雅黑"/>
                <a:cs typeface="微软雅黑"/>
              </a:rPr>
              <a:t>个</a:t>
            </a:r>
            <a:r>
              <a:rPr sz="1550" dirty="0">
                <a:latin typeface="微软雅黑"/>
                <a:cs typeface="微软雅黑"/>
              </a:rPr>
              <a:t>字。参数</a:t>
            </a:r>
            <a:r>
              <a:rPr sz="1550" dirty="0">
                <a:latin typeface="Arial"/>
                <a:cs typeface="Arial"/>
              </a:rPr>
              <a:t>N</a:t>
            </a:r>
            <a:r>
              <a:rPr sz="1550" spc="-5" dirty="0">
                <a:latin typeface="微软雅黑"/>
                <a:cs typeface="微软雅黑"/>
              </a:rPr>
              <a:t>指定了一个字的位数。</a:t>
            </a:r>
            <a:endParaRPr sz="1550">
              <a:latin typeface="微软雅黑"/>
              <a:cs typeface="微软雅黑"/>
            </a:endParaRPr>
          </a:p>
        </p:txBody>
      </p:sp>
      <p:sp>
        <p:nvSpPr>
          <p:cNvPr id="4" name="object 4"/>
          <p:cNvSpPr/>
          <p:nvPr/>
        </p:nvSpPr>
        <p:spPr>
          <a:xfrm>
            <a:off x="1066685" y="2670810"/>
            <a:ext cx="4063365" cy="2994660"/>
          </a:xfrm>
          <a:custGeom>
            <a:avLst/>
            <a:gdLst/>
            <a:ahLst/>
            <a:cxnLst/>
            <a:rect l="l" t="t" r="r" b="b"/>
            <a:pathLst>
              <a:path w="4063365" h="2994660">
                <a:moveTo>
                  <a:pt x="4062983" y="2994660"/>
                </a:moveTo>
                <a:lnTo>
                  <a:pt x="4062983" y="0"/>
                </a:lnTo>
                <a:lnTo>
                  <a:pt x="0" y="0"/>
                </a:lnTo>
                <a:lnTo>
                  <a:pt x="0" y="2994660"/>
                </a:lnTo>
                <a:lnTo>
                  <a:pt x="4062983" y="2994660"/>
                </a:lnTo>
                <a:close/>
              </a:path>
            </a:pathLst>
          </a:custGeom>
          <a:solidFill>
            <a:srgbClr val="F9FABA"/>
          </a:solidFill>
        </p:spPr>
        <p:txBody>
          <a:bodyPr wrap="square" lIns="0" tIns="0" rIns="0" bIns="0" rtlCol="0"/>
          <a:lstStyle/>
          <a:p>
            <a:endParaRPr/>
          </a:p>
        </p:txBody>
      </p:sp>
      <p:sp>
        <p:nvSpPr>
          <p:cNvPr id="5" name="object 5"/>
          <p:cNvSpPr txBox="1"/>
          <p:nvPr/>
        </p:nvSpPr>
        <p:spPr>
          <a:xfrm>
            <a:off x="1066685" y="2670810"/>
            <a:ext cx="4063365" cy="2994660"/>
          </a:xfrm>
          <a:prstGeom prst="rect">
            <a:avLst/>
          </a:prstGeom>
        </p:spPr>
        <p:txBody>
          <a:bodyPr vert="horz" wrap="square" lIns="0" tIns="33655" rIns="0" bIns="0" rtlCol="0">
            <a:spAutoFit/>
          </a:bodyPr>
          <a:lstStyle/>
          <a:p>
            <a:pPr marL="191135" marR="2551430" indent="-111760">
              <a:lnSpc>
                <a:spcPct val="101600"/>
              </a:lnSpc>
              <a:spcBef>
                <a:spcPts val="265"/>
              </a:spcBef>
            </a:pPr>
            <a:r>
              <a:rPr sz="1550" b="1" dirty="0">
                <a:latin typeface="Arial"/>
                <a:cs typeface="Arial"/>
              </a:rPr>
              <a:t>module</a:t>
            </a:r>
            <a:r>
              <a:rPr sz="1550" b="1" spc="55" dirty="0">
                <a:latin typeface="Arial"/>
                <a:cs typeface="Arial"/>
              </a:rPr>
              <a:t> </a:t>
            </a:r>
            <a:r>
              <a:rPr sz="1550" spc="-10" dirty="0">
                <a:latin typeface="Arial"/>
                <a:cs typeface="Arial"/>
              </a:rPr>
              <a:t>reg_file </a:t>
            </a:r>
            <a:r>
              <a:rPr sz="1550" spc="-25" dirty="0">
                <a:latin typeface="Arial"/>
                <a:cs typeface="Arial"/>
              </a:rPr>
              <a:t>#(</a:t>
            </a:r>
            <a:endParaRPr sz="1550">
              <a:latin typeface="Arial"/>
              <a:cs typeface="Arial"/>
            </a:endParaRPr>
          </a:p>
          <a:p>
            <a:pPr marL="246379" marR="1387475" indent="-635">
              <a:lnSpc>
                <a:spcPts val="1889"/>
              </a:lnSpc>
              <a:spcBef>
                <a:spcPts val="65"/>
              </a:spcBef>
            </a:pPr>
            <a:r>
              <a:rPr sz="1550" b="1" dirty="0">
                <a:latin typeface="Arial"/>
                <a:cs typeface="Arial"/>
              </a:rPr>
              <a:t>parameter</a:t>
            </a:r>
            <a:r>
              <a:rPr sz="1550" b="1" spc="45" dirty="0">
                <a:latin typeface="Arial"/>
                <a:cs typeface="Arial"/>
              </a:rPr>
              <a:t> </a:t>
            </a:r>
            <a:r>
              <a:rPr sz="1550" dirty="0">
                <a:latin typeface="Arial"/>
                <a:cs typeface="Arial"/>
              </a:rPr>
              <a:t>N</a:t>
            </a:r>
            <a:r>
              <a:rPr sz="1550" spc="30" dirty="0">
                <a:latin typeface="Arial"/>
                <a:cs typeface="Arial"/>
              </a:rPr>
              <a:t> = </a:t>
            </a:r>
            <a:r>
              <a:rPr sz="1550" dirty="0">
                <a:latin typeface="Arial"/>
                <a:cs typeface="Arial"/>
              </a:rPr>
              <a:t>8</a:t>
            </a:r>
            <a:r>
              <a:rPr sz="1550" dirty="0">
                <a:latin typeface="微软雅黑"/>
                <a:cs typeface="微软雅黑"/>
              </a:rPr>
              <a:t>，</a:t>
            </a:r>
            <a:r>
              <a:rPr sz="1550" dirty="0">
                <a:latin typeface="Arial"/>
                <a:cs typeface="Arial"/>
              </a:rPr>
              <a:t>//</a:t>
            </a:r>
            <a:r>
              <a:rPr sz="1550" spc="-20" dirty="0">
                <a:latin typeface="微软雅黑"/>
                <a:cs typeface="微软雅黑"/>
              </a:rPr>
              <a:t>比特数</a:t>
            </a:r>
            <a:r>
              <a:rPr sz="1550" spc="-50" dirty="0">
                <a:latin typeface="微软雅黑"/>
                <a:cs typeface="微软雅黑"/>
              </a:rPr>
              <a:t> </a:t>
            </a:r>
            <a:r>
              <a:rPr sz="1550" dirty="0">
                <a:latin typeface="Arial"/>
                <a:cs typeface="Arial"/>
              </a:rPr>
              <a:t>W</a:t>
            </a:r>
            <a:r>
              <a:rPr sz="1550" spc="30" dirty="0">
                <a:latin typeface="Arial"/>
                <a:cs typeface="Arial"/>
              </a:rPr>
              <a:t> = </a:t>
            </a:r>
            <a:r>
              <a:rPr sz="1550" dirty="0">
                <a:latin typeface="Arial"/>
                <a:cs typeface="Arial"/>
              </a:rPr>
              <a:t>2)</a:t>
            </a:r>
            <a:r>
              <a:rPr sz="1550" spc="20" dirty="0">
                <a:latin typeface="Arial"/>
                <a:cs typeface="Arial"/>
              </a:rPr>
              <a:t> //</a:t>
            </a:r>
            <a:r>
              <a:rPr sz="1550" spc="-10" dirty="0">
                <a:latin typeface="微软雅黑"/>
                <a:cs typeface="微软雅黑"/>
              </a:rPr>
              <a:t>地址比特数</a:t>
            </a:r>
            <a:endParaRPr sz="1550">
              <a:latin typeface="微软雅黑"/>
              <a:cs typeface="微软雅黑"/>
            </a:endParaRPr>
          </a:p>
          <a:p>
            <a:pPr marL="302260">
              <a:lnSpc>
                <a:spcPts val="1839"/>
              </a:lnSpc>
            </a:pPr>
            <a:r>
              <a:rPr sz="1550" spc="-50" dirty="0">
                <a:latin typeface="Arial"/>
                <a:cs typeface="Arial"/>
              </a:rPr>
              <a:t>(</a:t>
            </a:r>
            <a:endParaRPr sz="1550">
              <a:latin typeface="Arial"/>
              <a:cs typeface="Arial"/>
            </a:endParaRPr>
          </a:p>
          <a:p>
            <a:pPr marL="581025">
              <a:lnSpc>
                <a:spcPct val="100000"/>
              </a:lnSpc>
              <a:spcBef>
                <a:spcPts val="35"/>
              </a:spcBef>
            </a:pPr>
            <a:r>
              <a:rPr sz="1550" b="1" dirty="0">
                <a:latin typeface="Arial"/>
                <a:cs typeface="Arial"/>
              </a:rPr>
              <a:t>input</a:t>
            </a:r>
            <a:r>
              <a:rPr sz="1550" b="1" spc="470" dirty="0">
                <a:latin typeface="Arial"/>
                <a:cs typeface="Arial"/>
              </a:rPr>
              <a:t> </a:t>
            </a:r>
            <a:r>
              <a:rPr sz="1550" spc="-20" dirty="0">
                <a:latin typeface="Arial"/>
                <a:cs typeface="Arial"/>
              </a:rPr>
              <a:t>clk,</a:t>
            </a:r>
            <a:endParaRPr sz="1550">
              <a:latin typeface="Arial"/>
              <a:cs typeface="Arial"/>
            </a:endParaRPr>
          </a:p>
          <a:p>
            <a:pPr marL="581025">
              <a:lnSpc>
                <a:spcPct val="100000"/>
              </a:lnSpc>
              <a:spcBef>
                <a:spcPts val="30"/>
              </a:spcBef>
            </a:pPr>
            <a:r>
              <a:rPr sz="1550" b="1" dirty="0">
                <a:latin typeface="Arial"/>
                <a:cs typeface="Arial"/>
              </a:rPr>
              <a:t>input</a:t>
            </a:r>
            <a:r>
              <a:rPr sz="1550" b="1" spc="470" dirty="0">
                <a:latin typeface="Arial"/>
                <a:cs typeface="Arial"/>
              </a:rPr>
              <a:t> </a:t>
            </a:r>
            <a:r>
              <a:rPr sz="1550" spc="-10" dirty="0">
                <a:latin typeface="Arial"/>
                <a:cs typeface="Arial"/>
              </a:rPr>
              <a:t>wr_en,</a:t>
            </a:r>
            <a:endParaRPr sz="1550">
              <a:latin typeface="Arial"/>
              <a:cs typeface="Arial"/>
            </a:endParaRPr>
          </a:p>
          <a:p>
            <a:pPr marL="581025" marR="906144">
              <a:lnSpc>
                <a:spcPct val="101800"/>
              </a:lnSpc>
            </a:pPr>
            <a:r>
              <a:rPr sz="1550" b="1" dirty="0">
                <a:latin typeface="Arial"/>
                <a:cs typeface="Arial"/>
              </a:rPr>
              <a:t>input</a:t>
            </a:r>
            <a:r>
              <a:rPr sz="1550" b="1" spc="30" dirty="0">
                <a:latin typeface="Arial"/>
                <a:cs typeface="Arial"/>
              </a:rPr>
              <a:t> </a:t>
            </a:r>
            <a:r>
              <a:rPr sz="1550" dirty="0">
                <a:latin typeface="Arial"/>
                <a:cs typeface="Arial"/>
              </a:rPr>
              <a:t>[W-1:0]</a:t>
            </a:r>
            <a:r>
              <a:rPr sz="1550" spc="50" dirty="0">
                <a:latin typeface="Arial"/>
                <a:cs typeface="Arial"/>
              </a:rPr>
              <a:t> </a:t>
            </a:r>
            <a:r>
              <a:rPr sz="1550" spc="-10" dirty="0">
                <a:latin typeface="Arial"/>
                <a:cs typeface="Arial"/>
              </a:rPr>
              <a:t>w_addr,r_addr, </a:t>
            </a:r>
            <a:r>
              <a:rPr sz="1550" b="1" dirty="0">
                <a:latin typeface="Arial"/>
                <a:cs typeface="Arial"/>
              </a:rPr>
              <a:t>input</a:t>
            </a:r>
            <a:r>
              <a:rPr sz="1550" b="1" spc="25" dirty="0">
                <a:latin typeface="Arial"/>
                <a:cs typeface="Arial"/>
              </a:rPr>
              <a:t> </a:t>
            </a:r>
            <a:r>
              <a:rPr sz="1550" dirty="0">
                <a:latin typeface="Arial"/>
                <a:cs typeface="Arial"/>
              </a:rPr>
              <a:t>[N-1:0]</a:t>
            </a:r>
            <a:r>
              <a:rPr sz="1550" spc="45" dirty="0">
                <a:latin typeface="Arial"/>
                <a:cs typeface="Arial"/>
              </a:rPr>
              <a:t>  </a:t>
            </a:r>
            <a:r>
              <a:rPr sz="1550" spc="-10" dirty="0">
                <a:latin typeface="Arial"/>
                <a:cs typeface="Arial"/>
              </a:rPr>
              <a:t>w_data,</a:t>
            </a:r>
            <a:r>
              <a:rPr sz="1550" spc="500" dirty="0">
                <a:latin typeface="Arial"/>
                <a:cs typeface="Arial"/>
              </a:rPr>
              <a:t> </a:t>
            </a:r>
            <a:r>
              <a:rPr sz="1550" b="1" dirty="0">
                <a:latin typeface="Arial"/>
                <a:cs typeface="Arial"/>
              </a:rPr>
              <a:t>output</a:t>
            </a:r>
            <a:r>
              <a:rPr sz="1550" b="1" spc="484" dirty="0">
                <a:latin typeface="Arial"/>
                <a:cs typeface="Arial"/>
              </a:rPr>
              <a:t> </a:t>
            </a:r>
            <a:r>
              <a:rPr sz="1550" dirty="0">
                <a:latin typeface="Arial"/>
                <a:cs typeface="Arial"/>
              </a:rPr>
              <a:t>[N-1:0]</a:t>
            </a:r>
            <a:r>
              <a:rPr sz="1550" spc="495" dirty="0">
                <a:latin typeface="Arial"/>
                <a:cs typeface="Arial"/>
              </a:rPr>
              <a:t> </a:t>
            </a:r>
            <a:r>
              <a:rPr sz="1550" spc="-10" dirty="0">
                <a:latin typeface="Arial"/>
                <a:cs typeface="Arial"/>
              </a:rPr>
              <a:t>r_data</a:t>
            </a:r>
            <a:endParaRPr sz="1550">
              <a:latin typeface="Arial"/>
              <a:cs typeface="Arial"/>
            </a:endParaRPr>
          </a:p>
          <a:p>
            <a:pPr marL="302260">
              <a:lnSpc>
                <a:spcPct val="100000"/>
              </a:lnSpc>
              <a:spcBef>
                <a:spcPts val="40"/>
              </a:spcBef>
            </a:pPr>
            <a:r>
              <a:rPr sz="1550" spc="-25" dirty="0">
                <a:latin typeface="Arial"/>
                <a:cs typeface="Arial"/>
              </a:rPr>
              <a:t>);</a:t>
            </a:r>
            <a:endParaRPr sz="1550">
              <a:latin typeface="Arial"/>
              <a:cs typeface="Arial"/>
            </a:endParaRPr>
          </a:p>
          <a:p>
            <a:pPr marL="302260">
              <a:lnSpc>
                <a:spcPct val="100000"/>
              </a:lnSpc>
              <a:spcBef>
                <a:spcPts val="30"/>
              </a:spcBef>
            </a:pPr>
            <a:r>
              <a:rPr sz="1550" b="1" dirty="0">
                <a:latin typeface="Arial"/>
                <a:cs typeface="Arial"/>
              </a:rPr>
              <a:t>reg</a:t>
            </a:r>
            <a:r>
              <a:rPr sz="1550" b="1" spc="100" dirty="0">
                <a:latin typeface="Arial"/>
                <a:cs typeface="Arial"/>
              </a:rPr>
              <a:t> </a:t>
            </a:r>
            <a:r>
              <a:rPr sz="1550" dirty="0">
                <a:latin typeface="Arial"/>
                <a:cs typeface="Arial"/>
              </a:rPr>
              <a:t>[N-1:0]</a:t>
            </a:r>
            <a:r>
              <a:rPr sz="1550" spc="105" dirty="0">
                <a:latin typeface="Arial"/>
                <a:cs typeface="Arial"/>
              </a:rPr>
              <a:t> </a:t>
            </a:r>
            <a:r>
              <a:rPr sz="1550" dirty="0">
                <a:latin typeface="Arial"/>
                <a:cs typeface="Arial"/>
              </a:rPr>
              <a:t>array_reg[2**W-</a:t>
            </a:r>
            <a:r>
              <a:rPr sz="1550" spc="-10" dirty="0">
                <a:latin typeface="Arial"/>
                <a:cs typeface="Arial"/>
              </a:rPr>
              <a:t>1:0];</a:t>
            </a:r>
            <a:endParaRPr sz="1550">
              <a:latin typeface="Arial"/>
              <a:cs typeface="Arial"/>
            </a:endParaRPr>
          </a:p>
        </p:txBody>
      </p:sp>
      <p:sp>
        <p:nvSpPr>
          <p:cNvPr id="6" name="object 6"/>
          <p:cNvSpPr/>
          <p:nvPr/>
        </p:nvSpPr>
        <p:spPr>
          <a:xfrm>
            <a:off x="5489333" y="2670810"/>
            <a:ext cx="4331335" cy="1537335"/>
          </a:xfrm>
          <a:custGeom>
            <a:avLst/>
            <a:gdLst/>
            <a:ahLst/>
            <a:cxnLst/>
            <a:rect l="l" t="t" r="r" b="b"/>
            <a:pathLst>
              <a:path w="4331334" h="1537335">
                <a:moveTo>
                  <a:pt x="4331208" y="1536953"/>
                </a:moveTo>
                <a:lnTo>
                  <a:pt x="4331208" y="0"/>
                </a:lnTo>
                <a:lnTo>
                  <a:pt x="0" y="0"/>
                </a:lnTo>
                <a:lnTo>
                  <a:pt x="0" y="1536954"/>
                </a:lnTo>
                <a:lnTo>
                  <a:pt x="4331208" y="1536953"/>
                </a:lnTo>
                <a:close/>
              </a:path>
            </a:pathLst>
          </a:custGeom>
          <a:solidFill>
            <a:srgbClr val="F9FABA"/>
          </a:solidFill>
        </p:spPr>
        <p:txBody>
          <a:bodyPr wrap="square" lIns="0" tIns="0" rIns="0" bIns="0" rtlCol="0"/>
          <a:lstStyle/>
          <a:p>
            <a:endParaRPr/>
          </a:p>
        </p:txBody>
      </p:sp>
      <p:sp>
        <p:nvSpPr>
          <p:cNvPr id="7" name="object 7"/>
          <p:cNvSpPr txBox="1"/>
          <p:nvPr/>
        </p:nvSpPr>
        <p:spPr>
          <a:xfrm>
            <a:off x="5489333" y="2670810"/>
            <a:ext cx="4331335" cy="1537335"/>
          </a:xfrm>
          <a:prstGeom prst="rect">
            <a:avLst/>
          </a:prstGeom>
        </p:spPr>
        <p:txBody>
          <a:bodyPr vert="horz" wrap="square" lIns="0" tIns="51435" rIns="0" bIns="0" rtlCol="0">
            <a:spAutoFit/>
          </a:bodyPr>
          <a:lstStyle/>
          <a:p>
            <a:pPr>
              <a:lnSpc>
                <a:spcPct val="100000"/>
              </a:lnSpc>
              <a:spcBef>
                <a:spcPts val="405"/>
              </a:spcBef>
            </a:pPr>
            <a:endParaRPr sz="1550">
              <a:latin typeface="Times New Roman"/>
              <a:cs typeface="Times New Roman"/>
            </a:endParaRPr>
          </a:p>
          <a:p>
            <a:pPr marL="191135">
              <a:lnSpc>
                <a:spcPct val="100000"/>
              </a:lnSpc>
            </a:pPr>
            <a:r>
              <a:rPr sz="1550" b="1" dirty="0">
                <a:latin typeface="Arial"/>
                <a:cs typeface="Arial"/>
              </a:rPr>
              <a:t>always</a:t>
            </a:r>
            <a:r>
              <a:rPr sz="1550" b="1" spc="60" dirty="0">
                <a:latin typeface="Arial"/>
                <a:cs typeface="Arial"/>
              </a:rPr>
              <a:t> </a:t>
            </a:r>
            <a:r>
              <a:rPr sz="1550" dirty="0">
                <a:latin typeface="Arial"/>
                <a:cs typeface="Arial"/>
              </a:rPr>
              <a:t>@(</a:t>
            </a:r>
            <a:r>
              <a:rPr sz="1550" b="1" dirty="0">
                <a:latin typeface="Arial"/>
                <a:cs typeface="Arial"/>
              </a:rPr>
              <a:t>posedge</a:t>
            </a:r>
            <a:r>
              <a:rPr sz="1550" b="1" spc="55" dirty="0">
                <a:latin typeface="Arial"/>
                <a:cs typeface="Arial"/>
              </a:rPr>
              <a:t> </a:t>
            </a:r>
            <a:r>
              <a:rPr sz="1550" spc="-20" dirty="0">
                <a:latin typeface="Arial"/>
                <a:cs typeface="Arial"/>
              </a:rPr>
              <a:t>clk)</a:t>
            </a:r>
            <a:endParaRPr sz="1550">
              <a:latin typeface="Arial"/>
              <a:cs typeface="Arial"/>
            </a:endParaRPr>
          </a:p>
          <a:p>
            <a:pPr marL="524510">
              <a:lnSpc>
                <a:spcPct val="100000"/>
              </a:lnSpc>
              <a:spcBef>
                <a:spcPts val="35"/>
              </a:spcBef>
            </a:pPr>
            <a:r>
              <a:rPr sz="1550" b="1" spc="-10" dirty="0">
                <a:latin typeface="Arial"/>
                <a:cs typeface="Arial"/>
              </a:rPr>
              <a:t>if</a:t>
            </a:r>
            <a:r>
              <a:rPr sz="1550" spc="-10" dirty="0">
                <a:latin typeface="Arial"/>
                <a:cs typeface="Arial"/>
              </a:rPr>
              <a:t>(wr_en)</a:t>
            </a:r>
            <a:endParaRPr sz="1550">
              <a:latin typeface="Arial"/>
              <a:cs typeface="Arial"/>
            </a:endParaRPr>
          </a:p>
          <a:p>
            <a:pPr marR="958215" algn="r">
              <a:lnSpc>
                <a:spcPct val="100000"/>
              </a:lnSpc>
              <a:spcBef>
                <a:spcPts val="30"/>
              </a:spcBef>
            </a:pPr>
            <a:r>
              <a:rPr sz="1550" dirty="0">
                <a:latin typeface="Arial"/>
                <a:cs typeface="Arial"/>
              </a:rPr>
              <a:t>array_reg[w_addr]</a:t>
            </a:r>
            <a:r>
              <a:rPr sz="1550" spc="75" dirty="0">
                <a:latin typeface="Arial"/>
                <a:cs typeface="Arial"/>
              </a:rPr>
              <a:t> </a:t>
            </a:r>
            <a:r>
              <a:rPr sz="1550" dirty="0">
                <a:latin typeface="Arial"/>
                <a:cs typeface="Arial"/>
              </a:rPr>
              <a:t>&lt;=</a:t>
            </a:r>
            <a:r>
              <a:rPr sz="1550" spc="80" dirty="0">
                <a:latin typeface="Arial"/>
                <a:cs typeface="Arial"/>
              </a:rPr>
              <a:t> </a:t>
            </a:r>
            <a:r>
              <a:rPr sz="1550" spc="-10" dirty="0">
                <a:latin typeface="Arial"/>
                <a:cs typeface="Arial"/>
              </a:rPr>
              <a:t>w_data;</a:t>
            </a:r>
            <a:endParaRPr sz="1550">
              <a:latin typeface="Arial"/>
              <a:cs typeface="Arial"/>
            </a:endParaRPr>
          </a:p>
          <a:p>
            <a:pPr marR="985519" algn="r">
              <a:lnSpc>
                <a:spcPct val="100000"/>
              </a:lnSpc>
              <a:spcBef>
                <a:spcPts val="35"/>
              </a:spcBef>
            </a:pPr>
            <a:r>
              <a:rPr sz="1550" b="1" dirty="0">
                <a:latin typeface="Arial"/>
                <a:cs typeface="Arial"/>
              </a:rPr>
              <a:t>assign</a:t>
            </a:r>
            <a:r>
              <a:rPr sz="1550" b="1" spc="30" dirty="0">
                <a:latin typeface="Arial"/>
                <a:cs typeface="Arial"/>
              </a:rPr>
              <a:t> </a:t>
            </a:r>
            <a:r>
              <a:rPr sz="1550" dirty="0">
                <a:latin typeface="Arial"/>
                <a:cs typeface="Arial"/>
              </a:rPr>
              <a:t>r_data</a:t>
            </a:r>
            <a:r>
              <a:rPr sz="1550" spc="35"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array_reg[r_addr];</a:t>
            </a:r>
            <a:endParaRPr sz="1550">
              <a:latin typeface="Arial"/>
              <a:cs typeface="Arial"/>
            </a:endParaRPr>
          </a:p>
          <a:p>
            <a:pPr marL="79375">
              <a:lnSpc>
                <a:spcPct val="100000"/>
              </a:lnSpc>
              <a:spcBef>
                <a:spcPts val="35"/>
              </a:spcBef>
            </a:pPr>
            <a:r>
              <a:rPr sz="1550" b="1" spc="-10" dirty="0">
                <a:latin typeface="Arial"/>
                <a:cs typeface="Arial"/>
              </a:rPr>
              <a:t>endmodule</a:t>
            </a:r>
            <a:endParaRPr sz="1550">
              <a:latin typeface="Arial"/>
              <a:cs typeface="Arial"/>
            </a:endParaRPr>
          </a:p>
        </p:txBody>
      </p:sp>
      <p:sp>
        <p:nvSpPr>
          <p:cNvPr id="8" name="object 8"/>
          <p:cNvSpPr/>
          <p:nvPr/>
        </p:nvSpPr>
        <p:spPr>
          <a:xfrm>
            <a:off x="1576463" y="5295138"/>
            <a:ext cx="3556000" cy="379730"/>
          </a:xfrm>
          <a:custGeom>
            <a:avLst/>
            <a:gdLst/>
            <a:ahLst/>
            <a:cxnLst/>
            <a:rect l="l" t="t" r="r" b="b"/>
            <a:pathLst>
              <a:path w="3556000" h="379729">
                <a:moveTo>
                  <a:pt x="3543300" y="185165"/>
                </a:moveTo>
                <a:lnTo>
                  <a:pt x="3543300" y="160019"/>
                </a:lnTo>
                <a:lnTo>
                  <a:pt x="3530600" y="155447"/>
                </a:lnTo>
                <a:lnTo>
                  <a:pt x="3479800" y="132981"/>
                </a:lnTo>
                <a:lnTo>
                  <a:pt x="3429000" y="116168"/>
                </a:lnTo>
                <a:lnTo>
                  <a:pt x="3378200" y="103584"/>
                </a:lnTo>
                <a:lnTo>
                  <a:pt x="3327400" y="93805"/>
                </a:lnTo>
                <a:lnTo>
                  <a:pt x="3276600" y="85405"/>
                </a:lnTo>
                <a:lnTo>
                  <a:pt x="3225800" y="76961"/>
                </a:lnTo>
                <a:lnTo>
                  <a:pt x="3175000" y="69341"/>
                </a:lnTo>
                <a:lnTo>
                  <a:pt x="3124200" y="63339"/>
                </a:lnTo>
                <a:lnTo>
                  <a:pt x="3073400" y="57711"/>
                </a:lnTo>
                <a:lnTo>
                  <a:pt x="3022600" y="52443"/>
                </a:lnTo>
                <a:lnTo>
                  <a:pt x="2971800" y="47523"/>
                </a:lnTo>
                <a:lnTo>
                  <a:pt x="2921000" y="42936"/>
                </a:lnTo>
                <a:lnTo>
                  <a:pt x="2870200" y="38668"/>
                </a:lnTo>
                <a:lnTo>
                  <a:pt x="2819400" y="34706"/>
                </a:lnTo>
                <a:lnTo>
                  <a:pt x="2768600" y="31035"/>
                </a:lnTo>
                <a:lnTo>
                  <a:pt x="2717800" y="27643"/>
                </a:lnTo>
                <a:lnTo>
                  <a:pt x="2667000" y="24515"/>
                </a:lnTo>
                <a:lnTo>
                  <a:pt x="2616200" y="21638"/>
                </a:lnTo>
                <a:lnTo>
                  <a:pt x="2565400" y="18997"/>
                </a:lnTo>
                <a:lnTo>
                  <a:pt x="2514600" y="16579"/>
                </a:lnTo>
                <a:lnTo>
                  <a:pt x="2463800" y="14371"/>
                </a:lnTo>
                <a:lnTo>
                  <a:pt x="2413000" y="12358"/>
                </a:lnTo>
                <a:lnTo>
                  <a:pt x="2362200" y="10526"/>
                </a:lnTo>
                <a:lnTo>
                  <a:pt x="2311400" y="8863"/>
                </a:lnTo>
                <a:lnTo>
                  <a:pt x="2260600" y="7353"/>
                </a:lnTo>
                <a:lnTo>
                  <a:pt x="2209800" y="5984"/>
                </a:lnTo>
                <a:lnTo>
                  <a:pt x="2159000" y="4742"/>
                </a:lnTo>
                <a:lnTo>
                  <a:pt x="2108200" y="3612"/>
                </a:lnTo>
                <a:lnTo>
                  <a:pt x="2057400" y="2581"/>
                </a:lnTo>
                <a:lnTo>
                  <a:pt x="2006600" y="1636"/>
                </a:lnTo>
                <a:lnTo>
                  <a:pt x="1955800" y="761"/>
                </a:lnTo>
                <a:lnTo>
                  <a:pt x="1866900" y="0"/>
                </a:lnTo>
                <a:lnTo>
                  <a:pt x="1689100" y="0"/>
                </a:lnTo>
                <a:lnTo>
                  <a:pt x="1587500" y="761"/>
                </a:lnTo>
                <a:lnTo>
                  <a:pt x="1536700" y="1684"/>
                </a:lnTo>
                <a:lnTo>
                  <a:pt x="1485900" y="2672"/>
                </a:lnTo>
                <a:lnTo>
                  <a:pt x="1435100" y="3741"/>
                </a:lnTo>
                <a:lnTo>
                  <a:pt x="1384300" y="4907"/>
                </a:lnTo>
                <a:lnTo>
                  <a:pt x="1333500" y="6186"/>
                </a:lnTo>
                <a:lnTo>
                  <a:pt x="1282700" y="7593"/>
                </a:lnTo>
                <a:lnTo>
                  <a:pt x="1231900" y="9146"/>
                </a:lnTo>
                <a:lnTo>
                  <a:pt x="1181100" y="10859"/>
                </a:lnTo>
                <a:lnTo>
                  <a:pt x="1130300" y="12750"/>
                </a:lnTo>
                <a:lnTo>
                  <a:pt x="1079500" y="14832"/>
                </a:lnTo>
                <a:lnTo>
                  <a:pt x="1028700" y="17124"/>
                </a:lnTo>
                <a:lnTo>
                  <a:pt x="977900" y="19640"/>
                </a:lnTo>
                <a:lnTo>
                  <a:pt x="914400" y="22397"/>
                </a:lnTo>
                <a:lnTo>
                  <a:pt x="863600" y="25410"/>
                </a:lnTo>
                <a:lnTo>
                  <a:pt x="812800" y="28695"/>
                </a:lnTo>
                <a:lnTo>
                  <a:pt x="762000" y="32269"/>
                </a:lnTo>
                <a:lnTo>
                  <a:pt x="711200" y="36147"/>
                </a:lnTo>
                <a:lnTo>
                  <a:pt x="660400" y="40345"/>
                </a:lnTo>
                <a:lnTo>
                  <a:pt x="609600" y="44879"/>
                </a:lnTo>
                <a:lnTo>
                  <a:pt x="558800" y="49766"/>
                </a:lnTo>
                <a:lnTo>
                  <a:pt x="508000" y="55020"/>
                </a:lnTo>
                <a:lnTo>
                  <a:pt x="457200" y="60659"/>
                </a:lnTo>
                <a:lnTo>
                  <a:pt x="406400" y="66697"/>
                </a:lnTo>
                <a:lnTo>
                  <a:pt x="355600" y="73152"/>
                </a:lnTo>
                <a:lnTo>
                  <a:pt x="330200" y="76962"/>
                </a:lnTo>
                <a:lnTo>
                  <a:pt x="304800" y="80010"/>
                </a:lnTo>
                <a:lnTo>
                  <a:pt x="254000" y="87817"/>
                </a:lnTo>
                <a:lnTo>
                  <a:pt x="203200" y="96443"/>
                </a:lnTo>
                <a:lnTo>
                  <a:pt x="152400" y="106703"/>
                </a:lnTo>
                <a:lnTo>
                  <a:pt x="101600" y="119413"/>
                </a:lnTo>
                <a:lnTo>
                  <a:pt x="63500" y="135389"/>
                </a:lnTo>
                <a:lnTo>
                  <a:pt x="12699" y="155448"/>
                </a:lnTo>
                <a:lnTo>
                  <a:pt x="0" y="166116"/>
                </a:lnTo>
                <a:lnTo>
                  <a:pt x="0" y="214884"/>
                </a:lnTo>
                <a:lnTo>
                  <a:pt x="12700" y="219456"/>
                </a:lnTo>
                <a:lnTo>
                  <a:pt x="12699" y="176784"/>
                </a:lnTo>
                <a:lnTo>
                  <a:pt x="25400" y="172974"/>
                </a:lnTo>
                <a:lnTo>
                  <a:pt x="25400" y="169164"/>
                </a:lnTo>
                <a:lnTo>
                  <a:pt x="76200" y="147752"/>
                </a:lnTo>
                <a:lnTo>
                  <a:pt x="127000" y="131659"/>
                </a:lnTo>
                <a:lnTo>
                  <a:pt x="177800" y="119510"/>
                </a:lnTo>
                <a:lnTo>
                  <a:pt x="228600" y="109928"/>
                </a:lnTo>
                <a:lnTo>
                  <a:pt x="279400" y="101538"/>
                </a:lnTo>
                <a:lnTo>
                  <a:pt x="330200" y="92964"/>
                </a:lnTo>
                <a:lnTo>
                  <a:pt x="355600" y="89916"/>
                </a:lnTo>
                <a:lnTo>
                  <a:pt x="381000" y="86106"/>
                </a:lnTo>
                <a:lnTo>
                  <a:pt x="431800" y="80062"/>
                </a:lnTo>
                <a:lnTo>
                  <a:pt x="482600" y="74395"/>
                </a:lnTo>
                <a:lnTo>
                  <a:pt x="533400" y="69092"/>
                </a:lnTo>
                <a:lnTo>
                  <a:pt x="584200" y="64140"/>
                </a:lnTo>
                <a:lnTo>
                  <a:pt x="635000" y="59524"/>
                </a:lnTo>
                <a:lnTo>
                  <a:pt x="685800" y="55230"/>
                </a:lnTo>
                <a:lnTo>
                  <a:pt x="736600" y="51246"/>
                </a:lnTo>
                <a:lnTo>
                  <a:pt x="787400" y="47557"/>
                </a:lnTo>
                <a:lnTo>
                  <a:pt x="838200" y="44149"/>
                </a:lnTo>
                <a:lnTo>
                  <a:pt x="889000" y="41010"/>
                </a:lnTo>
                <a:lnTo>
                  <a:pt x="939800" y="38125"/>
                </a:lnTo>
                <a:lnTo>
                  <a:pt x="990600" y="35480"/>
                </a:lnTo>
                <a:lnTo>
                  <a:pt x="1041400" y="33062"/>
                </a:lnTo>
                <a:lnTo>
                  <a:pt x="1092200" y="30858"/>
                </a:lnTo>
                <a:lnTo>
                  <a:pt x="1143000" y="28853"/>
                </a:lnTo>
                <a:lnTo>
                  <a:pt x="1193800" y="27034"/>
                </a:lnTo>
                <a:lnTo>
                  <a:pt x="1244600" y="25386"/>
                </a:lnTo>
                <a:lnTo>
                  <a:pt x="1295400" y="23898"/>
                </a:lnTo>
                <a:lnTo>
                  <a:pt x="1346200" y="22554"/>
                </a:lnTo>
                <a:lnTo>
                  <a:pt x="1397000" y="21341"/>
                </a:lnTo>
                <a:lnTo>
                  <a:pt x="1447800" y="20245"/>
                </a:lnTo>
                <a:lnTo>
                  <a:pt x="1485900" y="19253"/>
                </a:lnTo>
                <a:lnTo>
                  <a:pt x="1536700" y="18351"/>
                </a:lnTo>
                <a:lnTo>
                  <a:pt x="1587500" y="17525"/>
                </a:lnTo>
                <a:lnTo>
                  <a:pt x="1689100" y="16763"/>
                </a:lnTo>
                <a:lnTo>
                  <a:pt x="1866900" y="16763"/>
                </a:lnTo>
                <a:lnTo>
                  <a:pt x="1955800" y="17525"/>
                </a:lnTo>
                <a:lnTo>
                  <a:pt x="2006600" y="18417"/>
                </a:lnTo>
                <a:lnTo>
                  <a:pt x="2057400" y="19373"/>
                </a:lnTo>
                <a:lnTo>
                  <a:pt x="2108200" y="20408"/>
                </a:lnTo>
                <a:lnTo>
                  <a:pt x="2159000" y="21541"/>
                </a:lnTo>
                <a:lnTo>
                  <a:pt x="2209800" y="22787"/>
                </a:lnTo>
                <a:lnTo>
                  <a:pt x="2260600" y="24163"/>
                </a:lnTo>
                <a:lnTo>
                  <a:pt x="2311400" y="25685"/>
                </a:lnTo>
                <a:lnTo>
                  <a:pt x="2362200" y="27369"/>
                </a:lnTo>
                <a:lnTo>
                  <a:pt x="2425700" y="29233"/>
                </a:lnTo>
                <a:lnTo>
                  <a:pt x="2476500" y="31293"/>
                </a:lnTo>
                <a:lnTo>
                  <a:pt x="2527300" y="33565"/>
                </a:lnTo>
                <a:lnTo>
                  <a:pt x="2578100" y="36066"/>
                </a:lnTo>
                <a:lnTo>
                  <a:pt x="2628900" y="38812"/>
                </a:lnTo>
                <a:lnTo>
                  <a:pt x="2679700" y="41819"/>
                </a:lnTo>
                <a:lnTo>
                  <a:pt x="2730500" y="45105"/>
                </a:lnTo>
                <a:lnTo>
                  <a:pt x="2781300" y="48686"/>
                </a:lnTo>
                <a:lnTo>
                  <a:pt x="2832100" y="52577"/>
                </a:lnTo>
                <a:lnTo>
                  <a:pt x="2882900" y="56796"/>
                </a:lnTo>
                <a:lnTo>
                  <a:pt x="2933700" y="61360"/>
                </a:lnTo>
                <a:lnTo>
                  <a:pt x="2984500" y="66284"/>
                </a:lnTo>
                <a:lnTo>
                  <a:pt x="3035300" y="71585"/>
                </a:lnTo>
                <a:lnTo>
                  <a:pt x="3086100" y="77280"/>
                </a:lnTo>
                <a:lnTo>
                  <a:pt x="3136900" y="83384"/>
                </a:lnTo>
                <a:lnTo>
                  <a:pt x="3187700" y="89915"/>
                </a:lnTo>
                <a:lnTo>
                  <a:pt x="3213100" y="92963"/>
                </a:lnTo>
                <a:lnTo>
                  <a:pt x="3238500" y="96773"/>
                </a:lnTo>
                <a:lnTo>
                  <a:pt x="3289300" y="103976"/>
                </a:lnTo>
                <a:lnTo>
                  <a:pt x="3340100" y="112338"/>
                </a:lnTo>
                <a:lnTo>
                  <a:pt x="3390900" y="122448"/>
                </a:lnTo>
                <a:lnTo>
                  <a:pt x="3441700" y="134896"/>
                </a:lnTo>
                <a:lnTo>
                  <a:pt x="3479800" y="150271"/>
                </a:lnTo>
                <a:lnTo>
                  <a:pt x="3517900" y="169163"/>
                </a:lnTo>
                <a:lnTo>
                  <a:pt x="3530600" y="173735"/>
                </a:lnTo>
                <a:lnTo>
                  <a:pt x="3530600" y="180593"/>
                </a:lnTo>
                <a:lnTo>
                  <a:pt x="3543300" y="185165"/>
                </a:lnTo>
                <a:close/>
              </a:path>
              <a:path w="3556000" h="379729">
                <a:moveTo>
                  <a:pt x="3543300" y="219455"/>
                </a:moveTo>
                <a:lnTo>
                  <a:pt x="3543300" y="195071"/>
                </a:lnTo>
                <a:lnTo>
                  <a:pt x="3530600" y="199643"/>
                </a:lnTo>
                <a:lnTo>
                  <a:pt x="3530600" y="206501"/>
                </a:lnTo>
                <a:lnTo>
                  <a:pt x="3517900" y="211073"/>
                </a:lnTo>
                <a:lnTo>
                  <a:pt x="3479800" y="230908"/>
                </a:lnTo>
                <a:lnTo>
                  <a:pt x="3429000" y="246992"/>
                </a:lnTo>
                <a:lnTo>
                  <a:pt x="3378200" y="259961"/>
                </a:lnTo>
                <a:lnTo>
                  <a:pt x="3314700" y="270447"/>
                </a:lnTo>
                <a:lnTo>
                  <a:pt x="3263900" y="279086"/>
                </a:lnTo>
                <a:lnTo>
                  <a:pt x="3213100" y="286511"/>
                </a:lnTo>
                <a:lnTo>
                  <a:pt x="3187700" y="290321"/>
                </a:lnTo>
                <a:lnTo>
                  <a:pt x="3111500" y="299438"/>
                </a:lnTo>
                <a:lnTo>
                  <a:pt x="3073400" y="305137"/>
                </a:lnTo>
                <a:lnTo>
                  <a:pt x="3022600" y="310480"/>
                </a:lnTo>
                <a:lnTo>
                  <a:pt x="2971800" y="315479"/>
                </a:lnTo>
                <a:lnTo>
                  <a:pt x="2921000" y="320146"/>
                </a:lnTo>
                <a:lnTo>
                  <a:pt x="2870200" y="324493"/>
                </a:lnTo>
                <a:lnTo>
                  <a:pt x="2819400" y="328533"/>
                </a:lnTo>
                <a:lnTo>
                  <a:pt x="2768600" y="332277"/>
                </a:lnTo>
                <a:lnTo>
                  <a:pt x="2717800" y="335738"/>
                </a:lnTo>
                <a:lnTo>
                  <a:pt x="2667000" y="338927"/>
                </a:lnTo>
                <a:lnTo>
                  <a:pt x="2616200" y="341858"/>
                </a:lnTo>
                <a:lnTo>
                  <a:pt x="2565400" y="344543"/>
                </a:lnTo>
                <a:lnTo>
                  <a:pt x="2514600" y="346992"/>
                </a:lnTo>
                <a:lnTo>
                  <a:pt x="2463800" y="349220"/>
                </a:lnTo>
                <a:lnTo>
                  <a:pt x="2413000" y="351237"/>
                </a:lnTo>
                <a:lnTo>
                  <a:pt x="2362200" y="353057"/>
                </a:lnTo>
                <a:lnTo>
                  <a:pt x="2311400" y="354690"/>
                </a:lnTo>
                <a:lnTo>
                  <a:pt x="2260600" y="356151"/>
                </a:lnTo>
                <a:lnTo>
                  <a:pt x="2209800" y="357449"/>
                </a:lnTo>
                <a:lnTo>
                  <a:pt x="2159000" y="358599"/>
                </a:lnTo>
                <a:lnTo>
                  <a:pt x="2108200" y="359612"/>
                </a:lnTo>
                <a:lnTo>
                  <a:pt x="2057400" y="360499"/>
                </a:lnTo>
                <a:lnTo>
                  <a:pt x="2006600" y="361275"/>
                </a:lnTo>
                <a:lnTo>
                  <a:pt x="1955800" y="361949"/>
                </a:lnTo>
                <a:lnTo>
                  <a:pt x="1866900" y="362711"/>
                </a:lnTo>
                <a:lnTo>
                  <a:pt x="1689100" y="362711"/>
                </a:lnTo>
                <a:lnTo>
                  <a:pt x="1587500" y="361949"/>
                </a:lnTo>
                <a:lnTo>
                  <a:pt x="1536700" y="361269"/>
                </a:lnTo>
                <a:lnTo>
                  <a:pt x="1485900" y="360480"/>
                </a:lnTo>
                <a:lnTo>
                  <a:pt x="1435100" y="359569"/>
                </a:lnTo>
                <a:lnTo>
                  <a:pt x="1384300" y="358524"/>
                </a:lnTo>
                <a:lnTo>
                  <a:pt x="1333500" y="357333"/>
                </a:lnTo>
                <a:lnTo>
                  <a:pt x="1282700" y="355983"/>
                </a:lnTo>
                <a:lnTo>
                  <a:pt x="1231900" y="354462"/>
                </a:lnTo>
                <a:lnTo>
                  <a:pt x="1181100" y="352758"/>
                </a:lnTo>
                <a:lnTo>
                  <a:pt x="1130300" y="350857"/>
                </a:lnTo>
                <a:lnTo>
                  <a:pt x="1079500" y="348747"/>
                </a:lnTo>
                <a:lnTo>
                  <a:pt x="1028700" y="346416"/>
                </a:lnTo>
                <a:lnTo>
                  <a:pt x="977900" y="343852"/>
                </a:lnTo>
                <a:lnTo>
                  <a:pt x="927100" y="341042"/>
                </a:lnTo>
                <a:lnTo>
                  <a:pt x="863600" y="337973"/>
                </a:lnTo>
                <a:lnTo>
                  <a:pt x="812800" y="334633"/>
                </a:lnTo>
                <a:lnTo>
                  <a:pt x="762000" y="331009"/>
                </a:lnTo>
                <a:lnTo>
                  <a:pt x="711200" y="327090"/>
                </a:lnTo>
                <a:lnTo>
                  <a:pt x="660400" y="322862"/>
                </a:lnTo>
                <a:lnTo>
                  <a:pt x="609600" y="318314"/>
                </a:lnTo>
                <a:lnTo>
                  <a:pt x="558800" y="313432"/>
                </a:lnTo>
                <a:lnTo>
                  <a:pt x="508000" y="308204"/>
                </a:lnTo>
                <a:lnTo>
                  <a:pt x="457200" y="302618"/>
                </a:lnTo>
                <a:lnTo>
                  <a:pt x="406400" y="296661"/>
                </a:lnTo>
                <a:lnTo>
                  <a:pt x="355600" y="290322"/>
                </a:lnTo>
                <a:lnTo>
                  <a:pt x="304800" y="282702"/>
                </a:lnTo>
                <a:lnTo>
                  <a:pt x="266700" y="275910"/>
                </a:lnTo>
                <a:lnTo>
                  <a:pt x="215900" y="267555"/>
                </a:lnTo>
                <a:lnTo>
                  <a:pt x="165100" y="257227"/>
                </a:lnTo>
                <a:lnTo>
                  <a:pt x="114300" y="244517"/>
                </a:lnTo>
                <a:lnTo>
                  <a:pt x="63500" y="229015"/>
                </a:lnTo>
                <a:lnTo>
                  <a:pt x="25400" y="210312"/>
                </a:lnTo>
                <a:lnTo>
                  <a:pt x="25400" y="206502"/>
                </a:lnTo>
                <a:lnTo>
                  <a:pt x="12700" y="201930"/>
                </a:lnTo>
                <a:lnTo>
                  <a:pt x="63500" y="245941"/>
                </a:lnTo>
                <a:lnTo>
                  <a:pt x="114300" y="262571"/>
                </a:lnTo>
                <a:lnTo>
                  <a:pt x="165100" y="275648"/>
                </a:lnTo>
                <a:lnTo>
                  <a:pt x="228600" y="286145"/>
                </a:lnTo>
                <a:lnTo>
                  <a:pt x="279400" y="295030"/>
                </a:lnTo>
                <a:lnTo>
                  <a:pt x="330200" y="303276"/>
                </a:lnTo>
                <a:lnTo>
                  <a:pt x="355600" y="306324"/>
                </a:lnTo>
                <a:lnTo>
                  <a:pt x="381000" y="310134"/>
                </a:lnTo>
                <a:lnTo>
                  <a:pt x="431800" y="316133"/>
                </a:lnTo>
                <a:lnTo>
                  <a:pt x="482600" y="321775"/>
                </a:lnTo>
                <a:lnTo>
                  <a:pt x="533400" y="327072"/>
                </a:lnTo>
                <a:lnTo>
                  <a:pt x="584200" y="332035"/>
                </a:lnTo>
                <a:lnTo>
                  <a:pt x="635000" y="336675"/>
                </a:lnTo>
                <a:lnTo>
                  <a:pt x="685800" y="341003"/>
                </a:lnTo>
                <a:lnTo>
                  <a:pt x="736600" y="345032"/>
                </a:lnTo>
                <a:lnTo>
                  <a:pt x="787400" y="348773"/>
                </a:lnTo>
                <a:lnTo>
                  <a:pt x="838200" y="352236"/>
                </a:lnTo>
                <a:lnTo>
                  <a:pt x="889000" y="355434"/>
                </a:lnTo>
                <a:lnTo>
                  <a:pt x="939800" y="358377"/>
                </a:lnTo>
                <a:lnTo>
                  <a:pt x="990600" y="361078"/>
                </a:lnTo>
                <a:lnTo>
                  <a:pt x="1041400" y="363547"/>
                </a:lnTo>
                <a:lnTo>
                  <a:pt x="1092200" y="365797"/>
                </a:lnTo>
                <a:lnTo>
                  <a:pt x="1143000" y="367838"/>
                </a:lnTo>
                <a:lnTo>
                  <a:pt x="1193800" y="369682"/>
                </a:lnTo>
                <a:lnTo>
                  <a:pt x="1244600" y="371341"/>
                </a:lnTo>
                <a:lnTo>
                  <a:pt x="1295400" y="372825"/>
                </a:lnTo>
                <a:lnTo>
                  <a:pt x="1346200" y="374147"/>
                </a:lnTo>
                <a:lnTo>
                  <a:pt x="1397000" y="375317"/>
                </a:lnTo>
                <a:lnTo>
                  <a:pt x="1447800" y="376348"/>
                </a:lnTo>
                <a:lnTo>
                  <a:pt x="1485900" y="377249"/>
                </a:lnTo>
                <a:lnTo>
                  <a:pt x="1536700" y="378034"/>
                </a:lnTo>
                <a:lnTo>
                  <a:pt x="1587500" y="378713"/>
                </a:lnTo>
                <a:lnTo>
                  <a:pt x="1689100" y="379475"/>
                </a:lnTo>
                <a:lnTo>
                  <a:pt x="1866900" y="379475"/>
                </a:lnTo>
                <a:lnTo>
                  <a:pt x="1955800" y="378713"/>
                </a:lnTo>
                <a:lnTo>
                  <a:pt x="2006600" y="377971"/>
                </a:lnTo>
                <a:lnTo>
                  <a:pt x="2057400" y="377134"/>
                </a:lnTo>
                <a:lnTo>
                  <a:pt x="2108200" y="376188"/>
                </a:lnTo>
                <a:lnTo>
                  <a:pt x="2159000" y="375120"/>
                </a:lnTo>
                <a:lnTo>
                  <a:pt x="2209800" y="373916"/>
                </a:lnTo>
                <a:lnTo>
                  <a:pt x="2260600" y="372560"/>
                </a:lnTo>
                <a:lnTo>
                  <a:pt x="2311400" y="371040"/>
                </a:lnTo>
                <a:lnTo>
                  <a:pt x="2374900" y="369341"/>
                </a:lnTo>
                <a:lnTo>
                  <a:pt x="2425700" y="367449"/>
                </a:lnTo>
                <a:lnTo>
                  <a:pt x="2476500" y="365349"/>
                </a:lnTo>
                <a:lnTo>
                  <a:pt x="2527300" y="363029"/>
                </a:lnTo>
                <a:lnTo>
                  <a:pt x="2578100" y="360473"/>
                </a:lnTo>
                <a:lnTo>
                  <a:pt x="2628900" y="357668"/>
                </a:lnTo>
                <a:lnTo>
                  <a:pt x="2679700" y="354599"/>
                </a:lnTo>
                <a:lnTo>
                  <a:pt x="2730500" y="351253"/>
                </a:lnTo>
                <a:lnTo>
                  <a:pt x="2781300" y="347615"/>
                </a:lnTo>
                <a:lnTo>
                  <a:pt x="2832100" y="343672"/>
                </a:lnTo>
                <a:lnTo>
                  <a:pt x="2882900" y="339409"/>
                </a:lnTo>
                <a:lnTo>
                  <a:pt x="2933700" y="334811"/>
                </a:lnTo>
                <a:lnTo>
                  <a:pt x="2984500" y="329866"/>
                </a:lnTo>
                <a:lnTo>
                  <a:pt x="3048000" y="324559"/>
                </a:lnTo>
                <a:lnTo>
                  <a:pt x="3098800" y="318875"/>
                </a:lnTo>
                <a:lnTo>
                  <a:pt x="3149600" y="312802"/>
                </a:lnTo>
                <a:lnTo>
                  <a:pt x="3200400" y="306323"/>
                </a:lnTo>
                <a:lnTo>
                  <a:pt x="3225800" y="303275"/>
                </a:lnTo>
                <a:lnTo>
                  <a:pt x="3251200" y="299465"/>
                </a:lnTo>
                <a:lnTo>
                  <a:pt x="3289300" y="291793"/>
                </a:lnTo>
                <a:lnTo>
                  <a:pt x="3340100" y="283142"/>
                </a:lnTo>
                <a:lnTo>
                  <a:pt x="3390900" y="272776"/>
                </a:lnTo>
                <a:lnTo>
                  <a:pt x="3441700" y="259960"/>
                </a:lnTo>
                <a:lnTo>
                  <a:pt x="3492500" y="243956"/>
                </a:lnTo>
                <a:lnTo>
                  <a:pt x="3530600" y="224027"/>
                </a:lnTo>
                <a:lnTo>
                  <a:pt x="3543300" y="219455"/>
                </a:lnTo>
                <a:close/>
              </a:path>
              <a:path w="3556000" h="379729">
                <a:moveTo>
                  <a:pt x="3556000" y="203453"/>
                </a:moveTo>
                <a:lnTo>
                  <a:pt x="3556000" y="176021"/>
                </a:lnTo>
                <a:lnTo>
                  <a:pt x="3543300" y="171449"/>
                </a:lnTo>
                <a:lnTo>
                  <a:pt x="3543300" y="208025"/>
                </a:lnTo>
                <a:lnTo>
                  <a:pt x="3556000" y="203453"/>
                </a:lnTo>
                <a:close/>
              </a:path>
            </a:pathLst>
          </a:custGeom>
          <a:solidFill>
            <a:srgbClr val="FF0000"/>
          </a:solidFill>
        </p:spPr>
        <p:txBody>
          <a:bodyPr wrap="square" lIns="0" tIns="0" rIns="0" bIns="0" rtlCol="0"/>
          <a:lstStyle/>
          <a:p>
            <a:endParaRPr/>
          </a:p>
        </p:txBody>
      </p:sp>
      <p:sp>
        <p:nvSpPr>
          <p:cNvPr id="9" name="object 9"/>
          <p:cNvSpPr txBox="1"/>
          <p:nvPr/>
        </p:nvSpPr>
        <p:spPr>
          <a:xfrm>
            <a:off x="802520" y="5786882"/>
            <a:ext cx="9006840" cy="508000"/>
          </a:xfrm>
          <a:prstGeom prst="rect">
            <a:avLst/>
          </a:prstGeom>
        </p:spPr>
        <p:txBody>
          <a:bodyPr vert="horz" wrap="square" lIns="0" tIns="15875" rIns="0" bIns="0" rtlCol="0">
            <a:spAutoFit/>
          </a:bodyPr>
          <a:lstStyle/>
          <a:p>
            <a:pPr marL="12700">
              <a:lnSpc>
                <a:spcPct val="100000"/>
              </a:lnSpc>
              <a:spcBef>
                <a:spcPts val="125"/>
              </a:spcBef>
            </a:pPr>
            <a:r>
              <a:rPr lang="zh-CN" altLang="en-US" sz="1550" b="1" dirty="0">
                <a:latin typeface="微软雅黑"/>
                <a:cs typeface="微软雅黑"/>
              </a:rPr>
              <a:t>一</a:t>
            </a:r>
            <a:r>
              <a:rPr sz="1550" b="1" dirty="0" err="1">
                <a:latin typeface="微软雅黑"/>
                <a:cs typeface="微软雅黑"/>
              </a:rPr>
              <a:t>维数组的数据类型：</a:t>
            </a:r>
            <a:r>
              <a:rPr sz="1550" dirty="0" err="1">
                <a:latin typeface="微软雅黑"/>
                <a:cs typeface="微软雅黑"/>
              </a:rPr>
              <a:t>表示</a:t>
            </a:r>
            <a:r>
              <a:rPr sz="1550" dirty="0" err="1">
                <a:latin typeface="Arial"/>
                <a:cs typeface="Arial"/>
              </a:rPr>
              <a:t>array_reg</a:t>
            </a:r>
            <a:r>
              <a:rPr sz="1550" dirty="0" err="1">
                <a:latin typeface="微软雅黑"/>
                <a:cs typeface="微软雅黑"/>
              </a:rPr>
              <a:t>变量是一个含有</a:t>
            </a:r>
            <a:r>
              <a:rPr sz="1550" dirty="0">
                <a:latin typeface="Arial"/>
                <a:cs typeface="Arial"/>
              </a:rPr>
              <a:t>[2**W-1:0]</a:t>
            </a:r>
            <a:r>
              <a:rPr sz="1550" spc="-5" dirty="0">
                <a:latin typeface="微软雅黑"/>
                <a:cs typeface="微软雅黑"/>
              </a:rPr>
              <a:t>个元素的数组，每个元素的数据类型是</a:t>
            </a:r>
            <a:endParaRPr sz="1550" dirty="0">
              <a:latin typeface="微软雅黑"/>
              <a:cs typeface="微软雅黑"/>
            </a:endParaRPr>
          </a:p>
          <a:p>
            <a:pPr marL="12700">
              <a:lnSpc>
                <a:spcPct val="100000"/>
              </a:lnSpc>
              <a:spcBef>
                <a:spcPts val="45"/>
              </a:spcBef>
            </a:pPr>
            <a:r>
              <a:rPr sz="1550" dirty="0">
                <a:latin typeface="Arial"/>
                <a:cs typeface="Arial"/>
              </a:rPr>
              <a:t>reg</a:t>
            </a:r>
            <a:r>
              <a:rPr sz="1550" spc="40" dirty="0">
                <a:latin typeface="Arial"/>
                <a:cs typeface="Arial"/>
              </a:rPr>
              <a:t> </a:t>
            </a:r>
            <a:r>
              <a:rPr sz="1550" dirty="0">
                <a:latin typeface="Arial"/>
                <a:cs typeface="Arial"/>
              </a:rPr>
              <a:t>[N-</a:t>
            </a:r>
            <a:r>
              <a:rPr sz="1550" spc="-20" dirty="0">
                <a:latin typeface="Arial"/>
                <a:cs typeface="Arial"/>
              </a:rPr>
              <a:t>1:0]</a:t>
            </a:r>
            <a:endParaRPr sz="1550" dirty="0">
              <a:latin typeface="Arial"/>
              <a:cs typeface="Arial"/>
            </a:endParaRPr>
          </a:p>
        </p:txBody>
      </p:sp>
      <p:sp>
        <p:nvSpPr>
          <p:cNvPr id="10" name="object 10"/>
          <p:cNvSpPr/>
          <p:nvPr/>
        </p:nvSpPr>
        <p:spPr>
          <a:xfrm>
            <a:off x="7105522" y="3411473"/>
            <a:ext cx="1913889" cy="338455"/>
          </a:xfrm>
          <a:custGeom>
            <a:avLst/>
            <a:gdLst/>
            <a:ahLst/>
            <a:cxnLst/>
            <a:rect l="l" t="t" r="r" b="b"/>
            <a:pathLst>
              <a:path w="1913890" h="338454">
                <a:moveTo>
                  <a:pt x="1524" y="178307"/>
                </a:moveTo>
                <a:lnTo>
                  <a:pt x="1523" y="159257"/>
                </a:lnTo>
                <a:lnTo>
                  <a:pt x="0" y="167639"/>
                </a:lnTo>
                <a:lnTo>
                  <a:pt x="0" y="169925"/>
                </a:lnTo>
                <a:lnTo>
                  <a:pt x="1524" y="178307"/>
                </a:lnTo>
                <a:close/>
              </a:path>
              <a:path w="1913890" h="338454">
                <a:moveTo>
                  <a:pt x="1907286" y="189737"/>
                </a:moveTo>
                <a:lnTo>
                  <a:pt x="1907286" y="147827"/>
                </a:lnTo>
                <a:lnTo>
                  <a:pt x="1906524" y="147827"/>
                </a:lnTo>
                <a:lnTo>
                  <a:pt x="1900427" y="139445"/>
                </a:lnTo>
                <a:lnTo>
                  <a:pt x="1851082" y="106266"/>
                </a:lnTo>
                <a:lnTo>
                  <a:pt x="1804370" y="87868"/>
                </a:lnTo>
                <a:lnTo>
                  <a:pt x="1754291" y="73410"/>
                </a:lnTo>
                <a:lnTo>
                  <a:pt x="1704745" y="61958"/>
                </a:lnTo>
                <a:lnTo>
                  <a:pt x="1659636" y="52577"/>
                </a:lnTo>
                <a:lnTo>
                  <a:pt x="1595628" y="41909"/>
                </a:lnTo>
                <a:lnTo>
                  <a:pt x="1546113" y="34798"/>
                </a:lnTo>
                <a:lnTo>
                  <a:pt x="1496508" y="28520"/>
                </a:lnTo>
                <a:lnTo>
                  <a:pt x="1446823" y="23018"/>
                </a:lnTo>
                <a:lnTo>
                  <a:pt x="1397067" y="18233"/>
                </a:lnTo>
                <a:lnTo>
                  <a:pt x="1347251" y="14109"/>
                </a:lnTo>
                <a:lnTo>
                  <a:pt x="1297384" y="10586"/>
                </a:lnTo>
                <a:lnTo>
                  <a:pt x="1247475" y="7607"/>
                </a:lnTo>
                <a:lnTo>
                  <a:pt x="1197534" y="5113"/>
                </a:lnTo>
                <a:lnTo>
                  <a:pt x="1147572" y="3047"/>
                </a:lnTo>
                <a:lnTo>
                  <a:pt x="1101090" y="1523"/>
                </a:lnTo>
                <a:lnTo>
                  <a:pt x="1053846" y="761"/>
                </a:lnTo>
                <a:lnTo>
                  <a:pt x="956310" y="0"/>
                </a:lnTo>
                <a:lnTo>
                  <a:pt x="859536" y="761"/>
                </a:lnTo>
                <a:lnTo>
                  <a:pt x="812292" y="1790"/>
                </a:lnTo>
                <a:lnTo>
                  <a:pt x="754769" y="3564"/>
                </a:lnTo>
                <a:lnTo>
                  <a:pt x="702199" y="5777"/>
                </a:lnTo>
                <a:lnTo>
                  <a:pt x="649584" y="8564"/>
                </a:lnTo>
                <a:lnTo>
                  <a:pt x="596981" y="11952"/>
                </a:lnTo>
                <a:lnTo>
                  <a:pt x="544449" y="15965"/>
                </a:lnTo>
                <a:lnTo>
                  <a:pt x="492045" y="20628"/>
                </a:lnTo>
                <a:lnTo>
                  <a:pt x="440718" y="25874"/>
                </a:lnTo>
                <a:lnTo>
                  <a:pt x="387858" y="32003"/>
                </a:lnTo>
                <a:lnTo>
                  <a:pt x="317754" y="41909"/>
                </a:lnTo>
                <a:lnTo>
                  <a:pt x="273191" y="49305"/>
                </a:lnTo>
                <a:lnTo>
                  <a:pt x="226655" y="57888"/>
                </a:lnTo>
                <a:lnTo>
                  <a:pt x="179470" y="68148"/>
                </a:lnTo>
                <a:lnTo>
                  <a:pt x="132373" y="80735"/>
                </a:lnTo>
                <a:lnTo>
                  <a:pt x="87700" y="95929"/>
                </a:lnTo>
                <a:lnTo>
                  <a:pt x="46481" y="114299"/>
                </a:lnTo>
                <a:lnTo>
                  <a:pt x="13715" y="138683"/>
                </a:lnTo>
                <a:lnTo>
                  <a:pt x="12953" y="138683"/>
                </a:lnTo>
                <a:lnTo>
                  <a:pt x="12953" y="139445"/>
                </a:lnTo>
                <a:lnTo>
                  <a:pt x="12191" y="139445"/>
                </a:lnTo>
                <a:lnTo>
                  <a:pt x="6857" y="147827"/>
                </a:lnTo>
                <a:lnTo>
                  <a:pt x="6095" y="147827"/>
                </a:lnTo>
                <a:lnTo>
                  <a:pt x="6095" y="148589"/>
                </a:lnTo>
                <a:lnTo>
                  <a:pt x="5333" y="149351"/>
                </a:lnTo>
                <a:lnTo>
                  <a:pt x="2285" y="156971"/>
                </a:lnTo>
                <a:lnTo>
                  <a:pt x="1523" y="157733"/>
                </a:lnTo>
                <a:lnTo>
                  <a:pt x="1524" y="179831"/>
                </a:lnTo>
                <a:lnTo>
                  <a:pt x="2286" y="180593"/>
                </a:lnTo>
                <a:lnTo>
                  <a:pt x="5334" y="188975"/>
                </a:lnTo>
                <a:lnTo>
                  <a:pt x="6858" y="190499"/>
                </a:lnTo>
                <a:lnTo>
                  <a:pt x="12192" y="198119"/>
                </a:lnTo>
                <a:lnTo>
                  <a:pt x="13716" y="199643"/>
                </a:lnTo>
                <a:lnTo>
                  <a:pt x="16764" y="202437"/>
                </a:lnTo>
                <a:lnTo>
                  <a:pt x="16764" y="163829"/>
                </a:lnTo>
                <a:lnTo>
                  <a:pt x="19812" y="157733"/>
                </a:lnTo>
                <a:lnTo>
                  <a:pt x="19972" y="157513"/>
                </a:lnTo>
                <a:lnTo>
                  <a:pt x="20574" y="156209"/>
                </a:lnTo>
                <a:lnTo>
                  <a:pt x="20574" y="156686"/>
                </a:lnTo>
                <a:lnTo>
                  <a:pt x="25908" y="149351"/>
                </a:lnTo>
                <a:lnTo>
                  <a:pt x="25908" y="150113"/>
                </a:lnTo>
                <a:lnTo>
                  <a:pt x="33528" y="142493"/>
                </a:lnTo>
                <a:lnTo>
                  <a:pt x="104718" y="107451"/>
                </a:lnTo>
                <a:lnTo>
                  <a:pt x="157655" y="90890"/>
                </a:lnTo>
                <a:lnTo>
                  <a:pt x="212182" y="77676"/>
                </a:lnTo>
                <a:lnTo>
                  <a:pt x="266808" y="67155"/>
                </a:lnTo>
                <a:lnTo>
                  <a:pt x="320040" y="58673"/>
                </a:lnTo>
                <a:lnTo>
                  <a:pt x="390144" y="48767"/>
                </a:lnTo>
                <a:lnTo>
                  <a:pt x="442687" y="42417"/>
                </a:lnTo>
                <a:lnTo>
                  <a:pt x="495323" y="36924"/>
                </a:lnTo>
                <a:lnTo>
                  <a:pt x="546653" y="32345"/>
                </a:lnTo>
                <a:lnTo>
                  <a:pt x="599708" y="28329"/>
                </a:lnTo>
                <a:lnTo>
                  <a:pt x="600817" y="28246"/>
                </a:lnTo>
                <a:lnTo>
                  <a:pt x="652808" y="24983"/>
                </a:lnTo>
                <a:lnTo>
                  <a:pt x="705945" y="22238"/>
                </a:lnTo>
                <a:lnTo>
                  <a:pt x="759110" y="20028"/>
                </a:lnTo>
                <a:lnTo>
                  <a:pt x="812292" y="18287"/>
                </a:lnTo>
                <a:lnTo>
                  <a:pt x="859536" y="17525"/>
                </a:lnTo>
                <a:lnTo>
                  <a:pt x="956310" y="16763"/>
                </a:lnTo>
                <a:lnTo>
                  <a:pt x="1053084" y="17525"/>
                </a:lnTo>
                <a:lnTo>
                  <a:pt x="1100328" y="18275"/>
                </a:lnTo>
                <a:lnTo>
                  <a:pt x="1151904" y="19917"/>
                </a:lnTo>
                <a:lnTo>
                  <a:pt x="1202807" y="22002"/>
                </a:lnTo>
                <a:lnTo>
                  <a:pt x="1253758" y="24590"/>
                </a:lnTo>
                <a:lnTo>
                  <a:pt x="1304718" y="27727"/>
                </a:lnTo>
                <a:lnTo>
                  <a:pt x="1355649" y="31463"/>
                </a:lnTo>
                <a:lnTo>
                  <a:pt x="1406510" y="35845"/>
                </a:lnTo>
                <a:lnTo>
                  <a:pt x="1457264" y="40919"/>
                </a:lnTo>
                <a:lnTo>
                  <a:pt x="1507870" y="46735"/>
                </a:lnTo>
                <a:lnTo>
                  <a:pt x="1558290" y="53339"/>
                </a:lnTo>
                <a:lnTo>
                  <a:pt x="1625346" y="64007"/>
                </a:lnTo>
                <a:lnTo>
                  <a:pt x="1670962" y="71942"/>
                </a:lnTo>
                <a:lnTo>
                  <a:pt x="1719748" y="82072"/>
                </a:lnTo>
                <a:lnTo>
                  <a:pt x="1769043" y="94711"/>
                </a:lnTo>
                <a:lnTo>
                  <a:pt x="1816187" y="110175"/>
                </a:lnTo>
                <a:lnTo>
                  <a:pt x="1858518" y="128777"/>
                </a:lnTo>
                <a:lnTo>
                  <a:pt x="1887474" y="150113"/>
                </a:lnTo>
                <a:lnTo>
                  <a:pt x="1887474" y="149351"/>
                </a:lnTo>
                <a:lnTo>
                  <a:pt x="1893570" y="157733"/>
                </a:lnTo>
                <a:lnTo>
                  <a:pt x="1893570" y="159257"/>
                </a:lnTo>
                <a:lnTo>
                  <a:pt x="1895856" y="163829"/>
                </a:lnTo>
                <a:lnTo>
                  <a:pt x="1895856" y="166115"/>
                </a:lnTo>
                <a:lnTo>
                  <a:pt x="1896400" y="168837"/>
                </a:lnTo>
                <a:lnTo>
                  <a:pt x="1896618" y="167639"/>
                </a:lnTo>
                <a:lnTo>
                  <a:pt x="1896618" y="202414"/>
                </a:lnTo>
                <a:lnTo>
                  <a:pt x="1899666" y="199643"/>
                </a:lnTo>
                <a:lnTo>
                  <a:pt x="1899666" y="198881"/>
                </a:lnTo>
                <a:lnTo>
                  <a:pt x="1900427" y="198881"/>
                </a:lnTo>
                <a:lnTo>
                  <a:pt x="1900427" y="198119"/>
                </a:lnTo>
                <a:lnTo>
                  <a:pt x="1906524" y="190499"/>
                </a:lnTo>
                <a:lnTo>
                  <a:pt x="1907286" y="189737"/>
                </a:lnTo>
                <a:close/>
              </a:path>
              <a:path w="1913890" h="338454">
                <a:moveTo>
                  <a:pt x="17456" y="162998"/>
                </a:moveTo>
                <a:lnTo>
                  <a:pt x="17456" y="162444"/>
                </a:lnTo>
                <a:lnTo>
                  <a:pt x="16764" y="163829"/>
                </a:lnTo>
                <a:lnTo>
                  <a:pt x="16764" y="169925"/>
                </a:lnTo>
                <a:lnTo>
                  <a:pt x="17456" y="162998"/>
                </a:lnTo>
                <a:close/>
              </a:path>
              <a:path w="1913890" h="338454">
                <a:moveTo>
                  <a:pt x="17456" y="175259"/>
                </a:moveTo>
                <a:lnTo>
                  <a:pt x="16764" y="167639"/>
                </a:lnTo>
                <a:lnTo>
                  <a:pt x="16764" y="173735"/>
                </a:lnTo>
                <a:lnTo>
                  <a:pt x="17456" y="175259"/>
                </a:lnTo>
                <a:close/>
              </a:path>
              <a:path w="1913890" h="338454">
                <a:moveTo>
                  <a:pt x="20574" y="205930"/>
                </a:moveTo>
                <a:lnTo>
                  <a:pt x="20574" y="182117"/>
                </a:lnTo>
                <a:lnTo>
                  <a:pt x="19972" y="180794"/>
                </a:lnTo>
                <a:lnTo>
                  <a:pt x="19812" y="180593"/>
                </a:lnTo>
                <a:lnTo>
                  <a:pt x="19812" y="180441"/>
                </a:lnTo>
                <a:lnTo>
                  <a:pt x="16764" y="173735"/>
                </a:lnTo>
                <a:lnTo>
                  <a:pt x="17456" y="175814"/>
                </a:lnTo>
                <a:lnTo>
                  <a:pt x="17456" y="203072"/>
                </a:lnTo>
                <a:lnTo>
                  <a:pt x="19812" y="205231"/>
                </a:lnTo>
                <a:lnTo>
                  <a:pt x="19812" y="180593"/>
                </a:lnTo>
                <a:lnTo>
                  <a:pt x="19972" y="180914"/>
                </a:lnTo>
                <a:lnTo>
                  <a:pt x="19972" y="205379"/>
                </a:lnTo>
                <a:lnTo>
                  <a:pt x="20574" y="205930"/>
                </a:lnTo>
                <a:close/>
              </a:path>
              <a:path w="1913890" h="338454">
                <a:moveTo>
                  <a:pt x="17456" y="203072"/>
                </a:moveTo>
                <a:lnTo>
                  <a:pt x="17456" y="175814"/>
                </a:lnTo>
                <a:lnTo>
                  <a:pt x="16764" y="173735"/>
                </a:lnTo>
                <a:lnTo>
                  <a:pt x="16764" y="202437"/>
                </a:lnTo>
                <a:lnTo>
                  <a:pt x="17456" y="203072"/>
                </a:lnTo>
                <a:close/>
              </a:path>
              <a:path w="1913890" h="338454">
                <a:moveTo>
                  <a:pt x="20574" y="156686"/>
                </a:moveTo>
                <a:lnTo>
                  <a:pt x="20574" y="156209"/>
                </a:lnTo>
                <a:lnTo>
                  <a:pt x="19972" y="157413"/>
                </a:lnTo>
                <a:lnTo>
                  <a:pt x="20574" y="156686"/>
                </a:lnTo>
                <a:close/>
              </a:path>
              <a:path w="1913890" h="338454">
                <a:moveTo>
                  <a:pt x="1888236" y="209499"/>
                </a:moveTo>
                <a:lnTo>
                  <a:pt x="1888236" y="187451"/>
                </a:lnTo>
                <a:lnTo>
                  <a:pt x="1879854" y="195071"/>
                </a:lnTo>
                <a:lnTo>
                  <a:pt x="1869948" y="202691"/>
                </a:lnTo>
                <a:lnTo>
                  <a:pt x="1809678" y="230417"/>
                </a:lnTo>
                <a:lnTo>
                  <a:pt x="1756069" y="247013"/>
                </a:lnTo>
                <a:lnTo>
                  <a:pt x="1699981" y="260185"/>
                </a:lnTo>
                <a:lnTo>
                  <a:pt x="1644467" y="270783"/>
                </a:lnTo>
                <a:lnTo>
                  <a:pt x="1592580" y="279653"/>
                </a:lnTo>
                <a:lnTo>
                  <a:pt x="1522476" y="289559"/>
                </a:lnTo>
                <a:lnTo>
                  <a:pt x="1469908" y="295658"/>
                </a:lnTo>
                <a:lnTo>
                  <a:pt x="1417262" y="301006"/>
                </a:lnTo>
                <a:lnTo>
                  <a:pt x="1364548" y="305636"/>
                </a:lnTo>
                <a:lnTo>
                  <a:pt x="1311778" y="309586"/>
                </a:lnTo>
                <a:lnTo>
                  <a:pt x="1258960" y="312889"/>
                </a:lnTo>
                <a:lnTo>
                  <a:pt x="1206106" y="315582"/>
                </a:lnTo>
                <a:lnTo>
                  <a:pt x="1153225" y="317700"/>
                </a:lnTo>
                <a:lnTo>
                  <a:pt x="1101090" y="319255"/>
                </a:lnTo>
                <a:lnTo>
                  <a:pt x="1053846" y="320777"/>
                </a:lnTo>
                <a:lnTo>
                  <a:pt x="1053084" y="320801"/>
                </a:lnTo>
                <a:lnTo>
                  <a:pt x="956310" y="321563"/>
                </a:lnTo>
                <a:lnTo>
                  <a:pt x="859536" y="320801"/>
                </a:lnTo>
                <a:lnTo>
                  <a:pt x="812292" y="319277"/>
                </a:lnTo>
                <a:lnTo>
                  <a:pt x="761266" y="317748"/>
                </a:lnTo>
                <a:lnTo>
                  <a:pt x="710254" y="315721"/>
                </a:lnTo>
                <a:lnTo>
                  <a:pt x="659265" y="313165"/>
                </a:lnTo>
                <a:lnTo>
                  <a:pt x="608308" y="310049"/>
                </a:lnTo>
                <a:lnTo>
                  <a:pt x="557392" y="306342"/>
                </a:lnTo>
                <a:lnTo>
                  <a:pt x="506526" y="302014"/>
                </a:lnTo>
                <a:lnTo>
                  <a:pt x="455721" y="297033"/>
                </a:lnTo>
                <a:lnTo>
                  <a:pt x="404986" y="291368"/>
                </a:lnTo>
                <a:lnTo>
                  <a:pt x="354330" y="284987"/>
                </a:lnTo>
                <a:lnTo>
                  <a:pt x="287274" y="274319"/>
                </a:lnTo>
                <a:lnTo>
                  <a:pt x="240621" y="265675"/>
                </a:lnTo>
                <a:lnTo>
                  <a:pt x="192590" y="255736"/>
                </a:lnTo>
                <a:lnTo>
                  <a:pt x="144645" y="243641"/>
                </a:lnTo>
                <a:lnTo>
                  <a:pt x="98249" y="228532"/>
                </a:lnTo>
                <a:lnTo>
                  <a:pt x="54864" y="209549"/>
                </a:lnTo>
                <a:lnTo>
                  <a:pt x="25690" y="187941"/>
                </a:lnTo>
                <a:lnTo>
                  <a:pt x="25146" y="187451"/>
                </a:lnTo>
                <a:lnTo>
                  <a:pt x="25146" y="187261"/>
                </a:lnTo>
                <a:lnTo>
                  <a:pt x="19972" y="180794"/>
                </a:lnTo>
                <a:lnTo>
                  <a:pt x="20574" y="182117"/>
                </a:lnTo>
                <a:lnTo>
                  <a:pt x="20574" y="205930"/>
                </a:lnTo>
                <a:lnTo>
                  <a:pt x="22860" y="208025"/>
                </a:lnTo>
                <a:lnTo>
                  <a:pt x="25146" y="209822"/>
                </a:lnTo>
                <a:lnTo>
                  <a:pt x="25146" y="187451"/>
                </a:lnTo>
                <a:lnTo>
                  <a:pt x="25690" y="187996"/>
                </a:lnTo>
                <a:lnTo>
                  <a:pt x="25690" y="210249"/>
                </a:lnTo>
                <a:lnTo>
                  <a:pt x="33528" y="216407"/>
                </a:lnTo>
                <a:lnTo>
                  <a:pt x="47244" y="224027"/>
                </a:lnTo>
                <a:lnTo>
                  <a:pt x="88441" y="242540"/>
                </a:lnTo>
                <a:lnTo>
                  <a:pt x="132957" y="257640"/>
                </a:lnTo>
                <a:lnTo>
                  <a:pt x="179108" y="269856"/>
                </a:lnTo>
                <a:lnTo>
                  <a:pt x="179470" y="269952"/>
                </a:lnTo>
                <a:lnTo>
                  <a:pt x="226511" y="280071"/>
                </a:lnTo>
                <a:lnTo>
                  <a:pt x="273191" y="288715"/>
                </a:lnTo>
                <a:lnTo>
                  <a:pt x="317754" y="296417"/>
                </a:lnTo>
                <a:lnTo>
                  <a:pt x="352044" y="300989"/>
                </a:lnTo>
                <a:lnTo>
                  <a:pt x="387858" y="306323"/>
                </a:lnTo>
                <a:lnTo>
                  <a:pt x="439828" y="312294"/>
                </a:lnTo>
                <a:lnTo>
                  <a:pt x="493653" y="317730"/>
                </a:lnTo>
                <a:lnTo>
                  <a:pt x="546653" y="322358"/>
                </a:lnTo>
                <a:lnTo>
                  <a:pt x="599708" y="326312"/>
                </a:lnTo>
                <a:lnTo>
                  <a:pt x="652808" y="329624"/>
                </a:lnTo>
                <a:lnTo>
                  <a:pt x="705945" y="332329"/>
                </a:lnTo>
                <a:lnTo>
                  <a:pt x="759110" y="334457"/>
                </a:lnTo>
                <a:lnTo>
                  <a:pt x="812292" y="336041"/>
                </a:lnTo>
                <a:lnTo>
                  <a:pt x="859536" y="337565"/>
                </a:lnTo>
                <a:lnTo>
                  <a:pt x="956310" y="338327"/>
                </a:lnTo>
                <a:lnTo>
                  <a:pt x="1053084" y="337571"/>
                </a:lnTo>
                <a:lnTo>
                  <a:pt x="1053846" y="337565"/>
                </a:lnTo>
                <a:lnTo>
                  <a:pt x="1100328" y="336066"/>
                </a:lnTo>
                <a:lnTo>
                  <a:pt x="1151904" y="334441"/>
                </a:lnTo>
                <a:lnTo>
                  <a:pt x="1202807" y="332440"/>
                </a:lnTo>
                <a:lnTo>
                  <a:pt x="1253758" y="329970"/>
                </a:lnTo>
                <a:lnTo>
                  <a:pt x="1304718" y="326961"/>
                </a:lnTo>
                <a:lnTo>
                  <a:pt x="1355649" y="323343"/>
                </a:lnTo>
                <a:lnTo>
                  <a:pt x="1408274" y="318894"/>
                </a:lnTo>
                <a:lnTo>
                  <a:pt x="1459329" y="313782"/>
                </a:lnTo>
                <a:lnTo>
                  <a:pt x="1510123" y="307838"/>
                </a:lnTo>
                <a:lnTo>
                  <a:pt x="1560576" y="300989"/>
                </a:lnTo>
                <a:lnTo>
                  <a:pt x="1595628" y="296417"/>
                </a:lnTo>
                <a:lnTo>
                  <a:pt x="1676033" y="282102"/>
                </a:lnTo>
                <a:lnTo>
                  <a:pt x="1725243" y="271862"/>
                </a:lnTo>
                <a:lnTo>
                  <a:pt x="1774409" y="259407"/>
                </a:lnTo>
                <a:lnTo>
                  <a:pt x="1821912" y="243781"/>
                </a:lnTo>
                <a:lnTo>
                  <a:pt x="1866138" y="224027"/>
                </a:lnTo>
                <a:lnTo>
                  <a:pt x="1879854" y="215645"/>
                </a:lnTo>
                <a:lnTo>
                  <a:pt x="1888236" y="209499"/>
                </a:lnTo>
                <a:close/>
              </a:path>
              <a:path w="1913890" h="338454">
                <a:moveTo>
                  <a:pt x="25908" y="150113"/>
                </a:moveTo>
                <a:lnTo>
                  <a:pt x="25908" y="149351"/>
                </a:lnTo>
                <a:lnTo>
                  <a:pt x="25146" y="150875"/>
                </a:lnTo>
                <a:lnTo>
                  <a:pt x="25908" y="150113"/>
                </a:lnTo>
                <a:close/>
              </a:path>
              <a:path w="1913890" h="338454">
                <a:moveTo>
                  <a:pt x="1888236" y="150875"/>
                </a:moveTo>
                <a:lnTo>
                  <a:pt x="1887474" y="149351"/>
                </a:lnTo>
                <a:lnTo>
                  <a:pt x="1887474" y="150113"/>
                </a:lnTo>
                <a:lnTo>
                  <a:pt x="1888236" y="150875"/>
                </a:lnTo>
                <a:close/>
              </a:path>
              <a:path w="1913890" h="338454">
                <a:moveTo>
                  <a:pt x="1893570" y="205185"/>
                </a:moveTo>
                <a:lnTo>
                  <a:pt x="1893570" y="180593"/>
                </a:lnTo>
                <a:lnTo>
                  <a:pt x="1887677" y="187959"/>
                </a:lnTo>
                <a:lnTo>
                  <a:pt x="1888236" y="187451"/>
                </a:lnTo>
                <a:lnTo>
                  <a:pt x="1888236" y="209499"/>
                </a:lnTo>
                <a:lnTo>
                  <a:pt x="1891283" y="207263"/>
                </a:lnTo>
                <a:lnTo>
                  <a:pt x="1893570" y="205185"/>
                </a:lnTo>
                <a:close/>
              </a:path>
              <a:path w="1913890" h="338454">
                <a:moveTo>
                  <a:pt x="1893570" y="159257"/>
                </a:moveTo>
                <a:lnTo>
                  <a:pt x="1893570" y="157733"/>
                </a:lnTo>
                <a:lnTo>
                  <a:pt x="1892045" y="156209"/>
                </a:lnTo>
                <a:lnTo>
                  <a:pt x="1893570" y="159257"/>
                </a:lnTo>
                <a:close/>
              </a:path>
              <a:path w="1913890" h="338454">
                <a:moveTo>
                  <a:pt x="1895278" y="175005"/>
                </a:moveTo>
                <a:lnTo>
                  <a:pt x="1892045" y="182117"/>
                </a:lnTo>
                <a:lnTo>
                  <a:pt x="1893570" y="180593"/>
                </a:lnTo>
                <a:lnTo>
                  <a:pt x="1893570" y="205185"/>
                </a:lnTo>
                <a:lnTo>
                  <a:pt x="1895094" y="203800"/>
                </a:lnTo>
                <a:lnTo>
                  <a:pt x="1895094" y="176021"/>
                </a:lnTo>
                <a:lnTo>
                  <a:pt x="1895278" y="175005"/>
                </a:lnTo>
                <a:close/>
              </a:path>
              <a:path w="1913890" h="338454">
                <a:moveTo>
                  <a:pt x="1895856" y="166115"/>
                </a:moveTo>
                <a:lnTo>
                  <a:pt x="1895856" y="163829"/>
                </a:lnTo>
                <a:lnTo>
                  <a:pt x="1895094" y="162305"/>
                </a:lnTo>
                <a:lnTo>
                  <a:pt x="1895856" y="166115"/>
                </a:lnTo>
                <a:close/>
              </a:path>
              <a:path w="1913890" h="338454">
                <a:moveTo>
                  <a:pt x="1895856" y="173735"/>
                </a:moveTo>
                <a:lnTo>
                  <a:pt x="1895278" y="175005"/>
                </a:lnTo>
                <a:lnTo>
                  <a:pt x="1895094" y="176021"/>
                </a:lnTo>
                <a:lnTo>
                  <a:pt x="1895856" y="173735"/>
                </a:lnTo>
                <a:close/>
              </a:path>
              <a:path w="1913890" h="338454">
                <a:moveTo>
                  <a:pt x="1895856" y="203107"/>
                </a:moveTo>
                <a:lnTo>
                  <a:pt x="1895856" y="173735"/>
                </a:lnTo>
                <a:lnTo>
                  <a:pt x="1895094" y="176021"/>
                </a:lnTo>
                <a:lnTo>
                  <a:pt x="1895094" y="203800"/>
                </a:lnTo>
                <a:lnTo>
                  <a:pt x="1895856" y="203107"/>
                </a:lnTo>
                <a:close/>
              </a:path>
              <a:path w="1913890" h="338454">
                <a:moveTo>
                  <a:pt x="1896618" y="202414"/>
                </a:moveTo>
                <a:lnTo>
                  <a:pt x="1896618" y="169925"/>
                </a:lnTo>
                <a:lnTo>
                  <a:pt x="1896400" y="168837"/>
                </a:lnTo>
                <a:lnTo>
                  <a:pt x="1895278" y="175005"/>
                </a:lnTo>
                <a:lnTo>
                  <a:pt x="1895856" y="173735"/>
                </a:lnTo>
                <a:lnTo>
                  <a:pt x="1895856" y="203107"/>
                </a:lnTo>
                <a:lnTo>
                  <a:pt x="1896618" y="202414"/>
                </a:lnTo>
                <a:close/>
              </a:path>
              <a:path w="1913890" h="338454">
                <a:moveTo>
                  <a:pt x="1896618" y="169925"/>
                </a:moveTo>
                <a:lnTo>
                  <a:pt x="1896618" y="167639"/>
                </a:lnTo>
                <a:lnTo>
                  <a:pt x="1896400" y="168837"/>
                </a:lnTo>
                <a:lnTo>
                  <a:pt x="1896618" y="169925"/>
                </a:lnTo>
                <a:close/>
              </a:path>
              <a:path w="1913890" h="338454">
                <a:moveTo>
                  <a:pt x="1911858" y="179831"/>
                </a:moveTo>
                <a:lnTo>
                  <a:pt x="1911858" y="157733"/>
                </a:lnTo>
                <a:lnTo>
                  <a:pt x="1911095" y="156971"/>
                </a:lnTo>
                <a:lnTo>
                  <a:pt x="1907286" y="149351"/>
                </a:lnTo>
                <a:lnTo>
                  <a:pt x="1907286" y="188975"/>
                </a:lnTo>
                <a:lnTo>
                  <a:pt x="1911095" y="180593"/>
                </a:lnTo>
                <a:lnTo>
                  <a:pt x="1911858" y="179831"/>
                </a:lnTo>
                <a:close/>
              </a:path>
              <a:path w="1913890" h="338454">
                <a:moveTo>
                  <a:pt x="1913382" y="169925"/>
                </a:moveTo>
                <a:lnTo>
                  <a:pt x="1913382" y="167639"/>
                </a:lnTo>
                <a:lnTo>
                  <a:pt x="1911858" y="159257"/>
                </a:lnTo>
                <a:lnTo>
                  <a:pt x="1911858" y="178307"/>
                </a:lnTo>
                <a:lnTo>
                  <a:pt x="1913382" y="169925"/>
                </a:lnTo>
                <a:close/>
              </a:path>
            </a:pathLst>
          </a:custGeom>
          <a:solidFill>
            <a:srgbClr val="FF0000"/>
          </a:solidFill>
        </p:spPr>
        <p:txBody>
          <a:bodyPr wrap="square" lIns="0" tIns="0" rIns="0" bIns="0" rtlCol="0"/>
          <a:lstStyle/>
          <a:p>
            <a:endParaRPr/>
          </a:p>
        </p:txBody>
      </p:sp>
      <p:sp>
        <p:nvSpPr>
          <p:cNvPr id="11" name="object 11"/>
          <p:cNvSpPr txBox="1"/>
          <p:nvPr/>
        </p:nvSpPr>
        <p:spPr>
          <a:xfrm>
            <a:off x="6345307" y="4228591"/>
            <a:ext cx="3432810" cy="266065"/>
          </a:xfrm>
          <a:prstGeom prst="rect">
            <a:avLst/>
          </a:prstGeom>
        </p:spPr>
        <p:txBody>
          <a:bodyPr vert="horz" wrap="square" lIns="0" tIns="15875" rIns="0" bIns="0" rtlCol="0">
            <a:spAutoFit/>
          </a:bodyPr>
          <a:lstStyle/>
          <a:p>
            <a:pPr marL="12700">
              <a:lnSpc>
                <a:spcPct val="100000"/>
              </a:lnSpc>
              <a:spcBef>
                <a:spcPts val="125"/>
              </a:spcBef>
            </a:pPr>
            <a:r>
              <a:rPr sz="1550" spc="-5" dirty="0">
                <a:latin typeface="微软雅黑"/>
                <a:cs typeface="微软雅黑"/>
              </a:rPr>
              <a:t>一个信号被用作索引来访问数组中元素</a:t>
            </a:r>
            <a:endParaRPr sz="1550">
              <a:latin typeface="微软雅黑"/>
              <a:cs typeface="微软雅黑"/>
            </a:endParaRPr>
          </a:p>
        </p:txBody>
      </p:sp>
      <p:sp>
        <p:nvSpPr>
          <p:cNvPr id="12" name="object 12"/>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341245"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4.2.3</a:t>
            </a:r>
            <a:r>
              <a:rPr spc="-45" dirty="0">
                <a:latin typeface="Arial"/>
                <a:cs typeface="Arial"/>
              </a:rPr>
              <a:t> </a:t>
            </a:r>
            <a:r>
              <a:rPr spc="-15" dirty="0"/>
              <a:t>寄存器组</a:t>
            </a:r>
          </a:p>
        </p:txBody>
      </p:sp>
      <p:sp>
        <p:nvSpPr>
          <p:cNvPr id="4" name="object 4"/>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txBox="1"/>
          <p:nvPr/>
        </p:nvSpPr>
        <p:spPr>
          <a:xfrm>
            <a:off x="701173" y="1955546"/>
            <a:ext cx="9439910" cy="3690620"/>
          </a:xfrm>
          <a:prstGeom prst="rect">
            <a:avLst/>
          </a:prstGeom>
        </p:spPr>
        <p:txBody>
          <a:bodyPr vert="horz" wrap="square" lIns="0" tIns="13335" rIns="0" bIns="0" rtlCol="0">
            <a:spAutoFit/>
          </a:bodyPr>
          <a:lstStyle/>
          <a:p>
            <a:pPr marL="12700">
              <a:lnSpc>
                <a:spcPct val="100000"/>
              </a:lnSpc>
              <a:spcBef>
                <a:spcPts val="105"/>
              </a:spcBef>
            </a:pPr>
            <a:r>
              <a:rPr sz="2100" spc="-5" dirty="0">
                <a:latin typeface="微软雅黑"/>
                <a:cs typeface="微软雅黑"/>
              </a:rPr>
              <a:t>虽然描述非常抽象，</a:t>
            </a:r>
            <a:r>
              <a:rPr sz="2100" spc="-10" dirty="0">
                <a:latin typeface="Arial"/>
                <a:cs typeface="Arial"/>
              </a:rPr>
              <a:t>vivado</a:t>
            </a:r>
            <a:r>
              <a:rPr sz="2100" spc="-15" dirty="0">
                <a:latin typeface="微软雅黑"/>
                <a:cs typeface="微软雅黑"/>
              </a:rPr>
              <a:t>软件能够识别出这种语言构造，并正确地执行。</a:t>
            </a:r>
            <a:endParaRPr sz="2100">
              <a:latin typeface="微软雅黑"/>
              <a:cs typeface="微软雅黑"/>
            </a:endParaRPr>
          </a:p>
          <a:p>
            <a:pPr>
              <a:lnSpc>
                <a:spcPct val="100000"/>
              </a:lnSpc>
              <a:spcBef>
                <a:spcPts val="1455"/>
              </a:spcBef>
            </a:pPr>
            <a:endParaRPr sz="2100">
              <a:latin typeface="微软雅黑"/>
              <a:cs typeface="微软雅黑"/>
            </a:endParaRPr>
          </a:p>
          <a:p>
            <a:pPr marL="12700">
              <a:lnSpc>
                <a:spcPct val="100000"/>
              </a:lnSpc>
            </a:pPr>
            <a:r>
              <a:rPr sz="2100" dirty="0">
                <a:latin typeface="Arial"/>
                <a:cs typeface="Arial"/>
              </a:rPr>
              <a:t>array_reg[…]</a:t>
            </a:r>
            <a:r>
              <a:rPr sz="2100" spc="15" dirty="0">
                <a:latin typeface="Arial"/>
                <a:cs typeface="Arial"/>
              </a:rPr>
              <a:t> = …</a:t>
            </a:r>
            <a:r>
              <a:rPr sz="2100" dirty="0">
                <a:latin typeface="微软雅黑"/>
                <a:cs typeface="微软雅黑"/>
              </a:rPr>
              <a:t>和</a:t>
            </a:r>
            <a:r>
              <a:rPr sz="2100" spc="20" dirty="0">
                <a:latin typeface="Arial"/>
                <a:cs typeface="Arial"/>
              </a:rPr>
              <a:t>… = </a:t>
            </a:r>
            <a:r>
              <a:rPr sz="2100" spc="-10" dirty="0">
                <a:latin typeface="Arial"/>
                <a:cs typeface="Arial"/>
              </a:rPr>
              <a:t>array_reg[…]</a:t>
            </a:r>
            <a:r>
              <a:rPr sz="2100" spc="-15" dirty="0">
                <a:latin typeface="微软雅黑"/>
                <a:cs typeface="微软雅黑"/>
              </a:rPr>
              <a:t>语句分别表明解码和多路复用的逻辑。</a:t>
            </a:r>
            <a:endParaRPr sz="2100">
              <a:latin typeface="微软雅黑"/>
              <a:cs typeface="微软雅黑"/>
            </a:endParaRPr>
          </a:p>
          <a:p>
            <a:pPr marL="71755" marR="5080">
              <a:lnSpc>
                <a:spcPct val="150500"/>
              </a:lnSpc>
              <a:spcBef>
                <a:spcPts val="2160"/>
              </a:spcBef>
            </a:pPr>
            <a:r>
              <a:rPr sz="2100" spc="-15" dirty="0">
                <a:latin typeface="微软雅黑"/>
                <a:cs typeface="微软雅黑"/>
              </a:rPr>
              <a:t>一些应用程序可能需要同时检索多路数据，可以通过添加一个额外的读取端口来</a:t>
            </a:r>
            <a:r>
              <a:rPr sz="2100" spc="-20" dirty="0">
                <a:latin typeface="微软雅黑"/>
                <a:cs typeface="微软雅黑"/>
              </a:rPr>
              <a:t>解决。</a:t>
            </a:r>
            <a:endParaRPr sz="2100">
              <a:latin typeface="微软雅黑"/>
              <a:cs typeface="微软雅黑"/>
            </a:endParaRPr>
          </a:p>
          <a:p>
            <a:pPr marL="383540">
              <a:lnSpc>
                <a:spcPct val="100000"/>
              </a:lnSpc>
              <a:spcBef>
                <a:spcPts val="2025"/>
              </a:spcBef>
            </a:pPr>
            <a:r>
              <a:rPr sz="2100" dirty="0">
                <a:latin typeface="微软雅黑"/>
                <a:cs typeface="微软雅黑"/>
              </a:rPr>
              <a:t>例如</a:t>
            </a:r>
            <a:r>
              <a:rPr sz="2100" spc="-50" dirty="0">
                <a:latin typeface="Arial"/>
                <a:cs typeface="Arial"/>
              </a:rPr>
              <a:t>:</a:t>
            </a:r>
            <a:endParaRPr sz="2100">
              <a:latin typeface="Arial"/>
              <a:cs typeface="Arial"/>
            </a:endParaRPr>
          </a:p>
          <a:p>
            <a:pPr marL="1878330">
              <a:lnSpc>
                <a:spcPct val="100000"/>
              </a:lnSpc>
              <a:spcBef>
                <a:spcPts val="1939"/>
              </a:spcBef>
            </a:pPr>
            <a:r>
              <a:rPr sz="2100" dirty="0">
                <a:latin typeface="Arial"/>
                <a:cs typeface="Arial"/>
              </a:rPr>
              <a:t>r</a:t>
            </a:r>
            <a:r>
              <a:rPr sz="1750" dirty="0">
                <a:latin typeface="Arial"/>
                <a:cs typeface="Arial"/>
              </a:rPr>
              <a:t>_</a:t>
            </a:r>
            <a:r>
              <a:rPr sz="2100" dirty="0">
                <a:latin typeface="Arial"/>
                <a:cs typeface="Arial"/>
              </a:rPr>
              <a:t>data2</a:t>
            </a:r>
            <a:r>
              <a:rPr sz="2100" spc="-125" dirty="0">
                <a:latin typeface="Arial"/>
                <a:cs typeface="Arial"/>
              </a:rPr>
              <a:t> </a:t>
            </a:r>
            <a:r>
              <a:rPr sz="1750" dirty="0">
                <a:latin typeface="Arial"/>
                <a:cs typeface="Arial"/>
              </a:rPr>
              <a:t>=</a:t>
            </a:r>
            <a:r>
              <a:rPr sz="1750" spc="-25" dirty="0">
                <a:latin typeface="Arial"/>
                <a:cs typeface="Arial"/>
              </a:rPr>
              <a:t> </a:t>
            </a:r>
            <a:r>
              <a:rPr sz="2100" spc="-10" dirty="0">
                <a:latin typeface="Arial"/>
                <a:cs typeface="Arial"/>
              </a:rPr>
              <a:t>array_reg[r_addr_2];</a:t>
            </a:r>
            <a:endParaRPr sz="2100">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0102"/>
            <a:ext cx="2685415" cy="506730"/>
          </a:xfrm>
          <a:prstGeom prst="rect">
            <a:avLst/>
          </a:prstGeom>
        </p:spPr>
        <p:txBody>
          <a:bodyPr vert="horz" wrap="square" lIns="0" tIns="13335" rIns="0" bIns="0" rtlCol="0">
            <a:spAutoFit/>
          </a:bodyPr>
          <a:lstStyle/>
          <a:p>
            <a:pPr marL="12700">
              <a:lnSpc>
                <a:spcPct val="100000"/>
              </a:lnSpc>
              <a:spcBef>
                <a:spcPts val="105"/>
              </a:spcBef>
            </a:pPr>
            <a:r>
              <a:rPr sz="3150" dirty="0">
                <a:latin typeface="Arial"/>
                <a:cs typeface="Arial"/>
              </a:rPr>
              <a:t>4.3</a:t>
            </a:r>
            <a:r>
              <a:rPr sz="3150" spc="-105" dirty="0">
                <a:latin typeface="Arial"/>
                <a:cs typeface="Arial"/>
              </a:rPr>
              <a:t> </a:t>
            </a:r>
            <a:r>
              <a:rPr sz="3150" spc="-10" dirty="0"/>
              <a:t>移位寄存器</a:t>
            </a:r>
            <a:endParaRPr sz="3150">
              <a:latin typeface="Arial"/>
              <a:cs typeface="Arial"/>
            </a:endParaRPr>
          </a:p>
        </p:txBody>
      </p:sp>
      <p:sp>
        <p:nvSpPr>
          <p:cNvPr id="4" name="object 4"/>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txBox="1"/>
          <p:nvPr/>
        </p:nvSpPr>
        <p:spPr>
          <a:xfrm>
            <a:off x="538112" y="2860802"/>
            <a:ext cx="9549765" cy="2270760"/>
          </a:xfrm>
          <a:prstGeom prst="rect">
            <a:avLst/>
          </a:prstGeom>
        </p:spPr>
        <p:txBody>
          <a:bodyPr vert="horz" wrap="square" lIns="0" tIns="13335" rIns="0" bIns="0" rtlCol="0">
            <a:spAutoFit/>
          </a:bodyPr>
          <a:lstStyle/>
          <a:p>
            <a:pPr marL="601980">
              <a:lnSpc>
                <a:spcPct val="100000"/>
              </a:lnSpc>
              <a:spcBef>
                <a:spcPts val="105"/>
              </a:spcBef>
            </a:pPr>
            <a:r>
              <a:rPr sz="2100" dirty="0">
                <a:latin typeface="微软雅黑"/>
                <a:cs typeface="微软雅黑"/>
              </a:rPr>
              <a:t>一个</a:t>
            </a:r>
            <a:r>
              <a:rPr sz="2100" spc="-10" dirty="0">
                <a:latin typeface="Arial"/>
                <a:cs typeface="Arial"/>
              </a:rPr>
              <a:t>N</a:t>
            </a:r>
            <a:r>
              <a:rPr sz="2100" spc="-10" dirty="0">
                <a:latin typeface="微软雅黑"/>
                <a:cs typeface="微软雅黑"/>
              </a:rPr>
              <a:t>位的移位寄存器包含</a:t>
            </a:r>
            <a:r>
              <a:rPr sz="2100" spc="-10" dirty="0">
                <a:latin typeface="Arial"/>
                <a:cs typeface="Arial"/>
              </a:rPr>
              <a:t>N</a:t>
            </a:r>
            <a:r>
              <a:rPr sz="2100" spc="-15" dirty="0">
                <a:latin typeface="微软雅黑"/>
                <a:cs typeface="微软雅黑"/>
              </a:rPr>
              <a:t>个触发器。在每个时钟脉冲作用下，数据从一个</a:t>
            </a:r>
            <a:endParaRPr sz="2100">
              <a:latin typeface="微软雅黑"/>
              <a:cs typeface="微软雅黑"/>
            </a:endParaRPr>
          </a:p>
          <a:p>
            <a:pPr marL="12700" marR="180975">
              <a:lnSpc>
                <a:spcPts val="7580"/>
              </a:lnSpc>
              <a:spcBef>
                <a:spcPts val="885"/>
              </a:spcBef>
            </a:pPr>
            <a:r>
              <a:rPr sz="2100" spc="-20" dirty="0">
                <a:latin typeface="微软雅黑"/>
                <a:cs typeface="微软雅黑"/>
              </a:rPr>
              <a:t>触发器移到另一个触发器。本节我们将介绍移位寄存器的几种不同的描述和设计方法。</a:t>
            </a:r>
            <a:endParaRPr sz="2100">
              <a:latin typeface="微软雅黑"/>
              <a:cs typeface="微软雅黑"/>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6470650" cy="453390"/>
          </a:xfrm>
          <a:prstGeom prst="rect">
            <a:avLst/>
          </a:prstGeom>
        </p:spPr>
        <p:txBody>
          <a:bodyPr vert="horz" wrap="square" lIns="0" tIns="13335" rIns="0" bIns="0" rtlCol="0">
            <a:spAutoFit/>
          </a:bodyPr>
          <a:lstStyle/>
          <a:p>
            <a:pPr marL="12700">
              <a:lnSpc>
                <a:spcPct val="100000"/>
              </a:lnSpc>
              <a:spcBef>
                <a:spcPts val="105"/>
              </a:spcBef>
            </a:pPr>
            <a:r>
              <a:rPr dirty="0">
                <a:latin typeface="Arial"/>
                <a:cs typeface="Arial"/>
              </a:rPr>
              <a:t>4.3.1</a:t>
            </a:r>
            <a:r>
              <a:rPr spc="40" dirty="0">
                <a:latin typeface="Arial"/>
                <a:cs typeface="Arial"/>
              </a:rPr>
              <a:t> </a:t>
            </a:r>
            <a:r>
              <a:rPr spc="-10" dirty="0"/>
              <a:t>具有同步预置功能的8</a:t>
            </a:r>
            <a:r>
              <a:rPr spc="-20" dirty="0"/>
              <a:t>位移位寄存器</a:t>
            </a:r>
          </a:p>
        </p:txBody>
      </p:sp>
      <p:grpSp>
        <p:nvGrpSpPr>
          <p:cNvPr id="3" name="object 3"/>
          <p:cNvGrpSpPr/>
          <p:nvPr/>
        </p:nvGrpSpPr>
        <p:grpSpPr>
          <a:xfrm>
            <a:off x="6404483" y="1946148"/>
            <a:ext cx="3552190" cy="3731895"/>
            <a:chOff x="6404483" y="1946148"/>
            <a:chExt cx="3552190" cy="3731895"/>
          </a:xfrm>
        </p:grpSpPr>
        <p:sp>
          <p:nvSpPr>
            <p:cNvPr id="4" name="object 4"/>
            <p:cNvSpPr/>
            <p:nvPr/>
          </p:nvSpPr>
          <p:spPr>
            <a:xfrm>
              <a:off x="6409067" y="1949958"/>
              <a:ext cx="3543300" cy="3724275"/>
            </a:xfrm>
            <a:custGeom>
              <a:avLst/>
              <a:gdLst/>
              <a:ahLst/>
              <a:cxnLst/>
              <a:rect l="l" t="t" r="r" b="b"/>
              <a:pathLst>
                <a:path w="3543300" h="3724275">
                  <a:moveTo>
                    <a:pt x="3543300" y="3723893"/>
                  </a:moveTo>
                  <a:lnTo>
                    <a:pt x="3543300" y="0"/>
                  </a:lnTo>
                  <a:lnTo>
                    <a:pt x="0" y="0"/>
                  </a:lnTo>
                  <a:lnTo>
                    <a:pt x="0" y="3723893"/>
                  </a:lnTo>
                  <a:lnTo>
                    <a:pt x="3543300" y="3723893"/>
                  </a:lnTo>
                  <a:close/>
                </a:path>
              </a:pathLst>
            </a:custGeom>
            <a:solidFill>
              <a:srgbClr val="F9FABA"/>
            </a:solidFill>
          </p:spPr>
          <p:txBody>
            <a:bodyPr wrap="square" lIns="0" tIns="0" rIns="0" bIns="0" rtlCol="0"/>
            <a:lstStyle/>
            <a:p>
              <a:endParaRPr/>
            </a:p>
          </p:txBody>
        </p:sp>
        <p:sp>
          <p:nvSpPr>
            <p:cNvPr id="5" name="object 5"/>
            <p:cNvSpPr/>
            <p:nvPr/>
          </p:nvSpPr>
          <p:spPr>
            <a:xfrm>
              <a:off x="6404483" y="1946148"/>
              <a:ext cx="3552190" cy="3731895"/>
            </a:xfrm>
            <a:custGeom>
              <a:avLst/>
              <a:gdLst/>
              <a:ahLst/>
              <a:cxnLst/>
              <a:rect l="l" t="t" r="r" b="b"/>
              <a:pathLst>
                <a:path w="3552190" h="3731895">
                  <a:moveTo>
                    <a:pt x="3551682" y="3729990"/>
                  </a:moveTo>
                  <a:lnTo>
                    <a:pt x="3551682" y="1523"/>
                  </a:lnTo>
                  <a:lnTo>
                    <a:pt x="3550158" y="0"/>
                  </a:lnTo>
                  <a:lnTo>
                    <a:pt x="2285" y="0"/>
                  </a:lnTo>
                  <a:lnTo>
                    <a:pt x="0" y="1524"/>
                  </a:lnTo>
                  <a:lnTo>
                    <a:pt x="0" y="3729990"/>
                  </a:lnTo>
                  <a:lnTo>
                    <a:pt x="2286" y="3731514"/>
                  </a:lnTo>
                  <a:lnTo>
                    <a:pt x="4572" y="3731514"/>
                  </a:lnTo>
                  <a:lnTo>
                    <a:pt x="4572" y="8382"/>
                  </a:lnTo>
                  <a:lnTo>
                    <a:pt x="8382" y="3810"/>
                  </a:lnTo>
                  <a:lnTo>
                    <a:pt x="8382" y="8382"/>
                  </a:lnTo>
                  <a:lnTo>
                    <a:pt x="3543300" y="8381"/>
                  </a:lnTo>
                  <a:lnTo>
                    <a:pt x="3543300" y="3809"/>
                  </a:lnTo>
                  <a:lnTo>
                    <a:pt x="3547872" y="8381"/>
                  </a:lnTo>
                  <a:lnTo>
                    <a:pt x="3547872" y="3731514"/>
                  </a:lnTo>
                  <a:lnTo>
                    <a:pt x="3550158" y="3731514"/>
                  </a:lnTo>
                  <a:lnTo>
                    <a:pt x="3551682" y="3729990"/>
                  </a:lnTo>
                  <a:close/>
                </a:path>
                <a:path w="3552190" h="3731895">
                  <a:moveTo>
                    <a:pt x="8382" y="8382"/>
                  </a:moveTo>
                  <a:lnTo>
                    <a:pt x="8382" y="3810"/>
                  </a:lnTo>
                  <a:lnTo>
                    <a:pt x="4572" y="8382"/>
                  </a:lnTo>
                  <a:lnTo>
                    <a:pt x="8382" y="8382"/>
                  </a:lnTo>
                  <a:close/>
                </a:path>
                <a:path w="3552190" h="3731895">
                  <a:moveTo>
                    <a:pt x="8382" y="3723132"/>
                  </a:moveTo>
                  <a:lnTo>
                    <a:pt x="8382" y="8382"/>
                  </a:lnTo>
                  <a:lnTo>
                    <a:pt x="4572" y="8382"/>
                  </a:lnTo>
                  <a:lnTo>
                    <a:pt x="4572" y="3723132"/>
                  </a:lnTo>
                  <a:lnTo>
                    <a:pt x="8382" y="3723132"/>
                  </a:lnTo>
                  <a:close/>
                </a:path>
                <a:path w="3552190" h="3731895">
                  <a:moveTo>
                    <a:pt x="3547872" y="3723132"/>
                  </a:moveTo>
                  <a:lnTo>
                    <a:pt x="4572" y="3723132"/>
                  </a:lnTo>
                  <a:lnTo>
                    <a:pt x="8382" y="3727704"/>
                  </a:lnTo>
                  <a:lnTo>
                    <a:pt x="8382" y="3731514"/>
                  </a:lnTo>
                  <a:lnTo>
                    <a:pt x="3543300" y="3731514"/>
                  </a:lnTo>
                  <a:lnTo>
                    <a:pt x="3543300" y="3727704"/>
                  </a:lnTo>
                  <a:lnTo>
                    <a:pt x="3547872" y="3723132"/>
                  </a:lnTo>
                  <a:close/>
                </a:path>
                <a:path w="3552190" h="3731895">
                  <a:moveTo>
                    <a:pt x="8382" y="3731514"/>
                  </a:moveTo>
                  <a:lnTo>
                    <a:pt x="8382" y="3727704"/>
                  </a:lnTo>
                  <a:lnTo>
                    <a:pt x="4572" y="3723132"/>
                  </a:lnTo>
                  <a:lnTo>
                    <a:pt x="4572" y="3731514"/>
                  </a:lnTo>
                  <a:lnTo>
                    <a:pt x="8382" y="3731514"/>
                  </a:lnTo>
                  <a:close/>
                </a:path>
                <a:path w="3552190" h="3731895">
                  <a:moveTo>
                    <a:pt x="3547872" y="8381"/>
                  </a:moveTo>
                  <a:lnTo>
                    <a:pt x="3543300" y="3809"/>
                  </a:lnTo>
                  <a:lnTo>
                    <a:pt x="3543300" y="8381"/>
                  </a:lnTo>
                  <a:lnTo>
                    <a:pt x="3547872" y="8381"/>
                  </a:lnTo>
                  <a:close/>
                </a:path>
                <a:path w="3552190" h="3731895">
                  <a:moveTo>
                    <a:pt x="3547872" y="3723132"/>
                  </a:moveTo>
                  <a:lnTo>
                    <a:pt x="3547872" y="8381"/>
                  </a:lnTo>
                  <a:lnTo>
                    <a:pt x="3543300" y="8381"/>
                  </a:lnTo>
                  <a:lnTo>
                    <a:pt x="3543300" y="3723132"/>
                  </a:lnTo>
                  <a:lnTo>
                    <a:pt x="3547872" y="3723132"/>
                  </a:lnTo>
                  <a:close/>
                </a:path>
                <a:path w="3552190" h="3731895">
                  <a:moveTo>
                    <a:pt x="3547872" y="3731514"/>
                  </a:moveTo>
                  <a:lnTo>
                    <a:pt x="3547872" y="3723132"/>
                  </a:lnTo>
                  <a:lnTo>
                    <a:pt x="3543300" y="3727704"/>
                  </a:lnTo>
                  <a:lnTo>
                    <a:pt x="3543300" y="3731514"/>
                  </a:lnTo>
                  <a:lnTo>
                    <a:pt x="3547872" y="3731514"/>
                  </a:lnTo>
                  <a:close/>
                </a:path>
              </a:pathLst>
            </a:custGeom>
            <a:solidFill>
              <a:srgbClr val="FF0000"/>
            </a:solidFill>
          </p:spPr>
          <p:txBody>
            <a:bodyPr wrap="square" lIns="0" tIns="0" rIns="0" bIns="0" rtlCol="0"/>
            <a:lstStyle/>
            <a:p>
              <a:endParaRPr/>
            </a:p>
          </p:txBody>
        </p:sp>
      </p:grpSp>
      <p:sp>
        <p:nvSpPr>
          <p:cNvPr id="6" name="object 6"/>
          <p:cNvSpPr txBox="1"/>
          <p:nvPr/>
        </p:nvSpPr>
        <p:spPr>
          <a:xfrm>
            <a:off x="6722243" y="1967738"/>
            <a:ext cx="1684020" cy="266065"/>
          </a:xfrm>
          <a:prstGeom prst="rect">
            <a:avLst/>
          </a:prstGeom>
        </p:spPr>
        <p:txBody>
          <a:bodyPr vert="horz" wrap="square" lIns="0" tIns="15875" rIns="0" bIns="0" rtlCol="0">
            <a:spAutoFit/>
          </a:bodyPr>
          <a:lstStyle/>
          <a:p>
            <a:pPr>
              <a:lnSpc>
                <a:spcPct val="100000"/>
              </a:lnSpc>
              <a:spcBef>
                <a:spcPts val="125"/>
              </a:spcBef>
            </a:pPr>
            <a:r>
              <a:rPr sz="1550" b="1" dirty="0">
                <a:latin typeface="Calibri"/>
                <a:cs typeface="Calibri"/>
              </a:rPr>
              <a:t>module</a:t>
            </a:r>
            <a:r>
              <a:rPr sz="1550" b="1" spc="15" dirty="0">
                <a:latin typeface="Calibri"/>
                <a:cs typeface="Calibri"/>
              </a:rPr>
              <a:t> </a:t>
            </a:r>
            <a:r>
              <a:rPr sz="1550" spc="-10" dirty="0">
                <a:latin typeface="宋体"/>
                <a:cs typeface="宋体"/>
              </a:rPr>
              <a:t>shift_reg8</a:t>
            </a:r>
            <a:endParaRPr sz="1550">
              <a:latin typeface="宋体"/>
              <a:cs typeface="宋体"/>
            </a:endParaRPr>
          </a:p>
        </p:txBody>
      </p:sp>
      <p:sp>
        <p:nvSpPr>
          <p:cNvPr id="7" name="object 7"/>
          <p:cNvSpPr txBox="1"/>
          <p:nvPr/>
        </p:nvSpPr>
        <p:spPr>
          <a:xfrm>
            <a:off x="6860162" y="2204718"/>
            <a:ext cx="60960" cy="266065"/>
          </a:xfrm>
          <a:prstGeom prst="rect">
            <a:avLst/>
          </a:prstGeom>
        </p:spPr>
        <p:txBody>
          <a:bodyPr vert="horz" wrap="square" lIns="0" tIns="15875" rIns="0" bIns="0" rtlCol="0">
            <a:spAutoFit/>
          </a:bodyPr>
          <a:lstStyle/>
          <a:p>
            <a:pPr>
              <a:lnSpc>
                <a:spcPct val="100000"/>
              </a:lnSpc>
              <a:spcBef>
                <a:spcPts val="125"/>
              </a:spcBef>
            </a:pPr>
            <a:r>
              <a:rPr sz="1550" spc="-50" dirty="0">
                <a:latin typeface="Calibri"/>
                <a:cs typeface="Calibri"/>
              </a:rPr>
              <a:t>(</a:t>
            </a:r>
            <a:endParaRPr sz="1550">
              <a:latin typeface="Calibri"/>
              <a:cs typeface="Calibri"/>
            </a:endParaRPr>
          </a:p>
        </p:txBody>
      </p:sp>
      <p:sp>
        <p:nvSpPr>
          <p:cNvPr id="8" name="object 8"/>
          <p:cNvSpPr txBox="1"/>
          <p:nvPr/>
        </p:nvSpPr>
        <p:spPr>
          <a:xfrm>
            <a:off x="6546983" y="2444744"/>
            <a:ext cx="3314065" cy="3522979"/>
          </a:xfrm>
          <a:prstGeom prst="rect">
            <a:avLst/>
          </a:prstGeom>
        </p:spPr>
        <p:txBody>
          <a:bodyPr vert="horz" wrap="square" lIns="0" tIns="15875" rIns="0" bIns="0" rtlCol="0">
            <a:spAutoFit/>
          </a:bodyPr>
          <a:lstStyle/>
          <a:p>
            <a:pPr marL="542290">
              <a:lnSpc>
                <a:spcPct val="100000"/>
              </a:lnSpc>
              <a:spcBef>
                <a:spcPts val="125"/>
              </a:spcBef>
            </a:pPr>
            <a:r>
              <a:rPr sz="1550" b="1" dirty="0">
                <a:latin typeface="Calibri"/>
                <a:cs typeface="Calibri"/>
              </a:rPr>
              <a:t>input</a:t>
            </a:r>
            <a:r>
              <a:rPr sz="1550" b="1" spc="390" dirty="0">
                <a:latin typeface="Calibri"/>
                <a:cs typeface="Calibri"/>
              </a:rPr>
              <a:t> </a:t>
            </a:r>
            <a:r>
              <a:rPr sz="1550" spc="-20" dirty="0">
                <a:latin typeface="Calibri"/>
                <a:cs typeface="Calibri"/>
              </a:rPr>
              <a:t>clk,</a:t>
            </a:r>
            <a:endParaRPr sz="1550">
              <a:latin typeface="Calibri"/>
              <a:cs typeface="Calibri"/>
            </a:endParaRPr>
          </a:p>
          <a:p>
            <a:pPr marL="588010">
              <a:lnSpc>
                <a:spcPct val="100000"/>
              </a:lnSpc>
              <a:spcBef>
                <a:spcPts val="35"/>
              </a:spcBef>
            </a:pPr>
            <a:r>
              <a:rPr sz="1550" b="1" dirty="0">
                <a:latin typeface="Calibri"/>
                <a:cs typeface="Calibri"/>
              </a:rPr>
              <a:t>input</a:t>
            </a:r>
            <a:r>
              <a:rPr sz="1550" b="1" spc="390" dirty="0">
                <a:latin typeface="Calibri"/>
                <a:cs typeface="Calibri"/>
              </a:rPr>
              <a:t> </a:t>
            </a:r>
            <a:r>
              <a:rPr sz="1550" spc="-20" dirty="0">
                <a:latin typeface="Calibri"/>
                <a:cs typeface="Calibri"/>
              </a:rPr>
              <a:t>load,</a:t>
            </a:r>
            <a:endParaRPr sz="1550">
              <a:latin typeface="Calibri"/>
              <a:cs typeface="Calibri"/>
            </a:endParaRPr>
          </a:p>
          <a:p>
            <a:pPr marL="588010">
              <a:lnSpc>
                <a:spcPct val="100000"/>
              </a:lnSpc>
              <a:spcBef>
                <a:spcPts val="40"/>
              </a:spcBef>
            </a:pPr>
            <a:r>
              <a:rPr sz="1550" b="1" dirty="0">
                <a:latin typeface="Calibri"/>
                <a:cs typeface="Calibri"/>
              </a:rPr>
              <a:t>input</a:t>
            </a:r>
            <a:r>
              <a:rPr sz="1550" b="1" spc="10" dirty="0">
                <a:latin typeface="Calibri"/>
                <a:cs typeface="Calibri"/>
              </a:rPr>
              <a:t> </a:t>
            </a:r>
            <a:r>
              <a:rPr sz="1550" dirty="0">
                <a:latin typeface="Calibri"/>
                <a:cs typeface="Calibri"/>
              </a:rPr>
              <a:t>[7:0]</a:t>
            </a:r>
            <a:r>
              <a:rPr sz="1550" spc="405" dirty="0">
                <a:latin typeface="Calibri"/>
                <a:cs typeface="Calibri"/>
              </a:rPr>
              <a:t> </a:t>
            </a:r>
            <a:r>
              <a:rPr sz="1550" spc="-20" dirty="0">
                <a:latin typeface="Calibri"/>
                <a:cs typeface="Calibri"/>
              </a:rPr>
              <a:t>din,</a:t>
            </a:r>
            <a:endParaRPr sz="1550">
              <a:latin typeface="Calibri"/>
              <a:cs typeface="Calibri"/>
            </a:endParaRPr>
          </a:p>
          <a:p>
            <a:pPr marL="542290">
              <a:lnSpc>
                <a:spcPct val="100000"/>
              </a:lnSpc>
              <a:spcBef>
                <a:spcPts val="60"/>
              </a:spcBef>
            </a:pPr>
            <a:r>
              <a:rPr sz="1550" b="1" dirty="0">
                <a:latin typeface="宋体"/>
                <a:cs typeface="宋体"/>
              </a:rPr>
              <a:t>o</a:t>
            </a:r>
            <a:r>
              <a:rPr sz="1550" b="1" dirty="0">
                <a:latin typeface="Calibri"/>
                <a:cs typeface="Calibri"/>
              </a:rPr>
              <a:t>utput</a:t>
            </a:r>
            <a:r>
              <a:rPr sz="1550" b="1" spc="409" dirty="0">
                <a:latin typeface="Calibri"/>
                <a:cs typeface="Calibri"/>
              </a:rPr>
              <a:t> </a:t>
            </a:r>
            <a:r>
              <a:rPr sz="1550" spc="-35" dirty="0">
                <a:latin typeface="Calibri"/>
                <a:cs typeface="Calibri"/>
              </a:rPr>
              <a:t>qb</a:t>
            </a:r>
            <a:endParaRPr sz="1550">
              <a:latin typeface="Calibri"/>
              <a:cs typeface="Calibri"/>
            </a:endParaRPr>
          </a:p>
          <a:p>
            <a:pPr marL="404495">
              <a:lnSpc>
                <a:spcPct val="100000"/>
              </a:lnSpc>
              <a:spcBef>
                <a:spcPts val="5"/>
              </a:spcBef>
            </a:pPr>
            <a:r>
              <a:rPr sz="1550" spc="-25" dirty="0">
                <a:latin typeface="Calibri"/>
                <a:cs typeface="Calibri"/>
              </a:rPr>
              <a:t>);</a:t>
            </a:r>
            <a:endParaRPr sz="1550">
              <a:latin typeface="Calibri"/>
              <a:cs typeface="Calibri"/>
            </a:endParaRPr>
          </a:p>
          <a:p>
            <a:pPr marL="358775">
              <a:lnSpc>
                <a:spcPct val="100000"/>
              </a:lnSpc>
              <a:spcBef>
                <a:spcPts val="30"/>
              </a:spcBef>
            </a:pPr>
            <a:r>
              <a:rPr sz="1550" b="1" dirty="0">
                <a:latin typeface="Calibri"/>
                <a:cs typeface="Calibri"/>
              </a:rPr>
              <a:t>reg</a:t>
            </a:r>
            <a:r>
              <a:rPr sz="1550" b="1" spc="20" dirty="0">
                <a:latin typeface="Calibri"/>
                <a:cs typeface="Calibri"/>
              </a:rPr>
              <a:t> </a:t>
            </a:r>
            <a:r>
              <a:rPr sz="1550" dirty="0">
                <a:latin typeface="Calibri"/>
                <a:cs typeface="Calibri"/>
              </a:rPr>
              <a:t>[7:0]</a:t>
            </a:r>
            <a:r>
              <a:rPr sz="1550" spc="30" dirty="0">
                <a:latin typeface="Calibri"/>
                <a:cs typeface="Calibri"/>
              </a:rPr>
              <a:t> </a:t>
            </a:r>
            <a:r>
              <a:rPr sz="1550" spc="-10" dirty="0">
                <a:latin typeface="Calibri"/>
                <a:cs typeface="Calibri"/>
              </a:rPr>
              <a:t>reg8;</a:t>
            </a:r>
            <a:endParaRPr sz="1550">
              <a:latin typeface="Calibri"/>
              <a:cs typeface="Calibri"/>
            </a:endParaRPr>
          </a:p>
          <a:p>
            <a:pPr marL="358775">
              <a:lnSpc>
                <a:spcPct val="100000"/>
              </a:lnSpc>
              <a:spcBef>
                <a:spcPts val="65"/>
              </a:spcBef>
            </a:pPr>
            <a:r>
              <a:rPr sz="1550" b="1" dirty="0">
                <a:latin typeface="Calibri"/>
                <a:cs typeface="Calibri"/>
              </a:rPr>
              <a:t>always</a:t>
            </a:r>
            <a:r>
              <a:rPr sz="1550" b="1" spc="15" dirty="0">
                <a:latin typeface="Calibri"/>
                <a:cs typeface="Calibri"/>
              </a:rPr>
              <a:t> </a:t>
            </a:r>
            <a:r>
              <a:rPr sz="1550" dirty="0">
                <a:latin typeface="Calibri"/>
                <a:cs typeface="Calibri"/>
              </a:rPr>
              <a:t>@(</a:t>
            </a:r>
            <a:r>
              <a:rPr sz="1550" b="1" dirty="0">
                <a:latin typeface="Calibri"/>
                <a:cs typeface="Calibri"/>
              </a:rPr>
              <a:t>posedge</a:t>
            </a:r>
            <a:r>
              <a:rPr sz="1550" b="1" spc="20" dirty="0">
                <a:latin typeface="Calibri"/>
                <a:cs typeface="Calibri"/>
              </a:rPr>
              <a:t> </a:t>
            </a:r>
            <a:r>
              <a:rPr sz="1550" spc="-20" dirty="0">
                <a:latin typeface="宋体"/>
                <a:cs typeface="宋体"/>
              </a:rPr>
              <a:t>clk</a:t>
            </a:r>
            <a:r>
              <a:rPr sz="1550" spc="-20" dirty="0">
                <a:latin typeface="Calibri"/>
                <a:cs typeface="Calibri"/>
              </a:rPr>
              <a:t>)</a:t>
            </a:r>
            <a:endParaRPr sz="1550">
              <a:latin typeface="Calibri"/>
              <a:cs typeface="Calibri"/>
            </a:endParaRPr>
          </a:p>
          <a:p>
            <a:pPr marL="588010">
              <a:lnSpc>
                <a:spcPct val="100000"/>
              </a:lnSpc>
              <a:spcBef>
                <a:spcPts val="5"/>
              </a:spcBef>
            </a:pPr>
            <a:r>
              <a:rPr sz="1550" b="1" spc="-10" dirty="0">
                <a:latin typeface="Calibri"/>
                <a:cs typeface="Calibri"/>
              </a:rPr>
              <a:t>if</a:t>
            </a:r>
            <a:r>
              <a:rPr sz="1550" spc="-10" dirty="0">
                <a:latin typeface="Calibri"/>
                <a:cs typeface="Calibri"/>
              </a:rPr>
              <a:t>(load)</a:t>
            </a:r>
            <a:endParaRPr sz="1550">
              <a:latin typeface="Calibri"/>
              <a:cs typeface="Calibri"/>
            </a:endParaRPr>
          </a:p>
          <a:p>
            <a:pPr marL="909319">
              <a:lnSpc>
                <a:spcPct val="100000"/>
              </a:lnSpc>
              <a:spcBef>
                <a:spcPts val="30"/>
              </a:spcBef>
            </a:pPr>
            <a:r>
              <a:rPr sz="1550" dirty="0">
                <a:latin typeface="Calibri"/>
                <a:cs typeface="Calibri"/>
              </a:rPr>
              <a:t>reg8</a:t>
            </a:r>
            <a:r>
              <a:rPr sz="1550" spc="15" dirty="0">
                <a:latin typeface="Calibri"/>
                <a:cs typeface="Calibri"/>
              </a:rPr>
              <a:t> </a:t>
            </a:r>
            <a:r>
              <a:rPr sz="1550" dirty="0">
                <a:latin typeface="Calibri"/>
                <a:cs typeface="Calibri"/>
              </a:rPr>
              <a:t>&lt;=</a:t>
            </a:r>
            <a:r>
              <a:rPr sz="1550" spc="25" dirty="0">
                <a:latin typeface="Calibri"/>
                <a:cs typeface="Calibri"/>
              </a:rPr>
              <a:t> </a:t>
            </a:r>
            <a:r>
              <a:rPr sz="1550" spc="-20" dirty="0">
                <a:latin typeface="Calibri"/>
                <a:cs typeface="Calibri"/>
              </a:rPr>
              <a:t>din;</a:t>
            </a:r>
            <a:endParaRPr sz="1550">
              <a:latin typeface="Calibri"/>
              <a:cs typeface="Calibri"/>
            </a:endParaRPr>
          </a:p>
          <a:p>
            <a:pPr marL="588010">
              <a:lnSpc>
                <a:spcPct val="100000"/>
              </a:lnSpc>
              <a:spcBef>
                <a:spcPts val="35"/>
              </a:spcBef>
            </a:pPr>
            <a:r>
              <a:rPr sz="1550" b="1" spc="-20" dirty="0">
                <a:latin typeface="Calibri"/>
                <a:cs typeface="Calibri"/>
              </a:rPr>
              <a:t>else</a:t>
            </a:r>
            <a:endParaRPr sz="1550">
              <a:latin typeface="Calibri"/>
              <a:cs typeface="Calibri"/>
            </a:endParaRPr>
          </a:p>
          <a:p>
            <a:pPr marL="863600">
              <a:lnSpc>
                <a:spcPct val="100000"/>
              </a:lnSpc>
              <a:spcBef>
                <a:spcPts val="30"/>
              </a:spcBef>
            </a:pPr>
            <a:r>
              <a:rPr sz="1550" dirty="0">
                <a:latin typeface="Calibri"/>
                <a:cs typeface="Calibri"/>
              </a:rPr>
              <a:t>reg8[6:0]</a:t>
            </a:r>
            <a:r>
              <a:rPr sz="1550" spc="40" dirty="0">
                <a:latin typeface="Calibri"/>
                <a:cs typeface="Calibri"/>
              </a:rPr>
              <a:t> </a:t>
            </a:r>
            <a:r>
              <a:rPr sz="1550" dirty="0">
                <a:latin typeface="Calibri"/>
                <a:cs typeface="Calibri"/>
              </a:rPr>
              <a:t>&lt;=</a:t>
            </a:r>
            <a:r>
              <a:rPr sz="1550" spc="40" dirty="0">
                <a:latin typeface="Calibri"/>
                <a:cs typeface="Calibri"/>
              </a:rPr>
              <a:t> </a:t>
            </a:r>
            <a:r>
              <a:rPr sz="1550" spc="-10" dirty="0">
                <a:latin typeface="Calibri"/>
                <a:cs typeface="Calibri"/>
              </a:rPr>
              <a:t>reg8[7:1];</a:t>
            </a:r>
            <a:endParaRPr sz="1550">
              <a:latin typeface="Calibri"/>
              <a:cs typeface="Calibri"/>
            </a:endParaRPr>
          </a:p>
          <a:p>
            <a:pPr marL="542290">
              <a:lnSpc>
                <a:spcPct val="100000"/>
              </a:lnSpc>
              <a:spcBef>
                <a:spcPts val="40"/>
              </a:spcBef>
            </a:pPr>
            <a:r>
              <a:rPr sz="1550" b="1" dirty="0">
                <a:latin typeface="Calibri"/>
                <a:cs typeface="Calibri"/>
              </a:rPr>
              <a:t>assign</a:t>
            </a:r>
            <a:r>
              <a:rPr sz="1550" b="1" spc="25" dirty="0">
                <a:latin typeface="Calibri"/>
                <a:cs typeface="Calibri"/>
              </a:rPr>
              <a:t> </a:t>
            </a:r>
            <a:r>
              <a:rPr sz="1550" dirty="0">
                <a:latin typeface="Calibri"/>
                <a:cs typeface="Calibri"/>
              </a:rPr>
              <a:t>qb</a:t>
            </a:r>
            <a:r>
              <a:rPr sz="1550" spc="60" dirty="0">
                <a:latin typeface="Calibri"/>
                <a:cs typeface="Calibri"/>
              </a:rPr>
              <a:t> </a:t>
            </a:r>
            <a:r>
              <a:rPr sz="1550" dirty="0">
                <a:latin typeface="Calibri"/>
                <a:cs typeface="Calibri"/>
              </a:rPr>
              <a:t>=</a:t>
            </a:r>
            <a:r>
              <a:rPr sz="1550" spc="50" dirty="0">
                <a:latin typeface="Calibri"/>
                <a:cs typeface="Calibri"/>
              </a:rPr>
              <a:t> </a:t>
            </a:r>
            <a:r>
              <a:rPr sz="1550" spc="-10" dirty="0">
                <a:latin typeface="Calibri"/>
                <a:cs typeface="Calibri"/>
              </a:rPr>
              <a:t>reg8[0];</a:t>
            </a:r>
            <a:endParaRPr sz="1550">
              <a:latin typeface="Calibri"/>
              <a:cs typeface="Calibri"/>
            </a:endParaRPr>
          </a:p>
          <a:p>
            <a:pPr marL="174625">
              <a:lnSpc>
                <a:spcPct val="100000"/>
              </a:lnSpc>
              <a:spcBef>
                <a:spcPts val="45"/>
              </a:spcBef>
            </a:pPr>
            <a:r>
              <a:rPr sz="1550" b="1" spc="-10" dirty="0">
                <a:latin typeface="Calibri"/>
                <a:cs typeface="Calibri"/>
              </a:rPr>
              <a:t>endmodule</a:t>
            </a:r>
            <a:endParaRPr sz="1550">
              <a:latin typeface="Calibri"/>
              <a:cs typeface="Calibri"/>
            </a:endParaRPr>
          </a:p>
          <a:p>
            <a:pPr>
              <a:lnSpc>
                <a:spcPct val="100000"/>
              </a:lnSpc>
              <a:spcBef>
                <a:spcPts val="1470"/>
              </a:spcBef>
            </a:pPr>
            <a:r>
              <a:rPr sz="1200" spc="35" dirty="0">
                <a:latin typeface="微软雅黑"/>
                <a:cs typeface="微软雅黑"/>
              </a:rPr>
              <a:t>例 </a:t>
            </a:r>
            <a:r>
              <a:rPr sz="1200" dirty="0">
                <a:latin typeface="Arial"/>
                <a:cs typeface="Arial"/>
              </a:rPr>
              <a:t>4.11</a:t>
            </a:r>
            <a:r>
              <a:rPr sz="1200" spc="90" dirty="0">
                <a:latin typeface="Arial"/>
                <a:cs typeface="Arial"/>
              </a:rPr>
              <a:t>  </a:t>
            </a:r>
            <a:r>
              <a:rPr sz="1200" dirty="0">
                <a:latin typeface="微软雅黑"/>
                <a:cs typeface="微软雅黑"/>
              </a:rPr>
              <a:t>具有同步预置功能的</a:t>
            </a:r>
            <a:r>
              <a:rPr sz="1200" dirty="0">
                <a:latin typeface="Arial"/>
                <a:cs typeface="Arial"/>
              </a:rPr>
              <a:t>8</a:t>
            </a:r>
            <a:r>
              <a:rPr sz="1200" spc="-10" dirty="0">
                <a:latin typeface="微软雅黑"/>
                <a:cs typeface="微软雅黑"/>
              </a:rPr>
              <a:t>位移位寄存器描述</a:t>
            </a:r>
            <a:endParaRPr sz="1200">
              <a:latin typeface="微软雅黑"/>
              <a:cs typeface="微软雅黑"/>
            </a:endParaRPr>
          </a:p>
        </p:txBody>
      </p:sp>
      <p:sp>
        <p:nvSpPr>
          <p:cNvPr id="9" name="object 9"/>
          <p:cNvSpPr txBox="1"/>
          <p:nvPr/>
        </p:nvSpPr>
        <p:spPr>
          <a:xfrm>
            <a:off x="607361" y="5245498"/>
            <a:ext cx="5480685" cy="1108075"/>
          </a:xfrm>
          <a:prstGeom prst="rect">
            <a:avLst/>
          </a:prstGeom>
        </p:spPr>
        <p:txBody>
          <a:bodyPr vert="horz" wrap="square" lIns="0" tIns="11430" rIns="0" bIns="0" rtlCol="0">
            <a:spAutoFit/>
          </a:bodyPr>
          <a:lstStyle/>
          <a:p>
            <a:pPr marL="12700" marR="5080" algn="just">
              <a:lnSpc>
                <a:spcPct val="152700"/>
              </a:lnSpc>
              <a:spcBef>
                <a:spcPts val="90"/>
              </a:spcBef>
            </a:pPr>
            <a:r>
              <a:rPr sz="1550" spc="254" dirty="0">
                <a:latin typeface="微软雅黑"/>
                <a:cs typeface="微软雅黑"/>
              </a:rPr>
              <a:t>这样完成一个时钟周期后，把上一时钟周期的高</a:t>
            </a:r>
            <a:r>
              <a:rPr sz="1550" spc="5" dirty="0">
                <a:latin typeface="Arial"/>
                <a:cs typeface="Arial"/>
              </a:rPr>
              <a:t>7</a:t>
            </a:r>
            <a:r>
              <a:rPr sz="1550" spc="-200" dirty="0">
                <a:latin typeface="Arial"/>
                <a:cs typeface="Arial"/>
              </a:rPr>
              <a:t> </a:t>
            </a:r>
            <a:r>
              <a:rPr sz="1550" spc="245" dirty="0">
                <a:latin typeface="微软雅黑"/>
                <a:cs typeface="微软雅黑"/>
              </a:rPr>
              <a:t>位值</a:t>
            </a:r>
            <a:r>
              <a:rPr sz="1550" spc="229" dirty="0">
                <a:latin typeface="微软雅黑"/>
                <a:cs typeface="微软雅黑"/>
              </a:rPr>
              <a:t> </a:t>
            </a:r>
            <a:r>
              <a:rPr sz="1550" spc="20" dirty="0">
                <a:latin typeface="Arial"/>
                <a:cs typeface="Arial"/>
              </a:rPr>
              <a:t>reg8[7:1]</a:t>
            </a:r>
            <a:r>
              <a:rPr sz="1550" spc="25" dirty="0">
                <a:latin typeface="微软雅黑"/>
                <a:cs typeface="微软雅黑"/>
              </a:rPr>
              <a:t>更新至此寄存器的低</a:t>
            </a:r>
            <a:r>
              <a:rPr sz="1550" spc="20" dirty="0">
                <a:latin typeface="Arial"/>
                <a:cs typeface="Arial"/>
              </a:rPr>
              <a:t>7</a:t>
            </a:r>
            <a:r>
              <a:rPr sz="1550" spc="25" dirty="0">
                <a:latin typeface="微软雅黑"/>
                <a:cs typeface="微软雅黑"/>
              </a:rPr>
              <a:t>位</a:t>
            </a:r>
            <a:r>
              <a:rPr sz="1550" spc="25" dirty="0">
                <a:latin typeface="Arial"/>
                <a:cs typeface="Arial"/>
              </a:rPr>
              <a:t>reg8[6:0],</a:t>
            </a:r>
            <a:r>
              <a:rPr sz="1550" spc="25" dirty="0">
                <a:latin typeface="微软雅黑"/>
                <a:cs typeface="微软雅黑"/>
              </a:rPr>
              <a:t>实现右移一位的操</a:t>
            </a:r>
            <a:r>
              <a:rPr sz="1550" spc="15" dirty="0">
                <a:latin typeface="微软雅黑"/>
                <a:cs typeface="微软雅黑"/>
              </a:rPr>
              <a:t>作。连续赋值语句把移位寄存器最低位通过</a:t>
            </a:r>
            <a:r>
              <a:rPr sz="1550" dirty="0">
                <a:latin typeface="Arial"/>
                <a:cs typeface="Arial"/>
              </a:rPr>
              <a:t>qb</a:t>
            </a:r>
            <a:r>
              <a:rPr sz="1550" spc="15" dirty="0">
                <a:latin typeface="微软雅黑"/>
                <a:cs typeface="微软雅黑"/>
              </a:rPr>
              <a:t>端口输出。</a:t>
            </a:r>
            <a:endParaRPr sz="1550">
              <a:latin typeface="微软雅黑"/>
              <a:cs typeface="微软雅黑"/>
            </a:endParaRPr>
          </a:p>
        </p:txBody>
      </p:sp>
      <p:sp>
        <p:nvSpPr>
          <p:cNvPr id="10" name="object 10"/>
          <p:cNvSpPr/>
          <p:nvPr/>
        </p:nvSpPr>
        <p:spPr>
          <a:xfrm>
            <a:off x="540905" y="3010661"/>
            <a:ext cx="5591810" cy="2274570"/>
          </a:xfrm>
          <a:custGeom>
            <a:avLst/>
            <a:gdLst/>
            <a:ahLst/>
            <a:cxnLst/>
            <a:rect l="l" t="t" r="r" b="b"/>
            <a:pathLst>
              <a:path w="5591810" h="2274570">
                <a:moveTo>
                  <a:pt x="5591556" y="2273046"/>
                </a:moveTo>
                <a:lnTo>
                  <a:pt x="5591556" y="1523"/>
                </a:lnTo>
                <a:lnTo>
                  <a:pt x="5590032" y="0"/>
                </a:lnTo>
                <a:lnTo>
                  <a:pt x="1523" y="0"/>
                </a:lnTo>
                <a:lnTo>
                  <a:pt x="0" y="1524"/>
                </a:lnTo>
                <a:lnTo>
                  <a:pt x="0" y="2273046"/>
                </a:lnTo>
                <a:lnTo>
                  <a:pt x="1524" y="2274570"/>
                </a:lnTo>
                <a:lnTo>
                  <a:pt x="3809" y="2274570"/>
                </a:lnTo>
                <a:lnTo>
                  <a:pt x="3810" y="8382"/>
                </a:lnTo>
                <a:lnTo>
                  <a:pt x="7620" y="3810"/>
                </a:lnTo>
                <a:lnTo>
                  <a:pt x="7620" y="8382"/>
                </a:lnTo>
                <a:lnTo>
                  <a:pt x="5583174" y="8381"/>
                </a:lnTo>
                <a:lnTo>
                  <a:pt x="5583174" y="3809"/>
                </a:lnTo>
                <a:lnTo>
                  <a:pt x="5587746" y="8381"/>
                </a:lnTo>
                <a:lnTo>
                  <a:pt x="5587746" y="2274570"/>
                </a:lnTo>
                <a:lnTo>
                  <a:pt x="5590032" y="2274570"/>
                </a:lnTo>
                <a:lnTo>
                  <a:pt x="5591556" y="2273046"/>
                </a:lnTo>
                <a:close/>
              </a:path>
              <a:path w="5591810" h="2274570">
                <a:moveTo>
                  <a:pt x="7620" y="8382"/>
                </a:moveTo>
                <a:lnTo>
                  <a:pt x="7620" y="3810"/>
                </a:lnTo>
                <a:lnTo>
                  <a:pt x="3810" y="8382"/>
                </a:lnTo>
                <a:lnTo>
                  <a:pt x="7620" y="8382"/>
                </a:lnTo>
                <a:close/>
              </a:path>
              <a:path w="5591810" h="2274570">
                <a:moveTo>
                  <a:pt x="7620" y="2266188"/>
                </a:moveTo>
                <a:lnTo>
                  <a:pt x="7620" y="8382"/>
                </a:lnTo>
                <a:lnTo>
                  <a:pt x="3810" y="8382"/>
                </a:lnTo>
                <a:lnTo>
                  <a:pt x="3810" y="2266188"/>
                </a:lnTo>
                <a:lnTo>
                  <a:pt x="7620" y="2266188"/>
                </a:lnTo>
                <a:close/>
              </a:path>
              <a:path w="5591810" h="2274570">
                <a:moveTo>
                  <a:pt x="5587746" y="2266187"/>
                </a:moveTo>
                <a:lnTo>
                  <a:pt x="3810" y="2266188"/>
                </a:lnTo>
                <a:lnTo>
                  <a:pt x="7620" y="2270760"/>
                </a:lnTo>
                <a:lnTo>
                  <a:pt x="7620" y="2274570"/>
                </a:lnTo>
                <a:lnTo>
                  <a:pt x="5583174" y="2274570"/>
                </a:lnTo>
                <a:lnTo>
                  <a:pt x="5583174" y="2270760"/>
                </a:lnTo>
                <a:lnTo>
                  <a:pt x="5587746" y="2266187"/>
                </a:lnTo>
                <a:close/>
              </a:path>
              <a:path w="5591810" h="2274570">
                <a:moveTo>
                  <a:pt x="7620" y="2274570"/>
                </a:moveTo>
                <a:lnTo>
                  <a:pt x="7620" y="2270760"/>
                </a:lnTo>
                <a:lnTo>
                  <a:pt x="3810" y="2266188"/>
                </a:lnTo>
                <a:lnTo>
                  <a:pt x="3809" y="2274570"/>
                </a:lnTo>
                <a:lnTo>
                  <a:pt x="7620" y="2274570"/>
                </a:lnTo>
                <a:close/>
              </a:path>
              <a:path w="5591810" h="2274570">
                <a:moveTo>
                  <a:pt x="5587746" y="8381"/>
                </a:moveTo>
                <a:lnTo>
                  <a:pt x="5583174" y="3809"/>
                </a:lnTo>
                <a:lnTo>
                  <a:pt x="5583174" y="8381"/>
                </a:lnTo>
                <a:lnTo>
                  <a:pt x="5587746" y="8381"/>
                </a:lnTo>
                <a:close/>
              </a:path>
              <a:path w="5591810" h="2274570">
                <a:moveTo>
                  <a:pt x="5587746" y="2266187"/>
                </a:moveTo>
                <a:lnTo>
                  <a:pt x="5587746" y="8381"/>
                </a:lnTo>
                <a:lnTo>
                  <a:pt x="5583174" y="8381"/>
                </a:lnTo>
                <a:lnTo>
                  <a:pt x="5583174" y="2266187"/>
                </a:lnTo>
                <a:lnTo>
                  <a:pt x="5587746" y="2266187"/>
                </a:lnTo>
                <a:close/>
              </a:path>
              <a:path w="5591810" h="2274570">
                <a:moveTo>
                  <a:pt x="5587746" y="2274570"/>
                </a:moveTo>
                <a:lnTo>
                  <a:pt x="5587746" y="2266187"/>
                </a:lnTo>
                <a:lnTo>
                  <a:pt x="5583174" y="2270760"/>
                </a:lnTo>
                <a:lnTo>
                  <a:pt x="5583174" y="2274570"/>
                </a:lnTo>
                <a:lnTo>
                  <a:pt x="5587746" y="2274570"/>
                </a:lnTo>
                <a:close/>
              </a:path>
            </a:pathLst>
          </a:custGeom>
          <a:solidFill>
            <a:srgbClr val="FF0000"/>
          </a:solidFill>
        </p:spPr>
        <p:txBody>
          <a:bodyPr wrap="square" lIns="0" tIns="0" rIns="0" bIns="0" rtlCol="0"/>
          <a:lstStyle/>
          <a:p>
            <a:endParaRPr/>
          </a:p>
        </p:txBody>
      </p:sp>
      <p:sp>
        <p:nvSpPr>
          <p:cNvPr id="11" name="object 11"/>
          <p:cNvSpPr txBox="1"/>
          <p:nvPr/>
        </p:nvSpPr>
        <p:spPr>
          <a:xfrm>
            <a:off x="607427" y="1818838"/>
            <a:ext cx="5447665" cy="3363595"/>
          </a:xfrm>
          <a:prstGeom prst="rect">
            <a:avLst/>
          </a:prstGeom>
        </p:spPr>
        <p:txBody>
          <a:bodyPr vert="horz" wrap="square" lIns="0" tIns="135890" rIns="0" bIns="0" rtlCol="0">
            <a:spAutoFit/>
          </a:bodyPr>
          <a:lstStyle/>
          <a:p>
            <a:pPr marL="12700">
              <a:lnSpc>
                <a:spcPct val="100000"/>
              </a:lnSpc>
              <a:spcBef>
                <a:spcPts val="1070"/>
              </a:spcBef>
            </a:pPr>
            <a:r>
              <a:rPr sz="1550" dirty="0">
                <a:latin typeface="微软雅黑"/>
                <a:cs typeface="微软雅黑"/>
              </a:rPr>
              <a:t>具有同步预置功能的</a:t>
            </a:r>
            <a:r>
              <a:rPr sz="1550" dirty="0">
                <a:latin typeface="Arial"/>
                <a:cs typeface="Arial"/>
              </a:rPr>
              <a:t>8</a:t>
            </a:r>
            <a:r>
              <a:rPr sz="1550" dirty="0">
                <a:latin typeface="微软雅黑"/>
                <a:cs typeface="微软雅黑"/>
              </a:rPr>
              <a:t>位移位寄存器的描述如例</a:t>
            </a:r>
            <a:r>
              <a:rPr sz="1550" spc="-30" dirty="0">
                <a:latin typeface="Arial"/>
                <a:cs typeface="Arial"/>
              </a:rPr>
              <a:t>4.11</a:t>
            </a:r>
            <a:r>
              <a:rPr sz="1550" spc="-20" dirty="0">
                <a:latin typeface="微软雅黑"/>
                <a:cs typeface="微软雅黑"/>
              </a:rPr>
              <a:t>所示：</a:t>
            </a:r>
            <a:endParaRPr sz="1550">
              <a:latin typeface="微软雅黑"/>
              <a:cs typeface="微软雅黑"/>
            </a:endParaRPr>
          </a:p>
          <a:p>
            <a:pPr marL="262890" marR="77470" indent="-250825">
              <a:lnSpc>
                <a:spcPts val="2840"/>
              </a:lnSpc>
              <a:spcBef>
                <a:spcPts val="254"/>
              </a:spcBef>
              <a:buFont typeface="Wingdings"/>
              <a:buChar char=""/>
              <a:tabLst>
                <a:tab pos="262890" algn="l"/>
              </a:tabLst>
            </a:pPr>
            <a:r>
              <a:rPr sz="1550" dirty="0">
                <a:latin typeface="Arial"/>
                <a:cs typeface="Arial"/>
              </a:rPr>
              <a:t>clk</a:t>
            </a:r>
            <a:r>
              <a:rPr sz="1550" dirty="0">
                <a:latin typeface="微软雅黑"/>
                <a:cs typeface="微软雅黑"/>
              </a:rPr>
              <a:t>是移位时钟信号，</a:t>
            </a:r>
            <a:r>
              <a:rPr sz="1550" dirty="0">
                <a:latin typeface="Arial"/>
                <a:cs typeface="Arial"/>
              </a:rPr>
              <a:t>load</a:t>
            </a:r>
            <a:r>
              <a:rPr sz="1550" dirty="0">
                <a:latin typeface="微软雅黑"/>
                <a:cs typeface="微软雅黑"/>
              </a:rPr>
              <a:t>是并行数据预置使能信号，</a:t>
            </a:r>
            <a:r>
              <a:rPr sz="1550" dirty="0">
                <a:latin typeface="Arial"/>
                <a:cs typeface="Arial"/>
              </a:rPr>
              <a:t>din</a:t>
            </a:r>
            <a:r>
              <a:rPr sz="1550" spc="-50" dirty="0">
                <a:latin typeface="微软雅黑"/>
                <a:cs typeface="微软雅黑"/>
              </a:rPr>
              <a:t>是 </a:t>
            </a:r>
            <a:r>
              <a:rPr sz="1550" dirty="0">
                <a:latin typeface="Arial"/>
                <a:cs typeface="Arial"/>
              </a:rPr>
              <a:t>8</a:t>
            </a:r>
            <a:r>
              <a:rPr sz="1550" dirty="0">
                <a:latin typeface="微软雅黑"/>
                <a:cs typeface="微软雅黑"/>
              </a:rPr>
              <a:t>位并行预置数据端口，</a:t>
            </a:r>
            <a:r>
              <a:rPr sz="1550" dirty="0">
                <a:latin typeface="Arial"/>
                <a:cs typeface="Arial"/>
              </a:rPr>
              <a:t>qb</a:t>
            </a:r>
            <a:r>
              <a:rPr sz="1550" spc="-10" dirty="0">
                <a:latin typeface="微软雅黑"/>
                <a:cs typeface="微软雅黑"/>
              </a:rPr>
              <a:t>是串行输出端口。</a:t>
            </a:r>
            <a:endParaRPr sz="1550">
              <a:latin typeface="微软雅黑"/>
              <a:cs typeface="微软雅黑"/>
            </a:endParaRPr>
          </a:p>
          <a:p>
            <a:pPr marL="17145">
              <a:lnSpc>
                <a:spcPct val="100000"/>
              </a:lnSpc>
              <a:spcBef>
                <a:spcPts val="1445"/>
              </a:spcBef>
            </a:pPr>
            <a:r>
              <a:rPr sz="1550" b="1" spc="-10" dirty="0">
                <a:solidFill>
                  <a:srgbClr val="FF0000"/>
                </a:solidFill>
                <a:latin typeface="微软雅黑"/>
                <a:cs typeface="微软雅黑"/>
              </a:rPr>
              <a:t>工作原理：</a:t>
            </a:r>
            <a:endParaRPr sz="1550">
              <a:latin typeface="微软雅黑"/>
              <a:cs typeface="微软雅黑"/>
            </a:endParaRPr>
          </a:p>
          <a:p>
            <a:pPr marL="267335" indent="-250190">
              <a:lnSpc>
                <a:spcPct val="100000"/>
              </a:lnSpc>
              <a:spcBef>
                <a:spcPts val="980"/>
              </a:spcBef>
              <a:buFont typeface="Wingdings"/>
              <a:buChar char=""/>
              <a:tabLst>
                <a:tab pos="267335" algn="l"/>
              </a:tabLst>
            </a:pPr>
            <a:r>
              <a:rPr sz="1550" dirty="0">
                <a:latin typeface="微软雅黑"/>
                <a:cs typeface="微软雅黑"/>
              </a:rPr>
              <a:t>当</a:t>
            </a:r>
            <a:r>
              <a:rPr sz="1550" dirty="0">
                <a:latin typeface="Arial"/>
                <a:cs typeface="Arial"/>
              </a:rPr>
              <a:t>clk</a:t>
            </a:r>
            <a:r>
              <a:rPr sz="1550" spc="-5" dirty="0">
                <a:latin typeface="微软雅黑"/>
                <a:cs typeface="微软雅黑"/>
              </a:rPr>
              <a:t>的上升沿到来时，过程被启动，如果此时预置使能端</a:t>
            </a:r>
            <a:endParaRPr sz="1550">
              <a:latin typeface="微软雅黑"/>
              <a:cs typeface="微软雅黑"/>
            </a:endParaRPr>
          </a:p>
          <a:p>
            <a:pPr marL="267970" marR="5080">
              <a:lnSpc>
                <a:spcPct val="152600"/>
              </a:lnSpc>
              <a:spcBef>
                <a:spcPts val="5"/>
              </a:spcBef>
            </a:pPr>
            <a:r>
              <a:rPr sz="1550" dirty="0">
                <a:latin typeface="微软雅黑"/>
                <a:cs typeface="微软雅黑"/>
              </a:rPr>
              <a:t>口</a:t>
            </a:r>
            <a:r>
              <a:rPr sz="1550" dirty="0">
                <a:latin typeface="Arial"/>
                <a:cs typeface="Arial"/>
              </a:rPr>
              <a:t>load</a:t>
            </a:r>
            <a:r>
              <a:rPr sz="1550" dirty="0">
                <a:latin typeface="微软雅黑"/>
                <a:cs typeface="微软雅黑"/>
              </a:rPr>
              <a:t>为高电平，则输入端口</a:t>
            </a:r>
            <a:r>
              <a:rPr sz="1550" dirty="0">
                <a:latin typeface="Arial"/>
                <a:cs typeface="Arial"/>
              </a:rPr>
              <a:t>din</a:t>
            </a:r>
            <a:r>
              <a:rPr sz="1550" dirty="0">
                <a:latin typeface="微软雅黑"/>
                <a:cs typeface="微软雅黑"/>
              </a:rPr>
              <a:t>的</a:t>
            </a:r>
            <a:r>
              <a:rPr sz="1550" dirty="0">
                <a:latin typeface="Arial"/>
                <a:cs typeface="Arial"/>
              </a:rPr>
              <a:t>8</a:t>
            </a:r>
            <a:r>
              <a:rPr sz="1550" spc="-5" dirty="0">
                <a:latin typeface="微软雅黑"/>
                <a:cs typeface="微软雅黑"/>
              </a:rPr>
              <a:t>位二进制数被同步并行移入移位寄存器，用作串行右移的初始值；</a:t>
            </a:r>
            <a:endParaRPr sz="1550">
              <a:latin typeface="微软雅黑"/>
              <a:cs typeface="微软雅黑"/>
            </a:endParaRPr>
          </a:p>
          <a:p>
            <a:pPr marL="267335" indent="-250190">
              <a:lnSpc>
                <a:spcPct val="100000"/>
              </a:lnSpc>
              <a:spcBef>
                <a:spcPts val="985"/>
              </a:spcBef>
              <a:buFont typeface="Wingdings"/>
              <a:buChar char=""/>
              <a:tabLst>
                <a:tab pos="267335" algn="l"/>
              </a:tabLst>
            </a:pPr>
            <a:r>
              <a:rPr sz="1550" dirty="0">
                <a:latin typeface="微软雅黑"/>
                <a:cs typeface="微软雅黑"/>
              </a:rPr>
              <a:t>如果此时预置使能端口</a:t>
            </a:r>
            <a:r>
              <a:rPr sz="1550" dirty="0">
                <a:latin typeface="Arial"/>
                <a:cs typeface="Arial"/>
              </a:rPr>
              <a:t>load</a:t>
            </a:r>
            <a:r>
              <a:rPr sz="1550" spc="-5" dirty="0">
                <a:latin typeface="微软雅黑"/>
                <a:cs typeface="微软雅黑"/>
              </a:rPr>
              <a:t>为低电平，则执行赋值语句：</a:t>
            </a:r>
            <a:endParaRPr sz="1550">
              <a:latin typeface="微软雅黑"/>
              <a:cs typeface="微软雅黑"/>
            </a:endParaRPr>
          </a:p>
          <a:p>
            <a:pPr marL="818515">
              <a:lnSpc>
                <a:spcPct val="100000"/>
              </a:lnSpc>
              <a:spcBef>
                <a:spcPts val="975"/>
              </a:spcBef>
            </a:pPr>
            <a:r>
              <a:rPr sz="1550" dirty="0">
                <a:latin typeface="Arial"/>
                <a:cs typeface="Arial"/>
              </a:rPr>
              <a:t>reg8[6:0]</a:t>
            </a:r>
            <a:r>
              <a:rPr sz="1550" spc="60" dirty="0">
                <a:latin typeface="Arial"/>
                <a:cs typeface="Arial"/>
              </a:rPr>
              <a:t> </a:t>
            </a:r>
            <a:r>
              <a:rPr sz="1550" dirty="0">
                <a:latin typeface="Arial"/>
                <a:cs typeface="Arial"/>
              </a:rPr>
              <a:t>&lt;=</a:t>
            </a:r>
            <a:r>
              <a:rPr sz="1550" spc="55" dirty="0">
                <a:latin typeface="Arial"/>
                <a:cs typeface="Arial"/>
              </a:rPr>
              <a:t> </a:t>
            </a:r>
            <a:r>
              <a:rPr sz="1550" spc="-10" dirty="0">
                <a:latin typeface="Arial"/>
                <a:cs typeface="Arial"/>
              </a:rPr>
              <a:t>reg8[7:1];</a:t>
            </a:r>
            <a:endParaRPr sz="1550">
              <a:latin typeface="Arial"/>
              <a:cs typeface="Arial"/>
            </a:endParaRPr>
          </a:p>
        </p:txBody>
      </p:sp>
      <p:sp>
        <p:nvSpPr>
          <p:cNvPr id="12" name="object 12"/>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2079" y="6144259"/>
            <a:ext cx="3339465" cy="213360"/>
          </a:xfrm>
          <a:prstGeom prst="rect">
            <a:avLst/>
          </a:prstGeom>
        </p:spPr>
        <p:txBody>
          <a:bodyPr vert="horz" wrap="square" lIns="0" tIns="16510" rIns="0" bIns="0" rtlCol="0">
            <a:spAutoFit/>
          </a:bodyPr>
          <a:lstStyle/>
          <a:p>
            <a:pPr marL="12700">
              <a:lnSpc>
                <a:spcPct val="100000"/>
              </a:lnSpc>
              <a:spcBef>
                <a:spcPts val="130"/>
              </a:spcBef>
            </a:pPr>
            <a:r>
              <a:rPr sz="1200" spc="35" dirty="0">
                <a:latin typeface="微软雅黑"/>
                <a:cs typeface="微软雅黑"/>
              </a:rPr>
              <a:t>例 </a:t>
            </a:r>
            <a:r>
              <a:rPr sz="1200" dirty="0">
                <a:latin typeface="Arial"/>
                <a:cs typeface="Arial"/>
              </a:rPr>
              <a:t>4.11</a:t>
            </a:r>
            <a:r>
              <a:rPr sz="1200" spc="90" dirty="0">
                <a:latin typeface="Arial"/>
                <a:cs typeface="Arial"/>
              </a:rPr>
              <a:t>  </a:t>
            </a:r>
            <a:r>
              <a:rPr sz="1200" dirty="0">
                <a:latin typeface="微软雅黑"/>
                <a:cs typeface="微软雅黑"/>
              </a:rPr>
              <a:t>具有同步预置功能的</a:t>
            </a:r>
            <a:r>
              <a:rPr sz="1200" dirty="0">
                <a:latin typeface="Arial"/>
                <a:cs typeface="Arial"/>
              </a:rPr>
              <a:t>8</a:t>
            </a:r>
            <a:r>
              <a:rPr sz="1200" spc="-10" dirty="0">
                <a:latin typeface="微软雅黑"/>
                <a:cs typeface="微软雅黑"/>
              </a:rPr>
              <a:t>位移位寄存器描述</a:t>
            </a:r>
            <a:endParaRPr sz="1200">
              <a:latin typeface="微软雅黑"/>
              <a:cs typeface="微软雅黑"/>
            </a:endParaRPr>
          </a:p>
        </p:txBody>
      </p:sp>
      <p:grpSp>
        <p:nvGrpSpPr>
          <p:cNvPr id="3" name="object 3"/>
          <p:cNvGrpSpPr/>
          <p:nvPr/>
        </p:nvGrpSpPr>
        <p:grpSpPr>
          <a:xfrm>
            <a:off x="965339" y="2092451"/>
            <a:ext cx="3552190" cy="3975100"/>
            <a:chOff x="965339" y="2092451"/>
            <a:chExt cx="3552190" cy="3975100"/>
          </a:xfrm>
        </p:grpSpPr>
        <p:sp>
          <p:nvSpPr>
            <p:cNvPr id="4" name="object 4"/>
            <p:cNvSpPr/>
            <p:nvPr/>
          </p:nvSpPr>
          <p:spPr>
            <a:xfrm>
              <a:off x="969911" y="2096261"/>
              <a:ext cx="3543300" cy="3967479"/>
            </a:xfrm>
            <a:custGeom>
              <a:avLst/>
              <a:gdLst/>
              <a:ahLst/>
              <a:cxnLst/>
              <a:rect l="l" t="t" r="r" b="b"/>
              <a:pathLst>
                <a:path w="3543300" h="3967479">
                  <a:moveTo>
                    <a:pt x="3543300" y="3966972"/>
                  </a:moveTo>
                  <a:lnTo>
                    <a:pt x="3543300" y="0"/>
                  </a:lnTo>
                  <a:lnTo>
                    <a:pt x="0" y="0"/>
                  </a:lnTo>
                  <a:lnTo>
                    <a:pt x="0" y="3966972"/>
                  </a:lnTo>
                  <a:lnTo>
                    <a:pt x="3543300" y="3966972"/>
                  </a:lnTo>
                  <a:close/>
                </a:path>
              </a:pathLst>
            </a:custGeom>
            <a:solidFill>
              <a:srgbClr val="F9FABA"/>
            </a:solidFill>
          </p:spPr>
          <p:txBody>
            <a:bodyPr wrap="square" lIns="0" tIns="0" rIns="0" bIns="0" rtlCol="0"/>
            <a:lstStyle/>
            <a:p>
              <a:endParaRPr/>
            </a:p>
          </p:txBody>
        </p:sp>
        <p:sp>
          <p:nvSpPr>
            <p:cNvPr id="5" name="object 5"/>
            <p:cNvSpPr/>
            <p:nvPr/>
          </p:nvSpPr>
          <p:spPr>
            <a:xfrm>
              <a:off x="965339" y="2092451"/>
              <a:ext cx="3552190" cy="3975100"/>
            </a:xfrm>
            <a:custGeom>
              <a:avLst/>
              <a:gdLst/>
              <a:ahLst/>
              <a:cxnLst/>
              <a:rect l="l" t="t" r="r" b="b"/>
              <a:pathLst>
                <a:path w="3552190" h="3975100">
                  <a:moveTo>
                    <a:pt x="3551682" y="3973068"/>
                  </a:moveTo>
                  <a:lnTo>
                    <a:pt x="3551682" y="1523"/>
                  </a:lnTo>
                  <a:lnTo>
                    <a:pt x="3550158" y="0"/>
                  </a:lnTo>
                  <a:lnTo>
                    <a:pt x="2285" y="0"/>
                  </a:lnTo>
                  <a:lnTo>
                    <a:pt x="0" y="1524"/>
                  </a:lnTo>
                  <a:lnTo>
                    <a:pt x="0" y="3973068"/>
                  </a:lnTo>
                  <a:lnTo>
                    <a:pt x="2286" y="3974592"/>
                  </a:lnTo>
                  <a:lnTo>
                    <a:pt x="4572" y="3974592"/>
                  </a:lnTo>
                  <a:lnTo>
                    <a:pt x="4572" y="8382"/>
                  </a:lnTo>
                  <a:lnTo>
                    <a:pt x="8382" y="3810"/>
                  </a:lnTo>
                  <a:lnTo>
                    <a:pt x="8382" y="8382"/>
                  </a:lnTo>
                  <a:lnTo>
                    <a:pt x="3543300" y="8381"/>
                  </a:lnTo>
                  <a:lnTo>
                    <a:pt x="3543300" y="3809"/>
                  </a:lnTo>
                  <a:lnTo>
                    <a:pt x="3547872" y="8381"/>
                  </a:lnTo>
                  <a:lnTo>
                    <a:pt x="3547872" y="3974592"/>
                  </a:lnTo>
                  <a:lnTo>
                    <a:pt x="3550158" y="3974592"/>
                  </a:lnTo>
                  <a:lnTo>
                    <a:pt x="3551682" y="3973068"/>
                  </a:lnTo>
                  <a:close/>
                </a:path>
                <a:path w="3552190" h="3975100">
                  <a:moveTo>
                    <a:pt x="8382" y="8382"/>
                  </a:moveTo>
                  <a:lnTo>
                    <a:pt x="8382" y="3810"/>
                  </a:lnTo>
                  <a:lnTo>
                    <a:pt x="4572" y="8382"/>
                  </a:lnTo>
                  <a:lnTo>
                    <a:pt x="8382" y="8382"/>
                  </a:lnTo>
                  <a:close/>
                </a:path>
                <a:path w="3552190" h="3975100">
                  <a:moveTo>
                    <a:pt x="8382" y="3966210"/>
                  </a:moveTo>
                  <a:lnTo>
                    <a:pt x="8382" y="8382"/>
                  </a:lnTo>
                  <a:lnTo>
                    <a:pt x="4572" y="8382"/>
                  </a:lnTo>
                  <a:lnTo>
                    <a:pt x="4572" y="3966210"/>
                  </a:lnTo>
                  <a:lnTo>
                    <a:pt x="8382" y="3966210"/>
                  </a:lnTo>
                  <a:close/>
                </a:path>
                <a:path w="3552190" h="3975100">
                  <a:moveTo>
                    <a:pt x="3547872" y="3966210"/>
                  </a:moveTo>
                  <a:lnTo>
                    <a:pt x="4572" y="3966210"/>
                  </a:lnTo>
                  <a:lnTo>
                    <a:pt x="8382" y="3970782"/>
                  </a:lnTo>
                  <a:lnTo>
                    <a:pt x="8382" y="3974592"/>
                  </a:lnTo>
                  <a:lnTo>
                    <a:pt x="3543300" y="3974592"/>
                  </a:lnTo>
                  <a:lnTo>
                    <a:pt x="3543300" y="3970782"/>
                  </a:lnTo>
                  <a:lnTo>
                    <a:pt x="3547872" y="3966210"/>
                  </a:lnTo>
                  <a:close/>
                </a:path>
                <a:path w="3552190" h="3975100">
                  <a:moveTo>
                    <a:pt x="8382" y="3974592"/>
                  </a:moveTo>
                  <a:lnTo>
                    <a:pt x="8382" y="3970782"/>
                  </a:lnTo>
                  <a:lnTo>
                    <a:pt x="4572" y="3966210"/>
                  </a:lnTo>
                  <a:lnTo>
                    <a:pt x="4572" y="3974592"/>
                  </a:lnTo>
                  <a:lnTo>
                    <a:pt x="8382" y="3974592"/>
                  </a:lnTo>
                  <a:close/>
                </a:path>
                <a:path w="3552190" h="3975100">
                  <a:moveTo>
                    <a:pt x="3547872" y="8381"/>
                  </a:moveTo>
                  <a:lnTo>
                    <a:pt x="3543300" y="3809"/>
                  </a:lnTo>
                  <a:lnTo>
                    <a:pt x="3543300" y="8381"/>
                  </a:lnTo>
                  <a:lnTo>
                    <a:pt x="3547872" y="8381"/>
                  </a:lnTo>
                  <a:close/>
                </a:path>
                <a:path w="3552190" h="3975100">
                  <a:moveTo>
                    <a:pt x="3547872" y="3966210"/>
                  </a:moveTo>
                  <a:lnTo>
                    <a:pt x="3547872" y="8381"/>
                  </a:lnTo>
                  <a:lnTo>
                    <a:pt x="3543300" y="8381"/>
                  </a:lnTo>
                  <a:lnTo>
                    <a:pt x="3543300" y="3966210"/>
                  </a:lnTo>
                  <a:lnTo>
                    <a:pt x="3547872" y="3966210"/>
                  </a:lnTo>
                  <a:close/>
                </a:path>
                <a:path w="3552190" h="3975100">
                  <a:moveTo>
                    <a:pt x="3547872" y="3974592"/>
                  </a:moveTo>
                  <a:lnTo>
                    <a:pt x="3547872" y="3966210"/>
                  </a:lnTo>
                  <a:lnTo>
                    <a:pt x="3543300" y="3970782"/>
                  </a:lnTo>
                  <a:lnTo>
                    <a:pt x="3543300" y="3974592"/>
                  </a:lnTo>
                  <a:lnTo>
                    <a:pt x="3547872" y="3974592"/>
                  </a:lnTo>
                  <a:close/>
                </a:path>
              </a:pathLst>
            </a:custGeom>
            <a:solidFill>
              <a:srgbClr val="FF0000"/>
            </a:solidFill>
          </p:spPr>
          <p:txBody>
            <a:bodyPr wrap="square" lIns="0" tIns="0" rIns="0" bIns="0" rtlCol="0"/>
            <a:lstStyle/>
            <a:p>
              <a:endParaRPr/>
            </a:p>
          </p:txBody>
        </p:sp>
      </p:grpSp>
      <p:sp>
        <p:nvSpPr>
          <p:cNvPr id="6" name="object 6"/>
          <p:cNvSpPr txBox="1"/>
          <p:nvPr/>
        </p:nvSpPr>
        <p:spPr>
          <a:xfrm>
            <a:off x="1283067" y="2114803"/>
            <a:ext cx="2339340" cy="3629660"/>
          </a:xfrm>
          <a:prstGeom prst="rect">
            <a:avLst/>
          </a:prstGeom>
        </p:spPr>
        <p:txBody>
          <a:bodyPr vert="horz" wrap="square" lIns="0" tIns="15875" rIns="0" bIns="0" rtlCol="0">
            <a:spAutoFit/>
          </a:bodyPr>
          <a:lstStyle/>
          <a:p>
            <a:pPr>
              <a:lnSpc>
                <a:spcPct val="100000"/>
              </a:lnSpc>
              <a:spcBef>
                <a:spcPts val="125"/>
              </a:spcBef>
            </a:pPr>
            <a:r>
              <a:rPr sz="1550" b="1" dirty="0">
                <a:latin typeface="Calibri"/>
                <a:cs typeface="Calibri"/>
              </a:rPr>
              <a:t>module</a:t>
            </a:r>
            <a:r>
              <a:rPr sz="1550" b="1" spc="15" dirty="0">
                <a:latin typeface="Calibri"/>
                <a:cs typeface="Calibri"/>
              </a:rPr>
              <a:t> </a:t>
            </a:r>
            <a:r>
              <a:rPr sz="1550" spc="-10" dirty="0">
                <a:latin typeface="宋体"/>
                <a:cs typeface="宋体"/>
              </a:rPr>
              <a:t>shift_reg8</a:t>
            </a:r>
            <a:endParaRPr sz="1550">
              <a:latin typeface="宋体"/>
              <a:cs typeface="宋体"/>
            </a:endParaRPr>
          </a:p>
          <a:p>
            <a:pPr marL="137795">
              <a:lnSpc>
                <a:spcPct val="100000"/>
              </a:lnSpc>
              <a:spcBef>
                <a:spcPts val="5"/>
              </a:spcBef>
            </a:pPr>
            <a:r>
              <a:rPr sz="1550" spc="-50" dirty="0">
                <a:latin typeface="Calibri"/>
                <a:cs typeface="Calibri"/>
              </a:rPr>
              <a:t>(</a:t>
            </a:r>
            <a:endParaRPr sz="1550">
              <a:latin typeface="Calibri"/>
              <a:cs typeface="Calibri"/>
            </a:endParaRPr>
          </a:p>
          <a:p>
            <a:pPr marL="367030">
              <a:lnSpc>
                <a:spcPct val="100000"/>
              </a:lnSpc>
              <a:spcBef>
                <a:spcPts val="30"/>
              </a:spcBef>
            </a:pPr>
            <a:r>
              <a:rPr sz="1550" b="1" dirty="0">
                <a:latin typeface="Calibri"/>
                <a:cs typeface="Calibri"/>
              </a:rPr>
              <a:t>input</a:t>
            </a:r>
            <a:r>
              <a:rPr sz="1550" b="1" spc="390" dirty="0">
                <a:latin typeface="Calibri"/>
                <a:cs typeface="Calibri"/>
              </a:rPr>
              <a:t> </a:t>
            </a:r>
            <a:r>
              <a:rPr sz="1550" spc="-20" dirty="0">
                <a:latin typeface="Calibri"/>
                <a:cs typeface="Calibri"/>
              </a:rPr>
              <a:t>clk,</a:t>
            </a:r>
            <a:endParaRPr sz="1550">
              <a:latin typeface="Calibri"/>
              <a:cs typeface="Calibri"/>
            </a:endParaRPr>
          </a:p>
          <a:p>
            <a:pPr marL="412750">
              <a:lnSpc>
                <a:spcPct val="100000"/>
              </a:lnSpc>
              <a:spcBef>
                <a:spcPts val="40"/>
              </a:spcBef>
            </a:pPr>
            <a:r>
              <a:rPr sz="1550" b="1" dirty="0">
                <a:latin typeface="Calibri"/>
                <a:cs typeface="Calibri"/>
              </a:rPr>
              <a:t>input</a:t>
            </a:r>
            <a:r>
              <a:rPr sz="1550" b="1" spc="390" dirty="0">
                <a:latin typeface="Calibri"/>
                <a:cs typeface="Calibri"/>
              </a:rPr>
              <a:t> </a:t>
            </a:r>
            <a:r>
              <a:rPr sz="1550" spc="-20" dirty="0">
                <a:latin typeface="Calibri"/>
                <a:cs typeface="Calibri"/>
              </a:rPr>
              <a:t>load,</a:t>
            </a:r>
            <a:endParaRPr sz="1550">
              <a:latin typeface="Calibri"/>
              <a:cs typeface="Calibri"/>
            </a:endParaRPr>
          </a:p>
          <a:p>
            <a:pPr marL="412750">
              <a:lnSpc>
                <a:spcPct val="100000"/>
              </a:lnSpc>
              <a:spcBef>
                <a:spcPts val="35"/>
              </a:spcBef>
            </a:pPr>
            <a:r>
              <a:rPr sz="1550" b="1" dirty="0">
                <a:latin typeface="Calibri"/>
                <a:cs typeface="Calibri"/>
              </a:rPr>
              <a:t>input</a:t>
            </a:r>
            <a:r>
              <a:rPr sz="1550" b="1" spc="10" dirty="0">
                <a:latin typeface="Calibri"/>
                <a:cs typeface="Calibri"/>
              </a:rPr>
              <a:t> </a:t>
            </a:r>
            <a:r>
              <a:rPr sz="1550" dirty="0">
                <a:latin typeface="Calibri"/>
                <a:cs typeface="Calibri"/>
              </a:rPr>
              <a:t>[7:0]</a:t>
            </a:r>
            <a:r>
              <a:rPr sz="1550" spc="405" dirty="0">
                <a:latin typeface="Calibri"/>
                <a:cs typeface="Calibri"/>
              </a:rPr>
              <a:t> </a:t>
            </a:r>
            <a:r>
              <a:rPr sz="1550" spc="-20" dirty="0">
                <a:latin typeface="Calibri"/>
                <a:cs typeface="Calibri"/>
              </a:rPr>
              <a:t>din,</a:t>
            </a:r>
            <a:endParaRPr sz="1550">
              <a:latin typeface="Calibri"/>
              <a:cs typeface="Calibri"/>
            </a:endParaRPr>
          </a:p>
          <a:p>
            <a:pPr marL="367030">
              <a:lnSpc>
                <a:spcPct val="100000"/>
              </a:lnSpc>
              <a:spcBef>
                <a:spcPts val="60"/>
              </a:spcBef>
            </a:pPr>
            <a:r>
              <a:rPr sz="1550" b="1" dirty="0">
                <a:latin typeface="宋体"/>
                <a:cs typeface="宋体"/>
              </a:rPr>
              <a:t>o</a:t>
            </a:r>
            <a:r>
              <a:rPr sz="1550" b="1" dirty="0">
                <a:latin typeface="Calibri"/>
                <a:cs typeface="Calibri"/>
              </a:rPr>
              <a:t>utput</a:t>
            </a:r>
            <a:r>
              <a:rPr sz="1550" b="1" spc="409" dirty="0">
                <a:latin typeface="Calibri"/>
                <a:cs typeface="Calibri"/>
              </a:rPr>
              <a:t> </a:t>
            </a:r>
            <a:r>
              <a:rPr sz="1550" spc="-35" dirty="0">
                <a:latin typeface="Calibri"/>
                <a:cs typeface="Calibri"/>
              </a:rPr>
              <a:t>qb</a:t>
            </a:r>
            <a:endParaRPr sz="1550">
              <a:latin typeface="Calibri"/>
              <a:cs typeface="Calibri"/>
            </a:endParaRPr>
          </a:p>
          <a:p>
            <a:pPr marL="229235">
              <a:lnSpc>
                <a:spcPct val="100000"/>
              </a:lnSpc>
              <a:spcBef>
                <a:spcPts val="5"/>
              </a:spcBef>
            </a:pPr>
            <a:r>
              <a:rPr sz="1550" spc="-25" dirty="0">
                <a:latin typeface="Calibri"/>
                <a:cs typeface="Calibri"/>
              </a:rPr>
              <a:t>);</a:t>
            </a:r>
            <a:endParaRPr sz="1550">
              <a:latin typeface="Calibri"/>
              <a:cs typeface="Calibri"/>
            </a:endParaRPr>
          </a:p>
          <a:p>
            <a:pPr marL="229235">
              <a:lnSpc>
                <a:spcPct val="100000"/>
              </a:lnSpc>
              <a:spcBef>
                <a:spcPts val="30"/>
              </a:spcBef>
            </a:pPr>
            <a:r>
              <a:rPr sz="1550" b="1" dirty="0">
                <a:latin typeface="Calibri"/>
                <a:cs typeface="Calibri"/>
              </a:rPr>
              <a:t>reg</a:t>
            </a:r>
            <a:r>
              <a:rPr sz="1550" b="1" spc="25" dirty="0">
                <a:latin typeface="Calibri"/>
                <a:cs typeface="Calibri"/>
              </a:rPr>
              <a:t> </a:t>
            </a:r>
            <a:r>
              <a:rPr sz="1550" dirty="0">
                <a:latin typeface="Calibri"/>
                <a:cs typeface="Calibri"/>
              </a:rPr>
              <a:t>[7:0]</a:t>
            </a:r>
            <a:r>
              <a:rPr sz="1550" spc="25" dirty="0">
                <a:latin typeface="Calibri"/>
                <a:cs typeface="Calibri"/>
              </a:rPr>
              <a:t> </a:t>
            </a:r>
            <a:r>
              <a:rPr sz="1550" spc="-10" dirty="0">
                <a:latin typeface="Calibri"/>
                <a:cs typeface="Calibri"/>
              </a:rPr>
              <a:t>reg8;</a:t>
            </a:r>
            <a:endParaRPr sz="1550">
              <a:latin typeface="Calibri"/>
              <a:cs typeface="Calibri"/>
            </a:endParaRPr>
          </a:p>
          <a:p>
            <a:pPr marL="229235">
              <a:lnSpc>
                <a:spcPct val="100000"/>
              </a:lnSpc>
              <a:spcBef>
                <a:spcPts val="65"/>
              </a:spcBef>
            </a:pPr>
            <a:r>
              <a:rPr sz="1550" b="1" dirty="0">
                <a:latin typeface="Calibri"/>
                <a:cs typeface="Calibri"/>
              </a:rPr>
              <a:t>always</a:t>
            </a:r>
            <a:r>
              <a:rPr sz="1550" b="1" spc="15" dirty="0">
                <a:latin typeface="Calibri"/>
                <a:cs typeface="Calibri"/>
              </a:rPr>
              <a:t> </a:t>
            </a:r>
            <a:r>
              <a:rPr sz="1550" dirty="0">
                <a:latin typeface="Calibri"/>
                <a:cs typeface="Calibri"/>
              </a:rPr>
              <a:t>@(</a:t>
            </a:r>
            <a:r>
              <a:rPr sz="1550" b="1" dirty="0">
                <a:latin typeface="Calibri"/>
                <a:cs typeface="Calibri"/>
              </a:rPr>
              <a:t>posedge</a:t>
            </a:r>
            <a:r>
              <a:rPr sz="1550" b="1" spc="20" dirty="0">
                <a:latin typeface="Calibri"/>
                <a:cs typeface="Calibri"/>
              </a:rPr>
              <a:t> </a:t>
            </a:r>
            <a:r>
              <a:rPr sz="1550" spc="-20" dirty="0">
                <a:latin typeface="宋体"/>
                <a:cs typeface="宋体"/>
              </a:rPr>
              <a:t>clk</a:t>
            </a:r>
            <a:r>
              <a:rPr sz="1550" spc="-20" dirty="0">
                <a:latin typeface="Calibri"/>
                <a:cs typeface="Calibri"/>
              </a:rPr>
              <a:t>)</a:t>
            </a:r>
            <a:endParaRPr sz="1550">
              <a:latin typeface="Calibri"/>
              <a:cs typeface="Calibri"/>
            </a:endParaRPr>
          </a:p>
          <a:p>
            <a:pPr marL="412750">
              <a:lnSpc>
                <a:spcPct val="100000"/>
              </a:lnSpc>
              <a:spcBef>
                <a:spcPts val="5"/>
              </a:spcBef>
            </a:pPr>
            <a:r>
              <a:rPr sz="1550" b="1" spc="-10" dirty="0">
                <a:latin typeface="Calibri"/>
                <a:cs typeface="Calibri"/>
              </a:rPr>
              <a:t>if</a:t>
            </a:r>
            <a:r>
              <a:rPr sz="1550" spc="-10" dirty="0">
                <a:latin typeface="Calibri"/>
                <a:cs typeface="Calibri"/>
              </a:rPr>
              <a:t>(load)</a:t>
            </a:r>
            <a:endParaRPr sz="1550">
              <a:latin typeface="Calibri"/>
              <a:cs typeface="Calibri"/>
            </a:endParaRPr>
          </a:p>
          <a:p>
            <a:pPr marL="504825">
              <a:lnSpc>
                <a:spcPct val="100000"/>
              </a:lnSpc>
              <a:spcBef>
                <a:spcPts val="30"/>
              </a:spcBef>
            </a:pPr>
            <a:r>
              <a:rPr sz="1550" dirty="0">
                <a:latin typeface="Calibri"/>
                <a:cs typeface="Calibri"/>
              </a:rPr>
              <a:t>reg8</a:t>
            </a:r>
            <a:r>
              <a:rPr sz="1550" spc="10" dirty="0">
                <a:latin typeface="Calibri"/>
                <a:cs typeface="Calibri"/>
              </a:rPr>
              <a:t> </a:t>
            </a:r>
            <a:r>
              <a:rPr sz="1550" dirty="0">
                <a:latin typeface="Calibri"/>
                <a:cs typeface="Calibri"/>
              </a:rPr>
              <a:t>&lt;=</a:t>
            </a:r>
            <a:r>
              <a:rPr sz="1550" spc="25" dirty="0">
                <a:latin typeface="Calibri"/>
                <a:cs typeface="Calibri"/>
              </a:rPr>
              <a:t> </a:t>
            </a:r>
            <a:r>
              <a:rPr sz="1550" spc="-20" dirty="0">
                <a:latin typeface="Calibri"/>
                <a:cs typeface="Calibri"/>
              </a:rPr>
              <a:t>din;</a:t>
            </a:r>
            <a:endParaRPr sz="1550">
              <a:latin typeface="Calibri"/>
              <a:cs typeface="Calibri"/>
            </a:endParaRPr>
          </a:p>
          <a:p>
            <a:pPr marL="412750">
              <a:lnSpc>
                <a:spcPct val="100000"/>
              </a:lnSpc>
              <a:spcBef>
                <a:spcPts val="40"/>
              </a:spcBef>
            </a:pPr>
            <a:r>
              <a:rPr sz="1550" b="1" spc="-20" dirty="0">
                <a:latin typeface="Calibri"/>
                <a:cs typeface="Calibri"/>
              </a:rPr>
              <a:t>else</a:t>
            </a:r>
            <a:endParaRPr sz="1550">
              <a:latin typeface="Calibri"/>
              <a:cs typeface="Calibri"/>
            </a:endParaRPr>
          </a:p>
          <a:p>
            <a:pPr marL="504825">
              <a:lnSpc>
                <a:spcPct val="100000"/>
              </a:lnSpc>
              <a:spcBef>
                <a:spcPts val="30"/>
              </a:spcBef>
            </a:pPr>
            <a:r>
              <a:rPr sz="1550" dirty="0">
                <a:latin typeface="Calibri"/>
                <a:cs typeface="Calibri"/>
              </a:rPr>
              <a:t>reg8[6:0]</a:t>
            </a:r>
            <a:r>
              <a:rPr sz="1550" spc="40" dirty="0">
                <a:latin typeface="Calibri"/>
                <a:cs typeface="Calibri"/>
              </a:rPr>
              <a:t> </a:t>
            </a:r>
            <a:r>
              <a:rPr sz="1550" dirty="0">
                <a:latin typeface="Calibri"/>
                <a:cs typeface="Calibri"/>
              </a:rPr>
              <a:t>&lt;=</a:t>
            </a:r>
            <a:r>
              <a:rPr sz="1550" spc="40" dirty="0">
                <a:latin typeface="Calibri"/>
                <a:cs typeface="Calibri"/>
              </a:rPr>
              <a:t> </a:t>
            </a:r>
            <a:r>
              <a:rPr sz="1550" spc="-10" dirty="0">
                <a:latin typeface="Calibri"/>
                <a:cs typeface="Calibri"/>
              </a:rPr>
              <a:t>reg8[7:1];</a:t>
            </a:r>
            <a:endParaRPr sz="1550">
              <a:latin typeface="Calibri"/>
              <a:cs typeface="Calibri"/>
            </a:endParaRPr>
          </a:p>
          <a:p>
            <a:pPr marL="367030">
              <a:lnSpc>
                <a:spcPct val="100000"/>
              </a:lnSpc>
              <a:spcBef>
                <a:spcPts val="35"/>
              </a:spcBef>
            </a:pPr>
            <a:r>
              <a:rPr sz="1550" b="1" dirty="0">
                <a:latin typeface="Calibri"/>
                <a:cs typeface="Calibri"/>
              </a:rPr>
              <a:t>assign</a:t>
            </a:r>
            <a:r>
              <a:rPr sz="1550" b="1" spc="25" dirty="0">
                <a:latin typeface="Calibri"/>
                <a:cs typeface="Calibri"/>
              </a:rPr>
              <a:t> </a:t>
            </a:r>
            <a:r>
              <a:rPr sz="1550" dirty="0">
                <a:latin typeface="Calibri"/>
                <a:cs typeface="Calibri"/>
              </a:rPr>
              <a:t>qb</a:t>
            </a:r>
            <a:r>
              <a:rPr sz="1550" spc="60" dirty="0">
                <a:latin typeface="Calibri"/>
                <a:cs typeface="Calibri"/>
              </a:rPr>
              <a:t> </a:t>
            </a:r>
            <a:r>
              <a:rPr sz="1550" dirty="0">
                <a:latin typeface="Calibri"/>
                <a:cs typeface="Calibri"/>
              </a:rPr>
              <a:t>=</a:t>
            </a:r>
            <a:r>
              <a:rPr sz="1550" spc="50" dirty="0">
                <a:latin typeface="Calibri"/>
                <a:cs typeface="Calibri"/>
              </a:rPr>
              <a:t> </a:t>
            </a:r>
            <a:r>
              <a:rPr sz="1550" spc="-10" dirty="0">
                <a:latin typeface="Calibri"/>
                <a:cs typeface="Calibri"/>
              </a:rPr>
              <a:t>reg8[0];</a:t>
            </a:r>
            <a:endParaRPr sz="1550">
              <a:latin typeface="Calibri"/>
              <a:cs typeface="Calibri"/>
            </a:endParaRPr>
          </a:p>
          <a:p>
            <a:pPr>
              <a:lnSpc>
                <a:spcPct val="100000"/>
              </a:lnSpc>
              <a:spcBef>
                <a:spcPts val="35"/>
              </a:spcBef>
            </a:pPr>
            <a:r>
              <a:rPr sz="1550" b="1" spc="-10" dirty="0">
                <a:latin typeface="Calibri"/>
                <a:cs typeface="Calibri"/>
              </a:rPr>
              <a:t>endmodule</a:t>
            </a:r>
            <a:endParaRPr sz="1550">
              <a:latin typeface="Calibri"/>
              <a:cs typeface="Calibri"/>
            </a:endParaRPr>
          </a:p>
        </p:txBody>
      </p:sp>
      <p:pic>
        <p:nvPicPr>
          <p:cNvPr id="7" name="object 7"/>
          <p:cNvPicPr/>
          <p:nvPr/>
        </p:nvPicPr>
        <p:blipFill>
          <a:blip r:embed="rId3" cstate="print"/>
          <a:stretch>
            <a:fillRect/>
          </a:stretch>
        </p:blipFill>
        <p:spPr>
          <a:xfrm>
            <a:off x="5371223" y="2482595"/>
            <a:ext cx="4154423" cy="3194304"/>
          </a:xfrm>
          <a:prstGeom prst="rect">
            <a:avLst/>
          </a:prstGeom>
        </p:spPr>
      </p:pic>
      <p:sp>
        <p:nvSpPr>
          <p:cNvPr id="8" name="object 8"/>
          <p:cNvSpPr txBox="1"/>
          <p:nvPr/>
        </p:nvSpPr>
        <p:spPr>
          <a:xfrm>
            <a:off x="6151759" y="6144259"/>
            <a:ext cx="217424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4.16</a:t>
            </a:r>
            <a:r>
              <a:rPr sz="1200" spc="235" dirty="0">
                <a:latin typeface="Arial"/>
                <a:cs typeface="Arial"/>
              </a:rPr>
              <a:t> </a:t>
            </a:r>
            <a:r>
              <a:rPr sz="1200" dirty="0">
                <a:latin typeface="Arial"/>
                <a:cs typeface="Arial"/>
              </a:rPr>
              <a:t>8</a:t>
            </a:r>
            <a:r>
              <a:rPr sz="1200" spc="-5" dirty="0">
                <a:latin typeface="微软雅黑"/>
                <a:cs typeface="微软雅黑"/>
              </a:rPr>
              <a:t>位寄存器的仿真时序图</a:t>
            </a:r>
            <a:endParaRPr sz="1200">
              <a:latin typeface="微软雅黑"/>
              <a:cs typeface="微软雅黑"/>
            </a:endParaRPr>
          </a:p>
        </p:txBody>
      </p:sp>
      <p:sp>
        <p:nvSpPr>
          <p:cNvPr id="10" name="object 10"/>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9" name="object 9"/>
          <p:cNvSpPr txBox="1">
            <a:spLocks noGrp="1"/>
          </p:cNvSpPr>
          <p:nvPr>
            <p:ph type="title"/>
          </p:nvPr>
        </p:nvSpPr>
        <p:spPr>
          <a:xfrm>
            <a:off x="384943" y="1006094"/>
            <a:ext cx="7274559" cy="506730"/>
          </a:xfrm>
          <a:prstGeom prst="rect">
            <a:avLst/>
          </a:prstGeom>
        </p:spPr>
        <p:txBody>
          <a:bodyPr vert="horz" wrap="square" lIns="0" tIns="13335" rIns="0" bIns="0" rtlCol="0">
            <a:spAutoFit/>
          </a:bodyPr>
          <a:lstStyle/>
          <a:p>
            <a:pPr marL="12700">
              <a:lnSpc>
                <a:spcPct val="100000"/>
              </a:lnSpc>
              <a:spcBef>
                <a:spcPts val="105"/>
              </a:spcBef>
            </a:pPr>
            <a:r>
              <a:rPr sz="3150" dirty="0">
                <a:latin typeface="Arial"/>
                <a:cs typeface="Arial"/>
              </a:rPr>
              <a:t>4.3.1</a:t>
            </a:r>
            <a:r>
              <a:rPr sz="3150" spc="65" dirty="0">
                <a:latin typeface="Arial"/>
                <a:cs typeface="Arial"/>
              </a:rPr>
              <a:t> </a:t>
            </a:r>
            <a:r>
              <a:rPr sz="3150" spc="-10" dirty="0"/>
              <a:t>具有同步预置功能的8</a:t>
            </a:r>
            <a:r>
              <a:rPr sz="3150" spc="-20" dirty="0"/>
              <a:t>位移位寄存器</a:t>
            </a:r>
            <a:endParaRPr sz="315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29327" y="6518400"/>
            <a:ext cx="2454910"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3" name="object 3"/>
          <p:cNvSpPr/>
          <p:nvPr/>
        </p:nvSpPr>
        <p:spPr>
          <a:xfrm>
            <a:off x="4945265" y="3451859"/>
            <a:ext cx="5051425" cy="2887345"/>
          </a:xfrm>
          <a:custGeom>
            <a:avLst/>
            <a:gdLst/>
            <a:ahLst/>
            <a:cxnLst/>
            <a:rect l="l" t="t" r="r" b="b"/>
            <a:pathLst>
              <a:path w="5051425" h="2887345">
                <a:moveTo>
                  <a:pt x="5051298" y="2887217"/>
                </a:moveTo>
                <a:lnTo>
                  <a:pt x="5051298" y="0"/>
                </a:lnTo>
                <a:lnTo>
                  <a:pt x="0" y="0"/>
                </a:lnTo>
                <a:lnTo>
                  <a:pt x="0" y="2887218"/>
                </a:lnTo>
                <a:lnTo>
                  <a:pt x="5051298" y="2887217"/>
                </a:lnTo>
                <a:close/>
              </a:path>
            </a:pathLst>
          </a:custGeom>
          <a:solidFill>
            <a:srgbClr val="F9FABA"/>
          </a:solidFill>
        </p:spPr>
        <p:txBody>
          <a:bodyPr wrap="square" lIns="0" tIns="0" rIns="0" bIns="0" rtlCol="0"/>
          <a:lstStyle/>
          <a:p>
            <a:endParaRPr/>
          </a:p>
        </p:txBody>
      </p:sp>
      <p:sp>
        <p:nvSpPr>
          <p:cNvPr id="4" name="object 4"/>
          <p:cNvSpPr txBox="1"/>
          <p:nvPr/>
        </p:nvSpPr>
        <p:spPr>
          <a:xfrm>
            <a:off x="484517" y="3451859"/>
            <a:ext cx="4338320" cy="2887345"/>
          </a:xfrm>
          <a:prstGeom prst="rect">
            <a:avLst/>
          </a:prstGeom>
          <a:solidFill>
            <a:srgbClr val="F9FABA"/>
          </a:solidFill>
        </p:spPr>
        <p:txBody>
          <a:bodyPr vert="horz" wrap="square" lIns="0" tIns="34925" rIns="0" bIns="0" rtlCol="0">
            <a:spAutoFit/>
          </a:bodyPr>
          <a:lstStyle/>
          <a:p>
            <a:pPr marL="79375">
              <a:lnSpc>
                <a:spcPct val="100000"/>
              </a:lnSpc>
              <a:spcBef>
                <a:spcPts val="275"/>
              </a:spcBef>
            </a:pPr>
            <a:r>
              <a:rPr sz="1400" b="1" dirty="0">
                <a:latin typeface="Arial"/>
                <a:cs typeface="Arial"/>
              </a:rPr>
              <a:t>module</a:t>
            </a:r>
            <a:r>
              <a:rPr sz="1400" b="1" spc="-25" dirty="0">
                <a:latin typeface="Arial"/>
                <a:cs typeface="Arial"/>
              </a:rPr>
              <a:t> </a:t>
            </a:r>
            <a:r>
              <a:rPr sz="1400" spc="-10" dirty="0">
                <a:latin typeface="Arial"/>
                <a:cs typeface="Arial"/>
              </a:rPr>
              <a:t>univ_shift_reg</a:t>
            </a:r>
            <a:endParaRPr sz="1400">
              <a:latin typeface="Arial"/>
              <a:cs typeface="Arial"/>
            </a:endParaRPr>
          </a:p>
          <a:p>
            <a:pPr marL="881380" marR="1887220">
              <a:lnSpc>
                <a:spcPct val="100000"/>
              </a:lnSpc>
              <a:spcBef>
                <a:spcPts val="5"/>
              </a:spcBef>
            </a:pPr>
            <a:r>
              <a:rPr sz="1400" dirty="0">
                <a:latin typeface="Arial"/>
                <a:cs typeface="Arial"/>
              </a:rPr>
              <a:t>#(</a:t>
            </a:r>
            <a:r>
              <a:rPr sz="1400" b="1" dirty="0">
                <a:latin typeface="Arial"/>
                <a:cs typeface="Arial"/>
              </a:rPr>
              <a:t>parameter</a:t>
            </a:r>
            <a:r>
              <a:rPr sz="1400" b="1" spc="-15" dirty="0">
                <a:latin typeface="Arial"/>
                <a:cs typeface="Arial"/>
              </a:rPr>
              <a:t> </a:t>
            </a:r>
            <a:r>
              <a:rPr sz="1400" dirty="0">
                <a:latin typeface="Arial"/>
                <a:cs typeface="Arial"/>
              </a:rPr>
              <a:t>N</a:t>
            </a:r>
            <a:r>
              <a:rPr sz="1400" spc="-15" dirty="0">
                <a:latin typeface="Arial"/>
                <a:cs typeface="Arial"/>
              </a:rPr>
              <a:t> </a:t>
            </a:r>
            <a:r>
              <a:rPr sz="1400" dirty="0">
                <a:latin typeface="Arial"/>
                <a:cs typeface="Arial"/>
              </a:rPr>
              <a:t>=</a:t>
            </a:r>
            <a:r>
              <a:rPr sz="1400" spc="-15" dirty="0">
                <a:latin typeface="Arial"/>
                <a:cs typeface="Arial"/>
              </a:rPr>
              <a:t> </a:t>
            </a:r>
            <a:r>
              <a:rPr sz="1400" spc="-25" dirty="0">
                <a:latin typeface="Arial"/>
                <a:cs typeface="Arial"/>
              </a:rPr>
              <a:t>8) </a:t>
            </a:r>
            <a:r>
              <a:rPr sz="1400" spc="-50" dirty="0">
                <a:latin typeface="Arial"/>
                <a:cs typeface="Arial"/>
              </a:rPr>
              <a:t>(</a:t>
            </a:r>
            <a:endParaRPr sz="1400">
              <a:latin typeface="Arial"/>
              <a:cs typeface="Arial"/>
            </a:endParaRPr>
          </a:p>
          <a:p>
            <a:pPr marL="881380">
              <a:lnSpc>
                <a:spcPts val="1675"/>
              </a:lnSpc>
            </a:pPr>
            <a:r>
              <a:rPr sz="1400" b="1" dirty="0">
                <a:latin typeface="Arial"/>
                <a:cs typeface="Arial"/>
              </a:rPr>
              <a:t>input </a:t>
            </a:r>
            <a:r>
              <a:rPr sz="1400" dirty="0">
                <a:latin typeface="Arial"/>
                <a:cs typeface="Arial"/>
              </a:rPr>
              <a:t>clk,</a:t>
            </a:r>
            <a:r>
              <a:rPr sz="1400" spc="5" dirty="0">
                <a:latin typeface="Arial"/>
                <a:cs typeface="Arial"/>
              </a:rPr>
              <a:t> </a:t>
            </a:r>
            <a:r>
              <a:rPr sz="1400" spc="-10" dirty="0">
                <a:latin typeface="Arial"/>
                <a:cs typeface="Arial"/>
              </a:rPr>
              <a:t>reset</a:t>
            </a:r>
            <a:r>
              <a:rPr sz="1400" spc="-10" dirty="0">
                <a:latin typeface="微软雅黑"/>
                <a:cs typeface="微软雅黑"/>
              </a:rPr>
              <a:t>；</a:t>
            </a:r>
            <a:endParaRPr sz="1400">
              <a:latin typeface="微软雅黑"/>
              <a:cs typeface="微软雅黑"/>
            </a:endParaRPr>
          </a:p>
          <a:p>
            <a:pPr marL="881380">
              <a:lnSpc>
                <a:spcPct val="100000"/>
              </a:lnSpc>
              <a:spcBef>
                <a:spcPts val="5"/>
              </a:spcBef>
            </a:pPr>
            <a:r>
              <a:rPr sz="1400" b="1" dirty="0">
                <a:latin typeface="Arial"/>
                <a:cs typeface="Arial"/>
              </a:rPr>
              <a:t>input</a:t>
            </a:r>
            <a:r>
              <a:rPr sz="1400" b="1" spc="390" dirty="0">
                <a:latin typeface="Arial"/>
                <a:cs typeface="Arial"/>
              </a:rPr>
              <a:t> </a:t>
            </a:r>
            <a:r>
              <a:rPr sz="1400" dirty="0">
                <a:latin typeface="Arial"/>
                <a:cs typeface="Arial"/>
              </a:rPr>
              <a:t>[1:0]</a:t>
            </a:r>
            <a:r>
              <a:rPr sz="1400" spc="15" dirty="0">
                <a:latin typeface="Arial"/>
                <a:cs typeface="Arial"/>
              </a:rPr>
              <a:t> </a:t>
            </a:r>
            <a:r>
              <a:rPr sz="1400" spc="-10" dirty="0">
                <a:latin typeface="Arial"/>
                <a:cs typeface="Arial"/>
              </a:rPr>
              <a:t>ctrl</a:t>
            </a:r>
            <a:r>
              <a:rPr sz="1400" spc="-10" dirty="0">
                <a:latin typeface="微软雅黑"/>
                <a:cs typeface="微软雅黑"/>
              </a:rPr>
              <a:t>；</a:t>
            </a:r>
            <a:endParaRPr sz="1400">
              <a:latin typeface="微软雅黑"/>
              <a:cs typeface="微软雅黑"/>
            </a:endParaRPr>
          </a:p>
          <a:p>
            <a:pPr marL="881380">
              <a:lnSpc>
                <a:spcPct val="100000"/>
              </a:lnSpc>
            </a:pPr>
            <a:r>
              <a:rPr sz="1400" b="1" dirty="0">
                <a:latin typeface="Arial"/>
                <a:cs typeface="Arial"/>
              </a:rPr>
              <a:t>input</a:t>
            </a:r>
            <a:r>
              <a:rPr sz="1400" b="1" spc="390" dirty="0">
                <a:latin typeface="Arial"/>
                <a:cs typeface="Arial"/>
              </a:rPr>
              <a:t> </a:t>
            </a:r>
            <a:r>
              <a:rPr sz="1400" dirty="0">
                <a:latin typeface="Arial"/>
                <a:cs typeface="Arial"/>
              </a:rPr>
              <a:t>[N-1:0]</a:t>
            </a:r>
            <a:r>
              <a:rPr sz="1400" spc="10" dirty="0">
                <a:latin typeface="Arial"/>
                <a:cs typeface="Arial"/>
              </a:rPr>
              <a:t> </a:t>
            </a:r>
            <a:r>
              <a:rPr sz="1400" spc="-25" dirty="0">
                <a:latin typeface="Arial"/>
                <a:cs typeface="Arial"/>
              </a:rPr>
              <a:t>d</a:t>
            </a:r>
            <a:r>
              <a:rPr sz="1400" spc="-25" dirty="0">
                <a:latin typeface="微软雅黑"/>
                <a:cs typeface="微软雅黑"/>
              </a:rPr>
              <a:t>；</a:t>
            </a:r>
            <a:endParaRPr sz="1400">
              <a:latin typeface="微软雅黑"/>
              <a:cs typeface="微软雅黑"/>
            </a:endParaRPr>
          </a:p>
          <a:p>
            <a:pPr marL="881380">
              <a:lnSpc>
                <a:spcPct val="100000"/>
              </a:lnSpc>
              <a:spcBef>
                <a:spcPts val="20"/>
              </a:spcBef>
            </a:pPr>
            <a:r>
              <a:rPr sz="1400" b="1" dirty="0">
                <a:latin typeface="Arial"/>
                <a:cs typeface="Arial"/>
              </a:rPr>
              <a:t>output </a:t>
            </a:r>
            <a:r>
              <a:rPr sz="1400" dirty="0">
                <a:latin typeface="Arial"/>
                <a:cs typeface="Arial"/>
              </a:rPr>
              <a:t>[N-1:0]</a:t>
            </a:r>
            <a:r>
              <a:rPr sz="1400" spc="10" dirty="0">
                <a:latin typeface="Arial"/>
                <a:cs typeface="Arial"/>
              </a:rPr>
              <a:t> </a:t>
            </a:r>
            <a:r>
              <a:rPr sz="1400" spc="-50" dirty="0">
                <a:latin typeface="Arial"/>
                <a:cs typeface="Arial"/>
              </a:rPr>
              <a:t>q</a:t>
            </a:r>
            <a:endParaRPr sz="1400">
              <a:latin typeface="Arial"/>
              <a:cs typeface="Arial"/>
            </a:endParaRPr>
          </a:p>
          <a:p>
            <a:pPr marL="881380">
              <a:lnSpc>
                <a:spcPts val="1675"/>
              </a:lnSpc>
            </a:pPr>
            <a:r>
              <a:rPr sz="1400" spc="-25" dirty="0">
                <a:latin typeface="Arial"/>
                <a:cs typeface="Arial"/>
              </a:rPr>
              <a:t>);</a:t>
            </a:r>
            <a:endParaRPr sz="1400">
              <a:latin typeface="Arial"/>
              <a:cs typeface="Arial"/>
            </a:endParaRPr>
          </a:p>
          <a:p>
            <a:pPr marL="881380">
              <a:lnSpc>
                <a:spcPts val="1675"/>
              </a:lnSpc>
            </a:pPr>
            <a:r>
              <a:rPr sz="1400" spc="-10" dirty="0">
                <a:latin typeface="Arial"/>
                <a:cs typeface="Arial"/>
              </a:rPr>
              <a:t>//</a:t>
            </a:r>
            <a:r>
              <a:rPr sz="1400" spc="-15" dirty="0">
                <a:latin typeface="微软雅黑"/>
                <a:cs typeface="微软雅黑"/>
              </a:rPr>
              <a:t>信号声明</a:t>
            </a:r>
            <a:endParaRPr sz="1400">
              <a:latin typeface="微软雅黑"/>
              <a:cs typeface="微软雅黑"/>
            </a:endParaRPr>
          </a:p>
          <a:p>
            <a:pPr marL="881380">
              <a:lnSpc>
                <a:spcPts val="1675"/>
              </a:lnSpc>
              <a:spcBef>
                <a:spcPts val="10"/>
              </a:spcBef>
            </a:pPr>
            <a:r>
              <a:rPr sz="1400" b="1" dirty="0">
                <a:latin typeface="Arial"/>
                <a:cs typeface="Arial"/>
              </a:rPr>
              <a:t>reg</a:t>
            </a:r>
            <a:r>
              <a:rPr sz="1400" b="1" spc="-5" dirty="0">
                <a:latin typeface="Arial"/>
                <a:cs typeface="Arial"/>
              </a:rPr>
              <a:t> </a:t>
            </a:r>
            <a:r>
              <a:rPr sz="1400" dirty="0">
                <a:latin typeface="Arial"/>
                <a:cs typeface="Arial"/>
              </a:rPr>
              <a:t>[N-1:0]</a:t>
            </a:r>
            <a:r>
              <a:rPr sz="1400" spc="5" dirty="0">
                <a:latin typeface="Arial"/>
                <a:cs typeface="Arial"/>
              </a:rPr>
              <a:t> </a:t>
            </a:r>
            <a:r>
              <a:rPr sz="1400" dirty="0">
                <a:latin typeface="Arial"/>
                <a:cs typeface="Arial"/>
              </a:rPr>
              <a:t>r_reg,</a:t>
            </a:r>
            <a:r>
              <a:rPr sz="1400" spc="10" dirty="0">
                <a:latin typeface="Arial"/>
                <a:cs typeface="Arial"/>
              </a:rPr>
              <a:t> </a:t>
            </a:r>
            <a:r>
              <a:rPr sz="1400" spc="-10" dirty="0">
                <a:latin typeface="Arial"/>
                <a:cs typeface="Arial"/>
              </a:rPr>
              <a:t>r_next;</a:t>
            </a:r>
            <a:endParaRPr sz="1400">
              <a:latin typeface="Arial"/>
              <a:cs typeface="Arial"/>
            </a:endParaRPr>
          </a:p>
          <a:p>
            <a:pPr marL="881380">
              <a:lnSpc>
                <a:spcPts val="1675"/>
              </a:lnSpc>
            </a:pPr>
            <a:r>
              <a:rPr sz="1400" spc="-10" dirty="0">
                <a:latin typeface="Arial"/>
                <a:cs typeface="Arial"/>
              </a:rPr>
              <a:t>//</a:t>
            </a:r>
            <a:r>
              <a:rPr sz="1400" spc="-20" dirty="0">
                <a:latin typeface="微软雅黑"/>
                <a:cs typeface="微软雅黑"/>
              </a:rPr>
              <a:t>寄存器</a:t>
            </a:r>
            <a:endParaRPr sz="1400">
              <a:latin typeface="微软雅黑"/>
              <a:cs typeface="微软雅黑"/>
            </a:endParaRPr>
          </a:p>
          <a:p>
            <a:pPr marL="480695">
              <a:lnSpc>
                <a:spcPct val="100000"/>
              </a:lnSpc>
              <a:spcBef>
                <a:spcPts val="10"/>
              </a:spcBef>
            </a:pPr>
            <a:r>
              <a:rPr sz="1400" b="1" dirty="0">
                <a:latin typeface="Arial"/>
                <a:cs typeface="Arial"/>
              </a:rPr>
              <a:t>always</a:t>
            </a:r>
            <a:r>
              <a:rPr sz="1400" b="1" spc="-5" dirty="0">
                <a:latin typeface="Arial"/>
                <a:cs typeface="Arial"/>
              </a:rPr>
              <a:t> </a:t>
            </a:r>
            <a:r>
              <a:rPr sz="1400" dirty="0">
                <a:latin typeface="Arial"/>
                <a:cs typeface="Arial"/>
              </a:rPr>
              <a:t>@(</a:t>
            </a:r>
            <a:r>
              <a:rPr sz="1400" b="1" dirty="0">
                <a:latin typeface="Arial"/>
                <a:cs typeface="Arial"/>
              </a:rPr>
              <a:t>posegde</a:t>
            </a:r>
            <a:r>
              <a:rPr sz="1400" b="1" spc="-45" dirty="0">
                <a:latin typeface="Arial"/>
                <a:cs typeface="Arial"/>
              </a:rPr>
              <a:t> </a:t>
            </a:r>
            <a:r>
              <a:rPr sz="1400" dirty="0">
                <a:latin typeface="Arial"/>
                <a:cs typeface="Arial"/>
              </a:rPr>
              <a:t>clk,</a:t>
            </a:r>
            <a:r>
              <a:rPr sz="1400" spc="-20" dirty="0">
                <a:latin typeface="Arial"/>
                <a:cs typeface="Arial"/>
              </a:rPr>
              <a:t> </a:t>
            </a:r>
            <a:r>
              <a:rPr sz="1400" b="1" dirty="0">
                <a:latin typeface="Arial"/>
                <a:cs typeface="Arial"/>
              </a:rPr>
              <a:t>posedge</a:t>
            </a:r>
            <a:r>
              <a:rPr sz="1400" b="1" spc="-40" dirty="0">
                <a:latin typeface="Arial"/>
                <a:cs typeface="Arial"/>
              </a:rPr>
              <a:t> </a:t>
            </a:r>
            <a:r>
              <a:rPr sz="1400" spc="-10" dirty="0">
                <a:latin typeface="Arial"/>
                <a:cs typeface="Arial"/>
              </a:rPr>
              <a:t>reset)</a:t>
            </a:r>
            <a:endParaRPr sz="1400">
              <a:latin typeface="Arial"/>
              <a:cs typeface="Arial"/>
            </a:endParaRPr>
          </a:p>
        </p:txBody>
      </p:sp>
      <p:sp>
        <p:nvSpPr>
          <p:cNvPr id="5" name="object 5"/>
          <p:cNvSpPr txBox="1"/>
          <p:nvPr/>
        </p:nvSpPr>
        <p:spPr>
          <a:xfrm>
            <a:off x="3630301" y="6419340"/>
            <a:ext cx="2260600" cy="213360"/>
          </a:xfrm>
          <a:prstGeom prst="rect">
            <a:avLst/>
          </a:prstGeom>
        </p:spPr>
        <p:txBody>
          <a:bodyPr vert="horz" wrap="square" lIns="0" tIns="16510" rIns="0" bIns="0" rtlCol="0">
            <a:spAutoFit/>
          </a:bodyPr>
          <a:lstStyle/>
          <a:p>
            <a:pPr marL="12700">
              <a:lnSpc>
                <a:spcPct val="100000"/>
              </a:lnSpc>
              <a:spcBef>
                <a:spcPts val="130"/>
              </a:spcBef>
            </a:pPr>
            <a:r>
              <a:rPr sz="1200" spc="30" dirty="0">
                <a:latin typeface="微软雅黑"/>
                <a:cs typeface="微软雅黑"/>
              </a:rPr>
              <a:t>例 </a:t>
            </a:r>
            <a:r>
              <a:rPr sz="1200" dirty="0">
                <a:latin typeface="Arial"/>
                <a:cs typeface="Arial"/>
              </a:rPr>
              <a:t>4.12</a:t>
            </a:r>
            <a:r>
              <a:rPr sz="1200" spc="495" dirty="0">
                <a:latin typeface="Arial"/>
                <a:cs typeface="Arial"/>
              </a:rPr>
              <a:t> </a:t>
            </a:r>
            <a:r>
              <a:rPr sz="1200" dirty="0">
                <a:latin typeface="Arial"/>
                <a:cs typeface="Arial"/>
              </a:rPr>
              <a:t>8</a:t>
            </a:r>
            <a:r>
              <a:rPr sz="1200" spc="-5" dirty="0">
                <a:latin typeface="微软雅黑"/>
                <a:cs typeface="微软雅黑"/>
              </a:rPr>
              <a:t>位通用移位寄存器描述</a:t>
            </a:r>
            <a:endParaRPr sz="1200">
              <a:latin typeface="微软雅黑"/>
              <a:cs typeface="微软雅黑"/>
            </a:endParaRPr>
          </a:p>
        </p:txBody>
      </p:sp>
      <p:sp>
        <p:nvSpPr>
          <p:cNvPr id="6" name="object 6"/>
          <p:cNvSpPr txBox="1"/>
          <p:nvPr/>
        </p:nvSpPr>
        <p:spPr>
          <a:xfrm>
            <a:off x="5303408" y="3473450"/>
            <a:ext cx="4588510" cy="1734820"/>
          </a:xfrm>
          <a:prstGeom prst="rect">
            <a:avLst/>
          </a:prstGeom>
        </p:spPr>
        <p:txBody>
          <a:bodyPr vert="horz" wrap="square" lIns="0" tIns="12700" rIns="0" bIns="0" rtlCol="0">
            <a:spAutoFit/>
          </a:bodyPr>
          <a:lstStyle/>
          <a:p>
            <a:pPr marL="50165">
              <a:lnSpc>
                <a:spcPct val="100000"/>
              </a:lnSpc>
              <a:spcBef>
                <a:spcPts val="100"/>
              </a:spcBef>
            </a:pPr>
            <a:r>
              <a:rPr sz="1400" b="1" dirty="0">
                <a:latin typeface="Arial"/>
                <a:cs typeface="Arial"/>
              </a:rPr>
              <a:t>if</a:t>
            </a:r>
            <a:r>
              <a:rPr sz="1400" b="1" spc="10" dirty="0">
                <a:latin typeface="Arial"/>
                <a:cs typeface="Arial"/>
              </a:rPr>
              <a:t> </a:t>
            </a:r>
            <a:r>
              <a:rPr sz="1400" spc="-10" dirty="0">
                <a:latin typeface="Arial"/>
                <a:cs typeface="Arial"/>
              </a:rPr>
              <a:t>(reset)</a:t>
            </a:r>
            <a:endParaRPr sz="1400">
              <a:latin typeface="Arial"/>
              <a:cs typeface="Arial"/>
            </a:endParaRPr>
          </a:p>
          <a:p>
            <a:pPr marL="400685">
              <a:lnSpc>
                <a:spcPct val="100000"/>
              </a:lnSpc>
              <a:spcBef>
                <a:spcPts val="10"/>
              </a:spcBef>
            </a:pPr>
            <a:r>
              <a:rPr sz="1400" dirty="0">
                <a:latin typeface="Arial"/>
                <a:cs typeface="Arial"/>
              </a:rPr>
              <a:t>r_reg</a:t>
            </a:r>
            <a:r>
              <a:rPr sz="1400" spc="-15" dirty="0">
                <a:latin typeface="Arial"/>
                <a:cs typeface="Arial"/>
              </a:rPr>
              <a:t> </a:t>
            </a:r>
            <a:r>
              <a:rPr sz="1400" dirty="0">
                <a:latin typeface="Arial"/>
                <a:cs typeface="Arial"/>
              </a:rPr>
              <a:t>&lt;=</a:t>
            </a:r>
            <a:r>
              <a:rPr sz="1400" spc="-5" dirty="0">
                <a:latin typeface="Arial"/>
                <a:cs typeface="Arial"/>
              </a:rPr>
              <a:t> </a:t>
            </a:r>
            <a:r>
              <a:rPr sz="1400" spc="-35" dirty="0">
                <a:latin typeface="Arial"/>
                <a:cs typeface="Arial"/>
              </a:rPr>
              <a:t>0;</a:t>
            </a:r>
            <a:endParaRPr sz="1400">
              <a:latin typeface="Arial"/>
              <a:cs typeface="Arial"/>
            </a:endParaRPr>
          </a:p>
          <a:p>
            <a:pPr marL="50165">
              <a:lnSpc>
                <a:spcPct val="100000"/>
              </a:lnSpc>
            </a:pPr>
            <a:r>
              <a:rPr sz="1400" b="1" spc="-20" dirty="0">
                <a:latin typeface="Arial"/>
                <a:cs typeface="Arial"/>
              </a:rPr>
              <a:t>else</a:t>
            </a:r>
            <a:endParaRPr sz="1400">
              <a:latin typeface="Arial"/>
              <a:cs typeface="Arial"/>
            </a:endParaRPr>
          </a:p>
          <a:p>
            <a:pPr marL="400685">
              <a:lnSpc>
                <a:spcPct val="100000"/>
              </a:lnSpc>
              <a:spcBef>
                <a:spcPts val="5"/>
              </a:spcBef>
              <a:tabLst>
                <a:tab pos="3274060" algn="l"/>
              </a:tabLst>
            </a:pPr>
            <a:r>
              <a:rPr sz="1400" dirty="0">
                <a:latin typeface="Arial"/>
                <a:cs typeface="Arial"/>
              </a:rPr>
              <a:t>r_reg</a:t>
            </a:r>
            <a:r>
              <a:rPr sz="1400" spc="5" dirty="0">
                <a:latin typeface="Arial"/>
                <a:cs typeface="Arial"/>
              </a:rPr>
              <a:t> </a:t>
            </a:r>
            <a:r>
              <a:rPr sz="1400" dirty="0">
                <a:latin typeface="Arial"/>
                <a:cs typeface="Arial"/>
              </a:rPr>
              <a:t>&lt;=</a:t>
            </a:r>
            <a:r>
              <a:rPr sz="1400" spc="5" dirty="0">
                <a:latin typeface="Arial"/>
                <a:cs typeface="Arial"/>
              </a:rPr>
              <a:t> </a:t>
            </a:r>
            <a:r>
              <a:rPr sz="1400" spc="-10" dirty="0">
                <a:latin typeface="Arial"/>
                <a:cs typeface="Arial"/>
              </a:rPr>
              <a:t>r_next;</a:t>
            </a:r>
            <a:r>
              <a:rPr sz="1400" dirty="0">
                <a:latin typeface="Arial"/>
                <a:cs typeface="Arial"/>
              </a:rPr>
              <a:t>	</a:t>
            </a:r>
            <a:r>
              <a:rPr sz="1400" spc="-10" dirty="0">
                <a:latin typeface="Arial"/>
                <a:cs typeface="Arial"/>
              </a:rPr>
              <a:t>//next-</a:t>
            </a:r>
            <a:r>
              <a:rPr sz="1400" dirty="0">
                <a:latin typeface="Arial"/>
                <a:cs typeface="Arial"/>
              </a:rPr>
              <a:t>state</a:t>
            </a:r>
            <a:r>
              <a:rPr sz="1400" spc="30" dirty="0">
                <a:latin typeface="Arial"/>
                <a:cs typeface="Arial"/>
              </a:rPr>
              <a:t> </a:t>
            </a:r>
            <a:r>
              <a:rPr sz="1400" spc="-10" dirty="0">
                <a:latin typeface="Arial"/>
                <a:cs typeface="Arial"/>
              </a:rPr>
              <a:t>logic</a:t>
            </a:r>
            <a:endParaRPr sz="1400">
              <a:latin typeface="Arial"/>
              <a:cs typeface="Arial"/>
            </a:endParaRPr>
          </a:p>
          <a:p>
            <a:pPr>
              <a:lnSpc>
                <a:spcPct val="100000"/>
              </a:lnSpc>
            </a:pPr>
            <a:r>
              <a:rPr sz="1400" b="1" dirty="0">
                <a:latin typeface="Arial"/>
                <a:cs typeface="Arial"/>
              </a:rPr>
              <a:t>always</a:t>
            </a:r>
            <a:r>
              <a:rPr sz="1400" b="1" spc="-15" dirty="0">
                <a:latin typeface="Arial"/>
                <a:cs typeface="Arial"/>
              </a:rPr>
              <a:t> </a:t>
            </a:r>
            <a:r>
              <a:rPr sz="1400" spc="-25" dirty="0">
                <a:latin typeface="Arial"/>
                <a:cs typeface="Arial"/>
              </a:rPr>
              <a:t>@*</a:t>
            </a:r>
            <a:endParaRPr sz="1400">
              <a:latin typeface="Arial"/>
              <a:cs typeface="Arial"/>
            </a:endParaRPr>
          </a:p>
          <a:p>
            <a:pPr marL="149860">
              <a:lnSpc>
                <a:spcPts val="1675"/>
              </a:lnSpc>
              <a:spcBef>
                <a:spcPts val="5"/>
              </a:spcBef>
            </a:pPr>
            <a:r>
              <a:rPr sz="1400" b="1" dirty="0">
                <a:latin typeface="Arial"/>
                <a:cs typeface="Arial"/>
              </a:rPr>
              <a:t>case</a:t>
            </a:r>
            <a:r>
              <a:rPr sz="1400" b="1" spc="-15" dirty="0">
                <a:latin typeface="Arial"/>
                <a:cs typeface="Arial"/>
              </a:rPr>
              <a:t> </a:t>
            </a:r>
            <a:r>
              <a:rPr sz="1400" spc="-10" dirty="0">
                <a:latin typeface="Arial"/>
                <a:cs typeface="Arial"/>
              </a:rPr>
              <a:t>(ctrl)</a:t>
            </a:r>
            <a:endParaRPr sz="1400">
              <a:latin typeface="Arial"/>
              <a:cs typeface="Arial"/>
            </a:endParaRPr>
          </a:p>
          <a:p>
            <a:pPr marL="400685">
              <a:lnSpc>
                <a:spcPts val="1675"/>
              </a:lnSpc>
            </a:pPr>
            <a:r>
              <a:rPr sz="1400" dirty="0">
                <a:latin typeface="Arial"/>
                <a:cs typeface="Arial"/>
              </a:rPr>
              <a:t>2’b00:</a:t>
            </a:r>
            <a:r>
              <a:rPr sz="1400" spc="-5" dirty="0">
                <a:latin typeface="Arial"/>
                <a:cs typeface="Arial"/>
              </a:rPr>
              <a:t> </a:t>
            </a:r>
            <a:r>
              <a:rPr sz="1400" dirty="0">
                <a:latin typeface="Arial"/>
                <a:cs typeface="Arial"/>
              </a:rPr>
              <a:t>r_next</a:t>
            </a:r>
            <a:r>
              <a:rPr sz="1400" spc="5" dirty="0">
                <a:latin typeface="Arial"/>
                <a:cs typeface="Arial"/>
              </a:rPr>
              <a:t> </a:t>
            </a:r>
            <a:r>
              <a:rPr sz="1400" dirty="0">
                <a:latin typeface="Arial"/>
                <a:cs typeface="Arial"/>
              </a:rPr>
              <a:t>=</a:t>
            </a:r>
            <a:r>
              <a:rPr sz="1400" spc="5" dirty="0">
                <a:latin typeface="Arial"/>
                <a:cs typeface="Arial"/>
              </a:rPr>
              <a:t> </a:t>
            </a:r>
            <a:r>
              <a:rPr sz="1400" spc="-10" dirty="0">
                <a:latin typeface="Arial"/>
                <a:cs typeface="Arial"/>
              </a:rPr>
              <a:t>r_reg;</a:t>
            </a:r>
            <a:endParaRPr sz="1400">
              <a:latin typeface="Arial"/>
              <a:cs typeface="Arial"/>
            </a:endParaRPr>
          </a:p>
          <a:p>
            <a:pPr marL="400685">
              <a:lnSpc>
                <a:spcPct val="100000"/>
              </a:lnSpc>
            </a:pPr>
            <a:r>
              <a:rPr sz="1400" dirty="0">
                <a:latin typeface="Arial"/>
                <a:cs typeface="Arial"/>
              </a:rPr>
              <a:t>2’b01:</a:t>
            </a:r>
            <a:r>
              <a:rPr sz="1400" spc="-5" dirty="0">
                <a:latin typeface="Arial"/>
                <a:cs typeface="Arial"/>
              </a:rPr>
              <a:t> </a:t>
            </a:r>
            <a:r>
              <a:rPr sz="1400" dirty="0">
                <a:latin typeface="Arial"/>
                <a:cs typeface="Arial"/>
              </a:rPr>
              <a:t>r_next</a:t>
            </a:r>
            <a:r>
              <a:rPr sz="1400" spc="5" dirty="0">
                <a:latin typeface="Arial"/>
                <a:cs typeface="Arial"/>
              </a:rPr>
              <a:t> </a:t>
            </a:r>
            <a:r>
              <a:rPr sz="1400" dirty="0">
                <a:latin typeface="Arial"/>
                <a:cs typeface="Arial"/>
              </a:rPr>
              <a:t>=</a:t>
            </a:r>
            <a:r>
              <a:rPr sz="1400" spc="5" dirty="0">
                <a:latin typeface="Arial"/>
                <a:cs typeface="Arial"/>
              </a:rPr>
              <a:t> </a:t>
            </a:r>
            <a:r>
              <a:rPr sz="1400" dirty="0">
                <a:latin typeface="Arial"/>
                <a:cs typeface="Arial"/>
              </a:rPr>
              <a:t>{r_reg[N-2:0],</a:t>
            </a:r>
            <a:r>
              <a:rPr sz="1400" spc="20" dirty="0">
                <a:latin typeface="Arial"/>
                <a:cs typeface="Arial"/>
              </a:rPr>
              <a:t> </a:t>
            </a:r>
            <a:r>
              <a:rPr sz="1400" spc="-10" dirty="0">
                <a:latin typeface="Arial"/>
                <a:cs typeface="Arial"/>
              </a:rPr>
              <a:t>d[0]};</a:t>
            </a:r>
            <a:endParaRPr sz="1400">
              <a:latin typeface="Arial"/>
              <a:cs typeface="Arial"/>
            </a:endParaRPr>
          </a:p>
        </p:txBody>
      </p:sp>
      <p:sp>
        <p:nvSpPr>
          <p:cNvPr id="7" name="object 7"/>
          <p:cNvSpPr txBox="1"/>
          <p:nvPr/>
        </p:nvSpPr>
        <p:spPr>
          <a:xfrm>
            <a:off x="8911190" y="4755163"/>
            <a:ext cx="824865" cy="1308100"/>
          </a:xfrm>
          <a:prstGeom prst="rect">
            <a:avLst/>
          </a:prstGeom>
        </p:spPr>
        <p:txBody>
          <a:bodyPr vert="horz" wrap="square" lIns="0" tIns="12700" rIns="0" bIns="0" rtlCol="0">
            <a:spAutoFit/>
          </a:bodyPr>
          <a:lstStyle/>
          <a:p>
            <a:pPr marL="3175">
              <a:lnSpc>
                <a:spcPct val="100000"/>
              </a:lnSpc>
              <a:spcBef>
                <a:spcPts val="100"/>
              </a:spcBef>
            </a:pPr>
            <a:r>
              <a:rPr sz="1400" spc="-25" dirty="0">
                <a:latin typeface="Arial"/>
                <a:cs typeface="Arial"/>
              </a:rPr>
              <a:t>//</a:t>
            </a:r>
            <a:r>
              <a:rPr sz="1400" spc="-20" dirty="0">
                <a:latin typeface="微软雅黑"/>
                <a:cs typeface="微软雅黑"/>
              </a:rPr>
              <a:t>无操作</a:t>
            </a:r>
            <a:endParaRPr sz="1400">
              <a:latin typeface="微软雅黑"/>
              <a:cs typeface="微软雅黑"/>
            </a:endParaRPr>
          </a:p>
          <a:p>
            <a:pPr marL="1905">
              <a:lnSpc>
                <a:spcPct val="100000"/>
              </a:lnSpc>
              <a:spcBef>
                <a:spcPts val="5"/>
              </a:spcBef>
            </a:pPr>
            <a:r>
              <a:rPr sz="1400" spc="-25" dirty="0">
                <a:latin typeface="Arial"/>
                <a:cs typeface="Arial"/>
              </a:rPr>
              <a:t>//</a:t>
            </a:r>
            <a:r>
              <a:rPr sz="1400" spc="-25" dirty="0">
                <a:latin typeface="微软雅黑"/>
                <a:cs typeface="微软雅黑"/>
              </a:rPr>
              <a:t>左移</a:t>
            </a:r>
            <a:endParaRPr sz="1400">
              <a:latin typeface="微软雅黑"/>
              <a:cs typeface="微软雅黑"/>
            </a:endParaRPr>
          </a:p>
          <a:p>
            <a:pPr>
              <a:lnSpc>
                <a:spcPct val="100000"/>
              </a:lnSpc>
              <a:spcBef>
                <a:spcPts val="5"/>
              </a:spcBef>
            </a:pPr>
            <a:r>
              <a:rPr sz="1400" spc="-10" dirty="0">
                <a:latin typeface="Arial"/>
                <a:cs typeface="Arial"/>
              </a:rPr>
              <a:t>//</a:t>
            </a:r>
            <a:r>
              <a:rPr sz="1400" spc="-30" dirty="0">
                <a:latin typeface="微软雅黑"/>
                <a:cs typeface="微软雅黑"/>
              </a:rPr>
              <a:t>右移</a:t>
            </a:r>
            <a:endParaRPr sz="1400">
              <a:latin typeface="微软雅黑"/>
              <a:cs typeface="微软雅黑"/>
            </a:endParaRPr>
          </a:p>
          <a:p>
            <a:pPr>
              <a:lnSpc>
                <a:spcPct val="100000"/>
              </a:lnSpc>
            </a:pPr>
            <a:r>
              <a:rPr sz="1400" spc="-10" dirty="0">
                <a:latin typeface="Arial"/>
                <a:cs typeface="Arial"/>
              </a:rPr>
              <a:t>//</a:t>
            </a:r>
            <a:r>
              <a:rPr sz="1400" spc="-25" dirty="0">
                <a:latin typeface="微软雅黑"/>
                <a:cs typeface="微软雅黑"/>
              </a:rPr>
              <a:t>载入</a:t>
            </a:r>
            <a:endParaRPr sz="1400">
              <a:latin typeface="微软雅黑"/>
              <a:cs typeface="微软雅黑"/>
            </a:endParaRPr>
          </a:p>
          <a:p>
            <a:pPr marL="635">
              <a:lnSpc>
                <a:spcPct val="100000"/>
              </a:lnSpc>
              <a:spcBef>
                <a:spcPts val="1685"/>
              </a:spcBef>
            </a:pPr>
            <a:r>
              <a:rPr sz="1400" spc="-10" dirty="0">
                <a:latin typeface="Arial"/>
                <a:cs typeface="Arial"/>
              </a:rPr>
              <a:t>//</a:t>
            </a:r>
            <a:r>
              <a:rPr sz="1400" spc="-15" dirty="0">
                <a:latin typeface="微软雅黑"/>
                <a:cs typeface="微软雅黑"/>
              </a:rPr>
              <a:t>输出逻辑</a:t>
            </a:r>
            <a:endParaRPr sz="1400">
              <a:latin typeface="微软雅黑"/>
              <a:cs typeface="微软雅黑"/>
            </a:endParaRPr>
          </a:p>
        </p:txBody>
      </p:sp>
      <p:sp>
        <p:nvSpPr>
          <p:cNvPr id="8" name="object 8"/>
          <p:cNvSpPr txBox="1"/>
          <p:nvPr/>
        </p:nvSpPr>
        <p:spPr>
          <a:xfrm>
            <a:off x="5003209" y="5182656"/>
            <a:ext cx="3654425" cy="1096010"/>
          </a:xfrm>
          <a:prstGeom prst="rect">
            <a:avLst/>
          </a:prstGeom>
        </p:spPr>
        <p:txBody>
          <a:bodyPr vert="horz" wrap="square" lIns="0" tIns="12700" rIns="0" bIns="0" rtlCol="0">
            <a:spAutoFit/>
          </a:bodyPr>
          <a:lstStyle/>
          <a:p>
            <a:pPr marL="700405">
              <a:lnSpc>
                <a:spcPct val="100000"/>
              </a:lnSpc>
              <a:spcBef>
                <a:spcPts val="100"/>
              </a:spcBef>
            </a:pPr>
            <a:r>
              <a:rPr sz="1400" dirty="0">
                <a:latin typeface="Arial"/>
                <a:cs typeface="Arial"/>
              </a:rPr>
              <a:t>2’b10:</a:t>
            </a:r>
            <a:r>
              <a:rPr sz="1400" spc="-5" dirty="0">
                <a:latin typeface="Arial"/>
                <a:cs typeface="Arial"/>
              </a:rPr>
              <a:t> </a:t>
            </a:r>
            <a:r>
              <a:rPr sz="1400" dirty="0">
                <a:latin typeface="Arial"/>
                <a:cs typeface="Arial"/>
              </a:rPr>
              <a:t>r_next</a:t>
            </a:r>
            <a:r>
              <a:rPr sz="1400" spc="5" dirty="0">
                <a:latin typeface="Arial"/>
                <a:cs typeface="Arial"/>
              </a:rPr>
              <a:t> </a:t>
            </a:r>
            <a:r>
              <a:rPr sz="1400" dirty="0">
                <a:latin typeface="Arial"/>
                <a:cs typeface="Arial"/>
              </a:rPr>
              <a:t>=</a:t>
            </a:r>
            <a:r>
              <a:rPr sz="1400" spc="5" dirty="0">
                <a:latin typeface="Arial"/>
                <a:cs typeface="Arial"/>
              </a:rPr>
              <a:t> </a:t>
            </a:r>
            <a:r>
              <a:rPr sz="1400" spc="-10" dirty="0">
                <a:latin typeface="Arial"/>
                <a:cs typeface="Arial"/>
              </a:rPr>
              <a:t>{d[N-</a:t>
            </a:r>
            <a:r>
              <a:rPr sz="1400" dirty="0">
                <a:latin typeface="Arial"/>
                <a:cs typeface="Arial"/>
              </a:rPr>
              <a:t>1],</a:t>
            </a:r>
            <a:r>
              <a:rPr sz="1400" spc="10" dirty="0">
                <a:latin typeface="Arial"/>
                <a:cs typeface="Arial"/>
              </a:rPr>
              <a:t> </a:t>
            </a:r>
            <a:r>
              <a:rPr sz="1400" spc="-10" dirty="0">
                <a:latin typeface="Arial"/>
                <a:cs typeface="Arial"/>
              </a:rPr>
              <a:t>r_reg[N-1:1]};</a:t>
            </a:r>
            <a:endParaRPr sz="1400">
              <a:latin typeface="Arial"/>
              <a:cs typeface="Arial"/>
            </a:endParaRPr>
          </a:p>
          <a:p>
            <a:pPr marL="700405">
              <a:lnSpc>
                <a:spcPct val="100000"/>
              </a:lnSpc>
              <a:spcBef>
                <a:spcPts val="5"/>
              </a:spcBef>
            </a:pPr>
            <a:r>
              <a:rPr sz="1400" b="1" dirty="0">
                <a:latin typeface="Arial"/>
                <a:cs typeface="Arial"/>
              </a:rPr>
              <a:t>default</a:t>
            </a:r>
            <a:r>
              <a:rPr sz="1400" dirty="0">
                <a:latin typeface="Arial"/>
                <a:cs typeface="Arial"/>
              </a:rPr>
              <a:t>:</a:t>
            </a:r>
            <a:r>
              <a:rPr sz="1400" spc="-5" dirty="0">
                <a:latin typeface="Arial"/>
                <a:cs typeface="Arial"/>
              </a:rPr>
              <a:t> </a:t>
            </a:r>
            <a:r>
              <a:rPr sz="1400" dirty="0">
                <a:latin typeface="Arial"/>
                <a:cs typeface="Arial"/>
              </a:rPr>
              <a:t>r_next =</a:t>
            </a:r>
            <a:r>
              <a:rPr sz="1400" spc="-5" dirty="0">
                <a:latin typeface="Arial"/>
                <a:cs typeface="Arial"/>
              </a:rPr>
              <a:t> </a:t>
            </a:r>
            <a:r>
              <a:rPr sz="1400" spc="-25" dirty="0">
                <a:latin typeface="Arial"/>
                <a:cs typeface="Arial"/>
              </a:rPr>
              <a:t>d;</a:t>
            </a:r>
            <a:endParaRPr sz="1400">
              <a:latin typeface="Arial"/>
              <a:cs typeface="Arial"/>
            </a:endParaRPr>
          </a:p>
          <a:p>
            <a:pPr marL="299720" marR="1961514" indent="200025">
              <a:lnSpc>
                <a:spcPts val="1670"/>
              </a:lnSpc>
              <a:spcBef>
                <a:spcPts val="80"/>
              </a:spcBef>
            </a:pPr>
            <a:r>
              <a:rPr sz="1400" b="1" spc="-10" dirty="0">
                <a:latin typeface="Arial"/>
                <a:cs typeface="Arial"/>
              </a:rPr>
              <a:t>endcase </a:t>
            </a:r>
            <a:r>
              <a:rPr sz="1400" b="1" dirty="0">
                <a:latin typeface="Arial"/>
                <a:cs typeface="Arial"/>
              </a:rPr>
              <a:t>assign</a:t>
            </a:r>
            <a:r>
              <a:rPr sz="1400" b="1" spc="-30" dirty="0">
                <a:latin typeface="Arial"/>
                <a:cs typeface="Arial"/>
              </a:rPr>
              <a:t> </a:t>
            </a:r>
            <a:r>
              <a:rPr sz="1400" dirty="0">
                <a:latin typeface="Arial"/>
                <a:cs typeface="Arial"/>
              </a:rPr>
              <a:t>q</a:t>
            </a:r>
            <a:r>
              <a:rPr sz="1400" spc="-5" dirty="0">
                <a:latin typeface="Arial"/>
                <a:cs typeface="Arial"/>
              </a:rPr>
              <a:t> </a:t>
            </a:r>
            <a:r>
              <a:rPr sz="1400" dirty="0">
                <a:latin typeface="Arial"/>
                <a:cs typeface="Arial"/>
              </a:rPr>
              <a:t>= </a:t>
            </a:r>
            <a:r>
              <a:rPr sz="1400" spc="-10" dirty="0">
                <a:latin typeface="Arial"/>
                <a:cs typeface="Arial"/>
              </a:rPr>
              <a:t>r_reg;</a:t>
            </a:r>
            <a:endParaRPr sz="1400">
              <a:latin typeface="Arial"/>
              <a:cs typeface="Arial"/>
            </a:endParaRPr>
          </a:p>
          <a:p>
            <a:pPr>
              <a:lnSpc>
                <a:spcPts val="1639"/>
              </a:lnSpc>
            </a:pPr>
            <a:r>
              <a:rPr sz="1400" b="1" spc="-10" dirty="0">
                <a:latin typeface="Arial"/>
                <a:cs typeface="Arial"/>
              </a:rPr>
              <a:t>endmodule</a:t>
            </a:r>
            <a:endParaRPr sz="1400">
              <a:latin typeface="Arial"/>
              <a:cs typeface="Arial"/>
            </a:endParaRPr>
          </a:p>
        </p:txBody>
      </p:sp>
      <p:sp>
        <p:nvSpPr>
          <p:cNvPr id="9" name="object 9"/>
          <p:cNvSpPr txBox="1"/>
          <p:nvPr/>
        </p:nvSpPr>
        <p:spPr>
          <a:xfrm>
            <a:off x="506864" y="1488130"/>
            <a:ext cx="9373870" cy="1829435"/>
          </a:xfrm>
          <a:prstGeom prst="rect">
            <a:avLst/>
          </a:prstGeom>
        </p:spPr>
        <p:txBody>
          <a:bodyPr vert="horz" wrap="square" lIns="0" tIns="12065" rIns="0" bIns="0" rtlCol="0">
            <a:spAutoFit/>
          </a:bodyPr>
          <a:lstStyle/>
          <a:p>
            <a:pPr marL="262890" marR="6350" indent="-250825">
              <a:lnSpc>
                <a:spcPct val="152600"/>
              </a:lnSpc>
              <a:spcBef>
                <a:spcPts val="95"/>
              </a:spcBef>
              <a:buFont typeface="Wingdings"/>
              <a:buChar char=""/>
              <a:tabLst>
                <a:tab pos="262890" algn="l"/>
              </a:tabLst>
            </a:pPr>
            <a:r>
              <a:rPr sz="1550" dirty="0">
                <a:latin typeface="微软雅黑"/>
                <a:cs typeface="微软雅黑"/>
              </a:rPr>
              <a:t>通用移位寄存器可以加载并行数据</a:t>
            </a:r>
            <a:r>
              <a:rPr sz="1550" dirty="0">
                <a:latin typeface="宋体"/>
                <a:cs typeface="宋体"/>
              </a:rPr>
              <a:t>，</a:t>
            </a:r>
            <a:r>
              <a:rPr sz="1550" dirty="0">
                <a:latin typeface="微软雅黑"/>
                <a:cs typeface="微软雅黑"/>
              </a:rPr>
              <a:t>将其内容向左移位、向右移位或保持原有状态，也可以实现并转串</a:t>
            </a:r>
            <a:r>
              <a:rPr sz="1550" spc="-50" dirty="0">
                <a:latin typeface="Arial"/>
                <a:cs typeface="Arial"/>
              </a:rPr>
              <a:t>(</a:t>
            </a:r>
            <a:r>
              <a:rPr sz="1550" dirty="0">
                <a:latin typeface="微软雅黑"/>
                <a:cs typeface="微软雅黑"/>
              </a:rPr>
              <a:t>第一次加载并行输入，然后移位</a:t>
            </a:r>
            <a:r>
              <a:rPr sz="1550" dirty="0">
                <a:latin typeface="Arial"/>
                <a:cs typeface="Arial"/>
              </a:rPr>
              <a:t>)</a:t>
            </a:r>
            <a:r>
              <a:rPr sz="1550" dirty="0">
                <a:latin typeface="微软雅黑"/>
                <a:cs typeface="微软雅黑"/>
              </a:rPr>
              <a:t>或串转并</a:t>
            </a:r>
            <a:r>
              <a:rPr sz="1550" dirty="0">
                <a:latin typeface="Arial"/>
                <a:cs typeface="Arial"/>
              </a:rPr>
              <a:t>(</a:t>
            </a:r>
            <a:r>
              <a:rPr sz="1550" dirty="0">
                <a:latin typeface="微软雅黑"/>
                <a:cs typeface="微软雅黑"/>
              </a:rPr>
              <a:t>首先移位，然后进行并行输出</a:t>
            </a:r>
            <a:r>
              <a:rPr sz="1550" dirty="0">
                <a:latin typeface="Arial"/>
                <a:cs typeface="Arial"/>
              </a:rPr>
              <a:t>)</a:t>
            </a:r>
            <a:r>
              <a:rPr sz="1550" spc="-50" dirty="0">
                <a:latin typeface="微软雅黑"/>
                <a:cs typeface="微软雅黑"/>
              </a:rPr>
              <a:t>。</a:t>
            </a:r>
            <a:endParaRPr sz="1550">
              <a:latin typeface="微软雅黑"/>
              <a:cs typeface="微软雅黑"/>
            </a:endParaRPr>
          </a:p>
          <a:p>
            <a:pPr marL="262890" marR="5080" indent="-250825">
              <a:lnSpc>
                <a:spcPct val="152700"/>
              </a:lnSpc>
              <a:buFont typeface="Wingdings"/>
              <a:buChar char=""/>
              <a:tabLst>
                <a:tab pos="262890" algn="l"/>
              </a:tabLst>
            </a:pPr>
            <a:r>
              <a:rPr sz="1550" spc="15" dirty="0">
                <a:latin typeface="微软雅黑"/>
                <a:cs typeface="微软雅黑"/>
              </a:rPr>
              <a:t>可以把通用移位寄存器分为组合逻辑和时序逻辑两部分，各用一个</a:t>
            </a:r>
            <a:r>
              <a:rPr sz="1550" spc="5" dirty="0">
                <a:latin typeface="Arial"/>
                <a:cs typeface="Arial"/>
              </a:rPr>
              <a:t>always</a:t>
            </a:r>
            <a:r>
              <a:rPr sz="1550" spc="10" dirty="0">
                <a:latin typeface="微软雅黑"/>
                <a:cs typeface="微软雅黑"/>
              </a:rPr>
              <a:t>块来进行描述。下一状态逻辑</a:t>
            </a:r>
            <a:r>
              <a:rPr sz="1550" spc="15" dirty="0">
                <a:latin typeface="微软雅黑"/>
                <a:cs typeface="微软雅黑"/>
              </a:rPr>
              <a:t>使用</a:t>
            </a:r>
            <a:r>
              <a:rPr sz="1550" dirty="0">
                <a:latin typeface="Arial"/>
                <a:cs typeface="Arial"/>
              </a:rPr>
              <a:t>4</a:t>
            </a:r>
            <a:r>
              <a:rPr sz="1550" spc="15" dirty="0">
                <a:latin typeface="微软雅黑"/>
                <a:cs typeface="微软雅黑"/>
              </a:rPr>
              <a:t>选</a:t>
            </a:r>
            <a:r>
              <a:rPr sz="1550" dirty="0">
                <a:latin typeface="Arial"/>
                <a:cs typeface="Arial"/>
              </a:rPr>
              <a:t>1</a:t>
            </a:r>
            <a:r>
              <a:rPr sz="1550" spc="10" dirty="0">
                <a:latin typeface="微软雅黑"/>
                <a:cs typeface="微软雅黑"/>
              </a:rPr>
              <a:t>的多路选择器来选择寄存器所需下一状态的值。注意，</a:t>
            </a:r>
            <a:r>
              <a:rPr sz="1550" spc="5" dirty="0">
                <a:latin typeface="Arial"/>
                <a:cs typeface="Arial"/>
              </a:rPr>
              <a:t>d</a:t>
            </a:r>
            <a:r>
              <a:rPr sz="1550" spc="15" dirty="0">
                <a:latin typeface="微软雅黑"/>
                <a:cs typeface="微软雅黑"/>
              </a:rPr>
              <a:t>的最低位和最高位被用来作为串行输入的左移和右移操作。</a:t>
            </a:r>
            <a:endParaRPr sz="1550">
              <a:latin typeface="微软雅黑"/>
              <a:cs typeface="微软雅黑"/>
            </a:endParaRPr>
          </a:p>
        </p:txBody>
      </p:sp>
      <p:sp>
        <p:nvSpPr>
          <p:cNvPr id="10" name="object 10"/>
          <p:cNvSpPr txBox="1">
            <a:spLocks noGrp="1"/>
          </p:cNvSpPr>
          <p:nvPr>
            <p:ph type="title"/>
          </p:nvPr>
        </p:nvSpPr>
        <p:spPr>
          <a:xfrm>
            <a:off x="523627" y="1072387"/>
            <a:ext cx="4076065" cy="453390"/>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4.3.2</a:t>
            </a:r>
            <a:r>
              <a:rPr dirty="0">
                <a:latin typeface="Arial"/>
                <a:cs typeface="Arial"/>
              </a:rPr>
              <a:t>	</a:t>
            </a:r>
            <a:r>
              <a:rPr spc="-10" dirty="0"/>
              <a:t>8</a:t>
            </a:r>
            <a:r>
              <a:rPr spc="-20" dirty="0"/>
              <a:t>位通用移位寄存器</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0102"/>
            <a:ext cx="1996439" cy="506730"/>
          </a:xfrm>
          <a:prstGeom prst="rect">
            <a:avLst/>
          </a:prstGeom>
        </p:spPr>
        <p:txBody>
          <a:bodyPr vert="horz" wrap="square" lIns="0" tIns="13335" rIns="0" bIns="0" rtlCol="0">
            <a:spAutoFit/>
          </a:bodyPr>
          <a:lstStyle/>
          <a:p>
            <a:pPr marL="12700">
              <a:lnSpc>
                <a:spcPct val="100000"/>
              </a:lnSpc>
              <a:spcBef>
                <a:spcPts val="105"/>
              </a:spcBef>
              <a:tabLst>
                <a:tab pos="780415" algn="l"/>
              </a:tabLst>
            </a:pPr>
            <a:r>
              <a:rPr sz="3150" spc="-25" dirty="0">
                <a:latin typeface="Arial"/>
                <a:cs typeface="Arial"/>
              </a:rPr>
              <a:t>4.4</a:t>
            </a:r>
            <a:r>
              <a:rPr sz="3150" dirty="0">
                <a:latin typeface="Arial"/>
                <a:cs typeface="Arial"/>
              </a:rPr>
              <a:t>	</a:t>
            </a:r>
            <a:r>
              <a:rPr sz="3150" spc="-20" dirty="0"/>
              <a:t>计数器</a:t>
            </a:r>
            <a:endParaRPr sz="3150">
              <a:latin typeface="Arial"/>
              <a:cs typeface="Arial"/>
            </a:endParaRPr>
          </a:p>
        </p:txBody>
      </p:sp>
      <p:sp>
        <p:nvSpPr>
          <p:cNvPr id="3" name="object 3"/>
          <p:cNvSpPr txBox="1"/>
          <p:nvPr/>
        </p:nvSpPr>
        <p:spPr>
          <a:xfrm>
            <a:off x="685933" y="1976120"/>
            <a:ext cx="4405630" cy="480059"/>
          </a:xfrm>
          <a:prstGeom prst="rect">
            <a:avLst/>
          </a:prstGeom>
        </p:spPr>
        <p:txBody>
          <a:bodyPr vert="horz" wrap="square" lIns="0" tIns="16510" rIns="0" bIns="0" rtlCol="0">
            <a:spAutoFit/>
          </a:bodyPr>
          <a:lstStyle/>
          <a:p>
            <a:pPr marL="12700">
              <a:lnSpc>
                <a:spcPct val="100000"/>
              </a:lnSpc>
              <a:spcBef>
                <a:spcPts val="130"/>
              </a:spcBef>
            </a:pPr>
            <a:r>
              <a:rPr sz="2950" dirty="0">
                <a:latin typeface="Arial"/>
                <a:cs typeface="Arial"/>
              </a:rPr>
              <a:t>4.4.1</a:t>
            </a:r>
            <a:r>
              <a:rPr sz="2950" spc="484" dirty="0">
                <a:latin typeface="Arial"/>
                <a:cs typeface="Arial"/>
              </a:rPr>
              <a:t> </a:t>
            </a:r>
            <a:r>
              <a:rPr sz="2950" spc="-10" dirty="0">
                <a:latin typeface="微软雅黑"/>
                <a:cs typeface="微软雅黑"/>
              </a:rPr>
              <a:t>简单的二进制计数器</a:t>
            </a:r>
            <a:endParaRPr sz="2950">
              <a:latin typeface="微软雅黑"/>
              <a:cs typeface="微软雅黑"/>
            </a:endParaRPr>
          </a:p>
        </p:txBody>
      </p:sp>
      <p:sp>
        <p:nvSpPr>
          <p:cNvPr id="4" name="object 4"/>
          <p:cNvSpPr txBox="1"/>
          <p:nvPr/>
        </p:nvSpPr>
        <p:spPr>
          <a:xfrm>
            <a:off x="714122" y="2746799"/>
            <a:ext cx="4196080" cy="2030095"/>
          </a:xfrm>
          <a:prstGeom prst="rect">
            <a:avLst/>
          </a:prstGeom>
        </p:spPr>
        <p:txBody>
          <a:bodyPr vert="horz" wrap="square" lIns="0" tIns="12700" rIns="0" bIns="0" rtlCol="0">
            <a:spAutoFit/>
          </a:bodyPr>
          <a:lstStyle/>
          <a:p>
            <a:pPr marL="12700" marR="5080" indent="490220">
              <a:lnSpc>
                <a:spcPct val="150300"/>
              </a:lnSpc>
              <a:spcBef>
                <a:spcPts val="100"/>
              </a:spcBef>
            </a:pPr>
            <a:r>
              <a:rPr sz="1750" spc="-5" dirty="0">
                <a:latin typeface="微软雅黑"/>
                <a:cs typeface="微软雅黑"/>
              </a:rPr>
              <a:t>一个简单的二进制计数器通过二进制</a:t>
            </a:r>
            <a:r>
              <a:rPr sz="1750" dirty="0">
                <a:latin typeface="微软雅黑"/>
                <a:cs typeface="微软雅黑"/>
              </a:rPr>
              <a:t>序列反复循环。例如一个</a:t>
            </a:r>
            <a:r>
              <a:rPr sz="1750" spc="-10" dirty="0">
                <a:latin typeface="Arial"/>
                <a:cs typeface="Arial"/>
              </a:rPr>
              <a:t>4</a:t>
            </a:r>
            <a:r>
              <a:rPr sz="1750" spc="-10" dirty="0">
                <a:latin typeface="微软雅黑"/>
                <a:cs typeface="微软雅黑"/>
              </a:rPr>
              <a:t>位二进制计数器</a:t>
            </a:r>
            <a:r>
              <a:rPr sz="1750" dirty="0">
                <a:latin typeface="微软雅黑"/>
                <a:cs typeface="微软雅黑"/>
              </a:rPr>
              <a:t>计数，从</a:t>
            </a:r>
            <a:r>
              <a:rPr sz="1750" spc="-10" dirty="0">
                <a:latin typeface="Arial"/>
                <a:cs typeface="Arial"/>
              </a:rPr>
              <a:t>“0000”</a:t>
            </a:r>
            <a:r>
              <a:rPr sz="1750" spc="-10" dirty="0">
                <a:latin typeface="微软雅黑"/>
                <a:cs typeface="微软雅黑"/>
              </a:rPr>
              <a:t>，</a:t>
            </a:r>
            <a:r>
              <a:rPr sz="1750" spc="-10" dirty="0">
                <a:latin typeface="Arial"/>
                <a:cs typeface="Arial"/>
              </a:rPr>
              <a:t>“0001”</a:t>
            </a:r>
            <a:r>
              <a:rPr sz="1750" spc="-10" dirty="0">
                <a:latin typeface="微软雅黑"/>
                <a:cs typeface="微软雅黑"/>
              </a:rPr>
              <a:t>，</a:t>
            </a:r>
            <a:r>
              <a:rPr sz="1750" spc="-10" dirty="0">
                <a:latin typeface="Arial"/>
                <a:cs typeface="Arial"/>
              </a:rPr>
              <a:t>…</a:t>
            </a:r>
            <a:r>
              <a:rPr sz="1750" spc="-5" dirty="0">
                <a:latin typeface="微软雅黑"/>
                <a:cs typeface="微软雅黑"/>
              </a:rPr>
              <a:t>，至</a:t>
            </a:r>
            <a:r>
              <a:rPr sz="1750" spc="-85" dirty="0">
                <a:latin typeface="Arial"/>
                <a:cs typeface="Arial"/>
              </a:rPr>
              <a:t>“1111”</a:t>
            </a:r>
            <a:r>
              <a:rPr sz="1750" spc="-50" dirty="0">
                <a:latin typeface="微软雅黑"/>
                <a:cs typeface="微软雅黑"/>
              </a:rPr>
              <a:t>而</a:t>
            </a:r>
            <a:r>
              <a:rPr sz="1750" dirty="0">
                <a:latin typeface="微软雅黑"/>
                <a:cs typeface="微软雅黑"/>
              </a:rPr>
              <a:t>后循环。</a:t>
            </a:r>
            <a:r>
              <a:rPr sz="1750" dirty="0">
                <a:latin typeface="Arial"/>
                <a:cs typeface="Arial"/>
              </a:rPr>
              <a:t>N</a:t>
            </a:r>
            <a:r>
              <a:rPr sz="1750" spc="-5" dirty="0">
                <a:latin typeface="微软雅黑"/>
                <a:cs typeface="微软雅黑"/>
              </a:rPr>
              <a:t>位简单二进制计数器的参数化实</a:t>
            </a:r>
            <a:r>
              <a:rPr sz="1750" dirty="0">
                <a:latin typeface="微软雅黑"/>
                <a:cs typeface="微软雅黑"/>
              </a:rPr>
              <a:t>现代码如例</a:t>
            </a:r>
            <a:r>
              <a:rPr sz="1750" spc="-20" dirty="0">
                <a:latin typeface="Arial"/>
                <a:cs typeface="Arial"/>
              </a:rPr>
              <a:t>4.13</a:t>
            </a:r>
            <a:r>
              <a:rPr sz="1750" spc="-20" dirty="0">
                <a:latin typeface="微软雅黑"/>
                <a:cs typeface="微软雅黑"/>
              </a:rPr>
              <a:t>所示。</a:t>
            </a:r>
            <a:endParaRPr sz="1750">
              <a:latin typeface="微软雅黑"/>
              <a:cs typeface="微软雅黑"/>
            </a:endParaRPr>
          </a:p>
        </p:txBody>
      </p:sp>
      <p:grpSp>
        <p:nvGrpSpPr>
          <p:cNvPr id="5" name="object 5"/>
          <p:cNvGrpSpPr/>
          <p:nvPr/>
        </p:nvGrpSpPr>
        <p:grpSpPr>
          <a:xfrm>
            <a:off x="5417705" y="1671066"/>
            <a:ext cx="4455160" cy="4217670"/>
            <a:chOff x="5417705" y="1671066"/>
            <a:chExt cx="4455160" cy="4217670"/>
          </a:xfrm>
        </p:grpSpPr>
        <p:sp>
          <p:nvSpPr>
            <p:cNvPr id="6" name="object 6"/>
            <p:cNvSpPr/>
            <p:nvPr/>
          </p:nvSpPr>
          <p:spPr>
            <a:xfrm>
              <a:off x="5421515" y="1674876"/>
              <a:ext cx="4447540" cy="4209415"/>
            </a:xfrm>
            <a:custGeom>
              <a:avLst/>
              <a:gdLst/>
              <a:ahLst/>
              <a:cxnLst/>
              <a:rect l="l" t="t" r="r" b="b"/>
              <a:pathLst>
                <a:path w="4447540" h="4209415">
                  <a:moveTo>
                    <a:pt x="4447032" y="4209288"/>
                  </a:moveTo>
                  <a:lnTo>
                    <a:pt x="4447032" y="0"/>
                  </a:lnTo>
                  <a:lnTo>
                    <a:pt x="0" y="0"/>
                  </a:lnTo>
                  <a:lnTo>
                    <a:pt x="0" y="4209288"/>
                  </a:lnTo>
                  <a:lnTo>
                    <a:pt x="4447032" y="4209288"/>
                  </a:lnTo>
                  <a:close/>
                </a:path>
              </a:pathLst>
            </a:custGeom>
            <a:solidFill>
              <a:srgbClr val="F9FABA"/>
            </a:solidFill>
          </p:spPr>
          <p:txBody>
            <a:bodyPr wrap="square" lIns="0" tIns="0" rIns="0" bIns="0" rtlCol="0"/>
            <a:lstStyle/>
            <a:p>
              <a:endParaRPr/>
            </a:p>
          </p:txBody>
        </p:sp>
        <p:sp>
          <p:nvSpPr>
            <p:cNvPr id="7" name="object 7"/>
            <p:cNvSpPr/>
            <p:nvPr/>
          </p:nvSpPr>
          <p:spPr>
            <a:xfrm>
              <a:off x="5417705" y="1671066"/>
              <a:ext cx="4455160" cy="4217670"/>
            </a:xfrm>
            <a:custGeom>
              <a:avLst/>
              <a:gdLst/>
              <a:ahLst/>
              <a:cxnLst/>
              <a:rect l="l" t="t" r="r" b="b"/>
              <a:pathLst>
                <a:path w="4455159" h="4217670">
                  <a:moveTo>
                    <a:pt x="4454652" y="4215384"/>
                  </a:moveTo>
                  <a:lnTo>
                    <a:pt x="4454652" y="1523"/>
                  </a:lnTo>
                  <a:lnTo>
                    <a:pt x="4453128" y="0"/>
                  </a:lnTo>
                  <a:lnTo>
                    <a:pt x="1523" y="0"/>
                  </a:lnTo>
                  <a:lnTo>
                    <a:pt x="0" y="1524"/>
                  </a:lnTo>
                  <a:lnTo>
                    <a:pt x="0" y="4215384"/>
                  </a:lnTo>
                  <a:lnTo>
                    <a:pt x="1524" y="4217670"/>
                  </a:lnTo>
                  <a:lnTo>
                    <a:pt x="3809" y="4217670"/>
                  </a:lnTo>
                  <a:lnTo>
                    <a:pt x="3810" y="8382"/>
                  </a:lnTo>
                  <a:lnTo>
                    <a:pt x="8382" y="3810"/>
                  </a:lnTo>
                  <a:lnTo>
                    <a:pt x="8382" y="8382"/>
                  </a:lnTo>
                  <a:lnTo>
                    <a:pt x="4446270" y="8381"/>
                  </a:lnTo>
                  <a:lnTo>
                    <a:pt x="4446270" y="3809"/>
                  </a:lnTo>
                  <a:lnTo>
                    <a:pt x="4450842" y="8381"/>
                  </a:lnTo>
                  <a:lnTo>
                    <a:pt x="4450842" y="4217670"/>
                  </a:lnTo>
                  <a:lnTo>
                    <a:pt x="4453128" y="4217670"/>
                  </a:lnTo>
                  <a:lnTo>
                    <a:pt x="4454652" y="4215384"/>
                  </a:lnTo>
                  <a:close/>
                </a:path>
                <a:path w="4455159" h="4217670">
                  <a:moveTo>
                    <a:pt x="8382" y="8382"/>
                  </a:moveTo>
                  <a:lnTo>
                    <a:pt x="8382" y="3810"/>
                  </a:lnTo>
                  <a:lnTo>
                    <a:pt x="3810" y="8382"/>
                  </a:lnTo>
                  <a:lnTo>
                    <a:pt x="8382" y="8382"/>
                  </a:lnTo>
                  <a:close/>
                </a:path>
                <a:path w="4455159" h="4217670">
                  <a:moveTo>
                    <a:pt x="8382" y="4209288"/>
                  </a:moveTo>
                  <a:lnTo>
                    <a:pt x="8382" y="8382"/>
                  </a:lnTo>
                  <a:lnTo>
                    <a:pt x="3810" y="8382"/>
                  </a:lnTo>
                  <a:lnTo>
                    <a:pt x="3810" y="4209288"/>
                  </a:lnTo>
                  <a:lnTo>
                    <a:pt x="8382" y="4209288"/>
                  </a:lnTo>
                  <a:close/>
                </a:path>
                <a:path w="4455159" h="4217670">
                  <a:moveTo>
                    <a:pt x="4450842" y="4209288"/>
                  </a:moveTo>
                  <a:lnTo>
                    <a:pt x="3810" y="4209288"/>
                  </a:lnTo>
                  <a:lnTo>
                    <a:pt x="8382" y="4213098"/>
                  </a:lnTo>
                  <a:lnTo>
                    <a:pt x="8382" y="4217670"/>
                  </a:lnTo>
                  <a:lnTo>
                    <a:pt x="4446270" y="4217670"/>
                  </a:lnTo>
                  <a:lnTo>
                    <a:pt x="4446270" y="4213098"/>
                  </a:lnTo>
                  <a:lnTo>
                    <a:pt x="4450842" y="4209288"/>
                  </a:lnTo>
                  <a:close/>
                </a:path>
                <a:path w="4455159" h="4217670">
                  <a:moveTo>
                    <a:pt x="8382" y="4217670"/>
                  </a:moveTo>
                  <a:lnTo>
                    <a:pt x="8382" y="4213098"/>
                  </a:lnTo>
                  <a:lnTo>
                    <a:pt x="3810" y="4209288"/>
                  </a:lnTo>
                  <a:lnTo>
                    <a:pt x="3809" y="4217670"/>
                  </a:lnTo>
                  <a:lnTo>
                    <a:pt x="8382" y="4217670"/>
                  </a:lnTo>
                  <a:close/>
                </a:path>
                <a:path w="4455159" h="4217670">
                  <a:moveTo>
                    <a:pt x="4450842" y="8381"/>
                  </a:moveTo>
                  <a:lnTo>
                    <a:pt x="4446270" y="3809"/>
                  </a:lnTo>
                  <a:lnTo>
                    <a:pt x="4446270" y="8381"/>
                  </a:lnTo>
                  <a:lnTo>
                    <a:pt x="4450842" y="8381"/>
                  </a:lnTo>
                  <a:close/>
                </a:path>
                <a:path w="4455159" h="4217670">
                  <a:moveTo>
                    <a:pt x="4450842" y="4209288"/>
                  </a:moveTo>
                  <a:lnTo>
                    <a:pt x="4450842" y="8381"/>
                  </a:lnTo>
                  <a:lnTo>
                    <a:pt x="4446270" y="8381"/>
                  </a:lnTo>
                  <a:lnTo>
                    <a:pt x="4446270" y="4209288"/>
                  </a:lnTo>
                  <a:lnTo>
                    <a:pt x="4450842" y="4209288"/>
                  </a:lnTo>
                  <a:close/>
                </a:path>
                <a:path w="4455159" h="4217670">
                  <a:moveTo>
                    <a:pt x="4450842" y="4217670"/>
                  </a:moveTo>
                  <a:lnTo>
                    <a:pt x="4450842" y="4209288"/>
                  </a:lnTo>
                  <a:lnTo>
                    <a:pt x="4446270" y="4213098"/>
                  </a:lnTo>
                  <a:lnTo>
                    <a:pt x="4446270" y="4217670"/>
                  </a:lnTo>
                  <a:lnTo>
                    <a:pt x="4450842" y="4217670"/>
                  </a:lnTo>
                  <a:close/>
                </a:path>
              </a:pathLst>
            </a:custGeom>
            <a:solidFill>
              <a:srgbClr val="FF0000"/>
            </a:solidFill>
          </p:spPr>
          <p:txBody>
            <a:bodyPr wrap="square" lIns="0" tIns="0" rIns="0" bIns="0" rtlCol="0"/>
            <a:lstStyle/>
            <a:p>
              <a:endParaRPr/>
            </a:p>
          </p:txBody>
        </p:sp>
      </p:grpSp>
      <p:sp>
        <p:nvSpPr>
          <p:cNvPr id="8" name="object 8"/>
          <p:cNvSpPr txBox="1"/>
          <p:nvPr/>
        </p:nvSpPr>
        <p:spPr>
          <a:xfrm>
            <a:off x="5668397" y="2177280"/>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Arial"/>
                <a:cs typeface="Arial"/>
              </a:rPr>
              <a:t>(</a:t>
            </a:r>
            <a:endParaRPr sz="1550">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9" name="object 9"/>
          <p:cNvSpPr txBox="1"/>
          <p:nvPr/>
        </p:nvSpPr>
        <p:spPr>
          <a:xfrm>
            <a:off x="5501519" y="1696465"/>
            <a:ext cx="4280535" cy="4429125"/>
          </a:xfrm>
          <a:prstGeom prst="rect">
            <a:avLst/>
          </a:prstGeom>
        </p:spPr>
        <p:txBody>
          <a:bodyPr vert="horz" wrap="square" lIns="0" tIns="12065" rIns="0" bIns="0" rtlCol="0">
            <a:spAutoFit/>
          </a:bodyPr>
          <a:lstStyle/>
          <a:p>
            <a:pPr marL="166370" marR="1778635" indent="-167005">
              <a:lnSpc>
                <a:spcPct val="101600"/>
              </a:lnSpc>
              <a:spcBef>
                <a:spcPts val="95"/>
              </a:spcBef>
            </a:pPr>
            <a:r>
              <a:rPr sz="1550" b="1" dirty="0">
                <a:latin typeface="Arial"/>
                <a:cs typeface="Arial"/>
              </a:rPr>
              <a:t>module</a:t>
            </a:r>
            <a:r>
              <a:rPr sz="1550" b="1" spc="55" dirty="0">
                <a:latin typeface="Arial"/>
                <a:cs typeface="Arial"/>
              </a:rPr>
              <a:t> </a:t>
            </a:r>
            <a:r>
              <a:rPr sz="1550" spc="-10" dirty="0">
                <a:latin typeface="Arial"/>
                <a:cs typeface="Arial"/>
              </a:rPr>
              <a:t>counter_sim_bin_N </a:t>
            </a:r>
            <a:r>
              <a:rPr sz="1550" dirty="0">
                <a:latin typeface="Arial"/>
                <a:cs typeface="Arial"/>
              </a:rPr>
              <a:t>#(</a:t>
            </a:r>
            <a:r>
              <a:rPr sz="1550" b="1" dirty="0">
                <a:latin typeface="Arial"/>
                <a:cs typeface="Arial"/>
              </a:rPr>
              <a:t>parameter</a:t>
            </a:r>
            <a:r>
              <a:rPr sz="1550" b="1" spc="30" dirty="0">
                <a:latin typeface="Arial"/>
                <a:cs typeface="Arial"/>
              </a:rPr>
              <a:t> </a:t>
            </a:r>
            <a:r>
              <a:rPr sz="1550" dirty="0">
                <a:latin typeface="Arial"/>
                <a:cs typeface="Arial"/>
              </a:rPr>
              <a:t>N</a:t>
            </a:r>
            <a:r>
              <a:rPr sz="1550" spc="35" dirty="0">
                <a:latin typeface="Arial"/>
                <a:cs typeface="Arial"/>
              </a:rPr>
              <a:t> </a:t>
            </a:r>
            <a:r>
              <a:rPr sz="1550" dirty="0">
                <a:latin typeface="Arial"/>
                <a:cs typeface="Arial"/>
              </a:rPr>
              <a:t>=</a:t>
            </a:r>
            <a:r>
              <a:rPr sz="1550" spc="35" dirty="0">
                <a:latin typeface="Arial"/>
                <a:cs typeface="Arial"/>
              </a:rPr>
              <a:t> </a:t>
            </a:r>
            <a:r>
              <a:rPr sz="1550" spc="-25" dirty="0">
                <a:latin typeface="Arial"/>
                <a:cs typeface="Arial"/>
              </a:rPr>
              <a:t>8)</a:t>
            </a:r>
            <a:endParaRPr sz="1550">
              <a:latin typeface="Arial"/>
              <a:cs typeface="Arial"/>
            </a:endParaRPr>
          </a:p>
          <a:p>
            <a:pPr>
              <a:lnSpc>
                <a:spcPct val="100000"/>
              </a:lnSpc>
              <a:spcBef>
                <a:spcPts val="145"/>
              </a:spcBef>
            </a:pPr>
            <a:endParaRPr sz="1550">
              <a:latin typeface="Arial"/>
              <a:cs typeface="Arial"/>
            </a:endParaRPr>
          </a:p>
          <a:p>
            <a:pPr marL="444500">
              <a:lnSpc>
                <a:spcPct val="100000"/>
              </a:lnSpc>
            </a:pPr>
            <a:r>
              <a:rPr sz="1550" b="1" dirty="0">
                <a:latin typeface="Arial"/>
                <a:cs typeface="Arial"/>
              </a:rPr>
              <a:t>input</a:t>
            </a:r>
            <a:r>
              <a:rPr sz="1550" b="1" spc="470" dirty="0">
                <a:latin typeface="Arial"/>
                <a:cs typeface="Arial"/>
              </a:rPr>
              <a:t> </a:t>
            </a:r>
            <a:r>
              <a:rPr sz="1550" spc="-20" dirty="0">
                <a:latin typeface="Arial"/>
                <a:cs typeface="Arial"/>
              </a:rPr>
              <a:t>clk,</a:t>
            </a:r>
            <a:endParaRPr sz="1550">
              <a:latin typeface="Arial"/>
              <a:cs typeface="Arial"/>
            </a:endParaRPr>
          </a:p>
          <a:p>
            <a:pPr marL="444500" marR="2212340">
              <a:lnSpc>
                <a:spcPct val="101800"/>
              </a:lnSpc>
              <a:spcBef>
                <a:spcPts val="5"/>
              </a:spcBef>
            </a:pPr>
            <a:r>
              <a:rPr sz="1550" b="1" dirty="0">
                <a:latin typeface="Arial"/>
                <a:cs typeface="Arial"/>
              </a:rPr>
              <a:t>input</a:t>
            </a:r>
            <a:r>
              <a:rPr sz="1550" b="1" spc="470" dirty="0">
                <a:latin typeface="Arial"/>
                <a:cs typeface="Arial"/>
              </a:rPr>
              <a:t> </a:t>
            </a:r>
            <a:r>
              <a:rPr sz="1550" spc="-10" dirty="0">
                <a:latin typeface="Arial"/>
                <a:cs typeface="Arial"/>
              </a:rPr>
              <a:t>reset, </a:t>
            </a:r>
            <a:r>
              <a:rPr sz="1550" b="1" dirty="0">
                <a:latin typeface="Arial"/>
                <a:cs typeface="Arial"/>
              </a:rPr>
              <a:t>output</a:t>
            </a:r>
            <a:r>
              <a:rPr sz="1550" b="1" spc="55" dirty="0">
                <a:latin typeface="Arial"/>
                <a:cs typeface="Arial"/>
              </a:rPr>
              <a:t> </a:t>
            </a:r>
            <a:r>
              <a:rPr sz="1550" dirty="0">
                <a:latin typeface="Arial"/>
                <a:cs typeface="Arial"/>
              </a:rPr>
              <a:t>[N-1:0]</a:t>
            </a:r>
            <a:r>
              <a:rPr sz="1550" spc="60" dirty="0">
                <a:latin typeface="Arial"/>
                <a:cs typeface="Arial"/>
              </a:rPr>
              <a:t> </a:t>
            </a:r>
            <a:r>
              <a:rPr sz="1550" spc="-25" dirty="0">
                <a:latin typeface="Arial"/>
                <a:cs typeface="Arial"/>
              </a:rPr>
              <a:t>qd, </a:t>
            </a:r>
            <a:r>
              <a:rPr sz="1550" b="1" dirty="0">
                <a:latin typeface="Arial"/>
                <a:cs typeface="Arial"/>
              </a:rPr>
              <a:t>output</a:t>
            </a:r>
            <a:r>
              <a:rPr sz="1550" b="1" spc="480" dirty="0">
                <a:latin typeface="Arial"/>
                <a:cs typeface="Arial"/>
              </a:rPr>
              <a:t> </a:t>
            </a:r>
            <a:r>
              <a:rPr sz="1550" spc="-20" dirty="0">
                <a:latin typeface="Arial"/>
                <a:cs typeface="Arial"/>
              </a:rPr>
              <a:t>cout</a:t>
            </a:r>
            <a:endParaRPr sz="1550">
              <a:latin typeface="Arial"/>
              <a:cs typeface="Arial"/>
            </a:endParaRPr>
          </a:p>
          <a:p>
            <a:pPr marL="277495">
              <a:lnSpc>
                <a:spcPct val="100000"/>
              </a:lnSpc>
              <a:spcBef>
                <a:spcPts val="35"/>
              </a:spcBef>
            </a:pPr>
            <a:r>
              <a:rPr sz="1550" spc="-25" dirty="0">
                <a:latin typeface="Arial"/>
                <a:cs typeface="Arial"/>
              </a:rPr>
              <a:t>);</a:t>
            </a:r>
            <a:endParaRPr sz="1550">
              <a:latin typeface="Arial"/>
              <a:cs typeface="Arial"/>
            </a:endParaRPr>
          </a:p>
          <a:p>
            <a:pPr marL="277495">
              <a:lnSpc>
                <a:spcPct val="100000"/>
              </a:lnSpc>
              <a:spcBef>
                <a:spcPts val="30"/>
              </a:spcBef>
            </a:pPr>
            <a:r>
              <a:rPr sz="1550" b="1" dirty="0">
                <a:latin typeface="Arial"/>
                <a:cs typeface="Arial"/>
              </a:rPr>
              <a:t>reg</a:t>
            </a:r>
            <a:r>
              <a:rPr sz="1550" b="1" spc="55" dirty="0">
                <a:latin typeface="Arial"/>
                <a:cs typeface="Arial"/>
              </a:rPr>
              <a:t> </a:t>
            </a:r>
            <a:r>
              <a:rPr sz="1550" dirty="0">
                <a:latin typeface="Arial"/>
                <a:cs typeface="Arial"/>
              </a:rPr>
              <a:t>[N-1:0]</a:t>
            </a:r>
            <a:r>
              <a:rPr sz="1550" spc="70" dirty="0">
                <a:latin typeface="Arial"/>
                <a:cs typeface="Arial"/>
              </a:rPr>
              <a:t> </a:t>
            </a:r>
            <a:r>
              <a:rPr sz="1550" spc="-10" dirty="0">
                <a:latin typeface="Arial"/>
                <a:cs typeface="Arial"/>
              </a:rPr>
              <a:t>regN;</a:t>
            </a:r>
            <a:endParaRPr sz="1550">
              <a:latin typeface="Arial"/>
              <a:cs typeface="Arial"/>
            </a:endParaRPr>
          </a:p>
          <a:p>
            <a:pPr marL="277495">
              <a:lnSpc>
                <a:spcPct val="100000"/>
              </a:lnSpc>
              <a:spcBef>
                <a:spcPts val="35"/>
              </a:spcBef>
            </a:pPr>
            <a:r>
              <a:rPr sz="1550" b="1" dirty="0">
                <a:latin typeface="Arial"/>
                <a:cs typeface="Arial"/>
              </a:rPr>
              <a:t>always</a:t>
            </a:r>
            <a:r>
              <a:rPr sz="1550" b="1" spc="60" dirty="0">
                <a:latin typeface="Arial"/>
                <a:cs typeface="Arial"/>
              </a:rPr>
              <a:t> </a:t>
            </a:r>
            <a:r>
              <a:rPr sz="1550" dirty="0">
                <a:latin typeface="Arial"/>
                <a:cs typeface="Arial"/>
              </a:rPr>
              <a:t>@(</a:t>
            </a:r>
            <a:r>
              <a:rPr sz="1550" b="1" dirty="0">
                <a:latin typeface="Arial"/>
                <a:cs typeface="Arial"/>
              </a:rPr>
              <a:t>posedge</a:t>
            </a:r>
            <a:r>
              <a:rPr sz="1550" b="1" spc="55" dirty="0">
                <a:latin typeface="Arial"/>
                <a:cs typeface="Arial"/>
              </a:rPr>
              <a:t> </a:t>
            </a:r>
            <a:r>
              <a:rPr sz="1550" spc="-20" dirty="0">
                <a:latin typeface="Arial"/>
                <a:cs typeface="Arial"/>
              </a:rPr>
              <a:t>clk)</a:t>
            </a:r>
            <a:endParaRPr sz="1550">
              <a:latin typeface="Arial"/>
              <a:cs typeface="Arial"/>
            </a:endParaRPr>
          </a:p>
          <a:p>
            <a:pPr marL="501015">
              <a:lnSpc>
                <a:spcPct val="100000"/>
              </a:lnSpc>
              <a:spcBef>
                <a:spcPts val="35"/>
              </a:spcBef>
            </a:pPr>
            <a:r>
              <a:rPr sz="1550" b="1" spc="-10" dirty="0">
                <a:latin typeface="Arial"/>
                <a:cs typeface="Arial"/>
              </a:rPr>
              <a:t>if</a:t>
            </a:r>
            <a:r>
              <a:rPr sz="1550" spc="-10" dirty="0">
                <a:latin typeface="Arial"/>
                <a:cs typeface="Arial"/>
              </a:rPr>
              <a:t>(reset)</a:t>
            </a:r>
            <a:endParaRPr sz="1550">
              <a:latin typeface="Arial"/>
              <a:cs typeface="Arial"/>
            </a:endParaRPr>
          </a:p>
          <a:p>
            <a:pPr marL="779145">
              <a:lnSpc>
                <a:spcPct val="100000"/>
              </a:lnSpc>
              <a:spcBef>
                <a:spcPts val="30"/>
              </a:spcBef>
            </a:pPr>
            <a:r>
              <a:rPr sz="1550" dirty="0">
                <a:latin typeface="Arial"/>
                <a:cs typeface="Arial"/>
              </a:rPr>
              <a:t>regN</a:t>
            </a:r>
            <a:r>
              <a:rPr sz="1550" spc="30" dirty="0">
                <a:latin typeface="Arial"/>
                <a:cs typeface="Arial"/>
              </a:rPr>
              <a:t> </a:t>
            </a:r>
            <a:r>
              <a:rPr sz="1550" dirty="0">
                <a:latin typeface="Arial"/>
                <a:cs typeface="Arial"/>
              </a:rPr>
              <a:t>&lt;=</a:t>
            </a:r>
            <a:r>
              <a:rPr sz="1550" spc="35" dirty="0">
                <a:latin typeface="Arial"/>
                <a:cs typeface="Arial"/>
              </a:rPr>
              <a:t> </a:t>
            </a:r>
            <a:r>
              <a:rPr sz="1550" spc="-35" dirty="0">
                <a:latin typeface="Arial"/>
                <a:cs typeface="Arial"/>
              </a:rPr>
              <a:t>0;</a:t>
            </a:r>
            <a:endParaRPr sz="1550">
              <a:latin typeface="Arial"/>
              <a:cs typeface="Arial"/>
            </a:endParaRPr>
          </a:p>
          <a:p>
            <a:pPr marL="501015">
              <a:lnSpc>
                <a:spcPct val="100000"/>
              </a:lnSpc>
              <a:spcBef>
                <a:spcPts val="35"/>
              </a:spcBef>
            </a:pPr>
            <a:r>
              <a:rPr sz="1550" b="1" spc="-20" dirty="0">
                <a:latin typeface="Arial"/>
                <a:cs typeface="Arial"/>
              </a:rPr>
              <a:t>else</a:t>
            </a:r>
            <a:endParaRPr sz="1550">
              <a:latin typeface="Arial"/>
              <a:cs typeface="Arial"/>
            </a:endParaRPr>
          </a:p>
          <a:p>
            <a:pPr marL="779145">
              <a:lnSpc>
                <a:spcPct val="100000"/>
              </a:lnSpc>
              <a:spcBef>
                <a:spcPts val="30"/>
              </a:spcBef>
            </a:pPr>
            <a:r>
              <a:rPr sz="1550" dirty="0">
                <a:latin typeface="Arial"/>
                <a:cs typeface="Arial"/>
              </a:rPr>
              <a:t>regN</a:t>
            </a:r>
            <a:r>
              <a:rPr sz="1550" spc="20" dirty="0">
                <a:latin typeface="Arial"/>
                <a:cs typeface="Arial"/>
              </a:rPr>
              <a:t> </a:t>
            </a:r>
            <a:r>
              <a:rPr sz="1550" dirty="0">
                <a:latin typeface="Arial"/>
                <a:cs typeface="Arial"/>
              </a:rPr>
              <a:t>&lt;=</a:t>
            </a:r>
            <a:r>
              <a:rPr sz="1550" spc="25" dirty="0">
                <a:latin typeface="Arial"/>
                <a:cs typeface="Arial"/>
              </a:rPr>
              <a:t> </a:t>
            </a:r>
            <a:r>
              <a:rPr sz="1550" dirty="0">
                <a:latin typeface="Arial"/>
                <a:cs typeface="Arial"/>
              </a:rPr>
              <a:t>regN</a:t>
            </a:r>
            <a:r>
              <a:rPr sz="1550" spc="20" dirty="0">
                <a:latin typeface="Arial"/>
                <a:cs typeface="Arial"/>
              </a:rPr>
              <a:t> </a:t>
            </a:r>
            <a:r>
              <a:rPr sz="1550" dirty="0">
                <a:latin typeface="Arial"/>
                <a:cs typeface="Arial"/>
              </a:rPr>
              <a:t>+</a:t>
            </a:r>
            <a:r>
              <a:rPr sz="1550" spc="25" dirty="0">
                <a:latin typeface="Arial"/>
                <a:cs typeface="Arial"/>
              </a:rPr>
              <a:t> </a:t>
            </a:r>
            <a:r>
              <a:rPr sz="1550" spc="-25" dirty="0">
                <a:latin typeface="Arial"/>
                <a:cs typeface="Arial"/>
              </a:rPr>
              <a:t>1;</a:t>
            </a:r>
            <a:endParaRPr sz="1550">
              <a:latin typeface="Arial"/>
              <a:cs typeface="Arial"/>
            </a:endParaRPr>
          </a:p>
          <a:p>
            <a:pPr marL="501015">
              <a:lnSpc>
                <a:spcPct val="100000"/>
              </a:lnSpc>
              <a:spcBef>
                <a:spcPts val="40"/>
              </a:spcBef>
            </a:pPr>
            <a:r>
              <a:rPr sz="1550" b="1" dirty="0">
                <a:latin typeface="Arial"/>
                <a:cs typeface="Arial"/>
              </a:rPr>
              <a:t>assign</a:t>
            </a:r>
            <a:r>
              <a:rPr sz="1550" b="1" spc="20" dirty="0">
                <a:latin typeface="Arial"/>
                <a:cs typeface="Arial"/>
              </a:rPr>
              <a:t> </a:t>
            </a:r>
            <a:r>
              <a:rPr sz="1550" dirty="0">
                <a:latin typeface="Arial"/>
                <a:cs typeface="Arial"/>
              </a:rPr>
              <a:t>qd</a:t>
            </a:r>
            <a:r>
              <a:rPr sz="1550" spc="35" dirty="0">
                <a:latin typeface="Arial"/>
                <a:cs typeface="Arial"/>
              </a:rPr>
              <a:t> </a:t>
            </a:r>
            <a:r>
              <a:rPr sz="1550" dirty="0">
                <a:latin typeface="Arial"/>
                <a:cs typeface="Arial"/>
              </a:rPr>
              <a:t>=</a:t>
            </a:r>
            <a:r>
              <a:rPr sz="1550" spc="25" dirty="0">
                <a:latin typeface="Arial"/>
                <a:cs typeface="Arial"/>
              </a:rPr>
              <a:t> </a:t>
            </a:r>
            <a:r>
              <a:rPr sz="1550" spc="-10" dirty="0">
                <a:latin typeface="Arial"/>
                <a:cs typeface="Arial"/>
              </a:rPr>
              <a:t>regN;</a:t>
            </a:r>
            <a:endParaRPr sz="1550">
              <a:latin typeface="Arial"/>
              <a:cs typeface="Arial"/>
            </a:endParaRPr>
          </a:p>
          <a:p>
            <a:pPr marL="501015">
              <a:lnSpc>
                <a:spcPct val="100000"/>
              </a:lnSpc>
              <a:spcBef>
                <a:spcPts val="35"/>
              </a:spcBef>
            </a:pPr>
            <a:r>
              <a:rPr sz="1550" b="1" dirty="0">
                <a:latin typeface="Arial"/>
                <a:cs typeface="Arial"/>
              </a:rPr>
              <a:t>assign</a:t>
            </a:r>
            <a:r>
              <a:rPr sz="1550" b="1" spc="20" dirty="0">
                <a:latin typeface="Arial"/>
                <a:cs typeface="Arial"/>
              </a:rPr>
              <a:t> </a:t>
            </a:r>
            <a:r>
              <a:rPr sz="1550" dirty="0">
                <a:latin typeface="Arial"/>
                <a:cs typeface="Arial"/>
              </a:rPr>
              <a:t>cout</a:t>
            </a:r>
            <a:r>
              <a:rPr sz="1550" spc="30"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(regN</a:t>
            </a:r>
            <a:r>
              <a:rPr sz="1550" spc="25" dirty="0">
                <a:latin typeface="Arial"/>
                <a:cs typeface="Arial"/>
              </a:rPr>
              <a:t> </a:t>
            </a:r>
            <a:r>
              <a:rPr sz="1550" dirty="0">
                <a:latin typeface="Arial"/>
                <a:cs typeface="Arial"/>
              </a:rPr>
              <a:t>==</a:t>
            </a:r>
            <a:r>
              <a:rPr sz="1550" spc="30" dirty="0">
                <a:latin typeface="Arial"/>
                <a:cs typeface="Arial"/>
              </a:rPr>
              <a:t> </a:t>
            </a:r>
            <a:r>
              <a:rPr sz="1550" dirty="0">
                <a:latin typeface="Arial"/>
                <a:cs typeface="Arial"/>
              </a:rPr>
              <a:t>2**N-</a:t>
            </a:r>
            <a:r>
              <a:rPr sz="1550" spc="-10" dirty="0">
                <a:latin typeface="Arial"/>
                <a:cs typeface="Arial"/>
              </a:rPr>
              <a:t>1)?1’b1:1’b0;</a:t>
            </a:r>
            <a:endParaRPr sz="1550">
              <a:latin typeface="Arial"/>
              <a:cs typeface="Arial"/>
            </a:endParaRPr>
          </a:p>
          <a:p>
            <a:pPr marL="55244">
              <a:lnSpc>
                <a:spcPct val="100000"/>
              </a:lnSpc>
              <a:spcBef>
                <a:spcPts val="30"/>
              </a:spcBef>
            </a:pPr>
            <a:r>
              <a:rPr sz="1550" b="1" spc="-10" dirty="0">
                <a:latin typeface="Arial"/>
                <a:cs typeface="Arial"/>
              </a:rPr>
              <a:t>endmodule</a:t>
            </a:r>
            <a:endParaRPr sz="1550">
              <a:latin typeface="Arial"/>
              <a:cs typeface="Arial"/>
            </a:endParaRPr>
          </a:p>
          <a:p>
            <a:pPr marL="687070">
              <a:lnSpc>
                <a:spcPct val="100000"/>
              </a:lnSpc>
              <a:spcBef>
                <a:spcPts val="810"/>
              </a:spcBef>
            </a:pPr>
            <a:r>
              <a:rPr sz="1400" spc="-15" dirty="0">
                <a:latin typeface="微软雅黑"/>
                <a:cs typeface="微软雅黑"/>
              </a:rPr>
              <a:t>例 </a:t>
            </a:r>
            <a:r>
              <a:rPr sz="1400" dirty="0">
                <a:latin typeface="Arial"/>
                <a:cs typeface="Arial"/>
              </a:rPr>
              <a:t>4.13</a:t>
            </a:r>
            <a:r>
              <a:rPr sz="1400" spc="430" dirty="0">
                <a:latin typeface="Arial"/>
                <a:cs typeface="Arial"/>
              </a:rPr>
              <a:t> </a:t>
            </a:r>
            <a:r>
              <a:rPr sz="1400" spc="-10" dirty="0">
                <a:latin typeface="微软雅黑"/>
                <a:cs typeface="微软雅黑"/>
              </a:rPr>
              <a:t>简单的N</a:t>
            </a:r>
            <a:r>
              <a:rPr sz="1400" spc="-15" dirty="0">
                <a:latin typeface="微软雅黑"/>
                <a:cs typeface="微软雅黑"/>
              </a:rPr>
              <a:t>位二进制计数器描述</a:t>
            </a:r>
            <a:endParaRPr sz="1400">
              <a:latin typeface="微软雅黑"/>
              <a:cs typeface="微软雅黑"/>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75865" y="1972309"/>
            <a:ext cx="4706620" cy="3392917"/>
          </a:xfrm>
          <a:prstGeom prst="rect">
            <a:avLst/>
          </a:prstGeom>
        </p:spPr>
        <p:txBody>
          <a:bodyPr vert="horz" wrap="square" lIns="0" tIns="15875" rIns="0" bIns="0" rtlCol="0">
            <a:spAutoFit/>
          </a:bodyPr>
          <a:lstStyle/>
          <a:p>
            <a:pPr marL="12700">
              <a:lnSpc>
                <a:spcPct val="100000"/>
              </a:lnSpc>
              <a:spcBef>
                <a:spcPts val="125"/>
              </a:spcBef>
            </a:pPr>
            <a:r>
              <a:rPr sz="1550" b="1" spc="-10" dirty="0">
                <a:solidFill>
                  <a:srgbClr val="FF0000"/>
                </a:solidFill>
                <a:latin typeface="微软雅黑"/>
                <a:cs typeface="微软雅黑"/>
              </a:rPr>
              <a:t>工作过程：</a:t>
            </a:r>
            <a:endParaRPr sz="1550" dirty="0">
              <a:latin typeface="微软雅黑"/>
              <a:cs typeface="微软雅黑"/>
            </a:endParaRPr>
          </a:p>
          <a:p>
            <a:pPr marL="262890" indent="-250190">
              <a:lnSpc>
                <a:spcPct val="100000"/>
              </a:lnSpc>
              <a:spcBef>
                <a:spcPts val="1935"/>
              </a:spcBef>
              <a:buFont typeface="Wingdings"/>
              <a:buChar char=""/>
              <a:tabLst>
                <a:tab pos="262890" algn="l"/>
              </a:tabLst>
            </a:pPr>
            <a:r>
              <a:rPr sz="1550" dirty="0">
                <a:latin typeface="Arial"/>
                <a:cs typeface="Arial"/>
              </a:rPr>
              <a:t>1.</a:t>
            </a:r>
            <a:r>
              <a:rPr sz="1550" spc="60" dirty="0">
                <a:latin typeface="微软雅黑"/>
                <a:cs typeface="微软雅黑"/>
              </a:rPr>
              <a:t>当复位端</a:t>
            </a:r>
            <a:r>
              <a:rPr sz="1550" spc="60" dirty="0">
                <a:latin typeface="Arial"/>
                <a:cs typeface="Arial"/>
              </a:rPr>
              <a:t>reset</a:t>
            </a:r>
            <a:r>
              <a:rPr sz="1550" spc="60" dirty="0">
                <a:latin typeface="微软雅黑"/>
                <a:cs typeface="微软雅黑"/>
              </a:rPr>
              <a:t>为高电平时，在时钟</a:t>
            </a:r>
            <a:r>
              <a:rPr sz="1550" spc="50" dirty="0">
                <a:latin typeface="Arial"/>
                <a:cs typeface="Arial"/>
              </a:rPr>
              <a:t>clk</a:t>
            </a:r>
            <a:r>
              <a:rPr sz="1550" spc="45" dirty="0">
                <a:latin typeface="微软雅黑"/>
                <a:cs typeface="微软雅黑"/>
              </a:rPr>
              <a:t>的上升沿</a:t>
            </a:r>
            <a:endParaRPr sz="1550" dirty="0">
              <a:latin typeface="微软雅黑"/>
              <a:cs typeface="微软雅黑"/>
            </a:endParaRPr>
          </a:p>
          <a:p>
            <a:pPr marL="262890">
              <a:lnSpc>
                <a:spcPct val="100000"/>
              </a:lnSpc>
              <a:spcBef>
                <a:spcPts val="1925"/>
              </a:spcBef>
            </a:pPr>
            <a:r>
              <a:rPr sz="1550" spc="-5" dirty="0">
                <a:latin typeface="微软雅黑"/>
                <a:cs typeface="微软雅黑"/>
              </a:rPr>
              <a:t>，完成对计数器的复位；</a:t>
            </a:r>
            <a:endParaRPr sz="1550" dirty="0">
              <a:latin typeface="微软雅黑"/>
              <a:cs typeface="微软雅黑"/>
            </a:endParaRPr>
          </a:p>
          <a:p>
            <a:pPr marL="262890" marR="5080" indent="-250825" algn="just">
              <a:lnSpc>
                <a:spcPct val="152700"/>
              </a:lnSpc>
              <a:spcBef>
                <a:spcPts val="235"/>
              </a:spcBef>
              <a:buFont typeface="Wingdings"/>
              <a:buChar char=""/>
              <a:tabLst>
                <a:tab pos="262890" algn="l"/>
              </a:tabLst>
            </a:pPr>
            <a:r>
              <a:rPr sz="1550" dirty="0">
                <a:latin typeface="Arial"/>
                <a:cs typeface="Arial"/>
              </a:rPr>
              <a:t>2.</a:t>
            </a:r>
            <a:r>
              <a:rPr sz="1550" spc="-5" dirty="0">
                <a:latin typeface="微软雅黑"/>
                <a:cs typeface="微软雅黑"/>
              </a:rPr>
              <a:t>在复位端为低电平后，计数器从下一个时钟上升</a:t>
            </a:r>
            <a:r>
              <a:rPr sz="1550" spc="65" dirty="0">
                <a:latin typeface="微软雅黑"/>
                <a:cs typeface="微软雅黑"/>
              </a:rPr>
              <a:t>沿从</a:t>
            </a:r>
            <a:r>
              <a:rPr sz="1550" spc="60" dirty="0">
                <a:latin typeface="Arial"/>
                <a:cs typeface="Arial"/>
              </a:rPr>
              <a:t>0000</a:t>
            </a:r>
            <a:r>
              <a:rPr sz="1550" spc="70" dirty="0">
                <a:latin typeface="微软雅黑"/>
                <a:cs typeface="微软雅黑"/>
              </a:rPr>
              <a:t>开始计数，直至计满</a:t>
            </a:r>
            <a:r>
              <a:rPr sz="1550" spc="-35" dirty="0">
                <a:latin typeface="Arial"/>
                <a:cs typeface="Arial"/>
              </a:rPr>
              <a:t>1111</a:t>
            </a:r>
            <a:r>
              <a:rPr lang="zh-CN" altLang="en-US" sz="1550" spc="-35" dirty="0">
                <a:latin typeface="Arial"/>
                <a:cs typeface="Arial"/>
              </a:rPr>
              <a:t>，</a:t>
            </a:r>
            <a:r>
              <a:rPr lang="zh-CN" altLang="en-US" sz="1550" spc="50" dirty="0">
                <a:latin typeface="微软雅黑"/>
                <a:cs typeface="微软雅黑"/>
              </a:rPr>
              <a:t>此时计数器的进位端</a:t>
            </a:r>
            <a:r>
              <a:rPr lang="en-US" altLang="zh-CN" sz="1550" spc="50" dirty="0" err="1">
                <a:latin typeface="Arial"/>
                <a:cs typeface="Arial"/>
              </a:rPr>
              <a:t>cout</a:t>
            </a:r>
            <a:r>
              <a:rPr lang="zh-CN" altLang="en-US" sz="1550" spc="55" dirty="0">
                <a:latin typeface="微软雅黑"/>
                <a:cs typeface="微软雅黑"/>
              </a:rPr>
              <a:t>输入一个</a:t>
            </a:r>
            <a:r>
              <a:rPr lang="en-US" altLang="zh-CN" sz="1550" spc="50" dirty="0" err="1">
                <a:latin typeface="Arial"/>
                <a:cs typeface="Arial"/>
              </a:rPr>
              <a:t>clk</a:t>
            </a:r>
            <a:r>
              <a:rPr lang="zh-CN" altLang="en-US" sz="1550" spc="30" dirty="0">
                <a:latin typeface="微软雅黑"/>
                <a:cs typeface="微软雅黑"/>
              </a:rPr>
              <a:t>周期</a:t>
            </a:r>
            <a:r>
              <a:rPr lang="zh-CN" altLang="en-US" sz="1550" spc="-10" dirty="0">
                <a:latin typeface="微软雅黑"/>
                <a:cs typeface="微软雅黑"/>
              </a:rPr>
              <a:t>的高电平，</a:t>
            </a:r>
            <a:r>
              <a:rPr sz="1550" spc="60" dirty="0">
                <a:latin typeface="微软雅黑"/>
                <a:cs typeface="微软雅黑"/>
              </a:rPr>
              <a:t>再</a:t>
            </a:r>
            <a:r>
              <a:rPr lang="zh-CN" altLang="en-US" sz="1550" spc="-5" dirty="0">
                <a:latin typeface="微软雅黑"/>
                <a:cs typeface="微软雅黑"/>
              </a:rPr>
              <a:t>下一个时钟上升</a:t>
            </a:r>
            <a:r>
              <a:rPr lang="zh-CN" altLang="en-US" sz="1550" spc="65" dirty="0">
                <a:latin typeface="微软雅黑"/>
                <a:cs typeface="微软雅黑"/>
              </a:rPr>
              <a:t>沿计数</a:t>
            </a:r>
            <a:r>
              <a:rPr sz="1550" spc="60" dirty="0" err="1">
                <a:latin typeface="微软雅黑"/>
                <a:cs typeface="微软雅黑"/>
              </a:rPr>
              <a:t>溢出为</a:t>
            </a:r>
            <a:r>
              <a:rPr sz="1550" spc="20" dirty="0">
                <a:latin typeface="微软雅黑"/>
                <a:cs typeface="微软雅黑"/>
              </a:rPr>
              <a:t> </a:t>
            </a:r>
            <a:r>
              <a:rPr sz="1550" spc="50" dirty="0">
                <a:latin typeface="Arial"/>
                <a:cs typeface="Arial"/>
              </a:rPr>
              <a:t>0000</a:t>
            </a:r>
            <a:r>
              <a:rPr sz="1550" spc="50" dirty="0">
                <a:latin typeface="微软雅黑"/>
                <a:cs typeface="微软雅黑"/>
              </a:rPr>
              <a:t>，</a:t>
            </a:r>
            <a:r>
              <a:rPr sz="1550" spc="-10" dirty="0">
                <a:latin typeface="微软雅黑"/>
                <a:cs typeface="微软雅黑"/>
              </a:rPr>
              <a:t>；</a:t>
            </a:r>
            <a:endParaRPr sz="1550" dirty="0">
              <a:latin typeface="微软雅黑"/>
              <a:cs typeface="微软雅黑"/>
            </a:endParaRPr>
          </a:p>
          <a:p>
            <a:pPr marL="262890" marR="12065" indent="-250825" algn="just">
              <a:lnSpc>
                <a:spcPts val="2840"/>
              </a:lnSpc>
              <a:spcBef>
                <a:spcPts val="110"/>
              </a:spcBef>
              <a:buFont typeface="Wingdings"/>
              <a:buChar char=""/>
              <a:tabLst>
                <a:tab pos="262890" algn="l"/>
              </a:tabLst>
            </a:pPr>
            <a:r>
              <a:rPr sz="1550" dirty="0">
                <a:latin typeface="Arial"/>
                <a:cs typeface="Arial"/>
              </a:rPr>
              <a:t>3.</a:t>
            </a:r>
            <a:r>
              <a:rPr sz="1550" dirty="0">
                <a:latin typeface="微软雅黑"/>
                <a:cs typeface="微软雅黑"/>
              </a:rPr>
              <a:t>同时计数器从并行输出端口</a:t>
            </a:r>
            <a:r>
              <a:rPr sz="1550" dirty="0">
                <a:latin typeface="Arial"/>
                <a:cs typeface="Arial"/>
              </a:rPr>
              <a:t>qd</a:t>
            </a:r>
            <a:r>
              <a:rPr sz="1550" spc="-10" dirty="0">
                <a:latin typeface="微软雅黑"/>
                <a:cs typeface="微软雅黑"/>
              </a:rPr>
              <a:t>同步输出当前计数</a:t>
            </a:r>
            <a:r>
              <a:rPr sz="1550" spc="-20" dirty="0">
                <a:latin typeface="微软雅黑"/>
                <a:cs typeface="微软雅黑"/>
              </a:rPr>
              <a:t>器的值</a:t>
            </a:r>
            <a:endParaRPr sz="1550" dirty="0">
              <a:latin typeface="微软雅黑"/>
              <a:cs typeface="微软雅黑"/>
            </a:endParaRPr>
          </a:p>
        </p:txBody>
      </p:sp>
      <p:pic>
        <p:nvPicPr>
          <p:cNvPr id="3" name="object 3"/>
          <p:cNvPicPr/>
          <p:nvPr/>
        </p:nvPicPr>
        <p:blipFill>
          <a:blip r:embed="rId2" cstate="print"/>
          <a:stretch>
            <a:fillRect/>
          </a:stretch>
        </p:blipFill>
        <p:spPr>
          <a:xfrm>
            <a:off x="604913" y="2506979"/>
            <a:ext cx="4511040" cy="2279904"/>
          </a:xfrm>
          <a:prstGeom prst="rect">
            <a:avLst/>
          </a:prstGeom>
        </p:spPr>
      </p:pic>
      <p:sp>
        <p:nvSpPr>
          <p:cNvPr id="4" name="object 4"/>
          <p:cNvSpPr txBox="1"/>
          <p:nvPr/>
        </p:nvSpPr>
        <p:spPr>
          <a:xfrm>
            <a:off x="1197997" y="4876291"/>
            <a:ext cx="3373754"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微软雅黑"/>
                <a:cs typeface="微软雅黑"/>
              </a:rPr>
              <a:t>例 </a:t>
            </a:r>
            <a:r>
              <a:rPr sz="1400" spc="-10" dirty="0">
                <a:latin typeface="Arial"/>
                <a:cs typeface="Arial"/>
              </a:rPr>
              <a:t>4.17</a:t>
            </a:r>
            <a:r>
              <a:rPr sz="1400" dirty="0">
                <a:latin typeface="微软雅黑"/>
                <a:cs typeface="微软雅黑"/>
              </a:rPr>
              <a:t>简单</a:t>
            </a:r>
            <a:r>
              <a:rPr sz="1400" spc="-10" dirty="0">
                <a:latin typeface="Arial"/>
                <a:cs typeface="Arial"/>
              </a:rPr>
              <a:t>8</a:t>
            </a:r>
            <a:r>
              <a:rPr sz="1400" spc="-5" dirty="0">
                <a:latin typeface="微软雅黑"/>
                <a:cs typeface="微软雅黑"/>
              </a:rPr>
              <a:t>位二进制计数器的仿真时序图</a:t>
            </a:r>
            <a:endParaRPr sz="1400">
              <a:latin typeface="微软雅黑"/>
              <a:cs typeface="微软雅黑"/>
            </a:endParaRPr>
          </a:p>
        </p:txBody>
      </p:sp>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5" name="object 5"/>
          <p:cNvSpPr txBox="1">
            <a:spLocks noGrp="1"/>
          </p:cNvSpPr>
          <p:nvPr>
            <p:ph type="title"/>
          </p:nvPr>
        </p:nvSpPr>
        <p:spPr>
          <a:xfrm>
            <a:off x="500767" y="1102868"/>
            <a:ext cx="4405630" cy="480059"/>
          </a:xfrm>
          <a:prstGeom prst="rect">
            <a:avLst/>
          </a:prstGeom>
        </p:spPr>
        <p:txBody>
          <a:bodyPr vert="horz" wrap="square" lIns="0" tIns="16510" rIns="0" bIns="0" rtlCol="0">
            <a:spAutoFit/>
          </a:bodyPr>
          <a:lstStyle/>
          <a:p>
            <a:pPr marL="12700">
              <a:lnSpc>
                <a:spcPct val="100000"/>
              </a:lnSpc>
              <a:spcBef>
                <a:spcPts val="130"/>
              </a:spcBef>
            </a:pPr>
            <a:r>
              <a:rPr sz="2950" dirty="0">
                <a:solidFill>
                  <a:srgbClr val="000000"/>
                </a:solidFill>
                <a:latin typeface="Arial"/>
                <a:cs typeface="Arial"/>
              </a:rPr>
              <a:t>4.4.1</a:t>
            </a:r>
            <a:r>
              <a:rPr sz="2950" spc="484" dirty="0">
                <a:solidFill>
                  <a:srgbClr val="000000"/>
                </a:solidFill>
                <a:latin typeface="Arial"/>
                <a:cs typeface="Arial"/>
              </a:rPr>
              <a:t> </a:t>
            </a:r>
            <a:r>
              <a:rPr sz="2950" spc="-10" dirty="0">
                <a:solidFill>
                  <a:srgbClr val="000000"/>
                </a:solidFill>
              </a:rPr>
              <a:t>简单的二进制计数器</a:t>
            </a:r>
            <a:endParaRPr sz="2950">
              <a:latin typeface="Arial"/>
              <a:cs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3867150" cy="453390"/>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4.4.2</a:t>
            </a:r>
            <a:r>
              <a:rPr dirty="0">
                <a:latin typeface="Arial"/>
                <a:cs typeface="Arial"/>
              </a:rPr>
              <a:t>	</a:t>
            </a:r>
            <a:r>
              <a:rPr spc="-10" dirty="0"/>
              <a:t>通用二进制计数器</a:t>
            </a:r>
          </a:p>
        </p:txBody>
      </p:sp>
      <p:sp>
        <p:nvSpPr>
          <p:cNvPr id="3" name="object 3"/>
          <p:cNvSpPr/>
          <p:nvPr/>
        </p:nvSpPr>
        <p:spPr>
          <a:xfrm>
            <a:off x="5335409" y="1716023"/>
            <a:ext cx="4828540" cy="1572895"/>
          </a:xfrm>
          <a:custGeom>
            <a:avLst/>
            <a:gdLst/>
            <a:ahLst/>
            <a:cxnLst/>
            <a:rect l="l" t="t" r="r" b="b"/>
            <a:pathLst>
              <a:path w="4828540" h="1572895">
                <a:moveTo>
                  <a:pt x="4828032" y="1570481"/>
                </a:moveTo>
                <a:lnTo>
                  <a:pt x="4828032" y="1523"/>
                </a:lnTo>
                <a:lnTo>
                  <a:pt x="4825746" y="0"/>
                </a:lnTo>
                <a:lnTo>
                  <a:pt x="1523" y="0"/>
                </a:lnTo>
                <a:lnTo>
                  <a:pt x="0" y="1524"/>
                </a:lnTo>
                <a:lnTo>
                  <a:pt x="0" y="1570482"/>
                </a:lnTo>
                <a:lnTo>
                  <a:pt x="1524" y="1572768"/>
                </a:lnTo>
                <a:lnTo>
                  <a:pt x="3809" y="1572768"/>
                </a:lnTo>
                <a:lnTo>
                  <a:pt x="3810" y="8382"/>
                </a:lnTo>
                <a:lnTo>
                  <a:pt x="8382" y="3810"/>
                </a:lnTo>
                <a:lnTo>
                  <a:pt x="8382" y="8382"/>
                </a:lnTo>
                <a:lnTo>
                  <a:pt x="4819649" y="8381"/>
                </a:lnTo>
                <a:lnTo>
                  <a:pt x="4819649" y="3809"/>
                </a:lnTo>
                <a:lnTo>
                  <a:pt x="4823460" y="8381"/>
                </a:lnTo>
                <a:lnTo>
                  <a:pt x="4823460" y="1572767"/>
                </a:lnTo>
                <a:lnTo>
                  <a:pt x="4825746" y="1572767"/>
                </a:lnTo>
                <a:lnTo>
                  <a:pt x="4828032" y="1570481"/>
                </a:lnTo>
                <a:close/>
              </a:path>
              <a:path w="4828540" h="1572895">
                <a:moveTo>
                  <a:pt x="8382" y="8382"/>
                </a:moveTo>
                <a:lnTo>
                  <a:pt x="8382" y="3810"/>
                </a:lnTo>
                <a:lnTo>
                  <a:pt x="3810" y="8382"/>
                </a:lnTo>
                <a:lnTo>
                  <a:pt x="8382" y="8382"/>
                </a:lnTo>
                <a:close/>
              </a:path>
              <a:path w="4828540" h="1572895">
                <a:moveTo>
                  <a:pt x="8382" y="1564386"/>
                </a:moveTo>
                <a:lnTo>
                  <a:pt x="8382" y="8382"/>
                </a:lnTo>
                <a:lnTo>
                  <a:pt x="3810" y="8382"/>
                </a:lnTo>
                <a:lnTo>
                  <a:pt x="3810" y="1564386"/>
                </a:lnTo>
                <a:lnTo>
                  <a:pt x="8382" y="1564386"/>
                </a:lnTo>
                <a:close/>
              </a:path>
              <a:path w="4828540" h="1572895">
                <a:moveTo>
                  <a:pt x="4823460" y="1564385"/>
                </a:moveTo>
                <a:lnTo>
                  <a:pt x="3810" y="1564386"/>
                </a:lnTo>
                <a:lnTo>
                  <a:pt x="8382" y="1568196"/>
                </a:lnTo>
                <a:lnTo>
                  <a:pt x="8382" y="1572768"/>
                </a:lnTo>
                <a:lnTo>
                  <a:pt x="4819649" y="1572767"/>
                </a:lnTo>
                <a:lnTo>
                  <a:pt x="4819649" y="1568196"/>
                </a:lnTo>
                <a:lnTo>
                  <a:pt x="4823460" y="1564385"/>
                </a:lnTo>
                <a:close/>
              </a:path>
              <a:path w="4828540" h="1572895">
                <a:moveTo>
                  <a:pt x="8382" y="1572768"/>
                </a:moveTo>
                <a:lnTo>
                  <a:pt x="8382" y="1568196"/>
                </a:lnTo>
                <a:lnTo>
                  <a:pt x="3810" y="1564386"/>
                </a:lnTo>
                <a:lnTo>
                  <a:pt x="3809" y="1572768"/>
                </a:lnTo>
                <a:lnTo>
                  <a:pt x="8382" y="1572768"/>
                </a:lnTo>
                <a:close/>
              </a:path>
              <a:path w="4828540" h="1572895">
                <a:moveTo>
                  <a:pt x="4823460" y="8381"/>
                </a:moveTo>
                <a:lnTo>
                  <a:pt x="4819649" y="3809"/>
                </a:lnTo>
                <a:lnTo>
                  <a:pt x="4819649" y="8381"/>
                </a:lnTo>
                <a:lnTo>
                  <a:pt x="4823460" y="8381"/>
                </a:lnTo>
                <a:close/>
              </a:path>
              <a:path w="4828540" h="1572895">
                <a:moveTo>
                  <a:pt x="4823460" y="1564385"/>
                </a:moveTo>
                <a:lnTo>
                  <a:pt x="4823460" y="8381"/>
                </a:lnTo>
                <a:lnTo>
                  <a:pt x="4819649" y="8381"/>
                </a:lnTo>
                <a:lnTo>
                  <a:pt x="4819649" y="1564385"/>
                </a:lnTo>
                <a:lnTo>
                  <a:pt x="4823460" y="1564385"/>
                </a:lnTo>
                <a:close/>
              </a:path>
              <a:path w="4828540" h="1572895">
                <a:moveTo>
                  <a:pt x="4823460" y="1572767"/>
                </a:moveTo>
                <a:lnTo>
                  <a:pt x="4823460" y="1564385"/>
                </a:lnTo>
                <a:lnTo>
                  <a:pt x="4819649" y="1568196"/>
                </a:lnTo>
                <a:lnTo>
                  <a:pt x="4819649" y="1572767"/>
                </a:lnTo>
                <a:lnTo>
                  <a:pt x="4823460" y="1572767"/>
                </a:lnTo>
                <a:close/>
              </a:path>
            </a:pathLst>
          </a:custGeom>
          <a:solidFill>
            <a:srgbClr val="B10737"/>
          </a:solidFill>
        </p:spPr>
        <p:txBody>
          <a:bodyPr wrap="square" lIns="0" tIns="0" rIns="0" bIns="0" rtlCol="0"/>
          <a:lstStyle/>
          <a:p>
            <a:endParaRPr/>
          </a:p>
        </p:txBody>
      </p:sp>
      <p:sp>
        <p:nvSpPr>
          <p:cNvPr id="4" name="object 4"/>
          <p:cNvSpPr txBox="1"/>
          <p:nvPr/>
        </p:nvSpPr>
        <p:spPr>
          <a:xfrm>
            <a:off x="5406523" y="1607010"/>
            <a:ext cx="4686300" cy="1628139"/>
          </a:xfrm>
          <a:prstGeom prst="rect">
            <a:avLst/>
          </a:prstGeom>
        </p:spPr>
        <p:txBody>
          <a:bodyPr vert="horz" wrap="square" lIns="0" tIns="149225" rIns="0" bIns="0" rtlCol="0">
            <a:spAutoFit/>
          </a:bodyPr>
          <a:lstStyle/>
          <a:p>
            <a:pPr marL="12700">
              <a:lnSpc>
                <a:spcPct val="100000"/>
              </a:lnSpc>
              <a:spcBef>
                <a:spcPts val="1175"/>
              </a:spcBef>
            </a:pPr>
            <a:r>
              <a:rPr sz="1550" spc="-5" dirty="0">
                <a:latin typeface="微软雅黑"/>
                <a:cs typeface="微软雅黑"/>
              </a:rPr>
              <a:t>通用二进制计数器具有更多功能：</a:t>
            </a:r>
            <a:endParaRPr sz="1550">
              <a:latin typeface="微软雅黑"/>
              <a:cs typeface="微软雅黑"/>
            </a:endParaRPr>
          </a:p>
          <a:p>
            <a:pPr marL="12700">
              <a:lnSpc>
                <a:spcPct val="100000"/>
              </a:lnSpc>
              <a:spcBef>
                <a:spcPts val="1080"/>
              </a:spcBef>
            </a:pPr>
            <a:r>
              <a:rPr sz="1550" dirty="0">
                <a:latin typeface="微软雅黑"/>
                <a:cs typeface="微软雅黑"/>
              </a:rPr>
              <a:t>可以实现增</a:t>
            </a:r>
            <a:r>
              <a:rPr sz="1550" dirty="0">
                <a:latin typeface="Arial"/>
                <a:cs typeface="Arial"/>
              </a:rPr>
              <a:t>/</a:t>
            </a:r>
            <a:r>
              <a:rPr sz="1550" dirty="0">
                <a:latin typeface="微软雅黑"/>
                <a:cs typeface="微软雅黑"/>
              </a:rPr>
              <a:t>减计数、预置初值，并有同步清</a:t>
            </a:r>
            <a:r>
              <a:rPr sz="1550" dirty="0">
                <a:latin typeface="Arial"/>
                <a:cs typeface="Arial"/>
              </a:rPr>
              <a:t>0</a:t>
            </a:r>
            <a:r>
              <a:rPr sz="1550" spc="-20" dirty="0">
                <a:latin typeface="微软雅黑"/>
                <a:cs typeface="微软雅黑"/>
              </a:rPr>
              <a:t>等功能</a:t>
            </a:r>
            <a:endParaRPr sz="1550">
              <a:latin typeface="微软雅黑"/>
              <a:cs typeface="微软雅黑"/>
            </a:endParaRPr>
          </a:p>
          <a:p>
            <a:pPr marL="12700">
              <a:lnSpc>
                <a:spcPct val="100000"/>
              </a:lnSpc>
              <a:spcBef>
                <a:spcPts val="35"/>
              </a:spcBef>
            </a:pPr>
            <a:r>
              <a:rPr sz="1550" dirty="0">
                <a:latin typeface="微软雅黑"/>
                <a:cs typeface="微软雅黑"/>
              </a:rPr>
              <a:t>。参数化的通用二进制计数器实现代码如例</a:t>
            </a:r>
            <a:r>
              <a:rPr sz="1550" dirty="0">
                <a:latin typeface="Arial"/>
                <a:cs typeface="Arial"/>
              </a:rPr>
              <a:t>4.14</a:t>
            </a:r>
            <a:r>
              <a:rPr sz="1550" spc="-25" dirty="0">
                <a:latin typeface="微软雅黑"/>
                <a:cs typeface="微软雅黑"/>
              </a:rPr>
              <a:t>所示</a:t>
            </a:r>
            <a:endParaRPr sz="1550">
              <a:latin typeface="微软雅黑"/>
              <a:cs typeface="微软雅黑"/>
            </a:endParaRPr>
          </a:p>
          <a:p>
            <a:pPr marL="12700">
              <a:lnSpc>
                <a:spcPct val="100000"/>
              </a:lnSpc>
              <a:spcBef>
                <a:spcPts val="35"/>
              </a:spcBef>
            </a:pPr>
            <a:r>
              <a:rPr sz="1550" spc="-50" dirty="0">
                <a:latin typeface="微软雅黑"/>
                <a:cs typeface="微软雅黑"/>
              </a:rPr>
              <a:t>。</a:t>
            </a:r>
            <a:endParaRPr sz="1550">
              <a:latin typeface="微软雅黑"/>
              <a:cs typeface="微软雅黑"/>
            </a:endParaRPr>
          </a:p>
          <a:p>
            <a:pPr marL="12700">
              <a:lnSpc>
                <a:spcPct val="100000"/>
              </a:lnSpc>
              <a:spcBef>
                <a:spcPts val="1085"/>
              </a:spcBef>
            </a:pPr>
            <a:r>
              <a:rPr sz="1550" dirty="0">
                <a:latin typeface="微软雅黑"/>
                <a:cs typeface="微软雅黑"/>
              </a:rPr>
              <a:t>计数器采用同步工作方式，同步时钟输入端口是</a:t>
            </a:r>
            <a:r>
              <a:rPr sz="1550" dirty="0">
                <a:latin typeface="Arial"/>
                <a:cs typeface="Arial"/>
              </a:rPr>
              <a:t>clk</a:t>
            </a:r>
            <a:r>
              <a:rPr sz="1550" spc="-50" dirty="0">
                <a:latin typeface="微软雅黑"/>
                <a:cs typeface="微软雅黑"/>
              </a:rPr>
              <a:t>。</a:t>
            </a:r>
            <a:endParaRPr sz="1550">
              <a:latin typeface="微软雅黑"/>
              <a:cs typeface="微软雅黑"/>
            </a:endParaRPr>
          </a:p>
        </p:txBody>
      </p:sp>
      <p:sp>
        <p:nvSpPr>
          <p:cNvPr id="5" name="object 5"/>
          <p:cNvSpPr txBox="1"/>
          <p:nvPr/>
        </p:nvSpPr>
        <p:spPr>
          <a:xfrm>
            <a:off x="847991" y="1719833"/>
            <a:ext cx="4179570" cy="4453255"/>
          </a:xfrm>
          <a:prstGeom prst="rect">
            <a:avLst/>
          </a:prstGeom>
          <a:solidFill>
            <a:srgbClr val="F9FABA"/>
          </a:solidFill>
        </p:spPr>
        <p:txBody>
          <a:bodyPr vert="horz" wrap="square" lIns="0" tIns="33655" rIns="0" bIns="0" rtlCol="0">
            <a:spAutoFit/>
          </a:bodyPr>
          <a:lstStyle/>
          <a:p>
            <a:pPr marL="246379" marR="1543685" indent="-167005">
              <a:lnSpc>
                <a:spcPct val="101600"/>
              </a:lnSpc>
              <a:spcBef>
                <a:spcPts val="265"/>
              </a:spcBef>
            </a:pPr>
            <a:r>
              <a:rPr sz="1550" b="1" dirty="0">
                <a:latin typeface="Arial"/>
                <a:cs typeface="Arial"/>
              </a:rPr>
              <a:t>module</a:t>
            </a:r>
            <a:r>
              <a:rPr sz="1550" b="1" spc="60" dirty="0">
                <a:latin typeface="Arial"/>
                <a:cs typeface="Arial"/>
              </a:rPr>
              <a:t> </a:t>
            </a:r>
            <a:r>
              <a:rPr sz="1550" spc="-10" dirty="0">
                <a:latin typeface="Arial"/>
                <a:cs typeface="Arial"/>
              </a:rPr>
              <a:t>counter_univ_bin_N </a:t>
            </a:r>
            <a:r>
              <a:rPr sz="1550" dirty="0">
                <a:latin typeface="Arial"/>
                <a:cs typeface="Arial"/>
              </a:rPr>
              <a:t>#(</a:t>
            </a:r>
            <a:r>
              <a:rPr sz="1550" b="1" dirty="0">
                <a:latin typeface="Arial"/>
                <a:cs typeface="Arial"/>
              </a:rPr>
              <a:t>parameter</a:t>
            </a:r>
            <a:r>
              <a:rPr sz="1550" b="1" spc="30" dirty="0">
                <a:latin typeface="Arial"/>
                <a:cs typeface="Arial"/>
              </a:rPr>
              <a:t> </a:t>
            </a:r>
            <a:r>
              <a:rPr sz="1550" dirty="0">
                <a:latin typeface="Arial"/>
                <a:cs typeface="Arial"/>
              </a:rPr>
              <a:t>N</a:t>
            </a:r>
            <a:r>
              <a:rPr sz="1550" spc="35" dirty="0">
                <a:latin typeface="Arial"/>
                <a:cs typeface="Arial"/>
              </a:rPr>
              <a:t> </a:t>
            </a:r>
            <a:r>
              <a:rPr sz="1550" dirty="0">
                <a:latin typeface="Arial"/>
                <a:cs typeface="Arial"/>
              </a:rPr>
              <a:t>=</a:t>
            </a:r>
            <a:r>
              <a:rPr sz="1550" spc="35" dirty="0">
                <a:latin typeface="Arial"/>
                <a:cs typeface="Arial"/>
              </a:rPr>
              <a:t> </a:t>
            </a:r>
            <a:r>
              <a:rPr sz="1550" spc="-25" dirty="0">
                <a:latin typeface="Arial"/>
                <a:cs typeface="Arial"/>
              </a:rPr>
              <a:t>8)</a:t>
            </a:r>
            <a:endParaRPr sz="1550">
              <a:latin typeface="Arial"/>
              <a:cs typeface="Arial"/>
            </a:endParaRPr>
          </a:p>
          <a:p>
            <a:pPr marL="246379">
              <a:lnSpc>
                <a:spcPct val="100000"/>
              </a:lnSpc>
              <a:spcBef>
                <a:spcPts val="40"/>
              </a:spcBef>
            </a:pPr>
            <a:r>
              <a:rPr sz="1550" spc="-50" dirty="0">
                <a:latin typeface="Arial"/>
                <a:cs typeface="Arial"/>
              </a:rPr>
              <a:t>(</a:t>
            </a:r>
            <a:endParaRPr sz="1550">
              <a:latin typeface="Arial"/>
              <a:cs typeface="Arial"/>
            </a:endParaRPr>
          </a:p>
          <a:p>
            <a:pPr marL="581025">
              <a:lnSpc>
                <a:spcPct val="100000"/>
              </a:lnSpc>
              <a:spcBef>
                <a:spcPts val="30"/>
              </a:spcBef>
            </a:pPr>
            <a:r>
              <a:rPr sz="1550" b="1" dirty="0">
                <a:latin typeface="Arial"/>
                <a:cs typeface="Arial"/>
              </a:rPr>
              <a:t>input</a:t>
            </a:r>
            <a:r>
              <a:rPr sz="1550" b="1" spc="470" dirty="0">
                <a:latin typeface="Arial"/>
                <a:cs typeface="Arial"/>
              </a:rPr>
              <a:t> </a:t>
            </a:r>
            <a:r>
              <a:rPr sz="1550" spc="-10" dirty="0">
                <a:latin typeface="Arial"/>
                <a:cs typeface="Arial"/>
              </a:rPr>
              <a:t>clk,reset,load,up_down,</a:t>
            </a:r>
            <a:endParaRPr sz="1550">
              <a:latin typeface="Arial"/>
              <a:cs typeface="Arial"/>
            </a:endParaRPr>
          </a:p>
          <a:p>
            <a:pPr marL="581025">
              <a:lnSpc>
                <a:spcPct val="100000"/>
              </a:lnSpc>
              <a:spcBef>
                <a:spcPts val="35"/>
              </a:spcBef>
            </a:pPr>
            <a:r>
              <a:rPr sz="1550" b="1" dirty="0">
                <a:latin typeface="Arial"/>
                <a:cs typeface="Arial"/>
              </a:rPr>
              <a:t>input</a:t>
            </a:r>
            <a:r>
              <a:rPr sz="1550" b="1" spc="55" dirty="0">
                <a:latin typeface="Arial"/>
                <a:cs typeface="Arial"/>
              </a:rPr>
              <a:t> </a:t>
            </a:r>
            <a:r>
              <a:rPr sz="1550" dirty="0">
                <a:latin typeface="Arial"/>
                <a:cs typeface="Arial"/>
              </a:rPr>
              <a:t>[N-1:0]</a:t>
            </a:r>
            <a:r>
              <a:rPr sz="1550" spc="80" dirty="0">
                <a:latin typeface="Arial"/>
                <a:cs typeface="Arial"/>
              </a:rPr>
              <a:t> </a:t>
            </a:r>
            <a:r>
              <a:rPr sz="1550" spc="-25" dirty="0">
                <a:latin typeface="Arial"/>
                <a:cs typeface="Arial"/>
              </a:rPr>
              <a:t>d,</a:t>
            </a:r>
            <a:endParaRPr sz="1550">
              <a:latin typeface="Arial"/>
              <a:cs typeface="Arial"/>
            </a:endParaRPr>
          </a:p>
          <a:p>
            <a:pPr marL="581025">
              <a:lnSpc>
                <a:spcPct val="100000"/>
              </a:lnSpc>
              <a:spcBef>
                <a:spcPts val="35"/>
              </a:spcBef>
            </a:pPr>
            <a:r>
              <a:rPr sz="1550" b="1" dirty="0">
                <a:latin typeface="Arial"/>
                <a:cs typeface="Arial"/>
              </a:rPr>
              <a:t>output</a:t>
            </a:r>
            <a:r>
              <a:rPr sz="1550" b="1" spc="60" dirty="0">
                <a:latin typeface="Arial"/>
                <a:cs typeface="Arial"/>
              </a:rPr>
              <a:t> </a:t>
            </a:r>
            <a:r>
              <a:rPr sz="1550" dirty="0">
                <a:latin typeface="Arial"/>
                <a:cs typeface="Arial"/>
              </a:rPr>
              <a:t>[N-1:0]</a:t>
            </a:r>
            <a:r>
              <a:rPr sz="1550" spc="80" dirty="0">
                <a:latin typeface="Arial"/>
                <a:cs typeface="Arial"/>
              </a:rPr>
              <a:t> </a:t>
            </a:r>
            <a:r>
              <a:rPr sz="1550" spc="-25" dirty="0">
                <a:latin typeface="Arial"/>
                <a:cs typeface="Arial"/>
              </a:rPr>
              <a:t>qd</a:t>
            </a:r>
            <a:endParaRPr sz="1550">
              <a:latin typeface="Arial"/>
              <a:cs typeface="Arial"/>
            </a:endParaRPr>
          </a:p>
          <a:p>
            <a:pPr marL="357505">
              <a:lnSpc>
                <a:spcPct val="100000"/>
              </a:lnSpc>
              <a:spcBef>
                <a:spcPts val="30"/>
              </a:spcBef>
            </a:pPr>
            <a:r>
              <a:rPr sz="1550" spc="-25" dirty="0">
                <a:latin typeface="Arial"/>
                <a:cs typeface="Arial"/>
              </a:rPr>
              <a:t>);</a:t>
            </a:r>
            <a:endParaRPr sz="1550">
              <a:latin typeface="Arial"/>
              <a:cs typeface="Arial"/>
            </a:endParaRPr>
          </a:p>
          <a:p>
            <a:pPr marL="357505">
              <a:lnSpc>
                <a:spcPct val="100000"/>
              </a:lnSpc>
              <a:spcBef>
                <a:spcPts val="35"/>
              </a:spcBef>
            </a:pPr>
            <a:r>
              <a:rPr sz="1550" b="1" dirty="0">
                <a:latin typeface="Arial"/>
                <a:cs typeface="Arial"/>
              </a:rPr>
              <a:t>reg</a:t>
            </a:r>
            <a:r>
              <a:rPr sz="1550" b="1" spc="55" dirty="0">
                <a:latin typeface="Arial"/>
                <a:cs typeface="Arial"/>
              </a:rPr>
              <a:t> </a:t>
            </a:r>
            <a:r>
              <a:rPr sz="1550" dirty="0">
                <a:latin typeface="Arial"/>
                <a:cs typeface="Arial"/>
              </a:rPr>
              <a:t>[N-1:0]</a:t>
            </a:r>
            <a:r>
              <a:rPr sz="1550" spc="65" dirty="0">
                <a:latin typeface="Arial"/>
                <a:cs typeface="Arial"/>
              </a:rPr>
              <a:t> </a:t>
            </a:r>
            <a:r>
              <a:rPr sz="1550" spc="-10" dirty="0">
                <a:latin typeface="Arial"/>
                <a:cs typeface="Arial"/>
              </a:rPr>
              <a:t>regN;</a:t>
            </a:r>
            <a:endParaRPr sz="1550">
              <a:latin typeface="Arial"/>
              <a:cs typeface="Arial"/>
            </a:endParaRPr>
          </a:p>
          <a:p>
            <a:pPr marL="357505">
              <a:lnSpc>
                <a:spcPct val="100000"/>
              </a:lnSpc>
              <a:spcBef>
                <a:spcPts val="30"/>
              </a:spcBef>
            </a:pPr>
            <a:r>
              <a:rPr sz="1550" b="1" dirty="0">
                <a:latin typeface="Arial"/>
                <a:cs typeface="Arial"/>
              </a:rPr>
              <a:t>always</a:t>
            </a:r>
            <a:r>
              <a:rPr sz="1550" b="1" spc="60" dirty="0">
                <a:latin typeface="Arial"/>
                <a:cs typeface="Arial"/>
              </a:rPr>
              <a:t> </a:t>
            </a:r>
            <a:r>
              <a:rPr sz="1550" dirty="0">
                <a:latin typeface="Arial"/>
                <a:cs typeface="Arial"/>
              </a:rPr>
              <a:t>@(</a:t>
            </a:r>
            <a:r>
              <a:rPr sz="1550" b="1" dirty="0">
                <a:latin typeface="Arial"/>
                <a:cs typeface="Arial"/>
              </a:rPr>
              <a:t>posedge</a:t>
            </a:r>
            <a:r>
              <a:rPr sz="1550" b="1" spc="55" dirty="0">
                <a:latin typeface="Arial"/>
                <a:cs typeface="Arial"/>
              </a:rPr>
              <a:t> </a:t>
            </a:r>
            <a:r>
              <a:rPr sz="1550" spc="-20" dirty="0">
                <a:latin typeface="Arial"/>
                <a:cs typeface="Arial"/>
              </a:rPr>
              <a:t>clk)</a:t>
            </a:r>
            <a:endParaRPr sz="1550">
              <a:latin typeface="Arial"/>
              <a:cs typeface="Arial"/>
            </a:endParaRPr>
          </a:p>
          <a:p>
            <a:pPr marL="581025">
              <a:lnSpc>
                <a:spcPct val="100000"/>
              </a:lnSpc>
              <a:spcBef>
                <a:spcPts val="35"/>
              </a:spcBef>
            </a:pPr>
            <a:r>
              <a:rPr sz="1550" b="1" dirty="0">
                <a:latin typeface="Arial"/>
                <a:cs typeface="Arial"/>
              </a:rPr>
              <a:t>if</a:t>
            </a:r>
            <a:r>
              <a:rPr sz="1550" b="1" spc="15" dirty="0">
                <a:latin typeface="Arial"/>
                <a:cs typeface="Arial"/>
              </a:rPr>
              <a:t> </a:t>
            </a:r>
            <a:r>
              <a:rPr sz="1550" spc="-10" dirty="0">
                <a:latin typeface="Arial"/>
                <a:cs typeface="Arial"/>
              </a:rPr>
              <a:t>(reset)</a:t>
            </a:r>
            <a:endParaRPr sz="1550">
              <a:latin typeface="Arial"/>
              <a:cs typeface="Arial"/>
            </a:endParaRPr>
          </a:p>
          <a:p>
            <a:pPr marL="915035">
              <a:lnSpc>
                <a:spcPct val="100000"/>
              </a:lnSpc>
              <a:spcBef>
                <a:spcPts val="35"/>
              </a:spcBef>
            </a:pPr>
            <a:r>
              <a:rPr sz="1550" dirty="0">
                <a:latin typeface="Arial"/>
                <a:cs typeface="Arial"/>
              </a:rPr>
              <a:t>regN</a:t>
            </a:r>
            <a:r>
              <a:rPr sz="1550" spc="40" dirty="0">
                <a:latin typeface="Arial"/>
                <a:cs typeface="Arial"/>
              </a:rPr>
              <a:t> </a:t>
            </a:r>
            <a:r>
              <a:rPr sz="1550" dirty="0">
                <a:latin typeface="Arial"/>
                <a:cs typeface="Arial"/>
              </a:rPr>
              <a:t>&lt;=</a:t>
            </a:r>
            <a:r>
              <a:rPr sz="1550" spc="30" dirty="0">
                <a:latin typeface="Arial"/>
                <a:cs typeface="Arial"/>
              </a:rPr>
              <a:t> </a:t>
            </a:r>
            <a:r>
              <a:rPr sz="1550" spc="-25" dirty="0">
                <a:latin typeface="Arial"/>
                <a:cs typeface="Arial"/>
              </a:rPr>
              <a:t>0;</a:t>
            </a:r>
            <a:endParaRPr sz="1550">
              <a:latin typeface="Arial"/>
              <a:cs typeface="Arial"/>
            </a:endParaRPr>
          </a:p>
          <a:p>
            <a:pPr marL="915035" marR="2310130" indent="-334010">
              <a:lnSpc>
                <a:spcPts val="1900"/>
              </a:lnSpc>
              <a:spcBef>
                <a:spcPts val="60"/>
              </a:spcBef>
            </a:pPr>
            <a:r>
              <a:rPr sz="1550" b="1" dirty="0">
                <a:latin typeface="Arial"/>
                <a:cs typeface="Arial"/>
              </a:rPr>
              <a:t>else</a:t>
            </a:r>
            <a:r>
              <a:rPr sz="1550" b="1" spc="15" dirty="0">
                <a:latin typeface="Arial"/>
                <a:cs typeface="Arial"/>
              </a:rPr>
              <a:t> </a:t>
            </a:r>
            <a:r>
              <a:rPr sz="1550" b="1" dirty="0">
                <a:latin typeface="Arial"/>
                <a:cs typeface="Arial"/>
              </a:rPr>
              <a:t>if</a:t>
            </a:r>
            <a:r>
              <a:rPr sz="1550" b="1" spc="25" dirty="0">
                <a:latin typeface="Arial"/>
                <a:cs typeface="Arial"/>
              </a:rPr>
              <a:t> </a:t>
            </a:r>
            <a:r>
              <a:rPr sz="1550" spc="-10" dirty="0">
                <a:latin typeface="Arial"/>
                <a:cs typeface="Arial"/>
              </a:rPr>
              <a:t>(load) </a:t>
            </a:r>
            <a:r>
              <a:rPr sz="1550" dirty="0">
                <a:latin typeface="Arial"/>
                <a:cs typeface="Arial"/>
              </a:rPr>
              <a:t>regN</a:t>
            </a:r>
            <a:r>
              <a:rPr sz="1550" spc="40" dirty="0">
                <a:latin typeface="Arial"/>
                <a:cs typeface="Arial"/>
              </a:rPr>
              <a:t> </a:t>
            </a:r>
            <a:r>
              <a:rPr sz="1550" dirty="0">
                <a:latin typeface="Arial"/>
                <a:cs typeface="Arial"/>
              </a:rPr>
              <a:t>&lt;=</a:t>
            </a:r>
            <a:r>
              <a:rPr sz="1550" spc="30" dirty="0">
                <a:latin typeface="Arial"/>
                <a:cs typeface="Arial"/>
              </a:rPr>
              <a:t> </a:t>
            </a:r>
            <a:r>
              <a:rPr sz="1550" spc="-25" dirty="0">
                <a:latin typeface="Arial"/>
                <a:cs typeface="Arial"/>
              </a:rPr>
              <a:t>d;</a:t>
            </a:r>
            <a:endParaRPr sz="1550">
              <a:latin typeface="Arial"/>
              <a:cs typeface="Arial"/>
            </a:endParaRPr>
          </a:p>
          <a:p>
            <a:pPr marL="581025">
              <a:lnSpc>
                <a:spcPts val="1814"/>
              </a:lnSpc>
            </a:pPr>
            <a:r>
              <a:rPr sz="1550" b="1" dirty="0">
                <a:latin typeface="Arial"/>
                <a:cs typeface="Arial"/>
              </a:rPr>
              <a:t>else</a:t>
            </a:r>
            <a:r>
              <a:rPr sz="1550" b="1" spc="15" dirty="0">
                <a:latin typeface="Arial"/>
                <a:cs typeface="Arial"/>
              </a:rPr>
              <a:t> </a:t>
            </a:r>
            <a:r>
              <a:rPr sz="1550" b="1" dirty="0">
                <a:latin typeface="Arial"/>
                <a:cs typeface="Arial"/>
              </a:rPr>
              <a:t>if</a:t>
            </a:r>
            <a:r>
              <a:rPr sz="1550" b="1" spc="25" dirty="0">
                <a:latin typeface="Arial"/>
                <a:cs typeface="Arial"/>
              </a:rPr>
              <a:t> </a:t>
            </a:r>
            <a:r>
              <a:rPr sz="1550" spc="-10" dirty="0">
                <a:latin typeface="Arial"/>
                <a:cs typeface="Arial"/>
              </a:rPr>
              <a:t>(up_down)</a:t>
            </a:r>
            <a:endParaRPr sz="1550">
              <a:latin typeface="Arial"/>
              <a:cs typeface="Arial"/>
            </a:endParaRPr>
          </a:p>
          <a:p>
            <a:pPr marL="915035">
              <a:lnSpc>
                <a:spcPct val="100000"/>
              </a:lnSpc>
              <a:spcBef>
                <a:spcPts val="40"/>
              </a:spcBef>
            </a:pPr>
            <a:r>
              <a:rPr sz="1550" dirty="0">
                <a:latin typeface="Arial"/>
                <a:cs typeface="Arial"/>
              </a:rPr>
              <a:t>regN</a:t>
            </a:r>
            <a:r>
              <a:rPr sz="1550" spc="35" dirty="0">
                <a:latin typeface="Arial"/>
                <a:cs typeface="Arial"/>
              </a:rPr>
              <a:t> </a:t>
            </a:r>
            <a:r>
              <a:rPr sz="1550" dirty="0">
                <a:latin typeface="Arial"/>
                <a:cs typeface="Arial"/>
              </a:rPr>
              <a:t>&lt;=</a:t>
            </a:r>
            <a:r>
              <a:rPr sz="1550" spc="30" dirty="0">
                <a:latin typeface="Arial"/>
                <a:cs typeface="Arial"/>
              </a:rPr>
              <a:t> </a:t>
            </a:r>
            <a:r>
              <a:rPr sz="1550" dirty="0">
                <a:latin typeface="Arial"/>
                <a:cs typeface="Arial"/>
              </a:rPr>
              <a:t>regN</a:t>
            </a:r>
            <a:r>
              <a:rPr sz="1550" spc="35" dirty="0">
                <a:latin typeface="Arial"/>
                <a:cs typeface="Arial"/>
              </a:rPr>
              <a:t> </a:t>
            </a:r>
            <a:r>
              <a:rPr sz="1550" dirty="0">
                <a:latin typeface="Arial"/>
                <a:cs typeface="Arial"/>
              </a:rPr>
              <a:t>+</a:t>
            </a:r>
            <a:r>
              <a:rPr sz="1550" spc="30" dirty="0">
                <a:latin typeface="Arial"/>
                <a:cs typeface="Arial"/>
              </a:rPr>
              <a:t> </a:t>
            </a:r>
            <a:r>
              <a:rPr sz="1550" spc="-25" dirty="0">
                <a:latin typeface="Arial"/>
                <a:cs typeface="Arial"/>
              </a:rPr>
              <a:t>1;</a:t>
            </a:r>
            <a:endParaRPr sz="1550">
              <a:latin typeface="Arial"/>
              <a:cs typeface="Arial"/>
            </a:endParaRPr>
          </a:p>
          <a:p>
            <a:pPr marL="581025">
              <a:lnSpc>
                <a:spcPct val="100000"/>
              </a:lnSpc>
              <a:spcBef>
                <a:spcPts val="35"/>
              </a:spcBef>
            </a:pPr>
            <a:r>
              <a:rPr sz="1550" b="1" dirty="0">
                <a:latin typeface="Arial"/>
                <a:cs typeface="Arial"/>
              </a:rPr>
              <a:t>else</a:t>
            </a:r>
            <a:r>
              <a:rPr sz="1550" b="1" spc="30" dirty="0">
                <a:latin typeface="Arial"/>
                <a:cs typeface="Arial"/>
              </a:rPr>
              <a:t> </a:t>
            </a:r>
            <a:r>
              <a:rPr sz="1550" dirty="0">
                <a:latin typeface="Arial"/>
                <a:cs typeface="Arial"/>
              </a:rPr>
              <a:t>regN</a:t>
            </a:r>
            <a:r>
              <a:rPr sz="1550" spc="30" dirty="0">
                <a:latin typeface="Arial"/>
                <a:cs typeface="Arial"/>
              </a:rPr>
              <a:t> </a:t>
            </a:r>
            <a:r>
              <a:rPr sz="1550" dirty="0">
                <a:latin typeface="Arial"/>
                <a:cs typeface="Arial"/>
              </a:rPr>
              <a:t>&lt;=</a:t>
            </a:r>
            <a:r>
              <a:rPr sz="1550" spc="25" dirty="0">
                <a:latin typeface="Arial"/>
                <a:cs typeface="Arial"/>
              </a:rPr>
              <a:t> </a:t>
            </a:r>
            <a:r>
              <a:rPr sz="1550" dirty="0">
                <a:latin typeface="Arial"/>
                <a:cs typeface="Arial"/>
              </a:rPr>
              <a:t>regN</a:t>
            </a:r>
            <a:r>
              <a:rPr sz="1550" spc="30" dirty="0">
                <a:latin typeface="Arial"/>
                <a:cs typeface="Arial"/>
              </a:rPr>
              <a:t> </a:t>
            </a:r>
            <a:r>
              <a:rPr sz="1550" dirty="0">
                <a:latin typeface="Arial"/>
                <a:cs typeface="Arial"/>
              </a:rPr>
              <a:t>–</a:t>
            </a:r>
            <a:r>
              <a:rPr sz="1550" spc="30" dirty="0">
                <a:latin typeface="Arial"/>
                <a:cs typeface="Arial"/>
              </a:rPr>
              <a:t> </a:t>
            </a:r>
            <a:r>
              <a:rPr sz="1550" spc="-25" dirty="0">
                <a:latin typeface="Arial"/>
                <a:cs typeface="Arial"/>
              </a:rPr>
              <a:t>1;</a:t>
            </a:r>
            <a:endParaRPr sz="1550">
              <a:latin typeface="Arial"/>
              <a:cs typeface="Arial"/>
            </a:endParaRPr>
          </a:p>
          <a:p>
            <a:pPr marL="357505">
              <a:lnSpc>
                <a:spcPct val="100000"/>
              </a:lnSpc>
              <a:spcBef>
                <a:spcPts val="30"/>
              </a:spcBef>
            </a:pPr>
            <a:r>
              <a:rPr sz="1550" b="1" dirty="0">
                <a:latin typeface="Arial"/>
                <a:cs typeface="Arial"/>
              </a:rPr>
              <a:t>assign</a:t>
            </a:r>
            <a:r>
              <a:rPr sz="1550" b="1" spc="30" dirty="0">
                <a:latin typeface="Arial"/>
                <a:cs typeface="Arial"/>
              </a:rPr>
              <a:t> </a:t>
            </a:r>
            <a:r>
              <a:rPr sz="1550" dirty="0">
                <a:latin typeface="Arial"/>
                <a:cs typeface="Arial"/>
              </a:rPr>
              <a:t>qd</a:t>
            </a:r>
            <a:r>
              <a:rPr sz="1550" spc="30" dirty="0">
                <a:latin typeface="Arial"/>
                <a:cs typeface="Arial"/>
              </a:rPr>
              <a:t> </a:t>
            </a:r>
            <a:r>
              <a:rPr sz="1550" dirty="0">
                <a:latin typeface="Arial"/>
                <a:cs typeface="Arial"/>
              </a:rPr>
              <a:t>=</a:t>
            </a:r>
            <a:r>
              <a:rPr sz="1550" spc="30" dirty="0">
                <a:latin typeface="Arial"/>
                <a:cs typeface="Arial"/>
              </a:rPr>
              <a:t> </a:t>
            </a:r>
            <a:r>
              <a:rPr sz="1550" spc="-20" dirty="0">
                <a:latin typeface="Arial"/>
                <a:cs typeface="Arial"/>
              </a:rPr>
              <a:t>regN;</a:t>
            </a:r>
            <a:endParaRPr sz="1550">
              <a:latin typeface="Arial"/>
              <a:cs typeface="Arial"/>
            </a:endParaRPr>
          </a:p>
          <a:p>
            <a:pPr marL="79375">
              <a:lnSpc>
                <a:spcPct val="100000"/>
              </a:lnSpc>
              <a:spcBef>
                <a:spcPts val="35"/>
              </a:spcBef>
            </a:pPr>
            <a:r>
              <a:rPr sz="1550" b="1" spc="-10" dirty="0">
                <a:latin typeface="Arial"/>
                <a:cs typeface="Arial"/>
              </a:rPr>
              <a:t>endmodule</a:t>
            </a:r>
            <a:endParaRPr sz="1550">
              <a:latin typeface="Arial"/>
              <a:cs typeface="Arial"/>
            </a:endParaRPr>
          </a:p>
        </p:txBody>
      </p:sp>
      <p:sp>
        <p:nvSpPr>
          <p:cNvPr id="6" name="object 6"/>
          <p:cNvSpPr txBox="1"/>
          <p:nvPr/>
        </p:nvSpPr>
        <p:spPr>
          <a:xfrm>
            <a:off x="1620907" y="6253988"/>
            <a:ext cx="2356485" cy="213360"/>
          </a:xfrm>
          <a:prstGeom prst="rect">
            <a:avLst/>
          </a:prstGeom>
        </p:spPr>
        <p:txBody>
          <a:bodyPr vert="horz" wrap="square" lIns="0" tIns="16510" rIns="0" bIns="0" rtlCol="0">
            <a:spAutoFit/>
          </a:bodyPr>
          <a:lstStyle/>
          <a:p>
            <a:pPr marL="12700">
              <a:lnSpc>
                <a:spcPct val="100000"/>
              </a:lnSpc>
              <a:spcBef>
                <a:spcPts val="130"/>
              </a:spcBef>
            </a:pPr>
            <a:r>
              <a:rPr sz="1200" spc="114" dirty="0">
                <a:latin typeface="微软雅黑"/>
                <a:cs typeface="微软雅黑"/>
              </a:rPr>
              <a:t>例 </a:t>
            </a:r>
            <a:r>
              <a:rPr sz="1200" dirty="0">
                <a:latin typeface="Arial"/>
                <a:cs typeface="Arial"/>
              </a:rPr>
              <a:t>4.14</a:t>
            </a:r>
            <a:r>
              <a:rPr sz="1200" dirty="0">
                <a:latin typeface="微软雅黑"/>
                <a:cs typeface="微软雅黑"/>
              </a:rPr>
              <a:t>通用</a:t>
            </a:r>
            <a:r>
              <a:rPr sz="1200" dirty="0">
                <a:latin typeface="Arial"/>
                <a:cs typeface="Arial"/>
              </a:rPr>
              <a:t>N</a:t>
            </a:r>
            <a:r>
              <a:rPr sz="1200" spc="-10" dirty="0">
                <a:latin typeface="微软雅黑"/>
                <a:cs typeface="微软雅黑"/>
              </a:rPr>
              <a:t>位二进制计数器描述</a:t>
            </a:r>
            <a:endParaRPr sz="1200">
              <a:latin typeface="微软雅黑"/>
              <a:cs typeface="微软雅黑"/>
            </a:endParaRPr>
          </a:p>
        </p:txBody>
      </p:sp>
      <p:pic>
        <p:nvPicPr>
          <p:cNvPr id="7" name="object 7"/>
          <p:cNvPicPr/>
          <p:nvPr/>
        </p:nvPicPr>
        <p:blipFill>
          <a:blip r:embed="rId2" cstate="print"/>
          <a:stretch>
            <a:fillRect/>
          </a:stretch>
        </p:blipFill>
        <p:spPr>
          <a:xfrm>
            <a:off x="5258447" y="3576066"/>
            <a:ext cx="4900421" cy="2596895"/>
          </a:xfrm>
          <a:prstGeom prst="rect">
            <a:avLst/>
          </a:prstGeom>
        </p:spPr>
      </p:pic>
      <p:sp>
        <p:nvSpPr>
          <p:cNvPr id="8" name="object 8"/>
          <p:cNvSpPr txBox="1"/>
          <p:nvPr/>
        </p:nvSpPr>
        <p:spPr>
          <a:xfrm>
            <a:off x="6208909" y="6253988"/>
            <a:ext cx="3065780" cy="213360"/>
          </a:xfrm>
          <a:prstGeom prst="rect">
            <a:avLst/>
          </a:prstGeom>
        </p:spPr>
        <p:txBody>
          <a:bodyPr vert="horz" wrap="square" lIns="0" tIns="16510" rIns="0" bIns="0" rtlCol="0">
            <a:spAutoFit/>
          </a:bodyPr>
          <a:lstStyle/>
          <a:p>
            <a:pPr marL="12700">
              <a:lnSpc>
                <a:spcPct val="100000"/>
              </a:lnSpc>
              <a:spcBef>
                <a:spcPts val="130"/>
              </a:spcBef>
            </a:pPr>
            <a:r>
              <a:rPr sz="1200" dirty="0">
                <a:latin typeface="微软雅黑"/>
                <a:cs typeface="微软雅黑"/>
              </a:rPr>
              <a:t>图</a:t>
            </a:r>
            <a:r>
              <a:rPr sz="1200" dirty="0">
                <a:latin typeface="Arial"/>
                <a:cs typeface="Arial"/>
              </a:rPr>
              <a:t>4.18</a:t>
            </a:r>
            <a:r>
              <a:rPr sz="1200" dirty="0">
                <a:latin typeface="宋体"/>
                <a:cs typeface="宋体"/>
              </a:rPr>
              <a:t>：</a:t>
            </a:r>
            <a:r>
              <a:rPr sz="1200" dirty="0">
                <a:latin typeface="微软雅黑"/>
                <a:cs typeface="微软雅黑"/>
              </a:rPr>
              <a:t>简单</a:t>
            </a:r>
            <a:r>
              <a:rPr sz="1200" dirty="0">
                <a:latin typeface="Arial"/>
                <a:cs typeface="Arial"/>
              </a:rPr>
              <a:t>8</a:t>
            </a:r>
            <a:r>
              <a:rPr sz="1200" spc="-5" dirty="0">
                <a:latin typeface="微软雅黑"/>
                <a:cs typeface="微软雅黑"/>
              </a:rPr>
              <a:t>位二进制计数器的仿真时序图</a:t>
            </a:r>
            <a:endParaRPr sz="1200">
              <a:latin typeface="微软雅黑"/>
              <a:cs typeface="微软雅黑"/>
            </a:endParaRPr>
          </a:p>
        </p:txBody>
      </p:sp>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2737485" cy="453390"/>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4.4.3</a:t>
            </a:r>
            <a:r>
              <a:rPr dirty="0">
                <a:latin typeface="Arial"/>
                <a:cs typeface="Arial"/>
              </a:rPr>
              <a:t>	</a:t>
            </a:r>
            <a:r>
              <a:rPr dirty="0"/>
              <a:t>模</a:t>
            </a:r>
            <a:r>
              <a:rPr dirty="0">
                <a:latin typeface="Arial"/>
                <a:cs typeface="Arial"/>
              </a:rPr>
              <a:t>m</a:t>
            </a:r>
            <a:r>
              <a:rPr spc="-20" dirty="0"/>
              <a:t>计数器</a:t>
            </a:r>
          </a:p>
        </p:txBody>
      </p:sp>
      <p:sp>
        <p:nvSpPr>
          <p:cNvPr id="3" name="object 3"/>
          <p:cNvSpPr txBox="1"/>
          <p:nvPr/>
        </p:nvSpPr>
        <p:spPr>
          <a:xfrm>
            <a:off x="5366137" y="1613098"/>
            <a:ext cx="4942840" cy="1468120"/>
          </a:xfrm>
          <a:prstGeom prst="rect">
            <a:avLst/>
          </a:prstGeom>
        </p:spPr>
        <p:txBody>
          <a:bodyPr vert="horz" wrap="square" lIns="0" tIns="12065" rIns="0" bIns="0" rtlCol="0">
            <a:spAutoFit/>
          </a:bodyPr>
          <a:lstStyle/>
          <a:p>
            <a:pPr marL="262890" marR="5080" indent="-250825">
              <a:lnSpc>
                <a:spcPct val="152600"/>
              </a:lnSpc>
              <a:spcBef>
                <a:spcPts val="95"/>
              </a:spcBef>
              <a:buFont typeface="Wingdings"/>
              <a:buChar char=""/>
              <a:tabLst>
                <a:tab pos="262890" algn="l"/>
              </a:tabLst>
            </a:pPr>
            <a:r>
              <a:rPr sz="1550" dirty="0">
                <a:latin typeface="微软雅黑"/>
                <a:cs typeface="微软雅黑"/>
              </a:rPr>
              <a:t>模</a:t>
            </a:r>
            <a:r>
              <a:rPr sz="1550" dirty="0">
                <a:latin typeface="Arial"/>
                <a:cs typeface="Arial"/>
              </a:rPr>
              <a:t>m</a:t>
            </a:r>
            <a:r>
              <a:rPr sz="1550" dirty="0">
                <a:latin typeface="微软雅黑"/>
                <a:cs typeface="微软雅黑"/>
              </a:rPr>
              <a:t>计数器的计数值从</a:t>
            </a:r>
            <a:r>
              <a:rPr sz="1550" dirty="0">
                <a:latin typeface="Arial"/>
                <a:cs typeface="Arial"/>
              </a:rPr>
              <a:t>0</a:t>
            </a:r>
            <a:r>
              <a:rPr sz="1550" dirty="0">
                <a:latin typeface="微软雅黑"/>
                <a:cs typeface="微软雅黑"/>
              </a:rPr>
              <a:t>增加到</a:t>
            </a:r>
            <a:r>
              <a:rPr sz="1550" dirty="0">
                <a:latin typeface="Arial"/>
                <a:cs typeface="Arial"/>
              </a:rPr>
              <a:t>m-1</a:t>
            </a:r>
            <a:r>
              <a:rPr sz="1550" spc="-10" dirty="0">
                <a:latin typeface="微软雅黑"/>
                <a:cs typeface="微软雅黑"/>
              </a:rPr>
              <a:t>，然后循环。参数</a:t>
            </a:r>
            <a:r>
              <a:rPr sz="1550" dirty="0">
                <a:latin typeface="微软雅黑"/>
                <a:cs typeface="微软雅黑"/>
              </a:rPr>
              <a:t>化的模</a:t>
            </a:r>
            <a:r>
              <a:rPr sz="1550" dirty="0">
                <a:latin typeface="Arial"/>
                <a:cs typeface="Arial"/>
              </a:rPr>
              <a:t>m</a:t>
            </a:r>
            <a:r>
              <a:rPr sz="1550" dirty="0">
                <a:latin typeface="微软雅黑"/>
                <a:cs typeface="微软雅黑"/>
              </a:rPr>
              <a:t>计数器实现代码如例</a:t>
            </a:r>
            <a:r>
              <a:rPr sz="1550" dirty="0">
                <a:latin typeface="Arial"/>
                <a:cs typeface="Arial"/>
              </a:rPr>
              <a:t>4.15</a:t>
            </a:r>
            <a:r>
              <a:rPr sz="1550" spc="-20" dirty="0">
                <a:latin typeface="微软雅黑"/>
                <a:cs typeface="微软雅黑"/>
              </a:rPr>
              <a:t>所示。</a:t>
            </a:r>
            <a:endParaRPr sz="1550">
              <a:latin typeface="微软雅黑"/>
              <a:cs typeface="微软雅黑"/>
            </a:endParaRPr>
          </a:p>
          <a:p>
            <a:pPr marL="262890" indent="-250190">
              <a:lnSpc>
                <a:spcPct val="100000"/>
              </a:lnSpc>
              <a:spcBef>
                <a:spcPts val="980"/>
              </a:spcBef>
              <a:buFont typeface="Wingdings"/>
              <a:buChar char=""/>
              <a:tabLst>
                <a:tab pos="262890" algn="l"/>
              </a:tabLst>
            </a:pPr>
            <a:r>
              <a:rPr sz="1550" spc="-10" dirty="0">
                <a:latin typeface="微软雅黑"/>
                <a:cs typeface="微软雅黑"/>
              </a:rPr>
              <a:t>它有两个参数：</a:t>
            </a:r>
            <a:endParaRPr sz="1550">
              <a:latin typeface="微软雅黑"/>
              <a:cs typeface="微软雅黑"/>
            </a:endParaRPr>
          </a:p>
          <a:p>
            <a:pPr marL="234950">
              <a:lnSpc>
                <a:spcPct val="100000"/>
              </a:lnSpc>
              <a:spcBef>
                <a:spcPts val="980"/>
              </a:spcBef>
            </a:pPr>
            <a:r>
              <a:rPr sz="1550" dirty="0">
                <a:latin typeface="微软雅黑"/>
                <a:cs typeface="微软雅黑"/>
              </a:rPr>
              <a:t>参数</a:t>
            </a:r>
            <a:r>
              <a:rPr sz="1550" dirty="0">
                <a:latin typeface="Arial"/>
                <a:cs typeface="Arial"/>
              </a:rPr>
              <a:t>M</a:t>
            </a:r>
            <a:r>
              <a:rPr sz="1550" dirty="0">
                <a:latin typeface="微软雅黑"/>
                <a:cs typeface="微软雅黑"/>
              </a:rPr>
              <a:t>，它指定了计数模值</a:t>
            </a:r>
            <a:r>
              <a:rPr sz="1550" spc="-25" dirty="0">
                <a:latin typeface="Arial"/>
                <a:cs typeface="Arial"/>
              </a:rPr>
              <a:t>m</a:t>
            </a:r>
            <a:r>
              <a:rPr sz="1550" spc="-25" dirty="0">
                <a:latin typeface="微软雅黑"/>
                <a:cs typeface="微软雅黑"/>
              </a:rPr>
              <a:t>；</a:t>
            </a:r>
            <a:endParaRPr sz="1550">
              <a:latin typeface="微软雅黑"/>
              <a:cs typeface="微软雅黑"/>
            </a:endParaRPr>
          </a:p>
        </p:txBody>
      </p:sp>
      <p:sp>
        <p:nvSpPr>
          <p:cNvPr id="4" name="object 4"/>
          <p:cNvSpPr txBox="1"/>
          <p:nvPr/>
        </p:nvSpPr>
        <p:spPr>
          <a:xfrm>
            <a:off x="5366137" y="3416772"/>
            <a:ext cx="4943475" cy="746760"/>
          </a:xfrm>
          <a:prstGeom prst="rect">
            <a:avLst/>
          </a:prstGeom>
        </p:spPr>
        <p:txBody>
          <a:bodyPr vert="horz" wrap="square" lIns="0" tIns="12065" rIns="0" bIns="0" rtlCol="0">
            <a:spAutoFit/>
          </a:bodyPr>
          <a:lstStyle/>
          <a:p>
            <a:pPr marL="262890" marR="5080" indent="-250825">
              <a:lnSpc>
                <a:spcPct val="152600"/>
              </a:lnSpc>
              <a:spcBef>
                <a:spcPts val="95"/>
              </a:spcBef>
              <a:buFont typeface="Wingdings"/>
              <a:buChar char=""/>
              <a:tabLst>
                <a:tab pos="262890" algn="l"/>
              </a:tabLst>
            </a:pPr>
            <a:r>
              <a:rPr sz="1550" dirty="0">
                <a:latin typeface="微软雅黑"/>
                <a:cs typeface="微软雅黑"/>
              </a:rPr>
              <a:t>代码例</a:t>
            </a:r>
            <a:r>
              <a:rPr sz="1550" dirty="0">
                <a:latin typeface="Arial"/>
                <a:cs typeface="Arial"/>
              </a:rPr>
              <a:t>4.15</a:t>
            </a:r>
            <a:r>
              <a:rPr sz="1550" dirty="0">
                <a:latin typeface="微软雅黑"/>
                <a:cs typeface="微软雅黑"/>
              </a:rPr>
              <a:t>中计数器的默认值是模</a:t>
            </a:r>
            <a:r>
              <a:rPr sz="1550" dirty="0">
                <a:latin typeface="Arial"/>
                <a:cs typeface="Arial"/>
              </a:rPr>
              <a:t>10</a:t>
            </a:r>
            <a:r>
              <a:rPr sz="1550" dirty="0">
                <a:latin typeface="宋体"/>
                <a:cs typeface="宋体"/>
              </a:rPr>
              <a:t>，</a:t>
            </a:r>
            <a:r>
              <a:rPr sz="1550" spc="-10" dirty="0">
                <a:latin typeface="微软雅黑"/>
                <a:cs typeface="微软雅黑"/>
              </a:rPr>
              <a:t>它的仿真工作</a:t>
            </a:r>
            <a:r>
              <a:rPr sz="1550" dirty="0">
                <a:latin typeface="微软雅黑"/>
                <a:cs typeface="微软雅黑"/>
              </a:rPr>
              <a:t>波形如图</a:t>
            </a:r>
            <a:r>
              <a:rPr sz="1550" dirty="0">
                <a:latin typeface="Arial"/>
                <a:cs typeface="Arial"/>
              </a:rPr>
              <a:t>4.19</a:t>
            </a:r>
            <a:r>
              <a:rPr sz="1550" spc="-20" dirty="0">
                <a:latin typeface="微软雅黑"/>
                <a:cs typeface="微软雅黑"/>
              </a:rPr>
              <a:t>所示。</a:t>
            </a:r>
            <a:endParaRPr sz="1550">
              <a:latin typeface="微软雅黑"/>
              <a:cs typeface="微软雅黑"/>
            </a:endParaRPr>
          </a:p>
        </p:txBody>
      </p:sp>
      <p:sp>
        <p:nvSpPr>
          <p:cNvPr id="5" name="object 5"/>
          <p:cNvSpPr txBox="1"/>
          <p:nvPr/>
        </p:nvSpPr>
        <p:spPr>
          <a:xfrm>
            <a:off x="9679820" y="3366650"/>
            <a:ext cx="82550" cy="161925"/>
          </a:xfrm>
          <a:prstGeom prst="rect">
            <a:avLst/>
          </a:prstGeom>
        </p:spPr>
        <p:txBody>
          <a:bodyPr vert="horz" wrap="square" lIns="0" tIns="12065" rIns="0" bIns="0" rtlCol="0">
            <a:spAutoFit/>
          </a:bodyPr>
          <a:lstStyle/>
          <a:p>
            <a:pPr marL="12700">
              <a:lnSpc>
                <a:spcPct val="100000"/>
              </a:lnSpc>
              <a:spcBef>
                <a:spcPts val="95"/>
              </a:spcBef>
            </a:pPr>
            <a:r>
              <a:rPr sz="900" spc="-50" dirty="0">
                <a:latin typeface="宋体"/>
                <a:cs typeface="宋体"/>
              </a:rPr>
              <a:t>2</a:t>
            </a:r>
            <a:endParaRPr sz="900">
              <a:latin typeface="宋体"/>
              <a:cs typeface="宋体"/>
            </a:endParaRPr>
          </a:p>
        </p:txBody>
      </p:sp>
      <p:sp>
        <p:nvSpPr>
          <p:cNvPr id="6" name="object 6"/>
          <p:cNvSpPr txBox="1"/>
          <p:nvPr/>
        </p:nvSpPr>
        <p:spPr>
          <a:xfrm>
            <a:off x="5563248" y="3176285"/>
            <a:ext cx="4641850" cy="266065"/>
          </a:xfrm>
          <a:prstGeom prst="rect">
            <a:avLst/>
          </a:prstGeom>
        </p:spPr>
        <p:txBody>
          <a:bodyPr vert="horz" wrap="square" lIns="0" tIns="15875" rIns="0" bIns="0" rtlCol="0">
            <a:spAutoFit/>
          </a:bodyPr>
          <a:lstStyle/>
          <a:p>
            <a:pPr marL="38100">
              <a:lnSpc>
                <a:spcPct val="100000"/>
              </a:lnSpc>
              <a:spcBef>
                <a:spcPts val="125"/>
              </a:spcBef>
            </a:pPr>
            <a:r>
              <a:rPr sz="1550" dirty="0">
                <a:latin typeface="微软雅黑"/>
                <a:cs typeface="微软雅黑"/>
              </a:rPr>
              <a:t>参数</a:t>
            </a:r>
            <a:r>
              <a:rPr sz="1550" dirty="0">
                <a:latin typeface="Arial"/>
                <a:cs typeface="Arial"/>
              </a:rPr>
              <a:t>N</a:t>
            </a:r>
            <a:r>
              <a:rPr sz="1550" dirty="0">
                <a:latin typeface="微软雅黑"/>
                <a:cs typeface="微软雅黑"/>
              </a:rPr>
              <a:t>，它指定了计数器所需的位数</a:t>
            </a:r>
            <a:r>
              <a:rPr sz="1550" dirty="0">
                <a:latin typeface="宋体"/>
                <a:cs typeface="宋体"/>
              </a:rPr>
              <a:t>，</a:t>
            </a:r>
            <a:r>
              <a:rPr sz="1550" spc="-25" dirty="0">
                <a:latin typeface="微软雅黑"/>
                <a:cs typeface="微软雅黑"/>
              </a:rPr>
              <a:t>等于 </a:t>
            </a:r>
            <a:r>
              <a:rPr sz="2325" spc="-165" baseline="-10752" dirty="0">
                <a:latin typeface="Symbol"/>
                <a:cs typeface="Symbol"/>
              </a:rPr>
              <a:t></a:t>
            </a:r>
            <a:r>
              <a:rPr sz="2325" spc="-165" baseline="-12544" dirty="0">
                <a:latin typeface="宋体"/>
                <a:cs typeface="宋体"/>
              </a:rPr>
              <a:t>log</a:t>
            </a:r>
            <a:r>
              <a:rPr sz="2325" spc="225" baseline="-12544" dirty="0">
                <a:latin typeface="宋体"/>
                <a:cs typeface="宋体"/>
              </a:rPr>
              <a:t> </a:t>
            </a:r>
            <a:r>
              <a:rPr sz="2325" spc="-75" baseline="-12544" dirty="0">
                <a:latin typeface="宋体"/>
                <a:cs typeface="宋体"/>
              </a:rPr>
              <a:t>M</a:t>
            </a:r>
            <a:r>
              <a:rPr sz="2325" spc="-75" baseline="-10752" dirty="0">
                <a:latin typeface="Symbol"/>
                <a:cs typeface="Symbol"/>
              </a:rPr>
              <a:t></a:t>
            </a:r>
            <a:r>
              <a:rPr sz="1550" spc="-50" dirty="0">
                <a:latin typeface="微软雅黑"/>
                <a:cs typeface="微软雅黑"/>
              </a:rPr>
              <a:t>。</a:t>
            </a:r>
            <a:endParaRPr sz="1550">
              <a:latin typeface="微软雅黑"/>
              <a:cs typeface="微软雅黑"/>
            </a:endParaRPr>
          </a:p>
        </p:txBody>
      </p:sp>
      <p:sp>
        <p:nvSpPr>
          <p:cNvPr id="7" name="object 7"/>
          <p:cNvSpPr txBox="1"/>
          <p:nvPr/>
        </p:nvSpPr>
        <p:spPr>
          <a:xfrm>
            <a:off x="9379595" y="3292862"/>
            <a:ext cx="600075" cy="261620"/>
          </a:xfrm>
          <a:prstGeom prst="rect">
            <a:avLst/>
          </a:prstGeom>
        </p:spPr>
        <p:txBody>
          <a:bodyPr vert="horz" wrap="square" lIns="0" tIns="12065" rIns="0" bIns="0" rtlCol="0">
            <a:spAutoFit/>
          </a:bodyPr>
          <a:lstStyle/>
          <a:p>
            <a:pPr marL="12700">
              <a:lnSpc>
                <a:spcPct val="100000"/>
              </a:lnSpc>
              <a:spcBef>
                <a:spcPts val="95"/>
              </a:spcBef>
              <a:tabLst>
                <a:tab pos="511175" algn="l"/>
              </a:tabLst>
            </a:pPr>
            <a:r>
              <a:rPr sz="1550" spc="-50" dirty="0">
                <a:latin typeface="Symbol"/>
                <a:cs typeface="Symbol"/>
              </a:rPr>
              <a:t></a:t>
            </a:r>
            <a:r>
              <a:rPr sz="1550" dirty="0">
                <a:latin typeface="Times New Roman"/>
                <a:cs typeface="Times New Roman"/>
              </a:rPr>
              <a:t>	</a:t>
            </a:r>
            <a:r>
              <a:rPr sz="1550" spc="-50" dirty="0">
                <a:latin typeface="Symbol"/>
                <a:cs typeface="Symbol"/>
              </a:rPr>
              <a:t></a:t>
            </a:r>
            <a:endParaRPr sz="1550">
              <a:latin typeface="Symbol"/>
              <a:cs typeface="Symbol"/>
            </a:endParaRPr>
          </a:p>
        </p:txBody>
      </p:sp>
      <p:grpSp>
        <p:nvGrpSpPr>
          <p:cNvPr id="8" name="object 8"/>
          <p:cNvGrpSpPr/>
          <p:nvPr/>
        </p:nvGrpSpPr>
        <p:grpSpPr>
          <a:xfrm>
            <a:off x="532523" y="1631442"/>
            <a:ext cx="4498975" cy="4704080"/>
            <a:chOff x="532523" y="1631442"/>
            <a:chExt cx="4498975" cy="4704080"/>
          </a:xfrm>
        </p:grpSpPr>
        <p:sp>
          <p:nvSpPr>
            <p:cNvPr id="9" name="object 9"/>
            <p:cNvSpPr/>
            <p:nvPr/>
          </p:nvSpPr>
          <p:spPr>
            <a:xfrm>
              <a:off x="536333" y="1636014"/>
              <a:ext cx="4490720" cy="4695825"/>
            </a:xfrm>
            <a:custGeom>
              <a:avLst/>
              <a:gdLst/>
              <a:ahLst/>
              <a:cxnLst/>
              <a:rect l="l" t="t" r="r" b="b"/>
              <a:pathLst>
                <a:path w="4490720" h="4695825">
                  <a:moveTo>
                    <a:pt x="4490466" y="4695444"/>
                  </a:moveTo>
                  <a:lnTo>
                    <a:pt x="4490466" y="0"/>
                  </a:lnTo>
                  <a:lnTo>
                    <a:pt x="0" y="0"/>
                  </a:lnTo>
                  <a:lnTo>
                    <a:pt x="0" y="4695444"/>
                  </a:lnTo>
                  <a:lnTo>
                    <a:pt x="4490466" y="4695444"/>
                  </a:lnTo>
                  <a:close/>
                </a:path>
              </a:pathLst>
            </a:custGeom>
            <a:solidFill>
              <a:srgbClr val="F9FABA"/>
            </a:solidFill>
          </p:spPr>
          <p:txBody>
            <a:bodyPr wrap="square" lIns="0" tIns="0" rIns="0" bIns="0" rtlCol="0"/>
            <a:lstStyle/>
            <a:p>
              <a:endParaRPr/>
            </a:p>
          </p:txBody>
        </p:sp>
        <p:sp>
          <p:nvSpPr>
            <p:cNvPr id="10" name="object 10"/>
            <p:cNvSpPr/>
            <p:nvPr/>
          </p:nvSpPr>
          <p:spPr>
            <a:xfrm>
              <a:off x="532523" y="1631442"/>
              <a:ext cx="4498975" cy="4704080"/>
            </a:xfrm>
            <a:custGeom>
              <a:avLst/>
              <a:gdLst/>
              <a:ahLst/>
              <a:cxnLst/>
              <a:rect l="l" t="t" r="r" b="b"/>
              <a:pathLst>
                <a:path w="4498975" h="4704080">
                  <a:moveTo>
                    <a:pt x="4498848" y="4702302"/>
                  </a:moveTo>
                  <a:lnTo>
                    <a:pt x="4498848" y="2285"/>
                  </a:lnTo>
                  <a:lnTo>
                    <a:pt x="4496562" y="0"/>
                  </a:lnTo>
                  <a:lnTo>
                    <a:pt x="1523" y="0"/>
                  </a:lnTo>
                  <a:lnTo>
                    <a:pt x="0" y="2286"/>
                  </a:lnTo>
                  <a:lnTo>
                    <a:pt x="0" y="4702302"/>
                  </a:lnTo>
                  <a:lnTo>
                    <a:pt x="1524" y="4703826"/>
                  </a:lnTo>
                  <a:lnTo>
                    <a:pt x="3810" y="4703826"/>
                  </a:lnTo>
                  <a:lnTo>
                    <a:pt x="3810" y="8382"/>
                  </a:lnTo>
                  <a:lnTo>
                    <a:pt x="8381" y="4572"/>
                  </a:lnTo>
                  <a:lnTo>
                    <a:pt x="8382" y="8382"/>
                  </a:lnTo>
                  <a:lnTo>
                    <a:pt x="4490466" y="8381"/>
                  </a:lnTo>
                  <a:lnTo>
                    <a:pt x="4490466" y="4571"/>
                  </a:lnTo>
                  <a:lnTo>
                    <a:pt x="4494276" y="8381"/>
                  </a:lnTo>
                  <a:lnTo>
                    <a:pt x="4494276" y="4703826"/>
                  </a:lnTo>
                  <a:lnTo>
                    <a:pt x="4496562" y="4703826"/>
                  </a:lnTo>
                  <a:lnTo>
                    <a:pt x="4498848" y="4702302"/>
                  </a:lnTo>
                  <a:close/>
                </a:path>
                <a:path w="4498975" h="4704080">
                  <a:moveTo>
                    <a:pt x="8381" y="8382"/>
                  </a:moveTo>
                  <a:lnTo>
                    <a:pt x="8381" y="4572"/>
                  </a:lnTo>
                  <a:lnTo>
                    <a:pt x="3810" y="8382"/>
                  </a:lnTo>
                  <a:lnTo>
                    <a:pt x="8381" y="8382"/>
                  </a:lnTo>
                  <a:close/>
                </a:path>
                <a:path w="4498975" h="4704080">
                  <a:moveTo>
                    <a:pt x="8382" y="4696206"/>
                  </a:moveTo>
                  <a:lnTo>
                    <a:pt x="8381" y="8382"/>
                  </a:lnTo>
                  <a:lnTo>
                    <a:pt x="3810" y="8382"/>
                  </a:lnTo>
                  <a:lnTo>
                    <a:pt x="3810" y="4696206"/>
                  </a:lnTo>
                  <a:lnTo>
                    <a:pt x="8382" y="4696206"/>
                  </a:lnTo>
                  <a:close/>
                </a:path>
                <a:path w="4498975" h="4704080">
                  <a:moveTo>
                    <a:pt x="4494276" y="4696206"/>
                  </a:moveTo>
                  <a:lnTo>
                    <a:pt x="3810" y="4696206"/>
                  </a:lnTo>
                  <a:lnTo>
                    <a:pt x="8382" y="4700016"/>
                  </a:lnTo>
                  <a:lnTo>
                    <a:pt x="8382" y="4703826"/>
                  </a:lnTo>
                  <a:lnTo>
                    <a:pt x="4490466" y="4703826"/>
                  </a:lnTo>
                  <a:lnTo>
                    <a:pt x="4490466" y="4700016"/>
                  </a:lnTo>
                  <a:lnTo>
                    <a:pt x="4494276" y="4696206"/>
                  </a:lnTo>
                  <a:close/>
                </a:path>
                <a:path w="4498975" h="4704080">
                  <a:moveTo>
                    <a:pt x="8382" y="4703826"/>
                  </a:moveTo>
                  <a:lnTo>
                    <a:pt x="8382" y="4700016"/>
                  </a:lnTo>
                  <a:lnTo>
                    <a:pt x="3810" y="4696206"/>
                  </a:lnTo>
                  <a:lnTo>
                    <a:pt x="3810" y="4703826"/>
                  </a:lnTo>
                  <a:lnTo>
                    <a:pt x="8382" y="4703826"/>
                  </a:lnTo>
                  <a:close/>
                </a:path>
                <a:path w="4498975" h="4704080">
                  <a:moveTo>
                    <a:pt x="4494276" y="8381"/>
                  </a:moveTo>
                  <a:lnTo>
                    <a:pt x="4490466" y="4571"/>
                  </a:lnTo>
                  <a:lnTo>
                    <a:pt x="4490466" y="8381"/>
                  </a:lnTo>
                  <a:lnTo>
                    <a:pt x="4494276" y="8381"/>
                  </a:lnTo>
                  <a:close/>
                </a:path>
                <a:path w="4498975" h="4704080">
                  <a:moveTo>
                    <a:pt x="4494276" y="4696206"/>
                  </a:moveTo>
                  <a:lnTo>
                    <a:pt x="4494276" y="8381"/>
                  </a:lnTo>
                  <a:lnTo>
                    <a:pt x="4490466" y="8381"/>
                  </a:lnTo>
                  <a:lnTo>
                    <a:pt x="4490466" y="4696206"/>
                  </a:lnTo>
                  <a:lnTo>
                    <a:pt x="4494276" y="4696206"/>
                  </a:lnTo>
                  <a:close/>
                </a:path>
                <a:path w="4498975" h="4704080">
                  <a:moveTo>
                    <a:pt x="4494276" y="4703826"/>
                  </a:moveTo>
                  <a:lnTo>
                    <a:pt x="4494276" y="4696206"/>
                  </a:lnTo>
                  <a:lnTo>
                    <a:pt x="4490466" y="4700016"/>
                  </a:lnTo>
                  <a:lnTo>
                    <a:pt x="4490466" y="4703826"/>
                  </a:lnTo>
                  <a:lnTo>
                    <a:pt x="4494276" y="4703826"/>
                  </a:lnTo>
                  <a:close/>
                </a:path>
              </a:pathLst>
            </a:custGeom>
            <a:solidFill>
              <a:srgbClr val="FF0000"/>
            </a:solidFill>
          </p:spPr>
          <p:txBody>
            <a:bodyPr wrap="square" lIns="0" tIns="0" rIns="0" bIns="0" rtlCol="0"/>
            <a:lstStyle/>
            <a:p>
              <a:endParaRPr/>
            </a:p>
          </p:txBody>
        </p:sp>
      </p:grpSp>
      <p:sp>
        <p:nvSpPr>
          <p:cNvPr id="11" name="object 11"/>
          <p:cNvSpPr txBox="1"/>
          <p:nvPr/>
        </p:nvSpPr>
        <p:spPr>
          <a:xfrm>
            <a:off x="603637" y="1657603"/>
            <a:ext cx="2240915" cy="266065"/>
          </a:xfrm>
          <a:prstGeom prst="rect">
            <a:avLst/>
          </a:prstGeom>
        </p:spPr>
        <p:txBody>
          <a:bodyPr vert="horz" wrap="square" lIns="0" tIns="15875" rIns="0" bIns="0" rtlCol="0">
            <a:spAutoFit/>
          </a:bodyPr>
          <a:lstStyle/>
          <a:p>
            <a:pPr marL="12700">
              <a:lnSpc>
                <a:spcPct val="100000"/>
              </a:lnSpc>
              <a:spcBef>
                <a:spcPts val="125"/>
              </a:spcBef>
            </a:pPr>
            <a:r>
              <a:rPr sz="1550" b="1" dirty="0">
                <a:latin typeface="Arial"/>
                <a:cs typeface="Arial"/>
              </a:rPr>
              <a:t>module</a:t>
            </a:r>
            <a:r>
              <a:rPr sz="1550" b="1" spc="60" dirty="0">
                <a:latin typeface="Arial"/>
                <a:cs typeface="Arial"/>
              </a:rPr>
              <a:t> </a:t>
            </a:r>
            <a:r>
              <a:rPr sz="1550" spc="-10" dirty="0">
                <a:latin typeface="Arial"/>
                <a:cs typeface="Arial"/>
              </a:rPr>
              <a:t>counter_mod_m</a:t>
            </a:r>
            <a:endParaRPr sz="1550">
              <a:latin typeface="Arial"/>
              <a:cs typeface="Arial"/>
            </a:endParaRPr>
          </a:p>
        </p:txBody>
      </p:sp>
      <p:sp>
        <p:nvSpPr>
          <p:cNvPr id="12" name="object 12"/>
          <p:cNvSpPr txBox="1"/>
          <p:nvPr/>
        </p:nvSpPr>
        <p:spPr>
          <a:xfrm>
            <a:off x="783215" y="1896107"/>
            <a:ext cx="3553460" cy="506730"/>
          </a:xfrm>
          <a:prstGeom prst="rect">
            <a:avLst/>
          </a:prstGeom>
        </p:spPr>
        <p:txBody>
          <a:bodyPr vert="horz" wrap="square" lIns="0" tIns="15875" rIns="0" bIns="0" rtlCol="0">
            <a:spAutoFit/>
          </a:bodyPr>
          <a:lstStyle/>
          <a:p>
            <a:pPr>
              <a:lnSpc>
                <a:spcPct val="100000"/>
              </a:lnSpc>
              <a:spcBef>
                <a:spcPts val="125"/>
              </a:spcBef>
              <a:tabLst>
                <a:tab pos="2237740" algn="l"/>
              </a:tabLst>
            </a:pPr>
            <a:r>
              <a:rPr sz="1550" dirty="0">
                <a:latin typeface="Arial"/>
                <a:cs typeface="Arial"/>
              </a:rPr>
              <a:t>#(</a:t>
            </a:r>
            <a:r>
              <a:rPr sz="1550" b="1" dirty="0">
                <a:latin typeface="Arial"/>
                <a:cs typeface="Arial"/>
              </a:rPr>
              <a:t>parameter</a:t>
            </a:r>
            <a:r>
              <a:rPr sz="1550" b="1" spc="30" dirty="0">
                <a:latin typeface="Arial"/>
                <a:cs typeface="Arial"/>
              </a:rPr>
              <a:t> </a:t>
            </a:r>
            <a:r>
              <a:rPr sz="1550" dirty="0">
                <a:latin typeface="Arial"/>
                <a:cs typeface="Arial"/>
              </a:rPr>
              <a:t>N</a:t>
            </a:r>
            <a:r>
              <a:rPr sz="1550" spc="20" dirty="0">
                <a:latin typeface="Arial"/>
                <a:cs typeface="Arial"/>
              </a:rPr>
              <a:t> = </a:t>
            </a:r>
            <a:r>
              <a:rPr sz="1550" spc="-35" dirty="0">
                <a:latin typeface="Arial"/>
                <a:cs typeface="Arial"/>
              </a:rPr>
              <a:t>4,</a:t>
            </a:r>
            <a:r>
              <a:rPr sz="1550" dirty="0">
                <a:latin typeface="Arial"/>
                <a:cs typeface="Arial"/>
              </a:rPr>
              <a:t>	//</a:t>
            </a:r>
            <a:r>
              <a:rPr sz="1550" spc="-10" dirty="0">
                <a:latin typeface="微软雅黑"/>
                <a:cs typeface="微软雅黑"/>
              </a:rPr>
              <a:t>计数器位数</a:t>
            </a:r>
            <a:endParaRPr sz="1550">
              <a:latin typeface="微软雅黑"/>
              <a:cs typeface="微软雅黑"/>
            </a:endParaRPr>
          </a:p>
          <a:p>
            <a:pPr marL="166370">
              <a:lnSpc>
                <a:spcPct val="100000"/>
              </a:lnSpc>
              <a:spcBef>
                <a:spcPts val="35"/>
              </a:spcBef>
              <a:tabLst>
                <a:tab pos="2237740" algn="l"/>
              </a:tabLst>
            </a:pPr>
            <a:r>
              <a:rPr sz="1550" b="1" dirty="0">
                <a:latin typeface="Arial"/>
                <a:cs typeface="Arial"/>
              </a:rPr>
              <a:t>parameter</a:t>
            </a:r>
            <a:r>
              <a:rPr sz="1550" b="1" spc="35" dirty="0">
                <a:latin typeface="Arial"/>
                <a:cs typeface="Arial"/>
              </a:rPr>
              <a:t> </a:t>
            </a:r>
            <a:r>
              <a:rPr sz="1550" dirty="0">
                <a:latin typeface="Arial"/>
                <a:cs typeface="Arial"/>
              </a:rPr>
              <a:t>M</a:t>
            </a:r>
            <a:r>
              <a:rPr sz="1550" spc="15" dirty="0">
                <a:latin typeface="Arial"/>
                <a:cs typeface="Arial"/>
              </a:rPr>
              <a:t> = </a:t>
            </a:r>
            <a:r>
              <a:rPr sz="1550" spc="-25" dirty="0">
                <a:latin typeface="Arial"/>
                <a:cs typeface="Arial"/>
              </a:rPr>
              <a:t>10)</a:t>
            </a:r>
            <a:r>
              <a:rPr sz="1550" dirty="0">
                <a:latin typeface="Arial"/>
                <a:cs typeface="Arial"/>
              </a:rPr>
              <a:t>	//</a:t>
            </a:r>
            <a:r>
              <a:rPr sz="1550" dirty="0">
                <a:latin typeface="微软雅黑"/>
                <a:cs typeface="微软雅黑"/>
              </a:rPr>
              <a:t>模</a:t>
            </a:r>
            <a:r>
              <a:rPr sz="1550" dirty="0">
                <a:latin typeface="Arial"/>
                <a:cs typeface="Arial"/>
              </a:rPr>
              <a:t>M</a:t>
            </a:r>
            <a:r>
              <a:rPr sz="1550" dirty="0">
                <a:latin typeface="微软雅黑"/>
                <a:cs typeface="微软雅黑"/>
              </a:rPr>
              <a:t>缺省为</a:t>
            </a:r>
            <a:r>
              <a:rPr sz="1550" spc="-25" dirty="0">
                <a:latin typeface="Arial"/>
                <a:cs typeface="Arial"/>
              </a:rPr>
              <a:t>10</a:t>
            </a:r>
            <a:endParaRPr sz="1550">
              <a:latin typeface="Arial"/>
              <a:cs typeface="Arial"/>
            </a:endParaRPr>
          </a:p>
        </p:txBody>
      </p:sp>
      <p:sp>
        <p:nvSpPr>
          <p:cNvPr id="13" name="object 13"/>
          <p:cNvSpPr txBox="1"/>
          <p:nvPr/>
        </p:nvSpPr>
        <p:spPr>
          <a:xfrm>
            <a:off x="950113" y="2378444"/>
            <a:ext cx="67310" cy="266065"/>
          </a:xfrm>
          <a:prstGeom prst="rect">
            <a:avLst/>
          </a:prstGeom>
        </p:spPr>
        <p:txBody>
          <a:bodyPr vert="horz" wrap="square" lIns="0" tIns="15875" rIns="0" bIns="0" rtlCol="0">
            <a:spAutoFit/>
          </a:bodyPr>
          <a:lstStyle/>
          <a:p>
            <a:pPr>
              <a:lnSpc>
                <a:spcPct val="100000"/>
              </a:lnSpc>
              <a:spcBef>
                <a:spcPts val="125"/>
              </a:spcBef>
            </a:pPr>
            <a:r>
              <a:rPr sz="1550" spc="-50" dirty="0">
                <a:latin typeface="Arial"/>
                <a:cs typeface="Arial"/>
              </a:rPr>
              <a:t>(</a:t>
            </a:r>
            <a:endParaRPr sz="1550">
              <a:latin typeface="Arial"/>
              <a:cs typeface="Arial"/>
            </a:endParaRPr>
          </a:p>
        </p:txBody>
      </p:sp>
      <p:sp>
        <p:nvSpPr>
          <p:cNvPr id="14" name="object 14"/>
          <p:cNvSpPr txBox="1"/>
          <p:nvPr/>
        </p:nvSpPr>
        <p:spPr>
          <a:xfrm>
            <a:off x="950113" y="2619231"/>
            <a:ext cx="1781810" cy="1228090"/>
          </a:xfrm>
          <a:prstGeom prst="rect">
            <a:avLst/>
          </a:prstGeom>
        </p:spPr>
        <p:txBody>
          <a:bodyPr vert="horz" wrap="square" lIns="0" tIns="12065" rIns="0" bIns="0" rtlCol="0">
            <a:spAutoFit/>
          </a:bodyPr>
          <a:lstStyle/>
          <a:p>
            <a:pPr marL="167005">
              <a:lnSpc>
                <a:spcPct val="101800"/>
              </a:lnSpc>
              <a:spcBef>
                <a:spcPts val="95"/>
              </a:spcBef>
            </a:pPr>
            <a:r>
              <a:rPr sz="1550" b="1" dirty="0">
                <a:latin typeface="Arial"/>
                <a:cs typeface="Arial"/>
              </a:rPr>
              <a:t>input</a:t>
            </a:r>
            <a:r>
              <a:rPr sz="1550" b="1" spc="470" dirty="0">
                <a:latin typeface="Arial"/>
                <a:cs typeface="Arial"/>
              </a:rPr>
              <a:t> </a:t>
            </a:r>
            <a:r>
              <a:rPr sz="1550" spc="-10" dirty="0">
                <a:latin typeface="Arial"/>
                <a:cs typeface="Arial"/>
              </a:rPr>
              <a:t>clk,reset, </a:t>
            </a:r>
            <a:r>
              <a:rPr sz="1550" b="1" dirty="0">
                <a:latin typeface="Arial"/>
                <a:cs typeface="Arial"/>
              </a:rPr>
              <a:t>output</a:t>
            </a:r>
            <a:r>
              <a:rPr sz="1550" b="1" spc="45" dirty="0">
                <a:latin typeface="Arial"/>
                <a:cs typeface="Arial"/>
              </a:rPr>
              <a:t> </a:t>
            </a:r>
            <a:r>
              <a:rPr sz="1550" dirty="0">
                <a:latin typeface="Arial"/>
                <a:cs typeface="Arial"/>
              </a:rPr>
              <a:t>[N-1:0]</a:t>
            </a:r>
            <a:r>
              <a:rPr sz="1550" spc="65" dirty="0">
                <a:latin typeface="Arial"/>
                <a:cs typeface="Arial"/>
              </a:rPr>
              <a:t> </a:t>
            </a:r>
            <a:r>
              <a:rPr sz="1550" spc="-25" dirty="0">
                <a:latin typeface="Arial"/>
                <a:cs typeface="Arial"/>
              </a:rPr>
              <a:t>qd, </a:t>
            </a:r>
            <a:r>
              <a:rPr sz="1550" b="1" dirty="0">
                <a:latin typeface="Arial"/>
                <a:cs typeface="Arial"/>
              </a:rPr>
              <a:t>output</a:t>
            </a:r>
            <a:r>
              <a:rPr sz="1550" b="1" spc="475" dirty="0">
                <a:latin typeface="Arial"/>
                <a:cs typeface="Arial"/>
              </a:rPr>
              <a:t> </a:t>
            </a:r>
            <a:r>
              <a:rPr sz="1550" spc="-20" dirty="0">
                <a:latin typeface="Arial"/>
                <a:cs typeface="Arial"/>
              </a:rPr>
              <a:t>cout</a:t>
            </a:r>
            <a:endParaRPr sz="1550">
              <a:latin typeface="Arial"/>
              <a:cs typeface="Arial"/>
            </a:endParaRPr>
          </a:p>
          <a:p>
            <a:pPr>
              <a:lnSpc>
                <a:spcPct val="100000"/>
              </a:lnSpc>
              <a:spcBef>
                <a:spcPts val="35"/>
              </a:spcBef>
            </a:pPr>
            <a:r>
              <a:rPr sz="1550" spc="-25" dirty="0">
                <a:latin typeface="Arial"/>
                <a:cs typeface="Arial"/>
              </a:rPr>
              <a:t>);</a:t>
            </a:r>
            <a:endParaRPr sz="1550">
              <a:latin typeface="Arial"/>
              <a:cs typeface="Arial"/>
            </a:endParaRPr>
          </a:p>
          <a:p>
            <a:pPr>
              <a:lnSpc>
                <a:spcPct val="100000"/>
              </a:lnSpc>
              <a:spcBef>
                <a:spcPts val="30"/>
              </a:spcBef>
            </a:pPr>
            <a:r>
              <a:rPr sz="1550" b="1" dirty="0">
                <a:latin typeface="Arial"/>
                <a:cs typeface="Arial"/>
              </a:rPr>
              <a:t>reg</a:t>
            </a:r>
            <a:r>
              <a:rPr sz="1550" b="1" spc="65" dirty="0">
                <a:latin typeface="Arial"/>
                <a:cs typeface="Arial"/>
              </a:rPr>
              <a:t> </a:t>
            </a:r>
            <a:r>
              <a:rPr sz="1550" dirty="0">
                <a:latin typeface="Arial"/>
                <a:cs typeface="Arial"/>
              </a:rPr>
              <a:t>[N-1:0]</a:t>
            </a:r>
            <a:r>
              <a:rPr sz="1550" spc="60" dirty="0">
                <a:latin typeface="Arial"/>
                <a:cs typeface="Arial"/>
              </a:rPr>
              <a:t> </a:t>
            </a:r>
            <a:r>
              <a:rPr sz="1550" spc="-10" dirty="0">
                <a:latin typeface="Arial"/>
                <a:cs typeface="Arial"/>
              </a:rPr>
              <a:t>regN;</a:t>
            </a:r>
            <a:endParaRPr sz="1550">
              <a:latin typeface="Arial"/>
              <a:cs typeface="Arial"/>
            </a:endParaRPr>
          </a:p>
        </p:txBody>
      </p:sp>
      <p:sp>
        <p:nvSpPr>
          <p:cNvPr id="15" name="object 15"/>
          <p:cNvSpPr txBox="1"/>
          <p:nvPr/>
        </p:nvSpPr>
        <p:spPr>
          <a:xfrm>
            <a:off x="659270" y="3821648"/>
            <a:ext cx="4195445" cy="2751455"/>
          </a:xfrm>
          <a:prstGeom prst="rect">
            <a:avLst/>
          </a:prstGeom>
        </p:spPr>
        <p:txBody>
          <a:bodyPr vert="horz" wrap="square" lIns="0" tIns="15875" rIns="0" bIns="0" rtlCol="0">
            <a:spAutoFit/>
          </a:bodyPr>
          <a:lstStyle/>
          <a:p>
            <a:pPr marL="290830">
              <a:lnSpc>
                <a:spcPct val="100000"/>
              </a:lnSpc>
              <a:spcBef>
                <a:spcPts val="125"/>
              </a:spcBef>
            </a:pPr>
            <a:r>
              <a:rPr sz="1550" b="1" dirty="0">
                <a:latin typeface="Arial"/>
                <a:cs typeface="Arial"/>
              </a:rPr>
              <a:t>always</a:t>
            </a:r>
            <a:r>
              <a:rPr sz="1550" b="1" spc="60" dirty="0">
                <a:latin typeface="Arial"/>
                <a:cs typeface="Arial"/>
              </a:rPr>
              <a:t> </a:t>
            </a:r>
            <a:r>
              <a:rPr sz="1550" dirty="0">
                <a:latin typeface="Arial"/>
                <a:cs typeface="Arial"/>
              </a:rPr>
              <a:t>@(</a:t>
            </a:r>
            <a:r>
              <a:rPr sz="1550" b="1" dirty="0">
                <a:latin typeface="Arial"/>
                <a:cs typeface="Arial"/>
              </a:rPr>
              <a:t>posedge</a:t>
            </a:r>
            <a:r>
              <a:rPr sz="1550" b="1" spc="55" dirty="0">
                <a:latin typeface="Arial"/>
                <a:cs typeface="Arial"/>
              </a:rPr>
              <a:t> </a:t>
            </a:r>
            <a:r>
              <a:rPr sz="1550" spc="-20" dirty="0">
                <a:latin typeface="Arial"/>
                <a:cs typeface="Arial"/>
              </a:rPr>
              <a:t>clk)</a:t>
            </a:r>
            <a:endParaRPr sz="1550">
              <a:latin typeface="Arial"/>
              <a:cs typeface="Arial"/>
            </a:endParaRPr>
          </a:p>
          <a:p>
            <a:pPr marL="569595">
              <a:lnSpc>
                <a:spcPct val="100000"/>
              </a:lnSpc>
              <a:spcBef>
                <a:spcPts val="35"/>
              </a:spcBef>
            </a:pPr>
            <a:r>
              <a:rPr sz="1550" b="1" spc="-10" dirty="0">
                <a:latin typeface="Arial"/>
                <a:cs typeface="Arial"/>
              </a:rPr>
              <a:t>if</a:t>
            </a:r>
            <a:r>
              <a:rPr sz="1550" spc="-10" dirty="0">
                <a:latin typeface="Arial"/>
                <a:cs typeface="Arial"/>
              </a:rPr>
              <a:t>(reset)</a:t>
            </a:r>
            <a:endParaRPr sz="1550">
              <a:latin typeface="Arial"/>
              <a:cs typeface="Arial"/>
            </a:endParaRPr>
          </a:p>
          <a:p>
            <a:pPr marL="902969">
              <a:lnSpc>
                <a:spcPct val="100000"/>
              </a:lnSpc>
              <a:spcBef>
                <a:spcPts val="30"/>
              </a:spcBef>
            </a:pPr>
            <a:r>
              <a:rPr sz="1550" dirty="0">
                <a:latin typeface="Arial"/>
                <a:cs typeface="Arial"/>
              </a:rPr>
              <a:t>regN</a:t>
            </a:r>
            <a:r>
              <a:rPr sz="1550" spc="40" dirty="0">
                <a:latin typeface="Arial"/>
                <a:cs typeface="Arial"/>
              </a:rPr>
              <a:t> </a:t>
            </a:r>
            <a:r>
              <a:rPr sz="1550" dirty="0">
                <a:latin typeface="Arial"/>
                <a:cs typeface="Arial"/>
              </a:rPr>
              <a:t>&lt;=</a:t>
            </a:r>
            <a:r>
              <a:rPr sz="1550" spc="30" dirty="0">
                <a:latin typeface="Arial"/>
                <a:cs typeface="Arial"/>
              </a:rPr>
              <a:t> </a:t>
            </a:r>
            <a:r>
              <a:rPr sz="1550" spc="-25" dirty="0">
                <a:latin typeface="Arial"/>
                <a:cs typeface="Arial"/>
              </a:rPr>
              <a:t>0;</a:t>
            </a:r>
            <a:endParaRPr sz="1550">
              <a:latin typeface="Arial"/>
              <a:cs typeface="Arial"/>
            </a:endParaRPr>
          </a:p>
          <a:p>
            <a:pPr marL="902969" marR="1675130" indent="-389890">
              <a:lnSpc>
                <a:spcPct val="101600"/>
              </a:lnSpc>
              <a:spcBef>
                <a:spcPts val="10"/>
              </a:spcBef>
            </a:pPr>
            <a:r>
              <a:rPr sz="1550" b="1" dirty="0">
                <a:latin typeface="Arial"/>
                <a:cs typeface="Arial"/>
              </a:rPr>
              <a:t>else</a:t>
            </a:r>
            <a:r>
              <a:rPr sz="1550" b="1" spc="35" dirty="0">
                <a:latin typeface="Arial"/>
                <a:cs typeface="Arial"/>
              </a:rPr>
              <a:t> </a:t>
            </a:r>
            <a:r>
              <a:rPr sz="1550" b="1" dirty="0">
                <a:latin typeface="Arial"/>
                <a:cs typeface="Arial"/>
              </a:rPr>
              <a:t>if</a:t>
            </a:r>
            <a:r>
              <a:rPr sz="1550" b="1" spc="40" dirty="0">
                <a:latin typeface="Arial"/>
                <a:cs typeface="Arial"/>
              </a:rPr>
              <a:t> </a:t>
            </a:r>
            <a:r>
              <a:rPr sz="1550" dirty="0">
                <a:latin typeface="Arial"/>
                <a:cs typeface="Arial"/>
              </a:rPr>
              <a:t>(regN</a:t>
            </a:r>
            <a:r>
              <a:rPr sz="1550" spc="30" dirty="0">
                <a:latin typeface="Arial"/>
                <a:cs typeface="Arial"/>
              </a:rPr>
              <a:t> </a:t>
            </a:r>
            <a:r>
              <a:rPr sz="1550" dirty="0">
                <a:latin typeface="Arial"/>
                <a:cs typeface="Arial"/>
              </a:rPr>
              <a:t>&lt;</a:t>
            </a:r>
            <a:r>
              <a:rPr sz="1550" spc="40" dirty="0">
                <a:latin typeface="Arial"/>
                <a:cs typeface="Arial"/>
              </a:rPr>
              <a:t> </a:t>
            </a:r>
            <a:r>
              <a:rPr sz="1550" dirty="0">
                <a:latin typeface="Arial"/>
                <a:cs typeface="Arial"/>
              </a:rPr>
              <a:t>(M-</a:t>
            </a:r>
            <a:r>
              <a:rPr sz="1550" spc="-25" dirty="0">
                <a:latin typeface="Arial"/>
                <a:cs typeface="Arial"/>
              </a:rPr>
              <a:t>1)) </a:t>
            </a:r>
            <a:r>
              <a:rPr sz="1550" dirty="0">
                <a:latin typeface="Arial"/>
                <a:cs typeface="Arial"/>
              </a:rPr>
              <a:t>regN</a:t>
            </a:r>
            <a:r>
              <a:rPr sz="1550" spc="35" dirty="0">
                <a:latin typeface="Arial"/>
                <a:cs typeface="Arial"/>
              </a:rPr>
              <a:t> </a:t>
            </a:r>
            <a:r>
              <a:rPr sz="1550" dirty="0">
                <a:latin typeface="Arial"/>
                <a:cs typeface="Arial"/>
              </a:rPr>
              <a:t>&lt;=</a:t>
            </a:r>
            <a:r>
              <a:rPr sz="1550" spc="30" dirty="0">
                <a:latin typeface="Arial"/>
                <a:cs typeface="Arial"/>
              </a:rPr>
              <a:t> </a:t>
            </a:r>
            <a:r>
              <a:rPr sz="1550" dirty="0">
                <a:latin typeface="Arial"/>
                <a:cs typeface="Arial"/>
              </a:rPr>
              <a:t>regN</a:t>
            </a:r>
            <a:r>
              <a:rPr sz="1550" spc="35" dirty="0">
                <a:latin typeface="Arial"/>
                <a:cs typeface="Arial"/>
              </a:rPr>
              <a:t> </a:t>
            </a:r>
            <a:r>
              <a:rPr sz="1550" dirty="0">
                <a:latin typeface="Arial"/>
                <a:cs typeface="Arial"/>
              </a:rPr>
              <a:t>+</a:t>
            </a:r>
            <a:r>
              <a:rPr sz="1550" spc="30" dirty="0">
                <a:latin typeface="Arial"/>
                <a:cs typeface="Arial"/>
              </a:rPr>
              <a:t> </a:t>
            </a:r>
            <a:r>
              <a:rPr sz="1550" spc="-25" dirty="0">
                <a:latin typeface="Arial"/>
                <a:cs typeface="Arial"/>
              </a:rPr>
              <a:t>1;</a:t>
            </a:r>
            <a:endParaRPr sz="1550">
              <a:latin typeface="Arial"/>
              <a:cs typeface="Arial"/>
            </a:endParaRPr>
          </a:p>
          <a:p>
            <a:pPr marL="513715">
              <a:lnSpc>
                <a:spcPct val="100000"/>
              </a:lnSpc>
              <a:spcBef>
                <a:spcPts val="35"/>
              </a:spcBef>
            </a:pPr>
            <a:r>
              <a:rPr sz="1550" b="1" spc="-20" dirty="0">
                <a:latin typeface="Arial"/>
                <a:cs typeface="Arial"/>
              </a:rPr>
              <a:t>else</a:t>
            </a:r>
            <a:endParaRPr sz="1550">
              <a:latin typeface="Arial"/>
              <a:cs typeface="Arial"/>
            </a:endParaRPr>
          </a:p>
          <a:p>
            <a:pPr marL="902969">
              <a:lnSpc>
                <a:spcPct val="100000"/>
              </a:lnSpc>
              <a:spcBef>
                <a:spcPts val="35"/>
              </a:spcBef>
            </a:pPr>
            <a:r>
              <a:rPr sz="1550" dirty="0">
                <a:latin typeface="Arial"/>
                <a:cs typeface="Arial"/>
              </a:rPr>
              <a:t>regN</a:t>
            </a:r>
            <a:r>
              <a:rPr sz="1550" spc="40" dirty="0">
                <a:latin typeface="Arial"/>
                <a:cs typeface="Arial"/>
              </a:rPr>
              <a:t> </a:t>
            </a:r>
            <a:r>
              <a:rPr sz="1550" dirty="0">
                <a:latin typeface="Arial"/>
                <a:cs typeface="Arial"/>
              </a:rPr>
              <a:t>&lt;=</a:t>
            </a:r>
            <a:r>
              <a:rPr sz="1550" spc="30" dirty="0">
                <a:latin typeface="Arial"/>
                <a:cs typeface="Arial"/>
              </a:rPr>
              <a:t> </a:t>
            </a:r>
            <a:r>
              <a:rPr sz="1550" spc="-25" dirty="0">
                <a:latin typeface="Arial"/>
                <a:cs typeface="Arial"/>
              </a:rPr>
              <a:t>0;</a:t>
            </a:r>
            <a:endParaRPr sz="1550">
              <a:latin typeface="Arial"/>
              <a:cs typeface="Arial"/>
            </a:endParaRPr>
          </a:p>
          <a:p>
            <a:pPr marL="513715">
              <a:lnSpc>
                <a:spcPct val="100000"/>
              </a:lnSpc>
              <a:spcBef>
                <a:spcPts val="30"/>
              </a:spcBef>
            </a:pPr>
            <a:r>
              <a:rPr sz="1550" b="1" dirty="0">
                <a:latin typeface="Arial"/>
                <a:cs typeface="Arial"/>
              </a:rPr>
              <a:t>assign</a:t>
            </a:r>
            <a:r>
              <a:rPr sz="1550" b="1" spc="20" dirty="0">
                <a:latin typeface="Arial"/>
                <a:cs typeface="Arial"/>
              </a:rPr>
              <a:t> </a:t>
            </a:r>
            <a:r>
              <a:rPr sz="1550" dirty="0">
                <a:latin typeface="Arial"/>
                <a:cs typeface="Arial"/>
              </a:rPr>
              <a:t>qd</a:t>
            </a:r>
            <a:r>
              <a:rPr sz="1550" spc="35" dirty="0">
                <a:latin typeface="Arial"/>
                <a:cs typeface="Arial"/>
              </a:rPr>
              <a:t> </a:t>
            </a:r>
            <a:r>
              <a:rPr sz="1550" dirty="0">
                <a:latin typeface="Arial"/>
                <a:cs typeface="Arial"/>
              </a:rPr>
              <a:t>=</a:t>
            </a:r>
            <a:r>
              <a:rPr sz="1550" spc="25" dirty="0">
                <a:latin typeface="Arial"/>
                <a:cs typeface="Arial"/>
              </a:rPr>
              <a:t> </a:t>
            </a:r>
            <a:r>
              <a:rPr sz="1550" spc="-10" dirty="0">
                <a:latin typeface="Arial"/>
                <a:cs typeface="Arial"/>
              </a:rPr>
              <a:t>regN;</a:t>
            </a:r>
            <a:endParaRPr sz="1550">
              <a:latin typeface="Arial"/>
              <a:cs typeface="Arial"/>
            </a:endParaRPr>
          </a:p>
          <a:p>
            <a:pPr marL="513715">
              <a:lnSpc>
                <a:spcPct val="100000"/>
              </a:lnSpc>
              <a:spcBef>
                <a:spcPts val="35"/>
              </a:spcBef>
            </a:pPr>
            <a:r>
              <a:rPr sz="1550" b="1" dirty="0">
                <a:latin typeface="Arial"/>
                <a:cs typeface="Arial"/>
              </a:rPr>
              <a:t>assign</a:t>
            </a:r>
            <a:r>
              <a:rPr sz="1550" b="1" spc="25" dirty="0">
                <a:latin typeface="Arial"/>
                <a:cs typeface="Arial"/>
              </a:rPr>
              <a:t> </a:t>
            </a:r>
            <a:r>
              <a:rPr sz="1550" dirty="0">
                <a:latin typeface="Arial"/>
                <a:cs typeface="Arial"/>
              </a:rPr>
              <a:t>cout</a:t>
            </a:r>
            <a:r>
              <a:rPr sz="1550" spc="40" dirty="0">
                <a:latin typeface="Arial"/>
                <a:cs typeface="Arial"/>
              </a:rPr>
              <a:t> </a:t>
            </a:r>
            <a:r>
              <a:rPr sz="1550" dirty="0">
                <a:latin typeface="Arial"/>
                <a:cs typeface="Arial"/>
              </a:rPr>
              <a:t>=</a:t>
            </a:r>
            <a:r>
              <a:rPr sz="1550" spc="35" dirty="0">
                <a:latin typeface="Arial"/>
                <a:cs typeface="Arial"/>
              </a:rPr>
              <a:t> </a:t>
            </a:r>
            <a:r>
              <a:rPr sz="1550" dirty="0">
                <a:latin typeface="Arial"/>
                <a:cs typeface="Arial"/>
              </a:rPr>
              <a:t>(regN</a:t>
            </a:r>
            <a:r>
              <a:rPr sz="1550" spc="35" dirty="0">
                <a:latin typeface="Arial"/>
                <a:cs typeface="Arial"/>
              </a:rPr>
              <a:t> </a:t>
            </a:r>
            <a:r>
              <a:rPr sz="1550" dirty="0">
                <a:latin typeface="Arial"/>
                <a:cs typeface="Arial"/>
              </a:rPr>
              <a:t>==</a:t>
            </a:r>
            <a:r>
              <a:rPr sz="1550" spc="35" dirty="0">
                <a:latin typeface="Arial"/>
                <a:cs typeface="Arial"/>
              </a:rPr>
              <a:t> </a:t>
            </a:r>
            <a:r>
              <a:rPr sz="1550" dirty="0">
                <a:latin typeface="Arial"/>
                <a:cs typeface="Arial"/>
              </a:rPr>
              <a:t>(M-</a:t>
            </a:r>
            <a:r>
              <a:rPr sz="1550" spc="-10" dirty="0">
                <a:latin typeface="Arial"/>
                <a:cs typeface="Arial"/>
              </a:rPr>
              <a:t>1))?1’b1:1’b0;</a:t>
            </a:r>
            <a:endParaRPr sz="1550">
              <a:latin typeface="Arial"/>
              <a:cs typeface="Arial"/>
            </a:endParaRPr>
          </a:p>
          <a:p>
            <a:pPr marL="12700">
              <a:lnSpc>
                <a:spcPct val="100000"/>
              </a:lnSpc>
              <a:spcBef>
                <a:spcPts val="30"/>
              </a:spcBef>
            </a:pPr>
            <a:r>
              <a:rPr sz="1550" b="1" spc="-10" dirty="0">
                <a:latin typeface="Arial"/>
                <a:cs typeface="Arial"/>
              </a:rPr>
              <a:t>endmodule</a:t>
            </a:r>
            <a:endParaRPr sz="1550">
              <a:latin typeface="Arial"/>
              <a:cs typeface="Arial"/>
            </a:endParaRPr>
          </a:p>
          <a:p>
            <a:pPr marL="26034" algn="ctr">
              <a:lnSpc>
                <a:spcPct val="100000"/>
              </a:lnSpc>
              <a:spcBef>
                <a:spcPts val="1090"/>
              </a:spcBef>
            </a:pPr>
            <a:r>
              <a:rPr sz="1200" spc="15" dirty="0">
                <a:latin typeface="微软雅黑"/>
                <a:cs typeface="微软雅黑"/>
              </a:rPr>
              <a:t>例 </a:t>
            </a:r>
            <a:r>
              <a:rPr sz="1200" dirty="0">
                <a:latin typeface="Arial"/>
                <a:cs typeface="Arial"/>
              </a:rPr>
              <a:t>4.15</a:t>
            </a:r>
            <a:r>
              <a:rPr sz="1200" spc="450" dirty="0">
                <a:latin typeface="Arial"/>
                <a:cs typeface="Arial"/>
              </a:rPr>
              <a:t> </a:t>
            </a:r>
            <a:r>
              <a:rPr sz="1200" dirty="0">
                <a:latin typeface="微软雅黑"/>
                <a:cs typeface="微软雅黑"/>
              </a:rPr>
              <a:t>模</a:t>
            </a:r>
            <a:r>
              <a:rPr sz="1200" dirty="0">
                <a:latin typeface="Arial"/>
                <a:cs typeface="Arial"/>
              </a:rPr>
              <a:t>m</a:t>
            </a:r>
            <a:r>
              <a:rPr sz="1200" spc="-10" dirty="0">
                <a:latin typeface="微软雅黑"/>
                <a:cs typeface="微软雅黑"/>
              </a:rPr>
              <a:t>计数器描述</a:t>
            </a:r>
            <a:endParaRPr sz="1200">
              <a:latin typeface="微软雅黑"/>
              <a:cs typeface="微软雅黑"/>
            </a:endParaRPr>
          </a:p>
        </p:txBody>
      </p:sp>
      <p:pic>
        <p:nvPicPr>
          <p:cNvPr id="16" name="object 16"/>
          <p:cNvPicPr/>
          <p:nvPr/>
        </p:nvPicPr>
        <p:blipFill>
          <a:blip r:embed="rId2" cstate="print"/>
          <a:stretch>
            <a:fillRect/>
          </a:stretch>
        </p:blipFill>
        <p:spPr>
          <a:xfrm>
            <a:off x="5416181" y="4388358"/>
            <a:ext cx="4864607" cy="1943100"/>
          </a:xfrm>
          <a:prstGeom prst="rect">
            <a:avLst/>
          </a:prstGeom>
        </p:spPr>
      </p:pic>
      <p:sp>
        <p:nvSpPr>
          <p:cNvPr id="17" name="object 17"/>
          <p:cNvSpPr txBox="1"/>
          <p:nvPr/>
        </p:nvSpPr>
        <p:spPr>
          <a:xfrm>
            <a:off x="6254629" y="6358382"/>
            <a:ext cx="3039110" cy="213360"/>
          </a:xfrm>
          <a:prstGeom prst="rect">
            <a:avLst/>
          </a:prstGeom>
        </p:spPr>
        <p:txBody>
          <a:bodyPr vert="horz" wrap="square" lIns="0" tIns="16510" rIns="0" bIns="0" rtlCol="0">
            <a:spAutoFit/>
          </a:bodyPr>
          <a:lstStyle/>
          <a:p>
            <a:pPr marL="12700">
              <a:lnSpc>
                <a:spcPct val="100000"/>
              </a:lnSpc>
              <a:spcBef>
                <a:spcPts val="130"/>
              </a:spcBef>
            </a:pPr>
            <a:r>
              <a:rPr sz="1200" spc="45" dirty="0">
                <a:latin typeface="微软雅黑"/>
                <a:cs typeface="微软雅黑"/>
              </a:rPr>
              <a:t>例 </a:t>
            </a:r>
            <a:r>
              <a:rPr sz="1200" dirty="0">
                <a:latin typeface="Arial"/>
                <a:cs typeface="Arial"/>
              </a:rPr>
              <a:t>4.19</a:t>
            </a:r>
            <a:r>
              <a:rPr sz="1200" spc="110" dirty="0">
                <a:latin typeface="Arial"/>
                <a:cs typeface="Arial"/>
              </a:rPr>
              <a:t>  </a:t>
            </a:r>
            <a:r>
              <a:rPr sz="1200" dirty="0">
                <a:latin typeface="微软雅黑"/>
                <a:cs typeface="微软雅黑"/>
              </a:rPr>
              <a:t>简单</a:t>
            </a:r>
            <a:r>
              <a:rPr sz="1200" dirty="0">
                <a:latin typeface="Arial"/>
                <a:cs typeface="Arial"/>
              </a:rPr>
              <a:t>8</a:t>
            </a:r>
            <a:r>
              <a:rPr sz="1200" spc="-5" dirty="0">
                <a:latin typeface="微软雅黑"/>
                <a:cs typeface="微软雅黑"/>
              </a:rPr>
              <a:t>位二进制计数器的仿真时序图</a:t>
            </a:r>
            <a:endParaRPr sz="1200">
              <a:latin typeface="微软雅黑"/>
              <a:cs typeface="微软雅黑"/>
            </a:endParaRPr>
          </a:p>
        </p:txBody>
      </p:sp>
      <p:sp>
        <p:nvSpPr>
          <p:cNvPr id="18" name="object 1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5962" y="2409385"/>
            <a:ext cx="155066" cy="145659"/>
          </a:xfrm>
          <a:prstGeom prst="rect">
            <a:avLst/>
          </a:prstGeom>
        </p:spPr>
      </p:pic>
      <p:sp>
        <p:nvSpPr>
          <p:cNvPr id="3" name="object 3"/>
          <p:cNvSpPr txBox="1"/>
          <p:nvPr/>
        </p:nvSpPr>
        <p:spPr>
          <a:xfrm>
            <a:off x="604399" y="1546334"/>
            <a:ext cx="9345930" cy="1718945"/>
          </a:xfrm>
          <a:prstGeom prst="rect">
            <a:avLst/>
          </a:prstGeom>
        </p:spPr>
        <p:txBody>
          <a:bodyPr vert="horz" wrap="square" lIns="0" tIns="205740" rIns="0" bIns="0" rtlCol="0">
            <a:spAutoFit/>
          </a:bodyPr>
          <a:lstStyle/>
          <a:p>
            <a:pPr marL="12700">
              <a:lnSpc>
                <a:spcPct val="100000"/>
              </a:lnSpc>
              <a:spcBef>
                <a:spcPts val="1620"/>
              </a:spcBef>
              <a:tabLst>
                <a:tab pos="1000760" algn="l"/>
              </a:tabLst>
            </a:pPr>
            <a:r>
              <a:rPr sz="2800" spc="-10" dirty="0">
                <a:solidFill>
                  <a:srgbClr val="3E3E3E"/>
                </a:solidFill>
                <a:latin typeface="Arial"/>
                <a:cs typeface="Arial"/>
              </a:rPr>
              <a:t>4.5.1</a:t>
            </a:r>
            <a:r>
              <a:rPr sz="2800" dirty="0">
                <a:solidFill>
                  <a:srgbClr val="3E3E3E"/>
                </a:solidFill>
                <a:latin typeface="Arial"/>
                <a:cs typeface="Arial"/>
              </a:rPr>
              <a:t>	</a:t>
            </a:r>
            <a:r>
              <a:rPr sz="2800" spc="-15" dirty="0">
                <a:solidFill>
                  <a:srgbClr val="3E3E3E"/>
                </a:solidFill>
                <a:latin typeface="微软雅黑"/>
                <a:cs typeface="微软雅黑"/>
              </a:rPr>
              <a:t>数码管扫描显示电路</a:t>
            </a:r>
            <a:endParaRPr sz="2800">
              <a:latin typeface="微软雅黑"/>
              <a:cs typeface="微软雅黑"/>
            </a:endParaRPr>
          </a:p>
          <a:p>
            <a:pPr marL="267970" marR="5080" algn="just">
              <a:lnSpc>
                <a:spcPct val="111700"/>
              </a:lnSpc>
              <a:spcBef>
                <a:spcPts val="805"/>
              </a:spcBef>
            </a:pPr>
            <a:r>
              <a:rPr sz="1900" spc="-5" dirty="0">
                <a:solidFill>
                  <a:srgbClr val="3E3E3E"/>
                </a:solidFill>
                <a:latin typeface="微软雅黑"/>
                <a:cs typeface="微软雅黑"/>
              </a:rPr>
              <a:t>在前面章节的组合电路设计中，我们介绍了单个数码管显示电路的设计。每个数码管</a:t>
            </a:r>
            <a:r>
              <a:rPr sz="1900" dirty="0">
                <a:solidFill>
                  <a:srgbClr val="3E3E3E"/>
                </a:solidFill>
                <a:latin typeface="微软雅黑"/>
                <a:cs typeface="微软雅黑"/>
              </a:rPr>
              <a:t>包括</a:t>
            </a:r>
            <a:r>
              <a:rPr sz="1900" dirty="0">
                <a:solidFill>
                  <a:srgbClr val="3E3E3E"/>
                </a:solidFill>
                <a:latin typeface="Arial"/>
                <a:cs typeface="Arial"/>
              </a:rPr>
              <a:t>7</a:t>
            </a:r>
            <a:r>
              <a:rPr sz="1900" dirty="0">
                <a:solidFill>
                  <a:srgbClr val="3E3E3E"/>
                </a:solidFill>
                <a:latin typeface="微软雅黑"/>
                <a:cs typeface="微软雅黑"/>
              </a:rPr>
              <a:t>个笔画和</a:t>
            </a:r>
            <a:r>
              <a:rPr sz="1900" dirty="0">
                <a:solidFill>
                  <a:srgbClr val="3E3E3E"/>
                </a:solidFill>
                <a:latin typeface="Arial"/>
                <a:cs typeface="Arial"/>
              </a:rPr>
              <a:t>1</a:t>
            </a:r>
            <a:r>
              <a:rPr sz="1900" dirty="0">
                <a:solidFill>
                  <a:srgbClr val="3E3E3E"/>
                </a:solidFill>
                <a:latin typeface="微软雅黑"/>
                <a:cs typeface="微软雅黑"/>
              </a:rPr>
              <a:t>个小圆点，需要</a:t>
            </a:r>
            <a:r>
              <a:rPr sz="1900" dirty="0">
                <a:solidFill>
                  <a:srgbClr val="3E3E3E"/>
                </a:solidFill>
                <a:latin typeface="Arial"/>
                <a:cs typeface="Arial"/>
              </a:rPr>
              <a:t>8</a:t>
            </a:r>
            <a:r>
              <a:rPr sz="1900" dirty="0">
                <a:solidFill>
                  <a:srgbClr val="3E3E3E"/>
                </a:solidFill>
                <a:latin typeface="微软雅黑"/>
                <a:cs typeface="微软雅黑"/>
              </a:rPr>
              <a:t>个</a:t>
            </a:r>
            <a:r>
              <a:rPr sz="1900" dirty="0">
                <a:solidFill>
                  <a:srgbClr val="3E3E3E"/>
                </a:solidFill>
                <a:latin typeface="Arial"/>
                <a:cs typeface="Arial"/>
              </a:rPr>
              <a:t>IO</a:t>
            </a:r>
            <a:r>
              <a:rPr sz="1900" spc="-5" dirty="0">
                <a:solidFill>
                  <a:srgbClr val="3E3E3E"/>
                </a:solidFill>
                <a:latin typeface="微软雅黑"/>
                <a:cs typeface="微软雅黑"/>
              </a:rPr>
              <a:t>口来进行控制。采用这种控制方式，当使用多</a:t>
            </a:r>
            <a:r>
              <a:rPr sz="1900" dirty="0">
                <a:solidFill>
                  <a:srgbClr val="3E3E3E"/>
                </a:solidFill>
                <a:latin typeface="微软雅黑"/>
                <a:cs typeface="微软雅黑"/>
              </a:rPr>
              <a:t>个数码管进行显示时，每个数码管都需要</a:t>
            </a:r>
            <a:r>
              <a:rPr sz="1900" dirty="0">
                <a:solidFill>
                  <a:srgbClr val="3E3E3E"/>
                </a:solidFill>
                <a:latin typeface="Arial"/>
                <a:cs typeface="Arial"/>
              </a:rPr>
              <a:t>8</a:t>
            </a:r>
            <a:r>
              <a:rPr sz="1900" dirty="0">
                <a:solidFill>
                  <a:srgbClr val="3E3E3E"/>
                </a:solidFill>
                <a:latin typeface="微软雅黑"/>
                <a:cs typeface="微软雅黑"/>
              </a:rPr>
              <a:t>个</a:t>
            </a:r>
            <a:r>
              <a:rPr sz="1900" dirty="0">
                <a:solidFill>
                  <a:srgbClr val="3E3E3E"/>
                </a:solidFill>
                <a:latin typeface="Arial"/>
                <a:cs typeface="Arial"/>
              </a:rPr>
              <a:t>IO</a:t>
            </a:r>
            <a:r>
              <a:rPr sz="1900" spc="-25" dirty="0">
                <a:solidFill>
                  <a:srgbClr val="3E3E3E"/>
                </a:solidFill>
                <a:latin typeface="微软雅黑"/>
                <a:cs typeface="微软雅黑"/>
              </a:rPr>
              <a:t>口。</a:t>
            </a:r>
            <a:endParaRPr sz="1900">
              <a:latin typeface="微软雅黑"/>
              <a:cs typeface="微软雅黑"/>
            </a:endParaRPr>
          </a:p>
        </p:txBody>
      </p:sp>
      <p:sp>
        <p:nvSpPr>
          <p:cNvPr id="4" name="object 4"/>
          <p:cNvSpPr txBox="1">
            <a:spLocks noGrp="1"/>
          </p:cNvSpPr>
          <p:nvPr>
            <p:ph type="title"/>
          </p:nvPr>
        </p:nvSpPr>
        <p:spPr>
          <a:xfrm>
            <a:off x="523627" y="1070102"/>
            <a:ext cx="2397125" cy="506730"/>
          </a:xfrm>
          <a:prstGeom prst="rect">
            <a:avLst/>
          </a:prstGeom>
        </p:spPr>
        <p:txBody>
          <a:bodyPr vert="horz" wrap="square" lIns="0" tIns="13335" rIns="0" bIns="0" rtlCol="0">
            <a:spAutoFit/>
          </a:bodyPr>
          <a:lstStyle/>
          <a:p>
            <a:pPr marL="12700">
              <a:lnSpc>
                <a:spcPct val="100000"/>
              </a:lnSpc>
              <a:spcBef>
                <a:spcPts val="105"/>
              </a:spcBef>
              <a:tabLst>
                <a:tab pos="780415" algn="l"/>
              </a:tabLst>
            </a:pPr>
            <a:r>
              <a:rPr sz="3150" b="1" spc="-25" dirty="0">
                <a:latin typeface="Arial"/>
                <a:cs typeface="Arial"/>
              </a:rPr>
              <a:t>4.5</a:t>
            </a:r>
            <a:r>
              <a:rPr sz="3150" b="1" dirty="0">
                <a:latin typeface="Arial"/>
                <a:cs typeface="Arial"/>
              </a:rPr>
              <a:t>	</a:t>
            </a:r>
            <a:r>
              <a:rPr sz="3150" b="1" spc="-15" dirty="0">
                <a:latin typeface="微软雅黑"/>
                <a:cs typeface="微软雅黑"/>
              </a:rPr>
              <a:t>设计实例</a:t>
            </a:r>
            <a:endParaRPr sz="3150">
              <a:latin typeface="微软雅黑"/>
              <a:cs typeface="微软雅黑"/>
            </a:endParaRPr>
          </a:p>
        </p:txBody>
      </p:sp>
      <p:pic>
        <p:nvPicPr>
          <p:cNvPr id="5" name="object 5"/>
          <p:cNvPicPr/>
          <p:nvPr/>
        </p:nvPicPr>
        <p:blipFill>
          <a:blip r:embed="rId3" cstate="print"/>
          <a:stretch>
            <a:fillRect/>
          </a:stretch>
        </p:blipFill>
        <p:spPr>
          <a:xfrm>
            <a:off x="535571" y="3560826"/>
            <a:ext cx="1411524" cy="3130843"/>
          </a:xfrm>
          <a:prstGeom prst="rect">
            <a:avLst/>
          </a:prstGeom>
        </p:spPr>
      </p:pic>
      <p:pic>
        <p:nvPicPr>
          <p:cNvPr id="6" name="object 6"/>
          <p:cNvPicPr/>
          <p:nvPr/>
        </p:nvPicPr>
        <p:blipFill>
          <a:blip r:embed="rId3" cstate="print"/>
          <a:stretch>
            <a:fillRect/>
          </a:stretch>
        </p:blipFill>
        <p:spPr>
          <a:xfrm>
            <a:off x="2653169" y="3554729"/>
            <a:ext cx="1366483" cy="3028972"/>
          </a:xfrm>
          <a:prstGeom prst="rect">
            <a:avLst/>
          </a:prstGeom>
        </p:spPr>
      </p:pic>
      <p:pic>
        <p:nvPicPr>
          <p:cNvPr id="7" name="object 7"/>
          <p:cNvPicPr/>
          <p:nvPr/>
        </p:nvPicPr>
        <p:blipFill>
          <a:blip r:embed="rId4" cstate="print"/>
          <a:stretch>
            <a:fillRect/>
          </a:stretch>
        </p:blipFill>
        <p:spPr>
          <a:xfrm>
            <a:off x="4901069" y="3510534"/>
            <a:ext cx="1331351" cy="2960089"/>
          </a:xfrm>
          <a:prstGeom prst="rect">
            <a:avLst/>
          </a:prstGeom>
        </p:spPr>
      </p:pic>
      <p:pic>
        <p:nvPicPr>
          <p:cNvPr id="8" name="object 8"/>
          <p:cNvPicPr/>
          <p:nvPr/>
        </p:nvPicPr>
        <p:blipFill>
          <a:blip r:embed="rId5" cstate="print"/>
          <a:stretch>
            <a:fillRect/>
          </a:stretch>
        </p:blipFill>
        <p:spPr>
          <a:xfrm>
            <a:off x="6888365" y="3522726"/>
            <a:ext cx="1330628" cy="2960089"/>
          </a:xfrm>
          <a:prstGeom prst="rect">
            <a:avLst/>
          </a:prstGeom>
        </p:spPr>
      </p:pic>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2949" y="1210310"/>
            <a:ext cx="4222115" cy="453390"/>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solidFill>
                  <a:srgbClr val="3E3E3E"/>
                </a:solidFill>
                <a:latin typeface="Arial"/>
                <a:cs typeface="Arial"/>
              </a:rPr>
              <a:t>4.5.1</a:t>
            </a:r>
            <a:r>
              <a:rPr dirty="0">
                <a:solidFill>
                  <a:srgbClr val="3E3E3E"/>
                </a:solidFill>
                <a:latin typeface="Arial"/>
                <a:cs typeface="Arial"/>
              </a:rPr>
              <a:t>	</a:t>
            </a:r>
            <a:r>
              <a:rPr spc="-15" dirty="0">
                <a:solidFill>
                  <a:srgbClr val="3E3E3E"/>
                </a:solidFill>
              </a:rPr>
              <a:t>数码管扫描显示电路</a:t>
            </a:r>
          </a:p>
        </p:txBody>
      </p:sp>
      <p:pic>
        <p:nvPicPr>
          <p:cNvPr id="3" name="object 3"/>
          <p:cNvPicPr/>
          <p:nvPr/>
        </p:nvPicPr>
        <p:blipFill>
          <a:blip r:embed="rId2" cstate="print"/>
          <a:stretch>
            <a:fillRect/>
          </a:stretch>
        </p:blipFill>
        <p:spPr>
          <a:xfrm>
            <a:off x="446007" y="1968949"/>
            <a:ext cx="158144" cy="149820"/>
          </a:xfrm>
          <a:prstGeom prst="rect">
            <a:avLst/>
          </a:prstGeom>
        </p:spPr>
      </p:pic>
      <p:sp>
        <p:nvSpPr>
          <p:cNvPr id="4" name="object 4"/>
          <p:cNvSpPr txBox="1"/>
          <p:nvPr/>
        </p:nvSpPr>
        <p:spPr>
          <a:xfrm>
            <a:off x="688220" y="1712019"/>
            <a:ext cx="9853930" cy="2319020"/>
          </a:xfrm>
          <a:prstGeom prst="rect">
            <a:avLst/>
          </a:prstGeom>
        </p:spPr>
        <p:txBody>
          <a:bodyPr vert="horz" wrap="square" lIns="0" tIns="11430" rIns="0" bIns="0" rtlCol="0">
            <a:spAutoFit/>
          </a:bodyPr>
          <a:lstStyle/>
          <a:p>
            <a:pPr marL="12700" marR="88265">
              <a:lnSpc>
                <a:spcPct val="152400"/>
              </a:lnSpc>
              <a:spcBef>
                <a:spcPts val="90"/>
              </a:spcBef>
            </a:pPr>
            <a:r>
              <a:rPr sz="1900" dirty="0">
                <a:solidFill>
                  <a:srgbClr val="3E3E3E"/>
                </a:solidFill>
                <a:latin typeface="微软雅黑"/>
                <a:cs typeface="微软雅黑"/>
              </a:rPr>
              <a:t>在实际应用中，为了减少</a:t>
            </a:r>
            <a:r>
              <a:rPr sz="1900" dirty="0">
                <a:solidFill>
                  <a:srgbClr val="3E3E3E"/>
                </a:solidFill>
                <a:latin typeface="Arial"/>
                <a:cs typeface="Arial"/>
              </a:rPr>
              <a:t>FPGA</a:t>
            </a:r>
            <a:r>
              <a:rPr sz="1900" dirty="0">
                <a:solidFill>
                  <a:srgbClr val="3E3E3E"/>
                </a:solidFill>
                <a:latin typeface="微软雅黑"/>
                <a:cs typeface="微软雅黑"/>
              </a:rPr>
              <a:t>芯片</a:t>
            </a:r>
            <a:r>
              <a:rPr sz="1900" dirty="0">
                <a:solidFill>
                  <a:srgbClr val="3E3E3E"/>
                </a:solidFill>
                <a:latin typeface="Arial"/>
                <a:cs typeface="Arial"/>
              </a:rPr>
              <a:t>IO</a:t>
            </a:r>
            <a:r>
              <a:rPr sz="1900" spc="-5" dirty="0">
                <a:solidFill>
                  <a:srgbClr val="3E3E3E"/>
                </a:solidFill>
                <a:latin typeface="微软雅黑"/>
                <a:cs typeface="微软雅黑"/>
              </a:rPr>
              <a:t>口的使用数量，一般会采用分时复用的扫描显示方案</a:t>
            </a:r>
            <a:r>
              <a:rPr sz="1900" spc="-10" dirty="0">
                <a:solidFill>
                  <a:srgbClr val="3E3E3E"/>
                </a:solidFill>
                <a:latin typeface="微软雅黑"/>
                <a:cs typeface="微软雅黑"/>
              </a:rPr>
              <a:t>进行数码管驱动。</a:t>
            </a:r>
            <a:endParaRPr sz="1900">
              <a:latin typeface="微软雅黑"/>
              <a:cs typeface="微软雅黑"/>
            </a:endParaRPr>
          </a:p>
          <a:p>
            <a:pPr marL="12700" marR="5080">
              <a:lnSpc>
                <a:spcPct val="152200"/>
              </a:lnSpc>
              <a:spcBef>
                <a:spcPts val="700"/>
              </a:spcBef>
            </a:pPr>
            <a:r>
              <a:rPr sz="1900" dirty="0">
                <a:solidFill>
                  <a:srgbClr val="3E3E3E"/>
                </a:solidFill>
                <a:latin typeface="微软雅黑"/>
                <a:cs typeface="微软雅黑"/>
              </a:rPr>
              <a:t>以四个数码管显示为例，采用扫描显示方案时，四个数码管的</a:t>
            </a:r>
            <a:r>
              <a:rPr sz="1900" dirty="0">
                <a:solidFill>
                  <a:srgbClr val="3E3E3E"/>
                </a:solidFill>
                <a:latin typeface="Arial"/>
                <a:cs typeface="Arial"/>
              </a:rPr>
              <a:t>8</a:t>
            </a:r>
            <a:r>
              <a:rPr sz="1900" dirty="0">
                <a:solidFill>
                  <a:srgbClr val="3E3E3E"/>
                </a:solidFill>
                <a:latin typeface="微软雅黑"/>
                <a:cs typeface="微软雅黑"/>
              </a:rPr>
              <a:t>个段码并接在一起，再用</a:t>
            </a:r>
            <a:r>
              <a:rPr sz="1900" dirty="0">
                <a:solidFill>
                  <a:srgbClr val="3E3E3E"/>
                </a:solidFill>
                <a:latin typeface="Arial"/>
                <a:cs typeface="Arial"/>
              </a:rPr>
              <a:t>4</a:t>
            </a:r>
            <a:r>
              <a:rPr sz="1900" spc="-50" dirty="0">
                <a:solidFill>
                  <a:srgbClr val="3E3E3E"/>
                </a:solidFill>
                <a:latin typeface="微软雅黑"/>
                <a:cs typeface="微软雅黑"/>
              </a:rPr>
              <a:t>个 </a:t>
            </a:r>
            <a:r>
              <a:rPr sz="1900" dirty="0">
                <a:solidFill>
                  <a:srgbClr val="3E3E3E"/>
                </a:solidFill>
                <a:latin typeface="Arial"/>
                <a:cs typeface="Arial"/>
              </a:rPr>
              <a:t>IO</a:t>
            </a:r>
            <a:r>
              <a:rPr sz="1900" dirty="0">
                <a:solidFill>
                  <a:srgbClr val="3E3E3E"/>
                </a:solidFill>
                <a:latin typeface="微软雅黑"/>
                <a:cs typeface="微软雅黑"/>
              </a:rPr>
              <a:t>口分别控制每个数码管的公共端，动态点亮数码管。这样只用</a:t>
            </a:r>
            <a:r>
              <a:rPr sz="1900" dirty="0">
                <a:solidFill>
                  <a:srgbClr val="3E3E3E"/>
                </a:solidFill>
                <a:latin typeface="Arial"/>
                <a:cs typeface="Arial"/>
              </a:rPr>
              <a:t>12</a:t>
            </a:r>
            <a:r>
              <a:rPr sz="1900" dirty="0">
                <a:solidFill>
                  <a:srgbClr val="3E3E3E"/>
                </a:solidFill>
                <a:latin typeface="微软雅黑"/>
                <a:cs typeface="微软雅黑"/>
              </a:rPr>
              <a:t>个</a:t>
            </a:r>
            <a:r>
              <a:rPr sz="1900" dirty="0">
                <a:solidFill>
                  <a:srgbClr val="3E3E3E"/>
                </a:solidFill>
                <a:latin typeface="Arial"/>
                <a:cs typeface="Arial"/>
              </a:rPr>
              <a:t>IO</a:t>
            </a:r>
            <a:r>
              <a:rPr sz="1900" dirty="0">
                <a:solidFill>
                  <a:srgbClr val="3E3E3E"/>
                </a:solidFill>
                <a:latin typeface="微软雅黑"/>
                <a:cs typeface="微软雅黑"/>
              </a:rPr>
              <a:t>口就可以实现</a:t>
            </a:r>
            <a:r>
              <a:rPr sz="1900" dirty="0">
                <a:solidFill>
                  <a:srgbClr val="3E3E3E"/>
                </a:solidFill>
                <a:latin typeface="Arial"/>
                <a:cs typeface="Arial"/>
              </a:rPr>
              <a:t>4</a:t>
            </a:r>
            <a:r>
              <a:rPr sz="1900" spc="-25" dirty="0">
                <a:solidFill>
                  <a:srgbClr val="3E3E3E"/>
                </a:solidFill>
                <a:latin typeface="微软雅黑"/>
                <a:cs typeface="微软雅黑"/>
              </a:rPr>
              <a:t>个数</a:t>
            </a:r>
            <a:r>
              <a:rPr sz="1900" dirty="0">
                <a:solidFill>
                  <a:srgbClr val="3E3E3E"/>
                </a:solidFill>
                <a:latin typeface="微软雅黑"/>
                <a:cs typeface="微软雅黑"/>
              </a:rPr>
              <a:t>码管的显示控制，比静态显示方式的</a:t>
            </a:r>
            <a:r>
              <a:rPr sz="1900" dirty="0">
                <a:solidFill>
                  <a:srgbClr val="3E3E3E"/>
                </a:solidFill>
                <a:latin typeface="Arial"/>
                <a:cs typeface="Arial"/>
              </a:rPr>
              <a:t>32</a:t>
            </a:r>
            <a:r>
              <a:rPr sz="1900" dirty="0">
                <a:solidFill>
                  <a:srgbClr val="3E3E3E"/>
                </a:solidFill>
                <a:latin typeface="微软雅黑"/>
                <a:cs typeface="微软雅黑"/>
              </a:rPr>
              <a:t>个</a:t>
            </a:r>
            <a:r>
              <a:rPr sz="1900" dirty="0">
                <a:solidFill>
                  <a:srgbClr val="3E3E3E"/>
                </a:solidFill>
                <a:latin typeface="Arial"/>
                <a:cs typeface="Arial"/>
              </a:rPr>
              <a:t>IO</a:t>
            </a:r>
            <a:r>
              <a:rPr sz="1900" spc="-10" dirty="0">
                <a:solidFill>
                  <a:srgbClr val="3E3E3E"/>
                </a:solidFill>
                <a:latin typeface="微软雅黑"/>
                <a:cs typeface="微软雅黑"/>
              </a:rPr>
              <a:t>口数量大大减少。</a:t>
            </a:r>
            <a:endParaRPr sz="1900">
              <a:latin typeface="微软雅黑"/>
              <a:cs typeface="微软雅黑"/>
            </a:endParaRPr>
          </a:p>
        </p:txBody>
      </p:sp>
      <p:pic>
        <p:nvPicPr>
          <p:cNvPr id="5" name="object 5"/>
          <p:cNvPicPr/>
          <p:nvPr/>
        </p:nvPicPr>
        <p:blipFill>
          <a:blip r:embed="rId3" cstate="print"/>
          <a:stretch>
            <a:fillRect/>
          </a:stretch>
        </p:blipFill>
        <p:spPr>
          <a:xfrm>
            <a:off x="446007" y="2941300"/>
            <a:ext cx="158144" cy="146343"/>
          </a:xfrm>
          <a:prstGeom prst="rect">
            <a:avLst/>
          </a:prstGeom>
        </p:spPr>
      </p:pic>
      <p:pic>
        <p:nvPicPr>
          <p:cNvPr id="6" name="object 6"/>
          <p:cNvPicPr/>
          <p:nvPr/>
        </p:nvPicPr>
        <p:blipFill>
          <a:blip r:embed="rId4" cstate="print"/>
          <a:stretch>
            <a:fillRect/>
          </a:stretch>
        </p:blipFill>
        <p:spPr>
          <a:xfrm>
            <a:off x="2336939" y="4101083"/>
            <a:ext cx="3492168" cy="2685288"/>
          </a:xfrm>
          <a:prstGeom prst="rect">
            <a:avLst/>
          </a:prstGeom>
        </p:spPr>
      </p:pic>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4.5.1</a:t>
            </a:r>
            <a:r>
              <a:rPr dirty="0">
                <a:latin typeface="Arial"/>
                <a:cs typeface="Arial"/>
              </a:rPr>
              <a:t>	</a:t>
            </a:r>
            <a:r>
              <a:rPr spc="-15" dirty="0"/>
              <a:t>数码管扫描显示电路</a:t>
            </a:r>
          </a:p>
        </p:txBody>
      </p:sp>
      <p:sp>
        <p:nvSpPr>
          <p:cNvPr id="3" name="object 3"/>
          <p:cNvSpPr txBox="1"/>
          <p:nvPr/>
        </p:nvSpPr>
        <p:spPr>
          <a:xfrm>
            <a:off x="583804" y="1785155"/>
            <a:ext cx="9528175" cy="1228090"/>
          </a:xfrm>
          <a:prstGeom prst="rect">
            <a:avLst/>
          </a:prstGeom>
        </p:spPr>
        <p:txBody>
          <a:bodyPr vert="horz" wrap="square" lIns="0" tIns="12700" rIns="0" bIns="0" rtlCol="0">
            <a:spAutoFit/>
          </a:bodyPr>
          <a:lstStyle/>
          <a:p>
            <a:pPr marL="12700" marR="5080" algn="just">
              <a:lnSpc>
                <a:spcPct val="150300"/>
              </a:lnSpc>
              <a:spcBef>
                <a:spcPts val="100"/>
              </a:spcBef>
            </a:pPr>
            <a:r>
              <a:rPr sz="1750" spc="40" dirty="0">
                <a:latin typeface="微软雅黑"/>
                <a:cs typeface="微软雅黑"/>
              </a:rPr>
              <a:t>如图</a:t>
            </a:r>
            <a:r>
              <a:rPr sz="1750" dirty="0">
                <a:latin typeface="Arial"/>
                <a:cs typeface="Arial"/>
              </a:rPr>
              <a:t>4.20</a:t>
            </a:r>
            <a:r>
              <a:rPr sz="1750" spc="40" dirty="0">
                <a:latin typeface="微软雅黑"/>
                <a:cs typeface="微软雅黑"/>
              </a:rPr>
              <a:t>所示，在最右端的数码管上显示</a:t>
            </a:r>
            <a:r>
              <a:rPr sz="1750" spc="15" dirty="0">
                <a:latin typeface="Arial"/>
                <a:cs typeface="Arial"/>
              </a:rPr>
              <a:t>“3”</a:t>
            </a:r>
            <a:r>
              <a:rPr sz="1750" spc="40" dirty="0">
                <a:latin typeface="微软雅黑"/>
                <a:cs typeface="微软雅黑"/>
              </a:rPr>
              <a:t>时，并接的段码信号为</a:t>
            </a:r>
            <a:r>
              <a:rPr sz="1750" spc="-10" dirty="0">
                <a:latin typeface="Arial"/>
                <a:cs typeface="Arial"/>
              </a:rPr>
              <a:t>“00001101”</a:t>
            </a:r>
            <a:r>
              <a:rPr sz="1750" spc="-10" dirty="0">
                <a:latin typeface="微软雅黑"/>
                <a:cs typeface="微软雅黑"/>
              </a:rPr>
              <a:t>，</a:t>
            </a:r>
            <a:r>
              <a:rPr sz="1750" spc="-10" dirty="0">
                <a:latin typeface="Arial"/>
                <a:cs typeface="Arial"/>
              </a:rPr>
              <a:t>4</a:t>
            </a:r>
            <a:r>
              <a:rPr sz="1750" spc="40" dirty="0">
                <a:latin typeface="微软雅黑"/>
                <a:cs typeface="微软雅黑"/>
              </a:rPr>
              <a:t>个公共端的控制信号为</a:t>
            </a:r>
            <a:r>
              <a:rPr sz="1750" spc="-45" dirty="0">
                <a:latin typeface="Arial"/>
                <a:cs typeface="Arial"/>
              </a:rPr>
              <a:t>“1110”</a:t>
            </a:r>
            <a:r>
              <a:rPr sz="1750" spc="40" dirty="0">
                <a:latin typeface="微软雅黑"/>
                <a:cs typeface="微软雅黑"/>
              </a:rPr>
              <a:t>。这种控制方式在同一时间只会点亮一个数码管，采用分时复用的模式轮流点亮</a:t>
            </a:r>
            <a:r>
              <a:rPr sz="1750" dirty="0">
                <a:latin typeface="微软雅黑"/>
                <a:cs typeface="微软雅黑"/>
              </a:rPr>
              <a:t>数码管，数码管扫描显示电路时序如图</a:t>
            </a:r>
            <a:r>
              <a:rPr sz="1750" spc="-15" dirty="0">
                <a:latin typeface="Arial"/>
                <a:cs typeface="Arial"/>
              </a:rPr>
              <a:t>4.21</a:t>
            </a:r>
            <a:r>
              <a:rPr sz="1750" dirty="0">
                <a:latin typeface="微软雅黑"/>
                <a:cs typeface="微软雅黑"/>
              </a:rPr>
              <a:t>所示。</a:t>
            </a:r>
            <a:endParaRPr sz="1750">
              <a:latin typeface="微软雅黑"/>
              <a:cs typeface="微软雅黑"/>
            </a:endParaRPr>
          </a:p>
        </p:txBody>
      </p:sp>
      <p:pic>
        <p:nvPicPr>
          <p:cNvPr id="4" name="object 4"/>
          <p:cNvPicPr/>
          <p:nvPr/>
        </p:nvPicPr>
        <p:blipFill>
          <a:blip r:embed="rId2" cstate="print"/>
          <a:stretch>
            <a:fillRect/>
          </a:stretch>
        </p:blipFill>
        <p:spPr>
          <a:xfrm>
            <a:off x="6419365" y="2940557"/>
            <a:ext cx="3440686" cy="2936748"/>
          </a:xfrm>
          <a:prstGeom prst="rect">
            <a:avLst/>
          </a:prstGeom>
        </p:spPr>
      </p:pic>
      <p:sp>
        <p:nvSpPr>
          <p:cNvPr id="5" name="object 5"/>
          <p:cNvSpPr txBox="1"/>
          <p:nvPr/>
        </p:nvSpPr>
        <p:spPr>
          <a:xfrm>
            <a:off x="7195699" y="5958332"/>
            <a:ext cx="2018664" cy="213360"/>
          </a:xfrm>
          <a:prstGeom prst="rect">
            <a:avLst/>
          </a:prstGeom>
        </p:spPr>
        <p:txBody>
          <a:bodyPr vert="horz" wrap="square" lIns="0" tIns="16510" rIns="0" bIns="0" rtlCol="0">
            <a:spAutoFit/>
          </a:bodyPr>
          <a:lstStyle/>
          <a:p>
            <a:pPr marL="12700">
              <a:lnSpc>
                <a:spcPct val="100000"/>
              </a:lnSpc>
              <a:spcBef>
                <a:spcPts val="130"/>
              </a:spcBef>
            </a:pPr>
            <a:r>
              <a:rPr sz="1200" spc="20" dirty="0">
                <a:latin typeface="微软雅黑"/>
                <a:cs typeface="微软雅黑"/>
              </a:rPr>
              <a:t>例 </a:t>
            </a:r>
            <a:r>
              <a:rPr sz="1200" dirty="0">
                <a:latin typeface="Arial"/>
                <a:cs typeface="Arial"/>
              </a:rPr>
              <a:t>4.20</a:t>
            </a:r>
            <a:r>
              <a:rPr sz="1200" spc="470" dirty="0">
                <a:latin typeface="Arial"/>
                <a:cs typeface="Arial"/>
              </a:rPr>
              <a:t> </a:t>
            </a:r>
            <a:r>
              <a:rPr sz="1200" spc="-10" dirty="0">
                <a:latin typeface="微软雅黑"/>
                <a:cs typeface="微软雅黑"/>
              </a:rPr>
              <a:t>数码管扫描显示电路</a:t>
            </a:r>
            <a:endParaRPr sz="1200">
              <a:latin typeface="微软雅黑"/>
              <a:cs typeface="微软雅黑"/>
            </a:endParaRPr>
          </a:p>
        </p:txBody>
      </p:sp>
      <p:sp>
        <p:nvSpPr>
          <p:cNvPr id="6" name="object 6"/>
          <p:cNvSpPr/>
          <p:nvPr/>
        </p:nvSpPr>
        <p:spPr>
          <a:xfrm>
            <a:off x="624725" y="3839717"/>
            <a:ext cx="5354955" cy="1303020"/>
          </a:xfrm>
          <a:custGeom>
            <a:avLst/>
            <a:gdLst/>
            <a:ahLst/>
            <a:cxnLst/>
            <a:rect l="l" t="t" r="r" b="b"/>
            <a:pathLst>
              <a:path w="5354955" h="1303020">
                <a:moveTo>
                  <a:pt x="5354574" y="1300733"/>
                </a:moveTo>
                <a:lnTo>
                  <a:pt x="5354574" y="1523"/>
                </a:lnTo>
                <a:lnTo>
                  <a:pt x="5352288" y="0"/>
                </a:lnTo>
                <a:lnTo>
                  <a:pt x="2285" y="0"/>
                </a:lnTo>
                <a:lnTo>
                  <a:pt x="0" y="1524"/>
                </a:lnTo>
                <a:lnTo>
                  <a:pt x="0" y="1300734"/>
                </a:lnTo>
                <a:lnTo>
                  <a:pt x="2286" y="1303020"/>
                </a:lnTo>
                <a:lnTo>
                  <a:pt x="4571" y="1303020"/>
                </a:lnTo>
                <a:lnTo>
                  <a:pt x="4572" y="8382"/>
                </a:lnTo>
                <a:lnTo>
                  <a:pt x="8382" y="3810"/>
                </a:lnTo>
                <a:lnTo>
                  <a:pt x="8382" y="8382"/>
                </a:lnTo>
                <a:lnTo>
                  <a:pt x="5346192" y="8381"/>
                </a:lnTo>
                <a:lnTo>
                  <a:pt x="5346192" y="3809"/>
                </a:lnTo>
                <a:lnTo>
                  <a:pt x="5350002" y="8381"/>
                </a:lnTo>
                <a:lnTo>
                  <a:pt x="5350002" y="1303019"/>
                </a:lnTo>
                <a:lnTo>
                  <a:pt x="5352288" y="1303019"/>
                </a:lnTo>
                <a:lnTo>
                  <a:pt x="5354574" y="1300733"/>
                </a:lnTo>
                <a:close/>
              </a:path>
              <a:path w="5354955" h="1303020">
                <a:moveTo>
                  <a:pt x="8382" y="8382"/>
                </a:moveTo>
                <a:lnTo>
                  <a:pt x="8382" y="3810"/>
                </a:lnTo>
                <a:lnTo>
                  <a:pt x="4572" y="8382"/>
                </a:lnTo>
                <a:lnTo>
                  <a:pt x="8382" y="8382"/>
                </a:lnTo>
                <a:close/>
              </a:path>
              <a:path w="5354955" h="1303020">
                <a:moveTo>
                  <a:pt x="8382" y="1294638"/>
                </a:moveTo>
                <a:lnTo>
                  <a:pt x="8382" y="8382"/>
                </a:lnTo>
                <a:lnTo>
                  <a:pt x="4572" y="8382"/>
                </a:lnTo>
                <a:lnTo>
                  <a:pt x="4572" y="1294638"/>
                </a:lnTo>
                <a:lnTo>
                  <a:pt x="8382" y="1294638"/>
                </a:lnTo>
                <a:close/>
              </a:path>
              <a:path w="5354955" h="1303020">
                <a:moveTo>
                  <a:pt x="5350002" y="1294637"/>
                </a:moveTo>
                <a:lnTo>
                  <a:pt x="4572" y="1294638"/>
                </a:lnTo>
                <a:lnTo>
                  <a:pt x="8382" y="1298448"/>
                </a:lnTo>
                <a:lnTo>
                  <a:pt x="8381" y="1303020"/>
                </a:lnTo>
                <a:lnTo>
                  <a:pt x="5346192" y="1303019"/>
                </a:lnTo>
                <a:lnTo>
                  <a:pt x="5346192" y="1298447"/>
                </a:lnTo>
                <a:lnTo>
                  <a:pt x="5350002" y="1294637"/>
                </a:lnTo>
                <a:close/>
              </a:path>
              <a:path w="5354955" h="1303020">
                <a:moveTo>
                  <a:pt x="8381" y="1303020"/>
                </a:moveTo>
                <a:lnTo>
                  <a:pt x="8382" y="1298448"/>
                </a:lnTo>
                <a:lnTo>
                  <a:pt x="4572" y="1294638"/>
                </a:lnTo>
                <a:lnTo>
                  <a:pt x="4571" y="1303020"/>
                </a:lnTo>
                <a:lnTo>
                  <a:pt x="8381" y="1303020"/>
                </a:lnTo>
                <a:close/>
              </a:path>
              <a:path w="5354955" h="1303020">
                <a:moveTo>
                  <a:pt x="5350002" y="8381"/>
                </a:moveTo>
                <a:lnTo>
                  <a:pt x="5346192" y="3809"/>
                </a:lnTo>
                <a:lnTo>
                  <a:pt x="5346192" y="8381"/>
                </a:lnTo>
                <a:lnTo>
                  <a:pt x="5350002" y="8381"/>
                </a:lnTo>
                <a:close/>
              </a:path>
              <a:path w="5354955" h="1303020">
                <a:moveTo>
                  <a:pt x="5350002" y="1294637"/>
                </a:moveTo>
                <a:lnTo>
                  <a:pt x="5350002" y="8381"/>
                </a:lnTo>
                <a:lnTo>
                  <a:pt x="5346192" y="8381"/>
                </a:lnTo>
                <a:lnTo>
                  <a:pt x="5346192" y="1294637"/>
                </a:lnTo>
                <a:lnTo>
                  <a:pt x="5350002" y="1294637"/>
                </a:lnTo>
                <a:close/>
              </a:path>
              <a:path w="5354955" h="1303020">
                <a:moveTo>
                  <a:pt x="5350002" y="1303019"/>
                </a:moveTo>
                <a:lnTo>
                  <a:pt x="5350002" y="1294637"/>
                </a:lnTo>
                <a:lnTo>
                  <a:pt x="5346192" y="1298447"/>
                </a:lnTo>
                <a:lnTo>
                  <a:pt x="5346192" y="1303019"/>
                </a:lnTo>
                <a:lnTo>
                  <a:pt x="5350002" y="1303019"/>
                </a:lnTo>
                <a:close/>
              </a:path>
            </a:pathLst>
          </a:custGeom>
          <a:solidFill>
            <a:srgbClr val="FF0000"/>
          </a:solidFill>
        </p:spPr>
        <p:txBody>
          <a:bodyPr wrap="square" lIns="0" tIns="0" rIns="0" bIns="0" rtlCol="0"/>
          <a:lstStyle/>
          <a:p>
            <a:endParaRPr/>
          </a:p>
        </p:txBody>
      </p:sp>
      <p:sp>
        <p:nvSpPr>
          <p:cNvPr id="7" name="object 7"/>
          <p:cNvSpPr txBox="1"/>
          <p:nvPr/>
        </p:nvSpPr>
        <p:spPr>
          <a:xfrm>
            <a:off x="696602" y="3815124"/>
            <a:ext cx="5211445" cy="1228090"/>
          </a:xfrm>
          <a:prstGeom prst="rect">
            <a:avLst/>
          </a:prstGeom>
        </p:spPr>
        <p:txBody>
          <a:bodyPr vert="horz" wrap="square" lIns="0" tIns="12700" rIns="0" bIns="0" rtlCol="0">
            <a:spAutoFit/>
          </a:bodyPr>
          <a:lstStyle/>
          <a:p>
            <a:pPr marL="12700" marR="5080" algn="just">
              <a:lnSpc>
                <a:spcPct val="150300"/>
              </a:lnSpc>
              <a:spcBef>
                <a:spcPts val="100"/>
              </a:spcBef>
            </a:pPr>
            <a:r>
              <a:rPr sz="1750" spc="-5" dirty="0">
                <a:latin typeface="楷体"/>
                <a:cs typeface="楷体"/>
              </a:rPr>
              <a:t>分时复用的扫描显示利用了人眼的视觉暂留特性，如果公共端控制信号的刷新速度足够快，人眼就不会区</a:t>
            </a:r>
            <a:r>
              <a:rPr sz="1750" dirty="0">
                <a:latin typeface="楷体"/>
                <a:cs typeface="楷体"/>
              </a:rPr>
              <a:t>分出LED的闪烁，认为4</a:t>
            </a:r>
            <a:r>
              <a:rPr sz="1750" spc="-5" dirty="0">
                <a:latin typeface="楷体"/>
                <a:cs typeface="楷体"/>
              </a:rPr>
              <a:t>个数码管是同时点亮。</a:t>
            </a:r>
            <a:endParaRPr sz="1750">
              <a:latin typeface="楷体"/>
              <a:cs typeface="楷体"/>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4.5.1</a:t>
            </a:r>
            <a:r>
              <a:rPr dirty="0">
                <a:latin typeface="Arial"/>
                <a:cs typeface="Arial"/>
              </a:rPr>
              <a:t>	</a:t>
            </a:r>
            <a:r>
              <a:rPr spc="-15" dirty="0"/>
              <a:t>数码管扫描显示电路</a:t>
            </a:r>
          </a:p>
        </p:txBody>
      </p:sp>
      <p:sp>
        <p:nvSpPr>
          <p:cNvPr id="3" name="object 3"/>
          <p:cNvSpPr/>
          <p:nvPr/>
        </p:nvSpPr>
        <p:spPr>
          <a:xfrm>
            <a:off x="2407043" y="2210573"/>
            <a:ext cx="6746875" cy="257810"/>
          </a:xfrm>
          <a:custGeom>
            <a:avLst/>
            <a:gdLst/>
            <a:ahLst/>
            <a:cxnLst/>
            <a:rect l="l" t="t" r="r" b="b"/>
            <a:pathLst>
              <a:path w="6746875" h="257810">
                <a:moveTo>
                  <a:pt x="495300" y="10668"/>
                </a:moveTo>
                <a:lnTo>
                  <a:pt x="490728" y="10617"/>
                </a:lnTo>
                <a:lnTo>
                  <a:pt x="490728" y="0"/>
                </a:lnTo>
                <a:lnTo>
                  <a:pt x="482346" y="0"/>
                </a:lnTo>
                <a:lnTo>
                  <a:pt x="482346" y="10515"/>
                </a:lnTo>
                <a:lnTo>
                  <a:pt x="0" y="4572"/>
                </a:lnTo>
                <a:lnTo>
                  <a:pt x="0" y="12954"/>
                </a:lnTo>
                <a:lnTo>
                  <a:pt x="482346" y="18897"/>
                </a:lnTo>
                <a:lnTo>
                  <a:pt x="482346" y="239268"/>
                </a:lnTo>
                <a:lnTo>
                  <a:pt x="490728" y="239268"/>
                </a:lnTo>
                <a:lnTo>
                  <a:pt x="490728" y="18999"/>
                </a:lnTo>
                <a:lnTo>
                  <a:pt x="495300" y="19050"/>
                </a:lnTo>
                <a:lnTo>
                  <a:pt x="495300" y="10668"/>
                </a:lnTo>
                <a:close/>
              </a:path>
              <a:path w="6746875" h="257810">
                <a:moveTo>
                  <a:pt x="4344149" y="1524"/>
                </a:moveTo>
                <a:lnTo>
                  <a:pt x="4335767" y="1524"/>
                </a:lnTo>
                <a:lnTo>
                  <a:pt x="4335767" y="13716"/>
                </a:lnTo>
                <a:lnTo>
                  <a:pt x="1438656" y="9144"/>
                </a:lnTo>
                <a:lnTo>
                  <a:pt x="1438656" y="17526"/>
                </a:lnTo>
                <a:lnTo>
                  <a:pt x="1442466" y="17538"/>
                </a:lnTo>
                <a:lnTo>
                  <a:pt x="1442466" y="246126"/>
                </a:lnTo>
                <a:lnTo>
                  <a:pt x="480060" y="243840"/>
                </a:lnTo>
                <a:lnTo>
                  <a:pt x="480060" y="252222"/>
                </a:lnTo>
                <a:lnTo>
                  <a:pt x="1445514" y="254508"/>
                </a:lnTo>
                <a:lnTo>
                  <a:pt x="1445514" y="253746"/>
                </a:lnTo>
                <a:lnTo>
                  <a:pt x="1450835" y="253746"/>
                </a:lnTo>
                <a:lnTo>
                  <a:pt x="1450835" y="17551"/>
                </a:lnTo>
                <a:lnTo>
                  <a:pt x="4335767" y="22098"/>
                </a:lnTo>
                <a:lnTo>
                  <a:pt x="4335767" y="240792"/>
                </a:lnTo>
                <a:lnTo>
                  <a:pt x="4344149" y="240792"/>
                </a:lnTo>
                <a:lnTo>
                  <a:pt x="4344149" y="1524"/>
                </a:lnTo>
                <a:close/>
              </a:path>
              <a:path w="6746875" h="257810">
                <a:moveTo>
                  <a:pt x="6746748" y="9906"/>
                </a:moveTo>
                <a:lnTo>
                  <a:pt x="5297424" y="9906"/>
                </a:lnTo>
                <a:lnTo>
                  <a:pt x="5297424" y="18288"/>
                </a:lnTo>
                <a:lnTo>
                  <a:pt x="5302745" y="18288"/>
                </a:lnTo>
                <a:lnTo>
                  <a:pt x="5302745" y="249148"/>
                </a:lnTo>
                <a:lnTo>
                  <a:pt x="4348734" y="246126"/>
                </a:lnTo>
                <a:lnTo>
                  <a:pt x="4348734" y="254508"/>
                </a:lnTo>
                <a:lnTo>
                  <a:pt x="5314188" y="257556"/>
                </a:lnTo>
                <a:lnTo>
                  <a:pt x="5314188" y="249174"/>
                </a:lnTo>
                <a:lnTo>
                  <a:pt x="5310365" y="249174"/>
                </a:lnTo>
                <a:lnTo>
                  <a:pt x="5310365" y="18288"/>
                </a:lnTo>
                <a:lnTo>
                  <a:pt x="6746748" y="18288"/>
                </a:lnTo>
                <a:lnTo>
                  <a:pt x="6746748" y="9906"/>
                </a:lnTo>
                <a:close/>
              </a:path>
            </a:pathLst>
          </a:custGeom>
          <a:solidFill>
            <a:srgbClr val="000000"/>
          </a:solidFill>
        </p:spPr>
        <p:txBody>
          <a:bodyPr wrap="square" lIns="0" tIns="0" rIns="0" bIns="0" rtlCol="0"/>
          <a:lstStyle/>
          <a:p>
            <a:endParaRPr/>
          </a:p>
        </p:txBody>
      </p:sp>
      <p:sp>
        <p:nvSpPr>
          <p:cNvPr id="4" name="object 4"/>
          <p:cNvSpPr/>
          <p:nvPr/>
        </p:nvSpPr>
        <p:spPr>
          <a:xfrm>
            <a:off x="2373515" y="2515374"/>
            <a:ext cx="6767830" cy="288290"/>
          </a:xfrm>
          <a:custGeom>
            <a:avLst/>
            <a:gdLst/>
            <a:ahLst/>
            <a:cxnLst/>
            <a:rect l="l" t="t" r="r" b="b"/>
            <a:pathLst>
              <a:path w="6767830" h="288289">
                <a:moveTo>
                  <a:pt x="1514094" y="21336"/>
                </a:moveTo>
                <a:lnTo>
                  <a:pt x="0" y="21336"/>
                </a:lnTo>
                <a:lnTo>
                  <a:pt x="0" y="29718"/>
                </a:lnTo>
                <a:lnTo>
                  <a:pt x="1514094" y="29718"/>
                </a:lnTo>
                <a:lnTo>
                  <a:pt x="1514094" y="21336"/>
                </a:lnTo>
                <a:close/>
              </a:path>
              <a:path w="6767830" h="288289">
                <a:moveTo>
                  <a:pt x="2428494" y="266700"/>
                </a:moveTo>
                <a:lnTo>
                  <a:pt x="1510284" y="266700"/>
                </a:lnTo>
                <a:lnTo>
                  <a:pt x="1510284" y="30480"/>
                </a:lnTo>
                <a:lnTo>
                  <a:pt x="1501902" y="30480"/>
                </a:lnTo>
                <a:lnTo>
                  <a:pt x="1501902" y="266700"/>
                </a:lnTo>
                <a:lnTo>
                  <a:pt x="1495806" y="266700"/>
                </a:lnTo>
                <a:lnTo>
                  <a:pt x="1495806" y="274320"/>
                </a:lnTo>
                <a:lnTo>
                  <a:pt x="1501902" y="274320"/>
                </a:lnTo>
                <a:lnTo>
                  <a:pt x="1510284" y="274320"/>
                </a:lnTo>
                <a:lnTo>
                  <a:pt x="2428494" y="274320"/>
                </a:lnTo>
                <a:lnTo>
                  <a:pt x="2428494" y="266700"/>
                </a:lnTo>
                <a:close/>
              </a:path>
              <a:path w="6767830" h="288289">
                <a:moveTo>
                  <a:pt x="5382006" y="25908"/>
                </a:moveTo>
                <a:lnTo>
                  <a:pt x="2423922" y="22110"/>
                </a:lnTo>
                <a:lnTo>
                  <a:pt x="2423922" y="16764"/>
                </a:lnTo>
                <a:lnTo>
                  <a:pt x="2415540" y="16764"/>
                </a:lnTo>
                <a:lnTo>
                  <a:pt x="2415540" y="260604"/>
                </a:lnTo>
                <a:lnTo>
                  <a:pt x="2423922" y="260604"/>
                </a:lnTo>
                <a:lnTo>
                  <a:pt x="2423922" y="30492"/>
                </a:lnTo>
                <a:lnTo>
                  <a:pt x="5367528" y="34277"/>
                </a:lnTo>
                <a:lnTo>
                  <a:pt x="5367528" y="268986"/>
                </a:lnTo>
                <a:lnTo>
                  <a:pt x="5375897" y="268986"/>
                </a:lnTo>
                <a:lnTo>
                  <a:pt x="5375897" y="34290"/>
                </a:lnTo>
                <a:lnTo>
                  <a:pt x="5382006" y="34290"/>
                </a:lnTo>
                <a:lnTo>
                  <a:pt x="5382006" y="25908"/>
                </a:lnTo>
                <a:close/>
              </a:path>
              <a:path w="6767830" h="288289">
                <a:moveTo>
                  <a:pt x="6290310" y="35052"/>
                </a:moveTo>
                <a:lnTo>
                  <a:pt x="6281928" y="35052"/>
                </a:lnTo>
                <a:lnTo>
                  <a:pt x="6281928" y="274320"/>
                </a:lnTo>
                <a:lnTo>
                  <a:pt x="6290310" y="274320"/>
                </a:lnTo>
                <a:lnTo>
                  <a:pt x="6290310" y="35052"/>
                </a:lnTo>
                <a:close/>
              </a:path>
              <a:path w="6767830" h="288289">
                <a:moveTo>
                  <a:pt x="6299454" y="279654"/>
                </a:moveTo>
                <a:lnTo>
                  <a:pt x="5366004" y="278130"/>
                </a:lnTo>
                <a:lnTo>
                  <a:pt x="5366004" y="286512"/>
                </a:lnTo>
                <a:lnTo>
                  <a:pt x="6299454" y="288036"/>
                </a:lnTo>
                <a:lnTo>
                  <a:pt x="6299454" y="279654"/>
                </a:lnTo>
                <a:close/>
              </a:path>
              <a:path w="6767830" h="288289">
                <a:moveTo>
                  <a:pt x="6767309" y="0"/>
                </a:moveTo>
                <a:lnTo>
                  <a:pt x="6288773" y="6858"/>
                </a:lnTo>
                <a:lnTo>
                  <a:pt x="6288773" y="15240"/>
                </a:lnTo>
                <a:lnTo>
                  <a:pt x="6767309" y="8382"/>
                </a:lnTo>
                <a:lnTo>
                  <a:pt x="6767309" y="0"/>
                </a:lnTo>
                <a:close/>
              </a:path>
            </a:pathLst>
          </a:custGeom>
          <a:solidFill>
            <a:srgbClr val="000000"/>
          </a:solidFill>
        </p:spPr>
        <p:txBody>
          <a:bodyPr wrap="square" lIns="0" tIns="0" rIns="0" bIns="0" rtlCol="0"/>
          <a:lstStyle/>
          <a:p>
            <a:endParaRPr/>
          </a:p>
        </p:txBody>
      </p:sp>
      <p:sp>
        <p:nvSpPr>
          <p:cNvPr id="5" name="object 5"/>
          <p:cNvSpPr/>
          <p:nvPr/>
        </p:nvSpPr>
        <p:spPr>
          <a:xfrm>
            <a:off x="2391803" y="2887992"/>
            <a:ext cx="6745605" cy="271780"/>
          </a:xfrm>
          <a:custGeom>
            <a:avLst/>
            <a:gdLst/>
            <a:ahLst/>
            <a:cxnLst/>
            <a:rect l="l" t="t" r="r" b="b"/>
            <a:pathLst>
              <a:path w="6745605" h="271780">
                <a:moveTo>
                  <a:pt x="3371088" y="240030"/>
                </a:moveTo>
                <a:lnTo>
                  <a:pt x="3367278" y="240030"/>
                </a:lnTo>
                <a:lnTo>
                  <a:pt x="3367278" y="19812"/>
                </a:lnTo>
                <a:lnTo>
                  <a:pt x="3358896" y="19812"/>
                </a:lnTo>
                <a:lnTo>
                  <a:pt x="3358896" y="240017"/>
                </a:lnTo>
                <a:lnTo>
                  <a:pt x="2460498" y="238531"/>
                </a:lnTo>
                <a:lnTo>
                  <a:pt x="2460498" y="24384"/>
                </a:lnTo>
                <a:lnTo>
                  <a:pt x="2466594" y="24384"/>
                </a:lnTo>
                <a:lnTo>
                  <a:pt x="2466594" y="16002"/>
                </a:lnTo>
                <a:lnTo>
                  <a:pt x="0" y="11430"/>
                </a:lnTo>
                <a:lnTo>
                  <a:pt x="0" y="19812"/>
                </a:lnTo>
                <a:lnTo>
                  <a:pt x="2452116" y="24358"/>
                </a:lnTo>
                <a:lnTo>
                  <a:pt x="2452116" y="238518"/>
                </a:lnTo>
                <a:lnTo>
                  <a:pt x="2449830" y="238506"/>
                </a:lnTo>
                <a:lnTo>
                  <a:pt x="2449830" y="246888"/>
                </a:lnTo>
                <a:lnTo>
                  <a:pt x="2452116" y="246900"/>
                </a:lnTo>
                <a:lnTo>
                  <a:pt x="2452116" y="265176"/>
                </a:lnTo>
                <a:lnTo>
                  <a:pt x="2460498" y="265176"/>
                </a:lnTo>
                <a:lnTo>
                  <a:pt x="2460498" y="246913"/>
                </a:lnTo>
                <a:lnTo>
                  <a:pt x="3358896" y="248399"/>
                </a:lnTo>
                <a:lnTo>
                  <a:pt x="3358896" y="264414"/>
                </a:lnTo>
                <a:lnTo>
                  <a:pt x="3367278" y="264414"/>
                </a:lnTo>
                <a:lnTo>
                  <a:pt x="3367278" y="248412"/>
                </a:lnTo>
                <a:lnTo>
                  <a:pt x="3371088" y="248412"/>
                </a:lnTo>
                <a:lnTo>
                  <a:pt x="3371088" y="240030"/>
                </a:lnTo>
                <a:close/>
              </a:path>
              <a:path w="6745605" h="271780">
                <a:moveTo>
                  <a:pt x="6314694" y="6858"/>
                </a:moveTo>
                <a:lnTo>
                  <a:pt x="3352800" y="0"/>
                </a:lnTo>
                <a:lnTo>
                  <a:pt x="3352800" y="8382"/>
                </a:lnTo>
                <a:lnTo>
                  <a:pt x="6314694" y="15240"/>
                </a:lnTo>
                <a:lnTo>
                  <a:pt x="6314694" y="6858"/>
                </a:lnTo>
                <a:close/>
              </a:path>
              <a:path w="6745605" h="271780">
                <a:moveTo>
                  <a:pt x="6745224" y="262890"/>
                </a:moveTo>
                <a:lnTo>
                  <a:pt x="6310871" y="262890"/>
                </a:lnTo>
                <a:lnTo>
                  <a:pt x="6310871" y="19812"/>
                </a:lnTo>
                <a:lnTo>
                  <a:pt x="6302502" y="19812"/>
                </a:lnTo>
                <a:lnTo>
                  <a:pt x="6302502" y="264414"/>
                </a:lnTo>
                <a:lnTo>
                  <a:pt x="6307074" y="264414"/>
                </a:lnTo>
                <a:lnTo>
                  <a:pt x="6307074" y="271272"/>
                </a:lnTo>
                <a:lnTo>
                  <a:pt x="6745224" y="271272"/>
                </a:lnTo>
                <a:lnTo>
                  <a:pt x="6745224" y="262890"/>
                </a:lnTo>
                <a:close/>
              </a:path>
            </a:pathLst>
          </a:custGeom>
          <a:solidFill>
            <a:srgbClr val="000000"/>
          </a:solidFill>
        </p:spPr>
        <p:txBody>
          <a:bodyPr wrap="square" lIns="0" tIns="0" rIns="0" bIns="0" rtlCol="0"/>
          <a:lstStyle/>
          <a:p>
            <a:endParaRPr/>
          </a:p>
        </p:txBody>
      </p:sp>
      <p:sp>
        <p:nvSpPr>
          <p:cNvPr id="6" name="object 6"/>
          <p:cNvSpPr/>
          <p:nvPr/>
        </p:nvSpPr>
        <p:spPr>
          <a:xfrm>
            <a:off x="2414663" y="3345954"/>
            <a:ext cx="6715759" cy="267970"/>
          </a:xfrm>
          <a:custGeom>
            <a:avLst/>
            <a:gdLst/>
            <a:ahLst/>
            <a:cxnLst/>
            <a:rect l="l" t="t" r="r" b="b"/>
            <a:pathLst>
              <a:path w="6715759" h="267970">
                <a:moveTo>
                  <a:pt x="3474720" y="4572"/>
                </a:moveTo>
                <a:lnTo>
                  <a:pt x="0" y="4572"/>
                </a:lnTo>
                <a:lnTo>
                  <a:pt x="0" y="12954"/>
                </a:lnTo>
                <a:lnTo>
                  <a:pt x="3474720" y="12954"/>
                </a:lnTo>
                <a:lnTo>
                  <a:pt x="3474720" y="4572"/>
                </a:lnTo>
                <a:close/>
              </a:path>
              <a:path w="6715759" h="267970">
                <a:moveTo>
                  <a:pt x="4367022" y="245364"/>
                </a:moveTo>
                <a:lnTo>
                  <a:pt x="4360913" y="245364"/>
                </a:lnTo>
                <a:lnTo>
                  <a:pt x="4360913" y="18288"/>
                </a:lnTo>
                <a:lnTo>
                  <a:pt x="4352544" y="18288"/>
                </a:lnTo>
                <a:lnTo>
                  <a:pt x="4352544" y="245364"/>
                </a:lnTo>
                <a:lnTo>
                  <a:pt x="3470910" y="244614"/>
                </a:lnTo>
                <a:lnTo>
                  <a:pt x="3470910" y="26670"/>
                </a:lnTo>
                <a:lnTo>
                  <a:pt x="3462528" y="26670"/>
                </a:lnTo>
                <a:lnTo>
                  <a:pt x="3462528" y="267462"/>
                </a:lnTo>
                <a:lnTo>
                  <a:pt x="3470910" y="267462"/>
                </a:lnTo>
                <a:lnTo>
                  <a:pt x="3470910" y="252996"/>
                </a:lnTo>
                <a:lnTo>
                  <a:pt x="4352544" y="253746"/>
                </a:lnTo>
                <a:lnTo>
                  <a:pt x="4352544" y="259842"/>
                </a:lnTo>
                <a:lnTo>
                  <a:pt x="4360913" y="259842"/>
                </a:lnTo>
                <a:lnTo>
                  <a:pt x="4360913" y="253746"/>
                </a:lnTo>
                <a:lnTo>
                  <a:pt x="4367022" y="253746"/>
                </a:lnTo>
                <a:lnTo>
                  <a:pt x="4367022" y="245364"/>
                </a:lnTo>
                <a:close/>
              </a:path>
              <a:path w="6715759" h="267970">
                <a:moveTo>
                  <a:pt x="6715506" y="762"/>
                </a:moveTo>
                <a:lnTo>
                  <a:pt x="4354068" y="0"/>
                </a:lnTo>
                <a:lnTo>
                  <a:pt x="4354068" y="8382"/>
                </a:lnTo>
                <a:lnTo>
                  <a:pt x="6715506" y="9144"/>
                </a:lnTo>
                <a:lnTo>
                  <a:pt x="6715506" y="762"/>
                </a:lnTo>
                <a:close/>
              </a:path>
            </a:pathLst>
          </a:custGeom>
          <a:solidFill>
            <a:srgbClr val="000000"/>
          </a:solidFill>
        </p:spPr>
        <p:txBody>
          <a:bodyPr wrap="square" lIns="0" tIns="0" rIns="0" bIns="0" rtlCol="0"/>
          <a:lstStyle/>
          <a:p>
            <a:endParaRPr/>
          </a:p>
        </p:txBody>
      </p:sp>
      <p:grpSp>
        <p:nvGrpSpPr>
          <p:cNvPr id="7" name="object 7"/>
          <p:cNvGrpSpPr/>
          <p:nvPr/>
        </p:nvGrpSpPr>
        <p:grpSpPr>
          <a:xfrm>
            <a:off x="2373515" y="3907535"/>
            <a:ext cx="6849109" cy="296545"/>
            <a:chOff x="2373515" y="3907535"/>
            <a:chExt cx="6849109" cy="296545"/>
          </a:xfrm>
        </p:grpSpPr>
        <p:sp>
          <p:nvSpPr>
            <p:cNvPr id="8" name="object 8"/>
            <p:cNvSpPr/>
            <p:nvPr/>
          </p:nvSpPr>
          <p:spPr>
            <a:xfrm>
              <a:off x="2921393" y="3925074"/>
              <a:ext cx="880110" cy="254635"/>
            </a:xfrm>
            <a:custGeom>
              <a:avLst/>
              <a:gdLst/>
              <a:ahLst/>
              <a:cxnLst/>
              <a:rect l="l" t="t" r="r" b="b"/>
              <a:pathLst>
                <a:path w="880110" h="254635">
                  <a:moveTo>
                    <a:pt x="752856" y="246888"/>
                  </a:moveTo>
                  <a:lnTo>
                    <a:pt x="3810" y="243840"/>
                  </a:lnTo>
                  <a:lnTo>
                    <a:pt x="3810" y="252222"/>
                  </a:lnTo>
                  <a:lnTo>
                    <a:pt x="752856" y="254508"/>
                  </a:lnTo>
                  <a:lnTo>
                    <a:pt x="752856" y="246888"/>
                  </a:lnTo>
                  <a:close/>
                </a:path>
                <a:path w="880110" h="254635">
                  <a:moveTo>
                    <a:pt x="880110" y="124206"/>
                  </a:moveTo>
                  <a:lnTo>
                    <a:pt x="748601" y="10668"/>
                  </a:lnTo>
                  <a:lnTo>
                    <a:pt x="749046" y="10668"/>
                  </a:lnTo>
                  <a:lnTo>
                    <a:pt x="749046" y="2286"/>
                  </a:lnTo>
                  <a:lnTo>
                    <a:pt x="0" y="0"/>
                  </a:lnTo>
                  <a:lnTo>
                    <a:pt x="0" y="8382"/>
                  </a:lnTo>
                  <a:lnTo>
                    <a:pt x="736155" y="10629"/>
                  </a:lnTo>
                  <a:lnTo>
                    <a:pt x="874776" y="130302"/>
                  </a:lnTo>
                  <a:lnTo>
                    <a:pt x="880110" y="124206"/>
                  </a:lnTo>
                  <a:close/>
                </a:path>
              </a:pathLst>
            </a:custGeom>
            <a:solidFill>
              <a:srgbClr val="000000"/>
            </a:solidFill>
          </p:spPr>
          <p:txBody>
            <a:bodyPr wrap="square" lIns="0" tIns="0" rIns="0" bIns="0" rtlCol="0"/>
            <a:lstStyle/>
            <a:p>
              <a:endParaRPr/>
            </a:p>
          </p:txBody>
        </p:sp>
        <p:pic>
          <p:nvPicPr>
            <p:cNvPr id="9" name="object 9"/>
            <p:cNvPicPr/>
            <p:nvPr/>
          </p:nvPicPr>
          <p:blipFill>
            <a:blip r:embed="rId2" cstate="print"/>
            <a:stretch>
              <a:fillRect/>
            </a:stretch>
          </p:blipFill>
          <p:spPr>
            <a:xfrm>
              <a:off x="2794901" y="3928871"/>
              <a:ext cx="148589" cy="249173"/>
            </a:xfrm>
            <a:prstGeom prst="rect">
              <a:avLst/>
            </a:prstGeom>
          </p:spPr>
        </p:pic>
        <p:sp>
          <p:nvSpPr>
            <p:cNvPr id="10" name="object 10"/>
            <p:cNvSpPr/>
            <p:nvPr/>
          </p:nvSpPr>
          <p:spPr>
            <a:xfrm>
              <a:off x="3656723" y="3916692"/>
              <a:ext cx="1142365" cy="265430"/>
            </a:xfrm>
            <a:custGeom>
              <a:avLst/>
              <a:gdLst/>
              <a:ahLst/>
              <a:cxnLst/>
              <a:rect l="l" t="t" r="r" b="b"/>
              <a:pathLst>
                <a:path w="1142364" h="265429">
                  <a:moveTo>
                    <a:pt x="144780" y="136398"/>
                  </a:moveTo>
                  <a:lnTo>
                    <a:pt x="139446" y="130302"/>
                  </a:lnTo>
                  <a:lnTo>
                    <a:pt x="0" y="259080"/>
                  </a:lnTo>
                  <a:lnTo>
                    <a:pt x="5334" y="265176"/>
                  </a:lnTo>
                  <a:lnTo>
                    <a:pt x="144780" y="136398"/>
                  </a:lnTo>
                  <a:close/>
                </a:path>
                <a:path w="1142364" h="265429">
                  <a:moveTo>
                    <a:pt x="1014222" y="246888"/>
                  </a:moveTo>
                  <a:lnTo>
                    <a:pt x="265938" y="243840"/>
                  </a:lnTo>
                  <a:lnTo>
                    <a:pt x="265938" y="252222"/>
                  </a:lnTo>
                  <a:lnTo>
                    <a:pt x="1014222" y="255270"/>
                  </a:lnTo>
                  <a:lnTo>
                    <a:pt x="1014222" y="246888"/>
                  </a:lnTo>
                  <a:close/>
                </a:path>
                <a:path w="1142364" h="265429">
                  <a:moveTo>
                    <a:pt x="1142238" y="124206"/>
                  </a:moveTo>
                  <a:lnTo>
                    <a:pt x="1010412" y="10401"/>
                  </a:lnTo>
                  <a:lnTo>
                    <a:pt x="1010412" y="2286"/>
                  </a:lnTo>
                  <a:lnTo>
                    <a:pt x="261366" y="0"/>
                  </a:lnTo>
                  <a:lnTo>
                    <a:pt x="261366" y="8382"/>
                  </a:lnTo>
                  <a:lnTo>
                    <a:pt x="997521" y="10629"/>
                  </a:lnTo>
                  <a:lnTo>
                    <a:pt x="1136142" y="131064"/>
                  </a:lnTo>
                  <a:lnTo>
                    <a:pt x="1142238" y="124206"/>
                  </a:lnTo>
                  <a:close/>
                </a:path>
              </a:pathLst>
            </a:custGeom>
            <a:solidFill>
              <a:srgbClr val="000000"/>
            </a:solidFill>
          </p:spPr>
          <p:txBody>
            <a:bodyPr wrap="square" lIns="0" tIns="0" rIns="0" bIns="0" rtlCol="0"/>
            <a:lstStyle/>
            <a:p>
              <a:endParaRPr/>
            </a:p>
          </p:txBody>
        </p:sp>
        <p:pic>
          <p:nvPicPr>
            <p:cNvPr id="11" name="object 11"/>
            <p:cNvPicPr/>
            <p:nvPr/>
          </p:nvPicPr>
          <p:blipFill>
            <a:blip r:embed="rId3" cstate="print"/>
            <a:stretch>
              <a:fillRect/>
            </a:stretch>
          </p:blipFill>
          <p:spPr>
            <a:xfrm>
              <a:off x="3792359" y="3920489"/>
              <a:ext cx="147828" cy="249174"/>
            </a:xfrm>
            <a:prstGeom prst="rect">
              <a:avLst/>
            </a:prstGeom>
          </p:spPr>
        </p:pic>
        <p:sp>
          <p:nvSpPr>
            <p:cNvPr id="12" name="object 12"/>
            <p:cNvSpPr/>
            <p:nvPr/>
          </p:nvSpPr>
          <p:spPr>
            <a:xfrm>
              <a:off x="4653420" y="3912120"/>
              <a:ext cx="1142365" cy="261620"/>
            </a:xfrm>
            <a:custGeom>
              <a:avLst/>
              <a:gdLst/>
              <a:ahLst/>
              <a:cxnLst/>
              <a:rect l="l" t="t" r="r" b="b"/>
              <a:pathLst>
                <a:path w="1142364" h="261620">
                  <a:moveTo>
                    <a:pt x="145542" y="132588"/>
                  </a:moveTo>
                  <a:lnTo>
                    <a:pt x="139446" y="126492"/>
                  </a:lnTo>
                  <a:lnTo>
                    <a:pt x="0" y="255270"/>
                  </a:lnTo>
                  <a:lnTo>
                    <a:pt x="6096" y="261366"/>
                  </a:lnTo>
                  <a:lnTo>
                    <a:pt x="145542" y="132588"/>
                  </a:lnTo>
                  <a:close/>
                </a:path>
                <a:path w="1142364" h="261620">
                  <a:moveTo>
                    <a:pt x="1014984" y="246888"/>
                  </a:moveTo>
                  <a:lnTo>
                    <a:pt x="265938" y="244602"/>
                  </a:lnTo>
                  <a:lnTo>
                    <a:pt x="265938" y="252984"/>
                  </a:lnTo>
                  <a:lnTo>
                    <a:pt x="1014984" y="255270"/>
                  </a:lnTo>
                  <a:lnTo>
                    <a:pt x="1014984" y="246888"/>
                  </a:lnTo>
                  <a:close/>
                </a:path>
                <a:path w="1142364" h="261620">
                  <a:moveTo>
                    <a:pt x="1142238" y="124968"/>
                  </a:moveTo>
                  <a:lnTo>
                    <a:pt x="1010412" y="10439"/>
                  </a:lnTo>
                  <a:lnTo>
                    <a:pt x="1010412" y="3048"/>
                  </a:lnTo>
                  <a:lnTo>
                    <a:pt x="261366" y="0"/>
                  </a:lnTo>
                  <a:lnTo>
                    <a:pt x="261366" y="8382"/>
                  </a:lnTo>
                  <a:lnTo>
                    <a:pt x="998270" y="11391"/>
                  </a:lnTo>
                  <a:lnTo>
                    <a:pt x="1136904" y="131064"/>
                  </a:lnTo>
                  <a:lnTo>
                    <a:pt x="1142238" y="124968"/>
                  </a:lnTo>
                  <a:close/>
                </a:path>
              </a:pathLst>
            </a:custGeom>
            <a:solidFill>
              <a:srgbClr val="000000"/>
            </a:solidFill>
          </p:spPr>
          <p:txBody>
            <a:bodyPr wrap="square" lIns="0" tIns="0" rIns="0" bIns="0" rtlCol="0"/>
            <a:lstStyle/>
            <a:p>
              <a:endParaRPr/>
            </a:p>
          </p:txBody>
        </p:sp>
        <p:pic>
          <p:nvPicPr>
            <p:cNvPr id="13" name="object 13"/>
            <p:cNvPicPr/>
            <p:nvPr/>
          </p:nvPicPr>
          <p:blipFill>
            <a:blip r:embed="rId4" cstate="print"/>
            <a:stretch>
              <a:fillRect/>
            </a:stretch>
          </p:blipFill>
          <p:spPr>
            <a:xfrm>
              <a:off x="4789055" y="3916679"/>
              <a:ext cx="147828" cy="248412"/>
            </a:xfrm>
            <a:prstGeom prst="rect">
              <a:avLst/>
            </a:prstGeom>
          </p:spPr>
        </p:pic>
        <p:sp>
          <p:nvSpPr>
            <p:cNvPr id="14" name="object 14"/>
            <p:cNvSpPr/>
            <p:nvPr/>
          </p:nvSpPr>
          <p:spPr>
            <a:xfrm>
              <a:off x="5650878" y="3914406"/>
              <a:ext cx="1134110" cy="255270"/>
            </a:xfrm>
            <a:custGeom>
              <a:avLst/>
              <a:gdLst/>
              <a:ahLst/>
              <a:cxnLst/>
              <a:rect l="l" t="t" r="r" b="b"/>
              <a:pathLst>
                <a:path w="1134109" h="255270">
                  <a:moveTo>
                    <a:pt x="144780" y="126492"/>
                  </a:moveTo>
                  <a:lnTo>
                    <a:pt x="138684" y="119634"/>
                  </a:lnTo>
                  <a:lnTo>
                    <a:pt x="0" y="249174"/>
                  </a:lnTo>
                  <a:lnTo>
                    <a:pt x="5334" y="255270"/>
                  </a:lnTo>
                  <a:lnTo>
                    <a:pt x="144780" y="126492"/>
                  </a:lnTo>
                  <a:close/>
                </a:path>
                <a:path w="1134109" h="255270">
                  <a:moveTo>
                    <a:pt x="1006602" y="246126"/>
                  </a:moveTo>
                  <a:lnTo>
                    <a:pt x="257556" y="243840"/>
                  </a:lnTo>
                  <a:lnTo>
                    <a:pt x="257556" y="252222"/>
                  </a:lnTo>
                  <a:lnTo>
                    <a:pt x="1006602" y="254508"/>
                  </a:lnTo>
                  <a:lnTo>
                    <a:pt x="1006602" y="246126"/>
                  </a:lnTo>
                  <a:close/>
                </a:path>
                <a:path w="1134109" h="255270">
                  <a:moveTo>
                    <a:pt x="1133843" y="124206"/>
                  </a:moveTo>
                  <a:lnTo>
                    <a:pt x="1002030" y="9690"/>
                  </a:lnTo>
                  <a:lnTo>
                    <a:pt x="1002030" y="2286"/>
                  </a:lnTo>
                  <a:lnTo>
                    <a:pt x="252984" y="0"/>
                  </a:lnTo>
                  <a:lnTo>
                    <a:pt x="252984" y="8382"/>
                  </a:lnTo>
                  <a:lnTo>
                    <a:pt x="989901" y="10642"/>
                  </a:lnTo>
                  <a:lnTo>
                    <a:pt x="1128509" y="130302"/>
                  </a:lnTo>
                  <a:lnTo>
                    <a:pt x="1133843" y="124206"/>
                  </a:lnTo>
                  <a:close/>
                </a:path>
              </a:pathLst>
            </a:custGeom>
            <a:solidFill>
              <a:srgbClr val="000000"/>
            </a:solidFill>
          </p:spPr>
          <p:txBody>
            <a:bodyPr wrap="square" lIns="0" tIns="0" rIns="0" bIns="0" rtlCol="0"/>
            <a:lstStyle/>
            <a:p>
              <a:endParaRPr/>
            </a:p>
          </p:txBody>
        </p:sp>
        <p:pic>
          <p:nvPicPr>
            <p:cNvPr id="15" name="object 15"/>
            <p:cNvPicPr/>
            <p:nvPr/>
          </p:nvPicPr>
          <p:blipFill>
            <a:blip r:embed="rId5" cstate="print"/>
            <a:stretch>
              <a:fillRect/>
            </a:stretch>
          </p:blipFill>
          <p:spPr>
            <a:xfrm>
              <a:off x="5778131" y="3918203"/>
              <a:ext cx="147828" cy="249174"/>
            </a:xfrm>
            <a:prstGeom prst="rect">
              <a:avLst/>
            </a:prstGeom>
          </p:spPr>
        </p:pic>
        <p:sp>
          <p:nvSpPr>
            <p:cNvPr id="16" name="object 16"/>
            <p:cNvSpPr/>
            <p:nvPr/>
          </p:nvSpPr>
          <p:spPr>
            <a:xfrm>
              <a:off x="6639941" y="3913644"/>
              <a:ext cx="1132840" cy="257810"/>
            </a:xfrm>
            <a:custGeom>
              <a:avLst/>
              <a:gdLst/>
              <a:ahLst/>
              <a:cxnLst/>
              <a:rect l="l" t="t" r="r" b="b"/>
              <a:pathLst>
                <a:path w="1132840" h="257810">
                  <a:moveTo>
                    <a:pt x="144780" y="128778"/>
                  </a:moveTo>
                  <a:lnTo>
                    <a:pt x="139446" y="122682"/>
                  </a:lnTo>
                  <a:lnTo>
                    <a:pt x="0" y="251460"/>
                  </a:lnTo>
                  <a:lnTo>
                    <a:pt x="5334" y="257556"/>
                  </a:lnTo>
                  <a:lnTo>
                    <a:pt x="144780" y="128778"/>
                  </a:lnTo>
                  <a:close/>
                </a:path>
                <a:path w="1132840" h="257810">
                  <a:moveTo>
                    <a:pt x="1005078" y="246126"/>
                  </a:moveTo>
                  <a:lnTo>
                    <a:pt x="256032" y="243840"/>
                  </a:lnTo>
                  <a:lnTo>
                    <a:pt x="256032" y="252222"/>
                  </a:lnTo>
                  <a:lnTo>
                    <a:pt x="1005078" y="254508"/>
                  </a:lnTo>
                  <a:lnTo>
                    <a:pt x="1005078" y="246126"/>
                  </a:lnTo>
                  <a:close/>
                </a:path>
                <a:path w="1132840" h="257810">
                  <a:moveTo>
                    <a:pt x="1132332" y="124206"/>
                  </a:moveTo>
                  <a:lnTo>
                    <a:pt x="1000582" y="9753"/>
                  </a:lnTo>
                  <a:lnTo>
                    <a:pt x="1001268" y="2286"/>
                  </a:lnTo>
                  <a:lnTo>
                    <a:pt x="252222" y="0"/>
                  </a:lnTo>
                  <a:lnTo>
                    <a:pt x="252222" y="8382"/>
                  </a:lnTo>
                  <a:lnTo>
                    <a:pt x="988390" y="10642"/>
                  </a:lnTo>
                  <a:lnTo>
                    <a:pt x="1126998" y="130302"/>
                  </a:lnTo>
                  <a:lnTo>
                    <a:pt x="1132332" y="124206"/>
                  </a:lnTo>
                  <a:close/>
                </a:path>
              </a:pathLst>
            </a:custGeom>
            <a:solidFill>
              <a:srgbClr val="000000"/>
            </a:solidFill>
          </p:spPr>
          <p:txBody>
            <a:bodyPr wrap="square" lIns="0" tIns="0" rIns="0" bIns="0" rtlCol="0"/>
            <a:lstStyle/>
            <a:p>
              <a:endParaRPr/>
            </a:p>
          </p:txBody>
        </p:sp>
        <p:pic>
          <p:nvPicPr>
            <p:cNvPr id="17" name="object 17"/>
            <p:cNvPicPr/>
            <p:nvPr/>
          </p:nvPicPr>
          <p:blipFill>
            <a:blip r:embed="rId6" cstate="print"/>
            <a:stretch>
              <a:fillRect/>
            </a:stretch>
          </p:blipFill>
          <p:spPr>
            <a:xfrm>
              <a:off x="6765683" y="3917441"/>
              <a:ext cx="147827" cy="249174"/>
            </a:xfrm>
            <a:prstGeom prst="rect">
              <a:avLst/>
            </a:prstGeom>
          </p:spPr>
        </p:pic>
        <p:sp>
          <p:nvSpPr>
            <p:cNvPr id="18" name="object 18"/>
            <p:cNvSpPr/>
            <p:nvPr/>
          </p:nvSpPr>
          <p:spPr>
            <a:xfrm>
              <a:off x="7627493" y="3913644"/>
              <a:ext cx="1137285" cy="257175"/>
            </a:xfrm>
            <a:custGeom>
              <a:avLst/>
              <a:gdLst/>
              <a:ahLst/>
              <a:cxnLst/>
              <a:rect l="l" t="t" r="r" b="b"/>
              <a:pathLst>
                <a:path w="1137284" h="257175">
                  <a:moveTo>
                    <a:pt x="144780" y="128016"/>
                  </a:moveTo>
                  <a:lnTo>
                    <a:pt x="139446" y="121920"/>
                  </a:lnTo>
                  <a:lnTo>
                    <a:pt x="0" y="250698"/>
                  </a:lnTo>
                  <a:lnTo>
                    <a:pt x="5334" y="256794"/>
                  </a:lnTo>
                  <a:lnTo>
                    <a:pt x="144780" y="128016"/>
                  </a:lnTo>
                  <a:close/>
                </a:path>
                <a:path w="1137284" h="257175">
                  <a:moveTo>
                    <a:pt x="1009650" y="246126"/>
                  </a:moveTo>
                  <a:lnTo>
                    <a:pt x="260604" y="243840"/>
                  </a:lnTo>
                  <a:lnTo>
                    <a:pt x="260604" y="252222"/>
                  </a:lnTo>
                  <a:lnTo>
                    <a:pt x="1009650" y="254508"/>
                  </a:lnTo>
                  <a:lnTo>
                    <a:pt x="1009650" y="246126"/>
                  </a:lnTo>
                  <a:close/>
                </a:path>
                <a:path w="1137284" h="257175">
                  <a:moveTo>
                    <a:pt x="1136904" y="124206"/>
                  </a:moveTo>
                  <a:lnTo>
                    <a:pt x="1005078" y="9677"/>
                  </a:lnTo>
                  <a:lnTo>
                    <a:pt x="1005078" y="2286"/>
                  </a:lnTo>
                  <a:lnTo>
                    <a:pt x="256032" y="0"/>
                  </a:lnTo>
                  <a:lnTo>
                    <a:pt x="256032" y="8382"/>
                  </a:lnTo>
                  <a:lnTo>
                    <a:pt x="992187" y="10629"/>
                  </a:lnTo>
                  <a:lnTo>
                    <a:pt x="1130808" y="130302"/>
                  </a:lnTo>
                  <a:lnTo>
                    <a:pt x="1136904" y="124206"/>
                  </a:lnTo>
                  <a:close/>
                </a:path>
              </a:pathLst>
            </a:custGeom>
            <a:solidFill>
              <a:srgbClr val="000000"/>
            </a:solidFill>
          </p:spPr>
          <p:txBody>
            <a:bodyPr wrap="square" lIns="0" tIns="0" rIns="0" bIns="0" rtlCol="0"/>
            <a:lstStyle/>
            <a:p>
              <a:endParaRPr/>
            </a:p>
          </p:txBody>
        </p:sp>
        <p:pic>
          <p:nvPicPr>
            <p:cNvPr id="19" name="object 19"/>
            <p:cNvPicPr/>
            <p:nvPr/>
          </p:nvPicPr>
          <p:blipFill>
            <a:blip r:embed="rId7" cstate="print"/>
            <a:stretch>
              <a:fillRect/>
            </a:stretch>
          </p:blipFill>
          <p:spPr>
            <a:xfrm>
              <a:off x="7757807" y="3917441"/>
              <a:ext cx="147827" cy="249174"/>
            </a:xfrm>
            <a:prstGeom prst="rect">
              <a:avLst/>
            </a:prstGeom>
          </p:spPr>
        </p:pic>
        <p:sp>
          <p:nvSpPr>
            <p:cNvPr id="20" name="object 20"/>
            <p:cNvSpPr/>
            <p:nvPr/>
          </p:nvSpPr>
          <p:spPr>
            <a:xfrm>
              <a:off x="2373515" y="3907548"/>
              <a:ext cx="6849109" cy="296545"/>
            </a:xfrm>
            <a:custGeom>
              <a:avLst/>
              <a:gdLst/>
              <a:ahLst/>
              <a:cxnLst/>
              <a:rect l="l" t="t" r="r" b="b"/>
              <a:pathLst>
                <a:path w="6849109" h="296545">
                  <a:moveTo>
                    <a:pt x="409194" y="166878"/>
                  </a:moveTo>
                  <a:lnTo>
                    <a:pt x="403098" y="160782"/>
                  </a:lnTo>
                  <a:lnTo>
                    <a:pt x="302336" y="262128"/>
                  </a:lnTo>
                  <a:lnTo>
                    <a:pt x="0" y="262128"/>
                  </a:lnTo>
                  <a:lnTo>
                    <a:pt x="0" y="270510"/>
                  </a:lnTo>
                  <a:lnTo>
                    <a:pt x="294005" y="270510"/>
                  </a:lnTo>
                  <a:lnTo>
                    <a:pt x="274320" y="290322"/>
                  </a:lnTo>
                  <a:lnTo>
                    <a:pt x="280416" y="296418"/>
                  </a:lnTo>
                  <a:lnTo>
                    <a:pt x="306171" y="270510"/>
                  </a:lnTo>
                  <a:lnTo>
                    <a:pt x="312420" y="270510"/>
                  </a:lnTo>
                  <a:lnTo>
                    <a:pt x="312420" y="264236"/>
                  </a:lnTo>
                  <a:lnTo>
                    <a:pt x="409194" y="166878"/>
                  </a:lnTo>
                  <a:close/>
                </a:path>
                <a:path w="6849109" h="296545">
                  <a:moveTo>
                    <a:pt x="446532" y="140970"/>
                  </a:moveTo>
                  <a:lnTo>
                    <a:pt x="313944" y="25501"/>
                  </a:lnTo>
                  <a:lnTo>
                    <a:pt x="313944" y="17526"/>
                  </a:lnTo>
                  <a:lnTo>
                    <a:pt x="304800" y="17526"/>
                  </a:lnTo>
                  <a:lnTo>
                    <a:pt x="762" y="17526"/>
                  </a:lnTo>
                  <a:lnTo>
                    <a:pt x="762" y="25908"/>
                  </a:lnTo>
                  <a:lnTo>
                    <a:pt x="302082" y="25908"/>
                  </a:lnTo>
                  <a:lnTo>
                    <a:pt x="441198" y="147066"/>
                  </a:lnTo>
                  <a:lnTo>
                    <a:pt x="446532" y="140970"/>
                  </a:lnTo>
                  <a:close/>
                </a:path>
                <a:path w="6849109" h="296545">
                  <a:moveTo>
                    <a:pt x="6530340" y="283464"/>
                  </a:moveTo>
                  <a:lnTo>
                    <a:pt x="6403848" y="155448"/>
                  </a:lnTo>
                  <a:lnTo>
                    <a:pt x="6397752" y="161544"/>
                  </a:lnTo>
                  <a:lnTo>
                    <a:pt x="6524244" y="288798"/>
                  </a:lnTo>
                  <a:lnTo>
                    <a:pt x="6530340" y="283464"/>
                  </a:lnTo>
                  <a:close/>
                </a:path>
                <a:path w="6849109" h="296545">
                  <a:moveTo>
                    <a:pt x="6820662" y="0"/>
                  </a:moveTo>
                  <a:lnTo>
                    <a:pt x="6492240" y="4572"/>
                  </a:lnTo>
                  <a:lnTo>
                    <a:pt x="6492240" y="12954"/>
                  </a:lnTo>
                  <a:lnTo>
                    <a:pt x="6499161" y="12865"/>
                  </a:lnTo>
                  <a:lnTo>
                    <a:pt x="6364973" y="146304"/>
                  </a:lnTo>
                  <a:lnTo>
                    <a:pt x="6245339" y="256794"/>
                  </a:lnTo>
                  <a:lnTo>
                    <a:pt x="6251435" y="262890"/>
                  </a:lnTo>
                  <a:lnTo>
                    <a:pt x="6371069" y="152400"/>
                  </a:lnTo>
                  <a:lnTo>
                    <a:pt x="6390881" y="134112"/>
                  </a:lnTo>
                  <a:lnTo>
                    <a:pt x="6390170" y="133413"/>
                  </a:lnTo>
                  <a:lnTo>
                    <a:pt x="6508229" y="16002"/>
                  </a:lnTo>
                  <a:lnTo>
                    <a:pt x="6505003" y="12788"/>
                  </a:lnTo>
                  <a:lnTo>
                    <a:pt x="6820662" y="8382"/>
                  </a:lnTo>
                  <a:lnTo>
                    <a:pt x="6820662" y="0"/>
                  </a:lnTo>
                  <a:close/>
                </a:path>
                <a:path w="6849109" h="296545">
                  <a:moveTo>
                    <a:pt x="6848843" y="280416"/>
                  </a:moveTo>
                  <a:lnTo>
                    <a:pt x="6536423" y="280416"/>
                  </a:lnTo>
                  <a:lnTo>
                    <a:pt x="6536423" y="288798"/>
                  </a:lnTo>
                  <a:lnTo>
                    <a:pt x="6848843" y="288798"/>
                  </a:lnTo>
                  <a:lnTo>
                    <a:pt x="6848843" y="280416"/>
                  </a:lnTo>
                  <a:close/>
                </a:path>
              </a:pathLst>
            </a:custGeom>
            <a:solidFill>
              <a:srgbClr val="000000"/>
            </a:solidFill>
          </p:spPr>
          <p:txBody>
            <a:bodyPr wrap="square" lIns="0" tIns="0" rIns="0" bIns="0" rtlCol="0"/>
            <a:lstStyle/>
            <a:p>
              <a:endParaRPr/>
            </a:p>
          </p:txBody>
        </p:sp>
      </p:grpSp>
      <p:sp>
        <p:nvSpPr>
          <p:cNvPr id="21" name="object 21"/>
          <p:cNvSpPr txBox="1"/>
          <p:nvPr/>
        </p:nvSpPr>
        <p:spPr>
          <a:xfrm>
            <a:off x="1507370" y="2108708"/>
            <a:ext cx="353695" cy="1483995"/>
          </a:xfrm>
          <a:prstGeom prst="rect">
            <a:avLst/>
          </a:prstGeom>
        </p:spPr>
        <p:txBody>
          <a:bodyPr vert="horz" wrap="square" lIns="0" tIns="15875" rIns="0" bIns="0" rtlCol="0">
            <a:spAutoFit/>
          </a:bodyPr>
          <a:lstStyle/>
          <a:p>
            <a:pPr marL="12700">
              <a:lnSpc>
                <a:spcPct val="100000"/>
              </a:lnSpc>
              <a:spcBef>
                <a:spcPts val="125"/>
              </a:spcBef>
            </a:pPr>
            <a:r>
              <a:rPr sz="1550" spc="-25" dirty="0">
                <a:latin typeface="Calibri"/>
                <a:cs typeface="Calibri"/>
              </a:rPr>
              <a:t>an0</a:t>
            </a:r>
            <a:endParaRPr sz="1550">
              <a:latin typeface="Calibri"/>
              <a:cs typeface="Calibri"/>
            </a:endParaRPr>
          </a:p>
          <a:p>
            <a:pPr marL="37465">
              <a:lnSpc>
                <a:spcPct val="100000"/>
              </a:lnSpc>
              <a:spcBef>
                <a:spcPts val="1185"/>
              </a:spcBef>
            </a:pPr>
            <a:r>
              <a:rPr sz="1550" spc="-25" dirty="0">
                <a:latin typeface="Calibri"/>
                <a:cs typeface="Calibri"/>
              </a:rPr>
              <a:t>an1</a:t>
            </a:r>
            <a:endParaRPr sz="1550">
              <a:latin typeface="Calibri"/>
              <a:cs typeface="Calibri"/>
            </a:endParaRPr>
          </a:p>
          <a:p>
            <a:pPr marL="13970" marR="5080" indent="23495">
              <a:lnSpc>
                <a:spcPct val="171000"/>
              </a:lnSpc>
              <a:spcBef>
                <a:spcPts val="185"/>
              </a:spcBef>
            </a:pPr>
            <a:r>
              <a:rPr sz="1550" spc="-25" dirty="0">
                <a:latin typeface="Calibri"/>
                <a:cs typeface="Calibri"/>
              </a:rPr>
              <a:t>an3 an2</a:t>
            </a:r>
            <a:endParaRPr sz="1550">
              <a:latin typeface="Calibri"/>
              <a:cs typeface="Calibri"/>
            </a:endParaRPr>
          </a:p>
        </p:txBody>
      </p:sp>
      <p:sp>
        <p:nvSpPr>
          <p:cNvPr id="29" name="object 2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22" name="object 22"/>
          <p:cNvSpPr txBox="1"/>
          <p:nvPr/>
        </p:nvSpPr>
        <p:spPr>
          <a:xfrm>
            <a:off x="2922403" y="3556508"/>
            <a:ext cx="278130" cy="266065"/>
          </a:xfrm>
          <a:prstGeom prst="rect">
            <a:avLst/>
          </a:prstGeom>
        </p:spPr>
        <p:txBody>
          <a:bodyPr vert="horz" wrap="square" lIns="0" tIns="15875" rIns="0" bIns="0" rtlCol="0">
            <a:spAutoFit/>
          </a:bodyPr>
          <a:lstStyle/>
          <a:p>
            <a:pPr marL="12700">
              <a:lnSpc>
                <a:spcPct val="100000"/>
              </a:lnSpc>
              <a:spcBef>
                <a:spcPts val="125"/>
              </a:spcBef>
            </a:pPr>
            <a:r>
              <a:rPr sz="1550" spc="-25" dirty="0">
                <a:latin typeface="Calibri"/>
                <a:cs typeface="Calibri"/>
              </a:rPr>
              <a:t>in0</a:t>
            </a:r>
            <a:endParaRPr sz="1550">
              <a:latin typeface="Calibri"/>
              <a:cs typeface="Calibri"/>
            </a:endParaRPr>
          </a:p>
        </p:txBody>
      </p:sp>
      <p:sp>
        <p:nvSpPr>
          <p:cNvPr id="23" name="object 23"/>
          <p:cNvSpPr txBox="1"/>
          <p:nvPr/>
        </p:nvSpPr>
        <p:spPr>
          <a:xfrm>
            <a:off x="3877959" y="3570215"/>
            <a:ext cx="278130" cy="266065"/>
          </a:xfrm>
          <a:prstGeom prst="rect">
            <a:avLst/>
          </a:prstGeom>
        </p:spPr>
        <p:txBody>
          <a:bodyPr vert="horz" wrap="square" lIns="0" tIns="15875" rIns="0" bIns="0" rtlCol="0">
            <a:spAutoFit/>
          </a:bodyPr>
          <a:lstStyle/>
          <a:p>
            <a:pPr marL="12700">
              <a:lnSpc>
                <a:spcPct val="100000"/>
              </a:lnSpc>
              <a:spcBef>
                <a:spcPts val="125"/>
              </a:spcBef>
            </a:pPr>
            <a:r>
              <a:rPr sz="1550" spc="-25" dirty="0">
                <a:latin typeface="Calibri"/>
                <a:cs typeface="Calibri"/>
              </a:rPr>
              <a:t>in1</a:t>
            </a:r>
            <a:endParaRPr sz="1550">
              <a:latin typeface="Calibri"/>
              <a:cs typeface="Calibri"/>
            </a:endParaRPr>
          </a:p>
        </p:txBody>
      </p:sp>
      <p:sp>
        <p:nvSpPr>
          <p:cNvPr id="24" name="object 24"/>
          <p:cNvSpPr txBox="1"/>
          <p:nvPr/>
        </p:nvSpPr>
        <p:spPr>
          <a:xfrm>
            <a:off x="4874658" y="3579354"/>
            <a:ext cx="278130" cy="266065"/>
          </a:xfrm>
          <a:prstGeom prst="rect">
            <a:avLst/>
          </a:prstGeom>
        </p:spPr>
        <p:txBody>
          <a:bodyPr vert="horz" wrap="square" lIns="0" tIns="15875" rIns="0" bIns="0" rtlCol="0">
            <a:spAutoFit/>
          </a:bodyPr>
          <a:lstStyle/>
          <a:p>
            <a:pPr marL="12700">
              <a:lnSpc>
                <a:spcPct val="100000"/>
              </a:lnSpc>
              <a:spcBef>
                <a:spcPts val="125"/>
              </a:spcBef>
            </a:pPr>
            <a:r>
              <a:rPr sz="1550" spc="-25" dirty="0">
                <a:latin typeface="Calibri"/>
                <a:cs typeface="Calibri"/>
              </a:rPr>
              <a:t>in2</a:t>
            </a:r>
            <a:endParaRPr sz="1550">
              <a:latin typeface="Calibri"/>
              <a:cs typeface="Calibri"/>
            </a:endParaRPr>
          </a:p>
        </p:txBody>
      </p:sp>
      <p:sp>
        <p:nvSpPr>
          <p:cNvPr id="25" name="object 25"/>
          <p:cNvSpPr txBox="1"/>
          <p:nvPr/>
        </p:nvSpPr>
        <p:spPr>
          <a:xfrm>
            <a:off x="5924685" y="3567169"/>
            <a:ext cx="278130" cy="266065"/>
          </a:xfrm>
          <a:prstGeom prst="rect">
            <a:avLst/>
          </a:prstGeom>
        </p:spPr>
        <p:txBody>
          <a:bodyPr vert="horz" wrap="square" lIns="0" tIns="15875" rIns="0" bIns="0" rtlCol="0">
            <a:spAutoFit/>
          </a:bodyPr>
          <a:lstStyle/>
          <a:p>
            <a:pPr marL="12700">
              <a:lnSpc>
                <a:spcPct val="100000"/>
              </a:lnSpc>
              <a:spcBef>
                <a:spcPts val="125"/>
              </a:spcBef>
            </a:pPr>
            <a:r>
              <a:rPr sz="1550" spc="-25" dirty="0">
                <a:latin typeface="Calibri"/>
                <a:cs typeface="Calibri"/>
              </a:rPr>
              <a:t>in3</a:t>
            </a:r>
            <a:endParaRPr sz="1550">
              <a:latin typeface="Calibri"/>
              <a:cs typeface="Calibri"/>
            </a:endParaRPr>
          </a:p>
        </p:txBody>
      </p:sp>
      <p:sp>
        <p:nvSpPr>
          <p:cNvPr id="26" name="object 26"/>
          <p:cNvSpPr txBox="1"/>
          <p:nvPr/>
        </p:nvSpPr>
        <p:spPr>
          <a:xfrm>
            <a:off x="6958720" y="3570215"/>
            <a:ext cx="278130" cy="266065"/>
          </a:xfrm>
          <a:prstGeom prst="rect">
            <a:avLst/>
          </a:prstGeom>
        </p:spPr>
        <p:txBody>
          <a:bodyPr vert="horz" wrap="square" lIns="0" tIns="15875" rIns="0" bIns="0" rtlCol="0">
            <a:spAutoFit/>
          </a:bodyPr>
          <a:lstStyle/>
          <a:p>
            <a:pPr marL="12700">
              <a:lnSpc>
                <a:spcPct val="100000"/>
              </a:lnSpc>
              <a:spcBef>
                <a:spcPts val="125"/>
              </a:spcBef>
            </a:pPr>
            <a:r>
              <a:rPr sz="1550" spc="-25" dirty="0">
                <a:latin typeface="Calibri"/>
                <a:cs typeface="Calibri"/>
              </a:rPr>
              <a:t>in0</a:t>
            </a:r>
            <a:endParaRPr sz="1550">
              <a:latin typeface="Calibri"/>
              <a:cs typeface="Calibri"/>
            </a:endParaRPr>
          </a:p>
        </p:txBody>
      </p:sp>
      <p:sp>
        <p:nvSpPr>
          <p:cNvPr id="27" name="object 27"/>
          <p:cNvSpPr txBox="1"/>
          <p:nvPr/>
        </p:nvSpPr>
        <p:spPr>
          <a:xfrm>
            <a:off x="7956942" y="3553461"/>
            <a:ext cx="278130" cy="266065"/>
          </a:xfrm>
          <a:prstGeom prst="rect">
            <a:avLst/>
          </a:prstGeom>
        </p:spPr>
        <p:txBody>
          <a:bodyPr vert="horz" wrap="square" lIns="0" tIns="15875" rIns="0" bIns="0" rtlCol="0">
            <a:spAutoFit/>
          </a:bodyPr>
          <a:lstStyle/>
          <a:p>
            <a:pPr marL="12700">
              <a:lnSpc>
                <a:spcPct val="100000"/>
              </a:lnSpc>
              <a:spcBef>
                <a:spcPts val="125"/>
              </a:spcBef>
            </a:pPr>
            <a:r>
              <a:rPr sz="1550" spc="-25" dirty="0">
                <a:latin typeface="Calibri"/>
                <a:cs typeface="Calibri"/>
              </a:rPr>
              <a:t>in1</a:t>
            </a:r>
            <a:endParaRPr sz="1550">
              <a:latin typeface="Calibri"/>
              <a:cs typeface="Calibri"/>
            </a:endParaRPr>
          </a:p>
        </p:txBody>
      </p:sp>
      <p:sp>
        <p:nvSpPr>
          <p:cNvPr id="28" name="object 28"/>
          <p:cNvSpPr txBox="1"/>
          <p:nvPr/>
        </p:nvSpPr>
        <p:spPr>
          <a:xfrm>
            <a:off x="721725" y="3790455"/>
            <a:ext cx="9107170" cy="2193925"/>
          </a:xfrm>
          <a:prstGeom prst="rect">
            <a:avLst/>
          </a:prstGeom>
        </p:spPr>
        <p:txBody>
          <a:bodyPr vert="horz" wrap="square" lIns="0" tIns="15875" rIns="0" bIns="0" rtlCol="0">
            <a:spAutoFit/>
          </a:bodyPr>
          <a:lstStyle/>
          <a:p>
            <a:pPr marL="464184">
              <a:lnSpc>
                <a:spcPct val="100000"/>
              </a:lnSpc>
              <a:spcBef>
                <a:spcPts val="125"/>
              </a:spcBef>
            </a:pPr>
            <a:r>
              <a:rPr sz="1550" spc="-10" dirty="0">
                <a:latin typeface="Calibri"/>
                <a:cs typeface="Calibri"/>
              </a:rPr>
              <a:t>dp</a:t>
            </a:r>
            <a:r>
              <a:rPr sz="850" spc="-10" dirty="0">
                <a:latin typeface="Calibri"/>
                <a:cs typeface="Calibri"/>
              </a:rPr>
              <a:t>,a,b,…,g</a:t>
            </a:r>
            <a:endParaRPr sz="850">
              <a:latin typeface="Calibri"/>
              <a:cs typeface="Calibri"/>
            </a:endParaRPr>
          </a:p>
          <a:p>
            <a:pPr>
              <a:lnSpc>
                <a:spcPct val="100000"/>
              </a:lnSpc>
            </a:pPr>
            <a:endParaRPr sz="850">
              <a:latin typeface="Calibri"/>
              <a:cs typeface="Calibri"/>
            </a:endParaRPr>
          </a:p>
          <a:p>
            <a:pPr>
              <a:lnSpc>
                <a:spcPct val="100000"/>
              </a:lnSpc>
              <a:spcBef>
                <a:spcPts val="615"/>
              </a:spcBef>
            </a:pPr>
            <a:endParaRPr sz="850">
              <a:latin typeface="Calibri"/>
              <a:cs typeface="Calibri"/>
            </a:endParaRPr>
          </a:p>
          <a:p>
            <a:pPr marR="32384" algn="ctr">
              <a:lnSpc>
                <a:spcPct val="100000"/>
              </a:lnSpc>
            </a:pPr>
            <a:r>
              <a:rPr sz="1400" spc="-15" dirty="0">
                <a:latin typeface="微软雅黑"/>
                <a:cs typeface="微软雅黑"/>
              </a:rPr>
              <a:t>例 </a:t>
            </a:r>
            <a:r>
              <a:rPr sz="1400" dirty="0">
                <a:latin typeface="Arial"/>
                <a:cs typeface="Arial"/>
              </a:rPr>
              <a:t>4. 21</a:t>
            </a:r>
            <a:r>
              <a:rPr sz="1400" spc="385" dirty="0">
                <a:latin typeface="Arial"/>
                <a:cs typeface="Arial"/>
              </a:rPr>
              <a:t> </a:t>
            </a:r>
            <a:r>
              <a:rPr sz="1400" spc="-5" dirty="0">
                <a:latin typeface="微软雅黑"/>
                <a:cs typeface="微软雅黑"/>
              </a:rPr>
              <a:t>数码管扫描显示电路时序图</a:t>
            </a:r>
            <a:endParaRPr sz="1400">
              <a:latin typeface="微软雅黑"/>
              <a:cs typeface="微软雅黑"/>
            </a:endParaRPr>
          </a:p>
          <a:p>
            <a:pPr marL="262890" marR="5080" indent="-250825">
              <a:lnSpc>
                <a:spcPct val="100000"/>
              </a:lnSpc>
              <a:spcBef>
                <a:spcPts val="1700"/>
              </a:spcBef>
              <a:buFont typeface="Wingdings"/>
              <a:buChar char=""/>
              <a:tabLst>
                <a:tab pos="262890" algn="l"/>
              </a:tabLst>
            </a:pPr>
            <a:r>
              <a:rPr sz="1750" dirty="0">
                <a:latin typeface="微软雅黑"/>
                <a:cs typeface="微软雅黑"/>
              </a:rPr>
              <a:t>分时复用的数码管显示电路模块含有四个控制信号</a:t>
            </a:r>
            <a:r>
              <a:rPr sz="1750" spc="-20" dirty="0">
                <a:latin typeface="Arial"/>
                <a:cs typeface="Arial"/>
              </a:rPr>
              <a:t>an3</a:t>
            </a:r>
            <a:r>
              <a:rPr sz="1750" dirty="0">
                <a:latin typeface="微软雅黑"/>
                <a:cs typeface="微软雅黑"/>
              </a:rPr>
              <a:t>、</a:t>
            </a:r>
            <a:r>
              <a:rPr sz="1750" spc="-10" dirty="0">
                <a:latin typeface="Arial"/>
                <a:cs typeface="Arial"/>
              </a:rPr>
              <a:t>an2</a:t>
            </a:r>
            <a:r>
              <a:rPr sz="1750" dirty="0">
                <a:latin typeface="微软雅黑"/>
                <a:cs typeface="微软雅黑"/>
              </a:rPr>
              <a:t>、</a:t>
            </a:r>
            <a:r>
              <a:rPr sz="1750" spc="-20" dirty="0">
                <a:latin typeface="Arial"/>
                <a:cs typeface="Arial"/>
              </a:rPr>
              <a:t>an1</a:t>
            </a:r>
            <a:r>
              <a:rPr sz="1750" dirty="0">
                <a:latin typeface="微软雅黑"/>
                <a:cs typeface="微软雅黑"/>
              </a:rPr>
              <a:t>和</a:t>
            </a:r>
            <a:r>
              <a:rPr sz="1750" spc="-10" dirty="0">
                <a:latin typeface="Arial"/>
                <a:cs typeface="Arial"/>
              </a:rPr>
              <a:t>an0</a:t>
            </a:r>
            <a:r>
              <a:rPr sz="1750" spc="-15" dirty="0">
                <a:latin typeface="微软雅黑"/>
                <a:cs typeface="微软雅黑"/>
              </a:rPr>
              <a:t>，以及与控制信号</a:t>
            </a:r>
            <a:r>
              <a:rPr sz="1750" dirty="0">
                <a:latin typeface="微软雅黑"/>
                <a:cs typeface="微软雅黑"/>
              </a:rPr>
              <a:t>一致的输出段码信号</a:t>
            </a:r>
            <a:r>
              <a:rPr sz="1750" spc="-10" dirty="0">
                <a:latin typeface="Arial"/>
                <a:cs typeface="Arial"/>
              </a:rPr>
              <a:t>sseg</a:t>
            </a:r>
            <a:r>
              <a:rPr sz="1750" spc="-50" dirty="0">
                <a:latin typeface="微软雅黑"/>
                <a:cs typeface="微软雅黑"/>
              </a:rPr>
              <a:t>。</a:t>
            </a:r>
            <a:endParaRPr sz="1750">
              <a:latin typeface="微软雅黑"/>
              <a:cs typeface="微软雅黑"/>
            </a:endParaRPr>
          </a:p>
          <a:p>
            <a:pPr marL="262890" marR="154305" indent="-250825">
              <a:lnSpc>
                <a:spcPct val="100600"/>
              </a:lnSpc>
              <a:spcBef>
                <a:spcPts val="690"/>
              </a:spcBef>
              <a:buFont typeface="Wingdings"/>
              <a:buChar char=""/>
              <a:tabLst>
                <a:tab pos="262890" algn="l"/>
              </a:tabLst>
            </a:pPr>
            <a:r>
              <a:rPr sz="1750" spc="-5" dirty="0">
                <a:latin typeface="微软雅黑"/>
                <a:cs typeface="微软雅黑"/>
              </a:rPr>
              <a:t>控制信号的刷新频率必须足够快才能避免闪烁感，但也不能太快，以免影响数码管的开关</a:t>
            </a:r>
            <a:r>
              <a:rPr sz="1750" dirty="0">
                <a:latin typeface="微软雅黑"/>
                <a:cs typeface="微软雅黑"/>
              </a:rPr>
              <a:t>切换，最佳工作频率为</a:t>
            </a:r>
            <a:r>
              <a:rPr sz="1750" spc="-10" dirty="0">
                <a:latin typeface="Arial"/>
                <a:cs typeface="Arial"/>
              </a:rPr>
              <a:t>1000Hz</a:t>
            </a:r>
            <a:r>
              <a:rPr sz="1750" spc="-20" dirty="0">
                <a:latin typeface="微软雅黑"/>
                <a:cs typeface="微软雅黑"/>
              </a:rPr>
              <a:t>左右。</a:t>
            </a:r>
            <a:endParaRPr sz="1750">
              <a:latin typeface="微软雅黑"/>
              <a:cs typeface="微软雅黑"/>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4.5.1</a:t>
            </a:r>
            <a:r>
              <a:rPr dirty="0">
                <a:latin typeface="Arial"/>
                <a:cs typeface="Arial"/>
              </a:rPr>
              <a:t>	</a:t>
            </a:r>
            <a:r>
              <a:rPr spc="-15" dirty="0"/>
              <a:t>数码管扫描显示电路</a:t>
            </a:r>
          </a:p>
        </p:txBody>
      </p:sp>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614057" y="1671827"/>
            <a:ext cx="4438650" cy="4184735"/>
          </a:xfrm>
          <a:prstGeom prst="rect">
            <a:avLst/>
          </a:prstGeom>
          <a:solidFill>
            <a:srgbClr val="F9FABA"/>
          </a:solidFill>
        </p:spPr>
        <p:txBody>
          <a:bodyPr vert="horz" wrap="square" lIns="0" tIns="50800" rIns="0" bIns="0" rtlCol="0">
            <a:spAutoFit/>
          </a:bodyPr>
          <a:lstStyle/>
          <a:p>
            <a:pPr marL="79375">
              <a:lnSpc>
                <a:spcPct val="100000"/>
              </a:lnSpc>
              <a:spcBef>
                <a:spcPts val="400"/>
              </a:spcBef>
            </a:pPr>
            <a:r>
              <a:rPr sz="1400" b="1" dirty="0">
                <a:latin typeface="Arial"/>
                <a:cs typeface="Arial"/>
              </a:rPr>
              <a:t>module</a:t>
            </a:r>
            <a:r>
              <a:rPr sz="1400" b="1" spc="-25" dirty="0">
                <a:latin typeface="Arial"/>
                <a:cs typeface="Arial"/>
              </a:rPr>
              <a:t> </a:t>
            </a:r>
            <a:r>
              <a:rPr sz="1550" spc="-10" dirty="0">
                <a:latin typeface="Arial"/>
                <a:cs typeface="Arial"/>
              </a:rPr>
              <a:t>scan_led_disp</a:t>
            </a:r>
            <a:endParaRPr sz="1550" dirty="0">
              <a:latin typeface="Arial"/>
              <a:cs typeface="Arial"/>
            </a:endParaRPr>
          </a:p>
          <a:p>
            <a:pPr marL="330200">
              <a:lnSpc>
                <a:spcPct val="100000"/>
              </a:lnSpc>
              <a:spcBef>
                <a:spcPts val="285"/>
              </a:spcBef>
            </a:pPr>
            <a:r>
              <a:rPr sz="1400" spc="-50" dirty="0">
                <a:latin typeface="Arial"/>
                <a:cs typeface="Arial"/>
              </a:rPr>
              <a:t>(</a:t>
            </a:r>
            <a:endParaRPr sz="1400" dirty="0">
              <a:latin typeface="Arial"/>
              <a:cs typeface="Arial"/>
            </a:endParaRPr>
          </a:p>
          <a:p>
            <a:pPr marL="381000">
              <a:lnSpc>
                <a:spcPct val="100000"/>
              </a:lnSpc>
              <a:spcBef>
                <a:spcPts val="290"/>
              </a:spcBef>
            </a:pPr>
            <a:r>
              <a:rPr sz="1400" b="1" dirty="0">
                <a:latin typeface="Arial"/>
                <a:cs typeface="Arial"/>
              </a:rPr>
              <a:t>input</a:t>
            </a:r>
            <a:r>
              <a:rPr sz="1400" b="1" spc="390" dirty="0">
                <a:latin typeface="Arial"/>
                <a:cs typeface="Arial"/>
              </a:rPr>
              <a:t> </a:t>
            </a:r>
            <a:r>
              <a:rPr sz="1550" spc="-10" dirty="0">
                <a:latin typeface="Arial"/>
                <a:cs typeface="Arial"/>
              </a:rPr>
              <a:t>clk,reset</a:t>
            </a:r>
            <a:r>
              <a:rPr sz="1400" spc="-10" dirty="0">
                <a:latin typeface="Arial"/>
                <a:cs typeface="Arial"/>
              </a:rPr>
              <a:t>,</a:t>
            </a:r>
            <a:endParaRPr sz="1400" dirty="0">
              <a:latin typeface="Arial"/>
              <a:cs typeface="Arial"/>
            </a:endParaRPr>
          </a:p>
          <a:p>
            <a:pPr marL="380365" marR="1883410">
              <a:lnSpc>
                <a:spcPct val="117100"/>
              </a:lnSpc>
            </a:pPr>
            <a:r>
              <a:rPr sz="1400" b="1" dirty="0">
                <a:latin typeface="Arial"/>
                <a:cs typeface="Arial"/>
              </a:rPr>
              <a:t>input</a:t>
            </a:r>
            <a:r>
              <a:rPr sz="1400" b="1" spc="-10" dirty="0">
                <a:latin typeface="Arial"/>
                <a:cs typeface="Arial"/>
              </a:rPr>
              <a:t> </a:t>
            </a:r>
            <a:r>
              <a:rPr sz="1400" dirty="0">
                <a:latin typeface="Arial"/>
                <a:cs typeface="Arial"/>
              </a:rPr>
              <a:t>[7:0] </a:t>
            </a:r>
            <a:r>
              <a:rPr sz="1550" spc="-10" dirty="0">
                <a:latin typeface="Arial"/>
                <a:cs typeface="Arial"/>
              </a:rPr>
              <a:t>in3,in2,in1,in0</a:t>
            </a:r>
            <a:r>
              <a:rPr sz="1400" spc="-10" dirty="0">
                <a:latin typeface="Arial"/>
                <a:cs typeface="Arial"/>
              </a:rPr>
              <a:t>, </a:t>
            </a:r>
            <a:r>
              <a:rPr sz="1400" b="1" dirty="0">
                <a:latin typeface="Arial"/>
                <a:cs typeface="Arial"/>
              </a:rPr>
              <a:t>output</a:t>
            </a:r>
            <a:r>
              <a:rPr sz="1400" b="1" spc="-15" dirty="0">
                <a:latin typeface="Arial"/>
                <a:cs typeface="Arial"/>
              </a:rPr>
              <a:t> </a:t>
            </a:r>
            <a:r>
              <a:rPr sz="1400" b="1" dirty="0">
                <a:latin typeface="Arial"/>
                <a:cs typeface="Arial"/>
              </a:rPr>
              <a:t>reg</a:t>
            </a:r>
            <a:r>
              <a:rPr sz="1400" b="1" spc="-5" dirty="0">
                <a:latin typeface="Arial"/>
                <a:cs typeface="Arial"/>
              </a:rPr>
              <a:t> </a:t>
            </a:r>
            <a:r>
              <a:rPr sz="1400" dirty="0">
                <a:latin typeface="Arial"/>
                <a:cs typeface="Arial"/>
              </a:rPr>
              <a:t>[3:0]</a:t>
            </a:r>
            <a:r>
              <a:rPr sz="1400" spc="10" dirty="0">
                <a:latin typeface="Arial"/>
                <a:cs typeface="Arial"/>
              </a:rPr>
              <a:t> </a:t>
            </a:r>
            <a:r>
              <a:rPr sz="1550" spc="-25" dirty="0">
                <a:latin typeface="Arial"/>
                <a:cs typeface="Arial"/>
              </a:rPr>
              <a:t>an</a:t>
            </a:r>
            <a:r>
              <a:rPr sz="1400" spc="-25" dirty="0">
                <a:latin typeface="Arial"/>
                <a:cs typeface="Arial"/>
              </a:rPr>
              <a:t>,</a:t>
            </a:r>
            <a:r>
              <a:rPr sz="1400" spc="500" dirty="0">
                <a:latin typeface="Arial"/>
                <a:cs typeface="Arial"/>
              </a:rPr>
              <a:t> </a:t>
            </a:r>
            <a:r>
              <a:rPr sz="1400" b="1" dirty="0">
                <a:latin typeface="Arial"/>
                <a:cs typeface="Arial"/>
              </a:rPr>
              <a:t>output</a:t>
            </a:r>
            <a:r>
              <a:rPr sz="1400" b="1" spc="-15" dirty="0">
                <a:latin typeface="Arial"/>
                <a:cs typeface="Arial"/>
              </a:rPr>
              <a:t> </a:t>
            </a:r>
            <a:r>
              <a:rPr sz="1400" b="1" dirty="0">
                <a:latin typeface="Arial"/>
                <a:cs typeface="Arial"/>
              </a:rPr>
              <a:t>reg</a:t>
            </a:r>
            <a:r>
              <a:rPr sz="1400" b="1" spc="-10" dirty="0">
                <a:latin typeface="Arial"/>
                <a:cs typeface="Arial"/>
              </a:rPr>
              <a:t> </a:t>
            </a:r>
            <a:r>
              <a:rPr sz="1400" dirty="0">
                <a:latin typeface="Arial"/>
                <a:cs typeface="Arial"/>
              </a:rPr>
              <a:t>[7:0]</a:t>
            </a:r>
            <a:r>
              <a:rPr sz="1400" spc="10" dirty="0">
                <a:latin typeface="Arial"/>
                <a:cs typeface="Arial"/>
              </a:rPr>
              <a:t> </a:t>
            </a:r>
            <a:r>
              <a:rPr sz="1550" spc="-20" dirty="0">
                <a:latin typeface="Arial"/>
                <a:cs typeface="Arial"/>
              </a:rPr>
              <a:t>sseg</a:t>
            </a:r>
            <a:endParaRPr sz="1550" dirty="0">
              <a:latin typeface="Arial"/>
              <a:cs typeface="Arial"/>
            </a:endParaRPr>
          </a:p>
          <a:p>
            <a:pPr marL="330200">
              <a:lnSpc>
                <a:spcPct val="100000"/>
              </a:lnSpc>
              <a:spcBef>
                <a:spcPts val="280"/>
              </a:spcBef>
            </a:pPr>
            <a:r>
              <a:rPr sz="1400" spc="-25" dirty="0">
                <a:latin typeface="Arial"/>
                <a:cs typeface="Arial"/>
              </a:rPr>
              <a:t>);</a:t>
            </a:r>
            <a:endParaRPr sz="1400" dirty="0">
              <a:latin typeface="Arial"/>
              <a:cs typeface="Arial"/>
            </a:endParaRPr>
          </a:p>
          <a:p>
            <a:pPr marL="80010" marR="210820" indent="250190">
              <a:lnSpc>
                <a:spcPct val="115399"/>
              </a:lnSpc>
            </a:pPr>
            <a:r>
              <a:rPr sz="1400" b="1" dirty="0">
                <a:latin typeface="Arial"/>
                <a:cs typeface="Arial"/>
              </a:rPr>
              <a:t>localparam</a:t>
            </a:r>
            <a:r>
              <a:rPr sz="1400" b="1" spc="-15" dirty="0">
                <a:latin typeface="Arial"/>
                <a:cs typeface="Arial"/>
              </a:rPr>
              <a:t> </a:t>
            </a:r>
            <a:r>
              <a:rPr sz="1400" dirty="0">
                <a:latin typeface="Arial"/>
                <a:cs typeface="Arial"/>
              </a:rPr>
              <a:t>N = 16;</a:t>
            </a:r>
            <a:r>
              <a:rPr sz="1400" spc="-5" dirty="0">
                <a:latin typeface="Arial"/>
                <a:cs typeface="Arial"/>
              </a:rPr>
              <a:t> </a:t>
            </a:r>
            <a:r>
              <a:rPr sz="1400" spc="-10" dirty="0">
                <a:solidFill>
                  <a:srgbClr val="31DDFF"/>
                </a:solidFill>
                <a:latin typeface="Arial"/>
                <a:cs typeface="Arial"/>
              </a:rPr>
              <a:t>//</a:t>
            </a:r>
            <a:r>
              <a:rPr sz="1400" dirty="0">
                <a:solidFill>
                  <a:srgbClr val="31DDFF"/>
                </a:solidFill>
                <a:latin typeface="微软雅黑"/>
                <a:cs typeface="微软雅黑"/>
              </a:rPr>
              <a:t>对输入</a:t>
            </a:r>
            <a:r>
              <a:rPr sz="1400" spc="-10" dirty="0">
                <a:solidFill>
                  <a:srgbClr val="31DDFF"/>
                </a:solidFill>
                <a:latin typeface="Arial"/>
                <a:cs typeface="Arial"/>
              </a:rPr>
              <a:t>50MHz</a:t>
            </a:r>
            <a:r>
              <a:rPr sz="1400" spc="-10" dirty="0">
                <a:solidFill>
                  <a:srgbClr val="31DDFF"/>
                </a:solidFill>
                <a:latin typeface="微软雅黑"/>
                <a:cs typeface="微软雅黑"/>
              </a:rPr>
              <a:t>时钟进行分频</a:t>
            </a:r>
            <a:r>
              <a:rPr sz="1400" spc="-50" dirty="0">
                <a:solidFill>
                  <a:srgbClr val="31DDFF"/>
                </a:solidFill>
                <a:latin typeface="微软雅黑"/>
                <a:cs typeface="微软雅黑"/>
              </a:rPr>
              <a:t> </a:t>
            </a:r>
            <a:r>
              <a:rPr sz="1400" dirty="0">
                <a:solidFill>
                  <a:srgbClr val="31DDFF"/>
                </a:solidFill>
                <a:latin typeface="Arial"/>
                <a:cs typeface="Arial"/>
              </a:rPr>
              <a:t>(50</a:t>
            </a:r>
            <a:r>
              <a:rPr sz="1400" spc="-5" dirty="0">
                <a:solidFill>
                  <a:srgbClr val="31DDFF"/>
                </a:solidFill>
                <a:latin typeface="Arial"/>
                <a:cs typeface="Arial"/>
              </a:rPr>
              <a:t> </a:t>
            </a:r>
            <a:r>
              <a:rPr sz="1400" spc="-10" dirty="0">
                <a:solidFill>
                  <a:srgbClr val="31DDFF"/>
                </a:solidFill>
                <a:latin typeface="Arial"/>
                <a:cs typeface="Arial"/>
              </a:rPr>
              <a:t>MHz/2^1</a:t>
            </a:r>
            <a:r>
              <a:rPr lang="en-US" sz="1400" spc="-10" dirty="0">
                <a:solidFill>
                  <a:srgbClr val="31DDFF"/>
                </a:solidFill>
                <a:latin typeface="Arial"/>
                <a:cs typeface="Arial"/>
              </a:rPr>
              <a:t>6=762.9Hz</a:t>
            </a:r>
            <a:r>
              <a:rPr sz="1400" spc="-10" dirty="0">
                <a:solidFill>
                  <a:srgbClr val="31DDFF"/>
                </a:solidFill>
                <a:latin typeface="Arial"/>
                <a:cs typeface="Arial"/>
              </a:rPr>
              <a:t>)</a:t>
            </a:r>
            <a:endParaRPr sz="1400" dirty="0">
              <a:latin typeface="Arial"/>
              <a:cs typeface="Arial"/>
            </a:endParaRPr>
          </a:p>
          <a:p>
            <a:pPr marL="330200">
              <a:lnSpc>
                <a:spcPct val="100000"/>
              </a:lnSpc>
              <a:spcBef>
                <a:spcPts val="254"/>
              </a:spcBef>
            </a:pPr>
            <a:r>
              <a:rPr sz="1400" b="1" dirty="0">
                <a:latin typeface="Arial"/>
                <a:cs typeface="Arial"/>
              </a:rPr>
              <a:t>reg</a:t>
            </a:r>
            <a:r>
              <a:rPr sz="1400" b="1" spc="-5" dirty="0">
                <a:latin typeface="Arial"/>
                <a:cs typeface="Arial"/>
              </a:rPr>
              <a:t> </a:t>
            </a:r>
            <a:r>
              <a:rPr sz="1400" dirty="0">
                <a:latin typeface="Arial"/>
                <a:cs typeface="Arial"/>
              </a:rPr>
              <a:t>[N-1:0]</a:t>
            </a:r>
            <a:r>
              <a:rPr sz="1400" spc="400" dirty="0">
                <a:latin typeface="Arial"/>
                <a:cs typeface="Arial"/>
              </a:rPr>
              <a:t> </a:t>
            </a:r>
            <a:r>
              <a:rPr sz="1400" spc="-10" dirty="0">
                <a:latin typeface="Arial"/>
                <a:cs typeface="Arial"/>
              </a:rPr>
              <a:t>regN;</a:t>
            </a:r>
            <a:endParaRPr sz="1400" dirty="0">
              <a:latin typeface="Arial"/>
              <a:cs typeface="Arial"/>
            </a:endParaRPr>
          </a:p>
          <a:p>
            <a:pPr>
              <a:lnSpc>
                <a:spcPct val="100000"/>
              </a:lnSpc>
              <a:spcBef>
                <a:spcPts val="575"/>
              </a:spcBef>
            </a:pPr>
            <a:endParaRPr sz="1400" dirty="0">
              <a:latin typeface="Arial"/>
              <a:cs typeface="Arial"/>
            </a:endParaRPr>
          </a:p>
          <a:p>
            <a:pPr marL="330200">
              <a:lnSpc>
                <a:spcPct val="100000"/>
              </a:lnSpc>
              <a:spcBef>
                <a:spcPts val="5"/>
              </a:spcBef>
            </a:pPr>
            <a:r>
              <a:rPr sz="1400" b="1" dirty="0">
                <a:latin typeface="Arial"/>
                <a:cs typeface="Arial"/>
              </a:rPr>
              <a:t>always</a:t>
            </a:r>
            <a:r>
              <a:rPr sz="1400" b="1" spc="-20" dirty="0">
                <a:latin typeface="Arial"/>
                <a:cs typeface="Arial"/>
              </a:rPr>
              <a:t> </a:t>
            </a:r>
            <a:r>
              <a:rPr sz="1400" dirty="0">
                <a:latin typeface="Arial"/>
                <a:cs typeface="Arial"/>
              </a:rPr>
              <a:t>@(</a:t>
            </a:r>
            <a:r>
              <a:rPr sz="1400" b="1" dirty="0">
                <a:latin typeface="Arial"/>
                <a:cs typeface="Arial"/>
              </a:rPr>
              <a:t>posedge</a:t>
            </a:r>
            <a:r>
              <a:rPr sz="1400" b="1" spc="-45" dirty="0">
                <a:latin typeface="Arial"/>
                <a:cs typeface="Arial"/>
              </a:rPr>
              <a:t> </a:t>
            </a:r>
            <a:r>
              <a:rPr sz="1400" dirty="0">
                <a:latin typeface="Arial"/>
                <a:cs typeface="Arial"/>
              </a:rPr>
              <a:t>clk,posedge</a:t>
            </a:r>
            <a:r>
              <a:rPr sz="1400" spc="-50" dirty="0">
                <a:latin typeface="Arial"/>
                <a:cs typeface="Arial"/>
              </a:rPr>
              <a:t> </a:t>
            </a:r>
            <a:r>
              <a:rPr sz="1400" spc="-10" dirty="0">
                <a:latin typeface="Arial"/>
                <a:cs typeface="Arial"/>
              </a:rPr>
              <a:t>reset)</a:t>
            </a:r>
            <a:endParaRPr sz="1400" dirty="0">
              <a:latin typeface="Arial"/>
              <a:cs typeface="Arial"/>
            </a:endParaRPr>
          </a:p>
          <a:p>
            <a:pPr marL="530860">
              <a:lnSpc>
                <a:spcPct val="100000"/>
              </a:lnSpc>
              <a:spcBef>
                <a:spcPts val="254"/>
              </a:spcBef>
            </a:pPr>
            <a:r>
              <a:rPr sz="1400" b="1" dirty="0">
                <a:latin typeface="Arial"/>
                <a:cs typeface="Arial"/>
              </a:rPr>
              <a:t>if</a:t>
            </a:r>
            <a:r>
              <a:rPr sz="1400" b="1" spc="10" dirty="0">
                <a:latin typeface="Arial"/>
                <a:cs typeface="Arial"/>
              </a:rPr>
              <a:t> </a:t>
            </a:r>
            <a:r>
              <a:rPr sz="1400" spc="-10" dirty="0">
                <a:latin typeface="Arial"/>
                <a:cs typeface="Arial"/>
              </a:rPr>
              <a:t>(reset)</a:t>
            </a:r>
            <a:endParaRPr sz="1400" dirty="0">
              <a:latin typeface="Arial"/>
              <a:cs typeface="Arial"/>
            </a:endParaRPr>
          </a:p>
          <a:p>
            <a:pPr marL="831215">
              <a:lnSpc>
                <a:spcPct val="100000"/>
              </a:lnSpc>
              <a:spcBef>
                <a:spcPts val="260"/>
              </a:spcBef>
            </a:pPr>
            <a:r>
              <a:rPr sz="1400" dirty="0">
                <a:latin typeface="Arial"/>
                <a:cs typeface="Arial"/>
              </a:rPr>
              <a:t>regN &lt;=</a:t>
            </a:r>
            <a:r>
              <a:rPr sz="1400" spc="5" dirty="0">
                <a:latin typeface="Arial"/>
                <a:cs typeface="Arial"/>
              </a:rPr>
              <a:t> </a:t>
            </a:r>
            <a:r>
              <a:rPr sz="1400" spc="-35" dirty="0">
                <a:latin typeface="Arial"/>
                <a:cs typeface="Arial"/>
              </a:rPr>
              <a:t>0;</a:t>
            </a:r>
            <a:endParaRPr sz="1400" dirty="0">
              <a:latin typeface="Arial"/>
              <a:cs typeface="Arial"/>
            </a:endParaRPr>
          </a:p>
          <a:p>
            <a:pPr marL="530860">
              <a:lnSpc>
                <a:spcPct val="100000"/>
              </a:lnSpc>
              <a:spcBef>
                <a:spcPts val="250"/>
              </a:spcBef>
            </a:pPr>
            <a:r>
              <a:rPr sz="1400" b="1" spc="-20" dirty="0">
                <a:latin typeface="Arial"/>
                <a:cs typeface="Arial"/>
              </a:rPr>
              <a:t>else</a:t>
            </a:r>
            <a:endParaRPr sz="1400" dirty="0">
              <a:latin typeface="Arial"/>
              <a:cs typeface="Arial"/>
            </a:endParaRPr>
          </a:p>
          <a:p>
            <a:pPr marL="831215">
              <a:lnSpc>
                <a:spcPct val="100000"/>
              </a:lnSpc>
              <a:spcBef>
                <a:spcPts val="260"/>
              </a:spcBef>
            </a:pPr>
            <a:r>
              <a:rPr sz="1400" dirty="0">
                <a:latin typeface="Arial"/>
                <a:cs typeface="Arial"/>
              </a:rPr>
              <a:t>regN &lt;=</a:t>
            </a:r>
            <a:r>
              <a:rPr sz="1400" spc="5" dirty="0">
                <a:latin typeface="Arial"/>
                <a:cs typeface="Arial"/>
              </a:rPr>
              <a:t> </a:t>
            </a:r>
            <a:r>
              <a:rPr sz="1400" dirty="0">
                <a:latin typeface="Arial"/>
                <a:cs typeface="Arial"/>
              </a:rPr>
              <a:t>regN</a:t>
            </a:r>
            <a:r>
              <a:rPr sz="1400" spc="-10" dirty="0">
                <a:latin typeface="Arial"/>
                <a:cs typeface="Arial"/>
              </a:rPr>
              <a:t> </a:t>
            </a:r>
            <a:r>
              <a:rPr sz="1400" dirty="0">
                <a:latin typeface="Arial"/>
                <a:cs typeface="Arial"/>
              </a:rPr>
              <a:t>+</a:t>
            </a:r>
            <a:r>
              <a:rPr sz="1400" spc="5" dirty="0">
                <a:latin typeface="Arial"/>
                <a:cs typeface="Arial"/>
              </a:rPr>
              <a:t> </a:t>
            </a:r>
            <a:r>
              <a:rPr sz="1400" spc="-25" dirty="0">
                <a:latin typeface="Arial"/>
                <a:cs typeface="Arial"/>
              </a:rPr>
              <a:t>1;</a:t>
            </a:r>
            <a:endParaRPr sz="1400" dirty="0">
              <a:latin typeface="Arial"/>
              <a:cs typeface="Arial"/>
            </a:endParaRPr>
          </a:p>
        </p:txBody>
      </p:sp>
      <p:sp>
        <p:nvSpPr>
          <p:cNvPr id="4" name="object 4"/>
          <p:cNvSpPr txBox="1"/>
          <p:nvPr/>
        </p:nvSpPr>
        <p:spPr>
          <a:xfrm>
            <a:off x="3334670" y="6109172"/>
            <a:ext cx="3473450" cy="239395"/>
          </a:xfrm>
          <a:prstGeom prst="rect">
            <a:avLst/>
          </a:prstGeom>
        </p:spPr>
        <p:txBody>
          <a:bodyPr vert="horz" wrap="square" lIns="0" tIns="12700" rIns="0" bIns="0" rtlCol="0">
            <a:spAutoFit/>
          </a:bodyPr>
          <a:lstStyle/>
          <a:p>
            <a:pPr marL="12700">
              <a:lnSpc>
                <a:spcPct val="100000"/>
              </a:lnSpc>
              <a:spcBef>
                <a:spcPts val="100"/>
              </a:spcBef>
            </a:pPr>
            <a:r>
              <a:rPr sz="1400" spc="-10" dirty="0">
                <a:latin typeface="微软雅黑"/>
                <a:cs typeface="微软雅黑"/>
              </a:rPr>
              <a:t>例 </a:t>
            </a:r>
            <a:r>
              <a:rPr sz="1400" dirty="0">
                <a:latin typeface="Arial"/>
                <a:cs typeface="Arial"/>
              </a:rPr>
              <a:t>4.16</a:t>
            </a:r>
            <a:r>
              <a:rPr sz="1400" spc="430" dirty="0">
                <a:latin typeface="Arial"/>
                <a:cs typeface="Arial"/>
              </a:rPr>
              <a:t> </a:t>
            </a:r>
            <a:r>
              <a:rPr sz="1400" dirty="0">
                <a:latin typeface="Arial"/>
                <a:cs typeface="Arial"/>
              </a:rPr>
              <a:t>4</a:t>
            </a:r>
            <a:r>
              <a:rPr sz="1400" spc="-15" dirty="0">
                <a:latin typeface="微软雅黑"/>
                <a:cs typeface="微软雅黑"/>
              </a:rPr>
              <a:t>位数码管动态显示电路的描述示例</a:t>
            </a:r>
            <a:endParaRPr sz="1400">
              <a:latin typeface="微软雅黑"/>
              <a:cs typeface="微软雅黑"/>
            </a:endParaRPr>
          </a:p>
        </p:txBody>
      </p:sp>
      <p:sp>
        <p:nvSpPr>
          <p:cNvPr id="5" name="object 5"/>
          <p:cNvSpPr txBox="1"/>
          <p:nvPr/>
        </p:nvSpPr>
        <p:spPr>
          <a:xfrm>
            <a:off x="5320169" y="1620774"/>
            <a:ext cx="4635500" cy="4399280"/>
          </a:xfrm>
          <a:prstGeom prst="rect">
            <a:avLst/>
          </a:prstGeom>
          <a:solidFill>
            <a:srgbClr val="F9FABA"/>
          </a:solidFill>
        </p:spPr>
        <p:txBody>
          <a:bodyPr vert="horz" wrap="square" lIns="0" tIns="34290" rIns="0" bIns="0" rtlCol="0">
            <a:spAutoFit/>
          </a:bodyPr>
          <a:lstStyle/>
          <a:p>
            <a:pPr marL="530860">
              <a:lnSpc>
                <a:spcPct val="100000"/>
              </a:lnSpc>
              <a:spcBef>
                <a:spcPts val="270"/>
              </a:spcBef>
            </a:pPr>
            <a:r>
              <a:rPr sz="1400" b="1" dirty="0">
                <a:latin typeface="Arial"/>
                <a:cs typeface="Arial"/>
              </a:rPr>
              <a:t>always</a:t>
            </a:r>
            <a:r>
              <a:rPr sz="1400" b="1" spc="-20" dirty="0">
                <a:latin typeface="Arial"/>
                <a:cs typeface="Arial"/>
              </a:rPr>
              <a:t> </a:t>
            </a:r>
            <a:r>
              <a:rPr sz="1400" b="1" spc="-25" dirty="0">
                <a:latin typeface="Arial"/>
                <a:cs typeface="Arial"/>
              </a:rPr>
              <a:t>@</a:t>
            </a:r>
            <a:r>
              <a:rPr sz="1400" spc="-25" dirty="0">
                <a:latin typeface="Arial"/>
                <a:cs typeface="Arial"/>
              </a:rPr>
              <a:t>*</a:t>
            </a:r>
            <a:endParaRPr sz="1400">
              <a:latin typeface="Arial"/>
              <a:cs typeface="Arial"/>
            </a:endParaRPr>
          </a:p>
          <a:p>
            <a:pPr marL="1282065" marR="2072639" indent="-401320">
              <a:lnSpc>
                <a:spcPct val="100000"/>
              </a:lnSpc>
              <a:spcBef>
                <a:spcPts val="10"/>
              </a:spcBef>
            </a:pPr>
            <a:r>
              <a:rPr sz="1400" b="1" dirty="0">
                <a:latin typeface="Arial"/>
                <a:cs typeface="Arial"/>
              </a:rPr>
              <a:t>case</a:t>
            </a:r>
            <a:r>
              <a:rPr sz="1400" b="1" spc="35" dirty="0">
                <a:latin typeface="Arial"/>
                <a:cs typeface="Arial"/>
              </a:rPr>
              <a:t> </a:t>
            </a:r>
            <a:r>
              <a:rPr sz="1400" spc="-10" dirty="0">
                <a:latin typeface="Arial"/>
                <a:cs typeface="Arial"/>
              </a:rPr>
              <a:t>(regN[N-1:N-</a:t>
            </a:r>
            <a:r>
              <a:rPr sz="1400" spc="-25" dirty="0">
                <a:latin typeface="Arial"/>
                <a:cs typeface="Arial"/>
              </a:rPr>
              <a:t>2]) </a:t>
            </a:r>
            <a:r>
              <a:rPr sz="1400" dirty="0">
                <a:latin typeface="Arial"/>
                <a:cs typeface="Arial"/>
              </a:rPr>
              <a:t>2’b00:</a:t>
            </a:r>
            <a:r>
              <a:rPr sz="1400" spc="-35" dirty="0">
                <a:latin typeface="Arial"/>
                <a:cs typeface="Arial"/>
              </a:rPr>
              <a:t> </a:t>
            </a:r>
            <a:r>
              <a:rPr sz="1400" b="1" spc="-10" dirty="0">
                <a:latin typeface="Arial"/>
                <a:cs typeface="Arial"/>
              </a:rPr>
              <a:t>begin</a:t>
            </a:r>
            <a:endParaRPr sz="1400">
              <a:latin typeface="Arial"/>
              <a:cs typeface="Arial"/>
            </a:endParaRPr>
          </a:p>
          <a:p>
            <a:pPr marL="2484755">
              <a:lnSpc>
                <a:spcPct val="100000"/>
              </a:lnSpc>
              <a:spcBef>
                <a:spcPts val="5"/>
              </a:spcBef>
            </a:pPr>
            <a:r>
              <a:rPr sz="1400" dirty="0">
                <a:latin typeface="Arial"/>
                <a:cs typeface="Arial"/>
              </a:rPr>
              <a:t>an</a:t>
            </a:r>
            <a:r>
              <a:rPr sz="1400" spc="-5" dirty="0">
                <a:latin typeface="Arial"/>
                <a:cs typeface="Arial"/>
              </a:rPr>
              <a:t> </a:t>
            </a:r>
            <a:r>
              <a:rPr sz="1400" dirty="0">
                <a:latin typeface="Arial"/>
                <a:cs typeface="Arial"/>
              </a:rPr>
              <a:t>= </a:t>
            </a:r>
            <a:r>
              <a:rPr sz="1400" spc="-10" dirty="0">
                <a:latin typeface="Arial"/>
                <a:cs typeface="Arial"/>
              </a:rPr>
              <a:t>4’b1110;</a:t>
            </a:r>
            <a:endParaRPr sz="1400">
              <a:latin typeface="Arial"/>
              <a:cs typeface="Arial"/>
            </a:endParaRPr>
          </a:p>
          <a:p>
            <a:pPr marL="2484755">
              <a:lnSpc>
                <a:spcPct val="100000"/>
              </a:lnSpc>
            </a:pPr>
            <a:r>
              <a:rPr sz="1400" dirty="0">
                <a:latin typeface="Arial"/>
                <a:cs typeface="Arial"/>
              </a:rPr>
              <a:t>sseg =</a:t>
            </a:r>
            <a:r>
              <a:rPr sz="1400" spc="5" dirty="0">
                <a:latin typeface="Arial"/>
                <a:cs typeface="Arial"/>
              </a:rPr>
              <a:t> </a:t>
            </a:r>
            <a:r>
              <a:rPr sz="1400" spc="-20" dirty="0">
                <a:latin typeface="Arial"/>
                <a:cs typeface="Arial"/>
              </a:rPr>
              <a:t>in0;</a:t>
            </a:r>
            <a:endParaRPr sz="1400">
              <a:latin typeface="Arial"/>
              <a:cs typeface="Arial"/>
            </a:endParaRPr>
          </a:p>
          <a:p>
            <a:pPr marL="1833245">
              <a:lnSpc>
                <a:spcPct val="100000"/>
              </a:lnSpc>
              <a:spcBef>
                <a:spcPts val="5"/>
              </a:spcBef>
            </a:pPr>
            <a:r>
              <a:rPr sz="1400" b="1" spc="-25" dirty="0">
                <a:latin typeface="Arial"/>
                <a:cs typeface="Arial"/>
              </a:rPr>
              <a:t>end</a:t>
            </a:r>
            <a:endParaRPr sz="1400">
              <a:latin typeface="Arial"/>
              <a:cs typeface="Arial"/>
            </a:endParaRPr>
          </a:p>
          <a:p>
            <a:pPr marL="1282065">
              <a:lnSpc>
                <a:spcPct val="100000"/>
              </a:lnSpc>
              <a:spcBef>
                <a:spcPts val="5"/>
              </a:spcBef>
            </a:pPr>
            <a:r>
              <a:rPr sz="1400" dirty="0">
                <a:latin typeface="Arial"/>
                <a:cs typeface="Arial"/>
              </a:rPr>
              <a:t>2’b01:</a:t>
            </a:r>
            <a:r>
              <a:rPr sz="1400" spc="-35" dirty="0">
                <a:latin typeface="Arial"/>
                <a:cs typeface="Arial"/>
              </a:rPr>
              <a:t> </a:t>
            </a:r>
            <a:r>
              <a:rPr sz="1400" b="1" spc="-10" dirty="0">
                <a:latin typeface="Arial"/>
                <a:cs typeface="Arial"/>
              </a:rPr>
              <a:t>begin</a:t>
            </a:r>
            <a:endParaRPr sz="1400">
              <a:latin typeface="Arial"/>
              <a:cs typeface="Arial"/>
            </a:endParaRPr>
          </a:p>
          <a:p>
            <a:pPr marL="2484755">
              <a:lnSpc>
                <a:spcPct val="100000"/>
              </a:lnSpc>
            </a:pPr>
            <a:r>
              <a:rPr sz="1400" dirty="0">
                <a:latin typeface="Arial"/>
                <a:cs typeface="Arial"/>
              </a:rPr>
              <a:t>an</a:t>
            </a:r>
            <a:r>
              <a:rPr sz="1400" spc="-5" dirty="0">
                <a:latin typeface="Arial"/>
                <a:cs typeface="Arial"/>
              </a:rPr>
              <a:t> </a:t>
            </a:r>
            <a:r>
              <a:rPr sz="1400" dirty="0">
                <a:latin typeface="Arial"/>
                <a:cs typeface="Arial"/>
              </a:rPr>
              <a:t>= </a:t>
            </a:r>
            <a:r>
              <a:rPr sz="1400" spc="-10" dirty="0">
                <a:latin typeface="Arial"/>
                <a:cs typeface="Arial"/>
              </a:rPr>
              <a:t>4’b1101;</a:t>
            </a:r>
            <a:endParaRPr sz="1400">
              <a:latin typeface="Arial"/>
              <a:cs typeface="Arial"/>
            </a:endParaRPr>
          </a:p>
          <a:p>
            <a:pPr marL="2484755">
              <a:lnSpc>
                <a:spcPct val="100000"/>
              </a:lnSpc>
              <a:spcBef>
                <a:spcPts val="10"/>
              </a:spcBef>
            </a:pPr>
            <a:r>
              <a:rPr sz="1400" dirty="0">
                <a:latin typeface="Arial"/>
                <a:cs typeface="Arial"/>
              </a:rPr>
              <a:t>sseg =</a:t>
            </a:r>
            <a:r>
              <a:rPr sz="1400" spc="5" dirty="0">
                <a:latin typeface="Arial"/>
                <a:cs typeface="Arial"/>
              </a:rPr>
              <a:t> </a:t>
            </a:r>
            <a:r>
              <a:rPr sz="1400" spc="-20" dirty="0">
                <a:latin typeface="Arial"/>
                <a:cs typeface="Arial"/>
              </a:rPr>
              <a:t>in1;</a:t>
            </a:r>
            <a:endParaRPr sz="1400">
              <a:latin typeface="Arial"/>
              <a:cs typeface="Arial"/>
            </a:endParaRPr>
          </a:p>
          <a:p>
            <a:pPr marL="1833245">
              <a:lnSpc>
                <a:spcPct val="100000"/>
              </a:lnSpc>
            </a:pPr>
            <a:r>
              <a:rPr sz="1400" b="1" spc="-25" dirty="0">
                <a:latin typeface="Arial"/>
                <a:cs typeface="Arial"/>
              </a:rPr>
              <a:t>end</a:t>
            </a:r>
            <a:endParaRPr sz="1400">
              <a:latin typeface="Arial"/>
              <a:cs typeface="Arial"/>
            </a:endParaRPr>
          </a:p>
          <a:p>
            <a:pPr marL="1282065">
              <a:lnSpc>
                <a:spcPct val="100000"/>
              </a:lnSpc>
              <a:spcBef>
                <a:spcPts val="5"/>
              </a:spcBef>
            </a:pPr>
            <a:r>
              <a:rPr sz="1400" dirty="0">
                <a:latin typeface="Arial"/>
                <a:cs typeface="Arial"/>
              </a:rPr>
              <a:t>2’b10:</a:t>
            </a:r>
            <a:r>
              <a:rPr sz="1400" spc="360" dirty="0">
                <a:latin typeface="Arial"/>
                <a:cs typeface="Arial"/>
              </a:rPr>
              <a:t> </a:t>
            </a:r>
            <a:r>
              <a:rPr sz="1400" b="1" spc="-10" dirty="0">
                <a:latin typeface="Arial"/>
                <a:cs typeface="Arial"/>
              </a:rPr>
              <a:t>begin</a:t>
            </a:r>
            <a:endParaRPr sz="1400">
              <a:latin typeface="Arial"/>
              <a:cs typeface="Arial"/>
            </a:endParaRPr>
          </a:p>
          <a:p>
            <a:pPr marL="2484755">
              <a:lnSpc>
                <a:spcPct val="100000"/>
              </a:lnSpc>
            </a:pPr>
            <a:r>
              <a:rPr sz="1400" dirty="0">
                <a:latin typeface="Arial"/>
                <a:cs typeface="Arial"/>
              </a:rPr>
              <a:t>an</a:t>
            </a:r>
            <a:r>
              <a:rPr sz="1400" spc="-5" dirty="0">
                <a:latin typeface="Arial"/>
                <a:cs typeface="Arial"/>
              </a:rPr>
              <a:t> </a:t>
            </a:r>
            <a:r>
              <a:rPr sz="1400" dirty="0">
                <a:latin typeface="Arial"/>
                <a:cs typeface="Arial"/>
              </a:rPr>
              <a:t>= </a:t>
            </a:r>
            <a:r>
              <a:rPr sz="1400" spc="-10" dirty="0">
                <a:latin typeface="Arial"/>
                <a:cs typeface="Arial"/>
              </a:rPr>
              <a:t>4’b1011;</a:t>
            </a:r>
            <a:endParaRPr sz="1400">
              <a:latin typeface="Arial"/>
              <a:cs typeface="Arial"/>
            </a:endParaRPr>
          </a:p>
          <a:p>
            <a:pPr marL="2484755">
              <a:lnSpc>
                <a:spcPct val="100000"/>
              </a:lnSpc>
              <a:spcBef>
                <a:spcPts val="5"/>
              </a:spcBef>
            </a:pPr>
            <a:r>
              <a:rPr sz="1400" dirty="0">
                <a:latin typeface="Arial"/>
                <a:cs typeface="Arial"/>
              </a:rPr>
              <a:t>sseg =</a:t>
            </a:r>
            <a:r>
              <a:rPr sz="1400" spc="5" dirty="0">
                <a:latin typeface="Arial"/>
                <a:cs typeface="Arial"/>
              </a:rPr>
              <a:t> </a:t>
            </a:r>
            <a:r>
              <a:rPr sz="1400" spc="-20" dirty="0">
                <a:latin typeface="Arial"/>
                <a:cs typeface="Arial"/>
              </a:rPr>
              <a:t>in2;</a:t>
            </a:r>
            <a:endParaRPr sz="1400">
              <a:latin typeface="Arial"/>
              <a:cs typeface="Arial"/>
            </a:endParaRPr>
          </a:p>
          <a:p>
            <a:pPr marL="1282065" marR="2174875" indent="550545">
              <a:lnSpc>
                <a:spcPct val="100000"/>
              </a:lnSpc>
            </a:pPr>
            <a:r>
              <a:rPr sz="1400" b="1" spc="-25" dirty="0">
                <a:latin typeface="Arial"/>
                <a:cs typeface="Arial"/>
              </a:rPr>
              <a:t>end </a:t>
            </a:r>
            <a:r>
              <a:rPr sz="1400" b="1" dirty="0">
                <a:latin typeface="Arial"/>
                <a:cs typeface="Arial"/>
              </a:rPr>
              <a:t>default:</a:t>
            </a:r>
            <a:r>
              <a:rPr sz="1400" b="1" spc="5" dirty="0">
                <a:latin typeface="Arial"/>
                <a:cs typeface="Arial"/>
              </a:rPr>
              <a:t> </a:t>
            </a:r>
            <a:r>
              <a:rPr sz="1400" b="1" spc="-20" dirty="0">
                <a:latin typeface="Arial"/>
                <a:cs typeface="Arial"/>
              </a:rPr>
              <a:t>begin</a:t>
            </a:r>
            <a:endParaRPr sz="1400">
              <a:latin typeface="Arial"/>
              <a:cs typeface="Arial"/>
            </a:endParaRPr>
          </a:p>
          <a:p>
            <a:pPr marL="2484755">
              <a:lnSpc>
                <a:spcPct val="100000"/>
              </a:lnSpc>
              <a:spcBef>
                <a:spcPts val="5"/>
              </a:spcBef>
            </a:pPr>
            <a:r>
              <a:rPr sz="1400" dirty="0">
                <a:latin typeface="Arial"/>
                <a:cs typeface="Arial"/>
              </a:rPr>
              <a:t>an</a:t>
            </a:r>
            <a:r>
              <a:rPr sz="1400" spc="-5" dirty="0">
                <a:latin typeface="Arial"/>
                <a:cs typeface="Arial"/>
              </a:rPr>
              <a:t> </a:t>
            </a:r>
            <a:r>
              <a:rPr sz="1400" dirty="0">
                <a:latin typeface="Arial"/>
                <a:cs typeface="Arial"/>
              </a:rPr>
              <a:t>= </a:t>
            </a:r>
            <a:r>
              <a:rPr sz="1400" spc="-10" dirty="0">
                <a:latin typeface="Arial"/>
                <a:cs typeface="Arial"/>
              </a:rPr>
              <a:t>4’b0111;</a:t>
            </a:r>
            <a:endParaRPr sz="1400">
              <a:latin typeface="Arial"/>
              <a:cs typeface="Arial"/>
            </a:endParaRPr>
          </a:p>
          <a:p>
            <a:pPr marL="2484755">
              <a:lnSpc>
                <a:spcPct val="100000"/>
              </a:lnSpc>
              <a:spcBef>
                <a:spcPts val="5"/>
              </a:spcBef>
            </a:pPr>
            <a:r>
              <a:rPr sz="1400" dirty="0">
                <a:latin typeface="Arial"/>
                <a:cs typeface="Arial"/>
              </a:rPr>
              <a:t>sseg =</a:t>
            </a:r>
            <a:r>
              <a:rPr sz="1400" spc="5" dirty="0">
                <a:latin typeface="Arial"/>
                <a:cs typeface="Arial"/>
              </a:rPr>
              <a:t> </a:t>
            </a:r>
            <a:r>
              <a:rPr sz="1400" spc="-20" dirty="0">
                <a:latin typeface="Arial"/>
                <a:cs typeface="Arial"/>
              </a:rPr>
              <a:t>in3;</a:t>
            </a:r>
            <a:endParaRPr sz="1400">
              <a:latin typeface="Arial"/>
              <a:cs typeface="Arial"/>
            </a:endParaRPr>
          </a:p>
          <a:p>
            <a:pPr marL="1983739">
              <a:lnSpc>
                <a:spcPct val="100000"/>
              </a:lnSpc>
            </a:pPr>
            <a:r>
              <a:rPr sz="1400" b="1" spc="-25" dirty="0">
                <a:latin typeface="Arial"/>
                <a:cs typeface="Arial"/>
              </a:rPr>
              <a:t>end</a:t>
            </a:r>
            <a:endParaRPr sz="1400">
              <a:latin typeface="Arial"/>
              <a:cs typeface="Arial"/>
            </a:endParaRPr>
          </a:p>
          <a:p>
            <a:pPr marL="381000" marR="2981960" indent="550545">
              <a:lnSpc>
                <a:spcPct val="100000"/>
              </a:lnSpc>
              <a:spcBef>
                <a:spcPts val="10"/>
              </a:spcBef>
            </a:pPr>
            <a:r>
              <a:rPr sz="1400" b="1" spc="-10" dirty="0">
                <a:latin typeface="Arial"/>
                <a:cs typeface="Arial"/>
              </a:rPr>
              <a:t>endcase endmodule</a:t>
            </a:r>
            <a:endParaRPr sz="1400">
              <a:latin typeface="Arial"/>
              <a:cs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4.5.1</a:t>
            </a:r>
            <a:r>
              <a:rPr dirty="0">
                <a:latin typeface="Arial"/>
                <a:cs typeface="Arial"/>
              </a:rPr>
              <a:t>	</a:t>
            </a:r>
            <a:r>
              <a:rPr spc="-15" dirty="0"/>
              <a:t>数码管扫描显示电路</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603615" y="2008886"/>
            <a:ext cx="9624695" cy="2964815"/>
          </a:xfrm>
          <a:prstGeom prst="rect">
            <a:avLst/>
          </a:prstGeom>
        </p:spPr>
        <p:txBody>
          <a:bodyPr vert="horz" wrap="square" lIns="0" tIns="12700" rIns="0" bIns="0" rtlCol="0">
            <a:spAutoFit/>
          </a:bodyPr>
          <a:lstStyle/>
          <a:p>
            <a:pPr marL="262890" indent="-250190">
              <a:lnSpc>
                <a:spcPct val="100000"/>
              </a:lnSpc>
              <a:spcBef>
                <a:spcPts val="100"/>
              </a:spcBef>
              <a:buFont typeface="Wingdings"/>
              <a:buChar char=""/>
              <a:tabLst>
                <a:tab pos="262890" algn="l"/>
              </a:tabLst>
            </a:pPr>
            <a:r>
              <a:rPr sz="1750" dirty="0">
                <a:latin typeface="微软雅黑"/>
                <a:cs typeface="微软雅黑"/>
              </a:rPr>
              <a:t>七段式数码管常用于显示十六进制数字，为了能够利用例</a:t>
            </a:r>
            <a:r>
              <a:rPr sz="1750" spc="-10" dirty="0">
                <a:latin typeface="Arial"/>
                <a:cs typeface="Arial"/>
              </a:rPr>
              <a:t>4.16</a:t>
            </a:r>
            <a:r>
              <a:rPr sz="1750" spc="-5" dirty="0">
                <a:latin typeface="微软雅黑"/>
                <a:cs typeface="微软雅黑"/>
              </a:rPr>
              <a:t>介绍的分时复用电路，我们需要四</a:t>
            </a:r>
            <a:endParaRPr sz="1750">
              <a:latin typeface="微软雅黑"/>
              <a:cs typeface="微软雅黑"/>
            </a:endParaRPr>
          </a:p>
          <a:p>
            <a:pPr marL="262890">
              <a:lnSpc>
                <a:spcPct val="100000"/>
              </a:lnSpc>
              <a:spcBef>
                <a:spcPts val="2105"/>
              </a:spcBef>
            </a:pPr>
            <a:r>
              <a:rPr sz="1750" spc="-10" dirty="0">
                <a:latin typeface="微软雅黑"/>
                <a:cs typeface="微软雅黑"/>
              </a:rPr>
              <a:t>个译码电路。</a:t>
            </a:r>
            <a:endParaRPr sz="1750">
              <a:latin typeface="微软雅黑"/>
              <a:cs typeface="微软雅黑"/>
            </a:endParaRPr>
          </a:p>
          <a:p>
            <a:pPr marL="262890" marR="5080" indent="-250825">
              <a:lnSpc>
                <a:spcPct val="200300"/>
              </a:lnSpc>
              <a:spcBef>
                <a:spcPts val="5"/>
              </a:spcBef>
              <a:buFont typeface="Wingdings"/>
              <a:buChar char=""/>
              <a:tabLst>
                <a:tab pos="262890" algn="l"/>
              </a:tabLst>
            </a:pPr>
            <a:r>
              <a:rPr sz="1750" spc="-5" dirty="0">
                <a:latin typeface="微软雅黑"/>
                <a:cs typeface="微软雅黑"/>
              </a:rPr>
              <a:t>另外一个更好的选择是首先输出多路十六进制数据，然后将其译码。这种方案只需要一个译码电</a:t>
            </a:r>
            <a:r>
              <a:rPr sz="1750" dirty="0">
                <a:latin typeface="微软雅黑"/>
                <a:cs typeface="微软雅黑"/>
              </a:rPr>
              <a:t>路，使</a:t>
            </a:r>
            <a:r>
              <a:rPr sz="1750" spc="-20" dirty="0">
                <a:latin typeface="Arial"/>
                <a:cs typeface="Arial"/>
              </a:rPr>
              <a:t>4</a:t>
            </a:r>
            <a:r>
              <a:rPr sz="1750" dirty="0">
                <a:latin typeface="微软雅黑"/>
                <a:cs typeface="微软雅黑"/>
              </a:rPr>
              <a:t>选</a:t>
            </a:r>
            <a:r>
              <a:rPr sz="1750" spc="-20" dirty="0">
                <a:latin typeface="Arial"/>
                <a:cs typeface="Arial"/>
              </a:rPr>
              <a:t>1</a:t>
            </a:r>
            <a:r>
              <a:rPr sz="1750" dirty="0">
                <a:latin typeface="微软雅黑"/>
                <a:cs typeface="微软雅黑"/>
              </a:rPr>
              <a:t>数据选择器的位宽从</a:t>
            </a:r>
            <a:r>
              <a:rPr sz="1750" spc="-20" dirty="0">
                <a:latin typeface="Arial"/>
                <a:cs typeface="Arial"/>
              </a:rPr>
              <a:t>8</a:t>
            </a:r>
            <a:r>
              <a:rPr sz="1750" dirty="0">
                <a:latin typeface="微软雅黑"/>
                <a:cs typeface="微软雅黑"/>
              </a:rPr>
              <a:t>位降为了</a:t>
            </a:r>
            <a:r>
              <a:rPr sz="1750" spc="-20" dirty="0">
                <a:latin typeface="Arial"/>
                <a:cs typeface="Arial"/>
              </a:rPr>
              <a:t>5</a:t>
            </a:r>
            <a:r>
              <a:rPr sz="1750" dirty="0">
                <a:latin typeface="微软雅黑"/>
                <a:cs typeface="微软雅黑"/>
              </a:rPr>
              <a:t>位</a:t>
            </a:r>
            <a:r>
              <a:rPr sz="1750" spc="-10" dirty="0">
                <a:latin typeface="微软雅黑"/>
                <a:cs typeface="微软雅黑"/>
              </a:rPr>
              <a:t>（</a:t>
            </a:r>
            <a:r>
              <a:rPr sz="1750" spc="-10" dirty="0">
                <a:latin typeface="Arial"/>
                <a:cs typeface="Arial"/>
              </a:rPr>
              <a:t>4</a:t>
            </a:r>
            <a:r>
              <a:rPr sz="1750" dirty="0">
                <a:latin typeface="微软雅黑"/>
                <a:cs typeface="微软雅黑"/>
              </a:rPr>
              <a:t>位</a:t>
            </a:r>
            <a:r>
              <a:rPr sz="1750" spc="-20" dirty="0">
                <a:latin typeface="Arial"/>
                <a:cs typeface="Arial"/>
              </a:rPr>
              <a:t>16</a:t>
            </a:r>
            <a:r>
              <a:rPr sz="1750" dirty="0">
                <a:latin typeface="微软雅黑"/>
                <a:cs typeface="微软雅黑"/>
              </a:rPr>
              <a:t>进制数和</a:t>
            </a:r>
            <a:r>
              <a:rPr sz="1750" spc="-20" dirty="0">
                <a:latin typeface="Arial"/>
                <a:cs typeface="Arial"/>
              </a:rPr>
              <a:t>1</a:t>
            </a:r>
            <a:r>
              <a:rPr sz="1750" dirty="0">
                <a:latin typeface="微软雅黑"/>
                <a:cs typeface="微软雅黑"/>
              </a:rPr>
              <a:t>位小数点）</a:t>
            </a:r>
            <a:r>
              <a:rPr sz="1750" spc="-50" dirty="0">
                <a:latin typeface="微软雅黑"/>
                <a:cs typeface="微软雅黑"/>
              </a:rPr>
              <a:t>。</a:t>
            </a:r>
            <a:endParaRPr sz="1750">
              <a:latin typeface="微软雅黑"/>
              <a:cs typeface="微软雅黑"/>
            </a:endParaRPr>
          </a:p>
          <a:p>
            <a:pPr marL="262890" indent="-250190">
              <a:lnSpc>
                <a:spcPct val="100000"/>
              </a:lnSpc>
              <a:spcBef>
                <a:spcPts val="2110"/>
              </a:spcBef>
              <a:buFont typeface="Wingdings"/>
              <a:buChar char=""/>
              <a:tabLst>
                <a:tab pos="262890" algn="l"/>
              </a:tabLst>
            </a:pPr>
            <a:r>
              <a:rPr sz="1750" dirty="0">
                <a:latin typeface="微软雅黑"/>
                <a:cs typeface="微软雅黑"/>
              </a:rPr>
              <a:t>实现代码如例</a:t>
            </a:r>
            <a:r>
              <a:rPr sz="1750" spc="-20" dirty="0">
                <a:latin typeface="Arial"/>
                <a:cs typeface="Arial"/>
              </a:rPr>
              <a:t>4.17</a:t>
            </a:r>
            <a:r>
              <a:rPr sz="1750" dirty="0">
                <a:latin typeface="微软雅黑"/>
                <a:cs typeface="微软雅黑"/>
              </a:rPr>
              <a:t>所示。除</a:t>
            </a:r>
            <a:r>
              <a:rPr sz="1750" spc="-10" dirty="0">
                <a:latin typeface="Arial"/>
                <a:cs typeface="Arial"/>
              </a:rPr>
              <a:t>clock</a:t>
            </a:r>
            <a:r>
              <a:rPr sz="1750" dirty="0">
                <a:latin typeface="微软雅黑"/>
                <a:cs typeface="微软雅黑"/>
              </a:rPr>
              <a:t>和</a:t>
            </a:r>
            <a:r>
              <a:rPr sz="1750" spc="-10" dirty="0">
                <a:latin typeface="Arial"/>
                <a:cs typeface="Arial"/>
              </a:rPr>
              <a:t>reset</a:t>
            </a:r>
            <a:r>
              <a:rPr sz="1750" dirty="0">
                <a:latin typeface="微软雅黑"/>
                <a:cs typeface="微软雅黑"/>
              </a:rPr>
              <a:t>信号之外，输入信号包括</a:t>
            </a:r>
            <a:r>
              <a:rPr sz="1750" spc="-10" dirty="0">
                <a:latin typeface="Arial"/>
                <a:cs typeface="Arial"/>
              </a:rPr>
              <a:t>4</a:t>
            </a:r>
            <a:r>
              <a:rPr sz="1750" dirty="0">
                <a:latin typeface="微软雅黑"/>
                <a:cs typeface="微软雅黑"/>
              </a:rPr>
              <a:t>个</a:t>
            </a:r>
            <a:r>
              <a:rPr sz="1750" spc="-20" dirty="0">
                <a:latin typeface="Arial"/>
                <a:cs typeface="Arial"/>
              </a:rPr>
              <a:t>4</a:t>
            </a:r>
            <a:r>
              <a:rPr sz="1750" spc="-5" dirty="0">
                <a:latin typeface="微软雅黑"/>
                <a:cs typeface="微软雅黑"/>
              </a:rPr>
              <a:t>位十六进制数据：</a:t>
            </a:r>
            <a:r>
              <a:rPr sz="1750" spc="-10" dirty="0">
                <a:latin typeface="Arial"/>
                <a:cs typeface="Arial"/>
              </a:rPr>
              <a:t>hex3</a:t>
            </a:r>
            <a:r>
              <a:rPr sz="1750" spc="-10" dirty="0">
                <a:latin typeface="微软雅黑"/>
                <a:cs typeface="微软雅黑"/>
              </a:rPr>
              <a:t>，</a:t>
            </a:r>
            <a:endParaRPr sz="1750">
              <a:latin typeface="微软雅黑"/>
              <a:cs typeface="微软雅黑"/>
            </a:endParaRPr>
          </a:p>
          <a:p>
            <a:pPr marL="262890">
              <a:lnSpc>
                <a:spcPct val="100000"/>
              </a:lnSpc>
              <a:spcBef>
                <a:spcPts val="2110"/>
              </a:spcBef>
            </a:pPr>
            <a:r>
              <a:rPr sz="1750" dirty="0">
                <a:latin typeface="Arial"/>
                <a:cs typeface="Arial"/>
              </a:rPr>
              <a:t>hex2</a:t>
            </a:r>
            <a:r>
              <a:rPr sz="1750" dirty="0">
                <a:latin typeface="微软雅黑"/>
                <a:cs typeface="微软雅黑"/>
              </a:rPr>
              <a:t>， </a:t>
            </a:r>
            <a:r>
              <a:rPr sz="1750" spc="-20" dirty="0">
                <a:latin typeface="Arial"/>
                <a:cs typeface="Arial"/>
              </a:rPr>
              <a:t>hex1</a:t>
            </a:r>
            <a:r>
              <a:rPr sz="1750" spc="-20" dirty="0">
                <a:latin typeface="微软雅黑"/>
                <a:cs typeface="微软雅黑"/>
              </a:rPr>
              <a:t>，</a:t>
            </a:r>
            <a:r>
              <a:rPr sz="1750" spc="-20" dirty="0">
                <a:latin typeface="Arial"/>
                <a:cs typeface="Arial"/>
              </a:rPr>
              <a:t>hex0</a:t>
            </a:r>
            <a:r>
              <a:rPr sz="1750" spc="-10" dirty="0">
                <a:latin typeface="微软雅黑"/>
                <a:cs typeface="微软雅黑"/>
              </a:rPr>
              <a:t>，和</a:t>
            </a:r>
            <a:r>
              <a:rPr sz="1750" spc="-10" dirty="0">
                <a:latin typeface="Arial"/>
                <a:cs typeface="Arial"/>
              </a:rPr>
              <a:t>dp_in</a:t>
            </a:r>
            <a:r>
              <a:rPr sz="1750" dirty="0">
                <a:latin typeface="微软雅黑"/>
                <a:cs typeface="微软雅黑"/>
              </a:rPr>
              <a:t>中的</a:t>
            </a:r>
            <a:r>
              <a:rPr sz="1750" spc="-10" dirty="0">
                <a:latin typeface="Arial"/>
                <a:cs typeface="Arial"/>
              </a:rPr>
              <a:t>4</a:t>
            </a:r>
            <a:r>
              <a:rPr sz="1750" spc="-10" dirty="0">
                <a:latin typeface="微软雅黑"/>
                <a:cs typeface="微软雅黑"/>
              </a:rPr>
              <a:t>位小数点。</a:t>
            </a:r>
            <a:endParaRPr sz="1750">
              <a:latin typeface="微软雅黑"/>
              <a:cs typeface="微软雅黑"/>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29541" y="1457705"/>
            <a:ext cx="4338320" cy="4453890"/>
          </a:xfrm>
          <a:custGeom>
            <a:avLst/>
            <a:gdLst/>
            <a:ahLst/>
            <a:cxnLst/>
            <a:rect l="l" t="t" r="r" b="b"/>
            <a:pathLst>
              <a:path w="4338320" h="4453890">
                <a:moveTo>
                  <a:pt x="4338066" y="4453890"/>
                </a:moveTo>
                <a:lnTo>
                  <a:pt x="4338066" y="0"/>
                </a:lnTo>
                <a:lnTo>
                  <a:pt x="0" y="0"/>
                </a:lnTo>
                <a:lnTo>
                  <a:pt x="0" y="4453890"/>
                </a:lnTo>
                <a:lnTo>
                  <a:pt x="4338066" y="4453890"/>
                </a:lnTo>
                <a:close/>
              </a:path>
            </a:pathLst>
          </a:custGeom>
          <a:solidFill>
            <a:srgbClr val="F9FABA"/>
          </a:solidFill>
        </p:spPr>
        <p:txBody>
          <a:bodyPr wrap="square" lIns="0" tIns="0" rIns="0" bIns="0" rtlCol="0"/>
          <a:lstStyle/>
          <a:p>
            <a:endParaRPr/>
          </a:p>
        </p:txBody>
      </p:sp>
      <p:graphicFrame>
        <p:nvGraphicFramePr>
          <p:cNvPr id="3" name="object 3"/>
          <p:cNvGraphicFramePr>
            <a:graphicFrameLocks noGrp="1"/>
          </p:cNvGraphicFramePr>
          <p:nvPr>
            <p:extLst>
              <p:ext uri="{D42A27DB-BD31-4B8C-83A1-F6EECF244321}">
                <p14:modId xmlns:p14="http://schemas.microsoft.com/office/powerpoint/2010/main" val="2132203870"/>
              </p:ext>
            </p:extLst>
          </p:nvPr>
        </p:nvGraphicFramePr>
        <p:xfrm>
          <a:off x="731706" y="1457705"/>
          <a:ext cx="8721724" cy="4667880"/>
        </p:xfrm>
        <a:graphic>
          <a:graphicData uri="http://schemas.openxmlformats.org/drawingml/2006/table">
            <a:tbl>
              <a:tblPr firstRow="1" bandRow="1">
                <a:tableStyleId>{2D5ABB26-0587-4C30-8999-92F81FD0307C}</a:tableStyleId>
              </a:tblPr>
              <a:tblGrid>
                <a:gridCol w="4371975">
                  <a:extLst>
                    <a:ext uri="{9D8B030D-6E8A-4147-A177-3AD203B41FA5}">
                      <a16:colId xmlns:a16="http://schemas.microsoft.com/office/drawing/2014/main" val="20000"/>
                    </a:ext>
                  </a:extLst>
                </a:gridCol>
                <a:gridCol w="525779">
                  <a:extLst>
                    <a:ext uri="{9D8B030D-6E8A-4147-A177-3AD203B41FA5}">
                      <a16:colId xmlns:a16="http://schemas.microsoft.com/office/drawing/2014/main" val="20001"/>
                    </a:ext>
                  </a:extLst>
                </a:gridCol>
                <a:gridCol w="1582420">
                  <a:extLst>
                    <a:ext uri="{9D8B030D-6E8A-4147-A177-3AD203B41FA5}">
                      <a16:colId xmlns:a16="http://schemas.microsoft.com/office/drawing/2014/main" val="20002"/>
                    </a:ext>
                  </a:extLst>
                </a:gridCol>
                <a:gridCol w="768350">
                  <a:extLst>
                    <a:ext uri="{9D8B030D-6E8A-4147-A177-3AD203B41FA5}">
                      <a16:colId xmlns:a16="http://schemas.microsoft.com/office/drawing/2014/main" val="20003"/>
                    </a:ext>
                  </a:extLst>
                </a:gridCol>
                <a:gridCol w="1473200">
                  <a:extLst>
                    <a:ext uri="{9D8B030D-6E8A-4147-A177-3AD203B41FA5}">
                      <a16:colId xmlns:a16="http://schemas.microsoft.com/office/drawing/2014/main" val="20004"/>
                    </a:ext>
                  </a:extLst>
                </a:gridCol>
              </a:tblGrid>
              <a:tr h="1944370">
                <a:tc>
                  <a:txBody>
                    <a:bodyPr/>
                    <a:lstStyle/>
                    <a:p>
                      <a:pPr marL="118745" marR="1805305" indent="-55880">
                        <a:lnSpc>
                          <a:spcPct val="101000"/>
                        </a:lnSpc>
                        <a:spcBef>
                          <a:spcPts val="280"/>
                        </a:spcBef>
                        <a:tabLst>
                          <a:tab pos="353060" algn="l"/>
                        </a:tabLst>
                      </a:pPr>
                      <a:r>
                        <a:rPr sz="1550" b="1" dirty="0">
                          <a:latin typeface="Arial"/>
                          <a:cs typeface="Arial"/>
                        </a:rPr>
                        <a:t>module</a:t>
                      </a:r>
                      <a:r>
                        <a:rPr sz="1550" b="1" spc="55" dirty="0">
                          <a:latin typeface="Arial"/>
                          <a:cs typeface="Arial"/>
                        </a:rPr>
                        <a:t> </a:t>
                      </a:r>
                      <a:r>
                        <a:rPr sz="1550" spc="-10" dirty="0">
                          <a:latin typeface="Arial"/>
                          <a:cs typeface="Arial"/>
                        </a:rPr>
                        <a:t>scan_led_hex_disp </a:t>
                      </a:r>
                      <a:r>
                        <a:rPr sz="1550" spc="-50" dirty="0">
                          <a:latin typeface="Arial"/>
                          <a:cs typeface="Arial"/>
                        </a:rPr>
                        <a:t>(</a:t>
                      </a:r>
                      <a:r>
                        <a:rPr sz="1550" dirty="0">
                          <a:latin typeface="Arial"/>
                          <a:cs typeface="Arial"/>
                        </a:rPr>
                        <a:t>	</a:t>
                      </a:r>
                      <a:r>
                        <a:rPr sz="1550" b="1" dirty="0">
                          <a:latin typeface="Arial"/>
                          <a:cs typeface="Arial"/>
                        </a:rPr>
                        <a:t>input</a:t>
                      </a:r>
                      <a:r>
                        <a:rPr sz="1550" b="1" spc="470" dirty="0">
                          <a:latin typeface="Arial"/>
                          <a:cs typeface="Arial"/>
                        </a:rPr>
                        <a:t> </a:t>
                      </a:r>
                      <a:r>
                        <a:rPr sz="1550" spc="-10" dirty="0">
                          <a:latin typeface="Arial"/>
                          <a:cs typeface="Arial"/>
                        </a:rPr>
                        <a:t>clk,reset</a:t>
                      </a:r>
                      <a:r>
                        <a:rPr sz="1550" spc="-10" dirty="0">
                          <a:latin typeface="微软雅黑"/>
                          <a:cs typeface="微软雅黑"/>
                        </a:rPr>
                        <a:t>，</a:t>
                      </a:r>
                      <a:endParaRPr sz="1550">
                        <a:latin typeface="微软雅黑"/>
                        <a:cs typeface="微软雅黑"/>
                      </a:endParaRPr>
                    </a:p>
                    <a:p>
                      <a:pPr marL="341630">
                        <a:lnSpc>
                          <a:spcPct val="100000"/>
                        </a:lnSpc>
                        <a:spcBef>
                          <a:spcPts val="35"/>
                        </a:spcBef>
                      </a:pPr>
                      <a:r>
                        <a:rPr sz="1550" b="1" dirty="0">
                          <a:latin typeface="Arial"/>
                          <a:cs typeface="Arial"/>
                        </a:rPr>
                        <a:t>input</a:t>
                      </a:r>
                      <a:r>
                        <a:rPr sz="1550" b="1" spc="35" dirty="0">
                          <a:latin typeface="Arial"/>
                          <a:cs typeface="Arial"/>
                        </a:rPr>
                        <a:t> </a:t>
                      </a:r>
                      <a:r>
                        <a:rPr sz="1550" dirty="0">
                          <a:latin typeface="Arial"/>
                          <a:cs typeface="Arial"/>
                        </a:rPr>
                        <a:t>[3:0]</a:t>
                      </a:r>
                      <a:r>
                        <a:rPr sz="1550" spc="50" dirty="0">
                          <a:latin typeface="Arial"/>
                          <a:cs typeface="Arial"/>
                        </a:rPr>
                        <a:t> </a:t>
                      </a:r>
                      <a:r>
                        <a:rPr sz="1550" spc="-10" dirty="0">
                          <a:latin typeface="Arial"/>
                          <a:cs typeface="Arial"/>
                        </a:rPr>
                        <a:t>hex3,hex2,hex1,hex0</a:t>
                      </a:r>
                      <a:r>
                        <a:rPr sz="1550" spc="-10" dirty="0">
                          <a:latin typeface="微软雅黑"/>
                          <a:cs typeface="微软雅黑"/>
                        </a:rPr>
                        <a:t>，</a:t>
                      </a:r>
                      <a:endParaRPr sz="1550">
                        <a:latin typeface="微软雅黑"/>
                        <a:cs typeface="微软雅黑"/>
                      </a:endParaRPr>
                    </a:p>
                    <a:p>
                      <a:pPr marL="341630">
                        <a:lnSpc>
                          <a:spcPct val="100000"/>
                        </a:lnSpc>
                        <a:spcBef>
                          <a:spcPts val="30"/>
                        </a:spcBef>
                      </a:pPr>
                      <a:r>
                        <a:rPr sz="1550" b="1" dirty="0">
                          <a:latin typeface="Arial"/>
                          <a:cs typeface="Arial"/>
                        </a:rPr>
                        <a:t>input</a:t>
                      </a:r>
                      <a:r>
                        <a:rPr sz="1550" b="1" spc="35" dirty="0">
                          <a:latin typeface="Arial"/>
                          <a:cs typeface="Arial"/>
                        </a:rPr>
                        <a:t> </a:t>
                      </a:r>
                      <a:r>
                        <a:rPr sz="1550" dirty="0">
                          <a:latin typeface="Arial"/>
                          <a:cs typeface="Arial"/>
                        </a:rPr>
                        <a:t>[3:0]</a:t>
                      </a:r>
                      <a:r>
                        <a:rPr sz="1550" spc="50" dirty="0">
                          <a:latin typeface="Arial"/>
                          <a:cs typeface="Arial"/>
                        </a:rPr>
                        <a:t> </a:t>
                      </a:r>
                      <a:r>
                        <a:rPr sz="1550" spc="-10" dirty="0">
                          <a:latin typeface="Arial"/>
                          <a:cs typeface="Arial"/>
                        </a:rPr>
                        <a:t>dp_in</a:t>
                      </a:r>
                      <a:r>
                        <a:rPr sz="1550" spc="-10" dirty="0">
                          <a:latin typeface="微软雅黑"/>
                          <a:cs typeface="微软雅黑"/>
                        </a:rPr>
                        <a:t>，</a:t>
                      </a:r>
                      <a:endParaRPr sz="1550">
                        <a:latin typeface="微软雅黑"/>
                        <a:cs typeface="微软雅黑"/>
                      </a:endParaRPr>
                    </a:p>
                    <a:p>
                      <a:pPr marL="341630">
                        <a:lnSpc>
                          <a:spcPct val="100000"/>
                        </a:lnSpc>
                        <a:spcBef>
                          <a:spcPts val="35"/>
                        </a:spcBef>
                      </a:pPr>
                      <a:r>
                        <a:rPr sz="1550" b="1" dirty="0">
                          <a:latin typeface="Arial"/>
                          <a:cs typeface="Arial"/>
                        </a:rPr>
                        <a:t>output</a:t>
                      </a:r>
                      <a:r>
                        <a:rPr sz="1550" b="1" spc="30" dirty="0">
                          <a:latin typeface="Arial"/>
                          <a:cs typeface="Arial"/>
                        </a:rPr>
                        <a:t> </a:t>
                      </a:r>
                      <a:r>
                        <a:rPr sz="1550" dirty="0">
                          <a:latin typeface="Arial"/>
                          <a:cs typeface="Arial"/>
                        </a:rPr>
                        <a:t>reg</a:t>
                      </a:r>
                      <a:r>
                        <a:rPr sz="1550" spc="40" dirty="0">
                          <a:latin typeface="Arial"/>
                          <a:cs typeface="Arial"/>
                        </a:rPr>
                        <a:t> </a:t>
                      </a:r>
                      <a:r>
                        <a:rPr sz="1550" dirty="0">
                          <a:latin typeface="Arial"/>
                          <a:cs typeface="Arial"/>
                        </a:rPr>
                        <a:t>[3:0]</a:t>
                      </a:r>
                      <a:r>
                        <a:rPr sz="1550" spc="40" dirty="0">
                          <a:latin typeface="Arial"/>
                          <a:cs typeface="Arial"/>
                        </a:rPr>
                        <a:t> </a:t>
                      </a:r>
                      <a:r>
                        <a:rPr sz="1550" spc="-25" dirty="0">
                          <a:latin typeface="Arial"/>
                          <a:cs typeface="Arial"/>
                        </a:rPr>
                        <a:t>an</a:t>
                      </a:r>
                      <a:r>
                        <a:rPr sz="1550" spc="-25" dirty="0">
                          <a:latin typeface="微软雅黑"/>
                          <a:cs typeface="微软雅黑"/>
                        </a:rPr>
                        <a:t>，</a:t>
                      </a:r>
                      <a:endParaRPr sz="1550">
                        <a:latin typeface="微软雅黑"/>
                        <a:cs typeface="微软雅黑"/>
                      </a:endParaRPr>
                    </a:p>
                    <a:p>
                      <a:pPr marL="341630">
                        <a:lnSpc>
                          <a:spcPct val="100000"/>
                        </a:lnSpc>
                        <a:spcBef>
                          <a:spcPts val="50"/>
                        </a:spcBef>
                      </a:pPr>
                      <a:r>
                        <a:rPr sz="1550" b="1" dirty="0">
                          <a:latin typeface="Arial"/>
                          <a:cs typeface="Arial"/>
                        </a:rPr>
                        <a:t>output</a:t>
                      </a:r>
                      <a:r>
                        <a:rPr sz="1550" b="1" spc="35" dirty="0">
                          <a:latin typeface="Arial"/>
                          <a:cs typeface="Arial"/>
                        </a:rPr>
                        <a:t> </a:t>
                      </a:r>
                      <a:r>
                        <a:rPr sz="1550" dirty="0">
                          <a:latin typeface="Arial"/>
                          <a:cs typeface="Arial"/>
                        </a:rPr>
                        <a:t>reg</a:t>
                      </a:r>
                      <a:r>
                        <a:rPr sz="1550" spc="50" dirty="0">
                          <a:latin typeface="Arial"/>
                          <a:cs typeface="Arial"/>
                        </a:rPr>
                        <a:t> </a:t>
                      </a:r>
                      <a:r>
                        <a:rPr sz="1550" dirty="0">
                          <a:latin typeface="Arial"/>
                          <a:cs typeface="Arial"/>
                        </a:rPr>
                        <a:t>[7:0]</a:t>
                      </a:r>
                      <a:r>
                        <a:rPr sz="1550" spc="45" dirty="0">
                          <a:latin typeface="Arial"/>
                          <a:cs typeface="Arial"/>
                        </a:rPr>
                        <a:t> </a:t>
                      </a:r>
                      <a:r>
                        <a:rPr sz="1550" spc="-20" dirty="0">
                          <a:latin typeface="Arial"/>
                          <a:cs typeface="Arial"/>
                        </a:rPr>
                        <a:t>sseg</a:t>
                      </a:r>
                      <a:endParaRPr sz="1550">
                        <a:latin typeface="Arial"/>
                        <a:cs typeface="Arial"/>
                      </a:endParaRPr>
                    </a:p>
                    <a:p>
                      <a:pPr marL="341630">
                        <a:lnSpc>
                          <a:spcPct val="100000"/>
                        </a:lnSpc>
                        <a:spcBef>
                          <a:spcPts val="30"/>
                        </a:spcBef>
                      </a:pPr>
                      <a:r>
                        <a:rPr sz="1550" spc="-25" dirty="0">
                          <a:latin typeface="Arial"/>
                          <a:cs typeface="Arial"/>
                        </a:rPr>
                        <a:t>);</a:t>
                      </a:r>
                      <a:endParaRPr sz="1550">
                        <a:latin typeface="Arial"/>
                        <a:cs typeface="Arial"/>
                      </a:endParaRPr>
                    </a:p>
                  </a:txBody>
                  <a:tcPr marL="0" marR="0" marT="35560" marB="0">
                    <a:solidFill>
                      <a:srgbClr val="F9FABA"/>
                    </a:solidFill>
                  </a:tcPr>
                </a:tc>
                <a:tc>
                  <a:txBody>
                    <a:bodyPr/>
                    <a:lstStyle/>
                    <a:p>
                      <a:pPr>
                        <a:lnSpc>
                          <a:spcPct val="100000"/>
                        </a:lnSpc>
                      </a:pPr>
                      <a:endParaRPr sz="1500">
                        <a:latin typeface="Times New Roman"/>
                        <a:cs typeface="Times New Roman"/>
                      </a:endParaRPr>
                    </a:p>
                  </a:txBody>
                  <a:tcPr marL="0" marR="0" marT="0" marB="0"/>
                </a:tc>
                <a:tc gridSpan="3">
                  <a:txBody>
                    <a:bodyPr/>
                    <a:lstStyle/>
                    <a:p>
                      <a:pPr marL="79375">
                        <a:lnSpc>
                          <a:spcPct val="100000"/>
                        </a:lnSpc>
                        <a:spcBef>
                          <a:spcPts val="295"/>
                        </a:spcBef>
                      </a:pPr>
                      <a:r>
                        <a:rPr sz="1550" b="1" dirty="0">
                          <a:latin typeface="Arial"/>
                          <a:cs typeface="Arial"/>
                        </a:rPr>
                        <a:t>always</a:t>
                      </a:r>
                      <a:r>
                        <a:rPr sz="1550" b="1" spc="30" dirty="0">
                          <a:latin typeface="Arial"/>
                          <a:cs typeface="Arial"/>
                        </a:rPr>
                        <a:t> </a:t>
                      </a:r>
                      <a:r>
                        <a:rPr sz="1550" b="1" spc="-35" dirty="0">
                          <a:latin typeface="Arial"/>
                          <a:cs typeface="Arial"/>
                        </a:rPr>
                        <a:t>@*</a:t>
                      </a:r>
                      <a:endParaRPr sz="1550" dirty="0">
                        <a:latin typeface="Arial"/>
                        <a:cs typeface="Arial"/>
                      </a:endParaRPr>
                    </a:p>
                    <a:p>
                      <a:pPr marL="992505" marR="1297940" indent="-356235">
                        <a:lnSpc>
                          <a:spcPts val="1900"/>
                        </a:lnSpc>
                        <a:spcBef>
                          <a:spcPts val="60"/>
                        </a:spcBef>
                      </a:pPr>
                      <a:r>
                        <a:rPr sz="1550" b="1" dirty="0">
                          <a:latin typeface="Arial"/>
                          <a:cs typeface="Arial"/>
                        </a:rPr>
                        <a:t>case</a:t>
                      </a:r>
                      <a:r>
                        <a:rPr sz="1550" b="1" spc="110" dirty="0">
                          <a:latin typeface="Arial"/>
                          <a:cs typeface="Arial"/>
                        </a:rPr>
                        <a:t> </a:t>
                      </a:r>
                      <a:r>
                        <a:rPr sz="1550" dirty="0">
                          <a:latin typeface="Arial"/>
                          <a:cs typeface="Arial"/>
                        </a:rPr>
                        <a:t>(regN[N-1:N-</a:t>
                      </a:r>
                      <a:r>
                        <a:rPr sz="1550" spc="-25" dirty="0">
                          <a:latin typeface="Arial"/>
                          <a:cs typeface="Arial"/>
                        </a:rPr>
                        <a:t>2]) </a:t>
                      </a:r>
                      <a:r>
                        <a:rPr sz="1550" spc="-10" dirty="0">
                          <a:latin typeface="Arial"/>
                          <a:cs typeface="Arial"/>
                        </a:rPr>
                        <a:t>2’b00:</a:t>
                      </a:r>
                      <a:endParaRPr sz="1550" dirty="0">
                        <a:latin typeface="Arial"/>
                        <a:cs typeface="Arial"/>
                      </a:endParaRPr>
                    </a:p>
                    <a:p>
                      <a:pPr marL="1682750">
                        <a:lnSpc>
                          <a:spcPts val="1814"/>
                        </a:lnSpc>
                      </a:pPr>
                      <a:r>
                        <a:rPr sz="1550" b="1" spc="-10" dirty="0">
                          <a:latin typeface="Arial"/>
                          <a:cs typeface="Arial"/>
                        </a:rPr>
                        <a:t>begin</a:t>
                      </a:r>
                      <a:endParaRPr sz="1550" dirty="0">
                        <a:latin typeface="Arial"/>
                        <a:cs typeface="Arial"/>
                      </a:endParaRPr>
                    </a:p>
                    <a:p>
                      <a:pPr marL="2484755">
                        <a:lnSpc>
                          <a:spcPct val="100000"/>
                        </a:lnSpc>
                        <a:spcBef>
                          <a:spcPts val="35"/>
                        </a:spcBef>
                      </a:pPr>
                      <a:r>
                        <a:rPr sz="1550" dirty="0">
                          <a:latin typeface="Arial"/>
                          <a:cs typeface="Arial"/>
                        </a:rPr>
                        <a:t>an</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4’b1110;</a:t>
                      </a:r>
                      <a:endParaRPr sz="1550" dirty="0">
                        <a:latin typeface="Arial"/>
                        <a:cs typeface="Arial"/>
                      </a:endParaRPr>
                    </a:p>
                    <a:p>
                      <a:pPr marL="2484755" marR="24130">
                        <a:lnSpc>
                          <a:spcPct val="101600"/>
                        </a:lnSpc>
                        <a:spcBef>
                          <a:spcPts val="10"/>
                        </a:spcBef>
                      </a:pPr>
                      <a:r>
                        <a:rPr sz="1550" dirty="0">
                          <a:latin typeface="Arial"/>
                          <a:cs typeface="Arial"/>
                        </a:rPr>
                        <a:t>hex_in</a:t>
                      </a:r>
                      <a:r>
                        <a:rPr sz="1550" spc="20" dirty="0">
                          <a:latin typeface="Arial"/>
                          <a:cs typeface="Arial"/>
                        </a:rPr>
                        <a:t> </a:t>
                      </a:r>
                      <a:r>
                        <a:rPr sz="1550" dirty="0">
                          <a:latin typeface="Arial"/>
                          <a:cs typeface="Arial"/>
                        </a:rPr>
                        <a:t>=</a:t>
                      </a:r>
                      <a:r>
                        <a:rPr sz="1550" spc="30" dirty="0">
                          <a:latin typeface="Arial"/>
                          <a:cs typeface="Arial"/>
                        </a:rPr>
                        <a:t> </a:t>
                      </a:r>
                      <a:r>
                        <a:rPr sz="1550" spc="-10" dirty="0">
                          <a:latin typeface="Arial"/>
                          <a:cs typeface="Arial"/>
                        </a:rPr>
                        <a:t>hex0; </a:t>
                      </a:r>
                      <a:r>
                        <a:rPr sz="1550" dirty="0">
                          <a:latin typeface="Arial"/>
                          <a:cs typeface="Arial"/>
                        </a:rPr>
                        <a:t>dp</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dp_in[0];</a:t>
                      </a:r>
                      <a:endParaRPr sz="1550" dirty="0">
                        <a:latin typeface="Arial"/>
                        <a:cs typeface="Arial"/>
                      </a:endParaRPr>
                    </a:p>
                    <a:p>
                      <a:pPr marL="1682750">
                        <a:lnSpc>
                          <a:spcPts val="1660"/>
                        </a:lnSpc>
                        <a:spcBef>
                          <a:spcPts val="35"/>
                        </a:spcBef>
                      </a:pPr>
                      <a:r>
                        <a:rPr sz="1550" b="1" spc="-25" dirty="0">
                          <a:latin typeface="Arial"/>
                          <a:cs typeface="Arial"/>
                        </a:rPr>
                        <a:t>end</a:t>
                      </a:r>
                      <a:endParaRPr sz="1550" dirty="0">
                        <a:latin typeface="Arial"/>
                        <a:cs typeface="Arial"/>
                      </a:endParaRPr>
                    </a:p>
                  </a:txBody>
                  <a:tcPr marL="0" marR="0" marT="37465" marB="0">
                    <a:solidFill>
                      <a:srgbClr val="F9FABA"/>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52095">
                <a:tc>
                  <a:txBody>
                    <a:bodyPr/>
                    <a:lstStyle/>
                    <a:p>
                      <a:pPr marL="341630">
                        <a:lnSpc>
                          <a:spcPts val="1770"/>
                        </a:lnSpc>
                        <a:spcBef>
                          <a:spcPts val="120"/>
                        </a:spcBef>
                      </a:pPr>
                      <a:r>
                        <a:rPr sz="1550" b="1" dirty="0">
                          <a:latin typeface="Arial"/>
                          <a:cs typeface="Arial"/>
                        </a:rPr>
                        <a:t>localparam</a:t>
                      </a:r>
                      <a:r>
                        <a:rPr sz="1550" b="1" spc="65" dirty="0">
                          <a:latin typeface="Arial"/>
                          <a:cs typeface="Arial"/>
                        </a:rPr>
                        <a:t> </a:t>
                      </a:r>
                      <a:r>
                        <a:rPr sz="1550" dirty="0">
                          <a:latin typeface="Arial"/>
                          <a:cs typeface="Arial"/>
                        </a:rPr>
                        <a:t>N</a:t>
                      </a:r>
                      <a:r>
                        <a:rPr sz="1550" spc="40" dirty="0">
                          <a:latin typeface="Arial"/>
                          <a:cs typeface="Arial"/>
                        </a:rPr>
                        <a:t> = </a:t>
                      </a:r>
                      <a:r>
                        <a:rPr sz="1550" dirty="0">
                          <a:latin typeface="Arial"/>
                          <a:cs typeface="Arial"/>
                        </a:rPr>
                        <a:t>16;</a:t>
                      </a:r>
                      <a:r>
                        <a:rPr sz="1550" spc="60" dirty="0">
                          <a:latin typeface="Arial"/>
                          <a:cs typeface="Arial"/>
                        </a:rPr>
                        <a:t> </a:t>
                      </a:r>
                      <a:r>
                        <a:rPr sz="1550" dirty="0">
                          <a:solidFill>
                            <a:srgbClr val="00B0EF"/>
                          </a:solidFill>
                          <a:latin typeface="Arial"/>
                          <a:cs typeface="Arial"/>
                        </a:rPr>
                        <a:t>//</a:t>
                      </a:r>
                      <a:r>
                        <a:rPr sz="1550" dirty="0">
                          <a:solidFill>
                            <a:srgbClr val="00B0EF"/>
                          </a:solidFill>
                          <a:latin typeface="微软雅黑"/>
                          <a:cs typeface="微软雅黑"/>
                        </a:rPr>
                        <a:t>对输入</a:t>
                      </a:r>
                      <a:r>
                        <a:rPr sz="1550" dirty="0">
                          <a:solidFill>
                            <a:srgbClr val="00B0EF"/>
                          </a:solidFill>
                          <a:latin typeface="Arial"/>
                          <a:cs typeface="Arial"/>
                        </a:rPr>
                        <a:t>50MHz</a:t>
                      </a:r>
                      <a:r>
                        <a:rPr sz="1550" spc="-20" dirty="0">
                          <a:solidFill>
                            <a:srgbClr val="00B0EF"/>
                          </a:solidFill>
                          <a:latin typeface="微软雅黑"/>
                          <a:cs typeface="微软雅黑"/>
                        </a:rPr>
                        <a:t>时钟进</a:t>
                      </a:r>
                      <a:endParaRPr sz="1550">
                        <a:latin typeface="微软雅黑"/>
                        <a:cs typeface="微软雅黑"/>
                      </a:endParaRPr>
                    </a:p>
                  </a:txBody>
                  <a:tcPr marL="0" marR="0" marT="15240" marB="0">
                    <a:solidFill>
                      <a:srgbClr val="F9FABA"/>
                    </a:solidFill>
                  </a:tcPr>
                </a:tc>
                <a:tc>
                  <a:txBody>
                    <a:bodyPr/>
                    <a:lstStyle/>
                    <a:p>
                      <a:pPr>
                        <a:lnSpc>
                          <a:spcPct val="100000"/>
                        </a:lnSpc>
                      </a:pPr>
                      <a:endParaRPr sz="1500">
                        <a:latin typeface="Times New Roman"/>
                        <a:cs typeface="Times New Roman"/>
                      </a:endParaRPr>
                    </a:p>
                  </a:txBody>
                  <a:tcPr marL="0" marR="0" marT="0" marB="0"/>
                </a:tc>
                <a:tc>
                  <a:txBody>
                    <a:bodyPr/>
                    <a:lstStyle/>
                    <a:p>
                      <a:pPr marR="92710" algn="r">
                        <a:lnSpc>
                          <a:spcPts val="1760"/>
                        </a:lnSpc>
                        <a:spcBef>
                          <a:spcPts val="130"/>
                        </a:spcBef>
                      </a:pPr>
                      <a:r>
                        <a:rPr sz="1550" spc="-10" dirty="0">
                          <a:latin typeface="Arial"/>
                          <a:cs typeface="Arial"/>
                        </a:rPr>
                        <a:t>2’b01:</a:t>
                      </a:r>
                      <a:endParaRPr sz="1550">
                        <a:latin typeface="Arial"/>
                        <a:cs typeface="Arial"/>
                      </a:endParaRPr>
                    </a:p>
                  </a:txBody>
                  <a:tcPr marL="0" marR="0" marT="16510" marB="0">
                    <a:solidFill>
                      <a:srgbClr val="F9FABA"/>
                    </a:solidFill>
                  </a:tcPr>
                </a:tc>
                <a:tc>
                  <a:txBody>
                    <a:bodyPr/>
                    <a:lstStyle/>
                    <a:p>
                      <a:pPr>
                        <a:lnSpc>
                          <a:spcPct val="100000"/>
                        </a:lnSpc>
                      </a:pPr>
                      <a:endParaRPr sz="1500">
                        <a:latin typeface="Times New Roman"/>
                        <a:cs typeface="Times New Roman"/>
                      </a:endParaRPr>
                    </a:p>
                  </a:txBody>
                  <a:tcPr marL="0" marR="0" marT="0" marB="0">
                    <a:solidFill>
                      <a:srgbClr val="F9FABA"/>
                    </a:solidFill>
                  </a:tcPr>
                </a:tc>
                <a:tc>
                  <a:txBody>
                    <a:bodyPr/>
                    <a:lstStyle/>
                    <a:p>
                      <a:pPr>
                        <a:lnSpc>
                          <a:spcPct val="100000"/>
                        </a:lnSpc>
                      </a:pPr>
                      <a:endParaRPr sz="1500">
                        <a:latin typeface="Times New Roman"/>
                        <a:cs typeface="Times New Roman"/>
                      </a:endParaRPr>
                    </a:p>
                  </a:txBody>
                  <a:tcPr marL="0" marR="0" marT="0" marB="0">
                    <a:solidFill>
                      <a:srgbClr val="F9FABA"/>
                    </a:solidFill>
                  </a:tcPr>
                </a:tc>
                <a:extLst>
                  <a:ext uri="{0D108BD9-81ED-4DB2-BD59-A6C34878D82A}">
                    <a16:rowId xmlns:a16="http://schemas.microsoft.com/office/drawing/2014/main" val="10001"/>
                  </a:ext>
                </a:extLst>
              </a:tr>
              <a:tr h="492759">
                <a:tc>
                  <a:txBody>
                    <a:bodyPr/>
                    <a:lstStyle/>
                    <a:p>
                      <a:pPr marR="2379980" algn="r">
                        <a:lnSpc>
                          <a:spcPct val="100000"/>
                        </a:lnSpc>
                        <a:spcBef>
                          <a:spcPts val="25"/>
                        </a:spcBef>
                      </a:pPr>
                      <a:r>
                        <a:rPr sz="1550" dirty="0">
                          <a:solidFill>
                            <a:srgbClr val="00B0EF"/>
                          </a:solidFill>
                          <a:latin typeface="微软雅黑"/>
                          <a:cs typeface="微软雅黑"/>
                        </a:rPr>
                        <a:t>行分频</a:t>
                      </a:r>
                      <a:r>
                        <a:rPr sz="1550" dirty="0">
                          <a:solidFill>
                            <a:srgbClr val="00B0EF"/>
                          </a:solidFill>
                          <a:latin typeface="Arial"/>
                          <a:cs typeface="Arial"/>
                        </a:rPr>
                        <a:t>(50</a:t>
                      </a:r>
                      <a:r>
                        <a:rPr sz="1550" spc="60" dirty="0">
                          <a:solidFill>
                            <a:srgbClr val="00B0EF"/>
                          </a:solidFill>
                          <a:latin typeface="Arial"/>
                          <a:cs typeface="Arial"/>
                        </a:rPr>
                        <a:t> </a:t>
                      </a:r>
                      <a:r>
                        <a:rPr sz="1550" spc="-10" dirty="0">
                          <a:solidFill>
                            <a:srgbClr val="00B0EF"/>
                          </a:solidFill>
                          <a:latin typeface="Arial"/>
                          <a:cs typeface="Arial"/>
                        </a:rPr>
                        <a:t>MHz/2^1</a:t>
                      </a:r>
                      <a:r>
                        <a:rPr lang="en-US" sz="1550" spc="-10" dirty="0">
                          <a:solidFill>
                            <a:srgbClr val="00B0EF"/>
                          </a:solidFill>
                          <a:latin typeface="Arial"/>
                          <a:cs typeface="Arial"/>
                        </a:rPr>
                        <a:t>4</a:t>
                      </a:r>
                      <a:r>
                        <a:rPr sz="1550" spc="-10" dirty="0">
                          <a:solidFill>
                            <a:srgbClr val="00B0EF"/>
                          </a:solidFill>
                          <a:latin typeface="Arial"/>
                          <a:cs typeface="Arial"/>
                        </a:rPr>
                        <a:t>)</a:t>
                      </a:r>
                      <a:endParaRPr sz="1550" dirty="0">
                        <a:latin typeface="Arial"/>
                        <a:cs typeface="Arial"/>
                      </a:endParaRPr>
                    </a:p>
                    <a:p>
                      <a:pPr marR="2439035" algn="r">
                        <a:lnSpc>
                          <a:spcPts val="1850"/>
                        </a:lnSpc>
                        <a:spcBef>
                          <a:spcPts val="50"/>
                        </a:spcBef>
                      </a:pPr>
                      <a:r>
                        <a:rPr sz="1550" b="1" dirty="0">
                          <a:latin typeface="Arial"/>
                          <a:cs typeface="Arial"/>
                        </a:rPr>
                        <a:t>reg</a:t>
                      </a:r>
                      <a:r>
                        <a:rPr sz="1550" b="1" spc="40" dirty="0">
                          <a:latin typeface="Arial"/>
                          <a:cs typeface="Arial"/>
                        </a:rPr>
                        <a:t> </a:t>
                      </a:r>
                      <a:r>
                        <a:rPr sz="1550" dirty="0">
                          <a:latin typeface="Arial"/>
                          <a:cs typeface="Arial"/>
                        </a:rPr>
                        <a:t>[N-1:0]</a:t>
                      </a:r>
                      <a:r>
                        <a:rPr sz="1550" spc="45" dirty="0">
                          <a:latin typeface="Arial"/>
                          <a:cs typeface="Arial"/>
                        </a:rPr>
                        <a:t>  </a:t>
                      </a:r>
                      <a:r>
                        <a:rPr sz="1550" spc="-10" dirty="0">
                          <a:latin typeface="Arial"/>
                          <a:cs typeface="Arial"/>
                        </a:rPr>
                        <a:t>regN;</a:t>
                      </a:r>
                      <a:endParaRPr sz="1550" dirty="0">
                        <a:latin typeface="Arial"/>
                        <a:cs typeface="Arial"/>
                      </a:endParaRPr>
                    </a:p>
                  </a:txBody>
                  <a:tcPr marL="0" marR="0" marT="3175" marB="0">
                    <a:solidFill>
                      <a:srgbClr val="F9FABA"/>
                    </a:solidFill>
                  </a:tcPr>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solidFill>
                      <a:srgbClr val="F9FABA"/>
                    </a:solidFill>
                  </a:tcPr>
                </a:tc>
                <a:tc>
                  <a:txBody>
                    <a:bodyPr/>
                    <a:lstStyle/>
                    <a:p>
                      <a:pPr marL="100330">
                        <a:lnSpc>
                          <a:spcPct val="100000"/>
                        </a:lnSpc>
                        <a:spcBef>
                          <a:spcPts val="35"/>
                        </a:spcBef>
                      </a:pPr>
                      <a:r>
                        <a:rPr sz="1550" b="1" spc="-10" dirty="0">
                          <a:latin typeface="Arial"/>
                          <a:cs typeface="Arial"/>
                        </a:rPr>
                        <a:t>begin</a:t>
                      </a:r>
                      <a:endParaRPr sz="1550">
                        <a:latin typeface="Arial"/>
                        <a:cs typeface="Arial"/>
                      </a:endParaRPr>
                    </a:p>
                  </a:txBody>
                  <a:tcPr marL="0" marR="0" marT="4445" marB="0">
                    <a:solidFill>
                      <a:srgbClr val="F9FABA"/>
                    </a:solidFill>
                  </a:tcPr>
                </a:tc>
                <a:tc>
                  <a:txBody>
                    <a:bodyPr/>
                    <a:lstStyle/>
                    <a:p>
                      <a:pPr>
                        <a:lnSpc>
                          <a:spcPct val="100000"/>
                        </a:lnSpc>
                        <a:spcBef>
                          <a:spcPts val="150"/>
                        </a:spcBef>
                      </a:pPr>
                      <a:endParaRPr sz="1550">
                        <a:latin typeface="Times New Roman"/>
                        <a:cs typeface="Times New Roman"/>
                      </a:endParaRPr>
                    </a:p>
                    <a:p>
                      <a:pPr marL="133350">
                        <a:lnSpc>
                          <a:spcPts val="1850"/>
                        </a:lnSpc>
                      </a:pPr>
                      <a:r>
                        <a:rPr sz="1550" dirty="0">
                          <a:latin typeface="Arial"/>
                          <a:cs typeface="Arial"/>
                        </a:rPr>
                        <a:t>an</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4’b1101;</a:t>
                      </a:r>
                      <a:endParaRPr sz="1550">
                        <a:latin typeface="Arial"/>
                        <a:cs typeface="Arial"/>
                      </a:endParaRPr>
                    </a:p>
                  </a:txBody>
                  <a:tcPr marL="0" marR="0" marT="19050" marB="0">
                    <a:solidFill>
                      <a:srgbClr val="F9FABA"/>
                    </a:solidFill>
                  </a:tcPr>
                </a:tc>
                <a:extLst>
                  <a:ext uri="{0D108BD9-81ED-4DB2-BD59-A6C34878D82A}">
                    <a16:rowId xmlns:a16="http://schemas.microsoft.com/office/drawing/2014/main" val="10002"/>
                  </a:ext>
                </a:extLst>
              </a:tr>
              <a:tr h="240029">
                <a:tc>
                  <a:txBody>
                    <a:bodyPr/>
                    <a:lstStyle/>
                    <a:p>
                      <a:pPr marL="340995">
                        <a:lnSpc>
                          <a:spcPts val="1795"/>
                        </a:lnSpc>
                      </a:pPr>
                      <a:r>
                        <a:rPr sz="1550" b="1" dirty="0">
                          <a:latin typeface="Arial"/>
                          <a:cs typeface="Arial"/>
                        </a:rPr>
                        <a:t>reg</a:t>
                      </a:r>
                      <a:r>
                        <a:rPr sz="1550" b="1" spc="30" dirty="0">
                          <a:latin typeface="Arial"/>
                          <a:cs typeface="Arial"/>
                        </a:rPr>
                        <a:t> </a:t>
                      </a:r>
                      <a:r>
                        <a:rPr sz="1550" dirty="0">
                          <a:latin typeface="Arial"/>
                          <a:cs typeface="Arial"/>
                        </a:rPr>
                        <a:t>[3:0]</a:t>
                      </a:r>
                      <a:r>
                        <a:rPr sz="1550" spc="35" dirty="0">
                          <a:latin typeface="Arial"/>
                          <a:cs typeface="Arial"/>
                        </a:rPr>
                        <a:t> </a:t>
                      </a:r>
                      <a:r>
                        <a:rPr sz="1550" spc="-10" dirty="0" err="1">
                          <a:latin typeface="Arial"/>
                          <a:cs typeface="Arial"/>
                        </a:rPr>
                        <a:t>hex_in</a:t>
                      </a:r>
                      <a:r>
                        <a:rPr sz="1550" spc="-10" dirty="0">
                          <a:latin typeface="Arial"/>
                          <a:cs typeface="Arial"/>
                        </a:rPr>
                        <a:t>;</a:t>
                      </a:r>
                      <a:endParaRPr lang="en-US" sz="1550" spc="-10" dirty="0">
                        <a:latin typeface="Arial"/>
                        <a:cs typeface="Arial"/>
                      </a:endParaRPr>
                    </a:p>
                    <a:p>
                      <a:pPr marL="340995">
                        <a:lnSpc>
                          <a:spcPts val="1795"/>
                        </a:lnSpc>
                      </a:pPr>
                      <a:r>
                        <a:rPr kumimoji="0" lang="en-US" altLang="zh-CN" sz="1550" b="1" i="0" u="none" strike="noStrike" kern="0" cap="none" spc="0" normalizeH="0" baseline="0" noProof="0" dirty="0">
                          <a:ln>
                            <a:noFill/>
                          </a:ln>
                          <a:solidFill>
                            <a:sysClr val="windowText" lastClr="000000"/>
                          </a:solidFill>
                          <a:effectLst/>
                          <a:uLnTx/>
                          <a:uFillTx/>
                          <a:latin typeface="Arial"/>
                          <a:cs typeface="Arial"/>
                        </a:rPr>
                        <a:t>reg</a:t>
                      </a:r>
                      <a:r>
                        <a:rPr kumimoji="0" lang="en-US" altLang="zh-CN" sz="1550" b="1" i="0" u="none" strike="noStrike" kern="0" cap="none" spc="15" normalizeH="0" baseline="0" noProof="0" dirty="0">
                          <a:ln>
                            <a:noFill/>
                          </a:ln>
                          <a:solidFill>
                            <a:sysClr val="windowText" lastClr="000000"/>
                          </a:solidFill>
                          <a:effectLst/>
                          <a:uLnTx/>
                          <a:uFillTx/>
                          <a:latin typeface="Arial"/>
                          <a:cs typeface="Arial"/>
                        </a:rPr>
                        <a:t> </a:t>
                      </a:r>
                      <a:r>
                        <a:rPr kumimoji="0" lang="en-US" altLang="zh-CN" sz="1550" b="0" i="0" u="none" strike="noStrike" kern="0" cap="none" spc="-25" normalizeH="0" baseline="0" noProof="0" dirty="0" err="1">
                          <a:ln>
                            <a:noFill/>
                          </a:ln>
                          <a:solidFill>
                            <a:sysClr val="windowText" lastClr="000000"/>
                          </a:solidFill>
                          <a:effectLst/>
                          <a:uLnTx/>
                          <a:uFillTx/>
                          <a:latin typeface="Arial"/>
                          <a:cs typeface="Arial"/>
                        </a:rPr>
                        <a:t>dp</a:t>
                      </a:r>
                      <a:r>
                        <a:rPr kumimoji="0" lang="en-US" altLang="zh-CN" sz="1550" b="0" i="0" u="none" strike="noStrike" kern="0" cap="none" spc="-25" normalizeH="0" baseline="0" noProof="0" dirty="0">
                          <a:ln>
                            <a:noFill/>
                          </a:ln>
                          <a:solidFill>
                            <a:sysClr val="windowText" lastClr="000000"/>
                          </a:solidFill>
                          <a:effectLst/>
                          <a:uLnTx/>
                          <a:uFillTx/>
                          <a:latin typeface="Arial"/>
                          <a:cs typeface="Arial"/>
                        </a:rPr>
                        <a:t>; </a:t>
                      </a:r>
                      <a:endParaRPr sz="1550" dirty="0">
                        <a:latin typeface="Arial"/>
                        <a:cs typeface="Arial"/>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solidFill>
                      <a:srgbClr val="F9FABA"/>
                    </a:solidFill>
                  </a:tcPr>
                </a:tc>
                <a:tc>
                  <a:txBody>
                    <a:bodyPr/>
                    <a:lstStyle/>
                    <a:p>
                      <a:pPr marL="133350">
                        <a:lnSpc>
                          <a:spcPts val="1795"/>
                        </a:lnSpc>
                      </a:pPr>
                      <a:r>
                        <a:rPr sz="1550" dirty="0">
                          <a:latin typeface="Arial"/>
                          <a:cs typeface="Arial"/>
                        </a:rPr>
                        <a:t>hex_in</a:t>
                      </a:r>
                      <a:r>
                        <a:rPr sz="1550" spc="20" dirty="0">
                          <a:latin typeface="Arial"/>
                          <a:cs typeface="Arial"/>
                        </a:rPr>
                        <a:t> </a:t>
                      </a:r>
                      <a:r>
                        <a:rPr sz="1550" dirty="0">
                          <a:latin typeface="Arial"/>
                          <a:cs typeface="Arial"/>
                        </a:rPr>
                        <a:t>=</a:t>
                      </a:r>
                      <a:r>
                        <a:rPr sz="1550" spc="30" dirty="0">
                          <a:latin typeface="Arial"/>
                          <a:cs typeface="Arial"/>
                        </a:rPr>
                        <a:t> </a:t>
                      </a:r>
                      <a:r>
                        <a:rPr sz="1550" spc="-10" dirty="0">
                          <a:latin typeface="Arial"/>
                          <a:cs typeface="Arial"/>
                        </a:rPr>
                        <a:t>hex1;</a:t>
                      </a:r>
                      <a:endParaRPr sz="1550">
                        <a:latin typeface="Arial"/>
                        <a:cs typeface="Arial"/>
                      </a:endParaRPr>
                    </a:p>
                  </a:txBody>
                  <a:tcPr marL="0" marR="0" marT="0" marB="0">
                    <a:solidFill>
                      <a:srgbClr val="F9FABA"/>
                    </a:solidFill>
                  </a:tcPr>
                </a:tc>
                <a:extLst>
                  <a:ext uri="{0D108BD9-81ED-4DB2-BD59-A6C34878D82A}">
                    <a16:rowId xmlns:a16="http://schemas.microsoft.com/office/drawing/2014/main" val="10003"/>
                  </a:ext>
                </a:extLst>
              </a:tr>
              <a:tr h="240029">
                <a:tc>
                  <a:txBody>
                    <a:bodyPr/>
                    <a:lstStyle/>
                    <a:p>
                      <a:pPr marL="340995">
                        <a:lnSpc>
                          <a:spcPts val="1795"/>
                        </a:lnSpc>
                      </a:pPr>
                      <a:r>
                        <a:rPr sz="1550" b="1" dirty="0">
                          <a:latin typeface="Arial"/>
                          <a:cs typeface="Arial"/>
                        </a:rPr>
                        <a:t>always</a:t>
                      </a:r>
                      <a:r>
                        <a:rPr sz="1550" b="1" spc="65" dirty="0">
                          <a:latin typeface="Arial"/>
                          <a:cs typeface="Arial"/>
                        </a:rPr>
                        <a:t> </a:t>
                      </a:r>
                      <a:r>
                        <a:rPr sz="1550" dirty="0">
                          <a:latin typeface="Arial"/>
                          <a:cs typeface="Arial"/>
                        </a:rPr>
                        <a:t>@(</a:t>
                      </a:r>
                      <a:r>
                        <a:rPr sz="1550" b="1" dirty="0">
                          <a:latin typeface="Arial"/>
                          <a:cs typeface="Arial"/>
                        </a:rPr>
                        <a:t>posedge</a:t>
                      </a:r>
                      <a:r>
                        <a:rPr sz="1550" b="1" spc="65" dirty="0">
                          <a:latin typeface="Arial"/>
                          <a:cs typeface="Arial"/>
                        </a:rPr>
                        <a:t> </a:t>
                      </a:r>
                      <a:r>
                        <a:rPr sz="1550" dirty="0">
                          <a:latin typeface="Arial"/>
                          <a:cs typeface="Arial"/>
                        </a:rPr>
                        <a:t>clk,</a:t>
                      </a:r>
                      <a:r>
                        <a:rPr sz="1550" b="1" dirty="0">
                          <a:latin typeface="Arial"/>
                          <a:cs typeface="Arial"/>
                        </a:rPr>
                        <a:t>posedge</a:t>
                      </a:r>
                      <a:r>
                        <a:rPr sz="1550" b="1" spc="65" dirty="0">
                          <a:latin typeface="Arial"/>
                          <a:cs typeface="Arial"/>
                        </a:rPr>
                        <a:t> </a:t>
                      </a:r>
                      <a:r>
                        <a:rPr sz="1550" spc="-10" dirty="0">
                          <a:latin typeface="Arial"/>
                          <a:cs typeface="Arial"/>
                        </a:rPr>
                        <a:t>reset)</a:t>
                      </a:r>
                      <a:endParaRPr sz="1550">
                        <a:latin typeface="Arial"/>
                        <a:cs typeface="Arial"/>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solidFill>
                      <a:srgbClr val="F9FABA"/>
                    </a:solidFill>
                  </a:tcPr>
                </a:tc>
                <a:tc>
                  <a:txBody>
                    <a:bodyPr/>
                    <a:lstStyle/>
                    <a:p>
                      <a:pPr marL="133350">
                        <a:lnSpc>
                          <a:spcPts val="1795"/>
                        </a:lnSpc>
                      </a:pPr>
                      <a:r>
                        <a:rPr sz="1550" dirty="0">
                          <a:latin typeface="Arial"/>
                          <a:cs typeface="Arial"/>
                        </a:rPr>
                        <a:t>dp</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dp_in[1];</a:t>
                      </a:r>
                      <a:endParaRPr sz="1550">
                        <a:latin typeface="Arial"/>
                        <a:cs typeface="Arial"/>
                      </a:endParaRPr>
                    </a:p>
                  </a:txBody>
                  <a:tcPr marL="0" marR="0" marT="0" marB="0">
                    <a:solidFill>
                      <a:srgbClr val="F9FABA"/>
                    </a:solidFill>
                  </a:tcPr>
                </a:tc>
                <a:extLst>
                  <a:ext uri="{0D108BD9-81ED-4DB2-BD59-A6C34878D82A}">
                    <a16:rowId xmlns:a16="http://schemas.microsoft.com/office/drawing/2014/main" val="10004"/>
                  </a:ext>
                </a:extLst>
              </a:tr>
              <a:tr h="240029">
                <a:tc>
                  <a:txBody>
                    <a:bodyPr/>
                    <a:lstStyle/>
                    <a:p>
                      <a:pPr marL="564515">
                        <a:lnSpc>
                          <a:spcPts val="1795"/>
                        </a:lnSpc>
                      </a:pPr>
                      <a:r>
                        <a:rPr sz="1550" b="1" dirty="0">
                          <a:latin typeface="Arial"/>
                          <a:cs typeface="Arial"/>
                        </a:rPr>
                        <a:t>if</a:t>
                      </a:r>
                      <a:r>
                        <a:rPr sz="1550" b="1" spc="15" dirty="0">
                          <a:latin typeface="Arial"/>
                          <a:cs typeface="Arial"/>
                        </a:rPr>
                        <a:t> </a:t>
                      </a:r>
                      <a:r>
                        <a:rPr sz="1550" spc="-10" dirty="0">
                          <a:latin typeface="Arial"/>
                          <a:cs typeface="Arial"/>
                        </a:rPr>
                        <a:t>(reset)</a:t>
                      </a:r>
                      <a:endParaRPr sz="1550">
                        <a:latin typeface="Arial"/>
                        <a:cs typeface="Arial"/>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solidFill>
                      <a:srgbClr val="F9FABA"/>
                    </a:solidFill>
                  </a:tcPr>
                </a:tc>
                <a:tc>
                  <a:txBody>
                    <a:bodyPr/>
                    <a:lstStyle/>
                    <a:p>
                      <a:pPr marL="100330">
                        <a:lnSpc>
                          <a:spcPts val="1795"/>
                        </a:lnSpc>
                      </a:pPr>
                      <a:r>
                        <a:rPr sz="1550" b="1" spc="-25" dirty="0">
                          <a:latin typeface="Arial"/>
                          <a:cs typeface="Arial"/>
                        </a:rPr>
                        <a:t>end</a:t>
                      </a:r>
                      <a:endParaRPr sz="1550">
                        <a:latin typeface="Arial"/>
                        <a:cs typeface="Arial"/>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solidFill>
                      <a:srgbClr val="F9FABA"/>
                    </a:solidFill>
                  </a:tcPr>
                </a:tc>
                <a:extLst>
                  <a:ext uri="{0D108BD9-81ED-4DB2-BD59-A6C34878D82A}">
                    <a16:rowId xmlns:a16="http://schemas.microsoft.com/office/drawing/2014/main" val="10005"/>
                  </a:ext>
                </a:extLst>
              </a:tr>
              <a:tr h="240665">
                <a:tc>
                  <a:txBody>
                    <a:bodyPr/>
                    <a:lstStyle/>
                    <a:p>
                      <a:pPr marL="898525">
                        <a:lnSpc>
                          <a:spcPts val="1795"/>
                        </a:lnSpc>
                      </a:pPr>
                      <a:r>
                        <a:rPr sz="1550" dirty="0">
                          <a:latin typeface="Arial"/>
                          <a:cs typeface="Arial"/>
                        </a:rPr>
                        <a:t>regN</a:t>
                      </a:r>
                      <a:r>
                        <a:rPr sz="1550" spc="40" dirty="0">
                          <a:latin typeface="Arial"/>
                          <a:cs typeface="Arial"/>
                        </a:rPr>
                        <a:t> </a:t>
                      </a:r>
                      <a:r>
                        <a:rPr sz="1550" dirty="0">
                          <a:latin typeface="Arial"/>
                          <a:cs typeface="Arial"/>
                        </a:rPr>
                        <a:t>&lt;=</a:t>
                      </a:r>
                      <a:r>
                        <a:rPr sz="1550" spc="30" dirty="0">
                          <a:latin typeface="Arial"/>
                          <a:cs typeface="Arial"/>
                        </a:rPr>
                        <a:t> </a:t>
                      </a:r>
                      <a:r>
                        <a:rPr sz="1550" spc="-25" dirty="0">
                          <a:latin typeface="Arial"/>
                          <a:cs typeface="Arial"/>
                        </a:rPr>
                        <a:t>0;</a:t>
                      </a:r>
                      <a:endParaRPr sz="1550">
                        <a:latin typeface="Arial"/>
                        <a:cs typeface="Arial"/>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tc>
                <a:tc>
                  <a:txBody>
                    <a:bodyPr/>
                    <a:lstStyle/>
                    <a:p>
                      <a:pPr marR="92710" algn="r">
                        <a:lnSpc>
                          <a:spcPts val="1795"/>
                        </a:lnSpc>
                      </a:pPr>
                      <a:r>
                        <a:rPr sz="1550" spc="-10" dirty="0">
                          <a:latin typeface="Arial"/>
                          <a:cs typeface="Arial"/>
                        </a:rPr>
                        <a:t>2’b10:</a:t>
                      </a:r>
                      <a:endParaRPr sz="1550">
                        <a:latin typeface="Arial"/>
                        <a:cs typeface="Arial"/>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solidFill>
                      <a:srgbClr val="F9FABA"/>
                    </a:solidFill>
                  </a:tcPr>
                </a:tc>
                <a:extLst>
                  <a:ext uri="{0D108BD9-81ED-4DB2-BD59-A6C34878D82A}">
                    <a16:rowId xmlns:a16="http://schemas.microsoft.com/office/drawing/2014/main" val="10006"/>
                  </a:ext>
                </a:extLst>
              </a:tr>
              <a:tr h="240029">
                <a:tc>
                  <a:txBody>
                    <a:bodyPr/>
                    <a:lstStyle/>
                    <a:p>
                      <a:pPr marL="564515">
                        <a:lnSpc>
                          <a:spcPts val="1795"/>
                        </a:lnSpc>
                      </a:pPr>
                      <a:r>
                        <a:rPr sz="1550" b="1" spc="-20" dirty="0">
                          <a:latin typeface="Arial"/>
                          <a:cs typeface="Arial"/>
                        </a:rPr>
                        <a:t>else</a:t>
                      </a:r>
                      <a:endParaRPr sz="1550">
                        <a:latin typeface="Arial"/>
                        <a:cs typeface="Arial"/>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solidFill>
                      <a:srgbClr val="F9FABA"/>
                    </a:solidFill>
                  </a:tcPr>
                </a:tc>
                <a:tc>
                  <a:txBody>
                    <a:bodyPr/>
                    <a:lstStyle/>
                    <a:p>
                      <a:pPr marL="100330">
                        <a:lnSpc>
                          <a:spcPts val="1795"/>
                        </a:lnSpc>
                      </a:pPr>
                      <a:r>
                        <a:rPr sz="1550" b="1" spc="-10" dirty="0">
                          <a:latin typeface="Arial"/>
                          <a:cs typeface="Arial"/>
                        </a:rPr>
                        <a:t>begin</a:t>
                      </a:r>
                      <a:endParaRPr sz="1550">
                        <a:latin typeface="Arial"/>
                        <a:cs typeface="Arial"/>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solidFill>
                      <a:srgbClr val="F9FABA"/>
                    </a:solidFill>
                  </a:tcPr>
                </a:tc>
                <a:extLst>
                  <a:ext uri="{0D108BD9-81ED-4DB2-BD59-A6C34878D82A}">
                    <a16:rowId xmlns:a16="http://schemas.microsoft.com/office/drawing/2014/main" val="10007"/>
                  </a:ext>
                </a:extLst>
              </a:tr>
              <a:tr h="240029">
                <a:tc>
                  <a:txBody>
                    <a:bodyPr/>
                    <a:lstStyle/>
                    <a:p>
                      <a:pPr marL="898525">
                        <a:lnSpc>
                          <a:spcPts val="1795"/>
                        </a:lnSpc>
                      </a:pPr>
                      <a:r>
                        <a:rPr sz="1550" dirty="0">
                          <a:latin typeface="Arial"/>
                          <a:cs typeface="Arial"/>
                        </a:rPr>
                        <a:t>regN</a:t>
                      </a:r>
                      <a:r>
                        <a:rPr sz="1550" spc="35" dirty="0">
                          <a:latin typeface="Arial"/>
                          <a:cs typeface="Arial"/>
                        </a:rPr>
                        <a:t> </a:t>
                      </a:r>
                      <a:r>
                        <a:rPr sz="1550" dirty="0">
                          <a:latin typeface="Arial"/>
                          <a:cs typeface="Arial"/>
                        </a:rPr>
                        <a:t>&lt;=</a:t>
                      </a:r>
                      <a:r>
                        <a:rPr sz="1550" spc="30" dirty="0">
                          <a:latin typeface="Arial"/>
                          <a:cs typeface="Arial"/>
                        </a:rPr>
                        <a:t> </a:t>
                      </a:r>
                      <a:r>
                        <a:rPr sz="1550" dirty="0">
                          <a:latin typeface="Arial"/>
                          <a:cs typeface="Arial"/>
                        </a:rPr>
                        <a:t>regN</a:t>
                      </a:r>
                      <a:r>
                        <a:rPr sz="1550" spc="35" dirty="0">
                          <a:latin typeface="Arial"/>
                          <a:cs typeface="Arial"/>
                        </a:rPr>
                        <a:t> </a:t>
                      </a:r>
                      <a:r>
                        <a:rPr sz="1550" dirty="0">
                          <a:latin typeface="Arial"/>
                          <a:cs typeface="Arial"/>
                        </a:rPr>
                        <a:t>+</a:t>
                      </a:r>
                      <a:r>
                        <a:rPr sz="1550" spc="30" dirty="0">
                          <a:latin typeface="Arial"/>
                          <a:cs typeface="Arial"/>
                        </a:rPr>
                        <a:t> </a:t>
                      </a:r>
                      <a:r>
                        <a:rPr sz="1550" spc="-25" dirty="0">
                          <a:latin typeface="Arial"/>
                          <a:cs typeface="Arial"/>
                        </a:rPr>
                        <a:t>1;</a:t>
                      </a:r>
                      <a:endParaRPr sz="1550">
                        <a:latin typeface="Arial"/>
                        <a:cs typeface="Arial"/>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solidFill>
                      <a:srgbClr val="F9FABA"/>
                    </a:solidFill>
                  </a:tcPr>
                </a:tc>
                <a:tc>
                  <a:txBody>
                    <a:bodyPr/>
                    <a:lstStyle/>
                    <a:p>
                      <a:pPr>
                        <a:lnSpc>
                          <a:spcPct val="100000"/>
                        </a:lnSpc>
                      </a:pPr>
                      <a:endParaRPr sz="1400">
                        <a:latin typeface="Times New Roman"/>
                        <a:cs typeface="Times New Roman"/>
                      </a:endParaRPr>
                    </a:p>
                  </a:txBody>
                  <a:tcPr marL="0" marR="0" marT="0" marB="0">
                    <a:solidFill>
                      <a:srgbClr val="F9FABA"/>
                    </a:solidFill>
                  </a:tcPr>
                </a:tc>
                <a:tc>
                  <a:txBody>
                    <a:bodyPr/>
                    <a:lstStyle/>
                    <a:p>
                      <a:pPr marL="133350">
                        <a:lnSpc>
                          <a:spcPts val="1795"/>
                        </a:lnSpc>
                      </a:pPr>
                      <a:r>
                        <a:rPr sz="1550" dirty="0">
                          <a:latin typeface="Arial"/>
                          <a:cs typeface="Arial"/>
                        </a:rPr>
                        <a:t>an</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4’b1011;</a:t>
                      </a:r>
                      <a:endParaRPr sz="1550">
                        <a:latin typeface="Arial"/>
                        <a:cs typeface="Arial"/>
                      </a:endParaRPr>
                    </a:p>
                  </a:txBody>
                  <a:tcPr marL="0" marR="0" marT="0" marB="0">
                    <a:solidFill>
                      <a:srgbClr val="F9FABA"/>
                    </a:solidFill>
                  </a:tcPr>
                </a:tc>
                <a:extLst>
                  <a:ext uri="{0D108BD9-81ED-4DB2-BD59-A6C34878D82A}">
                    <a16:rowId xmlns:a16="http://schemas.microsoft.com/office/drawing/2014/main" val="10008"/>
                  </a:ext>
                </a:extLst>
              </a:tr>
              <a:tr h="320675">
                <a:tc>
                  <a:txBody>
                    <a:bodyPr/>
                    <a:lstStyle/>
                    <a:p>
                      <a:pPr>
                        <a:lnSpc>
                          <a:spcPct val="100000"/>
                        </a:lnSpc>
                      </a:pPr>
                      <a:endParaRPr sz="1500">
                        <a:latin typeface="Times New Roman"/>
                        <a:cs typeface="Times New Roman"/>
                      </a:endParaRPr>
                    </a:p>
                  </a:txBody>
                  <a:tcPr marL="0" marR="0" marT="0" marB="0">
                    <a:solidFill>
                      <a:srgbClr val="F9FABA"/>
                    </a:solidFill>
                  </a:tcPr>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solidFill>
                      <a:srgbClr val="F9FABA"/>
                    </a:solidFill>
                  </a:tcPr>
                </a:tc>
                <a:tc>
                  <a:txBody>
                    <a:bodyPr/>
                    <a:lstStyle/>
                    <a:p>
                      <a:pPr>
                        <a:lnSpc>
                          <a:spcPct val="100000"/>
                        </a:lnSpc>
                      </a:pPr>
                      <a:endParaRPr sz="1500">
                        <a:latin typeface="Times New Roman"/>
                        <a:cs typeface="Times New Roman"/>
                      </a:endParaRPr>
                    </a:p>
                  </a:txBody>
                  <a:tcPr marL="0" marR="0" marT="0" marB="0">
                    <a:solidFill>
                      <a:srgbClr val="F9FABA"/>
                    </a:solidFill>
                  </a:tcPr>
                </a:tc>
                <a:tc>
                  <a:txBody>
                    <a:bodyPr/>
                    <a:lstStyle/>
                    <a:p>
                      <a:pPr marL="133350">
                        <a:lnSpc>
                          <a:spcPts val="1805"/>
                        </a:lnSpc>
                      </a:pPr>
                      <a:r>
                        <a:rPr sz="1550" dirty="0">
                          <a:latin typeface="Arial"/>
                          <a:cs typeface="Arial"/>
                        </a:rPr>
                        <a:t>hex_in</a:t>
                      </a:r>
                      <a:r>
                        <a:rPr sz="1550" spc="20" dirty="0">
                          <a:latin typeface="Arial"/>
                          <a:cs typeface="Arial"/>
                        </a:rPr>
                        <a:t> </a:t>
                      </a:r>
                      <a:r>
                        <a:rPr sz="1550" dirty="0">
                          <a:latin typeface="Arial"/>
                          <a:cs typeface="Arial"/>
                        </a:rPr>
                        <a:t>=</a:t>
                      </a:r>
                      <a:r>
                        <a:rPr sz="1550" spc="30" dirty="0">
                          <a:latin typeface="Arial"/>
                          <a:cs typeface="Arial"/>
                        </a:rPr>
                        <a:t> </a:t>
                      </a:r>
                      <a:r>
                        <a:rPr sz="1550" spc="-10" dirty="0">
                          <a:latin typeface="Arial"/>
                          <a:cs typeface="Arial"/>
                        </a:rPr>
                        <a:t>hex2;</a:t>
                      </a:r>
                      <a:endParaRPr sz="1550" dirty="0">
                        <a:latin typeface="Arial"/>
                        <a:cs typeface="Arial"/>
                      </a:endParaRPr>
                    </a:p>
                  </a:txBody>
                  <a:tcPr marL="0" marR="0" marT="0" marB="0">
                    <a:solidFill>
                      <a:srgbClr val="F9FABA"/>
                    </a:solidFill>
                  </a:tcPr>
                </a:tc>
                <a:extLst>
                  <a:ext uri="{0D108BD9-81ED-4DB2-BD59-A6C34878D82A}">
                    <a16:rowId xmlns:a16="http://schemas.microsoft.com/office/drawing/2014/main" val="10009"/>
                  </a:ext>
                </a:extLst>
              </a:tr>
            </a:tbl>
          </a:graphicData>
        </a:graphic>
      </p:graphicFrame>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4" name="object 4"/>
          <p:cNvSpPr txBox="1"/>
          <p:nvPr/>
        </p:nvSpPr>
        <p:spPr>
          <a:xfrm>
            <a:off x="1009809" y="933630"/>
            <a:ext cx="4502150" cy="266065"/>
          </a:xfrm>
          <a:prstGeom prst="rect">
            <a:avLst/>
          </a:prstGeom>
        </p:spPr>
        <p:txBody>
          <a:bodyPr vert="horz" wrap="square" lIns="0" tIns="15875" rIns="0" bIns="0" rtlCol="0">
            <a:spAutoFit/>
          </a:bodyPr>
          <a:lstStyle/>
          <a:p>
            <a:pPr marL="12700">
              <a:lnSpc>
                <a:spcPct val="100000"/>
              </a:lnSpc>
              <a:spcBef>
                <a:spcPts val="125"/>
              </a:spcBef>
            </a:pPr>
            <a:r>
              <a:rPr sz="1550" spc="35" dirty="0">
                <a:latin typeface="微软雅黑"/>
                <a:cs typeface="微软雅黑"/>
              </a:rPr>
              <a:t>例 </a:t>
            </a:r>
            <a:r>
              <a:rPr sz="1550" dirty="0">
                <a:latin typeface="Arial"/>
                <a:cs typeface="Arial"/>
              </a:rPr>
              <a:t>4.17</a:t>
            </a:r>
            <a:r>
              <a:rPr sz="1550" spc="105" dirty="0">
                <a:latin typeface="Arial"/>
                <a:cs typeface="Arial"/>
              </a:rPr>
              <a:t>  </a:t>
            </a:r>
            <a:r>
              <a:rPr sz="1550" dirty="0">
                <a:latin typeface="Arial"/>
                <a:cs typeface="Arial"/>
              </a:rPr>
              <a:t>4</a:t>
            </a:r>
            <a:r>
              <a:rPr sz="1550" dirty="0">
                <a:latin typeface="微软雅黑"/>
                <a:cs typeface="微软雅黑"/>
              </a:rPr>
              <a:t>位</a:t>
            </a:r>
            <a:r>
              <a:rPr sz="1550" dirty="0">
                <a:latin typeface="Arial"/>
                <a:cs typeface="Arial"/>
              </a:rPr>
              <a:t>16</a:t>
            </a:r>
            <a:r>
              <a:rPr sz="1550" dirty="0">
                <a:latin typeface="微软雅黑"/>
                <a:cs typeface="微软雅黑"/>
              </a:rPr>
              <a:t>进制数的数码管动态显示电路描述</a:t>
            </a:r>
            <a:r>
              <a:rPr sz="1550" dirty="0">
                <a:latin typeface="Arial"/>
                <a:cs typeface="Arial"/>
              </a:rPr>
              <a:t>-</a:t>
            </a:r>
            <a:r>
              <a:rPr sz="1550" spc="-50" dirty="0">
                <a:latin typeface="Arial"/>
                <a:cs typeface="Arial"/>
              </a:rPr>
              <a:t>1</a:t>
            </a:r>
            <a:endParaRPr sz="1550">
              <a:latin typeface="Arial"/>
              <a:cs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2587" y="1618488"/>
            <a:ext cx="4581525" cy="3427733"/>
          </a:xfrm>
          <a:prstGeom prst="rect">
            <a:avLst/>
          </a:prstGeom>
          <a:solidFill>
            <a:srgbClr val="F9FABA"/>
          </a:solidFill>
        </p:spPr>
        <p:txBody>
          <a:bodyPr vert="horz" wrap="square" lIns="0" tIns="37465" rIns="0" bIns="0" rtlCol="0">
            <a:spAutoFit/>
          </a:bodyPr>
          <a:lstStyle/>
          <a:p>
            <a:pPr marL="2483485">
              <a:lnSpc>
                <a:spcPct val="100000"/>
              </a:lnSpc>
              <a:spcBef>
                <a:spcPts val="295"/>
              </a:spcBef>
            </a:pPr>
            <a:r>
              <a:rPr sz="1550" dirty="0">
                <a:latin typeface="Arial"/>
                <a:cs typeface="Arial"/>
              </a:rPr>
              <a:t>dp</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dp_in[2];</a:t>
            </a:r>
            <a:endParaRPr sz="1550" dirty="0">
              <a:latin typeface="Arial"/>
              <a:cs typeface="Arial"/>
            </a:endParaRPr>
          </a:p>
          <a:p>
            <a:pPr marL="1682114">
              <a:lnSpc>
                <a:spcPct val="100000"/>
              </a:lnSpc>
              <a:spcBef>
                <a:spcPts val="30"/>
              </a:spcBef>
            </a:pPr>
            <a:r>
              <a:rPr sz="1550" spc="-25" dirty="0">
                <a:latin typeface="Arial"/>
                <a:cs typeface="Arial"/>
              </a:rPr>
              <a:t>end</a:t>
            </a:r>
            <a:endParaRPr sz="1550" dirty="0">
              <a:latin typeface="Arial"/>
              <a:cs typeface="Arial"/>
            </a:endParaRPr>
          </a:p>
          <a:p>
            <a:pPr>
              <a:lnSpc>
                <a:spcPct val="100000"/>
              </a:lnSpc>
              <a:spcBef>
                <a:spcPts val="145"/>
              </a:spcBef>
            </a:pPr>
            <a:endParaRPr sz="1550" dirty="0">
              <a:latin typeface="Arial"/>
              <a:cs typeface="Arial"/>
            </a:endParaRPr>
          </a:p>
          <a:p>
            <a:pPr marL="1682114">
              <a:lnSpc>
                <a:spcPct val="100000"/>
              </a:lnSpc>
            </a:pPr>
            <a:r>
              <a:rPr sz="1550" spc="-10" dirty="0">
                <a:latin typeface="Arial"/>
                <a:cs typeface="Arial"/>
              </a:rPr>
              <a:t>default:</a:t>
            </a:r>
            <a:endParaRPr sz="1550" dirty="0">
              <a:latin typeface="Arial"/>
              <a:cs typeface="Arial"/>
            </a:endParaRPr>
          </a:p>
          <a:p>
            <a:pPr marL="1682114">
              <a:lnSpc>
                <a:spcPct val="100000"/>
              </a:lnSpc>
              <a:spcBef>
                <a:spcPts val="35"/>
              </a:spcBef>
            </a:pPr>
            <a:r>
              <a:rPr sz="1550" spc="-10" dirty="0">
                <a:latin typeface="Arial"/>
                <a:cs typeface="Arial"/>
              </a:rPr>
              <a:t>begin</a:t>
            </a:r>
            <a:endParaRPr sz="1550" dirty="0">
              <a:latin typeface="Arial"/>
              <a:cs typeface="Arial"/>
            </a:endParaRPr>
          </a:p>
          <a:p>
            <a:pPr marL="2483485">
              <a:lnSpc>
                <a:spcPct val="100000"/>
              </a:lnSpc>
              <a:spcBef>
                <a:spcPts val="35"/>
              </a:spcBef>
            </a:pPr>
            <a:r>
              <a:rPr sz="1550" dirty="0">
                <a:latin typeface="Arial"/>
                <a:cs typeface="Arial"/>
              </a:rPr>
              <a:t>an</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4’b0111;</a:t>
            </a:r>
            <a:endParaRPr sz="1550" dirty="0">
              <a:latin typeface="Arial"/>
              <a:cs typeface="Arial"/>
            </a:endParaRPr>
          </a:p>
          <a:p>
            <a:pPr marL="2483485" marR="781050">
              <a:lnSpc>
                <a:spcPts val="1900"/>
              </a:lnSpc>
              <a:spcBef>
                <a:spcPts val="60"/>
              </a:spcBef>
            </a:pPr>
            <a:r>
              <a:rPr sz="1550" dirty="0">
                <a:latin typeface="Arial"/>
                <a:cs typeface="Arial"/>
              </a:rPr>
              <a:t>hex_in</a:t>
            </a:r>
            <a:r>
              <a:rPr sz="1550" spc="20" dirty="0">
                <a:latin typeface="Arial"/>
                <a:cs typeface="Arial"/>
              </a:rPr>
              <a:t> </a:t>
            </a:r>
            <a:r>
              <a:rPr sz="1550" dirty="0">
                <a:latin typeface="Arial"/>
                <a:cs typeface="Arial"/>
              </a:rPr>
              <a:t>=</a:t>
            </a:r>
            <a:r>
              <a:rPr sz="1550" spc="30" dirty="0">
                <a:latin typeface="Arial"/>
                <a:cs typeface="Arial"/>
              </a:rPr>
              <a:t> </a:t>
            </a:r>
            <a:r>
              <a:rPr sz="1550" spc="-10" dirty="0">
                <a:latin typeface="Arial"/>
                <a:cs typeface="Arial"/>
              </a:rPr>
              <a:t>hex3; </a:t>
            </a:r>
            <a:r>
              <a:rPr sz="1550" dirty="0">
                <a:latin typeface="Arial"/>
                <a:cs typeface="Arial"/>
              </a:rPr>
              <a:t>dp</a:t>
            </a:r>
            <a:r>
              <a:rPr sz="1550" spc="20" dirty="0">
                <a:latin typeface="Arial"/>
                <a:cs typeface="Arial"/>
              </a:rPr>
              <a:t> </a:t>
            </a:r>
            <a:r>
              <a:rPr sz="1550" dirty="0">
                <a:latin typeface="Arial"/>
                <a:cs typeface="Arial"/>
              </a:rPr>
              <a:t>=</a:t>
            </a:r>
            <a:r>
              <a:rPr sz="1550" spc="20" dirty="0">
                <a:latin typeface="Arial"/>
                <a:cs typeface="Arial"/>
              </a:rPr>
              <a:t> </a:t>
            </a:r>
            <a:r>
              <a:rPr sz="1550" spc="-10" dirty="0">
                <a:latin typeface="Arial"/>
                <a:cs typeface="Arial"/>
              </a:rPr>
              <a:t>dp_in[3];</a:t>
            </a:r>
            <a:endParaRPr sz="1550" dirty="0">
              <a:latin typeface="Arial"/>
              <a:cs typeface="Arial"/>
            </a:endParaRPr>
          </a:p>
          <a:p>
            <a:pPr marL="1682114">
              <a:lnSpc>
                <a:spcPts val="1814"/>
              </a:lnSpc>
            </a:pPr>
            <a:r>
              <a:rPr sz="1550" spc="-25" dirty="0">
                <a:latin typeface="Arial"/>
                <a:cs typeface="Arial"/>
              </a:rPr>
              <a:t>end</a:t>
            </a:r>
            <a:endParaRPr sz="1550" dirty="0">
              <a:latin typeface="Arial"/>
              <a:cs typeface="Arial"/>
            </a:endParaRPr>
          </a:p>
          <a:p>
            <a:pPr marL="858519">
              <a:lnSpc>
                <a:spcPct val="100000"/>
              </a:lnSpc>
              <a:spcBef>
                <a:spcPts val="40"/>
              </a:spcBef>
            </a:pPr>
            <a:r>
              <a:rPr sz="1550" spc="-10" dirty="0">
                <a:latin typeface="Arial"/>
                <a:cs typeface="Arial"/>
              </a:rPr>
              <a:t>endcase</a:t>
            </a:r>
            <a:endParaRPr sz="1550" dirty="0">
              <a:latin typeface="Arial"/>
              <a:cs typeface="Arial"/>
            </a:endParaRPr>
          </a:p>
          <a:p>
            <a:pPr>
              <a:lnSpc>
                <a:spcPct val="100000"/>
              </a:lnSpc>
              <a:spcBef>
                <a:spcPts val="105"/>
              </a:spcBef>
            </a:pPr>
            <a:endParaRPr sz="1550" dirty="0">
              <a:latin typeface="Arial"/>
              <a:cs typeface="Arial"/>
            </a:endParaRPr>
          </a:p>
          <a:p>
            <a:pPr marL="467995" marR="3154680">
              <a:lnSpc>
                <a:spcPct val="101800"/>
              </a:lnSpc>
              <a:spcBef>
                <a:spcPts val="5"/>
              </a:spcBef>
            </a:pPr>
            <a:r>
              <a:rPr sz="1550" dirty="0">
                <a:latin typeface="Arial"/>
                <a:cs typeface="Arial"/>
              </a:rPr>
              <a:t>always</a:t>
            </a:r>
            <a:r>
              <a:rPr sz="1550" spc="50" dirty="0">
                <a:latin typeface="Arial"/>
                <a:cs typeface="Arial"/>
              </a:rPr>
              <a:t> </a:t>
            </a:r>
            <a:r>
              <a:rPr sz="1550" spc="-35" dirty="0">
                <a:latin typeface="Arial"/>
                <a:cs typeface="Arial"/>
              </a:rPr>
              <a:t>@* </a:t>
            </a:r>
            <a:r>
              <a:rPr sz="1550" spc="-10" dirty="0">
                <a:latin typeface="Arial"/>
                <a:cs typeface="Arial"/>
              </a:rPr>
              <a:t>begin</a:t>
            </a:r>
            <a:endParaRPr sz="1550" dirty="0">
              <a:latin typeface="Arial"/>
              <a:cs typeface="Arial"/>
            </a:endParaRPr>
          </a:p>
          <a:p>
            <a:pPr marL="880744">
              <a:lnSpc>
                <a:spcPct val="100000"/>
              </a:lnSpc>
              <a:spcBef>
                <a:spcPts val="35"/>
              </a:spcBef>
            </a:pPr>
            <a:r>
              <a:rPr sz="1550" dirty="0">
                <a:latin typeface="Arial"/>
                <a:cs typeface="Arial"/>
              </a:rPr>
              <a:t>case</a:t>
            </a:r>
            <a:r>
              <a:rPr sz="1550" spc="15" dirty="0">
                <a:latin typeface="Arial"/>
                <a:cs typeface="Arial"/>
              </a:rPr>
              <a:t> </a:t>
            </a:r>
            <a:r>
              <a:rPr sz="1550" spc="-10" dirty="0">
                <a:latin typeface="Arial"/>
                <a:cs typeface="Arial"/>
              </a:rPr>
              <a:t>(hex_in)</a:t>
            </a:r>
            <a:endParaRPr sz="1550" dirty="0">
              <a:latin typeface="Arial"/>
              <a:cs typeface="Arial"/>
            </a:endParaRPr>
          </a:p>
        </p:txBody>
      </p:sp>
      <p:sp>
        <p:nvSpPr>
          <p:cNvPr id="5" name="object 5"/>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5347601" y="1241297"/>
            <a:ext cx="4582160" cy="5182870"/>
          </a:xfrm>
          <a:prstGeom prst="rect">
            <a:avLst/>
          </a:prstGeom>
          <a:solidFill>
            <a:srgbClr val="F9FABA"/>
          </a:solidFill>
        </p:spPr>
        <p:txBody>
          <a:bodyPr vert="horz" wrap="square" lIns="0" tIns="37465" rIns="0" bIns="0" rtlCol="0">
            <a:spAutoFit/>
          </a:bodyPr>
          <a:lstStyle/>
          <a:p>
            <a:pPr marL="1682750">
              <a:lnSpc>
                <a:spcPct val="100000"/>
              </a:lnSpc>
              <a:spcBef>
                <a:spcPts val="295"/>
              </a:spcBef>
            </a:pPr>
            <a:r>
              <a:rPr sz="1550" dirty="0">
                <a:latin typeface="Arial"/>
                <a:cs typeface="Arial"/>
              </a:rPr>
              <a:t>4’h0:</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7’b0000001;</a:t>
            </a:r>
            <a:endParaRPr sz="1550">
              <a:latin typeface="Arial"/>
              <a:cs typeface="Arial"/>
            </a:endParaRPr>
          </a:p>
          <a:p>
            <a:pPr marL="1682750">
              <a:lnSpc>
                <a:spcPct val="100000"/>
              </a:lnSpc>
              <a:spcBef>
                <a:spcPts val="30"/>
              </a:spcBef>
            </a:pPr>
            <a:r>
              <a:rPr sz="1550" dirty="0">
                <a:latin typeface="Arial"/>
                <a:cs typeface="Arial"/>
              </a:rPr>
              <a:t>4’h1:</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7’b1001111;</a:t>
            </a:r>
            <a:endParaRPr sz="1550">
              <a:latin typeface="Arial"/>
              <a:cs typeface="Arial"/>
            </a:endParaRPr>
          </a:p>
          <a:p>
            <a:pPr marL="1682750">
              <a:lnSpc>
                <a:spcPct val="100000"/>
              </a:lnSpc>
              <a:spcBef>
                <a:spcPts val="35"/>
              </a:spcBef>
            </a:pPr>
            <a:r>
              <a:rPr sz="1550" dirty="0">
                <a:latin typeface="Arial"/>
                <a:cs typeface="Arial"/>
              </a:rPr>
              <a:t>4’h2:</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7’b0010010;</a:t>
            </a:r>
            <a:endParaRPr sz="1550">
              <a:latin typeface="Arial"/>
              <a:cs typeface="Arial"/>
            </a:endParaRPr>
          </a:p>
          <a:p>
            <a:pPr marL="1682750">
              <a:lnSpc>
                <a:spcPct val="100000"/>
              </a:lnSpc>
              <a:spcBef>
                <a:spcPts val="30"/>
              </a:spcBef>
            </a:pPr>
            <a:r>
              <a:rPr sz="1550" dirty="0">
                <a:latin typeface="Arial"/>
                <a:cs typeface="Arial"/>
              </a:rPr>
              <a:t>4’h3:</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7’b0000110;</a:t>
            </a:r>
            <a:endParaRPr sz="1550">
              <a:latin typeface="Arial"/>
              <a:cs typeface="Arial"/>
            </a:endParaRPr>
          </a:p>
          <a:p>
            <a:pPr marL="1682750">
              <a:lnSpc>
                <a:spcPct val="100000"/>
              </a:lnSpc>
              <a:spcBef>
                <a:spcPts val="40"/>
              </a:spcBef>
            </a:pPr>
            <a:r>
              <a:rPr sz="1550" dirty="0">
                <a:latin typeface="Arial"/>
                <a:cs typeface="Arial"/>
              </a:rPr>
              <a:t>4’h4:</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7’b1001100;</a:t>
            </a:r>
            <a:endParaRPr sz="1550">
              <a:latin typeface="Arial"/>
              <a:cs typeface="Arial"/>
            </a:endParaRPr>
          </a:p>
          <a:p>
            <a:pPr marL="1682750">
              <a:lnSpc>
                <a:spcPct val="100000"/>
              </a:lnSpc>
              <a:spcBef>
                <a:spcPts val="35"/>
              </a:spcBef>
            </a:pPr>
            <a:r>
              <a:rPr sz="1550" dirty="0">
                <a:latin typeface="Arial"/>
                <a:cs typeface="Arial"/>
              </a:rPr>
              <a:t>4’h5:</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7’b0100100;</a:t>
            </a:r>
            <a:endParaRPr sz="1550">
              <a:latin typeface="Arial"/>
              <a:cs typeface="Arial"/>
            </a:endParaRPr>
          </a:p>
          <a:p>
            <a:pPr marL="1682750">
              <a:lnSpc>
                <a:spcPct val="100000"/>
              </a:lnSpc>
              <a:spcBef>
                <a:spcPts val="30"/>
              </a:spcBef>
            </a:pPr>
            <a:r>
              <a:rPr sz="1550" dirty="0">
                <a:latin typeface="Arial"/>
                <a:cs typeface="Arial"/>
              </a:rPr>
              <a:t>4’h6:</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7’b0100000;</a:t>
            </a:r>
            <a:endParaRPr sz="1550">
              <a:latin typeface="Arial"/>
              <a:cs typeface="Arial"/>
            </a:endParaRPr>
          </a:p>
          <a:p>
            <a:pPr marL="1682750">
              <a:lnSpc>
                <a:spcPct val="100000"/>
              </a:lnSpc>
              <a:spcBef>
                <a:spcPts val="35"/>
              </a:spcBef>
            </a:pPr>
            <a:r>
              <a:rPr sz="1550" dirty="0">
                <a:latin typeface="Arial"/>
                <a:cs typeface="Arial"/>
              </a:rPr>
              <a:t>4’h7:</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7’b0001111;</a:t>
            </a:r>
            <a:endParaRPr sz="1550">
              <a:latin typeface="Arial"/>
              <a:cs typeface="Arial"/>
            </a:endParaRPr>
          </a:p>
          <a:p>
            <a:pPr marL="1682750">
              <a:lnSpc>
                <a:spcPct val="100000"/>
              </a:lnSpc>
              <a:spcBef>
                <a:spcPts val="30"/>
              </a:spcBef>
            </a:pPr>
            <a:r>
              <a:rPr sz="1550" dirty="0">
                <a:latin typeface="Arial"/>
                <a:cs typeface="Arial"/>
              </a:rPr>
              <a:t>4’h8:</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7’b0000000;</a:t>
            </a:r>
            <a:endParaRPr sz="1550">
              <a:latin typeface="Arial"/>
              <a:cs typeface="Arial"/>
            </a:endParaRPr>
          </a:p>
          <a:p>
            <a:pPr marL="1682750">
              <a:lnSpc>
                <a:spcPct val="100000"/>
              </a:lnSpc>
              <a:spcBef>
                <a:spcPts val="35"/>
              </a:spcBef>
            </a:pPr>
            <a:r>
              <a:rPr sz="1550" dirty="0">
                <a:latin typeface="Arial"/>
                <a:cs typeface="Arial"/>
              </a:rPr>
              <a:t>4’h9:</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7’b0000100;</a:t>
            </a:r>
            <a:endParaRPr sz="1550">
              <a:latin typeface="Arial"/>
              <a:cs typeface="Arial"/>
            </a:endParaRPr>
          </a:p>
          <a:p>
            <a:pPr marL="1682750">
              <a:lnSpc>
                <a:spcPct val="100000"/>
              </a:lnSpc>
              <a:spcBef>
                <a:spcPts val="35"/>
              </a:spcBef>
            </a:pPr>
            <a:r>
              <a:rPr sz="1550" dirty="0">
                <a:latin typeface="Arial"/>
                <a:cs typeface="Arial"/>
              </a:rPr>
              <a:t>4’ha:</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7’b0001000;</a:t>
            </a:r>
            <a:endParaRPr sz="1550">
              <a:latin typeface="Arial"/>
              <a:cs typeface="Arial"/>
            </a:endParaRPr>
          </a:p>
          <a:p>
            <a:pPr marL="1682750">
              <a:lnSpc>
                <a:spcPct val="100000"/>
              </a:lnSpc>
              <a:spcBef>
                <a:spcPts val="30"/>
              </a:spcBef>
            </a:pPr>
            <a:r>
              <a:rPr sz="1550" dirty="0">
                <a:latin typeface="Arial"/>
                <a:cs typeface="Arial"/>
              </a:rPr>
              <a:t>4’hb:</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7’b1100000;</a:t>
            </a:r>
            <a:endParaRPr sz="1550">
              <a:latin typeface="Arial"/>
              <a:cs typeface="Arial"/>
            </a:endParaRPr>
          </a:p>
          <a:p>
            <a:pPr marL="1682750">
              <a:lnSpc>
                <a:spcPct val="100000"/>
              </a:lnSpc>
              <a:spcBef>
                <a:spcPts val="40"/>
              </a:spcBef>
            </a:pPr>
            <a:r>
              <a:rPr sz="1550" dirty="0">
                <a:latin typeface="Arial"/>
                <a:cs typeface="Arial"/>
              </a:rPr>
              <a:t>4’hc:</a:t>
            </a:r>
            <a:r>
              <a:rPr sz="1550" spc="40" dirty="0">
                <a:latin typeface="Arial"/>
                <a:cs typeface="Arial"/>
              </a:rPr>
              <a:t> </a:t>
            </a:r>
            <a:r>
              <a:rPr sz="1550" dirty="0">
                <a:latin typeface="Arial"/>
                <a:cs typeface="Arial"/>
              </a:rPr>
              <a:t>sseg[6:0]</a:t>
            </a:r>
            <a:r>
              <a:rPr sz="1550" spc="45" dirty="0">
                <a:latin typeface="Arial"/>
                <a:cs typeface="Arial"/>
              </a:rPr>
              <a:t> </a:t>
            </a:r>
            <a:r>
              <a:rPr sz="1550" dirty="0">
                <a:latin typeface="Arial"/>
                <a:cs typeface="Arial"/>
              </a:rPr>
              <a:t>=</a:t>
            </a:r>
            <a:r>
              <a:rPr sz="1550" spc="45" dirty="0">
                <a:latin typeface="Arial"/>
                <a:cs typeface="Arial"/>
              </a:rPr>
              <a:t> </a:t>
            </a:r>
            <a:r>
              <a:rPr sz="1550" spc="-10" dirty="0">
                <a:latin typeface="Arial"/>
                <a:cs typeface="Arial"/>
              </a:rPr>
              <a:t>7’b0110001;</a:t>
            </a:r>
            <a:endParaRPr sz="1550">
              <a:latin typeface="Arial"/>
              <a:cs typeface="Arial"/>
            </a:endParaRPr>
          </a:p>
          <a:p>
            <a:pPr marL="1682750">
              <a:lnSpc>
                <a:spcPct val="100000"/>
              </a:lnSpc>
              <a:spcBef>
                <a:spcPts val="30"/>
              </a:spcBef>
            </a:pPr>
            <a:r>
              <a:rPr sz="1550" dirty="0">
                <a:latin typeface="Arial"/>
                <a:cs typeface="Arial"/>
              </a:rPr>
              <a:t>4’hd:</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7’b1000010;</a:t>
            </a:r>
            <a:endParaRPr sz="1550">
              <a:latin typeface="Arial"/>
              <a:cs typeface="Arial"/>
            </a:endParaRPr>
          </a:p>
          <a:p>
            <a:pPr marL="1682750">
              <a:lnSpc>
                <a:spcPct val="100000"/>
              </a:lnSpc>
              <a:spcBef>
                <a:spcPts val="35"/>
              </a:spcBef>
            </a:pPr>
            <a:r>
              <a:rPr sz="1550" dirty="0">
                <a:latin typeface="Arial"/>
                <a:cs typeface="Arial"/>
              </a:rPr>
              <a:t>4’he:</a:t>
            </a:r>
            <a:r>
              <a:rPr sz="1550" spc="45" dirty="0">
                <a:latin typeface="Arial"/>
                <a:cs typeface="Arial"/>
              </a:rPr>
              <a:t> </a:t>
            </a:r>
            <a:r>
              <a:rPr sz="1550" dirty="0">
                <a:latin typeface="Arial"/>
                <a:cs typeface="Arial"/>
              </a:rPr>
              <a:t>sseg[6:0]</a:t>
            </a:r>
            <a:r>
              <a:rPr sz="1550" spc="50" dirty="0">
                <a:latin typeface="Arial"/>
                <a:cs typeface="Arial"/>
              </a:rPr>
              <a:t> </a:t>
            </a:r>
            <a:r>
              <a:rPr sz="1550" dirty="0">
                <a:latin typeface="Arial"/>
                <a:cs typeface="Arial"/>
              </a:rPr>
              <a:t>=</a:t>
            </a:r>
            <a:r>
              <a:rPr sz="1550" spc="40" dirty="0">
                <a:latin typeface="Arial"/>
                <a:cs typeface="Arial"/>
              </a:rPr>
              <a:t> </a:t>
            </a:r>
            <a:r>
              <a:rPr sz="1550" spc="-10" dirty="0">
                <a:latin typeface="Arial"/>
                <a:cs typeface="Arial"/>
              </a:rPr>
              <a:t>7’b0110000;</a:t>
            </a:r>
            <a:endParaRPr sz="1550">
              <a:latin typeface="Arial"/>
              <a:cs typeface="Arial"/>
            </a:endParaRPr>
          </a:p>
          <a:p>
            <a:pPr marL="1682750">
              <a:lnSpc>
                <a:spcPct val="100000"/>
              </a:lnSpc>
              <a:spcBef>
                <a:spcPts val="35"/>
              </a:spcBef>
            </a:pPr>
            <a:r>
              <a:rPr sz="1550" spc="-10" dirty="0">
                <a:latin typeface="Arial"/>
                <a:cs typeface="Arial"/>
              </a:rPr>
              <a:t>default:</a:t>
            </a:r>
            <a:endParaRPr sz="1550">
              <a:latin typeface="Arial"/>
              <a:cs typeface="Arial"/>
            </a:endParaRPr>
          </a:p>
          <a:p>
            <a:pPr marL="1805939">
              <a:lnSpc>
                <a:spcPct val="100000"/>
              </a:lnSpc>
              <a:spcBef>
                <a:spcPts val="30"/>
              </a:spcBef>
            </a:pPr>
            <a:r>
              <a:rPr sz="1550" dirty="0">
                <a:latin typeface="Arial"/>
                <a:cs typeface="Arial"/>
              </a:rPr>
              <a:t>sseg[6:0]</a:t>
            </a:r>
            <a:r>
              <a:rPr sz="1550" spc="-25"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7’b0111000;</a:t>
            </a:r>
            <a:r>
              <a:rPr sz="1550" spc="395" dirty="0">
                <a:latin typeface="Arial"/>
                <a:cs typeface="Arial"/>
              </a:rPr>
              <a:t> </a:t>
            </a:r>
            <a:r>
              <a:rPr sz="1550" spc="-10" dirty="0">
                <a:latin typeface="Arial"/>
                <a:cs typeface="Arial"/>
              </a:rPr>
              <a:t>//4’hf</a:t>
            </a:r>
            <a:endParaRPr sz="1550">
              <a:latin typeface="Arial"/>
              <a:cs typeface="Arial"/>
            </a:endParaRPr>
          </a:p>
          <a:p>
            <a:pPr marL="881380" marR="2540000">
              <a:lnSpc>
                <a:spcPct val="101600"/>
              </a:lnSpc>
              <a:spcBef>
                <a:spcPts val="5"/>
              </a:spcBef>
            </a:pPr>
            <a:r>
              <a:rPr sz="1550" spc="-10" dirty="0">
                <a:latin typeface="Arial"/>
                <a:cs typeface="Arial"/>
              </a:rPr>
              <a:t>endcase </a:t>
            </a:r>
            <a:r>
              <a:rPr sz="1550" dirty="0">
                <a:latin typeface="Arial"/>
                <a:cs typeface="Arial"/>
              </a:rPr>
              <a:t>sseg[7]</a:t>
            </a:r>
            <a:r>
              <a:rPr sz="1550" spc="55" dirty="0">
                <a:latin typeface="Arial"/>
                <a:cs typeface="Arial"/>
              </a:rPr>
              <a:t> </a:t>
            </a:r>
            <a:r>
              <a:rPr sz="1550" dirty="0">
                <a:latin typeface="Arial"/>
                <a:cs typeface="Arial"/>
              </a:rPr>
              <a:t>=</a:t>
            </a:r>
            <a:r>
              <a:rPr sz="1550" spc="60" dirty="0">
                <a:latin typeface="Arial"/>
                <a:cs typeface="Arial"/>
              </a:rPr>
              <a:t> </a:t>
            </a:r>
            <a:r>
              <a:rPr sz="1550" spc="-25" dirty="0">
                <a:latin typeface="Arial"/>
                <a:cs typeface="Arial"/>
              </a:rPr>
              <a:t>dp;</a:t>
            </a:r>
            <a:endParaRPr sz="1550">
              <a:latin typeface="Arial"/>
              <a:cs typeface="Arial"/>
            </a:endParaRPr>
          </a:p>
          <a:p>
            <a:pPr marL="191135" marR="3393440" indent="333375">
              <a:lnSpc>
                <a:spcPct val="101899"/>
              </a:lnSpc>
            </a:pPr>
            <a:r>
              <a:rPr sz="1550" spc="-25" dirty="0">
                <a:latin typeface="Arial"/>
                <a:cs typeface="Arial"/>
              </a:rPr>
              <a:t>end </a:t>
            </a:r>
            <a:r>
              <a:rPr sz="1550" spc="-10" dirty="0">
                <a:latin typeface="Arial"/>
                <a:cs typeface="Arial"/>
              </a:rPr>
              <a:t>endmodule</a:t>
            </a:r>
            <a:endParaRPr sz="1550">
              <a:latin typeface="Arial"/>
              <a:cs typeface="Arial"/>
            </a:endParaRPr>
          </a:p>
        </p:txBody>
      </p:sp>
      <p:sp>
        <p:nvSpPr>
          <p:cNvPr id="4" name="object 4"/>
          <p:cNvSpPr txBox="1"/>
          <p:nvPr/>
        </p:nvSpPr>
        <p:spPr>
          <a:xfrm>
            <a:off x="1009781" y="933620"/>
            <a:ext cx="4502150" cy="266065"/>
          </a:xfrm>
          <a:prstGeom prst="rect">
            <a:avLst/>
          </a:prstGeom>
        </p:spPr>
        <p:txBody>
          <a:bodyPr vert="horz" wrap="square" lIns="0" tIns="15875" rIns="0" bIns="0" rtlCol="0">
            <a:spAutoFit/>
          </a:bodyPr>
          <a:lstStyle/>
          <a:p>
            <a:pPr marL="12700">
              <a:lnSpc>
                <a:spcPct val="100000"/>
              </a:lnSpc>
              <a:spcBef>
                <a:spcPts val="125"/>
              </a:spcBef>
            </a:pPr>
            <a:r>
              <a:rPr sz="1550" spc="35" dirty="0">
                <a:latin typeface="微软雅黑"/>
                <a:cs typeface="微软雅黑"/>
              </a:rPr>
              <a:t>例 </a:t>
            </a:r>
            <a:r>
              <a:rPr sz="1550" dirty="0">
                <a:latin typeface="Arial"/>
                <a:cs typeface="Arial"/>
              </a:rPr>
              <a:t>4.17</a:t>
            </a:r>
            <a:r>
              <a:rPr sz="1550" spc="105" dirty="0">
                <a:latin typeface="Arial"/>
                <a:cs typeface="Arial"/>
              </a:rPr>
              <a:t>  </a:t>
            </a:r>
            <a:r>
              <a:rPr sz="1550" dirty="0">
                <a:latin typeface="Arial"/>
                <a:cs typeface="Arial"/>
              </a:rPr>
              <a:t>4</a:t>
            </a:r>
            <a:r>
              <a:rPr sz="1550" dirty="0">
                <a:latin typeface="微软雅黑"/>
                <a:cs typeface="微软雅黑"/>
              </a:rPr>
              <a:t>位</a:t>
            </a:r>
            <a:r>
              <a:rPr sz="1550" dirty="0">
                <a:latin typeface="Arial"/>
                <a:cs typeface="Arial"/>
              </a:rPr>
              <a:t>16</a:t>
            </a:r>
            <a:r>
              <a:rPr sz="1550" dirty="0">
                <a:latin typeface="微软雅黑"/>
                <a:cs typeface="微软雅黑"/>
              </a:rPr>
              <a:t>进制数的数码管动态显示电路描述</a:t>
            </a:r>
            <a:r>
              <a:rPr sz="1550" dirty="0">
                <a:latin typeface="Arial"/>
                <a:cs typeface="Arial"/>
              </a:rPr>
              <a:t>-</a:t>
            </a:r>
            <a:r>
              <a:rPr sz="1550" spc="-50" dirty="0">
                <a:latin typeface="Arial"/>
                <a:cs typeface="Arial"/>
              </a:rPr>
              <a:t>2</a:t>
            </a:r>
            <a:endParaRPr sz="1550">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4222115" cy="453390"/>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4.5.1</a:t>
            </a:r>
            <a:r>
              <a:rPr dirty="0">
                <a:latin typeface="Arial"/>
                <a:cs typeface="Arial"/>
              </a:rPr>
              <a:t>	</a:t>
            </a:r>
            <a:r>
              <a:rPr spc="-15" dirty="0"/>
              <a:t>数码管扫描显示电路</a:t>
            </a: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526661" y="1510991"/>
            <a:ext cx="9455150" cy="746760"/>
          </a:xfrm>
          <a:prstGeom prst="rect">
            <a:avLst/>
          </a:prstGeom>
        </p:spPr>
        <p:txBody>
          <a:bodyPr vert="horz" wrap="square" lIns="0" tIns="12065" rIns="0" bIns="0" rtlCol="0">
            <a:spAutoFit/>
          </a:bodyPr>
          <a:lstStyle/>
          <a:p>
            <a:pPr marL="12700" marR="5080" indent="444500">
              <a:lnSpc>
                <a:spcPct val="152600"/>
              </a:lnSpc>
              <a:spcBef>
                <a:spcPts val="95"/>
              </a:spcBef>
            </a:pPr>
            <a:r>
              <a:rPr sz="1550" dirty="0">
                <a:latin typeface="微软雅黑"/>
                <a:cs typeface="微软雅黑"/>
              </a:rPr>
              <a:t>我们可以在实际的</a:t>
            </a:r>
            <a:r>
              <a:rPr sz="1550" dirty="0">
                <a:latin typeface="Arial"/>
                <a:cs typeface="Arial"/>
              </a:rPr>
              <a:t>FPGA</a:t>
            </a:r>
            <a:r>
              <a:rPr sz="1550" dirty="0">
                <a:latin typeface="微软雅黑"/>
                <a:cs typeface="微软雅黑"/>
              </a:rPr>
              <a:t>电路中验证该设计，把</a:t>
            </a:r>
            <a:r>
              <a:rPr sz="1550" dirty="0">
                <a:latin typeface="Arial"/>
                <a:cs typeface="Arial"/>
              </a:rPr>
              <a:t>8</a:t>
            </a:r>
            <a:r>
              <a:rPr sz="1550" dirty="0">
                <a:latin typeface="微软雅黑"/>
                <a:cs typeface="微软雅黑"/>
              </a:rPr>
              <a:t>位开关数据作为了两个</a:t>
            </a:r>
            <a:r>
              <a:rPr sz="1550" dirty="0">
                <a:latin typeface="Arial"/>
                <a:cs typeface="Arial"/>
              </a:rPr>
              <a:t>4</a:t>
            </a:r>
            <a:r>
              <a:rPr sz="1550" spc="-5" dirty="0">
                <a:latin typeface="微软雅黑"/>
                <a:cs typeface="微软雅黑"/>
              </a:rPr>
              <a:t>位无符号数据的输入，并使两</a:t>
            </a:r>
            <a:r>
              <a:rPr sz="1550" dirty="0">
                <a:latin typeface="微软雅黑"/>
                <a:cs typeface="微软雅黑"/>
              </a:rPr>
              <a:t>个数据相加，将其结果显示在四位七段式数码管上。实现代码如例</a:t>
            </a:r>
            <a:r>
              <a:rPr sz="1550" dirty="0">
                <a:latin typeface="Arial"/>
                <a:cs typeface="Arial"/>
              </a:rPr>
              <a:t>4.18</a:t>
            </a:r>
            <a:r>
              <a:rPr sz="1550" spc="-20" dirty="0">
                <a:latin typeface="微软雅黑"/>
                <a:cs typeface="微软雅黑"/>
              </a:rPr>
              <a:t>所示。</a:t>
            </a:r>
            <a:endParaRPr sz="1550">
              <a:latin typeface="微软雅黑"/>
              <a:cs typeface="微软雅黑"/>
            </a:endParaRPr>
          </a:p>
        </p:txBody>
      </p:sp>
      <p:sp>
        <p:nvSpPr>
          <p:cNvPr id="4" name="object 4"/>
          <p:cNvSpPr txBox="1"/>
          <p:nvPr/>
        </p:nvSpPr>
        <p:spPr>
          <a:xfrm>
            <a:off x="897521" y="2397251"/>
            <a:ext cx="4227830" cy="3724275"/>
          </a:xfrm>
          <a:prstGeom prst="rect">
            <a:avLst/>
          </a:prstGeom>
          <a:solidFill>
            <a:srgbClr val="F9FABA"/>
          </a:solidFill>
        </p:spPr>
        <p:txBody>
          <a:bodyPr vert="horz" wrap="square" lIns="0" tIns="21590" rIns="0" bIns="0" rtlCol="0">
            <a:spAutoFit/>
          </a:bodyPr>
          <a:lstStyle/>
          <a:p>
            <a:pPr marL="480695" marR="988060" indent="-167005">
              <a:lnSpc>
                <a:spcPts val="2840"/>
              </a:lnSpc>
              <a:spcBef>
                <a:spcPts val="170"/>
              </a:spcBef>
            </a:pPr>
            <a:r>
              <a:rPr sz="1550" b="1" dirty="0">
                <a:latin typeface="Arial"/>
                <a:cs typeface="Arial"/>
              </a:rPr>
              <a:t>module</a:t>
            </a:r>
            <a:r>
              <a:rPr sz="1550" b="1" spc="60" dirty="0">
                <a:latin typeface="Arial"/>
                <a:cs typeface="Arial"/>
              </a:rPr>
              <a:t> </a:t>
            </a:r>
            <a:r>
              <a:rPr sz="1550" spc="-10" dirty="0">
                <a:latin typeface="Arial"/>
                <a:cs typeface="Arial"/>
              </a:rPr>
              <a:t>scan_led_hex_disp_test </a:t>
            </a:r>
            <a:r>
              <a:rPr sz="1550" dirty="0">
                <a:latin typeface="Arial"/>
                <a:cs typeface="Arial"/>
              </a:rPr>
              <a:t>(</a:t>
            </a:r>
            <a:r>
              <a:rPr sz="1550" spc="20" dirty="0">
                <a:latin typeface="Arial"/>
                <a:cs typeface="Arial"/>
              </a:rPr>
              <a:t> </a:t>
            </a:r>
            <a:r>
              <a:rPr sz="1550" b="1" dirty="0">
                <a:latin typeface="Arial"/>
                <a:cs typeface="Arial"/>
              </a:rPr>
              <a:t>input</a:t>
            </a:r>
            <a:r>
              <a:rPr sz="1550" b="1" spc="465" dirty="0">
                <a:latin typeface="Arial"/>
                <a:cs typeface="Arial"/>
              </a:rPr>
              <a:t> </a:t>
            </a:r>
            <a:r>
              <a:rPr sz="1550" spc="-20" dirty="0">
                <a:latin typeface="Arial"/>
                <a:cs typeface="Arial"/>
              </a:rPr>
              <a:t>clk</a:t>
            </a:r>
            <a:r>
              <a:rPr sz="1550" spc="-20" dirty="0">
                <a:latin typeface="微软雅黑"/>
                <a:cs typeface="微软雅黑"/>
              </a:rPr>
              <a:t>，</a:t>
            </a:r>
            <a:endParaRPr sz="1550">
              <a:latin typeface="微软雅黑"/>
              <a:cs typeface="微软雅黑"/>
            </a:endParaRPr>
          </a:p>
          <a:p>
            <a:pPr marL="591820">
              <a:lnSpc>
                <a:spcPct val="100000"/>
              </a:lnSpc>
              <a:spcBef>
                <a:spcPts val="725"/>
              </a:spcBef>
            </a:pPr>
            <a:r>
              <a:rPr sz="1550" b="1" dirty="0">
                <a:latin typeface="Arial"/>
                <a:cs typeface="Arial"/>
              </a:rPr>
              <a:t>input</a:t>
            </a:r>
            <a:r>
              <a:rPr sz="1550" b="1" spc="45" dirty="0">
                <a:latin typeface="Arial"/>
                <a:cs typeface="Arial"/>
              </a:rPr>
              <a:t> </a:t>
            </a:r>
            <a:r>
              <a:rPr sz="1550" dirty="0">
                <a:latin typeface="Arial"/>
                <a:cs typeface="Arial"/>
              </a:rPr>
              <a:t>[7:0]</a:t>
            </a:r>
            <a:r>
              <a:rPr sz="1550" spc="60" dirty="0">
                <a:latin typeface="Arial"/>
                <a:cs typeface="Arial"/>
              </a:rPr>
              <a:t> </a:t>
            </a:r>
            <a:r>
              <a:rPr sz="1550" spc="-25" dirty="0">
                <a:latin typeface="Arial"/>
                <a:cs typeface="Arial"/>
              </a:rPr>
              <a:t>sw</a:t>
            </a:r>
            <a:r>
              <a:rPr sz="1550" spc="-25" dirty="0">
                <a:latin typeface="微软雅黑"/>
                <a:cs typeface="微软雅黑"/>
              </a:rPr>
              <a:t>，</a:t>
            </a:r>
            <a:endParaRPr sz="1550">
              <a:latin typeface="微软雅黑"/>
              <a:cs typeface="微软雅黑"/>
            </a:endParaRPr>
          </a:p>
          <a:p>
            <a:pPr marL="591820">
              <a:lnSpc>
                <a:spcPct val="100000"/>
              </a:lnSpc>
              <a:spcBef>
                <a:spcPts val="975"/>
              </a:spcBef>
            </a:pPr>
            <a:r>
              <a:rPr sz="1550" b="1" dirty="0">
                <a:latin typeface="Arial"/>
                <a:cs typeface="Arial"/>
              </a:rPr>
              <a:t>output</a:t>
            </a:r>
            <a:r>
              <a:rPr sz="1550" b="1" spc="40" dirty="0">
                <a:latin typeface="Arial"/>
                <a:cs typeface="Arial"/>
              </a:rPr>
              <a:t> </a:t>
            </a:r>
            <a:r>
              <a:rPr sz="1550" dirty="0">
                <a:latin typeface="Arial"/>
                <a:cs typeface="Arial"/>
              </a:rPr>
              <a:t>[3:0]</a:t>
            </a:r>
            <a:r>
              <a:rPr sz="1550" spc="50" dirty="0">
                <a:latin typeface="Arial"/>
                <a:cs typeface="Arial"/>
              </a:rPr>
              <a:t> </a:t>
            </a:r>
            <a:r>
              <a:rPr sz="1550" spc="-25" dirty="0">
                <a:latin typeface="Arial"/>
                <a:cs typeface="Arial"/>
              </a:rPr>
              <a:t>an</a:t>
            </a:r>
            <a:r>
              <a:rPr sz="1550" spc="-25" dirty="0">
                <a:latin typeface="微软雅黑"/>
                <a:cs typeface="微软雅黑"/>
              </a:rPr>
              <a:t>，</a:t>
            </a:r>
            <a:endParaRPr sz="1550">
              <a:latin typeface="微软雅黑"/>
              <a:cs typeface="微软雅黑"/>
            </a:endParaRPr>
          </a:p>
          <a:p>
            <a:pPr marL="591820">
              <a:lnSpc>
                <a:spcPct val="100000"/>
              </a:lnSpc>
              <a:spcBef>
                <a:spcPts val="985"/>
              </a:spcBef>
            </a:pPr>
            <a:r>
              <a:rPr sz="1550" b="1" dirty="0">
                <a:latin typeface="Arial"/>
                <a:cs typeface="Arial"/>
              </a:rPr>
              <a:t>output</a:t>
            </a:r>
            <a:r>
              <a:rPr sz="1550" b="1" spc="50" dirty="0">
                <a:latin typeface="Arial"/>
                <a:cs typeface="Arial"/>
              </a:rPr>
              <a:t> </a:t>
            </a:r>
            <a:r>
              <a:rPr sz="1550" dirty="0">
                <a:latin typeface="Arial"/>
                <a:cs typeface="Arial"/>
              </a:rPr>
              <a:t>[7:0]</a:t>
            </a:r>
            <a:r>
              <a:rPr sz="1550" spc="60" dirty="0">
                <a:latin typeface="Arial"/>
                <a:cs typeface="Arial"/>
              </a:rPr>
              <a:t> </a:t>
            </a:r>
            <a:r>
              <a:rPr sz="1550" spc="-20" dirty="0">
                <a:latin typeface="Arial"/>
                <a:cs typeface="Arial"/>
              </a:rPr>
              <a:t>sseg</a:t>
            </a:r>
            <a:endParaRPr sz="1550">
              <a:latin typeface="Arial"/>
              <a:cs typeface="Arial"/>
            </a:endParaRPr>
          </a:p>
          <a:p>
            <a:pPr marL="591820">
              <a:lnSpc>
                <a:spcPct val="100000"/>
              </a:lnSpc>
              <a:spcBef>
                <a:spcPts val="980"/>
              </a:spcBef>
            </a:pPr>
            <a:r>
              <a:rPr sz="1550" spc="-25" dirty="0">
                <a:latin typeface="Arial"/>
                <a:cs typeface="Arial"/>
              </a:rPr>
              <a:t>);</a:t>
            </a:r>
            <a:endParaRPr sz="1550">
              <a:latin typeface="Arial"/>
              <a:cs typeface="Arial"/>
            </a:endParaRPr>
          </a:p>
          <a:p>
            <a:pPr marL="591820">
              <a:lnSpc>
                <a:spcPct val="100000"/>
              </a:lnSpc>
              <a:spcBef>
                <a:spcPts val="975"/>
              </a:spcBef>
            </a:pPr>
            <a:r>
              <a:rPr sz="1550" b="1" dirty="0">
                <a:latin typeface="Arial"/>
                <a:cs typeface="Arial"/>
              </a:rPr>
              <a:t>wire</a:t>
            </a:r>
            <a:r>
              <a:rPr sz="1550" b="1" spc="45" dirty="0">
                <a:latin typeface="Arial"/>
                <a:cs typeface="Arial"/>
              </a:rPr>
              <a:t> </a:t>
            </a:r>
            <a:r>
              <a:rPr sz="1550" dirty="0">
                <a:latin typeface="Arial"/>
                <a:cs typeface="Arial"/>
              </a:rPr>
              <a:t>[3:0]</a:t>
            </a:r>
            <a:r>
              <a:rPr sz="1550" spc="55" dirty="0">
                <a:latin typeface="Arial"/>
                <a:cs typeface="Arial"/>
              </a:rPr>
              <a:t> </a:t>
            </a:r>
            <a:r>
              <a:rPr sz="1550" spc="-20" dirty="0">
                <a:latin typeface="Arial"/>
                <a:cs typeface="Arial"/>
              </a:rPr>
              <a:t>a,b;</a:t>
            </a:r>
            <a:endParaRPr sz="1550">
              <a:latin typeface="Arial"/>
              <a:cs typeface="Arial"/>
            </a:endParaRPr>
          </a:p>
          <a:p>
            <a:pPr marL="591820">
              <a:lnSpc>
                <a:spcPct val="100000"/>
              </a:lnSpc>
              <a:spcBef>
                <a:spcPts val="985"/>
              </a:spcBef>
            </a:pPr>
            <a:r>
              <a:rPr sz="1550" b="1" dirty="0">
                <a:latin typeface="Arial"/>
                <a:cs typeface="Arial"/>
              </a:rPr>
              <a:t>wire</a:t>
            </a:r>
            <a:r>
              <a:rPr sz="1550" b="1" spc="45" dirty="0">
                <a:latin typeface="Arial"/>
                <a:cs typeface="Arial"/>
              </a:rPr>
              <a:t> </a:t>
            </a:r>
            <a:r>
              <a:rPr sz="1550" dirty="0">
                <a:latin typeface="Arial"/>
                <a:cs typeface="Arial"/>
              </a:rPr>
              <a:t>[7:0]</a:t>
            </a:r>
            <a:r>
              <a:rPr sz="1550" spc="55" dirty="0">
                <a:latin typeface="Arial"/>
                <a:cs typeface="Arial"/>
              </a:rPr>
              <a:t> </a:t>
            </a:r>
            <a:r>
              <a:rPr sz="1550" spc="-20" dirty="0">
                <a:latin typeface="Arial"/>
                <a:cs typeface="Arial"/>
              </a:rPr>
              <a:t>sum;</a:t>
            </a:r>
            <a:endParaRPr sz="1550">
              <a:latin typeface="Arial"/>
              <a:cs typeface="Arial"/>
            </a:endParaRPr>
          </a:p>
        </p:txBody>
      </p:sp>
      <p:sp>
        <p:nvSpPr>
          <p:cNvPr id="5" name="object 5"/>
          <p:cNvSpPr txBox="1"/>
          <p:nvPr/>
        </p:nvSpPr>
        <p:spPr>
          <a:xfrm>
            <a:off x="5580773" y="2397251"/>
            <a:ext cx="4135754" cy="3679825"/>
          </a:xfrm>
          <a:prstGeom prst="rect">
            <a:avLst/>
          </a:prstGeom>
          <a:solidFill>
            <a:srgbClr val="F9FABA"/>
          </a:solidFill>
        </p:spPr>
        <p:txBody>
          <a:bodyPr vert="horz" wrap="square" lIns="0" tIns="113030" rIns="0" bIns="0" rtlCol="0">
            <a:spAutoFit/>
          </a:bodyPr>
          <a:lstStyle/>
          <a:p>
            <a:pPr marL="135255">
              <a:lnSpc>
                <a:spcPct val="100000"/>
              </a:lnSpc>
              <a:spcBef>
                <a:spcPts val="890"/>
              </a:spcBef>
            </a:pPr>
            <a:r>
              <a:rPr sz="1550" b="1" dirty="0">
                <a:latin typeface="Arial"/>
                <a:cs typeface="Arial"/>
              </a:rPr>
              <a:t>assign</a:t>
            </a:r>
            <a:r>
              <a:rPr sz="1550" b="1" spc="30" dirty="0">
                <a:latin typeface="Arial"/>
                <a:cs typeface="Arial"/>
              </a:rPr>
              <a:t> </a:t>
            </a:r>
            <a:r>
              <a:rPr sz="1550" dirty="0">
                <a:latin typeface="Arial"/>
                <a:cs typeface="Arial"/>
              </a:rPr>
              <a:t>a</a:t>
            </a:r>
            <a:r>
              <a:rPr sz="1550" spc="30" dirty="0">
                <a:latin typeface="Arial"/>
                <a:cs typeface="Arial"/>
              </a:rPr>
              <a:t> </a:t>
            </a:r>
            <a:r>
              <a:rPr sz="1550" dirty="0">
                <a:latin typeface="Arial"/>
                <a:cs typeface="Arial"/>
              </a:rPr>
              <a:t>=</a:t>
            </a:r>
            <a:r>
              <a:rPr sz="1550" spc="30" dirty="0">
                <a:latin typeface="Arial"/>
                <a:cs typeface="Arial"/>
              </a:rPr>
              <a:t> </a:t>
            </a:r>
            <a:r>
              <a:rPr sz="1550" spc="-10" dirty="0">
                <a:latin typeface="Arial"/>
                <a:cs typeface="Arial"/>
              </a:rPr>
              <a:t>sw[3:0];</a:t>
            </a:r>
            <a:endParaRPr sz="1550">
              <a:latin typeface="Arial"/>
              <a:cs typeface="Arial"/>
            </a:endParaRPr>
          </a:p>
          <a:p>
            <a:pPr marL="135255">
              <a:lnSpc>
                <a:spcPct val="100000"/>
              </a:lnSpc>
              <a:spcBef>
                <a:spcPts val="980"/>
              </a:spcBef>
            </a:pPr>
            <a:r>
              <a:rPr sz="1550" b="1" dirty="0">
                <a:latin typeface="Arial"/>
                <a:cs typeface="Arial"/>
              </a:rPr>
              <a:t>assign</a:t>
            </a:r>
            <a:r>
              <a:rPr sz="1550" b="1" spc="30" dirty="0">
                <a:latin typeface="Arial"/>
                <a:cs typeface="Arial"/>
              </a:rPr>
              <a:t> </a:t>
            </a:r>
            <a:r>
              <a:rPr sz="1550" dirty="0">
                <a:latin typeface="Arial"/>
                <a:cs typeface="Arial"/>
              </a:rPr>
              <a:t>b</a:t>
            </a:r>
            <a:r>
              <a:rPr sz="1550" spc="30" dirty="0">
                <a:latin typeface="Arial"/>
                <a:cs typeface="Arial"/>
              </a:rPr>
              <a:t> </a:t>
            </a:r>
            <a:r>
              <a:rPr sz="1550" dirty="0">
                <a:latin typeface="Arial"/>
                <a:cs typeface="Arial"/>
              </a:rPr>
              <a:t>=</a:t>
            </a:r>
            <a:r>
              <a:rPr sz="1550" spc="30" dirty="0">
                <a:latin typeface="Arial"/>
                <a:cs typeface="Arial"/>
              </a:rPr>
              <a:t> </a:t>
            </a:r>
            <a:r>
              <a:rPr sz="1550" spc="-10" dirty="0">
                <a:latin typeface="Arial"/>
                <a:cs typeface="Arial"/>
              </a:rPr>
              <a:t>sw[7:4];</a:t>
            </a:r>
            <a:endParaRPr sz="1550">
              <a:latin typeface="Arial"/>
              <a:cs typeface="Arial"/>
            </a:endParaRPr>
          </a:p>
          <a:p>
            <a:pPr marL="135255">
              <a:lnSpc>
                <a:spcPct val="100000"/>
              </a:lnSpc>
              <a:spcBef>
                <a:spcPts val="985"/>
              </a:spcBef>
            </a:pPr>
            <a:r>
              <a:rPr sz="1550" b="1" dirty="0">
                <a:latin typeface="Arial"/>
                <a:cs typeface="Arial"/>
              </a:rPr>
              <a:t>assign</a:t>
            </a:r>
            <a:r>
              <a:rPr sz="1550" b="1" spc="25" dirty="0">
                <a:latin typeface="Arial"/>
                <a:cs typeface="Arial"/>
              </a:rPr>
              <a:t> </a:t>
            </a:r>
            <a:r>
              <a:rPr sz="1550" dirty="0">
                <a:latin typeface="Arial"/>
                <a:cs typeface="Arial"/>
              </a:rPr>
              <a:t>sum</a:t>
            </a:r>
            <a:r>
              <a:rPr sz="1550" spc="20"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{4'b0,</a:t>
            </a:r>
            <a:r>
              <a:rPr sz="1550" spc="20" dirty="0">
                <a:latin typeface="Arial"/>
                <a:cs typeface="Arial"/>
              </a:rPr>
              <a:t> </a:t>
            </a:r>
            <a:r>
              <a:rPr sz="1550" dirty="0">
                <a:latin typeface="Arial"/>
                <a:cs typeface="Arial"/>
              </a:rPr>
              <a:t>a}</a:t>
            </a:r>
            <a:r>
              <a:rPr sz="1550" spc="20" dirty="0">
                <a:latin typeface="Arial"/>
                <a:cs typeface="Arial"/>
              </a:rPr>
              <a:t> </a:t>
            </a:r>
            <a:r>
              <a:rPr sz="1550" dirty="0">
                <a:latin typeface="Arial"/>
                <a:cs typeface="Arial"/>
              </a:rPr>
              <a:t>+</a:t>
            </a:r>
            <a:r>
              <a:rPr sz="1550" spc="25" dirty="0">
                <a:latin typeface="Arial"/>
                <a:cs typeface="Arial"/>
              </a:rPr>
              <a:t> </a:t>
            </a:r>
            <a:r>
              <a:rPr sz="1550" dirty="0">
                <a:latin typeface="Arial"/>
                <a:cs typeface="Arial"/>
              </a:rPr>
              <a:t>{4'b0,</a:t>
            </a:r>
            <a:r>
              <a:rPr sz="1550" spc="20" dirty="0">
                <a:latin typeface="Arial"/>
                <a:cs typeface="Arial"/>
              </a:rPr>
              <a:t> </a:t>
            </a:r>
            <a:r>
              <a:rPr sz="1550" spc="-25" dirty="0">
                <a:latin typeface="Arial"/>
                <a:cs typeface="Arial"/>
              </a:rPr>
              <a:t>b};</a:t>
            </a:r>
            <a:endParaRPr sz="1550">
              <a:latin typeface="Arial"/>
              <a:cs typeface="Arial"/>
            </a:endParaRPr>
          </a:p>
          <a:p>
            <a:pPr marL="80010" marR="396240" indent="333375">
              <a:lnSpc>
                <a:spcPts val="2840"/>
              </a:lnSpc>
              <a:spcBef>
                <a:spcPts val="254"/>
              </a:spcBef>
              <a:tabLst>
                <a:tab pos="2016125" algn="l"/>
              </a:tabLst>
            </a:pPr>
            <a:r>
              <a:rPr sz="1550" dirty="0">
                <a:latin typeface="Arial"/>
                <a:cs typeface="Arial"/>
              </a:rPr>
              <a:t>//</a:t>
            </a:r>
            <a:r>
              <a:rPr sz="1550" dirty="0">
                <a:latin typeface="微软雅黑"/>
                <a:cs typeface="微软雅黑"/>
              </a:rPr>
              <a:t>实例化</a:t>
            </a:r>
            <a:r>
              <a:rPr sz="1550" dirty="0">
                <a:latin typeface="Arial"/>
                <a:cs typeface="Arial"/>
              </a:rPr>
              <a:t>4</a:t>
            </a:r>
            <a:r>
              <a:rPr sz="1550" dirty="0">
                <a:latin typeface="微软雅黑"/>
                <a:cs typeface="微软雅黑"/>
              </a:rPr>
              <a:t>位</a:t>
            </a:r>
            <a:r>
              <a:rPr sz="1550" dirty="0">
                <a:latin typeface="Arial"/>
                <a:cs typeface="Arial"/>
              </a:rPr>
              <a:t>16</a:t>
            </a:r>
            <a:r>
              <a:rPr sz="1550" dirty="0">
                <a:latin typeface="微软雅黑"/>
                <a:cs typeface="微软雅黑"/>
              </a:rPr>
              <a:t>进制数动态显示模</a:t>
            </a:r>
            <a:r>
              <a:rPr sz="1550" spc="-50" dirty="0">
                <a:latin typeface="微软雅黑"/>
                <a:cs typeface="微软雅黑"/>
              </a:rPr>
              <a:t>块 </a:t>
            </a:r>
            <a:r>
              <a:rPr sz="1550" spc="-10" dirty="0">
                <a:latin typeface="Arial"/>
                <a:cs typeface="Arial"/>
              </a:rPr>
              <a:t>scan_led_hex_disp</a:t>
            </a:r>
            <a:r>
              <a:rPr sz="1550" dirty="0">
                <a:latin typeface="Arial"/>
                <a:cs typeface="Arial"/>
              </a:rPr>
              <a:t>	</a:t>
            </a:r>
            <a:r>
              <a:rPr sz="1550" spc="-10" dirty="0">
                <a:latin typeface="Arial"/>
                <a:cs typeface="Arial"/>
              </a:rPr>
              <a:t>scan_led_disp_unit</a:t>
            </a:r>
            <a:endParaRPr sz="1550">
              <a:latin typeface="Arial"/>
              <a:cs typeface="Arial"/>
            </a:endParaRPr>
          </a:p>
          <a:p>
            <a:pPr marL="413384">
              <a:lnSpc>
                <a:spcPct val="100000"/>
              </a:lnSpc>
              <a:spcBef>
                <a:spcPts val="725"/>
              </a:spcBef>
            </a:pPr>
            <a:r>
              <a:rPr sz="1550" dirty="0">
                <a:latin typeface="Arial"/>
                <a:cs typeface="Arial"/>
              </a:rPr>
              <a:t>(.clk(clk),</a:t>
            </a:r>
            <a:r>
              <a:rPr sz="1550" spc="55" dirty="0">
                <a:latin typeface="Arial"/>
                <a:cs typeface="Arial"/>
              </a:rPr>
              <a:t> </a:t>
            </a:r>
            <a:r>
              <a:rPr sz="1550" spc="-10" dirty="0">
                <a:latin typeface="Arial"/>
                <a:cs typeface="Arial"/>
              </a:rPr>
              <a:t>.reset(1’b0),</a:t>
            </a:r>
            <a:endParaRPr sz="1550">
              <a:latin typeface="Arial"/>
              <a:cs typeface="Arial"/>
            </a:endParaRPr>
          </a:p>
          <a:p>
            <a:pPr marL="524510">
              <a:lnSpc>
                <a:spcPct val="100000"/>
              </a:lnSpc>
              <a:spcBef>
                <a:spcPts val="975"/>
              </a:spcBef>
            </a:pPr>
            <a:r>
              <a:rPr sz="1550" dirty="0">
                <a:latin typeface="Arial"/>
                <a:cs typeface="Arial"/>
              </a:rPr>
              <a:t>.hex3(sum[7:4]),</a:t>
            </a:r>
            <a:r>
              <a:rPr sz="1550" spc="225" dirty="0">
                <a:latin typeface="Arial"/>
                <a:cs typeface="Arial"/>
              </a:rPr>
              <a:t> </a:t>
            </a:r>
            <a:r>
              <a:rPr sz="1550" spc="-10" dirty="0">
                <a:latin typeface="Arial"/>
                <a:cs typeface="Arial"/>
              </a:rPr>
              <a:t>.hex2(sum[3:0]),</a:t>
            </a:r>
            <a:endParaRPr sz="1550">
              <a:latin typeface="Arial"/>
              <a:cs typeface="Arial"/>
            </a:endParaRPr>
          </a:p>
          <a:p>
            <a:pPr marL="524510">
              <a:lnSpc>
                <a:spcPct val="100000"/>
              </a:lnSpc>
              <a:spcBef>
                <a:spcPts val="985"/>
              </a:spcBef>
            </a:pPr>
            <a:r>
              <a:rPr sz="1550" dirty="0">
                <a:latin typeface="Arial"/>
                <a:cs typeface="Arial"/>
              </a:rPr>
              <a:t>.hex1(b),</a:t>
            </a:r>
            <a:r>
              <a:rPr sz="1550" spc="125" dirty="0">
                <a:latin typeface="Arial"/>
                <a:cs typeface="Arial"/>
              </a:rPr>
              <a:t> </a:t>
            </a:r>
            <a:r>
              <a:rPr sz="1550" spc="-10" dirty="0">
                <a:latin typeface="Arial"/>
                <a:cs typeface="Arial"/>
              </a:rPr>
              <a:t>.hex0(a),</a:t>
            </a:r>
            <a:endParaRPr sz="1550">
              <a:latin typeface="Arial"/>
              <a:cs typeface="Arial"/>
            </a:endParaRPr>
          </a:p>
          <a:p>
            <a:pPr marL="524510">
              <a:lnSpc>
                <a:spcPct val="100000"/>
              </a:lnSpc>
              <a:spcBef>
                <a:spcPts val="980"/>
              </a:spcBef>
            </a:pPr>
            <a:r>
              <a:rPr sz="1550" dirty="0">
                <a:latin typeface="Arial"/>
                <a:cs typeface="Arial"/>
              </a:rPr>
              <a:t>.dp_in(4’</a:t>
            </a:r>
            <a:r>
              <a:rPr sz="1550" spc="-35" dirty="0">
                <a:latin typeface="Arial"/>
                <a:cs typeface="Arial"/>
              </a:rPr>
              <a:t> </a:t>
            </a:r>
            <a:r>
              <a:rPr sz="1550" dirty="0">
                <a:latin typeface="Arial"/>
                <a:cs typeface="Arial"/>
              </a:rPr>
              <a:t>b1011),</a:t>
            </a:r>
            <a:r>
              <a:rPr sz="1550" spc="35" dirty="0">
                <a:latin typeface="Arial"/>
                <a:cs typeface="Arial"/>
              </a:rPr>
              <a:t> </a:t>
            </a:r>
            <a:r>
              <a:rPr sz="1550" dirty="0">
                <a:latin typeface="Arial"/>
                <a:cs typeface="Arial"/>
              </a:rPr>
              <a:t>.an(an),</a:t>
            </a:r>
            <a:r>
              <a:rPr sz="1550" spc="25" dirty="0">
                <a:latin typeface="Arial"/>
                <a:cs typeface="Arial"/>
              </a:rPr>
              <a:t> </a:t>
            </a:r>
            <a:r>
              <a:rPr sz="1550" spc="-10" dirty="0">
                <a:latin typeface="Arial"/>
                <a:cs typeface="Arial"/>
              </a:rPr>
              <a:t>.sseg(sseg));</a:t>
            </a:r>
            <a:endParaRPr sz="1550">
              <a:latin typeface="Arial"/>
              <a:cs typeface="Arial"/>
            </a:endParaRPr>
          </a:p>
          <a:p>
            <a:pPr marL="80010">
              <a:lnSpc>
                <a:spcPct val="100000"/>
              </a:lnSpc>
              <a:spcBef>
                <a:spcPts val="980"/>
              </a:spcBef>
            </a:pPr>
            <a:r>
              <a:rPr sz="1550" b="1" spc="-10" dirty="0">
                <a:latin typeface="Arial"/>
                <a:cs typeface="Arial"/>
              </a:rPr>
              <a:t>endmodule</a:t>
            </a:r>
            <a:endParaRPr sz="1550">
              <a:latin typeface="Arial"/>
              <a:cs typeface="Arial"/>
            </a:endParaRPr>
          </a:p>
        </p:txBody>
      </p:sp>
      <p:sp>
        <p:nvSpPr>
          <p:cNvPr id="6" name="object 6"/>
          <p:cNvSpPr txBox="1"/>
          <p:nvPr/>
        </p:nvSpPr>
        <p:spPr>
          <a:xfrm>
            <a:off x="3385707" y="6181630"/>
            <a:ext cx="3922395" cy="266065"/>
          </a:xfrm>
          <a:prstGeom prst="rect">
            <a:avLst/>
          </a:prstGeom>
        </p:spPr>
        <p:txBody>
          <a:bodyPr vert="horz" wrap="square" lIns="0" tIns="15875" rIns="0" bIns="0" rtlCol="0">
            <a:spAutoFit/>
          </a:bodyPr>
          <a:lstStyle/>
          <a:p>
            <a:pPr marL="12700">
              <a:lnSpc>
                <a:spcPct val="100000"/>
              </a:lnSpc>
              <a:spcBef>
                <a:spcPts val="125"/>
              </a:spcBef>
            </a:pPr>
            <a:r>
              <a:rPr sz="1550" spc="25" dirty="0">
                <a:latin typeface="微软雅黑"/>
                <a:cs typeface="微软雅黑"/>
              </a:rPr>
              <a:t>例 </a:t>
            </a:r>
            <a:r>
              <a:rPr sz="1550" dirty="0">
                <a:latin typeface="Arial"/>
                <a:cs typeface="Arial"/>
              </a:rPr>
              <a:t>4.18</a:t>
            </a:r>
            <a:r>
              <a:rPr sz="1550" spc="85" dirty="0">
                <a:latin typeface="Arial"/>
                <a:cs typeface="Arial"/>
              </a:rPr>
              <a:t>  </a:t>
            </a:r>
            <a:r>
              <a:rPr sz="1550" dirty="0">
                <a:latin typeface="Arial"/>
                <a:cs typeface="Arial"/>
              </a:rPr>
              <a:t>4</a:t>
            </a:r>
            <a:r>
              <a:rPr sz="1550" dirty="0">
                <a:latin typeface="微软雅黑"/>
                <a:cs typeface="微软雅黑"/>
              </a:rPr>
              <a:t>位</a:t>
            </a:r>
            <a:r>
              <a:rPr sz="1550" dirty="0">
                <a:latin typeface="Arial"/>
                <a:cs typeface="Arial"/>
              </a:rPr>
              <a:t>16</a:t>
            </a:r>
            <a:r>
              <a:rPr sz="1550" spc="-5" dirty="0">
                <a:latin typeface="微软雅黑"/>
                <a:cs typeface="微软雅黑"/>
              </a:rPr>
              <a:t>进制数的数码管动态显示测试</a:t>
            </a:r>
            <a:endParaRPr sz="1550">
              <a:latin typeface="微软雅黑"/>
              <a:cs typeface="微软雅黑"/>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1F75F864-D47B-8B5D-7221-689F83CA9F61}"/>
              </a:ext>
            </a:extLst>
          </p:cNvPr>
          <p:cNvPicPr>
            <a:picLocks noChangeAspect="1"/>
          </p:cNvPicPr>
          <p:nvPr/>
        </p:nvPicPr>
        <p:blipFill>
          <a:blip r:embed="rId2"/>
          <a:srcRect l="49287"/>
          <a:stretch>
            <a:fillRect/>
          </a:stretch>
        </p:blipFill>
        <p:spPr>
          <a:xfrm>
            <a:off x="543560" y="4238625"/>
            <a:ext cx="5422900" cy="2762844"/>
          </a:xfrm>
          <a:prstGeom prst="rect">
            <a:avLst/>
          </a:prstGeom>
        </p:spPr>
      </p:pic>
      <p:sp>
        <p:nvSpPr>
          <p:cNvPr id="2" name="object 2"/>
          <p:cNvSpPr txBox="1"/>
          <p:nvPr/>
        </p:nvSpPr>
        <p:spPr>
          <a:xfrm>
            <a:off x="317500" y="1993734"/>
            <a:ext cx="5143500" cy="1984582"/>
          </a:xfrm>
          <a:prstGeom prst="rect">
            <a:avLst/>
          </a:prstGeom>
        </p:spPr>
        <p:txBody>
          <a:bodyPr vert="horz" wrap="square" lIns="0" tIns="12700" rIns="0" bIns="0" rtlCol="0">
            <a:spAutoFit/>
          </a:bodyPr>
          <a:lstStyle/>
          <a:p>
            <a:pPr>
              <a:lnSpc>
                <a:spcPct val="150000"/>
              </a:lnSpc>
            </a:pPr>
            <a:r>
              <a:rPr lang="zh-CN" altLang="en-US" sz="1750" spc="-5" dirty="0">
                <a:latin typeface="微软雅黑"/>
                <a:cs typeface="微软雅黑"/>
              </a:rPr>
              <a:t>我们通过计数器产生每个</a:t>
            </a:r>
            <a:r>
              <a:rPr lang="en-US" altLang="zh-CN" sz="1750" spc="-5" dirty="0">
                <a:latin typeface="微软雅黑"/>
                <a:cs typeface="微软雅黑"/>
              </a:rPr>
              <a:t>LED</a:t>
            </a:r>
            <a:r>
              <a:rPr lang="zh-CN" altLang="en-US" sz="1750" spc="-5" dirty="0">
                <a:latin typeface="微软雅黑"/>
                <a:cs typeface="微软雅黑"/>
              </a:rPr>
              <a:t>灯的使能信号，这种分时复用的方案中，</a:t>
            </a:r>
            <a:r>
              <a:rPr lang="en-US" altLang="zh-CN" sz="1750" spc="-5" dirty="0">
                <a:latin typeface="微软雅黑"/>
                <a:cs typeface="微软雅黑"/>
              </a:rPr>
              <a:t>4</a:t>
            </a:r>
            <a:r>
              <a:rPr lang="zh-CN" altLang="en-US" sz="1750" spc="-5" dirty="0">
                <a:latin typeface="微软雅黑"/>
                <a:cs typeface="微软雅黑"/>
              </a:rPr>
              <a:t>个灯轮流点亮一轮下来，计数器需要计满一次，加载到硬件电路当然很快，但是计算机中仿真模拟验证功能是否正确时，每个时钟周期耗时远远不止</a:t>
            </a:r>
            <a:r>
              <a:rPr lang="en-US" altLang="zh-CN" sz="1750" spc="-5" dirty="0">
                <a:latin typeface="微软雅黑"/>
                <a:cs typeface="微软雅黑"/>
              </a:rPr>
              <a:t>1/50MHz</a:t>
            </a:r>
            <a:r>
              <a:rPr lang="zh-CN" altLang="en-US" sz="1750" spc="-5" dirty="0">
                <a:latin typeface="微软雅黑"/>
                <a:cs typeface="微软雅黑"/>
              </a:rPr>
              <a:t>的时间</a:t>
            </a:r>
            <a:endParaRPr sz="1750" dirty="0">
              <a:latin typeface="微软雅黑"/>
              <a:cs typeface="微软雅黑"/>
            </a:endParaRPr>
          </a:p>
        </p:txBody>
      </p:sp>
      <p:sp>
        <p:nvSpPr>
          <p:cNvPr id="3" name="object 3"/>
          <p:cNvSpPr txBox="1">
            <a:spLocks noGrp="1"/>
          </p:cNvSpPr>
          <p:nvPr>
            <p:ph type="title"/>
          </p:nvPr>
        </p:nvSpPr>
        <p:spPr>
          <a:xfrm>
            <a:off x="887864" y="1017524"/>
            <a:ext cx="6311900" cy="466725"/>
          </a:xfrm>
          <a:prstGeom prst="rect">
            <a:avLst/>
          </a:prstGeom>
        </p:spPr>
        <p:txBody>
          <a:bodyPr vert="horz" wrap="square" lIns="0" tIns="11430" rIns="0" bIns="0" rtlCol="0">
            <a:spAutoFit/>
          </a:bodyPr>
          <a:lstStyle/>
          <a:p>
            <a:pPr marL="12700">
              <a:lnSpc>
                <a:spcPct val="100000"/>
              </a:lnSpc>
              <a:spcBef>
                <a:spcPts val="90"/>
              </a:spcBef>
            </a:pPr>
            <a:r>
              <a:rPr sz="2900" spc="-25" dirty="0">
                <a:solidFill>
                  <a:srgbClr val="FF0000"/>
                </a:solidFill>
                <a:latin typeface="Arial"/>
                <a:cs typeface="Arial"/>
              </a:rPr>
              <a:t>4.5.1</a:t>
            </a:r>
            <a:r>
              <a:rPr sz="2900" spc="-35" dirty="0">
                <a:solidFill>
                  <a:srgbClr val="FF0000"/>
                </a:solidFill>
              </a:rPr>
              <a:t>数码管扫描显示电路的仿真方法</a:t>
            </a:r>
            <a:r>
              <a:rPr sz="2900" spc="-10" dirty="0">
                <a:solidFill>
                  <a:srgbClr val="FF0000"/>
                </a:solidFill>
                <a:latin typeface="Arial"/>
                <a:cs typeface="Arial"/>
              </a:rPr>
              <a:t>-</a:t>
            </a:r>
            <a:r>
              <a:rPr sz="2900" spc="-50" dirty="0">
                <a:solidFill>
                  <a:srgbClr val="FF0000"/>
                </a:solidFill>
                <a:latin typeface="Arial"/>
                <a:cs typeface="Arial"/>
              </a:rPr>
              <a:t>1</a:t>
            </a:r>
            <a:endParaRPr sz="2900">
              <a:latin typeface="Arial"/>
              <a:cs typeface="Arial"/>
            </a:endParaRPr>
          </a:p>
        </p:txBody>
      </p:sp>
      <p:sp>
        <p:nvSpPr>
          <p:cNvPr id="9" name="object 9"/>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12" name="object 8">
            <a:extLst>
              <a:ext uri="{FF2B5EF4-FFF2-40B4-BE49-F238E27FC236}">
                <a16:creationId xmlns:a16="http://schemas.microsoft.com/office/drawing/2014/main" id="{C12E56AA-CF1E-5E2A-A235-60028FF1E11B}"/>
              </a:ext>
            </a:extLst>
          </p:cNvPr>
          <p:cNvSpPr/>
          <p:nvPr/>
        </p:nvSpPr>
        <p:spPr>
          <a:xfrm>
            <a:off x="1231900" y="4543425"/>
            <a:ext cx="2514600" cy="533400"/>
          </a:xfrm>
          <a:custGeom>
            <a:avLst/>
            <a:gdLst/>
            <a:ahLst/>
            <a:cxnLst/>
            <a:rect l="l" t="t" r="r" b="b"/>
            <a:pathLst>
              <a:path w="2627629" h="730250">
                <a:moveTo>
                  <a:pt x="2627376" y="723137"/>
                </a:moveTo>
                <a:lnTo>
                  <a:pt x="2627376" y="6857"/>
                </a:lnTo>
                <a:lnTo>
                  <a:pt x="2619756" y="0"/>
                </a:lnTo>
                <a:lnTo>
                  <a:pt x="7619" y="0"/>
                </a:lnTo>
                <a:lnTo>
                  <a:pt x="0" y="6857"/>
                </a:lnTo>
                <a:lnTo>
                  <a:pt x="0" y="723137"/>
                </a:lnTo>
                <a:lnTo>
                  <a:pt x="7620" y="729995"/>
                </a:lnTo>
                <a:lnTo>
                  <a:pt x="16763" y="729995"/>
                </a:lnTo>
                <a:lnTo>
                  <a:pt x="16764" y="32765"/>
                </a:lnTo>
                <a:lnTo>
                  <a:pt x="33527" y="16002"/>
                </a:lnTo>
                <a:lnTo>
                  <a:pt x="33527" y="32765"/>
                </a:lnTo>
                <a:lnTo>
                  <a:pt x="2593848" y="32765"/>
                </a:lnTo>
                <a:lnTo>
                  <a:pt x="2593848" y="16001"/>
                </a:lnTo>
                <a:lnTo>
                  <a:pt x="2610612" y="32765"/>
                </a:lnTo>
                <a:lnTo>
                  <a:pt x="2610612" y="729995"/>
                </a:lnTo>
                <a:lnTo>
                  <a:pt x="2619756" y="729995"/>
                </a:lnTo>
                <a:lnTo>
                  <a:pt x="2627376" y="723137"/>
                </a:lnTo>
                <a:close/>
              </a:path>
              <a:path w="2627629" h="730250">
                <a:moveTo>
                  <a:pt x="33527" y="32765"/>
                </a:moveTo>
                <a:lnTo>
                  <a:pt x="33527" y="16002"/>
                </a:lnTo>
                <a:lnTo>
                  <a:pt x="16764" y="32765"/>
                </a:lnTo>
                <a:lnTo>
                  <a:pt x="33527" y="32765"/>
                </a:lnTo>
                <a:close/>
              </a:path>
              <a:path w="2627629" h="730250">
                <a:moveTo>
                  <a:pt x="33527" y="697229"/>
                </a:moveTo>
                <a:lnTo>
                  <a:pt x="33527" y="32765"/>
                </a:lnTo>
                <a:lnTo>
                  <a:pt x="16764" y="32765"/>
                </a:lnTo>
                <a:lnTo>
                  <a:pt x="16764" y="697229"/>
                </a:lnTo>
                <a:lnTo>
                  <a:pt x="33527" y="697229"/>
                </a:lnTo>
                <a:close/>
              </a:path>
              <a:path w="2627629" h="730250">
                <a:moveTo>
                  <a:pt x="2610612" y="697229"/>
                </a:moveTo>
                <a:lnTo>
                  <a:pt x="16764" y="697229"/>
                </a:lnTo>
                <a:lnTo>
                  <a:pt x="33527" y="713993"/>
                </a:lnTo>
                <a:lnTo>
                  <a:pt x="33527" y="729995"/>
                </a:lnTo>
                <a:lnTo>
                  <a:pt x="2593848" y="729995"/>
                </a:lnTo>
                <a:lnTo>
                  <a:pt x="2593848" y="713993"/>
                </a:lnTo>
                <a:lnTo>
                  <a:pt x="2610612" y="697229"/>
                </a:lnTo>
                <a:close/>
              </a:path>
              <a:path w="2627629" h="730250">
                <a:moveTo>
                  <a:pt x="33527" y="729995"/>
                </a:moveTo>
                <a:lnTo>
                  <a:pt x="33527" y="713993"/>
                </a:lnTo>
                <a:lnTo>
                  <a:pt x="16764" y="697229"/>
                </a:lnTo>
                <a:lnTo>
                  <a:pt x="16763" y="729995"/>
                </a:lnTo>
                <a:lnTo>
                  <a:pt x="33527" y="729995"/>
                </a:lnTo>
                <a:close/>
              </a:path>
              <a:path w="2627629" h="730250">
                <a:moveTo>
                  <a:pt x="2610612" y="32765"/>
                </a:moveTo>
                <a:lnTo>
                  <a:pt x="2593848" y="16001"/>
                </a:lnTo>
                <a:lnTo>
                  <a:pt x="2593848" y="32765"/>
                </a:lnTo>
                <a:lnTo>
                  <a:pt x="2610612" y="32765"/>
                </a:lnTo>
                <a:close/>
              </a:path>
              <a:path w="2627629" h="730250">
                <a:moveTo>
                  <a:pt x="2610612" y="697229"/>
                </a:moveTo>
                <a:lnTo>
                  <a:pt x="2610612" y="32765"/>
                </a:lnTo>
                <a:lnTo>
                  <a:pt x="2593848" y="32765"/>
                </a:lnTo>
                <a:lnTo>
                  <a:pt x="2593848" y="697229"/>
                </a:lnTo>
                <a:lnTo>
                  <a:pt x="2610612" y="697229"/>
                </a:lnTo>
                <a:close/>
              </a:path>
              <a:path w="2627629" h="730250">
                <a:moveTo>
                  <a:pt x="2610612" y="729995"/>
                </a:moveTo>
                <a:lnTo>
                  <a:pt x="2610612" y="697229"/>
                </a:lnTo>
                <a:lnTo>
                  <a:pt x="2593848" y="713993"/>
                </a:lnTo>
                <a:lnTo>
                  <a:pt x="2593848" y="729995"/>
                </a:lnTo>
                <a:lnTo>
                  <a:pt x="2610612" y="729995"/>
                </a:lnTo>
                <a:close/>
              </a:path>
            </a:pathLst>
          </a:custGeom>
          <a:solidFill>
            <a:srgbClr val="FF0000"/>
          </a:solidFill>
        </p:spPr>
        <p:txBody>
          <a:bodyPr wrap="square" lIns="0" tIns="0" rIns="0" bIns="0" rtlCol="0"/>
          <a:lstStyle/>
          <a:p>
            <a:endParaRPr/>
          </a:p>
        </p:txBody>
      </p:sp>
      <p:sp>
        <p:nvSpPr>
          <p:cNvPr id="13" name="object 4">
            <a:extLst>
              <a:ext uri="{FF2B5EF4-FFF2-40B4-BE49-F238E27FC236}">
                <a16:creationId xmlns:a16="http://schemas.microsoft.com/office/drawing/2014/main" id="{8ABE48E0-89BA-255D-F205-FFC35BB259D0}"/>
              </a:ext>
            </a:extLst>
          </p:cNvPr>
          <p:cNvSpPr/>
          <p:nvPr/>
        </p:nvSpPr>
        <p:spPr>
          <a:xfrm>
            <a:off x="6349631" y="2181605"/>
            <a:ext cx="3976370" cy="4407535"/>
          </a:xfrm>
          <a:custGeom>
            <a:avLst/>
            <a:gdLst/>
            <a:ahLst/>
            <a:cxnLst/>
            <a:rect l="l" t="t" r="r" b="b"/>
            <a:pathLst>
              <a:path w="3976370" h="4407534">
                <a:moveTo>
                  <a:pt x="3976116" y="4405122"/>
                </a:moveTo>
                <a:lnTo>
                  <a:pt x="3976116" y="2285"/>
                </a:lnTo>
                <a:lnTo>
                  <a:pt x="3974591" y="0"/>
                </a:lnTo>
                <a:lnTo>
                  <a:pt x="1523" y="0"/>
                </a:lnTo>
                <a:lnTo>
                  <a:pt x="0" y="2286"/>
                </a:lnTo>
                <a:lnTo>
                  <a:pt x="0" y="4405122"/>
                </a:lnTo>
                <a:lnTo>
                  <a:pt x="1524" y="4407408"/>
                </a:lnTo>
                <a:lnTo>
                  <a:pt x="3810" y="4407408"/>
                </a:lnTo>
                <a:lnTo>
                  <a:pt x="3810" y="8382"/>
                </a:lnTo>
                <a:lnTo>
                  <a:pt x="8382" y="4572"/>
                </a:lnTo>
                <a:lnTo>
                  <a:pt x="8382" y="8382"/>
                </a:lnTo>
                <a:lnTo>
                  <a:pt x="3967734" y="8381"/>
                </a:lnTo>
                <a:lnTo>
                  <a:pt x="3967734" y="4571"/>
                </a:lnTo>
                <a:lnTo>
                  <a:pt x="3972305" y="8381"/>
                </a:lnTo>
                <a:lnTo>
                  <a:pt x="3972305" y="4407408"/>
                </a:lnTo>
                <a:lnTo>
                  <a:pt x="3974591" y="4407408"/>
                </a:lnTo>
                <a:lnTo>
                  <a:pt x="3976116" y="4405122"/>
                </a:lnTo>
                <a:close/>
              </a:path>
              <a:path w="3976370" h="4407534">
                <a:moveTo>
                  <a:pt x="8382" y="8382"/>
                </a:moveTo>
                <a:lnTo>
                  <a:pt x="8382" y="4572"/>
                </a:lnTo>
                <a:lnTo>
                  <a:pt x="3810" y="8382"/>
                </a:lnTo>
                <a:lnTo>
                  <a:pt x="8382" y="8382"/>
                </a:lnTo>
                <a:close/>
              </a:path>
              <a:path w="3976370" h="4407534">
                <a:moveTo>
                  <a:pt x="8382" y="4399026"/>
                </a:moveTo>
                <a:lnTo>
                  <a:pt x="8382" y="8382"/>
                </a:lnTo>
                <a:lnTo>
                  <a:pt x="3810" y="8382"/>
                </a:lnTo>
                <a:lnTo>
                  <a:pt x="3810" y="4399026"/>
                </a:lnTo>
                <a:lnTo>
                  <a:pt x="8382" y="4399026"/>
                </a:lnTo>
                <a:close/>
              </a:path>
              <a:path w="3976370" h="4407534">
                <a:moveTo>
                  <a:pt x="3972305" y="4399026"/>
                </a:moveTo>
                <a:lnTo>
                  <a:pt x="3810" y="4399026"/>
                </a:lnTo>
                <a:lnTo>
                  <a:pt x="8382" y="4402836"/>
                </a:lnTo>
                <a:lnTo>
                  <a:pt x="8382" y="4407408"/>
                </a:lnTo>
                <a:lnTo>
                  <a:pt x="3967734" y="4407408"/>
                </a:lnTo>
                <a:lnTo>
                  <a:pt x="3967734" y="4402836"/>
                </a:lnTo>
                <a:lnTo>
                  <a:pt x="3972305" y="4399026"/>
                </a:lnTo>
                <a:close/>
              </a:path>
              <a:path w="3976370" h="4407534">
                <a:moveTo>
                  <a:pt x="8382" y="4407408"/>
                </a:moveTo>
                <a:lnTo>
                  <a:pt x="8382" y="4402836"/>
                </a:lnTo>
                <a:lnTo>
                  <a:pt x="3810" y="4399026"/>
                </a:lnTo>
                <a:lnTo>
                  <a:pt x="3810" y="4407408"/>
                </a:lnTo>
                <a:lnTo>
                  <a:pt x="8382" y="4407408"/>
                </a:lnTo>
                <a:close/>
              </a:path>
              <a:path w="3976370" h="4407534">
                <a:moveTo>
                  <a:pt x="3972305" y="8381"/>
                </a:moveTo>
                <a:lnTo>
                  <a:pt x="3967734" y="4571"/>
                </a:lnTo>
                <a:lnTo>
                  <a:pt x="3967734" y="8381"/>
                </a:lnTo>
                <a:lnTo>
                  <a:pt x="3972305" y="8381"/>
                </a:lnTo>
                <a:close/>
              </a:path>
              <a:path w="3976370" h="4407534">
                <a:moveTo>
                  <a:pt x="3972305" y="4399026"/>
                </a:moveTo>
                <a:lnTo>
                  <a:pt x="3972305" y="8381"/>
                </a:lnTo>
                <a:lnTo>
                  <a:pt x="3967734" y="8381"/>
                </a:lnTo>
                <a:lnTo>
                  <a:pt x="3967734" y="4399026"/>
                </a:lnTo>
                <a:lnTo>
                  <a:pt x="3972305" y="4399026"/>
                </a:lnTo>
                <a:close/>
              </a:path>
              <a:path w="3976370" h="4407534">
                <a:moveTo>
                  <a:pt x="3972305" y="4407408"/>
                </a:moveTo>
                <a:lnTo>
                  <a:pt x="3972305" y="4399026"/>
                </a:lnTo>
                <a:lnTo>
                  <a:pt x="3967734" y="4402836"/>
                </a:lnTo>
                <a:lnTo>
                  <a:pt x="3967734" y="4407408"/>
                </a:lnTo>
                <a:lnTo>
                  <a:pt x="3972305" y="4407408"/>
                </a:lnTo>
                <a:close/>
              </a:path>
            </a:pathLst>
          </a:custGeom>
          <a:solidFill>
            <a:srgbClr val="000000"/>
          </a:solidFill>
        </p:spPr>
        <p:txBody>
          <a:bodyPr wrap="square" lIns="0" tIns="0" rIns="0" bIns="0" rtlCol="0"/>
          <a:lstStyle/>
          <a:p>
            <a:endParaRPr/>
          </a:p>
        </p:txBody>
      </p:sp>
      <p:sp>
        <p:nvSpPr>
          <p:cNvPr id="14" name="object 5">
            <a:extLst>
              <a:ext uri="{FF2B5EF4-FFF2-40B4-BE49-F238E27FC236}">
                <a16:creationId xmlns:a16="http://schemas.microsoft.com/office/drawing/2014/main" id="{D165619C-ADB0-323E-01AB-B5F816ECF0F3}"/>
              </a:ext>
            </a:extLst>
          </p:cNvPr>
          <p:cNvSpPr txBox="1"/>
          <p:nvPr/>
        </p:nvSpPr>
        <p:spPr>
          <a:xfrm>
            <a:off x="6420745" y="2207005"/>
            <a:ext cx="2783205" cy="292735"/>
          </a:xfrm>
          <a:prstGeom prst="rect">
            <a:avLst/>
          </a:prstGeom>
        </p:spPr>
        <p:txBody>
          <a:bodyPr vert="horz" wrap="square" lIns="0" tIns="12700" rIns="0" bIns="0" rtlCol="0">
            <a:spAutoFit/>
          </a:bodyPr>
          <a:lstStyle/>
          <a:p>
            <a:pPr marL="12700">
              <a:lnSpc>
                <a:spcPct val="100000"/>
              </a:lnSpc>
              <a:spcBef>
                <a:spcPts val="100"/>
              </a:spcBef>
            </a:pPr>
            <a:r>
              <a:rPr sz="1750" b="1" dirty="0">
                <a:latin typeface="Arial"/>
                <a:cs typeface="Arial"/>
              </a:rPr>
              <a:t>module</a:t>
            </a:r>
            <a:r>
              <a:rPr sz="1750" b="1" spc="-80" dirty="0">
                <a:latin typeface="Arial"/>
                <a:cs typeface="Arial"/>
              </a:rPr>
              <a:t> </a:t>
            </a:r>
            <a:r>
              <a:rPr sz="1750" spc="-10" dirty="0">
                <a:latin typeface="Arial"/>
                <a:cs typeface="Arial"/>
              </a:rPr>
              <a:t>scan_led_hex_disp</a:t>
            </a:r>
            <a:endParaRPr sz="1750">
              <a:latin typeface="Arial"/>
              <a:cs typeface="Arial"/>
            </a:endParaRPr>
          </a:p>
        </p:txBody>
      </p:sp>
      <p:sp>
        <p:nvSpPr>
          <p:cNvPr id="15" name="object 6">
            <a:extLst>
              <a:ext uri="{FF2B5EF4-FFF2-40B4-BE49-F238E27FC236}">
                <a16:creationId xmlns:a16="http://schemas.microsoft.com/office/drawing/2014/main" id="{05DD0BB1-D5F9-13DA-CF8B-B6AA9746CC59}"/>
              </a:ext>
            </a:extLst>
          </p:cNvPr>
          <p:cNvSpPr txBox="1"/>
          <p:nvPr/>
        </p:nvSpPr>
        <p:spPr>
          <a:xfrm>
            <a:off x="6481711" y="2472186"/>
            <a:ext cx="3707765" cy="2700020"/>
          </a:xfrm>
          <a:prstGeom prst="rect">
            <a:avLst/>
          </a:prstGeom>
        </p:spPr>
        <p:txBody>
          <a:bodyPr vert="horz" wrap="square" lIns="0" tIns="12700" rIns="0" bIns="0" rtlCol="0">
            <a:spAutoFit/>
          </a:bodyPr>
          <a:lstStyle/>
          <a:p>
            <a:pPr marL="12700">
              <a:lnSpc>
                <a:spcPct val="100000"/>
              </a:lnSpc>
              <a:spcBef>
                <a:spcPts val="100"/>
              </a:spcBef>
              <a:tabLst>
                <a:tab pos="270510" algn="l"/>
              </a:tabLst>
            </a:pPr>
            <a:r>
              <a:rPr sz="1750" spc="-50" dirty="0">
                <a:latin typeface="Arial"/>
                <a:cs typeface="Arial"/>
              </a:rPr>
              <a:t>(</a:t>
            </a:r>
            <a:r>
              <a:rPr sz="1750" dirty="0">
                <a:latin typeface="Arial"/>
                <a:cs typeface="Arial"/>
              </a:rPr>
              <a:t>	</a:t>
            </a:r>
            <a:r>
              <a:rPr sz="1750" b="1" dirty="0">
                <a:latin typeface="Arial"/>
                <a:cs typeface="Arial"/>
              </a:rPr>
              <a:t>input</a:t>
            </a:r>
            <a:r>
              <a:rPr sz="1750" b="1" spc="415" dirty="0">
                <a:latin typeface="Arial"/>
                <a:cs typeface="Arial"/>
              </a:rPr>
              <a:t> </a:t>
            </a:r>
            <a:r>
              <a:rPr sz="1750" spc="-10" dirty="0">
                <a:latin typeface="Arial"/>
                <a:cs typeface="Arial"/>
              </a:rPr>
              <a:t>clk,reset</a:t>
            </a:r>
            <a:r>
              <a:rPr sz="1750" spc="-10" dirty="0">
                <a:latin typeface="微软雅黑"/>
                <a:cs typeface="微软雅黑"/>
              </a:rPr>
              <a:t>，</a:t>
            </a:r>
            <a:endParaRPr sz="1750" dirty="0">
              <a:latin typeface="微软雅黑"/>
              <a:cs typeface="微软雅黑"/>
            </a:endParaRPr>
          </a:p>
          <a:p>
            <a:pPr marL="257810">
              <a:lnSpc>
                <a:spcPct val="100000"/>
              </a:lnSpc>
              <a:spcBef>
                <a:spcPts val="5"/>
              </a:spcBef>
            </a:pPr>
            <a:r>
              <a:rPr sz="1750" b="1" dirty="0">
                <a:latin typeface="Arial"/>
                <a:cs typeface="Arial"/>
              </a:rPr>
              <a:t>input</a:t>
            </a:r>
            <a:r>
              <a:rPr sz="1750" b="1" spc="-60" dirty="0">
                <a:latin typeface="Arial"/>
                <a:cs typeface="Arial"/>
              </a:rPr>
              <a:t> </a:t>
            </a:r>
            <a:r>
              <a:rPr sz="1750" dirty="0">
                <a:latin typeface="Arial"/>
                <a:cs typeface="Arial"/>
              </a:rPr>
              <a:t>[3:0]</a:t>
            </a:r>
            <a:r>
              <a:rPr sz="1750" spc="-70" dirty="0">
                <a:latin typeface="Arial"/>
                <a:cs typeface="Arial"/>
              </a:rPr>
              <a:t> </a:t>
            </a:r>
            <a:r>
              <a:rPr sz="1750" spc="-10" dirty="0">
                <a:latin typeface="Arial"/>
                <a:cs typeface="Arial"/>
              </a:rPr>
              <a:t>hex3,hex2,hex1,hex0</a:t>
            </a:r>
            <a:r>
              <a:rPr sz="1750" spc="-10" dirty="0">
                <a:latin typeface="微软雅黑"/>
                <a:cs typeface="微软雅黑"/>
              </a:rPr>
              <a:t>，</a:t>
            </a:r>
            <a:endParaRPr sz="1750" dirty="0">
              <a:latin typeface="微软雅黑"/>
              <a:cs typeface="微软雅黑"/>
            </a:endParaRPr>
          </a:p>
          <a:p>
            <a:pPr marL="257810">
              <a:lnSpc>
                <a:spcPct val="100000"/>
              </a:lnSpc>
              <a:spcBef>
                <a:spcPts val="10"/>
              </a:spcBef>
            </a:pPr>
            <a:r>
              <a:rPr sz="1750" b="1" dirty="0">
                <a:latin typeface="Arial"/>
                <a:cs typeface="Arial"/>
              </a:rPr>
              <a:t>input</a:t>
            </a:r>
            <a:r>
              <a:rPr sz="1750" b="1" spc="-60" dirty="0">
                <a:latin typeface="Arial"/>
                <a:cs typeface="Arial"/>
              </a:rPr>
              <a:t> </a:t>
            </a:r>
            <a:r>
              <a:rPr sz="1750" dirty="0">
                <a:latin typeface="Arial"/>
                <a:cs typeface="Arial"/>
              </a:rPr>
              <a:t>[3:0]</a:t>
            </a:r>
            <a:r>
              <a:rPr sz="1750" spc="-70" dirty="0">
                <a:latin typeface="Arial"/>
                <a:cs typeface="Arial"/>
              </a:rPr>
              <a:t> </a:t>
            </a:r>
            <a:r>
              <a:rPr sz="1750" spc="-10" dirty="0">
                <a:latin typeface="Arial"/>
                <a:cs typeface="Arial"/>
              </a:rPr>
              <a:t>dp_in</a:t>
            </a:r>
            <a:r>
              <a:rPr sz="1750" spc="-10" dirty="0">
                <a:latin typeface="微软雅黑"/>
                <a:cs typeface="微软雅黑"/>
              </a:rPr>
              <a:t>，</a:t>
            </a:r>
            <a:endParaRPr sz="1750" dirty="0">
              <a:latin typeface="微软雅黑"/>
              <a:cs typeface="微软雅黑"/>
            </a:endParaRPr>
          </a:p>
          <a:p>
            <a:pPr marL="257810">
              <a:lnSpc>
                <a:spcPct val="100000"/>
              </a:lnSpc>
            </a:pPr>
            <a:r>
              <a:rPr sz="1750" b="1" dirty="0">
                <a:latin typeface="Arial"/>
                <a:cs typeface="Arial"/>
              </a:rPr>
              <a:t>output</a:t>
            </a:r>
            <a:r>
              <a:rPr sz="1750" b="1" spc="-35" dirty="0">
                <a:latin typeface="Arial"/>
                <a:cs typeface="Arial"/>
              </a:rPr>
              <a:t> </a:t>
            </a:r>
            <a:r>
              <a:rPr sz="1750" b="1" dirty="0">
                <a:latin typeface="Arial"/>
                <a:cs typeface="Arial"/>
              </a:rPr>
              <a:t>reg</a:t>
            </a:r>
            <a:r>
              <a:rPr sz="1750" b="1" spc="-55" dirty="0">
                <a:latin typeface="Arial"/>
                <a:cs typeface="Arial"/>
              </a:rPr>
              <a:t> </a:t>
            </a:r>
            <a:r>
              <a:rPr sz="1750" dirty="0">
                <a:latin typeface="Arial"/>
                <a:cs typeface="Arial"/>
              </a:rPr>
              <a:t>[3:0]</a:t>
            </a:r>
            <a:r>
              <a:rPr sz="1750" spc="-60" dirty="0">
                <a:latin typeface="Arial"/>
                <a:cs typeface="Arial"/>
              </a:rPr>
              <a:t> </a:t>
            </a:r>
            <a:r>
              <a:rPr sz="1750" spc="-25" dirty="0">
                <a:latin typeface="Arial"/>
                <a:cs typeface="Arial"/>
              </a:rPr>
              <a:t>an</a:t>
            </a:r>
            <a:r>
              <a:rPr sz="1750" spc="-25" dirty="0">
                <a:latin typeface="微软雅黑"/>
                <a:cs typeface="微软雅黑"/>
              </a:rPr>
              <a:t>，</a:t>
            </a:r>
            <a:endParaRPr sz="1750" dirty="0">
              <a:latin typeface="微软雅黑"/>
              <a:cs typeface="微软雅黑"/>
            </a:endParaRPr>
          </a:p>
          <a:p>
            <a:pPr marL="257810">
              <a:lnSpc>
                <a:spcPct val="100000"/>
              </a:lnSpc>
              <a:spcBef>
                <a:spcPts val="15"/>
              </a:spcBef>
            </a:pPr>
            <a:r>
              <a:rPr sz="1750" b="1" dirty="0">
                <a:latin typeface="Arial"/>
                <a:cs typeface="Arial"/>
              </a:rPr>
              <a:t>output</a:t>
            </a:r>
            <a:r>
              <a:rPr sz="1750" b="1" spc="-35" dirty="0">
                <a:latin typeface="Arial"/>
                <a:cs typeface="Arial"/>
              </a:rPr>
              <a:t> </a:t>
            </a:r>
            <a:r>
              <a:rPr sz="1750" b="1" dirty="0">
                <a:latin typeface="Arial"/>
                <a:cs typeface="Arial"/>
              </a:rPr>
              <a:t>reg</a:t>
            </a:r>
            <a:r>
              <a:rPr sz="1750" b="1" spc="-55" dirty="0">
                <a:latin typeface="Arial"/>
                <a:cs typeface="Arial"/>
              </a:rPr>
              <a:t> </a:t>
            </a:r>
            <a:r>
              <a:rPr sz="1750" dirty="0">
                <a:latin typeface="Arial"/>
                <a:cs typeface="Arial"/>
              </a:rPr>
              <a:t>[7:0]</a:t>
            </a:r>
            <a:r>
              <a:rPr sz="1750" spc="-60" dirty="0">
                <a:latin typeface="Arial"/>
                <a:cs typeface="Arial"/>
              </a:rPr>
              <a:t> </a:t>
            </a:r>
            <a:r>
              <a:rPr sz="1750" spc="-20" dirty="0">
                <a:latin typeface="Arial"/>
                <a:cs typeface="Arial"/>
              </a:rPr>
              <a:t>sseg</a:t>
            </a:r>
            <a:endParaRPr sz="1750" dirty="0">
              <a:latin typeface="Arial"/>
              <a:cs typeface="Arial"/>
            </a:endParaRPr>
          </a:p>
          <a:p>
            <a:pPr marL="257810">
              <a:lnSpc>
                <a:spcPct val="100000"/>
              </a:lnSpc>
              <a:spcBef>
                <a:spcPts val="5"/>
              </a:spcBef>
            </a:pPr>
            <a:r>
              <a:rPr sz="1750" spc="-25" dirty="0">
                <a:latin typeface="Arial"/>
                <a:cs typeface="Arial"/>
              </a:rPr>
              <a:t>);</a:t>
            </a:r>
            <a:endParaRPr sz="1750" dirty="0">
              <a:latin typeface="Arial"/>
              <a:cs typeface="Arial"/>
            </a:endParaRPr>
          </a:p>
          <a:p>
            <a:pPr marL="257810" marR="1297940">
              <a:lnSpc>
                <a:spcPct val="100000"/>
              </a:lnSpc>
              <a:spcBef>
                <a:spcPts val="10"/>
              </a:spcBef>
            </a:pPr>
            <a:r>
              <a:rPr sz="1750" b="1" dirty="0">
                <a:latin typeface="Arial"/>
                <a:cs typeface="Arial"/>
              </a:rPr>
              <a:t>localparam</a:t>
            </a:r>
            <a:r>
              <a:rPr sz="1750" b="1" spc="-15" dirty="0">
                <a:latin typeface="Arial"/>
                <a:cs typeface="Arial"/>
              </a:rPr>
              <a:t> </a:t>
            </a:r>
            <a:r>
              <a:rPr sz="1750" dirty="0">
                <a:latin typeface="Arial"/>
                <a:cs typeface="Arial"/>
              </a:rPr>
              <a:t>N</a:t>
            </a:r>
            <a:r>
              <a:rPr sz="1750" spc="-25" dirty="0">
                <a:latin typeface="Arial"/>
                <a:cs typeface="Arial"/>
              </a:rPr>
              <a:t> </a:t>
            </a:r>
            <a:r>
              <a:rPr sz="1750" dirty="0">
                <a:latin typeface="Arial"/>
                <a:cs typeface="Arial"/>
              </a:rPr>
              <a:t>=</a:t>
            </a:r>
            <a:r>
              <a:rPr sz="1750" spc="-30" dirty="0">
                <a:latin typeface="Arial"/>
                <a:cs typeface="Arial"/>
              </a:rPr>
              <a:t> </a:t>
            </a:r>
            <a:r>
              <a:rPr sz="1750" dirty="0">
                <a:latin typeface="Arial"/>
                <a:cs typeface="Arial"/>
              </a:rPr>
              <a:t>1</a:t>
            </a:r>
            <a:r>
              <a:rPr lang="en-US" sz="1750" dirty="0">
                <a:latin typeface="Arial"/>
                <a:cs typeface="Arial"/>
              </a:rPr>
              <a:t>6</a:t>
            </a:r>
            <a:r>
              <a:rPr sz="1750" dirty="0">
                <a:latin typeface="Arial"/>
                <a:cs typeface="Arial"/>
              </a:rPr>
              <a:t>;</a:t>
            </a:r>
            <a:r>
              <a:rPr sz="1750" spc="-20" dirty="0">
                <a:latin typeface="Arial"/>
                <a:cs typeface="Arial"/>
              </a:rPr>
              <a:t> </a:t>
            </a:r>
            <a:r>
              <a:rPr sz="1750" spc="-25" dirty="0">
                <a:latin typeface="Arial"/>
                <a:cs typeface="Arial"/>
              </a:rPr>
              <a:t>// </a:t>
            </a:r>
            <a:r>
              <a:rPr sz="1750" b="1" dirty="0">
                <a:latin typeface="Arial"/>
                <a:cs typeface="Arial"/>
              </a:rPr>
              <a:t>reg</a:t>
            </a:r>
            <a:r>
              <a:rPr sz="1750" b="1" spc="-15" dirty="0">
                <a:latin typeface="Arial"/>
                <a:cs typeface="Arial"/>
              </a:rPr>
              <a:t> </a:t>
            </a:r>
            <a:r>
              <a:rPr sz="1750" spc="-20" dirty="0">
                <a:latin typeface="Arial"/>
                <a:cs typeface="Arial"/>
              </a:rPr>
              <a:t>[N-</a:t>
            </a:r>
            <a:r>
              <a:rPr sz="1750" dirty="0">
                <a:latin typeface="Arial"/>
                <a:cs typeface="Arial"/>
              </a:rPr>
              <a:t>1:0]</a:t>
            </a:r>
            <a:r>
              <a:rPr sz="1750" spc="459" dirty="0">
                <a:latin typeface="Arial"/>
                <a:cs typeface="Arial"/>
              </a:rPr>
              <a:t> </a:t>
            </a:r>
            <a:r>
              <a:rPr sz="1750" spc="-10" dirty="0">
                <a:latin typeface="Arial"/>
                <a:cs typeface="Arial"/>
              </a:rPr>
              <a:t>regN;</a:t>
            </a:r>
            <a:r>
              <a:rPr sz="1750" spc="500" dirty="0">
                <a:latin typeface="Arial"/>
                <a:cs typeface="Arial"/>
              </a:rPr>
              <a:t> </a:t>
            </a:r>
            <a:r>
              <a:rPr sz="1750" b="1" dirty="0">
                <a:latin typeface="Arial"/>
                <a:cs typeface="Arial"/>
              </a:rPr>
              <a:t>reg</a:t>
            </a:r>
            <a:r>
              <a:rPr sz="1750" b="1" spc="-35" dirty="0">
                <a:latin typeface="Arial"/>
                <a:cs typeface="Arial"/>
              </a:rPr>
              <a:t> </a:t>
            </a:r>
            <a:r>
              <a:rPr sz="1750" dirty="0">
                <a:latin typeface="Arial"/>
                <a:cs typeface="Arial"/>
              </a:rPr>
              <a:t>[3:0]</a:t>
            </a:r>
            <a:r>
              <a:rPr sz="1750" spc="-40" dirty="0">
                <a:latin typeface="Arial"/>
                <a:cs typeface="Arial"/>
              </a:rPr>
              <a:t> </a:t>
            </a:r>
            <a:r>
              <a:rPr sz="1750" spc="-10" dirty="0">
                <a:latin typeface="Arial"/>
                <a:cs typeface="Arial"/>
              </a:rPr>
              <a:t>hex_in;</a:t>
            </a:r>
            <a:endParaRPr sz="1750" dirty="0">
              <a:latin typeface="Arial"/>
              <a:cs typeface="Arial"/>
            </a:endParaRPr>
          </a:p>
          <a:p>
            <a:pPr marL="441959">
              <a:lnSpc>
                <a:spcPct val="100000"/>
              </a:lnSpc>
              <a:spcBef>
                <a:spcPts val="10"/>
              </a:spcBef>
            </a:pPr>
            <a:r>
              <a:rPr sz="1750" b="1" dirty="0">
                <a:latin typeface="Arial"/>
                <a:cs typeface="Arial"/>
              </a:rPr>
              <a:t>always</a:t>
            </a:r>
            <a:r>
              <a:rPr sz="1750" b="1" spc="-120" dirty="0">
                <a:latin typeface="Arial"/>
                <a:cs typeface="Arial"/>
              </a:rPr>
              <a:t> </a:t>
            </a:r>
            <a:r>
              <a:rPr sz="1750" dirty="0">
                <a:latin typeface="Arial"/>
                <a:cs typeface="Arial"/>
              </a:rPr>
              <a:t>@(</a:t>
            </a:r>
            <a:r>
              <a:rPr sz="1750" b="1" dirty="0">
                <a:latin typeface="Arial"/>
                <a:cs typeface="Arial"/>
              </a:rPr>
              <a:t>posedge</a:t>
            </a:r>
            <a:r>
              <a:rPr sz="1750" b="1" spc="-95" dirty="0">
                <a:latin typeface="Arial"/>
                <a:cs typeface="Arial"/>
              </a:rPr>
              <a:t> </a:t>
            </a:r>
            <a:r>
              <a:rPr sz="1750" spc="-10" dirty="0">
                <a:latin typeface="Arial"/>
                <a:cs typeface="Arial"/>
              </a:rPr>
              <a:t>clk,posedge</a:t>
            </a:r>
            <a:endParaRPr sz="1750" dirty="0">
              <a:latin typeface="Arial"/>
              <a:cs typeface="Arial"/>
            </a:endParaRPr>
          </a:p>
        </p:txBody>
      </p:sp>
      <p:sp>
        <p:nvSpPr>
          <p:cNvPr id="16" name="object 7">
            <a:extLst>
              <a:ext uri="{FF2B5EF4-FFF2-40B4-BE49-F238E27FC236}">
                <a16:creationId xmlns:a16="http://schemas.microsoft.com/office/drawing/2014/main" id="{655869C5-90C5-6D87-CECC-24700AA5F90F}"/>
              </a:ext>
            </a:extLst>
          </p:cNvPr>
          <p:cNvSpPr txBox="1"/>
          <p:nvPr/>
        </p:nvSpPr>
        <p:spPr>
          <a:xfrm>
            <a:off x="6420789" y="5146083"/>
            <a:ext cx="2545080" cy="1362075"/>
          </a:xfrm>
          <a:prstGeom prst="rect">
            <a:avLst/>
          </a:prstGeom>
        </p:spPr>
        <p:txBody>
          <a:bodyPr vert="horz" wrap="square" lIns="0" tIns="12700" rIns="0" bIns="0" rtlCol="0">
            <a:spAutoFit/>
          </a:bodyPr>
          <a:lstStyle/>
          <a:p>
            <a:pPr marL="12700">
              <a:lnSpc>
                <a:spcPct val="100000"/>
              </a:lnSpc>
              <a:spcBef>
                <a:spcPts val="100"/>
              </a:spcBef>
            </a:pPr>
            <a:r>
              <a:rPr sz="1750" spc="-10" dirty="0">
                <a:latin typeface="Arial"/>
                <a:cs typeface="Arial"/>
              </a:rPr>
              <a:t>reset)</a:t>
            </a:r>
            <a:endParaRPr sz="1750">
              <a:latin typeface="Arial"/>
              <a:cs typeface="Arial"/>
            </a:endParaRPr>
          </a:p>
          <a:p>
            <a:pPr marL="563245" marR="801370">
              <a:lnSpc>
                <a:spcPct val="100000"/>
              </a:lnSpc>
              <a:spcBef>
                <a:spcPts val="5"/>
              </a:spcBef>
            </a:pPr>
            <a:r>
              <a:rPr sz="1750" b="1" dirty="0">
                <a:latin typeface="Arial"/>
                <a:cs typeface="Arial"/>
              </a:rPr>
              <a:t>if</a:t>
            </a:r>
            <a:r>
              <a:rPr sz="1750" b="1" spc="-30" dirty="0">
                <a:latin typeface="Arial"/>
                <a:cs typeface="Arial"/>
              </a:rPr>
              <a:t> </a:t>
            </a:r>
            <a:r>
              <a:rPr sz="1750" spc="-10" dirty="0">
                <a:latin typeface="Arial"/>
                <a:cs typeface="Arial"/>
              </a:rPr>
              <a:t>(reset) </a:t>
            </a:r>
            <a:r>
              <a:rPr sz="1750" dirty="0">
                <a:latin typeface="Arial"/>
                <a:cs typeface="Arial"/>
              </a:rPr>
              <a:t>regN</a:t>
            </a:r>
            <a:r>
              <a:rPr sz="1750" spc="-40" dirty="0">
                <a:latin typeface="Arial"/>
                <a:cs typeface="Arial"/>
              </a:rPr>
              <a:t> </a:t>
            </a:r>
            <a:r>
              <a:rPr sz="1750" dirty="0">
                <a:latin typeface="Arial"/>
                <a:cs typeface="Arial"/>
              </a:rPr>
              <a:t>&lt;=</a:t>
            </a:r>
            <a:r>
              <a:rPr sz="1750" spc="-55" dirty="0">
                <a:latin typeface="Arial"/>
                <a:cs typeface="Arial"/>
              </a:rPr>
              <a:t> </a:t>
            </a:r>
            <a:r>
              <a:rPr sz="1750" spc="-25" dirty="0">
                <a:latin typeface="Arial"/>
                <a:cs typeface="Arial"/>
              </a:rPr>
              <a:t>0; </a:t>
            </a:r>
            <a:r>
              <a:rPr sz="1750" spc="-20" dirty="0">
                <a:latin typeface="Arial"/>
                <a:cs typeface="Arial"/>
              </a:rPr>
              <a:t>else</a:t>
            </a:r>
            <a:endParaRPr sz="1750">
              <a:latin typeface="Arial"/>
              <a:cs typeface="Arial"/>
            </a:endParaRPr>
          </a:p>
          <a:p>
            <a:pPr marL="748030">
              <a:lnSpc>
                <a:spcPct val="100000"/>
              </a:lnSpc>
              <a:spcBef>
                <a:spcPts val="15"/>
              </a:spcBef>
            </a:pPr>
            <a:r>
              <a:rPr sz="1750" dirty="0">
                <a:latin typeface="Arial"/>
                <a:cs typeface="Arial"/>
              </a:rPr>
              <a:t>regN</a:t>
            </a:r>
            <a:r>
              <a:rPr sz="1750" spc="-40" dirty="0">
                <a:latin typeface="Arial"/>
                <a:cs typeface="Arial"/>
              </a:rPr>
              <a:t> </a:t>
            </a:r>
            <a:r>
              <a:rPr sz="1750" dirty="0">
                <a:latin typeface="Arial"/>
                <a:cs typeface="Arial"/>
              </a:rPr>
              <a:t>&lt;=</a:t>
            </a:r>
            <a:r>
              <a:rPr sz="1750" spc="-50" dirty="0">
                <a:latin typeface="Arial"/>
                <a:cs typeface="Arial"/>
              </a:rPr>
              <a:t> </a:t>
            </a:r>
            <a:r>
              <a:rPr sz="1750" dirty="0">
                <a:latin typeface="Arial"/>
                <a:cs typeface="Arial"/>
              </a:rPr>
              <a:t>regN</a:t>
            </a:r>
            <a:r>
              <a:rPr sz="1750" spc="-30" dirty="0">
                <a:latin typeface="Arial"/>
                <a:cs typeface="Arial"/>
              </a:rPr>
              <a:t> </a:t>
            </a:r>
            <a:r>
              <a:rPr sz="1750" dirty="0">
                <a:latin typeface="Arial"/>
                <a:cs typeface="Arial"/>
              </a:rPr>
              <a:t>+</a:t>
            </a:r>
            <a:r>
              <a:rPr sz="1750" spc="-50" dirty="0">
                <a:latin typeface="Arial"/>
                <a:cs typeface="Arial"/>
              </a:rPr>
              <a:t> </a:t>
            </a:r>
            <a:r>
              <a:rPr sz="1750" spc="-25" dirty="0">
                <a:latin typeface="Arial"/>
                <a:cs typeface="Arial"/>
              </a:rPr>
              <a:t>1;</a:t>
            </a:r>
            <a:endParaRPr sz="1750">
              <a:latin typeface="Arial"/>
              <a:cs typeface="Arial"/>
            </a:endParaRPr>
          </a:p>
        </p:txBody>
      </p:sp>
      <p:sp>
        <p:nvSpPr>
          <p:cNvPr id="17" name="object 8">
            <a:extLst>
              <a:ext uri="{FF2B5EF4-FFF2-40B4-BE49-F238E27FC236}">
                <a16:creationId xmlns:a16="http://schemas.microsoft.com/office/drawing/2014/main" id="{0960CEE1-1402-2A48-62F3-D109FBB09455}"/>
              </a:ext>
            </a:extLst>
          </p:cNvPr>
          <p:cNvSpPr/>
          <p:nvPr/>
        </p:nvSpPr>
        <p:spPr>
          <a:xfrm>
            <a:off x="6576320" y="4082704"/>
            <a:ext cx="2389549" cy="292735"/>
          </a:xfrm>
          <a:custGeom>
            <a:avLst/>
            <a:gdLst/>
            <a:ahLst/>
            <a:cxnLst/>
            <a:rect l="l" t="t" r="r" b="b"/>
            <a:pathLst>
              <a:path w="2627629" h="730250">
                <a:moveTo>
                  <a:pt x="2627376" y="723137"/>
                </a:moveTo>
                <a:lnTo>
                  <a:pt x="2627376" y="6857"/>
                </a:lnTo>
                <a:lnTo>
                  <a:pt x="2619756" y="0"/>
                </a:lnTo>
                <a:lnTo>
                  <a:pt x="7619" y="0"/>
                </a:lnTo>
                <a:lnTo>
                  <a:pt x="0" y="6857"/>
                </a:lnTo>
                <a:lnTo>
                  <a:pt x="0" y="723137"/>
                </a:lnTo>
                <a:lnTo>
                  <a:pt x="7620" y="729995"/>
                </a:lnTo>
                <a:lnTo>
                  <a:pt x="16763" y="729995"/>
                </a:lnTo>
                <a:lnTo>
                  <a:pt x="16764" y="32765"/>
                </a:lnTo>
                <a:lnTo>
                  <a:pt x="33527" y="16002"/>
                </a:lnTo>
                <a:lnTo>
                  <a:pt x="33527" y="32765"/>
                </a:lnTo>
                <a:lnTo>
                  <a:pt x="2593848" y="32765"/>
                </a:lnTo>
                <a:lnTo>
                  <a:pt x="2593848" y="16001"/>
                </a:lnTo>
                <a:lnTo>
                  <a:pt x="2610612" y="32765"/>
                </a:lnTo>
                <a:lnTo>
                  <a:pt x="2610612" y="729995"/>
                </a:lnTo>
                <a:lnTo>
                  <a:pt x="2619756" y="729995"/>
                </a:lnTo>
                <a:lnTo>
                  <a:pt x="2627376" y="723137"/>
                </a:lnTo>
                <a:close/>
              </a:path>
              <a:path w="2627629" h="730250">
                <a:moveTo>
                  <a:pt x="33527" y="32765"/>
                </a:moveTo>
                <a:lnTo>
                  <a:pt x="33527" y="16002"/>
                </a:lnTo>
                <a:lnTo>
                  <a:pt x="16764" y="32765"/>
                </a:lnTo>
                <a:lnTo>
                  <a:pt x="33527" y="32765"/>
                </a:lnTo>
                <a:close/>
              </a:path>
              <a:path w="2627629" h="730250">
                <a:moveTo>
                  <a:pt x="33527" y="697229"/>
                </a:moveTo>
                <a:lnTo>
                  <a:pt x="33527" y="32765"/>
                </a:lnTo>
                <a:lnTo>
                  <a:pt x="16764" y="32765"/>
                </a:lnTo>
                <a:lnTo>
                  <a:pt x="16764" y="697229"/>
                </a:lnTo>
                <a:lnTo>
                  <a:pt x="33527" y="697229"/>
                </a:lnTo>
                <a:close/>
              </a:path>
              <a:path w="2627629" h="730250">
                <a:moveTo>
                  <a:pt x="2610612" y="697229"/>
                </a:moveTo>
                <a:lnTo>
                  <a:pt x="16764" y="697229"/>
                </a:lnTo>
                <a:lnTo>
                  <a:pt x="33527" y="713993"/>
                </a:lnTo>
                <a:lnTo>
                  <a:pt x="33527" y="729995"/>
                </a:lnTo>
                <a:lnTo>
                  <a:pt x="2593848" y="729995"/>
                </a:lnTo>
                <a:lnTo>
                  <a:pt x="2593848" y="713993"/>
                </a:lnTo>
                <a:lnTo>
                  <a:pt x="2610612" y="697229"/>
                </a:lnTo>
                <a:close/>
              </a:path>
              <a:path w="2627629" h="730250">
                <a:moveTo>
                  <a:pt x="33527" y="729995"/>
                </a:moveTo>
                <a:lnTo>
                  <a:pt x="33527" y="713993"/>
                </a:lnTo>
                <a:lnTo>
                  <a:pt x="16764" y="697229"/>
                </a:lnTo>
                <a:lnTo>
                  <a:pt x="16763" y="729995"/>
                </a:lnTo>
                <a:lnTo>
                  <a:pt x="33527" y="729995"/>
                </a:lnTo>
                <a:close/>
              </a:path>
              <a:path w="2627629" h="730250">
                <a:moveTo>
                  <a:pt x="2610612" y="32765"/>
                </a:moveTo>
                <a:lnTo>
                  <a:pt x="2593848" y="16001"/>
                </a:lnTo>
                <a:lnTo>
                  <a:pt x="2593848" y="32765"/>
                </a:lnTo>
                <a:lnTo>
                  <a:pt x="2610612" y="32765"/>
                </a:lnTo>
                <a:close/>
              </a:path>
              <a:path w="2627629" h="730250">
                <a:moveTo>
                  <a:pt x="2610612" y="697229"/>
                </a:moveTo>
                <a:lnTo>
                  <a:pt x="2610612" y="32765"/>
                </a:lnTo>
                <a:lnTo>
                  <a:pt x="2593848" y="32765"/>
                </a:lnTo>
                <a:lnTo>
                  <a:pt x="2593848" y="697229"/>
                </a:lnTo>
                <a:lnTo>
                  <a:pt x="2610612" y="697229"/>
                </a:lnTo>
                <a:close/>
              </a:path>
              <a:path w="2627629" h="730250">
                <a:moveTo>
                  <a:pt x="2610612" y="729995"/>
                </a:moveTo>
                <a:lnTo>
                  <a:pt x="2610612" y="697229"/>
                </a:lnTo>
                <a:lnTo>
                  <a:pt x="2593848" y="713993"/>
                </a:lnTo>
                <a:lnTo>
                  <a:pt x="2593848" y="729995"/>
                </a:lnTo>
                <a:lnTo>
                  <a:pt x="2610612" y="729995"/>
                </a:lnTo>
                <a:close/>
              </a:path>
            </a:pathLst>
          </a:custGeom>
          <a:solidFill>
            <a:srgbClr val="FF0000"/>
          </a:solidFill>
        </p:spPr>
        <p:txBody>
          <a:bodyPr wrap="square" lIns="0" tIns="0" rIns="0" bIns="0" rtlCol="0"/>
          <a:lstStyle/>
          <a:p>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2700" rIns="0" bIns="0" rtlCol="0">
            <a:spAutoFit/>
          </a:bodyPr>
          <a:lstStyle/>
          <a:p>
            <a:pPr marL="12700" marR="5080" indent="60960">
              <a:lnSpc>
                <a:spcPct val="150300"/>
              </a:lnSpc>
              <a:spcBef>
                <a:spcPts val="100"/>
              </a:spcBef>
            </a:pPr>
            <a:r>
              <a:rPr dirty="0"/>
              <a:t>考虑到计数器的位数</a:t>
            </a:r>
            <a:r>
              <a:rPr spc="-10" dirty="0">
                <a:latin typeface="Arial"/>
                <a:cs typeface="Arial"/>
              </a:rPr>
              <a:t>,</a:t>
            </a:r>
            <a:r>
              <a:rPr spc="-5" dirty="0"/>
              <a:t>仿真这种电路需要消耗大量的计算时</a:t>
            </a:r>
            <a:r>
              <a:rPr dirty="0"/>
              <a:t>间</a:t>
            </a:r>
            <a:r>
              <a:rPr spc="-20" dirty="0"/>
              <a:t>（</a:t>
            </a:r>
            <a:r>
              <a:rPr spc="-20" dirty="0">
                <a:latin typeface="Arial"/>
                <a:cs typeface="Arial"/>
              </a:rPr>
              <a:t>2^1</a:t>
            </a:r>
            <a:r>
              <a:rPr lang="en-US" spc="-20" dirty="0">
                <a:latin typeface="Arial"/>
                <a:cs typeface="Arial"/>
              </a:rPr>
              <a:t>6</a:t>
            </a:r>
            <a:r>
              <a:rPr dirty="0"/>
              <a:t>个时钟周期为一个周期</a:t>
            </a:r>
            <a:r>
              <a:rPr spc="-20" dirty="0">
                <a:latin typeface="Arial"/>
                <a:cs typeface="Arial"/>
              </a:rPr>
              <a:t>)</a:t>
            </a:r>
            <a:r>
              <a:rPr spc="-5" dirty="0"/>
              <a:t>。因为我们的主要工作在</a:t>
            </a:r>
            <a:r>
              <a:rPr dirty="0"/>
              <a:t>于分时复用那段代码，大部分模拟时间被浪费了。</a:t>
            </a:r>
            <a:r>
              <a:rPr spc="-20" dirty="0">
                <a:solidFill>
                  <a:srgbClr val="FF0000"/>
                </a:solidFill>
              </a:rPr>
              <a:t>更高效</a:t>
            </a:r>
            <a:r>
              <a:rPr spc="-5" dirty="0">
                <a:solidFill>
                  <a:srgbClr val="FF0000"/>
                </a:solidFill>
              </a:rPr>
              <a:t>的方法是使用一个较小的计数器进行仿真。我们可以通过</a:t>
            </a:r>
            <a:r>
              <a:rPr spc="-10" dirty="0">
                <a:solidFill>
                  <a:srgbClr val="FF0000"/>
                </a:solidFill>
              </a:rPr>
              <a:t>修改常量声明</a:t>
            </a:r>
          </a:p>
          <a:p>
            <a:pPr marL="502920">
              <a:lnSpc>
                <a:spcPct val="100000"/>
              </a:lnSpc>
              <a:spcBef>
                <a:spcPts val="1055"/>
              </a:spcBef>
            </a:pPr>
            <a:r>
              <a:rPr dirty="0">
                <a:latin typeface="Arial"/>
                <a:cs typeface="Arial"/>
              </a:rPr>
              <a:t>localparam</a:t>
            </a:r>
            <a:r>
              <a:rPr spc="-40" dirty="0">
                <a:latin typeface="Arial"/>
                <a:cs typeface="Arial"/>
              </a:rPr>
              <a:t> </a:t>
            </a:r>
            <a:r>
              <a:rPr dirty="0">
                <a:latin typeface="Arial"/>
                <a:cs typeface="Arial"/>
              </a:rPr>
              <a:t>N</a:t>
            </a:r>
            <a:r>
              <a:rPr spc="-50" dirty="0">
                <a:latin typeface="Arial"/>
                <a:cs typeface="Arial"/>
              </a:rPr>
              <a:t> </a:t>
            </a:r>
            <a:r>
              <a:rPr dirty="0">
                <a:latin typeface="Arial"/>
                <a:cs typeface="Arial"/>
              </a:rPr>
              <a:t>=</a:t>
            </a:r>
            <a:r>
              <a:rPr spc="-60" dirty="0">
                <a:latin typeface="Arial"/>
                <a:cs typeface="Arial"/>
              </a:rPr>
              <a:t> </a:t>
            </a:r>
            <a:r>
              <a:rPr spc="-35" dirty="0">
                <a:latin typeface="Arial"/>
                <a:cs typeface="Arial"/>
              </a:rPr>
              <a:t>4;</a:t>
            </a:r>
          </a:p>
        </p:txBody>
      </p:sp>
      <p:sp>
        <p:nvSpPr>
          <p:cNvPr id="3" name="object 3"/>
          <p:cNvSpPr txBox="1">
            <a:spLocks noGrp="1"/>
          </p:cNvSpPr>
          <p:nvPr>
            <p:ph type="title"/>
          </p:nvPr>
        </p:nvSpPr>
        <p:spPr>
          <a:xfrm>
            <a:off x="1091317" y="1017524"/>
            <a:ext cx="6147435" cy="466725"/>
          </a:xfrm>
          <a:prstGeom prst="rect">
            <a:avLst/>
          </a:prstGeom>
        </p:spPr>
        <p:txBody>
          <a:bodyPr vert="horz" wrap="square" lIns="0" tIns="11430" rIns="0" bIns="0" rtlCol="0">
            <a:spAutoFit/>
          </a:bodyPr>
          <a:lstStyle/>
          <a:p>
            <a:pPr marL="12700">
              <a:lnSpc>
                <a:spcPct val="100000"/>
              </a:lnSpc>
              <a:spcBef>
                <a:spcPts val="90"/>
              </a:spcBef>
              <a:tabLst>
                <a:tab pos="1031875" algn="l"/>
              </a:tabLst>
            </a:pPr>
            <a:r>
              <a:rPr sz="2900" spc="-10" dirty="0">
                <a:solidFill>
                  <a:srgbClr val="FF0000"/>
                </a:solidFill>
                <a:latin typeface="Arial"/>
                <a:cs typeface="Arial"/>
              </a:rPr>
              <a:t>4.5.1</a:t>
            </a:r>
            <a:r>
              <a:rPr sz="2900" dirty="0">
                <a:solidFill>
                  <a:srgbClr val="FF0000"/>
                </a:solidFill>
                <a:latin typeface="Arial"/>
                <a:cs typeface="Arial"/>
              </a:rPr>
              <a:t>	</a:t>
            </a:r>
            <a:r>
              <a:rPr sz="2900" spc="-35" dirty="0">
                <a:solidFill>
                  <a:srgbClr val="FF0000"/>
                </a:solidFill>
              </a:rPr>
              <a:t>数码管扫描显示电路仿真方法</a:t>
            </a:r>
            <a:r>
              <a:rPr sz="2900" spc="-10" dirty="0">
                <a:solidFill>
                  <a:srgbClr val="FF0000"/>
                </a:solidFill>
                <a:latin typeface="Arial"/>
                <a:cs typeface="Arial"/>
              </a:rPr>
              <a:t>-</a:t>
            </a:r>
            <a:r>
              <a:rPr sz="2900" spc="-50" dirty="0">
                <a:solidFill>
                  <a:srgbClr val="FF0000"/>
                </a:solidFill>
                <a:latin typeface="Arial"/>
                <a:cs typeface="Arial"/>
              </a:rPr>
              <a:t>2</a:t>
            </a:r>
            <a:endParaRPr sz="2900">
              <a:latin typeface="Arial"/>
              <a:cs typeface="Arial"/>
            </a:endParaRPr>
          </a:p>
        </p:txBody>
      </p:sp>
      <p:sp>
        <p:nvSpPr>
          <p:cNvPr id="4" name="object 4"/>
          <p:cNvSpPr/>
          <p:nvPr/>
        </p:nvSpPr>
        <p:spPr>
          <a:xfrm>
            <a:off x="6349631" y="1951482"/>
            <a:ext cx="3976370" cy="4110990"/>
          </a:xfrm>
          <a:custGeom>
            <a:avLst/>
            <a:gdLst/>
            <a:ahLst/>
            <a:cxnLst/>
            <a:rect l="l" t="t" r="r" b="b"/>
            <a:pathLst>
              <a:path w="3976370" h="4110990">
                <a:moveTo>
                  <a:pt x="3976116" y="4109466"/>
                </a:moveTo>
                <a:lnTo>
                  <a:pt x="3976116" y="2285"/>
                </a:lnTo>
                <a:lnTo>
                  <a:pt x="3974591" y="0"/>
                </a:lnTo>
                <a:lnTo>
                  <a:pt x="1523" y="0"/>
                </a:lnTo>
                <a:lnTo>
                  <a:pt x="0" y="2286"/>
                </a:lnTo>
                <a:lnTo>
                  <a:pt x="0" y="4109466"/>
                </a:lnTo>
                <a:lnTo>
                  <a:pt x="1524" y="4110990"/>
                </a:lnTo>
                <a:lnTo>
                  <a:pt x="3810" y="4110990"/>
                </a:lnTo>
                <a:lnTo>
                  <a:pt x="3810" y="8382"/>
                </a:lnTo>
                <a:lnTo>
                  <a:pt x="8382" y="4572"/>
                </a:lnTo>
                <a:lnTo>
                  <a:pt x="8382" y="8382"/>
                </a:lnTo>
                <a:lnTo>
                  <a:pt x="3967734" y="8381"/>
                </a:lnTo>
                <a:lnTo>
                  <a:pt x="3967734" y="4571"/>
                </a:lnTo>
                <a:lnTo>
                  <a:pt x="3972305" y="8381"/>
                </a:lnTo>
                <a:lnTo>
                  <a:pt x="3972305" y="4110990"/>
                </a:lnTo>
                <a:lnTo>
                  <a:pt x="3974591" y="4110990"/>
                </a:lnTo>
                <a:lnTo>
                  <a:pt x="3976116" y="4109466"/>
                </a:lnTo>
                <a:close/>
              </a:path>
              <a:path w="3976370" h="4110990">
                <a:moveTo>
                  <a:pt x="8382" y="8382"/>
                </a:moveTo>
                <a:lnTo>
                  <a:pt x="8382" y="4572"/>
                </a:lnTo>
                <a:lnTo>
                  <a:pt x="3810" y="8382"/>
                </a:lnTo>
                <a:lnTo>
                  <a:pt x="8382" y="8382"/>
                </a:lnTo>
                <a:close/>
              </a:path>
              <a:path w="3976370" h="4110990">
                <a:moveTo>
                  <a:pt x="8382" y="4102608"/>
                </a:moveTo>
                <a:lnTo>
                  <a:pt x="8382" y="8382"/>
                </a:lnTo>
                <a:lnTo>
                  <a:pt x="3810" y="8382"/>
                </a:lnTo>
                <a:lnTo>
                  <a:pt x="3810" y="4102608"/>
                </a:lnTo>
                <a:lnTo>
                  <a:pt x="8382" y="4102608"/>
                </a:lnTo>
                <a:close/>
              </a:path>
              <a:path w="3976370" h="4110990">
                <a:moveTo>
                  <a:pt x="3972305" y="4102608"/>
                </a:moveTo>
                <a:lnTo>
                  <a:pt x="3810" y="4102608"/>
                </a:lnTo>
                <a:lnTo>
                  <a:pt x="8382" y="4107180"/>
                </a:lnTo>
                <a:lnTo>
                  <a:pt x="8382" y="4110990"/>
                </a:lnTo>
                <a:lnTo>
                  <a:pt x="3967734" y="4110990"/>
                </a:lnTo>
                <a:lnTo>
                  <a:pt x="3967734" y="4107180"/>
                </a:lnTo>
                <a:lnTo>
                  <a:pt x="3972305" y="4102608"/>
                </a:lnTo>
                <a:close/>
              </a:path>
              <a:path w="3976370" h="4110990">
                <a:moveTo>
                  <a:pt x="8382" y="4110990"/>
                </a:moveTo>
                <a:lnTo>
                  <a:pt x="8382" y="4107180"/>
                </a:lnTo>
                <a:lnTo>
                  <a:pt x="3810" y="4102608"/>
                </a:lnTo>
                <a:lnTo>
                  <a:pt x="3810" y="4110990"/>
                </a:lnTo>
                <a:lnTo>
                  <a:pt x="8382" y="4110990"/>
                </a:lnTo>
                <a:close/>
              </a:path>
              <a:path w="3976370" h="4110990">
                <a:moveTo>
                  <a:pt x="3972305" y="8381"/>
                </a:moveTo>
                <a:lnTo>
                  <a:pt x="3967734" y="4571"/>
                </a:lnTo>
                <a:lnTo>
                  <a:pt x="3967734" y="8381"/>
                </a:lnTo>
                <a:lnTo>
                  <a:pt x="3972305" y="8381"/>
                </a:lnTo>
                <a:close/>
              </a:path>
              <a:path w="3976370" h="4110990">
                <a:moveTo>
                  <a:pt x="3972305" y="4102608"/>
                </a:moveTo>
                <a:lnTo>
                  <a:pt x="3972305" y="8381"/>
                </a:lnTo>
                <a:lnTo>
                  <a:pt x="3967734" y="8381"/>
                </a:lnTo>
                <a:lnTo>
                  <a:pt x="3967734" y="4102608"/>
                </a:lnTo>
                <a:lnTo>
                  <a:pt x="3972305" y="4102608"/>
                </a:lnTo>
                <a:close/>
              </a:path>
              <a:path w="3976370" h="4110990">
                <a:moveTo>
                  <a:pt x="3972305" y="4110990"/>
                </a:moveTo>
                <a:lnTo>
                  <a:pt x="3972305" y="4102608"/>
                </a:lnTo>
                <a:lnTo>
                  <a:pt x="3967734" y="4107180"/>
                </a:lnTo>
                <a:lnTo>
                  <a:pt x="3967734" y="4110990"/>
                </a:lnTo>
                <a:lnTo>
                  <a:pt x="3972305" y="4110990"/>
                </a:lnTo>
                <a:close/>
              </a:path>
            </a:pathLst>
          </a:custGeom>
          <a:solidFill>
            <a:srgbClr val="000000"/>
          </a:solidFill>
        </p:spPr>
        <p:txBody>
          <a:bodyPr wrap="square" lIns="0" tIns="0" rIns="0" bIns="0" rtlCol="0"/>
          <a:lstStyle/>
          <a:p>
            <a:endParaRPr/>
          </a:p>
        </p:txBody>
      </p:sp>
      <p:sp>
        <p:nvSpPr>
          <p:cNvPr id="5" name="object 5"/>
          <p:cNvSpPr txBox="1"/>
          <p:nvPr/>
        </p:nvSpPr>
        <p:spPr>
          <a:xfrm>
            <a:off x="6420745" y="1976881"/>
            <a:ext cx="2783205" cy="292735"/>
          </a:xfrm>
          <a:prstGeom prst="rect">
            <a:avLst/>
          </a:prstGeom>
        </p:spPr>
        <p:txBody>
          <a:bodyPr vert="horz" wrap="square" lIns="0" tIns="12700" rIns="0" bIns="0" rtlCol="0">
            <a:spAutoFit/>
          </a:bodyPr>
          <a:lstStyle/>
          <a:p>
            <a:pPr marL="12700">
              <a:lnSpc>
                <a:spcPct val="100000"/>
              </a:lnSpc>
              <a:spcBef>
                <a:spcPts val="100"/>
              </a:spcBef>
            </a:pPr>
            <a:r>
              <a:rPr sz="1750" b="1" dirty="0">
                <a:latin typeface="Arial"/>
                <a:cs typeface="Arial"/>
              </a:rPr>
              <a:t>module</a:t>
            </a:r>
            <a:r>
              <a:rPr sz="1750" b="1" spc="-80" dirty="0">
                <a:latin typeface="Arial"/>
                <a:cs typeface="Arial"/>
              </a:rPr>
              <a:t> </a:t>
            </a:r>
            <a:r>
              <a:rPr sz="1750" spc="-10" dirty="0">
                <a:latin typeface="Arial"/>
                <a:cs typeface="Arial"/>
              </a:rPr>
              <a:t>scan_led_hex_disp</a:t>
            </a:r>
            <a:endParaRPr sz="1750">
              <a:latin typeface="Arial"/>
              <a:cs typeface="Arial"/>
            </a:endParaRPr>
          </a:p>
        </p:txBody>
      </p:sp>
      <p:sp>
        <p:nvSpPr>
          <p:cNvPr id="6" name="object 6"/>
          <p:cNvSpPr txBox="1"/>
          <p:nvPr/>
        </p:nvSpPr>
        <p:spPr>
          <a:xfrm>
            <a:off x="6481711" y="2242062"/>
            <a:ext cx="3707765" cy="2700020"/>
          </a:xfrm>
          <a:prstGeom prst="rect">
            <a:avLst/>
          </a:prstGeom>
        </p:spPr>
        <p:txBody>
          <a:bodyPr vert="horz" wrap="square" lIns="0" tIns="12700" rIns="0" bIns="0" rtlCol="0">
            <a:spAutoFit/>
          </a:bodyPr>
          <a:lstStyle/>
          <a:p>
            <a:pPr marL="12700">
              <a:lnSpc>
                <a:spcPct val="100000"/>
              </a:lnSpc>
              <a:spcBef>
                <a:spcPts val="100"/>
              </a:spcBef>
              <a:tabLst>
                <a:tab pos="270510" algn="l"/>
              </a:tabLst>
            </a:pPr>
            <a:r>
              <a:rPr sz="1750" spc="-50" dirty="0">
                <a:latin typeface="Arial"/>
                <a:cs typeface="Arial"/>
              </a:rPr>
              <a:t>(</a:t>
            </a:r>
            <a:r>
              <a:rPr sz="1750" dirty="0">
                <a:latin typeface="Arial"/>
                <a:cs typeface="Arial"/>
              </a:rPr>
              <a:t>	</a:t>
            </a:r>
            <a:r>
              <a:rPr sz="1750" b="1" dirty="0">
                <a:latin typeface="Arial"/>
                <a:cs typeface="Arial"/>
              </a:rPr>
              <a:t>input</a:t>
            </a:r>
            <a:r>
              <a:rPr sz="1750" b="1" spc="415" dirty="0">
                <a:latin typeface="Arial"/>
                <a:cs typeface="Arial"/>
              </a:rPr>
              <a:t> </a:t>
            </a:r>
            <a:r>
              <a:rPr sz="1750" spc="-10" dirty="0">
                <a:latin typeface="Arial"/>
                <a:cs typeface="Arial"/>
              </a:rPr>
              <a:t>clk,reset</a:t>
            </a:r>
            <a:r>
              <a:rPr sz="1750" spc="-10" dirty="0">
                <a:latin typeface="微软雅黑"/>
                <a:cs typeface="微软雅黑"/>
              </a:rPr>
              <a:t>，</a:t>
            </a:r>
            <a:endParaRPr sz="1750" dirty="0">
              <a:latin typeface="微软雅黑"/>
              <a:cs typeface="微软雅黑"/>
            </a:endParaRPr>
          </a:p>
          <a:p>
            <a:pPr marL="257810">
              <a:lnSpc>
                <a:spcPct val="100000"/>
              </a:lnSpc>
              <a:spcBef>
                <a:spcPts val="5"/>
              </a:spcBef>
            </a:pPr>
            <a:r>
              <a:rPr sz="1750" b="1" dirty="0">
                <a:latin typeface="Arial"/>
                <a:cs typeface="Arial"/>
              </a:rPr>
              <a:t>input</a:t>
            </a:r>
            <a:r>
              <a:rPr sz="1750" b="1" spc="-60" dirty="0">
                <a:latin typeface="Arial"/>
                <a:cs typeface="Arial"/>
              </a:rPr>
              <a:t> </a:t>
            </a:r>
            <a:r>
              <a:rPr sz="1750" dirty="0">
                <a:latin typeface="Arial"/>
                <a:cs typeface="Arial"/>
              </a:rPr>
              <a:t>[3:0]</a:t>
            </a:r>
            <a:r>
              <a:rPr sz="1750" spc="-70" dirty="0">
                <a:latin typeface="Arial"/>
                <a:cs typeface="Arial"/>
              </a:rPr>
              <a:t> </a:t>
            </a:r>
            <a:r>
              <a:rPr sz="1750" spc="-10" dirty="0">
                <a:latin typeface="Arial"/>
                <a:cs typeface="Arial"/>
              </a:rPr>
              <a:t>hex3,hex2,hex1,hex0</a:t>
            </a:r>
            <a:r>
              <a:rPr sz="1750" spc="-10" dirty="0">
                <a:latin typeface="微软雅黑"/>
                <a:cs typeface="微软雅黑"/>
              </a:rPr>
              <a:t>，</a:t>
            </a:r>
            <a:endParaRPr sz="1750" dirty="0">
              <a:latin typeface="微软雅黑"/>
              <a:cs typeface="微软雅黑"/>
            </a:endParaRPr>
          </a:p>
          <a:p>
            <a:pPr marL="257810">
              <a:lnSpc>
                <a:spcPct val="100000"/>
              </a:lnSpc>
              <a:spcBef>
                <a:spcPts val="10"/>
              </a:spcBef>
            </a:pPr>
            <a:r>
              <a:rPr sz="1750" b="1" dirty="0">
                <a:latin typeface="Arial"/>
                <a:cs typeface="Arial"/>
              </a:rPr>
              <a:t>input</a:t>
            </a:r>
            <a:r>
              <a:rPr sz="1750" b="1" spc="-60" dirty="0">
                <a:latin typeface="Arial"/>
                <a:cs typeface="Arial"/>
              </a:rPr>
              <a:t> </a:t>
            </a:r>
            <a:r>
              <a:rPr sz="1750" dirty="0">
                <a:latin typeface="Arial"/>
                <a:cs typeface="Arial"/>
              </a:rPr>
              <a:t>[3:0]</a:t>
            </a:r>
            <a:r>
              <a:rPr sz="1750" spc="-70" dirty="0">
                <a:latin typeface="Arial"/>
                <a:cs typeface="Arial"/>
              </a:rPr>
              <a:t> </a:t>
            </a:r>
            <a:r>
              <a:rPr sz="1750" spc="-10" dirty="0">
                <a:latin typeface="Arial"/>
                <a:cs typeface="Arial"/>
              </a:rPr>
              <a:t>dp_in</a:t>
            </a:r>
            <a:r>
              <a:rPr sz="1750" spc="-10" dirty="0">
                <a:latin typeface="微软雅黑"/>
                <a:cs typeface="微软雅黑"/>
              </a:rPr>
              <a:t>，</a:t>
            </a:r>
            <a:endParaRPr sz="1750" dirty="0">
              <a:latin typeface="微软雅黑"/>
              <a:cs typeface="微软雅黑"/>
            </a:endParaRPr>
          </a:p>
          <a:p>
            <a:pPr marL="257810">
              <a:lnSpc>
                <a:spcPct val="100000"/>
              </a:lnSpc>
            </a:pPr>
            <a:r>
              <a:rPr sz="1750" b="1" dirty="0">
                <a:latin typeface="Arial"/>
                <a:cs typeface="Arial"/>
              </a:rPr>
              <a:t>output</a:t>
            </a:r>
            <a:r>
              <a:rPr sz="1750" b="1" spc="-35" dirty="0">
                <a:latin typeface="Arial"/>
                <a:cs typeface="Arial"/>
              </a:rPr>
              <a:t> </a:t>
            </a:r>
            <a:r>
              <a:rPr sz="1750" b="1" dirty="0">
                <a:latin typeface="Arial"/>
                <a:cs typeface="Arial"/>
              </a:rPr>
              <a:t>reg</a:t>
            </a:r>
            <a:r>
              <a:rPr sz="1750" b="1" spc="-55" dirty="0">
                <a:latin typeface="Arial"/>
                <a:cs typeface="Arial"/>
              </a:rPr>
              <a:t> </a:t>
            </a:r>
            <a:r>
              <a:rPr sz="1750" dirty="0">
                <a:latin typeface="Arial"/>
                <a:cs typeface="Arial"/>
              </a:rPr>
              <a:t>[3:0]</a:t>
            </a:r>
            <a:r>
              <a:rPr sz="1750" spc="-60" dirty="0">
                <a:latin typeface="Arial"/>
                <a:cs typeface="Arial"/>
              </a:rPr>
              <a:t> </a:t>
            </a:r>
            <a:r>
              <a:rPr sz="1750" spc="-25" dirty="0">
                <a:latin typeface="Arial"/>
                <a:cs typeface="Arial"/>
              </a:rPr>
              <a:t>an</a:t>
            </a:r>
            <a:r>
              <a:rPr sz="1750" spc="-25" dirty="0">
                <a:latin typeface="微软雅黑"/>
                <a:cs typeface="微软雅黑"/>
              </a:rPr>
              <a:t>，</a:t>
            </a:r>
            <a:endParaRPr sz="1750" dirty="0">
              <a:latin typeface="微软雅黑"/>
              <a:cs typeface="微软雅黑"/>
            </a:endParaRPr>
          </a:p>
          <a:p>
            <a:pPr marL="257810">
              <a:lnSpc>
                <a:spcPct val="100000"/>
              </a:lnSpc>
              <a:spcBef>
                <a:spcPts val="15"/>
              </a:spcBef>
            </a:pPr>
            <a:r>
              <a:rPr sz="1750" b="1" dirty="0">
                <a:latin typeface="Arial"/>
                <a:cs typeface="Arial"/>
              </a:rPr>
              <a:t>output</a:t>
            </a:r>
            <a:r>
              <a:rPr sz="1750" b="1" spc="-35" dirty="0">
                <a:latin typeface="Arial"/>
                <a:cs typeface="Arial"/>
              </a:rPr>
              <a:t> </a:t>
            </a:r>
            <a:r>
              <a:rPr sz="1750" b="1" dirty="0">
                <a:latin typeface="Arial"/>
                <a:cs typeface="Arial"/>
              </a:rPr>
              <a:t>reg</a:t>
            </a:r>
            <a:r>
              <a:rPr sz="1750" b="1" spc="-55" dirty="0">
                <a:latin typeface="Arial"/>
                <a:cs typeface="Arial"/>
              </a:rPr>
              <a:t> </a:t>
            </a:r>
            <a:r>
              <a:rPr sz="1750" dirty="0">
                <a:latin typeface="Arial"/>
                <a:cs typeface="Arial"/>
              </a:rPr>
              <a:t>[7:0]</a:t>
            </a:r>
            <a:r>
              <a:rPr sz="1750" spc="-60" dirty="0">
                <a:latin typeface="Arial"/>
                <a:cs typeface="Arial"/>
              </a:rPr>
              <a:t> </a:t>
            </a:r>
            <a:r>
              <a:rPr sz="1750" spc="-20" dirty="0">
                <a:latin typeface="Arial"/>
                <a:cs typeface="Arial"/>
              </a:rPr>
              <a:t>sseg</a:t>
            </a:r>
            <a:endParaRPr sz="1750" dirty="0">
              <a:latin typeface="Arial"/>
              <a:cs typeface="Arial"/>
            </a:endParaRPr>
          </a:p>
          <a:p>
            <a:pPr marL="257810">
              <a:lnSpc>
                <a:spcPct val="100000"/>
              </a:lnSpc>
              <a:spcBef>
                <a:spcPts val="5"/>
              </a:spcBef>
            </a:pPr>
            <a:r>
              <a:rPr sz="1750" spc="-25" dirty="0">
                <a:latin typeface="Arial"/>
                <a:cs typeface="Arial"/>
              </a:rPr>
              <a:t>);</a:t>
            </a:r>
            <a:endParaRPr sz="1750" dirty="0">
              <a:latin typeface="Arial"/>
              <a:cs typeface="Arial"/>
            </a:endParaRPr>
          </a:p>
          <a:p>
            <a:pPr marL="257810" marR="1297940">
              <a:lnSpc>
                <a:spcPct val="100000"/>
              </a:lnSpc>
              <a:spcBef>
                <a:spcPts val="10"/>
              </a:spcBef>
            </a:pPr>
            <a:r>
              <a:rPr sz="1750" b="1" dirty="0">
                <a:latin typeface="Arial"/>
                <a:cs typeface="Arial"/>
              </a:rPr>
              <a:t>localparam</a:t>
            </a:r>
            <a:r>
              <a:rPr sz="1750" b="1" spc="-15" dirty="0">
                <a:latin typeface="Arial"/>
                <a:cs typeface="Arial"/>
              </a:rPr>
              <a:t> </a:t>
            </a:r>
            <a:r>
              <a:rPr sz="1750" dirty="0">
                <a:latin typeface="Arial"/>
                <a:cs typeface="Arial"/>
              </a:rPr>
              <a:t>N</a:t>
            </a:r>
            <a:r>
              <a:rPr sz="1750" spc="-25" dirty="0">
                <a:latin typeface="Arial"/>
                <a:cs typeface="Arial"/>
              </a:rPr>
              <a:t> </a:t>
            </a:r>
            <a:r>
              <a:rPr sz="1750" dirty="0">
                <a:latin typeface="Arial"/>
                <a:cs typeface="Arial"/>
              </a:rPr>
              <a:t>=</a:t>
            </a:r>
            <a:r>
              <a:rPr sz="1750" spc="-30" dirty="0">
                <a:latin typeface="Arial"/>
                <a:cs typeface="Arial"/>
              </a:rPr>
              <a:t> </a:t>
            </a:r>
            <a:r>
              <a:rPr lang="en-US" sz="1750" dirty="0">
                <a:latin typeface="Arial"/>
                <a:cs typeface="Arial"/>
              </a:rPr>
              <a:t>4</a:t>
            </a:r>
            <a:r>
              <a:rPr sz="1750" dirty="0">
                <a:latin typeface="Arial"/>
                <a:cs typeface="Arial"/>
              </a:rPr>
              <a:t>;</a:t>
            </a:r>
            <a:r>
              <a:rPr sz="1750" spc="-20" dirty="0">
                <a:latin typeface="Arial"/>
                <a:cs typeface="Arial"/>
              </a:rPr>
              <a:t> </a:t>
            </a:r>
            <a:r>
              <a:rPr sz="1750" spc="-25" dirty="0">
                <a:latin typeface="Arial"/>
                <a:cs typeface="Arial"/>
              </a:rPr>
              <a:t>// </a:t>
            </a:r>
            <a:r>
              <a:rPr sz="1750" b="1" dirty="0">
                <a:latin typeface="Arial"/>
                <a:cs typeface="Arial"/>
              </a:rPr>
              <a:t>reg</a:t>
            </a:r>
            <a:r>
              <a:rPr sz="1750" b="1" spc="-15" dirty="0">
                <a:latin typeface="Arial"/>
                <a:cs typeface="Arial"/>
              </a:rPr>
              <a:t> </a:t>
            </a:r>
            <a:r>
              <a:rPr sz="1750" spc="-20" dirty="0">
                <a:latin typeface="Arial"/>
                <a:cs typeface="Arial"/>
              </a:rPr>
              <a:t>[N-</a:t>
            </a:r>
            <a:r>
              <a:rPr sz="1750" dirty="0">
                <a:latin typeface="Arial"/>
                <a:cs typeface="Arial"/>
              </a:rPr>
              <a:t>1:0]</a:t>
            </a:r>
            <a:r>
              <a:rPr sz="1750" spc="459" dirty="0">
                <a:latin typeface="Arial"/>
                <a:cs typeface="Arial"/>
              </a:rPr>
              <a:t> </a:t>
            </a:r>
            <a:r>
              <a:rPr sz="1750" spc="-10" dirty="0">
                <a:latin typeface="Arial"/>
                <a:cs typeface="Arial"/>
              </a:rPr>
              <a:t>regN;</a:t>
            </a:r>
            <a:r>
              <a:rPr sz="1750" spc="500" dirty="0">
                <a:latin typeface="Arial"/>
                <a:cs typeface="Arial"/>
              </a:rPr>
              <a:t> </a:t>
            </a:r>
            <a:r>
              <a:rPr sz="1750" b="1" dirty="0">
                <a:latin typeface="Arial"/>
                <a:cs typeface="Arial"/>
              </a:rPr>
              <a:t>reg</a:t>
            </a:r>
            <a:r>
              <a:rPr sz="1750" b="1" spc="-35" dirty="0">
                <a:latin typeface="Arial"/>
                <a:cs typeface="Arial"/>
              </a:rPr>
              <a:t> </a:t>
            </a:r>
            <a:r>
              <a:rPr sz="1750" dirty="0">
                <a:latin typeface="Arial"/>
                <a:cs typeface="Arial"/>
              </a:rPr>
              <a:t>[3:0]</a:t>
            </a:r>
            <a:r>
              <a:rPr sz="1750" spc="-40" dirty="0">
                <a:latin typeface="Arial"/>
                <a:cs typeface="Arial"/>
              </a:rPr>
              <a:t> </a:t>
            </a:r>
            <a:r>
              <a:rPr sz="1750" spc="-10" dirty="0">
                <a:latin typeface="Arial"/>
                <a:cs typeface="Arial"/>
              </a:rPr>
              <a:t>hex_in;</a:t>
            </a:r>
            <a:endParaRPr sz="1750" dirty="0">
              <a:latin typeface="Arial"/>
              <a:cs typeface="Arial"/>
            </a:endParaRPr>
          </a:p>
          <a:p>
            <a:pPr marL="441959">
              <a:lnSpc>
                <a:spcPct val="100000"/>
              </a:lnSpc>
              <a:spcBef>
                <a:spcPts val="10"/>
              </a:spcBef>
            </a:pPr>
            <a:r>
              <a:rPr sz="1750" b="1" dirty="0">
                <a:latin typeface="Arial"/>
                <a:cs typeface="Arial"/>
              </a:rPr>
              <a:t>always</a:t>
            </a:r>
            <a:r>
              <a:rPr sz="1750" b="1" spc="-120" dirty="0">
                <a:latin typeface="Arial"/>
                <a:cs typeface="Arial"/>
              </a:rPr>
              <a:t> </a:t>
            </a:r>
            <a:r>
              <a:rPr sz="1750" dirty="0">
                <a:latin typeface="Arial"/>
                <a:cs typeface="Arial"/>
              </a:rPr>
              <a:t>@(</a:t>
            </a:r>
            <a:r>
              <a:rPr sz="1750" b="1" dirty="0">
                <a:latin typeface="Arial"/>
                <a:cs typeface="Arial"/>
              </a:rPr>
              <a:t>posedge</a:t>
            </a:r>
            <a:r>
              <a:rPr sz="1750" b="1" spc="-95" dirty="0">
                <a:latin typeface="Arial"/>
                <a:cs typeface="Arial"/>
              </a:rPr>
              <a:t> </a:t>
            </a:r>
            <a:r>
              <a:rPr sz="1750" spc="-10" dirty="0">
                <a:latin typeface="Arial"/>
                <a:cs typeface="Arial"/>
              </a:rPr>
              <a:t>clk,posedge</a:t>
            </a:r>
            <a:endParaRPr sz="1750" dirty="0">
              <a:latin typeface="Arial"/>
              <a:cs typeface="Arial"/>
            </a:endParaRPr>
          </a:p>
        </p:txBody>
      </p:sp>
      <p:sp>
        <p:nvSpPr>
          <p:cNvPr id="7" name="object 7"/>
          <p:cNvSpPr txBox="1"/>
          <p:nvPr/>
        </p:nvSpPr>
        <p:spPr>
          <a:xfrm>
            <a:off x="6420789" y="4915959"/>
            <a:ext cx="2545080" cy="1362075"/>
          </a:xfrm>
          <a:prstGeom prst="rect">
            <a:avLst/>
          </a:prstGeom>
        </p:spPr>
        <p:txBody>
          <a:bodyPr vert="horz" wrap="square" lIns="0" tIns="12700" rIns="0" bIns="0" rtlCol="0">
            <a:spAutoFit/>
          </a:bodyPr>
          <a:lstStyle/>
          <a:p>
            <a:pPr marL="12700">
              <a:lnSpc>
                <a:spcPct val="100000"/>
              </a:lnSpc>
              <a:spcBef>
                <a:spcPts val="100"/>
              </a:spcBef>
            </a:pPr>
            <a:r>
              <a:rPr sz="1750" spc="-10" dirty="0">
                <a:latin typeface="Arial"/>
                <a:cs typeface="Arial"/>
              </a:rPr>
              <a:t>reset)</a:t>
            </a:r>
            <a:endParaRPr sz="1750">
              <a:latin typeface="Arial"/>
              <a:cs typeface="Arial"/>
            </a:endParaRPr>
          </a:p>
          <a:p>
            <a:pPr marL="563245" marR="801370">
              <a:lnSpc>
                <a:spcPct val="100000"/>
              </a:lnSpc>
              <a:spcBef>
                <a:spcPts val="5"/>
              </a:spcBef>
            </a:pPr>
            <a:r>
              <a:rPr sz="1750" b="1" dirty="0">
                <a:latin typeface="Arial"/>
                <a:cs typeface="Arial"/>
              </a:rPr>
              <a:t>if</a:t>
            </a:r>
            <a:r>
              <a:rPr sz="1750" b="1" spc="-30" dirty="0">
                <a:latin typeface="Arial"/>
                <a:cs typeface="Arial"/>
              </a:rPr>
              <a:t> </a:t>
            </a:r>
            <a:r>
              <a:rPr sz="1750" spc="-10" dirty="0">
                <a:latin typeface="Arial"/>
                <a:cs typeface="Arial"/>
              </a:rPr>
              <a:t>(reset) </a:t>
            </a:r>
            <a:r>
              <a:rPr sz="1750" dirty="0">
                <a:latin typeface="Arial"/>
                <a:cs typeface="Arial"/>
              </a:rPr>
              <a:t>regN</a:t>
            </a:r>
            <a:r>
              <a:rPr sz="1750" spc="-40" dirty="0">
                <a:latin typeface="Arial"/>
                <a:cs typeface="Arial"/>
              </a:rPr>
              <a:t> </a:t>
            </a:r>
            <a:r>
              <a:rPr sz="1750" dirty="0">
                <a:latin typeface="Arial"/>
                <a:cs typeface="Arial"/>
              </a:rPr>
              <a:t>&lt;=</a:t>
            </a:r>
            <a:r>
              <a:rPr sz="1750" spc="-55" dirty="0">
                <a:latin typeface="Arial"/>
                <a:cs typeface="Arial"/>
              </a:rPr>
              <a:t> </a:t>
            </a:r>
            <a:r>
              <a:rPr sz="1750" spc="-25" dirty="0">
                <a:latin typeface="Arial"/>
                <a:cs typeface="Arial"/>
              </a:rPr>
              <a:t>0; </a:t>
            </a:r>
            <a:r>
              <a:rPr sz="1750" spc="-20" dirty="0">
                <a:latin typeface="Arial"/>
                <a:cs typeface="Arial"/>
              </a:rPr>
              <a:t>else</a:t>
            </a:r>
            <a:endParaRPr sz="1750">
              <a:latin typeface="Arial"/>
              <a:cs typeface="Arial"/>
            </a:endParaRPr>
          </a:p>
          <a:p>
            <a:pPr marL="748030">
              <a:lnSpc>
                <a:spcPct val="100000"/>
              </a:lnSpc>
              <a:spcBef>
                <a:spcPts val="15"/>
              </a:spcBef>
            </a:pPr>
            <a:r>
              <a:rPr sz="1750" dirty="0">
                <a:latin typeface="Arial"/>
                <a:cs typeface="Arial"/>
              </a:rPr>
              <a:t>regN</a:t>
            </a:r>
            <a:r>
              <a:rPr sz="1750" spc="-40" dirty="0">
                <a:latin typeface="Arial"/>
                <a:cs typeface="Arial"/>
              </a:rPr>
              <a:t> </a:t>
            </a:r>
            <a:r>
              <a:rPr sz="1750" dirty="0">
                <a:latin typeface="Arial"/>
                <a:cs typeface="Arial"/>
              </a:rPr>
              <a:t>&lt;=</a:t>
            </a:r>
            <a:r>
              <a:rPr sz="1750" spc="-50" dirty="0">
                <a:latin typeface="Arial"/>
                <a:cs typeface="Arial"/>
              </a:rPr>
              <a:t> </a:t>
            </a:r>
            <a:r>
              <a:rPr sz="1750" dirty="0">
                <a:latin typeface="Arial"/>
                <a:cs typeface="Arial"/>
              </a:rPr>
              <a:t>regN</a:t>
            </a:r>
            <a:r>
              <a:rPr sz="1750" spc="-30" dirty="0">
                <a:latin typeface="Arial"/>
                <a:cs typeface="Arial"/>
              </a:rPr>
              <a:t> </a:t>
            </a:r>
            <a:r>
              <a:rPr sz="1750" dirty="0">
                <a:latin typeface="Arial"/>
                <a:cs typeface="Arial"/>
              </a:rPr>
              <a:t>+</a:t>
            </a:r>
            <a:r>
              <a:rPr sz="1750" spc="-50" dirty="0">
                <a:latin typeface="Arial"/>
                <a:cs typeface="Arial"/>
              </a:rPr>
              <a:t> </a:t>
            </a:r>
            <a:r>
              <a:rPr sz="1750" spc="-25" dirty="0">
                <a:latin typeface="Arial"/>
                <a:cs typeface="Arial"/>
              </a:rPr>
              <a:t>1;</a:t>
            </a:r>
            <a:endParaRPr sz="1750">
              <a:latin typeface="Arial"/>
              <a:cs typeface="Arial"/>
            </a:endParaRPr>
          </a:p>
        </p:txBody>
      </p:sp>
      <p:sp>
        <p:nvSpPr>
          <p:cNvPr id="8" name="object 8"/>
          <p:cNvSpPr/>
          <p:nvPr/>
        </p:nvSpPr>
        <p:spPr>
          <a:xfrm>
            <a:off x="6498532" y="3882969"/>
            <a:ext cx="2545080" cy="247623"/>
          </a:xfrm>
          <a:custGeom>
            <a:avLst/>
            <a:gdLst/>
            <a:ahLst/>
            <a:cxnLst/>
            <a:rect l="l" t="t" r="r" b="b"/>
            <a:pathLst>
              <a:path w="2627629" h="730250">
                <a:moveTo>
                  <a:pt x="2627376" y="723137"/>
                </a:moveTo>
                <a:lnTo>
                  <a:pt x="2627376" y="6857"/>
                </a:lnTo>
                <a:lnTo>
                  <a:pt x="2619756" y="0"/>
                </a:lnTo>
                <a:lnTo>
                  <a:pt x="7619" y="0"/>
                </a:lnTo>
                <a:lnTo>
                  <a:pt x="0" y="6857"/>
                </a:lnTo>
                <a:lnTo>
                  <a:pt x="0" y="723137"/>
                </a:lnTo>
                <a:lnTo>
                  <a:pt x="7620" y="729995"/>
                </a:lnTo>
                <a:lnTo>
                  <a:pt x="16763" y="729995"/>
                </a:lnTo>
                <a:lnTo>
                  <a:pt x="16764" y="32765"/>
                </a:lnTo>
                <a:lnTo>
                  <a:pt x="33527" y="16002"/>
                </a:lnTo>
                <a:lnTo>
                  <a:pt x="33527" y="32765"/>
                </a:lnTo>
                <a:lnTo>
                  <a:pt x="2593848" y="32765"/>
                </a:lnTo>
                <a:lnTo>
                  <a:pt x="2593848" y="16001"/>
                </a:lnTo>
                <a:lnTo>
                  <a:pt x="2610612" y="32765"/>
                </a:lnTo>
                <a:lnTo>
                  <a:pt x="2610612" y="729995"/>
                </a:lnTo>
                <a:lnTo>
                  <a:pt x="2619756" y="729995"/>
                </a:lnTo>
                <a:lnTo>
                  <a:pt x="2627376" y="723137"/>
                </a:lnTo>
                <a:close/>
              </a:path>
              <a:path w="2627629" h="730250">
                <a:moveTo>
                  <a:pt x="33527" y="32765"/>
                </a:moveTo>
                <a:lnTo>
                  <a:pt x="33527" y="16002"/>
                </a:lnTo>
                <a:lnTo>
                  <a:pt x="16764" y="32765"/>
                </a:lnTo>
                <a:lnTo>
                  <a:pt x="33527" y="32765"/>
                </a:lnTo>
                <a:close/>
              </a:path>
              <a:path w="2627629" h="730250">
                <a:moveTo>
                  <a:pt x="33527" y="697229"/>
                </a:moveTo>
                <a:lnTo>
                  <a:pt x="33527" y="32765"/>
                </a:lnTo>
                <a:lnTo>
                  <a:pt x="16764" y="32765"/>
                </a:lnTo>
                <a:lnTo>
                  <a:pt x="16764" y="697229"/>
                </a:lnTo>
                <a:lnTo>
                  <a:pt x="33527" y="697229"/>
                </a:lnTo>
                <a:close/>
              </a:path>
              <a:path w="2627629" h="730250">
                <a:moveTo>
                  <a:pt x="2610612" y="697229"/>
                </a:moveTo>
                <a:lnTo>
                  <a:pt x="16764" y="697229"/>
                </a:lnTo>
                <a:lnTo>
                  <a:pt x="33527" y="713993"/>
                </a:lnTo>
                <a:lnTo>
                  <a:pt x="33527" y="729995"/>
                </a:lnTo>
                <a:lnTo>
                  <a:pt x="2593848" y="729995"/>
                </a:lnTo>
                <a:lnTo>
                  <a:pt x="2593848" y="713993"/>
                </a:lnTo>
                <a:lnTo>
                  <a:pt x="2610612" y="697229"/>
                </a:lnTo>
                <a:close/>
              </a:path>
              <a:path w="2627629" h="730250">
                <a:moveTo>
                  <a:pt x="33527" y="729995"/>
                </a:moveTo>
                <a:lnTo>
                  <a:pt x="33527" y="713993"/>
                </a:lnTo>
                <a:lnTo>
                  <a:pt x="16764" y="697229"/>
                </a:lnTo>
                <a:lnTo>
                  <a:pt x="16763" y="729995"/>
                </a:lnTo>
                <a:lnTo>
                  <a:pt x="33527" y="729995"/>
                </a:lnTo>
                <a:close/>
              </a:path>
              <a:path w="2627629" h="730250">
                <a:moveTo>
                  <a:pt x="2610612" y="32765"/>
                </a:moveTo>
                <a:lnTo>
                  <a:pt x="2593848" y="16001"/>
                </a:lnTo>
                <a:lnTo>
                  <a:pt x="2593848" y="32765"/>
                </a:lnTo>
                <a:lnTo>
                  <a:pt x="2610612" y="32765"/>
                </a:lnTo>
                <a:close/>
              </a:path>
              <a:path w="2627629" h="730250">
                <a:moveTo>
                  <a:pt x="2610612" y="697229"/>
                </a:moveTo>
                <a:lnTo>
                  <a:pt x="2610612" y="32765"/>
                </a:lnTo>
                <a:lnTo>
                  <a:pt x="2593848" y="32765"/>
                </a:lnTo>
                <a:lnTo>
                  <a:pt x="2593848" y="697229"/>
                </a:lnTo>
                <a:lnTo>
                  <a:pt x="2610612" y="697229"/>
                </a:lnTo>
                <a:close/>
              </a:path>
              <a:path w="2627629" h="730250">
                <a:moveTo>
                  <a:pt x="2610612" y="729995"/>
                </a:moveTo>
                <a:lnTo>
                  <a:pt x="2610612" y="697229"/>
                </a:lnTo>
                <a:lnTo>
                  <a:pt x="2593848" y="713993"/>
                </a:lnTo>
                <a:lnTo>
                  <a:pt x="2593848" y="729995"/>
                </a:lnTo>
                <a:lnTo>
                  <a:pt x="2610612" y="729995"/>
                </a:lnTo>
                <a:close/>
              </a:path>
            </a:pathLst>
          </a:custGeom>
          <a:solidFill>
            <a:srgbClr val="FF0000"/>
          </a:solidFill>
        </p:spPr>
        <p:txBody>
          <a:bodyPr wrap="square" lIns="0" tIns="0" rIns="0" bIns="0" rtlCol="0"/>
          <a:lstStyle/>
          <a:p>
            <a:endParaRPr/>
          </a:p>
        </p:txBody>
      </p:sp>
      <p:sp>
        <p:nvSpPr>
          <p:cNvPr id="9" name="object 9"/>
          <p:cNvSpPr/>
          <p:nvPr/>
        </p:nvSpPr>
        <p:spPr>
          <a:xfrm>
            <a:off x="368693" y="4253484"/>
            <a:ext cx="5848350" cy="1936750"/>
          </a:xfrm>
          <a:custGeom>
            <a:avLst/>
            <a:gdLst/>
            <a:ahLst/>
            <a:cxnLst/>
            <a:rect l="l" t="t" r="r" b="b"/>
            <a:pathLst>
              <a:path w="5848350" h="1936750">
                <a:moveTo>
                  <a:pt x="5848350" y="1929384"/>
                </a:moveTo>
                <a:lnTo>
                  <a:pt x="5848350" y="7620"/>
                </a:lnTo>
                <a:lnTo>
                  <a:pt x="5840730" y="0"/>
                </a:lnTo>
                <a:lnTo>
                  <a:pt x="7619" y="0"/>
                </a:lnTo>
                <a:lnTo>
                  <a:pt x="0" y="7620"/>
                </a:lnTo>
                <a:lnTo>
                  <a:pt x="0" y="1929384"/>
                </a:lnTo>
                <a:lnTo>
                  <a:pt x="7620" y="1936242"/>
                </a:lnTo>
                <a:lnTo>
                  <a:pt x="16763" y="1936242"/>
                </a:lnTo>
                <a:lnTo>
                  <a:pt x="16764" y="33528"/>
                </a:lnTo>
                <a:lnTo>
                  <a:pt x="33527" y="16764"/>
                </a:lnTo>
                <a:lnTo>
                  <a:pt x="33527" y="33528"/>
                </a:lnTo>
                <a:lnTo>
                  <a:pt x="5814822" y="33528"/>
                </a:lnTo>
                <a:lnTo>
                  <a:pt x="5814822" y="16764"/>
                </a:lnTo>
                <a:lnTo>
                  <a:pt x="5831586" y="33528"/>
                </a:lnTo>
                <a:lnTo>
                  <a:pt x="5831586" y="1936242"/>
                </a:lnTo>
                <a:lnTo>
                  <a:pt x="5840730" y="1936242"/>
                </a:lnTo>
                <a:lnTo>
                  <a:pt x="5848350" y="1929384"/>
                </a:lnTo>
                <a:close/>
              </a:path>
              <a:path w="5848350" h="1936750">
                <a:moveTo>
                  <a:pt x="33527" y="33528"/>
                </a:moveTo>
                <a:lnTo>
                  <a:pt x="33527" y="16764"/>
                </a:lnTo>
                <a:lnTo>
                  <a:pt x="16764" y="33528"/>
                </a:lnTo>
                <a:lnTo>
                  <a:pt x="33527" y="33528"/>
                </a:lnTo>
                <a:close/>
              </a:path>
              <a:path w="5848350" h="1936750">
                <a:moveTo>
                  <a:pt x="33527" y="1903476"/>
                </a:moveTo>
                <a:lnTo>
                  <a:pt x="33527" y="33528"/>
                </a:lnTo>
                <a:lnTo>
                  <a:pt x="16764" y="33528"/>
                </a:lnTo>
                <a:lnTo>
                  <a:pt x="16764" y="1903476"/>
                </a:lnTo>
                <a:lnTo>
                  <a:pt x="33527" y="1903476"/>
                </a:lnTo>
                <a:close/>
              </a:path>
              <a:path w="5848350" h="1936750">
                <a:moveTo>
                  <a:pt x="5831586" y="1903476"/>
                </a:moveTo>
                <a:lnTo>
                  <a:pt x="16764" y="1903476"/>
                </a:lnTo>
                <a:lnTo>
                  <a:pt x="33527" y="1920240"/>
                </a:lnTo>
                <a:lnTo>
                  <a:pt x="33527" y="1936242"/>
                </a:lnTo>
                <a:lnTo>
                  <a:pt x="5814822" y="1936242"/>
                </a:lnTo>
                <a:lnTo>
                  <a:pt x="5814822" y="1920240"/>
                </a:lnTo>
                <a:lnTo>
                  <a:pt x="5831586" y="1903476"/>
                </a:lnTo>
                <a:close/>
              </a:path>
              <a:path w="5848350" h="1936750">
                <a:moveTo>
                  <a:pt x="33527" y="1936242"/>
                </a:moveTo>
                <a:lnTo>
                  <a:pt x="33527" y="1920240"/>
                </a:lnTo>
                <a:lnTo>
                  <a:pt x="16764" y="1903476"/>
                </a:lnTo>
                <a:lnTo>
                  <a:pt x="16763" y="1936242"/>
                </a:lnTo>
                <a:lnTo>
                  <a:pt x="33527" y="1936242"/>
                </a:lnTo>
                <a:close/>
              </a:path>
              <a:path w="5848350" h="1936750">
                <a:moveTo>
                  <a:pt x="5831586" y="33528"/>
                </a:moveTo>
                <a:lnTo>
                  <a:pt x="5814822" y="16764"/>
                </a:lnTo>
                <a:lnTo>
                  <a:pt x="5814822" y="33528"/>
                </a:lnTo>
                <a:lnTo>
                  <a:pt x="5831586" y="33528"/>
                </a:lnTo>
                <a:close/>
              </a:path>
              <a:path w="5848350" h="1936750">
                <a:moveTo>
                  <a:pt x="5831586" y="1903476"/>
                </a:moveTo>
                <a:lnTo>
                  <a:pt x="5831586" y="33528"/>
                </a:lnTo>
                <a:lnTo>
                  <a:pt x="5814822" y="33528"/>
                </a:lnTo>
                <a:lnTo>
                  <a:pt x="5814822" y="1903476"/>
                </a:lnTo>
                <a:lnTo>
                  <a:pt x="5831586" y="1903476"/>
                </a:lnTo>
                <a:close/>
              </a:path>
              <a:path w="5848350" h="1936750">
                <a:moveTo>
                  <a:pt x="5831586" y="1936242"/>
                </a:moveTo>
                <a:lnTo>
                  <a:pt x="5831586" y="1903476"/>
                </a:lnTo>
                <a:lnTo>
                  <a:pt x="5814822" y="1920240"/>
                </a:lnTo>
                <a:lnTo>
                  <a:pt x="5814822" y="1936242"/>
                </a:lnTo>
                <a:lnTo>
                  <a:pt x="5831586" y="1936242"/>
                </a:lnTo>
                <a:close/>
              </a:path>
            </a:pathLst>
          </a:custGeom>
          <a:solidFill>
            <a:srgbClr val="00AFEF"/>
          </a:solidFill>
        </p:spPr>
        <p:txBody>
          <a:bodyPr wrap="square" lIns="0" tIns="0" rIns="0" bIns="0" rtlCol="0"/>
          <a:lstStyle/>
          <a:p>
            <a:endParaRPr/>
          </a:p>
        </p:txBody>
      </p:sp>
      <p:sp>
        <p:nvSpPr>
          <p:cNvPr id="10" name="object 10"/>
          <p:cNvSpPr txBox="1"/>
          <p:nvPr/>
        </p:nvSpPr>
        <p:spPr>
          <a:xfrm>
            <a:off x="451999" y="4248094"/>
            <a:ext cx="5684520" cy="1829435"/>
          </a:xfrm>
          <a:prstGeom prst="rect">
            <a:avLst/>
          </a:prstGeom>
        </p:spPr>
        <p:txBody>
          <a:bodyPr vert="horz" wrap="square" lIns="0" tIns="12065" rIns="0" bIns="0" rtlCol="0">
            <a:spAutoFit/>
          </a:bodyPr>
          <a:lstStyle/>
          <a:p>
            <a:pPr marL="12700" marR="6350" indent="-635">
              <a:lnSpc>
                <a:spcPct val="152600"/>
              </a:lnSpc>
              <a:spcBef>
                <a:spcPts val="95"/>
              </a:spcBef>
            </a:pPr>
            <a:r>
              <a:rPr sz="1550" spc="50" dirty="0">
                <a:latin typeface="微软雅黑"/>
                <a:cs typeface="微软雅黑"/>
              </a:rPr>
              <a:t>这样就只需要</a:t>
            </a:r>
            <a:r>
              <a:rPr sz="1550" dirty="0">
                <a:latin typeface="Arial"/>
                <a:cs typeface="Arial"/>
              </a:rPr>
              <a:t>2^4</a:t>
            </a:r>
            <a:r>
              <a:rPr sz="1550" spc="45" dirty="0">
                <a:latin typeface="微软雅黑"/>
                <a:cs typeface="微软雅黑"/>
              </a:rPr>
              <a:t>个时钟周期为一个仿真周期，并且我们可以更</a:t>
            </a:r>
            <a:r>
              <a:rPr sz="1550" spc="-10" dirty="0">
                <a:latin typeface="微软雅黑"/>
                <a:cs typeface="微软雅黑"/>
              </a:rPr>
              <a:t>好地观察关键操作。</a:t>
            </a:r>
            <a:endParaRPr sz="1550">
              <a:latin typeface="微软雅黑"/>
              <a:cs typeface="微软雅黑"/>
            </a:endParaRPr>
          </a:p>
          <a:p>
            <a:pPr marL="12700" marR="5080" indent="444500" algn="just">
              <a:lnSpc>
                <a:spcPct val="152700"/>
              </a:lnSpc>
            </a:pPr>
            <a:r>
              <a:rPr sz="1550" u="heavy" dirty="0">
                <a:solidFill>
                  <a:srgbClr val="FF0000"/>
                </a:solidFill>
                <a:uFill>
                  <a:solidFill>
                    <a:srgbClr val="FF0000"/>
                  </a:solidFill>
                </a:uFill>
                <a:latin typeface="微软雅黑"/>
                <a:cs typeface="微软雅黑"/>
              </a:rPr>
              <a:t>最好将定义</a:t>
            </a:r>
            <a:r>
              <a:rPr sz="1550" u="heavy" dirty="0">
                <a:solidFill>
                  <a:srgbClr val="FF0000"/>
                </a:solidFill>
                <a:uFill>
                  <a:solidFill>
                    <a:srgbClr val="FF0000"/>
                  </a:solidFill>
                </a:uFill>
                <a:latin typeface="Arial"/>
                <a:cs typeface="Arial"/>
              </a:rPr>
              <a:t>N</a:t>
            </a:r>
            <a:r>
              <a:rPr sz="1550" u="heavy" dirty="0">
                <a:solidFill>
                  <a:srgbClr val="FF0000"/>
                </a:solidFill>
                <a:uFill>
                  <a:solidFill>
                    <a:srgbClr val="FF0000"/>
                  </a:solidFill>
                </a:uFill>
                <a:latin typeface="微软雅黑"/>
                <a:cs typeface="微软雅黑"/>
              </a:rPr>
              <a:t>作为参数，而不是将其设置为一个常量，</a:t>
            </a:r>
            <a:r>
              <a:rPr sz="1550" u="none" spc="-25" dirty="0">
                <a:latin typeface="微软雅黑"/>
                <a:cs typeface="微软雅黑"/>
              </a:rPr>
              <a:t>在仿</a:t>
            </a:r>
            <a:r>
              <a:rPr sz="1550" u="none" spc="65" dirty="0">
                <a:latin typeface="微软雅黑"/>
                <a:cs typeface="微软雅黑"/>
              </a:rPr>
              <a:t>真与综合时修改代码。在实例化过程中</a:t>
            </a:r>
            <a:r>
              <a:rPr sz="1550" u="none" spc="60" dirty="0">
                <a:latin typeface="Arial"/>
                <a:cs typeface="Arial"/>
              </a:rPr>
              <a:t>,</a:t>
            </a:r>
            <a:r>
              <a:rPr sz="1550" u="none" spc="60" dirty="0">
                <a:latin typeface="微软雅黑"/>
                <a:cs typeface="微软雅黑"/>
              </a:rPr>
              <a:t>我们可以对于仿真和综</a:t>
            </a:r>
            <a:r>
              <a:rPr sz="1550" u="none" spc="-10" dirty="0">
                <a:latin typeface="微软雅黑"/>
                <a:cs typeface="微软雅黑"/>
              </a:rPr>
              <a:t>合设置不同的值。</a:t>
            </a:r>
            <a:endParaRPr sz="1550">
              <a:latin typeface="微软雅黑"/>
              <a:cs typeface="微软雅黑"/>
            </a:endParaRPr>
          </a:p>
        </p:txBody>
      </p:sp>
      <p:sp>
        <p:nvSpPr>
          <p:cNvPr id="11" name="object 11"/>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627" y="1072387"/>
            <a:ext cx="1727200" cy="453390"/>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4.5.2</a:t>
            </a:r>
            <a:r>
              <a:rPr dirty="0">
                <a:latin typeface="Arial"/>
                <a:cs typeface="Arial"/>
              </a:rPr>
              <a:t>	</a:t>
            </a:r>
            <a:r>
              <a:rPr spc="-25" dirty="0"/>
              <a:t>秒表</a:t>
            </a: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479386" y="1896110"/>
            <a:ext cx="9732645" cy="4033520"/>
          </a:xfrm>
          <a:prstGeom prst="rect">
            <a:avLst/>
          </a:prstGeom>
        </p:spPr>
        <p:txBody>
          <a:bodyPr vert="horz" wrap="square" lIns="0" tIns="12700" rIns="0" bIns="0" rtlCol="0">
            <a:spAutoFit/>
          </a:bodyPr>
          <a:lstStyle/>
          <a:p>
            <a:pPr marL="313055" indent="-300355">
              <a:lnSpc>
                <a:spcPct val="100000"/>
              </a:lnSpc>
              <a:spcBef>
                <a:spcPts val="100"/>
              </a:spcBef>
              <a:buFont typeface="Wingdings"/>
              <a:buChar char=""/>
              <a:tabLst>
                <a:tab pos="313055" algn="l"/>
              </a:tabLst>
            </a:pPr>
            <a:r>
              <a:rPr sz="1750" dirty="0">
                <a:latin typeface="微软雅黑"/>
                <a:cs typeface="微软雅黑"/>
              </a:rPr>
              <a:t>秒表显示的时间分为三个十进制数字，从</a:t>
            </a:r>
            <a:r>
              <a:rPr sz="1750" spc="-10" dirty="0">
                <a:latin typeface="Arial"/>
                <a:cs typeface="Arial"/>
              </a:rPr>
              <a:t>00.0</a:t>
            </a:r>
            <a:r>
              <a:rPr sz="1750" dirty="0">
                <a:latin typeface="微软雅黑"/>
                <a:cs typeface="微软雅黑"/>
              </a:rPr>
              <a:t>到</a:t>
            </a:r>
            <a:r>
              <a:rPr sz="1750" spc="-10" dirty="0">
                <a:latin typeface="Arial"/>
                <a:cs typeface="Arial"/>
              </a:rPr>
              <a:t>99.9</a:t>
            </a:r>
            <a:r>
              <a:rPr sz="1750" dirty="0">
                <a:latin typeface="微软雅黑"/>
                <a:cs typeface="微软雅黑"/>
              </a:rPr>
              <a:t>秒循环计数。它包含一个同步清零信号</a:t>
            </a:r>
            <a:r>
              <a:rPr sz="1750" spc="-20" dirty="0">
                <a:latin typeface="Arial"/>
                <a:cs typeface="Arial"/>
              </a:rPr>
              <a:t>clr</a:t>
            </a:r>
            <a:r>
              <a:rPr sz="1750" spc="-20" dirty="0">
                <a:latin typeface="微软雅黑"/>
                <a:cs typeface="微软雅黑"/>
              </a:rPr>
              <a:t>，</a:t>
            </a:r>
            <a:endParaRPr sz="1750">
              <a:latin typeface="微软雅黑"/>
              <a:cs typeface="微软雅黑"/>
            </a:endParaRPr>
          </a:p>
          <a:p>
            <a:pPr marL="313690">
              <a:lnSpc>
                <a:spcPct val="100000"/>
              </a:lnSpc>
              <a:spcBef>
                <a:spcPts val="2105"/>
              </a:spcBef>
            </a:pPr>
            <a:r>
              <a:rPr sz="1750" dirty="0">
                <a:latin typeface="微软雅黑"/>
                <a:cs typeface="微软雅黑"/>
              </a:rPr>
              <a:t>使秒表返回</a:t>
            </a:r>
            <a:r>
              <a:rPr sz="1750" spc="-20" dirty="0">
                <a:latin typeface="Arial"/>
                <a:cs typeface="Arial"/>
              </a:rPr>
              <a:t>00.0</a:t>
            </a:r>
            <a:r>
              <a:rPr sz="1750" dirty="0">
                <a:latin typeface="微软雅黑"/>
                <a:cs typeface="微软雅黑"/>
              </a:rPr>
              <a:t>。还包含一个启动信号</a:t>
            </a:r>
            <a:r>
              <a:rPr sz="1750" spc="-10" dirty="0">
                <a:latin typeface="Arial"/>
                <a:cs typeface="Arial"/>
              </a:rPr>
              <a:t>go</a:t>
            </a:r>
            <a:r>
              <a:rPr sz="1750" spc="-10" dirty="0">
                <a:latin typeface="微软雅黑"/>
                <a:cs typeface="微软雅黑"/>
              </a:rPr>
              <a:t>，开始或者暂停计数。</a:t>
            </a:r>
            <a:endParaRPr sz="1750">
              <a:latin typeface="微软雅黑"/>
              <a:cs typeface="微软雅黑"/>
            </a:endParaRPr>
          </a:p>
          <a:p>
            <a:pPr marL="313690" marR="6350" indent="-300990">
              <a:lnSpc>
                <a:spcPct val="200300"/>
              </a:lnSpc>
              <a:spcBef>
                <a:spcPts val="5"/>
              </a:spcBef>
              <a:buFont typeface="Wingdings"/>
              <a:buChar char=""/>
              <a:tabLst>
                <a:tab pos="313690" algn="l"/>
              </a:tabLst>
            </a:pPr>
            <a:r>
              <a:rPr sz="1750" dirty="0">
                <a:latin typeface="微软雅黑"/>
                <a:cs typeface="微软雅黑"/>
              </a:rPr>
              <a:t>本设计是一个</a:t>
            </a:r>
            <a:r>
              <a:rPr sz="1750" dirty="0">
                <a:latin typeface="Arial"/>
                <a:cs typeface="Arial"/>
              </a:rPr>
              <a:t>BCD</a:t>
            </a:r>
            <a:r>
              <a:rPr sz="1750" dirty="0">
                <a:latin typeface="微软雅黑"/>
                <a:cs typeface="微软雅黑"/>
              </a:rPr>
              <a:t>（二</a:t>
            </a:r>
            <a:r>
              <a:rPr sz="1750" spc="-10" dirty="0">
                <a:latin typeface="Arial"/>
                <a:cs typeface="Arial"/>
              </a:rPr>
              <a:t>-</a:t>
            </a:r>
            <a:r>
              <a:rPr sz="1750" dirty="0">
                <a:latin typeface="微软雅黑"/>
                <a:cs typeface="微软雅黑"/>
              </a:rPr>
              <a:t>十进制代码）编码的计数器。在这种格式中，一个十进制数由</a:t>
            </a:r>
            <a:r>
              <a:rPr sz="1750" spc="-10" dirty="0">
                <a:latin typeface="Arial"/>
                <a:cs typeface="Arial"/>
              </a:rPr>
              <a:t>4</a:t>
            </a:r>
            <a:r>
              <a:rPr sz="1750" dirty="0">
                <a:latin typeface="微软雅黑"/>
                <a:cs typeface="微软雅黑"/>
              </a:rPr>
              <a:t>位</a:t>
            </a:r>
            <a:r>
              <a:rPr sz="1750" dirty="0">
                <a:latin typeface="Arial"/>
                <a:cs typeface="Arial"/>
              </a:rPr>
              <a:t>BCD</a:t>
            </a:r>
            <a:r>
              <a:rPr sz="1750" spc="-50" dirty="0">
                <a:latin typeface="微软雅黑"/>
                <a:cs typeface="微软雅黑"/>
              </a:rPr>
              <a:t>数</a:t>
            </a:r>
            <a:r>
              <a:rPr sz="1750" dirty="0">
                <a:latin typeface="微软雅黑"/>
                <a:cs typeface="微软雅黑"/>
              </a:rPr>
              <a:t>字表示。例如</a:t>
            </a:r>
            <a:r>
              <a:rPr sz="1750" spc="-20" dirty="0">
                <a:latin typeface="Arial"/>
                <a:cs typeface="Arial"/>
              </a:rPr>
              <a:t>139</a:t>
            </a:r>
            <a:r>
              <a:rPr sz="1750" dirty="0">
                <a:latin typeface="微软雅黑"/>
                <a:cs typeface="微软雅黑"/>
              </a:rPr>
              <a:t>表示为</a:t>
            </a:r>
            <a:r>
              <a:rPr sz="1750" dirty="0">
                <a:latin typeface="Arial"/>
                <a:cs typeface="Arial"/>
              </a:rPr>
              <a:t>“0001</a:t>
            </a:r>
            <a:r>
              <a:rPr sz="1750" spc="-30" dirty="0">
                <a:latin typeface="Arial"/>
                <a:cs typeface="Arial"/>
              </a:rPr>
              <a:t> </a:t>
            </a:r>
            <a:r>
              <a:rPr sz="1750" spc="-20" dirty="0">
                <a:latin typeface="Arial"/>
                <a:cs typeface="Arial"/>
              </a:rPr>
              <a:t>0011</a:t>
            </a:r>
            <a:r>
              <a:rPr sz="1750" spc="-40" dirty="0">
                <a:latin typeface="Arial"/>
                <a:cs typeface="Arial"/>
              </a:rPr>
              <a:t> </a:t>
            </a:r>
            <a:r>
              <a:rPr sz="1750" spc="-20" dirty="0">
                <a:latin typeface="Arial"/>
                <a:cs typeface="Arial"/>
              </a:rPr>
              <a:t>1001”</a:t>
            </a:r>
            <a:r>
              <a:rPr sz="1750" dirty="0">
                <a:latin typeface="微软雅黑"/>
                <a:cs typeface="微软雅黑"/>
              </a:rPr>
              <a:t>和下一个数字是</a:t>
            </a:r>
            <a:r>
              <a:rPr sz="1750" spc="-20" dirty="0">
                <a:latin typeface="Arial"/>
                <a:cs typeface="Arial"/>
              </a:rPr>
              <a:t>140</a:t>
            </a:r>
            <a:r>
              <a:rPr sz="1750" dirty="0">
                <a:latin typeface="微软雅黑"/>
                <a:cs typeface="微软雅黑"/>
              </a:rPr>
              <a:t>表示为</a:t>
            </a:r>
            <a:r>
              <a:rPr sz="1750" dirty="0">
                <a:latin typeface="Arial"/>
                <a:cs typeface="Arial"/>
              </a:rPr>
              <a:t>“0001</a:t>
            </a:r>
            <a:r>
              <a:rPr sz="1750" spc="-30" dirty="0">
                <a:latin typeface="Arial"/>
                <a:cs typeface="Arial"/>
              </a:rPr>
              <a:t> </a:t>
            </a:r>
            <a:r>
              <a:rPr sz="1750" dirty="0">
                <a:latin typeface="Arial"/>
                <a:cs typeface="Arial"/>
              </a:rPr>
              <a:t>0100</a:t>
            </a:r>
            <a:r>
              <a:rPr sz="1750" spc="-40" dirty="0">
                <a:latin typeface="Arial"/>
                <a:cs typeface="Arial"/>
              </a:rPr>
              <a:t> </a:t>
            </a:r>
            <a:r>
              <a:rPr sz="1750" spc="-20" dirty="0">
                <a:latin typeface="Arial"/>
                <a:cs typeface="Arial"/>
              </a:rPr>
              <a:t>0000”</a:t>
            </a:r>
            <a:r>
              <a:rPr sz="1750" spc="-50" dirty="0">
                <a:latin typeface="微软雅黑"/>
                <a:cs typeface="微软雅黑"/>
              </a:rPr>
              <a:t>。</a:t>
            </a:r>
            <a:endParaRPr sz="1750">
              <a:latin typeface="微软雅黑"/>
              <a:cs typeface="微软雅黑"/>
            </a:endParaRPr>
          </a:p>
          <a:p>
            <a:pPr marL="313690" marR="5080" indent="-300990">
              <a:lnSpc>
                <a:spcPts val="4210"/>
              </a:lnSpc>
              <a:spcBef>
                <a:spcPts val="490"/>
              </a:spcBef>
              <a:buFont typeface="Wingdings"/>
              <a:buChar char=""/>
              <a:tabLst>
                <a:tab pos="313690" algn="l"/>
              </a:tabLst>
            </a:pPr>
            <a:r>
              <a:rPr sz="1750" dirty="0">
                <a:latin typeface="微软雅黑"/>
                <a:cs typeface="微软雅黑"/>
              </a:rPr>
              <a:t>计数脉冲可以从</a:t>
            </a:r>
            <a:r>
              <a:rPr sz="1750" spc="-10" dirty="0">
                <a:latin typeface="Arial"/>
                <a:cs typeface="Arial"/>
              </a:rPr>
              <a:t>50MHz</a:t>
            </a:r>
            <a:r>
              <a:rPr sz="1750" dirty="0">
                <a:latin typeface="微软雅黑"/>
                <a:cs typeface="微软雅黑"/>
              </a:rPr>
              <a:t>时钟源产生，我们首先需要一个最大值为</a:t>
            </a:r>
            <a:r>
              <a:rPr sz="1750" spc="-10" dirty="0">
                <a:latin typeface="Arial"/>
                <a:cs typeface="Arial"/>
              </a:rPr>
              <a:t>5,000,000</a:t>
            </a:r>
            <a:r>
              <a:rPr sz="1750" dirty="0">
                <a:latin typeface="微软雅黑"/>
                <a:cs typeface="微软雅黑"/>
              </a:rPr>
              <a:t>的计数器，每</a:t>
            </a:r>
            <a:r>
              <a:rPr sz="1750" spc="-10" dirty="0">
                <a:latin typeface="Arial"/>
                <a:cs typeface="Arial"/>
              </a:rPr>
              <a:t>0.1</a:t>
            </a:r>
            <a:r>
              <a:rPr sz="1750" spc="-25" dirty="0">
                <a:latin typeface="微软雅黑"/>
                <a:cs typeface="微软雅黑"/>
              </a:rPr>
              <a:t>秒生</a:t>
            </a:r>
            <a:r>
              <a:rPr sz="1750" dirty="0">
                <a:latin typeface="微软雅黑"/>
                <a:cs typeface="微软雅黑"/>
              </a:rPr>
              <a:t>成一个时钟周期的脉冲，用于三位</a:t>
            </a:r>
            <a:r>
              <a:rPr sz="1750" dirty="0">
                <a:latin typeface="Arial"/>
                <a:cs typeface="Arial"/>
              </a:rPr>
              <a:t>BCD</a:t>
            </a:r>
            <a:r>
              <a:rPr sz="1750" spc="-10" dirty="0">
                <a:latin typeface="微软雅黑"/>
                <a:cs typeface="微软雅黑"/>
              </a:rPr>
              <a:t>计数器的计数时钟。</a:t>
            </a:r>
            <a:endParaRPr sz="1750">
              <a:latin typeface="微软雅黑"/>
              <a:cs typeface="微软雅黑"/>
            </a:endParaRPr>
          </a:p>
          <a:p>
            <a:pPr marL="313055" indent="-300355">
              <a:lnSpc>
                <a:spcPct val="100000"/>
              </a:lnSpc>
              <a:spcBef>
                <a:spcPts val="1614"/>
              </a:spcBef>
              <a:buFont typeface="Wingdings"/>
              <a:buChar char=""/>
              <a:tabLst>
                <a:tab pos="313055" algn="l"/>
              </a:tabLst>
            </a:pPr>
            <a:r>
              <a:rPr sz="1750" dirty="0">
                <a:latin typeface="微软雅黑"/>
                <a:cs typeface="微软雅黑"/>
              </a:rPr>
              <a:t>本设计中，</a:t>
            </a:r>
            <a:r>
              <a:rPr sz="1750" dirty="0">
                <a:latin typeface="Arial"/>
                <a:cs typeface="Arial"/>
              </a:rPr>
              <a:t>BCD</a:t>
            </a:r>
            <a:r>
              <a:rPr sz="1750" spc="-5" dirty="0">
                <a:latin typeface="微软雅黑"/>
                <a:cs typeface="微软雅黑"/>
              </a:rPr>
              <a:t>计数器采用同步电路设计方法进行设计。</a:t>
            </a:r>
            <a:endParaRPr sz="1750">
              <a:latin typeface="微软雅黑"/>
              <a:cs typeface="微软雅黑"/>
            </a:endParaRPr>
          </a:p>
          <a:p>
            <a:pPr marL="313055" indent="-300355">
              <a:lnSpc>
                <a:spcPct val="100000"/>
              </a:lnSpc>
              <a:spcBef>
                <a:spcPts val="2105"/>
              </a:spcBef>
              <a:buFont typeface="Wingdings"/>
              <a:buChar char=""/>
              <a:tabLst>
                <a:tab pos="313055" algn="l"/>
              </a:tabLst>
            </a:pPr>
            <a:r>
              <a:rPr sz="1750" dirty="0">
                <a:latin typeface="微软雅黑"/>
                <a:cs typeface="微软雅黑"/>
              </a:rPr>
              <a:t>秒表的</a:t>
            </a:r>
            <a:r>
              <a:rPr sz="1750" spc="-10" dirty="0">
                <a:latin typeface="Arial"/>
                <a:cs typeface="Arial"/>
              </a:rPr>
              <a:t>Verilog</a:t>
            </a:r>
            <a:r>
              <a:rPr sz="1750" spc="-40" dirty="0">
                <a:latin typeface="Arial"/>
                <a:cs typeface="Arial"/>
              </a:rPr>
              <a:t> </a:t>
            </a:r>
            <a:r>
              <a:rPr sz="1750" spc="-10" dirty="0">
                <a:latin typeface="Arial"/>
                <a:cs typeface="Arial"/>
              </a:rPr>
              <a:t>HDL</a:t>
            </a:r>
            <a:r>
              <a:rPr sz="1750" dirty="0">
                <a:latin typeface="微软雅黑"/>
                <a:cs typeface="微软雅黑"/>
              </a:rPr>
              <a:t>描述如例</a:t>
            </a:r>
            <a:r>
              <a:rPr sz="1750" spc="-20" dirty="0">
                <a:latin typeface="Arial"/>
                <a:cs typeface="Arial"/>
              </a:rPr>
              <a:t>4.19</a:t>
            </a:r>
            <a:r>
              <a:rPr sz="1750" spc="-20" dirty="0">
                <a:latin typeface="微软雅黑"/>
                <a:cs typeface="微软雅黑"/>
              </a:rPr>
              <a:t>所示。</a:t>
            </a:r>
            <a:endParaRPr sz="1750">
              <a:latin typeface="微软雅黑"/>
              <a:cs typeface="微软雅黑"/>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58431" y="1566672"/>
            <a:ext cx="4593590" cy="4937760"/>
          </a:xfrm>
          <a:custGeom>
            <a:avLst/>
            <a:gdLst/>
            <a:ahLst/>
            <a:cxnLst/>
            <a:rect l="l" t="t" r="r" b="b"/>
            <a:pathLst>
              <a:path w="4593590" h="4937759">
                <a:moveTo>
                  <a:pt x="4593336" y="4937760"/>
                </a:moveTo>
                <a:lnTo>
                  <a:pt x="4593336" y="0"/>
                </a:lnTo>
                <a:lnTo>
                  <a:pt x="0" y="0"/>
                </a:lnTo>
                <a:lnTo>
                  <a:pt x="0" y="4937760"/>
                </a:lnTo>
                <a:lnTo>
                  <a:pt x="4593336" y="4937760"/>
                </a:lnTo>
                <a:close/>
              </a:path>
            </a:pathLst>
          </a:custGeom>
          <a:solidFill>
            <a:srgbClr val="F9FABA"/>
          </a:solidFill>
        </p:spPr>
        <p:txBody>
          <a:bodyPr wrap="square" lIns="0" tIns="0" rIns="0" bIns="0" rtlCol="0"/>
          <a:lstStyle/>
          <a:p>
            <a:endParaRPr/>
          </a:p>
        </p:txBody>
      </p:sp>
      <p:sp>
        <p:nvSpPr>
          <p:cNvPr id="3" name="object 3"/>
          <p:cNvSpPr txBox="1">
            <a:spLocks noGrp="1"/>
          </p:cNvSpPr>
          <p:nvPr>
            <p:ph sz="half" idx="2"/>
          </p:nvPr>
        </p:nvSpPr>
        <p:spPr>
          <a:prstGeom prst="rect">
            <a:avLst/>
          </a:prstGeom>
        </p:spPr>
        <p:txBody>
          <a:bodyPr vert="horz" wrap="square" lIns="0" tIns="34290" rIns="0" bIns="0" rtlCol="0">
            <a:spAutoFit/>
          </a:bodyPr>
          <a:lstStyle/>
          <a:p>
            <a:pPr marL="246379" marR="2723515" indent="-167005">
              <a:lnSpc>
                <a:spcPct val="101499"/>
              </a:lnSpc>
              <a:spcBef>
                <a:spcPts val="270"/>
              </a:spcBef>
            </a:pPr>
            <a:r>
              <a:rPr b="1" dirty="0">
                <a:latin typeface="Arial"/>
                <a:cs typeface="Arial"/>
              </a:rPr>
              <a:t>module</a:t>
            </a:r>
            <a:r>
              <a:rPr b="1" spc="60" dirty="0">
                <a:latin typeface="Arial"/>
                <a:cs typeface="Arial"/>
              </a:rPr>
              <a:t> </a:t>
            </a:r>
            <a:r>
              <a:rPr spc="-10" dirty="0"/>
              <a:t>stop_watch </a:t>
            </a:r>
            <a:r>
              <a:rPr dirty="0"/>
              <a:t>(</a:t>
            </a:r>
            <a:r>
              <a:rPr b="1" dirty="0">
                <a:latin typeface="Arial"/>
                <a:cs typeface="Arial"/>
              </a:rPr>
              <a:t>input</a:t>
            </a:r>
            <a:r>
              <a:rPr b="1" spc="480" dirty="0">
                <a:latin typeface="Arial"/>
                <a:cs typeface="Arial"/>
              </a:rPr>
              <a:t> </a:t>
            </a:r>
            <a:r>
              <a:rPr spc="-20" dirty="0"/>
              <a:t>clk</a:t>
            </a:r>
            <a:r>
              <a:rPr spc="-20" dirty="0">
                <a:latin typeface="微软雅黑"/>
                <a:cs typeface="微软雅黑"/>
              </a:rPr>
              <a:t>，</a:t>
            </a:r>
            <a:r>
              <a:rPr spc="500" dirty="0">
                <a:latin typeface="微软雅黑"/>
                <a:cs typeface="微软雅黑"/>
              </a:rPr>
              <a:t> </a:t>
            </a:r>
            <a:r>
              <a:rPr b="1" dirty="0">
                <a:latin typeface="Arial"/>
                <a:cs typeface="Arial"/>
              </a:rPr>
              <a:t>input</a:t>
            </a:r>
            <a:r>
              <a:rPr b="1" spc="470" dirty="0">
                <a:latin typeface="Arial"/>
                <a:cs typeface="Arial"/>
              </a:rPr>
              <a:t> </a:t>
            </a:r>
            <a:r>
              <a:rPr spc="-10" dirty="0"/>
              <a:t>go,clr</a:t>
            </a:r>
            <a:r>
              <a:rPr spc="-10" dirty="0">
                <a:latin typeface="微软雅黑"/>
                <a:cs typeface="微软雅黑"/>
              </a:rPr>
              <a:t>，</a:t>
            </a:r>
          </a:p>
          <a:p>
            <a:pPr marL="302260">
              <a:lnSpc>
                <a:spcPct val="100000"/>
              </a:lnSpc>
              <a:spcBef>
                <a:spcPts val="40"/>
              </a:spcBef>
            </a:pPr>
            <a:r>
              <a:rPr b="1" dirty="0">
                <a:latin typeface="Arial"/>
                <a:cs typeface="Arial"/>
              </a:rPr>
              <a:t>output</a:t>
            </a:r>
            <a:r>
              <a:rPr b="1" spc="40" dirty="0">
                <a:latin typeface="Arial"/>
                <a:cs typeface="Arial"/>
              </a:rPr>
              <a:t> </a:t>
            </a:r>
            <a:r>
              <a:rPr dirty="0"/>
              <a:t>[3:0]</a:t>
            </a:r>
            <a:r>
              <a:rPr spc="50" dirty="0"/>
              <a:t> </a:t>
            </a:r>
            <a:r>
              <a:rPr spc="-10" dirty="0"/>
              <a:t>d2,d1,d0</a:t>
            </a:r>
          </a:p>
          <a:p>
            <a:pPr marL="357505">
              <a:lnSpc>
                <a:spcPct val="100000"/>
              </a:lnSpc>
              <a:spcBef>
                <a:spcPts val="35"/>
              </a:spcBef>
            </a:pPr>
            <a:r>
              <a:rPr spc="-25" dirty="0"/>
              <a:t>);</a:t>
            </a:r>
          </a:p>
          <a:p>
            <a:pPr marL="357505">
              <a:lnSpc>
                <a:spcPct val="100000"/>
              </a:lnSpc>
              <a:spcBef>
                <a:spcPts val="35"/>
              </a:spcBef>
            </a:pPr>
            <a:r>
              <a:rPr b="1" dirty="0">
                <a:latin typeface="Arial"/>
                <a:cs typeface="Arial"/>
              </a:rPr>
              <a:t>localparam</a:t>
            </a:r>
            <a:r>
              <a:rPr b="1" spc="5" dirty="0">
                <a:latin typeface="Arial"/>
                <a:cs typeface="Arial"/>
              </a:rPr>
              <a:t> </a:t>
            </a:r>
            <a:r>
              <a:rPr dirty="0"/>
              <a:t>COUNT_VALUE</a:t>
            </a:r>
            <a:r>
              <a:rPr spc="10" dirty="0"/>
              <a:t> </a:t>
            </a:r>
            <a:r>
              <a:rPr dirty="0"/>
              <a:t>=</a:t>
            </a:r>
            <a:r>
              <a:rPr spc="10" dirty="0"/>
              <a:t> </a:t>
            </a:r>
            <a:r>
              <a:rPr spc="-10" dirty="0"/>
              <a:t>5000000;</a:t>
            </a:r>
          </a:p>
          <a:p>
            <a:pPr marL="357505">
              <a:lnSpc>
                <a:spcPct val="100000"/>
              </a:lnSpc>
              <a:spcBef>
                <a:spcPts val="30"/>
              </a:spcBef>
            </a:pPr>
            <a:r>
              <a:rPr b="1" dirty="0">
                <a:latin typeface="Arial"/>
                <a:cs typeface="Arial"/>
              </a:rPr>
              <a:t>reg</a:t>
            </a:r>
            <a:r>
              <a:rPr b="1" spc="50" dirty="0">
                <a:latin typeface="Arial"/>
                <a:cs typeface="Arial"/>
              </a:rPr>
              <a:t> </a:t>
            </a:r>
            <a:r>
              <a:rPr dirty="0"/>
              <a:t>[22:0]</a:t>
            </a:r>
            <a:r>
              <a:rPr spc="55" dirty="0"/>
              <a:t> </a:t>
            </a:r>
            <a:r>
              <a:rPr spc="-10" dirty="0"/>
              <a:t>ms_reg;</a:t>
            </a:r>
          </a:p>
          <a:p>
            <a:pPr marL="357505">
              <a:lnSpc>
                <a:spcPct val="100000"/>
              </a:lnSpc>
              <a:spcBef>
                <a:spcPts val="40"/>
              </a:spcBef>
            </a:pPr>
            <a:r>
              <a:rPr b="1" dirty="0">
                <a:latin typeface="Arial"/>
                <a:cs typeface="Arial"/>
              </a:rPr>
              <a:t>reg</a:t>
            </a:r>
            <a:r>
              <a:rPr b="1" spc="25" dirty="0">
                <a:latin typeface="Arial"/>
                <a:cs typeface="Arial"/>
              </a:rPr>
              <a:t> </a:t>
            </a:r>
            <a:r>
              <a:rPr dirty="0"/>
              <a:t>[3:0]</a:t>
            </a:r>
            <a:r>
              <a:rPr spc="35" dirty="0"/>
              <a:t> </a:t>
            </a:r>
            <a:r>
              <a:rPr dirty="0"/>
              <a:t>d2_reg,</a:t>
            </a:r>
            <a:r>
              <a:rPr spc="35" dirty="0"/>
              <a:t> </a:t>
            </a:r>
            <a:r>
              <a:rPr dirty="0"/>
              <a:t>d1_reg,</a:t>
            </a:r>
            <a:r>
              <a:rPr spc="35" dirty="0"/>
              <a:t> </a:t>
            </a:r>
            <a:r>
              <a:rPr spc="-10" dirty="0"/>
              <a:t>d0_reg;</a:t>
            </a:r>
          </a:p>
          <a:p>
            <a:pPr marL="357505">
              <a:lnSpc>
                <a:spcPct val="100000"/>
              </a:lnSpc>
              <a:spcBef>
                <a:spcPts val="30"/>
              </a:spcBef>
            </a:pPr>
            <a:r>
              <a:rPr b="1" dirty="0">
                <a:latin typeface="Arial"/>
                <a:cs typeface="Arial"/>
              </a:rPr>
              <a:t>reg</a:t>
            </a:r>
            <a:r>
              <a:rPr b="1" spc="15" dirty="0">
                <a:latin typeface="Arial"/>
                <a:cs typeface="Arial"/>
              </a:rPr>
              <a:t> </a:t>
            </a:r>
            <a:r>
              <a:rPr spc="-25" dirty="0"/>
              <a:t>dp;</a:t>
            </a:r>
          </a:p>
          <a:p>
            <a:pPr marL="357505">
              <a:lnSpc>
                <a:spcPct val="100000"/>
              </a:lnSpc>
              <a:spcBef>
                <a:spcPts val="35"/>
              </a:spcBef>
            </a:pPr>
            <a:r>
              <a:rPr b="1" dirty="0">
                <a:latin typeface="Arial"/>
                <a:cs typeface="Arial"/>
              </a:rPr>
              <a:t>wire</a:t>
            </a:r>
            <a:r>
              <a:rPr b="1" spc="50" dirty="0">
                <a:latin typeface="Arial"/>
                <a:cs typeface="Arial"/>
              </a:rPr>
              <a:t> </a:t>
            </a:r>
            <a:r>
              <a:rPr spc="-10" dirty="0"/>
              <a:t>ms_tick;</a:t>
            </a:r>
          </a:p>
          <a:p>
            <a:pPr marL="357505">
              <a:lnSpc>
                <a:spcPct val="100000"/>
              </a:lnSpc>
              <a:spcBef>
                <a:spcPts val="35"/>
              </a:spcBef>
            </a:pPr>
            <a:r>
              <a:rPr b="1" dirty="0">
                <a:latin typeface="Arial"/>
                <a:cs typeface="Arial"/>
              </a:rPr>
              <a:t>reg</a:t>
            </a:r>
            <a:r>
              <a:rPr b="1" spc="30" dirty="0">
                <a:latin typeface="Arial"/>
                <a:cs typeface="Arial"/>
              </a:rPr>
              <a:t> </a:t>
            </a:r>
            <a:r>
              <a:rPr dirty="0"/>
              <a:t>[3:0]</a:t>
            </a:r>
            <a:r>
              <a:rPr spc="30" dirty="0"/>
              <a:t> </a:t>
            </a:r>
            <a:r>
              <a:rPr dirty="0"/>
              <a:t>d2_next,</a:t>
            </a:r>
            <a:r>
              <a:rPr spc="30" dirty="0"/>
              <a:t> </a:t>
            </a:r>
            <a:r>
              <a:rPr dirty="0"/>
              <a:t>d1_next,</a:t>
            </a:r>
            <a:r>
              <a:rPr spc="30" dirty="0"/>
              <a:t> </a:t>
            </a:r>
            <a:r>
              <a:rPr spc="-10" dirty="0"/>
              <a:t>d0_next;</a:t>
            </a:r>
          </a:p>
          <a:p>
            <a:pPr marL="357505">
              <a:lnSpc>
                <a:spcPct val="100000"/>
              </a:lnSpc>
              <a:spcBef>
                <a:spcPts val="30"/>
              </a:spcBef>
            </a:pPr>
            <a:r>
              <a:rPr b="1" dirty="0">
                <a:latin typeface="Arial"/>
                <a:cs typeface="Arial"/>
              </a:rPr>
              <a:t>always</a:t>
            </a:r>
            <a:r>
              <a:rPr b="1" spc="60" dirty="0">
                <a:latin typeface="Arial"/>
                <a:cs typeface="Arial"/>
              </a:rPr>
              <a:t> </a:t>
            </a:r>
            <a:r>
              <a:rPr dirty="0"/>
              <a:t>@(</a:t>
            </a:r>
            <a:r>
              <a:rPr b="1" dirty="0">
                <a:latin typeface="Arial"/>
                <a:cs typeface="Arial"/>
              </a:rPr>
              <a:t>posedge</a:t>
            </a:r>
            <a:r>
              <a:rPr b="1" spc="55" dirty="0">
                <a:latin typeface="Arial"/>
                <a:cs typeface="Arial"/>
              </a:rPr>
              <a:t> </a:t>
            </a:r>
            <a:r>
              <a:rPr spc="-20" dirty="0"/>
              <a:t>clk)</a:t>
            </a:r>
          </a:p>
          <a:p>
            <a:pPr marL="524510">
              <a:lnSpc>
                <a:spcPct val="100000"/>
              </a:lnSpc>
              <a:spcBef>
                <a:spcPts val="35"/>
              </a:spcBef>
            </a:pPr>
            <a:r>
              <a:rPr b="1" spc="-10" dirty="0">
                <a:latin typeface="Arial"/>
                <a:cs typeface="Arial"/>
              </a:rPr>
              <a:t>begin</a:t>
            </a:r>
          </a:p>
          <a:p>
            <a:pPr marL="692150">
              <a:lnSpc>
                <a:spcPct val="100000"/>
              </a:lnSpc>
              <a:spcBef>
                <a:spcPts val="30"/>
              </a:spcBef>
            </a:pPr>
            <a:r>
              <a:rPr b="1" dirty="0">
                <a:latin typeface="Arial"/>
                <a:cs typeface="Arial"/>
              </a:rPr>
              <a:t>if</a:t>
            </a:r>
            <a:r>
              <a:rPr b="1" spc="15" dirty="0">
                <a:latin typeface="Arial"/>
                <a:cs typeface="Arial"/>
              </a:rPr>
              <a:t> </a:t>
            </a:r>
            <a:r>
              <a:rPr spc="-10" dirty="0"/>
              <a:t>(clr==0)</a:t>
            </a:r>
          </a:p>
          <a:p>
            <a:pPr marL="692150">
              <a:lnSpc>
                <a:spcPct val="100000"/>
              </a:lnSpc>
              <a:spcBef>
                <a:spcPts val="35"/>
              </a:spcBef>
            </a:pPr>
            <a:r>
              <a:rPr b="1" spc="-10" dirty="0">
                <a:latin typeface="Arial"/>
                <a:cs typeface="Arial"/>
              </a:rPr>
              <a:t>begin</a:t>
            </a:r>
          </a:p>
          <a:p>
            <a:pPr marL="881380" marR="2200275">
              <a:lnSpc>
                <a:spcPct val="101699"/>
              </a:lnSpc>
              <a:spcBef>
                <a:spcPts val="5"/>
              </a:spcBef>
            </a:pPr>
            <a:r>
              <a:rPr dirty="0"/>
              <a:t>ms_reg</a:t>
            </a:r>
            <a:r>
              <a:rPr spc="30" dirty="0"/>
              <a:t> </a:t>
            </a:r>
            <a:r>
              <a:rPr spc="-10" dirty="0"/>
              <a:t>&lt;=23’b0; </a:t>
            </a:r>
            <a:r>
              <a:rPr dirty="0"/>
              <a:t>d2_reg</a:t>
            </a:r>
            <a:r>
              <a:rPr spc="25" dirty="0"/>
              <a:t> </a:t>
            </a:r>
            <a:r>
              <a:rPr dirty="0"/>
              <a:t>&lt;=</a:t>
            </a:r>
            <a:r>
              <a:rPr spc="25" dirty="0"/>
              <a:t> </a:t>
            </a:r>
            <a:r>
              <a:rPr spc="-10" dirty="0"/>
              <a:t>4’b0; </a:t>
            </a:r>
            <a:r>
              <a:rPr dirty="0"/>
              <a:t>d1_reg</a:t>
            </a:r>
            <a:r>
              <a:rPr spc="25" dirty="0"/>
              <a:t> </a:t>
            </a:r>
            <a:r>
              <a:rPr dirty="0"/>
              <a:t>&lt;=</a:t>
            </a:r>
            <a:r>
              <a:rPr spc="25" dirty="0"/>
              <a:t> </a:t>
            </a:r>
            <a:r>
              <a:rPr spc="-10" dirty="0"/>
              <a:t>4’b0; </a:t>
            </a:r>
            <a:r>
              <a:rPr dirty="0"/>
              <a:t>d0_reg</a:t>
            </a:r>
            <a:r>
              <a:rPr spc="25" dirty="0"/>
              <a:t> </a:t>
            </a:r>
            <a:r>
              <a:rPr dirty="0"/>
              <a:t>&lt;=</a:t>
            </a:r>
            <a:r>
              <a:rPr spc="25" dirty="0"/>
              <a:t> </a:t>
            </a:r>
            <a:r>
              <a:rPr spc="-10" dirty="0"/>
              <a:t>4’b0;</a:t>
            </a:r>
          </a:p>
          <a:p>
            <a:pPr marL="636905">
              <a:lnSpc>
                <a:spcPct val="100000"/>
              </a:lnSpc>
              <a:spcBef>
                <a:spcPts val="40"/>
              </a:spcBef>
            </a:pPr>
            <a:r>
              <a:rPr b="1" spc="-25" dirty="0">
                <a:latin typeface="Arial"/>
                <a:cs typeface="Arial"/>
              </a:rPr>
              <a:t>end</a:t>
            </a:r>
          </a:p>
        </p:txBody>
      </p:sp>
      <p:sp>
        <p:nvSpPr>
          <p:cNvPr id="4" name="object 4"/>
          <p:cNvSpPr txBox="1"/>
          <p:nvPr/>
        </p:nvSpPr>
        <p:spPr>
          <a:xfrm>
            <a:off x="5610714" y="5021757"/>
            <a:ext cx="4457065" cy="266065"/>
          </a:xfrm>
          <a:prstGeom prst="rect">
            <a:avLst/>
          </a:prstGeom>
        </p:spPr>
        <p:txBody>
          <a:bodyPr vert="horz" wrap="square" lIns="0" tIns="15875" rIns="0" bIns="0" rtlCol="0">
            <a:spAutoFit/>
          </a:bodyPr>
          <a:lstStyle/>
          <a:p>
            <a:pPr marL="12700">
              <a:lnSpc>
                <a:spcPct val="100000"/>
              </a:lnSpc>
              <a:spcBef>
                <a:spcPts val="125"/>
              </a:spcBef>
            </a:pPr>
            <a:r>
              <a:rPr sz="1550" spc="5" dirty="0">
                <a:latin typeface="微软雅黑"/>
                <a:cs typeface="微软雅黑"/>
              </a:rPr>
              <a:t>例 </a:t>
            </a:r>
            <a:r>
              <a:rPr sz="1550" dirty="0">
                <a:latin typeface="Arial"/>
                <a:cs typeface="Arial"/>
              </a:rPr>
              <a:t>4.19</a:t>
            </a:r>
            <a:r>
              <a:rPr sz="1550" spc="50" dirty="0">
                <a:latin typeface="Arial"/>
                <a:cs typeface="Arial"/>
              </a:rPr>
              <a:t>  </a:t>
            </a:r>
            <a:r>
              <a:rPr sz="1550" dirty="0">
                <a:latin typeface="微软雅黑"/>
                <a:cs typeface="微软雅黑"/>
              </a:rPr>
              <a:t>秒表电路的</a:t>
            </a:r>
            <a:r>
              <a:rPr sz="1550" dirty="0">
                <a:latin typeface="Arial"/>
                <a:cs typeface="Arial"/>
              </a:rPr>
              <a:t>Verilog</a:t>
            </a:r>
            <a:r>
              <a:rPr sz="1550" spc="50" dirty="0">
                <a:latin typeface="Arial"/>
                <a:cs typeface="Arial"/>
              </a:rPr>
              <a:t> </a:t>
            </a:r>
            <a:r>
              <a:rPr sz="1550" dirty="0">
                <a:latin typeface="Arial"/>
                <a:cs typeface="Arial"/>
              </a:rPr>
              <a:t>HDL</a:t>
            </a:r>
            <a:r>
              <a:rPr sz="1550" dirty="0">
                <a:latin typeface="微软雅黑"/>
                <a:cs typeface="微软雅黑"/>
              </a:rPr>
              <a:t>描述（未完待续</a:t>
            </a:r>
            <a:r>
              <a:rPr sz="1550" spc="-50" dirty="0">
                <a:latin typeface="微软雅黑"/>
                <a:cs typeface="微软雅黑"/>
              </a:rPr>
              <a:t>）</a:t>
            </a:r>
            <a:endParaRPr sz="1550">
              <a:latin typeface="微软雅黑"/>
              <a:cs typeface="微软雅黑"/>
            </a:endParaRPr>
          </a:p>
        </p:txBody>
      </p:sp>
      <p:sp>
        <p:nvSpPr>
          <p:cNvPr id="5" name="object 5"/>
          <p:cNvSpPr txBox="1"/>
          <p:nvPr/>
        </p:nvSpPr>
        <p:spPr>
          <a:xfrm>
            <a:off x="5392559" y="1566672"/>
            <a:ext cx="4944745" cy="3481070"/>
          </a:xfrm>
          <a:prstGeom prst="rect">
            <a:avLst/>
          </a:prstGeom>
          <a:solidFill>
            <a:srgbClr val="F9FABA"/>
          </a:solidFill>
        </p:spPr>
        <p:txBody>
          <a:bodyPr vert="horz" wrap="square" lIns="0" tIns="37465" rIns="0" bIns="0" rtlCol="0">
            <a:spAutoFit/>
          </a:bodyPr>
          <a:lstStyle/>
          <a:p>
            <a:pPr marL="413384">
              <a:lnSpc>
                <a:spcPct val="100000"/>
              </a:lnSpc>
              <a:spcBef>
                <a:spcPts val="295"/>
              </a:spcBef>
            </a:pPr>
            <a:r>
              <a:rPr sz="1550" b="1" dirty="0">
                <a:latin typeface="Arial"/>
                <a:cs typeface="Arial"/>
              </a:rPr>
              <a:t>else</a:t>
            </a:r>
            <a:r>
              <a:rPr sz="1550" b="1" spc="30" dirty="0">
                <a:latin typeface="Arial"/>
                <a:cs typeface="Arial"/>
              </a:rPr>
              <a:t> </a:t>
            </a:r>
            <a:r>
              <a:rPr sz="1550" b="1" dirty="0">
                <a:latin typeface="Arial"/>
                <a:cs typeface="Arial"/>
              </a:rPr>
              <a:t>if</a:t>
            </a:r>
            <a:r>
              <a:rPr sz="1550" b="1" spc="25" dirty="0">
                <a:latin typeface="Arial"/>
                <a:cs typeface="Arial"/>
              </a:rPr>
              <a:t> </a:t>
            </a:r>
            <a:r>
              <a:rPr sz="1550" dirty="0">
                <a:latin typeface="Arial"/>
                <a:cs typeface="Arial"/>
              </a:rPr>
              <a:t>(go</a:t>
            </a:r>
            <a:r>
              <a:rPr sz="1550" spc="30" dirty="0">
                <a:latin typeface="Arial"/>
                <a:cs typeface="Arial"/>
              </a:rPr>
              <a:t> </a:t>
            </a:r>
            <a:r>
              <a:rPr sz="1550" dirty="0">
                <a:latin typeface="Arial"/>
                <a:cs typeface="Arial"/>
              </a:rPr>
              <a:t>==</a:t>
            </a:r>
            <a:r>
              <a:rPr sz="1550" spc="15" dirty="0">
                <a:latin typeface="Arial"/>
                <a:cs typeface="Arial"/>
              </a:rPr>
              <a:t> </a:t>
            </a:r>
            <a:r>
              <a:rPr sz="1550" spc="-25" dirty="0">
                <a:latin typeface="Arial"/>
                <a:cs typeface="Arial"/>
              </a:rPr>
              <a:t>1)</a:t>
            </a:r>
            <a:endParaRPr sz="1550">
              <a:latin typeface="Arial"/>
              <a:cs typeface="Arial"/>
            </a:endParaRPr>
          </a:p>
          <a:p>
            <a:pPr marL="970280">
              <a:lnSpc>
                <a:spcPct val="100000"/>
              </a:lnSpc>
              <a:spcBef>
                <a:spcPts val="30"/>
              </a:spcBef>
            </a:pPr>
            <a:r>
              <a:rPr sz="1550" b="1" spc="-10" dirty="0">
                <a:latin typeface="Arial"/>
                <a:cs typeface="Arial"/>
              </a:rPr>
              <a:t>begin</a:t>
            </a:r>
            <a:endParaRPr sz="1550">
              <a:latin typeface="Arial"/>
              <a:cs typeface="Arial"/>
            </a:endParaRPr>
          </a:p>
          <a:p>
            <a:pPr marL="1248410" marR="1927860" algn="just">
              <a:lnSpc>
                <a:spcPct val="101800"/>
              </a:lnSpc>
              <a:spcBef>
                <a:spcPts val="5"/>
              </a:spcBef>
            </a:pPr>
            <a:r>
              <a:rPr sz="1550" dirty="0">
                <a:latin typeface="Arial"/>
                <a:cs typeface="Arial"/>
              </a:rPr>
              <a:t>d2_reg</a:t>
            </a:r>
            <a:r>
              <a:rPr sz="1550" spc="25" dirty="0">
                <a:latin typeface="Arial"/>
                <a:cs typeface="Arial"/>
              </a:rPr>
              <a:t> </a:t>
            </a:r>
            <a:r>
              <a:rPr sz="1550" dirty="0">
                <a:latin typeface="Arial"/>
                <a:cs typeface="Arial"/>
              </a:rPr>
              <a:t>&lt;=</a:t>
            </a:r>
            <a:r>
              <a:rPr sz="1550" spc="25" dirty="0">
                <a:latin typeface="Arial"/>
                <a:cs typeface="Arial"/>
              </a:rPr>
              <a:t> </a:t>
            </a:r>
            <a:r>
              <a:rPr sz="1550" spc="-10" dirty="0">
                <a:latin typeface="Arial"/>
                <a:cs typeface="Arial"/>
              </a:rPr>
              <a:t>d2_next; </a:t>
            </a:r>
            <a:r>
              <a:rPr sz="1550" dirty="0">
                <a:latin typeface="Arial"/>
                <a:cs typeface="Arial"/>
              </a:rPr>
              <a:t>d1_reg</a:t>
            </a:r>
            <a:r>
              <a:rPr sz="1550" spc="35" dirty="0">
                <a:latin typeface="Arial"/>
                <a:cs typeface="Arial"/>
              </a:rPr>
              <a:t> </a:t>
            </a:r>
            <a:r>
              <a:rPr sz="1550" dirty="0">
                <a:latin typeface="Arial"/>
                <a:cs typeface="Arial"/>
              </a:rPr>
              <a:t>&lt;=</a:t>
            </a:r>
            <a:r>
              <a:rPr sz="1550" spc="25" dirty="0">
                <a:latin typeface="Arial"/>
                <a:cs typeface="Arial"/>
              </a:rPr>
              <a:t> </a:t>
            </a:r>
            <a:r>
              <a:rPr sz="1550" spc="-10" dirty="0">
                <a:latin typeface="Arial"/>
                <a:cs typeface="Arial"/>
              </a:rPr>
              <a:t>d1_next; </a:t>
            </a:r>
            <a:r>
              <a:rPr sz="1550" dirty="0">
                <a:latin typeface="Arial"/>
                <a:cs typeface="Arial"/>
              </a:rPr>
              <a:t>d0_reg</a:t>
            </a:r>
            <a:r>
              <a:rPr sz="1550" spc="25" dirty="0">
                <a:latin typeface="Arial"/>
                <a:cs typeface="Arial"/>
              </a:rPr>
              <a:t> </a:t>
            </a:r>
            <a:r>
              <a:rPr sz="1550" dirty="0">
                <a:latin typeface="Arial"/>
                <a:cs typeface="Arial"/>
              </a:rPr>
              <a:t>&lt;=</a:t>
            </a:r>
            <a:r>
              <a:rPr sz="1550" spc="25" dirty="0">
                <a:latin typeface="Arial"/>
                <a:cs typeface="Arial"/>
              </a:rPr>
              <a:t> </a:t>
            </a:r>
            <a:r>
              <a:rPr sz="1550" spc="-10" dirty="0">
                <a:latin typeface="Arial"/>
                <a:cs typeface="Arial"/>
              </a:rPr>
              <a:t>d0_next;</a:t>
            </a:r>
            <a:endParaRPr sz="1550">
              <a:latin typeface="Arial"/>
              <a:cs typeface="Arial"/>
            </a:endParaRPr>
          </a:p>
          <a:p>
            <a:pPr marL="1415415" marR="1014094" indent="-167005">
              <a:lnSpc>
                <a:spcPct val="101600"/>
              </a:lnSpc>
              <a:spcBef>
                <a:spcPts val="5"/>
              </a:spcBef>
            </a:pPr>
            <a:r>
              <a:rPr sz="1550" b="1" dirty="0">
                <a:latin typeface="Arial"/>
                <a:cs typeface="Arial"/>
              </a:rPr>
              <a:t>if</a:t>
            </a:r>
            <a:r>
              <a:rPr sz="1550" b="1" spc="35" dirty="0">
                <a:latin typeface="Arial"/>
                <a:cs typeface="Arial"/>
              </a:rPr>
              <a:t> </a:t>
            </a:r>
            <a:r>
              <a:rPr sz="1550" dirty="0">
                <a:latin typeface="Arial"/>
                <a:cs typeface="Arial"/>
              </a:rPr>
              <a:t>(ms_reg</a:t>
            </a:r>
            <a:r>
              <a:rPr sz="1550" spc="25" dirty="0">
                <a:latin typeface="Arial"/>
                <a:cs typeface="Arial"/>
              </a:rPr>
              <a:t> </a:t>
            </a:r>
            <a:r>
              <a:rPr sz="1550" dirty="0">
                <a:latin typeface="Arial"/>
                <a:cs typeface="Arial"/>
              </a:rPr>
              <a:t>&lt;</a:t>
            </a:r>
            <a:r>
              <a:rPr sz="1550" spc="40" dirty="0">
                <a:latin typeface="Arial"/>
                <a:cs typeface="Arial"/>
              </a:rPr>
              <a:t> </a:t>
            </a:r>
            <a:r>
              <a:rPr sz="1550" spc="-10" dirty="0">
                <a:latin typeface="Arial"/>
                <a:cs typeface="Arial"/>
              </a:rPr>
              <a:t>COUNT_VALUE) </a:t>
            </a:r>
            <a:r>
              <a:rPr sz="1550" dirty="0">
                <a:latin typeface="Arial"/>
                <a:cs typeface="Arial"/>
              </a:rPr>
              <a:t>ms_reg</a:t>
            </a:r>
            <a:r>
              <a:rPr sz="1550" spc="40" dirty="0">
                <a:latin typeface="Arial"/>
                <a:cs typeface="Arial"/>
              </a:rPr>
              <a:t> </a:t>
            </a:r>
            <a:r>
              <a:rPr sz="1550" dirty="0">
                <a:latin typeface="Arial"/>
                <a:cs typeface="Arial"/>
              </a:rPr>
              <a:t>&lt;=</a:t>
            </a:r>
            <a:r>
              <a:rPr sz="1550" spc="40" dirty="0">
                <a:latin typeface="Arial"/>
                <a:cs typeface="Arial"/>
              </a:rPr>
              <a:t> </a:t>
            </a:r>
            <a:r>
              <a:rPr sz="1550" dirty="0">
                <a:latin typeface="Arial"/>
                <a:cs typeface="Arial"/>
              </a:rPr>
              <a:t>ms_reg</a:t>
            </a:r>
            <a:r>
              <a:rPr sz="1550" spc="45" dirty="0">
                <a:latin typeface="Arial"/>
                <a:cs typeface="Arial"/>
              </a:rPr>
              <a:t> </a:t>
            </a:r>
            <a:r>
              <a:rPr sz="1550" dirty="0">
                <a:latin typeface="Arial"/>
                <a:cs typeface="Arial"/>
              </a:rPr>
              <a:t>+</a:t>
            </a:r>
            <a:r>
              <a:rPr sz="1550" spc="40" dirty="0">
                <a:latin typeface="Arial"/>
                <a:cs typeface="Arial"/>
              </a:rPr>
              <a:t> </a:t>
            </a:r>
            <a:r>
              <a:rPr sz="1550" spc="-25" dirty="0">
                <a:latin typeface="Arial"/>
                <a:cs typeface="Arial"/>
              </a:rPr>
              <a:t>1;</a:t>
            </a:r>
            <a:endParaRPr sz="1550">
              <a:latin typeface="Arial"/>
              <a:cs typeface="Arial"/>
            </a:endParaRPr>
          </a:p>
          <a:p>
            <a:pPr marL="1193165">
              <a:lnSpc>
                <a:spcPct val="100000"/>
              </a:lnSpc>
              <a:spcBef>
                <a:spcPts val="35"/>
              </a:spcBef>
            </a:pPr>
            <a:r>
              <a:rPr sz="1550" b="1" spc="-20" dirty="0">
                <a:latin typeface="Arial"/>
                <a:cs typeface="Arial"/>
              </a:rPr>
              <a:t>else</a:t>
            </a:r>
            <a:endParaRPr sz="1550">
              <a:latin typeface="Arial"/>
              <a:cs typeface="Arial"/>
            </a:endParaRPr>
          </a:p>
          <a:p>
            <a:pPr marL="1359535">
              <a:lnSpc>
                <a:spcPct val="100000"/>
              </a:lnSpc>
              <a:spcBef>
                <a:spcPts val="30"/>
              </a:spcBef>
            </a:pPr>
            <a:r>
              <a:rPr sz="1550" dirty="0">
                <a:latin typeface="Arial"/>
                <a:cs typeface="Arial"/>
              </a:rPr>
              <a:t>ms_reg</a:t>
            </a:r>
            <a:r>
              <a:rPr sz="1550" spc="30" dirty="0">
                <a:latin typeface="Arial"/>
                <a:cs typeface="Arial"/>
              </a:rPr>
              <a:t> </a:t>
            </a:r>
            <a:r>
              <a:rPr sz="1550" dirty="0">
                <a:latin typeface="Arial"/>
                <a:cs typeface="Arial"/>
              </a:rPr>
              <a:t>&lt;=</a:t>
            </a:r>
            <a:r>
              <a:rPr sz="1550" spc="30" dirty="0">
                <a:latin typeface="Arial"/>
                <a:cs typeface="Arial"/>
              </a:rPr>
              <a:t> </a:t>
            </a:r>
            <a:r>
              <a:rPr sz="1550" spc="-10" dirty="0">
                <a:latin typeface="Arial"/>
                <a:cs typeface="Arial"/>
              </a:rPr>
              <a:t>23’b0;</a:t>
            </a:r>
            <a:endParaRPr sz="1550">
              <a:latin typeface="Arial"/>
              <a:cs typeface="Arial"/>
            </a:endParaRPr>
          </a:p>
          <a:p>
            <a:pPr marL="970280">
              <a:lnSpc>
                <a:spcPct val="100000"/>
              </a:lnSpc>
              <a:spcBef>
                <a:spcPts val="35"/>
              </a:spcBef>
            </a:pPr>
            <a:r>
              <a:rPr sz="1550" b="1" spc="-25" dirty="0">
                <a:latin typeface="Arial"/>
                <a:cs typeface="Arial"/>
              </a:rPr>
              <a:t>end</a:t>
            </a:r>
            <a:endParaRPr sz="1550">
              <a:latin typeface="Arial"/>
              <a:cs typeface="Arial"/>
            </a:endParaRPr>
          </a:p>
          <a:p>
            <a:pPr marL="524510">
              <a:lnSpc>
                <a:spcPct val="100000"/>
              </a:lnSpc>
              <a:spcBef>
                <a:spcPts val="40"/>
              </a:spcBef>
            </a:pPr>
            <a:r>
              <a:rPr sz="1550" b="1" spc="-25" dirty="0">
                <a:latin typeface="Arial"/>
                <a:cs typeface="Arial"/>
              </a:rPr>
              <a:t>end</a:t>
            </a:r>
            <a:endParaRPr sz="1550">
              <a:latin typeface="Arial"/>
              <a:cs typeface="Arial"/>
            </a:endParaRPr>
          </a:p>
          <a:p>
            <a:pPr marL="79375" marR="480059">
              <a:lnSpc>
                <a:spcPts val="1900"/>
              </a:lnSpc>
              <a:spcBef>
                <a:spcPts val="60"/>
              </a:spcBef>
            </a:pPr>
            <a:r>
              <a:rPr sz="1550" b="1" dirty="0">
                <a:latin typeface="Arial"/>
                <a:cs typeface="Arial"/>
              </a:rPr>
              <a:t>assign</a:t>
            </a:r>
            <a:r>
              <a:rPr sz="1550" b="1" spc="35" dirty="0">
                <a:latin typeface="Arial"/>
                <a:cs typeface="Arial"/>
              </a:rPr>
              <a:t> </a:t>
            </a:r>
            <a:r>
              <a:rPr sz="1550" dirty="0">
                <a:latin typeface="Arial"/>
                <a:cs typeface="Arial"/>
              </a:rPr>
              <a:t>ms_tick</a:t>
            </a:r>
            <a:r>
              <a:rPr sz="1550" spc="35" dirty="0">
                <a:latin typeface="Arial"/>
                <a:cs typeface="Arial"/>
              </a:rPr>
              <a:t> </a:t>
            </a:r>
            <a:r>
              <a:rPr sz="1550" dirty="0">
                <a:latin typeface="Arial"/>
                <a:cs typeface="Arial"/>
              </a:rPr>
              <a:t>=</a:t>
            </a:r>
            <a:r>
              <a:rPr sz="1550" spc="40" dirty="0">
                <a:latin typeface="Arial"/>
                <a:cs typeface="Arial"/>
              </a:rPr>
              <a:t> </a:t>
            </a:r>
            <a:r>
              <a:rPr sz="1550" dirty="0">
                <a:latin typeface="Arial"/>
                <a:cs typeface="Arial"/>
              </a:rPr>
              <a:t>(ms_reg</a:t>
            </a:r>
            <a:r>
              <a:rPr sz="1550" spc="30" dirty="0">
                <a:latin typeface="Arial"/>
                <a:cs typeface="Arial"/>
              </a:rPr>
              <a:t> </a:t>
            </a:r>
            <a:r>
              <a:rPr sz="1550" dirty="0">
                <a:latin typeface="Arial"/>
                <a:cs typeface="Arial"/>
              </a:rPr>
              <a:t>==</a:t>
            </a:r>
            <a:r>
              <a:rPr sz="1550" spc="40" dirty="0">
                <a:latin typeface="Arial"/>
                <a:cs typeface="Arial"/>
              </a:rPr>
              <a:t> </a:t>
            </a:r>
            <a:r>
              <a:rPr sz="1550" dirty="0">
                <a:latin typeface="Arial"/>
                <a:cs typeface="Arial"/>
              </a:rPr>
              <a:t>COUNT_VALUE)</a:t>
            </a:r>
            <a:r>
              <a:rPr sz="1550" spc="40" dirty="0">
                <a:latin typeface="Arial"/>
                <a:cs typeface="Arial"/>
              </a:rPr>
              <a:t> </a:t>
            </a:r>
            <a:r>
              <a:rPr sz="1550" spc="-50" dirty="0">
                <a:latin typeface="Arial"/>
                <a:cs typeface="Arial"/>
              </a:rPr>
              <a:t>? </a:t>
            </a:r>
            <a:r>
              <a:rPr sz="1550" dirty="0">
                <a:latin typeface="Arial"/>
                <a:cs typeface="Arial"/>
              </a:rPr>
              <a:t>1’b1</a:t>
            </a:r>
            <a:r>
              <a:rPr sz="1550" spc="15" dirty="0">
                <a:latin typeface="Arial"/>
                <a:cs typeface="Arial"/>
              </a:rPr>
              <a:t> </a:t>
            </a:r>
            <a:r>
              <a:rPr sz="1550" dirty="0">
                <a:latin typeface="Arial"/>
                <a:cs typeface="Arial"/>
              </a:rPr>
              <a:t>:</a:t>
            </a:r>
            <a:r>
              <a:rPr sz="1550" spc="20" dirty="0">
                <a:latin typeface="Arial"/>
                <a:cs typeface="Arial"/>
              </a:rPr>
              <a:t> </a:t>
            </a:r>
            <a:r>
              <a:rPr sz="1550" spc="-20" dirty="0">
                <a:latin typeface="Arial"/>
                <a:cs typeface="Arial"/>
              </a:rPr>
              <a:t>1’b0;</a:t>
            </a:r>
            <a:endParaRPr sz="1550">
              <a:latin typeface="Arial"/>
              <a:cs typeface="Arial"/>
            </a:endParaRPr>
          </a:p>
        </p:txBody>
      </p:sp>
      <p:sp>
        <p:nvSpPr>
          <p:cNvPr id="6" name="object 6"/>
          <p:cNvSpPr/>
          <p:nvPr/>
        </p:nvSpPr>
        <p:spPr>
          <a:xfrm>
            <a:off x="751217" y="2755392"/>
            <a:ext cx="3963670" cy="350520"/>
          </a:xfrm>
          <a:custGeom>
            <a:avLst/>
            <a:gdLst/>
            <a:ahLst/>
            <a:cxnLst/>
            <a:rect l="l" t="t" r="r" b="b"/>
            <a:pathLst>
              <a:path w="3963670" h="350519">
                <a:moveTo>
                  <a:pt x="3963162" y="346710"/>
                </a:moveTo>
                <a:lnTo>
                  <a:pt x="3963162" y="3810"/>
                </a:lnTo>
                <a:lnTo>
                  <a:pt x="3959352" y="0"/>
                </a:lnTo>
                <a:lnTo>
                  <a:pt x="3809" y="0"/>
                </a:lnTo>
                <a:lnTo>
                  <a:pt x="0" y="3810"/>
                </a:lnTo>
                <a:lnTo>
                  <a:pt x="0" y="346710"/>
                </a:lnTo>
                <a:lnTo>
                  <a:pt x="3810" y="350520"/>
                </a:lnTo>
                <a:lnTo>
                  <a:pt x="8382" y="350520"/>
                </a:lnTo>
                <a:lnTo>
                  <a:pt x="8382" y="16764"/>
                </a:lnTo>
                <a:lnTo>
                  <a:pt x="16763" y="8382"/>
                </a:lnTo>
                <a:lnTo>
                  <a:pt x="16763" y="16764"/>
                </a:lnTo>
                <a:lnTo>
                  <a:pt x="3946398" y="16764"/>
                </a:lnTo>
                <a:lnTo>
                  <a:pt x="3946398" y="8382"/>
                </a:lnTo>
                <a:lnTo>
                  <a:pt x="3954779" y="16764"/>
                </a:lnTo>
                <a:lnTo>
                  <a:pt x="3954779" y="350520"/>
                </a:lnTo>
                <a:lnTo>
                  <a:pt x="3959352" y="350520"/>
                </a:lnTo>
                <a:lnTo>
                  <a:pt x="3963162" y="346710"/>
                </a:lnTo>
                <a:close/>
              </a:path>
              <a:path w="3963670" h="350519">
                <a:moveTo>
                  <a:pt x="16763" y="16764"/>
                </a:moveTo>
                <a:lnTo>
                  <a:pt x="16763" y="8382"/>
                </a:lnTo>
                <a:lnTo>
                  <a:pt x="8382" y="16764"/>
                </a:lnTo>
                <a:lnTo>
                  <a:pt x="16763" y="16764"/>
                </a:lnTo>
                <a:close/>
              </a:path>
              <a:path w="3963670" h="350519">
                <a:moveTo>
                  <a:pt x="16763" y="333756"/>
                </a:moveTo>
                <a:lnTo>
                  <a:pt x="16763" y="16764"/>
                </a:lnTo>
                <a:lnTo>
                  <a:pt x="8382" y="16764"/>
                </a:lnTo>
                <a:lnTo>
                  <a:pt x="8382" y="333756"/>
                </a:lnTo>
                <a:lnTo>
                  <a:pt x="16763" y="333756"/>
                </a:lnTo>
                <a:close/>
              </a:path>
              <a:path w="3963670" h="350519">
                <a:moveTo>
                  <a:pt x="3954779" y="333756"/>
                </a:moveTo>
                <a:lnTo>
                  <a:pt x="8382" y="333756"/>
                </a:lnTo>
                <a:lnTo>
                  <a:pt x="16763" y="342138"/>
                </a:lnTo>
                <a:lnTo>
                  <a:pt x="16763" y="350520"/>
                </a:lnTo>
                <a:lnTo>
                  <a:pt x="3946398" y="350520"/>
                </a:lnTo>
                <a:lnTo>
                  <a:pt x="3946398" y="342138"/>
                </a:lnTo>
                <a:lnTo>
                  <a:pt x="3954779" y="333756"/>
                </a:lnTo>
                <a:close/>
              </a:path>
              <a:path w="3963670" h="350519">
                <a:moveTo>
                  <a:pt x="16763" y="350520"/>
                </a:moveTo>
                <a:lnTo>
                  <a:pt x="16763" y="342138"/>
                </a:lnTo>
                <a:lnTo>
                  <a:pt x="8382" y="333756"/>
                </a:lnTo>
                <a:lnTo>
                  <a:pt x="8382" y="350520"/>
                </a:lnTo>
                <a:lnTo>
                  <a:pt x="16763" y="350520"/>
                </a:lnTo>
                <a:close/>
              </a:path>
              <a:path w="3963670" h="350519">
                <a:moveTo>
                  <a:pt x="3954779" y="16764"/>
                </a:moveTo>
                <a:lnTo>
                  <a:pt x="3946398" y="8382"/>
                </a:lnTo>
                <a:lnTo>
                  <a:pt x="3946398" y="16764"/>
                </a:lnTo>
                <a:lnTo>
                  <a:pt x="3954779" y="16764"/>
                </a:lnTo>
                <a:close/>
              </a:path>
              <a:path w="3963670" h="350519">
                <a:moveTo>
                  <a:pt x="3954779" y="333756"/>
                </a:moveTo>
                <a:lnTo>
                  <a:pt x="3954779" y="16764"/>
                </a:lnTo>
                <a:lnTo>
                  <a:pt x="3946398" y="16764"/>
                </a:lnTo>
                <a:lnTo>
                  <a:pt x="3946398" y="333756"/>
                </a:lnTo>
                <a:lnTo>
                  <a:pt x="3954779" y="333756"/>
                </a:lnTo>
                <a:close/>
              </a:path>
              <a:path w="3963670" h="350519">
                <a:moveTo>
                  <a:pt x="3954779" y="350520"/>
                </a:moveTo>
                <a:lnTo>
                  <a:pt x="3954779" y="333756"/>
                </a:lnTo>
                <a:lnTo>
                  <a:pt x="3946398" y="342138"/>
                </a:lnTo>
                <a:lnTo>
                  <a:pt x="3946398" y="350520"/>
                </a:lnTo>
                <a:lnTo>
                  <a:pt x="3954779" y="350520"/>
                </a:lnTo>
                <a:close/>
              </a:path>
            </a:pathLst>
          </a:custGeom>
          <a:solidFill>
            <a:srgbClr val="FF0000"/>
          </a:solidFill>
        </p:spPr>
        <p:txBody>
          <a:bodyPr wrap="square" lIns="0" tIns="0" rIns="0" bIns="0" rtlCol="0"/>
          <a:lstStyle/>
          <a:p>
            <a:endParaRPr/>
          </a:p>
        </p:txBody>
      </p:sp>
      <p:sp>
        <p:nvSpPr>
          <p:cNvPr id="7" name="object 7"/>
          <p:cNvSpPr txBox="1">
            <a:spLocks noGrp="1"/>
          </p:cNvSpPr>
          <p:nvPr>
            <p:ph type="title"/>
          </p:nvPr>
        </p:nvSpPr>
        <p:spPr>
          <a:xfrm>
            <a:off x="523627" y="1048766"/>
            <a:ext cx="1727200" cy="453390"/>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4.5.2</a:t>
            </a:r>
            <a:r>
              <a:rPr dirty="0">
                <a:latin typeface="Arial"/>
                <a:cs typeface="Arial"/>
              </a:rPr>
              <a:t>	</a:t>
            </a:r>
            <a:r>
              <a:rPr spc="-25" dirty="0"/>
              <a:t>秒表</a:t>
            </a: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6333" y="1802892"/>
            <a:ext cx="4679950" cy="4399915"/>
          </a:xfrm>
          <a:prstGeom prst="rect">
            <a:avLst/>
          </a:prstGeom>
          <a:solidFill>
            <a:srgbClr val="F9FABA"/>
          </a:solidFill>
        </p:spPr>
        <p:txBody>
          <a:bodyPr vert="horz" wrap="square" lIns="0" tIns="35560" rIns="0" bIns="0" rtlCol="0">
            <a:spAutoFit/>
          </a:bodyPr>
          <a:lstStyle/>
          <a:p>
            <a:pPr marL="79375">
              <a:lnSpc>
                <a:spcPct val="100000"/>
              </a:lnSpc>
              <a:spcBef>
                <a:spcPts val="280"/>
              </a:spcBef>
            </a:pPr>
            <a:r>
              <a:rPr sz="1400" b="1" dirty="0">
                <a:latin typeface="Arial"/>
                <a:cs typeface="Arial"/>
              </a:rPr>
              <a:t>always</a:t>
            </a:r>
            <a:r>
              <a:rPr sz="1400" b="1" spc="-15" dirty="0">
                <a:latin typeface="Arial"/>
                <a:cs typeface="Arial"/>
              </a:rPr>
              <a:t> </a:t>
            </a:r>
            <a:r>
              <a:rPr sz="1400" spc="-25" dirty="0">
                <a:latin typeface="Arial"/>
                <a:cs typeface="Arial"/>
              </a:rPr>
              <a:t>@*</a:t>
            </a:r>
            <a:endParaRPr sz="1400">
              <a:latin typeface="Arial"/>
              <a:cs typeface="Arial"/>
            </a:endParaRPr>
          </a:p>
          <a:p>
            <a:pPr marL="79375">
              <a:lnSpc>
                <a:spcPct val="100000"/>
              </a:lnSpc>
              <a:spcBef>
                <a:spcPts val="5"/>
              </a:spcBef>
            </a:pPr>
            <a:r>
              <a:rPr sz="1400" b="1" spc="-10" dirty="0">
                <a:latin typeface="Arial"/>
                <a:cs typeface="Arial"/>
              </a:rPr>
              <a:t>begin</a:t>
            </a:r>
            <a:endParaRPr sz="1400">
              <a:latin typeface="Arial"/>
              <a:cs typeface="Arial"/>
            </a:endParaRPr>
          </a:p>
          <a:p>
            <a:pPr marL="380365">
              <a:lnSpc>
                <a:spcPct val="100000"/>
              </a:lnSpc>
            </a:pPr>
            <a:r>
              <a:rPr sz="1400" b="1" dirty="0">
                <a:latin typeface="Arial"/>
                <a:cs typeface="Arial"/>
              </a:rPr>
              <a:t>if</a:t>
            </a:r>
            <a:r>
              <a:rPr sz="1400" b="1" spc="10" dirty="0">
                <a:latin typeface="Arial"/>
                <a:cs typeface="Arial"/>
              </a:rPr>
              <a:t> </a:t>
            </a:r>
            <a:r>
              <a:rPr sz="1400" spc="-10" dirty="0">
                <a:latin typeface="Arial"/>
                <a:cs typeface="Arial"/>
              </a:rPr>
              <a:t>(ms_tick)</a:t>
            </a:r>
            <a:endParaRPr sz="1400">
              <a:latin typeface="Arial"/>
              <a:cs typeface="Arial"/>
            </a:endParaRPr>
          </a:p>
          <a:p>
            <a:pPr marL="881380">
              <a:lnSpc>
                <a:spcPct val="100000"/>
              </a:lnSpc>
              <a:spcBef>
                <a:spcPts val="5"/>
              </a:spcBef>
            </a:pPr>
            <a:r>
              <a:rPr sz="1400" b="1" dirty="0">
                <a:latin typeface="Arial"/>
                <a:cs typeface="Arial"/>
              </a:rPr>
              <a:t>if</a:t>
            </a:r>
            <a:r>
              <a:rPr sz="1400" b="1" spc="-5" dirty="0">
                <a:latin typeface="Arial"/>
                <a:cs typeface="Arial"/>
              </a:rPr>
              <a:t> </a:t>
            </a:r>
            <a:r>
              <a:rPr sz="1400" dirty="0">
                <a:latin typeface="Arial"/>
                <a:cs typeface="Arial"/>
              </a:rPr>
              <a:t>(d0_reg</a:t>
            </a:r>
            <a:r>
              <a:rPr sz="1400" spc="-15" dirty="0">
                <a:latin typeface="Arial"/>
                <a:cs typeface="Arial"/>
              </a:rPr>
              <a:t> </a:t>
            </a:r>
            <a:r>
              <a:rPr sz="1400" dirty="0">
                <a:latin typeface="Arial"/>
                <a:cs typeface="Arial"/>
              </a:rPr>
              <a:t>!= </a:t>
            </a:r>
            <a:r>
              <a:rPr sz="1400" spc="-25" dirty="0">
                <a:latin typeface="Arial"/>
                <a:cs typeface="Arial"/>
              </a:rPr>
              <a:t>9)</a:t>
            </a:r>
            <a:endParaRPr sz="1400">
              <a:latin typeface="Arial"/>
              <a:cs typeface="Arial"/>
            </a:endParaRPr>
          </a:p>
          <a:p>
            <a:pPr marL="1182370">
              <a:lnSpc>
                <a:spcPct val="100000"/>
              </a:lnSpc>
            </a:pPr>
            <a:r>
              <a:rPr sz="1400" dirty="0">
                <a:latin typeface="Arial"/>
                <a:cs typeface="Arial"/>
              </a:rPr>
              <a:t>d0_next</a:t>
            </a:r>
            <a:r>
              <a:rPr sz="1400" spc="-10" dirty="0">
                <a:latin typeface="Arial"/>
                <a:cs typeface="Arial"/>
              </a:rPr>
              <a:t> </a:t>
            </a:r>
            <a:r>
              <a:rPr sz="1400" dirty="0">
                <a:latin typeface="Arial"/>
                <a:cs typeface="Arial"/>
              </a:rPr>
              <a:t>=</a:t>
            </a:r>
            <a:r>
              <a:rPr sz="1400" spc="-5" dirty="0">
                <a:latin typeface="Arial"/>
                <a:cs typeface="Arial"/>
              </a:rPr>
              <a:t> </a:t>
            </a:r>
            <a:r>
              <a:rPr sz="1400" dirty="0">
                <a:latin typeface="Arial"/>
                <a:cs typeface="Arial"/>
              </a:rPr>
              <a:t>d0_reg</a:t>
            </a:r>
            <a:r>
              <a:rPr sz="1400" spc="-5" dirty="0">
                <a:latin typeface="Arial"/>
                <a:cs typeface="Arial"/>
              </a:rPr>
              <a:t> </a:t>
            </a:r>
            <a:r>
              <a:rPr sz="1400" dirty="0">
                <a:latin typeface="Arial"/>
                <a:cs typeface="Arial"/>
              </a:rPr>
              <a:t>+</a:t>
            </a:r>
            <a:r>
              <a:rPr sz="1400" spc="-5" dirty="0">
                <a:latin typeface="Arial"/>
                <a:cs typeface="Arial"/>
              </a:rPr>
              <a:t> </a:t>
            </a:r>
            <a:r>
              <a:rPr sz="1400" spc="-25" dirty="0">
                <a:latin typeface="Arial"/>
                <a:cs typeface="Arial"/>
              </a:rPr>
              <a:t>1;</a:t>
            </a:r>
            <a:endParaRPr sz="1400">
              <a:latin typeface="Arial"/>
              <a:cs typeface="Arial"/>
            </a:endParaRPr>
          </a:p>
          <a:p>
            <a:pPr marL="881380">
              <a:lnSpc>
                <a:spcPct val="100000"/>
              </a:lnSpc>
              <a:spcBef>
                <a:spcPts val="5"/>
              </a:spcBef>
            </a:pPr>
            <a:r>
              <a:rPr sz="1400" b="1" spc="-20" dirty="0">
                <a:latin typeface="Arial"/>
                <a:cs typeface="Arial"/>
              </a:rPr>
              <a:t>else</a:t>
            </a:r>
            <a:endParaRPr sz="1400">
              <a:latin typeface="Arial"/>
              <a:cs typeface="Arial"/>
            </a:endParaRPr>
          </a:p>
          <a:p>
            <a:pPr marL="1182370">
              <a:lnSpc>
                <a:spcPct val="100000"/>
              </a:lnSpc>
              <a:spcBef>
                <a:spcPts val="10"/>
              </a:spcBef>
            </a:pPr>
            <a:r>
              <a:rPr sz="1400" b="1" spc="-10" dirty="0">
                <a:latin typeface="Arial"/>
                <a:cs typeface="Arial"/>
              </a:rPr>
              <a:t>begin</a:t>
            </a:r>
            <a:endParaRPr sz="1400">
              <a:latin typeface="Arial"/>
              <a:cs typeface="Arial"/>
            </a:endParaRPr>
          </a:p>
          <a:p>
            <a:pPr marL="1682750">
              <a:lnSpc>
                <a:spcPct val="100000"/>
              </a:lnSpc>
            </a:pPr>
            <a:r>
              <a:rPr sz="1400" dirty="0">
                <a:latin typeface="Arial"/>
                <a:cs typeface="Arial"/>
              </a:rPr>
              <a:t>d0_next = </a:t>
            </a:r>
            <a:r>
              <a:rPr sz="1400" spc="-10" dirty="0">
                <a:latin typeface="Arial"/>
                <a:cs typeface="Arial"/>
              </a:rPr>
              <a:t>4’b0;</a:t>
            </a:r>
            <a:endParaRPr sz="1400">
              <a:latin typeface="Arial"/>
              <a:cs typeface="Arial"/>
            </a:endParaRPr>
          </a:p>
          <a:p>
            <a:pPr marL="1682750">
              <a:lnSpc>
                <a:spcPct val="100000"/>
              </a:lnSpc>
              <a:spcBef>
                <a:spcPts val="5"/>
              </a:spcBef>
            </a:pPr>
            <a:r>
              <a:rPr sz="1400" b="1" dirty="0">
                <a:latin typeface="Arial"/>
                <a:cs typeface="Arial"/>
              </a:rPr>
              <a:t>if</a:t>
            </a:r>
            <a:r>
              <a:rPr sz="1400" b="1" spc="-5" dirty="0">
                <a:latin typeface="Arial"/>
                <a:cs typeface="Arial"/>
              </a:rPr>
              <a:t> </a:t>
            </a:r>
            <a:r>
              <a:rPr sz="1400" dirty="0">
                <a:latin typeface="Arial"/>
                <a:cs typeface="Arial"/>
              </a:rPr>
              <a:t>(d1_reg</a:t>
            </a:r>
            <a:r>
              <a:rPr sz="1400" spc="-10" dirty="0">
                <a:latin typeface="Arial"/>
                <a:cs typeface="Arial"/>
              </a:rPr>
              <a:t> </a:t>
            </a:r>
            <a:r>
              <a:rPr sz="1400" dirty="0">
                <a:latin typeface="Arial"/>
                <a:cs typeface="Arial"/>
              </a:rPr>
              <a:t>!= </a:t>
            </a:r>
            <a:r>
              <a:rPr sz="1400" spc="-25" dirty="0">
                <a:latin typeface="Arial"/>
                <a:cs typeface="Arial"/>
              </a:rPr>
              <a:t>9)</a:t>
            </a:r>
            <a:endParaRPr sz="1400">
              <a:latin typeface="Arial"/>
              <a:cs typeface="Arial"/>
            </a:endParaRPr>
          </a:p>
          <a:p>
            <a:pPr marL="1983739">
              <a:lnSpc>
                <a:spcPct val="100000"/>
              </a:lnSpc>
            </a:pPr>
            <a:r>
              <a:rPr sz="1400" dirty="0">
                <a:latin typeface="Arial"/>
                <a:cs typeface="Arial"/>
              </a:rPr>
              <a:t>d1_next</a:t>
            </a:r>
            <a:r>
              <a:rPr sz="1400" spc="-10" dirty="0">
                <a:latin typeface="Arial"/>
                <a:cs typeface="Arial"/>
              </a:rPr>
              <a:t> </a:t>
            </a:r>
            <a:r>
              <a:rPr sz="1400" dirty="0">
                <a:latin typeface="Arial"/>
                <a:cs typeface="Arial"/>
              </a:rPr>
              <a:t>=</a:t>
            </a:r>
            <a:r>
              <a:rPr sz="1400" spc="-5" dirty="0">
                <a:latin typeface="Arial"/>
                <a:cs typeface="Arial"/>
              </a:rPr>
              <a:t> </a:t>
            </a:r>
            <a:r>
              <a:rPr sz="1400" dirty="0">
                <a:latin typeface="Arial"/>
                <a:cs typeface="Arial"/>
              </a:rPr>
              <a:t>d1_reg</a:t>
            </a:r>
            <a:r>
              <a:rPr sz="1400" spc="-5" dirty="0">
                <a:latin typeface="Arial"/>
                <a:cs typeface="Arial"/>
              </a:rPr>
              <a:t> </a:t>
            </a:r>
            <a:r>
              <a:rPr sz="1400" dirty="0">
                <a:latin typeface="Arial"/>
                <a:cs typeface="Arial"/>
              </a:rPr>
              <a:t>+</a:t>
            </a:r>
            <a:r>
              <a:rPr sz="1400" spc="-5" dirty="0">
                <a:latin typeface="Arial"/>
                <a:cs typeface="Arial"/>
              </a:rPr>
              <a:t> </a:t>
            </a:r>
            <a:r>
              <a:rPr sz="1400" spc="-25" dirty="0">
                <a:latin typeface="Arial"/>
                <a:cs typeface="Arial"/>
              </a:rPr>
              <a:t>1;</a:t>
            </a:r>
            <a:endParaRPr sz="1400">
              <a:latin typeface="Arial"/>
              <a:cs typeface="Arial"/>
            </a:endParaRPr>
          </a:p>
          <a:p>
            <a:pPr marL="1682750">
              <a:lnSpc>
                <a:spcPct val="100000"/>
              </a:lnSpc>
              <a:spcBef>
                <a:spcPts val="5"/>
              </a:spcBef>
            </a:pPr>
            <a:r>
              <a:rPr sz="1400" b="1" spc="-20" dirty="0">
                <a:latin typeface="Arial"/>
                <a:cs typeface="Arial"/>
              </a:rPr>
              <a:t>else</a:t>
            </a:r>
            <a:endParaRPr sz="1400">
              <a:latin typeface="Arial"/>
              <a:cs typeface="Arial"/>
            </a:endParaRPr>
          </a:p>
          <a:p>
            <a:pPr marL="1983739">
              <a:lnSpc>
                <a:spcPct val="100000"/>
              </a:lnSpc>
            </a:pPr>
            <a:r>
              <a:rPr sz="1400" b="1" spc="-10" dirty="0">
                <a:latin typeface="Arial"/>
                <a:cs typeface="Arial"/>
              </a:rPr>
              <a:t>begin</a:t>
            </a:r>
            <a:endParaRPr sz="1400">
              <a:latin typeface="Arial"/>
              <a:cs typeface="Arial"/>
            </a:endParaRPr>
          </a:p>
          <a:p>
            <a:pPr marL="2484755">
              <a:lnSpc>
                <a:spcPct val="100000"/>
              </a:lnSpc>
              <a:spcBef>
                <a:spcPts val="5"/>
              </a:spcBef>
            </a:pPr>
            <a:r>
              <a:rPr sz="1400" dirty="0">
                <a:latin typeface="Arial"/>
                <a:cs typeface="Arial"/>
              </a:rPr>
              <a:t>d1_next = </a:t>
            </a:r>
            <a:r>
              <a:rPr sz="1400" spc="-10" dirty="0">
                <a:latin typeface="Arial"/>
                <a:cs typeface="Arial"/>
              </a:rPr>
              <a:t>4’b0;</a:t>
            </a:r>
            <a:endParaRPr sz="1400">
              <a:latin typeface="Arial"/>
              <a:cs typeface="Arial"/>
            </a:endParaRPr>
          </a:p>
          <a:p>
            <a:pPr marL="2484755">
              <a:lnSpc>
                <a:spcPct val="100000"/>
              </a:lnSpc>
            </a:pPr>
            <a:r>
              <a:rPr sz="1400" b="1" dirty="0">
                <a:latin typeface="Arial"/>
                <a:cs typeface="Arial"/>
              </a:rPr>
              <a:t>if</a:t>
            </a:r>
            <a:r>
              <a:rPr sz="1400" b="1" spc="-5" dirty="0">
                <a:latin typeface="Arial"/>
                <a:cs typeface="Arial"/>
              </a:rPr>
              <a:t> </a:t>
            </a:r>
            <a:r>
              <a:rPr sz="1400" dirty="0">
                <a:latin typeface="Arial"/>
                <a:cs typeface="Arial"/>
              </a:rPr>
              <a:t>(d2_reg</a:t>
            </a:r>
            <a:r>
              <a:rPr sz="1400" spc="-15" dirty="0">
                <a:latin typeface="Arial"/>
                <a:cs typeface="Arial"/>
              </a:rPr>
              <a:t> </a:t>
            </a:r>
            <a:r>
              <a:rPr sz="1400" dirty="0">
                <a:latin typeface="Arial"/>
                <a:cs typeface="Arial"/>
              </a:rPr>
              <a:t>!= </a:t>
            </a:r>
            <a:r>
              <a:rPr sz="1400" spc="-25" dirty="0">
                <a:latin typeface="Arial"/>
                <a:cs typeface="Arial"/>
              </a:rPr>
              <a:t>9)</a:t>
            </a:r>
            <a:endParaRPr sz="1400">
              <a:latin typeface="Arial"/>
              <a:cs typeface="Arial"/>
            </a:endParaRPr>
          </a:p>
          <a:p>
            <a:pPr marL="2785745">
              <a:lnSpc>
                <a:spcPct val="100000"/>
              </a:lnSpc>
              <a:spcBef>
                <a:spcPts val="5"/>
              </a:spcBef>
            </a:pPr>
            <a:r>
              <a:rPr sz="1400" dirty="0">
                <a:latin typeface="Arial"/>
                <a:cs typeface="Arial"/>
              </a:rPr>
              <a:t>d2_next</a:t>
            </a:r>
            <a:r>
              <a:rPr sz="1400" spc="-10" dirty="0">
                <a:latin typeface="Arial"/>
                <a:cs typeface="Arial"/>
              </a:rPr>
              <a:t> </a:t>
            </a:r>
            <a:r>
              <a:rPr sz="1400" dirty="0">
                <a:latin typeface="Arial"/>
                <a:cs typeface="Arial"/>
              </a:rPr>
              <a:t>=</a:t>
            </a:r>
            <a:r>
              <a:rPr sz="1400" spc="-5" dirty="0">
                <a:latin typeface="Arial"/>
                <a:cs typeface="Arial"/>
              </a:rPr>
              <a:t> </a:t>
            </a:r>
            <a:r>
              <a:rPr sz="1400" dirty="0">
                <a:latin typeface="Arial"/>
                <a:cs typeface="Arial"/>
              </a:rPr>
              <a:t>d2_reg</a:t>
            </a:r>
            <a:r>
              <a:rPr sz="1400" spc="-5" dirty="0">
                <a:latin typeface="Arial"/>
                <a:cs typeface="Arial"/>
              </a:rPr>
              <a:t> </a:t>
            </a:r>
            <a:r>
              <a:rPr sz="1400" dirty="0">
                <a:latin typeface="Arial"/>
                <a:cs typeface="Arial"/>
              </a:rPr>
              <a:t>+</a:t>
            </a:r>
            <a:r>
              <a:rPr sz="1400" spc="-5" dirty="0">
                <a:latin typeface="Arial"/>
                <a:cs typeface="Arial"/>
              </a:rPr>
              <a:t> </a:t>
            </a:r>
            <a:r>
              <a:rPr sz="1400" spc="-25" dirty="0">
                <a:latin typeface="Arial"/>
                <a:cs typeface="Arial"/>
              </a:rPr>
              <a:t>1;</a:t>
            </a:r>
            <a:endParaRPr sz="1400">
              <a:latin typeface="Arial"/>
              <a:cs typeface="Arial"/>
            </a:endParaRPr>
          </a:p>
          <a:p>
            <a:pPr marL="2484755">
              <a:lnSpc>
                <a:spcPct val="100000"/>
              </a:lnSpc>
            </a:pPr>
            <a:r>
              <a:rPr sz="1400" b="1" spc="-20" dirty="0">
                <a:latin typeface="Arial"/>
                <a:cs typeface="Arial"/>
              </a:rPr>
              <a:t>else</a:t>
            </a:r>
            <a:endParaRPr sz="1400">
              <a:latin typeface="Arial"/>
              <a:cs typeface="Arial"/>
            </a:endParaRPr>
          </a:p>
          <a:p>
            <a:pPr marL="2785745">
              <a:lnSpc>
                <a:spcPct val="100000"/>
              </a:lnSpc>
              <a:spcBef>
                <a:spcPts val="10"/>
              </a:spcBef>
            </a:pPr>
            <a:r>
              <a:rPr sz="1400" dirty="0">
                <a:latin typeface="Arial"/>
                <a:cs typeface="Arial"/>
              </a:rPr>
              <a:t>d2_next</a:t>
            </a:r>
            <a:r>
              <a:rPr sz="1400" spc="-5" dirty="0">
                <a:latin typeface="Arial"/>
                <a:cs typeface="Arial"/>
              </a:rPr>
              <a:t> </a:t>
            </a:r>
            <a:r>
              <a:rPr sz="1400" dirty="0">
                <a:latin typeface="Arial"/>
                <a:cs typeface="Arial"/>
              </a:rPr>
              <a:t>=</a:t>
            </a:r>
            <a:r>
              <a:rPr sz="1400" spc="5" dirty="0">
                <a:latin typeface="Arial"/>
                <a:cs typeface="Arial"/>
              </a:rPr>
              <a:t> </a:t>
            </a:r>
            <a:r>
              <a:rPr sz="1400" spc="-10" dirty="0">
                <a:latin typeface="Arial"/>
                <a:cs typeface="Arial"/>
              </a:rPr>
              <a:t>4’b0;</a:t>
            </a:r>
            <a:endParaRPr sz="1400">
              <a:latin typeface="Arial"/>
              <a:cs typeface="Arial"/>
            </a:endParaRPr>
          </a:p>
          <a:p>
            <a:pPr marL="1983739">
              <a:lnSpc>
                <a:spcPct val="100000"/>
              </a:lnSpc>
            </a:pPr>
            <a:r>
              <a:rPr sz="1400" b="1" spc="-25" dirty="0">
                <a:latin typeface="Arial"/>
                <a:cs typeface="Arial"/>
              </a:rPr>
              <a:t>end</a:t>
            </a:r>
            <a:endParaRPr sz="1400">
              <a:latin typeface="Arial"/>
              <a:cs typeface="Arial"/>
            </a:endParaRPr>
          </a:p>
          <a:p>
            <a:pPr marL="1182370">
              <a:lnSpc>
                <a:spcPct val="100000"/>
              </a:lnSpc>
              <a:spcBef>
                <a:spcPts val="5"/>
              </a:spcBef>
            </a:pPr>
            <a:r>
              <a:rPr sz="1400" b="1" spc="-25" dirty="0">
                <a:latin typeface="Arial"/>
                <a:cs typeface="Arial"/>
              </a:rPr>
              <a:t>end</a:t>
            </a:r>
            <a:endParaRPr sz="1400">
              <a:latin typeface="Arial"/>
              <a:cs typeface="Arial"/>
            </a:endParaRPr>
          </a:p>
          <a:p>
            <a:pPr marL="79375">
              <a:lnSpc>
                <a:spcPct val="100000"/>
              </a:lnSpc>
            </a:pPr>
            <a:r>
              <a:rPr sz="1400" b="1" spc="-25" dirty="0">
                <a:latin typeface="Arial"/>
                <a:cs typeface="Arial"/>
              </a:rPr>
              <a:t>end</a:t>
            </a:r>
            <a:endParaRPr sz="1400">
              <a:latin typeface="Arial"/>
              <a:cs typeface="Arial"/>
            </a:endParaRPr>
          </a:p>
        </p:txBody>
      </p:sp>
      <p:sp>
        <p:nvSpPr>
          <p:cNvPr id="6" name="object 6"/>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p:nvPr/>
        </p:nvSpPr>
        <p:spPr>
          <a:xfrm>
            <a:off x="5651125" y="3697478"/>
            <a:ext cx="3855720" cy="266065"/>
          </a:xfrm>
          <a:prstGeom prst="rect">
            <a:avLst/>
          </a:prstGeom>
        </p:spPr>
        <p:txBody>
          <a:bodyPr vert="horz" wrap="square" lIns="0" tIns="15875" rIns="0" bIns="0" rtlCol="0">
            <a:spAutoFit/>
          </a:bodyPr>
          <a:lstStyle/>
          <a:p>
            <a:pPr marL="12700">
              <a:lnSpc>
                <a:spcPct val="100000"/>
              </a:lnSpc>
              <a:spcBef>
                <a:spcPts val="125"/>
              </a:spcBef>
            </a:pPr>
            <a:r>
              <a:rPr sz="1550" dirty="0">
                <a:latin typeface="微软雅黑"/>
                <a:cs typeface="微软雅黑"/>
              </a:rPr>
              <a:t>例 </a:t>
            </a:r>
            <a:r>
              <a:rPr sz="1550" dirty="0">
                <a:latin typeface="Arial"/>
                <a:cs typeface="Arial"/>
              </a:rPr>
              <a:t>4.19</a:t>
            </a:r>
            <a:r>
              <a:rPr sz="1550" spc="40" dirty="0">
                <a:latin typeface="Arial"/>
                <a:cs typeface="Arial"/>
              </a:rPr>
              <a:t>  </a:t>
            </a:r>
            <a:r>
              <a:rPr sz="1550" dirty="0">
                <a:latin typeface="微软雅黑"/>
                <a:cs typeface="微软雅黑"/>
              </a:rPr>
              <a:t>秒表电路的</a:t>
            </a:r>
            <a:r>
              <a:rPr sz="1550" dirty="0">
                <a:latin typeface="Arial"/>
                <a:cs typeface="Arial"/>
              </a:rPr>
              <a:t>Verilog</a:t>
            </a:r>
            <a:r>
              <a:rPr sz="1550" spc="35" dirty="0">
                <a:latin typeface="Arial"/>
                <a:cs typeface="Arial"/>
              </a:rPr>
              <a:t> </a:t>
            </a:r>
            <a:r>
              <a:rPr sz="1550" dirty="0">
                <a:latin typeface="Arial"/>
                <a:cs typeface="Arial"/>
              </a:rPr>
              <a:t>HDL</a:t>
            </a:r>
            <a:r>
              <a:rPr sz="1550" dirty="0">
                <a:latin typeface="微软雅黑"/>
                <a:cs typeface="微软雅黑"/>
              </a:rPr>
              <a:t>描述（续</a:t>
            </a:r>
            <a:r>
              <a:rPr sz="1550" spc="-50" dirty="0">
                <a:latin typeface="微软雅黑"/>
                <a:cs typeface="微软雅黑"/>
              </a:rPr>
              <a:t>）</a:t>
            </a:r>
            <a:endParaRPr sz="1550">
              <a:latin typeface="微软雅黑"/>
              <a:cs typeface="微软雅黑"/>
            </a:endParaRPr>
          </a:p>
        </p:txBody>
      </p:sp>
      <p:sp>
        <p:nvSpPr>
          <p:cNvPr id="4" name="object 4"/>
          <p:cNvSpPr txBox="1"/>
          <p:nvPr/>
        </p:nvSpPr>
        <p:spPr>
          <a:xfrm>
            <a:off x="5632589" y="1802892"/>
            <a:ext cx="4298950" cy="1809114"/>
          </a:xfrm>
          <a:prstGeom prst="rect">
            <a:avLst/>
          </a:prstGeom>
          <a:solidFill>
            <a:srgbClr val="F9FABA"/>
          </a:solidFill>
        </p:spPr>
        <p:txBody>
          <a:bodyPr vert="horz" wrap="square" lIns="0" tIns="18415" rIns="0" bIns="0" rtlCol="0">
            <a:spAutoFit/>
          </a:bodyPr>
          <a:lstStyle/>
          <a:p>
            <a:pPr marL="429259" marR="2239645" algn="just">
              <a:lnSpc>
                <a:spcPts val="3370"/>
              </a:lnSpc>
              <a:spcBef>
                <a:spcPts val="145"/>
              </a:spcBef>
            </a:pPr>
            <a:r>
              <a:rPr sz="1400" b="1" dirty="0">
                <a:latin typeface="Arial"/>
                <a:cs typeface="Arial"/>
              </a:rPr>
              <a:t>assign</a:t>
            </a:r>
            <a:r>
              <a:rPr sz="1400" b="1" spc="-15" dirty="0">
                <a:latin typeface="Arial"/>
                <a:cs typeface="Arial"/>
              </a:rPr>
              <a:t> </a:t>
            </a:r>
            <a:r>
              <a:rPr sz="1400" dirty="0">
                <a:latin typeface="Arial"/>
                <a:cs typeface="Arial"/>
              </a:rPr>
              <a:t>d2</a:t>
            </a:r>
            <a:r>
              <a:rPr sz="1400" spc="-10" dirty="0">
                <a:latin typeface="Arial"/>
                <a:cs typeface="Arial"/>
              </a:rPr>
              <a:t> </a:t>
            </a:r>
            <a:r>
              <a:rPr sz="1400" dirty="0">
                <a:latin typeface="Arial"/>
                <a:cs typeface="Arial"/>
              </a:rPr>
              <a:t>=</a:t>
            </a:r>
            <a:r>
              <a:rPr sz="1400" spc="-10" dirty="0">
                <a:latin typeface="Arial"/>
                <a:cs typeface="Arial"/>
              </a:rPr>
              <a:t> d2_reg; </a:t>
            </a:r>
            <a:r>
              <a:rPr sz="1400" b="1" dirty="0">
                <a:latin typeface="Arial"/>
                <a:cs typeface="Arial"/>
              </a:rPr>
              <a:t>assign</a:t>
            </a:r>
            <a:r>
              <a:rPr sz="1400" b="1" spc="-10" dirty="0">
                <a:latin typeface="Arial"/>
                <a:cs typeface="Arial"/>
              </a:rPr>
              <a:t> </a:t>
            </a:r>
            <a:r>
              <a:rPr sz="1400" dirty="0">
                <a:latin typeface="Arial"/>
                <a:cs typeface="Arial"/>
              </a:rPr>
              <a:t>d1 = </a:t>
            </a:r>
            <a:r>
              <a:rPr sz="1400" spc="-10" dirty="0">
                <a:latin typeface="Arial"/>
                <a:cs typeface="Arial"/>
              </a:rPr>
              <a:t>d1_reg; </a:t>
            </a:r>
            <a:r>
              <a:rPr sz="1400" b="1" dirty="0">
                <a:latin typeface="Arial"/>
                <a:cs typeface="Arial"/>
              </a:rPr>
              <a:t>assign</a:t>
            </a:r>
            <a:r>
              <a:rPr sz="1400" b="1" spc="-15" dirty="0">
                <a:latin typeface="Arial"/>
                <a:cs typeface="Arial"/>
              </a:rPr>
              <a:t> </a:t>
            </a:r>
            <a:r>
              <a:rPr sz="1400" dirty="0">
                <a:latin typeface="Arial"/>
                <a:cs typeface="Arial"/>
              </a:rPr>
              <a:t>d0</a:t>
            </a:r>
            <a:r>
              <a:rPr sz="1400" spc="-10" dirty="0">
                <a:latin typeface="Arial"/>
                <a:cs typeface="Arial"/>
              </a:rPr>
              <a:t> </a:t>
            </a:r>
            <a:r>
              <a:rPr sz="1400" dirty="0">
                <a:latin typeface="Arial"/>
                <a:cs typeface="Arial"/>
              </a:rPr>
              <a:t>=</a:t>
            </a:r>
            <a:r>
              <a:rPr sz="1400" spc="-10" dirty="0">
                <a:latin typeface="Arial"/>
                <a:cs typeface="Arial"/>
              </a:rPr>
              <a:t> d0_reg;</a:t>
            </a:r>
            <a:endParaRPr sz="1400">
              <a:latin typeface="Arial"/>
              <a:cs typeface="Arial"/>
            </a:endParaRPr>
          </a:p>
          <a:p>
            <a:pPr marL="78740">
              <a:lnSpc>
                <a:spcPct val="100000"/>
              </a:lnSpc>
              <a:spcBef>
                <a:spcPts val="1285"/>
              </a:spcBef>
            </a:pPr>
            <a:r>
              <a:rPr sz="1400" b="1" spc="-10" dirty="0">
                <a:latin typeface="Arial"/>
                <a:cs typeface="Arial"/>
              </a:rPr>
              <a:t>endmodule</a:t>
            </a:r>
            <a:endParaRPr sz="1400">
              <a:latin typeface="Arial"/>
              <a:cs typeface="Arial"/>
            </a:endParaRPr>
          </a:p>
        </p:txBody>
      </p:sp>
      <p:sp>
        <p:nvSpPr>
          <p:cNvPr id="5" name="object 5"/>
          <p:cNvSpPr txBox="1">
            <a:spLocks noGrp="1"/>
          </p:cNvSpPr>
          <p:nvPr>
            <p:ph type="title"/>
          </p:nvPr>
        </p:nvSpPr>
        <p:spPr>
          <a:xfrm>
            <a:off x="523627" y="1112012"/>
            <a:ext cx="1727200" cy="453390"/>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4.5.2</a:t>
            </a:r>
            <a:r>
              <a:rPr dirty="0">
                <a:latin typeface="Arial"/>
                <a:cs typeface="Arial"/>
              </a:rPr>
              <a:t>	</a:t>
            </a:r>
            <a:r>
              <a:rPr spc="-25" dirty="0"/>
              <a:t>秒表</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760605" y="1444752"/>
            <a:ext cx="4643755" cy="4668520"/>
          </a:xfrm>
          <a:custGeom>
            <a:avLst/>
            <a:gdLst/>
            <a:ahLst/>
            <a:cxnLst/>
            <a:rect l="l" t="t" r="r" b="b"/>
            <a:pathLst>
              <a:path w="4643755" h="4668520">
                <a:moveTo>
                  <a:pt x="4643628" y="4668012"/>
                </a:moveTo>
                <a:lnTo>
                  <a:pt x="4643628" y="0"/>
                </a:lnTo>
                <a:lnTo>
                  <a:pt x="0" y="0"/>
                </a:lnTo>
                <a:lnTo>
                  <a:pt x="0" y="4668012"/>
                </a:lnTo>
                <a:lnTo>
                  <a:pt x="4643628" y="4668012"/>
                </a:lnTo>
                <a:close/>
              </a:path>
            </a:pathLst>
          </a:custGeom>
          <a:solidFill>
            <a:srgbClr val="F9FABA"/>
          </a:solidFill>
        </p:spPr>
        <p:txBody>
          <a:bodyPr wrap="square" lIns="0" tIns="0" rIns="0" bIns="0" rtlCol="0"/>
          <a:lstStyle/>
          <a:p>
            <a:endParaRPr/>
          </a:p>
        </p:txBody>
      </p:sp>
      <p:sp>
        <p:nvSpPr>
          <p:cNvPr id="3" name="object 3"/>
          <p:cNvSpPr txBox="1"/>
          <p:nvPr/>
        </p:nvSpPr>
        <p:spPr>
          <a:xfrm>
            <a:off x="8176159" y="1465580"/>
            <a:ext cx="1917700" cy="292735"/>
          </a:xfrm>
          <a:prstGeom prst="rect">
            <a:avLst/>
          </a:prstGeom>
        </p:spPr>
        <p:txBody>
          <a:bodyPr vert="horz" wrap="square" lIns="0" tIns="12700" rIns="0" bIns="0" rtlCol="0">
            <a:spAutoFit/>
          </a:bodyPr>
          <a:lstStyle/>
          <a:p>
            <a:pPr>
              <a:lnSpc>
                <a:spcPct val="100000"/>
              </a:lnSpc>
              <a:spcBef>
                <a:spcPts val="100"/>
              </a:spcBef>
            </a:pPr>
            <a:r>
              <a:rPr sz="1750" spc="-10" dirty="0">
                <a:latin typeface="Arial"/>
                <a:cs typeface="Arial"/>
              </a:rPr>
              <a:t>scan_led_disp_unit</a:t>
            </a:r>
            <a:endParaRPr sz="1750">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4" name="object 4"/>
          <p:cNvSpPr txBox="1"/>
          <p:nvPr/>
        </p:nvSpPr>
        <p:spPr>
          <a:xfrm>
            <a:off x="5962529" y="1465580"/>
            <a:ext cx="1917064" cy="3230245"/>
          </a:xfrm>
          <a:prstGeom prst="rect">
            <a:avLst/>
          </a:prstGeom>
        </p:spPr>
        <p:txBody>
          <a:bodyPr vert="horz" wrap="square" lIns="0" tIns="12700" rIns="0" bIns="0" rtlCol="0">
            <a:spAutoFit/>
          </a:bodyPr>
          <a:lstStyle/>
          <a:p>
            <a:pPr marR="5080">
              <a:lnSpc>
                <a:spcPct val="100000"/>
              </a:lnSpc>
              <a:spcBef>
                <a:spcPts val="100"/>
              </a:spcBef>
            </a:pPr>
            <a:r>
              <a:rPr sz="1750" spc="-10" dirty="0">
                <a:latin typeface="Arial"/>
                <a:cs typeface="Arial"/>
              </a:rPr>
              <a:t>scan_led_hex_disp (.clk(clk),</a:t>
            </a:r>
            <a:endParaRPr sz="1750">
              <a:latin typeface="Arial"/>
              <a:cs typeface="Arial"/>
            </a:endParaRPr>
          </a:p>
          <a:p>
            <a:pPr marL="60960">
              <a:lnSpc>
                <a:spcPct val="100000"/>
              </a:lnSpc>
              <a:spcBef>
                <a:spcPts val="5"/>
              </a:spcBef>
            </a:pPr>
            <a:r>
              <a:rPr sz="1750" spc="-10" dirty="0">
                <a:latin typeface="Arial"/>
                <a:cs typeface="Arial"/>
              </a:rPr>
              <a:t>.reset(1’b0),</a:t>
            </a:r>
            <a:endParaRPr sz="1750">
              <a:latin typeface="Arial"/>
              <a:cs typeface="Arial"/>
            </a:endParaRPr>
          </a:p>
          <a:p>
            <a:pPr marL="60960">
              <a:lnSpc>
                <a:spcPct val="100000"/>
              </a:lnSpc>
              <a:spcBef>
                <a:spcPts val="10"/>
              </a:spcBef>
            </a:pPr>
            <a:r>
              <a:rPr sz="1750" spc="-10" dirty="0">
                <a:latin typeface="Arial"/>
                <a:cs typeface="Arial"/>
              </a:rPr>
              <a:t>.hex3(4’b0),</a:t>
            </a:r>
            <a:endParaRPr sz="1750">
              <a:latin typeface="Arial"/>
              <a:cs typeface="Arial"/>
            </a:endParaRPr>
          </a:p>
          <a:p>
            <a:pPr marL="60960">
              <a:lnSpc>
                <a:spcPct val="100000"/>
              </a:lnSpc>
              <a:spcBef>
                <a:spcPts val="5"/>
              </a:spcBef>
            </a:pPr>
            <a:r>
              <a:rPr sz="1750" spc="-10" dirty="0">
                <a:latin typeface="Arial"/>
                <a:cs typeface="Arial"/>
              </a:rPr>
              <a:t>.hex2(d2),</a:t>
            </a:r>
            <a:endParaRPr sz="1750">
              <a:latin typeface="Arial"/>
              <a:cs typeface="Arial"/>
            </a:endParaRPr>
          </a:p>
          <a:p>
            <a:pPr marL="60960">
              <a:lnSpc>
                <a:spcPct val="100000"/>
              </a:lnSpc>
            </a:pPr>
            <a:r>
              <a:rPr sz="1750" spc="-10" dirty="0">
                <a:latin typeface="Arial"/>
                <a:cs typeface="Arial"/>
              </a:rPr>
              <a:t>.hex1(d1),</a:t>
            </a:r>
            <a:endParaRPr sz="1750">
              <a:latin typeface="Arial"/>
              <a:cs typeface="Arial"/>
            </a:endParaRPr>
          </a:p>
          <a:p>
            <a:pPr marL="60960">
              <a:lnSpc>
                <a:spcPct val="100000"/>
              </a:lnSpc>
              <a:spcBef>
                <a:spcPts val="5"/>
              </a:spcBef>
            </a:pPr>
            <a:r>
              <a:rPr sz="1750" spc="-10" dirty="0">
                <a:latin typeface="Arial"/>
                <a:cs typeface="Arial"/>
              </a:rPr>
              <a:t>.hex0(d0),</a:t>
            </a:r>
            <a:endParaRPr sz="1750">
              <a:latin typeface="Arial"/>
              <a:cs typeface="Arial"/>
            </a:endParaRPr>
          </a:p>
          <a:p>
            <a:pPr marL="60960">
              <a:lnSpc>
                <a:spcPct val="100000"/>
              </a:lnSpc>
              <a:spcBef>
                <a:spcPts val="5"/>
              </a:spcBef>
            </a:pPr>
            <a:r>
              <a:rPr sz="1750" spc="-10" dirty="0">
                <a:latin typeface="Arial"/>
                <a:cs typeface="Arial"/>
              </a:rPr>
              <a:t>.dp_in(4’b1011),</a:t>
            </a:r>
            <a:endParaRPr sz="1750">
              <a:latin typeface="Arial"/>
              <a:cs typeface="Arial"/>
            </a:endParaRPr>
          </a:p>
          <a:p>
            <a:pPr marL="60960">
              <a:lnSpc>
                <a:spcPct val="100000"/>
              </a:lnSpc>
            </a:pPr>
            <a:r>
              <a:rPr sz="1750" spc="-10" dirty="0">
                <a:latin typeface="Arial"/>
                <a:cs typeface="Arial"/>
              </a:rPr>
              <a:t>.an(an),</a:t>
            </a:r>
            <a:endParaRPr sz="1750">
              <a:latin typeface="Arial"/>
              <a:cs typeface="Arial"/>
            </a:endParaRPr>
          </a:p>
          <a:p>
            <a:pPr marL="60960">
              <a:lnSpc>
                <a:spcPct val="100000"/>
              </a:lnSpc>
              <a:spcBef>
                <a:spcPts val="5"/>
              </a:spcBef>
            </a:pPr>
            <a:r>
              <a:rPr sz="1750" spc="-10" dirty="0">
                <a:latin typeface="Arial"/>
                <a:cs typeface="Arial"/>
              </a:rPr>
              <a:t>.sseg(sseg)</a:t>
            </a:r>
            <a:endParaRPr sz="1750">
              <a:latin typeface="Arial"/>
              <a:cs typeface="Arial"/>
            </a:endParaRPr>
          </a:p>
          <a:p>
            <a:pPr>
              <a:lnSpc>
                <a:spcPts val="2095"/>
              </a:lnSpc>
              <a:spcBef>
                <a:spcPts val="10"/>
              </a:spcBef>
            </a:pPr>
            <a:r>
              <a:rPr sz="1750" spc="-25" dirty="0">
                <a:latin typeface="Arial"/>
                <a:cs typeface="Arial"/>
              </a:rPr>
              <a:t>);</a:t>
            </a:r>
            <a:endParaRPr sz="1750">
              <a:latin typeface="Arial"/>
              <a:cs typeface="Arial"/>
            </a:endParaRPr>
          </a:p>
          <a:p>
            <a:pPr>
              <a:lnSpc>
                <a:spcPts val="2095"/>
              </a:lnSpc>
            </a:pPr>
            <a:r>
              <a:rPr sz="1750" spc="-10" dirty="0">
                <a:latin typeface="Arial"/>
                <a:cs typeface="Arial"/>
              </a:rPr>
              <a:t>//</a:t>
            </a:r>
            <a:r>
              <a:rPr sz="1750" spc="-10" dirty="0">
                <a:latin typeface="微软雅黑"/>
                <a:cs typeface="微软雅黑"/>
              </a:rPr>
              <a:t>实例化秒表</a:t>
            </a:r>
            <a:endParaRPr sz="1750">
              <a:latin typeface="微软雅黑"/>
              <a:cs typeface="微软雅黑"/>
            </a:endParaRPr>
          </a:p>
        </p:txBody>
      </p:sp>
      <p:sp>
        <p:nvSpPr>
          <p:cNvPr id="5" name="object 5"/>
          <p:cNvSpPr txBox="1"/>
          <p:nvPr/>
        </p:nvSpPr>
        <p:spPr>
          <a:xfrm>
            <a:off x="5962529" y="4672129"/>
            <a:ext cx="3898900" cy="826769"/>
          </a:xfrm>
          <a:prstGeom prst="rect">
            <a:avLst/>
          </a:prstGeom>
        </p:spPr>
        <p:txBody>
          <a:bodyPr vert="horz" wrap="square" lIns="0" tIns="12700" rIns="0" bIns="0" rtlCol="0">
            <a:spAutoFit/>
          </a:bodyPr>
          <a:lstStyle/>
          <a:p>
            <a:pPr>
              <a:lnSpc>
                <a:spcPct val="100000"/>
              </a:lnSpc>
              <a:spcBef>
                <a:spcPts val="100"/>
              </a:spcBef>
              <a:tabLst>
                <a:tab pos="1308735" algn="l"/>
              </a:tabLst>
            </a:pPr>
            <a:r>
              <a:rPr sz="1750" spc="-10" dirty="0">
                <a:latin typeface="Arial"/>
                <a:cs typeface="Arial"/>
              </a:rPr>
              <a:t>stop_watch</a:t>
            </a:r>
            <a:r>
              <a:rPr sz="1750" dirty="0">
                <a:latin typeface="Arial"/>
                <a:cs typeface="Arial"/>
              </a:rPr>
              <a:t>	</a:t>
            </a:r>
            <a:r>
              <a:rPr sz="1750" spc="-10" dirty="0">
                <a:latin typeface="Arial"/>
                <a:cs typeface="Arial"/>
              </a:rPr>
              <a:t>counter_unit</a:t>
            </a:r>
            <a:endParaRPr sz="1750">
              <a:latin typeface="Arial"/>
              <a:cs typeface="Arial"/>
            </a:endParaRPr>
          </a:p>
          <a:p>
            <a:pPr marL="739775">
              <a:lnSpc>
                <a:spcPct val="100000"/>
              </a:lnSpc>
              <a:spcBef>
                <a:spcPts val="5"/>
              </a:spcBef>
            </a:pPr>
            <a:r>
              <a:rPr sz="1750" dirty="0">
                <a:latin typeface="Arial"/>
                <a:cs typeface="Arial"/>
              </a:rPr>
              <a:t>(.clk(clk),</a:t>
            </a:r>
            <a:r>
              <a:rPr sz="1750" spc="-75" dirty="0">
                <a:latin typeface="Arial"/>
                <a:cs typeface="Arial"/>
              </a:rPr>
              <a:t> </a:t>
            </a:r>
            <a:r>
              <a:rPr sz="1750" spc="-10" dirty="0">
                <a:latin typeface="Arial"/>
                <a:cs typeface="Arial"/>
              </a:rPr>
              <a:t>.</a:t>
            </a:r>
            <a:r>
              <a:rPr sz="1750" spc="-10" dirty="0">
                <a:solidFill>
                  <a:srgbClr val="FF0000"/>
                </a:solidFill>
                <a:latin typeface="Arial"/>
                <a:cs typeface="Arial"/>
              </a:rPr>
              <a:t>go(btn[1]),</a:t>
            </a:r>
            <a:r>
              <a:rPr sz="1750" spc="-80" dirty="0">
                <a:solidFill>
                  <a:srgbClr val="FF0000"/>
                </a:solidFill>
                <a:latin typeface="Arial"/>
                <a:cs typeface="Arial"/>
              </a:rPr>
              <a:t> </a:t>
            </a:r>
            <a:r>
              <a:rPr sz="1750" spc="-10" dirty="0">
                <a:solidFill>
                  <a:srgbClr val="FF0000"/>
                </a:solidFill>
                <a:latin typeface="Arial"/>
                <a:cs typeface="Arial"/>
              </a:rPr>
              <a:t>.clr(btn[0]</a:t>
            </a:r>
            <a:r>
              <a:rPr sz="1750" spc="-10" dirty="0">
                <a:latin typeface="Arial"/>
                <a:cs typeface="Arial"/>
              </a:rPr>
              <a:t>),</a:t>
            </a:r>
            <a:endParaRPr sz="1750">
              <a:latin typeface="Arial"/>
              <a:cs typeface="Arial"/>
            </a:endParaRPr>
          </a:p>
          <a:p>
            <a:pPr>
              <a:lnSpc>
                <a:spcPct val="100000"/>
              </a:lnSpc>
            </a:pPr>
            <a:r>
              <a:rPr sz="1750" dirty="0">
                <a:latin typeface="Arial"/>
                <a:cs typeface="Arial"/>
              </a:rPr>
              <a:t>.d2(d2),</a:t>
            </a:r>
            <a:r>
              <a:rPr sz="1750" spc="-105" dirty="0">
                <a:latin typeface="Arial"/>
                <a:cs typeface="Arial"/>
              </a:rPr>
              <a:t> </a:t>
            </a:r>
            <a:r>
              <a:rPr sz="1750" dirty="0">
                <a:latin typeface="Arial"/>
                <a:cs typeface="Arial"/>
              </a:rPr>
              <a:t>.d1(d1),</a:t>
            </a:r>
            <a:r>
              <a:rPr sz="1750" spc="-100" dirty="0">
                <a:latin typeface="Arial"/>
                <a:cs typeface="Arial"/>
              </a:rPr>
              <a:t> </a:t>
            </a:r>
            <a:r>
              <a:rPr sz="1750" spc="-10" dirty="0">
                <a:latin typeface="Arial"/>
                <a:cs typeface="Arial"/>
              </a:rPr>
              <a:t>.d0(d0));</a:t>
            </a:r>
            <a:endParaRPr sz="1750">
              <a:latin typeface="Arial"/>
              <a:cs typeface="Arial"/>
            </a:endParaRPr>
          </a:p>
        </p:txBody>
      </p:sp>
      <p:sp>
        <p:nvSpPr>
          <p:cNvPr id="6" name="object 6"/>
          <p:cNvSpPr txBox="1"/>
          <p:nvPr/>
        </p:nvSpPr>
        <p:spPr>
          <a:xfrm>
            <a:off x="5827147" y="5602022"/>
            <a:ext cx="2586990" cy="797560"/>
          </a:xfrm>
          <a:prstGeom prst="rect">
            <a:avLst/>
          </a:prstGeom>
        </p:spPr>
        <p:txBody>
          <a:bodyPr vert="horz" wrap="square" lIns="0" tIns="151765" rIns="0" bIns="0" rtlCol="0">
            <a:spAutoFit/>
          </a:bodyPr>
          <a:lstStyle/>
          <a:p>
            <a:pPr marL="12065">
              <a:lnSpc>
                <a:spcPct val="100000"/>
              </a:lnSpc>
              <a:spcBef>
                <a:spcPts val="1195"/>
              </a:spcBef>
            </a:pPr>
            <a:r>
              <a:rPr sz="1750" b="1" spc="-10" dirty="0">
                <a:latin typeface="Arial"/>
                <a:cs typeface="Arial"/>
              </a:rPr>
              <a:t>endmodule</a:t>
            </a:r>
            <a:endParaRPr sz="1750">
              <a:latin typeface="Arial"/>
              <a:cs typeface="Arial"/>
            </a:endParaRPr>
          </a:p>
          <a:p>
            <a:pPr marL="12700">
              <a:lnSpc>
                <a:spcPct val="100000"/>
              </a:lnSpc>
              <a:spcBef>
                <a:spcPts val="1015"/>
              </a:spcBef>
            </a:pPr>
            <a:r>
              <a:rPr sz="1550" spc="10" dirty="0">
                <a:latin typeface="微软雅黑"/>
                <a:cs typeface="微软雅黑"/>
              </a:rPr>
              <a:t>例 </a:t>
            </a:r>
            <a:r>
              <a:rPr sz="1550" dirty="0">
                <a:latin typeface="Arial"/>
                <a:cs typeface="Arial"/>
              </a:rPr>
              <a:t>4.20</a:t>
            </a:r>
            <a:r>
              <a:rPr sz="1550" spc="60" dirty="0">
                <a:latin typeface="Arial"/>
                <a:cs typeface="Arial"/>
              </a:rPr>
              <a:t>  </a:t>
            </a:r>
            <a:r>
              <a:rPr sz="1550" spc="-10" dirty="0">
                <a:latin typeface="微软雅黑"/>
                <a:cs typeface="微软雅黑"/>
              </a:rPr>
              <a:t>秒表电路的测试例程</a:t>
            </a:r>
            <a:endParaRPr sz="1550">
              <a:latin typeface="微软雅黑"/>
              <a:cs typeface="微软雅黑"/>
            </a:endParaRPr>
          </a:p>
        </p:txBody>
      </p:sp>
      <p:sp>
        <p:nvSpPr>
          <p:cNvPr id="7" name="object 7"/>
          <p:cNvSpPr txBox="1"/>
          <p:nvPr/>
        </p:nvSpPr>
        <p:spPr>
          <a:xfrm>
            <a:off x="420760" y="3783938"/>
            <a:ext cx="5143500" cy="2030095"/>
          </a:xfrm>
          <a:prstGeom prst="rect">
            <a:avLst/>
          </a:prstGeom>
        </p:spPr>
        <p:txBody>
          <a:bodyPr vert="horz" wrap="square" lIns="0" tIns="12700" rIns="0" bIns="0" rtlCol="0">
            <a:spAutoFit/>
          </a:bodyPr>
          <a:lstStyle/>
          <a:p>
            <a:pPr marL="12700" marR="5080" algn="just">
              <a:lnSpc>
                <a:spcPct val="150300"/>
              </a:lnSpc>
              <a:spcBef>
                <a:spcPts val="100"/>
              </a:spcBef>
            </a:pPr>
            <a:r>
              <a:rPr sz="1750" dirty="0">
                <a:latin typeface="微软雅黑"/>
                <a:cs typeface="微软雅黑"/>
              </a:rPr>
              <a:t>为了验证例</a:t>
            </a:r>
            <a:r>
              <a:rPr sz="1750" spc="-20" dirty="0">
                <a:latin typeface="Arial"/>
                <a:cs typeface="Arial"/>
              </a:rPr>
              <a:t>4.19</a:t>
            </a:r>
            <a:r>
              <a:rPr sz="1750" spc="-5" dirty="0">
                <a:latin typeface="微软雅黑"/>
                <a:cs typeface="微软雅黑"/>
              </a:rPr>
              <a:t>的秒表电路，我们可以把它与前面的十六进制分时复用数码管电路结合，显示出秒表的输</a:t>
            </a:r>
            <a:r>
              <a:rPr sz="1750" dirty="0">
                <a:latin typeface="微软雅黑"/>
                <a:cs typeface="微软雅黑"/>
              </a:rPr>
              <a:t>出。实现代码如例</a:t>
            </a:r>
            <a:r>
              <a:rPr sz="1750" spc="-20" dirty="0">
                <a:latin typeface="Arial"/>
                <a:cs typeface="Arial"/>
              </a:rPr>
              <a:t>4.20</a:t>
            </a:r>
            <a:r>
              <a:rPr sz="1750" spc="-20" dirty="0">
                <a:latin typeface="微软雅黑"/>
                <a:cs typeface="微软雅黑"/>
              </a:rPr>
              <a:t>所示。</a:t>
            </a:r>
            <a:endParaRPr sz="1750">
              <a:latin typeface="微软雅黑"/>
              <a:cs typeface="微软雅黑"/>
            </a:endParaRPr>
          </a:p>
          <a:p>
            <a:pPr marL="12700" marR="65405">
              <a:lnSpc>
                <a:spcPct val="150300"/>
              </a:lnSpc>
            </a:pPr>
            <a:r>
              <a:rPr sz="1750" b="1" dirty="0">
                <a:solidFill>
                  <a:srgbClr val="FF0000"/>
                </a:solidFill>
                <a:latin typeface="微软雅黑"/>
                <a:cs typeface="微软雅黑"/>
              </a:rPr>
              <a:t>注意：</a:t>
            </a:r>
            <a:r>
              <a:rPr sz="1750" dirty="0">
                <a:latin typeface="微软雅黑"/>
                <a:cs typeface="微软雅黑"/>
              </a:rPr>
              <a:t>数码管的第一位显示</a:t>
            </a:r>
            <a:r>
              <a:rPr sz="1750" spc="-10" dirty="0">
                <a:latin typeface="Arial"/>
                <a:cs typeface="Arial"/>
              </a:rPr>
              <a:t>0</a:t>
            </a:r>
            <a:r>
              <a:rPr sz="1750" spc="-5" dirty="0">
                <a:latin typeface="微软雅黑"/>
                <a:cs typeface="微软雅黑"/>
              </a:rPr>
              <a:t>，信号</a:t>
            </a:r>
            <a:r>
              <a:rPr sz="1750" spc="-20" dirty="0">
                <a:latin typeface="Arial"/>
                <a:cs typeface="Arial"/>
              </a:rPr>
              <a:t>go</a:t>
            </a:r>
            <a:r>
              <a:rPr sz="1750" dirty="0">
                <a:latin typeface="微软雅黑"/>
                <a:cs typeface="微软雅黑"/>
              </a:rPr>
              <a:t>和</a:t>
            </a:r>
            <a:r>
              <a:rPr sz="1750" spc="-10" dirty="0">
                <a:latin typeface="Arial"/>
                <a:cs typeface="Arial"/>
              </a:rPr>
              <a:t>clr</a:t>
            </a:r>
            <a:r>
              <a:rPr sz="1750" spc="-15" dirty="0">
                <a:latin typeface="微软雅黑"/>
                <a:cs typeface="微软雅黑"/>
              </a:rPr>
              <a:t>分别对应</a:t>
            </a:r>
            <a:r>
              <a:rPr sz="1750" dirty="0">
                <a:latin typeface="微软雅黑"/>
                <a:cs typeface="微软雅黑"/>
              </a:rPr>
              <a:t>两个标号为</a:t>
            </a:r>
            <a:r>
              <a:rPr sz="1750" spc="-20" dirty="0">
                <a:latin typeface="Arial"/>
                <a:cs typeface="Arial"/>
              </a:rPr>
              <a:t>btn</a:t>
            </a:r>
            <a:r>
              <a:rPr sz="1750" dirty="0">
                <a:latin typeface="微软雅黑"/>
                <a:cs typeface="微软雅黑"/>
              </a:rPr>
              <a:t>的</a:t>
            </a:r>
            <a:r>
              <a:rPr sz="1750" spc="-20" dirty="0">
                <a:latin typeface="Arial"/>
                <a:cs typeface="Arial"/>
              </a:rPr>
              <a:t>IO</a:t>
            </a:r>
            <a:r>
              <a:rPr sz="1750" spc="-25" dirty="0">
                <a:latin typeface="微软雅黑"/>
                <a:cs typeface="微软雅黑"/>
              </a:rPr>
              <a:t>口。</a:t>
            </a:r>
            <a:endParaRPr sz="1750">
              <a:latin typeface="微软雅黑"/>
              <a:cs typeface="微软雅黑"/>
            </a:endParaRPr>
          </a:p>
        </p:txBody>
      </p:sp>
      <p:sp>
        <p:nvSpPr>
          <p:cNvPr id="8" name="object 8"/>
          <p:cNvSpPr txBox="1"/>
          <p:nvPr/>
        </p:nvSpPr>
        <p:spPr>
          <a:xfrm>
            <a:off x="353453" y="1752600"/>
            <a:ext cx="5150485" cy="1969135"/>
          </a:xfrm>
          <a:prstGeom prst="rect">
            <a:avLst/>
          </a:prstGeom>
          <a:solidFill>
            <a:srgbClr val="F9FABA"/>
          </a:solidFill>
        </p:spPr>
        <p:txBody>
          <a:bodyPr vert="horz" wrap="square" lIns="0" tIns="33655" rIns="0" bIns="0" rtlCol="0">
            <a:spAutoFit/>
          </a:bodyPr>
          <a:lstStyle/>
          <a:p>
            <a:pPr marL="263525" marR="2602865" indent="-184150">
              <a:lnSpc>
                <a:spcPct val="100000"/>
              </a:lnSpc>
              <a:spcBef>
                <a:spcPts val="265"/>
              </a:spcBef>
            </a:pPr>
            <a:r>
              <a:rPr sz="1750" b="1" dirty="0">
                <a:latin typeface="Arial"/>
                <a:cs typeface="Arial"/>
              </a:rPr>
              <a:t>module</a:t>
            </a:r>
            <a:r>
              <a:rPr sz="1750" b="1" spc="-80" dirty="0">
                <a:latin typeface="Arial"/>
                <a:cs typeface="Arial"/>
              </a:rPr>
              <a:t> </a:t>
            </a:r>
            <a:r>
              <a:rPr sz="1750" spc="-10" dirty="0">
                <a:latin typeface="Arial"/>
                <a:cs typeface="Arial"/>
              </a:rPr>
              <a:t>stop_watch_test </a:t>
            </a:r>
            <a:r>
              <a:rPr sz="1750" dirty="0">
                <a:latin typeface="Arial"/>
                <a:cs typeface="Arial"/>
              </a:rPr>
              <a:t>(</a:t>
            </a:r>
            <a:r>
              <a:rPr sz="1750" spc="-35" dirty="0">
                <a:latin typeface="Arial"/>
                <a:cs typeface="Arial"/>
              </a:rPr>
              <a:t> </a:t>
            </a:r>
            <a:r>
              <a:rPr sz="1750" b="1" dirty="0">
                <a:latin typeface="Arial"/>
                <a:cs typeface="Arial"/>
              </a:rPr>
              <a:t>input</a:t>
            </a:r>
            <a:r>
              <a:rPr sz="1750" b="1" spc="440" dirty="0">
                <a:latin typeface="Arial"/>
                <a:cs typeface="Arial"/>
              </a:rPr>
              <a:t> </a:t>
            </a:r>
            <a:r>
              <a:rPr sz="1750" spc="-20" dirty="0">
                <a:latin typeface="Arial"/>
                <a:cs typeface="Arial"/>
              </a:rPr>
              <a:t>clk,</a:t>
            </a:r>
            <a:endParaRPr sz="1750">
              <a:latin typeface="Arial"/>
              <a:cs typeface="Arial"/>
            </a:endParaRPr>
          </a:p>
          <a:p>
            <a:pPr marL="386080">
              <a:lnSpc>
                <a:spcPct val="100000"/>
              </a:lnSpc>
              <a:spcBef>
                <a:spcPts val="5"/>
              </a:spcBef>
            </a:pPr>
            <a:r>
              <a:rPr sz="1750" b="1" dirty="0">
                <a:latin typeface="Arial"/>
                <a:cs typeface="Arial"/>
              </a:rPr>
              <a:t>input</a:t>
            </a:r>
            <a:r>
              <a:rPr sz="1750" b="1" spc="-60" dirty="0">
                <a:latin typeface="Arial"/>
                <a:cs typeface="Arial"/>
              </a:rPr>
              <a:t> </a:t>
            </a:r>
            <a:r>
              <a:rPr sz="1750" dirty="0">
                <a:latin typeface="Arial"/>
                <a:cs typeface="Arial"/>
              </a:rPr>
              <a:t>[1:0]</a:t>
            </a:r>
            <a:r>
              <a:rPr sz="1750" spc="-70" dirty="0">
                <a:latin typeface="Arial"/>
                <a:cs typeface="Arial"/>
              </a:rPr>
              <a:t> </a:t>
            </a:r>
            <a:r>
              <a:rPr sz="1750" spc="-20" dirty="0">
                <a:latin typeface="Arial"/>
                <a:cs typeface="Arial"/>
              </a:rPr>
              <a:t>btn,</a:t>
            </a:r>
            <a:endParaRPr sz="1750">
              <a:latin typeface="Arial"/>
              <a:cs typeface="Arial"/>
            </a:endParaRPr>
          </a:p>
          <a:p>
            <a:pPr marL="386080">
              <a:lnSpc>
                <a:spcPct val="100000"/>
              </a:lnSpc>
              <a:spcBef>
                <a:spcPts val="5"/>
              </a:spcBef>
            </a:pPr>
            <a:r>
              <a:rPr sz="1750" b="1" dirty="0">
                <a:latin typeface="Arial"/>
                <a:cs typeface="Arial"/>
              </a:rPr>
              <a:t>output</a:t>
            </a:r>
            <a:r>
              <a:rPr sz="1750" b="1" spc="-55" dirty="0">
                <a:latin typeface="Arial"/>
                <a:cs typeface="Arial"/>
              </a:rPr>
              <a:t> </a:t>
            </a:r>
            <a:r>
              <a:rPr sz="1750" dirty="0">
                <a:latin typeface="Arial"/>
                <a:cs typeface="Arial"/>
              </a:rPr>
              <a:t>[3:0]</a:t>
            </a:r>
            <a:r>
              <a:rPr sz="1750" spc="-80" dirty="0">
                <a:latin typeface="Arial"/>
                <a:cs typeface="Arial"/>
              </a:rPr>
              <a:t> </a:t>
            </a:r>
            <a:r>
              <a:rPr sz="1750" spc="-25" dirty="0">
                <a:latin typeface="Arial"/>
                <a:cs typeface="Arial"/>
              </a:rPr>
              <a:t>an,</a:t>
            </a:r>
            <a:endParaRPr sz="1750">
              <a:latin typeface="Arial"/>
              <a:cs typeface="Arial"/>
            </a:endParaRPr>
          </a:p>
          <a:p>
            <a:pPr marL="386080">
              <a:lnSpc>
                <a:spcPct val="100000"/>
              </a:lnSpc>
              <a:spcBef>
                <a:spcPts val="10"/>
              </a:spcBef>
            </a:pPr>
            <a:r>
              <a:rPr sz="1750" b="1" dirty="0">
                <a:latin typeface="Arial"/>
                <a:cs typeface="Arial"/>
              </a:rPr>
              <a:t>output</a:t>
            </a:r>
            <a:r>
              <a:rPr sz="1750" b="1" spc="-55" dirty="0">
                <a:latin typeface="Arial"/>
                <a:cs typeface="Arial"/>
              </a:rPr>
              <a:t> </a:t>
            </a:r>
            <a:r>
              <a:rPr sz="1750" dirty="0">
                <a:latin typeface="Arial"/>
                <a:cs typeface="Arial"/>
              </a:rPr>
              <a:t>[7:0]</a:t>
            </a:r>
            <a:r>
              <a:rPr sz="1750" spc="-80" dirty="0">
                <a:latin typeface="Arial"/>
                <a:cs typeface="Arial"/>
              </a:rPr>
              <a:t> </a:t>
            </a:r>
            <a:r>
              <a:rPr sz="1750" spc="-20" dirty="0">
                <a:latin typeface="Arial"/>
                <a:cs typeface="Arial"/>
              </a:rPr>
              <a:t>sseg</a:t>
            </a:r>
            <a:endParaRPr sz="1750">
              <a:latin typeface="Arial"/>
              <a:cs typeface="Arial"/>
            </a:endParaRPr>
          </a:p>
          <a:p>
            <a:pPr marL="325120">
              <a:lnSpc>
                <a:spcPct val="100000"/>
              </a:lnSpc>
            </a:pPr>
            <a:r>
              <a:rPr sz="1750" spc="-25" dirty="0">
                <a:latin typeface="Arial"/>
                <a:cs typeface="Arial"/>
              </a:rPr>
              <a:t>);</a:t>
            </a:r>
            <a:endParaRPr sz="1750">
              <a:latin typeface="Arial"/>
              <a:cs typeface="Arial"/>
            </a:endParaRPr>
          </a:p>
          <a:p>
            <a:pPr marL="325120">
              <a:lnSpc>
                <a:spcPct val="100000"/>
              </a:lnSpc>
              <a:spcBef>
                <a:spcPts val="5"/>
              </a:spcBef>
            </a:pPr>
            <a:r>
              <a:rPr sz="1750" b="1" dirty="0">
                <a:latin typeface="Arial"/>
                <a:cs typeface="Arial"/>
              </a:rPr>
              <a:t>wire</a:t>
            </a:r>
            <a:r>
              <a:rPr sz="1750" b="1" spc="-55" dirty="0">
                <a:latin typeface="Arial"/>
                <a:cs typeface="Arial"/>
              </a:rPr>
              <a:t> </a:t>
            </a:r>
            <a:r>
              <a:rPr sz="1750" dirty="0">
                <a:latin typeface="Arial"/>
                <a:cs typeface="Arial"/>
              </a:rPr>
              <a:t>[3:0]</a:t>
            </a:r>
            <a:r>
              <a:rPr sz="1750" spc="-35" dirty="0">
                <a:latin typeface="Arial"/>
                <a:cs typeface="Arial"/>
              </a:rPr>
              <a:t> </a:t>
            </a:r>
            <a:r>
              <a:rPr sz="1750" spc="-10" dirty="0">
                <a:latin typeface="Arial"/>
                <a:cs typeface="Arial"/>
              </a:rPr>
              <a:t>d2,d1,d0;</a:t>
            </a:r>
            <a:endParaRPr sz="1750">
              <a:latin typeface="Arial"/>
              <a:cs typeface="Arial"/>
            </a:endParaRPr>
          </a:p>
        </p:txBody>
      </p:sp>
      <p:sp>
        <p:nvSpPr>
          <p:cNvPr id="9" name="object 9"/>
          <p:cNvSpPr txBox="1">
            <a:spLocks noGrp="1"/>
          </p:cNvSpPr>
          <p:nvPr>
            <p:ph type="title"/>
          </p:nvPr>
        </p:nvSpPr>
        <p:spPr>
          <a:xfrm>
            <a:off x="523627" y="1112012"/>
            <a:ext cx="1727200" cy="453390"/>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pc="-10" dirty="0">
                <a:latin typeface="Arial"/>
                <a:cs typeface="Arial"/>
              </a:rPr>
              <a:t>4.5.2</a:t>
            </a:r>
            <a:r>
              <a:rPr dirty="0">
                <a:latin typeface="Arial"/>
                <a:cs typeface="Arial"/>
              </a:rPr>
              <a:t>	</a:t>
            </a:r>
            <a:r>
              <a:rPr spc="-25" dirty="0"/>
              <a:t>秒表</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1831" y="2094230"/>
            <a:ext cx="9248775" cy="2729865"/>
          </a:xfrm>
          <a:prstGeom prst="rect">
            <a:avLst/>
          </a:prstGeom>
        </p:spPr>
        <p:txBody>
          <a:bodyPr vert="horz" wrap="square" lIns="0" tIns="13335" rIns="0" bIns="0" rtlCol="0">
            <a:spAutoFit/>
          </a:bodyPr>
          <a:lstStyle/>
          <a:p>
            <a:pPr marL="12700">
              <a:lnSpc>
                <a:spcPct val="100000"/>
              </a:lnSpc>
              <a:spcBef>
                <a:spcPts val="105"/>
              </a:spcBef>
              <a:tabLst>
                <a:tab pos="1000760" algn="l"/>
              </a:tabLst>
            </a:pPr>
            <a:r>
              <a:rPr sz="2800" spc="-10" dirty="0">
                <a:latin typeface="Arial"/>
                <a:cs typeface="Arial"/>
              </a:rPr>
              <a:t>4.6.1</a:t>
            </a:r>
            <a:r>
              <a:rPr sz="2800" dirty="0">
                <a:latin typeface="Arial"/>
                <a:cs typeface="Arial"/>
              </a:rPr>
              <a:t>	</a:t>
            </a:r>
            <a:r>
              <a:rPr sz="2800" spc="-15" dirty="0">
                <a:latin typeface="微软雅黑"/>
                <a:cs typeface="微软雅黑"/>
              </a:rPr>
              <a:t>可编程的方波信号发生器</a:t>
            </a:r>
            <a:endParaRPr sz="2800">
              <a:latin typeface="微软雅黑"/>
              <a:cs typeface="微软雅黑"/>
            </a:endParaRPr>
          </a:p>
          <a:p>
            <a:pPr marL="12700" marR="5080">
              <a:lnSpc>
                <a:spcPct val="150300"/>
              </a:lnSpc>
              <a:spcBef>
                <a:spcPts val="2145"/>
              </a:spcBef>
            </a:pPr>
            <a:r>
              <a:rPr sz="1750" dirty="0">
                <a:latin typeface="微软雅黑"/>
                <a:cs typeface="微软雅黑"/>
              </a:rPr>
              <a:t>一个可编程的方波发生器是可以产生用变量</a:t>
            </a:r>
            <a:r>
              <a:rPr sz="1750" spc="-20" dirty="0">
                <a:latin typeface="Arial"/>
                <a:cs typeface="Arial"/>
              </a:rPr>
              <a:t>(</a:t>
            </a:r>
            <a:r>
              <a:rPr sz="1750" dirty="0">
                <a:latin typeface="微软雅黑"/>
                <a:cs typeface="微软雅黑"/>
              </a:rPr>
              <a:t>逻辑</a:t>
            </a:r>
            <a:r>
              <a:rPr sz="1750" spc="-20" dirty="0">
                <a:latin typeface="Arial"/>
                <a:cs typeface="Arial"/>
              </a:rPr>
              <a:t>1)</a:t>
            </a:r>
            <a:r>
              <a:rPr sz="1750" dirty="0">
                <a:latin typeface="微软雅黑"/>
                <a:cs typeface="微软雅黑"/>
              </a:rPr>
              <a:t>和</a:t>
            </a:r>
            <a:r>
              <a:rPr sz="1750" spc="-20" dirty="0">
                <a:latin typeface="Arial"/>
                <a:cs typeface="Arial"/>
              </a:rPr>
              <a:t>(</a:t>
            </a:r>
            <a:r>
              <a:rPr sz="1750" dirty="0">
                <a:latin typeface="微软雅黑"/>
                <a:cs typeface="微软雅黑"/>
              </a:rPr>
              <a:t>逻辑</a:t>
            </a:r>
            <a:r>
              <a:rPr sz="1750" spc="-20" dirty="0">
                <a:latin typeface="Arial"/>
                <a:cs typeface="Arial"/>
              </a:rPr>
              <a:t>0)</a:t>
            </a:r>
            <a:r>
              <a:rPr sz="1750" spc="-5" dirty="0">
                <a:latin typeface="微软雅黑"/>
                <a:cs typeface="微软雅黑"/>
              </a:rPr>
              <a:t>表示的方波。指定的时间间隔由两</a:t>
            </a:r>
            <a:r>
              <a:rPr sz="1750" dirty="0">
                <a:latin typeface="微软雅黑"/>
                <a:cs typeface="微软雅黑"/>
              </a:rPr>
              <a:t>个</a:t>
            </a:r>
            <a:r>
              <a:rPr sz="1750" spc="-20" dirty="0">
                <a:latin typeface="Arial"/>
                <a:cs typeface="Arial"/>
              </a:rPr>
              <a:t>4</a:t>
            </a:r>
            <a:r>
              <a:rPr sz="1750" dirty="0">
                <a:latin typeface="微软雅黑"/>
                <a:cs typeface="微软雅黑"/>
              </a:rPr>
              <a:t>比特的无符号整数控制信号</a:t>
            </a:r>
            <a:r>
              <a:rPr sz="1750" spc="-25" dirty="0">
                <a:latin typeface="Arial"/>
                <a:cs typeface="Arial"/>
              </a:rPr>
              <a:t>m</a:t>
            </a:r>
            <a:r>
              <a:rPr sz="1750" dirty="0">
                <a:latin typeface="微软雅黑"/>
                <a:cs typeface="微软雅黑"/>
              </a:rPr>
              <a:t>和</a:t>
            </a:r>
            <a:r>
              <a:rPr sz="1750" spc="-20" dirty="0">
                <a:latin typeface="Arial"/>
                <a:cs typeface="Arial"/>
              </a:rPr>
              <a:t>n</a:t>
            </a:r>
            <a:r>
              <a:rPr sz="1750" dirty="0">
                <a:latin typeface="微软雅黑"/>
                <a:cs typeface="微软雅黑"/>
              </a:rPr>
              <a:t>指定。打开和关闭的时间间隔是</a:t>
            </a:r>
            <a:r>
              <a:rPr sz="1750" dirty="0">
                <a:latin typeface="Arial"/>
                <a:cs typeface="Arial"/>
              </a:rPr>
              <a:t>m</a:t>
            </a:r>
            <a:r>
              <a:rPr sz="1750" spc="15" dirty="0">
                <a:latin typeface="Arial"/>
                <a:cs typeface="Arial"/>
              </a:rPr>
              <a:t> </a:t>
            </a:r>
            <a:r>
              <a:rPr sz="1750" dirty="0">
                <a:latin typeface="Arial"/>
                <a:cs typeface="Arial"/>
              </a:rPr>
              <a:t>*</a:t>
            </a:r>
            <a:r>
              <a:rPr sz="1750" spc="-25" dirty="0">
                <a:latin typeface="Arial"/>
                <a:cs typeface="Arial"/>
              </a:rPr>
              <a:t> </a:t>
            </a:r>
            <a:r>
              <a:rPr sz="1750" dirty="0">
                <a:latin typeface="Arial"/>
                <a:cs typeface="Arial"/>
              </a:rPr>
              <a:t>100</a:t>
            </a:r>
            <a:r>
              <a:rPr sz="1750" spc="-5" dirty="0">
                <a:latin typeface="Arial"/>
                <a:cs typeface="Arial"/>
              </a:rPr>
              <a:t> </a:t>
            </a:r>
            <a:r>
              <a:rPr sz="1750" spc="-10" dirty="0">
                <a:latin typeface="Arial"/>
                <a:cs typeface="Arial"/>
              </a:rPr>
              <a:t>ns</a:t>
            </a:r>
            <a:r>
              <a:rPr sz="1750" dirty="0">
                <a:latin typeface="微软雅黑"/>
                <a:cs typeface="微软雅黑"/>
              </a:rPr>
              <a:t>和</a:t>
            </a:r>
            <a:r>
              <a:rPr sz="1750" dirty="0">
                <a:latin typeface="Arial"/>
                <a:cs typeface="Arial"/>
              </a:rPr>
              <a:t>n</a:t>
            </a:r>
            <a:r>
              <a:rPr sz="1750" spc="-5" dirty="0">
                <a:latin typeface="Arial"/>
                <a:cs typeface="Arial"/>
              </a:rPr>
              <a:t> </a:t>
            </a:r>
            <a:r>
              <a:rPr sz="1750" dirty="0">
                <a:latin typeface="Arial"/>
                <a:cs typeface="Arial"/>
              </a:rPr>
              <a:t>*</a:t>
            </a:r>
            <a:r>
              <a:rPr sz="1750" spc="-25" dirty="0">
                <a:latin typeface="Arial"/>
                <a:cs typeface="Arial"/>
              </a:rPr>
              <a:t> </a:t>
            </a:r>
            <a:r>
              <a:rPr sz="1750" dirty="0">
                <a:latin typeface="Arial"/>
                <a:cs typeface="Arial"/>
              </a:rPr>
              <a:t>100 </a:t>
            </a:r>
            <a:r>
              <a:rPr sz="1750" spc="-10" dirty="0">
                <a:latin typeface="Arial"/>
                <a:cs typeface="Arial"/>
              </a:rPr>
              <a:t>ns</a:t>
            </a:r>
            <a:r>
              <a:rPr sz="1750" spc="-50" dirty="0">
                <a:latin typeface="微软雅黑"/>
                <a:cs typeface="微软雅黑"/>
              </a:rPr>
              <a:t>。</a:t>
            </a:r>
            <a:endParaRPr sz="1750">
              <a:latin typeface="微软雅黑"/>
              <a:cs typeface="微软雅黑"/>
            </a:endParaRPr>
          </a:p>
          <a:p>
            <a:pPr>
              <a:lnSpc>
                <a:spcPct val="100000"/>
              </a:lnSpc>
              <a:spcBef>
                <a:spcPts val="1205"/>
              </a:spcBef>
            </a:pPr>
            <a:endParaRPr sz="1750">
              <a:latin typeface="微软雅黑"/>
              <a:cs typeface="微软雅黑"/>
            </a:endParaRPr>
          </a:p>
          <a:p>
            <a:pPr marL="313055" indent="-300355">
              <a:lnSpc>
                <a:spcPct val="100000"/>
              </a:lnSpc>
              <a:spcBef>
                <a:spcPts val="5"/>
              </a:spcBef>
              <a:buFont typeface="Arial"/>
              <a:buAutoNum type="arabicPeriod"/>
              <a:tabLst>
                <a:tab pos="313055" algn="l"/>
              </a:tabLst>
            </a:pPr>
            <a:r>
              <a:rPr sz="1750" spc="-5" dirty="0">
                <a:latin typeface="微软雅黑"/>
                <a:cs typeface="微软雅黑"/>
              </a:rPr>
              <a:t>设计出程序并且进行验证仿真。</a:t>
            </a:r>
            <a:endParaRPr sz="1750">
              <a:latin typeface="微软雅黑"/>
              <a:cs typeface="微软雅黑"/>
            </a:endParaRPr>
          </a:p>
          <a:p>
            <a:pPr marL="257810" indent="-245110">
              <a:lnSpc>
                <a:spcPct val="100000"/>
              </a:lnSpc>
              <a:spcBef>
                <a:spcPts val="1055"/>
              </a:spcBef>
              <a:buFont typeface="Arial"/>
              <a:buAutoNum type="arabicPeriod"/>
              <a:tabLst>
                <a:tab pos="257810" algn="l"/>
              </a:tabLst>
            </a:pPr>
            <a:r>
              <a:rPr sz="1750" dirty="0">
                <a:latin typeface="微软雅黑"/>
                <a:cs typeface="微软雅黑"/>
              </a:rPr>
              <a:t>下载到</a:t>
            </a:r>
            <a:r>
              <a:rPr sz="1750" spc="-10" dirty="0">
                <a:latin typeface="Arial"/>
                <a:cs typeface="Arial"/>
              </a:rPr>
              <a:t>FPGA</a:t>
            </a:r>
            <a:r>
              <a:rPr sz="1750" dirty="0">
                <a:latin typeface="微软雅黑"/>
                <a:cs typeface="微软雅黑"/>
              </a:rPr>
              <a:t>板上，利用按键输入</a:t>
            </a:r>
            <a:r>
              <a:rPr sz="1750" spc="-25" dirty="0">
                <a:latin typeface="Arial"/>
                <a:cs typeface="Arial"/>
              </a:rPr>
              <a:t>m</a:t>
            </a:r>
            <a:r>
              <a:rPr sz="1750" dirty="0">
                <a:latin typeface="微软雅黑"/>
                <a:cs typeface="微软雅黑"/>
              </a:rPr>
              <a:t>和</a:t>
            </a:r>
            <a:r>
              <a:rPr sz="1750" spc="-10" dirty="0">
                <a:latin typeface="Arial"/>
                <a:cs typeface="Arial"/>
              </a:rPr>
              <a:t>n</a:t>
            </a:r>
            <a:r>
              <a:rPr sz="1750" spc="-10" dirty="0">
                <a:latin typeface="微软雅黑"/>
                <a:cs typeface="微软雅黑"/>
              </a:rPr>
              <a:t>，并且在示波器上显示波形。</a:t>
            </a:r>
            <a:endParaRPr sz="1750">
              <a:latin typeface="微软雅黑"/>
              <a:cs typeface="微软雅黑"/>
            </a:endParaRPr>
          </a:p>
        </p:txBody>
      </p:sp>
      <p:sp>
        <p:nvSpPr>
          <p:cNvPr id="4" name="object 4"/>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3" name="object 3"/>
          <p:cNvSpPr txBox="1">
            <a:spLocks noGrp="1"/>
          </p:cNvSpPr>
          <p:nvPr>
            <p:ph type="title"/>
          </p:nvPr>
        </p:nvSpPr>
        <p:spPr>
          <a:xfrm>
            <a:off x="523627" y="1117345"/>
            <a:ext cx="1875155" cy="453390"/>
          </a:xfrm>
          <a:prstGeom prst="rect">
            <a:avLst/>
          </a:prstGeom>
        </p:spPr>
        <p:txBody>
          <a:bodyPr vert="horz" wrap="square" lIns="0" tIns="0" rIns="0" bIns="0" rtlCol="0">
            <a:spAutoFit/>
          </a:bodyPr>
          <a:lstStyle/>
          <a:p>
            <a:pPr marL="12700">
              <a:lnSpc>
                <a:spcPts val="3540"/>
              </a:lnSpc>
              <a:tabLst>
                <a:tab pos="791845" algn="l"/>
              </a:tabLst>
            </a:pPr>
            <a:r>
              <a:rPr sz="3150" spc="-25" dirty="0">
                <a:latin typeface="Arial"/>
                <a:cs typeface="Arial"/>
              </a:rPr>
              <a:t>4.6</a:t>
            </a:r>
            <a:r>
              <a:rPr sz="3150" dirty="0">
                <a:latin typeface="Arial"/>
                <a:cs typeface="Arial"/>
              </a:rPr>
              <a:t>	</a:t>
            </a:r>
            <a:r>
              <a:rPr spc="-20" dirty="0"/>
              <a:t>练习题</a:t>
            </a:r>
            <a:endParaRPr sz="3150">
              <a:latin typeface="Arial"/>
              <a:cs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8194" y="2146344"/>
            <a:ext cx="9598025" cy="827405"/>
          </a:xfrm>
          <a:prstGeom prst="rect">
            <a:avLst/>
          </a:prstGeom>
        </p:spPr>
        <p:txBody>
          <a:bodyPr vert="horz" wrap="square" lIns="0" tIns="12700" rIns="0" bIns="0" rtlCol="0">
            <a:spAutoFit/>
          </a:bodyPr>
          <a:lstStyle/>
          <a:p>
            <a:pPr marL="12700" marR="5080" indent="490220">
              <a:lnSpc>
                <a:spcPct val="150300"/>
              </a:lnSpc>
              <a:spcBef>
                <a:spcPts val="100"/>
              </a:spcBef>
            </a:pPr>
            <a:r>
              <a:rPr sz="1750" dirty="0">
                <a:latin typeface="微软雅黑"/>
                <a:cs typeface="微软雅黑"/>
              </a:rPr>
              <a:t>方波的占空比表示在一个周期内高电平（逻辑</a:t>
            </a:r>
            <a:r>
              <a:rPr sz="1750" spc="-10" dirty="0">
                <a:latin typeface="Arial"/>
                <a:cs typeface="Arial"/>
              </a:rPr>
              <a:t>1</a:t>
            </a:r>
            <a:r>
              <a:rPr sz="1750" spc="-10" dirty="0">
                <a:latin typeface="微软雅黑"/>
                <a:cs typeface="微软雅黑"/>
              </a:rPr>
              <a:t>）</a:t>
            </a:r>
            <a:r>
              <a:rPr sz="1750" dirty="0">
                <a:latin typeface="微软雅黑"/>
                <a:cs typeface="微软雅黑"/>
              </a:rPr>
              <a:t>的百分比。</a:t>
            </a:r>
            <a:r>
              <a:rPr sz="1750" spc="-10" dirty="0">
                <a:latin typeface="Arial"/>
                <a:cs typeface="Arial"/>
              </a:rPr>
              <a:t>PWM(</a:t>
            </a:r>
            <a:r>
              <a:rPr sz="1750" dirty="0">
                <a:latin typeface="微软雅黑"/>
                <a:cs typeface="微软雅黑"/>
              </a:rPr>
              <a:t>脉冲宽度调制</a:t>
            </a:r>
            <a:r>
              <a:rPr sz="1750" spc="-20" dirty="0">
                <a:latin typeface="Arial"/>
                <a:cs typeface="Arial"/>
              </a:rPr>
              <a:t>)</a:t>
            </a:r>
            <a:r>
              <a:rPr sz="1750" spc="-10" dirty="0">
                <a:latin typeface="微软雅黑"/>
                <a:cs typeface="微软雅黑"/>
              </a:rPr>
              <a:t>电路可以输</a:t>
            </a:r>
            <a:r>
              <a:rPr sz="1750" dirty="0">
                <a:latin typeface="微软雅黑"/>
                <a:cs typeface="微软雅黑"/>
              </a:rPr>
              <a:t>出一个可变占空比的方波。一个</a:t>
            </a:r>
            <a:r>
              <a:rPr sz="1750" spc="-20" dirty="0">
                <a:latin typeface="Arial"/>
                <a:cs typeface="Arial"/>
              </a:rPr>
              <a:t>4</a:t>
            </a:r>
            <a:r>
              <a:rPr sz="1750" dirty="0">
                <a:latin typeface="微软雅黑"/>
                <a:cs typeface="微软雅黑"/>
              </a:rPr>
              <a:t>比特分辨率</a:t>
            </a:r>
            <a:r>
              <a:rPr sz="1750" spc="-10" dirty="0">
                <a:latin typeface="Arial"/>
                <a:cs typeface="Arial"/>
              </a:rPr>
              <a:t>PWM</a:t>
            </a:r>
            <a:r>
              <a:rPr sz="1750" spc="-5" dirty="0">
                <a:latin typeface="微软雅黑"/>
                <a:cs typeface="微软雅黑"/>
              </a:rPr>
              <a:t>中，</a:t>
            </a:r>
            <a:r>
              <a:rPr sz="1750" spc="-10" dirty="0">
                <a:latin typeface="Arial"/>
                <a:cs typeface="Arial"/>
              </a:rPr>
              <a:t>4</a:t>
            </a:r>
            <a:r>
              <a:rPr sz="1750" dirty="0">
                <a:latin typeface="微软雅黑"/>
                <a:cs typeface="微软雅黑"/>
              </a:rPr>
              <a:t>比特控制信号</a:t>
            </a:r>
            <a:r>
              <a:rPr sz="1750" dirty="0">
                <a:latin typeface="Arial"/>
                <a:cs typeface="Arial"/>
              </a:rPr>
              <a:t>w</a:t>
            </a:r>
            <a:r>
              <a:rPr sz="1750" dirty="0">
                <a:latin typeface="微软雅黑"/>
                <a:cs typeface="微软雅黑"/>
              </a:rPr>
              <a:t>指定占空比。</a:t>
            </a:r>
            <a:r>
              <a:rPr sz="1750" dirty="0">
                <a:latin typeface="Arial"/>
                <a:cs typeface="Arial"/>
              </a:rPr>
              <a:t>w</a:t>
            </a:r>
            <a:r>
              <a:rPr sz="1750" spc="-10" dirty="0">
                <a:latin typeface="微软雅黑"/>
                <a:cs typeface="微软雅黑"/>
              </a:rPr>
              <a:t>信号是一个</a:t>
            </a:r>
            <a:endParaRPr sz="1750">
              <a:latin typeface="微软雅黑"/>
              <a:cs typeface="微软雅黑"/>
            </a:endParaRPr>
          </a:p>
        </p:txBody>
      </p:sp>
      <p:sp>
        <p:nvSpPr>
          <p:cNvPr id="3" name="object 3"/>
          <p:cNvSpPr txBox="1"/>
          <p:nvPr/>
        </p:nvSpPr>
        <p:spPr>
          <a:xfrm>
            <a:off x="528172" y="3081795"/>
            <a:ext cx="2865755" cy="292735"/>
          </a:xfrm>
          <a:prstGeom prst="rect">
            <a:avLst/>
          </a:prstGeom>
        </p:spPr>
        <p:txBody>
          <a:bodyPr vert="horz" wrap="square" lIns="0" tIns="12700" rIns="0" bIns="0" rtlCol="0">
            <a:spAutoFit/>
          </a:bodyPr>
          <a:lstStyle/>
          <a:p>
            <a:pPr marL="12700">
              <a:lnSpc>
                <a:spcPct val="100000"/>
              </a:lnSpc>
              <a:spcBef>
                <a:spcPts val="100"/>
              </a:spcBef>
              <a:tabLst>
                <a:tab pos="2790825" algn="l"/>
              </a:tabLst>
            </a:pPr>
            <a:r>
              <a:rPr sz="1750" dirty="0">
                <a:latin typeface="微软雅黑"/>
                <a:cs typeface="微软雅黑"/>
              </a:rPr>
              <a:t>无符号整数和占空比</a:t>
            </a:r>
            <a:r>
              <a:rPr sz="1750" spc="-50" dirty="0">
                <a:latin typeface="微软雅黑"/>
                <a:cs typeface="微软雅黑"/>
              </a:rPr>
              <a:t>为</a:t>
            </a:r>
            <a:r>
              <a:rPr sz="1750" dirty="0">
                <a:latin typeface="微软雅黑"/>
                <a:cs typeface="微软雅黑"/>
              </a:rPr>
              <a:t>	</a:t>
            </a:r>
            <a:r>
              <a:rPr sz="1750" spc="-50" dirty="0">
                <a:latin typeface="Arial"/>
                <a:cs typeface="Arial"/>
              </a:rPr>
              <a:t>.</a:t>
            </a:r>
            <a:endParaRPr sz="1750">
              <a:latin typeface="Arial"/>
              <a:cs typeface="Arial"/>
            </a:endParaRPr>
          </a:p>
        </p:txBody>
      </p:sp>
      <p:sp>
        <p:nvSpPr>
          <p:cNvPr id="4" name="object 4"/>
          <p:cNvSpPr txBox="1">
            <a:spLocks noGrp="1"/>
          </p:cNvSpPr>
          <p:nvPr>
            <p:ph type="title"/>
          </p:nvPr>
        </p:nvSpPr>
        <p:spPr>
          <a:xfrm>
            <a:off x="528199" y="1482344"/>
            <a:ext cx="4480560" cy="506730"/>
          </a:xfrm>
          <a:prstGeom prst="rect">
            <a:avLst/>
          </a:prstGeom>
        </p:spPr>
        <p:txBody>
          <a:bodyPr vert="horz" wrap="square" lIns="0" tIns="13335" rIns="0" bIns="0" rtlCol="0">
            <a:spAutoFit/>
          </a:bodyPr>
          <a:lstStyle/>
          <a:p>
            <a:pPr marL="12700">
              <a:lnSpc>
                <a:spcPct val="100000"/>
              </a:lnSpc>
              <a:spcBef>
                <a:spcPts val="105"/>
              </a:spcBef>
              <a:tabLst>
                <a:tab pos="1236980" algn="l"/>
              </a:tabLst>
            </a:pPr>
            <a:r>
              <a:rPr sz="3150" spc="-10" dirty="0">
                <a:solidFill>
                  <a:srgbClr val="000000"/>
                </a:solidFill>
                <a:latin typeface="Arial"/>
                <a:cs typeface="Arial"/>
              </a:rPr>
              <a:t>4.6.2</a:t>
            </a:r>
            <a:r>
              <a:rPr sz="3150" dirty="0">
                <a:solidFill>
                  <a:srgbClr val="000000"/>
                </a:solidFill>
                <a:latin typeface="Arial"/>
                <a:cs typeface="Arial"/>
              </a:rPr>
              <a:t>	pwm</a:t>
            </a:r>
            <a:r>
              <a:rPr sz="3150" dirty="0">
                <a:solidFill>
                  <a:srgbClr val="000000"/>
                </a:solidFill>
              </a:rPr>
              <a:t>和</a:t>
            </a:r>
            <a:r>
              <a:rPr sz="3150" dirty="0">
                <a:solidFill>
                  <a:srgbClr val="000000"/>
                </a:solidFill>
                <a:latin typeface="Arial"/>
                <a:cs typeface="Arial"/>
              </a:rPr>
              <a:t>LED</a:t>
            </a:r>
            <a:r>
              <a:rPr sz="3150" spc="-20" dirty="0">
                <a:solidFill>
                  <a:srgbClr val="000000"/>
                </a:solidFill>
              </a:rPr>
              <a:t>调光器</a:t>
            </a:r>
            <a:endParaRPr sz="3150">
              <a:latin typeface="Arial"/>
              <a:cs typeface="Arial"/>
            </a:endParaRPr>
          </a:p>
        </p:txBody>
      </p:sp>
      <p:sp>
        <p:nvSpPr>
          <p:cNvPr id="5" name="object 5"/>
          <p:cNvSpPr/>
          <p:nvPr/>
        </p:nvSpPr>
        <p:spPr>
          <a:xfrm>
            <a:off x="2884757" y="3313190"/>
            <a:ext cx="307340" cy="0"/>
          </a:xfrm>
          <a:custGeom>
            <a:avLst/>
            <a:gdLst/>
            <a:ahLst/>
            <a:cxnLst/>
            <a:rect l="l" t="t" r="r" b="b"/>
            <a:pathLst>
              <a:path w="307339">
                <a:moveTo>
                  <a:pt x="0" y="0"/>
                </a:moveTo>
                <a:lnTo>
                  <a:pt x="307077" y="0"/>
                </a:lnTo>
              </a:path>
            </a:pathLst>
          </a:custGeom>
          <a:ln w="10119">
            <a:solidFill>
              <a:srgbClr val="000000"/>
            </a:solidFill>
          </a:ln>
        </p:spPr>
        <p:txBody>
          <a:bodyPr wrap="square" lIns="0" tIns="0" rIns="0" bIns="0" rtlCol="0"/>
          <a:lstStyle/>
          <a:p>
            <a:endParaRPr/>
          </a:p>
        </p:txBody>
      </p:sp>
      <p:sp>
        <p:nvSpPr>
          <p:cNvPr id="6" name="object 6"/>
          <p:cNvSpPr txBox="1"/>
          <p:nvPr/>
        </p:nvSpPr>
        <p:spPr>
          <a:xfrm>
            <a:off x="528150" y="3306547"/>
            <a:ext cx="9673590" cy="2072005"/>
          </a:xfrm>
          <a:prstGeom prst="rect">
            <a:avLst/>
          </a:prstGeom>
        </p:spPr>
        <p:txBody>
          <a:bodyPr vert="horz" wrap="square" lIns="0" tIns="14605" rIns="0" bIns="0" rtlCol="0">
            <a:spAutoFit/>
          </a:bodyPr>
          <a:lstStyle/>
          <a:p>
            <a:pPr marL="2341880">
              <a:lnSpc>
                <a:spcPct val="100000"/>
              </a:lnSpc>
              <a:spcBef>
                <a:spcPts val="115"/>
              </a:spcBef>
            </a:pPr>
            <a:r>
              <a:rPr sz="1600" dirty="0">
                <a:latin typeface="Times New Roman"/>
                <a:cs typeface="Times New Roman"/>
              </a:rPr>
              <a:t>1</a:t>
            </a:r>
            <a:r>
              <a:rPr sz="1600" spc="20" dirty="0">
                <a:latin typeface="Times New Roman"/>
                <a:cs typeface="Times New Roman"/>
              </a:rPr>
              <a:t> </a:t>
            </a:r>
            <a:r>
              <a:rPr sz="1600" spc="-50" dirty="0">
                <a:latin typeface="Times New Roman"/>
                <a:cs typeface="Times New Roman"/>
              </a:rPr>
              <a:t>6 </a:t>
            </a:r>
            <a:endParaRPr sz="1600">
              <a:latin typeface="Times New Roman"/>
              <a:cs typeface="Times New Roman"/>
            </a:endParaRPr>
          </a:p>
          <a:p>
            <a:pPr>
              <a:lnSpc>
                <a:spcPct val="100000"/>
              </a:lnSpc>
              <a:spcBef>
                <a:spcPts val="765"/>
              </a:spcBef>
            </a:pPr>
            <a:endParaRPr sz="1600">
              <a:latin typeface="Times New Roman"/>
              <a:cs typeface="Times New Roman"/>
            </a:endParaRPr>
          </a:p>
          <a:p>
            <a:pPr marL="358140" indent="-345440">
              <a:lnSpc>
                <a:spcPct val="100000"/>
              </a:lnSpc>
              <a:spcBef>
                <a:spcPts val="5"/>
              </a:spcBef>
              <a:buSzPct val="94285"/>
              <a:buFont typeface="Arial"/>
              <a:buAutoNum type="arabicPeriod"/>
              <a:tabLst>
                <a:tab pos="358140" algn="l"/>
              </a:tabLst>
            </a:pPr>
            <a:r>
              <a:rPr sz="1750" dirty="0">
                <a:latin typeface="微软雅黑"/>
                <a:cs typeface="微软雅黑"/>
              </a:rPr>
              <a:t>设计一个</a:t>
            </a:r>
            <a:r>
              <a:rPr sz="1750" spc="-20" dirty="0">
                <a:latin typeface="Arial"/>
                <a:cs typeface="Arial"/>
              </a:rPr>
              <a:t>4</a:t>
            </a:r>
            <a:r>
              <a:rPr sz="1750" dirty="0">
                <a:latin typeface="微软雅黑"/>
                <a:cs typeface="微软雅黑"/>
              </a:rPr>
              <a:t>比特分辨率的</a:t>
            </a:r>
            <a:r>
              <a:rPr sz="1750" spc="-10" dirty="0">
                <a:latin typeface="Arial"/>
                <a:cs typeface="Arial"/>
              </a:rPr>
              <a:t>PWM</a:t>
            </a:r>
            <a:r>
              <a:rPr sz="1750" spc="-5" dirty="0">
                <a:latin typeface="微软雅黑"/>
                <a:cs typeface="微软雅黑"/>
              </a:rPr>
              <a:t>电路，写出程序并且仿真。</a:t>
            </a:r>
            <a:endParaRPr sz="1750">
              <a:latin typeface="微软雅黑"/>
              <a:cs typeface="微软雅黑"/>
            </a:endParaRPr>
          </a:p>
          <a:p>
            <a:pPr marL="358140" indent="-345440">
              <a:lnSpc>
                <a:spcPct val="100000"/>
              </a:lnSpc>
              <a:spcBef>
                <a:spcPts val="1055"/>
              </a:spcBef>
              <a:buSzPct val="94285"/>
              <a:buFont typeface="Arial"/>
              <a:buAutoNum type="arabicPeriod"/>
              <a:tabLst>
                <a:tab pos="358140" algn="l"/>
              </a:tabLst>
            </a:pPr>
            <a:r>
              <a:rPr sz="1750" dirty="0">
                <a:latin typeface="微软雅黑"/>
                <a:cs typeface="微软雅黑"/>
              </a:rPr>
              <a:t>将程序下载到</a:t>
            </a:r>
            <a:r>
              <a:rPr sz="1750" spc="-10" dirty="0">
                <a:latin typeface="Arial"/>
                <a:cs typeface="Arial"/>
              </a:rPr>
              <a:t>FPGA</a:t>
            </a:r>
            <a:r>
              <a:rPr sz="1750" spc="-5" dirty="0">
                <a:latin typeface="微软雅黑"/>
                <a:cs typeface="微软雅黑"/>
              </a:rPr>
              <a:t>板上用示波器进行验证。</a:t>
            </a:r>
            <a:endParaRPr sz="1750">
              <a:latin typeface="微软雅黑"/>
              <a:cs typeface="微软雅黑"/>
            </a:endParaRPr>
          </a:p>
          <a:p>
            <a:pPr marL="12700" marR="5080" indent="345440">
              <a:lnSpc>
                <a:spcPct val="150300"/>
              </a:lnSpc>
              <a:buSzPct val="94285"/>
              <a:buFont typeface="Arial"/>
              <a:buAutoNum type="arabicPeriod"/>
              <a:tabLst>
                <a:tab pos="358140" algn="l"/>
              </a:tabLst>
            </a:pPr>
            <a:r>
              <a:rPr sz="1750" dirty="0">
                <a:latin typeface="微软雅黑"/>
                <a:cs typeface="微软雅黑"/>
              </a:rPr>
              <a:t>在分时复用</a:t>
            </a:r>
            <a:r>
              <a:rPr sz="1750" spc="-10" dirty="0">
                <a:latin typeface="Arial"/>
                <a:cs typeface="Arial"/>
              </a:rPr>
              <a:t>LED</a:t>
            </a:r>
            <a:r>
              <a:rPr sz="1750" dirty="0">
                <a:latin typeface="微软雅黑"/>
                <a:cs typeface="微软雅黑"/>
              </a:rPr>
              <a:t>电路的基础上增加一个信号，并加入</a:t>
            </a:r>
            <a:r>
              <a:rPr sz="1750" spc="-10" dirty="0">
                <a:latin typeface="Arial"/>
                <a:cs typeface="Arial"/>
              </a:rPr>
              <a:t>PWM</a:t>
            </a:r>
            <a:r>
              <a:rPr sz="1750" dirty="0">
                <a:latin typeface="微软雅黑"/>
                <a:cs typeface="微软雅黑"/>
              </a:rPr>
              <a:t>电路。</a:t>
            </a:r>
            <a:r>
              <a:rPr sz="1750" spc="-10" dirty="0">
                <a:latin typeface="Arial"/>
                <a:cs typeface="Arial"/>
              </a:rPr>
              <a:t>PWM</a:t>
            </a:r>
            <a:r>
              <a:rPr sz="1750" dirty="0">
                <a:latin typeface="微软雅黑"/>
                <a:cs typeface="微软雅黑"/>
              </a:rPr>
              <a:t>电路指定</a:t>
            </a:r>
            <a:r>
              <a:rPr sz="1750" dirty="0">
                <a:latin typeface="Arial"/>
                <a:cs typeface="Arial"/>
              </a:rPr>
              <a:t>LED</a:t>
            </a:r>
            <a:r>
              <a:rPr sz="1750" spc="-10" dirty="0">
                <a:latin typeface="微软雅黑"/>
                <a:cs typeface="微软雅黑"/>
              </a:rPr>
              <a:t>点亮的时间</a:t>
            </a:r>
            <a:r>
              <a:rPr sz="1750" dirty="0">
                <a:latin typeface="微软雅黑"/>
                <a:cs typeface="微软雅黑"/>
              </a:rPr>
              <a:t>百分比。我们可以通过改变占空比控制</a:t>
            </a:r>
            <a:r>
              <a:rPr sz="1750" dirty="0">
                <a:latin typeface="Arial"/>
                <a:cs typeface="Arial"/>
              </a:rPr>
              <a:t>LED</a:t>
            </a:r>
            <a:r>
              <a:rPr sz="1750" spc="-5" dirty="0">
                <a:latin typeface="微软雅黑"/>
                <a:cs typeface="微软雅黑"/>
              </a:rPr>
              <a:t>的亮度。可以通过观察示波器验证电路的操作。</a:t>
            </a:r>
            <a:endParaRPr sz="1750">
              <a:latin typeface="微软雅黑"/>
              <a:cs typeface="微软雅黑"/>
            </a:endParaRPr>
          </a:p>
        </p:txBody>
      </p:sp>
      <p:sp>
        <p:nvSpPr>
          <p:cNvPr id="8" name="object 8"/>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7" name="object 7"/>
          <p:cNvSpPr txBox="1"/>
          <p:nvPr/>
        </p:nvSpPr>
        <p:spPr>
          <a:xfrm>
            <a:off x="2930778" y="3016982"/>
            <a:ext cx="162560" cy="271780"/>
          </a:xfrm>
          <a:prstGeom prst="rect">
            <a:avLst/>
          </a:prstGeom>
        </p:spPr>
        <p:txBody>
          <a:bodyPr vert="horz" wrap="square" lIns="0" tIns="14605" rIns="0" bIns="0" rtlCol="0">
            <a:spAutoFit/>
          </a:bodyPr>
          <a:lstStyle/>
          <a:p>
            <a:pPr marL="12700">
              <a:lnSpc>
                <a:spcPct val="100000"/>
              </a:lnSpc>
              <a:spcBef>
                <a:spcPts val="115"/>
              </a:spcBef>
            </a:pPr>
            <a:r>
              <a:rPr sz="1600" i="1" spc="-50" dirty="0">
                <a:latin typeface="Times New Roman"/>
                <a:cs typeface="Times New Roman"/>
              </a:rPr>
              <a:t>w</a:t>
            </a:r>
            <a:endParaRPr sz="1600">
              <a:latin typeface="Times New Roman"/>
              <a:cs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8100" y="4176323"/>
            <a:ext cx="8446135" cy="827405"/>
          </a:xfrm>
          <a:prstGeom prst="rect">
            <a:avLst/>
          </a:prstGeom>
        </p:spPr>
        <p:txBody>
          <a:bodyPr vert="horz" wrap="square" lIns="0" tIns="146685" rIns="0" bIns="0" rtlCol="0">
            <a:spAutoFit/>
          </a:bodyPr>
          <a:lstStyle/>
          <a:p>
            <a:pPr marL="12700">
              <a:lnSpc>
                <a:spcPct val="100000"/>
              </a:lnSpc>
              <a:spcBef>
                <a:spcPts val="1155"/>
              </a:spcBef>
            </a:pPr>
            <a:r>
              <a:rPr sz="1750" dirty="0">
                <a:latin typeface="微软雅黑"/>
                <a:cs typeface="微软雅黑"/>
              </a:rPr>
              <a:t>到</a:t>
            </a:r>
            <a:r>
              <a:rPr sz="1750" spc="-10" dirty="0">
                <a:latin typeface="Arial"/>
                <a:cs typeface="Arial"/>
              </a:rPr>
              <a:t>FPGA</a:t>
            </a:r>
            <a:r>
              <a:rPr sz="1750" spc="-10" dirty="0">
                <a:latin typeface="微软雅黑"/>
                <a:cs typeface="微软雅黑"/>
              </a:rPr>
              <a:t>板上进行验证。</a:t>
            </a:r>
            <a:endParaRPr sz="1750">
              <a:latin typeface="微软雅黑"/>
              <a:cs typeface="微软雅黑"/>
            </a:endParaRPr>
          </a:p>
          <a:p>
            <a:pPr marL="12700">
              <a:lnSpc>
                <a:spcPct val="100000"/>
              </a:lnSpc>
              <a:spcBef>
                <a:spcPts val="1055"/>
              </a:spcBef>
            </a:pPr>
            <a:r>
              <a:rPr sz="1750" dirty="0">
                <a:latin typeface="Arial"/>
                <a:cs typeface="Arial"/>
              </a:rPr>
              <a:t>2</a:t>
            </a:r>
            <a:r>
              <a:rPr sz="1750" spc="-15" dirty="0">
                <a:latin typeface="Arial"/>
                <a:cs typeface="Arial"/>
              </a:rPr>
              <a:t>. </a:t>
            </a:r>
            <a:r>
              <a:rPr sz="1750" dirty="0">
                <a:latin typeface="微软雅黑"/>
                <a:cs typeface="微软雅黑"/>
              </a:rPr>
              <a:t>用按键控制循环，按一下显示下一组数。设计程序并且下载到</a:t>
            </a:r>
            <a:r>
              <a:rPr sz="1750" dirty="0">
                <a:latin typeface="Arial"/>
                <a:cs typeface="Arial"/>
              </a:rPr>
              <a:t>FPGA</a:t>
            </a:r>
            <a:r>
              <a:rPr sz="1750" spc="-10" dirty="0">
                <a:latin typeface="微软雅黑"/>
                <a:cs typeface="微软雅黑"/>
              </a:rPr>
              <a:t>板上进行验证。</a:t>
            </a:r>
            <a:endParaRPr sz="1750">
              <a:latin typeface="微软雅黑"/>
              <a:cs typeface="微软雅黑"/>
            </a:endParaRPr>
          </a:p>
        </p:txBody>
      </p:sp>
      <p:sp>
        <p:nvSpPr>
          <p:cNvPr id="3" name="object 3"/>
          <p:cNvSpPr txBox="1">
            <a:spLocks noGrp="1"/>
          </p:cNvSpPr>
          <p:nvPr>
            <p:ph type="title"/>
          </p:nvPr>
        </p:nvSpPr>
        <p:spPr>
          <a:xfrm>
            <a:off x="538105" y="1445005"/>
            <a:ext cx="3633470" cy="506730"/>
          </a:xfrm>
          <a:prstGeom prst="rect">
            <a:avLst/>
          </a:prstGeom>
        </p:spPr>
        <p:txBody>
          <a:bodyPr vert="horz" wrap="square" lIns="0" tIns="13335" rIns="0" bIns="0" rtlCol="0">
            <a:spAutoFit/>
          </a:bodyPr>
          <a:lstStyle/>
          <a:p>
            <a:pPr marL="12700">
              <a:lnSpc>
                <a:spcPct val="100000"/>
              </a:lnSpc>
              <a:spcBef>
                <a:spcPts val="105"/>
              </a:spcBef>
              <a:tabLst>
                <a:tab pos="1236980" algn="l"/>
              </a:tabLst>
            </a:pPr>
            <a:r>
              <a:rPr sz="3150" spc="-10" dirty="0">
                <a:solidFill>
                  <a:srgbClr val="000000"/>
                </a:solidFill>
                <a:latin typeface="Arial"/>
                <a:cs typeface="Arial"/>
              </a:rPr>
              <a:t>4.6.3</a:t>
            </a:r>
            <a:r>
              <a:rPr sz="3150" dirty="0">
                <a:solidFill>
                  <a:srgbClr val="000000"/>
                </a:solidFill>
                <a:latin typeface="Arial"/>
                <a:cs typeface="Arial"/>
              </a:rPr>
              <a:t>	LED</a:t>
            </a:r>
            <a:r>
              <a:rPr sz="3150" spc="-15" dirty="0">
                <a:solidFill>
                  <a:srgbClr val="000000"/>
                </a:solidFill>
              </a:rPr>
              <a:t>循环电路</a:t>
            </a:r>
            <a:endParaRPr sz="3150">
              <a:latin typeface="Arial"/>
              <a:cs typeface="Arial"/>
            </a:endParaRPr>
          </a:p>
        </p:txBody>
      </p:sp>
      <p:sp>
        <p:nvSpPr>
          <p:cNvPr id="4" name="object 4"/>
          <p:cNvSpPr/>
          <p:nvPr/>
        </p:nvSpPr>
        <p:spPr>
          <a:xfrm>
            <a:off x="7281288" y="4111764"/>
            <a:ext cx="179070" cy="0"/>
          </a:xfrm>
          <a:custGeom>
            <a:avLst/>
            <a:gdLst/>
            <a:ahLst/>
            <a:cxnLst/>
            <a:rect l="l" t="t" r="r" b="b"/>
            <a:pathLst>
              <a:path w="179070">
                <a:moveTo>
                  <a:pt x="0" y="0"/>
                </a:moveTo>
                <a:lnTo>
                  <a:pt x="179069" y="0"/>
                </a:lnTo>
              </a:path>
            </a:pathLst>
          </a:custGeom>
          <a:ln w="5993">
            <a:solidFill>
              <a:srgbClr val="000000"/>
            </a:solidFill>
          </a:ln>
        </p:spPr>
        <p:txBody>
          <a:bodyPr wrap="square" lIns="0" tIns="0" rIns="0" bIns="0" rtlCol="0"/>
          <a:lstStyle/>
          <a:p>
            <a:endParaRPr/>
          </a:p>
        </p:txBody>
      </p:sp>
      <p:sp>
        <p:nvSpPr>
          <p:cNvPr id="5" name="object 5"/>
          <p:cNvSpPr txBox="1"/>
          <p:nvPr/>
        </p:nvSpPr>
        <p:spPr>
          <a:xfrm>
            <a:off x="7260469" y="4102665"/>
            <a:ext cx="207010" cy="172085"/>
          </a:xfrm>
          <a:prstGeom prst="rect">
            <a:avLst/>
          </a:prstGeom>
        </p:spPr>
        <p:txBody>
          <a:bodyPr vert="horz" wrap="square" lIns="0" tIns="13970" rIns="0" bIns="0" rtlCol="0">
            <a:spAutoFit/>
          </a:bodyPr>
          <a:lstStyle/>
          <a:p>
            <a:pPr marL="12700">
              <a:lnSpc>
                <a:spcPct val="100000"/>
              </a:lnSpc>
              <a:spcBef>
                <a:spcPts val="110"/>
              </a:spcBef>
            </a:pPr>
            <a:r>
              <a:rPr sz="950" spc="90" dirty="0">
                <a:latin typeface="Times New Roman"/>
                <a:cs typeface="Times New Roman"/>
              </a:rPr>
              <a:t>16 </a:t>
            </a:r>
            <a:endParaRPr sz="95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object 6"/>
          <p:cNvSpPr txBox="1"/>
          <p:nvPr/>
        </p:nvSpPr>
        <p:spPr>
          <a:xfrm>
            <a:off x="500000" y="2172252"/>
            <a:ext cx="9820275" cy="2030095"/>
          </a:xfrm>
          <a:prstGeom prst="rect">
            <a:avLst/>
          </a:prstGeom>
        </p:spPr>
        <p:txBody>
          <a:bodyPr vert="horz" wrap="square" lIns="0" tIns="12700" rIns="0" bIns="0" rtlCol="0">
            <a:spAutoFit/>
          </a:bodyPr>
          <a:lstStyle/>
          <a:p>
            <a:pPr marL="50165" marR="156845" indent="490220">
              <a:lnSpc>
                <a:spcPct val="150300"/>
              </a:lnSpc>
              <a:spcBef>
                <a:spcPts val="100"/>
              </a:spcBef>
            </a:pPr>
            <a:r>
              <a:rPr sz="1750" dirty="0">
                <a:latin typeface="微软雅黑"/>
                <a:cs typeface="微软雅黑"/>
              </a:rPr>
              <a:t>开发板有四个七段式</a:t>
            </a:r>
            <a:r>
              <a:rPr sz="1750" spc="-10" dirty="0">
                <a:latin typeface="Arial"/>
                <a:cs typeface="Arial"/>
              </a:rPr>
              <a:t>LED</a:t>
            </a:r>
            <a:r>
              <a:rPr sz="1750" spc="-5" dirty="0">
                <a:latin typeface="微软雅黑"/>
                <a:cs typeface="微软雅黑"/>
              </a:rPr>
              <a:t>数码管，因此一次只能显示四个符号。我们通过将数据不断旋转和移</a:t>
            </a:r>
            <a:r>
              <a:rPr sz="1750" dirty="0">
                <a:latin typeface="微软雅黑"/>
                <a:cs typeface="微软雅黑"/>
              </a:rPr>
              <a:t>动就可以显示更多的信息。例如</a:t>
            </a:r>
            <a:r>
              <a:rPr sz="1750" spc="-10" dirty="0">
                <a:latin typeface="Arial"/>
                <a:cs typeface="Arial"/>
              </a:rPr>
              <a:t>,</a:t>
            </a:r>
            <a:r>
              <a:rPr sz="1750" dirty="0">
                <a:latin typeface="微软雅黑"/>
                <a:cs typeface="微软雅黑"/>
              </a:rPr>
              <a:t>假设输入信息是</a:t>
            </a:r>
            <a:r>
              <a:rPr sz="1750" spc="-20" dirty="0">
                <a:latin typeface="Arial"/>
                <a:cs typeface="Arial"/>
              </a:rPr>
              <a:t>10</a:t>
            </a:r>
            <a:r>
              <a:rPr sz="1750" dirty="0">
                <a:latin typeface="微软雅黑"/>
                <a:cs typeface="微软雅黑"/>
              </a:rPr>
              <a:t>位数</a:t>
            </a:r>
            <a:r>
              <a:rPr sz="1750" spc="-20" dirty="0">
                <a:latin typeface="Arial"/>
                <a:cs typeface="Arial"/>
              </a:rPr>
              <a:t>(</a:t>
            </a:r>
            <a:r>
              <a:rPr sz="1750" dirty="0">
                <a:latin typeface="微软雅黑"/>
                <a:cs typeface="微软雅黑"/>
              </a:rPr>
              <a:t>如</a:t>
            </a:r>
            <a:r>
              <a:rPr sz="1750" spc="-10" dirty="0">
                <a:latin typeface="Arial"/>
                <a:cs typeface="Arial"/>
              </a:rPr>
              <a:t>“0123456789”)</a:t>
            </a:r>
            <a:r>
              <a:rPr sz="1750" spc="-15" dirty="0">
                <a:latin typeface="微软雅黑"/>
                <a:cs typeface="微软雅黑"/>
              </a:rPr>
              <a:t>，可以将其显示为</a:t>
            </a:r>
            <a:r>
              <a:rPr sz="1750" spc="-50" dirty="0">
                <a:latin typeface="微软雅黑"/>
                <a:cs typeface="微软雅黑"/>
              </a:rPr>
              <a:t> </a:t>
            </a:r>
            <a:r>
              <a:rPr sz="1750" spc="-20" dirty="0">
                <a:latin typeface="Arial"/>
                <a:cs typeface="Arial"/>
              </a:rPr>
              <a:t>“0123”“1234”“2345”……“6789”“7890”“0123”</a:t>
            </a:r>
            <a:r>
              <a:rPr sz="1750" spc="114" dirty="0">
                <a:latin typeface="微软雅黑"/>
                <a:cs typeface="微软雅黑"/>
              </a:rPr>
              <a:t>。 </a:t>
            </a:r>
            <a:r>
              <a:rPr sz="1750" spc="-50" dirty="0">
                <a:latin typeface="Arial"/>
                <a:cs typeface="Arial"/>
              </a:rPr>
              <a:t>.</a:t>
            </a:r>
            <a:endParaRPr sz="1750">
              <a:latin typeface="Arial"/>
              <a:cs typeface="Arial"/>
            </a:endParaRPr>
          </a:p>
          <a:p>
            <a:pPr>
              <a:lnSpc>
                <a:spcPct val="100000"/>
              </a:lnSpc>
            </a:pPr>
            <a:endParaRPr sz="1750">
              <a:latin typeface="Arial"/>
              <a:cs typeface="Arial"/>
            </a:endParaRPr>
          </a:p>
          <a:p>
            <a:pPr>
              <a:lnSpc>
                <a:spcPct val="100000"/>
              </a:lnSpc>
              <a:spcBef>
                <a:spcPts val="185"/>
              </a:spcBef>
            </a:pPr>
            <a:endParaRPr sz="1750">
              <a:latin typeface="Arial"/>
              <a:cs typeface="Arial"/>
            </a:endParaRPr>
          </a:p>
          <a:p>
            <a:pPr marL="50800">
              <a:lnSpc>
                <a:spcPct val="100000"/>
              </a:lnSpc>
            </a:pPr>
            <a:r>
              <a:rPr sz="1750" dirty="0">
                <a:latin typeface="Arial"/>
                <a:cs typeface="Arial"/>
              </a:rPr>
              <a:t>1</a:t>
            </a:r>
            <a:r>
              <a:rPr sz="1750" spc="-5" dirty="0">
                <a:latin typeface="Arial"/>
                <a:cs typeface="Arial"/>
              </a:rPr>
              <a:t>. </a:t>
            </a:r>
            <a:r>
              <a:rPr sz="1750" dirty="0">
                <a:latin typeface="微软雅黑"/>
                <a:cs typeface="微软雅黑"/>
              </a:rPr>
              <a:t>电路的输入信号</a:t>
            </a:r>
            <a:r>
              <a:rPr sz="1750" spc="-20" dirty="0">
                <a:latin typeface="Arial"/>
                <a:cs typeface="Arial"/>
              </a:rPr>
              <a:t>en</a:t>
            </a:r>
            <a:r>
              <a:rPr sz="1750" dirty="0">
                <a:latin typeface="微软雅黑"/>
                <a:cs typeface="微软雅黑"/>
              </a:rPr>
              <a:t>进行启用或暂停旋转，输入信号</a:t>
            </a:r>
            <a:r>
              <a:rPr sz="1750" spc="-20" dirty="0">
                <a:latin typeface="Arial"/>
                <a:cs typeface="Arial"/>
              </a:rPr>
              <a:t>dir</a:t>
            </a:r>
            <a:r>
              <a:rPr sz="1750" dirty="0">
                <a:latin typeface="微软雅黑"/>
                <a:cs typeface="微软雅黑"/>
              </a:rPr>
              <a:t>指定方向（</a:t>
            </a:r>
            <a:r>
              <a:rPr sz="1750" spc="-819" dirty="0">
                <a:latin typeface="微软雅黑"/>
                <a:cs typeface="微软雅黑"/>
              </a:rPr>
              <a:t>向左</a:t>
            </a:r>
            <a:r>
              <a:rPr sz="1425" i="1" baseline="35087" dirty="0">
                <a:latin typeface="Times New Roman"/>
                <a:cs typeface="Times New Roman"/>
              </a:rPr>
              <a:t>w</a:t>
            </a:r>
            <a:r>
              <a:rPr sz="1425" i="1" spc="397" baseline="35087" dirty="0">
                <a:latin typeface="Times New Roman"/>
                <a:cs typeface="Times New Roman"/>
              </a:rPr>
              <a:t>  </a:t>
            </a:r>
            <a:r>
              <a:rPr sz="1750" dirty="0">
                <a:latin typeface="微软雅黑"/>
                <a:cs typeface="微软雅黑"/>
              </a:rPr>
              <a:t>或向右</a:t>
            </a:r>
            <a:r>
              <a:rPr sz="1750" spc="-20" dirty="0">
                <a:latin typeface="Arial"/>
                <a:cs typeface="Arial"/>
              </a:rPr>
              <a:t>)</a:t>
            </a:r>
            <a:r>
              <a:rPr sz="1750" spc="-10" dirty="0">
                <a:latin typeface="微软雅黑"/>
                <a:cs typeface="微软雅黑"/>
              </a:rPr>
              <a:t>。设计程序并且下载</a:t>
            </a:r>
            <a:endParaRPr sz="1750">
              <a:latin typeface="微软雅黑"/>
              <a:cs typeface="微软雅黑"/>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47071" y="2306066"/>
            <a:ext cx="9447530" cy="1495425"/>
          </a:xfrm>
          <a:prstGeom prst="rect">
            <a:avLst/>
          </a:prstGeom>
        </p:spPr>
        <p:txBody>
          <a:bodyPr vert="horz" wrap="square" lIns="0" tIns="12700" rIns="0" bIns="0" rtlCol="0">
            <a:spAutoFit/>
          </a:bodyPr>
          <a:lstStyle/>
          <a:p>
            <a:pPr marL="12700">
              <a:lnSpc>
                <a:spcPct val="100000"/>
              </a:lnSpc>
              <a:spcBef>
                <a:spcPts val="100"/>
              </a:spcBef>
            </a:pPr>
            <a:r>
              <a:rPr sz="1750" dirty="0">
                <a:latin typeface="微软雅黑"/>
                <a:cs typeface="微软雅黑"/>
              </a:rPr>
              <a:t>在</a:t>
            </a:r>
            <a:r>
              <a:rPr sz="1750" spc="-20" dirty="0">
                <a:latin typeface="Arial"/>
                <a:cs typeface="Arial"/>
              </a:rPr>
              <a:t>4.52</a:t>
            </a:r>
            <a:r>
              <a:rPr sz="1750" spc="-5" dirty="0">
                <a:latin typeface="微软雅黑"/>
                <a:cs typeface="微软雅黑"/>
              </a:rPr>
              <a:t>的秒表设计基础上进行扩展：</a:t>
            </a:r>
            <a:endParaRPr sz="1750">
              <a:latin typeface="微软雅黑"/>
              <a:cs typeface="微软雅黑"/>
            </a:endParaRPr>
          </a:p>
          <a:p>
            <a:pPr>
              <a:lnSpc>
                <a:spcPct val="100000"/>
              </a:lnSpc>
              <a:spcBef>
                <a:spcPts val="155"/>
              </a:spcBef>
            </a:pPr>
            <a:endParaRPr sz="1750">
              <a:latin typeface="微软雅黑"/>
              <a:cs typeface="微软雅黑"/>
            </a:endParaRPr>
          </a:p>
          <a:p>
            <a:pPr marL="12700" marR="5080">
              <a:lnSpc>
                <a:spcPct val="150300"/>
              </a:lnSpc>
            </a:pPr>
            <a:r>
              <a:rPr sz="1750" dirty="0">
                <a:latin typeface="Arial"/>
                <a:cs typeface="Arial"/>
              </a:rPr>
              <a:t>1</a:t>
            </a:r>
            <a:r>
              <a:rPr sz="1750" spc="-10" dirty="0">
                <a:latin typeface="Arial"/>
                <a:cs typeface="Arial"/>
              </a:rPr>
              <a:t>. </a:t>
            </a:r>
            <a:r>
              <a:rPr sz="1750" dirty="0">
                <a:latin typeface="微软雅黑"/>
                <a:cs typeface="微软雅黑"/>
              </a:rPr>
              <a:t>添加一个额外的信号</a:t>
            </a:r>
            <a:r>
              <a:rPr sz="1750" spc="-10" dirty="0">
                <a:latin typeface="Arial"/>
                <a:cs typeface="Arial"/>
              </a:rPr>
              <a:t>up</a:t>
            </a:r>
            <a:r>
              <a:rPr sz="1750" spc="-5" dirty="0">
                <a:latin typeface="微软雅黑"/>
                <a:cs typeface="微软雅黑"/>
              </a:rPr>
              <a:t>，来控制计数的方向。当</a:t>
            </a:r>
            <a:r>
              <a:rPr sz="1750" spc="-20" dirty="0">
                <a:latin typeface="Arial"/>
                <a:cs typeface="Arial"/>
              </a:rPr>
              <a:t>up</a:t>
            </a:r>
            <a:r>
              <a:rPr sz="1750" spc="-5" dirty="0">
                <a:latin typeface="微软雅黑"/>
                <a:cs typeface="微软雅黑"/>
              </a:rPr>
              <a:t>有效时，秒表进行正方向计时，否则进行倒</a:t>
            </a:r>
            <a:r>
              <a:rPr sz="1750" dirty="0">
                <a:latin typeface="微软雅黑"/>
                <a:cs typeface="微软雅黑"/>
              </a:rPr>
              <a:t>计时。设计程序并且下载到</a:t>
            </a:r>
            <a:r>
              <a:rPr sz="1750" spc="-10" dirty="0">
                <a:latin typeface="Arial"/>
                <a:cs typeface="Arial"/>
              </a:rPr>
              <a:t>FPGA</a:t>
            </a:r>
            <a:r>
              <a:rPr sz="1750" spc="-10" dirty="0">
                <a:latin typeface="微软雅黑"/>
                <a:cs typeface="微软雅黑"/>
              </a:rPr>
              <a:t>开发板上验证。</a:t>
            </a:r>
            <a:endParaRPr sz="1750">
              <a:latin typeface="微软雅黑"/>
              <a:cs typeface="微软雅黑"/>
            </a:endParaRPr>
          </a:p>
        </p:txBody>
      </p:sp>
      <p:sp>
        <p:nvSpPr>
          <p:cNvPr id="3" name="object 3"/>
          <p:cNvSpPr txBox="1">
            <a:spLocks noGrp="1"/>
          </p:cNvSpPr>
          <p:nvPr>
            <p:ph type="title"/>
          </p:nvPr>
        </p:nvSpPr>
        <p:spPr>
          <a:xfrm>
            <a:off x="647071" y="1419859"/>
            <a:ext cx="2742565" cy="506730"/>
          </a:xfrm>
          <a:prstGeom prst="rect">
            <a:avLst/>
          </a:prstGeom>
        </p:spPr>
        <p:txBody>
          <a:bodyPr vert="horz" wrap="square" lIns="0" tIns="13335" rIns="0" bIns="0" rtlCol="0">
            <a:spAutoFit/>
          </a:bodyPr>
          <a:lstStyle/>
          <a:p>
            <a:pPr marL="12700">
              <a:lnSpc>
                <a:spcPct val="100000"/>
              </a:lnSpc>
              <a:spcBef>
                <a:spcPts val="105"/>
              </a:spcBef>
              <a:tabLst>
                <a:tab pos="1125855" algn="l"/>
              </a:tabLst>
            </a:pPr>
            <a:r>
              <a:rPr sz="3150" spc="-10" dirty="0">
                <a:solidFill>
                  <a:srgbClr val="000000"/>
                </a:solidFill>
                <a:latin typeface="Arial"/>
                <a:cs typeface="Arial"/>
              </a:rPr>
              <a:t>4.6.4</a:t>
            </a:r>
            <a:r>
              <a:rPr sz="3150" dirty="0">
                <a:solidFill>
                  <a:srgbClr val="000000"/>
                </a:solidFill>
                <a:latin typeface="Arial"/>
                <a:cs typeface="Arial"/>
              </a:rPr>
              <a:t>	</a:t>
            </a:r>
            <a:r>
              <a:rPr sz="3150" spc="-15" dirty="0">
                <a:solidFill>
                  <a:srgbClr val="000000"/>
                </a:solidFill>
              </a:rPr>
              <a:t>增强秒表</a:t>
            </a:r>
            <a:endParaRPr sz="3150">
              <a:latin typeface="Arial"/>
              <a:cs typeface="Arial"/>
            </a:endParaRPr>
          </a:p>
        </p:txBody>
      </p:sp>
      <p:sp>
        <p:nvSpPr>
          <p:cNvPr id="4" name="object 4"/>
          <p:cNvSpPr/>
          <p:nvPr/>
        </p:nvSpPr>
        <p:spPr>
          <a:xfrm>
            <a:off x="7281288" y="4111764"/>
            <a:ext cx="179070" cy="0"/>
          </a:xfrm>
          <a:custGeom>
            <a:avLst/>
            <a:gdLst/>
            <a:ahLst/>
            <a:cxnLst/>
            <a:rect l="l" t="t" r="r" b="b"/>
            <a:pathLst>
              <a:path w="179070">
                <a:moveTo>
                  <a:pt x="0" y="0"/>
                </a:moveTo>
                <a:lnTo>
                  <a:pt x="179069" y="0"/>
                </a:lnTo>
              </a:path>
            </a:pathLst>
          </a:custGeom>
          <a:ln w="5993">
            <a:solidFill>
              <a:srgbClr val="000000"/>
            </a:solidFill>
          </a:ln>
        </p:spPr>
        <p:txBody>
          <a:bodyPr wrap="square" lIns="0" tIns="0" rIns="0" bIns="0" rtlCol="0"/>
          <a:lstStyle/>
          <a:p>
            <a:endParaRPr/>
          </a:p>
        </p:txBody>
      </p:sp>
      <p:sp>
        <p:nvSpPr>
          <p:cNvPr id="5" name="object 5"/>
          <p:cNvSpPr txBox="1"/>
          <p:nvPr/>
        </p:nvSpPr>
        <p:spPr>
          <a:xfrm>
            <a:off x="647026" y="4069224"/>
            <a:ext cx="9350375" cy="934719"/>
          </a:xfrm>
          <a:prstGeom prst="rect">
            <a:avLst/>
          </a:prstGeom>
        </p:spPr>
        <p:txBody>
          <a:bodyPr vert="horz" wrap="square" lIns="0" tIns="47625" rIns="0" bIns="0" rtlCol="0">
            <a:spAutoFit/>
          </a:bodyPr>
          <a:lstStyle/>
          <a:p>
            <a:pPr marR="2534285" algn="r">
              <a:lnSpc>
                <a:spcPct val="100000"/>
              </a:lnSpc>
              <a:spcBef>
                <a:spcPts val="375"/>
              </a:spcBef>
            </a:pPr>
            <a:r>
              <a:rPr sz="950" spc="90" dirty="0">
                <a:latin typeface="Times New Roman"/>
                <a:cs typeface="Times New Roman"/>
              </a:rPr>
              <a:t>16 </a:t>
            </a:r>
            <a:endParaRPr sz="950">
              <a:latin typeface="Times New Roman"/>
              <a:cs typeface="Times New Roman"/>
            </a:endParaRPr>
          </a:p>
          <a:p>
            <a:pPr marL="12700">
              <a:lnSpc>
                <a:spcPct val="100000"/>
              </a:lnSpc>
              <a:spcBef>
                <a:spcPts val="480"/>
              </a:spcBef>
            </a:pPr>
            <a:r>
              <a:rPr sz="1750" dirty="0">
                <a:latin typeface="微软雅黑"/>
                <a:cs typeface="微软雅黑"/>
              </a:rPr>
              <a:t>其范围是</a:t>
            </a:r>
            <a:r>
              <a:rPr sz="1750" spc="-20" dirty="0">
                <a:latin typeface="Arial"/>
                <a:cs typeface="Arial"/>
              </a:rPr>
              <a:t>00</a:t>
            </a:r>
            <a:r>
              <a:rPr sz="1750" dirty="0">
                <a:latin typeface="微软雅黑"/>
                <a:cs typeface="微软雅黑"/>
              </a:rPr>
              <a:t>和</a:t>
            </a:r>
            <a:r>
              <a:rPr sz="1750" spc="-20" dirty="0">
                <a:latin typeface="Arial"/>
                <a:cs typeface="Arial"/>
              </a:rPr>
              <a:t>59</a:t>
            </a:r>
            <a:r>
              <a:rPr sz="1750" dirty="0">
                <a:latin typeface="微软雅黑"/>
                <a:cs typeface="微软雅黑"/>
              </a:rPr>
              <a:t>之间。</a:t>
            </a:r>
            <a:r>
              <a:rPr sz="1750" spc="-25" dirty="0">
                <a:latin typeface="Arial"/>
                <a:cs typeface="Arial"/>
              </a:rPr>
              <a:t>M</a:t>
            </a:r>
            <a:r>
              <a:rPr sz="1750" dirty="0">
                <a:latin typeface="微软雅黑"/>
                <a:cs typeface="微软雅黑"/>
              </a:rPr>
              <a:t>代表分钟，它的范围是</a:t>
            </a:r>
            <a:r>
              <a:rPr sz="1750" spc="-20" dirty="0">
                <a:latin typeface="Arial"/>
                <a:cs typeface="Arial"/>
              </a:rPr>
              <a:t>0</a:t>
            </a:r>
            <a:r>
              <a:rPr sz="1750" dirty="0">
                <a:latin typeface="微软雅黑"/>
                <a:cs typeface="微软雅黑"/>
              </a:rPr>
              <a:t>到</a:t>
            </a:r>
            <a:r>
              <a:rPr sz="1750" spc="-10" dirty="0">
                <a:latin typeface="Arial"/>
                <a:cs typeface="Arial"/>
              </a:rPr>
              <a:t>9</a:t>
            </a:r>
            <a:r>
              <a:rPr sz="1750" dirty="0">
                <a:latin typeface="微软雅黑"/>
                <a:cs typeface="微软雅黑"/>
              </a:rPr>
              <a:t>之间。设计程序并且下载到</a:t>
            </a:r>
            <a:r>
              <a:rPr sz="1750" dirty="0">
                <a:latin typeface="Arial"/>
                <a:cs typeface="Arial"/>
              </a:rPr>
              <a:t>FPGA</a:t>
            </a:r>
            <a:r>
              <a:rPr sz="1750" spc="-15" dirty="0">
                <a:latin typeface="微软雅黑"/>
                <a:cs typeface="微软雅黑"/>
              </a:rPr>
              <a:t>开发板上</a:t>
            </a:r>
            <a:endParaRPr sz="1750">
              <a:latin typeface="微软雅黑"/>
              <a:cs typeface="微软雅黑"/>
            </a:endParaRPr>
          </a:p>
          <a:p>
            <a:pPr marL="12700">
              <a:lnSpc>
                <a:spcPct val="100000"/>
              </a:lnSpc>
              <a:spcBef>
                <a:spcPts val="1060"/>
              </a:spcBef>
            </a:pPr>
            <a:r>
              <a:rPr sz="1750" spc="-20" dirty="0">
                <a:latin typeface="微软雅黑"/>
                <a:cs typeface="微软雅黑"/>
              </a:rPr>
              <a:t>验证。</a:t>
            </a:r>
            <a:endParaRPr sz="1750">
              <a:latin typeface="微软雅黑"/>
              <a:cs typeface="微软雅黑"/>
            </a:endParaRPr>
          </a:p>
        </p:txBody>
      </p:sp>
      <p:sp>
        <p:nvSpPr>
          <p:cNvPr id="7" name="object 7"/>
          <p:cNvSpPr txBox="1">
            <a:spLocks noGrp="1"/>
          </p:cNvSpPr>
          <p:nvPr>
            <p:ph type="ftr" sz="quarter" idx="5"/>
          </p:nvPr>
        </p:nvSpPr>
        <p:spPr>
          <a:prstGeom prst="rect">
            <a:avLst/>
          </a:prstGeom>
        </p:spPr>
        <p:txBody>
          <a:bodyPr vert="horz" wrap="square" lIns="0" tIns="23495" rIns="0" bIns="0" rtlCol="0">
            <a:spAutoFit/>
          </a:bodyPr>
          <a:lstStyle/>
          <a:p>
            <a:pPr marL="12700">
              <a:lnSpc>
                <a:spcPct val="100000"/>
              </a:lnSpc>
              <a:spcBef>
                <a:spcPts val="185"/>
              </a:spcBef>
            </a:pPr>
            <a:r>
              <a:rPr dirty="0"/>
              <a:t>Xilinx</a:t>
            </a:r>
            <a:r>
              <a:rPr spc="-5" dirty="0"/>
              <a:t> 大学合作部 </a:t>
            </a:r>
            <a:r>
              <a:rPr dirty="0"/>
              <a:t>&amp;</a:t>
            </a:r>
            <a:r>
              <a:rPr spc="-10" dirty="0"/>
              <a:t> 东南大学</a:t>
            </a:r>
          </a:p>
        </p:txBody>
      </p:sp>
      <p:sp>
        <p:nvSpPr>
          <p:cNvPr id="6" name="object 6"/>
          <p:cNvSpPr txBox="1"/>
          <p:nvPr/>
        </p:nvSpPr>
        <p:spPr>
          <a:xfrm>
            <a:off x="621671" y="3909318"/>
            <a:ext cx="9500870" cy="292735"/>
          </a:xfrm>
          <a:prstGeom prst="rect">
            <a:avLst/>
          </a:prstGeom>
        </p:spPr>
        <p:txBody>
          <a:bodyPr vert="horz" wrap="square" lIns="0" tIns="12700" rIns="0" bIns="0" rtlCol="0">
            <a:spAutoFit/>
          </a:bodyPr>
          <a:lstStyle/>
          <a:p>
            <a:pPr marL="38100">
              <a:lnSpc>
                <a:spcPct val="100000"/>
              </a:lnSpc>
              <a:spcBef>
                <a:spcPts val="100"/>
              </a:spcBef>
            </a:pPr>
            <a:r>
              <a:rPr sz="1750" dirty="0">
                <a:latin typeface="Arial"/>
                <a:cs typeface="Arial"/>
              </a:rPr>
              <a:t>2</a:t>
            </a:r>
            <a:r>
              <a:rPr sz="1750" spc="5" dirty="0">
                <a:latin typeface="Arial"/>
                <a:cs typeface="Arial"/>
              </a:rPr>
              <a:t>. </a:t>
            </a:r>
            <a:r>
              <a:rPr sz="1750" dirty="0">
                <a:latin typeface="微软雅黑"/>
                <a:cs typeface="微软雅黑"/>
              </a:rPr>
              <a:t>添加分钟数字显示。</a:t>
            </a:r>
            <a:r>
              <a:rPr sz="1750" spc="-10" dirty="0">
                <a:latin typeface="Arial"/>
                <a:cs typeface="Arial"/>
              </a:rPr>
              <a:t>LED</a:t>
            </a:r>
            <a:r>
              <a:rPr sz="1750" dirty="0">
                <a:latin typeface="微软雅黑"/>
                <a:cs typeface="微软雅黑"/>
              </a:rPr>
              <a:t>显示格式为</a:t>
            </a:r>
            <a:r>
              <a:rPr sz="1750" dirty="0">
                <a:latin typeface="Arial"/>
                <a:cs typeface="Arial"/>
              </a:rPr>
              <a:t>M.SS.D</a:t>
            </a:r>
            <a:r>
              <a:rPr sz="1750" dirty="0">
                <a:latin typeface="微软雅黑"/>
                <a:cs typeface="微软雅黑"/>
              </a:rPr>
              <a:t>，</a:t>
            </a:r>
            <a:r>
              <a:rPr sz="1750" dirty="0">
                <a:latin typeface="Arial"/>
                <a:cs typeface="Arial"/>
              </a:rPr>
              <a:t>D</a:t>
            </a:r>
            <a:r>
              <a:rPr sz="1750" dirty="0">
                <a:latin typeface="微软雅黑"/>
                <a:cs typeface="微软雅黑"/>
              </a:rPr>
              <a:t>代表</a:t>
            </a:r>
            <a:r>
              <a:rPr sz="1750" spc="-20" dirty="0">
                <a:latin typeface="Arial"/>
                <a:cs typeface="Arial"/>
              </a:rPr>
              <a:t>0.1</a:t>
            </a:r>
            <a:r>
              <a:rPr sz="1750" dirty="0">
                <a:latin typeface="微软雅黑"/>
                <a:cs typeface="微软雅黑"/>
              </a:rPr>
              <a:t>秒和它的</a:t>
            </a:r>
            <a:r>
              <a:rPr sz="1750" spc="-1235" dirty="0">
                <a:latin typeface="微软雅黑"/>
                <a:cs typeface="微软雅黑"/>
              </a:rPr>
              <a:t>范</a:t>
            </a:r>
            <a:r>
              <a:rPr sz="1425" i="1" baseline="35087" dirty="0">
                <a:latin typeface="Times New Roman"/>
                <a:cs typeface="Times New Roman"/>
              </a:rPr>
              <a:t>w</a:t>
            </a:r>
            <a:r>
              <a:rPr sz="1425" i="1" spc="562" baseline="35087" dirty="0">
                <a:latin typeface="Times New Roman"/>
                <a:cs typeface="Times New Roman"/>
              </a:rPr>
              <a:t> </a:t>
            </a:r>
            <a:r>
              <a:rPr sz="1750" dirty="0">
                <a:latin typeface="微软雅黑"/>
                <a:cs typeface="微软雅黑"/>
              </a:rPr>
              <a:t>围是</a:t>
            </a:r>
            <a:r>
              <a:rPr sz="1750" spc="-20" dirty="0">
                <a:latin typeface="Arial"/>
                <a:cs typeface="Arial"/>
              </a:rPr>
              <a:t>0</a:t>
            </a:r>
            <a:r>
              <a:rPr sz="1750" dirty="0">
                <a:latin typeface="微软雅黑"/>
                <a:cs typeface="微软雅黑"/>
              </a:rPr>
              <a:t>到</a:t>
            </a:r>
            <a:r>
              <a:rPr sz="1750" spc="-10" dirty="0">
                <a:latin typeface="Arial"/>
                <a:cs typeface="Arial"/>
              </a:rPr>
              <a:t>9</a:t>
            </a:r>
            <a:r>
              <a:rPr sz="1750" dirty="0">
                <a:latin typeface="微软雅黑"/>
                <a:cs typeface="微软雅黑"/>
              </a:rPr>
              <a:t>之间。</a:t>
            </a:r>
            <a:r>
              <a:rPr sz="1750" dirty="0">
                <a:latin typeface="Arial"/>
                <a:cs typeface="Arial"/>
              </a:rPr>
              <a:t>SS</a:t>
            </a:r>
            <a:r>
              <a:rPr sz="1750" dirty="0">
                <a:latin typeface="微软雅黑"/>
                <a:cs typeface="微软雅黑"/>
              </a:rPr>
              <a:t>表示秒</a:t>
            </a:r>
            <a:r>
              <a:rPr sz="1750" spc="-50" dirty="0">
                <a:latin typeface="Arial"/>
                <a:cs typeface="Arial"/>
              </a:rPr>
              <a:t>,</a:t>
            </a:r>
            <a:endParaRPr sz="1750">
              <a:latin typeface="Arial"/>
              <a:cs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91619" y="2999719"/>
            <a:ext cx="3326181" cy="1562926"/>
          </a:xfrm>
          <a:prstGeom prst="rect">
            <a:avLst/>
          </a:prstGeom>
        </p:spPr>
      </p:pic>
      <p:sp>
        <p:nvSpPr>
          <p:cNvPr id="3" name="object 3"/>
          <p:cNvSpPr txBox="1"/>
          <p:nvPr/>
        </p:nvSpPr>
        <p:spPr>
          <a:xfrm>
            <a:off x="6317875" y="4695697"/>
            <a:ext cx="1723389" cy="292735"/>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E3E3E"/>
                </a:solidFill>
                <a:latin typeface="Arial"/>
                <a:cs typeface="Arial"/>
                <a:hlinkClick r:id="rId3"/>
              </a:rPr>
              <a:t>xup@xilinx.com</a:t>
            </a:r>
            <a:endParaRPr sz="1750">
              <a:latin typeface="Arial"/>
              <a:cs typeface="Arial"/>
            </a:endParaRPr>
          </a:p>
        </p:txBody>
      </p:sp>
      <p:pic>
        <p:nvPicPr>
          <p:cNvPr id="4" name="object 4"/>
          <p:cNvPicPr/>
          <p:nvPr/>
        </p:nvPicPr>
        <p:blipFill>
          <a:blip r:embed="rId4" cstate="print"/>
          <a:stretch>
            <a:fillRect/>
          </a:stretch>
        </p:blipFill>
        <p:spPr>
          <a:xfrm>
            <a:off x="1775345" y="2769870"/>
            <a:ext cx="1887473" cy="1900427"/>
          </a:xfrm>
          <a:prstGeom prst="rect">
            <a:avLst/>
          </a:prstGeom>
        </p:spPr>
      </p:pic>
      <p:sp>
        <p:nvSpPr>
          <p:cNvPr id="5" name="object 5"/>
          <p:cNvSpPr txBox="1"/>
          <p:nvPr/>
        </p:nvSpPr>
        <p:spPr>
          <a:xfrm>
            <a:off x="8030089" y="6508803"/>
            <a:ext cx="2454910" cy="260985"/>
          </a:xfrm>
          <a:prstGeom prst="rect">
            <a:avLst/>
          </a:prstGeom>
        </p:spPr>
        <p:txBody>
          <a:bodyPr vert="horz" wrap="square" lIns="0" tIns="23495" rIns="0" bIns="0" rtlCol="0">
            <a:spAutoFit/>
          </a:bodyPr>
          <a:lstStyle/>
          <a:p>
            <a:pPr marL="12700">
              <a:lnSpc>
                <a:spcPct val="100000"/>
              </a:lnSpc>
              <a:spcBef>
                <a:spcPts val="185"/>
              </a:spcBef>
            </a:pPr>
            <a:r>
              <a:rPr sz="1400" b="1" dirty="0">
                <a:solidFill>
                  <a:srgbClr val="3F3F3F"/>
                </a:solidFill>
                <a:latin typeface="微软雅黑"/>
                <a:cs typeface="微软雅黑"/>
              </a:rPr>
              <a:t>Xilinx</a:t>
            </a:r>
            <a:r>
              <a:rPr sz="1400" b="1" spc="-5" dirty="0">
                <a:solidFill>
                  <a:srgbClr val="3F3F3F"/>
                </a:solidFill>
                <a:latin typeface="微软雅黑"/>
                <a:cs typeface="微软雅黑"/>
              </a:rPr>
              <a:t> 大学合作部 </a:t>
            </a:r>
            <a:r>
              <a:rPr sz="1400" b="1" dirty="0">
                <a:solidFill>
                  <a:srgbClr val="3F3F3F"/>
                </a:solidFill>
                <a:latin typeface="微软雅黑"/>
                <a:cs typeface="微软雅黑"/>
              </a:rPr>
              <a:t>&amp;</a:t>
            </a:r>
            <a:r>
              <a:rPr sz="1400" b="1" spc="-10" dirty="0">
                <a:solidFill>
                  <a:srgbClr val="3F3F3F"/>
                </a:solidFill>
                <a:latin typeface="微软雅黑"/>
                <a:cs typeface="微软雅黑"/>
              </a:rPr>
              <a:t> 东南大学</a:t>
            </a:r>
            <a:endParaRPr sz="1400">
              <a:latin typeface="微软雅黑"/>
              <a:cs typeface="微软雅黑"/>
            </a:endParaRPr>
          </a:p>
        </p:txBody>
      </p:sp>
      <p:sp>
        <p:nvSpPr>
          <p:cNvPr id="6" name="object 6"/>
          <p:cNvSpPr txBox="1"/>
          <p:nvPr/>
        </p:nvSpPr>
        <p:spPr>
          <a:xfrm>
            <a:off x="604399" y="6574090"/>
            <a:ext cx="124460" cy="125095"/>
          </a:xfrm>
          <a:prstGeom prst="rect">
            <a:avLst/>
          </a:prstGeom>
        </p:spPr>
        <p:txBody>
          <a:bodyPr vert="horz" wrap="square" lIns="0" tIns="4445" rIns="0" bIns="0" rtlCol="0">
            <a:spAutoFit/>
          </a:bodyPr>
          <a:lstStyle/>
          <a:p>
            <a:pPr marL="12700">
              <a:lnSpc>
                <a:spcPct val="100000"/>
              </a:lnSpc>
              <a:spcBef>
                <a:spcPts val="35"/>
              </a:spcBef>
            </a:pPr>
            <a:r>
              <a:rPr sz="700" spc="-25" dirty="0">
                <a:latin typeface="Arial"/>
                <a:cs typeface="Arial"/>
              </a:rPr>
              <a:t>55</a:t>
            </a:r>
            <a:endParaRPr sz="7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E3E3E"/>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324</TotalTime>
  <Words>5031</Words>
  <Application>Microsoft Office PowerPoint</Application>
  <PresentationFormat>自定义</PresentationFormat>
  <Paragraphs>861</Paragraphs>
  <Slides>55</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55</vt:i4>
      </vt:variant>
    </vt:vector>
  </HeadingPairs>
  <TitlesOfParts>
    <vt:vector size="65" baseType="lpstr">
      <vt:lpstr>等线</vt:lpstr>
      <vt:lpstr>楷体</vt:lpstr>
      <vt:lpstr>宋体</vt:lpstr>
      <vt:lpstr>微软雅黑</vt:lpstr>
      <vt:lpstr>Arial</vt:lpstr>
      <vt:lpstr>Calibri</vt:lpstr>
      <vt:lpstr>Symbol</vt:lpstr>
      <vt:lpstr>Times New Roman</vt:lpstr>
      <vt:lpstr>Wingdings</vt:lpstr>
      <vt:lpstr>Office Theme</vt:lpstr>
      <vt:lpstr>搭建你的数字积木</vt:lpstr>
      <vt:lpstr>时序逻辑电路设计基础</vt:lpstr>
      <vt:lpstr>本章学习导言</vt:lpstr>
      <vt:lpstr>主要内容</vt:lpstr>
      <vt:lpstr>4.1 触发器和锁存器</vt:lpstr>
      <vt:lpstr>4.1.1 基本D触发器</vt:lpstr>
      <vt:lpstr>4.1.1 基本D触发器</vt:lpstr>
      <vt:lpstr>4.1.1 基本D触发器</vt:lpstr>
      <vt:lpstr>4.1.2 含异步复位的D触发器</vt:lpstr>
      <vt:lpstr>4.1.2 含异步复位的D触发器</vt:lpstr>
      <vt:lpstr>4.1.3 含异步复位和同步使能的D触发器</vt:lpstr>
      <vt:lpstr>4.1.3 含异步复位和同步使能的D触发器</vt:lpstr>
      <vt:lpstr>4.1.3 含异步复位和同步使能的D触发器</vt:lpstr>
      <vt:lpstr>4.1.3 含异步复位和同步使能的D触发器</vt:lpstr>
      <vt:lpstr>4.1.4 基本锁存器</vt:lpstr>
      <vt:lpstr>4.1.4 基本锁存器</vt:lpstr>
      <vt:lpstr>4.1.5 含清0控制的锁存器</vt:lpstr>
      <vt:lpstr>4.1.5 含清0控制的锁存器</vt:lpstr>
      <vt:lpstr>4.2.1 1位寄存器</vt:lpstr>
      <vt:lpstr>4.2.1 1位寄存器</vt:lpstr>
      <vt:lpstr>4.2.1 1位寄存器</vt:lpstr>
      <vt:lpstr>4.2.2 N位寄存器</vt:lpstr>
      <vt:lpstr>4.2.2 N位寄存器</vt:lpstr>
      <vt:lpstr>4.2.2 N位寄存器</vt:lpstr>
      <vt:lpstr>4.2.3 寄存器组</vt:lpstr>
      <vt:lpstr>4.2.3 寄存器组</vt:lpstr>
      <vt:lpstr>4.2.3 寄存器组</vt:lpstr>
      <vt:lpstr>4.3 移位寄存器</vt:lpstr>
      <vt:lpstr>4.3.1 具有同步预置功能的8位移位寄存器</vt:lpstr>
      <vt:lpstr>4.3.1 具有同步预置功能的8位移位寄存器</vt:lpstr>
      <vt:lpstr>4.3.2 8位通用移位寄存器</vt:lpstr>
      <vt:lpstr>4.4 计数器</vt:lpstr>
      <vt:lpstr>4.4.1 简单的二进制计数器</vt:lpstr>
      <vt:lpstr>4.4.2 通用二进制计数器</vt:lpstr>
      <vt:lpstr>4.4.3 模m计数器</vt:lpstr>
      <vt:lpstr>4.5 设计实例</vt:lpstr>
      <vt:lpstr>4.5.1 数码管扫描显示电路</vt:lpstr>
      <vt:lpstr>4.5.1 数码管扫描显示电路</vt:lpstr>
      <vt:lpstr>4.5.1 数码管扫描显示电路</vt:lpstr>
      <vt:lpstr>4.5.1 数码管扫描显示电路</vt:lpstr>
      <vt:lpstr>4.5.1 数码管扫描显示电路</vt:lpstr>
      <vt:lpstr>PowerPoint 演示文稿</vt:lpstr>
      <vt:lpstr>PowerPoint 演示文稿</vt:lpstr>
      <vt:lpstr>4.5.1 数码管扫描显示电路</vt:lpstr>
      <vt:lpstr>4.5.1数码管扫描显示电路的仿真方法-1</vt:lpstr>
      <vt:lpstr>4.5.1 数码管扫描显示电路仿真方法-2</vt:lpstr>
      <vt:lpstr>4.5.2 秒表</vt:lpstr>
      <vt:lpstr>4.5.2 秒表</vt:lpstr>
      <vt:lpstr>4.5.2 秒表</vt:lpstr>
      <vt:lpstr>4.5.2 秒表</vt:lpstr>
      <vt:lpstr>4.6 练习题</vt:lpstr>
      <vt:lpstr>4.6.2 pwm和LED调光器</vt:lpstr>
      <vt:lpstr>4.6.3 LED循环电路</vt:lpstr>
      <vt:lpstr>4.6.4 增强秒表</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&lt;4D6963726F736F667420506F776572506F696E74202D20332ECAB1D0F2C2DFBCADB5E7C2B7C9E8BCC6BBF9B4A12E70707478&gt;</dc:title>
  <dc:creator>zhang</dc:creator>
  <cp:lastModifiedBy>Tianyi Chen</cp:lastModifiedBy>
  <cp:revision>19</cp:revision>
  <dcterms:created xsi:type="dcterms:W3CDTF">2024-08-19T07:26:29Z</dcterms:created>
  <dcterms:modified xsi:type="dcterms:W3CDTF">2026-08-27T03:06:09Z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2024-06-28T00:00:00Z</vt:filetime>
  </property>
  <property fmtid="{D5CDD505-2E9C-101B-9397-08002B2CF9AE}" pid="3" name="Creator">
    <vt:lpwstr>PScript5.dll Version 5.2.2</vt:lpwstr>
  </property>
  <property fmtid="{D5CDD505-2E9C-101B-9397-08002B2CF9AE}" pid="4" name="LastSaved">
    <vt:filetime>2024-08-19T00:00:00Z</vt:filetime>
  </property>
  <property fmtid="{D5CDD505-2E9C-101B-9397-08002B2CF9AE}" pid="5" name="Producer">
    <vt:lpwstr>Acrobat Distiller 23.0 (Windows)</vt:lpwstr>
  </property>
</Properties>
</file>
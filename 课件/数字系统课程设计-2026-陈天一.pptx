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92"/>
  </p:notesMasterIdLst>
  <p:handoutMasterIdLst>
    <p:handoutMasterId r:id="rId93"/>
  </p:handoutMasterIdLst>
  <p:sldIdLst>
    <p:sldId id="352" r:id="rId3"/>
    <p:sldId id="257" r:id="rId4"/>
    <p:sldId id="518" r:id="rId5"/>
    <p:sldId id="519" r:id="rId6"/>
    <p:sldId id="520" r:id="rId7"/>
    <p:sldId id="258" r:id="rId8"/>
    <p:sldId id="280" r:id="rId9"/>
    <p:sldId id="442" r:id="rId10"/>
    <p:sldId id="375" r:id="rId11"/>
    <p:sldId id="376" r:id="rId12"/>
    <p:sldId id="379" r:id="rId13"/>
    <p:sldId id="364" r:id="rId14"/>
    <p:sldId id="815" r:id="rId15"/>
    <p:sldId id="378" r:id="rId16"/>
    <p:sldId id="816" r:id="rId17"/>
    <p:sldId id="367" r:id="rId18"/>
    <p:sldId id="368" r:id="rId19"/>
    <p:sldId id="335" r:id="rId20"/>
    <p:sldId id="365" r:id="rId21"/>
    <p:sldId id="366" r:id="rId22"/>
    <p:sldId id="337" r:id="rId23"/>
    <p:sldId id="369" r:id="rId24"/>
    <p:sldId id="370" r:id="rId25"/>
    <p:sldId id="373" r:id="rId26"/>
    <p:sldId id="382" r:id="rId27"/>
    <p:sldId id="372" r:id="rId28"/>
    <p:sldId id="341" r:id="rId29"/>
    <p:sldId id="338" r:id="rId30"/>
    <p:sldId id="343" r:id="rId31"/>
    <p:sldId id="380" r:id="rId32"/>
    <p:sldId id="817" r:id="rId33"/>
    <p:sldId id="818" r:id="rId34"/>
    <p:sldId id="444" r:id="rId35"/>
    <p:sldId id="261" r:id="rId36"/>
    <p:sldId id="262" r:id="rId37"/>
    <p:sldId id="264" r:id="rId38"/>
    <p:sldId id="282" r:id="rId39"/>
    <p:sldId id="288" r:id="rId40"/>
    <p:sldId id="446" r:id="rId41"/>
    <p:sldId id="447" r:id="rId42"/>
    <p:sldId id="289" r:id="rId43"/>
    <p:sldId id="291" r:id="rId44"/>
    <p:sldId id="290" r:id="rId45"/>
    <p:sldId id="445" r:id="rId46"/>
    <p:sldId id="436" r:id="rId47"/>
    <p:sldId id="269" r:id="rId48"/>
    <p:sldId id="270" r:id="rId49"/>
    <p:sldId id="516" r:id="rId50"/>
    <p:sldId id="272" r:id="rId51"/>
    <p:sldId id="273" r:id="rId52"/>
    <p:sldId id="275" r:id="rId53"/>
    <p:sldId id="276" r:id="rId54"/>
    <p:sldId id="819" r:id="rId55"/>
    <p:sldId id="822" r:id="rId56"/>
    <p:sldId id="826" r:id="rId57"/>
    <p:sldId id="827" r:id="rId58"/>
    <p:sldId id="838" r:id="rId59"/>
    <p:sldId id="828" r:id="rId60"/>
    <p:sldId id="583" r:id="rId61"/>
    <p:sldId id="506" r:id="rId62"/>
    <p:sldId id="833" r:id="rId63"/>
    <p:sldId id="835" r:id="rId64"/>
    <p:sldId id="837" r:id="rId65"/>
    <p:sldId id="830" r:id="rId66"/>
    <p:sldId id="836" r:id="rId67"/>
    <p:sldId id="832" r:id="rId68"/>
    <p:sldId id="834" r:id="rId69"/>
    <p:sldId id="426" r:id="rId70"/>
    <p:sldId id="840" r:id="rId71"/>
    <p:sldId id="584" r:id="rId72"/>
    <p:sldId id="427" r:id="rId73"/>
    <p:sldId id="585" r:id="rId74"/>
    <p:sldId id="829" r:id="rId75"/>
    <p:sldId id="839" r:id="rId76"/>
    <p:sldId id="437" r:id="rId77"/>
    <p:sldId id="438" r:id="rId78"/>
    <p:sldId id="439" r:id="rId79"/>
    <p:sldId id="440" r:id="rId80"/>
    <p:sldId id="441" r:id="rId81"/>
    <p:sldId id="764" r:id="rId82"/>
    <p:sldId id="443" r:id="rId83"/>
    <p:sldId id="765" r:id="rId84"/>
    <p:sldId id="766" r:id="rId85"/>
    <p:sldId id="767" r:id="rId86"/>
    <p:sldId id="768" r:id="rId87"/>
    <p:sldId id="646" r:id="rId88"/>
    <p:sldId id="647" r:id="rId89"/>
    <p:sldId id="823" r:id="rId90"/>
    <p:sldId id="824" r:id="rId91"/>
  </p:sldIdLst>
  <p:sldSz cx="9144000" cy="6858000" type="screen4x3"/>
  <p:notesSz cx="6670675" cy="9929813"/>
  <p:custDataLst>
    <p:tags r:id="rId94"/>
  </p:custDataLst>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A10E"/>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08" autoAdjust="0"/>
    <p:restoredTop sz="86239" autoAdjust="0"/>
  </p:normalViewPr>
  <p:slideViewPr>
    <p:cSldViewPr showGuides="1">
      <p:cViewPr varScale="1">
        <p:scale>
          <a:sx n="82" d="100"/>
          <a:sy n="82" d="100"/>
        </p:scale>
        <p:origin x="1568"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presProps" Target="pres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handoutMaster" Target="handoutMasters/handoutMaster1.xml"/><Relationship Id="rId9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90838" cy="496888"/>
          </a:xfrm>
          <a:prstGeom prst="rect">
            <a:avLst/>
          </a:prstGeom>
          <a:noFill/>
          <a:ln w="9525">
            <a:noFill/>
            <a:miter lim="800000"/>
          </a:ln>
          <a:effectLst/>
        </p:spPr>
        <p:txBody>
          <a:bodyPr vert="horz" wrap="square" lIns="91440" tIns="45720" rIns="91440" bIns="45720" numCol="1" anchor="t" anchorCtr="0" compatLnSpc="1"/>
          <a:lstStyle>
            <a:lvl1pPr>
              <a:defRPr kumimoji="0"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4275" name="Rectangle 3"/>
          <p:cNvSpPr>
            <a:spLocks noGrp="1" noChangeArrowheads="1"/>
          </p:cNvSpPr>
          <p:nvPr>
            <p:ph type="dt" sz="quarter" idx="1"/>
          </p:nvPr>
        </p:nvSpPr>
        <p:spPr bwMode="auto">
          <a:xfrm>
            <a:off x="3778250" y="0"/>
            <a:ext cx="2890838" cy="496888"/>
          </a:xfrm>
          <a:prstGeom prst="rect">
            <a:avLst/>
          </a:prstGeom>
          <a:noFill/>
          <a:ln w="9525">
            <a:noFill/>
            <a:miter lim="800000"/>
          </a:ln>
          <a:effectLst/>
        </p:spPr>
        <p:txBody>
          <a:bodyPr vert="horz" wrap="square" lIns="91440" tIns="45720" rIns="91440" bIns="45720" numCol="1" anchor="t" anchorCtr="0" compatLnSpc="1"/>
          <a:lstStyle>
            <a:lvl1pPr algn="r">
              <a:defRPr kumimoji="0"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4276" name="Rectangle 4"/>
          <p:cNvSpPr>
            <a:spLocks noGrp="1" noChangeArrowheads="1"/>
          </p:cNvSpPr>
          <p:nvPr>
            <p:ph type="ftr" sz="quarter" idx="2"/>
          </p:nvPr>
        </p:nvSpPr>
        <p:spPr bwMode="auto">
          <a:xfrm>
            <a:off x="0" y="9431338"/>
            <a:ext cx="2890838" cy="496888"/>
          </a:xfrm>
          <a:prstGeom prst="rect">
            <a:avLst/>
          </a:prstGeom>
          <a:noFill/>
          <a:ln w="9525">
            <a:noFill/>
            <a:miter lim="800000"/>
          </a:ln>
          <a:effectLst/>
        </p:spPr>
        <p:txBody>
          <a:bodyPr vert="horz" wrap="square" lIns="91440" tIns="45720" rIns="91440" bIns="45720" numCol="1" anchor="b" anchorCtr="0" compatLnSpc="1"/>
          <a:lstStyle>
            <a:lvl1pPr>
              <a:defRPr kumimoji="0"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4277" name="Rectangle 5"/>
          <p:cNvSpPr>
            <a:spLocks noGrp="1" noChangeArrowheads="1"/>
          </p:cNvSpPr>
          <p:nvPr>
            <p:ph type="sldNum" sz="quarter" idx="3"/>
          </p:nvPr>
        </p:nvSpPr>
        <p:spPr bwMode="auto">
          <a:xfrm>
            <a:off x="3778250" y="9431338"/>
            <a:ext cx="2890838" cy="496888"/>
          </a:xfrm>
          <a:prstGeom prst="rect">
            <a:avLst/>
          </a:prstGeom>
          <a:noFill/>
          <a:ln w="9525">
            <a:noFill/>
            <a:miter lim="800000"/>
          </a:ln>
          <a:effectLst/>
        </p:spPr>
        <p:txBody>
          <a:bodyPr vert="horz" wrap="square" lIns="91440" tIns="45720" rIns="91440" bIns="45720" numCol="1" anchor="b" anchorCtr="0" compatLnSpc="1"/>
          <a:lstStyle/>
          <a:p>
            <a:pPr lvl="0" algn="r" eaLnBrk="1" fontAlgn="base" hangingPunct="1">
              <a:buNone/>
            </a:pPr>
            <a:fld id="{9A0DB2DC-4C9A-4742-B13C-FB6460FD3503}" type="slidenum">
              <a:rPr lang="en-US" altLang="zh-CN" sz="1200" strike="noStrike" noProof="1" dirty="0">
                <a:latin typeface="Arial" panose="020B0604020202020204" pitchFamily="34" charset="0"/>
                <a:ea typeface="宋体" panose="02010600030101010101" pitchFamily="2" charset="-122"/>
                <a:cs typeface="+mn-cs"/>
              </a:rPr>
              <a:t>‹#›</a:t>
            </a:fld>
            <a:endParaRPr lang="en-US" altLang="zh-CN" sz="1200" strike="noStrike" noProof="1">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bwMode="auto">
          <a:xfrm>
            <a:off x="0" y="0"/>
            <a:ext cx="2890838" cy="496888"/>
          </a:xfrm>
          <a:prstGeom prst="rect">
            <a:avLst/>
          </a:prstGeom>
          <a:noFill/>
          <a:ln w="9525">
            <a:noFill/>
            <a:miter lim="800000"/>
          </a:ln>
          <a:effectLst/>
        </p:spPr>
        <p:txBody>
          <a:bodyPr vert="horz" wrap="square" lIns="91440" tIns="45720" rIns="91440" bIns="45720" numCol="1" anchor="t" anchorCtr="0" compatLnSpc="1"/>
          <a:lstStyle>
            <a:lvl1pPr>
              <a:defRPr kumimoji="0"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3" name="Rectangle 3"/>
          <p:cNvSpPr>
            <a:spLocks noGrp="1" noChangeArrowheads="1"/>
          </p:cNvSpPr>
          <p:nvPr>
            <p:ph type="dt" idx="1"/>
          </p:nvPr>
        </p:nvSpPr>
        <p:spPr bwMode="auto">
          <a:xfrm>
            <a:off x="3778250" y="0"/>
            <a:ext cx="2890838" cy="496888"/>
          </a:xfrm>
          <a:prstGeom prst="rect">
            <a:avLst/>
          </a:prstGeom>
          <a:noFill/>
          <a:ln w="9525">
            <a:noFill/>
            <a:miter lim="800000"/>
          </a:ln>
          <a:effectLst/>
        </p:spPr>
        <p:txBody>
          <a:bodyPr vert="horz" wrap="square" lIns="91440" tIns="45720" rIns="91440" bIns="45720" numCol="1" anchor="t" anchorCtr="0" compatLnSpc="1"/>
          <a:lstStyle>
            <a:lvl1pPr algn="r">
              <a:defRPr kumimoji="0"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00" name="Rectangle 4"/>
          <p:cNvSpPr>
            <a:spLocks noGrp="1" noRot="1" noChangeAspect="1" noTextEdit="1"/>
          </p:cNvSpPr>
          <p:nvPr>
            <p:ph type="sldImg"/>
          </p:nvPr>
        </p:nvSpPr>
        <p:spPr>
          <a:xfrm>
            <a:off x="852488" y="744538"/>
            <a:ext cx="4965700" cy="3724275"/>
          </a:xfrm>
          <a:prstGeom prst="rect">
            <a:avLst/>
          </a:prstGeom>
          <a:noFill/>
          <a:ln w="9525" cap="flat" cmpd="sng">
            <a:solidFill>
              <a:srgbClr val="000000"/>
            </a:solidFill>
            <a:prstDash val="solid"/>
            <a:miter/>
            <a:headEnd type="none" w="med" len="med"/>
            <a:tailEnd type="none" w="med" len="med"/>
          </a:ln>
        </p:spPr>
      </p:sp>
      <p:sp>
        <p:nvSpPr>
          <p:cNvPr id="56325" name="Rectangle 5"/>
          <p:cNvSpPr>
            <a:spLocks noGrp="1" noChangeArrowheads="1"/>
          </p:cNvSpPr>
          <p:nvPr>
            <p:ph type="body" sz="quarter" idx="3"/>
          </p:nvPr>
        </p:nvSpPr>
        <p:spPr bwMode="auto">
          <a:xfrm>
            <a:off x="666750" y="4716463"/>
            <a:ext cx="5337175" cy="4468813"/>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56326" name="Rectangle 6"/>
          <p:cNvSpPr>
            <a:spLocks noGrp="1" noChangeArrowheads="1"/>
          </p:cNvSpPr>
          <p:nvPr>
            <p:ph type="ftr" sz="quarter" idx="4"/>
          </p:nvPr>
        </p:nvSpPr>
        <p:spPr bwMode="auto">
          <a:xfrm>
            <a:off x="0" y="9431338"/>
            <a:ext cx="2890838" cy="496888"/>
          </a:xfrm>
          <a:prstGeom prst="rect">
            <a:avLst/>
          </a:prstGeom>
          <a:noFill/>
          <a:ln w="9525">
            <a:noFill/>
            <a:miter lim="800000"/>
          </a:ln>
          <a:effectLst/>
        </p:spPr>
        <p:txBody>
          <a:bodyPr vert="horz" wrap="square" lIns="91440" tIns="45720" rIns="91440" bIns="45720" numCol="1" anchor="b" anchorCtr="0" compatLnSpc="1"/>
          <a:lstStyle>
            <a:lvl1pPr>
              <a:defRPr kumimoji="0"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7" name="Rectangle 7"/>
          <p:cNvSpPr>
            <a:spLocks noGrp="1" noChangeArrowheads="1"/>
          </p:cNvSpPr>
          <p:nvPr>
            <p:ph type="sldNum" sz="quarter" idx="5"/>
          </p:nvPr>
        </p:nvSpPr>
        <p:spPr bwMode="auto">
          <a:xfrm>
            <a:off x="3778250" y="9431338"/>
            <a:ext cx="2890838" cy="496888"/>
          </a:xfrm>
          <a:prstGeom prst="rect">
            <a:avLst/>
          </a:prstGeom>
          <a:noFill/>
          <a:ln w="9525">
            <a:noFill/>
            <a:miter lim="800000"/>
          </a:ln>
          <a:effectLst/>
        </p:spPr>
        <p:txBody>
          <a:bodyPr vert="horz" wrap="square" lIns="91440" tIns="45720" rIns="91440" bIns="45720" numCol="1" anchor="b" anchorCtr="0" compatLnSpc="1"/>
          <a:lstStyle/>
          <a:p>
            <a:pPr lvl="0" algn="r" eaLnBrk="1" fontAlgn="base" hangingPunct="1">
              <a:buNone/>
            </a:pPr>
            <a:fld id="{9A0DB2DC-4C9A-4742-B13C-FB6460FD3503}" type="slidenum">
              <a:rPr lang="en-US" altLang="zh-CN" sz="1200" strike="noStrike" noProof="1" dirty="0">
                <a:latin typeface="Arial" panose="020B0604020202020204" pitchFamily="34" charset="0"/>
                <a:ea typeface="宋体" panose="02010600030101010101" pitchFamily="2" charset="-122"/>
                <a:cs typeface="+mn-cs"/>
              </a:rPr>
              <a:t>‹#›</a:t>
            </a:fld>
            <a:endParaRPr lang="en-US" altLang="zh-CN" sz="1200"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www.eefocus.com/tag/%E7%94%B5%E8%B7%AF/"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ts val="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DDEFD4F-7A1F-4673-BBD8-327B8E723133}" type="slidenum">
              <a:rPr kumimoji="0" lang="en-US"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65827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3686DDFA-A598-46FC-BBAC-6011E74D419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48362A40-45CC-4027-B3A2-4C4789B3EEF8}" type="slidenum">
              <a:rPr lang="en-US" altLang="zh-CN" smtClean="0">
                <a:latin typeface="Times New Roman" panose="02020603050405020304" pitchFamily="18" charset="0"/>
              </a:rPr>
              <a:pPr>
                <a:spcBef>
                  <a:spcPct val="0"/>
                </a:spcBef>
              </a:pPr>
              <a:t>2</a:t>
            </a:fld>
            <a:endParaRPr lang="en-US" altLang="zh-CN">
              <a:latin typeface="Times New Roman" panose="02020603050405020304" pitchFamily="18" charset="0"/>
            </a:endParaRPr>
          </a:p>
        </p:txBody>
      </p:sp>
      <p:sp>
        <p:nvSpPr>
          <p:cNvPr id="8195" name="Rectangle 2">
            <a:extLst>
              <a:ext uri="{FF2B5EF4-FFF2-40B4-BE49-F238E27FC236}">
                <a16:creationId xmlns:a16="http://schemas.microsoft.com/office/drawing/2014/main" id="{EF73C31B-E597-41E0-9D36-9C1A3C061B3C}"/>
              </a:ext>
            </a:extLst>
          </p:cNvPr>
          <p:cNvSpPr>
            <a:spLocks noGrp="1" noRot="1" noChangeAspect="1" noChangeArrowheads="1" noTextEdit="1"/>
          </p:cNvSpPr>
          <p:nvPr>
            <p:ph type="sldImg"/>
          </p:nvPr>
        </p:nvSpPr>
        <p:spPr bwMode="auto">
          <a:xfrm>
            <a:off x="1144588" y="685800"/>
            <a:ext cx="4572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6" name="Rectangle 3">
            <a:extLst>
              <a:ext uri="{FF2B5EF4-FFF2-40B4-BE49-F238E27FC236}">
                <a16:creationId xmlns:a16="http://schemas.microsoft.com/office/drawing/2014/main" id="{258C9B3E-6F98-4493-9C25-8E84E5325455}"/>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zh-CN" altLang="en-US" dirty="0"/>
              <a:t>课程最终目标：在</a:t>
            </a:r>
            <a:r>
              <a:rPr lang="en-US" altLang="zh-CN" dirty="0"/>
              <a:t>FPGA</a:t>
            </a:r>
            <a:r>
              <a:rPr lang="zh-CN" altLang="en-US" dirty="0"/>
              <a:t>开发板上实现一个简单的数字系统，例如电子表、自动售货机程序</a:t>
            </a:r>
            <a:endParaRPr lang="en-US" altLang="zh-CN" dirty="0"/>
          </a:p>
          <a:p>
            <a:pPr eaLnBrk="1" hangingPunct="1">
              <a:spcBef>
                <a:spcPct val="0"/>
              </a:spcBef>
            </a:pPr>
            <a:r>
              <a:rPr lang="zh-CN" altLang="en-US" dirty="0"/>
              <a:t>过程中涉及到（为了实现这一目标）：学习数字系统设计的一般流程和方法；学习硬件描述语言，</a:t>
            </a:r>
            <a:r>
              <a:rPr lang="en-US" altLang="zh-CN" dirty="0"/>
              <a:t>verilog</a:t>
            </a:r>
            <a:r>
              <a:rPr lang="zh-CN" altLang="en-US" dirty="0"/>
              <a:t>的基本语法和编程，</a:t>
            </a:r>
            <a:r>
              <a:rPr lang="en-US" altLang="zh-CN" dirty="0"/>
              <a:t>vivado</a:t>
            </a:r>
            <a:r>
              <a:rPr lang="zh-CN" altLang="en-US" dirty="0"/>
              <a:t>软件平台的使用</a:t>
            </a:r>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3686DDFA-A598-46FC-BBAC-6011E74D419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48362A40-45CC-4027-B3A2-4C4789B3EEF8}" type="slidenum">
              <a:rPr lang="en-US" altLang="zh-CN" smtClean="0">
                <a:latin typeface="Times New Roman" panose="02020603050405020304" pitchFamily="18" charset="0"/>
              </a:rPr>
              <a:pPr>
                <a:spcBef>
                  <a:spcPct val="0"/>
                </a:spcBef>
              </a:pPr>
              <a:t>3</a:t>
            </a:fld>
            <a:endParaRPr lang="en-US" altLang="zh-CN">
              <a:latin typeface="Times New Roman" panose="02020603050405020304" pitchFamily="18" charset="0"/>
            </a:endParaRPr>
          </a:p>
        </p:txBody>
      </p:sp>
      <p:sp>
        <p:nvSpPr>
          <p:cNvPr id="8195" name="Rectangle 2">
            <a:extLst>
              <a:ext uri="{FF2B5EF4-FFF2-40B4-BE49-F238E27FC236}">
                <a16:creationId xmlns:a16="http://schemas.microsoft.com/office/drawing/2014/main" id="{EF73C31B-E597-41E0-9D36-9C1A3C061B3C}"/>
              </a:ext>
            </a:extLst>
          </p:cNvPr>
          <p:cNvSpPr>
            <a:spLocks noGrp="1" noRot="1" noChangeAspect="1" noChangeArrowheads="1" noTextEdit="1"/>
          </p:cNvSpPr>
          <p:nvPr>
            <p:ph type="sldImg"/>
          </p:nvPr>
        </p:nvSpPr>
        <p:spPr bwMode="auto">
          <a:xfrm>
            <a:off x="1144588" y="685800"/>
            <a:ext cx="4572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6" name="Rectangle 3">
            <a:extLst>
              <a:ext uri="{FF2B5EF4-FFF2-40B4-BE49-F238E27FC236}">
                <a16:creationId xmlns:a16="http://schemas.microsoft.com/office/drawing/2014/main" id="{258C9B3E-6F98-4493-9C25-8E84E5325455}"/>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55000"/>
              </a:lnSpc>
              <a:spcBef>
                <a:spcPct val="50000"/>
              </a:spcBef>
            </a:pPr>
            <a:endParaRPr lang="en-US" altLang="zh-CN" b="1"/>
          </a:p>
          <a:p>
            <a:pPr eaLnBrk="1" hangingPunct="1">
              <a:spcBef>
                <a:spcPct val="0"/>
              </a:spcBef>
            </a:pPr>
            <a:endParaRPr lang="en-US" altLang="zh-CN"/>
          </a:p>
        </p:txBody>
      </p:sp>
    </p:spTree>
    <p:extLst>
      <p:ext uri="{BB962C8B-B14F-4D97-AF65-F5344CB8AC3E}">
        <p14:creationId xmlns:p14="http://schemas.microsoft.com/office/powerpoint/2010/main" val="30577029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3686DDFA-A598-46FC-BBAC-6011E74D419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48362A40-45CC-4027-B3A2-4C4789B3EEF8}" type="slidenum">
              <a:rPr lang="en-US" altLang="zh-CN" smtClean="0">
                <a:latin typeface="Times New Roman" panose="02020603050405020304" pitchFamily="18" charset="0"/>
              </a:rPr>
              <a:pPr>
                <a:spcBef>
                  <a:spcPct val="0"/>
                </a:spcBef>
              </a:pPr>
              <a:t>4</a:t>
            </a:fld>
            <a:endParaRPr lang="en-US" altLang="zh-CN">
              <a:latin typeface="Times New Roman" panose="02020603050405020304" pitchFamily="18" charset="0"/>
            </a:endParaRPr>
          </a:p>
        </p:txBody>
      </p:sp>
      <p:sp>
        <p:nvSpPr>
          <p:cNvPr id="8195" name="Rectangle 2">
            <a:extLst>
              <a:ext uri="{FF2B5EF4-FFF2-40B4-BE49-F238E27FC236}">
                <a16:creationId xmlns:a16="http://schemas.microsoft.com/office/drawing/2014/main" id="{EF73C31B-E597-41E0-9D36-9C1A3C061B3C}"/>
              </a:ext>
            </a:extLst>
          </p:cNvPr>
          <p:cNvSpPr>
            <a:spLocks noGrp="1" noRot="1" noChangeAspect="1" noChangeArrowheads="1" noTextEdit="1"/>
          </p:cNvSpPr>
          <p:nvPr>
            <p:ph type="sldImg"/>
          </p:nvPr>
        </p:nvSpPr>
        <p:spPr bwMode="auto">
          <a:xfrm>
            <a:off x="1144588" y="685800"/>
            <a:ext cx="4572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6" name="Rectangle 3">
            <a:extLst>
              <a:ext uri="{FF2B5EF4-FFF2-40B4-BE49-F238E27FC236}">
                <a16:creationId xmlns:a16="http://schemas.microsoft.com/office/drawing/2014/main" id="{258C9B3E-6F98-4493-9C25-8E84E5325455}"/>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55000"/>
              </a:lnSpc>
              <a:spcBef>
                <a:spcPct val="50000"/>
              </a:spcBef>
            </a:pPr>
            <a:endParaRPr lang="en-US" altLang="zh-CN" b="1"/>
          </a:p>
          <a:p>
            <a:pPr eaLnBrk="1" hangingPunct="1">
              <a:spcBef>
                <a:spcPct val="0"/>
              </a:spcBef>
            </a:pPr>
            <a:endParaRPr lang="en-US" altLang="zh-CN"/>
          </a:p>
        </p:txBody>
      </p:sp>
    </p:spTree>
    <p:extLst>
      <p:ext uri="{BB962C8B-B14F-4D97-AF65-F5344CB8AC3E}">
        <p14:creationId xmlns:p14="http://schemas.microsoft.com/office/powerpoint/2010/main" val="1922869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3686DDFA-A598-46FC-BBAC-6011E74D419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48362A40-45CC-4027-B3A2-4C4789B3EEF8}" type="slidenum">
              <a:rPr lang="en-US" altLang="zh-CN" smtClean="0">
                <a:latin typeface="Times New Roman" panose="02020603050405020304" pitchFamily="18" charset="0"/>
              </a:rPr>
              <a:pPr>
                <a:spcBef>
                  <a:spcPct val="0"/>
                </a:spcBef>
              </a:pPr>
              <a:t>5</a:t>
            </a:fld>
            <a:endParaRPr lang="en-US" altLang="zh-CN">
              <a:latin typeface="Times New Roman" panose="02020603050405020304" pitchFamily="18" charset="0"/>
            </a:endParaRPr>
          </a:p>
        </p:txBody>
      </p:sp>
      <p:sp>
        <p:nvSpPr>
          <p:cNvPr id="8195" name="Rectangle 2">
            <a:extLst>
              <a:ext uri="{FF2B5EF4-FFF2-40B4-BE49-F238E27FC236}">
                <a16:creationId xmlns:a16="http://schemas.microsoft.com/office/drawing/2014/main" id="{EF73C31B-E597-41E0-9D36-9C1A3C061B3C}"/>
              </a:ext>
            </a:extLst>
          </p:cNvPr>
          <p:cNvSpPr>
            <a:spLocks noGrp="1" noRot="1" noChangeAspect="1" noChangeArrowheads="1" noTextEdit="1"/>
          </p:cNvSpPr>
          <p:nvPr>
            <p:ph type="sldImg"/>
          </p:nvPr>
        </p:nvSpPr>
        <p:spPr bwMode="auto">
          <a:xfrm>
            <a:off x="1144588" y="685800"/>
            <a:ext cx="4572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6" name="Rectangle 3">
            <a:extLst>
              <a:ext uri="{FF2B5EF4-FFF2-40B4-BE49-F238E27FC236}">
                <a16:creationId xmlns:a16="http://schemas.microsoft.com/office/drawing/2014/main" id="{258C9B3E-6F98-4493-9C25-8E84E5325455}"/>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55000"/>
              </a:lnSpc>
              <a:spcBef>
                <a:spcPct val="50000"/>
              </a:spcBef>
            </a:pPr>
            <a:endParaRPr lang="en-US" altLang="zh-CN" b="1"/>
          </a:p>
          <a:p>
            <a:pPr eaLnBrk="1" hangingPunct="1">
              <a:spcBef>
                <a:spcPct val="0"/>
              </a:spcBef>
            </a:pPr>
            <a:endParaRPr lang="en-US" altLang="zh-CN"/>
          </a:p>
        </p:txBody>
      </p:sp>
    </p:spTree>
    <p:extLst>
      <p:ext uri="{BB962C8B-B14F-4D97-AF65-F5344CB8AC3E}">
        <p14:creationId xmlns:p14="http://schemas.microsoft.com/office/powerpoint/2010/main" val="8139614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a:extLst>
              <a:ext uri="{FF2B5EF4-FFF2-40B4-BE49-F238E27FC236}">
                <a16:creationId xmlns:a16="http://schemas.microsoft.com/office/drawing/2014/main" id="{3EF8F093-3B95-4AAE-B532-32C76A7DAD2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备注占位符 2">
            <a:extLst>
              <a:ext uri="{FF2B5EF4-FFF2-40B4-BE49-F238E27FC236}">
                <a16:creationId xmlns:a16="http://schemas.microsoft.com/office/drawing/2014/main" id="{98A49282-040E-4A9E-BE3C-BAC44A46782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zh-CN" altLang="en-US" dirty="0"/>
              <a:t>补充：考核和评分方式</a:t>
            </a:r>
          </a:p>
        </p:txBody>
      </p:sp>
      <p:sp>
        <p:nvSpPr>
          <p:cNvPr id="10244" name="灯片编号占位符 3">
            <a:extLst>
              <a:ext uri="{FF2B5EF4-FFF2-40B4-BE49-F238E27FC236}">
                <a16:creationId xmlns:a16="http://schemas.microsoft.com/office/drawing/2014/main" id="{73D52AE9-DE31-4D4A-BC1C-153D99D0F9B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CC609B81-E840-44EB-AF2E-CCEDDF1256F4}" type="slidenum">
              <a:rPr lang="en-US" altLang="zh-CN" smtClean="0"/>
              <a:pPr>
                <a:spcBef>
                  <a:spcPct val="0"/>
                </a:spcBef>
              </a:pPr>
              <a:t>6</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8062029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5643136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u="none" dirty="0"/>
              <a:t>EDA</a:t>
            </a:r>
            <a:r>
              <a:rPr lang="zh-CN" altLang="en-US" b="0" i="0" u="none" dirty="0"/>
              <a:t>是一个很宽泛的概念了，电子器件设计的方方面面都会涉及到</a:t>
            </a:r>
            <a:r>
              <a:rPr lang="en-US" altLang="zh-CN" b="0" i="0" u="none" dirty="0"/>
              <a:t>EDA</a:t>
            </a:r>
            <a:r>
              <a:rPr lang="zh-CN" altLang="en-US" b="0" i="0" u="none" dirty="0"/>
              <a:t>，针对到某个特定方向</a:t>
            </a:r>
            <a:r>
              <a:rPr lang="en-US" altLang="zh-CN" b="0" i="0" u="none" dirty="0"/>
              <a:t>EDA</a:t>
            </a:r>
            <a:r>
              <a:rPr lang="zh-CN" altLang="en-US" b="0" i="0" u="none" dirty="0"/>
              <a:t>的范畴可能会有一些不同。具体到我们这门课程中的数字系统设计，可能更多的是利用计算机辅助完成电子系统设计中的逻辑</a:t>
            </a:r>
            <a:r>
              <a:rPr lang="en-US" altLang="zh-CN" b="0" i="0" u="none" dirty="0"/>
              <a:t>…</a:t>
            </a:r>
            <a:endParaRPr lang="zh-CN" altLang="en-US" b="0" i="0" u="none" dirty="0"/>
          </a:p>
        </p:txBody>
      </p:sp>
    </p:spTree>
    <p:extLst>
      <p:ext uri="{BB962C8B-B14F-4D97-AF65-F5344CB8AC3E}">
        <p14:creationId xmlns:p14="http://schemas.microsoft.com/office/powerpoint/2010/main" val="15386827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u="none" dirty="0">
                <a:highlight>
                  <a:srgbClr val="FFFF00"/>
                </a:highlight>
              </a:rPr>
              <a:t>我们所采用的 </a:t>
            </a:r>
            <a:r>
              <a:rPr lang="en-US" altLang="zh-CN" b="0" i="0" u="none" dirty="0">
                <a:highlight>
                  <a:srgbClr val="FFFF00"/>
                </a:highlight>
              </a:rPr>
              <a:t>FPGA</a:t>
            </a:r>
            <a:r>
              <a:rPr lang="zh-CN" altLang="en-US" b="0" i="0" u="none" dirty="0">
                <a:highlight>
                  <a:srgbClr val="FFFF00"/>
                </a:highlight>
              </a:rPr>
              <a:t>开发板，本身实际上是可编程逻辑器件</a:t>
            </a:r>
            <a:r>
              <a:rPr lang="en-US" altLang="zh-CN" b="0" i="0" u="none" dirty="0">
                <a:highlight>
                  <a:srgbClr val="FFFF00"/>
                </a:highlight>
              </a:rPr>
              <a:t>PLD</a:t>
            </a:r>
            <a:r>
              <a:rPr lang="zh-CN" altLang="en-US" b="0" i="0" u="none" dirty="0">
                <a:highlight>
                  <a:srgbClr val="FFFF00"/>
                </a:highlight>
              </a:rPr>
              <a:t>的一种</a:t>
            </a:r>
            <a:endParaRPr lang="en-US" altLang="zh-CN" b="0" i="0" u="none" dirty="0">
              <a:highlight>
                <a:srgbClr val="FFFF00"/>
              </a:highlight>
            </a:endParaRPr>
          </a:p>
          <a:p>
            <a:r>
              <a:rPr lang="en-US" altLang="zh-CN" b="0" i="0" u="none" dirty="0">
                <a:highlight>
                  <a:srgbClr val="FFFF00"/>
                </a:highlight>
              </a:rPr>
              <a:t>SPLD--Simple PLD</a:t>
            </a:r>
            <a:endParaRPr lang="zh-CN" altLang="en-US" b="0" i="0" u="none" dirty="0">
              <a:highlight>
                <a:srgbClr val="FFFF00"/>
              </a:highlight>
            </a:endParaRPr>
          </a:p>
        </p:txBody>
      </p:sp>
    </p:spTree>
    <p:extLst>
      <p:ext uri="{BB962C8B-B14F-4D97-AF65-F5344CB8AC3E}">
        <p14:creationId xmlns:p14="http://schemas.microsoft.com/office/powerpoint/2010/main" val="18691865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PROM--</a:t>
            </a:r>
            <a:r>
              <a:rPr lang="en-US" altLang="zh-CN" b="0" i="0" dirty="0">
                <a:solidFill>
                  <a:srgbClr val="333333"/>
                </a:solidFill>
                <a:effectLst/>
                <a:latin typeface="Arial" panose="020B0604020202020204" pitchFamily="34" charset="0"/>
              </a:rPr>
              <a:t>Programmable read-only memory</a:t>
            </a:r>
          </a:p>
          <a:p>
            <a:r>
              <a:rPr lang="en-US" altLang="zh-CN" b="0" i="0" dirty="0">
                <a:solidFill>
                  <a:srgbClr val="333333"/>
                </a:solidFill>
                <a:effectLst/>
                <a:latin typeface="Arial" panose="020B0604020202020204" pitchFamily="34" charset="0"/>
              </a:rPr>
              <a:t>PLA--</a:t>
            </a:r>
            <a:r>
              <a:rPr lang="en-US" altLang="zh-CN" b="0" i="0" dirty="0">
                <a:solidFill>
                  <a:srgbClr val="000000"/>
                </a:solidFill>
                <a:effectLst/>
                <a:latin typeface="Microsoft YaHei" panose="020B0503020204020204" pitchFamily="34" charset="-122"/>
                <a:ea typeface="Microsoft YaHei" panose="020B0503020204020204" pitchFamily="34" charset="-122"/>
              </a:rPr>
              <a:t>Programmable Logic Array </a:t>
            </a:r>
            <a:r>
              <a:rPr lang="zh-CN" altLang="en-US" b="0" i="0" dirty="0">
                <a:solidFill>
                  <a:srgbClr val="000000"/>
                </a:solidFill>
                <a:effectLst/>
                <a:latin typeface="Microsoft YaHei" panose="020B0503020204020204" pitchFamily="34" charset="-122"/>
                <a:ea typeface="Microsoft YaHei" panose="020B0503020204020204" pitchFamily="34" charset="-122"/>
              </a:rPr>
              <a:t>（可编程与阵列和可编程或阵列构成，阵列规模小，编程繁琐）</a:t>
            </a:r>
            <a:endParaRPr lang="en-US" altLang="zh-CN" b="0" i="0" dirty="0">
              <a:solidFill>
                <a:srgbClr val="333333"/>
              </a:solidFill>
              <a:effectLst/>
              <a:latin typeface="Arial" panose="020B0604020202020204" pitchFamily="34" charset="0"/>
              <a:ea typeface="Microsoft YaHei" panose="020B0503020204020204" pitchFamily="34" charset="-122"/>
            </a:endParaRPr>
          </a:p>
          <a:p>
            <a:r>
              <a:rPr lang="en-US" altLang="zh-CN" b="0" i="0" dirty="0">
                <a:solidFill>
                  <a:srgbClr val="333333"/>
                </a:solidFill>
                <a:effectLst/>
                <a:latin typeface="Arial" panose="020B0604020202020204" pitchFamily="34" charset="0"/>
                <a:ea typeface="Microsoft YaHei" panose="020B0503020204020204" pitchFamily="34" charset="-122"/>
              </a:rPr>
              <a:t>PAL--</a:t>
            </a:r>
            <a:r>
              <a:rPr lang="en-US" altLang="zh-CN" b="0" i="0" dirty="0">
                <a:solidFill>
                  <a:srgbClr val="000000"/>
                </a:solidFill>
                <a:effectLst/>
                <a:latin typeface="Microsoft YaHei" panose="020B0503020204020204" pitchFamily="34" charset="-122"/>
                <a:ea typeface="Microsoft YaHei" panose="020B0503020204020204" pitchFamily="34" charset="-122"/>
              </a:rPr>
              <a:t>Programmable Array Logic </a:t>
            </a:r>
            <a:r>
              <a:rPr lang="zh-CN" altLang="en-US" b="0" i="0" dirty="0">
                <a:solidFill>
                  <a:srgbClr val="000000"/>
                </a:solidFill>
                <a:effectLst/>
                <a:latin typeface="Microsoft YaHei" panose="020B0503020204020204" pitchFamily="34" charset="-122"/>
                <a:ea typeface="Microsoft YaHei" panose="020B0503020204020204" pitchFamily="34" charset="-122"/>
              </a:rPr>
              <a:t>（可编程与阵列和固定或阵列组成，设计灵活快速）</a:t>
            </a:r>
            <a:endParaRPr lang="en-US" altLang="zh-CN" b="0" i="0" dirty="0">
              <a:solidFill>
                <a:srgbClr val="000000"/>
              </a:solidFill>
              <a:effectLst/>
              <a:latin typeface="Microsoft YaHei" panose="020B0503020204020204" pitchFamily="34" charset="-122"/>
              <a:ea typeface="Microsoft YaHei" panose="020B0503020204020204" pitchFamily="34" charset="-122"/>
            </a:endParaRPr>
          </a:p>
          <a:p>
            <a:r>
              <a:rPr lang="en-US" altLang="zh-CN" b="0" i="0" dirty="0">
                <a:solidFill>
                  <a:srgbClr val="000000"/>
                </a:solidFill>
                <a:effectLst/>
                <a:latin typeface="Microsoft YaHei" panose="020B0503020204020204" pitchFamily="34" charset="-122"/>
                <a:ea typeface="Microsoft YaHei" panose="020B0503020204020204" pitchFamily="34" charset="-122"/>
              </a:rPr>
              <a:t>GAL--Generic Array Logic</a:t>
            </a:r>
          </a:p>
          <a:p>
            <a:r>
              <a:rPr lang="en-US" altLang="zh-CN" b="0" i="0" dirty="0">
                <a:solidFill>
                  <a:srgbClr val="000000"/>
                </a:solidFill>
                <a:effectLst/>
                <a:latin typeface="Microsoft YaHei" panose="020B0503020204020204" pitchFamily="34" charset="-122"/>
                <a:ea typeface="Microsoft YaHei" panose="020B0503020204020204" pitchFamily="34" charset="-122"/>
              </a:rPr>
              <a:t>ISP--</a:t>
            </a:r>
            <a:r>
              <a:rPr lang="en-US" altLang="zh-CN" b="0" i="0" dirty="0">
                <a:solidFill>
                  <a:srgbClr val="333333"/>
                </a:solidFill>
                <a:effectLst/>
                <a:latin typeface="Helvetica Neue"/>
              </a:rPr>
              <a:t>In-System Programming</a:t>
            </a:r>
          </a:p>
          <a:p>
            <a:r>
              <a:rPr lang="en-US" altLang="zh-CN" b="0" i="0" dirty="0">
                <a:solidFill>
                  <a:srgbClr val="333333"/>
                </a:solidFill>
                <a:effectLst/>
                <a:latin typeface="Helvetica Neue"/>
              </a:rPr>
              <a:t>SOPC--</a:t>
            </a:r>
            <a:r>
              <a:rPr lang="en-US" altLang="zh-CN" b="0" i="0" dirty="0">
                <a:solidFill>
                  <a:srgbClr val="000000"/>
                </a:solidFill>
                <a:effectLst/>
                <a:latin typeface="Microsoft YaHei" panose="020B0503020204020204" pitchFamily="34" charset="-122"/>
                <a:ea typeface="Microsoft YaHei" panose="020B0503020204020204" pitchFamily="34" charset="-122"/>
              </a:rPr>
              <a:t>System on a Programmable Chip</a:t>
            </a:r>
          </a:p>
          <a:p>
            <a:r>
              <a:rPr lang="zh-CN" altLang="en-US" b="0" i="0" u="sng" dirty="0">
                <a:solidFill>
                  <a:srgbClr val="000000"/>
                </a:solidFill>
                <a:effectLst/>
                <a:latin typeface="Microsoft YaHei" panose="020B0503020204020204" pitchFamily="34" charset="-122"/>
                <a:ea typeface="Microsoft YaHei" panose="020B0503020204020204" pitchFamily="34" charset="-122"/>
              </a:rPr>
              <a:t>规模越来越大，工艺越来越先进，内部架构越来越优化</a:t>
            </a:r>
            <a:endParaRPr lang="zh-CN" altLang="en-US" b="1" i="1" u="sng" dirty="0"/>
          </a:p>
        </p:txBody>
      </p:sp>
    </p:spTree>
    <p:extLst>
      <p:ext uri="{BB962C8B-B14F-4D97-AF65-F5344CB8AC3E}">
        <p14:creationId xmlns:p14="http://schemas.microsoft.com/office/powerpoint/2010/main" val="38897436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fr-FR" altLang="zh-CN" b="0" i="0" dirty="0">
                <a:solidFill>
                  <a:srgbClr val="333333"/>
                </a:solidFill>
                <a:effectLst/>
                <a:latin typeface="Helvetica Neue"/>
              </a:rPr>
              <a:t>SPLD--Simple Programmable Logic Device</a:t>
            </a:r>
            <a:endParaRPr lang="en-US" altLang="zh-CN" dirty="0"/>
          </a:p>
          <a:p>
            <a:r>
              <a:rPr lang="en-US" altLang="zh-CN" dirty="0"/>
              <a:t>SRAM--</a:t>
            </a:r>
            <a:r>
              <a:rPr lang="en-US" altLang="zh-CN" b="0" i="0" dirty="0">
                <a:solidFill>
                  <a:srgbClr val="333333"/>
                </a:solidFill>
                <a:effectLst/>
                <a:latin typeface="Helvetica Neue"/>
              </a:rPr>
              <a:t>Static Random-Access Memory</a:t>
            </a:r>
            <a:endParaRPr lang="zh-CN" altLang="en-US" b="0" dirty="0"/>
          </a:p>
        </p:txBody>
      </p:sp>
    </p:spTree>
    <p:extLst>
      <p:ext uri="{BB962C8B-B14F-4D97-AF65-F5344CB8AC3E}">
        <p14:creationId xmlns:p14="http://schemas.microsoft.com/office/powerpoint/2010/main" val="940066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E</a:t>
            </a:r>
            <a:r>
              <a:rPr lang="en-US" altLang="zh-CN" baseline="30000" dirty="0"/>
              <a:t>2</a:t>
            </a:r>
            <a:r>
              <a:rPr lang="en-US" altLang="zh-CN" dirty="0"/>
              <a:t>PROM(EEPROM)--</a:t>
            </a:r>
            <a:r>
              <a:rPr lang="en-US" altLang="zh-CN" b="0" i="0" dirty="0">
                <a:solidFill>
                  <a:srgbClr val="333333"/>
                </a:solidFill>
                <a:effectLst/>
                <a:latin typeface="Arial" panose="020B0604020202020204" pitchFamily="34" charset="0"/>
              </a:rPr>
              <a:t>Electrically Erasable Programmable read only memory</a:t>
            </a:r>
          </a:p>
          <a:p>
            <a:r>
              <a:rPr lang="zh-CN" altLang="en-US" b="1" i="1" u="sng" dirty="0">
                <a:solidFill>
                  <a:srgbClr val="333333"/>
                </a:solidFill>
                <a:effectLst/>
                <a:latin typeface="Arial" panose="020B0604020202020204" pitchFamily="34" charset="0"/>
              </a:rPr>
              <a:t>了解一下还有哪些场合用到</a:t>
            </a:r>
            <a:r>
              <a:rPr lang="en-US" altLang="zh-CN" b="1" i="1" u="sng" dirty="0">
                <a:solidFill>
                  <a:srgbClr val="333333"/>
                </a:solidFill>
                <a:effectLst/>
                <a:latin typeface="Arial" panose="020B0604020202020204" pitchFamily="34" charset="0"/>
              </a:rPr>
              <a:t>CPLD</a:t>
            </a:r>
            <a:endParaRPr lang="zh-CN" altLang="en-US" b="1" i="1" u="sng" dirty="0"/>
          </a:p>
        </p:txBody>
      </p:sp>
    </p:spTree>
    <p:extLst>
      <p:ext uri="{BB962C8B-B14F-4D97-AF65-F5344CB8AC3E}">
        <p14:creationId xmlns:p14="http://schemas.microsoft.com/office/powerpoint/2010/main" val="13796527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0864945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幻灯片图像占位符 1"/>
          <p:cNvSpPr>
            <a:spLocks noGrp="1" noRot="1" noChangeAspect="1" noTextEdit="1"/>
          </p:cNvSpPr>
          <p:nvPr>
            <p:ph type="sldImg"/>
          </p:nvPr>
        </p:nvSpPr>
        <p:spPr/>
      </p:sp>
      <p:sp>
        <p:nvSpPr>
          <p:cNvPr id="16386" name="备注占位符 2"/>
          <p:cNvSpPr>
            <a:spLocks noGrp="1"/>
          </p:cNvSpPr>
          <p:nvPr>
            <p:ph type="body"/>
          </p:nvPr>
        </p:nvSpPr>
        <p:spPr>
          <a:xfrm>
            <a:off x="666750" y="4716463"/>
            <a:ext cx="5337175" cy="4468812"/>
          </a:xfrm>
        </p:spPr>
        <p:txBody>
          <a:bodyPr wrap="square" lIns="91440" tIns="45720" rIns="91440" bIns="45720" anchor="t" anchorCtr="0"/>
          <a:lstStyle/>
          <a:p>
            <a:pPr lvl="0" eaLnBrk="1" hangingPunct="1">
              <a:spcBef>
                <a:spcPct val="0"/>
              </a:spcBef>
            </a:pPr>
            <a:endParaRPr lang="zh-CN" altLang="en-US" b="1" i="1" u="sng" dirty="0"/>
          </a:p>
        </p:txBody>
      </p:sp>
      <p:sp>
        <p:nvSpPr>
          <p:cNvPr id="16387" name="灯片编号占位符 3"/>
          <p:cNvSpPr txBox="1">
            <a:spLocks noGrp="1"/>
          </p:cNvSpPr>
          <p:nvPr>
            <p:ph type="sldNum" sz="quarter"/>
          </p:nvPr>
        </p:nvSpPr>
        <p:spPr>
          <a:xfrm>
            <a:off x="3778250" y="9431338"/>
            <a:ext cx="2890838" cy="4968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Arial" panose="020B0604020202020204" pitchFamily="34" charset="0"/>
              </a:rPr>
              <a:t>15</a:t>
            </a:fld>
            <a:endParaRPr lang="zh-CN" altLang="en-US" sz="1200" dirty="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复杂的组合逻辑拆解为与</a:t>
            </a:r>
            <a:r>
              <a:rPr lang="en-US" altLang="zh-CN" dirty="0"/>
              <a:t>-</a:t>
            </a:r>
            <a:r>
              <a:rPr lang="zh-CN" altLang="en-US" dirty="0"/>
              <a:t>或两级的结构，第一级可编程的与阵列中，每个与门的输入由实际输入信号和这些信号的非构成，第二级或阵列中，选取相关的与门输出作为输入，进行或运算后输出</a:t>
            </a:r>
          </a:p>
        </p:txBody>
      </p:sp>
    </p:spTree>
    <p:extLst>
      <p:ext uri="{BB962C8B-B14F-4D97-AF65-F5344CB8AC3E}">
        <p14:creationId xmlns:p14="http://schemas.microsoft.com/office/powerpoint/2010/main" val="25489073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1" i="1" u="sng" dirty="0">
              <a:solidFill>
                <a:srgbClr val="C00000"/>
              </a:solidFill>
            </a:endParaRPr>
          </a:p>
        </p:txBody>
      </p:sp>
    </p:spTree>
    <p:extLst>
      <p:ext uri="{BB962C8B-B14F-4D97-AF65-F5344CB8AC3E}">
        <p14:creationId xmlns:p14="http://schemas.microsoft.com/office/powerpoint/2010/main" val="22585284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幻灯片图像占位符 1"/>
          <p:cNvSpPr>
            <a:spLocks noGrp="1" noRot="1" noChangeAspect="1" noTextEdit="1"/>
          </p:cNvSpPr>
          <p:nvPr>
            <p:ph type="sldImg"/>
          </p:nvPr>
        </p:nvSpPr>
        <p:spPr/>
      </p:sp>
      <p:sp>
        <p:nvSpPr>
          <p:cNvPr id="22530" name="备注占位符 2"/>
          <p:cNvSpPr>
            <a:spLocks noGrp="1"/>
          </p:cNvSpPr>
          <p:nvPr>
            <p:ph type="body"/>
          </p:nvPr>
        </p:nvSpPr>
        <p:spPr>
          <a:xfrm>
            <a:off x="666750" y="4716463"/>
            <a:ext cx="5337175" cy="4468812"/>
          </a:xfrm>
        </p:spPr>
        <p:txBody>
          <a:bodyPr wrap="square" lIns="91440" tIns="45720" rIns="91440" bIns="45720" anchor="t" anchorCtr="0"/>
          <a:lstStyle/>
          <a:p>
            <a:pPr lvl="0" eaLnBrk="1" hangingPunct="1">
              <a:spcBef>
                <a:spcPct val="0"/>
              </a:spcBef>
            </a:pPr>
            <a:endParaRPr lang="zh-CN" altLang="en-US" dirty="0"/>
          </a:p>
        </p:txBody>
      </p:sp>
      <p:sp>
        <p:nvSpPr>
          <p:cNvPr id="22531" name="灯片编号占位符 3"/>
          <p:cNvSpPr txBox="1">
            <a:spLocks noGrp="1"/>
          </p:cNvSpPr>
          <p:nvPr>
            <p:ph type="sldNum" sz="quarter"/>
          </p:nvPr>
        </p:nvSpPr>
        <p:spPr>
          <a:xfrm>
            <a:off x="3778250" y="9431338"/>
            <a:ext cx="2890838" cy="4968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Arial" panose="020B0604020202020204" pitchFamily="34" charset="0"/>
              </a:rPr>
              <a:t>18</a:t>
            </a:fld>
            <a:endParaRPr lang="zh-CN" altLang="en-US" sz="1200" dirty="0">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i="1" u="sng" dirty="0"/>
              <a:t>LAB-logic array block </a:t>
            </a:r>
            <a:r>
              <a:rPr lang="zh-CN" altLang="en-US" b="1" i="1" u="sng" dirty="0"/>
              <a:t>可编程逻辑阵列</a:t>
            </a:r>
          </a:p>
        </p:txBody>
      </p:sp>
    </p:spTree>
    <p:extLst>
      <p:ext uri="{BB962C8B-B14F-4D97-AF65-F5344CB8AC3E}">
        <p14:creationId xmlns:p14="http://schemas.microsoft.com/office/powerpoint/2010/main" val="26225311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幻灯片图像占位符 1"/>
          <p:cNvSpPr>
            <a:spLocks noGrp="1" noRot="1" noChangeAspect="1" noTextEdit="1"/>
          </p:cNvSpPr>
          <p:nvPr>
            <p:ph type="sldImg"/>
          </p:nvPr>
        </p:nvSpPr>
        <p:spPr/>
      </p:sp>
      <p:sp>
        <p:nvSpPr>
          <p:cNvPr id="34818" name="备注占位符 2"/>
          <p:cNvSpPr>
            <a:spLocks noGrp="1"/>
          </p:cNvSpPr>
          <p:nvPr>
            <p:ph type="body"/>
          </p:nvPr>
        </p:nvSpPr>
        <p:spPr>
          <a:xfrm>
            <a:off x="666750" y="4716463"/>
            <a:ext cx="5337175" cy="4468812"/>
          </a:xfrm>
        </p:spPr>
        <p:txBody>
          <a:bodyPr wrap="square" lIns="91440" tIns="45720" rIns="91440" bIns="45720" anchor="t" anchorCtr="0"/>
          <a:lstStyle/>
          <a:p>
            <a:pPr lvl="0" eaLnBrk="1" hangingPunct="1">
              <a:spcBef>
                <a:spcPct val="0"/>
              </a:spcBef>
            </a:pPr>
            <a:endParaRPr lang="zh-CN" altLang="en-US" b="1" i="1" u="sng" dirty="0"/>
          </a:p>
        </p:txBody>
      </p:sp>
      <p:sp>
        <p:nvSpPr>
          <p:cNvPr id="34819" name="灯片编号占位符 3"/>
          <p:cNvSpPr txBox="1">
            <a:spLocks noGrp="1"/>
          </p:cNvSpPr>
          <p:nvPr>
            <p:ph type="sldNum" sz="quarter"/>
          </p:nvPr>
        </p:nvSpPr>
        <p:spPr>
          <a:xfrm>
            <a:off x="3778250" y="9431338"/>
            <a:ext cx="2890838" cy="4968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Arial" panose="020B0604020202020204" pitchFamily="34" charset="0"/>
              </a:rPr>
              <a:t>21</a:t>
            </a:fld>
            <a:endParaRPr lang="zh-CN" altLang="en-US" sz="1200" dirty="0">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RAM—Random Access Memory </a:t>
            </a:r>
            <a:r>
              <a:rPr lang="zh-CN" altLang="en-US" dirty="0"/>
              <a:t>随机存取存储器</a:t>
            </a:r>
          </a:p>
        </p:txBody>
      </p:sp>
    </p:spTree>
    <p:extLst>
      <p:ext uri="{BB962C8B-B14F-4D97-AF65-F5344CB8AC3E}">
        <p14:creationId xmlns:p14="http://schemas.microsoft.com/office/powerpoint/2010/main" val="35277257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表中所列实际对应于</a:t>
            </a:r>
            <a:r>
              <a:rPr lang="en-US" altLang="zh-CN" dirty="0"/>
              <a:t>D,C,B,A</a:t>
            </a:r>
            <a:r>
              <a:rPr lang="zh-CN" altLang="en-US" dirty="0"/>
              <a:t>的输入</a:t>
            </a:r>
          </a:p>
        </p:txBody>
      </p:sp>
    </p:spTree>
    <p:extLst>
      <p:ext uri="{BB962C8B-B14F-4D97-AF65-F5344CB8AC3E}">
        <p14:creationId xmlns:p14="http://schemas.microsoft.com/office/powerpoint/2010/main" val="40107694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幻灯片图像占位符 1"/>
          <p:cNvSpPr>
            <a:spLocks noGrp="1" noRot="1" noChangeAspect="1" noTextEdit="1"/>
          </p:cNvSpPr>
          <p:nvPr>
            <p:ph type="sldImg"/>
          </p:nvPr>
        </p:nvSpPr>
        <p:spPr/>
      </p:sp>
      <p:sp>
        <p:nvSpPr>
          <p:cNvPr id="32770" name="备注占位符 2"/>
          <p:cNvSpPr>
            <a:spLocks noGrp="1"/>
          </p:cNvSpPr>
          <p:nvPr>
            <p:ph type="body"/>
          </p:nvPr>
        </p:nvSpPr>
        <p:spPr>
          <a:xfrm>
            <a:off x="666750" y="4716463"/>
            <a:ext cx="5337175" cy="4468812"/>
          </a:xfrm>
        </p:spPr>
        <p:txBody>
          <a:bodyPr wrap="square" lIns="91440" tIns="45720" rIns="91440" bIns="45720" anchor="t" anchorCtr="0"/>
          <a:lstStyle/>
          <a:p>
            <a:pPr lvl="0" eaLnBrk="1" hangingPunct="1">
              <a:spcBef>
                <a:spcPct val="0"/>
              </a:spcBef>
            </a:pPr>
            <a:endParaRPr lang="zh-CN" altLang="en-US" dirty="0"/>
          </a:p>
        </p:txBody>
      </p:sp>
      <p:sp>
        <p:nvSpPr>
          <p:cNvPr id="32771" name="灯片编号占位符 3"/>
          <p:cNvSpPr txBox="1">
            <a:spLocks noGrp="1"/>
          </p:cNvSpPr>
          <p:nvPr>
            <p:ph type="sldNum" sz="quarter"/>
          </p:nvPr>
        </p:nvSpPr>
        <p:spPr>
          <a:xfrm>
            <a:off x="3778250" y="9431338"/>
            <a:ext cx="2890838" cy="4968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Arial" panose="020B0604020202020204" pitchFamily="34" charset="0"/>
              </a:rPr>
              <a:t>25</a:t>
            </a:fld>
            <a:endParaRPr lang="zh-CN" altLang="en-US" sz="1200" dirty="0">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LE-Logic Element</a:t>
            </a:r>
            <a:endParaRPr lang="zh-CN" altLang="en-US" dirty="0"/>
          </a:p>
        </p:txBody>
      </p:sp>
    </p:spTree>
    <p:extLst>
      <p:ext uri="{BB962C8B-B14F-4D97-AF65-F5344CB8AC3E}">
        <p14:creationId xmlns:p14="http://schemas.microsoft.com/office/powerpoint/2010/main" val="5595468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备注占位符 2"/>
          <p:cNvSpPr>
            <a:spLocks noGrp="1"/>
          </p:cNvSpPr>
          <p:nvPr>
            <p:ph type="body"/>
          </p:nvPr>
        </p:nvSpPr>
        <p:spPr>
          <a:xfrm>
            <a:off x="666750" y="4716463"/>
            <a:ext cx="5337175" cy="4468812"/>
          </a:xfrm>
        </p:spPr>
        <p:txBody>
          <a:bodyPr wrap="square" lIns="91440" tIns="45720" rIns="91440" bIns="45720" anchor="t" anchorCtr="0"/>
          <a:lstStyle/>
          <a:p>
            <a:pPr lvl="0" eaLnBrk="1" hangingPunct="1">
              <a:spcBef>
                <a:spcPct val="0"/>
              </a:spcBef>
            </a:pPr>
            <a:endParaRPr lang="zh-CN" altLang="en-US" dirty="0"/>
          </a:p>
        </p:txBody>
      </p:sp>
      <p:sp>
        <p:nvSpPr>
          <p:cNvPr id="43011" name="灯片编号占位符 3"/>
          <p:cNvSpPr txBox="1">
            <a:spLocks noGrp="1"/>
          </p:cNvSpPr>
          <p:nvPr>
            <p:ph type="sldNum" sz="quarter"/>
          </p:nvPr>
        </p:nvSpPr>
        <p:spPr>
          <a:xfrm>
            <a:off x="3778250" y="9431338"/>
            <a:ext cx="2890838" cy="4968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Arial" panose="020B0604020202020204" pitchFamily="34" charset="0"/>
              </a:rPr>
              <a:t>27</a:t>
            </a:fld>
            <a:endParaRPr lang="zh-CN" altLang="en-US" sz="1200" dirty="0">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p:cNvSpPr>
            <a:spLocks noGrp="1" noRot="1" noChangeAspect="1" noTextEdit="1"/>
          </p:cNvSpPr>
          <p:nvPr>
            <p:ph type="sldImg"/>
          </p:nvPr>
        </p:nvSpPr>
        <p:spPr/>
      </p:sp>
      <p:sp>
        <p:nvSpPr>
          <p:cNvPr id="36866" name="备注占位符 2"/>
          <p:cNvSpPr>
            <a:spLocks noGrp="1"/>
          </p:cNvSpPr>
          <p:nvPr>
            <p:ph type="body"/>
          </p:nvPr>
        </p:nvSpPr>
        <p:spPr>
          <a:xfrm>
            <a:off x="666750" y="4716463"/>
            <a:ext cx="5337175" cy="4468812"/>
          </a:xfrm>
        </p:spPr>
        <p:txBody>
          <a:bodyPr wrap="square" lIns="91440" tIns="45720" rIns="91440" bIns="45720" anchor="t" anchorCtr="0"/>
          <a:lstStyle/>
          <a:p>
            <a:pPr lvl="0" eaLnBrk="1" hangingPunct="1">
              <a:spcBef>
                <a:spcPct val="0"/>
              </a:spcBef>
            </a:pPr>
            <a:endParaRPr lang="zh-CN" altLang="en-US" b="1" i="0" u="none" dirty="0"/>
          </a:p>
        </p:txBody>
      </p:sp>
      <p:sp>
        <p:nvSpPr>
          <p:cNvPr id="36867" name="灯片编号占位符 3"/>
          <p:cNvSpPr txBox="1">
            <a:spLocks noGrp="1"/>
          </p:cNvSpPr>
          <p:nvPr>
            <p:ph type="sldNum" sz="quarter"/>
          </p:nvPr>
        </p:nvSpPr>
        <p:spPr>
          <a:xfrm>
            <a:off x="3778250" y="9431338"/>
            <a:ext cx="2890838" cy="4968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Arial" panose="020B0604020202020204" pitchFamily="34" charset="0"/>
              </a:rPr>
              <a:t>28</a:t>
            </a:fld>
            <a:endParaRPr lang="zh-CN" altLang="en-US" sz="1200" dirty="0">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幻灯片图像占位符 1"/>
          <p:cNvSpPr>
            <a:spLocks noGrp="1" noRot="1" noChangeAspect="1" noTextEdit="1"/>
          </p:cNvSpPr>
          <p:nvPr>
            <p:ph type="sldImg"/>
          </p:nvPr>
        </p:nvSpPr>
        <p:spPr/>
      </p:sp>
      <p:sp>
        <p:nvSpPr>
          <p:cNvPr id="47106" name="备注占位符 2"/>
          <p:cNvSpPr>
            <a:spLocks noGrp="1"/>
          </p:cNvSpPr>
          <p:nvPr>
            <p:ph type="body"/>
          </p:nvPr>
        </p:nvSpPr>
        <p:spPr>
          <a:xfrm>
            <a:off x="666750" y="4716463"/>
            <a:ext cx="5337175" cy="4468812"/>
          </a:xfrm>
        </p:spPr>
        <p:txBody>
          <a:bodyPr wrap="square" lIns="91440" tIns="45720" rIns="91440" bIns="45720" anchor="t" anchorCtr="0"/>
          <a:lstStyle/>
          <a:p>
            <a:pPr lvl="0" eaLnBrk="1" hangingPunct="1">
              <a:spcBef>
                <a:spcPct val="0"/>
              </a:spcBef>
            </a:pPr>
            <a:endParaRPr lang="zh-CN" altLang="en-US" b="1" i="1" u="sng" dirty="0"/>
          </a:p>
        </p:txBody>
      </p:sp>
      <p:sp>
        <p:nvSpPr>
          <p:cNvPr id="47107" name="灯片编号占位符 3"/>
          <p:cNvSpPr txBox="1">
            <a:spLocks noGrp="1"/>
          </p:cNvSpPr>
          <p:nvPr>
            <p:ph type="sldNum" sz="quarter"/>
          </p:nvPr>
        </p:nvSpPr>
        <p:spPr>
          <a:xfrm>
            <a:off x="3778250" y="9431338"/>
            <a:ext cx="2890838" cy="4968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Arial" panose="020B0604020202020204" pitchFamily="34" charset="0"/>
              </a:rPr>
              <a:t>29</a:t>
            </a:fld>
            <a:endParaRPr lang="zh-CN" altLang="en-US" sz="1200" dirty="0">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1" i="1" u="sng" dirty="0"/>
          </a:p>
        </p:txBody>
      </p:sp>
    </p:spTree>
    <p:extLst>
      <p:ext uri="{BB962C8B-B14F-4D97-AF65-F5344CB8AC3E}">
        <p14:creationId xmlns:p14="http://schemas.microsoft.com/office/powerpoint/2010/main" val="18853410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都在</a:t>
            </a:r>
            <a:r>
              <a:rPr lang="en-US" altLang="zh-CN" dirty="0"/>
              <a:t>80</a:t>
            </a:r>
            <a:r>
              <a:rPr lang="zh-CN" altLang="en-US" dirty="0"/>
              <a:t>年代被开发出来，正式确立为</a:t>
            </a:r>
            <a:r>
              <a:rPr lang="en-US" altLang="zh-CN" dirty="0"/>
              <a:t>IEEE</a:t>
            </a:r>
            <a:r>
              <a:rPr lang="zh-CN" altLang="en-US" dirty="0"/>
              <a:t>标准的话，</a:t>
            </a:r>
            <a:r>
              <a:rPr lang="en-US" altLang="zh-CN" dirty="0"/>
              <a:t>Verilog</a:t>
            </a:r>
            <a:r>
              <a:rPr lang="zh-CN" altLang="en-US" dirty="0"/>
              <a:t>更晚一些</a:t>
            </a:r>
          </a:p>
        </p:txBody>
      </p:sp>
    </p:spTree>
    <p:extLst>
      <p:ext uri="{BB962C8B-B14F-4D97-AF65-F5344CB8AC3E}">
        <p14:creationId xmlns:p14="http://schemas.microsoft.com/office/powerpoint/2010/main" val="14821160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718548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传统设计</a:t>
            </a:r>
            <a:r>
              <a:rPr lang="en-US" altLang="zh-CN" dirty="0"/>
              <a:t>——</a:t>
            </a:r>
            <a:r>
              <a:rPr lang="zh-CN" altLang="en-US" dirty="0"/>
              <a:t>分立的元件和模块设计搭建一些中小规模的数字系统</a:t>
            </a:r>
          </a:p>
        </p:txBody>
      </p:sp>
    </p:spTree>
    <p:extLst>
      <p:ext uri="{BB962C8B-B14F-4D97-AF65-F5344CB8AC3E}">
        <p14:creationId xmlns:p14="http://schemas.microsoft.com/office/powerpoint/2010/main" val="8057836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340227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数字系统设计的流程一般分为设计输入、设计处理和下载编程这几个步骤，每个步骤完成后相对应的，需要进行仿真和验证</a:t>
            </a:r>
            <a:endParaRPr lang="en-US" altLang="zh-CN" b="1" dirty="0"/>
          </a:p>
          <a:p>
            <a:endParaRPr lang="en-US" altLang="zh-CN" b="1" dirty="0"/>
          </a:p>
          <a:p>
            <a:r>
              <a:rPr lang="zh-CN" altLang="en-US" b="0" dirty="0"/>
              <a:t>设计输入前应该再加一个框图</a:t>
            </a:r>
            <a:r>
              <a:rPr lang="en-US" altLang="zh-CN" b="0" dirty="0"/>
              <a:t>——</a:t>
            </a:r>
            <a:r>
              <a:rPr lang="zh-CN" altLang="en-US" b="0" dirty="0"/>
              <a:t>关于明确设计任务书</a:t>
            </a:r>
          </a:p>
        </p:txBody>
      </p:sp>
    </p:spTree>
    <p:extLst>
      <p:ext uri="{BB962C8B-B14F-4D97-AF65-F5344CB8AC3E}">
        <p14:creationId xmlns:p14="http://schemas.microsoft.com/office/powerpoint/2010/main" val="30463311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7454003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100104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a:t>
            </a:r>
            <a:r>
              <a:rPr lang="en-US" altLang="zh-CN" dirty="0"/>
              <a:t>EDA</a:t>
            </a:r>
            <a:r>
              <a:rPr lang="zh-CN" altLang="en-US" dirty="0"/>
              <a:t>软件自动完成</a:t>
            </a:r>
            <a:endParaRPr lang="en-US" altLang="zh-CN" dirty="0"/>
          </a:p>
          <a:p>
            <a:r>
              <a:rPr lang="zh-CN" altLang="en-US" b="1" i="1" u="sng" dirty="0"/>
              <a:t>网表的概念：</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描述</a:t>
            </a:r>
            <a:r>
              <a:rPr lang="zh-CN" altLang="en-US" sz="1200" b="0" i="0" u="none" strike="noStrike" kern="1200" dirty="0">
                <a:solidFill>
                  <a:schemeClr val="tx1"/>
                </a:solidFill>
                <a:effectLst/>
                <a:latin typeface="Arial" panose="020B0604020202020204" pitchFamily="34" charset="0"/>
                <a:ea typeface="宋体" panose="02010600030101010101" pitchFamily="2" charset="-122"/>
                <a:cs typeface="+mn-cs"/>
                <a:hlinkClick r:id="rId3"/>
              </a:rPr>
              <a:t>电路</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元件相互连接关系的文件，既包含电路所用元件，也包含每个元件之间的连接信息</a:t>
            </a:r>
            <a:endParaRPr lang="en-US" altLang="zh-CN" b="1" i="1" u="sng" dirty="0"/>
          </a:p>
          <a:p>
            <a:r>
              <a:rPr lang="zh-CN" altLang="en-US" b="0" i="0" u="none" dirty="0"/>
              <a:t>综合的过程确定你用</a:t>
            </a:r>
            <a:r>
              <a:rPr lang="en-US" altLang="zh-CN" b="0" i="0" u="none" dirty="0"/>
              <a:t>HDL</a:t>
            </a:r>
            <a:r>
              <a:rPr lang="zh-CN" altLang="en-US" b="0" i="0" u="none" dirty="0"/>
              <a:t>设计描述的数字系统具体是由哪些电路元件构成以及这些元件之间相互的连接关系，相应的元件和电路连接具体怎么实际实现还需要通过器件适配，分配给目标板子上对应的硬件电路资源。</a:t>
            </a:r>
            <a:endParaRPr lang="en-US" altLang="zh-CN" b="0" i="0" u="none" dirty="0"/>
          </a:p>
          <a:p>
            <a:r>
              <a:rPr lang="zh-CN" altLang="en-US" b="0" i="0" u="none" dirty="0"/>
              <a:t>这些步骤现在都是</a:t>
            </a:r>
            <a:r>
              <a:rPr lang="en-US" altLang="zh-CN" b="0" i="0" u="none" dirty="0"/>
              <a:t>EDA</a:t>
            </a:r>
            <a:r>
              <a:rPr lang="zh-CN" altLang="en-US" b="0" i="0" u="none" dirty="0"/>
              <a:t>软件自动完成的</a:t>
            </a:r>
          </a:p>
        </p:txBody>
      </p:sp>
    </p:spTree>
    <p:extLst>
      <p:ext uri="{BB962C8B-B14F-4D97-AF65-F5344CB8AC3E}">
        <p14:creationId xmlns:p14="http://schemas.microsoft.com/office/powerpoint/2010/main" val="10775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OTP—One Time Programmable</a:t>
            </a:r>
            <a:endParaRPr lang="zh-CN" altLang="en-US" dirty="0"/>
          </a:p>
        </p:txBody>
      </p:sp>
    </p:spTree>
    <p:extLst>
      <p:ext uri="{BB962C8B-B14F-4D97-AF65-F5344CB8AC3E}">
        <p14:creationId xmlns:p14="http://schemas.microsoft.com/office/powerpoint/2010/main" val="25521578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1" i="1" u="sng" dirty="0"/>
          </a:p>
        </p:txBody>
      </p:sp>
    </p:spTree>
    <p:extLst>
      <p:ext uri="{BB962C8B-B14F-4D97-AF65-F5344CB8AC3E}">
        <p14:creationId xmlns:p14="http://schemas.microsoft.com/office/powerpoint/2010/main" val="39162233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trike="noStrike" dirty="0"/>
              <a:t>最后我们再给大家简要介绍一下数字系统设计中常用的思路方法</a:t>
            </a:r>
          </a:p>
        </p:txBody>
      </p:sp>
    </p:spTree>
    <p:extLst>
      <p:ext uri="{BB962C8B-B14F-4D97-AF65-F5344CB8AC3E}">
        <p14:creationId xmlns:p14="http://schemas.microsoft.com/office/powerpoint/2010/main" val="19728541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相信大家在以往学习其他语言的编程的过程中对“自顶向下”和“自底向上”的概念都比较熟悉了，我们这门课程中让大家设计的数字系统，它的功能和结构都是通过</a:t>
            </a:r>
            <a:r>
              <a:rPr lang="en-US" altLang="zh-CN" dirty="0"/>
              <a:t>HDL</a:t>
            </a:r>
            <a:r>
              <a:rPr lang="zh-CN" altLang="en-US" dirty="0"/>
              <a:t>语言来描述和构建起来的，</a:t>
            </a:r>
            <a:endParaRPr lang="en-US" altLang="zh-CN" dirty="0"/>
          </a:p>
          <a:p>
            <a:r>
              <a:rPr lang="zh-CN" altLang="en-US" dirty="0"/>
              <a:t>整个设计过程也是一个编程的过程， “自顶向下”和“自底向上”这两种方法也是我们在数字系统设计中最常用到的两种典型的设计方法。具体的话，在我们数字系统的设计中，对于</a:t>
            </a:r>
            <a:r>
              <a:rPr lang="en-US" altLang="zh-CN" dirty="0"/>
              <a:t>…</a:t>
            </a:r>
            <a:endParaRPr lang="zh-CN" altLang="en-US" dirty="0"/>
          </a:p>
        </p:txBody>
      </p:sp>
      <p:sp>
        <p:nvSpPr>
          <p:cNvPr id="4" name="灯片编号占位符 3"/>
          <p:cNvSpPr>
            <a:spLocks noGrp="1"/>
          </p:cNvSpPr>
          <p:nvPr>
            <p:ph type="sldNum" sz="quarter" idx="10"/>
          </p:nvPr>
        </p:nvSpPr>
        <p:spPr/>
        <p:txBody>
          <a:bodyPr/>
          <a:lstStyle/>
          <a:p>
            <a:pPr>
              <a:defRPr/>
            </a:pPr>
            <a:fld id="{1DDEFD4F-7A1F-4673-BBD8-327B8E723133}" type="slidenum">
              <a:rPr lang="en-US" altLang="zh-CN" smtClean="0"/>
              <a:pPr>
                <a:defRPr/>
              </a:pPr>
              <a:t>45</a:t>
            </a:fld>
            <a:endParaRPr lang="en-US" altLang="zh-CN"/>
          </a:p>
        </p:txBody>
      </p:sp>
    </p:spTree>
    <p:extLst>
      <p:ext uri="{BB962C8B-B14F-4D97-AF65-F5344CB8AC3E}">
        <p14:creationId xmlns:p14="http://schemas.microsoft.com/office/powerpoint/2010/main" val="39148070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从最高的系统级开始，从系统的行为，也就是系统所要实现的功能出发，对其进行不断地拆解细化，</a:t>
            </a:r>
          </a:p>
        </p:txBody>
      </p:sp>
    </p:spTree>
    <p:extLst>
      <p:ext uri="{BB962C8B-B14F-4D97-AF65-F5344CB8AC3E}">
        <p14:creationId xmlns:p14="http://schemas.microsoft.com/office/powerpoint/2010/main" val="32368959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与之相对应的，</a:t>
            </a:r>
            <a:r>
              <a:rPr lang="en-US" altLang="zh-CN" dirty="0"/>
              <a:t>…</a:t>
            </a:r>
            <a:endParaRPr lang="zh-CN" altLang="en-US" dirty="0"/>
          </a:p>
        </p:txBody>
      </p:sp>
      <p:sp>
        <p:nvSpPr>
          <p:cNvPr id="4" name="灯片编号占位符 3"/>
          <p:cNvSpPr>
            <a:spLocks noGrp="1"/>
          </p:cNvSpPr>
          <p:nvPr>
            <p:ph type="sldNum" sz="quarter" idx="10"/>
          </p:nvPr>
        </p:nvSpPr>
        <p:spPr/>
        <p:txBody>
          <a:bodyPr/>
          <a:lstStyle/>
          <a:p>
            <a:pPr>
              <a:defRPr/>
            </a:pPr>
            <a:fld id="{1DDEFD4F-7A1F-4673-BBD8-327B8E723133}" type="slidenum">
              <a:rPr lang="en-US" altLang="zh-CN" smtClean="0"/>
              <a:pPr>
                <a:defRPr/>
              </a:pPr>
              <a:t>48</a:t>
            </a:fld>
            <a:endParaRPr lang="en-US" altLang="zh-CN"/>
          </a:p>
        </p:txBody>
      </p:sp>
    </p:spTree>
    <p:extLst>
      <p:ext uri="{BB962C8B-B14F-4D97-AF65-F5344CB8AC3E}">
        <p14:creationId xmlns:p14="http://schemas.microsoft.com/office/powerpoint/2010/main" val="14898823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从比较底层的硬件电路开始，搭建一些可以实现简单功能的基本单元、通用模块，在组合这些单元和模块实现复杂一些的功能，一直向上，</a:t>
            </a:r>
            <a:r>
              <a:rPr lang="en-US" altLang="zh-CN" dirty="0"/>
              <a:t>…</a:t>
            </a:r>
            <a:endParaRPr lang="zh-CN" altLang="en-US" dirty="0"/>
          </a:p>
        </p:txBody>
      </p:sp>
    </p:spTree>
    <p:extLst>
      <p:ext uri="{BB962C8B-B14F-4D97-AF65-F5344CB8AC3E}">
        <p14:creationId xmlns:p14="http://schemas.microsoft.com/office/powerpoint/2010/main" val="25661423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从传统设计和现代设计的角度来看的话，传统设计中多采用的是</a:t>
            </a:r>
          </a:p>
        </p:txBody>
      </p:sp>
    </p:spTree>
    <p:extLst>
      <p:ext uri="{BB962C8B-B14F-4D97-AF65-F5344CB8AC3E}">
        <p14:creationId xmlns:p14="http://schemas.microsoft.com/office/powerpoint/2010/main" val="369567608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4D4D4D"/>
                </a:solidFill>
                <a:effectLst/>
                <a:latin typeface="-apple-system"/>
              </a:rPr>
              <a:t>RTL--Register Transfer Level</a:t>
            </a:r>
            <a:r>
              <a:rPr lang="zh-CN" altLang="en-US" b="0" i="0" dirty="0">
                <a:solidFill>
                  <a:srgbClr val="4D4D4D"/>
                </a:solidFill>
                <a:effectLst/>
                <a:latin typeface="-apple-system"/>
              </a:rPr>
              <a:t> 寄存器传输级</a:t>
            </a:r>
            <a:endParaRPr lang="en-US" altLang="zh-CN" b="0" i="0" dirty="0">
              <a:solidFill>
                <a:srgbClr val="F73131"/>
              </a:solidFill>
              <a:effectLst/>
              <a:latin typeface="Arial" panose="020B0604020202020204" pitchFamily="34" charset="0"/>
            </a:endParaRPr>
          </a:p>
          <a:p>
            <a:r>
              <a:rPr lang="en-US" altLang="zh-CN" b="0" i="0" dirty="0">
                <a:solidFill>
                  <a:srgbClr val="F73131"/>
                </a:solidFill>
                <a:effectLst/>
                <a:latin typeface="Arial" panose="020B0604020202020204" pitchFamily="34" charset="0"/>
              </a:rPr>
              <a:t>ASIC--</a:t>
            </a:r>
            <a:r>
              <a:rPr lang="en-US" altLang="zh-CN" b="0" i="0" dirty="0">
                <a:solidFill>
                  <a:srgbClr val="333333"/>
                </a:solidFill>
                <a:effectLst/>
                <a:latin typeface="Arial" panose="020B0604020202020204" pitchFamily="34" charset="0"/>
              </a:rPr>
              <a:t>Application Specific Integrated Circuits</a:t>
            </a:r>
            <a:endParaRPr lang="zh-CN" altLang="en-US" dirty="0"/>
          </a:p>
        </p:txBody>
      </p:sp>
    </p:spTree>
    <p:extLst>
      <p:ext uri="{BB962C8B-B14F-4D97-AF65-F5344CB8AC3E}">
        <p14:creationId xmlns:p14="http://schemas.microsoft.com/office/powerpoint/2010/main" val="19657161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2C537-9E02-E01C-4D80-79A0F46ADC1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DEB2CED-BDDA-19DB-907D-3E1C9D0024B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164AFC4-41D8-6C3D-5178-31BA17987067}"/>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trike="noStrike" dirty="0"/>
              <a:t>这一部分我们重点给大家介绍一下数字系统设计中层次建模的概念，也是我们这门课程在设计数字系统时用到的最主要的方法</a:t>
            </a:r>
            <a:endParaRPr lang="en-US" altLang="zh-CN" strike="noStrike" dirty="0"/>
          </a:p>
          <a:p>
            <a:r>
              <a:rPr lang="zh-CN" altLang="en-US" dirty="0"/>
              <a:t>一个复杂的数字系统都是由不同层级的多个模块搭建起来的，低级别的模块可能实现一些比较基础功能，层级高一些的模块</a:t>
            </a:r>
            <a:r>
              <a:rPr lang="en-US" altLang="zh-CN" dirty="0"/>
              <a:t>…</a:t>
            </a:r>
            <a:r>
              <a:rPr lang="zh-CN" altLang="en-US" dirty="0"/>
              <a:t>，最终构建起一个完整的数字系统。我们在设计实现这样一个层次分明的数字系统的时候时候，通常用到的两种方法大家也都很熟悉了，第一个就是</a:t>
            </a:r>
            <a:r>
              <a:rPr lang="en-US" altLang="zh-CN" dirty="0"/>
              <a:t>…</a:t>
            </a:r>
            <a:endParaRPr lang="zh-CN" altLang="en-US" dirty="0"/>
          </a:p>
        </p:txBody>
      </p:sp>
      <p:sp>
        <p:nvSpPr>
          <p:cNvPr id="4" name="灯片编号占位符 3">
            <a:extLst>
              <a:ext uri="{FF2B5EF4-FFF2-40B4-BE49-F238E27FC236}">
                <a16:creationId xmlns:a16="http://schemas.microsoft.com/office/drawing/2014/main" id="{A80F4D7E-7647-8544-C618-7D60811C7751}"/>
              </a:ext>
            </a:extLst>
          </p:cNvPr>
          <p:cNvSpPr>
            <a:spLocks noGrp="1"/>
          </p:cNvSpPr>
          <p:nvPr>
            <p:ph type="sldNum" sz="quarter" idx="10"/>
          </p:nvPr>
        </p:nvSpPr>
        <p:spPr/>
        <p:txBody>
          <a:bodyPr/>
          <a:lstStyle/>
          <a:p>
            <a:pPr>
              <a:defRPr/>
            </a:pPr>
            <a:fld id="{1DDEFD4F-7A1F-4673-BBD8-327B8E723133}" type="slidenum">
              <a:rPr lang="en-US" altLang="zh-CN" smtClean="0"/>
              <a:pPr>
                <a:defRPr/>
              </a:pPr>
              <a:t>53</a:t>
            </a:fld>
            <a:endParaRPr lang="en-US" altLang="zh-CN"/>
          </a:p>
        </p:txBody>
      </p:sp>
    </p:spTree>
    <p:extLst>
      <p:ext uri="{BB962C8B-B14F-4D97-AF65-F5344CB8AC3E}">
        <p14:creationId xmlns:p14="http://schemas.microsoft.com/office/powerpoint/2010/main" val="193186995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AC583-E4AD-8696-F970-E13AFC25368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C88577-A15B-24A4-BB5D-0E4C2D56D31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63B79F3-1B7C-61F8-6AF3-2EB4326262AD}"/>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725558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DF2F6-5D6D-48A7-51D6-2536171AC1A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7118D8-0676-A5EE-AEE9-FC1E5312425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4A94BEF-E5D5-3158-37B4-E987C3830E11}"/>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963009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E5247-56FC-0DF4-0B6F-BF5753F63BF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E38274F-F016-A57C-9A40-0240CE8404F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BF09B4-F712-08E0-4999-07AA826A1A82}"/>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5595378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5CC4F-8016-8070-3987-FBED1FE7354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67696B9-4BCF-4F85-B9CF-8B611BC510D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E89EBB4-51BE-EFFC-7993-F8875659FAB8}"/>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06679253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8C7BC-A1D2-445B-0E6D-507542CE828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E3F0EF0-7F22-FC9A-96AB-EA5FAE6E962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3F529E2-72C6-FA91-C0AB-42F3C0CD9D8E}"/>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8333227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这里开始分别介绍模块功能定义的不同方式（如何用结构化描述的方式、如何用数据流描述的方式、如何用行为描述的方式定义一个模块的功能）</a:t>
            </a:r>
            <a:endParaRPr lang="en-US" altLang="zh-CN" dirty="0"/>
          </a:p>
          <a:p>
            <a:r>
              <a:rPr lang="zh-CN" altLang="en-US" dirty="0"/>
              <a:t>相对来说结构化描述方式抽象层次最低，我们用的最少，介绍最简单，后两种则需要着重加以介绍</a:t>
            </a:r>
            <a:endParaRPr lang="en-US" altLang="zh-CN" dirty="0"/>
          </a:p>
        </p:txBody>
      </p:sp>
    </p:spTree>
    <p:extLst>
      <p:ext uri="{BB962C8B-B14F-4D97-AF65-F5344CB8AC3E}">
        <p14:creationId xmlns:p14="http://schemas.microsoft.com/office/powerpoint/2010/main" val="344422557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幻灯片图像占位符 1"/>
          <p:cNvSpPr>
            <a:spLocks noGrp="1" noRot="1" noChangeAspect="1" noTextEdit="1"/>
          </p:cNvSpPr>
          <p:nvPr>
            <p:ph type="sldImg"/>
          </p:nvPr>
        </p:nvSpPr>
        <p:spPr/>
      </p:sp>
      <p:sp>
        <p:nvSpPr>
          <p:cNvPr id="75778" name="文本占位符 2"/>
          <p:cNvSpPr>
            <a:spLocks noGrp="1"/>
          </p:cNvSpPr>
          <p:nvPr>
            <p:ph type="body"/>
          </p:nvPr>
        </p:nvSpPr>
        <p:spPr>
          <a:xfrm>
            <a:off x="666750" y="4716463"/>
            <a:ext cx="5337175" cy="4468812"/>
          </a:xfrm>
        </p:spPr>
        <p:txBody>
          <a:bodyPr wrap="square" lIns="91440" tIns="45720" rIns="91440" bIns="45720" anchor="t"/>
          <a:lstStyle/>
          <a:p>
            <a:pPr lvl="0"/>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84459-F106-403C-064C-5E58BF662F38}"/>
            </a:ext>
          </a:extLst>
        </p:cNvPr>
        <p:cNvGrpSpPr/>
        <p:nvPr/>
      </p:nvGrpSpPr>
      <p:grpSpPr>
        <a:xfrm>
          <a:off x="0" y="0"/>
          <a:ext cx="0" cy="0"/>
          <a:chOff x="0" y="0"/>
          <a:chExt cx="0" cy="0"/>
        </a:xfrm>
      </p:grpSpPr>
      <p:sp>
        <p:nvSpPr>
          <p:cNvPr id="75777" name="幻灯片图像占位符 1">
            <a:extLst>
              <a:ext uri="{FF2B5EF4-FFF2-40B4-BE49-F238E27FC236}">
                <a16:creationId xmlns:a16="http://schemas.microsoft.com/office/drawing/2014/main" id="{B8A5D8DC-FF8C-7287-0179-3F5C4EA28E85}"/>
              </a:ext>
            </a:extLst>
          </p:cNvPr>
          <p:cNvSpPr>
            <a:spLocks noGrp="1" noRot="1" noChangeAspect="1" noTextEdit="1"/>
          </p:cNvSpPr>
          <p:nvPr>
            <p:ph type="sldImg"/>
          </p:nvPr>
        </p:nvSpPr>
        <p:spPr/>
      </p:sp>
      <p:sp>
        <p:nvSpPr>
          <p:cNvPr id="75778" name="文本占位符 2">
            <a:extLst>
              <a:ext uri="{FF2B5EF4-FFF2-40B4-BE49-F238E27FC236}">
                <a16:creationId xmlns:a16="http://schemas.microsoft.com/office/drawing/2014/main" id="{6D85622C-B062-9253-B9B7-0C640C17C86E}"/>
              </a:ext>
            </a:extLst>
          </p:cNvPr>
          <p:cNvSpPr>
            <a:spLocks noGrp="1"/>
          </p:cNvSpPr>
          <p:nvPr>
            <p:ph type="body"/>
          </p:nvPr>
        </p:nvSpPr>
        <p:spPr>
          <a:xfrm>
            <a:off x="666750" y="4716463"/>
            <a:ext cx="5337175" cy="4468812"/>
          </a:xfrm>
        </p:spPr>
        <p:txBody>
          <a:bodyPr wrap="square" lIns="91440" tIns="45720" rIns="91440" bIns="45720" anchor="t"/>
          <a:lstStyle/>
          <a:p>
            <a:pPr lvl="0"/>
            <a:endParaRPr lang="zh-CN" altLang="en-US"/>
          </a:p>
        </p:txBody>
      </p:sp>
    </p:spTree>
    <p:extLst>
      <p:ext uri="{BB962C8B-B14F-4D97-AF65-F5344CB8AC3E}">
        <p14:creationId xmlns:p14="http://schemas.microsoft.com/office/powerpoint/2010/main" val="257706467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96A24-7B50-617F-CECB-A949958512D1}"/>
            </a:ext>
          </a:extLst>
        </p:cNvPr>
        <p:cNvGrpSpPr/>
        <p:nvPr/>
      </p:nvGrpSpPr>
      <p:grpSpPr>
        <a:xfrm>
          <a:off x="0" y="0"/>
          <a:ext cx="0" cy="0"/>
          <a:chOff x="0" y="0"/>
          <a:chExt cx="0" cy="0"/>
        </a:xfrm>
      </p:grpSpPr>
      <p:sp>
        <p:nvSpPr>
          <p:cNvPr id="75777" name="幻灯片图像占位符 1">
            <a:extLst>
              <a:ext uri="{FF2B5EF4-FFF2-40B4-BE49-F238E27FC236}">
                <a16:creationId xmlns:a16="http://schemas.microsoft.com/office/drawing/2014/main" id="{89B244ED-CED5-808D-5DD6-F925590432A4}"/>
              </a:ext>
            </a:extLst>
          </p:cNvPr>
          <p:cNvSpPr>
            <a:spLocks noGrp="1" noRot="1" noChangeAspect="1" noTextEdit="1"/>
          </p:cNvSpPr>
          <p:nvPr>
            <p:ph type="sldImg"/>
          </p:nvPr>
        </p:nvSpPr>
        <p:spPr/>
      </p:sp>
      <p:sp>
        <p:nvSpPr>
          <p:cNvPr id="75778" name="文本占位符 2">
            <a:extLst>
              <a:ext uri="{FF2B5EF4-FFF2-40B4-BE49-F238E27FC236}">
                <a16:creationId xmlns:a16="http://schemas.microsoft.com/office/drawing/2014/main" id="{43595DC1-890C-F542-66B4-B8323DD138EF}"/>
              </a:ext>
            </a:extLst>
          </p:cNvPr>
          <p:cNvSpPr>
            <a:spLocks noGrp="1"/>
          </p:cNvSpPr>
          <p:nvPr>
            <p:ph type="body"/>
          </p:nvPr>
        </p:nvSpPr>
        <p:spPr>
          <a:xfrm>
            <a:off x="666750" y="4716463"/>
            <a:ext cx="5337175" cy="4468812"/>
          </a:xfrm>
        </p:spPr>
        <p:txBody>
          <a:bodyPr wrap="square" lIns="91440" tIns="45720" rIns="91440" bIns="45720" anchor="t"/>
          <a:lstStyle/>
          <a:p>
            <a:pPr lvl="0"/>
            <a:endParaRPr lang="zh-CN" altLang="en-US"/>
          </a:p>
        </p:txBody>
      </p:sp>
    </p:spTree>
    <p:extLst>
      <p:ext uri="{BB962C8B-B14F-4D97-AF65-F5344CB8AC3E}">
        <p14:creationId xmlns:p14="http://schemas.microsoft.com/office/powerpoint/2010/main" val="24460958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EB84C-DC77-09DF-9E85-F89791DCD06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A1B926E-D872-94AA-F35F-8A000DB603B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DB0A6A2-14DC-0E76-6605-74CFEEB2C969}"/>
              </a:ext>
            </a:extLst>
          </p:cNvPr>
          <p:cNvSpPr>
            <a:spLocks noGrp="1"/>
          </p:cNvSpPr>
          <p:nvPr>
            <p:ph type="body" idx="1"/>
          </p:nvPr>
        </p:nvSpPr>
        <p:spPr/>
        <p:txBody>
          <a:bodyPr/>
          <a:lstStyle/>
          <a:p>
            <a:r>
              <a:rPr lang="zh-CN" altLang="en-US" dirty="0"/>
              <a:t>这里开始分别介绍模块功能定义的不同方式（如何用结构化描述的方式、如何用数据流描述的方式、如何用行为描述的方式定义一个模块的功能）</a:t>
            </a:r>
            <a:endParaRPr lang="en-US" altLang="zh-CN" dirty="0"/>
          </a:p>
          <a:p>
            <a:r>
              <a:rPr lang="zh-CN" altLang="en-US" dirty="0"/>
              <a:t>相对来说结构化描述方式抽象层次最低，我们用的最少，介绍最简单，后两种则需要着重加以介绍</a:t>
            </a:r>
            <a:endParaRPr lang="en-US" altLang="zh-CN" dirty="0"/>
          </a:p>
        </p:txBody>
      </p:sp>
    </p:spTree>
    <p:extLst>
      <p:ext uri="{BB962C8B-B14F-4D97-AF65-F5344CB8AC3E}">
        <p14:creationId xmlns:p14="http://schemas.microsoft.com/office/powerpoint/2010/main" val="350723009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F5D7-CD23-7C13-CC12-FF5862608A6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944879E-E34F-BB20-FB97-399E755D847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8709DE8-0BF3-DDD6-ABBE-B80B4B23E6B7}"/>
              </a:ext>
            </a:extLst>
          </p:cNvPr>
          <p:cNvSpPr>
            <a:spLocks noGrp="1"/>
          </p:cNvSpPr>
          <p:nvPr>
            <p:ph type="body" idx="1"/>
          </p:nvPr>
        </p:nvSpPr>
        <p:spPr/>
        <p:txBody>
          <a:bodyPr/>
          <a:lstStyle/>
          <a:p>
            <a:r>
              <a:rPr lang="zh-CN" altLang="en-US" dirty="0"/>
              <a:t>这里开始分别介绍模块功能定义的不同方式（如何用结构化描述的方式、如何用数据流描述的方式、如何用行为描述的方式定义一个模块的功能）</a:t>
            </a:r>
            <a:endParaRPr lang="en-US" altLang="zh-CN" dirty="0"/>
          </a:p>
          <a:p>
            <a:r>
              <a:rPr lang="zh-CN" altLang="en-US" dirty="0"/>
              <a:t>相对来说结构化描述方式抽象层次最低，我们用的最少，介绍最简单，后两种则需要着重加以介绍</a:t>
            </a:r>
            <a:endParaRPr lang="en-US" altLang="zh-CN" dirty="0"/>
          </a:p>
        </p:txBody>
      </p:sp>
    </p:spTree>
    <p:extLst>
      <p:ext uri="{BB962C8B-B14F-4D97-AF65-F5344CB8AC3E}">
        <p14:creationId xmlns:p14="http://schemas.microsoft.com/office/powerpoint/2010/main" val="300117272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5213A-A676-3A16-68E9-C1DCABC360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46B53FC-5933-FD6E-72AE-ADBC9D32F91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F5EB5C3-C200-BEC6-981C-8F87F347CA2D}"/>
              </a:ext>
            </a:extLst>
          </p:cNvPr>
          <p:cNvSpPr>
            <a:spLocks noGrp="1"/>
          </p:cNvSpPr>
          <p:nvPr>
            <p:ph type="body" idx="1"/>
          </p:nvPr>
        </p:nvSpPr>
        <p:spPr/>
        <p:txBody>
          <a:bodyPr/>
          <a:lstStyle/>
          <a:p>
            <a:r>
              <a:rPr lang="zh-CN" altLang="en-US" dirty="0"/>
              <a:t>这里开始分别介绍模块功能定义的不同方式（如何用结构化描述的方式、如何用数据流描述的方式、如何用行为描述的方式定义一个模块的功能）</a:t>
            </a:r>
            <a:endParaRPr lang="en-US" altLang="zh-CN" dirty="0"/>
          </a:p>
          <a:p>
            <a:r>
              <a:rPr lang="zh-CN" altLang="en-US" dirty="0"/>
              <a:t>相对来说结构化描述方式抽象层次最低，我们用的最少，介绍最简单，后两种则需要着重加以介绍</a:t>
            </a:r>
            <a:endParaRPr lang="en-US" altLang="zh-CN" dirty="0"/>
          </a:p>
        </p:txBody>
      </p:sp>
    </p:spTree>
    <p:extLst>
      <p:ext uri="{BB962C8B-B14F-4D97-AF65-F5344CB8AC3E}">
        <p14:creationId xmlns:p14="http://schemas.microsoft.com/office/powerpoint/2010/main" val="49845362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D6BEF-20AA-B4B8-F09D-DA723F9CE4D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D091CF-9552-0DAB-4E54-09B6A790E4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9D05DF4-A28C-2EC4-494C-AC7A75163427}"/>
              </a:ext>
            </a:extLst>
          </p:cNvPr>
          <p:cNvSpPr>
            <a:spLocks noGrp="1"/>
          </p:cNvSpPr>
          <p:nvPr>
            <p:ph type="body" idx="1"/>
          </p:nvPr>
        </p:nvSpPr>
        <p:spPr/>
        <p:txBody>
          <a:bodyPr/>
          <a:lstStyle/>
          <a:p>
            <a:r>
              <a:rPr lang="zh-CN" altLang="en-US" dirty="0"/>
              <a:t>这里开始分别介绍模块功能定义的不同方式（如何用结构化描述的方式、如何用数据流描述的方式、如何用行为描述的方式定义一个模块的功能）</a:t>
            </a:r>
            <a:endParaRPr lang="en-US" altLang="zh-CN" dirty="0"/>
          </a:p>
          <a:p>
            <a:r>
              <a:rPr lang="zh-CN" altLang="en-US" dirty="0"/>
              <a:t>相对来说结构化描述方式抽象层次最低，我们用的最少，介绍最简单，后两种则需要着重加以介绍</a:t>
            </a:r>
            <a:endParaRPr lang="en-US" altLang="zh-CN" dirty="0"/>
          </a:p>
        </p:txBody>
      </p:sp>
    </p:spTree>
    <p:extLst>
      <p:ext uri="{BB962C8B-B14F-4D97-AF65-F5344CB8AC3E}">
        <p14:creationId xmlns:p14="http://schemas.microsoft.com/office/powerpoint/2010/main" val="88168621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EB138-0E53-45C9-947A-AC8A1EB352B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8D91806-76C8-FCD0-8601-FB7BB80210C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6CE1864-F1E4-F559-5977-7AFE7C2F77B9}"/>
              </a:ext>
            </a:extLst>
          </p:cNvPr>
          <p:cNvSpPr>
            <a:spLocks noGrp="1"/>
          </p:cNvSpPr>
          <p:nvPr>
            <p:ph type="body" idx="1"/>
          </p:nvPr>
        </p:nvSpPr>
        <p:spPr/>
        <p:txBody>
          <a:bodyPr/>
          <a:lstStyle/>
          <a:p>
            <a:r>
              <a:rPr lang="zh-CN" altLang="en-US" dirty="0"/>
              <a:t>这里开始分别介绍模块功能定义的不同方式（如何用结构化描述的方式、如何用数据流描述的方式、如何用行为描述的方式定义一个模块的功能）</a:t>
            </a:r>
            <a:endParaRPr lang="en-US" altLang="zh-CN" dirty="0"/>
          </a:p>
          <a:p>
            <a:r>
              <a:rPr lang="zh-CN" altLang="en-US" dirty="0"/>
              <a:t>相对来说结构化描述方式抽象层次最低，我们用的最少，介绍最简单，后两种则需要着重加以介绍</a:t>
            </a:r>
            <a:endParaRPr lang="en-US" altLang="zh-CN" dirty="0"/>
          </a:p>
        </p:txBody>
      </p:sp>
    </p:spTree>
    <p:extLst>
      <p:ext uri="{BB962C8B-B14F-4D97-AF65-F5344CB8AC3E}">
        <p14:creationId xmlns:p14="http://schemas.microsoft.com/office/powerpoint/2010/main" val="365908528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幻灯片图像占位符 1"/>
          <p:cNvSpPr>
            <a:spLocks noGrp="1" noRot="1" noChangeAspect="1" noTextEdit="1"/>
          </p:cNvSpPr>
          <p:nvPr>
            <p:ph type="sldImg"/>
          </p:nvPr>
        </p:nvSpPr>
        <p:spPr/>
      </p:sp>
      <p:sp>
        <p:nvSpPr>
          <p:cNvPr id="77826" name="备注占位符 2"/>
          <p:cNvSpPr>
            <a:spLocks noGrp="1"/>
          </p:cNvSpPr>
          <p:nvPr>
            <p:ph type="body"/>
          </p:nvPr>
        </p:nvSpPr>
        <p:spPr>
          <a:xfrm>
            <a:off x="666750" y="4716463"/>
            <a:ext cx="5337175" cy="4468812"/>
          </a:xfrm>
        </p:spPr>
        <p:txBody>
          <a:bodyPr wrap="square" lIns="91440" tIns="45720" rIns="91440" bIns="45720" anchor="t"/>
          <a:lstStyle/>
          <a:p>
            <a:pPr lvl="0"/>
            <a:endParaRPr lang="zh-CN" altLang="en-US" dirty="0"/>
          </a:p>
        </p:txBody>
      </p:sp>
      <p:sp>
        <p:nvSpPr>
          <p:cNvPr id="77827" name="灯片编号占位符 3"/>
          <p:cNvSpPr>
            <a:spLocks noGrp="1"/>
          </p:cNvSpPr>
          <p:nvPr>
            <p:ph type="sldNum" sz="quarter"/>
          </p:nvPr>
        </p:nvSpPr>
        <p:spPr>
          <a:xfrm>
            <a:off x="3778250" y="9431338"/>
            <a:ext cx="2890838" cy="496887"/>
          </a:xfrm>
          <a:prstGeom prst="rect">
            <a:avLst/>
          </a:prstGeom>
          <a:noFill/>
          <a:ln w="9525">
            <a:noFill/>
          </a:ln>
        </p:spPr>
        <p:txBody>
          <a:bodyPr vert="horz" wrap="square" lIns="91440" tIns="45720" rIns="91440" bIns="45720" anchor="b"/>
          <a:lstStyle/>
          <a:p>
            <a:pPr lvl="0"/>
            <a:fld id="{9A0DB2DC-4C9A-4742-B13C-FB6460FD3503}" type="slidenum">
              <a:rPr lang="zh-CN" altLang="en-US"/>
              <a:t>68</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87EDD-4EFB-73E9-7E65-D7AC7F4B0BC3}"/>
            </a:ext>
          </a:extLst>
        </p:cNvPr>
        <p:cNvGrpSpPr/>
        <p:nvPr/>
      </p:nvGrpSpPr>
      <p:grpSpPr>
        <a:xfrm>
          <a:off x="0" y="0"/>
          <a:ext cx="0" cy="0"/>
          <a:chOff x="0" y="0"/>
          <a:chExt cx="0" cy="0"/>
        </a:xfrm>
      </p:grpSpPr>
      <p:sp>
        <p:nvSpPr>
          <p:cNvPr id="75777" name="幻灯片图像占位符 1">
            <a:extLst>
              <a:ext uri="{FF2B5EF4-FFF2-40B4-BE49-F238E27FC236}">
                <a16:creationId xmlns:a16="http://schemas.microsoft.com/office/drawing/2014/main" id="{3465CA5B-E020-6CFF-FE3B-7C5F00B81FB9}"/>
              </a:ext>
            </a:extLst>
          </p:cNvPr>
          <p:cNvSpPr>
            <a:spLocks noGrp="1" noRot="1" noChangeAspect="1" noTextEdit="1"/>
          </p:cNvSpPr>
          <p:nvPr>
            <p:ph type="sldImg"/>
          </p:nvPr>
        </p:nvSpPr>
        <p:spPr/>
      </p:sp>
      <p:sp>
        <p:nvSpPr>
          <p:cNvPr id="75778" name="文本占位符 2">
            <a:extLst>
              <a:ext uri="{FF2B5EF4-FFF2-40B4-BE49-F238E27FC236}">
                <a16:creationId xmlns:a16="http://schemas.microsoft.com/office/drawing/2014/main" id="{189DE3DC-A966-5C4A-AE76-FA038738000F}"/>
              </a:ext>
            </a:extLst>
          </p:cNvPr>
          <p:cNvSpPr>
            <a:spLocks noGrp="1"/>
          </p:cNvSpPr>
          <p:nvPr>
            <p:ph type="body"/>
          </p:nvPr>
        </p:nvSpPr>
        <p:spPr>
          <a:xfrm>
            <a:off x="666750" y="4716463"/>
            <a:ext cx="5337175" cy="4468812"/>
          </a:xfrm>
        </p:spPr>
        <p:txBody>
          <a:bodyPr wrap="square" lIns="91440" tIns="45720" rIns="91440" bIns="45720" anchor="t"/>
          <a:lstStyle/>
          <a:p>
            <a:pPr lvl="0"/>
            <a:endParaRPr lang="zh-CN" altLang="en-US"/>
          </a:p>
        </p:txBody>
      </p:sp>
    </p:spTree>
    <p:extLst>
      <p:ext uri="{BB962C8B-B14F-4D97-AF65-F5344CB8AC3E}">
        <p14:creationId xmlns:p14="http://schemas.microsoft.com/office/powerpoint/2010/main" val="147905338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幻灯片图像占位符 1"/>
          <p:cNvSpPr>
            <a:spLocks noGrp="1" noRot="1" noChangeAspect="1" noTextEdit="1"/>
          </p:cNvSpPr>
          <p:nvPr>
            <p:ph type="sldImg"/>
          </p:nvPr>
        </p:nvSpPr>
        <p:spPr/>
      </p:sp>
      <p:sp>
        <p:nvSpPr>
          <p:cNvPr id="93186" name="备注占位符 2"/>
          <p:cNvSpPr>
            <a:spLocks noGrp="1"/>
          </p:cNvSpPr>
          <p:nvPr>
            <p:ph type="body"/>
          </p:nvPr>
        </p:nvSpPr>
        <p:spPr>
          <a:xfrm>
            <a:off x="666750" y="4716463"/>
            <a:ext cx="5337175" cy="4468812"/>
          </a:xfrm>
        </p:spPr>
        <p:txBody>
          <a:bodyPr wrap="square" lIns="91440" tIns="45720" rIns="91440" bIns="45720" anchor="t"/>
          <a:lstStyle/>
          <a:p>
            <a:pPr lvl="0"/>
            <a:r>
              <a:rPr lang="zh-CN" altLang="en-US" dirty="0"/>
              <a:t>在模块中也可以采用行为描述方式对设计进行描述。过程语句</a:t>
            </a:r>
            <a:r>
              <a:rPr lang="en-US" altLang="zh-CN" dirty="0"/>
              <a:t>initial</a:t>
            </a:r>
            <a:r>
              <a:rPr lang="zh-CN" altLang="en-US" dirty="0"/>
              <a:t>，只执行一次，通常用于测试文件中，初始化状态，产生输入信号。关键词</a:t>
            </a:r>
            <a:r>
              <a:rPr lang="en-US" altLang="zh-CN" dirty="0"/>
              <a:t>always</a:t>
            </a:r>
            <a:r>
              <a:rPr lang="zh-CN" altLang="en-US" dirty="0"/>
              <a:t>用于重复循环操作，可以测试文件，也可以用于对设计模块的描述，类似与</a:t>
            </a:r>
            <a:r>
              <a:rPr lang="en-US" altLang="zh-CN" dirty="0" err="1"/>
              <a:t>vhdl</a:t>
            </a:r>
            <a:r>
              <a:rPr lang="zh-CN" altLang="en-US" dirty="0"/>
              <a:t>中的进程，关键字后有敏感信号表。</a:t>
            </a:r>
          </a:p>
        </p:txBody>
      </p:sp>
      <p:sp>
        <p:nvSpPr>
          <p:cNvPr id="93187" name="灯片编号占位符 3"/>
          <p:cNvSpPr>
            <a:spLocks noGrp="1"/>
          </p:cNvSpPr>
          <p:nvPr>
            <p:ph type="sldNum" sz="quarter"/>
          </p:nvPr>
        </p:nvSpPr>
        <p:spPr>
          <a:xfrm>
            <a:off x="3778250" y="9431338"/>
            <a:ext cx="2890838" cy="496887"/>
          </a:xfrm>
          <a:prstGeom prst="rect">
            <a:avLst/>
          </a:prstGeom>
          <a:noFill/>
          <a:ln w="9525">
            <a:noFill/>
          </a:ln>
        </p:spPr>
        <p:txBody>
          <a:bodyPr vert="horz" wrap="square" lIns="91440" tIns="45720" rIns="91440" bIns="45720" anchor="b"/>
          <a:lstStyle/>
          <a:p>
            <a:pPr lvl="0"/>
            <a:fld id="{9A0DB2DC-4C9A-4742-B13C-FB6460FD3503}" type="slidenum">
              <a:rPr lang="zh-CN" altLang="en-US"/>
              <a:t>71</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503D9-8AFB-41F5-FA7E-D33D44363FB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C42CF0-31AF-AAC2-B1A4-B9F1BB4EBE5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2146481-2690-24C9-B3A1-05EE923B4735}"/>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47638910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幻灯片图像占位符 1"/>
          <p:cNvSpPr>
            <a:spLocks noGrp="1" noRot="1" noChangeAspect="1" noTextEdit="1"/>
          </p:cNvSpPr>
          <p:nvPr>
            <p:ph type="sldImg"/>
          </p:nvPr>
        </p:nvSpPr>
        <p:spPr/>
      </p:sp>
      <p:sp>
        <p:nvSpPr>
          <p:cNvPr id="142338" name="备注占位符 2"/>
          <p:cNvSpPr>
            <a:spLocks noGrp="1"/>
          </p:cNvSpPr>
          <p:nvPr>
            <p:ph type="body"/>
          </p:nvPr>
        </p:nvSpPr>
        <p:spPr>
          <a:xfrm>
            <a:off x="666750" y="4716463"/>
            <a:ext cx="5337175" cy="4468812"/>
          </a:xfrm>
        </p:spPr>
        <p:txBody>
          <a:bodyPr wrap="square" lIns="91440" tIns="45720" rIns="91440" bIns="45720" anchor="t"/>
          <a:lstStyle/>
          <a:p>
            <a:pPr lvl="0"/>
            <a:r>
              <a:rPr lang="zh-CN" altLang="en-US" dirty="0">
                <a:latin typeface="Calibri" panose="020F0502020204030204" pitchFamily="34" charset="0"/>
              </a:rPr>
              <a:t>在描述完电路之后，我们需要进行对设计的模块进行验证，主要是进行功能验证与性能测试。图中被测模块是通过</a:t>
            </a:r>
            <a:r>
              <a:rPr lang="en-US" altLang="zh-CN" dirty="0">
                <a:latin typeface="Calibri" panose="020F0502020204030204" pitchFamily="34" charset="0"/>
              </a:rPr>
              <a:t>VHDL</a:t>
            </a:r>
            <a:r>
              <a:rPr lang="zh-CN" altLang="en-US" dirty="0">
                <a:latin typeface="Calibri" panose="020F0502020204030204" pitchFamily="34" charset="0"/>
              </a:rPr>
              <a:t>或</a:t>
            </a:r>
            <a:r>
              <a:rPr lang="en-US" altLang="zh-CN" dirty="0">
                <a:latin typeface="Calibri" panose="020F0502020204030204" pitchFamily="34" charset="0"/>
              </a:rPr>
              <a:t>Verilog</a:t>
            </a:r>
            <a:r>
              <a:rPr lang="zh-CN" altLang="en-US" dirty="0">
                <a:latin typeface="Calibri" panose="020F0502020204030204" pitchFamily="34" charset="0"/>
              </a:rPr>
              <a:t>描述的逻辑设计。通过编写</a:t>
            </a:r>
            <a:r>
              <a:rPr lang="zh-CN" altLang="en-US" dirty="0"/>
              <a:t>测试文件，产生激励控制信号，观察与分析输出响应，从而判断和验证被测模块的功能与性能。</a:t>
            </a:r>
          </a:p>
        </p:txBody>
      </p:sp>
      <p:sp>
        <p:nvSpPr>
          <p:cNvPr id="142339" name="灯片编号占位符 3"/>
          <p:cNvSpPr>
            <a:spLocks noGrp="1"/>
          </p:cNvSpPr>
          <p:nvPr>
            <p:ph type="sldNum" sz="quarter"/>
          </p:nvPr>
        </p:nvSpPr>
        <p:spPr>
          <a:xfrm>
            <a:off x="3778250" y="9431338"/>
            <a:ext cx="2890838" cy="496887"/>
          </a:xfrm>
          <a:prstGeom prst="rect">
            <a:avLst/>
          </a:prstGeom>
          <a:noFill/>
          <a:ln w="9525">
            <a:noFill/>
          </a:ln>
        </p:spPr>
        <p:txBody>
          <a:bodyPr vert="horz" wrap="square" lIns="91440" tIns="45720" rIns="91440" bIns="45720" anchor="b"/>
          <a:lstStyle/>
          <a:p>
            <a:pPr lvl="0"/>
            <a:fld id="{9A0DB2DC-4C9A-4742-B13C-FB6460FD3503}" type="slidenum">
              <a:rPr lang="zh-CN" altLang="en-US"/>
              <a:t>75</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幻灯片图像占位符 1"/>
          <p:cNvSpPr>
            <a:spLocks noGrp="1" noRot="1" noChangeAspect="1" noTextEdit="1"/>
          </p:cNvSpPr>
          <p:nvPr>
            <p:ph type="sldImg"/>
          </p:nvPr>
        </p:nvSpPr>
        <p:spPr/>
      </p:sp>
      <p:sp>
        <p:nvSpPr>
          <p:cNvPr id="145410" name="备注占位符 2"/>
          <p:cNvSpPr>
            <a:spLocks noGrp="1"/>
          </p:cNvSpPr>
          <p:nvPr>
            <p:ph type="body"/>
          </p:nvPr>
        </p:nvSpPr>
        <p:spPr>
          <a:xfrm>
            <a:off x="666750" y="4716463"/>
            <a:ext cx="5337175" cy="4468812"/>
          </a:xfrm>
        </p:spPr>
        <p:txBody>
          <a:bodyPr wrap="square" lIns="91440" tIns="45720" rIns="91440" bIns="45720" anchor="t"/>
          <a:lstStyle/>
          <a:p>
            <a:pPr marL="0" lvl="0" indent="0">
              <a:buNone/>
            </a:pPr>
            <a:r>
              <a:rPr lang="zh-CN" altLang="en-US" dirty="0">
                <a:latin typeface="微软雅黑" panose="020B0503020204020204" charset="-122"/>
                <a:ea typeface="微软雅黑" panose="020B0503020204020204" charset="-122"/>
              </a:rPr>
              <a:t>逻辑设计中输入对应 </a:t>
            </a:r>
            <a:r>
              <a:rPr lang="en-US" altLang="zh-CN" dirty="0" err="1">
                <a:latin typeface="微软雅黑" panose="020B0503020204020204" charset="-122"/>
                <a:ea typeface="微软雅黑" panose="020B0503020204020204" charset="-122"/>
              </a:rPr>
              <a:t>reg</a:t>
            </a:r>
            <a:r>
              <a:rPr lang="zh-CN" altLang="en-US" dirty="0">
                <a:latin typeface="微软雅黑" panose="020B0503020204020204" charset="-122"/>
                <a:ea typeface="微软雅黑" panose="020B0503020204020204" charset="-122"/>
              </a:rPr>
              <a:t>型；逻辑设计中输出对应 </a:t>
            </a:r>
            <a:r>
              <a:rPr lang="en-US" altLang="zh-CN" dirty="0">
                <a:latin typeface="微软雅黑" panose="020B0503020204020204" charset="-122"/>
                <a:ea typeface="微软雅黑" panose="020B0503020204020204" charset="-122"/>
              </a:rPr>
              <a:t>wire </a:t>
            </a:r>
            <a:r>
              <a:rPr lang="zh-CN" altLang="en-US" dirty="0">
                <a:latin typeface="微软雅黑" panose="020B0503020204020204" charset="-122"/>
                <a:ea typeface="微软雅黑" panose="020B0503020204020204" charset="-122"/>
              </a:rPr>
              <a:t>型</a:t>
            </a:r>
          </a:p>
          <a:p>
            <a:pPr marL="0" lvl="0" indent="0"/>
            <a:endParaRPr lang="zh-CN" altLang="en-US" dirty="0"/>
          </a:p>
        </p:txBody>
      </p:sp>
      <p:sp>
        <p:nvSpPr>
          <p:cNvPr id="145411" name="灯片编号占位符 3"/>
          <p:cNvSpPr>
            <a:spLocks noGrp="1"/>
          </p:cNvSpPr>
          <p:nvPr>
            <p:ph type="sldNum" sz="quarter"/>
          </p:nvPr>
        </p:nvSpPr>
        <p:spPr>
          <a:xfrm>
            <a:off x="3778250" y="9431338"/>
            <a:ext cx="2890838" cy="496887"/>
          </a:xfrm>
          <a:prstGeom prst="rect">
            <a:avLst/>
          </a:prstGeom>
          <a:noFill/>
          <a:ln w="9525">
            <a:noFill/>
          </a:ln>
        </p:spPr>
        <p:txBody>
          <a:bodyPr vert="horz" wrap="square" lIns="91440" tIns="45720" rIns="91440" bIns="45720" anchor="b"/>
          <a:lstStyle/>
          <a:p>
            <a:pPr lvl="0"/>
            <a:fld id="{9A0DB2DC-4C9A-4742-B13C-FB6460FD3503}" type="slidenum">
              <a:rPr lang="zh-CN" altLang="en-US"/>
              <a:t>77</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幻灯片图像占位符 1"/>
          <p:cNvSpPr>
            <a:spLocks noGrp="1" noRot="1" noChangeAspect="1" noTextEdit="1"/>
          </p:cNvSpPr>
          <p:nvPr>
            <p:ph type="sldImg"/>
          </p:nvPr>
        </p:nvSpPr>
        <p:spPr/>
      </p:sp>
      <p:sp>
        <p:nvSpPr>
          <p:cNvPr id="149506" name="备注占位符 2"/>
          <p:cNvSpPr>
            <a:spLocks noGrp="1"/>
          </p:cNvSpPr>
          <p:nvPr>
            <p:ph type="body"/>
          </p:nvPr>
        </p:nvSpPr>
        <p:spPr>
          <a:xfrm>
            <a:off x="666750" y="4716463"/>
            <a:ext cx="5337175" cy="4468812"/>
          </a:xfrm>
        </p:spPr>
        <p:txBody>
          <a:bodyPr wrap="square" lIns="91440" tIns="45720" rIns="91440" bIns="45720" anchor="t"/>
          <a:lstStyle/>
          <a:p>
            <a:pPr lvl="0"/>
            <a:r>
              <a:rPr lang="zh-CN" altLang="en-US" dirty="0"/>
              <a:t>并行激励模块常常被用来为测试文件提供必要的激励。有两种不同的方法来实现并行的激励：一种是绝对时间激励，另一种是相对时间激励。</a:t>
            </a:r>
            <a:endParaRPr lang="en-US" altLang="zh-CN" dirty="0"/>
          </a:p>
          <a:p>
            <a:pPr lvl="0"/>
            <a:r>
              <a:rPr lang="zh-CN" altLang="en-US" dirty="0"/>
              <a:t>在绝对时间激励中，所有的仿真时间值都是相对仿真时间零点定义的。而在相对时间激励中，一般会提供初始化值，然后等待事件来触发激励向量。两种方法可以根据设计者的需要在同一个测试文件中使用。</a:t>
            </a:r>
            <a:endParaRPr lang="en-US" altLang="zh-CN" dirty="0"/>
          </a:p>
          <a:p>
            <a:pPr lvl="0"/>
            <a:endParaRPr lang="zh-CN" altLang="en-US" dirty="0"/>
          </a:p>
        </p:txBody>
      </p:sp>
      <p:sp>
        <p:nvSpPr>
          <p:cNvPr id="149507" name="灯片编号占位符 3"/>
          <p:cNvSpPr>
            <a:spLocks noGrp="1"/>
          </p:cNvSpPr>
          <p:nvPr>
            <p:ph type="sldNum" sz="quarter"/>
          </p:nvPr>
        </p:nvSpPr>
        <p:spPr>
          <a:xfrm>
            <a:off x="3778250" y="9431338"/>
            <a:ext cx="2890838" cy="496887"/>
          </a:xfrm>
          <a:prstGeom prst="rect">
            <a:avLst/>
          </a:prstGeom>
          <a:noFill/>
          <a:ln w="9525">
            <a:noFill/>
          </a:ln>
        </p:spPr>
        <p:txBody>
          <a:bodyPr vert="horz" wrap="square" lIns="91440" tIns="45720" rIns="91440" bIns="45720" anchor="b"/>
          <a:lstStyle/>
          <a:p>
            <a:pPr lvl="0"/>
            <a:fld id="{9A0DB2DC-4C9A-4742-B13C-FB6460FD3503}" type="slidenum">
              <a:rPr lang="zh-CN" altLang="en-US"/>
              <a:t>80</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幻灯片图像占位符 1"/>
          <p:cNvSpPr>
            <a:spLocks noGrp="1" noRot="1" noChangeAspect="1" noTextEdit="1"/>
          </p:cNvSpPr>
          <p:nvPr>
            <p:ph type="sldImg"/>
          </p:nvPr>
        </p:nvSpPr>
        <p:spPr/>
      </p:sp>
      <p:sp>
        <p:nvSpPr>
          <p:cNvPr id="154626" name="备注占位符 2"/>
          <p:cNvSpPr>
            <a:spLocks noGrp="1"/>
          </p:cNvSpPr>
          <p:nvPr>
            <p:ph type="body"/>
          </p:nvPr>
        </p:nvSpPr>
        <p:spPr>
          <a:xfrm>
            <a:off x="666750" y="4716463"/>
            <a:ext cx="5337175" cy="4468812"/>
          </a:xfrm>
        </p:spPr>
        <p:txBody>
          <a:bodyPr wrap="square" lIns="91440" tIns="45720" rIns="91440" bIns="45720" anchor="t"/>
          <a:lstStyle/>
          <a:p>
            <a:pPr lvl="0"/>
            <a:r>
              <a:rPr lang="en-US" altLang="zh-CN" dirty="0"/>
              <a:t>timescale</a:t>
            </a:r>
            <a:r>
              <a:rPr lang="zh-CN" altLang="en-US" dirty="0"/>
              <a:t>语句用于定义测试文件的单位时间，同时也对仿真的精度有影响。</a:t>
            </a:r>
          </a:p>
        </p:txBody>
      </p:sp>
      <p:sp>
        <p:nvSpPr>
          <p:cNvPr id="154627" name="灯片编号占位符 3"/>
          <p:cNvSpPr>
            <a:spLocks noGrp="1"/>
          </p:cNvSpPr>
          <p:nvPr>
            <p:ph type="sldNum" sz="quarter"/>
          </p:nvPr>
        </p:nvSpPr>
        <p:spPr>
          <a:xfrm>
            <a:off x="3778250" y="9431338"/>
            <a:ext cx="2890838" cy="496887"/>
          </a:xfrm>
          <a:prstGeom prst="rect">
            <a:avLst/>
          </a:prstGeom>
          <a:noFill/>
          <a:ln w="9525">
            <a:noFill/>
          </a:ln>
        </p:spPr>
        <p:txBody>
          <a:bodyPr vert="horz" wrap="square" lIns="91440" tIns="45720" rIns="91440" bIns="45720" anchor="b"/>
          <a:lstStyle/>
          <a:p>
            <a:pPr lvl="0"/>
            <a:fld id="{9A0DB2DC-4C9A-4742-B13C-FB6460FD3503}" type="slidenum">
              <a:rPr lang="zh-CN" altLang="en-US"/>
              <a:t>84</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B8716-9507-B1E4-B5E6-33A8375E9EE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7DD4389-080B-2053-33D9-5CC9C6A559D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622E52F-1F23-9016-313F-576C58FC2565}"/>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14862116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0DA32-13F5-AA48-11F4-AD8EF3C4EAF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7AA4FD-4544-25F9-E44A-7A549D4331B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E410B96-4A91-1C4A-58F7-90DB14CA359E}"/>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6874378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2050" name="Picture 4" descr="XIAOBIAO1"/>
          <p:cNvPicPr>
            <a:picLocks noChangeAspect="1"/>
          </p:cNvPicPr>
          <p:nvPr/>
        </p:nvPicPr>
        <p:blipFill>
          <a:blip r:embed="rId2"/>
          <a:stretch>
            <a:fillRect/>
          </a:stretch>
        </p:blipFill>
        <p:spPr>
          <a:xfrm>
            <a:off x="3810000" y="304800"/>
            <a:ext cx="1524000" cy="1498600"/>
          </a:xfrm>
          <a:prstGeom prst="rect">
            <a:avLst/>
          </a:prstGeom>
          <a:noFill/>
          <a:ln w="9525">
            <a:noFill/>
          </a:ln>
        </p:spPr>
      </p:pic>
      <p:grpSp>
        <p:nvGrpSpPr>
          <p:cNvPr id="2051" name="Group 5"/>
          <p:cNvGrpSpPr/>
          <p:nvPr/>
        </p:nvGrpSpPr>
        <p:grpSpPr>
          <a:xfrm>
            <a:off x="47625" y="0"/>
            <a:ext cx="990600" cy="6781800"/>
            <a:chOff x="96" y="0"/>
            <a:chExt cx="624" cy="4272"/>
          </a:xfrm>
        </p:grpSpPr>
        <p:sp>
          <p:nvSpPr>
            <p:cNvPr id="18" name="Rectangle 6"/>
            <p:cNvSpPr>
              <a:spLocks noChangeArrowheads="1"/>
            </p:cNvSpPr>
            <p:nvPr/>
          </p:nvSpPr>
          <p:spPr bwMode="auto">
            <a:xfrm>
              <a:off x="96" y="0"/>
              <a:ext cx="624" cy="4272"/>
            </a:xfrm>
            <a:prstGeom prst="rect">
              <a:avLst/>
            </a:prstGeom>
            <a:gradFill rotWithShape="0">
              <a:gsLst>
                <a:gs pos="0">
                  <a:srgbClr val="EAD372"/>
                </a:gs>
                <a:gs pos="50000">
                  <a:srgbClr val="FFFFCC"/>
                </a:gs>
                <a:gs pos="100000">
                  <a:srgbClr val="EAD372"/>
                </a:gs>
              </a:gsLst>
              <a:lin ang="27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nvGrpSpPr>
            <p:cNvPr id="2053" name="Group 7"/>
            <p:cNvGrpSpPr/>
            <p:nvPr userDrawn="1"/>
          </p:nvGrpSpPr>
          <p:grpSpPr>
            <a:xfrm>
              <a:off x="264" y="336"/>
              <a:ext cx="288" cy="3648"/>
              <a:chOff x="336" y="144"/>
              <a:chExt cx="288" cy="3648"/>
            </a:xfrm>
          </p:grpSpPr>
          <p:sp>
            <p:nvSpPr>
              <p:cNvPr id="20" name="Rectangle 8"/>
              <p:cNvSpPr>
                <a:spLocks noChangeArrowheads="1"/>
              </p:cNvSpPr>
              <p:nvPr/>
            </p:nvSpPr>
            <p:spPr bwMode="auto">
              <a:xfrm>
                <a:off x="576" y="144"/>
                <a:ext cx="48" cy="3264"/>
              </a:xfrm>
              <a:prstGeom prst="rect">
                <a:avLst/>
              </a:prstGeom>
              <a:gradFill rotWithShape="0">
                <a:gsLst>
                  <a:gs pos="0">
                    <a:srgbClr val="EAD372"/>
                  </a:gs>
                  <a:gs pos="50000">
                    <a:srgbClr val="FFFFCC"/>
                  </a:gs>
                  <a:gs pos="100000">
                    <a:srgbClr val="EAD372"/>
                  </a:gs>
                </a:gsLst>
                <a:lin ang="27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1" name="Rectangle 9"/>
              <p:cNvSpPr>
                <a:spLocks noChangeArrowheads="1"/>
              </p:cNvSpPr>
              <p:nvPr/>
            </p:nvSpPr>
            <p:spPr bwMode="auto">
              <a:xfrm>
                <a:off x="336" y="528"/>
                <a:ext cx="48" cy="3264"/>
              </a:xfrm>
              <a:prstGeom prst="rect">
                <a:avLst/>
              </a:prstGeom>
              <a:gradFill rotWithShape="0">
                <a:gsLst>
                  <a:gs pos="0">
                    <a:srgbClr val="EAD372"/>
                  </a:gs>
                  <a:gs pos="50000">
                    <a:srgbClr val="FFFFCC"/>
                  </a:gs>
                  <a:gs pos="100000">
                    <a:srgbClr val="EAD372"/>
                  </a:gs>
                </a:gsLst>
                <a:lin ang="27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2" name="Rectangle 10"/>
              <p:cNvSpPr>
                <a:spLocks noChangeArrowheads="1"/>
              </p:cNvSpPr>
              <p:nvPr/>
            </p:nvSpPr>
            <p:spPr bwMode="auto">
              <a:xfrm>
                <a:off x="456" y="336"/>
                <a:ext cx="48" cy="3264"/>
              </a:xfrm>
              <a:prstGeom prst="rect">
                <a:avLst/>
              </a:prstGeom>
              <a:gradFill rotWithShape="0">
                <a:gsLst>
                  <a:gs pos="0">
                    <a:srgbClr val="EAD372"/>
                  </a:gs>
                  <a:gs pos="50000">
                    <a:srgbClr val="FFFFCC"/>
                  </a:gs>
                  <a:gs pos="100000">
                    <a:srgbClr val="EAD372"/>
                  </a:gs>
                </a:gsLst>
                <a:lin ang="27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grpSp>
      <p:sp>
        <p:nvSpPr>
          <p:cNvPr id="23" name="Rectangle 11"/>
          <p:cNvSpPr>
            <a:spLocks noChangeArrowheads="1"/>
          </p:cNvSpPr>
          <p:nvPr/>
        </p:nvSpPr>
        <p:spPr bwMode="auto">
          <a:xfrm>
            <a:off x="1768475" y="1035050"/>
            <a:ext cx="1889125" cy="101600"/>
          </a:xfrm>
          <a:prstGeom prst="rect">
            <a:avLst/>
          </a:prstGeom>
          <a:gradFill rotWithShape="0">
            <a:gsLst>
              <a:gs pos="0">
                <a:schemeClr val="bg1"/>
              </a:gs>
              <a:gs pos="100000">
                <a:schemeClr val="accent1"/>
              </a:gs>
            </a:gsLst>
            <a:lin ang="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4" name="Rectangle 12"/>
          <p:cNvSpPr>
            <a:spLocks noChangeArrowheads="1"/>
          </p:cNvSpPr>
          <p:nvPr/>
        </p:nvSpPr>
        <p:spPr bwMode="auto">
          <a:xfrm>
            <a:off x="5568950" y="1035050"/>
            <a:ext cx="1889125" cy="101600"/>
          </a:xfrm>
          <a:prstGeom prst="rect">
            <a:avLst/>
          </a:prstGeom>
          <a:gradFill rotWithShape="0">
            <a:gsLst>
              <a:gs pos="0">
                <a:schemeClr val="accent1"/>
              </a:gs>
              <a:gs pos="100000">
                <a:schemeClr val="bg1"/>
              </a:gs>
            </a:gsLst>
            <a:lin ang="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nvGrpSpPr>
          <p:cNvPr id="2059" name="Group 13"/>
          <p:cNvGrpSpPr/>
          <p:nvPr/>
        </p:nvGrpSpPr>
        <p:grpSpPr>
          <a:xfrm flipH="1">
            <a:off x="8077200" y="0"/>
            <a:ext cx="990600" cy="6781800"/>
            <a:chOff x="96" y="0"/>
            <a:chExt cx="624" cy="4272"/>
          </a:xfrm>
        </p:grpSpPr>
        <p:sp>
          <p:nvSpPr>
            <p:cNvPr id="26" name="Rectangle 14"/>
            <p:cNvSpPr>
              <a:spLocks noChangeArrowheads="1"/>
            </p:cNvSpPr>
            <p:nvPr/>
          </p:nvSpPr>
          <p:spPr bwMode="auto">
            <a:xfrm>
              <a:off x="96" y="0"/>
              <a:ext cx="624" cy="4272"/>
            </a:xfrm>
            <a:prstGeom prst="rect">
              <a:avLst/>
            </a:prstGeom>
            <a:gradFill rotWithShape="0">
              <a:gsLst>
                <a:gs pos="0">
                  <a:srgbClr val="EAD372"/>
                </a:gs>
                <a:gs pos="50000">
                  <a:srgbClr val="FFFFCC"/>
                </a:gs>
                <a:gs pos="100000">
                  <a:srgbClr val="EAD372"/>
                </a:gs>
              </a:gsLst>
              <a:lin ang="27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nvGrpSpPr>
            <p:cNvPr id="2061" name="Group 15"/>
            <p:cNvGrpSpPr/>
            <p:nvPr userDrawn="1"/>
          </p:nvGrpSpPr>
          <p:grpSpPr>
            <a:xfrm>
              <a:off x="264" y="336"/>
              <a:ext cx="288" cy="3648"/>
              <a:chOff x="336" y="144"/>
              <a:chExt cx="288" cy="3648"/>
            </a:xfrm>
          </p:grpSpPr>
          <p:sp>
            <p:nvSpPr>
              <p:cNvPr id="28" name="Rectangle 16"/>
              <p:cNvSpPr>
                <a:spLocks noChangeArrowheads="1"/>
              </p:cNvSpPr>
              <p:nvPr/>
            </p:nvSpPr>
            <p:spPr bwMode="auto">
              <a:xfrm>
                <a:off x="576" y="144"/>
                <a:ext cx="48" cy="3264"/>
              </a:xfrm>
              <a:prstGeom prst="rect">
                <a:avLst/>
              </a:prstGeom>
              <a:gradFill rotWithShape="0">
                <a:gsLst>
                  <a:gs pos="0">
                    <a:srgbClr val="EAD372"/>
                  </a:gs>
                  <a:gs pos="50000">
                    <a:srgbClr val="FFFFCC"/>
                  </a:gs>
                  <a:gs pos="100000">
                    <a:srgbClr val="EAD372"/>
                  </a:gs>
                </a:gsLst>
                <a:lin ang="27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9" name="Rectangle 17"/>
              <p:cNvSpPr>
                <a:spLocks noChangeArrowheads="1"/>
              </p:cNvSpPr>
              <p:nvPr/>
            </p:nvSpPr>
            <p:spPr bwMode="auto">
              <a:xfrm>
                <a:off x="336" y="528"/>
                <a:ext cx="48" cy="3264"/>
              </a:xfrm>
              <a:prstGeom prst="rect">
                <a:avLst/>
              </a:prstGeom>
              <a:gradFill rotWithShape="0">
                <a:gsLst>
                  <a:gs pos="0">
                    <a:srgbClr val="EAD372"/>
                  </a:gs>
                  <a:gs pos="50000">
                    <a:srgbClr val="FFFFCC"/>
                  </a:gs>
                  <a:gs pos="100000">
                    <a:srgbClr val="EAD372"/>
                  </a:gs>
                </a:gsLst>
                <a:lin ang="27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 name="Rectangle 18"/>
              <p:cNvSpPr>
                <a:spLocks noChangeArrowheads="1"/>
              </p:cNvSpPr>
              <p:nvPr/>
            </p:nvSpPr>
            <p:spPr bwMode="auto">
              <a:xfrm>
                <a:off x="456" y="336"/>
                <a:ext cx="48" cy="3264"/>
              </a:xfrm>
              <a:prstGeom prst="rect">
                <a:avLst/>
              </a:prstGeom>
              <a:gradFill rotWithShape="0">
                <a:gsLst>
                  <a:gs pos="0">
                    <a:srgbClr val="EAD372"/>
                  </a:gs>
                  <a:gs pos="50000">
                    <a:srgbClr val="FFFFCC"/>
                  </a:gs>
                  <a:gs pos="100000">
                    <a:srgbClr val="EAD372"/>
                  </a:gs>
                </a:gsLst>
                <a:lin ang="27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grpSp>
      <p:sp>
        <p:nvSpPr>
          <p:cNvPr id="5122" name="Rectangle 2"/>
          <p:cNvSpPr>
            <a:spLocks noGrp="1" noChangeArrowheads="1"/>
          </p:cNvSpPr>
          <p:nvPr>
            <p:ph type="ctrTitle"/>
          </p:nvPr>
        </p:nvSpPr>
        <p:spPr>
          <a:xfrm>
            <a:off x="990600" y="1905000"/>
            <a:ext cx="7162800" cy="1295400"/>
          </a:xfrm>
        </p:spPr>
        <p:txBody>
          <a:bodyPr/>
          <a:lstStyle>
            <a:lvl1pPr>
              <a:defRPr sz="4800">
                <a:latin typeface="Arial" panose="020B0604020202020204" pitchFamily="34" charset="0"/>
              </a:defRPr>
            </a:lvl1pPr>
          </a:lstStyle>
          <a:p>
            <a:pPr fontAlgn="base"/>
            <a:r>
              <a:rPr lang="zh-CN" altLang="en-US" strike="noStrike" noProof="1"/>
              <a:t>单击此处编辑母版标题样式</a:t>
            </a:r>
          </a:p>
        </p:txBody>
      </p:sp>
      <p:sp>
        <p:nvSpPr>
          <p:cNvPr id="5123" name="Rectangle 3" descr="Rectangle: Click to edit Master text styles&#10;Second level&#10;Third level&#10;Fourth level&#10;Fifth level"/>
          <p:cNvSpPr>
            <a:spLocks noGrp="1" noChangeArrowheads="1"/>
          </p:cNvSpPr>
          <p:nvPr>
            <p:ph type="subTitle" idx="1"/>
          </p:nvPr>
        </p:nvSpPr>
        <p:spPr>
          <a:xfrm>
            <a:off x="1371600" y="3505200"/>
            <a:ext cx="6400800" cy="2057400"/>
          </a:xfrm>
        </p:spPr>
        <p:txBody>
          <a:bodyPr/>
          <a:lstStyle>
            <a:lvl1pPr marL="0" indent="0" algn="ctr">
              <a:buFont typeface="Wingdings" panose="05000000000000000000" pitchFamily="2" charset="2"/>
              <a:buNone/>
              <a:defRPr b="1">
                <a:solidFill>
                  <a:schemeClr val="tx1"/>
                </a:solidFill>
              </a:defRPr>
            </a:lvl1pPr>
          </a:lstStyle>
          <a:p>
            <a:pPr fontAlgn="base"/>
            <a:r>
              <a:rPr lang="zh-CN" altLang="en-US" strike="noStrike" noProof="1"/>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r>
              <a:rPr lang="en-US" altLang="zh-CN" strike="noStrike" noProof="1">
                <a:latin typeface="Tahoma" panose="020B0604030504040204" pitchFamily="34" charset="0"/>
                <a:ea typeface="宋体" panose="02010600030101010101" pitchFamily="2" charset="-122"/>
                <a:cs typeface="+mn-cs"/>
              </a:rPr>
              <a:t>Slide: </a:t>
            </a:r>
            <a:fld id="{9A0DB2DC-4C9A-4742-B13C-FB6460FD3503}" type="slidenum">
              <a:rPr lang="en-US" altLang="zh-CN" sz="1400" strike="noStrike" noProof="1" dirty="0">
                <a:latin typeface="Tahoma" panose="020B0604030504040204" pitchFamily="34" charset="0"/>
                <a:ea typeface="宋体" panose="02010600030101010101" pitchFamily="2" charset="-122"/>
                <a:cs typeface="+mn-cs"/>
              </a:rPr>
              <a:t>‹#›</a:t>
            </a:fld>
            <a:endParaRPr lang="en-US" altLang="zh-CN" sz="1400" strike="noStrike" noProof="1">
              <a:latin typeface="Tahoma"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r>
              <a:rPr lang="en-US" altLang="zh-CN" strike="noStrike" noProof="1">
                <a:latin typeface="Tahoma" panose="020B0604030504040204" pitchFamily="34" charset="0"/>
                <a:ea typeface="宋体" panose="02010600030101010101" pitchFamily="2" charset="-122"/>
                <a:cs typeface="+mn-cs"/>
              </a:rPr>
              <a:t>Slide: </a:t>
            </a:r>
            <a:fld id="{9A0DB2DC-4C9A-4742-B13C-FB6460FD3503}" type="slidenum">
              <a:rPr lang="en-US" altLang="zh-CN" sz="1400" strike="noStrike" noProof="1" dirty="0">
                <a:latin typeface="Tahoma" panose="020B0604030504040204" pitchFamily="34" charset="0"/>
                <a:ea typeface="宋体" panose="02010600030101010101" pitchFamily="2" charset="-122"/>
                <a:cs typeface="+mn-cs"/>
              </a:rPr>
              <a:t>‹#›</a:t>
            </a:fld>
            <a:endParaRPr lang="en-US" altLang="zh-CN" sz="1400" strike="noStrike" noProof="1">
              <a:latin typeface="Tahoma" panose="020B060403050404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900113" y="1196975"/>
            <a:ext cx="3844925" cy="4676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897438" y="1196975"/>
            <a:ext cx="3846512" cy="4676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r>
              <a:rPr lang="en-US" altLang="zh-CN" strike="noStrike" noProof="1">
                <a:latin typeface="Tahoma" panose="020B0604030504040204" pitchFamily="34" charset="0"/>
                <a:ea typeface="宋体" panose="02010600030101010101" pitchFamily="2" charset="-122"/>
                <a:cs typeface="+mn-cs"/>
              </a:rPr>
              <a:t>Slide: </a:t>
            </a:r>
            <a:fld id="{9A0DB2DC-4C9A-4742-B13C-FB6460FD3503}" type="slidenum">
              <a:rPr lang="en-US" altLang="zh-CN" sz="1400" strike="noStrike" noProof="1" dirty="0">
                <a:latin typeface="Tahoma" panose="020B0604030504040204" pitchFamily="34" charset="0"/>
                <a:ea typeface="宋体" panose="02010600030101010101" pitchFamily="2" charset="-122"/>
                <a:cs typeface="+mn-cs"/>
              </a:rPr>
              <a:t>‹#›</a:t>
            </a:fld>
            <a:endParaRPr lang="en-US" altLang="zh-CN" sz="1400" strike="noStrike" noProof="1">
              <a:latin typeface="Tahoma"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fontAlgn="base" hangingPunct="1">
              <a:buNone/>
            </a:pPr>
            <a:r>
              <a:rPr lang="en-US" altLang="zh-CN" strike="noStrike" noProof="1">
                <a:latin typeface="Tahoma" panose="020B0604030504040204" pitchFamily="34" charset="0"/>
                <a:ea typeface="宋体" panose="02010600030101010101" pitchFamily="2" charset="-122"/>
                <a:cs typeface="+mn-cs"/>
              </a:rPr>
              <a:t>Slide: </a:t>
            </a:r>
            <a:fld id="{9A0DB2DC-4C9A-4742-B13C-FB6460FD3503}" type="slidenum">
              <a:rPr lang="en-US" altLang="zh-CN" sz="1400" strike="noStrike" noProof="1" dirty="0">
                <a:latin typeface="Tahoma" panose="020B0604030504040204" pitchFamily="34" charset="0"/>
                <a:ea typeface="宋体" panose="02010600030101010101" pitchFamily="2" charset="-122"/>
                <a:cs typeface="+mn-cs"/>
              </a:rPr>
              <a:t>‹#›</a:t>
            </a:fld>
            <a:endParaRPr lang="en-US" altLang="zh-CN" sz="1400" strike="noStrike" noProof="1">
              <a:latin typeface="Tahoma" panose="020B060403050404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r>
              <a:rPr lang="en-US" altLang="zh-CN" strike="noStrike" noProof="1">
                <a:latin typeface="Tahoma" panose="020B0604030504040204" pitchFamily="34" charset="0"/>
                <a:ea typeface="宋体" panose="02010600030101010101" pitchFamily="2" charset="-122"/>
                <a:cs typeface="+mn-cs"/>
              </a:rPr>
              <a:t>Slide: </a:t>
            </a:r>
            <a:fld id="{9A0DB2DC-4C9A-4742-B13C-FB6460FD3503}" type="slidenum">
              <a:rPr lang="en-US" altLang="zh-CN" sz="1400" strike="noStrike" noProof="1" dirty="0">
                <a:latin typeface="Tahoma" panose="020B0604030504040204" pitchFamily="34" charset="0"/>
                <a:ea typeface="宋体" panose="02010600030101010101" pitchFamily="2" charset="-122"/>
                <a:cs typeface="+mn-cs"/>
              </a:rPr>
              <a:t>‹#›</a:t>
            </a:fld>
            <a:endParaRPr lang="en-US" altLang="zh-CN" sz="1400" strike="noStrike" noProof="1">
              <a:latin typeface="Tahoma"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fontAlgn="base" hangingPunct="1">
              <a:buNone/>
            </a:pPr>
            <a:r>
              <a:rPr lang="en-US" altLang="zh-CN" strike="noStrike" noProof="1">
                <a:latin typeface="Tahoma" panose="020B0604030504040204" pitchFamily="34" charset="0"/>
                <a:ea typeface="宋体" panose="02010600030101010101" pitchFamily="2" charset="-122"/>
                <a:cs typeface="+mn-cs"/>
              </a:rPr>
              <a:t>Slide: </a:t>
            </a:r>
            <a:fld id="{9A0DB2DC-4C9A-4742-B13C-FB6460FD3503}" type="slidenum">
              <a:rPr lang="en-US" altLang="zh-CN" sz="1400" strike="noStrike" noProof="1" dirty="0">
                <a:latin typeface="Tahoma" panose="020B0604030504040204" pitchFamily="34" charset="0"/>
                <a:ea typeface="宋体" panose="02010600030101010101" pitchFamily="2" charset="-122"/>
                <a:cs typeface="+mn-cs"/>
              </a:rPr>
              <a:t>‹#›</a:t>
            </a:fld>
            <a:endParaRPr lang="en-US" altLang="zh-CN" sz="1400" strike="noStrike" noProof="1">
              <a:latin typeface="Tahoma" panose="020B060403050404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r>
              <a:rPr lang="en-US" altLang="zh-CN" strike="noStrike" noProof="1">
                <a:latin typeface="Tahoma" panose="020B0604030504040204" pitchFamily="34" charset="0"/>
                <a:ea typeface="宋体" panose="02010600030101010101" pitchFamily="2" charset="-122"/>
                <a:cs typeface="+mn-cs"/>
              </a:rPr>
              <a:t>Slide: </a:t>
            </a:r>
            <a:fld id="{9A0DB2DC-4C9A-4742-B13C-FB6460FD3503}" type="slidenum">
              <a:rPr lang="en-US" altLang="zh-CN" sz="1400" strike="noStrike" noProof="1" dirty="0">
                <a:latin typeface="Tahoma" panose="020B0604030504040204" pitchFamily="34" charset="0"/>
                <a:ea typeface="宋体" panose="02010600030101010101" pitchFamily="2" charset="-122"/>
                <a:cs typeface="+mn-cs"/>
              </a:rPr>
              <a:t>‹#›</a:t>
            </a:fld>
            <a:endParaRPr lang="en-US" altLang="zh-CN" sz="1400" strike="noStrike" noProof="1">
              <a:latin typeface="Tahoma" panose="020B060403050404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defRPr/>
            </a:pPr>
            <a:endParaRPr kumimoji="1" lang="zh-CN" altLang="en-US" sz="3200" b="0" i="0" u="none" strike="noStrike" kern="0" cap="none" spc="0" normalizeH="0" baseline="0" noProof="0">
              <a:ln>
                <a:noFill/>
              </a:ln>
              <a:solidFill>
                <a:srgbClr val="4B51A5"/>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r>
              <a:rPr lang="en-US" altLang="zh-CN" strike="noStrike" noProof="1">
                <a:latin typeface="Tahoma" panose="020B0604030504040204" pitchFamily="34" charset="0"/>
                <a:ea typeface="宋体" panose="02010600030101010101" pitchFamily="2" charset="-122"/>
                <a:cs typeface="+mn-cs"/>
              </a:rPr>
              <a:t>Slide: </a:t>
            </a:r>
            <a:fld id="{9A0DB2DC-4C9A-4742-B13C-FB6460FD3503}" type="slidenum">
              <a:rPr lang="en-US" altLang="zh-CN" sz="1400" strike="noStrike" noProof="1" dirty="0">
                <a:latin typeface="Tahoma" panose="020B0604030504040204" pitchFamily="34" charset="0"/>
                <a:ea typeface="宋体" panose="02010600030101010101" pitchFamily="2" charset="-122"/>
                <a:cs typeface="+mn-cs"/>
              </a:rPr>
              <a:t>‹#›</a:t>
            </a:fld>
            <a:endParaRPr lang="en-US" altLang="zh-CN" sz="1400" strike="noStrike" noProof="1">
              <a:latin typeface="Tahoma" panose="020B060403050404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r>
              <a:rPr lang="en-US" altLang="zh-CN" strike="noStrike" noProof="1">
                <a:latin typeface="Tahoma" panose="020B0604030504040204" pitchFamily="34" charset="0"/>
                <a:ea typeface="宋体" panose="02010600030101010101" pitchFamily="2" charset="-122"/>
                <a:cs typeface="+mn-cs"/>
              </a:rPr>
              <a:t>Slide: </a:t>
            </a:r>
            <a:fld id="{9A0DB2DC-4C9A-4742-B13C-FB6460FD3503}" type="slidenum">
              <a:rPr lang="en-US" altLang="zh-CN" sz="1400" strike="noStrike" noProof="1" dirty="0">
                <a:latin typeface="Tahoma" panose="020B0604030504040204" pitchFamily="34" charset="0"/>
                <a:ea typeface="宋体" panose="02010600030101010101" pitchFamily="2" charset="-122"/>
                <a:cs typeface="+mn-cs"/>
              </a:rPr>
              <a:t>‹#›</a:t>
            </a:fld>
            <a:endParaRPr lang="en-US" altLang="zh-CN" sz="1400" strike="noStrike" noProof="1">
              <a:latin typeface="Tahoma" panose="020B060403050404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3388" y="188913"/>
            <a:ext cx="1960562" cy="5684837"/>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900113" y="188913"/>
            <a:ext cx="5730875" cy="5684837"/>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r>
              <a:rPr lang="en-US" altLang="zh-CN" strike="noStrike" noProof="1">
                <a:latin typeface="Tahoma" panose="020B0604030504040204" pitchFamily="34" charset="0"/>
                <a:ea typeface="宋体" panose="02010600030101010101" pitchFamily="2" charset="-122"/>
                <a:cs typeface="+mn-cs"/>
              </a:rPr>
              <a:t>Slide: </a:t>
            </a:r>
            <a:fld id="{9A0DB2DC-4C9A-4742-B13C-FB6460FD3503}" type="slidenum">
              <a:rPr lang="en-US" altLang="zh-CN" sz="1400" strike="noStrike" noProof="1" dirty="0">
                <a:latin typeface="Tahoma" panose="020B0604030504040204" pitchFamily="34" charset="0"/>
                <a:ea typeface="宋体" panose="02010600030101010101" pitchFamily="2" charset="-122"/>
                <a:cs typeface="+mn-cs"/>
              </a:rPr>
              <a:t>‹#›</a:t>
            </a:fld>
            <a:endParaRPr lang="en-US" altLang="zh-CN" sz="1400" strike="noStrike" noProof="1">
              <a:latin typeface="Tahoma" panose="020B060403050404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00113" y="188913"/>
            <a:ext cx="2663825" cy="792162"/>
          </a:xfrm>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a:xfrm>
            <a:off x="900113" y="1196975"/>
            <a:ext cx="7843837" cy="467677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Blip>
                <a:blip r:embed="rId2"/>
              </a:buBlip>
              <a:defRPr/>
            </a:pPr>
            <a:endParaRPr kumimoji="1" lang="zh-CN" altLang="en-US" sz="3600" b="0" i="0" u="none" strike="noStrike" kern="0" cap="none" spc="0" normalizeH="0" baseline="0" noProof="0">
              <a:ln>
                <a:noFill/>
              </a:ln>
              <a:solidFill>
                <a:srgbClr val="4B51A5"/>
              </a:solidFill>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r>
              <a:rPr lang="en-US" altLang="zh-CN" strike="noStrike" noProof="1">
                <a:latin typeface="Tahoma" panose="020B0604030504040204" pitchFamily="34" charset="0"/>
                <a:ea typeface="宋体" panose="02010600030101010101" pitchFamily="2" charset="-122"/>
                <a:cs typeface="+mn-cs"/>
              </a:rPr>
              <a:t>Slide: </a:t>
            </a:r>
            <a:fld id="{9A0DB2DC-4C9A-4742-B13C-FB6460FD3503}" type="slidenum">
              <a:rPr lang="en-US" altLang="zh-CN" sz="1400" strike="noStrike" noProof="1" dirty="0">
                <a:latin typeface="Tahoma" panose="020B0604030504040204" pitchFamily="34" charset="0"/>
                <a:ea typeface="宋体" panose="02010600030101010101" pitchFamily="2" charset="-122"/>
                <a:cs typeface="+mn-cs"/>
              </a:rPr>
              <a:t>‹#›</a:t>
            </a:fld>
            <a:endParaRPr lang="en-US" altLang="zh-CN" sz="1400" strike="noStrike" noProof="1">
              <a:latin typeface="Tahoma" panose="020B060403050404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00113" y="188913"/>
            <a:ext cx="2663825" cy="792162"/>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900113" y="1196975"/>
            <a:ext cx="3844925" cy="46767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897438" y="1196975"/>
            <a:ext cx="3846512" cy="46767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r>
              <a:rPr lang="en-US" altLang="zh-CN" strike="noStrike" noProof="1">
                <a:latin typeface="Tahoma" panose="020B0604030504040204" pitchFamily="34" charset="0"/>
                <a:ea typeface="宋体" panose="02010600030101010101" pitchFamily="2" charset="-122"/>
                <a:cs typeface="+mn-cs"/>
              </a:rPr>
              <a:t>Slide: </a:t>
            </a:r>
            <a:fld id="{9A0DB2DC-4C9A-4742-B13C-FB6460FD3503}" type="slidenum">
              <a:rPr lang="en-US" altLang="zh-CN" sz="1400" strike="noStrike" noProof="1" dirty="0">
                <a:latin typeface="Tahoma" panose="020B0604030504040204" pitchFamily="34" charset="0"/>
                <a:ea typeface="宋体" panose="02010600030101010101" pitchFamily="2" charset="-122"/>
                <a:cs typeface="+mn-cs"/>
              </a:rPr>
              <a:t>‹#›</a:t>
            </a:fld>
            <a:endParaRPr lang="en-US" altLang="zh-CN" sz="1400" strike="noStrike" noProof="1">
              <a:latin typeface="Tahoma" panose="020B060403050404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grpSp>
      </p:grpSp>
      <p:sp>
        <p:nvSpPr>
          <p:cNvPr id="129043"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zh-CN" altLang="en-US" noProof="0"/>
              <a:t>单击此处编辑母版标题样式</a:t>
            </a:r>
          </a:p>
        </p:txBody>
      </p:sp>
      <p:sp>
        <p:nvSpPr>
          <p:cNvPr id="129044"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pPr lvl="0"/>
            <a:r>
              <a:rPr lang="zh-CN" altLang="en-US" noProof="0"/>
              <a:t>单击此处编辑母版副标题样式</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fld id="{18E5B32A-2076-44F2-8A54-74AFFB7943F6}" type="datetime1">
              <a:rPr lang="zh-CN" altLang="en-US"/>
              <a:pPr>
                <a:defRPr/>
              </a:pPr>
              <a:t>2026/8/25</a:t>
            </a:fld>
            <a:endParaRPr lang="en-US" altLang="zh-CN"/>
          </a:p>
        </p:txBody>
      </p:sp>
      <p:sp>
        <p:nvSpPr>
          <p:cNvPr id="19" name="Rectangle 17"/>
          <p:cNvSpPr>
            <a:spLocks noGrp="1" noChangeArrowheads="1"/>
          </p:cNvSpPr>
          <p:nvPr>
            <p:ph type="ftr" sz="quarter" idx="11"/>
          </p:nvPr>
        </p:nvSpPr>
        <p:spPr/>
        <p:txBody>
          <a:bodyPr/>
          <a:lstStyle>
            <a:lvl1pPr>
              <a:defRPr/>
            </a:lvl1pPr>
          </a:lstStyle>
          <a:p>
            <a:pPr>
              <a:defRPr/>
            </a:pPr>
            <a:r>
              <a:rPr lang="en-US" altLang="zh-CN"/>
              <a:t>计算机科学与工程学院</a:t>
            </a:r>
          </a:p>
        </p:txBody>
      </p:sp>
      <p:sp>
        <p:nvSpPr>
          <p:cNvPr id="20" name="Rectangle 18"/>
          <p:cNvSpPr>
            <a:spLocks noGrp="1" noChangeArrowheads="1"/>
          </p:cNvSpPr>
          <p:nvPr>
            <p:ph type="sldNum" sz="quarter" idx="12"/>
          </p:nvPr>
        </p:nvSpPr>
        <p:spPr>
          <a:xfrm>
            <a:off x="6553200" y="6248400"/>
            <a:ext cx="2133600" cy="457200"/>
          </a:xfrm>
        </p:spPr>
        <p:txBody>
          <a:bodyPr lIns="91440" tIns="45720" rIns="91440" bIns="45720"/>
          <a:lstStyle>
            <a:lvl1pPr>
              <a:defRPr/>
            </a:lvl1pPr>
          </a:lstStyle>
          <a:p>
            <a:pPr>
              <a:defRPr/>
            </a:pPr>
            <a:fld id="{C68A25EE-9558-4C8F-ACE2-3BFBF874B141}" type="slidenum">
              <a:rPr lang="en-US" altLang="zh-CN"/>
              <a:pPr>
                <a:defRPr/>
              </a:pPr>
              <a:t>‹#›</a:t>
            </a:fld>
            <a:endParaRPr lang="en-US" altLang="zh-CN"/>
          </a:p>
        </p:txBody>
      </p:sp>
    </p:spTree>
    <p:extLst>
      <p:ext uri="{BB962C8B-B14F-4D97-AF65-F5344CB8AC3E}">
        <p14:creationId xmlns:p14="http://schemas.microsoft.com/office/powerpoint/2010/main" val="8016774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2"/>
          <p:cNvSpPr>
            <a:spLocks noGrp="1" noChangeArrowheads="1"/>
          </p:cNvSpPr>
          <p:nvPr>
            <p:ph type="ftr" sz="quarter" idx="10"/>
          </p:nvPr>
        </p:nvSpPr>
        <p:spPr>
          <a:ln/>
        </p:spPr>
        <p:txBody>
          <a:bodyPr/>
          <a:lstStyle>
            <a:lvl1pPr>
              <a:defRPr/>
            </a:lvl1pPr>
          </a:lstStyle>
          <a:p>
            <a:pPr>
              <a:defRPr/>
            </a:pPr>
            <a:r>
              <a:rPr lang="en-US" altLang="zh-CN"/>
              <a:t>计算机科学与工程学院</a:t>
            </a:r>
          </a:p>
        </p:txBody>
      </p:sp>
      <p:sp>
        <p:nvSpPr>
          <p:cNvPr id="5" name="Rectangle 3"/>
          <p:cNvSpPr>
            <a:spLocks noGrp="1" noChangeArrowheads="1"/>
          </p:cNvSpPr>
          <p:nvPr>
            <p:ph type="sldNum" sz="quarter" idx="11"/>
          </p:nvPr>
        </p:nvSpPr>
        <p:spPr>
          <a:ln/>
        </p:spPr>
        <p:txBody>
          <a:bodyPr/>
          <a:lstStyle>
            <a:lvl1pPr>
              <a:defRPr/>
            </a:lvl1pPr>
          </a:lstStyle>
          <a:p>
            <a:pPr>
              <a:defRPr/>
            </a:pPr>
            <a:fld id="{8E17FB10-839C-46BA-AB50-BB03C7BF44B1}"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fld id="{96757424-4BF4-462E-A7B1-C910568198B3}" type="datetime1">
              <a:rPr lang="zh-CN" altLang="en-US"/>
              <a:pPr>
                <a:defRPr/>
              </a:pPr>
              <a:t>2026/8/25</a:t>
            </a:fld>
            <a:endParaRPr lang="en-US" altLang="zh-CN"/>
          </a:p>
        </p:txBody>
      </p:sp>
    </p:spTree>
    <p:extLst>
      <p:ext uri="{BB962C8B-B14F-4D97-AF65-F5344CB8AC3E}">
        <p14:creationId xmlns:p14="http://schemas.microsoft.com/office/powerpoint/2010/main" val="18658625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a:ln/>
        </p:spPr>
        <p:txBody>
          <a:bodyPr/>
          <a:lstStyle>
            <a:lvl1pPr>
              <a:defRPr/>
            </a:lvl1pPr>
          </a:lstStyle>
          <a:p>
            <a:pPr>
              <a:defRPr/>
            </a:pPr>
            <a:r>
              <a:rPr lang="en-US" altLang="zh-CN"/>
              <a:t>计算机科学与工程学院</a:t>
            </a:r>
          </a:p>
        </p:txBody>
      </p:sp>
      <p:sp>
        <p:nvSpPr>
          <p:cNvPr id="5" name="Rectangle 3"/>
          <p:cNvSpPr>
            <a:spLocks noGrp="1" noChangeArrowheads="1"/>
          </p:cNvSpPr>
          <p:nvPr>
            <p:ph type="sldNum" sz="quarter" idx="11"/>
          </p:nvPr>
        </p:nvSpPr>
        <p:spPr>
          <a:ln/>
        </p:spPr>
        <p:txBody>
          <a:bodyPr/>
          <a:lstStyle>
            <a:lvl1pPr>
              <a:defRPr/>
            </a:lvl1pPr>
          </a:lstStyle>
          <a:p>
            <a:pPr>
              <a:defRPr/>
            </a:pPr>
            <a:fld id="{07B75E1D-C7AC-423E-94BE-E55A51B81BB0}"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fld id="{AC845B94-82A8-437A-9C42-05FB7AD6A4E7}" type="datetime1">
              <a:rPr lang="zh-CN" altLang="en-US"/>
              <a:pPr>
                <a:defRPr/>
              </a:pPr>
              <a:t>2026/8/25</a:t>
            </a:fld>
            <a:endParaRPr lang="en-US" altLang="zh-CN"/>
          </a:p>
        </p:txBody>
      </p:sp>
    </p:spTree>
    <p:extLst>
      <p:ext uri="{BB962C8B-B14F-4D97-AF65-F5344CB8AC3E}">
        <p14:creationId xmlns:p14="http://schemas.microsoft.com/office/powerpoint/2010/main" val="37264462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r>
              <a:rPr lang="en-US" altLang="zh-CN"/>
              <a:t>计算机科学与工程学院</a:t>
            </a:r>
          </a:p>
        </p:txBody>
      </p:sp>
      <p:sp>
        <p:nvSpPr>
          <p:cNvPr id="6" name="Rectangle 3"/>
          <p:cNvSpPr>
            <a:spLocks noGrp="1" noChangeArrowheads="1"/>
          </p:cNvSpPr>
          <p:nvPr>
            <p:ph type="sldNum" sz="quarter" idx="11"/>
          </p:nvPr>
        </p:nvSpPr>
        <p:spPr>
          <a:ln/>
        </p:spPr>
        <p:txBody>
          <a:bodyPr/>
          <a:lstStyle>
            <a:lvl1pPr>
              <a:defRPr/>
            </a:lvl1pPr>
          </a:lstStyle>
          <a:p>
            <a:pPr>
              <a:defRPr/>
            </a:pPr>
            <a:fld id="{BD031158-5260-4FE4-B5F6-05B1F03F1BB8}"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fld id="{74CD7154-F301-42C6-9636-981B0758BCA3}" type="datetime1">
              <a:rPr lang="zh-CN" altLang="en-US"/>
              <a:pPr>
                <a:defRPr/>
              </a:pPr>
              <a:t>2026/8/25</a:t>
            </a:fld>
            <a:endParaRPr lang="en-US" altLang="zh-CN"/>
          </a:p>
        </p:txBody>
      </p:sp>
    </p:spTree>
    <p:extLst>
      <p:ext uri="{BB962C8B-B14F-4D97-AF65-F5344CB8AC3E}">
        <p14:creationId xmlns:p14="http://schemas.microsoft.com/office/powerpoint/2010/main" val="32990858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a:ln/>
        </p:spPr>
        <p:txBody>
          <a:bodyPr/>
          <a:lstStyle>
            <a:lvl1pPr>
              <a:defRPr/>
            </a:lvl1pPr>
          </a:lstStyle>
          <a:p>
            <a:pPr>
              <a:defRPr/>
            </a:pPr>
            <a:r>
              <a:rPr lang="en-US" altLang="zh-CN"/>
              <a:t>计算机科学与工程学院</a:t>
            </a:r>
          </a:p>
        </p:txBody>
      </p:sp>
      <p:sp>
        <p:nvSpPr>
          <p:cNvPr id="8" name="Rectangle 3"/>
          <p:cNvSpPr>
            <a:spLocks noGrp="1" noChangeArrowheads="1"/>
          </p:cNvSpPr>
          <p:nvPr>
            <p:ph type="sldNum" sz="quarter" idx="11"/>
          </p:nvPr>
        </p:nvSpPr>
        <p:spPr>
          <a:ln/>
        </p:spPr>
        <p:txBody>
          <a:bodyPr/>
          <a:lstStyle>
            <a:lvl1pPr>
              <a:defRPr/>
            </a:lvl1pPr>
          </a:lstStyle>
          <a:p>
            <a:pPr>
              <a:defRPr/>
            </a:pPr>
            <a:fld id="{09A742F7-C1CA-49E4-80FB-119CD5283BA0}" type="slidenum">
              <a:rPr lang="en-US" altLang="zh-CN"/>
              <a:pPr>
                <a:defRPr/>
              </a:pPr>
              <a:t>‹#›</a:t>
            </a:fld>
            <a:endParaRPr lang="en-US" altLang="zh-CN"/>
          </a:p>
        </p:txBody>
      </p:sp>
      <p:sp>
        <p:nvSpPr>
          <p:cNvPr id="9" name="Rectangle 16"/>
          <p:cNvSpPr>
            <a:spLocks noGrp="1" noChangeArrowheads="1"/>
          </p:cNvSpPr>
          <p:nvPr>
            <p:ph type="dt" sz="half" idx="12"/>
          </p:nvPr>
        </p:nvSpPr>
        <p:spPr>
          <a:ln/>
        </p:spPr>
        <p:txBody>
          <a:bodyPr/>
          <a:lstStyle>
            <a:lvl1pPr>
              <a:defRPr/>
            </a:lvl1pPr>
          </a:lstStyle>
          <a:p>
            <a:pPr>
              <a:defRPr/>
            </a:pPr>
            <a:fld id="{C713A0E3-B5A9-4092-B12B-70D23734356D}" type="datetime1">
              <a:rPr lang="zh-CN" altLang="en-US"/>
              <a:pPr>
                <a:defRPr/>
              </a:pPr>
              <a:t>2026/8/25</a:t>
            </a:fld>
            <a:endParaRPr lang="en-US" altLang="zh-CN"/>
          </a:p>
        </p:txBody>
      </p:sp>
    </p:spTree>
    <p:extLst>
      <p:ext uri="{BB962C8B-B14F-4D97-AF65-F5344CB8AC3E}">
        <p14:creationId xmlns:p14="http://schemas.microsoft.com/office/powerpoint/2010/main" val="13916743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a:ln/>
        </p:spPr>
        <p:txBody>
          <a:bodyPr/>
          <a:lstStyle>
            <a:lvl1pPr>
              <a:defRPr/>
            </a:lvl1pPr>
          </a:lstStyle>
          <a:p>
            <a:pPr>
              <a:defRPr/>
            </a:pPr>
            <a:r>
              <a:rPr lang="en-US" altLang="zh-CN"/>
              <a:t>计算机科学与工程学院</a:t>
            </a:r>
          </a:p>
        </p:txBody>
      </p:sp>
      <p:sp>
        <p:nvSpPr>
          <p:cNvPr id="4" name="Rectangle 3"/>
          <p:cNvSpPr>
            <a:spLocks noGrp="1" noChangeArrowheads="1"/>
          </p:cNvSpPr>
          <p:nvPr>
            <p:ph type="sldNum" sz="quarter" idx="11"/>
          </p:nvPr>
        </p:nvSpPr>
        <p:spPr>
          <a:ln/>
        </p:spPr>
        <p:txBody>
          <a:bodyPr/>
          <a:lstStyle>
            <a:lvl1pPr>
              <a:defRPr/>
            </a:lvl1pPr>
          </a:lstStyle>
          <a:p>
            <a:pPr>
              <a:defRPr/>
            </a:pPr>
            <a:fld id="{4FB16D0A-AAB1-49D1-8D57-8FCD08D8A3F4}" type="slidenum">
              <a:rPr lang="en-US" altLang="zh-CN"/>
              <a:pPr>
                <a:defRPr/>
              </a:pPr>
              <a:t>‹#›</a:t>
            </a:fld>
            <a:endParaRPr lang="en-US" altLang="zh-CN"/>
          </a:p>
        </p:txBody>
      </p:sp>
      <p:sp>
        <p:nvSpPr>
          <p:cNvPr id="5" name="Rectangle 16"/>
          <p:cNvSpPr>
            <a:spLocks noGrp="1" noChangeArrowheads="1"/>
          </p:cNvSpPr>
          <p:nvPr>
            <p:ph type="dt" sz="half" idx="12"/>
          </p:nvPr>
        </p:nvSpPr>
        <p:spPr>
          <a:ln/>
        </p:spPr>
        <p:txBody>
          <a:bodyPr/>
          <a:lstStyle>
            <a:lvl1pPr>
              <a:defRPr/>
            </a:lvl1pPr>
          </a:lstStyle>
          <a:p>
            <a:pPr>
              <a:defRPr/>
            </a:pPr>
            <a:fld id="{042A44ED-F439-41F6-98F6-C883FC173BAF}" type="datetime1">
              <a:rPr lang="zh-CN" altLang="en-US"/>
              <a:pPr>
                <a:defRPr/>
              </a:pPr>
              <a:t>2026/8/25</a:t>
            </a:fld>
            <a:endParaRPr lang="en-US" altLang="zh-CN"/>
          </a:p>
        </p:txBody>
      </p:sp>
    </p:spTree>
    <p:extLst>
      <p:ext uri="{BB962C8B-B14F-4D97-AF65-F5344CB8AC3E}">
        <p14:creationId xmlns:p14="http://schemas.microsoft.com/office/powerpoint/2010/main" val="1633250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r>
              <a:rPr lang="en-US" altLang="zh-CN"/>
              <a:t>计算机科学与工程学院</a:t>
            </a:r>
          </a:p>
        </p:txBody>
      </p:sp>
      <p:sp>
        <p:nvSpPr>
          <p:cNvPr id="3" name="Rectangle 3"/>
          <p:cNvSpPr>
            <a:spLocks noGrp="1" noChangeArrowheads="1"/>
          </p:cNvSpPr>
          <p:nvPr>
            <p:ph type="sldNum" sz="quarter" idx="11"/>
          </p:nvPr>
        </p:nvSpPr>
        <p:spPr>
          <a:ln/>
        </p:spPr>
        <p:txBody>
          <a:bodyPr/>
          <a:lstStyle>
            <a:lvl1pPr>
              <a:defRPr/>
            </a:lvl1pPr>
          </a:lstStyle>
          <a:p>
            <a:pPr>
              <a:defRPr/>
            </a:pPr>
            <a:fld id="{5AE4D756-94D7-4919-BB8C-3702641BA3DE}" type="slidenum">
              <a:rPr lang="en-US" altLang="zh-CN"/>
              <a:pPr>
                <a:defRPr/>
              </a:pPr>
              <a:t>‹#›</a:t>
            </a:fld>
            <a:endParaRPr lang="en-US" altLang="zh-CN"/>
          </a:p>
        </p:txBody>
      </p:sp>
      <p:sp>
        <p:nvSpPr>
          <p:cNvPr id="4" name="Rectangle 16"/>
          <p:cNvSpPr>
            <a:spLocks noGrp="1" noChangeArrowheads="1"/>
          </p:cNvSpPr>
          <p:nvPr>
            <p:ph type="dt" sz="half" idx="12"/>
          </p:nvPr>
        </p:nvSpPr>
        <p:spPr>
          <a:ln/>
        </p:spPr>
        <p:txBody>
          <a:bodyPr/>
          <a:lstStyle>
            <a:lvl1pPr>
              <a:defRPr/>
            </a:lvl1pPr>
          </a:lstStyle>
          <a:p>
            <a:pPr>
              <a:defRPr/>
            </a:pPr>
            <a:fld id="{31F3789B-197A-4DC3-899B-4B38BF3FAF5E}" type="datetime1">
              <a:rPr lang="zh-CN" altLang="en-US"/>
              <a:pPr>
                <a:defRPr/>
              </a:pPr>
              <a:t>2026/8/25</a:t>
            </a:fld>
            <a:endParaRPr lang="en-US" altLang="zh-CN"/>
          </a:p>
        </p:txBody>
      </p:sp>
    </p:spTree>
    <p:extLst>
      <p:ext uri="{BB962C8B-B14F-4D97-AF65-F5344CB8AC3E}">
        <p14:creationId xmlns:p14="http://schemas.microsoft.com/office/powerpoint/2010/main" val="3648349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r>
              <a:rPr lang="en-US" altLang="zh-CN"/>
              <a:t>计算机科学与工程学院</a:t>
            </a:r>
          </a:p>
        </p:txBody>
      </p:sp>
      <p:sp>
        <p:nvSpPr>
          <p:cNvPr id="6" name="Rectangle 3"/>
          <p:cNvSpPr>
            <a:spLocks noGrp="1" noChangeArrowheads="1"/>
          </p:cNvSpPr>
          <p:nvPr>
            <p:ph type="sldNum" sz="quarter" idx="11"/>
          </p:nvPr>
        </p:nvSpPr>
        <p:spPr>
          <a:ln/>
        </p:spPr>
        <p:txBody>
          <a:bodyPr/>
          <a:lstStyle>
            <a:lvl1pPr>
              <a:defRPr/>
            </a:lvl1pPr>
          </a:lstStyle>
          <a:p>
            <a:pPr>
              <a:defRPr/>
            </a:pPr>
            <a:fld id="{2096AC55-2B4B-476A-B429-1FDF8D4FA66F}"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fld id="{5329CB04-A13E-47F2-B13A-8FBBA524DE9A}" type="datetime1">
              <a:rPr lang="zh-CN" altLang="en-US"/>
              <a:pPr>
                <a:defRPr/>
              </a:pPr>
              <a:t>2026/8/25</a:t>
            </a:fld>
            <a:endParaRPr lang="en-US" altLang="zh-CN"/>
          </a:p>
        </p:txBody>
      </p:sp>
    </p:spTree>
    <p:extLst>
      <p:ext uri="{BB962C8B-B14F-4D97-AF65-F5344CB8AC3E}">
        <p14:creationId xmlns:p14="http://schemas.microsoft.com/office/powerpoint/2010/main" val="27089672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r>
              <a:rPr lang="en-US" altLang="zh-CN"/>
              <a:t>计算机科学与工程学院</a:t>
            </a:r>
          </a:p>
        </p:txBody>
      </p:sp>
      <p:sp>
        <p:nvSpPr>
          <p:cNvPr id="6" name="Rectangle 3"/>
          <p:cNvSpPr>
            <a:spLocks noGrp="1" noChangeArrowheads="1"/>
          </p:cNvSpPr>
          <p:nvPr>
            <p:ph type="sldNum" sz="quarter" idx="11"/>
          </p:nvPr>
        </p:nvSpPr>
        <p:spPr>
          <a:ln/>
        </p:spPr>
        <p:txBody>
          <a:bodyPr/>
          <a:lstStyle>
            <a:lvl1pPr>
              <a:defRPr/>
            </a:lvl1pPr>
          </a:lstStyle>
          <a:p>
            <a:pPr>
              <a:defRPr/>
            </a:pPr>
            <a:fld id="{8C1ACA4A-7FB2-49E7-9CCF-2A58FCF7AA48}"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fld id="{8E21AB92-2642-4267-B608-4FF798CAF972}" type="datetime1">
              <a:rPr lang="zh-CN" altLang="en-US"/>
              <a:pPr>
                <a:defRPr/>
              </a:pPr>
              <a:t>2026/8/25</a:t>
            </a:fld>
            <a:endParaRPr lang="en-US" altLang="zh-CN"/>
          </a:p>
        </p:txBody>
      </p:sp>
    </p:spTree>
    <p:extLst>
      <p:ext uri="{BB962C8B-B14F-4D97-AF65-F5344CB8AC3E}">
        <p14:creationId xmlns:p14="http://schemas.microsoft.com/office/powerpoint/2010/main" val="33677129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r>
              <a:rPr lang="en-US" altLang="zh-CN"/>
              <a:t>计算机科学与工程学院</a:t>
            </a:r>
          </a:p>
        </p:txBody>
      </p:sp>
      <p:sp>
        <p:nvSpPr>
          <p:cNvPr id="5" name="Rectangle 3"/>
          <p:cNvSpPr>
            <a:spLocks noGrp="1" noChangeArrowheads="1"/>
          </p:cNvSpPr>
          <p:nvPr>
            <p:ph type="sldNum" sz="quarter" idx="11"/>
          </p:nvPr>
        </p:nvSpPr>
        <p:spPr>
          <a:ln/>
        </p:spPr>
        <p:txBody>
          <a:bodyPr/>
          <a:lstStyle>
            <a:lvl1pPr>
              <a:defRPr/>
            </a:lvl1pPr>
          </a:lstStyle>
          <a:p>
            <a:pPr>
              <a:defRPr/>
            </a:pPr>
            <a:fld id="{3AE32BCE-1F5C-4F53-92CA-6DBC293F091A}"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fld id="{838506E6-70E2-4BA6-9530-2F3B76572F56}" type="datetime1">
              <a:rPr lang="zh-CN" altLang="en-US"/>
              <a:pPr>
                <a:defRPr/>
              </a:pPr>
              <a:t>2026/8/25</a:t>
            </a:fld>
            <a:endParaRPr lang="en-US" altLang="zh-CN"/>
          </a:p>
        </p:txBody>
      </p:sp>
    </p:spTree>
    <p:extLst>
      <p:ext uri="{BB962C8B-B14F-4D97-AF65-F5344CB8AC3E}">
        <p14:creationId xmlns:p14="http://schemas.microsoft.com/office/powerpoint/2010/main" val="25997668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r>
              <a:rPr lang="en-US" altLang="zh-CN"/>
              <a:t>计算机科学与工程学院</a:t>
            </a:r>
          </a:p>
        </p:txBody>
      </p:sp>
      <p:sp>
        <p:nvSpPr>
          <p:cNvPr id="5" name="Rectangle 3"/>
          <p:cNvSpPr>
            <a:spLocks noGrp="1" noChangeArrowheads="1"/>
          </p:cNvSpPr>
          <p:nvPr>
            <p:ph type="sldNum" sz="quarter" idx="11"/>
          </p:nvPr>
        </p:nvSpPr>
        <p:spPr>
          <a:ln/>
        </p:spPr>
        <p:txBody>
          <a:bodyPr/>
          <a:lstStyle>
            <a:lvl1pPr>
              <a:defRPr/>
            </a:lvl1pPr>
          </a:lstStyle>
          <a:p>
            <a:pPr>
              <a:defRPr/>
            </a:pPr>
            <a:fld id="{BA17C83C-582B-4D37-B994-59DF6D8A181F}"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fld id="{FAA33730-0C84-4E74-80EE-BE50F7137E6D}" type="datetime1">
              <a:rPr lang="zh-CN" altLang="en-US"/>
              <a:pPr>
                <a:defRPr/>
              </a:pPr>
              <a:t>2026/8/25</a:t>
            </a:fld>
            <a:endParaRPr lang="en-US" altLang="zh-CN"/>
          </a:p>
        </p:txBody>
      </p:sp>
    </p:spTree>
    <p:extLst>
      <p:ext uri="{BB962C8B-B14F-4D97-AF65-F5344CB8AC3E}">
        <p14:creationId xmlns:p14="http://schemas.microsoft.com/office/powerpoint/2010/main" val="415409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4.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900113" y="188913"/>
            <a:ext cx="2663825" cy="792162"/>
          </a:xfrm>
          <a:prstGeom prst="rect">
            <a:avLst/>
          </a:prstGeom>
          <a:noFill/>
          <a:ln w="9525">
            <a:noFill/>
          </a:ln>
        </p:spPr>
        <p:txBody>
          <a:bodyPr anchor="b" anchorCtr="0"/>
          <a:lstStyle/>
          <a:p>
            <a:pPr lvl="0"/>
            <a:endParaRPr lang="zh-CN" altLang="zh-CN" dirty="0"/>
          </a:p>
        </p:txBody>
      </p:sp>
      <p:sp>
        <p:nvSpPr>
          <p:cNvPr id="1027" name="Rectangle 3" descr="Rectangle: Click to edit Master text styles&#10;Second level&#10;Third level&#10;Fourth level&#10;Fifth level"/>
          <p:cNvSpPr>
            <a:spLocks noGrp="1"/>
          </p:cNvSpPr>
          <p:nvPr>
            <p:ph type="body"/>
          </p:nvPr>
        </p:nvSpPr>
        <p:spPr>
          <a:xfrm>
            <a:off x="900113" y="1196975"/>
            <a:ext cx="7843837" cy="4676775"/>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410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b" anchorCtr="0" compatLnSpc="1"/>
          <a:lstStyle>
            <a:lvl1pPr>
              <a:defRPr kumimoji="0"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10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kumimoji="0"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102" name="Rectangle 6"/>
          <p:cNvSpPr>
            <a:spLocks noGrp="1" noChangeArrowheads="1"/>
          </p:cNvSpPr>
          <p:nvPr>
            <p:ph type="sldNum" sz="quarter" idx="4"/>
          </p:nvPr>
        </p:nvSpPr>
        <p:spPr bwMode="auto">
          <a:xfrm>
            <a:off x="6230938" y="6418263"/>
            <a:ext cx="1071563" cy="287338"/>
          </a:xfrm>
          <a:prstGeom prst="rect">
            <a:avLst/>
          </a:prstGeom>
          <a:noFill/>
          <a:ln w="9525">
            <a:noFill/>
            <a:miter lim="800000"/>
          </a:ln>
          <a:effectLst/>
        </p:spPr>
        <p:txBody>
          <a:bodyPr vert="horz" wrap="square" lIns="91440" tIns="45720" rIns="91440" bIns="45720" numCol="1" anchor="b" anchorCtr="0" compatLnSpc="1"/>
          <a:lstStyle>
            <a:lvl1pPr algn="r">
              <a:defRPr sz="1400"/>
            </a:lvl1pPr>
          </a:lstStyle>
          <a:p>
            <a:pPr lvl="0" eaLnBrk="1" fontAlgn="base" hangingPunct="1">
              <a:buNone/>
            </a:pPr>
            <a:r>
              <a:rPr lang="en-US" altLang="zh-CN" strike="noStrike" noProof="1">
                <a:latin typeface="Tahoma" panose="020B0604030504040204" pitchFamily="34" charset="0"/>
                <a:ea typeface="宋体" panose="02010600030101010101" pitchFamily="2" charset="-122"/>
                <a:cs typeface="+mn-cs"/>
              </a:rPr>
              <a:t>Slide: </a:t>
            </a:r>
            <a:fld id="{9A0DB2DC-4C9A-4742-B13C-FB6460FD3503}" type="slidenum">
              <a:rPr lang="en-US" altLang="zh-CN" sz="1400" strike="noStrike" noProof="1" dirty="0">
                <a:latin typeface="Tahoma" panose="020B0604030504040204" pitchFamily="34" charset="0"/>
                <a:ea typeface="宋体" panose="02010600030101010101" pitchFamily="2" charset="-122"/>
                <a:cs typeface="+mn-cs"/>
              </a:rPr>
              <a:t>‹#›</a:t>
            </a:fld>
            <a:endParaRPr lang="en-US" altLang="zh-CN" sz="1400" strike="noStrike" noProof="1">
              <a:latin typeface="Tahoma" panose="020B0604030504040204" pitchFamily="34" charset="0"/>
            </a:endParaRPr>
          </a:p>
        </p:txBody>
      </p:sp>
      <p:pic>
        <p:nvPicPr>
          <p:cNvPr id="1031" name="Picture 7" descr="XIAOBIAO1"/>
          <p:cNvPicPr>
            <a:picLocks noChangeAspect="1"/>
          </p:cNvPicPr>
          <p:nvPr/>
        </p:nvPicPr>
        <p:blipFill>
          <a:blip r:embed="rId15"/>
          <a:stretch>
            <a:fillRect/>
          </a:stretch>
        </p:blipFill>
        <p:spPr>
          <a:xfrm>
            <a:off x="8213725" y="6021388"/>
            <a:ext cx="685800" cy="674687"/>
          </a:xfrm>
          <a:prstGeom prst="rect">
            <a:avLst/>
          </a:prstGeom>
          <a:noFill/>
          <a:ln w="9525">
            <a:noFill/>
          </a:ln>
        </p:spPr>
      </p:pic>
      <p:sp>
        <p:nvSpPr>
          <p:cNvPr id="4104" name="Rectangle 8"/>
          <p:cNvSpPr>
            <a:spLocks noChangeArrowheads="1"/>
          </p:cNvSpPr>
          <p:nvPr/>
        </p:nvSpPr>
        <p:spPr bwMode="auto">
          <a:xfrm>
            <a:off x="4572000" y="6307138"/>
            <a:ext cx="3548063" cy="93663"/>
          </a:xfrm>
          <a:prstGeom prst="rect">
            <a:avLst/>
          </a:prstGeom>
          <a:gradFill rotWithShape="0">
            <a:gsLst>
              <a:gs pos="0">
                <a:schemeClr val="bg1"/>
              </a:gs>
              <a:gs pos="100000">
                <a:schemeClr val="accent1"/>
              </a:gs>
            </a:gsLst>
            <a:lin ang="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nvGrpSpPr>
          <p:cNvPr id="1033" name="Group 9"/>
          <p:cNvGrpSpPr/>
          <p:nvPr/>
        </p:nvGrpSpPr>
        <p:grpSpPr>
          <a:xfrm>
            <a:off x="47625" y="0"/>
            <a:ext cx="714375" cy="6781800"/>
            <a:chOff x="96" y="0"/>
            <a:chExt cx="624" cy="4272"/>
          </a:xfrm>
        </p:grpSpPr>
        <p:sp>
          <p:nvSpPr>
            <p:cNvPr id="4106" name="Rectangle 10"/>
            <p:cNvSpPr>
              <a:spLocks noChangeArrowheads="1"/>
            </p:cNvSpPr>
            <p:nvPr/>
          </p:nvSpPr>
          <p:spPr bwMode="auto">
            <a:xfrm>
              <a:off x="96" y="0"/>
              <a:ext cx="624" cy="4272"/>
            </a:xfrm>
            <a:prstGeom prst="rect">
              <a:avLst/>
            </a:prstGeom>
            <a:gradFill rotWithShape="0">
              <a:gsLst>
                <a:gs pos="0">
                  <a:srgbClr val="EAD372"/>
                </a:gs>
                <a:gs pos="50000">
                  <a:srgbClr val="FFFFCC"/>
                </a:gs>
                <a:gs pos="100000">
                  <a:srgbClr val="EAD372"/>
                </a:gs>
              </a:gsLst>
              <a:lin ang="27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nvGrpSpPr>
            <p:cNvPr id="1035" name="Group 11"/>
            <p:cNvGrpSpPr/>
            <p:nvPr userDrawn="1"/>
          </p:nvGrpSpPr>
          <p:grpSpPr>
            <a:xfrm>
              <a:off x="264" y="336"/>
              <a:ext cx="288" cy="3648"/>
              <a:chOff x="336" y="144"/>
              <a:chExt cx="288" cy="3648"/>
            </a:xfrm>
          </p:grpSpPr>
          <p:sp>
            <p:nvSpPr>
              <p:cNvPr id="2" name="Rectangle 12"/>
              <p:cNvSpPr>
                <a:spLocks noChangeArrowheads="1"/>
              </p:cNvSpPr>
              <p:nvPr/>
            </p:nvSpPr>
            <p:spPr bwMode="auto">
              <a:xfrm>
                <a:off x="576" y="144"/>
                <a:ext cx="50" cy="3264"/>
              </a:xfrm>
              <a:prstGeom prst="rect">
                <a:avLst/>
              </a:prstGeom>
              <a:gradFill rotWithShape="0">
                <a:gsLst>
                  <a:gs pos="0">
                    <a:srgbClr val="EAD372"/>
                  </a:gs>
                  <a:gs pos="50000">
                    <a:srgbClr val="FFFFCC"/>
                  </a:gs>
                  <a:gs pos="100000">
                    <a:srgbClr val="EAD372"/>
                  </a:gs>
                </a:gsLst>
                <a:lin ang="27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109" name="Rectangle 13"/>
              <p:cNvSpPr>
                <a:spLocks noChangeArrowheads="1"/>
              </p:cNvSpPr>
              <p:nvPr/>
            </p:nvSpPr>
            <p:spPr bwMode="auto">
              <a:xfrm>
                <a:off x="336" y="528"/>
                <a:ext cx="49" cy="3264"/>
              </a:xfrm>
              <a:prstGeom prst="rect">
                <a:avLst/>
              </a:prstGeom>
              <a:gradFill rotWithShape="0">
                <a:gsLst>
                  <a:gs pos="0">
                    <a:srgbClr val="EAD372"/>
                  </a:gs>
                  <a:gs pos="50000">
                    <a:srgbClr val="FFFFCC"/>
                  </a:gs>
                  <a:gs pos="100000">
                    <a:srgbClr val="EAD372"/>
                  </a:gs>
                </a:gsLst>
                <a:lin ang="27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110" name="Rectangle 14"/>
              <p:cNvSpPr>
                <a:spLocks noChangeArrowheads="1"/>
              </p:cNvSpPr>
              <p:nvPr/>
            </p:nvSpPr>
            <p:spPr bwMode="auto">
              <a:xfrm>
                <a:off x="456" y="336"/>
                <a:ext cx="47" cy="3264"/>
              </a:xfrm>
              <a:prstGeom prst="rect">
                <a:avLst/>
              </a:prstGeom>
              <a:gradFill rotWithShape="0">
                <a:gsLst>
                  <a:gs pos="0">
                    <a:srgbClr val="EAD372"/>
                  </a:gs>
                  <a:gs pos="50000">
                    <a:srgbClr val="FFFFCC"/>
                  </a:gs>
                  <a:gs pos="100000">
                    <a:srgbClr val="EAD372"/>
                  </a:gs>
                </a:gsLst>
                <a:lin ang="27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grpSp>
      <p:sp>
        <p:nvSpPr>
          <p:cNvPr id="4112" name="Rectangle 16"/>
          <p:cNvSpPr>
            <a:spLocks noChangeArrowheads="1"/>
          </p:cNvSpPr>
          <p:nvPr/>
        </p:nvSpPr>
        <p:spPr bwMode="auto">
          <a:xfrm>
            <a:off x="900113" y="981075"/>
            <a:ext cx="8243888" cy="152400"/>
          </a:xfrm>
          <a:prstGeom prst="rect">
            <a:avLst/>
          </a:prstGeom>
          <a:gradFill rotWithShape="1">
            <a:gsLst>
              <a:gs pos="0">
                <a:schemeClr val="accent1">
                  <a:alpha val="50000"/>
                </a:schemeClr>
              </a:gs>
              <a:gs pos="100000">
                <a:srgbClr val="FFFFFF"/>
              </a:gs>
            </a:gsLst>
            <a:lin ang="0" scaled="1"/>
          </a:gradFill>
          <a:ln w="9525">
            <a:noFill/>
            <a:miter lim="800000"/>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rtl="0" eaLnBrk="0" fontAlgn="base" hangingPunct="0">
        <a:spcBef>
          <a:spcPct val="0"/>
        </a:spcBef>
        <a:spcAft>
          <a:spcPct val="0"/>
        </a:spcAft>
        <a:defRPr kumimoji="1" sz="4000" b="1">
          <a:solidFill>
            <a:schemeClr val="tx2"/>
          </a:solidFill>
          <a:latin typeface="+mj-lt"/>
          <a:ea typeface="+mj-ea"/>
          <a:cs typeface="+mj-cs"/>
        </a:defRPr>
      </a:lvl1pPr>
      <a:lvl2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2pPr>
      <a:lvl3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3pPr>
      <a:lvl4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4pPr>
      <a:lvl5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5pPr>
      <a:lvl6pPr marL="4572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6pPr>
      <a:lvl7pPr marL="9144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7pPr>
      <a:lvl8pPr marL="13716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8pPr>
      <a:lvl9pPr marL="18288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6"/>
        </a:buBlip>
        <a:defRPr kumimoji="1" sz="3600">
          <a:solidFill>
            <a:srgbClr val="4B51A5"/>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3200">
          <a:solidFill>
            <a:srgbClr val="4B51A5"/>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800">
          <a:solidFill>
            <a:srgbClr val="4B51A5"/>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400">
          <a:solidFill>
            <a:srgbClr val="4B51A5"/>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r>
              <a:rPr lang="en-US" altLang="zh-CN"/>
              <a:t>计算机科学与工程学院</a:t>
            </a:r>
          </a:p>
        </p:txBody>
      </p:sp>
      <p:sp>
        <p:nvSpPr>
          <p:cNvPr id="128003" name="Rectangle 3"/>
          <p:cNvSpPr>
            <a:spLocks noGrp="1" noChangeArrowheads="1"/>
          </p:cNvSpPr>
          <p:nvPr>
            <p:ph type="sldNum" sz="quarter" idx="4"/>
          </p:nvPr>
        </p:nvSpPr>
        <p:spPr bwMode="auto">
          <a:xfrm>
            <a:off x="6659563" y="6381750"/>
            <a:ext cx="395287" cy="322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lvl1pPr algn="r" eaLnBrk="1" hangingPunct="1">
              <a:defRPr sz="1200">
                <a:latin typeface="Arial Black" panose="020B0A04020102020204" pitchFamily="34" charset="0"/>
              </a:defRPr>
            </a:lvl1pPr>
          </a:lstStyle>
          <a:p>
            <a:pPr>
              <a:defRPr/>
            </a:pPr>
            <a:fld id="{22176391-0A0E-4E12-857C-C21BCDF2EAFE}" type="slidenum">
              <a:rPr lang="en-US" altLang="zh-CN"/>
              <a:pPr>
                <a:defRPr/>
              </a:pPr>
              <a:t>‹#›</a:t>
            </a:fld>
            <a:endParaRPr lang="en-US" altLang="zh-CN"/>
          </a:p>
        </p:txBody>
      </p:sp>
      <p:grpSp>
        <p:nvGrpSpPr>
          <p:cNvPr id="1028"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28016" name="Rectangle 1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fld id="{B213C3AA-10E6-49F2-BCED-7E1CFBCDBD4E}" type="datetime1">
              <a:rPr lang="zh-CN" altLang="en-US"/>
              <a:pPr>
                <a:defRPr/>
              </a:pPr>
              <a:t>2026/8/25</a:t>
            </a:fld>
            <a:endParaRPr lang="en-US" altLang="zh-CN"/>
          </a:p>
        </p:txBody>
      </p:sp>
    </p:spTree>
    <p:extLst>
      <p:ext uri="{BB962C8B-B14F-4D97-AF65-F5344CB8AC3E}">
        <p14:creationId xmlns:p14="http://schemas.microsoft.com/office/powerpoint/2010/main" val="2900511071"/>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8.jpg"/><Relationship Id="rId5" Type="http://schemas.openxmlformats.org/officeDocument/2006/relationships/image" Target="../media/image7.jpe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pan.seu.edu.cn/link/AA6DF07A8CCC9548E8BAE47DCAA61863B2"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pan.seu.edu.cn/link/AAD662308958FE4F8B9C22DE5291CC41C9" TargetMode="Externa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5.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0" y="-8384"/>
            <a:ext cx="9144000" cy="6858000"/>
          </a:xfrm>
          <a:prstGeom prst="rect">
            <a:avLst/>
          </a:prstGeom>
          <a:solidFill>
            <a:schemeClr val="bg1"/>
          </a:solidFill>
          <a:ln w="12700">
            <a:solidFill>
              <a:schemeClr val="tx1"/>
            </a:solidFill>
            <a:miter lim="800000"/>
            <a:headEnd type="none" w="sm" len="sm"/>
            <a:tailEnd type="none" w="sm" len="sm"/>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25000" noProof="0" dirty="0">
              <a:ln>
                <a:noFill/>
              </a:ln>
              <a:solidFill>
                <a:srgbClr val="FC0128"/>
              </a:solidFill>
              <a:effectLst>
                <a:outerShdw blurRad="38100" dist="38100" dir="2700000" algn="tl">
                  <a:srgbClr val="000000"/>
                </a:outerShdw>
              </a:effectLst>
              <a:uLnTx/>
              <a:uFillTx/>
              <a:latin typeface="Book Antiqua" pitchFamily="18" charset="0"/>
              <a:ea typeface="宋体" panose="02010600030101010101" pitchFamily="2" charset="-122"/>
              <a:cs typeface="+mn-cs"/>
            </a:endParaRPr>
          </a:p>
        </p:txBody>
      </p:sp>
      <p:sp>
        <p:nvSpPr>
          <p:cNvPr id="7" name="标题 1"/>
          <p:cNvSpPr txBox="1">
            <a:spLocks/>
          </p:cNvSpPr>
          <p:nvPr/>
        </p:nvSpPr>
        <p:spPr bwMode="auto">
          <a:xfrm>
            <a:off x="1674881" y="2685182"/>
            <a:ext cx="5794237" cy="1437357"/>
          </a:xfrm>
          <a:prstGeom prst="rect">
            <a:avLst/>
          </a:prstGeom>
          <a:noFill/>
          <a:ln w="9525">
            <a:noFill/>
            <a:miter lim="800000"/>
            <a:headEnd/>
            <a:tailEnd/>
          </a:ln>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zh-CN" altLang="en-US" sz="4800" b="1" i="0" u="none" strike="noStrike" kern="1200" cap="none" spc="600" normalizeH="0" baseline="0" noProof="0" dirty="0">
                <a:ln>
                  <a:noFill/>
                </a:ln>
                <a:solidFill>
                  <a:srgbClr val="C0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rPr>
              <a:t>数字系统课程设计</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96" y="-2036"/>
            <a:ext cx="2923631" cy="1414812"/>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43292" y="54131"/>
            <a:ext cx="2608828" cy="1638322"/>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标题 1"/>
          <p:cNvSpPr txBox="1">
            <a:spLocks/>
          </p:cNvSpPr>
          <p:nvPr/>
        </p:nvSpPr>
        <p:spPr bwMode="auto">
          <a:xfrm>
            <a:off x="6516216" y="5498134"/>
            <a:ext cx="2230102" cy="808514"/>
          </a:xfrm>
          <a:prstGeom prst="rect">
            <a:avLst/>
          </a:prstGeom>
          <a:noFill/>
          <a:ln w="9525">
            <a:noFill/>
            <a:miter lim="800000"/>
            <a:headEnd/>
            <a:tailEnd/>
          </a:ln>
        </p:spPr>
        <p:txBody>
          <a:bodyPr vert="horz" wrap="square" lIns="92075" tIns="46038" rIns="92075" bIns="46038"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a:lstStyle>
          <a:p>
            <a:pPr marL="0" marR="0" lvl="0" indent="0" algn="ctr" defTabSz="914400" rtl="0" eaLnBrk="0" fontAlgn="base" latinLnBrk="0" hangingPunct="0">
              <a:lnSpc>
                <a:spcPct val="150000"/>
              </a:lnSpc>
              <a:spcBef>
                <a:spcPct val="0"/>
              </a:spcBef>
              <a:spcAft>
                <a:spcPct val="0"/>
              </a:spcAft>
              <a:buClrTx/>
              <a:buSzTx/>
              <a:buFontTx/>
              <a:buNone/>
              <a:tabLst/>
              <a:defRPr/>
            </a:pPr>
            <a:r>
              <a:rPr kumimoji="1" lang="zh-CN" altLang="en-US" sz="18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rPr>
              <a:t>陈  天  一</a:t>
            </a:r>
            <a:endParaRPr kumimoji="1" lang="en-US" altLang="zh-CN" sz="18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endParaRPr>
          </a:p>
          <a:p>
            <a:pPr marL="0" marR="0" lvl="0" indent="0" algn="ctr" defTabSz="914400" rtl="0" eaLnBrk="0" fontAlgn="base" latinLnBrk="0" hangingPunct="0">
              <a:lnSpc>
                <a:spcPct val="150000"/>
              </a:lnSpc>
              <a:spcBef>
                <a:spcPct val="0"/>
              </a:spcBef>
              <a:spcAft>
                <a:spcPct val="0"/>
              </a:spcAft>
              <a:buClrTx/>
              <a:buSzTx/>
              <a:buFontTx/>
              <a:buNone/>
              <a:tabLst/>
              <a:defRPr/>
            </a:pPr>
            <a:r>
              <a:rPr kumimoji="1" lang="zh-CN" altLang="en-US" sz="18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rPr>
              <a:t>信息学院实验中心</a:t>
            </a:r>
            <a:endParaRPr kumimoji="1" lang="en-US" altLang="zh-CN" sz="18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endParaRPr>
          </a:p>
          <a:p>
            <a:pPr marL="0" marR="0" lvl="0" indent="0" algn="ctr" defTabSz="914400" rtl="0" eaLnBrk="0" fontAlgn="base" latinLnBrk="0" hangingPunct="0">
              <a:lnSpc>
                <a:spcPct val="150000"/>
              </a:lnSpc>
              <a:spcBef>
                <a:spcPct val="0"/>
              </a:spcBef>
              <a:spcAft>
                <a:spcPct val="0"/>
              </a:spcAft>
              <a:buClrTx/>
              <a:buSzTx/>
              <a:buFontTx/>
              <a:buNone/>
              <a:tabLst/>
              <a:defRPr/>
            </a:pPr>
            <a:r>
              <a:rPr kumimoji="1" lang="en-US" altLang="zh-CN" sz="18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j-cs"/>
              </a:rPr>
              <a:t>2026.08</a:t>
            </a:r>
            <a:endParaRPr kumimoji="1" lang="en-US" altLang="zh-CN" sz="2400" b="1" i="0" u="none" strike="noStrike" kern="1200" cap="none" spc="0" normalizeH="0" baseline="0" noProof="0" dirty="0">
              <a:ln>
                <a:noFill/>
              </a:ln>
              <a:solidFill>
                <a:srgbClr val="00007D"/>
              </a:solidFill>
              <a:effectLst/>
              <a:uLnTx/>
              <a:uFillTx/>
              <a:latin typeface="Times New Roman" panose="02020603050405020304" pitchFamily="18" charset="0"/>
              <a:ea typeface="宋体"/>
              <a:cs typeface="Times New Roman" panose="02020603050405020304" pitchFamily="18" charset="0"/>
            </a:endParaRPr>
          </a:p>
        </p:txBody>
      </p:sp>
      <p:pic>
        <p:nvPicPr>
          <p:cNvPr id="8" name="Picture 6">
            <a:extLst>
              <a:ext uri="{FF2B5EF4-FFF2-40B4-BE49-F238E27FC236}">
                <a16:creationId xmlns:a16="http://schemas.microsoft.com/office/drawing/2014/main" id="{06FAE2F8-6BA2-4801-E0CC-72C6080D69C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61465" y="49795"/>
            <a:ext cx="1762863" cy="228239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chemeClr val="tx1"/>
                </a:solidFill>
                <a:miter lim="800000"/>
                <a:headEnd/>
                <a:tailEnd/>
              </a14:hiddenLine>
            </a:ext>
          </a:extLst>
        </p:spPr>
      </p:pic>
      <p:pic>
        <p:nvPicPr>
          <p:cNvPr id="9" name="图片 8">
            <a:extLst>
              <a:ext uri="{FF2B5EF4-FFF2-40B4-BE49-F238E27FC236}">
                <a16:creationId xmlns:a16="http://schemas.microsoft.com/office/drawing/2014/main" id="{79DA3422-D19E-5E4A-8570-83B8010C4FE7}"/>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7240" t="7529" r="17240" b="5829"/>
          <a:stretch/>
        </p:blipFill>
        <p:spPr>
          <a:xfrm>
            <a:off x="7596336" y="71795"/>
            <a:ext cx="1438014" cy="1410360"/>
          </a:xfrm>
          <a:prstGeom prst="rect">
            <a:avLst/>
          </a:prstGeom>
        </p:spPr>
      </p:pic>
      <p:grpSp>
        <p:nvGrpSpPr>
          <p:cNvPr id="2" name="组合 1">
            <a:extLst>
              <a:ext uri="{FF2B5EF4-FFF2-40B4-BE49-F238E27FC236}">
                <a16:creationId xmlns:a16="http://schemas.microsoft.com/office/drawing/2014/main" id="{EACB1E5E-E8DE-5B2E-60F0-FCA79F92D7A1}"/>
              </a:ext>
            </a:extLst>
          </p:cNvPr>
          <p:cNvGrpSpPr/>
          <p:nvPr/>
        </p:nvGrpSpPr>
        <p:grpSpPr>
          <a:xfrm flipH="1">
            <a:off x="402636" y="5226596"/>
            <a:ext cx="2232570" cy="1358780"/>
            <a:chOff x="10798276" y="5773663"/>
            <a:chExt cx="1057865" cy="643752"/>
          </a:xfrm>
          <a:solidFill>
            <a:schemeClr val="bg2">
              <a:lumMod val="75000"/>
              <a:alpha val="90000"/>
            </a:schemeClr>
          </a:solidFill>
        </p:grpSpPr>
        <p:sp>
          <p:nvSpPr>
            <p:cNvPr id="3" name="任意多边形: 形状 2">
              <a:extLst>
                <a:ext uri="{FF2B5EF4-FFF2-40B4-BE49-F238E27FC236}">
                  <a16:creationId xmlns:a16="http://schemas.microsoft.com/office/drawing/2014/main" id="{BCF01067-2AB5-A86C-6A6C-01A7066F7AB5}"/>
                </a:ext>
              </a:extLst>
            </p:cNvPr>
            <p:cNvSpPr/>
            <p:nvPr/>
          </p:nvSpPr>
          <p:spPr>
            <a:xfrm flipH="1">
              <a:off x="11604470" y="5994923"/>
              <a:ext cx="251671" cy="57707"/>
            </a:xfrm>
            <a:custGeom>
              <a:avLst/>
              <a:gdLst>
                <a:gd name="connsiteX0" fmla="*/ 598322 w 598322"/>
                <a:gd name="connsiteY0" fmla="*/ 137193 h 137192"/>
                <a:gd name="connsiteX1" fmla="*/ 598322 w 598322"/>
                <a:gd name="connsiteY1" fmla="*/ 0 h 137192"/>
                <a:gd name="connsiteX2" fmla="*/ 257457 w 598322"/>
                <a:gd name="connsiteY2" fmla="*/ 0 h 137192"/>
                <a:gd name="connsiteX3" fmla="*/ 0 w 598322"/>
                <a:gd name="connsiteY3" fmla="*/ 0 h 137192"/>
                <a:gd name="connsiteX4" fmla="*/ 0 w 598322"/>
                <a:gd name="connsiteY4" fmla="*/ 137193 h 137192"/>
                <a:gd name="connsiteX5" fmla="*/ 257457 w 598322"/>
                <a:gd name="connsiteY5" fmla="*/ 137193 h 137192"/>
                <a:gd name="connsiteX6" fmla="*/ 598322 w 598322"/>
                <a:gd name="connsiteY6" fmla="*/ 137193 h 137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8322" h="137192">
                  <a:moveTo>
                    <a:pt x="598322" y="137193"/>
                  </a:moveTo>
                  <a:lnTo>
                    <a:pt x="598322" y="0"/>
                  </a:lnTo>
                  <a:lnTo>
                    <a:pt x="257457" y="0"/>
                  </a:lnTo>
                  <a:lnTo>
                    <a:pt x="0" y="0"/>
                  </a:lnTo>
                  <a:lnTo>
                    <a:pt x="0" y="137193"/>
                  </a:lnTo>
                  <a:lnTo>
                    <a:pt x="257457" y="137193"/>
                  </a:lnTo>
                  <a:lnTo>
                    <a:pt x="598322" y="137193"/>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6" name="任意多边形: 形状 5">
              <a:extLst>
                <a:ext uri="{FF2B5EF4-FFF2-40B4-BE49-F238E27FC236}">
                  <a16:creationId xmlns:a16="http://schemas.microsoft.com/office/drawing/2014/main" id="{C46934A3-FF61-70FF-7DFB-B1C4ECA1A61D}"/>
                </a:ext>
              </a:extLst>
            </p:cNvPr>
            <p:cNvSpPr/>
            <p:nvPr/>
          </p:nvSpPr>
          <p:spPr>
            <a:xfrm flipH="1">
              <a:off x="11604470" y="5960209"/>
              <a:ext cx="251671" cy="16244"/>
            </a:xfrm>
            <a:custGeom>
              <a:avLst/>
              <a:gdLst>
                <a:gd name="connsiteX0" fmla="*/ 0 w 598322"/>
                <a:gd name="connsiteY0" fmla="*/ 0 h 38618"/>
                <a:gd name="connsiteX1" fmla="*/ 598322 w 598322"/>
                <a:gd name="connsiteY1" fmla="*/ 0 h 38618"/>
                <a:gd name="connsiteX2" fmla="*/ 598322 w 598322"/>
                <a:gd name="connsiteY2" fmla="*/ 38618 h 38618"/>
                <a:gd name="connsiteX3" fmla="*/ 0 w 598322"/>
                <a:gd name="connsiteY3" fmla="*/ 38618 h 38618"/>
              </a:gdLst>
              <a:ahLst/>
              <a:cxnLst>
                <a:cxn ang="0">
                  <a:pos x="connsiteX0" y="connsiteY0"/>
                </a:cxn>
                <a:cxn ang="0">
                  <a:pos x="connsiteX1" y="connsiteY1"/>
                </a:cxn>
                <a:cxn ang="0">
                  <a:pos x="connsiteX2" y="connsiteY2"/>
                </a:cxn>
                <a:cxn ang="0">
                  <a:pos x="connsiteX3" y="connsiteY3"/>
                </a:cxn>
              </a:cxnLst>
              <a:rect l="l" t="t" r="r" b="b"/>
              <a:pathLst>
                <a:path w="598322" h="38618">
                  <a:moveTo>
                    <a:pt x="0" y="0"/>
                  </a:moveTo>
                  <a:lnTo>
                    <a:pt x="598322" y="0"/>
                  </a:lnTo>
                  <a:lnTo>
                    <a:pt x="598322" y="38618"/>
                  </a:lnTo>
                  <a:lnTo>
                    <a:pt x="0" y="38618"/>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 name="任意多边形: 形状 9">
              <a:extLst>
                <a:ext uri="{FF2B5EF4-FFF2-40B4-BE49-F238E27FC236}">
                  <a16:creationId xmlns:a16="http://schemas.microsoft.com/office/drawing/2014/main" id="{8EF31152-3DCB-7284-82CF-259C71CD6410}"/>
                </a:ext>
              </a:extLst>
            </p:cNvPr>
            <p:cNvSpPr/>
            <p:nvPr/>
          </p:nvSpPr>
          <p:spPr>
            <a:xfrm flipH="1">
              <a:off x="11043049" y="6385891"/>
              <a:ext cx="568393" cy="31524"/>
            </a:xfrm>
            <a:custGeom>
              <a:avLst/>
              <a:gdLst>
                <a:gd name="connsiteX0" fmla="*/ 0 w 1351295"/>
                <a:gd name="connsiteY0" fmla="*/ 0 h 74944"/>
                <a:gd name="connsiteX1" fmla="*/ 0 w 1351295"/>
                <a:gd name="connsiteY1" fmla="*/ 74945 h 74944"/>
                <a:gd name="connsiteX2" fmla="*/ 675736 w 1351295"/>
                <a:gd name="connsiteY2" fmla="*/ 74945 h 74944"/>
                <a:gd name="connsiteX3" fmla="*/ 1351295 w 1351295"/>
                <a:gd name="connsiteY3" fmla="*/ 74945 h 74944"/>
                <a:gd name="connsiteX4" fmla="*/ 1351295 w 1351295"/>
                <a:gd name="connsiteY4" fmla="*/ 0 h 74944"/>
                <a:gd name="connsiteX5" fmla="*/ 675736 w 1351295"/>
                <a:gd name="connsiteY5" fmla="*/ 0 h 74944"/>
                <a:gd name="connsiteX6" fmla="*/ 0 w 1351295"/>
                <a:gd name="connsiteY6" fmla="*/ 0 h 74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1295" h="74944">
                  <a:moveTo>
                    <a:pt x="0" y="0"/>
                  </a:moveTo>
                  <a:lnTo>
                    <a:pt x="0" y="74945"/>
                  </a:lnTo>
                  <a:lnTo>
                    <a:pt x="675736" y="74945"/>
                  </a:lnTo>
                  <a:lnTo>
                    <a:pt x="1351295" y="74945"/>
                  </a:lnTo>
                  <a:lnTo>
                    <a:pt x="1351295" y="0"/>
                  </a:lnTo>
                  <a:lnTo>
                    <a:pt x="675736" y="0"/>
                  </a:lnTo>
                  <a:lnTo>
                    <a:pt x="0" y="0"/>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2" name="任意多边形: 形状 11">
              <a:extLst>
                <a:ext uri="{FF2B5EF4-FFF2-40B4-BE49-F238E27FC236}">
                  <a16:creationId xmlns:a16="http://schemas.microsoft.com/office/drawing/2014/main" id="{780769E0-D278-A5F9-DC02-DAD227734DC9}"/>
                </a:ext>
              </a:extLst>
            </p:cNvPr>
            <p:cNvSpPr/>
            <p:nvPr/>
          </p:nvSpPr>
          <p:spPr>
            <a:xfrm flipH="1">
              <a:off x="11333291" y="5834485"/>
              <a:ext cx="59932" cy="46952"/>
            </a:xfrm>
            <a:custGeom>
              <a:avLst/>
              <a:gdLst>
                <a:gd name="connsiteX0" fmla="*/ 0 w 142482"/>
                <a:gd name="connsiteY0" fmla="*/ 0 h 111623"/>
                <a:gd name="connsiteX1" fmla="*/ 142483 w 142482"/>
                <a:gd name="connsiteY1" fmla="*/ 0 h 111623"/>
                <a:gd name="connsiteX2" fmla="*/ 142483 w 142482"/>
                <a:gd name="connsiteY2" fmla="*/ 111623 h 111623"/>
                <a:gd name="connsiteX3" fmla="*/ 0 w 142482"/>
                <a:gd name="connsiteY3" fmla="*/ 111623 h 111623"/>
              </a:gdLst>
              <a:ahLst/>
              <a:cxnLst>
                <a:cxn ang="0">
                  <a:pos x="connsiteX0" y="connsiteY0"/>
                </a:cxn>
                <a:cxn ang="0">
                  <a:pos x="connsiteX1" y="connsiteY1"/>
                </a:cxn>
                <a:cxn ang="0">
                  <a:pos x="connsiteX2" y="connsiteY2"/>
                </a:cxn>
                <a:cxn ang="0">
                  <a:pos x="connsiteX3" y="connsiteY3"/>
                </a:cxn>
              </a:cxnLst>
              <a:rect l="l" t="t" r="r" b="b"/>
              <a:pathLst>
                <a:path w="142482" h="111623">
                  <a:moveTo>
                    <a:pt x="0" y="0"/>
                  </a:moveTo>
                  <a:lnTo>
                    <a:pt x="142483" y="0"/>
                  </a:lnTo>
                  <a:lnTo>
                    <a:pt x="142483" y="111623"/>
                  </a:lnTo>
                  <a:lnTo>
                    <a:pt x="0" y="111623"/>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 name="任意多边形: 形状 14">
              <a:extLst>
                <a:ext uri="{FF2B5EF4-FFF2-40B4-BE49-F238E27FC236}">
                  <a16:creationId xmlns:a16="http://schemas.microsoft.com/office/drawing/2014/main" id="{062A8E89-79E3-AA28-32DD-4157EEB4024C}"/>
                </a:ext>
              </a:extLst>
            </p:cNvPr>
            <p:cNvSpPr/>
            <p:nvPr/>
          </p:nvSpPr>
          <p:spPr>
            <a:xfrm flipH="1">
              <a:off x="11616412" y="5843089"/>
              <a:ext cx="27741" cy="38347"/>
            </a:xfrm>
            <a:custGeom>
              <a:avLst/>
              <a:gdLst>
                <a:gd name="connsiteX0" fmla="*/ 0 w 65951"/>
                <a:gd name="connsiteY0" fmla="*/ 0 h 91167"/>
                <a:gd name="connsiteX1" fmla="*/ 65951 w 65951"/>
                <a:gd name="connsiteY1" fmla="*/ 0 h 91167"/>
                <a:gd name="connsiteX2" fmla="*/ 65951 w 65951"/>
                <a:gd name="connsiteY2" fmla="*/ 91168 h 91167"/>
                <a:gd name="connsiteX3" fmla="*/ 0 w 65951"/>
                <a:gd name="connsiteY3" fmla="*/ 91168 h 91167"/>
              </a:gdLst>
              <a:ahLst/>
              <a:cxnLst>
                <a:cxn ang="0">
                  <a:pos x="connsiteX0" y="connsiteY0"/>
                </a:cxn>
                <a:cxn ang="0">
                  <a:pos x="connsiteX1" y="connsiteY1"/>
                </a:cxn>
                <a:cxn ang="0">
                  <a:pos x="connsiteX2" y="connsiteY2"/>
                </a:cxn>
                <a:cxn ang="0">
                  <a:pos x="connsiteX3" y="connsiteY3"/>
                </a:cxn>
              </a:cxnLst>
              <a:rect l="l" t="t" r="r" b="b"/>
              <a:pathLst>
                <a:path w="65951" h="91167">
                  <a:moveTo>
                    <a:pt x="0" y="0"/>
                  </a:moveTo>
                  <a:lnTo>
                    <a:pt x="65951" y="0"/>
                  </a:lnTo>
                  <a:lnTo>
                    <a:pt x="65951" y="91168"/>
                  </a:lnTo>
                  <a:lnTo>
                    <a:pt x="0" y="91168"/>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 name="任意多边形: 形状 15">
              <a:extLst>
                <a:ext uri="{FF2B5EF4-FFF2-40B4-BE49-F238E27FC236}">
                  <a16:creationId xmlns:a16="http://schemas.microsoft.com/office/drawing/2014/main" id="{494C7687-0799-AC98-BB99-DE01201857F0}"/>
                </a:ext>
              </a:extLst>
            </p:cNvPr>
            <p:cNvSpPr/>
            <p:nvPr/>
          </p:nvSpPr>
          <p:spPr>
            <a:xfrm flipH="1">
              <a:off x="11656466" y="5843089"/>
              <a:ext cx="27741" cy="38347"/>
            </a:xfrm>
            <a:custGeom>
              <a:avLst/>
              <a:gdLst>
                <a:gd name="connsiteX0" fmla="*/ 0 w 65951"/>
                <a:gd name="connsiteY0" fmla="*/ 0 h 91167"/>
                <a:gd name="connsiteX1" fmla="*/ 65951 w 65951"/>
                <a:gd name="connsiteY1" fmla="*/ 0 h 91167"/>
                <a:gd name="connsiteX2" fmla="*/ 65951 w 65951"/>
                <a:gd name="connsiteY2" fmla="*/ 91168 h 91167"/>
                <a:gd name="connsiteX3" fmla="*/ 0 w 65951"/>
                <a:gd name="connsiteY3" fmla="*/ 91168 h 91167"/>
              </a:gdLst>
              <a:ahLst/>
              <a:cxnLst>
                <a:cxn ang="0">
                  <a:pos x="connsiteX0" y="connsiteY0"/>
                </a:cxn>
                <a:cxn ang="0">
                  <a:pos x="connsiteX1" y="connsiteY1"/>
                </a:cxn>
                <a:cxn ang="0">
                  <a:pos x="connsiteX2" y="connsiteY2"/>
                </a:cxn>
                <a:cxn ang="0">
                  <a:pos x="connsiteX3" y="connsiteY3"/>
                </a:cxn>
              </a:cxnLst>
              <a:rect l="l" t="t" r="r" b="b"/>
              <a:pathLst>
                <a:path w="65951" h="91167">
                  <a:moveTo>
                    <a:pt x="0" y="0"/>
                  </a:moveTo>
                  <a:lnTo>
                    <a:pt x="65951" y="0"/>
                  </a:lnTo>
                  <a:lnTo>
                    <a:pt x="65951" y="91168"/>
                  </a:lnTo>
                  <a:lnTo>
                    <a:pt x="0" y="91168"/>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 name="任意多边形: 形状 17">
              <a:extLst>
                <a:ext uri="{FF2B5EF4-FFF2-40B4-BE49-F238E27FC236}">
                  <a16:creationId xmlns:a16="http://schemas.microsoft.com/office/drawing/2014/main" id="{9A8CEE1F-14AC-8A96-814E-67BBD34D005B}"/>
                </a:ext>
              </a:extLst>
            </p:cNvPr>
            <p:cNvSpPr/>
            <p:nvPr/>
          </p:nvSpPr>
          <p:spPr>
            <a:xfrm flipH="1">
              <a:off x="11333217" y="6092386"/>
              <a:ext cx="39905" cy="65643"/>
            </a:xfrm>
            <a:custGeom>
              <a:avLst/>
              <a:gdLst>
                <a:gd name="connsiteX0" fmla="*/ 0 w 94871"/>
                <a:gd name="connsiteY0" fmla="*/ 0 h 156060"/>
                <a:gd name="connsiteX1" fmla="*/ 94871 w 94871"/>
                <a:gd name="connsiteY1" fmla="*/ 0 h 156060"/>
                <a:gd name="connsiteX2" fmla="*/ 94871 w 94871"/>
                <a:gd name="connsiteY2" fmla="*/ 156061 h 156060"/>
                <a:gd name="connsiteX3" fmla="*/ 0 w 94871"/>
                <a:gd name="connsiteY3" fmla="*/ 156061 h 156060"/>
              </a:gdLst>
              <a:ahLst/>
              <a:cxnLst>
                <a:cxn ang="0">
                  <a:pos x="connsiteX0" y="connsiteY0"/>
                </a:cxn>
                <a:cxn ang="0">
                  <a:pos x="connsiteX1" y="connsiteY1"/>
                </a:cxn>
                <a:cxn ang="0">
                  <a:pos x="connsiteX2" y="connsiteY2"/>
                </a:cxn>
                <a:cxn ang="0">
                  <a:pos x="connsiteX3" y="connsiteY3"/>
                </a:cxn>
              </a:cxnLst>
              <a:rect l="l" t="t" r="r" b="b"/>
              <a:pathLst>
                <a:path w="94871" h="156060">
                  <a:moveTo>
                    <a:pt x="0" y="0"/>
                  </a:moveTo>
                  <a:lnTo>
                    <a:pt x="94871" y="0"/>
                  </a:lnTo>
                  <a:lnTo>
                    <a:pt x="94871" y="156061"/>
                  </a:lnTo>
                  <a:lnTo>
                    <a:pt x="0" y="156061"/>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 name="任意多边形: 形状 18">
              <a:extLst>
                <a:ext uri="{FF2B5EF4-FFF2-40B4-BE49-F238E27FC236}">
                  <a16:creationId xmlns:a16="http://schemas.microsoft.com/office/drawing/2014/main" id="{4CE39062-AA06-9282-C057-3B1023A191CD}"/>
                </a:ext>
              </a:extLst>
            </p:cNvPr>
            <p:cNvSpPr/>
            <p:nvPr/>
          </p:nvSpPr>
          <p:spPr>
            <a:xfrm flipH="1">
              <a:off x="11445664" y="6092386"/>
              <a:ext cx="39905" cy="65643"/>
            </a:xfrm>
            <a:custGeom>
              <a:avLst/>
              <a:gdLst>
                <a:gd name="connsiteX0" fmla="*/ 0 w 94871"/>
                <a:gd name="connsiteY0" fmla="*/ 0 h 156060"/>
                <a:gd name="connsiteX1" fmla="*/ 94871 w 94871"/>
                <a:gd name="connsiteY1" fmla="*/ 0 h 156060"/>
                <a:gd name="connsiteX2" fmla="*/ 94871 w 94871"/>
                <a:gd name="connsiteY2" fmla="*/ 156061 h 156060"/>
                <a:gd name="connsiteX3" fmla="*/ 0 w 94871"/>
                <a:gd name="connsiteY3" fmla="*/ 156061 h 156060"/>
              </a:gdLst>
              <a:ahLst/>
              <a:cxnLst>
                <a:cxn ang="0">
                  <a:pos x="connsiteX0" y="connsiteY0"/>
                </a:cxn>
                <a:cxn ang="0">
                  <a:pos x="connsiteX1" y="connsiteY1"/>
                </a:cxn>
                <a:cxn ang="0">
                  <a:pos x="connsiteX2" y="connsiteY2"/>
                </a:cxn>
                <a:cxn ang="0">
                  <a:pos x="connsiteX3" y="connsiteY3"/>
                </a:cxn>
              </a:cxnLst>
              <a:rect l="l" t="t" r="r" b="b"/>
              <a:pathLst>
                <a:path w="94871" h="156060">
                  <a:moveTo>
                    <a:pt x="0" y="0"/>
                  </a:moveTo>
                  <a:lnTo>
                    <a:pt x="94871" y="0"/>
                  </a:lnTo>
                  <a:lnTo>
                    <a:pt x="94871" y="156061"/>
                  </a:lnTo>
                  <a:lnTo>
                    <a:pt x="0" y="156061"/>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 name="任意多边形: 形状 19">
              <a:extLst>
                <a:ext uri="{FF2B5EF4-FFF2-40B4-BE49-F238E27FC236}">
                  <a16:creationId xmlns:a16="http://schemas.microsoft.com/office/drawing/2014/main" id="{9EF5F567-3ABC-B239-809F-B0D60E32D2B6}"/>
                </a:ext>
              </a:extLst>
            </p:cNvPr>
            <p:cNvSpPr/>
            <p:nvPr/>
          </p:nvSpPr>
          <p:spPr>
            <a:xfrm flipH="1">
              <a:off x="11497808" y="6092386"/>
              <a:ext cx="39905" cy="65643"/>
            </a:xfrm>
            <a:custGeom>
              <a:avLst/>
              <a:gdLst>
                <a:gd name="connsiteX0" fmla="*/ 0 w 94871"/>
                <a:gd name="connsiteY0" fmla="*/ 0 h 156060"/>
                <a:gd name="connsiteX1" fmla="*/ 94871 w 94871"/>
                <a:gd name="connsiteY1" fmla="*/ 0 h 156060"/>
                <a:gd name="connsiteX2" fmla="*/ 94871 w 94871"/>
                <a:gd name="connsiteY2" fmla="*/ 156061 h 156060"/>
                <a:gd name="connsiteX3" fmla="*/ 0 w 94871"/>
                <a:gd name="connsiteY3" fmla="*/ 156061 h 156060"/>
              </a:gdLst>
              <a:ahLst/>
              <a:cxnLst>
                <a:cxn ang="0">
                  <a:pos x="connsiteX0" y="connsiteY0"/>
                </a:cxn>
                <a:cxn ang="0">
                  <a:pos x="connsiteX1" y="connsiteY1"/>
                </a:cxn>
                <a:cxn ang="0">
                  <a:pos x="connsiteX2" y="connsiteY2"/>
                </a:cxn>
                <a:cxn ang="0">
                  <a:pos x="connsiteX3" y="connsiteY3"/>
                </a:cxn>
              </a:cxnLst>
              <a:rect l="l" t="t" r="r" b="b"/>
              <a:pathLst>
                <a:path w="94871" h="156060">
                  <a:moveTo>
                    <a:pt x="0" y="0"/>
                  </a:moveTo>
                  <a:lnTo>
                    <a:pt x="94871" y="0"/>
                  </a:lnTo>
                  <a:lnTo>
                    <a:pt x="94871" y="156061"/>
                  </a:lnTo>
                  <a:lnTo>
                    <a:pt x="0" y="156061"/>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 name="任意多边形: 形状 20">
              <a:extLst>
                <a:ext uri="{FF2B5EF4-FFF2-40B4-BE49-F238E27FC236}">
                  <a16:creationId xmlns:a16="http://schemas.microsoft.com/office/drawing/2014/main" id="{F329F8CD-F64E-CBF9-B4BB-BA6B6CD280E0}"/>
                </a:ext>
              </a:extLst>
            </p:cNvPr>
            <p:cNvSpPr/>
            <p:nvPr/>
          </p:nvSpPr>
          <p:spPr>
            <a:xfrm flipH="1">
              <a:off x="11635994" y="6092609"/>
              <a:ext cx="39905" cy="65643"/>
            </a:xfrm>
            <a:custGeom>
              <a:avLst/>
              <a:gdLst>
                <a:gd name="connsiteX0" fmla="*/ 0 w 94871"/>
                <a:gd name="connsiteY0" fmla="*/ 0 h 156060"/>
                <a:gd name="connsiteX1" fmla="*/ 94871 w 94871"/>
                <a:gd name="connsiteY1" fmla="*/ 0 h 156060"/>
                <a:gd name="connsiteX2" fmla="*/ 94871 w 94871"/>
                <a:gd name="connsiteY2" fmla="*/ 156061 h 156060"/>
                <a:gd name="connsiteX3" fmla="*/ 0 w 94871"/>
                <a:gd name="connsiteY3" fmla="*/ 156061 h 156060"/>
              </a:gdLst>
              <a:ahLst/>
              <a:cxnLst>
                <a:cxn ang="0">
                  <a:pos x="connsiteX0" y="connsiteY0"/>
                </a:cxn>
                <a:cxn ang="0">
                  <a:pos x="connsiteX1" y="connsiteY1"/>
                </a:cxn>
                <a:cxn ang="0">
                  <a:pos x="connsiteX2" y="connsiteY2"/>
                </a:cxn>
                <a:cxn ang="0">
                  <a:pos x="connsiteX3" y="connsiteY3"/>
                </a:cxn>
              </a:cxnLst>
              <a:rect l="l" t="t" r="r" b="b"/>
              <a:pathLst>
                <a:path w="94871" h="156060">
                  <a:moveTo>
                    <a:pt x="0" y="0"/>
                  </a:moveTo>
                  <a:lnTo>
                    <a:pt x="94871" y="0"/>
                  </a:lnTo>
                  <a:lnTo>
                    <a:pt x="94871" y="156061"/>
                  </a:lnTo>
                  <a:lnTo>
                    <a:pt x="0" y="156061"/>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 name="任意多边形: 形状 21">
              <a:extLst>
                <a:ext uri="{FF2B5EF4-FFF2-40B4-BE49-F238E27FC236}">
                  <a16:creationId xmlns:a16="http://schemas.microsoft.com/office/drawing/2014/main" id="{D000C8EE-AA12-08DA-BA58-C6EDD3962550}"/>
                </a:ext>
              </a:extLst>
            </p:cNvPr>
            <p:cNvSpPr/>
            <p:nvPr/>
          </p:nvSpPr>
          <p:spPr>
            <a:xfrm flipH="1">
              <a:off x="11688138" y="6092609"/>
              <a:ext cx="39905" cy="65643"/>
            </a:xfrm>
            <a:custGeom>
              <a:avLst/>
              <a:gdLst>
                <a:gd name="connsiteX0" fmla="*/ 0 w 94871"/>
                <a:gd name="connsiteY0" fmla="*/ 0 h 156060"/>
                <a:gd name="connsiteX1" fmla="*/ 94871 w 94871"/>
                <a:gd name="connsiteY1" fmla="*/ 0 h 156060"/>
                <a:gd name="connsiteX2" fmla="*/ 94871 w 94871"/>
                <a:gd name="connsiteY2" fmla="*/ 156061 h 156060"/>
                <a:gd name="connsiteX3" fmla="*/ 0 w 94871"/>
                <a:gd name="connsiteY3" fmla="*/ 156061 h 156060"/>
              </a:gdLst>
              <a:ahLst/>
              <a:cxnLst>
                <a:cxn ang="0">
                  <a:pos x="connsiteX0" y="connsiteY0"/>
                </a:cxn>
                <a:cxn ang="0">
                  <a:pos x="connsiteX1" y="connsiteY1"/>
                </a:cxn>
                <a:cxn ang="0">
                  <a:pos x="connsiteX2" y="connsiteY2"/>
                </a:cxn>
                <a:cxn ang="0">
                  <a:pos x="connsiteX3" y="connsiteY3"/>
                </a:cxn>
              </a:cxnLst>
              <a:rect l="l" t="t" r="r" b="b"/>
              <a:pathLst>
                <a:path w="94871" h="156060">
                  <a:moveTo>
                    <a:pt x="0" y="0"/>
                  </a:moveTo>
                  <a:lnTo>
                    <a:pt x="94871" y="0"/>
                  </a:lnTo>
                  <a:lnTo>
                    <a:pt x="94871" y="156061"/>
                  </a:lnTo>
                  <a:lnTo>
                    <a:pt x="0" y="156061"/>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 name="任意多边形: 形状 22">
              <a:extLst>
                <a:ext uri="{FF2B5EF4-FFF2-40B4-BE49-F238E27FC236}">
                  <a16:creationId xmlns:a16="http://schemas.microsoft.com/office/drawing/2014/main" id="{358687DF-BD30-7E1E-FDEF-A462657941CE}"/>
                </a:ext>
              </a:extLst>
            </p:cNvPr>
            <p:cNvSpPr/>
            <p:nvPr/>
          </p:nvSpPr>
          <p:spPr>
            <a:xfrm flipH="1">
              <a:off x="11764092" y="6092609"/>
              <a:ext cx="39905" cy="65643"/>
            </a:xfrm>
            <a:custGeom>
              <a:avLst/>
              <a:gdLst>
                <a:gd name="connsiteX0" fmla="*/ 0 w 94871"/>
                <a:gd name="connsiteY0" fmla="*/ 0 h 156060"/>
                <a:gd name="connsiteX1" fmla="*/ 94871 w 94871"/>
                <a:gd name="connsiteY1" fmla="*/ 0 h 156060"/>
                <a:gd name="connsiteX2" fmla="*/ 94871 w 94871"/>
                <a:gd name="connsiteY2" fmla="*/ 156061 h 156060"/>
                <a:gd name="connsiteX3" fmla="*/ 0 w 94871"/>
                <a:gd name="connsiteY3" fmla="*/ 156061 h 156060"/>
              </a:gdLst>
              <a:ahLst/>
              <a:cxnLst>
                <a:cxn ang="0">
                  <a:pos x="connsiteX0" y="connsiteY0"/>
                </a:cxn>
                <a:cxn ang="0">
                  <a:pos x="connsiteX1" y="connsiteY1"/>
                </a:cxn>
                <a:cxn ang="0">
                  <a:pos x="connsiteX2" y="connsiteY2"/>
                </a:cxn>
                <a:cxn ang="0">
                  <a:pos x="connsiteX3" y="connsiteY3"/>
                </a:cxn>
              </a:cxnLst>
              <a:rect l="l" t="t" r="r" b="b"/>
              <a:pathLst>
                <a:path w="94871" h="156060">
                  <a:moveTo>
                    <a:pt x="0" y="0"/>
                  </a:moveTo>
                  <a:lnTo>
                    <a:pt x="94871" y="0"/>
                  </a:lnTo>
                  <a:lnTo>
                    <a:pt x="94871" y="156061"/>
                  </a:lnTo>
                  <a:lnTo>
                    <a:pt x="0" y="156061"/>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 name="任意多边形: 形状 23">
              <a:extLst>
                <a:ext uri="{FF2B5EF4-FFF2-40B4-BE49-F238E27FC236}">
                  <a16:creationId xmlns:a16="http://schemas.microsoft.com/office/drawing/2014/main" id="{1A16AA06-268D-BB08-0AF1-E2D9531F2111}"/>
                </a:ext>
              </a:extLst>
            </p:cNvPr>
            <p:cNvSpPr/>
            <p:nvPr/>
          </p:nvSpPr>
          <p:spPr>
            <a:xfrm flipH="1">
              <a:off x="11816236" y="6092609"/>
              <a:ext cx="39905" cy="65643"/>
            </a:xfrm>
            <a:custGeom>
              <a:avLst/>
              <a:gdLst>
                <a:gd name="connsiteX0" fmla="*/ 0 w 94871"/>
                <a:gd name="connsiteY0" fmla="*/ 0 h 156060"/>
                <a:gd name="connsiteX1" fmla="*/ 94871 w 94871"/>
                <a:gd name="connsiteY1" fmla="*/ 0 h 156060"/>
                <a:gd name="connsiteX2" fmla="*/ 94871 w 94871"/>
                <a:gd name="connsiteY2" fmla="*/ 156061 h 156060"/>
                <a:gd name="connsiteX3" fmla="*/ 0 w 94871"/>
                <a:gd name="connsiteY3" fmla="*/ 156061 h 156060"/>
              </a:gdLst>
              <a:ahLst/>
              <a:cxnLst>
                <a:cxn ang="0">
                  <a:pos x="connsiteX0" y="connsiteY0"/>
                </a:cxn>
                <a:cxn ang="0">
                  <a:pos x="connsiteX1" y="connsiteY1"/>
                </a:cxn>
                <a:cxn ang="0">
                  <a:pos x="connsiteX2" y="connsiteY2"/>
                </a:cxn>
                <a:cxn ang="0">
                  <a:pos x="connsiteX3" y="connsiteY3"/>
                </a:cxn>
              </a:cxnLst>
              <a:rect l="l" t="t" r="r" b="b"/>
              <a:pathLst>
                <a:path w="94871" h="156060">
                  <a:moveTo>
                    <a:pt x="0" y="0"/>
                  </a:moveTo>
                  <a:lnTo>
                    <a:pt x="94871" y="0"/>
                  </a:lnTo>
                  <a:lnTo>
                    <a:pt x="94871" y="156061"/>
                  </a:lnTo>
                  <a:lnTo>
                    <a:pt x="0" y="156061"/>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 name="任意多边形: 形状 24">
              <a:extLst>
                <a:ext uri="{FF2B5EF4-FFF2-40B4-BE49-F238E27FC236}">
                  <a16:creationId xmlns:a16="http://schemas.microsoft.com/office/drawing/2014/main" id="{3E00BB03-E4FB-A443-5F2A-DE71C89C8CBB}"/>
                </a:ext>
              </a:extLst>
            </p:cNvPr>
            <p:cNvSpPr/>
            <p:nvPr/>
          </p:nvSpPr>
          <p:spPr>
            <a:xfrm flipH="1">
              <a:off x="11635994" y="6205427"/>
              <a:ext cx="39905" cy="65643"/>
            </a:xfrm>
            <a:custGeom>
              <a:avLst/>
              <a:gdLst>
                <a:gd name="connsiteX0" fmla="*/ 0 w 94871"/>
                <a:gd name="connsiteY0" fmla="*/ 0 h 156060"/>
                <a:gd name="connsiteX1" fmla="*/ 94871 w 94871"/>
                <a:gd name="connsiteY1" fmla="*/ 0 h 156060"/>
                <a:gd name="connsiteX2" fmla="*/ 94871 w 94871"/>
                <a:gd name="connsiteY2" fmla="*/ 156061 h 156060"/>
                <a:gd name="connsiteX3" fmla="*/ 0 w 94871"/>
                <a:gd name="connsiteY3" fmla="*/ 156061 h 156060"/>
              </a:gdLst>
              <a:ahLst/>
              <a:cxnLst>
                <a:cxn ang="0">
                  <a:pos x="connsiteX0" y="connsiteY0"/>
                </a:cxn>
                <a:cxn ang="0">
                  <a:pos x="connsiteX1" y="connsiteY1"/>
                </a:cxn>
                <a:cxn ang="0">
                  <a:pos x="connsiteX2" y="connsiteY2"/>
                </a:cxn>
                <a:cxn ang="0">
                  <a:pos x="connsiteX3" y="connsiteY3"/>
                </a:cxn>
              </a:cxnLst>
              <a:rect l="l" t="t" r="r" b="b"/>
              <a:pathLst>
                <a:path w="94871" h="156060">
                  <a:moveTo>
                    <a:pt x="0" y="0"/>
                  </a:moveTo>
                  <a:lnTo>
                    <a:pt x="94871" y="0"/>
                  </a:lnTo>
                  <a:lnTo>
                    <a:pt x="94871" y="156061"/>
                  </a:lnTo>
                  <a:lnTo>
                    <a:pt x="0" y="156061"/>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6" name="任意多边形: 形状 25">
              <a:extLst>
                <a:ext uri="{FF2B5EF4-FFF2-40B4-BE49-F238E27FC236}">
                  <a16:creationId xmlns:a16="http://schemas.microsoft.com/office/drawing/2014/main" id="{1A27462D-1022-A681-9E32-515A6D1345B2}"/>
                </a:ext>
              </a:extLst>
            </p:cNvPr>
            <p:cNvSpPr/>
            <p:nvPr/>
          </p:nvSpPr>
          <p:spPr>
            <a:xfrm flipH="1">
              <a:off x="11688138" y="6205427"/>
              <a:ext cx="39905" cy="65643"/>
            </a:xfrm>
            <a:custGeom>
              <a:avLst/>
              <a:gdLst>
                <a:gd name="connsiteX0" fmla="*/ 0 w 94871"/>
                <a:gd name="connsiteY0" fmla="*/ 0 h 156060"/>
                <a:gd name="connsiteX1" fmla="*/ 94871 w 94871"/>
                <a:gd name="connsiteY1" fmla="*/ 0 h 156060"/>
                <a:gd name="connsiteX2" fmla="*/ 94871 w 94871"/>
                <a:gd name="connsiteY2" fmla="*/ 156061 h 156060"/>
                <a:gd name="connsiteX3" fmla="*/ 0 w 94871"/>
                <a:gd name="connsiteY3" fmla="*/ 156061 h 156060"/>
              </a:gdLst>
              <a:ahLst/>
              <a:cxnLst>
                <a:cxn ang="0">
                  <a:pos x="connsiteX0" y="connsiteY0"/>
                </a:cxn>
                <a:cxn ang="0">
                  <a:pos x="connsiteX1" y="connsiteY1"/>
                </a:cxn>
                <a:cxn ang="0">
                  <a:pos x="connsiteX2" y="connsiteY2"/>
                </a:cxn>
                <a:cxn ang="0">
                  <a:pos x="connsiteX3" y="connsiteY3"/>
                </a:cxn>
              </a:cxnLst>
              <a:rect l="l" t="t" r="r" b="b"/>
              <a:pathLst>
                <a:path w="94871" h="156060">
                  <a:moveTo>
                    <a:pt x="0" y="0"/>
                  </a:moveTo>
                  <a:lnTo>
                    <a:pt x="94871" y="0"/>
                  </a:lnTo>
                  <a:lnTo>
                    <a:pt x="94871" y="156061"/>
                  </a:lnTo>
                  <a:lnTo>
                    <a:pt x="0" y="156061"/>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7" name="任意多边形: 形状 26">
              <a:extLst>
                <a:ext uri="{FF2B5EF4-FFF2-40B4-BE49-F238E27FC236}">
                  <a16:creationId xmlns:a16="http://schemas.microsoft.com/office/drawing/2014/main" id="{DB1D964A-74C9-8BFF-07E7-1B11E68C9F37}"/>
                </a:ext>
              </a:extLst>
            </p:cNvPr>
            <p:cNvSpPr/>
            <p:nvPr/>
          </p:nvSpPr>
          <p:spPr>
            <a:xfrm flipH="1">
              <a:off x="11764092" y="6205427"/>
              <a:ext cx="39905" cy="65643"/>
            </a:xfrm>
            <a:custGeom>
              <a:avLst/>
              <a:gdLst>
                <a:gd name="connsiteX0" fmla="*/ 0 w 94871"/>
                <a:gd name="connsiteY0" fmla="*/ 0 h 156060"/>
                <a:gd name="connsiteX1" fmla="*/ 94871 w 94871"/>
                <a:gd name="connsiteY1" fmla="*/ 0 h 156060"/>
                <a:gd name="connsiteX2" fmla="*/ 94871 w 94871"/>
                <a:gd name="connsiteY2" fmla="*/ 156061 h 156060"/>
                <a:gd name="connsiteX3" fmla="*/ 0 w 94871"/>
                <a:gd name="connsiteY3" fmla="*/ 156061 h 156060"/>
              </a:gdLst>
              <a:ahLst/>
              <a:cxnLst>
                <a:cxn ang="0">
                  <a:pos x="connsiteX0" y="connsiteY0"/>
                </a:cxn>
                <a:cxn ang="0">
                  <a:pos x="connsiteX1" y="connsiteY1"/>
                </a:cxn>
                <a:cxn ang="0">
                  <a:pos x="connsiteX2" y="connsiteY2"/>
                </a:cxn>
                <a:cxn ang="0">
                  <a:pos x="connsiteX3" y="connsiteY3"/>
                </a:cxn>
              </a:cxnLst>
              <a:rect l="l" t="t" r="r" b="b"/>
              <a:pathLst>
                <a:path w="94871" h="156060">
                  <a:moveTo>
                    <a:pt x="0" y="0"/>
                  </a:moveTo>
                  <a:lnTo>
                    <a:pt x="94871" y="0"/>
                  </a:lnTo>
                  <a:lnTo>
                    <a:pt x="94871" y="156061"/>
                  </a:lnTo>
                  <a:lnTo>
                    <a:pt x="0" y="156061"/>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8" name="任意多边形: 形状 27">
              <a:extLst>
                <a:ext uri="{FF2B5EF4-FFF2-40B4-BE49-F238E27FC236}">
                  <a16:creationId xmlns:a16="http://schemas.microsoft.com/office/drawing/2014/main" id="{DE6AC45E-069A-EBDB-FF2A-31C2562FB7CF}"/>
                </a:ext>
              </a:extLst>
            </p:cNvPr>
            <p:cNvSpPr/>
            <p:nvPr/>
          </p:nvSpPr>
          <p:spPr>
            <a:xfrm flipH="1">
              <a:off x="11816236" y="6205427"/>
              <a:ext cx="39905" cy="65643"/>
            </a:xfrm>
            <a:custGeom>
              <a:avLst/>
              <a:gdLst>
                <a:gd name="connsiteX0" fmla="*/ 0 w 94871"/>
                <a:gd name="connsiteY0" fmla="*/ 0 h 156060"/>
                <a:gd name="connsiteX1" fmla="*/ 94871 w 94871"/>
                <a:gd name="connsiteY1" fmla="*/ 0 h 156060"/>
                <a:gd name="connsiteX2" fmla="*/ 94871 w 94871"/>
                <a:gd name="connsiteY2" fmla="*/ 156061 h 156060"/>
                <a:gd name="connsiteX3" fmla="*/ 0 w 94871"/>
                <a:gd name="connsiteY3" fmla="*/ 156061 h 156060"/>
              </a:gdLst>
              <a:ahLst/>
              <a:cxnLst>
                <a:cxn ang="0">
                  <a:pos x="connsiteX0" y="connsiteY0"/>
                </a:cxn>
                <a:cxn ang="0">
                  <a:pos x="connsiteX1" y="connsiteY1"/>
                </a:cxn>
                <a:cxn ang="0">
                  <a:pos x="connsiteX2" y="connsiteY2"/>
                </a:cxn>
                <a:cxn ang="0">
                  <a:pos x="connsiteX3" y="connsiteY3"/>
                </a:cxn>
              </a:cxnLst>
              <a:rect l="l" t="t" r="r" b="b"/>
              <a:pathLst>
                <a:path w="94871" h="156060">
                  <a:moveTo>
                    <a:pt x="0" y="0"/>
                  </a:moveTo>
                  <a:lnTo>
                    <a:pt x="94871" y="0"/>
                  </a:lnTo>
                  <a:lnTo>
                    <a:pt x="94871" y="156061"/>
                  </a:lnTo>
                  <a:lnTo>
                    <a:pt x="0" y="156061"/>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9" name="任意多边形: 形状 28">
              <a:extLst>
                <a:ext uri="{FF2B5EF4-FFF2-40B4-BE49-F238E27FC236}">
                  <a16:creationId xmlns:a16="http://schemas.microsoft.com/office/drawing/2014/main" id="{0625EC29-A001-E95C-741E-FFACC89BA9EC}"/>
                </a:ext>
              </a:extLst>
            </p:cNvPr>
            <p:cNvSpPr/>
            <p:nvPr/>
          </p:nvSpPr>
          <p:spPr>
            <a:xfrm flipH="1">
              <a:off x="11459238" y="6198751"/>
              <a:ext cx="64976" cy="172824"/>
            </a:xfrm>
            <a:custGeom>
              <a:avLst/>
              <a:gdLst>
                <a:gd name="connsiteX0" fmla="*/ 154474 w 154474"/>
                <a:gd name="connsiteY0" fmla="*/ 77237 h 410872"/>
                <a:gd name="connsiteX1" fmla="*/ 77237 w 154474"/>
                <a:gd name="connsiteY1" fmla="*/ 0 h 410872"/>
                <a:gd name="connsiteX2" fmla="*/ 0 w 154474"/>
                <a:gd name="connsiteY2" fmla="*/ 77237 h 410872"/>
                <a:gd name="connsiteX3" fmla="*/ 0 w 154474"/>
                <a:gd name="connsiteY3" fmla="*/ 410872 h 410872"/>
                <a:gd name="connsiteX4" fmla="*/ 154474 w 154474"/>
                <a:gd name="connsiteY4" fmla="*/ 410872 h 410872"/>
                <a:gd name="connsiteX5" fmla="*/ 154474 w 154474"/>
                <a:gd name="connsiteY5" fmla="*/ 77237 h 410872"/>
                <a:gd name="connsiteX6" fmla="*/ 62601 w 154474"/>
                <a:gd name="connsiteY6" fmla="*/ 266626 h 410872"/>
                <a:gd name="connsiteX7" fmla="*/ 27156 w 154474"/>
                <a:gd name="connsiteY7" fmla="*/ 266626 h 410872"/>
                <a:gd name="connsiteX8" fmla="*/ 27156 w 154474"/>
                <a:gd name="connsiteY8" fmla="*/ 92755 h 410872"/>
                <a:gd name="connsiteX9" fmla="*/ 62601 w 154474"/>
                <a:gd name="connsiteY9" fmla="*/ 92755 h 410872"/>
                <a:gd name="connsiteX10" fmla="*/ 62601 w 154474"/>
                <a:gd name="connsiteY10" fmla="*/ 266626 h 410872"/>
                <a:gd name="connsiteX11" fmla="*/ 127141 w 154474"/>
                <a:gd name="connsiteY11" fmla="*/ 266626 h 410872"/>
                <a:gd name="connsiteX12" fmla="*/ 91697 w 154474"/>
                <a:gd name="connsiteY12" fmla="*/ 266626 h 410872"/>
                <a:gd name="connsiteX13" fmla="*/ 91697 w 154474"/>
                <a:gd name="connsiteY13" fmla="*/ 92755 h 410872"/>
                <a:gd name="connsiteX14" fmla="*/ 127141 w 154474"/>
                <a:gd name="connsiteY14" fmla="*/ 92755 h 410872"/>
                <a:gd name="connsiteX15" fmla="*/ 127141 w 154474"/>
                <a:gd name="connsiteY15" fmla="*/ 266626 h 410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4474" h="410872">
                  <a:moveTo>
                    <a:pt x="154474" y="77237"/>
                  </a:moveTo>
                  <a:cubicBezTo>
                    <a:pt x="154474" y="34563"/>
                    <a:pt x="119911" y="0"/>
                    <a:pt x="77237" y="0"/>
                  </a:cubicBezTo>
                  <a:cubicBezTo>
                    <a:pt x="34563" y="0"/>
                    <a:pt x="0" y="34563"/>
                    <a:pt x="0" y="77237"/>
                  </a:cubicBezTo>
                  <a:lnTo>
                    <a:pt x="0" y="410872"/>
                  </a:lnTo>
                  <a:lnTo>
                    <a:pt x="154474" y="410872"/>
                  </a:lnTo>
                  <a:lnTo>
                    <a:pt x="154474" y="77237"/>
                  </a:lnTo>
                  <a:close/>
                  <a:moveTo>
                    <a:pt x="62601" y="266626"/>
                  </a:moveTo>
                  <a:lnTo>
                    <a:pt x="27156" y="266626"/>
                  </a:lnTo>
                  <a:lnTo>
                    <a:pt x="27156" y="92755"/>
                  </a:lnTo>
                  <a:lnTo>
                    <a:pt x="62601" y="92755"/>
                  </a:lnTo>
                  <a:lnTo>
                    <a:pt x="62601" y="266626"/>
                  </a:lnTo>
                  <a:close/>
                  <a:moveTo>
                    <a:pt x="127141" y="266626"/>
                  </a:moveTo>
                  <a:lnTo>
                    <a:pt x="91697" y="266626"/>
                  </a:lnTo>
                  <a:lnTo>
                    <a:pt x="91697" y="92755"/>
                  </a:lnTo>
                  <a:lnTo>
                    <a:pt x="127141" y="92755"/>
                  </a:lnTo>
                  <a:lnTo>
                    <a:pt x="127141" y="266626"/>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0" name="任意多边形: 形状 29">
              <a:extLst>
                <a:ext uri="{FF2B5EF4-FFF2-40B4-BE49-F238E27FC236}">
                  <a16:creationId xmlns:a16="http://schemas.microsoft.com/office/drawing/2014/main" id="{F953C655-D258-B220-EF6B-1FAC5F30915D}"/>
                </a:ext>
              </a:extLst>
            </p:cNvPr>
            <p:cNvSpPr/>
            <p:nvPr/>
          </p:nvSpPr>
          <p:spPr>
            <a:xfrm flipH="1">
              <a:off x="10798424" y="5773663"/>
              <a:ext cx="1057643" cy="107997"/>
            </a:xfrm>
            <a:custGeom>
              <a:avLst/>
              <a:gdLst>
                <a:gd name="connsiteX0" fmla="*/ 369962 w 2514435"/>
                <a:gd name="connsiteY0" fmla="*/ 153592 h 256751"/>
                <a:gd name="connsiteX1" fmla="*/ 488991 w 2514435"/>
                <a:gd name="connsiteY1" fmla="*/ 98045 h 256751"/>
                <a:gd name="connsiteX2" fmla="*/ 608197 w 2514435"/>
                <a:gd name="connsiteY2" fmla="*/ 153592 h 256751"/>
                <a:gd name="connsiteX3" fmla="*/ 608197 w 2514435"/>
                <a:gd name="connsiteY3" fmla="*/ 256751 h 256751"/>
                <a:gd name="connsiteX4" fmla="*/ 1059628 w 2514435"/>
                <a:gd name="connsiteY4" fmla="*/ 256751 h 256751"/>
                <a:gd name="connsiteX5" fmla="*/ 1059628 w 2514435"/>
                <a:gd name="connsiteY5" fmla="*/ 119206 h 256751"/>
                <a:gd name="connsiteX6" fmla="*/ 1257306 w 2514435"/>
                <a:gd name="connsiteY6" fmla="*/ 34034 h 256751"/>
                <a:gd name="connsiteX7" fmla="*/ 1454983 w 2514435"/>
                <a:gd name="connsiteY7" fmla="*/ 119206 h 256751"/>
                <a:gd name="connsiteX8" fmla="*/ 1454983 w 2514435"/>
                <a:gd name="connsiteY8" fmla="*/ 256751 h 256751"/>
                <a:gd name="connsiteX9" fmla="*/ 1906414 w 2514435"/>
                <a:gd name="connsiteY9" fmla="*/ 256751 h 256751"/>
                <a:gd name="connsiteX10" fmla="*/ 1906414 w 2514435"/>
                <a:gd name="connsiteY10" fmla="*/ 153592 h 256751"/>
                <a:gd name="connsiteX11" fmla="*/ 2025444 w 2514435"/>
                <a:gd name="connsiteY11" fmla="*/ 98045 h 256751"/>
                <a:gd name="connsiteX12" fmla="*/ 2144650 w 2514435"/>
                <a:gd name="connsiteY12" fmla="*/ 153592 h 256751"/>
                <a:gd name="connsiteX13" fmla="*/ 2144650 w 2514435"/>
                <a:gd name="connsiteY13" fmla="*/ 256751 h 256751"/>
                <a:gd name="connsiteX14" fmla="*/ 2514435 w 2514435"/>
                <a:gd name="connsiteY14" fmla="*/ 256751 h 256751"/>
                <a:gd name="connsiteX15" fmla="*/ 2514435 w 2514435"/>
                <a:gd name="connsiteY15" fmla="*/ 225715 h 256751"/>
                <a:gd name="connsiteX16" fmla="*/ 2175157 w 2514435"/>
                <a:gd name="connsiteY16" fmla="*/ 225715 h 256751"/>
                <a:gd name="connsiteX17" fmla="*/ 2175157 w 2514435"/>
                <a:gd name="connsiteY17" fmla="*/ 134195 h 256751"/>
                <a:gd name="connsiteX18" fmla="*/ 2025444 w 2514435"/>
                <a:gd name="connsiteY18" fmla="*/ 64011 h 256751"/>
                <a:gd name="connsiteX19" fmla="*/ 1875378 w 2514435"/>
                <a:gd name="connsiteY19" fmla="*/ 134195 h 256751"/>
                <a:gd name="connsiteX20" fmla="*/ 1875378 w 2514435"/>
                <a:gd name="connsiteY20" fmla="*/ 225715 h 256751"/>
                <a:gd name="connsiteX21" fmla="*/ 1485490 w 2514435"/>
                <a:gd name="connsiteY21" fmla="*/ 225715 h 256751"/>
                <a:gd name="connsiteX22" fmla="*/ 1485490 w 2514435"/>
                <a:gd name="connsiteY22" fmla="*/ 99103 h 256751"/>
                <a:gd name="connsiteX23" fmla="*/ 1257306 w 2514435"/>
                <a:gd name="connsiteY23" fmla="*/ 0 h 256751"/>
                <a:gd name="connsiteX24" fmla="*/ 1029122 w 2514435"/>
                <a:gd name="connsiteY24" fmla="*/ 99103 h 256751"/>
                <a:gd name="connsiteX25" fmla="*/ 1029122 w 2514435"/>
                <a:gd name="connsiteY25" fmla="*/ 225715 h 256751"/>
                <a:gd name="connsiteX26" fmla="*/ 639233 w 2514435"/>
                <a:gd name="connsiteY26" fmla="*/ 225715 h 256751"/>
                <a:gd name="connsiteX27" fmla="*/ 639233 w 2514435"/>
                <a:gd name="connsiteY27" fmla="*/ 134195 h 256751"/>
                <a:gd name="connsiteX28" fmla="*/ 488991 w 2514435"/>
                <a:gd name="connsiteY28" fmla="*/ 64011 h 256751"/>
                <a:gd name="connsiteX29" fmla="*/ 339279 w 2514435"/>
                <a:gd name="connsiteY29" fmla="*/ 134195 h 256751"/>
                <a:gd name="connsiteX30" fmla="*/ 339279 w 2514435"/>
                <a:gd name="connsiteY30" fmla="*/ 225715 h 256751"/>
                <a:gd name="connsiteX31" fmla="*/ 0 w 2514435"/>
                <a:gd name="connsiteY31" fmla="*/ 225715 h 256751"/>
                <a:gd name="connsiteX32" fmla="*/ 0 w 2514435"/>
                <a:gd name="connsiteY32" fmla="*/ 256751 h 256751"/>
                <a:gd name="connsiteX33" fmla="*/ 369962 w 2514435"/>
                <a:gd name="connsiteY33" fmla="*/ 256751 h 256751"/>
                <a:gd name="connsiteX34" fmla="*/ 369962 w 2514435"/>
                <a:gd name="connsiteY34" fmla="*/ 153592 h 25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514435" h="256751">
                  <a:moveTo>
                    <a:pt x="369962" y="153592"/>
                  </a:moveTo>
                  <a:lnTo>
                    <a:pt x="488991" y="98045"/>
                  </a:lnTo>
                  <a:lnTo>
                    <a:pt x="608197" y="153592"/>
                  </a:lnTo>
                  <a:lnTo>
                    <a:pt x="608197" y="256751"/>
                  </a:lnTo>
                  <a:lnTo>
                    <a:pt x="1059628" y="256751"/>
                  </a:lnTo>
                  <a:lnTo>
                    <a:pt x="1059628" y="119206"/>
                  </a:lnTo>
                  <a:lnTo>
                    <a:pt x="1257306" y="34034"/>
                  </a:lnTo>
                  <a:lnTo>
                    <a:pt x="1454983" y="119206"/>
                  </a:lnTo>
                  <a:lnTo>
                    <a:pt x="1454983" y="256751"/>
                  </a:lnTo>
                  <a:lnTo>
                    <a:pt x="1906414" y="256751"/>
                  </a:lnTo>
                  <a:lnTo>
                    <a:pt x="1906414" y="153592"/>
                  </a:lnTo>
                  <a:lnTo>
                    <a:pt x="2025444" y="98045"/>
                  </a:lnTo>
                  <a:lnTo>
                    <a:pt x="2144650" y="153592"/>
                  </a:lnTo>
                  <a:lnTo>
                    <a:pt x="2144650" y="256751"/>
                  </a:lnTo>
                  <a:lnTo>
                    <a:pt x="2514435" y="256751"/>
                  </a:lnTo>
                  <a:lnTo>
                    <a:pt x="2514435" y="225715"/>
                  </a:lnTo>
                  <a:lnTo>
                    <a:pt x="2175157" y="225715"/>
                  </a:lnTo>
                  <a:lnTo>
                    <a:pt x="2175157" y="134195"/>
                  </a:lnTo>
                  <a:lnTo>
                    <a:pt x="2025444" y="64011"/>
                  </a:lnTo>
                  <a:lnTo>
                    <a:pt x="1875378" y="134195"/>
                  </a:lnTo>
                  <a:lnTo>
                    <a:pt x="1875378" y="225715"/>
                  </a:lnTo>
                  <a:lnTo>
                    <a:pt x="1485490" y="225715"/>
                  </a:lnTo>
                  <a:lnTo>
                    <a:pt x="1485490" y="99103"/>
                  </a:lnTo>
                  <a:lnTo>
                    <a:pt x="1257306" y="0"/>
                  </a:lnTo>
                  <a:lnTo>
                    <a:pt x="1029122" y="99103"/>
                  </a:lnTo>
                  <a:lnTo>
                    <a:pt x="1029122" y="225715"/>
                  </a:lnTo>
                  <a:lnTo>
                    <a:pt x="639233" y="225715"/>
                  </a:lnTo>
                  <a:lnTo>
                    <a:pt x="639233" y="134195"/>
                  </a:lnTo>
                  <a:lnTo>
                    <a:pt x="488991" y="64011"/>
                  </a:lnTo>
                  <a:lnTo>
                    <a:pt x="339279" y="134195"/>
                  </a:lnTo>
                  <a:lnTo>
                    <a:pt x="339279" y="225715"/>
                  </a:lnTo>
                  <a:lnTo>
                    <a:pt x="0" y="225715"/>
                  </a:lnTo>
                  <a:lnTo>
                    <a:pt x="0" y="256751"/>
                  </a:lnTo>
                  <a:lnTo>
                    <a:pt x="369962" y="256751"/>
                  </a:lnTo>
                  <a:lnTo>
                    <a:pt x="369962" y="153592"/>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1" name="任意多边形: 形状 30">
              <a:extLst>
                <a:ext uri="{FF2B5EF4-FFF2-40B4-BE49-F238E27FC236}">
                  <a16:creationId xmlns:a16="http://schemas.microsoft.com/office/drawing/2014/main" id="{3031FAA9-A820-E885-2EE2-7CF915C6DB19}"/>
                </a:ext>
              </a:extLst>
            </p:cNvPr>
            <p:cNvSpPr/>
            <p:nvPr/>
          </p:nvSpPr>
          <p:spPr>
            <a:xfrm flipH="1">
              <a:off x="10798350" y="5994923"/>
              <a:ext cx="251597" cy="57707"/>
            </a:xfrm>
            <a:custGeom>
              <a:avLst/>
              <a:gdLst>
                <a:gd name="connsiteX0" fmla="*/ 0 w 598145"/>
                <a:gd name="connsiteY0" fmla="*/ 0 h 137192"/>
                <a:gd name="connsiteX1" fmla="*/ 0 w 598145"/>
                <a:gd name="connsiteY1" fmla="*/ 137193 h 137192"/>
                <a:gd name="connsiteX2" fmla="*/ 340866 w 598145"/>
                <a:gd name="connsiteY2" fmla="*/ 137193 h 137192"/>
                <a:gd name="connsiteX3" fmla="*/ 598146 w 598145"/>
                <a:gd name="connsiteY3" fmla="*/ 137193 h 137192"/>
                <a:gd name="connsiteX4" fmla="*/ 598146 w 598145"/>
                <a:gd name="connsiteY4" fmla="*/ 0 h 137192"/>
                <a:gd name="connsiteX5" fmla="*/ 340866 w 598145"/>
                <a:gd name="connsiteY5" fmla="*/ 0 h 137192"/>
                <a:gd name="connsiteX6" fmla="*/ 0 w 598145"/>
                <a:gd name="connsiteY6" fmla="*/ 0 h 137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8145" h="137192">
                  <a:moveTo>
                    <a:pt x="0" y="0"/>
                  </a:moveTo>
                  <a:lnTo>
                    <a:pt x="0" y="137193"/>
                  </a:lnTo>
                  <a:lnTo>
                    <a:pt x="340866" y="137193"/>
                  </a:lnTo>
                  <a:lnTo>
                    <a:pt x="598146" y="137193"/>
                  </a:lnTo>
                  <a:lnTo>
                    <a:pt x="598146" y="0"/>
                  </a:lnTo>
                  <a:lnTo>
                    <a:pt x="340866" y="0"/>
                  </a:lnTo>
                  <a:lnTo>
                    <a:pt x="0" y="0"/>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 name="任意多边形: 形状 31">
              <a:extLst>
                <a:ext uri="{FF2B5EF4-FFF2-40B4-BE49-F238E27FC236}">
                  <a16:creationId xmlns:a16="http://schemas.microsoft.com/office/drawing/2014/main" id="{4F78FCFA-EB2A-5703-F180-95D9F57B049B}"/>
                </a:ext>
              </a:extLst>
            </p:cNvPr>
            <p:cNvSpPr/>
            <p:nvPr/>
          </p:nvSpPr>
          <p:spPr>
            <a:xfrm flipH="1">
              <a:off x="10798276" y="5960209"/>
              <a:ext cx="251671" cy="16244"/>
            </a:xfrm>
            <a:custGeom>
              <a:avLst/>
              <a:gdLst>
                <a:gd name="connsiteX0" fmla="*/ 0 w 598322"/>
                <a:gd name="connsiteY0" fmla="*/ 0 h 38618"/>
                <a:gd name="connsiteX1" fmla="*/ 598322 w 598322"/>
                <a:gd name="connsiteY1" fmla="*/ 0 h 38618"/>
                <a:gd name="connsiteX2" fmla="*/ 598322 w 598322"/>
                <a:gd name="connsiteY2" fmla="*/ 38618 h 38618"/>
                <a:gd name="connsiteX3" fmla="*/ 0 w 598322"/>
                <a:gd name="connsiteY3" fmla="*/ 38618 h 38618"/>
              </a:gdLst>
              <a:ahLst/>
              <a:cxnLst>
                <a:cxn ang="0">
                  <a:pos x="connsiteX0" y="connsiteY0"/>
                </a:cxn>
                <a:cxn ang="0">
                  <a:pos x="connsiteX1" y="connsiteY1"/>
                </a:cxn>
                <a:cxn ang="0">
                  <a:pos x="connsiteX2" y="connsiteY2"/>
                </a:cxn>
                <a:cxn ang="0">
                  <a:pos x="connsiteX3" y="connsiteY3"/>
                </a:cxn>
              </a:cxnLst>
              <a:rect l="l" t="t" r="r" b="b"/>
              <a:pathLst>
                <a:path w="598322" h="38618">
                  <a:moveTo>
                    <a:pt x="0" y="0"/>
                  </a:moveTo>
                  <a:lnTo>
                    <a:pt x="598322" y="0"/>
                  </a:lnTo>
                  <a:lnTo>
                    <a:pt x="598322" y="38618"/>
                  </a:lnTo>
                  <a:lnTo>
                    <a:pt x="0" y="38618"/>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 name="任意多边形: 形状 32">
              <a:extLst>
                <a:ext uri="{FF2B5EF4-FFF2-40B4-BE49-F238E27FC236}">
                  <a16:creationId xmlns:a16="http://schemas.microsoft.com/office/drawing/2014/main" id="{D4A1515B-1553-6765-03AC-D042FDCB320F}"/>
                </a:ext>
              </a:extLst>
            </p:cNvPr>
            <p:cNvSpPr/>
            <p:nvPr/>
          </p:nvSpPr>
          <p:spPr>
            <a:xfrm flipH="1">
              <a:off x="11062631" y="5968368"/>
              <a:ext cx="529229" cy="57484"/>
            </a:xfrm>
            <a:custGeom>
              <a:avLst/>
              <a:gdLst>
                <a:gd name="connsiteX0" fmla="*/ 1258187 w 1258187"/>
                <a:gd name="connsiteY0" fmla="*/ 136664 h 136663"/>
                <a:gd name="connsiteX1" fmla="*/ 1258187 w 1258187"/>
                <a:gd name="connsiteY1" fmla="*/ 0 h 136663"/>
                <a:gd name="connsiteX2" fmla="*/ 629182 w 1258187"/>
                <a:gd name="connsiteY2" fmla="*/ 0 h 136663"/>
                <a:gd name="connsiteX3" fmla="*/ 0 w 1258187"/>
                <a:gd name="connsiteY3" fmla="*/ 0 h 136663"/>
                <a:gd name="connsiteX4" fmla="*/ 0 w 1258187"/>
                <a:gd name="connsiteY4" fmla="*/ 136664 h 136663"/>
                <a:gd name="connsiteX5" fmla="*/ 629182 w 1258187"/>
                <a:gd name="connsiteY5" fmla="*/ 136664 h 136663"/>
                <a:gd name="connsiteX6" fmla="*/ 1258187 w 1258187"/>
                <a:gd name="connsiteY6" fmla="*/ 136664 h 136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58187" h="136663">
                  <a:moveTo>
                    <a:pt x="1258187" y="136664"/>
                  </a:moveTo>
                  <a:lnTo>
                    <a:pt x="1258187" y="0"/>
                  </a:lnTo>
                  <a:lnTo>
                    <a:pt x="629182" y="0"/>
                  </a:lnTo>
                  <a:lnTo>
                    <a:pt x="0" y="0"/>
                  </a:lnTo>
                  <a:lnTo>
                    <a:pt x="0" y="136664"/>
                  </a:lnTo>
                  <a:lnTo>
                    <a:pt x="629182" y="136664"/>
                  </a:lnTo>
                  <a:lnTo>
                    <a:pt x="1258187" y="136664"/>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 name="任意多边形: 形状 33">
              <a:extLst>
                <a:ext uri="{FF2B5EF4-FFF2-40B4-BE49-F238E27FC236}">
                  <a16:creationId xmlns:a16="http://schemas.microsoft.com/office/drawing/2014/main" id="{2ED8CA42-936C-CAA3-ADAD-5E8DD66BF701}"/>
                </a:ext>
              </a:extLst>
            </p:cNvPr>
            <p:cNvSpPr/>
            <p:nvPr/>
          </p:nvSpPr>
          <p:spPr>
            <a:xfrm flipH="1">
              <a:off x="11055214" y="6043135"/>
              <a:ext cx="543990" cy="328440"/>
            </a:xfrm>
            <a:custGeom>
              <a:avLst/>
              <a:gdLst>
                <a:gd name="connsiteX0" fmla="*/ 1173544 w 1293279"/>
                <a:gd name="connsiteY0" fmla="*/ 636587 h 780833"/>
                <a:gd name="connsiteX1" fmla="*/ 1173544 w 1293279"/>
                <a:gd name="connsiteY1" fmla="*/ 780834 h 780833"/>
                <a:gd name="connsiteX2" fmla="*/ 1293279 w 1293279"/>
                <a:gd name="connsiteY2" fmla="*/ 780834 h 780833"/>
                <a:gd name="connsiteX3" fmla="*/ 1293279 w 1293279"/>
                <a:gd name="connsiteY3" fmla="*/ 636587 h 780833"/>
                <a:gd name="connsiteX4" fmla="*/ 1280230 w 1293279"/>
                <a:gd name="connsiteY4" fmla="*/ 636587 h 780833"/>
                <a:gd name="connsiteX5" fmla="*/ 1280230 w 1293279"/>
                <a:gd name="connsiteY5" fmla="*/ 0 h 780833"/>
                <a:gd name="connsiteX6" fmla="*/ 646640 w 1293279"/>
                <a:gd name="connsiteY6" fmla="*/ 0 h 780833"/>
                <a:gd name="connsiteX7" fmla="*/ 13049 w 1293279"/>
                <a:gd name="connsiteY7" fmla="*/ 0 h 780833"/>
                <a:gd name="connsiteX8" fmla="*/ 13049 w 1293279"/>
                <a:gd name="connsiteY8" fmla="*/ 636587 h 780833"/>
                <a:gd name="connsiteX9" fmla="*/ 0 w 1293279"/>
                <a:gd name="connsiteY9" fmla="*/ 636587 h 780833"/>
                <a:gd name="connsiteX10" fmla="*/ 0 w 1293279"/>
                <a:gd name="connsiteY10" fmla="*/ 780834 h 780833"/>
                <a:gd name="connsiteX11" fmla="*/ 119559 w 1293279"/>
                <a:gd name="connsiteY11" fmla="*/ 780834 h 780833"/>
                <a:gd name="connsiteX12" fmla="*/ 119559 w 1293279"/>
                <a:gd name="connsiteY12" fmla="*/ 636587 h 780833"/>
                <a:gd name="connsiteX13" fmla="*/ 106510 w 1293279"/>
                <a:gd name="connsiteY13" fmla="*/ 636587 h 780833"/>
                <a:gd name="connsiteX14" fmla="*/ 106510 w 1293279"/>
                <a:gd name="connsiteY14" fmla="*/ 50610 h 780833"/>
                <a:gd name="connsiteX15" fmla="*/ 404348 w 1293279"/>
                <a:gd name="connsiteY15" fmla="*/ 50610 h 780833"/>
                <a:gd name="connsiteX16" fmla="*/ 404348 w 1293279"/>
                <a:gd name="connsiteY16" fmla="*/ 636587 h 780833"/>
                <a:gd name="connsiteX17" fmla="*/ 391299 w 1293279"/>
                <a:gd name="connsiteY17" fmla="*/ 636587 h 780833"/>
                <a:gd name="connsiteX18" fmla="*/ 391299 w 1293279"/>
                <a:gd name="connsiteY18" fmla="*/ 780834 h 780833"/>
                <a:gd name="connsiteX19" fmla="*/ 511034 w 1293279"/>
                <a:gd name="connsiteY19" fmla="*/ 780834 h 780833"/>
                <a:gd name="connsiteX20" fmla="*/ 511034 w 1293279"/>
                <a:gd name="connsiteY20" fmla="*/ 636587 h 780833"/>
                <a:gd name="connsiteX21" fmla="*/ 497985 w 1293279"/>
                <a:gd name="connsiteY21" fmla="*/ 636587 h 780833"/>
                <a:gd name="connsiteX22" fmla="*/ 497985 w 1293279"/>
                <a:gd name="connsiteY22" fmla="*/ 50610 h 780833"/>
                <a:gd name="connsiteX23" fmla="*/ 646640 w 1293279"/>
                <a:gd name="connsiteY23" fmla="*/ 50610 h 780833"/>
                <a:gd name="connsiteX24" fmla="*/ 795294 w 1293279"/>
                <a:gd name="connsiteY24" fmla="*/ 50610 h 780833"/>
                <a:gd name="connsiteX25" fmla="*/ 795294 w 1293279"/>
                <a:gd name="connsiteY25" fmla="*/ 636587 h 780833"/>
                <a:gd name="connsiteX26" fmla="*/ 782245 w 1293279"/>
                <a:gd name="connsiteY26" fmla="*/ 636587 h 780833"/>
                <a:gd name="connsiteX27" fmla="*/ 782245 w 1293279"/>
                <a:gd name="connsiteY27" fmla="*/ 780834 h 780833"/>
                <a:gd name="connsiteX28" fmla="*/ 901804 w 1293279"/>
                <a:gd name="connsiteY28" fmla="*/ 780834 h 780833"/>
                <a:gd name="connsiteX29" fmla="*/ 901804 w 1293279"/>
                <a:gd name="connsiteY29" fmla="*/ 636587 h 780833"/>
                <a:gd name="connsiteX30" fmla="*/ 888755 w 1293279"/>
                <a:gd name="connsiteY30" fmla="*/ 636587 h 780833"/>
                <a:gd name="connsiteX31" fmla="*/ 888755 w 1293279"/>
                <a:gd name="connsiteY31" fmla="*/ 50610 h 780833"/>
                <a:gd name="connsiteX32" fmla="*/ 1186594 w 1293279"/>
                <a:gd name="connsiteY32" fmla="*/ 50610 h 780833"/>
                <a:gd name="connsiteX33" fmla="*/ 1186594 w 1293279"/>
                <a:gd name="connsiteY33" fmla="*/ 636587 h 780833"/>
                <a:gd name="connsiteX34" fmla="*/ 1173544 w 1293279"/>
                <a:gd name="connsiteY34" fmla="*/ 636587 h 780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293279" h="780833">
                  <a:moveTo>
                    <a:pt x="1173544" y="636587"/>
                  </a:moveTo>
                  <a:lnTo>
                    <a:pt x="1173544" y="780834"/>
                  </a:lnTo>
                  <a:lnTo>
                    <a:pt x="1293279" y="780834"/>
                  </a:lnTo>
                  <a:lnTo>
                    <a:pt x="1293279" y="636587"/>
                  </a:lnTo>
                  <a:lnTo>
                    <a:pt x="1280230" y="636587"/>
                  </a:lnTo>
                  <a:lnTo>
                    <a:pt x="1280230" y="0"/>
                  </a:lnTo>
                  <a:lnTo>
                    <a:pt x="646640" y="0"/>
                  </a:lnTo>
                  <a:lnTo>
                    <a:pt x="13049" y="0"/>
                  </a:lnTo>
                  <a:lnTo>
                    <a:pt x="13049" y="636587"/>
                  </a:lnTo>
                  <a:lnTo>
                    <a:pt x="0" y="636587"/>
                  </a:lnTo>
                  <a:lnTo>
                    <a:pt x="0" y="780834"/>
                  </a:lnTo>
                  <a:lnTo>
                    <a:pt x="119559" y="780834"/>
                  </a:lnTo>
                  <a:lnTo>
                    <a:pt x="119559" y="636587"/>
                  </a:lnTo>
                  <a:lnTo>
                    <a:pt x="106510" y="636587"/>
                  </a:lnTo>
                  <a:lnTo>
                    <a:pt x="106510" y="50610"/>
                  </a:lnTo>
                  <a:lnTo>
                    <a:pt x="404348" y="50610"/>
                  </a:lnTo>
                  <a:lnTo>
                    <a:pt x="404348" y="636587"/>
                  </a:lnTo>
                  <a:lnTo>
                    <a:pt x="391299" y="636587"/>
                  </a:lnTo>
                  <a:lnTo>
                    <a:pt x="391299" y="780834"/>
                  </a:lnTo>
                  <a:lnTo>
                    <a:pt x="511034" y="780834"/>
                  </a:lnTo>
                  <a:lnTo>
                    <a:pt x="511034" y="636587"/>
                  </a:lnTo>
                  <a:lnTo>
                    <a:pt x="497985" y="636587"/>
                  </a:lnTo>
                  <a:lnTo>
                    <a:pt x="497985" y="50610"/>
                  </a:lnTo>
                  <a:lnTo>
                    <a:pt x="646640" y="50610"/>
                  </a:lnTo>
                  <a:lnTo>
                    <a:pt x="795294" y="50610"/>
                  </a:lnTo>
                  <a:lnTo>
                    <a:pt x="795294" y="636587"/>
                  </a:lnTo>
                  <a:lnTo>
                    <a:pt x="782245" y="636587"/>
                  </a:lnTo>
                  <a:lnTo>
                    <a:pt x="782245" y="780834"/>
                  </a:lnTo>
                  <a:lnTo>
                    <a:pt x="901804" y="780834"/>
                  </a:lnTo>
                  <a:lnTo>
                    <a:pt x="901804" y="636587"/>
                  </a:lnTo>
                  <a:lnTo>
                    <a:pt x="888755" y="636587"/>
                  </a:lnTo>
                  <a:lnTo>
                    <a:pt x="888755" y="50610"/>
                  </a:lnTo>
                  <a:lnTo>
                    <a:pt x="1186594" y="50610"/>
                  </a:lnTo>
                  <a:lnTo>
                    <a:pt x="1186594" y="636587"/>
                  </a:lnTo>
                  <a:lnTo>
                    <a:pt x="1173544" y="636587"/>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 name="任意多边形: 形状 34">
              <a:extLst>
                <a:ext uri="{FF2B5EF4-FFF2-40B4-BE49-F238E27FC236}">
                  <a16:creationId xmlns:a16="http://schemas.microsoft.com/office/drawing/2014/main" id="{95BBEF2B-0C3D-EE89-3512-FE150DB38841}"/>
                </a:ext>
              </a:extLst>
            </p:cNvPr>
            <p:cNvSpPr/>
            <p:nvPr/>
          </p:nvSpPr>
          <p:spPr>
            <a:xfrm flipH="1">
              <a:off x="11054398" y="5929205"/>
              <a:ext cx="545696" cy="16244"/>
            </a:xfrm>
            <a:custGeom>
              <a:avLst/>
              <a:gdLst>
                <a:gd name="connsiteX0" fmla="*/ 1297335 w 1297334"/>
                <a:gd name="connsiteY0" fmla="*/ 0 h 38618"/>
                <a:gd name="connsiteX1" fmla="*/ 648756 w 1297334"/>
                <a:gd name="connsiteY1" fmla="*/ 0 h 38618"/>
                <a:gd name="connsiteX2" fmla="*/ 0 w 1297334"/>
                <a:gd name="connsiteY2" fmla="*/ 0 h 38618"/>
                <a:gd name="connsiteX3" fmla="*/ 0 w 1297334"/>
                <a:gd name="connsiteY3" fmla="*/ 38618 h 38618"/>
                <a:gd name="connsiteX4" fmla="*/ 648756 w 1297334"/>
                <a:gd name="connsiteY4" fmla="*/ 38618 h 38618"/>
                <a:gd name="connsiteX5" fmla="*/ 1297335 w 1297334"/>
                <a:gd name="connsiteY5" fmla="*/ 38618 h 38618"/>
                <a:gd name="connsiteX6" fmla="*/ 1297335 w 1297334"/>
                <a:gd name="connsiteY6" fmla="*/ 0 h 38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7334" h="38618">
                  <a:moveTo>
                    <a:pt x="1297335" y="0"/>
                  </a:moveTo>
                  <a:lnTo>
                    <a:pt x="648756" y="0"/>
                  </a:lnTo>
                  <a:lnTo>
                    <a:pt x="0" y="0"/>
                  </a:lnTo>
                  <a:lnTo>
                    <a:pt x="0" y="38618"/>
                  </a:lnTo>
                  <a:lnTo>
                    <a:pt x="648756" y="38618"/>
                  </a:lnTo>
                  <a:lnTo>
                    <a:pt x="1297335" y="38618"/>
                  </a:lnTo>
                  <a:lnTo>
                    <a:pt x="1297335" y="0"/>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 name="任意多边形: 形状 35">
              <a:extLst>
                <a:ext uri="{FF2B5EF4-FFF2-40B4-BE49-F238E27FC236}">
                  <a16:creationId xmlns:a16="http://schemas.microsoft.com/office/drawing/2014/main" id="{C938DDBE-1608-1ABC-A857-11F8C1968DFF}"/>
                </a:ext>
              </a:extLst>
            </p:cNvPr>
            <p:cNvSpPr/>
            <p:nvPr/>
          </p:nvSpPr>
          <p:spPr>
            <a:xfrm flipH="1">
              <a:off x="11261269" y="5834485"/>
              <a:ext cx="59932" cy="46952"/>
            </a:xfrm>
            <a:custGeom>
              <a:avLst/>
              <a:gdLst>
                <a:gd name="connsiteX0" fmla="*/ 0 w 142482"/>
                <a:gd name="connsiteY0" fmla="*/ 0 h 111623"/>
                <a:gd name="connsiteX1" fmla="*/ 142483 w 142482"/>
                <a:gd name="connsiteY1" fmla="*/ 0 h 111623"/>
                <a:gd name="connsiteX2" fmla="*/ 142483 w 142482"/>
                <a:gd name="connsiteY2" fmla="*/ 111623 h 111623"/>
                <a:gd name="connsiteX3" fmla="*/ 0 w 142482"/>
                <a:gd name="connsiteY3" fmla="*/ 111623 h 111623"/>
              </a:gdLst>
              <a:ahLst/>
              <a:cxnLst>
                <a:cxn ang="0">
                  <a:pos x="connsiteX0" y="connsiteY0"/>
                </a:cxn>
                <a:cxn ang="0">
                  <a:pos x="connsiteX1" y="connsiteY1"/>
                </a:cxn>
                <a:cxn ang="0">
                  <a:pos x="connsiteX2" y="connsiteY2"/>
                </a:cxn>
                <a:cxn ang="0">
                  <a:pos x="connsiteX3" y="connsiteY3"/>
                </a:cxn>
              </a:cxnLst>
              <a:rect l="l" t="t" r="r" b="b"/>
              <a:pathLst>
                <a:path w="142482" h="111623">
                  <a:moveTo>
                    <a:pt x="0" y="0"/>
                  </a:moveTo>
                  <a:lnTo>
                    <a:pt x="142483" y="0"/>
                  </a:lnTo>
                  <a:lnTo>
                    <a:pt x="142483" y="111623"/>
                  </a:lnTo>
                  <a:lnTo>
                    <a:pt x="0" y="111623"/>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 name="任意多边形: 形状 36">
              <a:extLst>
                <a:ext uri="{FF2B5EF4-FFF2-40B4-BE49-F238E27FC236}">
                  <a16:creationId xmlns:a16="http://schemas.microsoft.com/office/drawing/2014/main" id="{678E55B8-8C36-D212-F052-C6EC0D21CA7A}"/>
                </a:ext>
              </a:extLst>
            </p:cNvPr>
            <p:cNvSpPr/>
            <p:nvPr/>
          </p:nvSpPr>
          <p:spPr>
            <a:xfrm flipH="1">
              <a:off x="11010339" y="5843089"/>
              <a:ext cx="27741" cy="38347"/>
            </a:xfrm>
            <a:custGeom>
              <a:avLst/>
              <a:gdLst>
                <a:gd name="connsiteX0" fmla="*/ 0 w 65951"/>
                <a:gd name="connsiteY0" fmla="*/ 0 h 91167"/>
                <a:gd name="connsiteX1" fmla="*/ 65951 w 65951"/>
                <a:gd name="connsiteY1" fmla="*/ 0 h 91167"/>
                <a:gd name="connsiteX2" fmla="*/ 65951 w 65951"/>
                <a:gd name="connsiteY2" fmla="*/ 91168 h 91167"/>
                <a:gd name="connsiteX3" fmla="*/ 0 w 65951"/>
                <a:gd name="connsiteY3" fmla="*/ 91168 h 91167"/>
              </a:gdLst>
              <a:ahLst/>
              <a:cxnLst>
                <a:cxn ang="0">
                  <a:pos x="connsiteX0" y="connsiteY0"/>
                </a:cxn>
                <a:cxn ang="0">
                  <a:pos x="connsiteX1" y="connsiteY1"/>
                </a:cxn>
                <a:cxn ang="0">
                  <a:pos x="connsiteX2" y="connsiteY2"/>
                </a:cxn>
                <a:cxn ang="0">
                  <a:pos x="connsiteX3" y="connsiteY3"/>
                </a:cxn>
              </a:cxnLst>
              <a:rect l="l" t="t" r="r" b="b"/>
              <a:pathLst>
                <a:path w="65951" h="91167">
                  <a:moveTo>
                    <a:pt x="0" y="0"/>
                  </a:moveTo>
                  <a:lnTo>
                    <a:pt x="65951" y="0"/>
                  </a:lnTo>
                  <a:lnTo>
                    <a:pt x="65951" y="91168"/>
                  </a:lnTo>
                  <a:lnTo>
                    <a:pt x="0" y="91168"/>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 name="任意多边形: 形状 37">
              <a:extLst>
                <a:ext uri="{FF2B5EF4-FFF2-40B4-BE49-F238E27FC236}">
                  <a16:creationId xmlns:a16="http://schemas.microsoft.com/office/drawing/2014/main" id="{E11CBFA2-D851-03A9-F5FC-0E5A59854F0A}"/>
                </a:ext>
              </a:extLst>
            </p:cNvPr>
            <p:cNvSpPr/>
            <p:nvPr/>
          </p:nvSpPr>
          <p:spPr>
            <a:xfrm flipH="1">
              <a:off x="10970285" y="5843089"/>
              <a:ext cx="27741" cy="38347"/>
            </a:xfrm>
            <a:custGeom>
              <a:avLst/>
              <a:gdLst>
                <a:gd name="connsiteX0" fmla="*/ 0 w 65951"/>
                <a:gd name="connsiteY0" fmla="*/ 0 h 91167"/>
                <a:gd name="connsiteX1" fmla="*/ 65951 w 65951"/>
                <a:gd name="connsiteY1" fmla="*/ 0 h 91167"/>
                <a:gd name="connsiteX2" fmla="*/ 65951 w 65951"/>
                <a:gd name="connsiteY2" fmla="*/ 91168 h 91167"/>
                <a:gd name="connsiteX3" fmla="*/ 0 w 65951"/>
                <a:gd name="connsiteY3" fmla="*/ 91168 h 91167"/>
              </a:gdLst>
              <a:ahLst/>
              <a:cxnLst>
                <a:cxn ang="0">
                  <a:pos x="connsiteX0" y="connsiteY0"/>
                </a:cxn>
                <a:cxn ang="0">
                  <a:pos x="connsiteX1" y="connsiteY1"/>
                </a:cxn>
                <a:cxn ang="0">
                  <a:pos x="connsiteX2" y="connsiteY2"/>
                </a:cxn>
                <a:cxn ang="0">
                  <a:pos x="connsiteX3" y="connsiteY3"/>
                </a:cxn>
              </a:cxnLst>
              <a:rect l="l" t="t" r="r" b="b"/>
              <a:pathLst>
                <a:path w="65951" h="91167">
                  <a:moveTo>
                    <a:pt x="0" y="0"/>
                  </a:moveTo>
                  <a:lnTo>
                    <a:pt x="65951" y="0"/>
                  </a:lnTo>
                  <a:lnTo>
                    <a:pt x="65951" y="91168"/>
                  </a:lnTo>
                  <a:lnTo>
                    <a:pt x="0" y="91168"/>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 name="任意多边形: 形状 38">
              <a:extLst>
                <a:ext uri="{FF2B5EF4-FFF2-40B4-BE49-F238E27FC236}">
                  <a16:creationId xmlns:a16="http://schemas.microsoft.com/office/drawing/2014/main" id="{D5993366-B793-AFDF-E893-8FA9E4488D51}"/>
                </a:ext>
              </a:extLst>
            </p:cNvPr>
            <p:cNvSpPr/>
            <p:nvPr/>
          </p:nvSpPr>
          <p:spPr>
            <a:xfrm flipH="1">
              <a:off x="11281295" y="6092386"/>
              <a:ext cx="39905" cy="65643"/>
            </a:xfrm>
            <a:custGeom>
              <a:avLst/>
              <a:gdLst>
                <a:gd name="connsiteX0" fmla="*/ 0 w 94871"/>
                <a:gd name="connsiteY0" fmla="*/ 0 h 156060"/>
                <a:gd name="connsiteX1" fmla="*/ 94871 w 94871"/>
                <a:gd name="connsiteY1" fmla="*/ 0 h 156060"/>
                <a:gd name="connsiteX2" fmla="*/ 94871 w 94871"/>
                <a:gd name="connsiteY2" fmla="*/ 156061 h 156060"/>
                <a:gd name="connsiteX3" fmla="*/ 0 w 94871"/>
                <a:gd name="connsiteY3" fmla="*/ 156061 h 156060"/>
              </a:gdLst>
              <a:ahLst/>
              <a:cxnLst>
                <a:cxn ang="0">
                  <a:pos x="connsiteX0" y="connsiteY0"/>
                </a:cxn>
                <a:cxn ang="0">
                  <a:pos x="connsiteX1" y="connsiteY1"/>
                </a:cxn>
                <a:cxn ang="0">
                  <a:pos x="connsiteX2" y="connsiteY2"/>
                </a:cxn>
                <a:cxn ang="0">
                  <a:pos x="connsiteX3" y="connsiteY3"/>
                </a:cxn>
              </a:cxnLst>
              <a:rect l="l" t="t" r="r" b="b"/>
              <a:pathLst>
                <a:path w="94871" h="156060">
                  <a:moveTo>
                    <a:pt x="0" y="0"/>
                  </a:moveTo>
                  <a:lnTo>
                    <a:pt x="94871" y="0"/>
                  </a:lnTo>
                  <a:lnTo>
                    <a:pt x="94871" y="156061"/>
                  </a:lnTo>
                  <a:lnTo>
                    <a:pt x="0" y="156061"/>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 name="任意多边形: 形状 39">
              <a:extLst>
                <a:ext uri="{FF2B5EF4-FFF2-40B4-BE49-F238E27FC236}">
                  <a16:creationId xmlns:a16="http://schemas.microsoft.com/office/drawing/2014/main" id="{5D215765-9CDB-4E1C-126A-87BFEC57774D}"/>
                </a:ext>
              </a:extLst>
            </p:cNvPr>
            <p:cNvSpPr/>
            <p:nvPr/>
          </p:nvSpPr>
          <p:spPr>
            <a:xfrm flipH="1">
              <a:off x="11168848" y="6092386"/>
              <a:ext cx="39905" cy="65643"/>
            </a:xfrm>
            <a:custGeom>
              <a:avLst/>
              <a:gdLst>
                <a:gd name="connsiteX0" fmla="*/ 0 w 94871"/>
                <a:gd name="connsiteY0" fmla="*/ 0 h 156060"/>
                <a:gd name="connsiteX1" fmla="*/ 94871 w 94871"/>
                <a:gd name="connsiteY1" fmla="*/ 0 h 156060"/>
                <a:gd name="connsiteX2" fmla="*/ 94871 w 94871"/>
                <a:gd name="connsiteY2" fmla="*/ 156061 h 156060"/>
                <a:gd name="connsiteX3" fmla="*/ 0 w 94871"/>
                <a:gd name="connsiteY3" fmla="*/ 156061 h 156060"/>
              </a:gdLst>
              <a:ahLst/>
              <a:cxnLst>
                <a:cxn ang="0">
                  <a:pos x="connsiteX0" y="connsiteY0"/>
                </a:cxn>
                <a:cxn ang="0">
                  <a:pos x="connsiteX1" y="connsiteY1"/>
                </a:cxn>
                <a:cxn ang="0">
                  <a:pos x="connsiteX2" y="connsiteY2"/>
                </a:cxn>
                <a:cxn ang="0">
                  <a:pos x="connsiteX3" y="connsiteY3"/>
                </a:cxn>
              </a:cxnLst>
              <a:rect l="l" t="t" r="r" b="b"/>
              <a:pathLst>
                <a:path w="94871" h="156060">
                  <a:moveTo>
                    <a:pt x="0" y="0"/>
                  </a:moveTo>
                  <a:lnTo>
                    <a:pt x="94871" y="0"/>
                  </a:lnTo>
                  <a:lnTo>
                    <a:pt x="94871" y="156061"/>
                  </a:lnTo>
                  <a:lnTo>
                    <a:pt x="0" y="156061"/>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 name="任意多边形: 形状 40">
              <a:extLst>
                <a:ext uri="{FF2B5EF4-FFF2-40B4-BE49-F238E27FC236}">
                  <a16:creationId xmlns:a16="http://schemas.microsoft.com/office/drawing/2014/main" id="{C0E9DA6F-921D-487C-99D1-1F53B6D7CB85}"/>
                </a:ext>
              </a:extLst>
            </p:cNvPr>
            <p:cNvSpPr/>
            <p:nvPr/>
          </p:nvSpPr>
          <p:spPr>
            <a:xfrm flipH="1">
              <a:off x="11116704" y="6092386"/>
              <a:ext cx="39905" cy="65643"/>
            </a:xfrm>
            <a:custGeom>
              <a:avLst/>
              <a:gdLst>
                <a:gd name="connsiteX0" fmla="*/ 0 w 94871"/>
                <a:gd name="connsiteY0" fmla="*/ 0 h 156060"/>
                <a:gd name="connsiteX1" fmla="*/ 94871 w 94871"/>
                <a:gd name="connsiteY1" fmla="*/ 0 h 156060"/>
                <a:gd name="connsiteX2" fmla="*/ 94871 w 94871"/>
                <a:gd name="connsiteY2" fmla="*/ 156061 h 156060"/>
                <a:gd name="connsiteX3" fmla="*/ 0 w 94871"/>
                <a:gd name="connsiteY3" fmla="*/ 156061 h 156060"/>
              </a:gdLst>
              <a:ahLst/>
              <a:cxnLst>
                <a:cxn ang="0">
                  <a:pos x="connsiteX0" y="connsiteY0"/>
                </a:cxn>
                <a:cxn ang="0">
                  <a:pos x="connsiteX1" y="connsiteY1"/>
                </a:cxn>
                <a:cxn ang="0">
                  <a:pos x="connsiteX2" y="connsiteY2"/>
                </a:cxn>
                <a:cxn ang="0">
                  <a:pos x="connsiteX3" y="connsiteY3"/>
                </a:cxn>
              </a:cxnLst>
              <a:rect l="l" t="t" r="r" b="b"/>
              <a:pathLst>
                <a:path w="94871" h="156060">
                  <a:moveTo>
                    <a:pt x="0" y="0"/>
                  </a:moveTo>
                  <a:lnTo>
                    <a:pt x="94871" y="0"/>
                  </a:lnTo>
                  <a:lnTo>
                    <a:pt x="94871" y="156061"/>
                  </a:lnTo>
                  <a:lnTo>
                    <a:pt x="0" y="156061"/>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 name="任意多边形: 形状 41">
              <a:extLst>
                <a:ext uri="{FF2B5EF4-FFF2-40B4-BE49-F238E27FC236}">
                  <a16:creationId xmlns:a16="http://schemas.microsoft.com/office/drawing/2014/main" id="{E7D05230-AC43-59C0-C120-429C7C72687F}"/>
                </a:ext>
              </a:extLst>
            </p:cNvPr>
            <p:cNvSpPr/>
            <p:nvPr/>
          </p:nvSpPr>
          <p:spPr>
            <a:xfrm flipH="1">
              <a:off x="10978518" y="6092609"/>
              <a:ext cx="39905" cy="65643"/>
            </a:xfrm>
            <a:custGeom>
              <a:avLst/>
              <a:gdLst>
                <a:gd name="connsiteX0" fmla="*/ 0 w 94871"/>
                <a:gd name="connsiteY0" fmla="*/ 0 h 156060"/>
                <a:gd name="connsiteX1" fmla="*/ 94871 w 94871"/>
                <a:gd name="connsiteY1" fmla="*/ 0 h 156060"/>
                <a:gd name="connsiteX2" fmla="*/ 94871 w 94871"/>
                <a:gd name="connsiteY2" fmla="*/ 156061 h 156060"/>
                <a:gd name="connsiteX3" fmla="*/ 0 w 94871"/>
                <a:gd name="connsiteY3" fmla="*/ 156061 h 156060"/>
              </a:gdLst>
              <a:ahLst/>
              <a:cxnLst>
                <a:cxn ang="0">
                  <a:pos x="connsiteX0" y="connsiteY0"/>
                </a:cxn>
                <a:cxn ang="0">
                  <a:pos x="connsiteX1" y="connsiteY1"/>
                </a:cxn>
                <a:cxn ang="0">
                  <a:pos x="connsiteX2" y="connsiteY2"/>
                </a:cxn>
                <a:cxn ang="0">
                  <a:pos x="connsiteX3" y="connsiteY3"/>
                </a:cxn>
              </a:cxnLst>
              <a:rect l="l" t="t" r="r" b="b"/>
              <a:pathLst>
                <a:path w="94871" h="156060">
                  <a:moveTo>
                    <a:pt x="0" y="0"/>
                  </a:moveTo>
                  <a:lnTo>
                    <a:pt x="94871" y="0"/>
                  </a:lnTo>
                  <a:lnTo>
                    <a:pt x="94871" y="156061"/>
                  </a:lnTo>
                  <a:lnTo>
                    <a:pt x="0" y="156061"/>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 name="任意多边形: 形状 42">
              <a:extLst>
                <a:ext uri="{FF2B5EF4-FFF2-40B4-BE49-F238E27FC236}">
                  <a16:creationId xmlns:a16="http://schemas.microsoft.com/office/drawing/2014/main" id="{800A6CB9-E56E-2930-D338-7973F6E3EA70}"/>
                </a:ext>
              </a:extLst>
            </p:cNvPr>
            <p:cNvSpPr/>
            <p:nvPr/>
          </p:nvSpPr>
          <p:spPr>
            <a:xfrm flipH="1">
              <a:off x="10926374" y="6092609"/>
              <a:ext cx="39905" cy="65643"/>
            </a:xfrm>
            <a:custGeom>
              <a:avLst/>
              <a:gdLst>
                <a:gd name="connsiteX0" fmla="*/ 0 w 94871"/>
                <a:gd name="connsiteY0" fmla="*/ 0 h 156060"/>
                <a:gd name="connsiteX1" fmla="*/ 94871 w 94871"/>
                <a:gd name="connsiteY1" fmla="*/ 0 h 156060"/>
                <a:gd name="connsiteX2" fmla="*/ 94871 w 94871"/>
                <a:gd name="connsiteY2" fmla="*/ 156061 h 156060"/>
                <a:gd name="connsiteX3" fmla="*/ 0 w 94871"/>
                <a:gd name="connsiteY3" fmla="*/ 156061 h 156060"/>
              </a:gdLst>
              <a:ahLst/>
              <a:cxnLst>
                <a:cxn ang="0">
                  <a:pos x="connsiteX0" y="connsiteY0"/>
                </a:cxn>
                <a:cxn ang="0">
                  <a:pos x="connsiteX1" y="connsiteY1"/>
                </a:cxn>
                <a:cxn ang="0">
                  <a:pos x="connsiteX2" y="connsiteY2"/>
                </a:cxn>
                <a:cxn ang="0">
                  <a:pos x="connsiteX3" y="connsiteY3"/>
                </a:cxn>
              </a:cxnLst>
              <a:rect l="l" t="t" r="r" b="b"/>
              <a:pathLst>
                <a:path w="94871" h="156060">
                  <a:moveTo>
                    <a:pt x="0" y="0"/>
                  </a:moveTo>
                  <a:lnTo>
                    <a:pt x="94871" y="0"/>
                  </a:lnTo>
                  <a:lnTo>
                    <a:pt x="94871" y="156061"/>
                  </a:lnTo>
                  <a:lnTo>
                    <a:pt x="0" y="156061"/>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 name="任意多边形: 形状 43">
              <a:extLst>
                <a:ext uri="{FF2B5EF4-FFF2-40B4-BE49-F238E27FC236}">
                  <a16:creationId xmlns:a16="http://schemas.microsoft.com/office/drawing/2014/main" id="{DB184A5B-0855-32B8-BE0E-52E22E90C9DE}"/>
                </a:ext>
              </a:extLst>
            </p:cNvPr>
            <p:cNvSpPr/>
            <p:nvPr/>
          </p:nvSpPr>
          <p:spPr>
            <a:xfrm flipH="1">
              <a:off x="10850420" y="6092609"/>
              <a:ext cx="39905" cy="65643"/>
            </a:xfrm>
            <a:custGeom>
              <a:avLst/>
              <a:gdLst>
                <a:gd name="connsiteX0" fmla="*/ 0 w 94871"/>
                <a:gd name="connsiteY0" fmla="*/ 0 h 156060"/>
                <a:gd name="connsiteX1" fmla="*/ 94871 w 94871"/>
                <a:gd name="connsiteY1" fmla="*/ 0 h 156060"/>
                <a:gd name="connsiteX2" fmla="*/ 94871 w 94871"/>
                <a:gd name="connsiteY2" fmla="*/ 156061 h 156060"/>
                <a:gd name="connsiteX3" fmla="*/ 0 w 94871"/>
                <a:gd name="connsiteY3" fmla="*/ 156061 h 156060"/>
              </a:gdLst>
              <a:ahLst/>
              <a:cxnLst>
                <a:cxn ang="0">
                  <a:pos x="connsiteX0" y="connsiteY0"/>
                </a:cxn>
                <a:cxn ang="0">
                  <a:pos x="connsiteX1" y="connsiteY1"/>
                </a:cxn>
                <a:cxn ang="0">
                  <a:pos x="connsiteX2" y="connsiteY2"/>
                </a:cxn>
                <a:cxn ang="0">
                  <a:pos x="connsiteX3" y="connsiteY3"/>
                </a:cxn>
              </a:cxnLst>
              <a:rect l="l" t="t" r="r" b="b"/>
              <a:pathLst>
                <a:path w="94871" h="156060">
                  <a:moveTo>
                    <a:pt x="0" y="0"/>
                  </a:moveTo>
                  <a:lnTo>
                    <a:pt x="94871" y="0"/>
                  </a:lnTo>
                  <a:lnTo>
                    <a:pt x="94871" y="156061"/>
                  </a:lnTo>
                  <a:lnTo>
                    <a:pt x="0" y="156061"/>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 name="任意多边形: 形状 44">
              <a:extLst>
                <a:ext uri="{FF2B5EF4-FFF2-40B4-BE49-F238E27FC236}">
                  <a16:creationId xmlns:a16="http://schemas.microsoft.com/office/drawing/2014/main" id="{57E806D4-9A93-C5F2-59B8-AFE58148674B}"/>
                </a:ext>
              </a:extLst>
            </p:cNvPr>
            <p:cNvSpPr/>
            <p:nvPr/>
          </p:nvSpPr>
          <p:spPr>
            <a:xfrm flipH="1">
              <a:off x="10798276" y="6092609"/>
              <a:ext cx="39905" cy="65643"/>
            </a:xfrm>
            <a:custGeom>
              <a:avLst/>
              <a:gdLst>
                <a:gd name="connsiteX0" fmla="*/ 0 w 94871"/>
                <a:gd name="connsiteY0" fmla="*/ 0 h 156060"/>
                <a:gd name="connsiteX1" fmla="*/ 94871 w 94871"/>
                <a:gd name="connsiteY1" fmla="*/ 0 h 156060"/>
                <a:gd name="connsiteX2" fmla="*/ 94871 w 94871"/>
                <a:gd name="connsiteY2" fmla="*/ 156061 h 156060"/>
                <a:gd name="connsiteX3" fmla="*/ 0 w 94871"/>
                <a:gd name="connsiteY3" fmla="*/ 156061 h 156060"/>
              </a:gdLst>
              <a:ahLst/>
              <a:cxnLst>
                <a:cxn ang="0">
                  <a:pos x="connsiteX0" y="connsiteY0"/>
                </a:cxn>
                <a:cxn ang="0">
                  <a:pos x="connsiteX1" y="connsiteY1"/>
                </a:cxn>
                <a:cxn ang="0">
                  <a:pos x="connsiteX2" y="connsiteY2"/>
                </a:cxn>
                <a:cxn ang="0">
                  <a:pos x="connsiteX3" y="connsiteY3"/>
                </a:cxn>
              </a:cxnLst>
              <a:rect l="l" t="t" r="r" b="b"/>
              <a:pathLst>
                <a:path w="94871" h="156060">
                  <a:moveTo>
                    <a:pt x="0" y="0"/>
                  </a:moveTo>
                  <a:lnTo>
                    <a:pt x="94871" y="0"/>
                  </a:lnTo>
                  <a:lnTo>
                    <a:pt x="94871" y="156061"/>
                  </a:lnTo>
                  <a:lnTo>
                    <a:pt x="0" y="156061"/>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 name="任意多边形: 形状 45">
              <a:extLst>
                <a:ext uri="{FF2B5EF4-FFF2-40B4-BE49-F238E27FC236}">
                  <a16:creationId xmlns:a16="http://schemas.microsoft.com/office/drawing/2014/main" id="{F28F22F0-959B-6C9D-5367-AC5813E0E72A}"/>
                </a:ext>
              </a:extLst>
            </p:cNvPr>
            <p:cNvSpPr/>
            <p:nvPr/>
          </p:nvSpPr>
          <p:spPr>
            <a:xfrm flipH="1">
              <a:off x="10978518" y="6205427"/>
              <a:ext cx="39905" cy="65643"/>
            </a:xfrm>
            <a:custGeom>
              <a:avLst/>
              <a:gdLst>
                <a:gd name="connsiteX0" fmla="*/ 0 w 94871"/>
                <a:gd name="connsiteY0" fmla="*/ 0 h 156060"/>
                <a:gd name="connsiteX1" fmla="*/ 94871 w 94871"/>
                <a:gd name="connsiteY1" fmla="*/ 0 h 156060"/>
                <a:gd name="connsiteX2" fmla="*/ 94871 w 94871"/>
                <a:gd name="connsiteY2" fmla="*/ 156061 h 156060"/>
                <a:gd name="connsiteX3" fmla="*/ 0 w 94871"/>
                <a:gd name="connsiteY3" fmla="*/ 156061 h 156060"/>
              </a:gdLst>
              <a:ahLst/>
              <a:cxnLst>
                <a:cxn ang="0">
                  <a:pos x="connsiteX0" y="connsiteY0"/>
                </a:cxn>
                <a:cxn ang="0">
                  <a:pos x="connsiteX1" y="connsiteY1"/>
                </a:cxn>
                <a:cxn ang="0">
                  <a:pos x="connsiteX2" y="connsiteY2"/>
                </a:cxn>
                <a:cxn ang="0">
                  <a:pos x="connsiteX3" y="connsiteY3"/>
                </a:cxn>
              </a:cxnLst>
              <a:rect l="l" t="t" r="r" b="b"/>
              <a:pathLst>
                <a:path w="94871" h="156060">
                  <a:moveTo>
                    <a:pt x="0" y="0"/>
                  </a:moveTo>
                  <a:lnTo>
                    <a:pt x="94871" y="0"/>
                  </a:lnTo>
                  <a:lnTo>
                    <a:pt x="94871" y="156061"/>
                  </a:lnTo>
                  <a:lnTo>
                    <a:pt x="0" y="156061"/>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 name="任意多边形: 形状 46">
              <a:extLst>
                <a:ext uri="{FF2B5EF4-FFF2-40B4-BE49-F238E27FC236}">
                  <a16:creationId xmlns:a16="http://schemas.microsoft.com/office/drawing/2014/main" id="{E38E9E04-C5D0-CA3D-2977-8C3967CDC471}"/>
                </a:ext>
              </a:extLst>
            </p:cNvPr>
            <p:cNvSpPr/>
            <p:nvPr/>
          </p:nvSpPr>
          <p:spPr>
            <a:xfrm flipH="1">
              <a:off x="10926374" y="6205427"/>
              <a:ext cx="39905" cy="65643"/>
            </a:xfrm>
            <a:custGeom>
              <a:avLst/>
              <a:gdLst>
                <a:gd name="connsiteX0" fmla="*/ 0 w 94871"/>
                <a:gd name="connsiteY0" fmla="*/ 0 h 156060"/>
                <a:gd name="connsiteX1" fmla="*/ 94871 w 94871"/>
                <a:gd name="connsiteY1" fmla="*/ 0 h 156060"/>
                <a:gd name="connsiteX2" fmla="*/ 94871 w 94871"/>
                <a:gd name="connsiteY2" fmla="*/ 156061 h 156060"/>
                <a:gd name="connsiteX3" fmla="*/ 0 w 94871"/>
                <a:gd name="connsiteY3" fmla="*/ 156061 h 156060"/>
              </a:gdLst>
              <a:ahLst/>
              <a:cxnLst>
                <a:cxn ang="0">
                  <a:pos x="connsiteX0" y="connsiteY0"/>
                </a:cxn>
                <a:cxn ang="0">
                  <a:pos x="connsiteX1" y="connsiteY1"/>
                </a:cxn>
                <a:cxn ang="0">
                  <a:pos x="connsiteX2" y="connsiteY2"/>
                </a:cxn>
                <a:cxn ang="0">
                  <a:pos x="connsiteX3" y="connsiteY3"/>
                </a:cxn>
              </a:cxnLst>
              <a:rect l="l" t="t" r="r" b="b"/>
              <a:pathLst>
                <a:path w="94871" h="156060">
                  <a:moveTo>
                    <a:pt x="0" y="0"/>
                  </a:moveTo>
                  <a:lnTo>
                    <a:pt x="94871" y="0"/>
                  </a:lnTo>
                  <a:lnTo>
                    <a:pt x="94871" y="156061"/>
                  </a:lnTo>
                  <a:lnTo>
                    <a:pt x="0" y="156061"/>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 name="任意多边形: 形状 47">
              <a:extLst>
                <a:ext uri="{FF2B5EF4-FFF2-40B4-BE49-F238E27FC236}">
                  <a16:creationId xmlns:a16="http://schemas.microsoft.com/office/drawing/2014/main" id="{6D16B38E-3A92-01A0-2A70-E1CF2DBB7E3B}"/>
                </a:ext>
              </a:extLst>
            </p:cNvPr>
            <p:cNvSpPr/>
            <p:nvPr/>
          </p:nvSpPr>
          <p:spPr>
            <a:xfrm flipH="1">
              <a:off x="10850420" y="6205427"/>
              <a:ext cx="39905" cy="65643"/>
            </a:xfrm>
            <a:custGeom>
              <a:avLst/>
              <a:gdLst>
                <a:gd name="connsiteX0" fmla="*/ 0 w 94871"/>
                <a:gd name="connsiteY0" fmla="*/ 0 h 156060"/>
                <a:gd name="connsiteX1" fmla="*/ 94871 w 94871"/>
                <a:gd name="connsiteY1" fmla="*/ 0 h 156060"/>
                <a:gd name="connsiteX2" fmla="*/ 94871 w 94871"/>
                <a:gd name="connsiteY2" fmla="*/ 156061 h 156060"/>
                <a:gd name="connsiteX3" fmla="*/ 0 w 94871"/>
                <a:gd name="connsiteY3" fmla="*/ 156061 h 156060"/>
              </a:gdLst>
              <a:ahLst/>
              <a:cxnLst>
                <a:cxn ang="0">
                  <a:pos x="connsiteX0" y="connsiteY0"/>
                </a:cxn>
                <a:cxn ang="0">
                  <a:pos x="connsiteX1" y="connsiteY1"/>
                </a:cxn>
                <a:cxn ang="0">
                  <a:pos x="connsiteX2" y="connsiteY2"/>
                </a:cxn>
                <a:cxn ang="0">
                  <a:pos x="connsiteX3" y="connsiteY3"/>
                </a:cxn>
              </a:cxnLst>
              <a:rect l="l" t="t" r="r" b="b"/>
              <a:pathLst>
                <a:path w="94871" h="156060">
                  <a:moveTo>
                    <a:pt x="0" y="0"/>
                  </a:moveTo>
                  <a:lnTo>
                    <a:pt x="94871" y="0"/>
                  </a:lnTo>
                  <a:lnTo>
                    <a:pt x="94871" y="156061"/>
                  </a:lnTo>
                  <a:lnTo>
                    <a:pt x="0" y="156061"/>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9" name="任意多边形: 形状 48">
              <a:extLst>
                <a:ext uri="{FF2B5EF4-FFF2-40B4-BE49-F238E27FC236}">
                  <a16:creationId xmlns:a16="http://schemas.microsoft.com/office/drawing/2014/main" id="{DF954AF4-DCF5-63DF-0F8D-9483BFF1DF2C}"/>
                </a:ext>
              </a:extLst>
            </p:cNvPr>
            <p:cNvSpPr/>
            <p:nvPr/>
          </p:nvSpPr>
          <p:spPr>
            <a:xfrm flipH="1">
              <a:off x="10798276" y="6205427"/>
              <a:ext cx="39905" cy="65643"/>
            </a:xfrm>
            <a:custGeom>
              <a:avLst/>
              <a:gdLst>
                <a:gd name="connsiteX0" fmla="*/ 0 w 94871"/>
                <a:gd name="connsiteY0" fmla="*/ 0 h 156060"/>
                <a:gd name="connsiteX1" fmla="*/ 94871 w 94871"/>
                <a:gd name="connsiteY1" fmla="*/ 0 h 156060"/>
                <a:gd name="connsiteX2" fmla="*/ 94871 w 94871"/>
                <a:gd name="connsiteY2" fmla="*/ 156061 h 156060"/>
                <a:gd name="connsiteX3" fmla="*/ 0 w 94871"/>
                <a:gd name="connsiteY3" fmla="*/ 156061 h 156060"/>
              </a:gdLst>
              <a:ahLst/>
              <a:cxnLst>
                <a:cxn ang="0">
                  <a:pos x="connsiteX0" y="connsiteY0"/>
                </a:cxn>
                <a:cxn ang="0">
                  <a:pos x="connsiteX1" y="connsiteY1"/>
                </a:cxn>
                <a:cxn ang="0">
                  <a:pos x="connsiteX2" y="connsiteY2"/>
                </a:cxn>
                <a:cxn ang="0">
                  <a:pos x="connsiteX3" y="connsiteY3"/>
                </a:cxn>
              </a:cxnLst>
              <a:rect l="l" t="t" r="r" b="b"/>
              <a:pathLst>
                <a:path w="94871" h="156060">
                  <a:moveTo>
                    <a:pt x="0" y="0"/>
                  </a:moveTo>
                  <a:lnTo>
                    <a:pt x="94871" y="0"/>
                  </a:lnTo>
                  <a:lnTo>
                    <a:pt x="94871" y="156061"/>
                  </a:lnTo>
                  <a:lnTo>
                    <a:pt x="0" y="156061"/>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0" name="任意多边形: 形状 49">
              <a:extLst>
                <a:ext uri="{FF2B5EF4-FFF2-40B4-BE49-F238E27FC236}">
                  <a16:creationId xmlns:a16="http://schemas.microsoft.com/office/drawing/2014/main" id="{6B4A3CC7-910F-3436-76BF-4FD7FC36F613}"/>
                </a:ext>
              </a:extLst>
            </p:cNvPr>
            <p:cNvSpPr/>
            <p:nvPr/>
          </p:nvSpPr>
          <p:spPr>
            <a:xfrm flipH="1">
              <a:off x="11289158" y="6188812"/>
              <a:ext cx="76250" cy="182763"/>
            </a:xfrm>
            <a:custGeom>
              <a:avLst/>
              <a:gdLst>
                <a:gd name="connsiteX0" fmla="*/ 181278 w 181277"/>
                <a:gd name="connsiteY0" fmla="*/ 434502 h 434501"/>
                <a:gd name="connsiteX1" fmla="*/ 181278 w 181277"/>
                <a:gd name="connsiteY1" fmla="*/ 91168 h 434501"/>
                <a:gd name="connsiteX2" fmla="*/ 90639 w 181277"/>
                <a:gd name="connsiteY2" fmla="*/ 0 h 434501"/>
                <a:gd name="connsiteX3" fmla="*/ 0 w 181277"/>
                <a:gd name="connsiteY3" fmla="*/ 91168 h 434501"/>
                <a:gd name="connsiteX4" fmla="*/ 0 w 181277"/>
                <a:gd name="connsiteY4" fmla="*/ 434502 h 434501"/>
                <a:gd name="connsiteX5" fmla="*/ 26980 w 181277"/>
                <a:gd name="connsiteY5" fmla="*/ 434502 h 434501"/>
                <a:gd name="connsiteX6" fmla="*/ 26980 w 181277"/>
                <a:gd name="connsiteY6" fmla="*/ 91168 h 434501"/>
                <a:gd name="connsiteX7" fmla="*/ 90462 w 181277"/>
                <a:gd name="connsiteY7" fmla="*/ 27685 h 434501"/>
                <a:gd name="connsiteX8" fmla="*/ 153945 w 181277"/>
                <a:gd name="connsiteY8" fmla="*/ 91168 h 434501"/>
                <a:gd name="connsiteX9" fmla="*/ 153945 w 181277"/>
                <a:gd name="connsiteY9" fmla="*/ 434502 h 434501"/>
                <a:gd name="connsiteX10" fmla="*/ 180925 w 181277"/>
                <a:gd name="connsiteY10" fmla="*/ 434502 h 434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1277" h="434501">
                  <a:moveTo>
                    <a:pt x="181278" y="434502"/>
                  </a:moveTo>
                  <a:lnTo>
                    <a:pt x="181278" y="91168"/>
                  </a:lnTo>
                  <a:cubicBezTo>
                    <a:pt x="181278" y="41087"/>
                    <a:pt x="140719" y="0"/>
                    <a:pt x="90639" y="0"/>
                  </a:cubicBezTo>
                  <a:cubicBezTo>
                    <a:pt x="40558" y="0"/>
                    <a:pt x="0" y="41087"/>
                    <a:pt x="0" y="91168"/>
                  </a:cubicBezTo>
                  <a:lnTo>
                    <a:pt x="0" y="434502"/>
                  </a:lnTo>
                  <a:lnTo>
                    <a:pt x="26980" y="434502"/>
                  </a:lnTo>
                  <a:lnTo>
                    <a:pt x="26980" y="91168"/>
                  </a:lnTo>
                  <a:cubicBezTo>
                    <a:pt x="26980" y="56076"/>
                    <a:pt x="55547" y="27685"/>
                    <a:pt x="90462" y="27685"/>
                  </a:cubicBezTo>
                  <a:cubicBezTo>
                    <a:pt x="125378" y="27685"/>
                    <a:pt x="153945" y="56252"/>
                    <a:pt x="153945" y="91168"/>
                  </a:cubicBezTo>
                  <a:lnTo>
                    <a:pt x="153945" y="434502"/>
                  </a:lnTo>
                  <a:lnTo>
                    <a:pt x="180925" y="434502"/>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1" name="任意多边形: 形状 50">
              <a:extLst>
                <a:ext uri="{FF2B5EF4-FFF2-40B4-BE49-F238E27FC236}">
                  <a16:creationId xmlns:a16="http://schemas.microsoft.com/office/drawing/2014/main" id="{AC62EA22-5C31-F509-80B1-69279324D0E6}"/>
                </a:ext>
              </a:extLst>
            </p:cNvPr>
            <p:cNvSpPr/>
            <p:nvPr/>
          </p:nvSpPr>
          <p:spPr>
            <a:xfrm flipH="1">
              <a:off x="11130204" y="6198751"/>
              <a:ext cx="64976" cy="172824"/>
            </a:xfrm>
            <a:custGeom>
              <a:avLst/>
              <a:gdLst>
                <a:gd name="connsiteX0" fmla="*/ 154474 w 154473"/>
                <a:gd name="connsiteY0" fmla="*/ 77237 h 410872"/>
                <a:gd name="connsiteX1" fmla="*/ 77237 w 154473"/>
                <a:gd name="connsiteY1" fmla="*/ 0 h 410872"/>
                <a:gd name="connsiteX2" fmla="*/ 0 w 154473"/>
                <a:gd name="connsiteY2" fmla="*/ 77237 h 410872"/>
                <a:gd name="connsiteX3" fmla="*/ 0 w 154473"/>
                <a:gd name="connsiteY3" fmla="*/ 410872 h 410872"/>
                <a:gd name="connsiteX4" fmla="*/ 154474 w 154473"/>
                <a:gd name="connsiteY4" fmla="*/ 410872 h 410872"/>
                <a:gd name="connsiteX5" fmla="*/ 154474 w 154473"/>
                <a:gd name="connsiteY5" fmla="*/ 77237 h 410872"/>
                <a:gd name="connsiteX6" fmla="*/ 62601 w 154473"/>
                <a:gd name="connsiteY6" fmla="*/ 266626 h 410872"/>
                <a:gd name="connsiteX7" fmla="*/ 27156 w 154473"/>
                <a:gd name="connsiteY7" fmla="*/ 266626 h 410872"/>
                <a:gd name="connsiteX8" fmla="*/ 27156 w 154473"/>
                <a:gd name="connsiteY8" fmla="*/ 92755 h 410872"/>
                <a:gd name="connsiteX9" fmla="*/ 62601 w 154473"/>
                <a:gd name="connsiteY9" fmla="*/ 92755 h 410872"/>
                <a:gd name="connsiteX10" fmla="*/ 62601 w 154473"/>
                <a:gd name="connsiteY10" fmla="*/ 266626 h 410872"/>
                <a:gd name="connsiteX11" fmla="*/ 127141 w 154473"/>
                <a:gd name="connsiteY11" fmla="*/ 266626 h 410872"/>
                <a:gd name="connsiteX12" fmla="*/ 91697 w 154473"/>
                <a:gd name="connsiteY12" fmla="*/ 266626 h 410872"/>
                <a:gd name="connsiteX13" fmla="*/ 91697 w 154473"/>
                <a:gd name="connsiteY13" fmla="*/ 92755 h 410872"/>
                <a:gd name="connsiteX14" fmla="*/ 127141 w 154473"/>
                <a:gd name="connsiteY14" fmla="*/ 92755 h 410872"/>
                <a:gd name="connsiteX15" fmla="*/ 127141 w 154473"/>
                <a:gd name="connsiteY15" fmla="*/ 266626 h 410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4473" h="410872">
                  <a:moveTo>
                    <a:pt x="154474" y="77237"/>
                  </a:moveTo>
                  <a:cubicBezTo>
                    <a:pt x="154474" y="34563"/>
                    <a:pt x="119735" y="0"/>
                    <a:pt x="77237" y="0"/>
                  </a:cubicBezTo>
                  <a:cubicBezTo>
                    <a:pt x="34739" y="0"/>
                    <a:pt x="0" y="34563"/>
                    <a:pt x="0" y="77237"/>
                  </a:cubicBezTo>
                  <a:lnTo>
                    <a:pt x="0" y="410872"/>
                  </a:lnTo>
                  <a:lnTo>
                    <a:pt x="154474" y="410872"/>
                  </a:lnTo>
                  <a:lnTo>
                    <a:pt x="154474" y="77237"/>
                  </a:lnTo>
                  <a:close/>
                  <a:moveTo>
                    <a:pt x="62601" y="266626"/>
                  </a:moveTo>
                  <a:lnTo>
                    <a:pt x="27156" y="266626"/>
                  </a:lnTo>
                  <a:lnTo>
                    <a:pt x="27156" y="92755"/>
                  </a:lnTo>
                  <a:lnTo>
                    <a:pt x="62601" y="92755"/>
                  </a:lnTo>
                  <a:lnTo>
                    <a:pt x="62601" y="266626"/>
                  </a:lnTo>
                  <a:close/>
                  <a:moveTo>
                    <a:pt x="127141" y="266626"/>
                  </a:moveTo>
                  <a:lnTo>
                    <a:pt x="91697" y="266626"/>
                  </a:lnTo>
                  <a:lnTo>
                    <a:pt x="91697" y="92755"/>
                  </a:lnTo>
                  <a:lnTo>
                    <a:pt x="127141" y="92755"/>
                  </a:lnTo>
                  <a:lnTo>
                    <a:pt x="127141" y="266626"/>
                  </a:lnTo>
                  <a:close/>
                </a:path>
              </a:pathLst>
            </a:custGeom>
            <a:grpFill/>
            <a:ln w="1763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spTree>
    <p:extLst>
      <p:ext uri="{BB962C8B-B14F-4D97-AF65-F5344CB8AC3E}">
        <p14:creationId xmlns:p14="http://schemas.microsoft.com/office/powerpoint/2010/main" val="524612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9">
            <a:extLst>
              <a:ext uri="{FF2B5EF4-FFF2-40B4-BE49-F238E27FC236}">
                <a16:creationId xmlns:a16="http://schemas.microsoft.com/office/drawing/2014/main" id="{2CC634AE-0434-4AFE-9823-863A76656831}"/>
              </a:ext>
            </a:extLst>
          </p:cNvPr>
          <p:cNvSpPr>
            <a:spLocks noGrp="1" noChangeArrowheads="1"/>
          </p:cNvSpPr>
          <p:nvPr>
            <p:ph idx="1"/>
          </p:nvPr>
        </p:nvSpPr>
        <p:spPr>
          <a:xfrm>
            <a:off x="323528" y="1340768"/>
            <a:ext cx="8352928" cy="5040560"/>
          </a:xfrm>
        </p:spPr>
        <p:txBody>
          <a:bodyPr/>
          <a:lstStyle/>
          <a:p>
            <a:r>
              <a:rPr lang="zh-CN" altLang="en-US" dirty="0"/>
              <a:t>学习</a:t>
            </a:r>
            <a:r>
              <a:rPr lang="en-US" altLang="zh-CN" dirty="0">
                <a:solidFill>
                  <a:srgbClr val="C00000"/>
                </a:solidFill>
              </a:rPr>
              <a:t>verilog</a:t>
            </a:r>
            <a:r>
              <a:rPr lang="zh-CN" altLang="en-US" dirty="0">
                <a:solidFill>
                  <a:srgbClr val="C00000"/>
                </a:solidFill>
              </a:rPr>
              <a:t>语言</a:t>
            </a:r>
            <a:r>
              <a:rPr lang="zh-CN" altLang="en-US" dirty="0"/>
              <a:t>与</a:t>
            </a:r>
            <a:r>
              <a:rPr lang="en-US" altLang="zh-CN" dirty="0">
                <a:solidFill>
                  <a:srgbClr val="C00000"/>
                </a:solidFill>
              </a:rPr>
              <a:t>Vivado</a:t>
            </a:r>
            <a:r>
              <a:rPr lang="zh-CN" altLang="en-US" dirty="0">
                <a:solidFill>
                  <a:srgbClr val="C00000"/>
                </a:solidFill>
              </a:rPr>
              <a:t>软件</a:t>
            </a:r>
            <a:r>
              <a:rPr lang="zh-CN" altLang="en-US" dirty="0"/>
              <a:t>的使用，在</a:t>
            </a:r>
            <a:r>
              <a:rPr lang="en-US" altLang="zh-CN" dirty="0"/>
              <a:t>FPGA</a:t>
            </a:r>
            <a:r>
              <a:rPr lang="zh-CN" altLang="en-US" dirty="0"/>
              <a:t>开发板上设计实现一个基于</a:t>
            </a:r>
            <a:r>
              <a:rPr lang="zh-CN" altLang="en-US" dirty="0">
                <a:solidFill>
                  <a:srgbClr val="C00000"/>
                </a:solidFill>
              </a:rPr>
              <a:t>有限状态机</a:t>
            </a:r>
            <a:r>
              <a:rPr lang="zh-CN" altLang="en-US" dirty="0"/>
              <a:t>的简单数字系统 </a:t>
            </a:r>
            <a:r>
              <a:rPr lang="en-US" altLang="zh-CN" dirty="0"/>
              <a:t>(</a:t>
            </a:r>
            <a:r>
              <a:rPr lang="zh-CN" altLang="en-US" dirty="0"/>
              <a:t>两人一组</a:t>
            </a:r>
            <a:r>
              <a:rPr lang="en-US" altLang="zh-CN" dirty="0"/>
              <a:t>)</a:t>
            </a:r>
          </a:p>
          <a:p>
            <a:pPr marL="0" indent="0">
              <a:buNone/>
            </a:pPr>
            <a:endParaRPr lang="zh-CN" altLang="en-US" dirty="0"/>
          </a:p>
          <a:p>
            <a:r>
              <a:rPr lang="zh-CN" altLang="en-US" dirty="0"/>
              <a:t>课程</a:t>
            </a:r>
            <a:r>
              <a:rPr lang="en-US" altLang="zh-CN" dirty="0"/>
              <a:t>QQ</a:t>
            </a:r>
            <a:r>
              <a:rPr lang="zh-CN" altLang="en-US" dirty="0"/>
              <a:t>群：</a:t>
            </a:r>
            <a:r>
              <a:rPr lang="zh-CN" altLang="zh-CN" dirty="0"/>
              <a:t>772337706</a:t>
            </a:r>
            <a:endParaRPr lang="en-US" altLang="zh-CN" dirty="0"/>
          </a:p>
          <a:p>
            <a:r>
              <a:rPr lang="zh-CN" altLang="en-US" dirty="0"/>
              <a:t>进群后请同学们将群内名称修改为</a:t>
            </a:r>
            <a:endParaRPr lang="en-US" altLang="zh-CN" dirty="0"/>
          </a:p>
          <a:p>
            <a:pPr marL="0" indent="0">
              <a:buNone/>
            </a:pPr>
            <a:r>
              <a:rPr lang="zh-CN" altLang="en-US" dirty="0"/>
              <a:t>“学号</a:t>
            </a:r>
            <a:r>
              <a:rPr lang="en-US" altLang="zh-CN" dirty="0"/>
              <a:t>-</a:t>
            </a:r>
            <a:r>
              <a:rPr lang="zh-CN" altLang="en-US" dirty="0"/>
              <a:t>姓名”</a:t>
            </a:r>
            <a:endParaRPr lang="en-US" altLang="zh-CN" dirty="0"/>
          </a:p>
          <a:p>
            <a:pPr marL="0" indent="0">
              <a:buNone/>
            </a:pPr>
            <a:endParaRPr lang="en-US" altLang="zh-CN" dirty="0"/>
          </a:p>
        </p:txBody>
      </p:sp>
      <p:sp>
        <p:nvSpPr>
          <p:cNvPr id="3" name="Title 1">
            <a:extLst>
              <a:ext uri="{FF2B5EF4-FFF2-40B4-BE49-F238E27FC236}">
                <a16:creationId xmlns:a16="http://schemas.microsoft.com/office/drawing/2014/main" id="{1A9BD0A7-3F06-D2C9-8E85-D9636A08F2FE}"/>
              </a:ext>
            </a:extLst>
          </p:cNvPr>
          <p:cNvSpPr txBox="1">
            <a:spLocks/>
          </p:cNvSpPr>
          <p:nvPr/>
        </p:nvSpPr>
        <p:spPr>
          <a:xfrm>
            <a:off x="0" y="-31193"/>
            <a:ext cx="9144000" cy="990599"/>
          </a:xfrm>
          <a:prstGeom prst="rect">
            <a:avLst/>
          </a:prstGeom>
          <a:solidFill>
            <a:srgbClr val="2B03BD"/>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b="1" spc="6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课程总体安排</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9">
            <a:extLst>
              <a:ext uri="{FF2B5EF4-FFF2-40B4-BE49-F238E27FC236}">
                <a16:creationId xmlns:a16="http://schemas.microsoft.com/office/drawing/2014/main" id="{2CC634AE-0434-4AFE-9823-863A76656831}"/>
              </a:ext>
            </a:extLst>
          </p:cNvPr>
          <p:cNvSpPr>
            <a:spLocks noGrp="1" noChangeArrowheads="1"/>
          </p:cNvSpPr>
          <p:nvPr>
            <p:ph idx="1"/>
          </p:nvPr>
        </p:nvSpPr>
        <p:spPr>
          <a:xfrm>
            <a:off x="395536" y="1196752"/>
            <a:ext cx="8352928" cy="2520280"/>
          </a:xfrm>
        </p:spPr>
        <p:txBody>
          <a:bodyPr/>
          <a:lstStyle/>
          <a:p>
            <a:r>
              <a:rPr lang="en-US" altLang="zh-CN" dirty="0"/>
              <a:t>Vivado</a:t>
            </a:r>
            <a:r>
              <a:rPr lang="zh-CN" altLang="en-US" dirty="0"/>
              <a:t>软件的下载及安装</a:t>
            </a:r>
            <a:endParaRPr lang="en-US" altLang="zh-CN" dirty="0"/>
          </a:p>
          <a:p>
            <a:pPr marL="0" indent="0">
              <a:buNone/>
            </a:pPr>
            <a:r>
              <a:rPr lang="en-US" altLang="zh-CN" dirty="0">
                <a:solidFill>
                  <a:srgbClr val="C00000"/>
                </a:solidFill>
                <a:hlinkClick r:id="rId3"/>
              </a:rPr>
              <a:t>https://pan.seu.edu.cn/link/AA6DF07A8CCC9548E8BAE47DCAA61863B2</a:t>
            </a:r>
            <a:endParaRPr lang="en-US" altLang="zh-CN" dirty="0">
              <a:solidFill>
                <a:srgbClr val="C00000"/>
              </a:solidFill>
            </a:endParaRPr>
          </a:p>
          <a:p>
            <a:pPr marL="0" indent="0">
              <a:buNone/>
            </a:pPr>
            <a:r>
              <a:rPr lang="zh-CN" altLang="en-US" dirty="0">
                <a:solidFill>
                  <a:schemeClr val="tx1"/>
                </a:solidFill>
              </a:rPr>
              <a:t>有效期限：</a:t>
            </a:r>
            <a:r>
              <a:rPr lang="en-US" altLang="zh-CN" dirty="0">
                <a:solidFill>
                  <a:schemeClr val="tx1"/>
                </a:solidFill>
              </a:rPr>
              <a:t>2026/10/31</a:t>
            </a:r>
          </a:p>
          <a:p>
            <a:pPr marL="0" indent="0">
              <a:buNone/>
            </a:pPr>
            <a:endParaRPr lang="zh-CN" altLang="en-US" dirty="0"/>
          </a:p>
        </p:txBody>
      </p:sp>
      <p:sp>
        <p:nvSpPr>
          <p:cNvPr id="3" name="Title 1">
            <a:extLst>
              <a:ext uri="{FF2B5EF4-FFF2-40B4-BE49-F238E27FC236}">
                <a16:creationId xmlns:a16="http://schemas.microsoft.com/office/drawing/2014/main" id="{1A9BD0A7-3F06-D2C9-8E85-D9636A08F2FE}"/>
              </a:ext>
            </a:extLst>
          </p:cNvPr>
          <p:cNvSpPr txBox="1">
            <a:spLocks/>
          </p:cNvSpPr>
          <p:nvPr/>
        </p:nvSpPr>
        <p:spPr>
          <a:xfrm>
            <a:off x="0" y="-31193"/>
            <a:ext cx="9144000" cy="990599"/>
          </a:xfrm>
          <a:prstGeom prst="rect">
            <a:avLst/>
          </a:prstGeom>
          <a:solidFill>
            <a:srgbClr val="2B03BD"/>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b="1" spc="6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课程总体安排</a:t>
            </a:r>
          </a:p>
        </p:txBody>
      </p:sp>
      <p:sp>
        <p:nvSpPr>
          <p:cNvPr id="2" name="Rectangle 9">
            <a:extLst>
              <a:ext uri="{FF2B5EF4-FFF2-40B4-BE49-F238E27FC236}">
                <a16:creationId xmlns:a16="http://schemas.microsoft.com/office/drawing/2014/main" id="{42AAB0F7-3D3F-B001-997A-6C37D42F0E4F}"/>
              </a:ext>
            </a:extLst>
          </p:cNvPr>
          <p:cNvSpPr txBox="1">
            <a:spLocks noChangeArrowheads="1"/>
          </p:cNvSpPr>
          <p:nvPr/>
        </p:nvSpPr>
        <p:spPr>
          <a:xfrm>
            <a:off x="323528" y="3861048"/>
            <a:ext cx="8352928" cy="2664296"/>
          </a:xfrm>
          <a:prstGeom prst="rect">
            <a:avLst/>
          </a:prstGeom>
          <a:noFill/>
          <a:ln w="9525">
            <a:noFill/>
          </a:ln>
        </p:spPr>
        <p:txBody>
          <a:bodyPr anchor="t" anchorCtr="0"/>
          <a:lst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4"/>
              </a:buBlip>
              <a:defRPr kumimoji="1" sz="3600">
                <a:solidFill>
                  <a:srgbClr val="4B51A5"/>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3200">
                <a:solidFill>
                  <a:srgbClr val="4B51A5"/>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800">
                <a:solidFill>
                  <a:srgbClr val="4B51A5"/>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400">
                <a:solidFill>
                  <a:srgbClr val="4B51A5"/>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9pPr>
          </a:lstStyle>
          <a:p>
            <a:r>
              <a:rPr lang="zh-CN" altLang="en-US" kern="0" dirty="0"/>
              <a:t>课件及</a:t>
            </a:r>
            <a:r>
              <a:rPr lang="en-US" altLang="zh-CN" kern="0" dirty="0"/>
              <a:t>FPGA</a:t>
            </a:r>
            <a:r>
              <a:rPr lang="zh-CN" altLang="en-US" kern="0" dirty="0"/>
              <a:t>开发板供应商提供的技术支持</a:t>
            </a:r>
            <a:endParaRPr lang="en-US" altLang="zh-CN" kern="0" dirty="0"/>
          </a:p>
          <a:p>
            <a:pPr marL="0" indent="0">
              <a:buNone/>
            </a:pPr>
            <a:r>
              <a:rPr lang="en-US" altLang="zh-CN" kern="0" dirty="0">
                <a:latin typeface="arial" panose="020B0604020202020204" pitchFamily="34" charset="0"/>
                <a:hlinkClick r:id="rId5"/>
              </a:rPr>
              <a:t>https://pan.seu.edu.cn/link/AAD662308958FE4F8B9C22DE5291CC41C9</a:t>
            </a:r>
            <a:endParaRPr lang="en-US" altLang="zh-CN" kern="0" dirty="0">
              <a:latin typeface="arial" panose="020B0604020202020204" pitchFamily="34" charset="0"/>
            </a:endParaRPr>
          </a:p>
          <a:p>
            <a:pPr marL="0" indent="0">
              <a:buFont typeface="Wingdings" panose="05000000000000000000" pitchFamily="2" charset="2"/>
              <a:buNone/>
            </a:pPr>
            <a:endParaRPr lang="zh-CN" altLang="en-US" kern="0" dirty="0"/>
          </a:p>
        </p:txBody>
      </p:sp>
    </p:spTree>
    <p:extLst>
      <p:ext uri="{BB962C8B-B14F-4D97-AF65-F5344CB8AC3E}">
        <p14:creationId xmlns:p14="http://schemas.microsoft.com/office/powerpoint/2010/main" val="1739494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22F52299-4101-2A79-446A-D1F3A2430002}"/>
              </a:ext>
            </a:extLst>
          </p:cNvPr>
          <p:cNvPicPr>
            <a:picLocks noGrp="1" noChangeAspect="1"/>
          </p:cNvPicPr>
          <p:nvPr>
            <p:ph idx="1"/>
          </p:nvPr>
        </p:nvPicPr>
        <p:blipFill>
          <a:blip r:embed="rId3"/>
          <a:stretch>
            <a:fillRect/>
          </a:stretch>
        </p:blipFill>
        <p:spPr>
          <a:xfrm>
            <a:off x="323528" y="1268760"/>
            <a:ext cx="8607568" cy="4831220"/>
          </a:xfrm>
        </p:spPr>
      </p:pic>
      <p:sp>
        <p:nvSpPr>
          <p:cNvPr id="2" name="Title 1">
            <a:extLst>
              <a:ext uri="{FF2B5EF4-FFF2-40B4-BE49-F238E27FC236}">
                <a16:creationId xmlns:a16="http://schemas.microsoft.com/office/drawing/2014/main" id="{159FC5E9-7E63-5B9D-CFD9-CADF9FB06FA1}"/>
              </a:ext>
            </a:extLst>
          </p:cNvPr>
          <p:cNvSpPr txBox="1">
            <a:spLocks/>
          </p:cNvSpPr>
          <p:nvPr/>
        </p:nvSpPr>
        <p:spPr>
          <a:xfrm>
            <a:off x="0" y="-31193"/>
            <a:ext cx="9144000" cy="990599"/>
          </a:xfrm>
          <a:prstGeom prst="rect">
            <a:avLst/>
          </a:prstGeom>
          <a:solidFill>
            <a:srgbClr val="2B03BD"/>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b="1" spc="6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技术文档网盘资源</a:t>
            </a:r>
          </a:p>
        </p:txBody>
      </p:sp>
    </p:spTree>
    <p:extLst>
      <p:ext uri="{BB962C8B-B14F-4D97-AF65-F5344CB8AC3E}">
        <p14:creationId xmlns:p14="http://schemas.microsoft.com/office/powerpoint/2010/main" val="1836239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7AE1CBD6-F2C2-6CA3-6459-B89E967FBEBA}"/>
              </a:ext>
            </a:extLst>
          </p:cNvPr>
          <p:cNvSpPr>
            <a:spLocks noGrp="1"/>
          </p:cNvSpPr>
          <p:nvPr>
            <p:ph idx="1"/>
          </p:nvPr>
        </p:nvSpPr>
        <p:spPr/>
        <p:txBody>
          <a:bodyPr/>
          <a:lstStyle/>
          <a:p>
            <a:r>
              <a:rPr lang="zh-CN" altLang="en-US" sz="3200" dirty="0"/>
              <a:t>比较重要的文档</a:t>
            </a:r>
            <a:endParaRPr lang="en-US" altLang="zh-CN" sz="3200" dirty="0"/>
          </a:p>
          <a:p>
            <a:pPr lvl="1"/>
            <a:r>
              <a:rPr lang="en-US" altLang="zh-CN" dirty="0"/>
              <a:t>7A75_DEMO</a:t>
            </a:r>
            <a:r>
              <a:rPr lang="zh-CN" altLang="en-US" dirty="0"/>
              <a:t>使用介绍文件夹</a:t>
            </a:r>
            <a:r>
              <a:rPr lang="en-US" altLang="zh-CN" dirty="0"/>
              <a:t>——</a:t>
            </a:r>
            <a:r>
              <a:rPr lang="zh-CN" altLang="en-US" dirty="0"/>
              <a:t>示例工程的说明</a:t>
            </a:r>
            <a:endParaRPr lang="en-US" altLang="zh-CN" dirty="0"/>
          </a:p>
          <a:p>
            <a:pPr lvl="1"/>
            <a:r>
              <a:rPr lang="en-US" altLang="zh-CN" dirty="0"/>
              <a:t>DEMO</a:t>
            </a:r>
            <a:r>
              <a:rPr lang="zh-CN" altLang="en-US" dirty="0"/>
              <a:t>文件夹</a:t>
            </a:r>
            <a:r>
              <a:rPr lang="en-US" altLang="zh-CN" dirty="0"/>
              <a:t>——</a:t>
            </a:r>
            <a:r>
              <a:rPr lang="zh-CN" altLang="en-US" dirty="0"/>
              <a:t>示例工程</a:t>
            </a:r>
            <a:endParaRPr lang="en-US" altLang="zh-CN" dirty="0"/>
          </a:p>
          <a:p>
            <a:pPr lvl="1"/>
            <a:r>
              <a:rPr lang="en-US" altLang="zh-CN" dirty="0"/>
              <a:t>HX_CESHI_XILINX_BORD——FPGA</a:t>
            </a:r>
            <a:r>
              <a:rPr lang="zh-CN" altLang="en-US" dirty="0"/>
              <a:t>开发板烧录的初始工程</a:t>
            </a:r>
            <a:endParaRPr lang="en-US" altLang="zh-CN" dirty="0"/>
          </a:p>
          <a:p>
            <a:pPr lvl="1"/>
            <a:r>
              <a:rPr lang="en-US" altLang="zh-CN" dirty="0"/>
              <a:t>HX7A75A</a:t>
            </a:r>
            <a:r>
              <a:rPr lang="zh-CN" altLang="en-US" dirty="0"/>
              <a:t>开发板手册</a:t>
            </a:r>
            <a:r>
              <a:rPr lang="en-US" altLang="zh-CN" dirty="0"/>
              <a:t>-HDL</a:t>
            </a:r>
            <a:r>
              <a:rPr lang="zh-CN" altLang="en-US" dirty="0"/>
              <a:t>版</a:t>
            </a:r>
            <a:r>
              <a:rPr lang="en-US" altLang="zh-CN" dirty="0"/>
              <a:t>2307pdf——</a:t>
            </a:r>
            <a:r>
              <a:rPr lang="zh-CN" altLang="en-US" dirty="0"/>
              <a:t>实验用</a:t>
            </a:r>
            <a:r>
              <a:rPr lang="en-US" altLang="zh-CN" dirty="0"/>
              <a:t>FPGA</a:t>
            </a:r>
            <a:r>
              <a:rPr lang="zh-CN" altLang="en-US" dirty="0"/>
              <a:t>开发板资源和管脚说明</a:t>
            </a:r>
            <a:endParaRPr lang="en-US" altLang="zh-CN" dirty="0"/>
          </a:p>
          <a:p>
            <a:pPr lvl="1"/>
            <a:r>
              <a:rPr lang="zh-CN" altLang="en-US" dirty="0"/>
              <a:t>文件使用指南</a:t>
            </a:r>
            <a:r>
              <a:rPr lang="en-US" altLang="zh-CN" dirty="0"/>
              <a:t>——</a:t>
            </a:r>
            <a:r>
              <a:rPr lang="zh-CN" altLang="en-US" dirty="0"/>
              <a:t>对厂家提供的所有技术文档的概括说明</a:t>
            </a:r>
          </a:p>
        </p:txBody>
      </p:sp>
      <p:sp>
        <p:nvSpPr>
          <p:cNvPr id="2" name="Title 1">
            <a:extLst>
              <a:ext uri="{FF2B5EF4-FFF2-40B4-BE49-F238E27FC236}">
                <a16:creationId xmlns:a16="http://schemas.microsoft.com/office/drawing/2014/main" id="{913D5FF5-9743-D668-86C7-5D1EAED0C38A}"/>
              </a:ext>
            </a:extLst>
          </p:cNvPr>
          <p:cNvSpPr txBox="1">
            <a:spLocks/>
          </p:cNvSpPr>
          <p:nvPr/>
        </p:nvSpPr>
        <p:spPr>
          <a:xfrm>
            <a:off x="0" y="-31193"/>
            <a:ext cx="9144000" cy="990599"/>
          </a:xfrm>
          <a:prstGeom prst="rect">
            <a:avLst/>
          </a:prstGeom>
          <a:solidFill>
            <a:srgbClr val="2B03BD"/>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b="1" spc="6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技术文档网盘资源</a:t>
            </a:r>
          </a:p>
        </p:txBody>
      </p:sp>
    </p:spTree>
    <p:extLst>
      <p:ext uri="{BB962C8B-B14F-4D97-AF65-F5344CB8AC3E}">
        <p14:creationId xmlns:p14="http://schemas.microsoft.com/office/powerpoint/2010/main" val="1973093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6">
            <a:extLst>
              <a:ext uri="{FF2B5EF4-FFF2-40B4-BE49-F238E27FC236}">
                <a16:creationId xmlns:a16="http://schemas.microsoft.com/office/drawing/2014/main" id="{4AC57FC8-86FA-4A36-BA40-BECD9DDD944D}"/>
              </a:ext>
            </a:extLst>
          </p:cNvPr>
          <p:cNvSpPr txBox="1">
            <a:spLocks noChangeArrowheads="1"/>
          </p:cNvSpPr>
          <p:nvPr/>
        </p:nvSpPr>
        <p:spPr bwMode="auto">
          <a:xfrm>
            <a:off x="1657350" y="3086100"/>
            <a:ext cx="15430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2D050"/>
              </a:buClr>
              <a:buFont typeface="Wingdings" panose="05000000000000000000" pitchFamily="2" charset="2"/>
              <a:buChar char="n"/>
              <a:defRPr sz="3600" b="1">
                <a:solidFill>
                  <a:schemeClr val="tx1"/>
                </a:solidFill>
                <a:latin typeface="Times New Roman" panose="02020603050405020304" pitchFamily="18" charset="0"/>
                <a:ea typeface="楷体" panose="02010609060101010101" pitchFamily="49" charset="-122"/>
                <a:cs typeface="楷体" panose="02010609060101010101" pitchFamily="49" charset="-122"/>
              </a:defRPr>
            </a:lvl1pPr>
            <a:lvl2pPr marL="742950" indent="-285750">
              <a:spcBef>
                <a:spcPct val="20000"/>
              </a:spcBef>
              <a:buClr>
                <a:srgbClr val="FFC000"/>
              </a:buClr>
              <a:buFont typeface="Wingdings" panose="05000000000000000000" pitchFamily="2" charset="2"/>
              <a:buChar char="l"/>
              <a:defRPr sz="3200" b="1">
                <a:solidFill>
                  <a:schemeClr val="tx1"/>
                </a:solidFill>
                <a:latin typeface="Times New Roman" panose="02020603050405020304" pitchFamily="18" charset="0"/>
                <a:ea typeface="楷体" panose="02010609060101010101" pitchFamily="49" charset="-122"/>
                <a:cs typeface="楷体" panose="02010609060101010101" pitchFamily="49" charset="-122"/>
              </a:defRPr>
            </a:lvl2pPr>
            <a:lvl3pPr marL="1143000" indent="-228600">
              <a:spcBef>
                <a:spcPct val="20000"/>
              </a:spcBef>
              <a:buClr>
                <a:srgbClr val="0070C0"/>
              </a:buClr>
              <a:buFont typeface="Wingdings" panose="05000000000000000000" pitchFamily="2" charset="2"/>
              <a:buChar char="l"/>
              <a:defRPr sz="2800" b="1">
                <a:solidFill>
                  <a:schemeClr val="tx1"/>
                </a:solidFill>
                <a:latin typeface="Times New Roman" panose="02020603050405020304" pitchFamily="18" charset="0"/>
                <a:ea typeface="楷体" panose="02010609060101010101" pitchFamily="49" charset="-122"/>
                <a:cs typeface="楷体" panose="02010609060101010101" pitchFamily="49" charset="-122"/>
              </a:defRPr>
            </a:lvl3pPr>
            <a:lvl4pPr marL="1600200" indent="-228600">
              <a:spcBef>
                <a:spcPct val="20000"/>
              </a:spcBef>
              <a:buChar char="–"/>
              <a:defRPr sz="1600" b="1">
                <a:solidFill>
                  <a:schemeClr val="tx1"/>
                </a:solidFill>
                <a:latin typeface="楷体" panose="02010609060101010101" pitchFamily="49" charset="-122"/>
                <a:ea typeface="楷体" panose="02010609060101010101" pitchFamily="49" charset="-122"/>
                <a:cs typeface="楷体" panose="02010609060101010101" pitchFamily="49" charset="-122"/>
              </a:defRPr>
            </a:lvl4pPr>
            <a:lvl5pPr marL="2057400" indent="-228600">
              <a:spcBef>
                <a:spcPct val="20000"/>
              </a:spcBef>
              <a:buChar char="»"/>
              <a:defRPr sz="1600" b="1">
                <a:solidFill>
                  <a:schemeClr val="tx1"/>
                </a:solidFill>
                <a:latin typeface="楷体" panose="02010609060101010101" pitchFamily="49" charset="-122"/>
                <a:ea typeface="楷体" panose="02010609060101010101" pitchFamily="49" charset="-122"/>
                <a:cs typeface="楷体" panose="02010609060101010101" pitchFamily="49" charset="-122"/>
              </a:defRPr>
            </a:lvl5pPr>
            <a:lvl6pPr marL="2514600" indent="-228600" fontAlgn="base">
              <a:spcBef>
                <a:spcPct val="20000"/>
              </a:spcBef>
              <a:spcAft>
                <a:spcPct val="0"/>
              </a:spcAft>
              <a:buChar char="»"/>
              <a:defRPr sz="1600" b="1">
                <a:solidFill>
                  <a:schemeClr val="tx1"/>
                </a:solidFill>
                <a:latin typeface="楷体" panose="02010609060101010101" pitchFamily="49" charset="-122"/>
                <a:ea typeface="楷体" panose="02010609060101010101" pitchFamily="49" charset="-122"/>
                <a:cs typeface="楷体" panose="02010609060101010101" pitchFamily="49" charset="-122"/>
              </a:defRPr>
            </a:lvl6pPr>
            <a:lvl7pPr marL="2971800" indent="-228600" fontAlgn="base">
              <a:spcBef>
                <a:spcPct val="20000"/>
              </a:spcBef>
              <a:spcAft>
                <a:spcPct val="0"/>
              </a:spcAft>
              <a:buChar char="»"/>
              <a:defRPr sz="1600" b="1">
                <a:solidFill>
                  <a:schemeClr val="tx1"/>
                </a:solidFill>
                <a:latin typeface="楷体" panose="02010609060101010101" pitchFamily="49" charset="-122"/>
                <a:ea typeface="楷体" panose="02010609060101010101" pitchFamily="49" charset="-122"/>
                <a:cs typeface="楷体" panose="02010609060101010101" pitchFamily="49" charset="-122"/>
              </a:defRPr>
            </a:lvl7pPr>
            <a:lvl8pPr marL="3429000" indent="-228600" fontAlgn="base">
              <a:spcBef>
                <a:spcPct val="20000"/>
              </a:spcBef>
              <a:spcAft>
                <a:spcPct val="0"/>
              </a:spcAft>
              <a:buChar char="»"/>
              <a:defRPr sz="1600" b="1">
                <a:solidFill>
                  <a:schemeClr val="tx1"/>
                </a:solidFill>
                <a:latin typeface="楷体" panose="02010609060101010101" pitchFamily="49" charset="-122"/>
                <a:ea typeface="楷体" panose="02010609060101010101" pitchFamily="49" charset="-122"/>
                <a:cs typeface="楷体" panose="02010609060101010101" pitchFamily="49" charset="-122"/>
              </a:defRPr>
            </a:lvl8pPr>
            <a:lvl9pPr marL="3886200" indent="-228600" fontAlgn="base">
              <a:spcBef>
                <a:spcPct val="20000"/>
              </a:spcBef>
              <a:spcAft>
                <a:spcPct val="0"/>
              </a:spcAft>
              <a:buChar char="»"/>
              <a:defRPr sz="1600" b="1">
                <a:solidFill>
                  <a:schemeClr val="tx1"/>
                </a:solidFill>
                <a:latin typeface="楷体" panose="02010609060101010101" pitchFamily="49" charset="-122"/>
                <a:ea typeface="楷体" panose="02010609060101010101" pitchFamily="49" charset="-122"/>
                <a:cs typeface="楷体" panose="02010609060101010101" pitchFamily="49" charset="-122"/>
              </a:defRPr>
            </a:lvl9pPr>
          </a:lstStyle>
          <a:p>
            <a:pPr eaLnBrk="1" hangingPunct="1">
              <a:spcBef>
                <a:spcPct val="50000"/>
              </a:spcBef>
              <a:buClrTx/>
              <a:buFontTx/>
              <a:buNone/>
            </a:pPr>
            <a:endParaRPr kumimoji="1" lang="zh-CN" altLang="zh-CN" sz="2400" b="0">
              <a:ea typeface="宋体" panose="02010600030101010101" pitchFamily="2" charset="-122"/>
            </a:endParaRPr>
          </a:p>
        </p:txBody>
      </p:sp>
      <p:sp>
        <p:nvSpPr>
          <p:cNvPr id="10244" name="Rectangle 113">
            <a:extLst>
              <a:ext uri="{FF2B5EF4-FFF2-40B4-BE49-F238E27FC236}">
                <a16:creationId xmlns:a16="http://schemas.microsoft.com/office/drawing/2014/main" id="{59E7700F-A096-4246-8274-6E468D3BDD85}"/>
              </a:ext>
            </a:extLst>
          </p:cNvPr>
          <p:cNvSpPr>
            <a:spLocks noGrp="1" noChangeArrowheads="1"/>
          </p:cNvSpPr>
          <p:nvPr>
            <p:ph idx="1"/>
          </p:nvPr>
        </p:nvSpPr>
        <p:spPr>
          <a:xfrm>
            <a:off x="395536" y="1373832"/>
            <a:ext cx="8424936" cy="4719464"/>
          </a:xfrm>
        </p:spPr>
        <p:txBody>
          <a:bodyPr/>
          <a:lstStyle/>
          <a:p>
            <a:r>
              <a:rPr lang="zh-CN" altLang="en-US" dirty="0"/>
              <a:t>课堂理论教学：前</a:t>
            </a:r>
            <a:r>
              <a:rPr lang="en-US" altLang="zh-CN" dirty="0"/>
              <a:t>3</a:t>
            </a:r>
            <a:r>
              <a:rPr lang="zh-CN" altLang="en-US" dirty="0"/>
              <a:t>节课左右</a:t>
            </a:r>
            <a:endParaRPr lang="en-US" altLang="zh-CN" dirty="0"/>
          </a:p>
          <a:p>
            <a:r>
              <a:rPr lang="zh-CN" altLang="en-US" dirty="0"/>
              <a:t>编程调试：后续时间</a:t>
            </a:r>
            <a:endParaRPr lang="en-US" altLang="zh-CN" dirty="0"/>
          </a:p>
          <a:p>
            <a:r>
              <a:rPr lang="zh-CN" altLang="en-US" dirty="0"/>
              <a:t>设计验收：将程序下载到开发板上，根据设计要求，验收数字系统的基础功能</a:t>
            </a:r>
            <a:endParaRPr lang="en-US" altLang="zh-CN" dirty="0"/>
          </a:p>
          <a:p>
            <a:r>
              <a:rPr lang="zh-CN" altLang="en-US" dirty="0"/>
              <a:t>验收时间：短学期最后一周的两次课上随堂验收</a:t>
            </a:r>
            <a:endParaRPr lang="en-US" altLang="zh-CN" dirty="0"/>
          </a:p>
          <a:p>
            <a:r>
              <a:rPr lang="zh-CN" altLang="en-US" dirty="0"/>
              <a:t>设计报告和工程文件提交：短学期最后一周周六之前</a:t>
            </a:r>
            <a:r>
              <a:rPr lang="en-US" altLang="zh-CN" dirty="0"/>
              <a:t>(2026.9.19</a:t>
            </a:r>
            <a:r>
              <a:rPr lang="zh-CN" altLang="en-US" dirty="0"/>
              <a:t>之前</a:t>
            </a:r>
            <a:r>
              <a:rPr lang="en-US" altLang="zh-CN" dirty="0"/>
              <a:t>)</a:t>
            </a:r>
          </a:p>
          <a:p>
            <a:endParaRPr lang="en-US" altLang="zh-CN" dirty="0"/>
          </a:p>
          <a:p>
            <a:endParaRPr lang="en-US" altLang="zh-CN" sz="3600" b="1" kern="1200"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 name="Title 1">
            <a:extLst>
              <a:ext uri="{FF2B5EF4-FFF2-40B4-BE49-F238E27FC236}">
                <a16:creationId xmlns:a16="http://schemas.microsoft.com/office/drawing/2014/main" id="{E4281226-4341-C91F-C82F-64DA271EA4CB}"/>
              </a:ext>
            </a:extLst>
          </p:cNvPr>
          <p:cNvSpPr txBox="1">
            <a:spLocks/>
          </p:cNvSpPr>
          <p:nvPr/>
        </p:nvSpPr>
        <p:spPr>
          <a:xfrm>
            <a:off x="0" y="0"/>
            <a:ext cx="9144000" cy="990599"/>
          </a:xfrm>
          <a:prstGeom prst="rect">
            <a:avLst/>
          </a:prstGeom>
          <a:solidFill>
            <a:srgbClr val="2B03BD"/>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b="1" spc="6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课程总体</a:t>
            </a:r>
            <a:r>
              <a:rPr lang="zh-CN" altLang="en-US" b="1" spc="600">
                <a:solidFill>
                  <a:schemeClr val="bg1"/>
                </a:solidFill>
                <a:latin typeface="微软雅黑" panose="020B0503020204020204" pitchFamily="34" charset="-122"/>
                <a:ea typeface="微软雅黑" panose="020B0503020204020204" pitchFamily="34" charset="-122"/>
                <a:cs typeface="Arial" panose="020B0604020202020204" pitchFamily="34" charset="0"/>
              </a:rPr>
              <a:t>安排</a:t>
            </a:r>
            <a:endParaRPr lang="zh-CN" altLang="en-US" b="1" spc="6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44">
                                            <p:txEl>
                                              <p:pRg st="0" end="0"/>
                                            </p:txEl>
                                          </p:spTgt>
                                        </p:tgtEl>
                                        <p:attrNameLst>
                                          <p:attrName>style.visibility</p:attrName>
                                        </p:attrNameLst>
                                      </p:cBhvr>
                                      <p:to>
                                        <p:strVal val="visible"/>
                                      </p:to>
                                    </p:set>
                                    <p:animEffect transition="in" filter="wipe(left)">
                                      <p:cBhvr>
                                        <p:cTn id="7" dur="500"/>
                                        <p:tgtEl>
                                          <p:spTgt spid="102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244">
                                            <p:txEl>
                                              <p:pRg st="1" end="1"/>
                                            </p:txEl>
                                          </p:spTgt>
                                        </p:tgtEl>
                                        <p:attrNameLst>
                                          <p:attrName>style.visibility</p:attrName>
                                        </p:attrNameLst>
                                      </p:cBhvr>
                                      <p:to>
                                        <p:strVal val="visible"/>
                                      </p:to>
                                    </p:set>
                                    <p:animEffect transition="in" filter="wipe(left)">
                                      <p:cBhvr>
                                        <p:cTn id="12" dur="500"/>
                                        <p:tgtEl>
                                          <p:spTgt spid="1024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244">
                                            <p:txEl>
                                              <p:pRg st="2" end="2"/>
                                            </p:txEl>
                                          </p:spTgt>
                                        </p:tgtEl>
                                        <p:attrNameLst>
                                          <p:attrName>style.visibility</p:attrName>
                                        </p:attrNameLst>
                                      </p:cBhvr>
                                      <p:to>
                                        <p:strVal val="visible"/>
                                      </p:to>
                                    </p:set>
                                    <p:animEffect transition="in" filter="wipe(left)">
                                      <p:cBhvr>
                                        <p:cTn id="17" dur="500"/>
                                        <p:tgtEl>
                                          <p:spTgt spid="1024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244">
                                            <p:txEl>
                                              <p:pRg st="3" end="3"/>
                                            </p:txEl>
                                          </p:spTgt>
                                        </p:tgtEl>
                                        <p:attrNameLst>
                                          <p:attrName>style.visibility</p:attrName>
                                        </p:attrNameLst>
                                      </p:cBhvr>
                                      <p:to>
                                        <p:strVal val="visible"/>
                                      </p:to>
                                    </p:set>
                                    <p:animEffect transition="in" filter="wipe(left)">
                                      <p:cBhvr>
                                        <p:cTn id="22" dur="500"/>
                                        <p:tgtEl>
                                          <p:spTgt spid="1024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244">
                                            <p:txEl>
                                              <p:pRg st="4" end="4"/>
                                            </p:txEl>
                                          </p:spTgt>
                                        </p:tgtEl>
                                        <p:attrNameLst>
                                          <p:attrName>style.visibility</p:attrName>
                                        </p:attrNameLst>
                                      </p:cBhvr>
                                      <p:to>
                                        <p:strVal val="visible"/>
                                      </p:to>
                                    </p:set>
                                    <p:animEffect transition="in" filter="wipe(left)">
                                      <p:cBhvr>
                                        <p:cTn id="27" dur="500"/>
                                        <p:tgtEl>
                                          <p:spTgt spid="1024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p:cNvSpPr>
          <p:nvPr>
            <p:ph type="title"/>
          </p:nvPr>
        </p:nvSpPr>
        <p:spPr>
          <a:xfrm>
            <a:off x="900113" y="188913"/>
            <a:ext cx="4319959" cy="792162"/>
          </a:xfrm>
        </p:spPr>
        <p:txBody>
          <a:bodyPr vert="horz" wrap="square" lIns="91440" tIns="45720" rIns="91440" bIns="45720" anchor="b" anchorCtr="0"/>
          <a:lstStyle/>
          <a:p>
            <a:pPr algn="l" eaLnBrk="1" hangingPunct="1"/>
            <a:r>
              <a:rPr lang="zh-CN" altLang="en-US" dirty="0"/>
              <a:t>课程主要内容</a:t>
            </a:r>
          </a:p>
        </p:txBody>
      </p:sp>
      <p:sp>
        <p:nvSpPr>
          <p:cNvPr id="6146" name="Rectangle 3" descr="Rectangle: Click to edit Master text styles&#10;Second level&#10;Third level&#10;Fourth level&#10;Fifth level"/>
          <p:cNvSpPr>
            <a:spLocks noGrp="1"/>
          </p:cNvSpPr>
          <p:nvPr>
            <p:ph idx="1"/>
          </p:nvPr>
        </p:nvSpPr>
        <p:spPr>
          <a:xfrm>
            <a:off x="900113" y="1412527"/>
            <a:ext cx="8064500" cy="4176713"/>
          </a:xfrm>
        </p:spPr>
        <p:txBody>
          <a:bodyPr vert="horz" wrap="square" lIns="91440" tIns="45720" rIns="91440" bIns="45720" anchor="t" anchorCtr="0"/>
          <a:lstStyle/>
          <a:p>
            <a:pPr eaLnBrk="1" hangingPunct="1">
              <a:spcBef>
                <a:spcPts val="1200"/>
              </a:spcBef>
              <a:spcAft>
                <a:spcPts val="1200"/>
              </a:spcAft>
            </a:pPr>
            <a:r>
              <a:rPr lang="zh-CN" altLang="en-US" dirty="0"/>
              <a:t>数字系统设计基础知识简介</a:t>
            </a:r>
          </a:p>
          <a:p>
            <a:pPr eaLnBrk="1" hangingPunct="1">
              <a:spcBef>
                <a:spcPts val="1200"/>
              </a:spcBef>
              <a:spcAft>
                <a:spcPts val="1200"/>
              </a:spcAft>
            </a:pPr>
            <a:r>
              <a:rPr lang="zh-CN" altLang="en-US" dirty="0"/>
              <a:t>熟练掌握</a:t>
            </a:r>
            <a:r>
              <a:rPr lang="en-US" altLang="zh-CN" dirty="0"/>
              <a:t>Verilog</a:t>
            </a:r>
            <a:r>
              <a:rPr lang="zh-CN" altLang="en-US" dirty="0"/>
              <a:t>的基本语法和使用</a:t>
            </a:r>
          </a:p>
          <a:p>
            <a:pPr eaLnBrk="1" hangingPunct="1">
              <a:spcBef>
                <a:spcPts val="1200"/>
              </a:spcBef>
              <a:spcAft>
                <a:spcPts val="1200"/>
              </a:spcAft>
            </a:pPr>
            <a:r>
              <a:rPr lang="zh-CN" altLang="en-US" dirty="0"/>
              <a:t>熟练使用</a:t>
            </a:r>
            <a:r>
              <a:rPr lang="en-US" altLang="zh-CN" dirty="0"/>
              <a:t>vivado</a:t>
            </a:r>
            <a:r>
              <a:rPr lang="zh-CN" altLang="en-US" dirty="0">
                <a:latin typeface="楷体_GB2312" pitchFamily="49" charset="-122"/>
              </a:rPr>
              <a:t>软件</a:t>
            </a:r>
          </a:p>
          <a:p>
            <a:pPr eaLnBrk="1" hangingPunct="1">
              <a:spcBef>
                <a:spcPts val="1200"/>
              </a:spcBef>
              <a:spcAft>
                <a:spcPts val="1200"/>
              </a:spcAft>
            </a:pPr>
            <a:r>
              <a:rPr lang="zh-CN" altLang="en-US" dirty="0"/>
              <a:t>在</a:t>
            </a:r>
            <a:r>
              <a:rPr lang="en-US" altLang="zh-CN" dirty="0"/>
              <a:t>vivado</a:t>
            </a:r>
            <a:r>
              <a:rPr lang="zh-CN" altLang="en-US" dirty="0">
                <a:latin typeface="楷体_GB2312" pitchFamily="49" charset="-122"/>
              </a:rPr>
              <a:t>软件环境下使用</a:t>
            </a:r>
            <a:r>
              <a:rPr lang="en-US" altLang="zh-CN" dirty="0"/>
              <a:t>verilog</a:t>
            </a:r>
            <a:r>
              <a:rPr lang="zh-CN" altLang="en-US" dirty="0"/>
              <a:t>设计一个数字系统并通过下载到目标实验板验证其功能</a:t>
            </a:r>
            <a:endParaRPr lang="zh-CN" altLang="en-US" dirty="0">
              <a:latin typeface="楷体_GB2312" pitchFamily="49" charset="-122"/>
            </a:endParaRPr>
          </a:p>
          <a:p>
            <a:pPr eaLnBrk="1" hangingPunct="1"/>
            <a:endParaRPr lang="zh-CN" altLang="en-US" dirty="0">
              <a:latin typeface="楷体_GB2312" pitchFamily="49" charset="-122"/>
            </a:endParaRPr>
          </a:p>
          <a:p>
            <a:pPr eaLnBrk="1" hangingPunct="1"/>
            <a:endParaRPr lang="en-US" altLang="zh-CN" dirty="0">
              <a:latin typeface="楷体_GB2312"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1026"/>
          <p:cNvSpPr>
            <a:spLocks noGrp="1"/>
          </p:cNvSpPr>
          <p:nvPr>
            <p:ph type="title"/>
          </p:nvPr>
        </p:nvSpPr>
        <p:spPr>
          <a:xfrm>
            <a:off x="900113" y="188913"/>
            <a:ext cx="5472087" cy="792162"/>
          </a:xfrm>
        </p:spPr>
        <p:txBody>
          <a:bodyPr vert="horz" wrap="square" lIns="91440" tIns="45720" rIns="91440" bIns="45720" anchor="b" anchorCtr="0"/>
          <a:lstStyle/>
          <a:p>
            <a:pPr eaLnBrk="1" hangingPunct="1"/>
            <a:r>
              <a:rPr lang="zh-CN" altLang="en-US" dirty="0"/>
              <a:t>数字系统设计基础知识</a:t>
            </a:r>
          </a:p>
        </p:txBody>
      </p:sp>
      <p:sp>
        <p:nvSpPr>
          <p:cNvPr id="53250" name="Rectangle 1027" descr="Rectangle: Click to edit Master text styles&#10;Second level&#10;Third level&#10;Fourth level&#10;Fifth level"/>
          <p:cNvSpPr>
            <a:spLocks noGrp="1"/>
          </p:cNvSpPr>
          <p:nvPr>
            <p:ph idx="1"/>
          </p:nvPr>
        </p:nvSpPr>
        <p:spPr/>
        <p:txBody>
          <a:bodyPr vert="horz" wrap="square" lIns="91440" tIns="45720" rIns="91440" bIns="45720" anchor="t" anchorCtr="0"/>
          <a:lstStyle/>
          <a:p>
            <a:pPr eaLnBrk="1" hangingPunct="1">
              <a:lnSpc>
                <a:spcPct val="150000"/>
              </a:lnSpc>
              <a:spcBef>
                <a:spcPts val="600"/>
              </a:spcBef>
              <a:spcAft>
                <a:spcPts val="600"/>
              </a:spcAft>
            </a:pPr>
            <a:r>
              <a:rPr lang="zh-CN" altLang="en-US" dirty="0">
                <a:solidFill>
                  <a:srgbClr val="C00000"/>
                </a:solidFill>
              </a:rPr>
              <a:t>几个专用名词的介绍</a:t>
            </a:r>
          </a:p>
          <a:p>
            <a:pPr eaLnBrk="1" hangingPunct="1">
              <a:lnSpc>
                <a:spcPct val="150000"/>
              </a:lnSpc>
              <a:spcBef>
                <a:spcPts val="600"/>
              </a:spcBef>
              <a:spcAft>
                <a:spcPts val="600"/>
              </a:spcAft>
            </a:pPr>
            <a:r>
              <a:rPr lang="zh-CN" altLang="en-US" dirty="0"/>
              <a:t>数字系统设计的概念与流程</a:t>
            </a:r>
          </a:p>
          <a:p>
            <a:pPr eaLnBrk="1" hangingPunct="1">
              <a:lnSpc>
                <a:spcPct val="150000"/>
              </a:lnSpc>
              <a:spcBef>
                <a:spcPts val="600"/>
              </a:spcBef>
              <a:spcAft>
                <a:spcPts val="600"/>
              </a:spcAft>
            </a:pPr>
            <a:r>
              <a:rPr lang="zh-CN" altLang="en-US" dirty="0"/>
              <a:t>数字系统设计方法论</a:t>
            </a:r>
          </a:p>
        </p:txBody>
      </p:sp>
    </p:spTree>
    <p:extLst>
      <p:ext uri="{BB962C8B-B14F-4D97-AF65-F5344CB8AC3E}">
        <p14:creationId xmlns:p14="http://schemas.microsoft.com/office/powerpoint/2010/main" val="53647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p:cNvSpPr>
          <p:nvPr>
            <p:ph type="title"/>
          </p:nvPr>
        </p:nvSpPr>
        <p:spPr>
          <a:xfrm>
            <a:off x="900113" y="188913"/>
            <a:ext cx="4895850" cy="792162"/>
          </a:xfrm>
        </p:spPr>
        <p:txBody>
          <a:bodyPr vert="horz" wrap="square" lIns="91440" tIns="45720" rIns="91440" bIns="45720" anchor="b" anchorCtr="0"/>
          <a:lstStyle/>
          <a:p>
            <a:pPr eaLnBrk="1" hangingPunct="1"/>
            <a:r>
              <a:rPr lang="zh-CN" altLang="en-US" dirty="0"/>
              <a:t>几个专用名词的介绍</a:t>
            </a:r>
          </a:p>
        </p:txBody>
      </p:sp>
      <p:sp>
        <p:nvSpPr>
          <p:cNvPr id="7170" name="Rectangle 3" descr="Rectangle: Click to edit Master text styles&#10;Second level&#10;Third level&#10;Fourth level&#10;Fifth level"/>
          <p:cNvSpPr>
            <a:spLocks noGrp="1"/>
          </p:cNvSpPr>
          <p:nvPr>
            <p:ph idx="1"/>
          </p:nvPr>
        </p:nvSpPr>
        <p:spPr>
          <a:xfrm>
            <a:off x="876866" y="1091258"/>
            <a:ext cx="7843837" cy="4676775"/>
          </a:xfrm>
        </p:spPr>
        <p:txBody>
          <a:bodyPr vert="horz" wrap="square" lIns="91440" tIns="45720" rIns="91440" bIns="45720" anchor="t" anchorCtr="0"/>
          <a:lstStyle/>
          <a:p>
            <a:pPr eaLnBrk="1" hangingPunct="1"/>
            <a:r>
              <a:rPr lang="en-US" altLang="zh-CN" sz="3200" dirty="0"/>
              <a:t>EDA (</a:t>
            </a:r>
            <a:r>
              <a:rPr lang="en-US" altLang="zh-CN" sz="2800" dirty="0"/>
              <a:t>Electronic Design Automation</a:t>
            </a:r>
            <a:r>
              <a:rPr lang="en-US" altLang="zh-CN" sz="3200" dirty="0"/>
              <a:t>)</a:t>
            </a:r>
          </a:p>
          <a:p>
            <a:pPr eaLnBrk="1" hangingPunct="1">
              <a:buNone/>
            </a:pPr>
            <a:r>
              <a:rPr lang="en-US" altLang="zh-CN" sz="3200" dirty="0"/>
              <a:t>   </a:t>
            </a:r>
            <a:r>
              <a:rPr lang="zh-CN" altLang="en-US" sz="3200" dirty="0"/>
              <a:t>电子设计自动化</a:t>
            </a:r>
            <a:r>
              <a:rPr lang="en-US" altLang="zh-CN" sz="3200" dirty="0"/>
              <a:t>.</a:t>
            </a:r>
            <a:r>
              <a:rPr lang="zh-CN" altLang="en-US" sz="3200" dirty="0"/>
              <a:t>指利用计算机及相关软件完成电子系统的设计</a:t>
            </a:r>
            <a:r>
              <a:rPr lang="en-US" altLang="zh-CN" sz="3200" dirty="0"/>
              <a:t>.</a:t>
            </a:r>
            <a:r>
              <a:rPr lang="zh-CN" altLang="en-US" sz="3200" dirty="0"/>
              <a:t>具体的讲</a:t>
            </a:r>
            <a:r>
              <a:rPr lang="en-US" altLang="zh-CN" sz="3200" dirty="0"/>
              <a:t>,</a:t>
            </a:r>
            <a:r>
              <a:rPr lang="zh-CN" altLang="en-US" sz="3200" dirty="0"/>
              <a:t>是以计算机为工具</a:t>
            </a:r>
            <a:r>
              <a:rPr lang="en-US" altLang="zh-CN" sz="3200" dirty="0"/>
              <a:t>,</a:t>
            </a:r>
            <a:r>
              <a:rPr lang="zh-CN" altLang="en-US" sz="3200" dirty="0"/>
              <a:t>代替设计人员完成电子系统的逻辑综合、布局布线和设计仿真等工作</a:t>
            </a:r>
            <a:r>
              <a:rPr lang="en-US" altLang="zh-CN" sz="3200" dirty="0"/>
              <a:t>.</a:t>
            </a:r>
            <a:r>
              <a:rPr lang="zh-CN" altLang="en-US" sz="3200" dirty="0"/>
              <a:t>设计人员只需要完成</a:t>
            </a:r>
            <a:r>
              <a:rPr lang="zh-CN" altLang="en-US" sz="3200" dirty="0">
                <a:solidFill>
                  <a:srgbClr val="F2A10E"/>
                </a:solidFill>
              </a:rPr>
              <a:t>对系统功能的描述</a:t>
            </a:r>
            <a:r>
              <a:rPr lang="en-US" altLang="zh-CN" sz="3200" dirty="0"/>
              <a:t>,</a:t>
            </a:r>
            <a:r>
              <a:rPr lang="zh-CN" altLang="en-US" sz="3200" dirty="0"/>
              <a:t>就可以由计算机软件进行处理</a:t>
            </a:r>
            <a:r>
              <a:rPr lang="en-US" altLang="zh-CN" sz="3200" dirty="0"/>
              <a:t>,</a:t>
            </a:r>
            <a:r>
              <a:rPr lang="zh-CN" altLang="en-US" sz="3200" dirty="0"/>
              <a:t>得到设计结果</a:t>
            </a:r>
            <a:r>
              <a:rPr lang="en-US" altLang="zh-CN" sz="3200" dirty="0"/>
              <a:t>,</a:t>
            </a:r>
            <a:r>
              <a:rPr lang="zh-CN" altLang="en-US" sz="3200" dirty="0"/>
              <a:t>极大地提高了设计效率</a:t>
            </a:r>
            <a:r>
              <a:rPr lang="en-US" altLang="zh-CN" sz="3200" dirty="0"/>
              <a:t>.</a:t>
            </a:r>
            <a:r>
              <a:rPr lang="zh-CN" altLang="en-US" sz="3200" dirty="0"/>
              <a:t>当今的</a:t>
            </a:r>
            <a:r>
              <a:rPr lang="en-US" altLang="zh-CN" sz="3200" dirty="0"/>
              <a:t>EDA</a:t>
            </a:r>
            <a:r>
              <a:rPr lang="zh-CN" altLang="en-US" sz="3200" dirty="0"/>
              <a:t>技术更多的是指芯片内的电子系统设计自动化，即片上系统（</a:t>
            </a:r>
            <a:r>
              <a:rPr lang="en-US" altLang="zh-CN" sz="3200" dirty="0"/>
              <a:t>SOC</a:t>
            </a:r>
            <a:r>
              <a:rPr lang="zh-CN" altLang="en-US" sz="3200" dirty="0"/>
              <a:t>，</a:t>
            </a:r>
            <a:r>
              <a:rPr lang="en-US" altLang="zh-CN" sz="3200" dirty="0"/>
              <a:t>System On Chip</a:t>
            </a:r>
            <a:r>
              <a:rPr lang="zh-CN" altLang="en-US" sz="3200" dirty="0"/>
              <a:t>）设计。</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p:cNvSpPr>
          <p:nvPr>
            <p:ph type="title"/>
          </p:nvPr>
        </p:nvSpPr>
        <p:spPr>
          <a:xfrm>
            <a:off x="900113" y="188913"/>
            <a:ext cx="4895850" cy="792162"/>
          </a:xfrm>
        </p:spPr>
        <p:txBody>
          <a:bodyPr vert="horz" wrap="square" lIns="91440" tIns="45720" rIns="91440" bIns="45720" anchor="b" anchorCtr="0"/>
          <a:lstStyle/>
          <a:p>
            <a:pPr eaLnBrk="1" hangingPunct="1"/>
            <a:r>
              <a:rPr lang="zh-CN" altLang="en-US" dirty="0"/>
              <a:t>几个专用名词的介绍</a:t>
            </a:r>
          </a:p>
        </p:txBody>
      </p:sp>
      <p:sp>
        <p:nvSpPr>
          <p:cNvPr id="8194" name="Rectangle 3" descr="Rectangle: Click to edit Master text styles&#10;Second level&#10;Third level&#10;Fourth level&#10;Fifth level"/>
          <p:cNvSpPr>
            <a:spLocks noGrp="1"/>
          </p:cNvSpPr>
          <p:nvPr>
            <p:ph idx="1"/>
          </p:nvPr>
        </p:nvSpPr>
        <p:spPr>
          <a:xfrm>
            <a:off x="827584" y="1052736"/>
            <a:ext cx="7848600" cy="4899025"/>
          </a:xfrm>
        </p:spPr>
        <p:txBody>
          <a:bodyPr vert="horz" wrap="square" lIns="91440" tIns="45720" rIns="91440" bIns="45720" anchor="t" anchorCtr="0"/>
          <a:lstStyle/>
          <a:p>
            <a:pPr eaLnBrk="1" hangingPunct="1"/>
            <a:r>
              <a:rPr lang="en-US" altLang="zh-CN" sz="3200" dirty="0"/>
              <a:t>PLD</a:t>
            </a:r>
            <a:r>
              <a:rPr lang="en-US" altLang="zh-CN" dirty="0"/>
              <a:t> </a:t>
            </a:r>
            <a:r>
              <a:rPr lang="en-US" altLang="zh-CN" sz="3200" dirty="0"/>
              <a:t>(</a:t>
            </a:r>
            <a:r>
              <a:rPr lang="en-US" altLang="zh-CN" sz="2800" dirty="0"/>
              <a:t>Programmable Logic Device</a:t>
            </a:r>
            <a:r>
              <a:rPr lang="en-US" altLang="zh-CN" sz="3200" dirty="0"/>
              <a:t>)</a:t>
            </a:r>
          </a:p>
          <a:p>
            <a:pPr eaLnBrk="1" hangingPunct="1">
              <a:buNone/>
            </a:pPr>
            <a:r>
              <a:rPr lang="en-US" altLang="zh-CN" sz="3200" dirty="0"/>
              <a:t>   </a:t>
            </a:r>
            <a:r>
              <a:rPr lang="zh-CN" altLang="en-US" sz="3200" dirty="0">
                <a:solidFill>
                  <a:srgbClr val="F2A10E"/>
                </a:solidFill>
              </a:rPr>
              <a:t>可编程</a:t>
            </a:r>
            <a:r>
              <a:rPr lang="zh-CN" altLang="en-US" sz="3200" dirty="0"/>
              <a:t>逻辑器件</a:t>
            </a:r>
            <a:r>
              <a:rPr lang="en-US" altLang="zh-CN" sz="3200" dirty="0"/>
              <a:t>,</a:t>
            </a:r>
            <a:r>
              <a:rPr lang="zh-CN" altLang="en-US" sz="3200" dirty="0"/>
              <a:t>是一种半导体集成器件的半成品</a:t>
            </a:r>
            <a:r>
              <a:rPr lang="en-US" altLang="zh-CN" sz="3200" dirty="0"/>
              <a:t>.</a:t>
            </a:r>
            <a:r>
              <a:rPr lang="zh-CN" altLang="en-US" sz="3200" dirty="0"/>
              <a:t>在</a:t>
            </a:r>
            <a:r>
              <a:rPr lang="en-US" altLang="zh-CN" sz="3200" dirty="0"/>
              <a:t>PLD</a:t>
            </a:r>
            <a:r>
              <a:rPr lang="zh-CN" altLang="en-US" sz="3200" dirty="0"/>
              <a:t>的芯片中按一定方式</a:t>
            </a:r>
            <a:r>
              <a:rPr lang="en-US" altLang="zh-CN" sz="3200" dirty="0"/>
              <a:t>(</a:t>
            </a:r>
            <a:r>
              <a:rPr lang="zh-CN" altLang="en-US" sz="3200" dirty="0"/>
              <a:t>阵列形式或单元阵列形式</a:t>
            </a:r>
            <a:r>
              <a:rPr lang="en-US" altLang="zh-CN" sz="3200" dirty="0"/>
              <a:t>)</a:t>
            </a:r>
            <a:r>
              <a:rPr lang="zh-CN" altLang="en-US" sz="3200" dirty="0"/>
              <a:t>制作了大量的门、触发器等基本逻辑器件，通过这些基本器件的适当连接（此连接的过程为</a:t>
            </a:r>
            <a:r>
              <a:rPr lang="zh-CN" altLang="en-US" sz="3200" dirty="0">
                <a:solidFill>
                  <a:srgbClr val="FFC000"/>
                </a:solidFill>
              </a:rPr>
              <a:t>编程</a:t>
            </a:r>
            <a:r>
              <a:rPr lang="zh-CN" altLang="en-US" sz="3200" dirty="0"/>
              <a:t>或配置），就可完成某个电路或系统的功能。分为</a:t>
            </a:r>
            <a:r>
              <a:rPr lang="en-US" altLang="zh-CN" sz="3200" dirty="0"/>
              <a:t>SPLD</a:t>
            </a:r>
            <a:r>
              <a:rPr lang="zh-CN" altLang="en-US" sz="3200" dirty="0"/>
              <a:t>、</a:t>
            </a:r>
            <a:r>
              <a:rPr lang="en-US" altLang="zh-CN" sz="3200" dirty="0"/>
              <a:t>CPLD</a:t>
            </a:r>
            <a:r>
              <a:rPr lang="zh-CN" altLang="en-US" sz="3200" dirty="0"/>
              <a:t>和</a:t>
            </a:r>
            <a:r>
              <a:rPr lang="en-US" altLang="zh-CN" sz="3200" dirty="0"/>
              <a:t>FPGA</a:t>
            </a:r>
            <a:r>
              <a:rPr lang="zh-CN" altLang="en-US" sz="3200" dirty="0"/>
              <a:t>的合称</a:t>
            </a:r>
            <a:r>
              <a:rPr lang="en-US" altLang="zh-CN" sz="3200" dirty="0"/>
              <a:t>,</a:t>
            </a:r>
            <a:r>
              <a:rPr lang="zh-CN" altLang="en-US" sz="3200" dirty="0"/>
              <a:t>现指</a:t>
            </a:r>
            <a:r>
              <a:rPr lang="en-US" altLang="zh-CN" sz="3200" dirty="0"/>
              <a:t>CPLD</a:t>
            </a:r>
            <a:r>
              <a:rPr lang="zh-CN" altLang="en-US" sz="3200" dirty="0"/>
              <a:t>或</a:t>
            </a:r>
            <a:r>
              <a:rPr lang="en-US" altLang="zh-CN" sz="3200" dirty="0"/>
              <a:t>FPGA.</a:t>
            </a:r>
          </a:p>
          <a:p>
            <a:pPr eaLnBrk="1" hangingPunct="1">
              <a:buNone/>
            </a:pPr>
            <a:endParaRPr lang="en-US" altLang="zh-CN" sz="3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1026"/>
          <p:cNvSpPr>
            <a:spLocks noGrp="1"/>
          </p:cNvSpPr>
          <p:nvPr>
            <p:ph type="title"/>
          </p:nvPr>
        </p:nvSpPr>
        <p:spPr>
          <a:xfrm>
            <a:off x="900113" y="188913"/>
            <a:ext cx="5543550" cy="792162"/>
          </a:xfrm>
        </p:spPr>
        <p:txBody>
          <a:bodyPr vert="horz" wrap="square" lIns="91440" tIns="45720" rIns="91440" bIns="45720" anchor="b" anchorCtr="0"/>
          <a:lstStyle/>
          <a:p>
            <a:pPr eaLnBrk="1" hangingPunct="1"/>
            <a:r>
              <a:rPr lang="zh-CN" altLang="en-US" dirty="0"/>
              <a:t>可编程逻辑器件的发展</a:t>
            </a:r>
          </a:p>
        </p:txBody>
      </p:sp>
      <p:sp>
        <p:nvSpPr>
          <p:cNvPr id="12290" name="Rectangle 1027" descr="Rectangle: Click to edit Master text styles&#10;Second level&#10;Third level&#10;Fourth level&#10;Fifth level"/>
          <p:cNvSpPr>
            <a:spLocks noGrp="1"/>
          </p:cNvSpPr>
          <p:nvPr>
            <p:ph idx="1"/>
          </p:nvPr>
        </p:nvSpPr>
        <p:spPr>
          <a:xfrm>
            <a:off x="683568" y="1196752"/>
            <a:ext cx="8135937" cy="4676775"/>
          </a:xfrm>
        </p:spPr>
        <p:txBody>
          <a:bodyPr vert="horz" wrap="square" lIns="91440" tIns="45720" rIns="91440" bIns="45720" anchor="t" anchorCtr="0"/>
          <a:lstStyle/>
          <a:p>
            <a:pPr eaLnBrk="1" hangingPunct="1">
              <a:lnSpc>
                <a:spcPct val="90000"/>
              </a:lnSpc>
            </a:pPr>
            <a:r>
              <a:rPr lang="zh-CN" altLang="en-US" sz="2800" dirty="0"/>
              <a:t>大致的演变过程：</a:t>
            </a:r>
            <a:r>
              <a:rPr lang="zh-CN" altLang="en-US" sz="2800" dirty="0">
                <a:solidFill>
                  <a:srgbClr val="FFC000"/>
                </a:solidFill>
              </a:rPr>
              <a:t>规模、编程工艺、架构</a:t>
            </a:r>
          </a:p>
          <a:p>
            <a:pPr lvl="1" eaLnBrk="1" hangingPunct="1"/>
            <a:r>
              <a:rPr lang="en-US" altLang="zh-CN" sz="2400" dirty="0"/>
              <a:t>20</a:t>
            </a:r>
            <a:r>
              <a:rPr lang="zh-CN" altLang="en-US" sz="2400" dirty="0"/>
              <a:t>世纪</a:t>
            </a:r>
            <a:r>
              <a:rPr lang="en-US" altLang="zh-CN" sz="2400" dirty="0"/>
              <a:t>70</a:t>
            </a:r>
            <a:r>
              <a:rPr lang="zh-CN" altLang="en-US" sz="2400" dirty="0"/>
              <a:t>年代，熔丝编程的</a:t>
            </a:r>
            <a:r>
              <a:rPr lang="en-US" altLang="zh-CN" sz="2400" dirty="0"/>
              <a:t>PROM</a:t>
            </a:r>
            <a:r>
              <a:rPr lang="zh-CN" altLang="en-US" sz="2400" dirty="0"/>
              <a:t>和</a:t>
            </a:r>
            <a:r>
              <a:rPr lang="en-US" altLang="zh-CN" sz="2400" dirty="0"/>
              <a:t>PLA</a:t>
            </a:r>
            <a:r>
              <a:rPr lang="zh-CN" altLang="en-US" sz="2400" dirty="0"/>
              <a:t>器件是最早的可编程逻辑器件。</a:t>
            </a:r>
          </a:p>
          <a:p>
            <a:pPr lvl="1" eaLnBrk="1" hangingPunct="1"/>
            <a:r>
              <a:rPr lang="en-US" altLang="zh-CN" sz="2400" dirty="0"/>
              <a:t>20</a:t>
            </a:r>
            <a:r>
              <a:rPr lang="zh-CN" altLang="en-US" sz="2400" dirty="0"/>
              <a:t>世纪</a:t>
            </a:r>
            <a:r>
              <a:rPr lang="en-US" altLang="zh-CN" sz="2400" dirty="0"/>
              <a:t>70</a:t>
            </a:r>
            <a:r>
              <a:rPr lang="zh-CN" altLang="en-US" sz="2400" dirty="0"/>
              <a:t>年代末，对</a:t>
            </a:r>
            <a:r>
              <a:rPr lang="en-US" altLang="zh-CN" sz="2400" dirty="0"/>
              <a:t>PLA</a:t>
            </a:r>
            <a:r>
              <a:rPr lang="zh-CN" altLang="en-US" sz="2400" dirty="0"/>
              <a:t>进行了改进，推出了</a:t>
            </a:r>
            <a:r>
              <a:rPr lang="en-US" altLang="zh-CN" sz="2400" dirty="0"/>
              <a:t>PAL</a:t>
            </a:r>
            <a:r>
              <a:rPr lang="zh-CN" altLang="en-US" sz="2400" dirty="0"/>
              <a:t>器件。</a:t>
            </a:r>
          </a:p>
          <a:p>
            <a:pPr lvl="1" eaLnBrk="1" hangingPunct="1"/>
            <a:r>
              <a:rPr lang="en-US" altLang="zh-CN" sz="2400" dirty="0"/>
              <a:t>20</a:t>
            </a:r>
            <a:r>
              <a:rPr lang="zh-CN" altLang="en-US" sz="2400" dirty="0"/>
              <a:t>世纪</a:t>
            </a:r>
            <a:r>
              <a:rPr lang="en-US" altLang="zh-CN" sz="2400" dirty="0"/>
              <a:t>80</a:t>
            </a:r>
            <a:r>
              <a:rPr lang="zh-CN" altLang="en-US" sz="2400" dirty="0"/>
              <a:t>年代初，</a:t>
            </a:r>
            <a:r>
              <a:rPr lang="en-US" altLang="zh-CN" sz="2400" dirty="0"/>
              <a:t>Lattice</a:t>
            </a:r>
            <a:r>
              <a:rPr lang="zh-CN" altLang="en-US" sz="2400" dirty="0"/>
              <a:t>公司发明电可擦写的、比</a:t>
            </a:r>
            <a:r>
              <a:rPr lang="en-US" altLang="zh-CN" sz="2400" dirty="0"/>
              <a:t>PAL</a:t>
            </a:r>
            <a:r>
              <a:rPr lang="zh-CN" altLang="en-US" sz="2400" dirty="0"/>
              <a:t>使用更灵活的</a:t>
            </a:r>
            <a:r>
              <a:rPr lang="en-US" altLang="zh-CN" sz="2400" dirty="0"/>
              <a:t>GAL</a:t>
            </a:r>
            <a:r>
              <a:rPr lang="zh-CN" altLang="en-US" sz="2400" dirty="0"/>
              <a:t>器件。</a:t>
            </a:r>
          </a:p>
          <a:p>
            <a:pPr lvl="1" eaLnBrk="1" hangingPunct="1"/>
            <a:r>
              <a:rPr lang="en-US" altLang="zh-CN" sz="2400" dirty="0"/>
              <a:t>20</a:t>
            </a:r>
            <a:r>
              <a:rPr lang="zh-CN" altLang="en-US" sz="2400" dirty="0"/>
              <a:t>世纪</a:t>
            </a:r>
            <a:r>
              <a:rPr lang="en-US" altLang="zh-CN" sz="2400" dirty="0"/>
              <a:t>80</a:t>
            </a:r>
            <a:r>
              <a:rPr lang="zh-CN" altLang="en-US" sz="2400" dirty="0"/>
              <a:t>年代中期，</a:t>
            </a:r>
            <a:r>
              <a:rPr lang="en-US" altLang="zh-CN" sz="2400" dirty="0"/>
              <a:t>Xilinx</a:t>
            </a:r>
            <a:r>
              <a:rPr lang="zh-CN" altLang="en-US" sz="2400" dirty="0"/>
              <a:t>公司提出现场可编程概念，同时生产出</a:t>
            </a:r>
            <a:r>
              <a:rPr lang="en-US" altLang="zh-CN" sz="2400" dirty="0"/>
              <a:t>FPGA</a:t>
            </a:r>
            <a:r>
              <a:rPr lang="zh-CN" altLang="en-US" sz="2400" dirty="0"/>
              <a:t>器件。</a:t>
            </a:r>
          </a:p>
          <a:p>
            <a:pPr lvl="1" eaLnBrk="1" hangingPunct="1"/>
            <a:r>
              <a:rPr lang="en-US" altLang="zh-CN" sz="2400" dirty="0"/>
              <a:t>20</a:t>
            </a:r>
            <a:r>
              <a:rPr lang="zh-CN" altLang="en-US" sz="2400" dirty="0"/>
              <a:t>世纪</a:t>
            </a:r>
            <a:r>
              <a:rPr lang="en-US" altLang="zh-CN" sz="2400" dirty="0"/>
              <a:t>80</a:t>
            </a:r>
            <a:r>
              <a:rPr lang="zh-CN" altLang="en-US" sz="2400" dirty="0"/>
              <a:t>年代末，</a:t>
            </a:r>
            <a:r>
              <a:rPr lang="en-US" altLang="zh-CN" sz="2400" dirty="0"/>
              <a:t>Lattice</a:t>
            </a:r>
            <a:r>
              <a:rPr lang="zh-CN" altLang="en-US" sz="2400" dirty="0"/>
              <a:t>公司又提出“在系统可编”</a:t>
            </a:r>
            <a:r>
              <a:rPr lang="en-US" altLang="zh-CN" sz="2400" dirty="0"/>
              <a:t>(ISP)</a:t>
            </a:r>
            <a:r>
              <a:rPr lang="zh-CN" altLang="en-US" sz="2400" dirty="0"/>
              <a:t>程技术，并且推出了一系列具备在系统可编程能力的</a:t>
            </a:r>
            <a:r>
              <a:rPr lang="en-US" altLang="zh-CN" sz="2400" dirty="0"/>
              <a:t>CPLD</a:t>
            </a:r>
            <a:r>
              <a:rPr lang="zh-CN" altLang="en-US" sz="2400" dirty="0"/>
              <a:t>器件。</a:t>
            </a:r>
          </a:p>
          <a:p>
            <a:pPr lvl="1" eaLnBrk="1" hangingPunct="1"/>
            <a:r>
              <a:rPr lang="zh-CN" altLang="en-US" sz="2400" dirty="0"/>
              <a:t>进入</a:t>
            </a:r>
            <a:r>
              <a:rPr lang="en-US" altLang="zh-CN" sz="2400" dirty="0"/>
              <a:t>20</a:t>
            </a:r>
            <a:r>
              <a:rPr lang="zh-CN" altLang="en-US" sz="2400" dirty="0"/>
              <a:t>世纪</a:t>
            </a:r>
            <a:r>
              <a:rPr lang="en-US" altLang="zh-CN" sz="2400" dirty="0"/>
              <a:t>90</a:t>
            </a:r>
            <a:r>
              <a:rPr lang="zh-CN" altLang="en-US" sz="2400" dirty="0"/>
              <a:t>年代后，可编程逻辑集成电路技术进入飞速发展时期。出现了内嵌复杂功能模块的</a:t>
            </a:r>
            <a:r>
              <a:rPr lang="en-US" altLang="zh-CN" sz="2400" dirty="0"/>
              <a:t>SOPC</a:t>
            </a:r>
            <a:r>
              <a:rPr lang="zh-CN" altLang="en-US" sz="2400" dirty="0"/>
              <a:t>。</a:t>
            </a:r>
          </a:p>
          <a:p>
            <a:pPr eaLnBrk="1" hangingPunct="1">
              <a:buNone/>
            </a:pPr>
            <a:r>
              <a:rPr lang="zh-CN" altLang="en-US" sz="2800" dirty="0"/>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p:cNvSpPr>
          <p:nvPr>
            <p:ph type="title"/>
          </p:nvPr>
        </p:nvSpPr>
        <p:spPr>
          <a:xfrm>
            <a:off x="900113" y="188913"/>
            <a:ext cx="5543550" cy="792162"/>
          </a:xfrm>
        </p:spPr>
        <p:txBody>
          <a:bodyPr vert="horz" wrap="square" lIns="91440" tIns="45720" rIns="91440" bIns="45720" anchor="b" anchorCtr="0"/>
          <a:lstStyle/>
          <a:p>
            <a:pPr eaLnBrk="1" hangingPunct="1"/>
            <a:r>
              <a:rPr lang="zh-CN" altLang="en-US" dirty="0"/>
              <a:t>可编程逻辑器件的分类</a:t>
            </a:r>
          </a:p>
        </p:txBody>
      </p:sp>
      <p:sp>
        <p:nvSpPr>
          <p:cNvPr id="13314" name="Rectangle 3" descr="Rectangle: Click to edit Master text styles&#10;Second level&#10;Third level&#10;Fourth level&#10;Fifth level"/>
          <p:cNvSpPr>
            <a:spLocks noGrp="1"/>
          </p:cNvSpPr>
          <p:nvPr>
            <p:ph idx="1"/>
          </p:nvPr>
        </p:nvSpPr>
        <p:spPr>
          <a:xfrm>
            <a:off x="827584" y="1124744"/>
            <a:ext cx="7993062" cy="5400675"/>
          </a:xfrm>
        </p:spPr>
        <p:txBody>
          <a:bodyPr vert="horz" wrap="square" lIns="91440" tIns="45720" rIns="91440" bIns="45720" anchor="t" anchorCtr="0"/>
          <a:lstStyle/>
          <a:p>
            <a:pPr eaLnBrk="1" hangingPunct="1">
              <a:lnSpc>
                <a:spcPct val="80000"/>
              </a:lnSpc>
            </a:pPr>
            <a:r>
              <a:rPr lang="zh-CN" altLang="en-US" sz="2000" dirty="0"/>
              <a:t>按集成程度来分类，分为两大类器件：</a:t>
            </a:r>
          </a:p>
          <a:p>
            <a:pPr lvl="1" eaLnBrk="1" hangingPunct="1">
              <a:lnSpc>
                <a:spcPct val="80000"/>
              </a:lnSpc>
            </a:pPr>
            <a:r>
              <a:rPr lang="zh-CN" altLang="en-US" sz="1800" dirty="0"/>
              <a:t>芯片集成度较低的（</a:t>
            </a:r>
            <a:r>
              <a:rPr lang="en-US" altLang="zh-CN" sz="1800" dirty="0"/>
              <a:t>SPLD</a:t>
            </a:r>
            <a:r>
              <a:rPr lang="zh-CN" altLang="en-US" sz="1800" dirty="0"/>
              <a:t>）</a:t>
            </a:r>
            <a:r>
              <a:rPr lang="en-US" altLang="zh-CN" sz="1800" dirty="0"/>
              <a:t>:</a:t>
            </a:r>
          </a:p>
          <a:p>
            <a:pPr lvl="2" eaLnBrk="1" hangingPunct="1">
              <a:lnSpc>
                <a:spcPct val="80000"/>
              </a:lnSpc>
            </a:pPr>
            <a:r>
              <a:rPr lang="en-US" altLang="zh-CN" sz="1600" dirty="0"/>
              <a:t>PROM</a:t>
            </a:r>
            <a:r>
              <a:rPr lang="zh-CN" altLang="en-US" sz="1600" dirty="0"/>
              <a:t>（可编程只读存储器）、</a:t>
            </a:r>
            <a:r>
              <a:rPr lang="en-US" altLang="zh-CN" sz="1600" dirty="0"/>
              <a:t>PLA</a:t>
            </a:r>
            <a:r>
              <a:rPr lang="zh-CN" altLang="en-US" sz="1600" dirty="0"/>
              <a:t>（可编程逻辑阵列）、</a:t>
            </a:r>
            <a:r>
              <a:rPr lang="en-US" altLang="zh-CN" sz="1600" dirty="0"/>
              <a:t>PAL</a:t>
            </a:r>
            <a:r>
              <a:rPr lang="zh-CN" altLang="en-US" sz="1600" dirty="0"/>
              <a:t>（可编程阵列逻辑）、</a:t>
            </a:r>
            <a:r>
              <a:rPr lang="en-US" altLang="zh-CN" sz="1600" dirty="0"/>
              <a:t>GAL</a:t>
            </a:r>
            <a:r>
              <a:rPr lang="zh-CN" altLang="en-US" sz="1600" dirty="0"/>
              <a:t>（通用阵列逻辑），可用的逻辑门数大约在</a:t>
            </a:r>
            <a:r>
              <a:rPr lang="en-US" altLang="zh-CN" sz="1600" dirty="0"/>
              <a:t>500</a:t>
            </a:r>
            <a:r>
              <a:rPr lang="zh-CN" altLang="en-US" sz="1600" dirty="0"/>
              <a:t>门以下</a:t>
            </a:r>
          </a:p>
          <a:p>
            <a:pPr lvl="1" eaLnBrk="1" hangingPunct="1">
              <a:lnSpc>
                <a:spcPct val="80000"/>
              </a:lnSpc>
            </a:pPr>
            <a:r>
              <a:rPr lang="zh-CN" altLang="en-US" sz="1800" dirty="0"/>
              <a:t>芯片集成度较高的（</a:t>
            </a:r>
            <a:r>
              <a:rPr lang="en-US" altLang="zh-CN" sz="1800" dirty="0"/>
              <a:t>CPLD):</a:t>
            </a:r>
          </a:p>
          <a:p>
            <a:pPr lvl="2" eaLnBrk="1" hangingPunct="1">
              <a:lnSpc>
                <a:spcPct val="80000"/>
              </a:lnSpc>
            </a:pPr>
            <a:r>
              <a:rPr lang="en-US" altLang="zh-CN" sz="1600" dirty="0"/>
              <a:t>CPLD</a:t>
            </a:r>
            <a:r>
              <a:rPr lang="zh-CN" altLang="en-US" sz="1600" dirty="0"/>
              <a:t>、</a:t>
            </a:r>
            <a:r>
              <a:rPr lang="en-US" altLang="zh-CN" sz="1600" dirty="0"/>
              <a:t>FPGA</a:t>
            </a:r>
          </a:p>
          <a:p>
            <a:pPr eaLnBrk="1" hangingPunct="1">
              <a:lnSpc>
                <a:spcPct val="80000"/>
              </a:lnSpc>
            </a:pPr>
            <a:r>
              <a:rPr lang="zh-CN" altLang="en-US" sz="2000" dirty="0"/>
              <a:t>按结构上来分类：</a:t>
            </a:r>
          </a:p>
          <a:p>
            <a:pPr lvl="1" eaLnBrk="1" hangingPunct="1">
              <a:lnSpc>
                <a:spcPct val="80000"/>
              </a:lnSpc>
            </a:pPr>
            <a:r>
              <a:rPr lang="zh-CN" altLang="en-US" sz="1800" dirty="0"/>
              <a:t>乘积项结构器件。其基本结构为“与</a:t>
            </a:r>
            <a:r>
              <a:rPr lang="en-US" altLang="zh-CN" sz="1800" dirty="0"/>
              <a:t>-</a:t>
            </a:r>
            <a:r>
              <a:rPr lang="zh-CN" altLang="en-US" sz="1800" dirty="0"/>
              <a:t>或阵列”，大部分的</a:t>
            </a:r>
            <a:r>
              <a:rPr lang="en-US" altLang="zh-CN" sz="1800" dirty="0"/>
              <a:t>SPLD</a:t>
            </a:r>
            <a:r>
              <a:rPr lang="zh-CN" altLang="en-US" sz="1800" dirty="0"/>
              <a:t>和</a:t>
            </a:r>
            <a:r>
              <a:rPr lang="en-US" altLang="zh-CN" sz="1800" dirty="0"/>
              <a:t>CPLD</a:t>
            </a:r>
          </a:p>
          <a:p>
            <a:pPr lvl="1" eaLnBrk="1" hangingPunct="1">
              <a:lnSpc>
                <a:spcPct val="80000"/>
              </a:lnSpc>
            </a:pPr>
            <a:r>
              <a:rPr lang="zh-CN" altLang="en-US" sz="1800" dirty="0"/>
              <a:t>查找表结构器件。由简单的查找表组成可编程门，再构成阵列形式，大部分的</a:t>
            </a:r>
            <a:r>
              <a:rPr lang="en-US" altLang="zh-CN" sz="1800" dirty="0"/>
              <a:t>FPGA</a:t>
            </a:r>
          </a:p>
          <a:p>
            <a:pPr eaLnBrk="1" hangingPunct="1">
              <a:lnSpc>
                <a:spcPct val="80000"/>
              </a:lnSpc>
            </a:pPr>
            <a:r>
              <a:rPr lang="zh-CN" altLang="en-US" sz="2000" dirty="0"/>
              <a:t>按编程工艺划分：</a:t>
            </a:r>
          </a:p>
          <a:p>
            <a:pPr lvl="1" eaLnBrk="1" hangingPunct="1">
              <a:lnSpc>
                <a:spcPct val="80000"/>
              </a:lnSpc>
            </a:pPr>
            <a:r>
              <a:rPr lang="zh-CN" altLang="en-US" sz="1800" dirty="0"/>
              <a:t>熔丝型器件，早期的</a:t>
            </a:r>
            <a:r>
              <a:rPr lang="en-US" altLang="zh-CN" sz="1800" dirty="0"/>
              <a:t>PROM</a:t>
            </a:r>
            <a:r>
              <a:rPr lang="zh-CN" altLang="en-US" sz="1800" dirty="0"/>
              <a:t>器件</a:t>
            </a:r>
          </a:p>
          <a:p>
            <a:pPr lvl="1" eaLnBrk="1" hangingPunct="1">
              <a:lnSpc>
                <a:spcPct val="80000"/>
              </a:lnSpc>
            </a:pPr>
            <a:r>
              <a:rPr lang="zh-CN" altLang="en-US" sz="1800" dirty="0"/>
              <a:t>反熔丝型器件，某些</a:t>
            </a:r>
            <a:r>
              <a:rPr lang="en-US" altLang="zh-CN" sz="1800" dirty="0"/>
              <a:t>FPGA</a:t>
            </a:r>
            <a:r>
              <a:rPr lang="zh-CN" altLang="en-US" sz="1800" dirty="0"/>
              <a:t>器件</a:t>
            </a:r>
          </a:p>
          <a:p>
            <a:pPr lvl="1" eaLnBrk="1" hangingPunct="1">
              <a:lnSpc>
                <a:spcPct val="80000"/>
              </a:lnSpc>
              <a:buNone/>
            </a:pPr>
            <a:r>
              <a:rPr lang="zh-CN" altLang="en-US" sz="1800" dirty="0"/>
              <a:t>以上两类都只能编程一次，合称为一次性可编程（</a:t>
            </a:r>
            <a:r>
              <a:rPr lang="en-US" altLang="zh-CN" sz="1800" dirty="0"/>
              <a:t>One Time Programming</a:t>
            </a:r>
            <a:r>
              <a:rPr lang="zh-CN" altLang="en-US" sz="1800" dirty="0"/>
              <a:t>）器件</a:t>
            </a:r>
          </a:p>
          <a:p>
            <a:pPr lvl="1" eaLnBrk="1" hangingPunct="1">
              <a:lnSpc>
                <a:spcPct val="80000"/>
              </a:lnSpc>
            </a:pPr>
            <a:r>
              <a:rPr lang="en-US" altLang="zh-CN" sz="1800" dirty="0"/>
              <a:t>EPROM</a:t>
            </a:r>
            <a:r>
              <a:rPr lang="zh-CN" altLang="en-US" sz="1800" dirty="0"/>
              <a:t>型，紫外线擦除电可编程逻辑器件，其用较高的编程电压进行编程，当需要再次编程时，用紫外线进行擦除</a:t>
            </a:r>
          </a:p>
          <a:p>
            <a:pPr lvl="1" eaLnBrk="1" hangingPunct="1">
              <a:lnSpc>
                <a:spcPct val="80000"/>
              </a:lnSpc>
            </a:pPr>
            <a:r>
              <a:rPr lang="en-US" altLang="zh-CN" sz="1800" dirty="0"/>
              <a:t>EEPROM</a:t>
            </a:r>
            <a:r>
              <a:rPr lang="zh-CN" altLang="en-US" sz="1800" dirty="0"/>
              <a:t>型，电可擦除编程器件。现有的大部分</a:t>
            </a:r>
            <a:r>
              <a:rPr lang="en-US" altLang="zh-CN" sz="1800" dirty="0"/>
              <a:t>CPLD</a:t>
            </a:r>
            <a:r>
              <a:rPr lang="zh-CN" altLang="en-US" sz="1800" dirty="0"/>
              <a:t>及</a:t>
            </a:r>
            <a:r>
              <a:rPr lang="en-US" altLang="zh-CN" sz="1800" dirty="0"/>
              <a:t>GAL</a:t>
            </a:r>
            <a:r>
              <a:rPr lang="zh-CN" altLang="en-US" sz="1800" dirty="0"/>
              <a:t>器件</a:t>
            </a:r>
          </a:p>
          <a:p>
            <a:pPr lvl="1" eaLnBrk="1" hangingPunct="1">
              <a:lnSpc>
                <a:spcPct val="80000"/>
              </a:lnSpc>
            </a:pPr>
            <a:r>
              <a:rPr lang="en-US" altLang="zh-CN" sz="1800" dirty="0"/>
              <a:t>SRAM</a:t>
            </a:r>
            <a:r>
              <a:rPr lang="zh-CN" altLang="en-US" sz="1800" dirty="0"/>
              <a:t>型，即</a:t>
            </a:r>
            <a:r>
              <a:rPr lang="en-US" altLang="zh-CN" sz="1800" dirty="0"/>
              <a:t>SRAM</a:t>
            </a:r>
            <a:r>
              <a:rPr lang="zh-CN" altLang="en-US" sz="1800" dirty="0"/>
              <a:t>查找表结构的器件。大部分的</a:t>
            </a:r>
            <a:r>
              <a:rPr lang="en-US" altLang="zh-CN" sz="1800" dirty="0"/>
              <a:t>FPGA</a:t>
            </a:r>
            <a:r>
              <a:rPr lang="zh-CN" altLang="en-US" sz="1800" dirty="0"/>
              <a:t>器件</a:t>
            </a:r>
          </a:p>
          <a:p>
            <a:pPr lvl="1" eaLnBrk="1" hangingPunct="1">
              <a:lnSpc>
                <a:spcPct val="80000"/>
              </a:lnSpc>
            </a:pPr>
            <a:r>
              <a:rPr lang="en-US" altLang="zh-CN" sz="1800" dirty="0"/>
              <a:t>FLASH</a:t>
            </a:r>
            <a:r>
              <a:rPr lang="zh-CN" altLang="en-US" sz="1800" dirty="0"/>
              <a:t>型，解决了反熔丝结构的可编程逻辑器件只能一次性编程的不足之处，可实现多次编程，同时做到掉电后不需要重新配置</a:t>
            </a:r>
          </a:p>
          <a:p>
            <a:pPr lvl="1" eaLnBrk="1" hangingPunct="1">
              <a:lnSpc>
                <a:spcPct val="80000"/>
              </a:lnSpc>
              <a:buNone/>
            </a:pPr>
            <a:endParaRPr lang="zh-CN" altLang="en-US" sz="1600" dirty="0"/>
          </a:p>
          <a:p>
            <a:pPr eaLnBrk="1" hangingPunct="1">
              <a:lnSpc>
                <a:spcPct val="80000"/>
              </a:lnSpc>
              <a:buNone/>
            </a:pPr>
            <a:r>
              <a:rPr lang="zh-CN" altLang="en-US" sz="1600" dirty="0"/>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p:cNvSpPr>
          <p:nvPr>
            <p:ph type="title"/>
          </p:nvPr>
        </p:nvSpPr>
        <p:spPr>
          <a:xfrm>
            <a:off x="900113" y="188913"/>
            <a:ext cx="4895850" cy="792162"/>
          </a:xfrm>
        </p:spPr>
        <p:txBody>
          <a:bodyPr vert="horz" wrap="square" lIns="91440" tIns="45720" rIns="91440" bIns="45720" anchor="b" anchorCtr="0"/>
          <a:lstStyle/>
          <a:p>
            <a:pPr eaLnBrk="1" hangingPunct="1"/>
            <a:r>
              <a:rPr lang="zh-CN" altLang="en-US" dirty="0"/>
              <a:t>几个专用名词的介绍</a:t>
            </a:r>
          </a:p>
        </p:txBody>
      </p:sp>
      <p:sp>
        <p:nvSpPr>
          <p:cNvPr id="9218" name="Rectangle 3" descr="Rectangle: Click to edit Master text styles&#10;Second level&#10;Third level&#10;Fourth level&#10;Fifth level"/>
          <p:cNvSpPr>
            <a:spLocks noGrp="1"/>
          </p:cNvSpPr>
          <p:nvPr>
            <p:ph idx="1"/>
          </p:nvPr>
        </p:nvSpPr>
        <p:spPr>
          <a:xfrm>
            <a:off x="900113" y="1125538"/>
            <a:ext cx="7843837" cy="4676775"/>
          </a:xfrm>
        </p:spPr>
        <p:txBody>
          <a:bodyPr vert="horz" wrap="square" lIns="91440" tIns="45720" rIns="91440" bIns="45720" anchor="t" anchorCtr="0"/>
          <a:lstStyle/>
          <a:p>
            <a:pPr eaLnBrk="1" hangingPunct="1">
              <a:lnSpc>
                <a:spcPct val="150000"/>
              </a:lnSpc>
              <a:spcBef>
                <a:spcPts val="0"/>
              </a:spcBef>
            </a:pPr>
            <a:r>
              <a:rPr lang="en-US" altLang="zh-CN" sz="2800" dirty="0"/>
              <a:t>CPLD (Complex Programmable Logic Device)</a:t>
            </a:r>
            <a:r>
              <a:rPr lang="zh-CN" altLang="en-US" sz="2800" dirty="0"/>
              <a:t>复杂可编程逻辑器件</a:t>
            </a:r>
            <a:r>
              <a:rPr lang="en-US" altLang="zh-CN" sz="2800" dirty="0"/>
              <a:t>.CPLD</a:t>
            </a:r>
            <a:r>
              <a:rPr lang="zh-CN" altLang="en-US" sz="2800" dirty="0"/>
              <a:t>多基于乘积项</a:t>
            </a:r>
            <a:r>
              <a:rPr lang="en-US" altLang="zh-CN" sz="2800" dirty="0"/>
              <a:t>(</a:t>
            </a:r>
            <a:r>
              <a:rPr lang="zh-CN" altLang="zh-CN" sz="2800" dirty="0"/>
              <a:t>Product-Term</a:t>
            </a:r>
            <a:r>
              <a:rPr lang="en-US" altLang="zh-CN" sz="2800" dirty="0"/>
              <a:t>)</a:t>
            </a:r>
            <a:r>
              <a:rPr lang="zh-CN" altLang="en-US" sz="2800" dirty="0"/>
              <a:t>结构</a:t>
            </a:r>
            <a:r>
              <a:rPr lang="en-US" altLang="zh-CN" sz="2800" dirty="0"/>
              <a:t>.</a:t>
            </a:r>
            <a:r>
              <a:rPr lang="zh-CN" altLang="en-US" sz="2800" dirty="0"/>
              <a:t>采用</a:t>
            </a:r>
            <a:r>
              <a:rPr lang="en-US" altLang="zh-CN" sz="2800" dirty="0"/>
              <a:t>E</a:t>
            </a:r>
            <a:r>
              <a:rPr lang="en-US" altLang="zh-CN" sz="2800" baseline="30000" dirty="0"/>
              <a:t>2</a:t>
            </a:r>
            <a:r>
              <a:rPr lang="en-US" altLang="zh-CN" sz="2800" dirty="0"/>
              <a:t>PROM</a:t>
            </a:r>
            <a:r>
              <a:rPr lang="zh-CN" altLang="en-US" sz="2800" dirty="0"/>
              <a:t>或</a:t>
            </a:r>
            <a:r>
              <a:rPr lang="en-US" altLang="zh-CN" sz="2800" dirty="0"/>
              <a:t>Flash</a:t>
            </a:r>
            <a:r>
              <a:rPr lang="zh-CN" altLang="en-US" sz="2800" dirty="0"/>
              <a:t>工艺</a:t>
            </a:r>
            <a:r>
              <a:rPr lang="en-US" altLang="zh-CN" sz="2800" dirty="0"/>
              <a:t>,</a:t>
            </a:r>
            <a:r>
              <a:rPr lang="zh-CN" altLang="en-US" sz="2800" dirty="0"/>
              <a:t>断电后信息不丢失</a:t>
            </a:r>
            <a:r>
              <a:rPr lang="en-US" altLang="zh-CN" sz="2800" dirty="0"/>
              <a:t>.</a:t>
            </a:r>
            <a:r>
              <a:rPr lang="zh-CN" altLang="en-US" sz="2800" dirty="0"/>
              <a:t>多用于</a:t>
            </a:r>
            <a:r>
              <a:rPr lang="en-US" altLang="zh-CN" sz="2800" dirty="0"/>
              <a:t>1</a:t>
            </a:r>
            <a:r>
              <a:rPr lang="zh-CN" altLang="en-US" sz="2800" dirty="0"/>
              <a:t>万门以下的小规模设计</a:t>
            </a:r>
            <a:r>
              <a:rPr lang="en-US" altLang="zh-CN" sz="2800" dirty="0"/>
              <a:t>,</a:t>
            </a:r>
            <a:r>
              <a:rPr lang="zh-CN" altLang="en-US" sz="2800" dirty="0"/>
              <a:t>适合做复杂的组合逻辑</a:t>
            </a:r>
            <a:r>
              <a:rPr lang="en-US" altLang="zh-CN" sz="2800"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p:cNvSpPr>
          <p:nvPr>
            <p:ph type="title"/>
          </p:nvPr>
        </p:nvSpPr>
        <p:spPr>
          <a:xfrm>
            <a:off x="900113" y="188913"/>
            <a:ext cx="4895850" cy="792162"/>
          </a:xfrm>
        </p:spPr>
        <p:txBody>
          <a:bodyPr vert="horz" wrap="square" lIns="91440" tIns="45720" rIns="91440" bIns="45720" anchor="b" anchorCtr="0"/>
          <a:lstStyle/>
          <a:p>
            <a:pPr eaLnBrk="1" hangingPunct="1"/>
            <a:r>
              <a:rPr lang="zh-CN" altLang="en-US" dirty="0"/>
              <a:t>几个专用名词的介绍</a:t>
            </a:r>
          </a:p>
        </p:txBody>
      </p:sp>
      <p:sp>
        <p:nvSpPr>
          <p:cNvPr id="10242" name="Rectangle 3" descr="Rectangle: Click to edit Master text styles&#10;Second level&#10;Third level&#10;Fourth level&#10;Fifth level"/>
          <p:cNvSpPr>
            <a:spLocks noGrp="1"/>
          </p:cNvSpPr>
          <p:nvPr>
            <p:ph idx="1"/>
          </p:nvPr>
        </p:nvSpPr>
        <p:spPr>
          <a:xfrm>
            <a:off x="900113" y="1196975"/>
            <a:ext cx="7848600" cy="5040313"/>
          </a:xfrm>
        </p:spPr>
        <p:txBody>
          <a:bodyPr vert="horz" wrap="square" lIns="91440" tIns="45720" rIns="91440" bIns="45720" anchor="t" anchorCtr="0"/>
          <a:lstStyle/>
          <a:p>
            <a:pPr eaLnBrk="1" hangingPunct="1">
              <a:lnSpc>
                <a:spcPct val="150000"/>
              </a:lnSpc>
              <a:spcBef>
                <a:spcPts val="0"/>
              </a:spcBef>
            </a:pPr>
            <a:r>
              <a:rPr lang="en-US" altLang="zh-CN" sz="2800" dirty="0"/>
              <a:t>FPGA (Field Programmable Gate Array)</a:t>
            </a:r>
          </a:p>
          <a:p>
            <a:pPr eaLnBrk="1" hangingPunct="1">
              <a:lnSpc>
                <a:spcPct val="150000"/>
              </a:lnSpc>
              <a:spcBef>
                <a:spcPts val="0"/>
              </a:spcBef>
              <a:buNone/>
            </a:pPr>
            <a:r>
              <a:rPr lang="en-US" altLang="zh-CN" sz="2800" dirty="0"/>
              <a:t>   </a:t>
            </a:r>
            <a:r>
              <a:rPr lang="zh-CN" altLang="en-US" sz="2800" dirty="0"/>
              <a:t>现场可编程门阵列</a:t>
            </a:r>
            <a:r>
              <a:rPr lang="en-US" altLang="zh-CN" sz="2800" dirty="0"/>
              <a:t>.FPGA</a:t>
            </a:r>
            <a:r>
              <a:rPr lang="zh-CN" altLang="en-US" sz="2800" dirty="0"/>
              <a:t>多基于查找表</a:t>
            </a:r>
            <a:r>
              <a:rPr lang="en-US" altLang="zh-CN" sz="2800" dirty="0"/>
              <a:t>(Look-Up Table)</a:t>
            </a:r>
            <a:r>
              <a:rPr lang="zh-CN" altLang="en-US" sz="2800" dirty="0"/>
              <a:t>结构</a:t>
            </a:r>
            <a:r>
              <a:rPr lang="en-US" altLang="zh-CN" sz="2800" dirty="0"/>
              <a:t>,</a:t>
            </a:r>
            <a:r>
              <a:rPr lang="zh-CN" altLang="en-US" sz="2800" dirty="0"/>
              <a:t>采用</a:t>
            </a:r>
            <a:r>
              <a:rPr lang="en-US" altLang="zh-CN" sz="2800" dirty="0"/>
              <a:t>SRAM</a:t>
            </a:r>
            <a:r>
              <a:rPr lang="zh-CN" altLang="en-US" sz="2800" dirty="0"/>
              <a:t>工艺</a:t>
            </a:r>
            <a:r>
              <a:rPr lang="en-US" altLang="zh-CN" sz="2800" dirty="0"/>
              <a:t>,</a:t>
            </a:r>
            <a:r>
              <a:rPr lang="zh-CN" altLang="en-US" sz="2800" dirty="0"/>
              <a:t>密度高</a:t>
            </a:r>
            <a:r>
              <a:rPr lang="en-US" altLang="zh-CN" sz="2800" dirty="0"/>
              <a:t>,</a:t>
            </a:r>
            <a:r>
              <a:rPr lang="zh-CN" altLang="en-US" sz="2800" dirty="0"/>
              <a:t>触发器多</a:t>
            </a:r>
            <a:r>
              <a:rPr lang="en-US" altLang="zh-CN" sz="2800" dirty="0"/>
              <a:t>,</a:t>
            </a:r>
            <a:r>
              <a:rPr lang="zh-CN" altLang="en-US" sz="2800" dirty="0"/>
              <a:t>多用于</a:t>
            </a:r>
            <a:r>
              <a:rPr lang="en-US" altLang="zh-CN" sz="2800" dirty="0"/>
              <a:t>10,000</a:t>
            </a:r>
            <a:r>
              <a:rPr lang="zh-CN" altLang="en-US" sz="2800" dirty="0"/>
              <a:t>门以上的大规模设计，适合做复杂的时序逻辑</a:t>
            </a:r>
            <a:r>
              <a:rPr lang="en-US" altLang="zh-CN" sz="2800" dirty="0"/>
              <a:t>,</a:t>
            </a:r>
            <a:r>
              <a:rPr lang="zh-CN" altLang="en-US" sz="2800" dirty="0"/>
              <a:t>如数字信号处理和各种算法</a:t>
            </a:r>
            <a:r>
              <a:rPr lang="en-US" altLang="zh-CN" sz="2800" dirty="0"/>
              <a:t>.FGPA</a:t>
            </a:r>
            <a:r>
              <a:rPr lang="zh-CN" altLang="en-US" sz="2800" dirty="0"/>
              <a:t>能完成任何数字器件的功能</a:t>
            </a:r>
            <a:r>
              <a:rPr lang="en-US" altLang="zh-CN" sz="2800" dirty="0"/>
              <a:t>,</a:t>
            </a:r>
            <a:r>
              <a:rPr lang="zh-CN" altLang="en-US" sz="2800" dirty="0"/>
              <a:t>上至高性能</a:t>
            </a:r>
            <a:r>
              <a:rPr lang="en-US" altLang="zh-CN" sz="2800" dirty="0"/>
              <a:t>CPU,</a:t>
            </a:r>
            <a:r>
              <a:rPr lang="zh-CN" altLang="en-US" sz="2800" dirty="0"/>
              <a:t>下至简单的</a:t>
            </a:r>
            <a:r>
              <a:rPr lang="en-US" altLang="zh-CN" sz="2800" dirty="0"/>
              <a:t>74</a:t>
            </a:r>
            <a:r>
              <a:rPr lang="zh-CN" altLang="en-US" sz="2800" dirty="0"/>
              <a:t>电路</a:t>
            </a:r>
            <a:r>
              <a:rPr lang="en-US" altLang="zh-CN" sz="2800" dirty="0"/>
              <a:t>,</a:t>
            </a:r>
            <a:r>
              <a:rPr lang="zh-CN" altLang="en-US" sz="2800" dirty="0"/>
              <a:t>都可以用</a:t>
            </a:r>
            <a:r>
              <a:rPr lang="en-US" altLang="zh-CN" sz="2800" dirty="0"/>
              <a:t>FPGA</a:t>
            </a:r>
            <a:r>
              <a:rPr lang="zh-CN" altLang="en-US" sz="2800" dirty="0"/>
              <a:t>来实现</a:t>
            </a:r>
            <a:r>
              <a:rPr lang="en-US" altLang="zh-CN" sz="2800" dirty="0"/>
              <a:t>.FPGA</a:t>
            </a:r>
            <a:r>
              <a:rPr lang="zh-CN" altLang="en-US" sz="2800" dirty="0"/>
              <a:t>已经成为高性能数字系统的首选方案</a:t>
            </a:r>
            <a:r>
              <a:rPr lang="en-US" altLang="zh-CN" sz="2800" dirty="0"/>
              <a:t>.</a:t>
            </a:r>
          </a:p>
          <a:p>
            <a:pPr eaLnBrk="1" hangingPunct="1">
              <a:lnSpc>
                <a:spcPct val="150000"/>
              </a:lnSpc>
              <a:spcBef>
                <a:spcPts val="0"/>
              </a:spcBef>
              <a:buNone/>
            </a:pPr>
            <a:r>
              <a:rPr lang="en-US" altLang="zh-CN" sz="2800" dirty="0"/>
              <a:t>   </a:t>
            </a:r>
            <a:endParaRPr lang="en-US" altLang="zh-CN" sz="3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3"/>
          <p:cNvSpPr>
            <a:spLocks noGrp="1"/>
          </p:cNvSpPr>
          <p:nvPr>
            <p:ph type="title"/>
          </p:nvPr>
        </p:nvSpPr>
        <p:spPr>
          <a:xfrm>
            <a:off x="900113" y="188913"/>
            <a:ext cx="7343777" cy="792163"/>
          </a:xfrm>
        </p:spPr>
        <p:txBody>
          <a:bodyPr vert="horz" wrap="square" lIns="91440" tIns="45720" rIns="91440" bIns="45720" numCol="1" rtlCol="0"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1" lang="en-US" altLang="zh-CN" sz="4000" b="1" i="0" u="none" strike="noStrike" kern="0" cap="none" spc="0" normalizeH="0" baseline="0" noProof="0" dirty="0">
                <a:ln>
                  <a:noFill/>
                </a:ln>
                <a:solidFill>
                  <a:schemeClr val="tx2"/>
                </a:solidFill>
                <a:effectLst/>
                <a:uLnTx/>
                <a:uFillTx/>
                <a:latin typeface="+mn-lt"/>
                <a:ea typeface="+mj-ea"/>
                <a:cs typeface="+mj-cs"/>
              </a:rPr>
              <a:t>CPLD</a:t>
            </a:r>
            <a:r>
              <a:rPr kumimoji="1" lang="zh-CN" altLang="en-US" sz="4000" b="1" i="0" u="none" strike="noStrike" kern="0" cap="none" spc="0" normalizeH="0" baseline="0" noProof="0" dirty="0">
                <a:ln>
                  <a:noFill/>
                </a:ln>
                <a:solidFill>
                  <a:schemeClr val="tx2"/>
                </a:solidFill>
                <a:effectLst/>
                <a:uLnTx/>
                <a:uFillTx/>
                <a:latin typeface="+mj-lt"/>
                <a:ea typeface="+mj-ea"/>
                <a:cs typeface="+mj-cs"/>
              </a:rPr>
              <a:t>简介</a:t>
            </a:r>
            <a:r>
              <a:rPr kumimoji="1" lang="en-US" altLang="zh-CN" sz="4000" b="1" i="0" u="none" strike="noStrike" kern="0" cap="none" spc="0" normalizeH="0" baseline="0" noProof="0" dirty="0">
                <a:ln>
                  <a:noFill/>
                </a:ln>
                <a:solidFill>
                  <a:schemeClr val="tx2"/>
                </a:solidFill>
                <a:effectLst/>
                <a:uLnTx/>
                <a:uFillTx/>
                <a:latin typeface="+mj-lt"/>
                <a:ea typeface="+mj-ea"/>
                <a:cs typeface="+mj-cs"/>
              </a:rPr>
              <a:t>-</a:t>
            </a:r>
            <a:r>
              <a:rPr kumimoji="1" lang="zh-CN" altLang="en-US" b="1" i="0" u="none" strike="noStrike" kern="0" cap="none" spc="0" normalizeH="0" baseline="0" noProof="0" dirty="0">
                <a:ln>
                  <a:noFill/>
                </a:ln>
                <a:solidFill>
                  <a:schemeClr val="tx2"/>
                </a:solidFill>
                <a:effectLst/>
                <a:uLnTx/>
                <a:uFillTx/>
                <a:latin typeface="+mj-lt"/>
                <a:ea typeface="+mj-ea"/>
                <a:cs typeface="+mj-cs"/>
              </a:rPr>
              <a:t>乘积项结构</a:t>
            </a:r>
            <a:endParaRPr kumimoji="1" lang="zh-CN" altLang="en-US" sz="4000" b="1" i="0" u="none" strike="noStrike" kern="0" cap="none" spc="0" normalizeH="0" baseline="0" noProof="0" dirty="0">
              <a:ln>
                <a:noFill/>
              </a:ln>
              <a:solidFill>
                <a:schemeClr val="tx2"/>
              </a:solidFill>
              <a:effectLst/>
              <a:uLnTx/>
              <a:uFillTx/>
              <a:latin typeface="+mj-lt"/>
              <a:ea typeface="+mj-ea"/>
              <a:cs typeface="+mj-cs"/>
            </a:endParaRPr>
          </a:p>
        </p:txBody>
      </p:sp>
      <p:sp>
        <p:nvSpPr>
          <p:cNvPr id="3" name="内容占位符 2" descr="Rectangle: Click to edit Master text styles&#10;Second level&#10;Third level&#10;Fourth level&#10;Fifth level"/>
          <p:cNvSpPr>
            <a:spLocks noGrp="1"/>
          </p:cNvSpPr>
          <p:nvPr>
            <p:ph idx="1"/>
          </p:nvPr>
        </p:nvSpPr>
        <p:spPr>
          <a:xfrm>
            <a:off x="1116013" y="1125538"/>
            <a:ext cx="7632700" cy="4895850"/>
          </a:xfrm>
        </p:spPr>
        <p:txBody>
          <a:bodyPr vert="horz" wrap="square" lIns="91440" tIns="45720" rIns="91440" bIns="45720" numCol="1" rtlCol="0" anchor="t" anchorCtr="0" compatLnSpc="1">
            <a:normAutofit lnSpcReduction="10000"/>
          </a:bodyPr>
          <a:lstStyle/>
          <a:p>
            <a:pPr marL="342900" marR="0" lvl="0" indent="-342900" algn="just" defTabSz="914400" rtl="0" eaLnBrk="1" fontAlgn="auto" latinLnBrk="0" hangingPunct="1">
              <a:lnSpc>
                <a:spcPct val="100000"/>
              </a:lnSpc>
              <a:spcBef>
                <a:spcPct val="20000"/>
              </a:spcBef>
              <a:spcAft>
                <a:spcPts val="0"/>
              </a:spcAft>
              <a:buClr>
                <a:schemeClr val="hlink"/>
              </a:buClr>
              <a:buSzPct val="110000"/>
              <a:buFont typeface="Wingdings" panose="05000000000000000000" pitchFamily="2" charset="2"/>
              <a:buBlip>
                <a:blip r:embed="rId3"/>
              </a:buBlip>
              <a:defRPr/>
            </a:pPr>
            <a:r>
              <a:rPr kumimoji="1" lang="en-US" altLang="zh-CN" sz="2800" b="0" i="0" u="none" strike="noStrike" kern="0" cap="none" spc="0" normalizeH="0" baseline="0" noProof="0" dirty="0">
                <a:ln>
                  <a:noFill/>
                </a:ln>
                <a:solidFill>
                  <a:srgbClr val="4B51A5"/>
                </a:solidFill>
                <a:effectLst/>
                <a:uLnTx/>
                <a:uFillTx/>
                <a:latin typeface="+mj-lt"/>
                <a:ea typeface="黑体" panose="02010609060101010101" pitchFamily="49" charset="-122"/>
                <a:cs typeface="+mn-cs"/>
              </a:rPr>
              <a:t>CPLD</a:t>
            </a:r>
            <a:r>
              <a:rPr kumimoji="1" lang="zh-CN" altLang="en-US" sz="2800" b="0" i="0" u="none" strike="noStrike" kern="0" cap="none" spc="0" normalizeH="0" baseline="0" noProof="0" dirty="0">
                <a:ln>
                  <a:noFill/>
                </a:ln>
                <a:solidFill>
                  <a:srgbClr val="4B51A5"/>
                </a:solidFill>
                <a:effectLst/>
                <a:uLnTx/>
                <a:uFillTx/>
                <a:latin typeface="+mj-lt"/>
                <a:ea typeface="黑体" panose="02010609060101010101" pitchFamily="49" charset="-122"/>
                <a:cs typeface="+mn-cs"/>
              </a:rPr>
              <a:t>多基于</a:t>
            </a:r>
            <a:r>
              <a:rPr kumimoji="1" lang="zh-CN" altLang="en-US" sz="2800" b="0" i="0" u="none" strike="noStrike" kern="0" cap="none" spc="0" normalizeH="0" baseline="0" noProof="0" dirty="0">
                <a:ln>
                  <a:noFill/>
                </a:ln>
                <a:solidFill>
                  <a:srgbClr val="F2A10E"/>
                </a:solidFill>
                <a:effectLst/>
                <a:uLnTx/>
                <a:uFillTx/>
                <a:latin typeface="+mj-lt"/>
                <a:ea typeface="黑体" panose="02010609060101010101" pitchFamily="49" charset="-122"/>
                <a:cs typeface="+mn-cs"/>
              </a:rPr>
              <a:t>乘积项</a:t>
            </a:r>
            <a:r>
              <a:rPr kumimoji="1" lang="zh-CN" altLang="zh-CN" sz="2800" b="0" i="0" u="none" strike="noStrike" kern="0" cap="none" spc="0" normalizeH="0" baseline="0" noProof="0" dirty="0">
                <a:ln>
                  <a:noFill/>
                </a:ln>
                <a:solidFill>
                  <a:srgbClr val="F2A10E"/>
                </a:solidFill>
                <a:effectLst/>
                <a:uLnTx/>
                <a:uFillTx/>
                <a:latin typeface="+mj-lt"/>
                <a:ea typeface="黑体" panose="02010609060101010101" pitchFamily="49" charset="-122"/>
                <a:cs typeface="+mn-cs"/>
              </a:rPr>
              <a:t>Product-Term</a:t>
            </a:r>
            <a:r>
              <a:rPr kumimoji="1" lang="zh-CN" altLang="en-US" sz="2800" b="0" i="0" u="none" strike="noStrike" kern="0" cap="none" spc="0" normalizeH="0" baseline="0" noProof="0" dirty="0">
                <a:ln>
                  <a:noFill/>
                </a:ln>
                <a:solidFill>
                  <a:srgbClr val="4B51A5"/>
                </a:solidFill>
                <a:effectLst/>
                <a:uLnTx/>
                <a:uFillTx/>
                <a:latin typeface="+mj-lt"/>
                <a:ea typeface="黑体" panose="02010609060101010101" pitchFamily="49" charset="-122"/>
                <a:cs typeface="+mn-cs"/>
              </a:rPr>
              <a:t>或</a:t>
            </a:r>
            <a:r>
              <a:rPr kumimoji="1" lang="en-US" altLang="zh-CN" sz="2800" b="0" i="0" u="none" strike="noStrike" kern="0" cap="none" spc="0" normalizeH="0" baseline="0" noProof="0" dirty="0">
                <a:ln>
                  <a:noFill/>
                </a:ln>
                <a:solidFill>
                  <a:srgbClr val="4B51A5"/>
                </a:solidFill>
                <a:effectLst/>
                <a:uLnTx/>
                <a:uFillTx/>
                <a:latin typeface="+mj-lt"/>
                <a:ea typeface="黑体" panose="02010609060101010101" pitchFamily="49" charset="-122"/>
                <a:cs typeface="+mn-cs"/>
              </a:rPr>
              <a:t>Look-Up-Table</a:t>
            </a:r>
            <a:r>
              <a:rPr kumimoji="1" lang="zh-CN" altLang="en-US" sz="2800" b="0" i="0" u="none" strike="noStrike" kern="0" cap="none" spc="0" normalizeH="0" baseline="0" noProof="0" dirty="0">
                <a:ln>
                  <a:noFill/>
                </a:ln>
                <a:solidFill>
                  <a:srgbClr val="4B51A5"/>
                </a:solidFill>
                <a:effectLst/>
                <a:uLnTx/>
                <a:uFillTx/>
                <a:latin typeface="+mj-lt"/>
                <a:ea typeface="黑体" panose="02010609060101010101" pitchFamily="49" charset="-122"/>
                <a:cs typeface="+mn-cs"/>
              </a:rPr>
              <a:t>结构。采用</a:t>
            </a:r>
            <a:r>
              <a:rPr kumimoji="1" lang="en-US" altLang="zh-CN" sz="2800" b="0" i="0" u="none" strike="noStrike" kern="0" cap="none" spc="0" normalizeH="0" baseline="0" noProof="0" dirty="0">
                <a:ln>
                  <a:noFill/>
                </a:ln>
                <a:solidFill>
                  <a:srgbClr val="4B51A5"/>
                </a:solidFill>
                <a:effectLst/>
                <a:uLnTx/>
                <a:uFillTx/>
                <a:latin typeface="+mj-lt"/>
                <a:ea typeface="黑体" panose="02010609060101010101" pitchFamily="49" charset="-122"/>
                <a:cs typeface="+mn-cs"/>
              </a:rPr>
              <a:t>EEPROM</a:t>
            </a:r>
            <a:r>
              <a:rPr kumimoji="1" lang="zh-CN" altLang="en-US" sz="2800" b="0" i="0" u="none" strike="noStrike" kern="0" cap="none" spc="0" normalizeH="0" baseline="0" noProof="0" dirty="0">
                <a:ln>
                  <a:noFill/>
                </a:ln>
                <a:solidFill>
                  <a:srgbClr val="4B51A5"/>
                </a:solidFill>
                <a:effectLst/>
                <a:uLnTx/>
                <a:uFillTx/>
                <a:latin typeface="+mj-lt"/>
                <a:ea typeface="黑体" panose="02010609060101010101" pitchFamily="49" charset="-122"/>
                <a:cs typeface="+mn-cs"/>
              </a:rPr>
              <a:t>或</a:t>
            </a:r>
            <a:r>
              <a:rPr kumimoji="1" lang="en-US" altLang="zh-CN" sz="2800" b="0" i="0" u="none" strike="noStrike" kern="0" cap="none" spc="0" normalizeH="0" baseline="0" noProof="0" dirty="0">
                <a:ln>
                  <a:noFill/>
                </a:ln>
                <a:solidFill>
                  <a:srgbClr val="4B51A5"/>
                </a:solidFill>
                <a:effectLst/>
                <a:uLnTx/>
                <a:uFillTx/>
                <a:latin typeface="+mj-lt"/>
                <a:ea typeface="黑体" panose="02010609060101010101" pitchFamily="49" charset="-122"/>
                <a:cs typeface="+mn-cs"/>
              </a:rPr>
              <a:t>FLASH</a:t>
            </a:r>
            <a:r>
              <a:rPr kumimoji="1" lang="zh-CN" altLang="en-US" sz="2800" b="0" i="0" u="none" strike="noStrike" kern="0" cap="none" spc="0" normalizeH="0" baseline="0" noProof="0" dirty="0">
                <a:ln>
                  <a:noFill/>
                </a:ln>
                <a:solidFill>
                  <a:srgbClr val="4B51A5"/>
                </a:solidFill>
                <a:effectLst/>
                <a:uLnTx/>
                <a:uFillTx/>
                <a:latin typeface="+mj-lt"/>
                <a:ea typeface="黑体" panose="02010609060101010101" pitchFamily="49" charset="-122"/>
                <a:cs typeface="+mn-cs"/>
              </a:rPr>
              <a:t>工艺，断电后信息不丢失。多用于</a:t>
            </a:r>
            <a:r>
              <a:rPr kumimoji="1" lang="en-US" altLang="zh-CN" sz="2800" b="0" i="0" u="none" strike="noStrike" kern="0" cap="none" spc="0" normalizeH="0" baseline="0" noProof="0" dirty="0">
                <a:ln>
                  <a:noFill/>
                </a:ln>
                <a:solidFill>
                  <a:srgbClr val="4B51A5"/>
                </a:solidFill>
                <a:effectLst/>
                <a:uLnTx/>
                <a:uFillTx/>
                <a:latin typeface="+mj-lt"/>
                <a:ea typeface="黑体" panose="02010609060101010101" pitchFamily="49" charset="-122"/>
                <a:cs typeface="+mn-cs"/>
              </a:rPr>
              <a:t>1</a:t>
            </a:r>
            <a:r>
              <a:rPr kumimoji="1" lang="zh-CN" altLang="en-US" sz="2800" b="0" i="0" u="none" strike="noStrike" kern="0" cap="none" spc="0" normalizeH="0" baseline="0" noProof="0" dirty="0">
                <a:ln>
                  <a:noFill/>
                </a:ln>
                <a:solidFill>
                  <a:srgbClr val="4B51A5"/>
                </a:solidFill>
                <a:effectLst/>
                <a:uLnTx/>
                <a:uFillTx/>
                <a:latin typeface="+mj-lt"/>
                <a:ea typeface="黑体" panose="02010609060101010101" pitchFamily="49" charset="-122"/>
                <a:cs typeface="+mn-cs"/>
              </a:rPr>
              <a:t>万门以下的小规模设计，适合做复杂的组合逻辑。</a:t>
            </a:r>
            <a:endParaRPr kumimoji="1" lang="en-US" altLang="zh-CN" sz="2800" b="0" i="0" u="none" strike="noStrike" kern="0" cap="none" spc="0" normalizeH="0" baseline="0" noProof="0" dirty="0">
              <a:ln>
                <a:noFill/>
              </a:ln>
              <a:solidFill>
                <a:srgbClr val="4B51A5"/>
              </a:solidFill>
              <a:effectLst/>
              <a:uLnTx/>
              <a:uFillTx/>
              <a:latin typeface="+mj-lt"/>
              <a:ea typeface="黑体" panose="02010609060101010101" pitchFamily="49" charset="-122"/>
              <a:cs typeface="+mn-cs"/>
            </a:endParaRPr>
          </a:p>
          <a:p>
            <a:pPr marL="342900" marR="0" lvl="0" indent="-342900" algn="just" defTabSz="914400" rtl="0" eaLnBrk="1" fontAlgn="auto" latinLnBrk="0" hangingPunct="1">
              <a:lnSpc>
                <a:spcPct val="150000"/>
              </a:lnSpc>
              <a:spcBef>
                <a:spcPct val="20000"/>
              </a:spcBef>
              <a:spcAft>
                <a:spcPts val="0"/>
              </a:spcAft>
              <a:buClr>
                <a:schemeClr val="hlink"/>
              </a:buClr>
              <a:buSzPct val="110000"/>
              <a:buFont typeface="Wingdings" panose="05000000000000000000" pitchFamily="2" charset="2"/>
              <a:buBlip>
                <a:blip r:embed="rId3"/>
              </a:buBlip>
              <a:defRPr/>
            </a:pPr>
            <a:r>
              <a:rPr kumimoji="1" lang="zh-CN" altLang="en-US" sz="2800" b="0" i="0" u="none" strike="noStrike" kern="0" cap="none" spc="0" normalizeH="0" baseline="0" noProof="0" dirty="0">
                <a:ln>
                  <a:noFill/>
                </a:ln>
                <a:solidFill>
                  <a:srgbClr val="4B51A5"/>
                </a:solidFill>
                <a:effectLst/>
                <a:uLnTx/>
                <a:uFillTx/>
                <a:latin typeface="+mj-lt"/>
                <a:ea typeface="黑体" panose="02010609060101010101" pitchFamily="49" charset="-122"/>
                <a:cs typeface="+mn-cs"/>
              </a:rPr>
              <a:t>采用</a:t>
            </a:r>
            <a:r>
              <a:rPr kumimoji="1" lang="en-US" altLang="zh-CN" sz="2800" b="0" i="0" u="none" strike="noStrike" kern="0" cap="none" spc="0" normalizeH="0" baseline="0" noProof="0" dirty="0">
                <a:ln>
                  <a:noFill/>
                </a:ln>
                <a:solidFill>
                  <a:srgbClr val="4B51A5"/>
                </a:solidFill>
                <a:effectLst/>
                <a:uLnTx/>
                <a:uFillTx/>
                <a:latin typeface="+mj-lt"/>
                <a:ea typeface="黑体" panose="02010609060101010101" pitchFamily="49" charset="-122"/>
                <a:cs typeface="+mn-cs"/>
              </a:rPr>
              <a:t>CPLD</a:t>
            </a:r>
            <a:r>
              <a:rPr kumimoji="1" lang="zh-CN" altLang="en-US" sz="2800" b="0" i="0" u="none" strike="noStrike" kern="0" cap="none" spc="0" normalizeH="0" baseline="0" noProof="0" dirty="0">
                <a:ln>
                  <a:noFill/>
                </a:ln>
                <a:solidFill>
                  <a:srgbClr val="4B51A5"/>
                </a:solidFill>
                <a:effectLst/>
                <a:uLnTx/>
                <a:uFillTx/>
                <a:latin typeface="+mj-lt"/>
                <a:ea typeface="黑体" panose="02010609060101010101" pitchFamily="49" charset="-122"/>
                <a:cs typeface="+mn-cs"/>
              </a:rPr>
              <a:t>结构的</a:t>
            </a:r>
            <a:r>
              <a:rPr kumimoji="1" lang="en-US" altLang="zh-CN" sz="2800" b="0" i="0" u="none" strike="noStrike" kern="0" cap="none" spc="0" normalizeH="0" baseline="0" noProof="0" dirty="0">
                <a:ln>
                  <a:noFill/>
                </a:ln>
                <a:solidFill>
                  <a:srgbClr val="4B51A5"/>
                </a:solidFill>
                <a:effectLst/>
                <a:uLnTx/>
                <a:uFillTx/>
                <a:latin typeface="+mj-lt"/>
                <a:ea typeface="黑体" panose="02010609060101010101" pitchFamily="49" charset="-122"/>
                <a:cs typeface="+mn-cs"/>
              </a:rPr>
              <a:t>PLD</a:t>
            </a:r>
            <a:r>
              <a:rPr kumimoji="1" lang="zh-CN" altLang="en-US" sz="2800" b="0" i="0" u="none" strike="noStrike" kern="0" cap="none" spc="0" normalizeH="0" baseline="0" noProof="0" dirty="0">
                <a:ln>
                  <a:noFill/>
                </a:ln>
                <a:solidFill>
                  <a:srgbClr val="4B51A5"/>
                </a:solidFill>
                <a:effectLst/>
                <a:uLnTx/>
                <a:uFillTx/>
                <a:latin typeface="+mj-lt"/>
                <a:ea typeface="黑体" panose="02010609060101010101" pitchFamily="49" charset="-122"/>
                <a:cs typeface="+mn-cs"/>
              </a:rPr>
              <a:t>芯片有：</a:t>
            </a:r>
          </a:p>
          <a:p>
            <a:pPr marL="742950" marR="0" lvl="1" indent="-285750" algn="l" defTabSz="914400" rtl="0" eaLnBrk="1" fontAlgn="auto" latinLnBrk="0" hangingPunct="1">
              <a:lnSpc>
                <a:spcPct val="100000"/>
              </a:lnSpc>
              <a:spcBef>
                <a:spcPct val="20000"/>
              </a:spcBef>
              <a:spcAft>
                <a:spcPts val="0"/>
              </a:spcAft>
              <a:buClr>
                <a:schemeClr val="bg2">
                  <a:lumMod val="50000"/>
                </a:schemeClr>
              </a:buClr>
              <a:buSzPct val="60000"/>
              <a:buFont typeface="Wingdings" panose="05000000000000000000" pitchFamily="2" charset="2"/>
              <a:buChar char="Ø"/>
              <a:defRPr/>
            </a:pPr>
            <a:r>
              <a:rPr kumimoji="1" lang="en-US" altLang="zh-CN" sz="2000" b="0" i="0" u="none" strike="noStrike" kern="0" cap="none" spc="0" normalizeH="0" baseline="0" noProof="0" dirty="0">
                <a:ln>
                  <a:noFill/>
                </a:ln>
                <a:solidFill>
                  <a:srgbClr val="4B51A5"/>
                </a:solidFill>
                <a:effectLst/>
                <a:uLnTx/>
                <a:uFillTx/>
                <a:latin typeface="+mj-lt"/>
                <a:ea typeface="黑体" panose="02010609060101010101" pitchFamily="49" charset="-122"/>
                <a:cs typeface="+mn-ea"/>
              </a:rPr>
              <a:t>ALTERA MAX CPLD</a:t>
            </a:r>
            <a:r>
              <a:rPr kumimoji="1" lang="zh-CN" altLang="en-US" sz="2000" b="0" i="0" u="none" strike="noStrike" kern="0" cap="none" spc="0" normalizeH="0" baseline="0" noProof="0" dirty="0">
                <a:ln>
                  <a:noFill/>
                </a:ln>
                <a:solidFill>
                  <a:srgbClr val="4B51A5"/>
                </a:solidFill>
                <a:effectLst/>
                <a:uLnTx/>
                <a:uFillTx/>
                <a:latin typeface="+mj-lt"/>
                <a:ea typeface="黑体" panose="02010609060101010101" pitchFamily="49" charset="-122"/>
                <a:cs typeface="+mn-ea"/>
              </a:rPr>
              <a:t>系列简介</a:t>
            </a:r>
          </a:p>
          <a:p>
            <a:pPr marL="742950" marR="0" lvl="1" indent="-285750" algn="l" defTabSz="914400" rtl="0" eaLnBrk="1" fontAlgn="auto" latinLnBrk="0" hangingPunct="1">
              <a:lnSpc>
                <a:spcPct val="100000"/>
              </a:lnSpc>
              <a:spcBef>
                <a:spcPct val="20000"/>
              </a:spcBef>
              <a:spcAft>
                <a:spcPts val="0"/>
              </a:spcAft>
              <a:buClr>
                <a:schemeClr val="bg2">
                  <a:lumMod val="50000"/>
                </a:schemeClr>
              </a:buClr>
              <a:buSzPct val="60000"/>
              <a:buFont typeface="Wingdings" panose="05000000000000000000" pitchFamily="2" charset="2"/>
              <a:buChar char="Ø"/>
              <a:defRPr/>
            </a:pPr>
            <a:endParaRPr kumimoji="1" lang="en-US" altLang="zh-CN" sz="2000" b="0" i="0" u="none" strike="noStrike" kern="0" cap="none" spc="0" normalizeH="0" baseline="0" noProof="0" dirty="0">
              <a:ln>
                <a:noFill/>
              </a:ln>
              <a:solidFill>
                <a:srgbClr val="4B51A5"/>
              </a:solidFill>
              <a:effectLst/>
              <a:uLnTx/>
              <a:uFillTx/>
              <a:latin typeface="+mj-lt"/>
              <a:ea typeface="黑体" panose="02010609060101010101" pitchFamily="49" charset="-122"/>
              <a:cs typeface="+mn-ea"/>
            </a:endParaRPr>
          </a:p>
          <a:p>
            <a:pPr marL="742950" marR="0" lvl="1" indent="-285750" algn="l" defTabSz="914400" rtl="0" eaLnBrk="1" fontAlgn="auto" latinLnBrk="0" hangingPunct="1">
              <a:lnSpc>
                <a:spcPct val="100000"/>
              </a:lnSpc>
              <a:spcBef>
                <a:spcPct val="20000"/>
              </a:spcBef>
              <a:spcAft>
                <a:spcPts val="0"/>
              </a:spcAft>
              <a:buClr>
                <a:schemeClr val="bg2">
                  <a:lumMod val="50000"/>
                </a:schemeClr>
              </a:buClr>
              <a:buSzPct val="60000"/>
              <a:buFont typeface="Wingdings" panose="05000000000000000000" pitchFamily="2" charset="2"/>
              <a:buChar char="Ø"/>
              <a:defRPr/>
            </a:pPr>
            <a:endParaRPr kumimoji="1" lang="en-US" altLang="zh-CN" sz="2000" b="0" i="0" u="none" strike="noStrike" kern="0" cap="none" spc="0" normalizeH="0" baseline="0" noProof="0" dirty="0">
              <a:ln>
                <a:noFill/>
              </a:ln>
              <a:solidFill>
                <a:srgbClr val="4B51A5"/>
              </a:solidFill>
              <a:effectLst/>
              <a:uLnTx/>
              <a:uFillTx/>
              <a:latin typeface="+mj-lt"/>
              <a:ea typeface="黑体" panose="02010609060101010101" pitchFamily="49" charset="-122"/>
              <a:cs typeface="+mn-ea"/>
            </a:endParaRPr>
          </a:p>
          <a:p>
            <a:pPr marL="742950" marR="0" lvl="1" indent="-285750" algn="l" defTabSz="914400" rtl="0" eaLnBrk="1" fontAlgn="auto" latinLnBrk="0" hangingPunct="1">
              <a:lnSpc>
                <a:spcPct val="100000"/>
              </a:lnSpc>
              <a:spcBef>
                <a:spcPct val="20000"/>
              </a:spcBef>
              <a:spcAft>
                <a:spcPts val="0"/>
              </a:spcAft>
              <a:buClr>
                <a:schemeClr val="bg2">
                  <a:lumMod val="50000"/>
                </a:schemeClr>
              </a:buClr>
              <a:buSzPct val="60000"/>
              <a:buFont typeface="Wingdings" panose="05000000000000000000" pitchFamily="2" charset="2"/>
              <a:buChar char="Ø"/>
              <a:defRPr/>
            </a:pPr>
            <a:endParaRPr kumimoji="1" lang="en-US" altLang="zh-CN" sz="2000" b="0" i="0" u="none" strike="noStrike" kern="0" cap="none" spc="0" normalizeH="0" baseline="0" noProof="0" dirty="0">
              <a:ln>
                <a:noFill/>
              </a:ln>
              <a:solidFill>
                <a:srgbClr val="4B51A5"/>
              </a:solidFill>
              <a:effectLst/>
              <a:uLnTx/>
              <a:uFillTx/>
              <a:latin typeface="+mj-lt"/>
              <a:ea typeface="黑体" panose="02010609060101010101" pitchFamily="49" charset="-122"/>
              <a:cs typeface="+mn-ea"/>
            </a:endParaRPr>
          </a:p>
          <a:p>
            <a:pPr marL="742950" marR="0" lvl="1" indent="-285750" algn="l" defTabSz="914400" rtl="0" eaLnBrk="1" fontAlgn="auto" latinLnBrk="0" hangingPunct="1">
              <a:lnSpc>
                <a:spcPct val="100000"/>
              </a:lnSpc>
              <a:spcBef>
                <a:spcPct val="20000"/>
              </a:spcBef>
              <a:spcAft>
                <a:spcPts val="0"/>
              </a:spcAft>
              <a:buClr>
                <a:schemeClr val="bg2">
                  <a:lumMod val="50000"/>
                </a:schemeClr>
              </a:buClr>
              <a:buSzPct val="60000"/>
              <a:buFont typeface="Wingdings" panose="05000000000000000000" pitchFamily="2" charset="2"/>
              <a:buChar char="Ø"/>
              <a:defRPr/>
            </a:pPr>
            <a:endParaRPr kumimoji="1" lang="en-US" altLang="zh-CN" sz="2000" b="0" i="0" u="none" strike="noStrike" kern="0" cap="none" spc="0" normalizeH="0" baseline="0" noProof="0" dirty="0">
              <a:ln>
                <a:noFill/>
              </a:ln>
              <a:solidFill>
                <a:srgbClr val="4B51A5"/>
              </a:solidFill>
              <a:effectLst/>
              <a:uLnTx/>
              <a:uFillTx/>
              <a:latin typeface="+mj-lt"/>
              <a:ea typeface="黑体" panose="02010609060101010101" pitchFamily="49" charset="-122"/>
              <a:cs typeface="+mn-ea"/>
            </a:endParaRPr>
          </a:p>
          <a:p>
            <a:pPr marL="742950" marR="0" lvl="1" indent="-285750" algn="l" defTabSz="914400" rtl="0" eaLnBrk="1" fontAlgn="auto" latinLnBrk="0" hangingPunct="1">
              <a:lnSpc>
                <a:spcPct val="100000"/>
              </a:lnSpc>
              <a:spcBef>
                <a:spcPct val="20000"/>
              </a:spcBef>
              <a:spcAft>
                <a:spcPts val="0"/>
              </a:spcAft>
              <a:buClr>
                <a:schemeClr val="bg2">
                  <a:lumMod val="50000"/>
                </a:schemeClr>
              </a:buClr>
              <a:buSzPct val="60000"/>
              <a:buFont typeface="Wingdings" panose="05000000000000000000" pitchFamily="2" charset="2"/>
              <a:buChar char="Ø"/>
              <a:defRPr/>
            </a:pPr>
            <a:endParaRPr kumimoji="1" lang="en-US" altLang="zh-CN" sz="1800" b="0" i="0" u="none" strike="noStrike" kern="0" cap="none" spc="0" normalizeH="0" baseline="0" noProof="0" dirty="0">
              <a:ln>
                <a:noFill/>
              </a:ln>
              <a:solidFill>
                <a:srgbClr val="4B51A5"/>
              </a:solidFill>
              <a:effectLst/>
              <a:uLnTx/>
              <a:uFillTx/>
              <a:latin typeface="+mj-lt"/>
              <a:ea typeface="黑体" panose="02010609060101010101" pitchFamily="49" charset="-122"/>
              <a:cs typeface="+mn-ea"/>
            </a:endParaRPr>
          </a:p>
          <a:p>
            <a:pPr marL="742950" marR="0" lvl="1" indent="-285750" algn="l" defTabSz="914400" rtl="0" eaLnBrk="1" fontAlgn="auto" latinLnBrk="0" hangingPunct="1">
              <a:lnSpc>
                <a:spcPct val="100000"/>
              </a:lnSpc>
              <a:spcBef>
                <a:spcPct val="20000"/>
              </a:spcBef>
              <a:spcAft>
                <a:spcPts val="0"/>
              </a:spcAft>
              <a:buClr>
                <a:schemeClr val="bg2">
                  <a:lumMod val="50000"/>
                </a:schemeClr>
              </a:buClr>
              <a:buSzPct val="60000"/>
              <a:buFont typeface="Wingdings" panose="05000000000000000000" pitchFamily="2" charset="2"/>
              <a:buChar char="Ø"/>
              <a:defRPr/>
            </a:pPr>
            <a:r>
              <a:rPr kumimoji="1" lang="en-US" altLang="zh-CN" sz="2000" b="0" i="0" u="none" strike="noStrike" kern="0" cap="none" spc="0" normalizeH="0" baseline="0" noProof="0" dirty="0">
                <a:ln>
                  <a:noFill/>
                </a:ln>
                <a:solidFill>
                  <a:srgbClr val="4B51A5"/>
                </a:solidFill>
                <a:effectLst/>
                <a:uLnTx/>
                <a:uFillTx/>
                <a:latin typeface="+mj-lt"/>
                <a:ea typeface="黑体" panose="02010609060101010101" pitchFamily="49" charset="-122"/>
                <a:cs typeface="+mn-ea"/>
              </a:rPr>
              <a:t>XILINX</a:t>
            </a:r>
            <a:r>
              <a:rPr kumimoji="1" lang="zh-CN" altLang="en-US" sz="2000" b="0" i="0" u="none" strike="noStrike" kern="0" cap="none" spc="0" normalizeH="0" baseline="0" noProof="0" dirty="0">
                <a:ln>
                  <a:noFill/>
                </a:ln>
                <a:solidFill>
                  <a:srgbClr val="4B51A5"/>
                </a:solidFill>
                <a:effectLst/>
                <a:uLnTx/>
                <a:uFillTx/>
                <a:latin typeface="+mj-lt"/>
                <a:ea typeface="黑体" panose="02010609060101010101" pitchFamily="49" charset="-122"/>
                <a:cs typeface="+mn-ea"/>
              </a:rPr>
              <a:t>公司的</a:t>
            </a:r>
            <a:r>
              <a:rPr kumimoji="1" lang="en-US" altLang="zh-CN" sz="2000" b="0" i="0" u="none" strike="noStrike" kern="0" cap="none" spc="0" normalizeH="0" baseline="0" noProof="0" dirty="0">
                <a:ln>
                  <a:noFill/>
                </a:ln>
                <a:solidFill>
                  <a:srgbClr val="4B51A5"/>
                </a:solidFill>
                <a:effectLst/>
                <a:uLnTx/>
                <a:uFillTx/>
                <a:latin typeface="+mj-lt"/>
                <a:ea typeface="黑体" panose="02010609060101010101" pitchFamily="49" charset="-122"/>
                <a:cs typeface="+mn-ea"/>
              </a:rPr>
              <a:t>XC9500</a:t>
            </a:r>
            <a:r>
              <a:rPr kumimoji="1" lang="zh-CN" altLang="en-US" sz="2000" b="0" i="0" u="none" strike="noStrike" kern="0" cap="none" spc="0" normalizeH="0" baseline="0" noProof="0" dirty="0">
                <a:ln>
                  <a:noFill/>
                </a:ln>
                <a:solidFill>
                  <a:srgbClr val="4B51A5"/>
                </a:solidFill>
                <a:effectLst/>
                <a:uLnTx/>
                <a:uFillTx/>
                <a:latin typeface="+mj-lt"/>
                <a:ea typeface="黑体" panose="02010609060101010101" pitchFamily="49" charset="-122"/>
                <a:cs typeface="+mn-ea"/>
              </a:rPr>
              <a:t>系列（</a:t>
            </a:r>
            <a:r>
              <a:rPr kumimoji="1" lang="en-US" altLang="zh-CN" sz="2000" b="0" i="0" u="none" strike="noStrike" kern="0" cap="none" spc="0" normalizeH="0" baseline="0" noProof="0" dirty="0">
                <a:ln>
                  <a:noFill/>
                </a:ln>
                <a:solidFill>
                  <a:srgbClr val="4B51A5"/>
                </a:solidFill>
                <a:effectLst/>
                <a:uLnTx/>
                <a:uFillTx/>
                <a:latin typeface="+mj-lt"/>
                <a:ea typeface="黑体" panose="02010609060101010101" pitchFamily="49" charset="-122"/>
                <a:cs typeface="+mn-ea"/>
              </a:rPr>
              <a:t>FLASH</a:t>
            </a:r>
            <a:r>
              <a:rPr kumimoji="1" lang="zh-CN" altLang="en-US" sz="2000" b="0" i="0" u="none" strike="noStrike" kern="0" cap="none" spc="0" normalizeH="0" baseline="0" noProof="0" dirty="0">
                <a:ln>
                  <a:noFill/>
                </a:ln>
                <a:solidFill>
                  <a:srgbClr val="4B51A5"/>
                </a:solidFill>
                <a:effectLst/>
                <a:uLnTx/>
                <a:uFillTx/>
                <a:latin typeface="+mj-lt"/>
                <a:ea typeface="黑体" panose="02010609060101010101" pitchFamily="49" charset="-122"/>
                <a:cs typeface="+mn-ea"/>
              </a:rPr>
              <a:t>工艺</a:t>
            </a:r>
            <a:r>
              <a:rPr kumimoji="1" lang="zh-CN" altLang="en-US" sz="2400" b="0" i="0" u="none" strike="noStrike" kern="0" cap="none" spc="0" normalizeH="0" baseline="0" noProof="0" dirty="0">
                <a:ln>
                  <a:noFill/>
                </a:ln>
                <a:solidFill>
                  <a:srgbClr val="4B51A5"/>
                </a:solidFill>
                <a:effectLst/>
                <a:uLnTx/>
                <a:uFillTx/>
                <a:latin typeface="+mj-lt"/>
                <a:ea typeface="黑体" panose="02010609060101010101" pitchFamily="49" charset="-122"/>
                <a:cs typeface="+mn-ea"/>
              </a:rPr>
              <a:t>）</a:t>
            </a:r>
          </a:p>
          <a:p>
            <a:pPr marL="342900" marR="0" lvl="0" indent="-342900" algn="l" defTabSz="914400" rtl="0" eaLnBrk="1" fontAlgn="auto" latinLnBrk="0" hangingPunct="1">
              <a:lnSpc>
                <a:spcPct val="100000"/>
              </a:lnSpc>
              <a:spcBef>
                <a:spcPct val="20000"/>
              </a:spcBef>
              <a:spcAft>
                <a:spcPts val="0"/>
              </a:spcAft>
              <a:buClr>
                <a:schemeClr val="hlink"/>
              </a:buClr>
              <a:buSzPct val="110000"/>
              <a:buFont typeface="Wingdings" panose="05000000000000000000" pitchFamily="2" charset="2"/>
              <a:buBlip>
                <a:blip r:embed="rId3"/>
              </a:buBlip>
              <a:defRPr/>
            </a:pPr>
            <a:endParaRPr kumimoji="1" lang="zh-CN" altLang="en-US" sz="3600" b="0" i="0" u="none" strike="noStrike" kern="0" cap="none" spc="0" normalizeH="0" baseline="0" noProof="0" dirty="0">
              <a:ln>
                <a:noFill/>
              </a:ln>
              <a:solidFill>
                <a:srgbClr val="4B51A5"/>
              </a:solidFill>
              <a:effectLst/>
              <a:uLnTx/>
              <a:uFillTx/>
              <a:latin typeface="+mn-lt"/>
              <a:ea typeface="+mn-ea"/>
              <a:cs typeface="+mn-cs"/>
            </a:endParaRPr>
          </a:p>
        </p:txBody>
      </p:sp>
      <p:graphicFrame>
        <p:nvGraphicFramePr>
          <p:cNvPr id="4" name="表格 3"/>
          <p:cNvGraphicFramePr>
            <a:graphicFrameLocks noGrp="1"/>
          </p:cNvGraphicFramePr>
          <p:nvPr/>
        </p:nvGraphicFramePr>
        <p:xfrm>
          <a:off x="1692275" y="3789363"/>
          <a:ext cx="6551615" cy="1482724"/>
        </p:xfrm>
        <a:graphic>
          <a:graphicData uri="http://schemas.openxmlformats.org/drawingml/2006/table">
            <a:tbl>
              <a:tblPr firstRow="1" bandRow="1">
                <a:tableStyleId>{5C22544A-7EE6-4342-B048-85BDC9FD1C3A}</a:tableStyleId>
              </a:tblPr>
              <a:tblGrid>
                <a:gridCol w="1091936">
                  <a:extLst>
                    <a:ext uri="{9D8B030D-6E8A-4147-A177-3AD203B41FA5}">
                      <a16:colId xmlns:a16="http://schemas.microsoft.com/office/drawing/2014/main" val="20000"/>
                    </a:ext>
                  </a:extLst>
                </a:gridCol>
                <a:gridCol w="1091936">
                  <a:extLst>
                    <a:ext uri="{9D8B030D-6E8A-4147-A177-3AD203B41FA5}">
                      <a16:colId xmlns:a16="http://schemas.microsoft.com/office/drawing/2014/main" val="20001"/>
                    </a:ext>
                  </a:extLst>
                </a:gridCol>
                <a:gridCol w="1091936">
                  <a:extLst>
                    <a:ext uri="{9D8B030D-6E8A-4147-A177-3AD203B41FA5}">
                      <a16:colId xmlns:a16="http://schemas.microsoft.com/office/drawing/2014/main" val="20002"/>
                    </a:ext>
                  </a:extLst>
                </a:gridCol>
                <a:gridCol w="1043940">
                  <a:extLst>
                    <a:ext uri="{9D8B030D-6E8A-4147-A177-3AD203B41FA5}">
                      <a16:colId xmlns:a16="http://schemas.microsoft.com/office/drawing/2014/main" val="20003"/>
                    </a:ext>
                  </a:extLst>
                </a:gridCol>
                <a:gridCol w="935945">
                  <a:extLst>
                    <a:ext uri="{9D8B030D-6E8A-4147-A177-3AD203B41FA5}">
                      <a16:colId xmlns:a16="http://schemas.microsoft.com/office/drawing/2014/main" val="20004"/>
                    </a:ext>
                  </a:extLst>
                </a:gridCol>
                <a:gridCol w="1295922">
                  <a:extLst>
                    <a:ext uri="{9D8B030D-6E8A-4147-A177-3AD203B41FA5}">
                      <a16:colId xmlns:a16="http://schemas.microsoft.com/office/drawing/2014/main" val="20005"/>
                    </a:ext>
                  </a:extLst>
                </a:gridCol>
              </a:tblGrid>
              <a:tr h="370681">
                <a:tc>
                  <a:txBody>
                    <a:bodyPr/>
                    <a:lstStyle/>
                    <a:p>
                      <a:pPr algn="ctr"/>
                      <a:endParaRPr lang="zh-CN" altLang="en-US" sz="1200" dirty="0">
                        <a:latin typeface="+mj-lt"/>
                        <a:ea typeface="黑体" panose="02010609060101010101" pitchFamily="49" charset="-122"/>
                      </a:endParaRPr>
                    </a:p>
                  </a:txBody>
                  <a:tcPr marL="28570" marR="28570" marT="28563" marB="28563"/>
                </a:tc>
                <a:tc>
                  <a:txBody>
                    <a:bodyPr/>
                    <a:lstStyle/>
                    <a:p>
                      <a:pPr algn="ctr"/>
                      <a:r>
                        <a:rPr lang="en-US" sz="1200" dirty="0">
                          <a:solidFill>
                            <a:schemeClr val="tx1"/>
                          </a:solidFill>
                          <a:latin typeface="+mj-lt"/>
                          <a:ea typeface="黑体" panose="02010609060101010101" pitchFamily="49" charset="-122"/>
                        </a:rPr>
                        <a:t>MAX 7000S</a:t>
                      </a:r>
                    </a:p>
                  </a:txBody>
                  <a:tcPr marL="28570" marR="28570" marT="28563" marB="28563"/>
                </a:tc>
                <a:tc>
                  <a:txBody>
                    <a:bodyPr/>
                    <a:lstStyle/>
                    <a:p>
                      <a:pPr algn="ctr"/>
                      <a:r>
                        <a:rPr lang="en-US" sz="1200" dirty="0">
                          <a:solidFill>
                            <a:schemeClr val="tx1"/>
                          </a:solidFill>
                          <a:latin typeface="+mj-lt"/>
                          <a:ea typeface="黑体" panose="02010609060101010101" pitchFamily="49" charset="-122"/>
                        </a:rPr>
                        <a:t>MAX 3000A</a:t>
                      </a:r>
                    </a:p>
                  </a:txBody>
                  <a:tcPr marL="28570" marR="28570" marT="28563" marB="28563"/>
                </a:tc>
                <a:tc>
                  <a:txBody>
                    <a:bodyPr/>
                    <a:lstStyle/>
                    <a:p>
                      <a:pPr algn="ctr"/>
                      <a:r>
                        <a:rPr lang="en-US" sz="1200" dirty="0">
                          <a:solidFill>
                            <a:schemeClr val="tx1"/>
                          </a:solidFill>
                          <a:latin typeface="+mj-lt"/>
                          <a:ea typeface="黑体" panose="02010609060101010101" pitchFamily="49" charset="-122"/>
                        </a:rPr>
                        <a:t>MAX II</a:t>
                      </a:r>
                    </a:p>
                  </a:txBody>
                  <a:tcPr marL="28570" marR="28570" marT="28563" marB="28563"/>
                </a:tc>
                <a:tc>
                  <a:txBody>
                    <a:bodyPr/>
                    <a:lstStyle/>
                    <a:p>
                      <a:pPr algn="ctr"/>
                      <a:r>
                        <a:rPr lang="en-US" sz="1200" dirty="0">
                          <a:solidFill>
                            <a:schemeClr val="tx1"/>
                          </a:solidFill>
                          <a:latin typeface="+mj-lt"/>
                          <a:ea typeface="黑体" panose="02010609060101010101" pitchFamily="49" charset="-122"/>
                        </a:rPr>
                        <a:t>MAX IIZ</a:t>
                      </a:r>
                    </a:p>
                  </a:txBody>
                  <a:tcPr marL="28570" marR="28570" marT="28563" marB="28563"/>
                </a:tc>
                <a:tc>
                  <a:txBody>
                    <a:bodyPr/>
                    <a:lstStyle/>
                    <a:p>
                      <a:pPr algn="ctr"/>
                      <a:r>
                        <a:rPr lang="en-US" sz="1200" dirty="0">
                          <a:solidFill>
                            <a:schemeClr val="tx1"/>
                          </a:solidFill>
                          <a:latin typeface="+mj-lt"/>
                          <a:ea typeface="黑体" panose="02010609060101010101" pitchFamily="49" charset="-122"/>
                        </a:rPr>
                        <a:t>MAX V</a:t>
                      </a:r>
                    </a:p>
                  </a:txBody>
                  <a:tcPr marL="28570" marR="28570" marT="28563" marB="28563"/>
                </a:tc>
                <a:extLst>
                  <a:ext uri="{0D108BD9-81ED-4DB2-BD59-A6C34878D82A}">
                    <a16:rowId xmlns:a16="http://schemas.microsoft.com/office/drawing/2014/main" val="10000"/>
                  </a:ext>
                </a:extLst>
              </a:tr>
              <a:tr h="370681">
                <a:tc>
                  <a:txBody>
                    <a:bodyPr/>
                    <a:lstStyle/>
                    <a:p>
                      <a:pPr algn="ctr"/>
                      <a:r>
                        <a:rPr lang="zh-CN" altLang="en-US" sz="1200" b="1" dirty="0">
                          <a:latin typeface="+mj-lt"/>
                          <a:ea typeface="黑体" panose="02010609060101010101" pitchFamily="49" charset="-122"/>
                        </a:rPr>
                        <a:t>推出年份</a:t>
                      </a:r>
                      <a:endParaRPr lang="zh-CN" altLang="en-US" sz="1200" dirty="0">
                        <a:latin typeface="+mj-lt"/>
                        <a:ea typeface="黑体" panose="02010609060101010101" pitchFamily="49" charset="-122"/>
                      </a:endParaRPr>
                    </a:p>
                  </a:txBody>
                  <a:tcPr marL="28570" marR="28570" marT="28563" marB="28563"/>
                </a:tc>
                <a:tc>
                  <a:txBody>
                    <a:bodyPr/>
                    <a:lstStyle/>
                    <a:p>
                      <a:pPr algn="ctr"/>
                      <a:r>
                        <a:rPr lang="en-US" altLang="zh-CN" sz="1200" dirty="0">
                          <a:latin typeface="+mj-lt"/>
                          <a:ea typeface="黑体" panose="02010609060101010101" pitchFamily="49" charset="-122"/>
                        </a:rPr>
                        <a:t>1995</a:t>
                      </a:r>
                    </a:p>
                  </a:txBody>
                  <a:tcPr marL="28570" marR="28570" marT="28563" marB="28563"/>
                </a:tc>
                <a:tc>
                  <a:txBody>
                    <a:bodyPr/>
                    <a:lstStyle/>
                    <a:p>
                      <a:pPr algn="ctr"/>
                      <a:r>
                        <a:rPr lang="en-US" altLang="zh-CN" sz="1200" dirty="0">
                          <a:latin typeface="+mj-lt"/>
                          <a:ea typeface="黑体" panose="02010609060101010101" pitchFamily="49" charset="-122"/>
                        </a:rPr>
                        <a:t>2002</a:t>
                      </a:r>
                    </a:p>
                  </a:txBody>
                  <a:tcPr marL="28570" marR="28570" marT="28563" marB="28563"/>
                </a:tc>
                <a:tc>
                  <a:txBody>
                    <a:bodyPr/>
                    <a:lstStyle/>
                    <a:p>
                      <a:pPr algn="ctr"/>
                      <a:r>
                        <a:rPr lang="en-US" altLang="zh-CN" sz="1200" dirty="0">
                          <a:latin typeface="+mj-lt"/>
                          <a:ea typeface="黑体" panose="02010609060101010101" pitchFamily="49" charset="-122"/>
                        </a:rPr>
                        <a:t>2004</a:t>
                      </a:r>
                    </a:p>
                  </a:txBody>
                  <a:tcPr marL="28570" marR="28570" marT="28563" marB="28563"/>
                </a:tc>
                <a:tc>
                  <a:txBody>
                    <a:bodyPr/>
                    <a:lstStyle/>
                    <a:p>
                      <a:pPr algn="ctr"/>
                      <a:r>
                        <a:rPr lang="en-US" altLang="zh-CN" sz="1200" dirty="0">
                          <a:latin typeface="+mj-lt"/>
                          <a:ea typeface="黑体" panose="02010609060101010101" pitchFamily="49" charset="-122"/>
                        </a:rPr>
                        <a:t>2007</a:t>
                      </a:r>
                    </a:p>
                  </a:txBody>
                  <a:tcPr marL="28570" marR="28570" marT="28563" marB="28563"/>
                </a:tc>
                <a:tc>
                  <a:txBody>
                    <a:bodyPr/>
                    <a:lstStyle/>
                    <a:p>
                      <a:pPr algn="ctr"/>
                      <a:r>
                        <a:rPr lang="en-US" altLang="zh-CN" sz="1200" dirty="0">
                          <a:latin typeface="+mj-lt"/>
                          <a:ea typeface="黑体" panose="02010609060101010101" pitchFamily="49" charset="-122"/>
                        </a:rPr>
                        <a:t>2010</a:t>
                      </a:r>
                    </a:p>
                  </a:txBody>
                  <a:tcPr marL="28570" marR="28570" marT="28563" marB="28563"/>
                </a:tc>
                <a:extLst>
                  <a:ext uri="{0D108BD9-81ED-4DB2-BD59-A6C34878D82A}">
                    <a16:rowId xmlns:a16="http://schemas.microsoft.com/office/drawing/2014/main" val="10001"/>
                  </a:ext>
                </a:extLst>
              </a:tr>
              <a:tr h="370681">
                <a:tc>
                  <a:txBody>
                    <a:bodyPr/>
                    <a:lstStyle/>
                    <a:p>
                      <a:pPr algn="ctr"/>
                      <a:r>
                        <a:rPr lang="zh-CN" altLang="en-US" sz="1200" b="1" dirty="0">
                          <a:latin typeface="+mj-lt"/>
                          <a:ea typeface="黑体" panose="02010609060101010101" pitchFamily="49" charset="-122"/>
                        </a:rPr>
                        <a:t>工艺技术</a:t>
                      </a:r>
                      <a:endParaRPr lang="zh-CN" altLang="en-US" sz="1200" dirty="0">
                        <a:latin typeface="+mj-lt"/>
                        <a:ea typeface="黑体" panose="02010609060101010101" pitchFamily="49" charset="-122"/>
                      </a:endParaRPr>
                    </a:p>
                  </a:txBody>
                  <a:tcPr marL="28570" marR="28570" marT="28563" marB="28563"/>
                </a:tc>
                <a:tc>
                  <a:txBody>
                    <a:bodyPr/>
                    <a:lstStyle/>
                    <a:p>
                      <a:pPr algn="ctr"/>
                      <a:r>
                        <a:rPr lang="en-US" sz="1200" dirty="0">
                          <a:latin typeface="+mj-lt"/>
                          <a:ea typeface="黑体" panose="02010609060101010101" pitchFamily="49" charset="-122"/>
                        </a:rPr>
                        <a:t>0.5 µm</a:t>
                      </a:r>
                    </a:p>
                  </a:txBody>
                  <a:tcPr marL="28570" marR="28570" marT="28563" marB="28563"/>
                </a:tc>
                <a:tc>
                  <a:txBody>
                    <a:bodyPr/>
                    <a:lstStyle/>
                    <a:p>
                      <a:pPr algn="ctr"/>
                      <a:r>
                        <a:rPr lang="en-US" sz="1200" dirty="0">
                          <a:latin typeface="+mj-lt"/>
                          <a:ea typeface="黑体" panose="02010609060101010101" pitchFamily="49" charset="-122"/>
                        </a:rPr>
                        <a:t>0.30 µm</a:t>
                      </a:r>
                    </a:p>
                  </a:txBody>
                  <a:tcPr marL="28570" marR="28570" marT="28563" marB="28563"/>
                </a:tc>
                <a:tc>
                  <a:txBody>
                    <a:bodyPr/>
                    <a:lstStyle/>
                    <a:p>
                      <a:pPr algn="ctr"/>
                      <a:r>
                        <a:rPr lang="en-US" sz="1200" dirty="0">
                          <a:latin typeface="+mj-lt"/>
                          <a:ea typeface="黑体" panose="02010609060101010101" pitchFamily="49" charset="-122"/>
                        </a:rPr>
                        <a:t>0.18 µm</a:t>
                      </a:r>
                    </a:p>
                  </a:txBody>
                  <a:tcPr marL="28570" marR="28570" marT="28563" marB="28563"/>
                </a:tc>
                <a:tc>
                  <a:txBody>
                    <a:bodyPr/>
                    <a:lstStyle/>
                    <a:p>
                      <a:pPr algn="ctr"/>
                      <a:r>
                        <a:rPr lang="en-US" sz="1200" dirty="0">
                          <a:latin typeface="+mj-lt"/>
                          <a:ea typeface="黑体" panose="02010609060101010101" pitchFamily="49" charset="-122"/>
                        </a:rPr>
                        <a:t>0.18 µm</a:t>
                      </a:r>
                    </a:p>
                  </a:txBody>
                  <a:tcPr marL="28570" marR="28570" marT="28563" marB="28563"/>
                </a:tc>
                <a:tc>
                  <a:txBody>
                    <a:bodyPr/>
                    <a:lstStyle/>
                    <a:p>
                      <a:pPr algn="ctr"/>
                      <a:r>
                        <a:rPr lang="en-US" sz="1200" dirty="0">
                          <a:latin typeface="+mj-lt"/>
                          <a:ea typeface="黑体" panose="02010609060101010101" pitchFamily="49" charset="-122"/>
                        </a:rPr>
                        <a:t>0.18 µm</a:t>
                      </a:r>
                    </a:p>
                  </a:txBody>
                  <a:tcPr marL="28570" marR="28570" marT="28563" marB="28563"/>
                </a:tc>
                <a:extLst>
                  <a:ext uri="{0D108BD9-81ED-4DB2-BD59-A6C34878D82A}">
                    <a16:rowId xmlns:a16="http://schemas.microsoft.com/office/drawing/2014/main" val="10002"/>
                  </a:ext>
                </a:extLst>
              </a:tr>
              <a:tr h="370681">
                <a:tc>
                  <a:txBody>
                    <a:bodyPr/>
                    <a:lstStyle/>
                    <a:p>
                      <a:pPr algn="ctr"/>
                      <a:r>
                        <a:rPr lang="zh-CN" altLang="en-US" sz="1200" b="1">
                          <a:latin typeface="+mj-lt"/>
                          <a:ea typeface="黑体" panose="02010609060101010101" pitchFamily="49" charset="-122"/>
                        </a:rPr>
                        <a:t>关键特性</a:t>
                      </a:r>
                      <a:endParaRPr lang="zh-CN" altLang="en-US" sz="1200">
                        <a:latin typeface="+mj-lt"/>
                        <a:ea typeface="黑体" panose="02010609060101010101" pitchFamily="49" charset="-122"/>
                      </a:endParaRPr>
                    </a:p>
                  </a:txBody>
                  <a:tcPr marL="28570" marR="28570" marT="28563" marB="28563"/>
                </a:tc>
                <a:tc>
                  <a:txBody>
                    <a:bodyPr/>
                    <a:lstStyle/>
                    <a:p>
                      <a:pPr algn="ctr"/>
                      <a:r>
                        <a:rPr lang="en-US" sz="1200">
                          <a:latin typeface="+mj-lt"/>
                          <a:ea typeface="黑体" panose="02010609060101010101" pitchFamily="49" charset="-122"/>
                        </a:rPr>
                        <a:t>5.0-V I/O</a:t>
                      </a:r>
                    </a:p>
                  </a:txBody>
                  <a:tcPr marL="28570" marR="28570" marT="28563" marB="28563"/>
                </a:tc>
                <a:tc>
                  <a:txBody>
                    <a:bodyPr/>
                    <a:lstStyle/>
                    <a:p>
                      <a:pPr algn="ctr"/>
                      <a:r>
                        <a:rPr lang="zh-CN" altLang="en-US" sz="1200" dirty="0">
                          <a:latin typeface="+mj-lt"/>
                          <a:ea typeface="黑体" panose="02010609060101010101" pitchFamily="49" charset="-122"/>
                        </a:rPr>
                        <a:t>低成本 </a:t>
                      </a:r>
                    </a:p>
                  </a:txBody>
                  <a:tcPr marL="28570" marR="28570" marT="28563" marB="28563"/>
                </a:tc>
                <a:tc>
                  <a:txBody>
                    <a:bodyPr/>
                    <a:lstStyle/>
                    <a:p>
                      <a:pPr algn="ctr"/>
                      <a:r>
                        <a:rPr lang="en-US" sz="1200" dirty="0">
                          <a:latin typeface="+mj-lt"/>
                          <a:ea typeface="黑体" panose="02010609060101010101" pitchFamily="49" charset="-122"/>
                        </a:rPr>
                        <a:t>I/O</a:t>
                      </a:r>
                      <a:r>
                        <a:rPr lang="zh-CN" altLang="en-US" sz="1200" dirty="0">
                          <a:latin typeface="+mj-lt"/>
                          <a:ea typeface="黑体" panose="02010609060101010101" pitchFamily="49" charset="-122"/>
                        </a:rPr>
                        <a:t>数量 </a:t>
                      </a:r>
                    </a:p>
                  </a:txBody>
                  <a:tcPr marL="28570" marR="28570" marT="28563" marB="28563"/>
                </a:tc>
                <a:tc>
                  <a:txBody>
                    <a:bodyPr/>
                    <a:lstStyle/>
                    <a:p>
                      <a:pPr algn="ctr"/>
                      <a:r>
                        <a:rPr lang="zh-CN" altLang="en-US" sz="1200" dirty="0">
                          <a:latin typeface="+mj-lt"/>
                          <a:ea typeface="黑体" panose="02010609060101010101" pitchFamily="49" charset="-122"/>
                        </a:rPr>
                        <a:t>零功耗 </a:t>
                      </a:r>
                    </a:p>
                  </a:txBody>
                  <a:tcPr marL="28570" marR="28570" marT="28563" marB="28563"/>
                </a:tc>
                <a:tc>
                  <a:txBody>
                    <a:bodyPr/>
                    <a:lstStyle/>
                    <a:p>
                      <a:pPr algn="ctr"/>
                      <a:r>
                        <a:rPr lang="zh-CN" altLang="en-US" sz="1200" dirty="0">
                          <a:latin typeface="+mj-lt"/>
                          <a:ea typeface="黑体" panose="02010609060101010101" pitchFamily="49" charset="-122"/>
                        </a:rPr>
                        <a:t>低成本，低功耗</a:t>
                      </a:r>
                    </a:p>
                  </a:txBody>
                  <a:tcPr marL="28570" marR="28570" marT="28563" marB="28563"/>
                </a:tc>
                <a:extLst>
                  <a:ext uri="{0D108BD9-81ED-4DB2-BD59-A6C34878D82A}">
                    <a16:rowId xmlns:a16="http://schemas.microsoft.com/office/drawing/2014/main" val="10003"/>
                  </a:ext>
                </a:extLst>
              </a:tr>
            </a:tbl>
          </a:graphicData>
        </a:graphic>
      </p:graphicFrame>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026"/>
          <p:cNvSpPr>
            <a:spLocks noGrp="1"/>
          </p:cNvSpPr>
          <p:nvPr>
            <p:ph type="title"/>
          </p:nvPr>
        </p:nvSpPr>
        <p:spPr>
          <a:xfrm>
            <a:off x="900113" y="188913"/>
            <a:ext cx="7920359" cy="792162"/>
          </a:xfrm>
        </p:spPr>
        <p:txBody>
          <a:bodyPr vert="horz" wrap="square" lIns="91440" tIns="45720" rIns="91440" bIns="45720" anchor="b" anchorCtr="0"/>
          <a:lstStyle/>
          <a:p>
            <a:pPr algn="l" eaLnBrk="1" hangingPunct="1"/>
            <a:r>
              <a:rPr lang="zh-CN" altLang="en-US" dirty="0"/>
              <a:t>乘积项结构</a:t>
            </a:r>
            <a:r>
              <a:rPr lang="en-US" altLang="zh-CN" dirty="0"/>
              <a:t>CPLD</a:t>
            </a:r>
            <a:r>
              <a:rPr lang="zh-CN" altLang="en-US" dirty="0"/>
              <a:t>的逻辑实现原理</a:t>
            </a:r>
          </a:p>
        </p:txBody>
      </p:sp>
      <p:sp>
        <p:nvSpPr>
          <p:cNvPr id="19458" name="Rectangle 1027" descr="Rectangle: Click to edit Master text styles&#10;Second level&#10;Third level&#10;Fourth level&#10;Fifth level"/>
          <p:cNvSpPr>
            <a:spLocks noGrp="1"/>
          </p:cNvSpPr>
          <p:nvPr>
            <p:ph idx="1"/>
          </p:nvPr>
        </p:nvSpPr>
        <p:spPr/>
        <p:txBody>
          <a:bodyPr vert="horz" wrap="square" lIns="91440" tIns="45720" rIns="91440" bIns="45720" anchor="t" anchorCtr="0"/>
          <a:lstStyle/>
          <a:p>
            <a:pPr eaLnBrk="1" hangingPunct="1"/>
            <a:r>
              <a:rPr lang="zh-CN" altLang="en-US" dirty="0"/>
              <a:t>假设组合逻辑的输出</a:t>
            </a:r>
            <a:r>
              <a:rPr lang="en-US" altLang="zh-CN" dirty="0"/>
              <a:t>(AND3</a:t>
            </a:r>
            <a:r>
              <a:rPr lang="zh-CN" altLang="en-US" dirty="0"/>
              <a:t>的输出</a:t>
            </a:r>
            <a:r>
              <a:rPr lang="en-US" altLang="zh-CN" dirty="0"/>
              <a:t>)</a:t>
            </a:r>
            <a:r>
              <a:rPr lang="zh-CN" altLang="en-US" dirty="0"/>
              <a:t>为</a:t>
            </a:r>
            <a:r>
              <a:rPr lang="en-US" altLang="zh-CN" dirty="0"/>
              <a:t>f</a:t>
            </a:r>
            <a:r>
              <a:rPr lang="zh-CN" altLang="en-US" dirty="0"/>
              <a:t>，则</a:t>
            </a:r>
            <a:r>
              <a:rPr lang="en-US" altLang="zh-CN" dirty="0"/>
              <a:t>f=(A+B)*C*(!D)=A*C*!D + B*C*!D ( </a:t>
            </a:r>
            <a:r>
              <a:rPr lang="zh-CN" altLang="en-US" dirty="0"/>
              <a:t>我们以</a:t>
            </a:r>
            <a:r>
              <a:rPr lang="en-US" altLang="zh-CN" dirty="0"/>
              <a:t>!D</a:t>
            </a:r>
            <a:r>
              <a:rPr lang="zh-CN" altLang="en-US" dirty="0"/>
              <a:t>表示</a:t>
            </a:r>
            <a:r>
              <a:rPr lang="en-US" altLang="zh-CN" dirty="0"/>
              <a:t>D</a:t>
            </a:r>
            <a:r>
              <a:rPr lang="zh-CN" altLang="en-US" dirty="0"/>
              <a:t>的“非”）</a:t>
            </a:r>
          </a:p>
        </p:txBody>
      </p:sp>
      <p:pic>
        <p:nvPicPr>
          <p:cNvPr id="19459" name="Picture 1028"/>
          <p:cNvPicPr>
            <a:picLocks noChangeAspect="1"/>
          </p:cNvPicPr>
          <p:nvPr/>
        </p:nvPicPr>
        <p:blipFill>
          <a:blip r:embed="rId3"/>
          <a:stretch>
            <a:fillRect/>
          </a:stretch>
        </p:blipFill>
        <p:spPr>
          <a:xfrm>
            <a:off x="900113" y="3357563"/>
            <a:ext cx="7789862" cy="2376487"/>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p:cNvSpPr>
          <p:nvPr>
            <p:ph type="title"/>
          </p:nvPr>
        </p:nvSpPr>
        <p:spPr>
          <a:xfrm>
            <a:off x="900113" y="188913"/>
            <a:ext cx="7704335" cy="792162"/>
          </a:xfrm>
        </p:spPr>
        <p:txBody>
          <a:bodyPr vert="horz" wrap="square" lIns="91440" tIns="45720" rIns="91440" bIns="45720" anchor="b" anchorCtr="0"/>
          <a:lstStyle/>
          <a:p>
            <a:pPr algn="l" eaLnBrk="1" hangingPunct="1"/>
            <a:r>
              <a:rPr lang="zh-CN" altLang="en-US" dirty="0"/>
              <a:t>乘积项结构</a:t>
            </a:r>
            <a:r>
              <a:rPr lang="en-US" altLang="zh-CN" dirty="0"/>
              <a:t>CPLD</a:t>
            </a:r>
            <a:r>
              <a:rPr lang="zh-CN" altLang="en-US" dirty="0"/>
              <a:t>的逻辑实现原理</a:t>
            </a:r>
          </a:p>
        </p:txBody>
      </p:sp>
      <p:sp>
        <p:nvSpPr>
          <p:cNvPr id="20482" name="Rectangle 3" descr="Rectangle: Click to edit Master text styles&#10;Second level&#10;Third level&#10;Fourth level&#10;Fifth level"/>
          <p:cNvSpPr>
            <a:spLocks noGrp="1"/>
          </p:cNvSpPr>
          <p:nvPr>
            <p:ph idx="1"/>
          </p:nvPr>
        </p:nvSpPr>
        <p:spPr/>
        <p:txBody>
          <a:bodyPr vert="horz" wrap="square" lIns="91440" tIns="45720" rIns="91440" bIns="45720" anchor="t" anchorCtr="0"/>
          <a:lstStyle/>
          <a:p>
            <a:pPr eaLnBrk="1" hangingPunct="1"/>
            <a:r>
              <a:rPr lang="en-US" altLang="zh-CN" dirty="0"/>
              <a:t>CPLD</a:t>
            </a:r>
            <a:r>
              <a:rPr lang="zh-CN" altLang="en-US" dirty="0"/>
              <a:t>将以下面的方式来实现组合逻辑</a:t>
            </a:r>
            <a:r>
              <a:rPr lang="en-US" altLang="zh-CN" dirty="0"/>
              <a:t>f</a:t>
            </a:r>
            <a:r>
              <a:rPr lang="zh-CN" altLang="en-US" dirty="0"/>
              <a:t>。</a:t>
            </a:r>
            <a:r>
              <a:rPr lang="zh-CN" altLang="en-US" sz="2000" dirty="0"/>
              <a:t>（图中每一个叉表示相连及可编程熔丝导通）</a:t>
            </a:r>
          </a:p>
          <a:p>
            <a:pPr eaLnBrk="1" hangingPunct="1">
              <a:buNone/>
            </a:pPr>
            <a:endParaRPr lang="en-US" altLang="zh-CN" sz="2000" dirty="0"/>
          </a:p>
        </p:txBody>
      </p:sp>
      <p:pic>
        <p:nvPicPr>
          <p:cNvPr id="20483" name="Picture 4"/>
          <p:cNvPicPr>
            <a:picLocks noChangeAspect="1"/>
          </p:cNvPicPr>
          <p:nvPr/>
        </p:nvPicPr>
        <p:blipFill>
          <a:blip r:embed="rId3"/>
          <a:stretch>
            <a:fillRect/>
          </a:stretch>
        </p:blipFill>
        <p:spPr>
          <a:xfrm>
            <a:off x="2268538" y="2708275"/>
            <a:ext cx="5184775" cy="3201988"/>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00113" y="188913"/>
            <a:ext cx="7886700" cy="792163"/>
          </a:xfrm>
        </p:spPr>
        <p:txBody>
          <a:bodyPr vert="horz" wrap="square" lIns="91440" tIns="45720" rIns="91440" bIns="45720" numCol="1" rtlCol="0"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lang="en-US" altLang="zh-CN" dirty="0"/>
              <a:t>CPLD</a:t>
            </a:r>
            <a:r>
              <a:rPr lang="zh-CN" altLang="en-US" dirty="0"/>
              <a:t>逻辑实现</a:t>
            </a:r>
            <a:r>
              <a:rPr lang="en-US" altLang="zh-CN" dirty="0"/>
              <a:t>-</a:t>
            </a:r>
            <a:r>
              <a:rPr lang="zh-CN" altLang="en-US" dirty="0"/>
              <a:t>乘积项</a:t>
            </a:r>
          </a:p>
        </p:txBody>
      </p:sp>
      <p:sp>
        <p:nvSpPr>
          <p:cNvPr id="18435" name="内容占位符 2" descr="Rectangle: Click to edit Master text styles&#10;Second level&#10;Third level&#10;Fourth level&#10;Fifth level"/>
          <p:cNvSpPr>
            <a:spLocks noGrp="1"/>
          </p:cNvSpPr>
          <p:nvPr>
            <p:ph idx="1"/>
          </p:nvPr>
        </p:nvSpPr>
        <p:spPr>
          <a:xfrm>
            <a:off x="1042988" y="981075"/>
            <a:ext cx="7632700" cy="5327650"/>
          </a:xfrm>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Blip>
                <a:blip r:embed="rId3"/>
              </a:buBlip>
              <a:defRPr/>
            </a:pPr>
            <a:r>
              <a:rPr kumimoji="1" lang="zh-CN" altLang="en-US" sz="2400" b="0" i="0" u="none" strike="noStrike" kern="0" cap="none" spc="0" normalizeH="0" baseline="0" noProof="0" dirty="0">
                <a:ln>
                  <a:noFill/>
                </a:ln>
                <a:solidFill>
                  <a:srgbClr val="4B51A5"/>
                </a:solidFill>
                <a:effectLst/>
                <a:uLnTx/>
                <a:uFillTx/>
                <a:latin typeface="+mj-lt"/>
                <a:ea typeface="+mn-ea"/>
                <a:cs typeface="+mn-cs"/>
              </a:rPr>
              <a:t>假设组合逻辑的输出</a:t>
            </a:r>
            <a:r>
              <a:rPr kumimoji="1" lang="en-US" altLang="zh-CN" sz="2400" b="0" i="0" u="none" strike="noStrike" kern="0" cap="none" spc="0" normalizeH="0" baseline="0" noProof="0" dirty="0">
                <a:ln>
                  <a:noFill/>
                </a:ln>
                <a:solidFill>
                  <a:srgbClr val="4B51A5"/>
                </a:solidFill>
                <a:effectLst/>
                <a:uLnTx/>
                <a:uFillTx/>
                <a:latin typeface="+mj-lt"/>
                <a:ea typeface="+mn-ea"/>
                <a:cs typeface="+mn-cs"/>
              </a:rPr>
              <a:t>(AND3</a:t>
            </a:r>
            <a:r>
              <a:rPr kumimoji="1" lang="zh-CN" altLang="en-US" sz="2400" b="0" i="0" u="none" strike="noStrike" kern="0" cap="none" spc="0" normalizeH="0" baseline="0" noProof="0" dirty="0">
                <a:ln>
                  <a:noFill/>
                </a:ln>
                <a:solidFill>
                  <a:srgbClr val="4B51A5"/>
                </a:solidFill>
                <a:effectLst/>
                <a:uLnTx/>
                <a:uFillTx/>
                <a:latin typeface="+mj-lt"/>
                <a:ea typeface="+mn-ea"/>
                <a:cs typeface="+mn-cs"/>
              </a:rPr>
              <a:t>的输出</a:t>
            </a:r>
            <a:r>
              <a:rPr kumimoji="1" lang="en-US" altLang="zh-CN" sz="2400" b="0" i="0" u="none" strike="noStrike" kern="0" cap="none" spc="0" normalizeH="0" baseline="0" noProof="0" dirty="0">
                <a:ln>
                  <a:noFill/>
                </a:ln>
                <a:solidFill>
                  <a:srgbClr val="4B51A5"/>
                </a:solidFill>
                <a:effectLst/>
                <a:uLnTx/>
                <a:uFillTx/>
                <a:latin typeface="+mj-lt"/>
                <a:ea typeface="+mn-ea"/>
                <a:cs typeface="+mn-cs"/>
              </a:rPr>
              <a:t>)</a:t>
            </a:r>
            <a:r>
              <a:rPr kumimoji="1" lang="zh-CN" altLang="en-US" sz="2400" b="0" i="0" u="none" strike="noStrike" kern="0" cap="none" spc="0" normalizeH="0" baseline="0" noProof="0" dirty="0">
                <a:ln>
                  <a:noFill/>
                </a:ln>
                <a:solidFill>
                  <a:srgbClr val="4B51A5"/>
                </a:solidFill>
                <a:effectLst/>
                <a:uLnTx/>
                <a:uFillTx/>
                <a:latin typeface="+mj-lt"/>
                <a:ea typeface="+mn-ea"/>
                <a:cs typeface="+mn-cs"/>
              </a:rPr>
              <a:t>为</a:t>
            </a:r>
            <a:r>
              <a:rPr kumimoji="1" lang="en-US" altLang="zh-CN" sz="2400" b="0" i="0" u="none" strike="noStrike" kern="0" cap="none" spc="0" normalizeH="0" baseline="0" noProof="0" dirty="0">
                <a:ln>
                  <a:noFill/>
                </a:ln>
                <a:solidFill>
                  <a:srgbClr val="4B51A5"/>
                </a:solidFill>
                <a:effectLst/>
                <a:uLnTx/>
                <a:uFillTx/>
                <a:latin typeface="+mj-lt"/>
                <a:ea typeface="+mn-ea"/>
                <a:cs typeface="+mn-cs"/>
              </a:rPr>
              <a:t>f</a:t>
            </a:r>
            <a:r>
              <a:rPr kumimoji="1" lang="zh-CN" altLang="en-US" sz="2400" b="0" i="0" u="none" strike="noStrike" kern="0" cap="none" spc="0" normalizeH="0" baseline="0" noProof="0" dirty="0">
                <a:ln>
                  <a:noFill/>
                </a:ln>
                <a:solidFill>
                  <a:srgbClr val="4B51A5"/>
                </a:solidFill>
                <a:effectLst/>
                <a:uLnTx/>
                <a:uFillTx/>
                <a:latin typeface="+mj-lt"/>
                <a:ea typeface="+mn-ea"/>
                <a:cs typeface="+mn-cs"/>
              </a:rPr>
              <a:t>，则</a:t>
            </a:r>
            <a:r>
              <a:rPr kumimoji="1" lang="en-US" altLang="zh-CN" sz="2400" b="0" i="0" u="none" strike="noStrike" kern="0" cap="none" spc="0" normalizeH="0" baseline="0" noProof="0" dirty="0">
                <a:ln>
                  <a:noFill/>
                </a:ln>
                <a:solidFill>
                  <a:srgbClr val="4B51A5"/>
                </a:solidFill>
                <a:effectLst/>
                <a:uLnTx/>
                <a:uFillTx/>
                <a:latin typeface="+mj-lt"/>
                <a:ea typeface="+mn-ea"/>
                <a:cs typeface="+mn-cs"/>
              </a:rPr>
              <a:t>f=(A+B)*C*(!D)=A*C*!D + B*C*!D ( </a:t>
            </a:r>
            <a:r>
              <a:rPr kumimoji="1" lang="zh-CN" altLang="en-US" sz="2400" b="0" i="1" u="none" strike="noStrike" kern="0" cap="none" spc="0" normalizeH="0" baseline="0" noProof="0" dirty="0">
                <a:ln>
                  <a:noFill/>
                </a:ln>
                <a:solidFill>
                  <a:srgbClr val="4B51A5"/>
                </a:solidFill>
                <a:effectLst/>
                <a:uLnTx/>
                <a:uFillTx/>
                <a:latin typeface="+mj-lt"/>
                <a:ea typeface="+mn-ea"/>
                <a:cs typeface="+mn-cs"/>
              </a:rPr>
              <a:t>我们以</a:t>
            </a:r>
            <a:r>
              <a:rPr kumimoji="1" lang="en-US" altLang="zh-CN" sz="2400" b="0" i="1" u="none" strike="noStrike" kern="0" cap="none" spc="0" normalizeH="0" baseline="0" noProof="0" dirty="0">
                <a:ln>
                  <a:noFill/>
                </a:ln>
                <a:solidFill>
                  <a:srgbClr val="4B51A5"/>
                </a:solidFill>
                <a:effectLst/>
                <a:uLnTx/>
                <a:uFillTx/>
                <a:latin typeface="+mj-lt"/>
                <a:ea typeface="+mn-ea"/>
                <a:cs typeface="+mn-cs"/>
              </a:rPr>
              <a:t>!D</a:t>
            </a:r>
            <a:r>
              <a:rPr kumimoji="1" lang="zh-CN" altLang="en-US" sz="2400" b="0" i="1" u="none" strike="noStrike" kern="0" cap="none" spc="0" normalizeH="0" baseline="0" noProof="0" dirty="0">
                <a:ln>
                  <a:noFill/>
                </a:ln>
                <a:solidFill>
                  <a:srgbClr val="4B51A5"/>
                </a:solidFill>
                <a:effectLst/>
                <a:uLnTx/>
                <a:uFillTx/>
                <a:latin typeface="+mj-lt"/>
                <a:ea typeface="+mn-ea"/>
                <a:cs typeface="+mn-cs"/>
              </a:rPr>
              <a:t>表示</a:t>
            </a:r>
            <a:r>
              <a:rPr kumimoji="1" lang="en-US" altLang="zh-CN" sz="2400" b="0" i="1" u="none" strike="noStrike" kern="0" cap="none" spc="0" normalizeH="0" baseline="0" noProof="0" dirty="0">
                <a:ln>
                  <a:noFill/>
                </a:ln>
                <a:solidFill>
                  <a:srgbClr val="4B51A5"/>
                </a:solidFill>
                <a:effectLst/>
                <a:uLnTx/>
                <a:uFillTx/>
                <a:latin typeface="+mj-lt"/>
                <a:ea typeface="+mn-ea"/>
                <a:cs typeface="+mn-cs"/>
              </a:rPr>
              <a:t>D</a:t>
            </a:r>
            <a:r>
              <a:rPr kumimoji="1" lang="zh-CN" altLang="en-US" sz="2400" b="0" i="1" u="none" strike="noStrike" kern="0" cap="none" spc="0" normalizeH="0" baseline="0" noProof="0" dirty="0">
                <a:ln>
                  <a:noFill/>
                </a:ln>
                <a:solidFill>
                  <a:srgbClr val="4B51A5"/>
                </a:solidFill>
                <a:effectLst/>
                <a:uLnTx/>
                <a:uFillTx/>
                <a:latin typeface="+mj-lt"/>
                <a:ea typeface="+mn-ea"/>
                <a:cs typeface="+mn-cs"/>
              </a:rPr>
              <a:t>的“非”</a:t>
            </a:r>
            <a:r>
              <a:rPr kumimoji="1" lang="zh-CN" altLang="en-US" sz="2400" b="0" i="0" u="none" strike="noStrike" kern="0" cap="none" spc="0" normalizeH="0" baseline="0" noProof="0" dirty="0">
                <a:ln>
                  <a:noFill/>
                </a:ln>
                <a:solidFill>
                  <a:srgbClr val="4B51A5"/>
                </a:solidFill>
                <a:effectLst/>
                <a:uLnTx/>
                <a:uFillTx/>
                <a:latin typeface="+mj-lt"/>
                <a:ea typeface="+mn-ea"/>
                <a:cs typeface="+mn-cs"/>
              </a:rPr>
              <a:t>）</a:t>
            </a:r>
          </a:p>
        </p:txBody>
      </p:sp>
      <p:pic>
        <p:nvPicPr>
          <p:cNvPr id="21507" name="Picture 4"/>
          <p:cNvPicPr>
            <a:picLocks noChangeAspect="1"/>
          </p:cNvPicPr>
          <p:nvPr/>
        </p:nvPicPr>
        <p:blipFill>
          <a:blip r:embed="rId4"/>
          <a:stretch>
            <a:fillRect/>
          </a:stretch>
        </p:blipFill>
        <p:spPr>
          <a:xfrm>
            <a:off x="1547813" y="2060575"/>
            <a:ext cx="6408737" cy="1800225"/>
          </a:xfrm>
          <a:prstGeom prst="rect">
            <a:avLst/>
          </a:prstGeom>
          <a:noFill/>
          <a:ln w="9525">
            <a:noFill/>
          </a:ln>
        </p:spPr>
      </p:pic>
      <p:pic>
        <p:nvPicPr>
          <p:cNvPr id="21508" name="Picture 4"/>
          <p:cNvPicPr>
            <a:picLocks noChangeAspect="1"/>
          </p:cNvPicPr>
          <p:nvPr/>
        </p:nvPicPr>
        <p:blipFill>
          <a:blip r:embed="rId5"/>
          <a:stretch>
            <a:fillRect/>
          </a:stretch>
        </p:blipFill>
        <p:spPr>
          <a:xfrm>
            <a:off x="1835150" y="3871913"/>
            <a:ext cx="5184775" cy="2232025"/>
          </a:xfrm>
          <a:prstGeom prst="rect">
            <a:avLst/>
          </a:prstGeom>
          <a:noFill/>
          <a:ln w="9525">
            <a:noFill/>
          </a:ln>
        </p:spPr>
      </p:pic>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p:cNvSpPr>
          <p:nvPr>
            <p:ph type="title"/>
          </p:nvPr>
        </p:nvSpPr>
        <p:spPr>
          <a:xfrm>
            <a:off x="557597" y="188640"/>
            <a:ext cx="8784455" cy="792162"/>
          </a:xfrm>
        </p:spPr>
        <p:txBody>
          <a:bodyPr vert="horz" wrap="square" lIns="91440" tIns="45720" rIns="91440" bIns="45720" anchor="b" anchorCtr="0"/>
          <a:lstStyle/>
          <a:p>
            <a:pPr algn="l" eaLnBrk="1" hangingPunct="1"/>
            <a:r>
              <a:rPr lang="zh-CN" altLang="en-US" sz="3200" dirty="0"/>
              <a:t>基于乘积项的</a:t>
            </a:r>
            <a:r>
              <a:rPr lang="en-US" altLang="zh-CN" sz="3200" dirty="0"/>
              <a:t>CPLD</a:t>
            </a:r>
            <a:r>
              <a:rPr lang="zh-CN" altLang="en-US" sz="3200" dirty="0"/>
              <a:t>内部结构（</a:t>
            </a:r>
            <a:r>
              <a:rPr lang="en-US" altLang="zh-CN" sz="3200" dirty="0"/>
              <a:t>MAX7000</a:t>
            </a:r>
            <a:r>
              <a:rPr lang="zh-CN" altLang="en-US" sz="3200" dirty="0"/>
              <a:t>系列）</a:t>
            </a:r>
          </a:p>
        </p:txBody>
      </p:sp>
      <p:pic>
        <p:nvPicPr>
          <p:cNvPr id="17410" name="Picture 3" descr="Rectangle: Click to edit Master text styles&#10;Second level&#10;Third level&#10;Fourth level&#10;Fifth level"/>
          <p:cNvPicPr>
            <a:picLocks noGrp="1" noChangeAspect="1"/>
          </p:cNvPicPr>
          <p:nvPr>
            <p:ph idx="1"/>
          </p:nvPr>
        </p:nvPicPr>
        <p:blipFill>
          <a:blip r:embed="rId3"/>
          <a:stretch>
            <a:fillRect/>
          </a:stretch>
        </p:blipFill>
        <p:spPr>
          <a:xfrm>
            <a:off x="755650" y="1125538"/>
            <a:ext cx="8388350" cy="5732462"/>
          </a:xfrm>
        </p:spPr>
      </p:pic>
      <p:sp>
        <p:nvSpPr>
          <p:cNvPr id="2" name="文本框 1">
            <a:extLst>
              <a:ext uri="{FF2B5EF4-FFF2-40B4-BE49-F238E27FC236}">
                <a16:creationId xmlns:a16="http://schemas.microsoft.com/office/drawing/2014/main" id="{906FF5E6-7D46-3FDB-2832-D2E1CE8AA6F4}"/>
              </a:ext>
            </a:extLst>
          </p:cNvPr>
          <p:cNvSpPr txBox="1"/>
          <p:nvPr/>
        </p:nvSpPr>
        <p:spPr>
          <a:xfrm>
            <a:off x="251520" y="6234718"/>
            <a:ext cx="3306674" cy="461665"/>
          </a:xfrm>
          <a:prstGeom prst="rect">
            <a:avLst/>
          </a:prstGeom>
          <a:noFill/>
        </p:spPr>
        <p:txBody>
          <a:bodyPr wrap="none" rtlCol="0">
            <a:spAutoFit/>
          </a:bodyPr>
          <a:lstStyle/>
          <a:p>
            <a:r>
              <a:rPr lang="en-US" altLang="zh-CN" dirty="0"/>
              <a:t>LAB—Logic Array Block</a:t>
            </a:r>
            <a:endParaRPr lang="zh-CN" altLang="en-US" dirty="0"/>
          </a:p>
        </p:txBody>
      </p:sp>
      <p:cxnSp>
        <p:nvCxnSpPr>
          <p:cNvPr id="4" name="直接箭头连接符 3">
            <a:extLst>
              <a:ext uri="{FF2B5EF4-FFF2-40B4-BE49-F238E27FC236}">
                <a16:creationId xmlns:a16="http://schemas.microsoft.com/office/drawing/2014/main" id="{3A301367-6961-C36B-B23D-944A74551247}"/>
              </a:ext>
            </a:extLst>
          </p:cNvPr>
          <p:cNvCxnSpPr>
            <a:cxnSpLocks/>
          </p:cNvCxnSpPr>
          <p:nvPr/>
        </p:nvCxnSpPr>
        <p:spPr bwMode="auto">
          <a:xfrm flipH="1">
            <a:off x="2483768" y="5157192"/>
            <a:ext cx="504056" cy="1152128"/>
          </a:xfrm>
          <a:prstGeom prst="straightConnector1">
            <a:avLst/>
          </a:prstGeom>
          <a:solidFill>
            <a:schemeClr val="accent1"/>
          </a:solidFill>
          <a:ln w="38100" cap="flat" cmpd="sng" algn="ctr">
            <a:solidFill>
              <a:schemeClr val="tx1"/>
            </a:solidFill>
            <a:prstDash val="solid"/>
            <a:round/>
            <a:headEnd type="none" w="med" len="med"/>
            <a:tailEnd type="triangle"/>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p:cNvSpPr>
          <p:nvPr>
            <p:ph type="title"/>
          </p:nvPr>
        </p:nvSpPr>
        <p:spPr>
          <a:xfrm>
            <a:off x="755650" y="188912"/>
            <a:ext cx="4319587" cy="792162"/>
          </a:xfrm>
        </p:spPr>
        <p:txBody>
          <a:bodyPr vert="horz" wrap="square" lIns="91440" tIns="45720" rIns="91440" bIns="45720" anchor="b" anchorCtr="0"/>
          <a:lstStyle/>
          <a:p>
            <a:pPr algn="l" eaLnBrk="1" hangingPunct="1"/>
            <a:r>
              <a:rPr lang="en-US" altLang="zh-CN" sz="3200" dirty="0"/>
              <a:t>CPLD</a:t>
            </a:r>
            <a:r>
              <a:rPr lang="zh-CN" altLang="en-US" sz="3200" dirty="0"/>
              <a:t>宏单元结构</a:t>
            </a:r>
          </a:p>
        </p:txBody>
      </p:sp>
      <p:pic>
        <p:nvPicPr>
          <p:cNvPr id="18434" name="Picture 3" descr="Rectangle: Click to edit Master text styles&#10;Second level&#10;Third level&#10;Fourth level&#10;Fifth level"/>
          <p:cNvPicPr>
            <a:picLocks noGrp="1" noChangeAspect="1"/>
          </p:cNvPicPr>
          <p:nvPr>
            <p:ph idx="1"/>
          </p:nvPr>
        </p:nvPicPr>
        <p:blipFill>
          <a:blip r:embed="rId2"/>
          <a:stretch>
            <a:fillRect/>
          </a:stretch>
        </p:blipFill>
        <p:spPr>
          <a:xfrm>
            <a:off x="755650" y="1125538"/>
            <a:ext cx="8388350" cy="5543550"/>
          </a:xfr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00113" y="188913"/>
            <a:ext cx="6048151" cy="792163"/>
          </a:xfrm>
        </p:spPr>
        <p:txBody>
          <a:bodyPr vert="horz" wrap="square" lIns="91440" tIns="45720" rIns="91440" bIns="45720" numCol="1" rtlCol="0"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lang="en-US" altLang="zh-CN" dirty="0"/>
              <a:t>FPGA</a:t>
            </a:r>
            <a:r>
              <a:rPr lang="zh-CN" altLang="en-US" dirty="0"/>
              <a:t>简介</a:t>
            </a:r>
            <a:r>
              <a:rPr lang="en-US" altLang="zh-CN" dirty="0"/>
              <a:t>-</a:t>
            </a:r>
            <a:r>
              <a:rPr lang="zh-CN" altLang="en-US" dirty="0"/>
              <a:t>查找表结构</a:t>
            </a:r>
          </a:p>
        </p:txBody>
      </p:sp>
      <p:sp>
        <p:nvSpPr>
          <p:cNvPr id="3" name="内容占位符 2" descr="Rectangle: Click to edit Master text styles&#10;Second level&#10;Third level&#10;Fourth level&#10;Fifth level"/>
          <p:cNvSpPr>
            <a:spLocks noGrp="1"/>
          </p:cNvSpPr>
          <p:nvPr>
            <p:ph idx="1"/>
          </p:nvPr>
        </p:nvSpPr>
        <p:spPr>
          <a:xfrm>
            <a:off x="900113" y="1268760"/>
            <a:ext cx="7343775" cy="5038725"/>
          </a:xfrm>
        </p:spPr>
        <p:txBody>
          <a:bodyPr vert="horz" wrap="square" lIns="91440" tIns="45720" rIns="91440" bIns="45720" numCol="1" rtlCol="0" anchor="t" anchorCtr="0" compatLnSpc="1">
            <a:normAutofit fontScale="92500" lnSpcReduction="10000"/>
          </a:bodyPr>
          <a:lstStyle/>
          <a:p>
            <a:pPr marL="342900" marR="0" lvl="0" indent="-342900" algn="just" defTabSz="914400" rtl="0" eaLnBrk="1" fontAlgn="auto" latinLnBrk="0" hangingPunct="1">
              <a:lnSpc>
                <a:spcPct val="150000"/>
              </a:lnSpc>
              <a:spcBef>
                <a:spcPts val="0"/>
              </a:spcBef>
              <a:spcAft>
                <a:spcPts val="0"/>
              </a:spcAft>
              <a:buClr>
                <a:schemeClr val="hlink"/>
              </a:buClr>
              <a:buSzPct val="110000"/>
              <a:buFont typeface="Wingdings" panose="05000000000000000000" pitchFamily="2" charset="2"/>
              <a:buBlip>
                <a:blip r:embed="rId3"/>
              </a:buBlip>
              <a:defRPr/>
            </a:pPr>
            <a:r>
              <a:rPr kumimoji="1" lang="en-US" altLang="zh-CN" sz="2800" b="0" i="0" u="none" strike="noStrike" kern="0" cap="none" spc="0" normalizeH="0" baseline="0" noProof="0" dirty="0">
                <a:ln>
                  <a:noFill/>
                </a:ln>
                <a:solidFill>
                  <a:srgbClr val="4B51A5"/>
                </a:solidFill>
                <a:effectLst/>
                <a:uLnTx/>
                <a:uFillTx/>
                <a:latin typeface="+mj-lt"/>
                <a:ea typeface="+mn-ea"/>
                <a:cs typeface="+mn-cs"/>
              </a:rPr>
              <a:t>FPGA</a:t>
            </a:r>
            <a:r>
              <a:rPr kumimoji="1" lang="zh-CN" altLang="en-US" sz="2800" b="0" i="0" u="none" strike="noStrike" kern="0" cap="none" spc="0" normalizeH="0" baseline="0" noProof="0" dirty="0">
                <a:ln>
                  <a:noFill/>
                </a:ln>
                <a:solidFill>
                  <a:srgbClr val="4B51A5"/>
                </a:solidFill>
                <a:effectLst/>
                <a:uLnTx/>
                <a:uFillTx/>
                <a:latin typeface="+mj-lt"/>
                <a:ea typeface="+mn-ea"/>
                <a:cs typeface="+mn-cs"/>
              </a:rPr>
              <a:t>多基于</a:t>
            </a:r>
            <a:r>
              <a:rPr kumimoji="1" lang="zh-CN" altLang="en-US" sz="2800" b="0" i="0" u="none" strike="noStrike" kern="0" cap="none" spc="0" normalizeH="0" baseline="0" noProof="0" dirty="0">
                <a:ln>
                  <a:noFill/>
                </a:ln>
                <a:solidFill>
                  <a:srgbClr val="F2A10E"/>
                </a:solidFill>
                <a:effectLst/>
                <a:uLnTx/>
                <a:uFillTx/>
                <a:latin typeface="+mj-lt"/>
                <a:ea typeface="+mn-ea"/>
                <a:cs typeface="+mn-cs"/>
              </a:rPr>
              <a:t>查找表</a:t>
            </a:r>
            <a:r>
              <a:rPr kumimoji="1" lang="en-US" altLang="zh-CN" sz="2800" b="0" i="0" u="none" strike="noStrike" kern="0" cap="none" spc="0" normalizeH="0" baseline="0" noProof="0" dirty="0">
                <a:ln>
                  <a:noFill/>
                </a:ln>
                <a:solidFill>
                  <a:srgbClr val="F2A10E"/>
                </a:solidFill>
                <a:effectLst/>
                <a:uLnTx/>
                <a:uFillTx/>
                <a:latin typeface="+mj-lt"/>
                <a:ea typeface="+mn-ea"/>
                <a:cs typeface="+mn-cs"/>
              </a:rPr>
              <a:t>(Look-Up Table)</a:t>
            </a:r>
            <a:r>
              <a:rPr kumimoji="1" lang="zh-CN" altLang="en-US" sz="2800" b="0" i="0" u="none" strike="noStrike" kern="0" cap="none" spc="0" normalizeH="0" baseline="0" noProof="0" dirty="0">
                <a:ln>
                  <a:noFill/>
                </a:ln>
                <a:solidFill>
                  <a:srgbClr val="4B51A5"/>
                </a:solidFill>
                <a:effectLst/>
                <a:uLnTx/>
                <a:uFillTx/>
                <a:latin typeface="+mj-lt"/>
                <a:ea typeface="+mn-ea"/>
                <a:cs typeface="+mn-cs"/>
              </a:rPr>
              <a:t>结构，采用</a:t>
            </a:r>
            <a:r>
              <a:rPr kumimoji="1" lang="en-US" altLang="zh-CN" sz="2800" b="0" i="0" u="none" strike="noStrike" kern="0" cap="none" spc="0" normalizeH="0" baseline="0" noProof="0" dirty="0">
                <a:ln>
                  <a:noFill/>
                </a:ln>
                <a:solidFill>
                  <a:srgbClr val="4B51A5"/>
                </a:solidFill>
                <a:effectLst/>
                <a:uLnTx/>
                <a:uFillTx/>
                <a:latin typeface="+mj-lt"/>
                <a:ea typeface="+mn-ea"/>
                <a:cs typeface="+mn-cs"/>
              </a:rPr>
              <a:t>SRAM</a:t>
            </a:r>
            <a:r>
              <a:rPr kumimoji="1" lang="zh-CN" altLang="en-US" sz="2800" b="0" i="0" u="none" strike="noStrike" kern="0" cap="none" spc="0" normalizeH="0" baseline="0" noProof="0" dirty="0">
                <a:ln>
                  <a:noFill/>
                </a:ln>
                <a:solidFill>
                  <a:srgbClr val="4B51A5"/>
                </a:solidFill>
                <a:effectLst/>
                <a:uLnTx/>
                <a:uFillTx/>
                <a:latin typeface="+mj-lt"/>
                <a:ea typeface="+mn-ea"/>
                <a:cs typeface="+mn-cs"/>
              </a:rPr>
              <a:t>工艺，密度高，触发器多，多用于</a:t>
            </a:r>
            <a:r>
              <a:rPr kumimoji="1" lang="en-US" altLang="zh-CN" sz="2800" b="0" i="0" u="none" strike="noStrike" kern="0" cap="none" spc="0" normalizeH="0" baseline="0" noProof="0" dirty="0">
                <a:ln>
                  <a:noFill/>
                </a:ln>
                <a:solidFill>
                  <a:srgbClr val="4B51A5"/>
                </a:solidFill>
                <a:effectLst/>
                <a:uLnTx/>
                <a:uFillTx/>
                <a:latin typeface="+mj-lt"/>
                <a:ea typeface="+mn-ea"/>
                <a:cs typeface="+mn-cs"/>
              </a:rPr>
              <a:t>10,000</a:t>
            </a:r>
            <a:r>
              <a:rPr kumimoji="1" lang="zh-CN" altLang="en-US" sz="2800" b="0" i="0" u="none" strike="noStrike" kern="0" cap="none" spc="0" normalizeH="0" baseline="0" noProof="0" dirty="0">
                <a:ln>
                  <a:noFill/>
                </a:ln>
                <a:solidFill>
                  <a:srgbClr val="4B51A5"/>
                </a:solidFill>
                <a:effectLst/>
                <a:uLnTx/>
                <a:uFillTx/>
                <a:latin typeface="+mj-lt"/>
                <a:ea typeface="+mn-ea"/>
                <a:cs typeface="+mn-cs"/>
              </a:rPr>
              <a:t>门以上的大规模设计，适合做复杂的时序逻辑，如数字信号处理和各种算法。</a:t>
            </a:r>
            <a:r>
              <a:rPr kumimoji="1" lang="en-US" altLang="zh-CN" sz="2800" b="0" i="0" u="none" strike="noStrike" kern="0" cap="none" spc="0" normalizeH="0" baseline="0" noProof="0" dirty="0">
                <a:ln>
                  <a:noFill/>
                </a:ln>
                <a:solidFill>
                  <a:srgbClr val="4B51A5"/>
                </a:solidFill>
                <a:effectLst/>
                <a:uLnTx/>
                <a:uFillTx/>
                <a:latin typeface="+mj-lt"/>
                <a:ea typeface="+mn-ea"/>
                <a:cs typeface="+mn-cs"/>
              </a:rPr>
              <a:t>FPGA</a:t>
            </a:r>
            <a:r>
              <a:rPr kumimoji="1" lang="zh-CN" altLang="en-US" sz="2800" b="0" i="0" u="none" strike="noStrike" kern="0" cap="none" spc="0" normalizeH="0" baseline="0" noProof="0" dirty="0">
                <a:ln>
                  <a:noFill/>
                </a:ln>
                <a:solidFill>
                  <a:srgbClr val="4B51A5"/>
                </a:solidFill>
                <a:effectLst/>
                <a:uLnTx/>
                <a:uFillTx/>
                <a:latin typeface="+mj-lt"/>
                <a:ea typeface="+mn-ea"/>
                <a:cs typeface="+mn-cs"/>
              </a:rPr>
              <a:t>能完成任何数字器件的功能，上至高性能</a:t>
            </a:r>
            <a:r>
              <a:rPr kumimoji="1" lang="en-US" altLang="zh-CN" sz="2800" b="0" i="0" u="none" strike="noStrike" kern="0" cap="none" spc="0" normalizeH="0" baseline="0" noProof="0" dirty="0">
                <a:ln>
                  <a:noFill/>
                </a:ln>
                <a:solidFill>
                  <a:srgbClr val="4B51A5"/>
                </a:solidFill>
                <a:effectLst/>
                <a:uLnTx/>
                <a:uFillTx/>
                <a:latin typeface="+mj-lt"/>
                <a:ea typeface="+mn-ea"/>
                <a:cs typeface="+mn-cs"/>
              </a:rPr>
              <a:t>CPU</a:t>
            </a:r>
            <a:r>
              <a:rPr kumimoji="1" lang="zh-CN" altLang="en-US" sz="2800" b="0" i="0" u="none" strike="noStrike" kern="0" cap="none" spc="0" normalizeH="0" baseline="0" noProof="0" dirty="0">
                <a:ln>
                  <a:noFill/>
                </a:ln>
                <a:solidFill>
                  <a:srgbClr val="4B51A5"/>
                </a:solidFill>
                <a:effectLst/>
                <a:uLnTx/>
                <a:uFillTx/>
                <a:latin typeface="+mj-lt"/>
                <a:ea typeface="+mn-ea"/>
                <a:cs typeface="+mn-cs"/>
              </a:rPr>
              <a:t>，下至简单的</a:t>
            </a:r>
            <a:r>
              <a:rPr kumimoji="1" lang="en-US" altLang="zh-CN" sz="2800" b="0" i="0" u="none" strike="noStrike" kern="0" cap="none" spc="0" normalizeH="0" baseline="0" noProof="0" dirty="0">
                <a:ln>
                  <a:noFill/>
                </a:ln>
                <a:solidFill>
                  <a:srgbClr val="4B51A5"/>
                </a:solidFill>
                <a:effectLst/>
                <a:uLnTx/>
                <a:uFillTx/>
                <a:latin typeface="+mj-lt"/>
                <a:ea typeface="+mn-ea"/>
                <a:cs typeface="+mn-cs"/>
              </a:rPr>
              <a:t>74</a:t>
            </a:r>
            <a:r>
              <a:rPr kumimoji="1" lang="zh-CN" altLang="en-US" sz="2800" b="0" i="0" u="none" strike="noStrike" kern="0" cap="none" spc="0" normalizeH="0" baseline="0" noProof="0" dirty="0">
                <a:ln>
                  <a:noFill/>
                </a:ln>
                <a:solidFill>
                  <a:srgbClr val="4B51A5"/>
                </a:solidFill>
                <a:effectLst/>
                <a:uLnTx/>
                <a:uFillTx/>
                <a:latin typeface="+mj-lt"/>
                <a:ea typeface="+mn-ea"/>
                <a:cs typeface="+mn-cs"/>
              </a:rPr>
              <a:t>电路，都可以用</a:t>
            </a:r>
            <a:r>
              <a:rPr kumimoji="1" lang="en-US" altLang="zh-CN" sz="2800" b="0" i="0" u="none" strike="noStrike" kern="0" cap="none" spc="0" normalizeH="0" baseline="0" noProof="0" dirty="0">
                <a:ln>
                  <a:noFill/>
                </a:ln>
                <a:solidFill>
                  <a:srgbClr val="4B51A5"/>
                </a:solidFill>
                <a:effectLst/>
                <a:uLnTx/>
                <a:uFillTx/>
                <a:latin typeface="+mj-lt"/>
                <a:ea typeface="+mn-ea"/>
                <a:cs typeface="+mn-cs"/>
              </a:rPr>
              <a:t>FPGA</a:t>
            </a:r>
            <a:r>
              <a:rPr kumimoji="1" lang="zh-CN" altLang="en-US" sz="2800" b="0" i="0" u="none" strike="noStrike" kern="0" cap="none" spc="0" normalizeH="0" baseline="0" noProof="0" dirty="0">
                <a:ln>
                  <a:noFill/>
                </a:ln>
                <a:solidFill>
                  <a:srgbClr val="4B51A5"/>
                </a:solidFill>
                <a:effectLst/>
                <a:uLnTx/>
                <a:uFillTx/>
                <a:latin typeface="+mj-lt"/>
                <a:ea typeface="+mn-ea"/>
                <a:cs typeface="+mn-cs"/>
              </a:rPr>
              <a:t>来实现。</a:t>
            </a:r>
            <a:r>
              <a:rPr kumimoji="1" lang="en-US" altLang="zh-CN" sz="2800" b="0" i="0" u="none" strike="noStrike" kern="0" cap="none" spc="0" normalizeH="0" baseline="0" noProof="0" dirty="0">
                <a:ln>
                  <a:noFill/>
                </a:ln>
                <a:solidFill>
                  <a:srgbClr val="4B51A5"/>
                </a:solidFill>
                <a:effectLst/>
                <a:uLnTx/>
                <a:uFillTx/>
                <a:latin typeface="+mj-lt"/>
                <a:ea typeface="+mn-ea"/>
                <a:cs typeface="+mn-cs"/>
              </a:rPr>
              <a:t>FPGA</a:t>
            </a:r>
            <a:r>
              <a:rPr kumimoji="1" lang="zh-CN" altLang="en-US" sz="2800" b="0" i="0" u="none" strike="noStrike" kern="0" cap="none" spc="0" normalizeH="0" baseline="0" noProof="0" dirty="0">
                <a:ln>
                  <a:noFill/>
                </a:ln>
                <a:solidFill>
                  <a:srgbClr val="4B51A5"/>
                </a:solidFill>
                <a:effectLst/>
                <a:uLnTx/>
                <a:uFillTx/>
                <a:latin typeface="+mj-lt"/>
                <a:ea typeface="+mn-ea"/>
                <a:cs typeface="+mn-cs"/>
              </a:rPr>
              <a:t>已经成为高性能数字系统的首选方案，是电子设计领域最具活力和发展前途的技术，其影响不亚于</a:t>
            </a:r>
            <a:r>
              <a:rPr kumimoji="1" lang="en-US" altLang="zh-CN" sz="2800" b="0" i="0" u="none" strike="noStrike" kern="0" cap="none" spc="0" normalizeH="0" baseline="0" noProof="0" dirty="0">
                <a:ln>
                  <a:noFill/>
                </a:ln>
                <a:solidFill>
                  <a:srgbClr val="4B51A5"/>
                </a:solidFill>
                <a:effectLst/>
                <a:uLnTx/>
                <a:uFillTx/>
                <a:latin typeface="+mj-lt"/>
                <a:ea typeface="+mn-ea"/>
                <a:cs typeface="+mn-cs"/>
              </a:rPr>
              <a:t>70</a:t>
            </a:r>
            <a:r>
              <a:rPr kumimoji="1" lang="zh-CN" altLang="en-US" sz="2800" b="0" i="0" u="none" strike="noStrike" kern="0" cap="none" spc="0" normalizeH="0" baseline="0" noProof="0" dirty="0">
                <a:ln>
                  <a:noFill/>
                </a:ln>
                <a:solidFill>
                  <a:srgbClr val="4B51A5"/>
                </a:solidFill>
                <a:effectLst/>
                <a:uLnTx/>
                <a:uFillTx/>
                <a:latin typeface="+mj-lt"/>
                <a:ea typeface="+mn-ea"/>
                <a:cs typeface="+mn-cs"/>
              </a:rPr>
              <a:t>年代单片机的发明和使用。</a:t>
            </a: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p:cNvSpPr>
          <p:nvPr>
            <p:ph type="title"/>
          </p:nvPr>
        </p:nvSpPr>
        <p:spPr>
          <a:xfrm>
            <a:off x="900113" y="188913"/>
            <a:ext cx="3311525" cy="792162"/>
          </a:xfrm>
        </p:spPr>
        <p:txBody>
          <a:bodyPr vert="horz" wrap="square" lIns="91440" tIns="45720" rIns="91440" bIns="45720" anchor="b" anchorCtr="0"/>
          <a:lstStyle/>
          <a:p>
            <a:pPr eaLnBrk="1" hangingPunct="1"/>
            <a:r>
              <a:rPr lang="zh-CN" altLang="en-US" dirty="0"/>
              <a:t>查找表的原理</a:t>
            </a:r>
          </a:p>
        </p:txBody>
      </p:sp>
      <p:sp>
        <p:nvSpPr>
          <p:cNvPr id="23554" name="Rectangle 3" descr="Rectangle: Click to edit Master text styles&#10;Second level&#10;Third level&#10;Fourth level&#10;Fifth level"/>
          <p:cNvSpPr>
            <a:spLocks noGrp="1"/>
          </p:cNvSpPr>
          <p:nvPr>
            <p:ph idx="1"/>
          </p:nvPr>
        </p:nvSpPr>
        <p:spPr/>
        <p:txBody>
          <a:bodyPr vert="horz" wrap="square" lIns="91440" tIns="45720" rIns="91440" bIns="45720" anchor="t" anchorCtr="0"/>
          <a:lstStyle/>
          <a:p>
            <a:pPr marL="342000" eaLnBrk="1" hangingPunct="1">
              <a:lnSpc>
                <a:spcPts val="4500"/>
              </a:lnSpc>
              <a:spcBef>
                <a:spcPts val="0"/>
              </a:spcBef>
            </a:pPr>
            <a:r>
              <a:rPr lang="zh-CN" altLang="en-US" sz="2800" dirty="0"/>
              <a:t>查找表（</a:t>
            </a:r>
            <a:r>
              <a:rPr lang="en-US" altLang="zh-CN" sz="2800" dirty="0"/>
              <a:t>Look-Up-Table</a:t>
            </a:r>
            <a:r>
              <a:rPr lang="zh-CN" altLang="en-US" sz="2800" dirty="0"/>
              <a:t>）简称为</a:t>
            </a:r>
            <a:r>
              <a:rPr lang="en-US" altLang="zh-CN" sz="2800" dirty="0"/>
              <a:t>LUT</a:t>
            </a:r>
            <a:r>
              <a:rPr lang="zh-CN" altLang="en-US" sz="2800" dirty="0"/>
              <a:t>，</a:t>
            </a:r>
            <a:r>
              <a:rPr lang="en-US" altLang="zh-CN" sz="2800" dirty="0"/>
              <a:t>LUT</a:t>
            </a:r>
            <a:r>
              <a:rPr lang="zh-CN" altLang="en-US" sz="2800" dirty="0"/>
              <a:t>本质上是一个</a:t>
            </a:r>
            <a:r>
              <a:rPr lang="en-US" altLang="zh-CN" sz="2800" dirty="0"/>
              <a:t>RAM</a:t>
            </a:r>
            <a:r>
              <a:rPr lang="zh-CN" altLang="en-US" sz="2800" dirty="0"/>
              <a:t>。目前</a:t>
            </a:r>
            <a:r>
              <a:rPr lang="en-US" altLang="zh-CN" sz="2800" dirty="0"/>
              <a:t>FPGA</a:t>
            </a:r>
            <a:r>
              <a:rPr lang="zh-CN" altLang="en-US" sz="2800" dirty="0"/>
              <a:t>多使用</a:t>
            </a:r>
            <a:r>
              <a:rPr lang="en-US" altLang="zh-CN" sz="2800" dirty="0"/>
              <a:t>4</a:t>
            </a:r>
            <a:r>
              <a:rPr lang="zh-CN" altLang="en-US" sz="2800" dirty="0"/>
              <a:t>输入的</a:t>
            </a:r>
            <a:r>
              <a:rPr lang="en-US" altLang="zh-CN" sz="2800" dirty="0"/>
              <a:t>LUT</a:t>
            </a:r>
            <a:r>
              <a:rPr lang="zh-CN" altLang="en-US" sz="2800" dirty="0"/>
              <a:t>，所以每一个</a:t>
            </a:r>
            <a:r>
              <a:rPr lang="en-US" altLang="zh-CN" sz="2800" dirty="0"/>
              <a:t>LUT</a:t>
            </a:r>
            <a:r>
              <a:rPr lang="zh-CN" altLang="en-US" sz="2800" dirty="0"/>
              <a:t>可以看成为一个具有</a:t>
            </a:r>
            <a:r>
              <a:rPr lang="en-US" altLang="zh-CN" sz="2800" dirty="0"/>
              <a:t>4</a:t>
            </a:r>
            <a:r>
              <a:rPr lang="zh-CN" altLang="en-US" sz="2800" dirty="0"/>
              <a:t>位地址线的</a:t>
            </a:r>
            <a:r>
              <a:rPr lang="en-US" altLang="zh-CN" sz="2800" dirty="0"/>
              <a:t>16</a:t>
            </a:r>
            <a:r>
              <a:rPr lang="zh-CN" altLang="en-US" sz="2800" dirty="0"/>
              <a:t>＊</a:t>
            </a:r>
            <a:r>
              <a:rPr lang="en-US" altLang="zh-CN" sz="2800" dirty="0"/>
              <a:t>1</a:t>
            </a:r>
            <a:r>
              <a:rPr lang="zh-CN" altLang="en-US" sz="2800" dirty="0"/>
              <a:t>的</a:t>
            </a:r>
            <a:r>
              <a:rPr lang="en-US" altLang="zh-CN" sz="2800" dirty="0"/>
              <a:t>RAM</a:t>
            </a:r>
            <a:r>
              <a:rPr lang="zh-CN" altLang="en-US" sz="2800" dirty="0"/>
              <a:t>。当用户通过原理图或</a:t>
            </a:r>
            <a:r>
              <a:rPr lang="en-US" altLang="zh-CN" sz="2800" dirty="0"/>
              <a:t>HDL</a:t>
            </a:r>
            <a:r>
              <a:rPr lang="zh-CN" altLang="en-US" sz="2800" dirty="0"/>
              <a:t>语言描述了一个逻辑电路以后 ，</a:t>
            </a:r>
            <a:r>
              <a:rPr lang="en-US" altLang="zh-CN" sz="2800" dirty="0"/>
              <a:t>FPGA</a:t>
            </a:r>
            <a:r>
              <a:rPr lang="zh-CN" altLang="en-US" sz="2800" dirty="0"/>
              <a:t>开发软件会自动计算逻辑电路的所有可能的结果，并把结果事先写入</a:t>
            </a:r>
            <a:r>
              <a:rPr lang="en-US" altLang="zh-CN" sz="2800" dirty="0"/>
              <a:t>RAM</a:t>
            </a:r>
            <a:r>
              <a:rPr lang="zh-CN" altLang="en-US" sz="2800" dirty="0"/>
              <a:t>，这样，每输入一个信号进行逻辑运算就等于输入一个地址进行查表，找出地址对应的内容，然后输出即可</a:t>
            </a:r>
            <a:r>
              <a:rPr lang="zh-CN" altLang="en-US" dirty="0"/>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p:cNvSpPr>
          <p:nvPr>
            <p:ph type="title"/>
          </p:nvPr>
        </p:nvSpPr>
        <p:spPr>
          <a:xfrm>
            <a:off x="900113" y="188913"/>
            <a:ext cx="3311525" cy="792162"/>
          </a:xfrm>
        </p:spPr>
        <p:txBody>
          <a:bodyPr vert="horz" wrap="square" lIns="91440" tIns="45720" rIns="91440" bIns="45720" anchor="b" anchorCtr="0"/>
          <a:lstStyle/>
          <a:p>
            <a:pPr algn="l" eaLnBrk="1" hangingPunct="1"/>
            <a:r>
              <a:rPr lang="zh-CN" altLang="en-US" dirty="0"/>
              <a:t>查找表的原理</a:t>
            </a:r>
          </a:p>
        </p:txBody>
      </p:sp>
      <p:pic>
        <p:nvPicPr>
          <p:cNvPr id="24578" name="Picture 3"/>
          <p:cNvPicPr>
            <a:picLocks noChangeAspect="1"/>
          </p:cNvPicPr>
          <p:nvPr/>
        </p:nvPicPr>
        <p:blipFill>
          <a:blip r:embed="rId2"/>
          <a:stretch>
            <a:fillRect/>
          </a:stretch>
        </p:blipFill>
        <p:spPr>
          <a:xfrm>
            <a:off x="1187450" y="1773238"/>
            <a:ext cx="7489825" cy="3743325"/>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p:cNvSpPr>
          <p:nvPr>
            <p:ph type="title"/>
          </p:nvPr>
        </p:nvSpPr>
        <p:spPr>
          <a:xfrm>
            <a:off x="827584" y="188640"/>
            <a:ext cx="7128792" cy="792162"/>
          </a:xfrm>
        </p:spPr>
        <p:txBody>
          <a:bodyPr vert="horz" wrap="square" lIns="91440" tIns="45720" rIns="91440" bIns="45720" anchor="b" anchorCtr="0"/>
          <a:lstStyle/>
          <a:p>
            <a:pPr algn="l" eaLnBrk="1" hangingPunct="1"/>
            <a:r>
              <a:rPr lang="en-US" altLang="zh-CN" dirty="0"/>
              <a:t>LUT</a:t>
            </a:r>
            <a:r>
              <a:rPr lang="zh-CN" altLang="en-US" dirty="0"/>
              <a:t>结构</a:t>
            </a:r>
            <a:r>
              <a:rPr lang="en-US" altLang="zh-CN" dirty="0"/>
              <a:t>FPGA</a:t>
            </a:r>
            <a:r>
              <a:rPr lang="zh-CN" altLang="en-US" dirty="0"/>
              <a:t>的逻辑实现原理</a:t>
            </a:r>
          </a:p>
        </p:txBody>
      </p:sp>
      <p:pic>
        <p:nvPicPr>
          <p:cNvPr id="26626" name="Picture 3"/>
          <p:cNvPicPr>
            <a:picLocks noChangeAspect="1"/>
          </p:cNvPicPr>
          <p:nvPr/>
        </p:nvPicPr>
        <p:blipFill>
          <a:blip r:embed="rId3"/>
          <a:stretch>
            <a:fillRect/>
          </a:stretch>
        </p:blipFill>
        <p:spPr>
          <a:xfrm>
            <a:off x="1331913" y="1268413"/>
            <a:ext cx="6781800" cy="1620837"/>
          </a:xfrm>
          <a:prstGeom prst="rect">
            <a:avLst/>
          </a:prstGeom>
          <a:noFill/>
          <a:ln w="9525">
            <a:noFill/>
          </a:ln>
        </p:spPr>
      </p:pic>
      <p:pic>
        <p:nvPicPr>
          <p:cNvPr id="26627" name="Picture 4"/>
          <p:cNvPicPr>
            <a:picLocks noChangeAspect="1"/>
          </p:cNvPicPr>
          <p:nvPr/>
        </p:nvPicPr>
        <p:blipFill>
          <a:blip r:embed="rId4"/>
          <a:stretch>
            <a:fillRect/>
          </a:stretch>
        </p:blipFill>
        <p:spPr>
          <a:xfrm>
            <a:off x="1476375" y="3068638"/>
            <a:ext cx="6629400" cy="3432175"/>
          </a:xfrm>
          <a:prstGeom prst="rect">
            <a:avLst/>
          </a:prstGeom>
          <a:noFill/>
          <a:ln w="9525">
            <a:noFill/>
          </a:ln>
        </p:spPr>
      </p:pic>
      <p:sp>
        <p:nvSpPr>
          <p:cNvPr id="2" name="文本框 1">
            <a:extLst>
              <a:ext uri="{FF2B5EF4-FFF2-40B4-BE49-F238E27FC236}">
                <a16:creationId xmlns:a16="http://schemas.microsoft.com/office/drawing/2014/main" id="{4CD811B9-50F0-A1A8-9924-3FFA9F59A6D9}"/>
              </a:ext>
            </a:extLst>
          </p:cNvPr>
          <p:cNvSpPr txBox="1"/>
          <p:nvPr/>
        </p:nvSpPr>
        <p:spPr>
          <a:xfrm>
            <a:off x="1570911" y="3068638"/>
            <a:ext cx="1296144" cy="400110"/>
          </a:xfrm>
          <a:prstGeom prst="rect">
            <a:avLst/>
          </a:prstGeom>
          <a:solidFill>
            <a:schemeClr val="bg1"/>
          </a:solidFill>
        </p:spPr>
        <p:txBody>
          <a:bodyPr wrap="square" rtlCol="0">
            <a:spAutoFit/>
          </a:bodyPr>
          <a:lstStyle/>
          <a:p>
            <a:r>
              <a:rPr lang="en-US" altLang="zh-CN" sz="2000" dirty="0"/>
              <a:t>D, C, B, A</a:t>
            </a:r>
            <a:endParaRPr lang="zh-CN" altLang="en-US" sz="2000" dirty="0"/>
          </a:p>
        </p:txBody>
      </p:sp>
      <p:sp>
        <p:nvSpPr>
          <p:cNvPr id="3" name="文本框 2">
            <a:extLst>
              <a:ext uri="{FF2B5EF4-FFF2-40B4-BE49-F238E27FC236}">
                <a16:creationId xmlns:a16="http://schemas.microsoft.com/office/drawing/2014/main" id="{3DDFC5BB-9E0B-AAFB-DCE1-E9CEAC19246E}"/>
              </a:ext>
            </a:extLst>
          </p:cNvPr>
          <p:cNvSpPr txBox="1"/>
          <p:nvPr/>
        </p:nvSpPr>
        <p:spPr>
          <a:xfrm>
            <a:off x="4885418" y="3068638"/>
            <a:ext cx="1296144" cy="400110"/>
          </a:xfrm>
          <a:prstGeom prst="rect">
            <a:avLst/>
          </a:prstGeom>
          <a:solidFill>
            <a:schemeClr val="bg1"/>
          </a:solidFill>
        </p:spPr>
        <p:txBody>
          <a:bodyPr wrap="square" rtlCol="0">
            <a:spAutoFit/>
          </a:bodyPr>
          <a:lstStyle/>
          <a:p>
            <a:r>
              <a:rPr lang="en-US" altLang="zh-CN" sz="2000" dirty="0"/>
              <a:t>D, C, B, A</a:t>
            </a:r>
            <a:endParaRPr lang="zh-CN" alt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4"/>
          <p:cNvPicPr>
            <a:picLocks noChangeAspect="1"/>
          </p:cNvPicPr>
          <p:nvPr/>
        </p:nvPicPr>
        <p:blipFill>
          <a:blip r:embed="rId3"/>
          <a:stretch>
            <a:fillRect/>
          </a:stretch>
        </p:blipFill>
        <p:spPr>
          <a:xfrm>
            <a:off x="1043608" y="1340768"/>
            <a:ext cx="7560840" cy="4613394"/>
          </a:xfrm>
          <a:prstGeom prst="rect">
            <a:avLst/>
          </a:prstGeom>
          <a:noFill/>
          <a:ln w="9525">
            <a:noFill/>
          </a:ln>
        </p:spPr>
      </p:pic>
      <p:sp>
        <p:nvSpPr>
          <p:cNvPr id="5" name="标题 3">
            <a:extLst>
              <a:ext uri="{FF2B5EF4-FFF2-40B4-BE49-F238E27FC236}">
                <a16:creationId xmlns:a16="http://schemas.microsoft.com/office/drawing/2014/main" id="{0A56D1B4-C58A-2457-54E6-34C91F4A4806}"/>
              </a:ext>
            </a:extLst>
          </p:cNvPr>
          <p:cNvSpPr txBox="1">
            <a:spLocks/>
          </p:cNvSpPr>
          <p:nvPr/>
        </p:nvSpPr>
        <p:spPr>
          <a:xfrm>
            <a:off x="670719" y="332656"/>
            <a:ext cx="8066088" cy="619125"/>
          </a:xfrm>
          <a:prstGeom prst="rect">
            <a:avLst/>
          </a:prstGeom>
          <a:noFill/>
          <a:ln w="9525">
            <a:noFill/>
          </a:ln>
        </p:spPr>
        <p:txBody>
          <a:bodyPr vert="horz" wrap="square" lIns="91440" tIns="45720" rIns="91440" bIns="45720" numCol="1" rtlCol="0" anchor="b" anchorCtr="0" compatLnSpc="1"/>
          <a:lstStyle>
            <a:lvl1pPr algn="ctr" rtl="0" eaLnBrk="0" fontAlgn="base" hangingPunct="0">
              <a:spcBef>
                <a:spcPct val="0"/>
              </a:spcBef>
              <a:spcAft>
                <a:spcPct val="0"/>
              </a:spcAft>
              <a:defRPr kumimoji="1" sz="4000" b="1">
                <a:solidFill>
                  <a:schemeClr val="tx2"/>
                </a:solidFill>
                <a:latin typeface="+mj-lt"/>
                <a:ea typeface="+mj-ea"/>
                <a:cs typeface="+mj-cs"/>
              </a:defRPr>
            </a:lvl1pPr>
            <a:lvl2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2pPr>
            <a:lvl3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3pPr>
            <a:lvl4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4pPr>
            <a:lvl5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5pPr>
            <a:lvl6pPr marL="4572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6pPr>
            <a:lvl7pPr marL="9144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7pPr>
            <a:lvl8pPr marL="13716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8pPr>
            <a:lvl9pPr marL="18288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9pPr>
          </a:lstStyle>
          <a:p>
            <a:pPr algn="l" eaLnBrk="1" fontAlgn="auto" hangingPunct="1">
              <a:spcAft>
                <a:spcPts val="0"/>
              </a:spcAft>
              <a:defRPr/>
            </a:pPr>
            <a:r>
              <a:rPr lang="zh-CN" altLang="en-US" sz="3200" dirty="0"/>
              <a:t>基于</a:t>
            </a:r>
            <a:r>
              <a:rPr lang="en-US" altLang="zh-CN" sz="3200" dirty="0"/>
              <a:t>LUT</a:t>
            </a:r>
            <a:r>
              <a:rPr lang="zh-CN" altLang="en-US" sz="3200" dirty="0"/>
              <a:t>的</a:t>
            </a:r>
            <a:r>
              <a:rPr lang="en-US" altLang="zh-CN" sz="3200" dirty="0"/>
              <a:t>FPGA</a:t>
            </a:r>
            <a:r>
              <a:rPr lang="zh-CN" altLang="en-US" sz="3200" dirty="0"/>
              <a:t>内部结构</a:t>
            </a:r>
            <a:r>
              <a:rPr lang="en-US" altLang="zh-CN" sz="3200" kern="0" dirty="0">
                <a:latin typeface="+mn-lt"/>
              </a:rPr>
              <a:t>(</a:t>
            </a:r>
            <a:r>
              <a:rPr kumimoji="1" lang="en-US" altLang="zh-CN" sz="3200" b="1" i="0" u="none" strike="noStrike" kern="0" cap="none" spc="0" normalizeH="0" baseline="0" noProof="0" dirty="0" err="1">
                <a:ln>
                  <a:noFill/>
                </a:ln>
                <a:solidFill>
                  <a:schemeClr val="tx2"/>
                </a:solidFill>
                <a:effectLst/>
                <a:uLnTx/>
                <a:uFillTx/>
                <a:latin typeface="+mn-lt"/>
                <a:ea typeface="+mj-ea"/>
                <a:cs typeface="+mj-cs"/>
              </a:rPr>
              <a:t>Cyclone</a:t>
            </a:r>
            <a:r>
              <a:rPr kumimoji="1" lang="en-US" altLang="zh-CN" sz="3200" b="1" i="0" u="none" strike="noStrike" kern="0" cap="none" spc="0" normalizeH="0" baseline="0" noProof="0" dirty="0" err="1">
                <a:ln>
                  <a:noFill/>
                </a:ln>
                <a:solidFill>
                  <a:schemeClr val="tx2"/>
                </a:solidFill>
                <a:effectLst/>
                <a:uLnTx/>
                <a:uFillTx/>
                <a:latin typeface="宋体" panose="02010600030101010101" pitchFamily="2" charset="-122"/>
                <a:ea typeface="宋体" panose="02010600030101010101" pitchFamily="2" charset="-122"/>
                <a:cs typeface="+mj-cs"/>
              </a:rPr>
              <a:t>Ⅲ</a:t>
            </a:r>
            <a:r>
              <a:rPr kumimoji="1" lang="zh-CN" altLang="en-US" sz="3200" b="1" i="0" u="none" strike="noStrike" kern="0" cap="none" spc="0" normalizeH="0" baseline="0" noProof="0" dirty="0">
                <a:ln>
                  <a:noFill/>
                </a:ln>
                <a:solidFill>
                  <a:schemeClr val="tx2"/>
                </a:solidFill>
                <a:effectLst/>
                <a:uLnTx/>
                <a:uFillTx/>
                <a:latin typeface="+mj-lt"/>
                <a:ea typeface="+mj-ea"/>
                <a:cs typeface="+mj-cs"/>
              </a:rPr>
              <a:t>系列</a:t>
            </a:r>
            <a:r>
              <a:rPr kumimoji="1" lang="en-US" altLang="zh-CN" sz="3200" b="1" i="0" u="none" strike="noStrike" kern="0" cap="none" spc="0" normalizeH="0" baseline="0" noProof="0" dirty="0">
                <a:ln>
                  <a:noFill/>
                </a:ln>
                <a:solidFill>
                  <a:schemeClr val="tx2"/>
                </a:solidFill>
                <a:effectLst/>
                <a:uLnTx/>
                <a:uFillTx/>
                <a:latin typeface="+mj-lt"/>
                <a:ea typeface="+mj-ea"/>
                <a:cs typeface="+mj-cs"/>
              </a:rPr>
              <a:t>)</a:t>
            </a:r>
            <a:endParaRPr lang="zh-CN" altLang="en-US" sz="3200" kern="0" dirty="0"/>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p:cNvSpPr>
          <p:nvPr>
            <p:ph type="title"/>
          </p:nvPr>
        </p:nvSpPr>
        <p:spPr>
          <a:xfrm>
            <a:off x="827584" y="188640"/>
            <a:ext cx="6120680" cy="792162"/>
          </a:xfrm>
        </p:spPr>
        <p:txBody>
          <a:bodyPr vert="horz" wrap="square" lIns="91440" tIns="45720" rIns="91440" bIns="45720" anchor="b" anchorCtr="0"/>
          <a:lstStyle/>
          <a:p>
            <a:pPr algn="l" eaLnBrk="1" hangingPunct="1"/>
            <a:r>
              <a:rPr lang="en-US" altLang="zh-CN" sz="3200" dirty="0"/>
              <a:t>FPGA</a:t>
            </a:r>
            <a:r>
              <a:rPr lang="zh-CN" altLang="en-US" sz="3200" dirty="0"/>
              <a:t>逻辑单元（</a:t>
            </a:r>
            <a:r>
              <a:rPr lang="en-US" altLang="zh-CN" sz="3200" dirty="0"/>
              <a:t>LE</a:t>
            </a:r>
            <a:r>
              <a:rPr lang="zh-CN" altLang="en-US" sz="3200" dirty="0"/>
              <a:t>）内部结构</a:t>
            </a:r>
          </a:p>
        </p:txBody>
      </p:sp>
      <p:pic>
        <p:nvPicPr>
          <p:cNvPr id="2" name="Picture 6">
            <a:extLst>
              <a:ext uri="{FF2B5EF4-FFF2-40B4-BE49-F238E27FC236}">
                <a16:creationId xmlns:a16="http://schemas.microsoft.com/office/drawing/2014/main" id="{4E982648-BF5F-8F04-982C-5375629C8C66}"/>
              </a:ext>
            </a:extLst>
          </p:cNvPr>
          <p:cNvPicPr>
            <a:picLocks noChangeAspect="1"/>
          </p:cNvPicPr>
          <p:nvPr/>
        </p:nvPicPr>
        <p:blipFill>
          <a:blip r:embed="rId3"/>
          <a:stretch>
            <a:fillRect/>
          </a:stretch>
        </p:blipFill>
        <p:spPr>
          <a:xfrm>
            <a:off x="827584" y="1268760"/>
            <a:ext cx="7353879" cy="4906693"/>
          </a:xfrm>
          <a:prstGeom prst="rect">
            <a:avLst/>
          </a:prstGeom>
          <a:noFill/>
          <a:ln w="9525" cap="flat" cmpd="sng">
            <a:solidFill>
              <a:schemeClr val="tx1"/>
            </a:solidFill>
            <a:prstDash val="solid"/>
            <a:miter/>
            <a:headEnd type="none" w="med" len="med"/>
            <a:tailEnd type="none" w="med" len="me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1"/>
          <p:cNvSpPr>
            <a:spLocks noGrp="1"/>
          </p:cNvSpPr>
          <p:nvPr>
            <p:ph type="title"/>
          </p:nvPr>
        </p:nvSpPr>
        <p:spPr>
          <a:xfrm>
            <a:off x="758302" y="209413"/>
            <a:ext cx="7600950" cy="792162"/>
          </a:xfrm>
        </p:spPr>
        <p:txBody>
          <a:bodyPr vert="horz" wrap="square" lIns="91440" tIns="45720" rIns="91440" bIns="45720" anchor="b" anchorCtr="0"/>
          <a:lstStyle/>
          <a:p>
            <a:pPr algn="l" eaLnBrk="1" hangingPunct="1"/>
            <a:r>
              <a:rPr lang="en-US" altLang="zh-CN" dirty="0"/>
              <a:t>FPGA</a:t>
            </a:r>
            <a:r>
              <a:rPr lang="zh-CN" altLang="en-US" dirty="0"/>
              <a:t>与</a:t>
            </a:r>
            <a:r>
              <a:rPr lang="en-US" altLang="zh-CN" dirty="0"/>
              <a:t>CPLD</a:t>
            </a:r>
            <a:r>
              <a:rPr lang="zh-CN" altLang="en-US" dirty="0"/>
              <a:t>的区别</a:t>
            </a:r>
          </a:p>
        </p:txBody>
      </p:sp>
      <p:sp>
        <p:nvSpPr>
          <p:cNvPr id="41986" name="内容占位符 2" descr="Rectangle: Click to edit Master text styles&#10;Second level&#10;Third level&#10;Fourth level&#10;Fifth level"/>
          <p:cNvSpPr>
            <a:spLocks noGrp="1"/>
          </p:cNvSpPr>
          <p:nvPr>
            <p:ph idx="1"/>
          </p:nvPr>
        </p:nvSpPr>
        <p:spPr>
          <a:xfrm>
            <a:off x="755576" y="1090612"/>
            <a:ext cx="7843837" cy="4676775"/>
          </a:xfrm>
        </p:spPr>
        <p:txBody>
          <a:bodyPr vert="horz" wrap="square" lIns="91440" tIns="45720" rIns="91440" bIns="45720" anchor="t" anchorCtr="0"/>
          <a:lstStyle/>
          <a:p>
            <a:pPr eaLnBrk="1" hangingPunct="1"/>
            <a:r>
              <a:rPr lang="zh-CN" altLang="en-US" sz="2800" dirty="0"/>
              <a:t>简单地说，</a:t>
            </a:r>
            <a:r>
              <a:rPr lang="en-US" altLang="zh-CN" sz="2800" dirty="0"/>
              <a:t>FPGA</a:t>
            </a:r>
            <a:r>
              <a:rPr lang="zh-CN" altLang="en-US" sz="2800" dirty="0"/>
              <a:t>就是将</a:t>
            </a:r>
            <a:r>
              <a:rPr lang="en-US" altLang="zh-CN" sz="2800" dirty="0"/>
              <a:t>CPLD</a:t>
            </a:r>
            <a:r>
              <a:rPr lang="zh-CN" altLang="en-US" sz="2800" dirty="0"/>
              <a:t>的电路规模，功能，性能等方面强化之后的产物。</a:t>
            </a:r>
          </a:p>
          <a:p>
            <a:pPr eaLnBrk="1" hangingPunct="1"/>
            <a:endParaRPr lang="zh-CN" altLang="en-US" dirty="0"/>
          </a:p>
        </p:txBody>
      </p:sp>
      <p:graphicFrame>
        <p:nvGraphicFramePr>
          <p:cNvPr id="2" name="内容占位符 4">
            <a:extLst>
              <a:ext uri="{FF2B5EF4-FFF2-40B4-BE49-F238E27FC236}">
                <a16:creationId xmlns:a16="http://schemas.microsoft.com/office/drawing/2014/main" id="{534E975C-F62A-B0E3-C19E-E091D85C2E20}"/>
              </a:ext>
            </a:extLst>
          </p:cNvPr>
          <p:cNvGraphicFramePr>
            <a:graphicFrameLocks/>
          </p:cNvGraphicFramePr>
          <p:nvPr>
            <p:extLst>
              <p:ext uri="{D42A27DB-BD31-4B8C-83A1-F6EECF244321}">
                <p14:modId xmlns:p14="http://schemas.microsoft.com/office/powerpoint/2010/main" val="1228378746"/>
              </p:ext>
            </p:extLst>
          </p:nvPr>
        </p:nvGraphicFramePr>
        <p:xfrm>
          <a:off x="930518" y="2060848"/>
          <a:ext cx="7958807" cy="4743449"/>
        </p:xfrm>
        <a:graphic>
          <a:graphicData uri="http://schemas.openxmlformats.org/drawingml/2006/table">
            <a:tbl>
              <a:tblPr/>
              <a:tblGrid>
                <a:gridCol w="2101953">
                  <a:extLst>
                    <a:ext uri="{9D8B030D-6E8A-4147-A177-3AD203B41FA5}">
                      <a16:colId xmlns:a16="http://schemas.microsoft.com/office/drawing/2014/main" val="20000"/>
                    </a:ext>
                  </a:extLst>
                </a:gridCol>
                <a:gridCol w="3003382">
                  <a:extLst>
                    <a:ext uri="{9D8B030D-6E8A-4147-A177-3AD203B41FA5}">
                      <a16:colId xmlns:a16="http://schemas.microsoft.com/office/drawing/2014/main" val="20001"/>
                    </a:ext>
                  </a:extLst>
                </a:gridCol>
                <a:gridCol w="2853472">
                  <a:extLst>
                    <a:ext uri="{9D8B030D-6E8A-4147-A177-3AD203B41FA5}">
                      <a16:colId xmlns:a16="http://schemas.microsoft.com/office/drawing/2014/main" val="20002"/>
                    </a:ext>
                  </a:extLst>
                </a:gridCol>
              </a:tblGrid>
              <a:tr h="445148">
                <a:tc>
                  <a:txBody>
                    <a:bodyPr/>
                    <a:lstStyle/>
                    <a:p>
                      <a:r>
                        <a:rPr lang="zh-CN" altLang="en-US" sz="1600" dirty="0"/>
                        <a:t> </a:t>
                      </a:r>
                    </a:p>
                  </a:txBody>
                  <a:tcPr marL="84807" marR="84807" marT="39688" marB="39688"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sz="2400" b="1" dirty="0">
                          <a:latin typeface="+mj-lt"/>
                        </a:rPr>
                        <a:t>CPLD</a:t>
                      </a:r>
                    </a:p>
                  </a:txBody>
                  <a:tcPr marL="84807" marR="84807" marT="39688" marB="39688"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sz="2400" b="1" dirty="0">
                          <a:latin typeface="+mj-lt"/>
                        </a:rPr>
                        <a:t>FPGA</a:t>
                      </a:r>
                    </a:p>
                  </a:txBody>
                  <a:tcPr marL="84807" marR="84807" marT="39688" marB="39688"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0"/>
                  </a:ext>
                </a:extLst>
              </a:tr>
              <a:tr h="810865">
                <a:tc>
                  <a:txBody>
                    <a:bodyPr/>
                    <a:lstStyle/>
                    <a:p>
                      <a:r>
                        <a:rPr lang="zh-CN" altLang="en-US" sz="1600" dirty="0">
                          <a:latin typeface="黑体" panose="02010609060101010101" pitchFamily="49" charset="-122"/>
                          <a:ea typeface="黑体" panose="02010609060101010101" pitchFamily="49" charset="-122"/>
                        </a:rPr>
                        <a:t>组合逻辑的实现方法 </a:t>
                      </a:r>
                    </a:p>
                  </a:txBody>
                  <a:tcPr marL="84807" marR="84807" marT="39688" marB="39688"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zh-CN" altLang="en-US" sz="1600" dirty="0">
                          <a:latin typeface="+mj-lt"/>
                          <a:ea typeface="黑体" panose="02010609060101010101" pitchFamily="49" charset="-122"/>
                        </a:rPr>
                        <a:t>乘积项（</a:t>
                      </a:r>
                      <a:r>
                        <a:rPr lang="en-US" sz="1600" dirty="0">
                          <a:latin typeface="+mj-lt"/>
                          <a:ea typeface="黑体" panose="02010609060101010101" pitchFamily="49" charset="-122"/>
                        </a:rPr>
                        <a:t>product-term），</a:t>
                      </a:r>
                      <a:r>
                        <a:rPr lang="zh-CN" altLang="en-US" sz="1600" dirty="0">
                          <a:latin typeface="+mj-lt"/>
                          <a:ea typeface="黑体" panose="02010609060101010101" pitchFamily="49" charset="-122"/>
                        </a:rPr>
                        <a:t>查找表（</a:t>
                      </a:r>
                      <a:r>
                        <a:rPr lang="en-US" sz="1600" dirty="0" err="1">
                          <a:latin typeface="+mj-lt"/>
                          <a:ea typeface="黑体" panose="02010609060101010101" pitchFamily="49" charset="-122"/>
                        </a:rPr>
                        <a:t>LUT，Look</a:t>
                      </a:r>
                      <a:r>
                        <a:rPr lang="en-US" sz="1600" dirty="0">
                          <a:latin typeface="+mj-lt"/>
                          <a:ea typeface="黑体" panose="02010609060101010101" pitchFamily="49" charset="-122"/>
                        </a:rPr>
                        <a:t> up table） </a:t>
                      </a:r>
                    </a:p>
                  </a:txBody>
                  <a:tcPr marL="84807" marR="84807" marT="39688" marB="39688"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sz="1600">
                          <a:latin typeface="+mj-lt"/>
                          <a:ea typeface="黑体" panose="02010609060101010101" pitchFamily="49" charset="-122"/>
                        </a:rPr>
                        <a:t>查找表（LUT, look up table） </a:t>
                      </a:r>
                    </a:p>
                  </a:txBody>
                  <a:tcPr marL="84807" marR="84807" marT="39688" marB="39688"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1"/>
                  </a:ext>
                </a:extLst>
              </a:tr>
              <a:tr h="567035">
                <a:tc>
                  <a:txBody>
                    <a:bodyPr/>
                    <a:lstStyle/>
                    <a:p>
                      <a:r>
                        <a:rPr lang="zh-CN" altLang="en-US" sz="1600" dirty="0">
                          <a:latin typeface="黑体" panose="02010609060101010101" pitchFamily="49" charset="-122"/>
                          <a:ea typeface="黑体" panose="02010609060101010101" pitchFamily="49" charset="-122"/>
                        </a:rPr>
                        <a:t>编程元素 </a:t>
                      </a:r>
                    </a:p>
                  </a:txBody>
                  <a:tcPr marL="84807" marR="84807" marT="39688" marB="39688"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zh-CN" altLang="en-US" sz="1600" dirty="0">
                          <a:latin typeface="+mj-lt"/>
                          <a:ea typeface="黑体" panose="02010609060101010101" pitchFamily="49" charset="-122"/>
                        </a:rPr>
                        <a:t>非易失性（</a:t>
                      </a:r>
                      <a:r>
                        <a:rPr lang="en-US" sz="1600" dirty="0" err="1">
                          <a:latin typeface="+mj-lt"/>
                          <a:ea typeface="黑体" panose="02010609060101010101" pitchFamily="49" charset="-122"/>
                        </a:rPr>
                        <a:t>Flash，EEPROM</a:t>
                      </a:r>
                      <a:r>
                        <a:rPr lang="en-US" sz="1600" dirty="0">
                          <a:latin typeface="+mj-lt"/>
                          <a:ea typeface="黑体" panose="02010609060101010101" pitchFamily="49" charset="-122"/>
                        </a:rPr>
                        <a:t>） </a:t>
                      </a:r>
                    </a:p>
                  </a:txBody>
                  <a:tcPr marL="84807" marR="84807" marT="39688" marB="39688"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zh-CN" altLang="en-US" sz="1600" dirty="0">
                          <a:latin typeface="+mj-lt"/>
                          <a:ea typeface="黑体" panose="02010609060101010101" pitchFamily="49" charset="-122"/>
                        </a:rPr>
                        <a:t>易失性（</a:t>
                      </a:r>
                      <a:r>
                        <a:rPr lang="en-US" sz="1600" dirty="0">
                          <a:latin typeface="+mj-lt"/>
                          <a:ea typeface="黑体" panose="02010609060101010101" pitchFamily="49" charset="-122"/>
                        </a:rPr>
                        <a:t>SRAM） </a:t>
                      </a:r>
                    </a:p>
                  </a:txBody>
                  <a:tcPr marL="84807" marR="84807" marT="39688" marB="39688"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2"/>
                  </a:ext>
                </a:extLst>
              </a:tr>
              <a:tr h="1786312">
                <a:tc>
                  <a:txBody>
                    <a:bodyPr/>
                    <a:lstStyle/>
                    <a:p>
                      <a:r>
                        <a:rPr lang="zh-CN" altLang="en-US" sz="1600" dirty="0">
                          <a:latin typeface="黑体" panose="02010609060101010101" pitchFamily="49" charset="-122"/>
                          <a:ea typeface="黑体" panose="02010609060101010101" pitchFamily="49" charset="-122"/>
                        </a:rPr>
                        <a:t>特点 </a:t>
                      </a:r>
                    </a:p>
                  </a:txBody>
                  <a:tcPr marL="84807" marR="84807" marT="39688" marB="39688"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a:buFont typeface="Arial" panose="020B0604020202020204"/>
                        <a:buChar char="•"/>
                      </a:pPr>
                      <a:r>
                        <a:rPr lang="zh-CN" altLang="en-US" sz="1600" dirty="0">
                          <a:latin typeface="+mj-lt"/>
                          <a:ea typeface="黑体" panose="02010609060101010101" pitchFamily="49" charset="-122"/>
                        </a:rPr>
                        <a:t>非易失性 ：即使切断电源，电路上的数据也不会丢失 </a:t>
                      </a:r>
                    </a:p>
                    <a:p>
                      <a:pPr>
                        <a:buFont typeface="Arial" panose="020B0604020202020204"/>
                        <a:buChar char="•"/>
                      </a:pPr>
                      <a:r>
                        <a:rPr lang="zh-CN" altLang="en-US" sz="1600" dirty="0">
                          <a:latin typeface="+mj-lt"/>
                          <a:ea typeface="黑体" panose="02010609060101010101" pitchFamily="49" charset="-122"/>
                        </a:rPr>
                        <a:t>立即上电 ：上电后立即开始运作 </a:t>
                      </a:r>
                    </a:p>
                    <a:p>
                      <a:pPr>
                        <a:buFont typeface="Arial" panose="020B0604020202020204"/>
                        <a:buChar char="•"/>
                      </a:pPr>
                      <a:r>
                        <a:rPr lang="zh-CN" altLang="en-US" sz="1600" dirty="0">
                          <a:latin typeface="+mj-lt"/>
                          <a:ea typeface="黑体" panose="02010609060101010101" pitchFamily="49" charset="-122"/>
                        </a:rPr>
                        <a:t>可在单芯片上运作 </a:t>
                      </a:r>
                    </a:p>
                  </a:txBody>
                  <a:tcPr marL="84807" marR="84807" marT="39688" marB="39688">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a:buFont typeface="Arial" panose="020B0604020202020204"/>
                        <a:buChar char="•"/>
                      </a:pPr>
                      <a:r>
                        <a:rPr lang="zh-CN" altLang="en-US" sz="1600" dirty="0">
                          <a:latin typeface="+mj-lt"/>
                          <a:ea typeface="黑体" panose="02010609060101010101" pitchFamily="49" charset="-122"/>
                        </a:rPr>
                        <a:t>内建高性能硬宏功能 </a:t>
                      </a:r>
                    </a:p>
                    <a:p>
                      <a:pPr marL="742950" lvl="1" indent="-285750">
                        <a:buFont typeface="Courier New" panose="02070309020205020404"/>
                        <a:buChar char="o"/>
                      </a:pPr>
                      <a:r>
                        <a:rPr lang="en-US" altLang="zh-CN" sz="1600" dirty="0">
                          <a:latin typeface="+mj-lt"/>
                          <a:ea typeface="黑体" panose="02010609060101010101" pitchFamily="49" charset="-122"/>
                        </a:rPr>
                        <a:t>PLL</a:t>
                      </a:r>
                    </a:p>
                    <a:p>
                      <a:pPr marL="742950" lvl="1" indent="-285750">
                        <a:buFont typeface="Courier New" panose="02070309020205020404"/>
                        <a:buChar char="o"/>
                      </a:pPr>
                      <a:r>
                        <a:rPr lang="zh-CN" altLang="en-US" sz="1600" dirty="0">
                          <a:latin typeface="+mj-lt"/>
                          <a:ea typeface="黑体" panose="02010609060101010101" pitchFamily="49" charset="-122"/>
                        </a:rPr>
                        <a:t>存储器模块 </a:t>
                      </a:r>
                    </a:p>
                    <a:p>
                      <a:pPr marL="742950" lvl="1" indent="-285750">
                        <a:buFont typeface="Courier New" panose="02070309020205020404"/>
                        <a:buChar char="o"/>
                      </a:pPr>
                      <a:r>
                        <a:rPr lang="en-US" altLang="zh-CN" sz="1600" dirty="0">
                          <a:latin typeface="+mj-lt"/>
                          <a:ea typeface="黑体" panose="02010609060101010101" pitchFamily="49" charset="-122"/>
                        </a:rPr>
                        <a:t>DSP </a:t>
                      </a:r>
                      <a:r>
                        <a:rPr lang="zh-CN" altLang="en-US" sz="1600" dirty="0">
                          <a:latin typeface="+mj-lt"/>
                          <a:ea typeface="黑体" panose="02010609060101010101" pitchFamily="49" charset="-122"/>
                        </a:rPr>
                        <a:t>模块 </a:t>
                      </a:r>
                    </a:p>
                    <a:p>
                      <a:pPr>
                        <a:buFont typeface="Arial" panose="020B0604020202020204"/>
                        <a:buChar char="•"/>
                      </a:pPr>
                      <a:r>
                        <a:rPr lang="zh-CN" altLang="en-US" sz="1600" dirty="0">
                          <a:latin typeface="+mj-lt"/>
                          <a:ea typeface="黑体" panose="02010609060101010101" pitchFamily="49" charset="-122"/>
                        </a:rPr>
                        <a:t>用最先进的技术实现高集成度，高性能 </a:t>
                      </a:r>
                    </a:p>
                    <a:p>
                      <a:pPr>
                        <a:buFont typeface="Arial" panose="020B0604020202020204"/>
                        <a:buChar char="•"/>
                      </a:pPr>
                      <a:r>
                        <a:rPr lang="zh-CN" altLang="en-US" sz="1600" dirty="0">
                          <a:latin typeface="+mj-lt"/>
                          <a:ea typeface="黑体" panose="02010609060101010101" pitchFamily="49" charset="-122"/>
                        </a:rPr>
                        <a:t>需要外部配置</a:t>
                      </a:r>
                      <a:r>
                        <a:rPr lang="en-US" altLang="zh-CN" sz="1600" dirty="0">
                          <a:latin typeface="+mj-lt"/>
                          <a:ea typeface="黑体" panose="02010609060101010101" pitchFamily="49" charset="-122"/>
                        </a:rPr>
                        <a:t>ROM</a:t>
                      </a:r>
                    </a:p>
                  </a:txBody>
                  <a:tcPr marL="84807" marR="84807" marT="39688" marB="39688"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3"/>
                  </a:ext>
                </a:extLst>
              </a:tr>
              <a:tr h="810865">
                <a:tc>
                  <a:txBody>
                    <a:bodyPr/>
                    <a:lstStyle/>
                    <a:p>
                      <a:r>
                        <a:rPr lang="zh-CN" altLang="en-US" sz="1600" dirty="0">
                          <a:latin typeface="黑体" panose="02010609060101010101" pitchFamily="49" charset="-122"/>
                          <a:ea typeface="黑体" panose="02010609060101010101" pitchFamily="49" charset="-122"/>
                        </a:rPr>
                        <a:t>应用范围 </a:t>
                      </a:r>
                    </a:p>
                  </a:txBody>
                  <a:tcPr marL="84807" marR="84807" marT="39688" marB="39688"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zh-CN" altLang="en-US" sz="1600" dirty="0">
                          <a:latin typeface="+mj-lt"/>
                          <a:ea typeface="黑体" panose="02010609060101010101" pitchFamily="49" charset="-122"/>
                        </a:rPr>
                        <a:t>偏向于简单的控制通道应用以及胶合逻辑 </a:t>
                      </a:r>
                    </a:p>
                  </a:txBody>
                  <a:tcPr marL="84807" marR="84807" marT="39688" marB="39688"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zh-CN" altLang="en-US" sz="1600" dirty="0">
                          <a:latin typeface="+mj-lt"/>
                          <a:ea typeface="黑体" panose="02010609060101010101" pitchFamily="49" charset="-122"/>
                        </a:rPr>
                        <a:t>偏向于较复杂且高速的控制通道应用以及数据处理 </a:t>
                      </a:r>
                    </a:p>
                  </a:txBody>
                  <a:tcPr marL="84807" marR="84807" marT="39688" marB="39688"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4"/>
                  </a:ext>
                </a:extLst>
              </a:tr>
              <a:tr h="323224">
                <a:tc>
                  <a:txBody>
                    <a:bodyPr/>
                    <a:lstStyle/>
                    <a:p>
                      <a:r>
                        <a:rPr lang="zh-CN" altLang="en-US" sz="1600" dirty="0">
                          <a:latin typeface="黑体" panose="02010609060101010101" pitchFamily="49" charset="-122"/>
                          <a:ea typeface="黑体" panose="02010609060101010101" pitchFamily="49" charset="-122"/>
                        </a:rPr>
                        <a:t>集成度 </a:t>
                      </a:r>
                    </a:p>
                  </a:txBody>
                  <a:tcPr marL="84807" marR="84807" marT="39688" marB="39688"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zh-CN" altLang="en-US" sz="1600">
                          <a:latin typeface="+mj-lt"/>
                          <a:ea typeface="黑体" panose="02010609060101010101" pitchFamily="49" charset="-122"/>
                        </a:rPr>
                        <a:t>小</a:t>
                      </a:r>
                      <a:r>
                        <a:rPr lang="en-US" altLang="zh-CN" sz="1600">
                          <a:latin typeface="+mj-lt"/>
                          <a:ea typeface="黑体" panose="02010609060101010101" pitchFamily="49" charset="-122"/>
                        </a:rPr>
                        <a:t>~</a:t>
                      </a:r>
                      <a:r>
                        <a:rPr lang="zh-CN" altLang="en-US" sz="1600">
                          <a:latin typeface="+mj-lt"/>
                          <a:ea typeface="黑体" panose="02010609060101010101" pitchFamily="49" charset="-122"/>
                        </a:rPr>
                        <a:t>中规模 </a:t>
                      </a:r>
                    </a:p>
                  </a:txBody>
                  <a:tcPr marL="84807" marR="84807" marT="39688" marB="39688"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zh-CN" altLang="en-US" sz="1600" dirty="0">
                          <a:latin typeface="+mj-lt"/>
                          <a:ea typeface="黑体" panose="02010609060101010101" pitchFamily="49" charset="-122"/>
                        </a:rPr>
                        <a:t>中</a:t>
                      </a:r>
                      <a:r>
                        <a:rPr lang="en-US" altLang="zh-CN" sz="1600" dirty="0">
                          <a:latin typeface="+mj-lt"/>
                          <a:ea typeface="黑体" panose="02010609060101010101" pitchFamily="49" charset="-122"/>
                        </a:rPr>
                        <a:t>~</a:t>
                      </a:r>
                      <a:r>
                        <a:rPr lang="zh-CN" altLang="en-US" sz="1600" dirty="0">
                          <a:latin typeface="+mj-lt"/>
                          <a:ea typeface="黑体" panose="02010609060101010101" pitchFamily="49" charset="-122"/>
                        </a:rPr>
                        <a:t>大规模 </a:t>
                      </a:r>
                    </a:p>
                  </a:txBody>
                  <a:tcPr marL="84807" marR="84807" marT="39688" marB="39688"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5"/>
                  </a:ext>
                </a:extLst>
              </a:tr>
            </a:tbl>
          </a:graphicData>
        </a:graphic>
      </p:graphicFrame>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7243" y="150872"/>
            <a:ext cx="7529513" cy="792163"/>
          </a:xfrm>
        </p:spPr>
        <p:txBody>
          <a:bodyPr vert="horz" wrap="square" lIns="91440" tIns="45720" rIns="91440" bIns="45720" numCol="1" rtlCol="0"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1" lang="zh-CN" altLang="en-US" sz="4000" b="1" i="0" u="none" strike="noStrike" kern="0" cap="none" spc="0" normalizeH="0" baseline="0" noProof="0" dirty="0">
                <a:ln>
                  <a:noFill/>
                </a:ln>
                <a:solidFill>
                  <a:schemeClr val="tx2"/>
                </a:solidFill>
                <a:effectLst/>
                <a:uLnTx/>
                <a:uFillTx/>
                <a:latin typeface="+mn-lt"/>
                <a:ea typeface="+mj-ea"/>
                <a:cs typeface="+mj-cs"/>
              </a:rPr>
              <a:t>常用</a:t>
            </a:r>
            <a:r>
              <a:rPr kumimoji="1" lang="en-US" altLang="zh-CN" sz="4000" b="1" i="0" u="none" strike="noStrike" kern="0" cap="none" spc="0" normalizeH="0" baseline="0" noProof="0" dirty="0">
                <a:ln>
                  <a:noFill/>
                </a:ln>
                <a:solidFill>
                  <a:schemeClr val="tx2"/>
                </a:solidFill>
                <a:effectLst/>
                <a:uLnTx/>
                <a:uFillTx/>
                <a:latin typeface="+mn-lt"/>
                <a:ea typeface="+mj-ea"/>
                <a:cs typeface="+mj-cs"/>
              </a:rPr>
              <a:t>FPGA</a:t>
            </a:r>
            <a:r>
              <a:rPr kumimoji="1" lang="zh-CN" altLang="en-US" sz="4000" b="1" i="0" u="none" strike="noStrike" kern="0" cap="none" spc="0" normalizeH="0" baseline="0" noProof="0" dirty="0">
                <a:ln>
                  <a:noFill/>
                </a:ln>
                <a:solidFill>
                  <a:schemeClr val="tx2"/>
                </a:solidFill>
                <a:effectLst/>
                <a:uLnTx/>
                <a:uFillTx/>
                <a:latin typeface="+mn-lt"/>
                <a:ea typeface="+mj-ea"/>
                <a:cs typeface="+mj-cs"/>
              </a:rPr>
              <a:t>产品</a:t>
            </a:r>
            <a:endParaRPr kumimoji="1" lang="zh-CN" altLang="en-US" sz="4000" b="1" i="0" u="none" strike="noStrike" kern="0" cap="none" spc="0" normalizeH="0" baseline="0" noProof="0" dirty="0">
              <a:ln>
                <a:noFill/>
              </a:ln>
              <a:solidFill>
                <a:schemeClr val="tx2"/>
              </a:solidFill>
              <a:effectLst/>
              <a:uLnTx/>
              <a:uFillTx/>
              <a:latin typeface="+mj-lt"/>
              <a:ea typeface="+mj-ea"/>
              <a:cs typeface="+mj-cs"/>
            </a:endParaRPr>
          </a:p>
        </p:txBody>
      </p:sp>
      <p:pic>
        <p:nvPicPr>
          <p:cNvPr id="35842" name="Picture 4"/>
          <p:cNvPicPr>
            <a:picLocks noChangeAspect="1"/>
          </p:cNvPicPr>
          <p:nvPr/>
        </p:nvPicPr>
        <p:blipFill>
          <a:blip r:embed="rId3"/>
          <a:stretch>
            <a:fillRect/>
          </a:stretch>
        </p:blipFill>
        <p:spPr>
          <a:xfrm>
            <a:off x="1331913" y="1274763"/>
            <a:ext cx="6769100" cy="1866900"/>
          </a:xfrm>
          <a:prstGeom prst="rect">
            <a:avLst/>
          </a:prstGeom>
          <a:noFill/>
          <a:ln w="9525">
            <a:noFill/>
          </a:ln>
        </p:spPr>
      </p:pic>
      <p:sp>
        <p:nvSpPr>
          <p:cNvPr id="6" name="矩形 5"/>
          <p:cNvSpPr/>
          <p:nvPr/>
        </p:nvSpPr>
        <p:spPr>
          <a:xfrm>
            <a:off x="1116012" y="908050"/>
            <a:ext cx="5472211" cy="400110"/>
          </a:xfrm>
          <a:prstGeom prst="rect">
            <a:avLst/>
          </a:prstGeom>
        </p:spPr>
        <p:txBody>
          <a:bodyPr wrap="square">
            <a:spAutoFit/>
          </a:bodyPr>
          <a:lstStyle/>
          <a:p>
            <a:pPr marL="285750" marR="0" lvl="0" indent="-285750" algn="just" defTabSz="914400" rtl="0" eaLnBrk="1" fontAlgn="auto" latinLnBrk="0" hangingPunct="1">
              <a:lnSpc>
                <a:spcPct val="100000"/>
              </a:lnSpc>
              <a:spcBef>
                <a:spcPct val="0"/>
              </a:spcBef>
              <a:spcAft>
                <a:spcPts val="0"/>
              </a:spcAft>
              <a:buClrTx/>
              <a:buSzTx/>
              <a:buFont typeface="Wingdings" panose="05000000000000000000" pitchFamily="2" charset="2"/>
              <a:buChar char="n"/>
              <a:defRPr/>
            </a:pPr>
            <a:r>
              <a:rPr kumimoji="1" lang="en-US" altLang="zh-CN" sz="2000" b="1" i="0" u="none" strike="noStrike" kern="0" cap="none" spc="0" normalizeH="0" baseline="0" noProof="0" dirty="0">
                <a:ln>
                  <a:noFill/>
                </a:ln>
                <a:solidFill>
                  <a:schemeClr val="tx1"/>
                </a:solidFill>
                <a:effectLst/>
                <a:uLnTx/>
                <a:uFillTx/>
                <a:latin typeface="+mj-lt"/>
                <a:ea typeface="黑体" panose="02010609060101010101" pitchFamily="49" charset="-122"/>
                <a:cs typeface="+mn-cs"/>
              </a:rPr>
              <a:t>ALTERA</a:t>
            </a:r>
            <a:r>
              <a:rPr kumimoji="1" lang="zh-CN" altLang="en-US" sz="2000" b="1" i="0" u="none" strike="noStrike" kern="0" cap="none" spc="0" normalizeH="0" baseline="0" noProof="0" dirty="0">
                <a:ln>
                  <a:noFill/>
                </a:ln>
                <a:solidFill>
                  <a:schemeClr val="tx1"/>
                </a:solidFill>
                <a:effectLst/>
                <a:uLnTx/>
                <a:uFillTx/>
                <a:latin typeface="+mj-lt"/>
                <a:ea typeface="黑体" panose="02010609060101010101" pitchFamily="49" charset="-122"/>
                <a:cs typeface="+mn-cs"/>
              </a:rPr>
              <a:t>公司</a:t>
            </a:r>
            <a:r>
              <a:rPr kumimoji="1" lang="en-US" altLang="zh-CN" sz="2000" b="1" kern="0" dirty="0">
                <a:latin typeface="+mj-lt"/>
                <a:ea typeface="黑体" panose="02010609060101010101" pitchFamily="49" charset="-122"/>
              </a:rPr>
              <a:t>—</a:t>
            </a:r>
            <a:r>
              <a:rPr kumimoji="1" lang="zh-CN" altLang="en-US" sz="2000" b="1" kern="0" dirty="0">
                <a:latin typeface="+mj-lt"/>
                <a:ea typeface="黑体" panose="02010609060101010101" pitchFamily="49" charset="-122"/>
              </a:rPr>
              <a:t>已于</a:t>
            </a:r>
            <a:r>
              <a:rPr kumimoji="1" lang="en-US" altLang="zh-CN" sz="2000" b="1" kern="0" dirty="0">
                <a:latin typeface="+mj-lt"/>
                <a:ea typeface="黑体" panose="02010609060101010101" pitchFamily="49" charset="-122"/>
              </a:rPr>
              <a:t>2015</a:t>
            </a:r>
            <a:r>
              <a:rPr kumimoji="1" lang="zh-CN" altLang="en-US" sz="2000" b="1" kern="0" dirty="0">
                <a:latin typeface="+mj-lt"/>
                <a:ea typeface="黑体" panose="02010609060101010101" pitchFamily="49" charset="-122"/>
              </a:rPr>
              <a:t>年被</a:t>
            </a:r>
            <a:r>
              <a:rPr kumimoji="1" lang="en-US" altLang="zh-CN" sz="2000" b="1" kern="0" dirty="0">
                <a:latin typeface="+mj-lt"/>
                <a:ea typeface="黑体" panose="02010609060101010101" pitchFamily="49" charset="-122"/>
              </a:rPr>
              <a:t>intel</a:t>
            </a:r>
            <a:r>
              <a:rPr kumimoji="1" lang="zh-CN" altLang="en-US" sz="2000" b="1" kern="0" dirty="0">
                <a:latin typeface="+mj-lt"/>
                <a:ea typeface="黑体" panose="02010609060101010101" pitchFamily="49" charset="-122"/>
              </a:rPr>
              <a:t>收购</a:t>
            </a:r>
            <a:endParaRPr kumimoji="1" lang="en-US" altLang="zh-CN" sz="2000" b="1" i="0" u="none" strike="noStrike" kern="0" cap="none" spc="0" normalizeH="0" baseline="0" noProof="0" dirty="0">
              <a:ln>
                <a:noFill/>
              </a:ln>
              <a:solidFill>
                <a:schemeClr val="tx1"/>
              </a:solidFill>
              <a:effectLst/>
              <a:uLnTx/>
              <a:uFillTx/>
              <a:latin typeface="+mj-lt"/>
              <a:ea typeface="黑体" panose="02010609060101010101" pitchFamily="49" charset="-122"/>
              <a:cs typeface="+mn-cs"/>
            </a:endParaRPr>
          </a:p>
        </p:txBody>
      </p:sp>
      <p:pic>
        <p:nvPicPr>
          <p:cNvPr id="35844" name="Picture 5"/>
          <p:cNvPicPr>
            <a:picLocks noChangeAspect="1"/>
          </p:cNvPicPr>
          <p:nvPr/>
        </p:nvPicPr>
        <p:blipFill>
          <a:blip r:embed="rId4"/>
          <a:stretch>
            <a:fillRect/>
          </a:stretch>
        </p:blipFill>
        <p:spPr>
          <a:xfrm>
            <a:off x="1341438" y="3573463"/>
            <a:ext cx="5389562" cy="2379662"/>
          </a:xfrm>
          <a:prstGeom prst="rect">
            <a:avLst/>
          </a:prstGeom>
          <a:noFill/>
          <a:ln w="9525">
            <a:noFill/>
          </a:ln>
        </p:spPr>
      </p:pic>
      <p:sp>
        <p:nvSpPr>
          <p:cNvPr id="9" name="矩形 8"/>
          <p:cNvSpPr/>
          <p:nvPr/>
        </p:nvSpPr>
        <p:spPr>
          <a:xfrm>
            <a:off x="1116012" y="3235325"/>
            <a:ext cx="5614987" cy="400110"/>
          </a:xfrm>
          <a:prstGeom prst="rect">
            <a:avLst/>
          </a:prstGeom>
        </p:spPr>
        <p:txBody>
          <a:bodyPr wrap="square">
            <a:spAutoFit/>
          </a:bodyPr>
          <a:lstStyle/>
          <a:p>
            <a:pPr marL="285750" marR="0" lvl="0" indent="-285750" algn="just" defTabSz="914400" rtl="0" eaLnBrk="1" fontAlgn="auto" latinLnBrk="0" hangingPunct="1">
              <a:lnSpc>
                <a:spcPct val="100000"/>
              </a:lnSpc>
              <a:spcBef>
                <a:spcPct val="0"/>
              </a:spcBef>
              <a:spcAft>
                <a:spcPts val="0"/>
              </a:spcAft>
              <a:buClrTx/>
              <a:buSzTx/>
              <a:buFont typeface="Wingdings" panose="05000000000000000000" pitchFamily="2" charset="2"/>
              <a:buChar char="n"/>
              <a:defRPr/>
            </a:pPr>
            <a:r>
              <a:rPr kumimoji="1" lang="en-US" altLang="zh-CN" sz="2000" b="1" i="0" u="none" strike="noStrike" kern="0" cap="none" spc="0" normalizeH="0" baseline="0" noProof="0" dirty="0">
                <a:ln>
                  <a:noFill/>
                </a:ln>
                <a:solidFill>
                  <a:schemeClr val="tx1"/>
                </a:solidFill>
                <a:effectLst/>
                <a:uLnTx/>
                <a:uFillTx/>
                <a:latin typeface="+mj-lt"/>
                <a:ea typeface="黑体" panose="02010609060101010101" pitchFamily="49" charset="-122"/>
                <a:cs typeface="+mn-cs"/>
              </a:rPr>
              <a:t>XILINX</a:t>
            </a:r>
            <a:r>
              <a:rPr kumimoji="1" lang="zh-CN" altLang="en-US" sz="2000" b="1" i="0" u="none" strike="noStrike" kern="0" cap="none" spc="0" normalizeH="0" baseline="0" noProof="0" dirty="0">
                <a:ln>
                  <a:noFill/>
                </a:ln>
                <a:solidFill>
                  <a:schemeClr val="tx1"/>
                </a:solidFill>
                <a:effectLst/>
                <a:uLnTx/>
                <a:uFillTx/>
                <a:latin typeface="+mj-lt"/>
                <a:ea typeface="黑体" panose="02010609060101010101" pitchFamily="49" charset="-122"/>
                <a:cs typeface="+mn-cs"/>
              </a:rPr>
              <a:t>公司</a:t>
            </a:r>
            <a:r>
              <a:rPr kumimoji="1" lang="en-US" altLang="zh-CN" sz="2000" b="1" i="0" u="none" strike="noStrike" kern="0" cap="none" spc="0" normalizeH="0" baseline="0" noProof="0" dirty="0">
                <a:ln>
                  <a:noFill/>
                </a:ln>
                <a:solidFill>
                  <a:schemeClr val="tx1"/>
                </a:solidFill>
                <a:effectLst/>
                <a:uLnTx/>
                <a:uFillTx/>
                <a:latin typeface="+mj-lt"/>
                <a:ea typeface="黑体" panose="02010609060101010101" pitchFamily="49" charset="-122"/>
                <a:cs typeface="+mn-cs"/>
              </a:rPr>
              <a:t>——2020</a:t>
            </a:r>
            <a:r>
              <a:rPr kumimoji="1" lang="zh-CN" altLang="en-US" sz="2000" b="1" i="0" u="none" strike="noStrike" kern="0" cap="none" spc="0" normalizeH="0" baseline="0" noProof="0" dirty="0">
                <a:ln>
                  <a:noFill/>
                </a:ln>
                <a:solidFill>
                  <a:schemeClr val="tx1"/>
                </a:solidFill>
                <a:effectLst/>
                <a:uLnTx/>
                <a:uFillTx/>
                <a:latin typeface="+mj-lt"/>
                <a:ea typeface="黑体" panose="02010609060101010101" pitchFamily="49" charset="-122"/>
                <a:cs typeface="+mn-cs"/>
              </a:rPr>
              <a:t>年纳入</a:t>
            </a:r>
            <a:r>
              <a:rPr kumimoji="1" lang="en-US" altLang="zh-CN" sz="2000" b="1" i="0" u="none" strike="noStrike" kern="0" cap="none" spc="0" normalizeH="0" baseline="0" noProof="0" dirty="0">
                <a:ln>
                  <a:noFill/>
                </a:ln>
                <a:solidFill>
                  <a:schemeClr val="tx1"/>
                </a:solidFill>
                <a:effectLst/>
                <a:uLnTx/>
                <a:uFillTx/>
                <a:latin typeface="+mj-lt"/>
                <a:ea typeface="黑体" panose="02010609060101010101" pitchFamily="49" charset="-122"/>
                <a:cs typeface="+mn-cs"/>
              </a:rPr>
              <a:t>AMD</a:t>
            </a:r>
            <a:r>
              <a:rPr kumimoji="1" lang="zh-CN" altLang="en-US" sz="2000" b="1" i="0" u="none" strike="noStrike" kern="0" cap="none" spc="0" normalizeH="0" baseline="0" noProof="0" dirty="0">
                <a:ln>
                  <a:noFill/>
                </a:ln>
                <a:solidFill>
                  <a:schemeClr val="tx1"/>
                </a:solidFill>
                <a:effectLst/>
                <a:uLnTx/>
                <a:uFillTx/>
                <a:latin typeface="+mj-lt"/>
                <a:ea typeface="黑体" panose="02010609060101010101" pitchFamily="49" charset="-122"/>
                <a:cs typeface="+mn-cs"/>
              </a:rPr>
              <a:t>旗下</a:t>
            </a:r>
            <a:endParaRPr kumimoji="1" lang="en-US" altLang="zh-CN" sz="2000" b="1" i="0" u="none" strike="noStrike" kern="0" cap="none" spc="0" normalizeH="0" baseline="0" noProof="0" dirty="0">
              <a:ln>
                <a:noFill/>
              </a:ln>
              <a:solidFill>
                <a:schemeClr val="tx1"/>
              </a:solidFill>
              <a:effectLst/>
              <a:uLnTx/>
              <a:uFillTx/>
              <a:latin typeface="+mj-lt"/>
              <a:ea typeface="黑体" panose="02010609060101010101" pitchFamily="49" charset="-122"/>
              <a:cs typeface="+mn-cs"/>
            </a:endParaRPr>
          </a:p>
        </p:txBody>
      </p:sp>
      <p:sp>
        <p:nvSpPr>
          <p:cNvPr id="11" name="矩形 10"/>
          <p:cNvSpPr/>
          <p:nvPr/>
        </p:nvSpPr>
        <p:spPr>
          <a:xfrm>
            <a:off x="1187450" y="6015038"/>
            <a:ext cx="4572000" cy="400050"/>
          </a:xfrm>
          <a:prstGeom prst="rect">
            <a:avLst/>
          </a:prstGeom>
        </p:spPr>
        <p:txBody>
          <a:bodyPr>
            <a:spAutoFit/>
          </a:bodyPr>
          <a:lstStyle/>
          <a:p>
            <a:pPr marL="285750" marR="0" lvl="0" indent="-285750" algn="just" defTabSz="914400" rtl="0" eaLnBrk="1" fontAlgn="auto" latinLnBrk="0" hangingPunct="1">
              <a:lnSpc>
                <a:spcPct val="100000"/>
              </a:lnSpc>
              <a:spcBef>
                <a:spcPct val="0"/>
              </a:spcBef>
              <a:spcAft>
                <a:spcPts val="0"/>
              </a:spcAft>
              <a:buClrTx/>
              <a:buSzTx/>
              <a:buFont typeface="Wingdings" panose="05000000000000000000" pitchFamily="2" charset="2"/>
              <a:buChar char="n"/>
              <a:defRPr/>
            </a:pPr>
            <a:r>
              <a:rPr kumimoji="1" lang="en-US" altLang="zh-CN" sz="2000" b="1" i="0" u="none" strike="noStrike" kern="0" cap="none" spc="0" normalizeH="0" baseline="0" noProof="0" dirty="0">
                <a:ln>
                  <a:noFill/>
                </a:ln>
                <a:solidFill>
                  <a:schemeClr val="tx1"/>
                </a:solidFill>
                <a:effectLst/>
                <a:uLnTx/>
                <a:uFillTx/>
                <a:latin typeface="+mj-lt"/>
                <a:ea typeface="黑体" panose="02010609060101010101" pitchFamily="49" charset="-122"/>
                <a:cs typeface="+mn-cs"/>
              </a:rPr>
              <a:t>LATTICE</a:t>
            </a:r>
            <a:r>
              <a:rPr kumimoji="1" lang="zh-CN" altLang="en-US" sz="2000" b="1" i="0" u="none" strike="noStrike" kern="0" cap="none" spc="0" normalizeH="0" baseline="0" noProof="0" dirty="0">
                <a:ln>
                  <a:noFill/>
                </a:ln>
                <a:solidFill>
                  <a:schemeClr val="tx1"/>
                </a:solidFill>
                <a:effectLst/>
                <a:uLnTx/>
                <a:uFillTx/>
                <a:latin typeface="+mj-lt"/>
                <a:ea typeface="黑体" panose="02010609060101010101" pitchFamily="49" charset="-122"/>
                <a:cs typeface="+mn-cs"/>
              </a:rPr>
              <a:t>公司</a:t>
            </a:r>
            <a:endParaRPr kumimoji="1" lang="en-US" altLang="zh-CN" sz="2000" b="1" i="0" u="none" strike="noStrike" kern="0" cap="none" spc="0" normalizeH="0" baseline="0" noProof="0" dirty="0">
              <a:ln>
                <a:noFill/>
              </a:ln>
              <a:solidFill>
                <a:schemeClr val="tx1"/>
              </a:solidFill>
              <a:effectLst/>
              <a:uLnTx/>
              <a:uFillTx/>
              <a:latin typeface="+mj-lt"/>
              <a:ea typeface="黑体" panose="02010609060101010101" pitchFamily="49" charset="-122"/>
              <a:cs typeface="+mn-cs"/>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标题 1"/>
          <p:cNvSpPr>
            <a:spLocks noGrp="1"/>
          </p:cNvSpPr>
          <p:nvPr>
            <p:ph type="title"/>
          </p:nvPr>
        </p:nvSpPr>
        <p:spPr>
          <a:xfrm>
            <a:off x="900113" y="188913"/>
            <a:ext cx="7315200" cy="792162"/>
          </a:xfrm>
        </p:spPr>
        <p:txBody>
          <a:bodyPr vert="horz" wrap="square" lIns="91440" tIns="45720" rIns="91440" bIns="45720" anchor="b" anchorCtr="0"/>
          <a:lstStyle/>
          <a:p>
            <a:pPr algn="l" eaLnBrk="1" hangingPunct="1"/>
            <a:r>
              <a:rPr lang="en-US" altLang="zh-CN" dirty="0">
                <a:latin typeface="+mn-lt"/>
              </a:rPr>
              <a:t>FPGA</a:t>
            </a:r>
            <a:r>
              <a:rPr lang="zh-CN" altLang="en-US" dirty="0">
                <a:latin typeface="+mn-lt"/>
              </a:rPr>
              <a:t>的应用</a:t>
            </a:r>
          </a:p>
        </p:txBody>
      </p:sp>
      <p:sp>
        <p:nvSpPr>
          <p:cNvPr id="3" name="内容占位符 2" descr="Rectangle: Click to edit Master text styles&#10;Second level&#10;Third level&#10;Fourth level&#10;Fifth level"/>
          <p:cNvSpPr>
            <a:spLocks noGrp="1"/>
          </p:cNvSpPr>
          <p:nvPr>
            <p:ph idx="1"/>
          </p:nvPr>
        </p:nvSpPr>
        <p:spPr>
          <a:xfrm>
            <a:off x="900113" y="1196975"/>
            <a:ext cx="7843838" cy="4676775"/>
          </a:xfrm>
        </p:spPr>
        <p:txBody>
          <a:bodyPr vert="horz" wrap="square" lIns="91440" tIns="45720" rIns="91440" bIns="45720" numCol="1" rtlCol="0" anchor="t" anchorCtr="0" compatLnSpc="1">
            <a:normAutofit/>
          </a:bodyPr>
          <a:lstStyle/>
          <a:p>
            <a:pPr marL="342900" marR="0" lvl="0" indent="-342900" algn="l" defTabSz="914400" rtl="0" eaLnBrk="1" fontAlgn="auto" latinLnBrk="0" hangingPunct="1">
              <a:lnSpc>
                <a:spcPct val="100000"/>
              </a:lnSpc>
              <a:spcBef>
                <a:spcPct val="20000"/>
              </a:spcBef>
              <a:spcAft>
                <a:spcPts val="0"/>
              </a:spcAft>
              <a:buClr>
                <a:schemeClr val="hlink"/>
              </a:buClr>
              <a:buSzPct val="110000"/>
              <a:buFont typeface="Wingdings" panose="05000000000000000000" pitchFamily="2" charset="2"/>
              <a:buBlip>
                <a:blip r:embed="rId3"/>
              </a:buBlip>
              <a:defRPr/>
            </a:pPr>
            <a:r>
              <a:rPr kumimoji="1" lang="zh-CN" altLang="en-US" sz="2800" b="0" i="0" u="none" strike="noStrike" kern="0" cap="none" spc="0" normalizeH="0" baseline="0" noProof="0" dirty="0">
                <a:ln>
                  <a:noFill/>
                </a:ln>
                <a:solidFill>
                  <a:srgbClr val="4B51A5"/>
                </a:solidFill>
                <a:effectLst/>
                <a:uLnTx/>
                <a:uFillTx/>
                <a:latin typeface="+mn-lt"/>
                <a:ea typeface="+mn-ea"/>
                <a:cs typeface="+mn-cs"/>
              </a:rPr>
              <a:t>如下图所示，</a:t>
            </a:r>
            <a:r>
              <a:rPr kumimoji="1" lang="en-US" altLang="zh-CN" sz="2800" b="0" i="0" u="none" strike="noStrike" kern="0" cap="none" spc="0" normalizeH="0" baseline="0" noProof="0" dirty="0">
                <a:ln>
                  <a:noFill/>
                </a:ln>
                <a:solidFill>
                  <a:srgbClr val="4B51A5"/>
                </a:solidFill>
                <a:effectLst/>
                <a:uLnTx/>
                <a:uFillTx/>
                <a:latin typeface="+mn-lt"/>
                <a:ea typeface="+mn-ea"/>
                <a:cs typeface="+mn-cs"/>
              </a:rPr>
              <a:t>FPGA</a:t>
            </a:r>
            <a:r>
              <a:rPr kumimoji="1" lang="zh-CN" altLang="en-US" sz="2800" b="0" i="0" u="none" strike="noStrike" kern="0" cap="none" spc="0" normalizeH="0" baseline="0" noProof="0" dirty="0">
                <a:ln>
                  <a:noFill/>
                </a:ln>
                <a:solidFill>
                  <a:srgbClr val="4B51A5"/>
                </a:solidFill>
                <a:effectLst/>
                <a:uLnTx/>
                <a:uFillTx/>
                <a:latin typeface="+mn-lt"/>
                <a:ea typeface="+mn-ea"/>
                <a:cs typeface="+mn-cs"/>
              </a:rPr>
              <a:t>被广泛地使用在通讯基站、大型路由器等高端网络设备，以及显示器</a:t>
            </a:r>
            <a:r>
              <a:rPr kumimoji="1" lang="en-US" altLang="zh-CN" sz="2800" b="0" i="0" u="none" strike="noStrike" kern="0" cap="none" spc="0" normalizeH="0" baseline="0" noProof="0" dirty="0">
                <a:ln>
                  <a:noFill/>
                </a:ln>
                <a:solidFill>
                  <a:srgbClr val="4B51A5"/>
                </a:solidFill>
                <a:effectLst/>
                <a:uLnTx/>
                <a:uFillTx/>
                <a:latin typeface="+mn-lt"/>
                <a:ea typeface="+mn-ea"/>
                <a:cs typeface="+mn-cs"/>
              </a:rPr>
              <a:t>(</a:t>
            </a:r>
            <a:r>
              <a:rPr kumimoji="1" lang="zh-CN" altLang="en-US" sz="2800" b="0" i="0" u="none" strike="noStrike" kern="0" cap="none" spc="0" normalizeH="0" baseline="0" noProof="0" dirty="0">
                <a:ln>
                  <a:noFill/>
                </a:ln>
                <a:solidFill>
                  <a:srgbClr val="4B51A5"/>
                </a:solidFill>
                <a:effectLst/>
                <a:uLnTx/>
                <a:uFillTx/>
                <a:latin typeface="+mn-lt"/>
                <a:ea typeface="+mn-ea"/>
                <a:cs typeface="+mn-cs"/>
              </a:rPr>
              <a:t>电视</a:t>
            </a:r>
            <a:r>
              <a:rPr kumimoji="1" lang="en-US" altLang="zh-CN" sz="2800" b="0" i="0" u="none" strike="noStrike" kern="0" cap="none" spc="0" normalizeH="0" baseline="0" noProof="0" dirty="0">
                <a:ln>
                  <a:noFill/>
                </a:ln>
                <a:solidFill>
                  <a:srgbClr val="4B51A5"/>
                </a:solidFill>
                <a:effectLst/>
                <a:uLnTx/>
                <a:uFillTx/>
                <a:latin typeface="+mn-lt"/>
                <a:ea typeface="+mn-ea"/>
                <a:cs typeface="+mn-cs"/>
              </a:rPr>
              <a:t>)</a:t>
            </a:r>
            <a:r>
              <a:rPr kumimoji="1" lang="zh-CN" altLang="en-US" sz="2800" b="0" i="0" u="none" strike="noStrike" kern="0" cap="none" spc="0" normalizeH="0" baseline="0" noProof="0" dirty="0">
                <a:ln>
                  <a:noFill/>
                </a:ln>
                <a:solidFill>
                  <a:srgbClr val="4B51A5"/>
                </a:solidFill>
                <a:effectLst/>
                <a:uLnTx/>
                <a:uFillTx/>
                <a:latin typeface="+mn-lt"/>
                <a:ea typeface="+mn-ea"/>
                <a:cs typeface="+mn-cs"/>
              </a:rPr>
              <a:t>、投影仪等日常家用电器里。</a:t>
            </a:r>
            <a:r>
              <a:rPr kumimoji="1" lang="zh-CN" altLang="en-US" sz="2800" b="1" i="0" u="none" strike="noStrike" kern="0" cap="none" spc="0" normalizeH="0" baseline="0" noProof="0" dirty="0">
                <a:ln>
                  <a:noFill/>
                </a:ln>
                <a:solidFill>
                  <a:srgbClr val="4B51A5"/>
                </a:solidFill>
                <a:effectLst/>
                <a:uLnTx/>
                <a:uFillTx/>
                <a:latin typeface="+mn-lt"/>
                <a:ea typeface="+mn-ea"/>
                <a:cs typeface="+mn-cs"/>
              </a:rPr>
              <a:t> </a:t>
            </a:r>
            <a:endParaRPr kumimoji="1" lang="zh-CN" altLang="en-US" sz="2800" b="0" i="0" u="none" strike="noStrike" kern="0" cap="none" spc="0" normalizeH="0" baseline="0" noProof="0" dirty="0">
              <a:ln>
                <a:noFill/>
              </a:ln>
              <a:solidFill>
                <a:srgbClr val="4B51A5"/>
              </a:solidFill>
              <a:effectLst/>
              <a:uLnTx/>
              <a:uFillTx/>
              <a:latin typeface="+mn-lt"/>
              <a:ea typeface="+mn-ea"/>
              <a:cs typeface="+mn-cs"/>
            </a:endParaRPr>
          </a:p>
          <a:p>
            <a:pPr marL="0" marR="0" lvl="0" indent="0" algn="l" defTabSz="914400" rtl="0" eaLnBrk="1" fontAlgn="auto" latinLnBrk="0" hangingPunct="1">
              <a:lnSpc>
                <a:spcPct val="100000"/>
              </a:lnSpc>
              <a:spcBef>
                <a:spcPct val="20000"/>
              </a:spcBef>
              <a:spcAft>
                <a:spcPts val="0"/>
              </a:spcAft>
              <a:buClr>
                <a:schemeClr val="hlink"/>
              </a:buClr>
              <a:buSzPct val="110000"/>
              <a:buFont typeface="Arial" panose="020B0604020202020204" pitchFamily="34" charset="0"/>
              <a:buNone/>
              <a:defRPr/>
            </a:pPr>
            <a:endParaRPr kumimoji="1" lang="zh-CN" altLang="en-US" sz="3600" b="0" i="0" u="none" strike="noStrike" kern="0" cap="none" spc="0" normalizeH="0" baseline="0" noProof="0" dirty="0">
              <a:ln>
                <a:noFill/>
              </a:ln>
              <a:solidFill>
                <a:srgbClr val="4B51A5"/>
              </a:solidFill>
              <a:effectLst/>
              <a:uLnTx/>
              <a:uFillTx/>
              <a:latin typeface="+mn-lt"/>
              <a:ea typeface="+mn-ea"/>
              <a:cs typeface="+mn-cs"/>
            </a:endParaRPr>
          </a:p>
        </p:txBody>
      </p:sp>
      <p:pic>
        <p:nvPicPr>
          <p:cNvPr id="46083" name="Picture 2" descr="FPGA/CPLD的使用范围"/>
          <p:cNvPicPr>
            <a:picLocks noChangeAspect="1"/>
          </p:cNvPicPr>
          <p:nvPr/>
        </p:nvPicPr>
        <p:blipFill>
          <a:blip r:embed="rId4"/>
          <a:stretch>
            <a:fillRect/>
          </a:stretch>
        </p:blipFill>
        <p:spPr>
          <a:xfrm>
            <a:off x="1835150" y="2636838"/>
            <a:ext cx="5473700" cy="3459162"/>
          </a:xfrm>
          <a:prstGeom prst="rect">
            <a:avLst/>
          </a:prstGeom>
          <a:noFill/>
          <a:ln w="9525">
            <a:noFill/>
          </a:ln>
        </p:spPr>
      </p:pic>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p:cNvSpPr>
          <p:nvPr>
            <p:ph type="title"/>
          </p:nvPr>
        </p:nvSpPr>
        <p:spPr>
          <a:xfrm>
            <a:off x="900113" y="188913"/>
            <a:ext cx="4895850" cy="792162"/>
          </a:xfrm>
        </p:spPr>
        <p:txBody>
          <a:bodyPr vert="horz" wrap="square" lIns="91440" tIns="45720" rIns="91440" bIns="45720" anchor="b" anchorCtr="0"/>
          <a:lstStyle/>
          <a:p>
            <a:pPr eaLnBrk="1" hangingPunct="1"/>
            <a:r>
              <a:rPr lang="zh-CN" altLang="en-US" dirty="0"/>
              <a:t>几个专用名词的介绍</a:t>
            </a:r>
          </a:p>
        </p:txBody>
      </p:sp>
      <p:sp>
        <p:nvSpPr>
          <p:cNvPr id="11266" name="Rectangle 3" descr="Rectangle: Click to edit Master text styles&#10;Second level&#10;Third level&#10;Fourth level&#10;Fifth level"/>
          <p:cNvSpPr>
            <a:spLocks noGrp="1"/>
          </p:cNvSpPr>
          <p:nvPr>
            <p:ph idx="1"/>
          </p:nvPr>
        </p:nvSpPr>
        <p:spPr/>
        <p:txBody>
          <a:bodyPr vert="horz" wrap="square" lIns="91440" tIns="45720" rIns="91440" bIns="45720" anchor="t" anchorCtr="0"/>
          <a:lstStyle/>
          <a:p>
            <a:pPr eaLnBrk="1" hangingPunct="1"/>
            <a:r>
              <a:rPr lang="en-US" altLang="zh-CN" sz="3200" dirty="0"/>
              <a:t>HDL (</a:t>
            </a:r>
            <a:r>
              <a:rPr lang="en-US" altLang="zh-CN" sz="2800" dirty="0"/>
              <a:t>Hardware Description Language</a:t>
            </a:r>
            <a:r>
              <a:rPr lang="en-US" altLang="zh-CN" sz="3200" dirty="0"/>
              <a:t>)</a:t>
            </a:r>
          </a:p>
          <a:p>
            <a:pPr eaLnBrk="1" hangingPunct="1">
              <a:lnSpc>
                <a:spcPct val="150000"/>
              </a:lnSpc>
              <a:spcBef>
                <a:spcPts val="0"/>
              </a:spcBef>
              <a:buNone/>
            </a:pPr>
            <a:r>
              <a:rPr lang="en-US" altLang="zh-CN" sz="3200" dirty="0"/>
              <a:t>   </a:t>
            </a:r>
            <a:r>
              <a:rPr lang="zh-CN" altLang="en-US" sz="3200" dirty="0"/>
              <a:t>硬件描述语言</a:t>
            </a:r>
            <a:r>
              <a:rPr lang="en-US" altLang="zh-CN" sz="3200" dirty="0"/>
              <a:t>.</a:t>
            </a:r>
            <a:r>
              <a:rPr lang="zh-CN" altLang="en-US" sz="3200" dirty="0"/>
              <a:t>是对电子系统硬件进行行为描述、结构描述、数据流描述的语言</a:t>
            </a:r>
            <a:r>
              <a:rPr lang="en-US" altLang="zh-CN" sz="3200" dirty="0"/>
              <a:t>.</a:t>
            </a:r>
            <a:r>
              <a:rPr lang="zh-CN" altLang="en-US" sz="3200" dirty="0"/>
              <a:t>是</a:t>
            </a:r>
            <a:r>
              <a:rPr lang="en-US" altLang="zh-CN" sz="3200" dirty="0"/>
              <a:t>EDA</a:t>
            </a:r>
            <a:r>
              <a:rPr lang="zh-CN" altLang="en-US" sz="3200" dirty="0"/>
              <a:t>的重要组成部分</a:t>
            </a:r>
            <a:r>
              <a:rPr lang="en-US" altLang="zh-CN" sz="3200" dirty="0"/>
              <a:t>.</a:t>
            </a:r>
            <a:r>
              <a:rPr lang="zh-CN" altLang="en-US" sz="3200" dirty="0"/>
              <a:t>流行的</a:t>
            </a:r>
            <a:r>
              <a:rPr lang="en-US" altLang="zh-CN" sz="3200" dirty="0"/>
              <a:t>HDL</a:t>
            </a:r>
            <a:r>
              <a:rPr lang="zh-CN" altLang="en-US" sz="3200" dirty="0"/>
              <a:t>包括</a:t>
            </a:r>
            <a:r>
              <a:rPr lang="en-US" altLang="zh-CN" sz="3200" dirty="0"/>
              <a:t>VHDL</a:t>
            </a:r>
            <a:r>
              <a:rPr lang="zh-CN" altLang="en-US" sz="3200" dirty="0"/>
              <a:t>和</a:t>
            </a:r>
            <a:r>
              <a:rPr lang="en-US" altLang="zh-CN" sz="3200" dirty="0"/>
              <a:t>Verilog-HDL,</a:t>
            </a:r>
            <a:r>
              <a:rPr lang="zh-CN" altLang="en-US" sz="3200" dirty="0"/>
              <a:t>都是</a:t>
            </a:r>
            <a:r>
              <a:rPr lang="en-US" altLang="zh-CN" sz="3200" dirty="0"/>
              <a:t>IEEE</a:t>
            </a:r>
            <a:r>
              <a:rPr lang="zh-CN" altLang="en-US" sz="3200" dirty="0"/>
              <a:t>的</a:t>
            </a:r>
            <a:r>
              <a:rPr lang="en-US" altLang="zh-CN" sz="3200" dirty="0"/>
              <a:t>HDL</a:t>
            </a:r>
            <a:r>
              <a:rPr lang="zh-CN" altLang="en-US" sz="3200" dirty="0"/>
              <a:t>标准</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900113" y="188913"/>
            <a:ext cx="7386638" cy="792163"/>
          </a:xfrm>
        </p:spPr>
        <p:txBody>
          <a:bodyPr vert="horz" wrap="square" lIns="91440" tIns="45720" rIns="91440" bIns="45720" numCol="1" rtlCol="0"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1" lang="en-US" altLang="zh-CN" sz="4000" b="1" i="0" u="none" strike="noStrike" kern="0" cap="none" spc="0" normalizeH="0" baseline="0" noProof="0" dirty="0">
                <a:ln>
                  <a:noFill/>
                </a:ln>
                <a:solidFill>
                  <a:schemeClr val="tx2"/>
                </a:solidFill>
                <a:effectLst/>
                <a:uLnTx/>
                <a:uFillTx/>
                <a:latin typeface="+mj-lt"/>
                <a:ea typeface="+mj-ea"/>
                <a:cs typeface="+mj-cs"/>
              </a:rPr>
              <a:t>Verilog</a:t>
            </a:r>
            <a:r>
              <a:rPr kumimoji="1" lang="zh-CN" altLang="en-US" sz="4000" b="1" i="0" u="none" strike="noStrike" kern="0" cap="none" spc="0" normalizeH="0" baseline="0" noProof="0" dirty="0">
                <a:ln>
                  <a:noFill/>
                </a:ln>
                <a:solidFill>
                  <a:schemeClr val="tx2"/>
                </a:solidFill>
                <a:effectLst/>
                <a:uLnTx/>
                <a:uFillTx/>
                <a:latin typeface="+mj-lt"/>
                <a:ea typeface="+mj-ea"/>
                <a:cs typeface="+mj-cs"/>
              </a:rPr>
              <a:t>与</a:t>
            </a:r>
            <a:r>
              <a:rPr kumimoji="1" lang="en-US" altLang="zh-CN" sz="4000" b="1" i="0" u="none" strike="noStrike" kern="0" cap="none" spc="0" normalizeH="0" baseline="0" noProof="0" dirty="0">
                <a:ln>
                  <a:noFill/>
                </a:ln>
                <a:solidFill>
                  <a:schemeClr val="tx2"/>
                </a:solidFill>
                <a:effectLst/>
                <a:uLnTx/>
                <a:uFillTx/>
                <a:latin typeface="+mj-lt"/>
                <a:ea typeface="+mj-ea"/>
                <a:cs typeface="+mj-cs"/>
              </a:rPr>
              <a:t>VHDL</a:t>
            </a:r>
            <a:r>
              <a:rPr kumimoji="1" lang="zh-CN" altLang="en-US" sz="4000" b="1" i="0" u="none" strike="noStrike" kern="0" cap="none" spc="0" normalizeH="0" baseline="0" noProof="0" dirty="0">
                <a:ln>
                  <a:noFill/>
                </a:ln>
                <a:solidFill>
                  <a:schemeClr val="tx2"/>
                </a:solidFill>
                <a:effectLst/>
                <a:uLnTx/>
                <a:uFillTx/>
                <a:latin typeface="+mj-lt"/>
                <a:ea typeface="+mj-ea"/>
                <a:cs typeface="+mj-cs"/>
              </a:rPr>
              <a:t>比较</a:t>
            </a:r>
          </a:p>
        </p:txBody>
      </p:sp>
      <p:sp>
        <p:nvSpPr>
          <p:cNvPr id="6" name="矩形 5"/>
          <p:cNvSpPr/>
          <p:nvPr/>
        </p:nvSpPr>
        <p:spPr>
          <a:xfrm>
            <a:off x="755576" y="1060485"/>
            <a:ext cx="7993063" cy="5893921"/>
          </a:xfrm>
          <a:prstGeom prst="rect">
            <a:avLst/>
          </a:prstGeom>
        </p:spPr>
        <p:txBody>
          <a:bodyPr wrap="square">
            <a:spAutoFit/>
          </a:bodyPr>
          <a:lstStyle/>
          <a:p>
            <a:pPr marL="342900" marR="0" lvl="0" indent="-342900" algn="l" defTabSz="914400" rtl="0" eaLnBrk="1" fontAlgn="base" latinLnBrk="0" hangingPunct="1">
              <a:lnSpc>
                <a:spcPct val="100000"/>
              </a:lnSpc>
              <a:spcBef>
                <a:spcPct val="20000"/>
              </a:spcBef>
              <a:spcAft>
                <a:spcPct val="0"/>
              </a:spcAft>
              <a:buClr>
                <a:srgbClr val="6F89F7"/>
              </a:buClr>
              <a:buSzPct val="110000"/>
              <a:buFont typeface="Wingdings" panose="05000000000000000000" pitchFamily="2" charset="2"/>
              <a:buBlip>
                <a:blip r:embed="rId3"/>
              </a:buBlip>
              <a:tabLst/>
              <a:defRPr/>
            </a:pPr>
            <a:r>
              <a:rPr kumimoji="1" lang="en-US" altLang="zh-CN" sz="3200" b="0" i="0" u="none" strike="noStrike" kern="0" cap="none" spc="0" normalizeH="0" baseline="0" noProof="0" dirty="0">
                <a:ln>
                  <a:noFill/>
                </a:ln>
                <a:solidFill>
                  <a:srgbClr val="4B51A5"/>
                </a:solidFill>
                <a:effectLst/>
                <a:uLnTx/>
                <a:uFillTx/>
                <a:latin typeface="Tahoma"/>
                <a:ea typeface="楷体_GB2312"/>
                <a:cs typeface="+mn-cs"/>
              </a:rPr>
              <a:t>Verilog</a:t>
            </a:r>
            <a:r>
              <a:rPr kumimoji="1" lang="zh-CN" altLang="en-US" sz="3200" b="0" i="0" u="none" strike="noStrike" kern="0" cap="none" spc="0" normalizeH="0" baseline="0" noProof="0" dirty="0">
                <a:ln>
                  <a:noFill/>
                </a:ln>
                <a:solidFill>
                  <a:srgbClr val="4B51A5"/>
                </a:solidFill>
                <a:effectLst/>
                <a:uLnTx/>
                <a:uFillTx/>
                <a:latin typeface="Tahoma"/>
                <a:ea typeface="楷体_GB2312"/>
                <a:cs typeface="+mn-cs"/>
              </a:rPr>
              <a:t>与</a:t>
            </a:r>
            <a:r>
              <a:rPr kumimoji="1" lang="en-US" altLang="zh-CN" sz="3200" b="0" i="0" u="none" strike="noStrike" kern="0" cap="none" spc="0" normalizeH="0" baseline="0" noProof="0" dirty="0">
                <a:ln>
                  <a:noFill/>
                </a:ln>
                <a:solidFill>
                  <a:srgbClr val="4B51A5"/>
                </a:solidFill>
                <a:effectLst/>
                <a:uLnTx/>
                <a:uFillTx/>
                <a:latin typeface="Tahoma"/>
                <a:ea typeface="楷体_GB2312"/>
                <a:cs typeface="+mn-cs"/>
              </a:rPr>
              <a:t>VHDL</a:t>
            </a:r>
            <a:r>
              <a:rPr kumimoji="1" lang="zh-CN" altLang="en-US" sz="3200" b="0" i="0" u="none" strike="noStrike" kern="0" cap="none" spc="0" normalizeH="0" baseline="0" noProof="0" dirty="0">
                <a:ln>
                  <a:noFill/>
                </a:ln>
                <a:solidFill>
                  <a:srgbClr val="4B51A5"/>
                </a:solidFill>
                <a:effectLst/>
                <a:uLnTx/>
                <a:uFillTx/>
                <a:latin typeface="Tahoma"/>
                <a:ea typeface="楷体_GB2312"/>
                <a:cs typeface="+mn-cs"/>
              </a:rPr>
              <a:t>是目前最常用的硬件描述语言，都是</a:t>
            </a:r>
            <a:r>
              <a:rPr kumimoji="1" lang="en-US" altLang="zh-CN" sz="3200" b="0" i="0" u="none" strike="noStrike" kern="0" cap="none" spc="0" normalizeH="0" baseline="0" noProof="0" dirty="0">
                <a:ln>
                  <a:noFill/>
                </a:ln>
                <a:solidFill>
                  <a:srgbClr val="4B51A5"/>
                </a:solidFill>
                <a:effectLst/>
                <a:uLnTx/>
                <a:uFillTx/>
                <a:latin typeface="Tahoma"/>
                <a:ea typeface="楷体_GB2312"/>
                <a:cs typeface="+mn-cs"/>
              </a:rPr>
              <a:t>IEEE</a:t>
            </a:r>
            <a:r>
              <a:rPr kumimoji="1" lang="zh-CN" altLang="en-US" sz="3200" b="0" i="0" u="none" strike="noStrike" kern="0" cap="none" spc="0" normalizeH="0" baseline="0" noProof="0" dirty="0">
                <a:ln>
                  <a:noFill/>
                </a:ln>
                <a:solidFill>
                  <a:srgbClr val="4B51A5"/>
                </a:solidFill>
                <a:effectLst/>
                <a:uLnTx/>
                <a:uFillTx/>
                <a:latin typeface="Tahoma"/>
                <a:ea typeface="楷体_GB2312"/>
                <a:cs typeface="+mn-cs"/>
              </a:rPr>
              <a:t>标准，他们有以下几点不同：</a:t>
            </a:r>
          </a:p>
          <a:p>
            <a:pPr marL="565200" lvl="2" indent="-457200" algn="just" fontAlgn="auto">
              <a:spcBef>
                <a:spcPts val="1200"/>
              </a:spcBef>
              <a:spcAft>
                <a:spcPts val="600"/>
              </a:spcAft>
              <a:buClr>
                <a:schemeClr val="tx1"/>
              </a:buClr>
              <a:buSzPct val="90000"/>
              <a:buFont typeface="Wingdings" panose="05000000000000000000" pitchFamily="2" charset="2"/>
              <a:buChar char="p"/>
              <a:defRPr/>
            </a:pPr>
            <a:r>
              <a:rPr kumimoji="1" lang="zh-CN" altLang="en-US" sz="3200" kern="0" dirty="0">
                <a:solidFill>
                  <a:srgbClr val="4B51A5"/>
                </a:solidFill>
                <a:latin typeface="+mn-lt"/>
                <a:ea typeface="+mn-ea"/>
                <a:sym typeface="+mn-ea"/>
              </a:rPr>
              <a:t>从推出过程来看，</a:t>
            </a:r>
            <a:r>
              <a:rPr kumimoji="1" lang="en-US" altLang="zh-CN" sz="3200" kern="0" dirty="0">
                <a:solidFill>
                  <a:srgbClr val="4B51A5"/>
                </a:solidFill>
                <a:latin typeface="+mn-lt"/>
                <a:ea typeface="+mn-ea"/>
                <a:sym typeface="+mn-ea"/>
              </a:rPr>
              <a:t>VHDL</a:t>
            </a:r>
            <a:r>
              <a:rPr kumimoji="1" lang="zh-CN" altLang="en-US" sz="3200" kern="0" dirty="0">
                <a:solidFill>
                  <a:srgbClr val="4B51A5"/>
                </a:solidFill>
                <a:latin typeface="+mn-lt"/>
                <a:ea typeface="+mn-ea"/>
                <a:sym typeface="+mn-ea"/>
              </a:rPr>
              <a:t>最开始由美国国防部主导开发，偏重于标准化的考虑，而</a:t>
            </a:r>
            <a:r>
              <a:rPr kumimoji="1" lang="en-US" altLang="zh-CN" sz="3200" kern="0" dirty="0">
                <a:solidFill>
                  <a:srgbClr val="4B51A5"/>
                </a:solidFill>
                <a:latin typeface="+mn-lt"/>
                <a:ea typeface="+mn-ea"/>
                <a:sym typeface="+mn-ea"/>
              </a:rPr>
              <a:t>Verilog</a:t>
            </a:r>
            <a:r>
              <a:rPr kumimoji="1" lang="zh-CN" altLang="en-US" sz="3200" kern="0" dirty="0">
                <a:solidFill>
                  <a:srgbClr val="4B51A5"/>
                </a:solidFill>
                <a:latin typeface="+mn-lt"/>
                <a:ea typeface="+mn-ea"/>
                <a:sym typeface="+mn-ea"/>
              </a:rPr>
              <a:t>由商用公司开发推广，与</a:t>
            </a:r>
            <a:r>
              <a:rPr kumimoji="1" lang="en-US" altLang="zh-CN" sz="3200" kern="0" dirty="0">
                <a:solidFill>
                  <a:srgbClr val="4B51A5"/>
                </a:solidFill>
                <a:latin typeface="+mn-lt"/>
                <a:ea typeface="+mn-ea"/>
                <a:sym typeface="+mn-ea"/>
              </a:rPr>
              <a:t>EDA</a:t>
            </a:r>
            <a:r>
              <a:rPr kumimoji="1" lang="zh-CN" altLang="en-US" sz="3200" kern="0" dirty="0">
                <a:solidFill>
                  <a:srgbClr val="4B51A5"/>
                </a:solidFill>
                <a:latin typeface="+mn-lt"/>
                <a:ea typeface="+mn-ea"/>
                <a:sym typeface="+mn-ea"/>
              </a:rPr>
              <a:t>设计软件结合更加紧密。</a:t>
            </a:r>
            <a:endParaRPr kumimoji="1" lang="en-US" altLang="zh-CN" sz="3200" kern="0" dirty="0">
              <a:solidFill>
                <a:srgbClr val="4B51A5"/>
              </a:solidFill>
              <a:latin typeface="+mn-lt"/>
              <a:ea typeface="+mn-ea"/>
              <a:sym typeface="+mn-ea"/>
            </a:endParaRPr>
          </a:p>
          <a:p>
            <a:pPr marL="565200" lvl="2" indent="-457200" algn="just" fontAlgn="auto">
              <a:spcBef>
                <a:spcPts val="1200"/>
              </a:spcBef>
              <a:spcAft>
                <a:spcPts val="600"/>
              </a:spcAft>
              <a:buClr>
                <a:schemeClr val="tx1"/>
              </a:buClr>
              <a:buSzPct val="90000"/>
              <a:buFont typeface="Wingdings" panose="05000000000000000000" pitchFamily="2" charset="2"/>
              <a:buChar char="p"/>
              <a:defRPr/>
            </a:pPr>
            <a:r>
              <a:rPr kumimoji="1" lang="en-US" altLang="zh-CN" sz="3200" kern="0" dirty="0">
                <a:solidFill>
                  <a:srgbClr val="4B51A5"/>
                </a:solidFill>
                <a:latin typeface="+mn-lt"/>
                <a:ea typeface="+mn-ea"/>
                <a:sym typeface="+mn-ea"/>
              </a:rPr>
              <a:t>Verilog</a:t>
            </a:r>
            <a:r>
              <a:rPr kumimoji="1" lang="zh-CN" altLang="en-US" sz="3200" kern="0" dirty="0">
                <a:solidFill>
                  <a:srgbClr val="4B51A5"/>
                </a:solidFill>
                <a:latin typeface="+mn-lt"/>
                <a:ea typeface="+mn-ea"/>
                <a:sym typeface="+mn-ea"/>
              </a:rPr>
              <a:t>语言标准化晚于</a:t>
            </a:r>
            <a:r>
              <a:rPr kumimoji="1" lang="en-US" altLang="zh-CN" sz="3200" kern="0" dirty="0">
                <a:solidFill>
                  <a:srgbClr val="4B51A5"/>
                </a:solidFill>
                <a:latin typeface="+mn-lt"/>
                <a:ea typeface="+mn-ea"/>
                <a:sym typeface="+mn-ea"/>
              </a:rPr>
              <a:t>VHDL</a:t>
            </a:r>
            <a:r>
              <a:rPr kumimoji="1" lang="zh-CN" altLang="en-US" sz="3200" kern="0" dirty="0">
                <a:solidFill>
                  <a:srgbClr val="4B51A5"/>
                </a:solidFill>
                <a:latin typeface="+mn-lt"/>
                <a:ea typeface="+mn-ea"/>
                <a:sym typeface="+mn-ea"/>
              </a:rPr>
              <a:t>，</a:t>
            </a:r>
            <a:r>
              <a:rPr kumimoji="1" lang="en-US" altLang="zh-CN" sz="3200" kern="0" dirty="0">
                <a:solidFill>
                  <a:srgbClr val="4B51A5"/>
                </a:solidFill>
                <a:latin typeface="+mn-lt"/>
                <a:ea typeface="+mn-ea"/>
                <a:sym typeface="+mn-ea"/>
              </a:rPr>
              <a:t>VHDL1987</a:t>
            </a:r>
            <a:r>
              <a:rPr kumimoji="1" lang="zh-CN" altLang="en-US" sz="3200" kern="0" dirty="0">
                <a:solidFill>
                  <a:srgbClr val="4B51A5"/>
                </a:solidFill>
                <a:latin typeface="+mn-lt"/>
                <a:ea typeface="+mn-ea"/>
                <a:sym typeface="+mn-ea"/>
              </a:rPr>
              <a:t>年进入</a:t>
            </a:r>
            <a:r>
              <a:rPr kumimoji="1" lang="en-US" altLang="zh-CN" sz="3200" kern="0" dirty="0">
                <a:solidFill>
                  <a:srgbClr val="4B51A5"/>
                </a:solidFill>
                <a:latin typeface="+mn-lt"/>
                <a:ea typeface="+mn-ea"/>
                <a:sym typeface="+mn-ea"/>
              </a:rPr>
              <a:t>IEEE</a:t>
            </a:r>
            <a:r>
              <a:rPr kumimoji="1" lang="zh-CN" altLang="en-US" sz="3200" kern="0" dirty="0">
                <a:solidFill>
                  <a:srgbClr val="4B51A5"/>
                </a:solidFill>
                <a:latin typeface="+mn-lt"/>
                <a:ea typeface="+mn-ea"/>
                <a:sym typeface="+mn-ea"/>
              </a:rPr>
              <a:t>标准，</a:t>
            </a:r>
            <a:r>
              <a:rPr kumimoji="1" lang="en-US" altLang="zh-CN" sz="3200" kern="0" dirty="0">
                <a:solidFill>
                  <a:srgbClr val="4B51A5"/>
                </a:solidFill>
                <a:latin typeface="+mn-lt"/>
                <a:ea typeface="+mn-ea"/>
                <a:sym typeface="+mn-ea"/>
              </a:rPr>
              <a:t>Verilog</a:t>
            </a:r>
            <a:r>
              <a:rPr kumimoji="1" lang="zh-CN" altLang="en-US" sz="3200" kern="0" dirty="0">
                <a:solidFill>
                  <a:srgbClr val="4B51A5"/>
                </a:solidFill>
                <a:latin typeface="+mn-lt"/>
                <a:ea typeface="+mn-ea"/>
                <a:sym typeface="+mn-ea"/>
              </a:rPr>
              <a:t>则在</a:t>
            </a:r>
            <a:r>
              <a:rPr kumimoji="1" lang="en-US" altLang="zh-CN" sz="3200" kern="0" dirty="0">
                <a:solidFill>
                  <a:srgbClr val="4B51A5"/>
                </a:solidFill>
                <a:latin typeface="+mn-lt"/>
                <a:ea typeface="+mn-ea"/>
                <a:sym typeface="+mn-ea"/>
              </a:rPr>
              <a:t>1995</a:t>
            </a:r>
            <a:r>
              <a:rPr kumimoji="1" lang="zh-CN" altLang="en-US" sz="3200" kern="0" dirty="0">
                <a:solidFill>
                  <a:srgbClr val="4B51A5"/>
                </a:solidFill>
                <a:latin typeface="+mn-lt"/>
                <a:ea typeface="+mn-ea"/>
                <a:sym typeface="+mn-ea"/>
              </a:rPr>
              <a:t>年才进入</a:t>
            </a:r>
            <a:r>
              <a:rPr kumimoji="1" lang="en-US" altLang="zh-CN" sz="3200" kern="0" dirty="0">
                <a:solidFill>
                  <a:srgbClr val="4B51A5"/>
                </a:solidFill>
                <a:latin typeface="+mn-lt"/>
                <a:ea typeface="+mn-ea"/>
                <a:sym typeface="+mn-ea"/>
              </a:rPr>
              <a:t>IEEE(2001</a:t>
            </a:r>
            <a:r>
              <a:rPr kumimoji="1" lang="zh-CN" altLang="en-US" sz="3200" kern="0" dirty="0">
                <a:solidFill>
                  <a:srgbClr val="4B51A5"/>
                </a:solidFill>
                <a:latin typeface="+mn-lt"/>
                <a:ea typeface="+mn-ea"/>
                <a:sym typeface="+mn-ea"/>
              </a:rPr>
              <a:t>年进行过重要改进</a:t>
            </a:r>
            <a:r>
              <a:rPr kumimoji="1" lang="en-US" altLang="zh-CN" sz="3200" kern="0" dirty="0">
                <a:solidFill>
                  <a:srgbClr val="4B51A5"/>
                </a:solidFill>
                <a:latin typeface="+mn-lt"/>
                <a:ea typeface="+mn-ea"/>
                <a:sym typeface="+mn-ea"/>
              </a:rPr>
              <a:t>)</a:t>
            </a:r>
            <a:r>
              <a:rPr kumimoji="1" lang="zh-CN" altLang="en-US" sz="3200" kern="0" dirty="0">
                <a:solidFill>
                  <a:srgbClr val="4B51A5"/>
                </a:solidFill>
                <a:latin typeface="+mn-lt"/>
                <a:ea typeface="+mn-ea"/>
                <a:sym typeface="+mn-ea"/>
              </a:rPr>
              <a:t>；</a:t>
            </a:r>
            <a:endParaRPr kumimoji="1" lang="en-US" altLang="zh-CN" sz="3200" kern="0" dirty="0">
              <a:solidFill>
                <a:srgbClr val="4B51A5"/>
              </a:solidFill>
              <a:latin typeface="+mn-lt"/>
              <a:ea typeface="+mn-ea"/>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CDEC1-3869-D588-C25A-020D1524D420}"/>
            </a:ext>
          </a:extLst>
        </p:cNvPr>
        <p:cNvGrpSpPr/>
        <p:nvPr/>
      </p:nvGrpSpPr>
      <p:grpSpPr>
        <a:xfrm>
          <a:off x="0" y="0"/>
          <a:ext cx="0" cy="0"/>
          <a:chOff x="0" y="0"/>
          <a:chExt cx="0" cy="0"/>
        </a:xfrm>
      </p:grpSpPr>
      <p:sp>
        <p:nvSpPr>
          <p:cNvPr id="5" name="标题 1">
            <a:extLst>
              <a:ext uri="{FF2B5EF4-FFF2-40B4-BE49-F238E27FC236}">
                <a16:creationId xmlns:a16="http://schemas.microsoft.com/office/drawing/2014/main" id="{016C0DF1-0DE2-CDE6-3684-E5234B13C59E}"/>
              </a:ext>
            </a:extLst>
          </p:cNvPr>
          <p:cNvSpPr>
            <a:spLocks noGrp="1"/>
          </p:cNvSpPr>
          <p:nvPr>
            <p:ph type="title"/>
          </p:nvPr>
        </p:nvSpPr>
        <p:spPr>
          <a:xfrm>
            <a:off x="900113" y="188913"/>
            <a:ext cx="7386638" cy="792163"/>
          </a:xfrm>
        </p:spPr>
        <p:txBody>
          <a:bodyPr vert="horz" wrap="square" lIns="91440" tIns="45720" rIns="91440" bIns="45720" numCol="1" rtlCol="0"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1" lang="en-US" altLang="zh-CN" sz="4000" b="1" i="0" u="none" strike="noStrike" kern="0" cap="none" spc="0" normalizeH="0" baseline="0" noProof="0" dirty="0">
                <a:ln>
                  <a:noFill/>
                </a:ln>
                <a:solidFill>
                  <a:schemeClr val="tx2"/>
                </a:solidFill>
                <a:effectLst/>
                <a:uLnTx/>
                <a:uFillTx/>
                <a:latin typeface="+mj-lt"/>
                <a:ea typeface="+mj-ea"/>
                <a:cs typeface="+mj-cs"/>
              </a:rPr>
              <a:t>Verilog</a:t>
            </a:r>
            <a:r>
              <a:rPr kumimoji="1" lang="zh-CN" altLang="en-US" sz="4000" b="1" i="0" u="none" strike="noStrike" kern="0" cap="none" spc="0" normalizeH="0" baseline="0" noProof="0" dirty="0">
                <a:ln>
                  <a:noFill/>
                </a:ln>
                <a:solidFill>
                  <a:schemeClr val="tx2"/>
                </a:solidFill>
                <a:effectLst/>
                <a:uLnTx/>
                <a:uFillTx/>
                <a:latin typeface="+mj-lt"/>
                <a:ea typeface="+mj-ea"/>
                <a:cs typeface="+mj-cs"/>
              </a:rPr>
              <a:t>与</a:t>
            </a:r>
            <a:r>
              <a:rPr kumimoji="1" lang="en-US" altLang="zh-CN" sz="4000" b="1" i="0" u="none" strike="noStrike" kern="0" cap="none" spc="0" normalizeH="0" baseline="0" noProof="0" dirty="0">
                <a:ln>
                  <a:noFill/>
                </a:ln>
                <a:solidFill>
                  <a:schemeClr val="tx2"/>
                </a:solidFill>
                <a:effectLst/>
                <a:uLnTx/>
                <a:uFillTx/>
                <a:latin typeface="+mj-lt"/>
                <a:ea typeface="+mj-ea"/>
                <a:cs typeface="+mj-cs"/>
              </a:rPr>
              <a:t>VHDL</a:t>
            </a:r>
            <a:r>
              <a:rPr kumimoji="1" lang="zh-CN" altLang="en-US" sz="4000" b="1" i="0" u="none" strike="noStrike" kern="0" cap="none" spc="0" normalizeH="0" baseline="0" noProof="0" dirty="0">
                <a:ln>
                  <a:noFill/>
                </a:ln>
                <a:solidFill>
                  <a:schemeClr val="tx2"/>
                </a:solidFill>
                <a:effectLst/>
                <a:uLnTx/>
                <a:uFillTx/>
                <a:latin typeface="+mj-lt"/>
                <a:ea typeface="+mj-ea"/>
                <a:cs typeface="+mj-cs"/>
              </a:rPr>
              <a:t>比较</a:t>
            </a:r>
          </a:p>
        </p:txBody>
      </p:sp>
      <p:sp>
        <p:nvSpPr>
          <p:cNvPr id="6" name="矩形 5">
            <a:extLst>
              <a:ext uri="{FF2B5EF4-FFF2-40B4-BE49-F238E27FC236}">
                <a16:creationId xmlns:a16="http://schemas.microsoft.com/office/drawing/2014/main" id="{4D580321-FC4D-C4AA-D048-7BFB8700B2D2}"/>
              </a:ext>
            </a:extLst>
          </p:cNvPr>
          <p:cNvSpPr/>
          <p:nvPr/>
        </p:nvSpPr>
        <p:spPr>
          <a:xfrm>
            <a:off x="755576" y="1124744"/>
            <a:ext cx="7993063" cy="5124480"/>
          </a:xfrm>
          <a:prstGeom prst="rect">
            <a:avLst/>
          </a:prstGeom>
        </p:spPr>
        <p:txBody>
          <a:bodyPr>
            <a:spAutoFit/>
          </a:bodyPr>
          <a:lstStyle/>
          <a:p>
            <a:pPr marL="565200" marR="0" lvl="1" indent="-457200" algn="just" defTabSz="914400" rtl="0" fontAlgn="auto">
              <a:lnSpc>
                <a:spcPct val="100000"/>
              </a:lnSpc>
              <a:spcBef>
                <a:spcPts val="600"/>
              </a:spcBef>
              <a:spcAft>
                <a:spcPts val="600"/>
              </a:spcAft>
              <a:buClr>
                <a:schemeClr val="tx1"/>
              </a:buClr>
              <a:buSzPct val="90000"/>
              <a:buFont typeface="Wingdings" panose="05000000000000000000" pitchFamily="2" charset="2"/>
              <a:buChar char="p"/>
              <a:defRPr/>
            </a:pPr>
            <a:r>
              <a:rPr kumimoji="1" lang="zh-CN" altLang="en-US" sz="3200" kern="0" dirty="0">
                <a:solidFill>
                  <a:srgbClr val="4B51A5"/>
                </a:solidFill>
                <a:latin typeface="+mn-lt"/>
                <a:ea typeface="+mn-ea"/>
                <a:sym typeface="+mn-ea"/>
              </a:rPr>
              <a:t>与</a:t>
            </a:r>
            <a:r>
              <a:rPr kumimoji="1" lang="en-US" altLang="zh-CN" sz="3200" kern="0" dirty="0">
                <a:solidFill>
                  <a:srgbClr val="4B51A5"/>
                </a:solidFill>
                <a:latin typeface="+mn-lt"/>
                <a:ea typeface="+mn-ea"/>
                <a:sym typeface="+mn-ea"/>
              </a:rPr>
              <a:t>VHDL</a:t>
            </a:r>
            <a:r>
              <a:rPr kumimoji="1" lang="zh-CN" altLang="en-US" sz="3200" kern="0" dirty="0">
                <a:solidFill>
                  <a:srgbClr val="4B51A5"/>
                </a:solidFill>
                <a:latin typeface="+mn-lt"/>
                <a:ea typeface="+mn-ea"/>
                <a:sym typeface="+mn-ea"/>
              </a:rPr>
              <a:t>相比，</a:t>
            </a:r>
            <a:r>
              <a:rPr kumimoji="1" lang="en-US" altLang="zh-CN" sz="3200" kern="0" dirty="0">
                <a:solidFill>
                  <a:srgbClr val="4B51A5"/>
                </a:solidFill>
                <a:latin typeface="+mn-lt"/>
                <a:ea typeface="+mn-ea"/>
                <a:sym typeface="+mn-ea"/>
              </a:rPr>
              <a:t>Verilog</a:t>
            </a:r>
            <a:r>
              <a:rPr kumimoji="1" lang="zh-CN" altLang="en-US" sz="3200" kern="0" dirty="0">
                <a:solidFill>
                  <a:srgbClr val="4B51A5"/>
                </a:solidFill>
                <a:latin typeface="+mn-lt"/>
                <a:ea typeface="+mn-ea"/>
                <a:sym typeface="+mn-ea"/>
              </a:rPr>
              <a:t>语言的设计风格更加简洁明了、高效便捷。如果单纯从程序长短上考察，</a:t>
            </a:r>
            <a:r>
              <a:rPr kumimoji="1" lang="en-US" altLang="zh-CN" sz="3200" kern="0" dirty="0">
                <a:solidFill>
                  <a:srgbClr val="4B51A5"/>
                </a:solidFill>
                <a:latin typeface="+mn-lt"/>
                <a:ea typeface="+mn-ea"/>
                <a:sym typeface="+mn-ea"/>
              </a:rPr>
              <a:t>Verilog</a:t>
            </a:r>
            <a:r>
              <a:rPr kumimoji="1" lang="zh-CN" altLang="en-US" sz="3200" kern="0" dirty="0">
                <a:solidFill>
                  <a:srgbClr val="4B51A5"/>
                </a:solidFill>
                <a:latin typeface="+mn-lt"/>
                <a:ea typeface="+mn-ea"/>
                <a:sym typeface="+mn-ea"/>
              </a:rPr>
              <a:t>代码相对较短。</a:t>
            </a:r>
            <a:r>
              <a:rPr kumimoji="1" lang="en-US" altLang="zh-CN" sz="3200" kern="0" dirty="0">
                <a:solidFill>
                  <a:srgbClr val="4B51A5"/>
                </a:solidFill>
                <a:latin typeface="+mn-lt"/>
                <a:ea typeface="+mn-ea"/>
                <a:sym typeface="+mn-ea"/>
              </a:rPr>
              <a:t>VHDL</a:t>
            </a:r>
            <a:r>
              <a:rPr kumimoji="1" lang="zh-CN" altLang="en-US" sz="3200" kern="0" dirty="0">
                <a:solidFill>
                  <a:srgbClr val="4B51A5"/>
                </a:solidFill>
                <a:latin typeface="+mn-lt"/>
                <a:ea typeface="+mn-ea"/>
                <a:sym typeface="+mn-ea"/>
              </a:rPr>
              <a:t>风格像</a:t>
            </a:r>
            <a:r>
              <a:rPr kumimoji="1" lang="en-US" altLang="zh-CN" sz="3200" kern="0" dirty="0">
                <a:solidFill>
                  <a:srgbClr val="4B51A5"/>
                </a:solidFill>
                <a:latin typeface="+mn-lt"/>
                <a:ea typeface="+mn-ea"/>
                <a:sym typeface="+mn-ea"/>
              </a:rPr>
              <a:t>PASCAL</a:t>
            </a:r>
            <a:r>
              <a:rPr kumimoji="1" lang="zh-CN" altLang="en-US" sz="3200" kern="0" dirty="0">
                <a:solidFill>
                  <a:srgbClr val="4B51A5"/>
                </a:solidFill>
                <a:latin typeface="+mn-lt"/>
                <a:ea typeface="+mn-ea"/>
                <a:sym typeface="+mn-ea"/>
              </a:rPr>
              <a:t>语言，语法呆板，容易学习；</a:t>
            </a:r>
            <a:r>
              <a:rPr kumimoji="1" lang="en-US" altLang="zh-CN" sz="3200" kern="0" dirty="0">
                <a:solidFill>
                  <a:srgbClr val="4B51A5"/>
                </a:solidFill>
                <a:latin typeface="+mn-lt"/>
                <a:ea typeface="+mn-ea"/>
                <a:sym typeface="+mn-ea"/>
              </a:rPr>
              <a:t>Verilog</a:t>
            </a:r>
            <a:r>
              <a:rPr kumimoji="1" lang="zh-CN" altLang="en-US" sz="3200" kern="0" dirty="0">
                <a:solidFill>
                  <a:srgbClr val="4B51A5"/>
                </a:solidFill>
                <a:latin typeface="+mn-lt"/>
                <a:ea typeface="+mn-ea"/>
                <a:sym typeface="+mn-ea"/>
              </a:rPr>
              <a:t>则像</a:t>
            </a:r>
            <a:r>
              <a:rPr kumimoji="1" lang="en-US" altLang="zh-CN" sz="3200" kern="0" dirty="0">
                <a:solidFill>
                  <a:srgbClr val="4B51A5"/>
                </a:solidFill>
                <a:latin typeface="+mn-lt"/>
                <a:ea typeface="+mn-ea"/>
                <a:sym typeface="+mn-ea"/>
              </a:rPr>
              <a:t>C</a:t>
            </a:r>
            <a:r>
              <a:rPr kumimoji="1" lang="zh-CN" altLang="en-US" sz="3200" kern="0" dirty="0">
                <a:solidFill>
                  <a:srgbClr val="4B51A5"/>
                </a:solidFill>
                <a:latin typeface="+mn-lt"/>
                <a:ea typeface="+mn-ea"/>
                <a:sym typeface="+mn-ea"/>
              </a:rPr>
              <a:t>语言，语法灵活，但是初学者容易出错；</a:t>
            </a:r>
            <a:endParaRPr kumimoji="1" lang="en-US" altLang="zh-CN" sz="3200" kern="0" dirty="0">
              <a:solidFill>
                <a:srgbClr val="4B51A5"/>
              </a:solidFill>
              <a:latin typeface="+mn-lt"/>
              <a:ea typeface="+mn-ea"/>
            </a:endParaRPr>
          </a:p>
          <a:p>
            <a:pPr marL="565200" marR="0" lvl="1" indent="-457200" algn="just" defTabSz="914400" rtl="0" eaLnBrk="1" fontAlgn="auto" latinLnBrk="0" hangingPunct="1">
              <a:lnSpc>
                <a:spcPct val="100000"/>
              </a:lnSpc>
              <a:spcBef>
                <a:spcPts val="600"/>
              </a:spcBef>
              <a:spcAft>
                <a:spcPts val="600"/>
              </a:spcAft>
              <a:buClr>
                <a:schemeClr val="tx1"/>
              </a:buClr>
              <a:buSzPct val="90000"/>
              <a:buFont typeface="Wingdings" panose="05000000000000000000" pitchFamily="2" charset="2"/>
              <a:buChar char="p"/>
              <a:defRPr/>
            </a:pPr>
            <a:r>
              <a:rPr kumimoji="1" lang="zh-CN" altLang="en-US" sz="3200" kern="0" dirty="0">
                <a:solidFill>
                  <a:srgbClr val="4B51A5"/>
                </a:solidFill>
                <a:latin typeface="+mn-lt"/>
                <a:ea typeface="+mn-ea"/>
                <a:sym typeface="+mn-ea"/>
              </a:rPr>
              <a:t>在</a:t>
            </a:r>
            <a:r>
              <a:rPr kumimoji="1" lang="en-US" altLang="zh-CN" sz="3200" kern="0" dirty="0">
                <a:solidFill>
                  <a:srgbClr val="4B51A5"/>
                </a:solidFill>
                <a:latin typeface="+mn-lt"/>
                <a:ea typeface="+mn-ea"/>
                <a:sym typeface="+mn-ea"/>
              </a:rPr>
              <a:t>PLD</a:t>
            </a:r>
            <a:r>
              <a:rPr kumimoji="1" lang="zh-CN" altLang="en-US" sz="3200" kern="0" dirty="0">
                <a:solidFill>
                  <a:srgbClr val="4B51A5"/>
                </a:solidFill>
                <a:latin typeface="+mn-lt"/>
                <a:ea typeface="+mn-ea"/>
                <a:sym typeface="+mn-ea"/>
              </a:rPr>
              <a:t>设计领域，</a:t>
            </a:r>
            <a:r>
              <a:rPr kumimoji="1" lang="en-US" altLang="zh-CN" sz="3200" kern="0" dirty="0">
                <a:solidFill>
                  <a:srgbClr val="4B51A5"/>
                </a:solidFill>
                <a:latin typeface="+mn-lt"/>
                <a:ea typeface="+mn-ea"/>
                <a:sym typeface="+mn-ea"/>
              </a:rPr>
              <a:t>Verilog</a:t>
            </a:r>
            <a:r>
              <a:rPr kumimoji="1" lang="zh-CN" altLang="en-US" sz="3200" kern="0" dirty="0">
                <a:solidFill>
                  <a:srgbClr val="4B51A5"/>
                </a:solidFill>
                <a:latin typeface="+mn-lt"/>
                <a:ea typeface="+mn-ea"/>
                <a:sym typeface="+mn-ea"/>
              </a:rPr>
              <a:t>与</a:t>
            </a:r>
            <a:r>
              <a:rPr kumimoji="1" lang="en-US" altLang="zh-CN" sz="3200" kern="0" dirty="0">
                <a:solidFill>
                  <a:srgbClr val="4B51A5"/>
                </a:solidFill>
                <a:latin typeface="+mn-lt"/>
                <a:ea typeface="+mn-ea"/>
                <a:sym typeface="+mn-ea"/>
              </a:rPr>
              <a:t>VHDL</a:t>
            </a:r>
            <a:r>
              <a:rPr kumimoji="1" lang="zh-CN" altLang="en-US" sz="3200" kern="0" dirty="0">
                <a:solidFill>
                  <a:srgbClr val="4B51A5"/>
                </a:solidFill>
                <a:latin typeface="+mn-lt"/>
                <a:ea typeface="+mn-ea"/>
                <a:sym typeface="+mn-ea"/>
              </a:rPr>
              <a:t>语言在市场占有率上几乎平分秋色，而在</a:t>
            </a:r>
            <a:r>
              <a:rPr kumimoji="1" lang="en-US" altLang="zh-CN" sz="3200" kern="0" dirty="0">
                <a:solidFill>
                  <a:srgbClr val="4B51A5"/>
                </a:solidFill>
                <a:latin typeface="+mn-lt"/>
                <a:ea typeface="+mn-ea"/>
                <a:sym typeface="+mn-ea"/>
              </a:rPr>
              <a:t>ASIC</a:t>
            </a:r>
            <a:r>
              <a:rPr kumimoji="1" lang="zh-CN" altLang="en-US" sz="3200" kern="0" dirty="0">
                <a:solidFill>
                  <a:srgbClr val="4B51A5"/>
                </a:solidFill>
                <a:latin typeface="+mn-lt"/>
                <a:ea typeface="+mn-ea"/>
                <a:sym typeface="+mn-ea"/>
              </a:rPr>
              <a:t>领域，</a:t>
            </a:r>
            <a:r>
              <a:rPr kumimoji="1" lang="en-US" altLang="zh-CN" sz="3200" kern="0" dirty="0">
                <a:solidFill>
                  <a:srgbClr val="4B51A5"/>
                </a:solidFill>
                <a:latin typeface="+mn-lt"/>
                <a:ea typeface="+mn-ea"/>
                <a:sym typeface="+mn-ea"/>
              </a:rPr>
              <a:t>Verilog</a:t>
            </a:r>
            <a:r>
              <a:rPr kumimoji="1" lang="zh-CN" altLang="en-US" sz="3200" kern="0" dirty="0">
                <a:solidFill>
                  <a:srgbClr val="4B51A5"/>
                </a:solidFill>
                <a:latin typeface="+mn-lt"/>
                <a:ea typeface="+mn-ea"/>
                <a:sym typeface="+mn-ea"/>
              </a:rPr>
              <a:t>占有绝大部分市场。</a:t>
            </a:r>
            <a:endParaRPr kumimoji="1" lang="zh-CN" altLang="en-US" sz="3200" kern="0" dirty="0">
              <a:solidFill>
                <a:srgbClr val="4B51A5"/>
              </a:solidFill>
              <a:latin typeface="+mn-lt"/>
              <a:ea typeface="+mn-ea"/>
            </a:endParaRPr>
          </a:p>
          <a:p>
            <a:pPr marL="800100" marR="0" lvl="1" indent="-342900" algn="just" defTabSz="914400" rtl="0" eaLnBrk="1" fontAlgn="auto" latinLnBrk="0" hangingPunct="1">
              <a:lnSpc>
                <a:spcPct val="100000"/>
              </a:lnSpc>
              <a:spcBef>
                <a:spcPct val="20000"/>
              </a:spcBef>
              <a:spcAft>
                <a:spcPts val="0"/>
              </a:spcAft>
              <a:buClr>
                <a:srgbClr val="0033CC"/>
              </a:buClr>
              <a:buSzPct val="90000"/>
              <a:buFont typeface="Wingdings" panose="05000000000000000000" pitchFamily="2" charset="2"/>
              <a:buChar char="n"/>
              <a:defRPr/>
            </a:pPr>
            <a:endParaRPr kumimoji="1" lang="zh-CN" altLang="zh-CN" sz="2000" b="0" i="0" u="none" strike="noStrike" kern="1200" cap="none" spc="0" normalizeH="0" baseline="0" noProof="0" dirty="0">
              <a:ln>
                <a:noFill/>
              </a:ln>
              <a:solidFill>
                <a:schemeClr val="tx1"/>
              </a:solidFill>
              <a:effectLst/>
              <a:uLnTx/>
              <a:uFillTx/>
              <a:latin typeface="+mj-lt"/>
              <a:ea typeface="黑体" panose="02010609060101010101" pitchFamily="49" charset="-122"/>
              <a:cs typeface="+mn-cs"/>
            </a:endParaRPr>
          </a:p>
        </p:txBody>
      </p:sp>
    </p:spTree>
    <p:extLst>
      <p:ext uri="{BB962C8B-B14F-4D97-AF65-F5344CB8AC3E}">
        <p14:creationId xmlns:p14="http://schemas.microsoft.com/office/powerpoint/2010/main" val="22846344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1026"/>
          <p:cNvSpPr>
            <a:spLocks noGrp="1"/>
          </p:cNvSpPr>
          <p:nvPr>
            <p:ph type="title"/>
          </p:nvPr>
        </p:nvSpPr>
        <p:spPr>
          <a:xfrm>
            <a:off x="900113" y="188913"/>
            <a:ext cx="5472087" cy="792162"/>
          </a:xfrm>
        </p:spPr>
        <p:txBody>
          <a:bodyPr vert="horz" wrap="square" lIns="91440" tIns="45720" rIns="91440" bIns="45720" anchor="b" anchorCtr="0"/>
          <a:lstStyle/>
          <a:p>
            <a:pPr eaLnBrk="1" hangingPunct="1"/>
            <a:r>
              <a:rPr lang="zh-CN" altLang="en-US" dirty="0"/>
              <a:t>数字系统设计基础知识</a:t>
            </a:r>
          </a:p>
        </p:txBody>
      </p:sp>
      <p:sp>
        <p:nvSpPr>
          <p:cNvPr id="53250" name="Rectangle 1027" descr="Rectangle: Click to edit Master text styles&#10;Second level&#10;Third level&#10;Fourth level&#10;Fifth level"/>
          <p:cNvSpPr>
            <a:spLocks noGrp="1"/>
          </p:cNvSpPr>
          <p:nvPr>
            <p:ph idx="1"/>
          </p:nvPr>
        </p:nvSpPr>
        <p:spPr/>
        <p:txBody>
          <a:bodyPr vert="horz" wrap="square" lIns="91440" tIns="45720" rIns="91440" bIns="45720" anchor="t" anchorCtr="0"/>
          <a:lstStyle/>
          <a:p>
            <a:pPr eaLnBrk="1" hangingPunct="1">
              <a:lnSpc>
                <a:spcPct val="150000"/>
              </a:lnSpc>
              <a:spcBef>
                <a:spcPts val="600"/>
              </a:spcBef>
              <a:spcAft>
                <a:spcPts val="600"/>
              </a:spcAft>
            </a:pPr>
            <a:r>
              <a:rPr lang="zh-CN" altLang="en-US" dirty="0">
                <a:solidFill>
                  <a:schemeClr val="accent6"/>
                </a:solidFill>
              </a:rPr>
              <a:t>几个专用名词的介绍</a:t>
            </a:r>
          </a:p>
          <a:p>
            <a:pPr eaLnBrk="1" hangingPunct="1">
              <a:lnSpc>
                <a:spcPct val="150000"/>
              </a:lnSpc>
              <a:spcBef>
                <a:spcPts val="600"/>
              </a:spcBef>
              <a:spcAft>
                <a:spcPts val="600"/>
              </a:spcAft>
            </a:pPr>
            <a:r>
              <a:rPr lang="zh-CN" altLang="en-US" dirty="0">
                <a:solidFill>
                  <a:srgbClr val="C00000"/>
                </a:solidFill>
              </a:rPr>
              <a:t>数字系统设计的概念与流程</a:t>
            </a:r>
          </a:p>
          <a:p>
            <a:pPr eaLnBrk="1" hangingPunct="1">
              <a:lnSpc>
                <a:spcPct val="150000"/>
              </a:lnSpc>
              <a:spcBef>
                <a:spcPts val="600"/>
              </a:spcBef>
              <a:spcAft>
                <a:spcPts val="600"/>
              </a:spcAft>
            </a:pPr>
            <a:r>
              <a:rPr lang="zh-CN" altLang="en-US" dirty="0"/>
              <a:t>数字系统设计方法论</a:t>
            </a:r>
          </a:p>
        </p:txBody>
      </p:sp>
    </p:spTree>
    <p:extLst>
      <p:ext uri="{BB962C8B-B14F-4D97-AF65-F5344CB8AC3E}">
        <p14:creationId xmlns:p14="http://schemas.microsoft.com/office/powerpoint/2010/main" val="42772763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p:cNvSpPr>
          <p:nvPr>
            <p:ph type="title"/>
          </p:nvPr>
        </p:nvSpPr>
        <p:spPr>
          <a:xfrm>
            <a:off x="900113" y="188913"/>
            <a:ext cx="4824412" cy="792162"/>
          </a:xfrm>
        </p:spPr>
        <p:txBody>
          <a:bodyPr vert="horz" wrap="square" lIns="91440" tIns="45720" rIns="91440" bIns="45720" anchor="b" anchorCtr="0"/>
          <a:lstStyle/>
          <a:p>
            <a:pPr eaLnBrk="1" hangingPunct="1"/>
            <a:r>
              <a:rPr lang="zh-CN" altLang="en-US" dirty="0"/>
              <a:t>数字系统设计的概念</a:t>
            </a:r>
          </a:p>
        </p:txBody>
      </p:sp>
      <p:sp>
        <p:nvSpPr>
          <p:cNvPr id="54274" name="Rectangle 4" descr="Rectangle: Click to edit Master text styles&#10;Second level&#10;Third level&#10;Fourth level&#10;Fifth level"/>
          <p:cNvSpPr>
            <a:spLocks noGrp="1"/>
          </p:cNvSpPr>
          <p:nvPr>
            <p:ph idx="1"/>
          </p:nvPr>
        </p:nvSpPr>
        <p:spPr>
          <a:xfrm>
            <a:off x="827584" y="1196752"/>
            <a:ext cx="7843837" cy="4676775"/>
          </a:xfrm>
        </p:spPr>
        <p:txBody>
          <a:bodyPr vert="horz" wrap="square" lIns="91440" tIns="45720" rIns="91440" bIns="45720" anchor="t" anchorCtr="0"/>
          <a:lstStyle/>
          <a:p>
            <a:pPr eaLnBrk="1" hangingPunct="1">
              <a:lnSpc>
                <a:spcPct val="150000"/>
              </a:lnSpc>
              <a:spcBef>
                <a:spcPts val="0"/>
              </a:spcBef>
            </a:pPr>
            <a:r>
              <a:rPr lang="zh-CN" altLang="en-US" sz="3200" dirty="0"/>
              <a:t>传统设计</a:t>
            </a:r>
            <a:r>
              <a:rPr lang="en-US" altLang="zh-CN" sz="3200" dirty="0"/>
              <a:t>――</a:t>
            </a:r>
            <a:r>
              <a:rPr lang="zh-CN" altLang="en-US" sz="3200" dirty="0"/>
              <a:t>中规模集成电路（</a:t>
            </a:r>
            <a:r>
              <a:rPr lang="en-US" altLang="zh-CN" sz="3200" dirty="0"/>
              <a:t>MSI</a:t>
            </a:r>
            <a:r>
              <a:rPr lang="zh-CN" altLang="en-US" sz="3200" dirty="0"/>
              <a:t>）和小规模集成电路（</a:t>
            </a:r>
            <a:r>
              <a:rPr lang="en-US" altLang="zh-CN" sz="3200" dirty="0"/>
              <a:t>SSI</a:t>
            </a:r>
            <a:r>
              <a:rPr lang="zh-CN" altLang="en-US" sz="3200" dirty="0"/>
              <a:t>）的适当组合</a:t>
            </a:r>
            <a:r>
              <a:rPr lang="en-US" altLang="zh-CN" sz="3200" dirty="0"/>
              <a:t>.</a:t>
            </a:r>
            <a:r>
              <a:rPr lang="zh-CN" altLang="en-US" sz="3200" dirty="0"/>
              <a:t>主要设计小型数字系统</a:t>
            </a:r>
          </a:p>
          <a:p>
            <a:pPr eaLnBrk="1" hangingPunct="1">
              <a:lnSpc>
                <a:spcPct val="150000"/>
              </a:lnSpc>
              <a:spcBef>
                <a:spcPts val="0"/>
              </a:spcBef>
            </a:pPr>
            <a:r>
              <a:rPr lang="zh-CN" altLang="en-US" sz="3200" dirty="0"/>
              <a:t>现代设计</a:t>
            </a:r>
            <a:r>
              <a:rPr lang="en-US" altLang="zh-CN" sz="3200" dirty="0"/>
              <a:t>――</a:t>
            </a:r>
            <a:r>
              <a:rPr lang="zh-CN" altLang="en-US" sz="3200" dirty="0">
                <a:solidFill>
                  <a:srgbClr val="F2A10E"/>
                </a:solidFill>
              </a:rPr>
              <a:t>利用</a:t>
            </a:r>
            <a:r>
              <a:rPr lang="en-US" altLang="zh-CN" sz="3200" dirty="0">
                <a:solidFill>
                  <a:srgbClr val="F2A10E"/>
                </a:solidFill>
              </a:rPr>
              <a:t>EDA</a:t>
            </a:r>
            <a:r>
              <a:rPr lang="zh-CN" altLang="en-US" sz="3200" dirty="0">
                <a:solidFill>
                  <a:srgbClr val="F2A10E"/>
                </a:solidFill>
              </a:rPr>
              <a:t>软件</a:t>
            </a:r>
            <a:r>
              <a:rPr lang="en-US" altLang="zh-CN" sz="3200" dirty="0">
                <a:solidFill>
                  <a:srgbClr val="F2A10E"/>
                </a:solidFill>
              </a:rPr>
              <a:t>,</a:t>
            </a:r>
            <a:r>
              <a:rPr lang="zh-CN" altLang="en-US" sz="3200" dirty="0">
                <a:solidFill>
                  <a:srgbClr val="F2A10E"/>
                </a:solidFill>
              </a:rPr>
              <a:t>使用硬件描述语言在</a:t>
            </a:r>
            <a:r>
              <a:rPr lang="en-US" altLang="zh-CN" sz="3200" dirty="0">
                <a:solidFill>
                  <a:srgbClr val="F2A10E"/>
                </a:solidFill>
              </a:rPr>
              <a:t>PLD</a:t>
            </a:r>
            <a:r>
              <a:rPr lang="zh-CN" altLang="en-US" sz="3200" dirty="0">
                <a:solidFill>
                  <a:srgbClr val="F2A10E"/>
                </a:solidFill>
              </a:rPr>
              <a:t>器件上设计数字系统</a:t>
            </a:r>
            <a:r>
              <a:rPr lang="en-US" altLang="zh-CN" sz="3200" dirty="0"/>
              <a:t>.</a:t>
            </a:r>
            <a:r>
              <a:rPr lang="zh-CN" altLang="en-US" sz="3200" dirty="0"/>
              <a:t>适合大中型系统</a:t>
            </a:r>
          </a:p>
          <a:p>
            <a:pPr eaLnBrk="1" hangingPunct="1"/>
            <a:endParaRPr lang="zh-CN" altLang="en-US" dirty="0"/>
          </a:p>
          <a:p>
            <a:pPr eaLnBrk="1" hangingPunct="1"/>
            <a:endParaRPr lang="en-US" altLang="zh-C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p:cNvSpPr>
          <p:nvPr>
            <p:ph type="title"/>
          </p:nvPr>
        </p:nvSpPr>
        <p:spPr>
          <a:xfrm>
            <a:off x="900113" y="188913"/>
            <a:ext cx="4824412" cy="792162"/>
          </a:xfrm>
        </p:spPr>
        <p:txBody>
          <a:bodyPr vert="horz" wrap="square" lIns="91440" tIns="45720" rIns="91440" bIns="45720" anchor="b" anchorCtr="0"/>
          <a:lstStyle/>
          <a:p>
            <a:pPr eaLnBrk="1" hangingPunct="1"/>
            <a:r>
              <a:rPr lang="zh-CN" altLang="en-US" dirty="0"/>
              <a:t>数字系统设计的概念</a:t>
            </a:r>
          </a:p>
        </p:txBody>
      </p:sp>
      <p:sp>
        <p:nvSpPr>
          <p:cNvPr id="55298" name="Rectangle 4" descr="Rectangle: Click to edit Master text styles&#10;Second level&#10;Third level&#10;Fourth level&#10;Fifth level"/>
          <p:cNvSpPr>
            <a:spLocks noGrp="1"/>
          </p:cNvSpPr>
          <p:nvPr>
            <p:ph idx="1"/>
          </p:nvPr>
        </p:nvSpPr>
        <p:spPr>
          <a:xfrm>
            <a:off x="804337" y="1147991"/>
            <a:ext cx="7843837" cy="4676775"/>
          </a:xfrm>
        </p:spPr>
        <p:txBody>
          <a:bodyPr vert="horz" wrap="square" lIns="91440" tIns="45720" rIns="91440" bIns="45720" anchor="t" anchorCtr="0"/>
          <a:lstStyle/>
          <a:p>
            <a:pPr eaLnBrk="1" hangingPunct="1">
              <a:lnSpc>
                <a:spcPct val="150000"/>
              </a:lnSpc>
              <a:spcBef>
                <a:spcPts val="0"/>
              </a:spcBef>
            </a:pPr>
            <a:r>
              <a:rPr lang="zh-CN" altLang="en-US" sz="3200" dirty="0"/>
              <a:t>传统设计</a:t>
            </a:r>
            <a:r>
              <a:rPr lang="en-US" altLang="zh-CN" sz="3200" dirty="0"/>
              <a:t>――</a:t>
            </a:r>
          </a:p>
          <a:p>
            <a:pPr eaLnBrk="1" hangingPunct="1">
              <a:lnSpc>
                <a:spcPct val="150000"/>
              </a:lnSpc>
              <a:spcBef>
                <a:spcPts val="0"/>
              </a:spcBef>
              <a:buNone/>
            </a:pPr>
            <a:r>
              <a:rPr lang="en-US" altLang="zh-CN" sz="3200" dirty="0"/>
              <a:t>   1.</a:t>
            </a:r>
            <a:r>
              <a:rPr lang="zh-CN" altLang="en-US" sz="3200" dirty="0"/>
              <a:t>缺少灵活性</a:t>
            </a:r>
          </a:p>
          <a:p>
            <a:pPr eaLnBrk="1" hangingPunct="1">
              <a:lnSpc>
                <a:spcPct val="150000"/>
              </a:lnSpc>
              <a:spcBef>
                <a:spcPts val="0"/>
              </a:spcBef>
              <a:buNone/>
            </a:pPr>
            <a:r>
              <a:rPr lang="zh-CN" altLang="en-US" sz="3200" dirty="0"/>
              <a:t>   </a:t>
            </a:r>
            <a:r>
              <a:rPr lang="en-US" altLang="zh-CN" sz="3200" dirty="0"/>
              <a:t>2.</a:t>
            </a:r>
            <a:r>
              <a:rPr lang="zh-CN" altLang="en-US" sz="3200" dirty="0"/>
              <a:t>所需芯片种类众多</a:t>
            </a:r>
            <a:r>
              <a:rPr lang="en-US" altLang="zh-CN" sz="3200" dirty="0"/>
              <a:t>,</a:t>
            </a:r>
            <a:r>
              <a:rPr lang="zh-CN" altLang="en-US" sz="3200" dirty="0"/>
              <a:t>数量众多</a:t>
            </a:r>
          </a:p>
          <a:p>
            <a:pPr eaLnBrk="1" hangingPunct="1">
              <a:lnSpc>
                <a:spcPct val="150000"/>
              </a:lnSpc>
              <a:spcBef>
                <a:spcPts val="0"/>
              </a:spcBef>
              <a:buNone/>
            </a:pPr>
            <a:r>
              <a:rPr lang="zh-CN" altLang="en-US" sz="3200" dirty="0"/>
              <a:t>   </a:t>
            </a:r>
            <a:r>
              <a:rPr lang="en-US" altLang="zh-CN" sz="3200" dirty="0"/>
              <a:t>3.</a:t>
            </a:r>
            <a:r>
              <a:rPr lang="zh-CN" altLang="en-US" sz="3200" dirty="0"/>
              <a:t>测试、修改困难</a:t>
            </a:r>
            <a:r>
              <a:rPr lang="en-US" altLang="zh-CN" sz="3200" dirty="0"/>
              <a:t>,</a:t>
            </a:r>
            <a:r>
              <a:rPr lang="zh-CN" altLang="en-US" sz="3200" dirty="0"/>
              <a:t>设计效率低</a:t>
            </a:r>
          </a:p>
          <a:p>
            <a:pPr eaLnBrk="1" hangingPunct="1">
              <a:lnSpc>
                <a:spcPct val="150000"/>
              </a:lnSpc>
              <a:spcBef>
                <a:spcPts val="0"/>
              </a:spcBef>
              <a:buNone/>
            </a:pPr>
            <a:r>
              <a:rPr lang="zh-CN" altLang="en-US" sz="3200" dirty="0"/>
              <a:t>   </a:t>
            </a:r>
            <a:r>
              <a:rPr lang="en-US" altLang="zh-CN" sz="3200" dirty="0"/>
              <a:t>4.</a:t>
            </a:r>
            <a:r>
              <a:rPr lang="zh-CN" altLang="en-US" sz="3200" dirty="0"/>
              <a:t>设计资源难以重用</a:t>
            </a:r>
            <a:r>
              <a:rPr lang="en-US" altLang="zh-CN" sz="3200" dirty="0"/>
              <a:t>,</a:t>
            </a:r>
            <a:r>
              <a:rPr lang="zh-CN" altLang="en-US" sz="3200" dirty="0"/>
              <a:t>资源难以共享</a:t>
            </a:r>
          </a:p>
          <a:p>
            <a:pPr eaLnBrk="1" hangingPunct="1">
              <a:lnSpc>
                <a:spcPct val="150000"/>
              </a:lnSpc>
              <a:spcBef>
                <a:spcPts val="0"/>
              </a:spcBef>
              <a:buNone/>
            </a:pPr>
            <a:r>
              <a:rPr lang="zh-CN" altLang="en-US" sz="3200" dirty="0"/>
              <a:t>   </a:t>
            </a:r>
            <a:r>
              <a:rPr lang="en-US" altLang="zh-CN" sz="3200" dirty="0"/>
              <a:t>5.</a:t>
            </a:r>
            <a:r>
              <a:rPr lang="zh-CN" altLang="en-US" sz="3200" dirty="0"/>
              <a:t>设计成本高</a:t>
            </a:r>
            <a:r>
              <a:rPr lang="en-US" altLang="zh-CN" sz="3200" dirty="0"/>
              <a:t>,</a:t>
            </a:r>
            <a:r>
              <a:rPr lang="zh-CN" altLang="en-US" sz="3200" dirty="0"/>
              <a:t>设计周期长</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p:cNvSpPr>
          <p:nvPr>
            <p:ph type="title"/>
          </p:nvPr>
        </p:nvSpPr>
        <p:spPr>
          <a:xfrm>
            <a:off x="900113" y="188913"/>
            <a:ext cx="4824412" cy="792162"/>
          </a:xfrm>
        </p:spPr>
        <p:txBody>
          <a:bodyPr vert="horz" wrap="square" lIns="91440" tIns="45720" rIns="91440" bIns="45720" anchor="b" anchorCtr="0"/>
          <a:lstStyle/>
          <a:p>
            <a:pPr eaLnBrk="1" hangingPunct="1"/>
            <a:r>
              <a:rPr lang="zh-CN" altLang="en-US" dirty="0"/>
              <a:t>数字系统设计的概念</a:t>
            </a:r>
          </a:p>
        </p:txBody>
      </p:sp>
      <p:sp>
        <p:nvSpPr>
          <p:cNvPr id="2" name="Rectangle 4" descr="Rectangle: Click to edit Master text styles&#10;Second level&#10;Third level&#10;Fourth level&#10;Fifth level">
            <a:extLst>
              <a:ext uri="{FF2B5EF4-FFF2-40B4-BE49-F238E27FC236}">
                <a16:creationId xmlns:a16="http://schemas.microsoft.com/office/drawing/2014/main" id="{AF1257DF-879D-5F8E-E563-E296D5A9B3BB}"/>
              </a:ext>
            </a:extLst>
          </p:cNvPr>
          <p:cNvSpPr txBox="1">
            <a:spLocks/>
          </p:cNvSpPr>
          <p:nvPr/>
        </p:nvSpPr>
        <p:spPr>
          <a:xfrm>
            <a:off x="804337" y="1147991"/>
            <a:ext cx="8339663" cy="467677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3"/>
              </a:buBlip>
              <a:defRPr kumimoji="1" sz="3600">
                <a:solidFill>
                  <a:srgbClr val="4B51A5"/>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3200">
                <a:solidFill>
                  <a:srgbClr val="4B51A5"/>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800">
                <a:solidFill>
                  <a:srgbClr val="4B51A5"/>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400">
                <a:solidFill>
                  <a:srgbClr val="4B51A5"/>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9pPr>
          </a:lstStyle>
          <a:p>
            <a:pPr eaLnBrk="1" hangingPunct="1">
              <a:lnSpc>
                <a:spcPct val="150000"/>
              </a:lnSpc>
              <a:spcBef>
                <a:spcPts val="0"/>
              </a:spcBef>
            </a:pPr>
            <a:r>
              <a:rPr lang="zh-CN" altLang="en-US" sz="3200" kern="0" dirty="0"/>
              <a:t>现代设计</a:t>
            </a:r>
            <a:r>
              <a:rPr lang="en-US" altLang="zh-CN" sz="3200" kern="0" dirty="0"/>
              <a:t>――</a:t>
            </a:r>
          </a:p>
          <a:p>
            <a:pPr eaLnBrk="1" hangingPunct="1">
              <a:spcBef>
                <a:spcPts val="1200"/>
              </a:spcBef>
              <a:buFont typeface="Wingdings" panose="05000000000000000000" pitchFamily="2" charset="2"/>
              <a:buNone/>
            </a:pPr>
            <a:r>
              <a:rPr lang="en-US" altLang="zh-CN" sz="3200" kern="0" dirty="0"/>
              <a:t>   1.</a:t>
            </a:r>
            <a:r>
              <a:rPr lang="zh-CN" altLang="en-US" sz="3200" kern="0" dirty="0"/>
              <a:t>可以从行为级开始设计，设计的自由度和灵活性大</a:t>
            </a:r>
          </a:p>
          <a:p>
            <a:pPr eaLnBrk="1" hangingPunct="1">
              <a:lnSpc>
                <a:spcPct val="150000"/>
              </a:lnSpc>
              <a:spcBef>
                <a:spcPts val="0"/>
              </a:spcBef>
              <a:buFont typeface="Wingdings" panose="05000000000000000000" pitchFamily="2" charset="2"/>
              <a:buNone/>
            </a:pPr>
            <a:r>
              <a:rPr lang="zh-CN" altLang="en-US" sz="3200" kern="0" dirty="0"/>
              <a:t>   </a:t>
            </a:r>
            <a:r>
              <a:rPr lang="en-US" altLang="zh-CN" sz="3200" kern="0" dirty="0"/>
              <a:t>2.</a:t>
            </a:r>
            <a:r>
              <a:rPr lang="zh-CN" altLang="en-US" sz="3200" kern="0" dirty="0"/>
              <a:t>芯片单片即可完成</a:t>
            </a:r>
          </a:p>
          <a:p>
            <a:pPr eaLnBrk="1" hangingPunct="1">
              <a:lnSpc>
                <a:spcPct val="150000"/>
              </a:lnSpc>
              <a:spcBef>
                <a:spcPts val="0"/>
              </a:spcBef>
              <a:buNone/>
            </a:pPr>
            <a:r>
              <a:rPr lang="zh-CN" altLang="en-US" sz="3200" kern="0" dirty="0"/>
              <a:t>   </a:t>
            </a:r>
            <a:r>
              <a:rPr lang="en-US" altLang="zh-CN" sz="3200" kern="0" dirty="0"/>
              <a:t>3.</a:t>
            </a:r>
            <a:r>
              <a:rPr lang="zh-CN" altLang="en-US" sz="3200" dirty="0"/>
              <a:t>测试、修改简单</a:t>
            </a:r>
            <a:r>
              <a:rPr lang="en-US" altLang="zh-CN" sz="3200" dirty="0"/>
              <a:t>,</a:t>
            </a:r>
            <a:r>
              <a:rPr lang="zh-CN" altLang="en-US" sz="3200" dirty="0"/>
              <a:t>设计效率高</a:t>
            </a:r>
            <a:endParaRPr lang="zh-CN" altLang="en-US" sz="3200" kern="0" dirty="0"/>
          </a:p>
          <a:p>
            <a:pPr eaLnBrk="1" hangingPunct="1">
              <a:lnSpc>
                <a:spcPct val="150000"/>
              </a:lnSpc>
              <a:spcBef>
                <a:spcPts val="0"/>
              </a:spcBef>
              <a:buNone/>
            </a:pPr>
            <a:r>
              <a:rPr lang="zh-CN" altLang="en-US" sz="3200" kern="0" dirty="0"/>
              <a:t>   </a:t>
            </a:r>
            <a:r>
              <a:rPr lang="en-US" altLang="zh-CN" sz="3200" kern="0" dirty="0"/>
              <a:t>4.</a:t>
            </a:r>
            <a:r>
              <a:rPr lang="zh-CN" altLang="en-US" sz="3200" dirty="0"/>
              <a:t>设计资源重用性强，方便共享与程序移植 </a:t>
            </a:r>
            <a:endParaRPr lang="zh-CN" altLang="en-US" sz="3200" kern="0" dirty="0"/>
          </a:p>
          <a:p>
            <a:pPr eaLnBrk="1" hangingPunct="1">
              <a:spcBef>
                <a:spcPts val="1200"/>
              </a:spcBef>
              <a:buNone/>
            </a:pPr>
            <a:r>
              <a:rPr lang="zh-CN" altLang="en-US" sz="3200" kern="0" dirty="0"/>
              <a:t>   </a:t>
            </a:r>
            <a:r>
              <a:rPr lang="en-US" altLang="zh-CN" sz="3200" kern="0" dirty="0"/>
              <a:t>5.</a:t>
            </a:r>
            <a:r>
              <a:rPr lang="zh-CN" altLang="en-US" sz="3200" dirty="0"/>
              <a:t>缩小体积，降低功耗，降低成本，缩短开发周期</a:t>
            </a:r>
            <a:endParaRPr lang="zh-CN" altLang="en-US" sz="3200" kern="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p:cNvSpPr>
          <p:nvPr>
            <p:ph type="title"/>
          </p:nvPr>
        </p:nvSpPr>
        <p:spPr>
          <a:xfrm>
            <a:off x="900113" y="188913"/>
            <a:ext cx="4319587" cy="792162"/>
          </a:xfrm>
        </p:spPr>
        <p:txBody>
          <a:bodyPr vert="horz" wrap="square" lIns="91440" tIns="45720" rIns="91440" bIns="45720" anchor="b" anchorCtr="0"/>
          <a:lstStyle/>
          <a:p>
            <a:pPr eaLnBrk="1" hangingPunct="1"/>
            <a:r>
              <a:rPr lang="zh-CN" altLang="en-US" dirty="0"/>
              <a:t>数字系统设计流程</a:t>
            </a:r>
          </a:p>
        </p:txBody>
      </p:sp>
      <p:sp>
        <p:nvSpPr>
          <p:cNvPr id="57346" name="Rectangle 15"/>
          <p:cNvSpPr/>
          <p:nvPr/>
        </p:nvSpPr>
        <p:spPr>
          <a:xfrm>
            <a:off x="1619250" y="1484313"/>
            <a:ext cx="2087563" cy="1368425"/>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ahoma" panose="020B0604030504040204" pitchFamily="34" charset="0"/>
              <a:ea typeface="宋体" panose="02010600030101010101" pitchFamily="2" charset="-122"/>
            </a:endParaRPr>
          </a:p>
        </p:txBody>
      </p:sp>
      <p:sp>
        <p:nvSpPr>
          <p:cNvPr id="57347" name="Text Box 16"/>
          <p:cNvSpPr txBox="1"/>
          <p:nvPr/>
        </p:nvSpPr>
        <p:spPr>
          <a:xfrm>
            <a:off x="1908175" y="1484313"/>
            <a:ext cx="1584325" cy="457200"/>
          </a:xfrm>
          <a:prstGeom prst="rect">
            <a:avLst/>
          </a:prstGeom>
          <a:noFill/>
          <a:ln w="9525">
            <a:noFill/>
          </a:ln>
        </p:spPr>
        <p:txBody>
          <a:bodyPr anchor="t" anchorCtr="0">
            <a:spAutoFit/>
          </a:bodyPr>
          <a:lstStyle/>
          <a:p>
            <a:pPr>
              <a:spcBef>
                <a:spcPct val="50000"/>
              </a:spcBef>
            </a:pPr>
            <a:r>
              <a:rPr lang="zh-CN" altLang="en-US" dirty="0">
                <a:latin typeface="Tahoma" panose="020B0604030504040204" pitchFamily="34" charset="0"/>
                <a:ea typeface="宋体" panose="02010600030101010101" pitchFamily="2" charset="-122"/>
              </a:rPr>
              <a:t>设计输入</a:t>
            </a:r>
          </a:p>
        </p:txBody>
      </p:sp>
      <p:sp>
        <p:nvSpPr>
          <p:cNvPr id="57348" name="Text Box 18"/>
          <p:cNvSpPr txBox="1"/>
          <p:nvPr/>
        </p:nvSpPr>
        <p:spPr>
          <a:xfrm>
            <a:off x="1908175" y="1916113"/>
            <a:ext cx="1584325" cy="457200"/>
          </a:xfrm>
          <a:prstGeom prst="rect">
            <a:avLst/>
          </a:prstGeom>
          <a:noFill/>
          <a:ln w="9525">
            <a:noFill/>
          </a:ln>
        </p:spPr>
        <p:txBody>
          <a:bodyPr anchor="t" anchorCtr="0">
            <a:spAutoFit/>
          </a:bodyPr>
          <a:lstStyle/>
          <a:p>
            <a:pPr>
              <a:spcBef>
                <a:spcPct val="50000"/>
              </a:spcBef>
            </a:pPr>
            <a:r>
              <a:rPr lang="en-US" altLang="zh-CN" dirty="0">
                <a:latin typeface="Tahoma" panose="020B0604030504040204" pitchFamily="34" charset="0"/>
                <a:ea typeface="宋体" panose="02010600030101010101" pitchFamily="2" charset="-122"/>
              </a:rPr>
              <a:t>•</a:t>
            </a:r>
            <a:r>
              <a:rPr lang="zh-CN" altLang="en-US" dirty="0">
                <a:latin typeface="Tahoma" panose="020B0604030504040204" pitchFamily="34" charset="0"/>
                <a:ea typeface="宋体" panose="02010600030101010101" pitchFamily="2" charset="-122"/>
              </a:rPr>
              <a:t>原理图</a:t>
            </a:r>
          </a:p>
        </p:txBody>
      </p:sp>
      <p:sp>
        <p:nvSpPr>
          <p:cNvPr id="57349" name="Text Box 19"/>
          <p:cNvSpPr txBox="1"/>
          <p:nvPr/>
        </p:nvSpPr>
        <p:spPr>
          <a:xfrm>
            <a:off x="1908175" y="2349500"/>
            <a:ext cx="1728788" cy="457200"/>
          </a:xfrm>
          <a:prstGeom prst="rect">
            <a:avLst/>
          </a:prstGeom>
          <a:noFill/>
          <a:ln w="9525">
            <a:noFill/>
          </a:ln>
        </p:spPr>
        <p:txBody>
          <a:bodyPr anchor="t" anchorCtr="0">
            <a:spAutoFit/>
          </a:bodyPr>
          <a:lstStyle/>
          <a:p>
            <a:pPr>
              <a:spcBef>
                <a:spcPct val="50000"/>
              </a:spcBef>
            </a:pPr>
            <a:r>
              <a:rPr lang="en-US" altLang="zh-CN" dirty="0">
                <a:latin typeface="Tahoma" panose="020B0604030504040204" pitchFamily="34" charset="0"/>
                <a:ea typeface="宋体" panose="02010600030101010101" pitchFamily="2" charset="-122"/>
              </a:rPr>
              <a:t>•HDL</a:t>
            </a:r>
            <a:r>
              <a:rPr lang="zh-CN" altLang="en-US" dirty="0">
                <a:latin typeface="Tahoma" panose="020B0604030504040204" pitchFamily="34" charset="0"/>
                <a:ea typeface="宋体" panose="02010600030101010101" pitchFamily="2" charset="-122"/>
              </a:rPr>
              <a:t>文本</a:t>
            </a:r>
          </a:p>
        </p:txBody>
      </p:sp>
      <p:sp>
        <p:nvSpPr>
          <p:cNvPr id="57350" name="Rectangle 21"/>
          <p:cNvSpPr/>
          <p:nvPr/>
        </p:nvSpPr>
        <p:spPr>
          <a:xfrm>
            <a:off x="1619250" y="3213100"/>
            <a:ext cx="2097088" cy="1292225"/>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ahoma" panose="020B0604030504040204" pitchFamily="34" charset="0"/>
              <a:ea typeface="宋体" panose="02010600030101010101" pitchFamily="2" charset="-122"/>
            </a:endParaRPr>
          </a:p>
        </p:txBody>
      </p:sp>
      <p:sp>
        <p:nvSpPr>
          <p:cNvPr id="57351" name="Text Box 23"/>
          <p:cNvSpPr txBox="1"/>
          <p:nvPr/>
        </p:nvSpPr>
        <p:spPr>
          <a:xfrm>
            <a:off x="1889125" y="3187700"/>
            <a:ext cx="1584325" cy="457200"/>
          </a:xfrm>
          <a:prstGeom prst="rect">
            <a:avLst/>
          </a:prstGeom>
          <a:noFill/>
          <a:ln w="9525">
            <a:noFill/>
          </a:ln>
        </p:spPr>
        <p:txBody>
          <a:bodyPr anchor="t" anchorCtr="0">
            <a:spAutoFit/>
          </a:bodyPr>
          <a:lstStyle/>
          <a:p>
            <a:pPr>
              <a:spcBef>
                <a:spcPct val="50000"/>
              </a:spcBef>
            </a:pPr>
            <a:r>
              <a:rPr lang="en-US" altLang="zh-CN" dirty="0">
                <a:latin typeface="Tahoma" panose="020B0604030504040204" pitchFamily="34" charset="0"/>
                <a:ea typeface="宋体" panose="02010600030101010101" pitchFamily="2" charset="-122"/>
              </a:rPr>
              <a:t> </a:t>
            </a:r>
            <a:r>
              <a:rPr lang="zh-CN" altLang="en-US" dirty="0">
                <a:latin typeface="Tahoma" panose="020B0604030504040204" pitchFamily="34" charset="0"/>
                <a:ea typeface="宋体" panose="02010600030101010101" pitchFamily="2" charset="-122"/>
              </a:rPr>
              <a:t>设计处理</a:t>
            </a:r>
          </a:p>
        </p:txBody>
      </p:sp>
      <p:sp>
        <p:nvSpPr>
          <p:cNvPr id="57352" name="Rectangle 26"/>
          <p:cNvSpPr/>
          <p:nvPr/>
        </p:nvSpPr>
        <p:spPr>
          <a:xfrm>
            <a:off x="1635125" y="4937125"/>
            <a:ext cx="2087563" cy="576263"/>
          </a:xfrm>
          <a:prstGeom prst="rect">
            <a:avLst/>
          </a:prstGeom>
          <a:noFill/>
          <a:ln w="9525" cap="flat" cmpd="sng">
            <a:solidFill>
              <a:schemeClr val="tx1"/>
            </a:solidFill>
            <a:prstDash val="solid"/>
            <a:miter/>
            <a:headEnd type="none" w="med" len="med"/>
            <a:tailEnd type="none" w="med" len="med"/>
          </a:ln>
        </p:spPr>
        <p:txBody>
          <a:bodyPr wrap="none" anchor="ctr" anchorCtr="0"/>
          <a:lstStyle/>
          <a:p>
            <a:pPr algn="ctr"/>
            <a:r>
              <a:rPr lang="zh-CN" altLang="en-US" dirty="0">
                <a:latin typeface="Tahoma" panose="020B0604030504040204" pitchFamily="34" charset="0"/>
                <a:ea typeface="宋体" panose="02010600030101010101" pitchFamily="2" charset="-122"/>
              </a:rPr>
              <a:t>下载编程</a:t>
            </a:r>
          </a:p>
        </p:txBody>
      </p:sp>
      <p:sp>
        <p:nvSpPr>
          <p:cNvPr id="57353" name="Rectangle 27"/>
          <p:cNvSpPr/>
          <p:nvPr/>
        </p:nvSpPr>
        <p:spPr>
          <a:xfrm>
            <a:off x="5508625" y="3357563"/>
            <a:ext cx="2087563" cy="792162"/>
          </a:xfrm>
          <a:prstGeom prst="rect">
            <a:avLst/>
          </a:prstGeom>
          <a:noFill/>
          <a:ln w="9525" cap="flat" cmpd="sng">
            <a:solidFill>
              <a:schemeClr val="tx1"/>
            </a:solidFill>
            <a:prstDash val="solid"/>
            <a:miter/>
            <a:headEnd type="none" w="med" len="med"/>
            <a:tailEnd type="none" w="med" len="med"/>
          </a:ln>
        </p:spPr>
        <p:txBody>
          <a:bodyPr wrap="none" anchor="ctr" anchorCtr="0"/>
          <a:lstStyle/>
          <a:p>
            <a:pPr algn="ctr"/>
            <a:r>
              <a:rPr lang="zh-CN" altLang="en-US" dirty="0">
                <a:latin typeface="Tahoma" panose="020B0604030504040204" pitchFamily="34" charset="0"/>
                <a:ea typeface="宋体" panose="02010600030101010101" pitchFamily="2" charset="-122"/>
              </a:rPr>
              <a:t>时序仿真</a:t>
            </a:r>
          </a:p>
        </p:txBody>
      </p:sp>
      <p:sp>
        <p:nvSpPr>
          <p:cNvPr id="57354" name="Line 28"/>
          <p:cNvSpPr/>
          <p:nvPr/>
        </p:nvSpPr>
        <p:spPr>
          <a:xfrm>
            <a:off x="2628900" y="2852738"/>
            <a:ext cx="0" cy="360362"/>
          </a:xfrm>
          <a:prstGeom prst="line">
            <a:avLst/>
          </a:prstGeom>
          <a:ln w="9525" cap="flat" cmpd="sng">
            <a:solidFill>
              <a:schemeClr val="tx1"/>
            </a:solidFill>
            <a:prstDash val="solid"/>
            <a:round/>
            <a:headEnd type="none" w="med" len="med"/>
            <a:tailEnd type="triangle" w="med" len="med"/>
          </a:ln>
        </p:spPr>
        <p:txBody>
          <a:bodyPr/>
          <a:lstStyle/>
          <a:p>
            <a:endParaRPr lang="zh-CN" altLang="en-US"/>
          </a:p>
        </p:txBody>
      </p:sp>
      <p:sp>
        <p:nvSpPr>
          <p:cNvPr id="57355" name="Line 29"/>
          <p:cNvSpPr/>
          <p:nvPr/>
        </p:nvSpPr>
        <p:spPr>
          <a:xfrm>
            <a:off x="6372225" y="2492375"/>
            <a:ext cx="0" cy="873125"/>
          </a:xfrm>
          <a:prstGeom prst="line">
            <a:avLst/>
          </a:prstGeom>
          <a:ln w="9525" cap="flat" cmpd="sng">
            <a:solidFill>
              <a:schemeClr val="tx1"/>
            </a:solidFill>
            <a:prstDash val="solid"/>
            <a:round/>
            <a:headEnd type="none" w="med" len="med"/>
            <a:tailEnd type="triangle" w="med" len="med"/>
          </a:ln>
        </p:spPr>
        <p:txBody>
          <a:bodyPr/>
          <a:lstStyle/>
          <a:p>
            <a:endParaRPr lang="zh-CN" altLang="en-US"/>
          </a:p>
        </p:txBody>
      </p:sp>
      <p:sp>
        <p:nvSpPr>
          <p:cNvPr id="57356" name="Line 36"/>
          <p:cNvSpPr/>
          <p:nvPr/>
        </p:nvSpPr>
        <p:spPr>
          <a:xfrm>
            <a:off x="2643188" y="4505325"/>
            <a:ext cx="0" cy="457200"/>
          </a:xfrm>
          <a:prstGeom prst="line">
            <a:avLst/>
          </a:prstGeom>
          <a:ln w="9525" cap="flat" cmpd="sng">
            <a:solidFill>
              <a:schemeClr val="tx1"/>
            </a:solidFill>
            <a:prstDash val="solid"/>
            <a:round/>
            <a:headEnd type="none" w="med" len="med"/>
            <a:tailEnd type="triangle" w="med" len="med"/>
          </a:ln>
        </p:spPr>
        <p:txBody>
          <a:bodyPr/>
          <a:lstStyle/>
          <a:p>
            <a:endParaRPr lang="zh-CN" altLang="en-US"/>
          </a:p>
        </p:txBody>
      </p:sp>
      <p:sp>
        <p:nvSpPr>
          <p:cNvPr id="57357" name="Text Box 41"/>
          <p:cNvSpPr txBox="1"/>
          <p:nvPr/>
        </p:nvSpPr>
        <p:spPr>
          <a:xfrm>
            <a:off x="2066925" y="3568700"/>
            <a:ext cx="1639888" cy="461665"/>
          </a:xfrm>
          <a:prstGeom prst="rect">
            <a:avLst/>
          </a:prstGeom>
          <a:noFill/>
          <a:ln w="9525">
            <a:noFill/>
          </a:ln>
        </p:spPr>
        <p:txBody>
          <a:bodyPr wrap="square" anchor="t" anchorCtr="0">
            <a:spAutoFit/>
          </a:bodyPr>
          <a:lstStyle/>
          <a:p>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逻辑</a:t>
            </a:r>
            <a:r>
              <a:rPr lang="zh-CN" altLang="en-US" dirty="0">
                <a:latin typeface="Tahoma" panose="020B0604030504040204" pitchFamily="34" charset="0"/>
                <a:ea typeface="宋体" panose="02010600030101010101" pitchFamily="2" charset="-122"/>
              </a:rPr>
              <a:t>综合</a:t>
            </a:r>
          </a:p>
        </p:txBody>
      </p:sp>
      <p:sp>
        <p:nvSpPr>
          <p:cNvPr id="57358" name="Text Box 42"/>
          <p:cNvSpPr txBox="1"/>
          <p:nvPr/>
        </p:nvSpPr>
        <p:spPr>
          <a:xfrm>
            <a:off x="2051050" y="3933825"/>
            <a:ext cx="1655763" cy="457200"/>
          </a:xfrm>
          <a:prstGeom prst="rect">
            <a:avLst/>
          </a:prstGeom>
          <a:noFill/>
          <a:ln w="9525">
            <a:noFill/>
          </a:ln>
        </p:spPr>
        <p:txBody>
          <a:bodyPr anchor="t" anchorCtr="0">
            <a:spAutoFit/>
          </a:bodyPr>
          <a:lstStyle/>
          <a:p>
            <a:r>
              <a:rPr lang="en-US" altLang="zh-CN" dirty="0">
                <a:latin typeface="Times New Roman" panose="02020603050405020304" pitchFamily="18" charset="0"/>
                <a:ea typeface="宋体" panose="02010600030101010101" pitchFamily="2" charset="-122"/>
              </a:rPr>
              <a:t>•</a:t>
            </a:r>
            <a:r>
              <a:rPr lang="zh-CN" altLang="en-US" dirty="0">
                <a:latin typeface="Tahoma" panose="020B0604030504040204" pitchFamily="34" charset="0"/>
                <a:ea typeface="宋体" panose="02010600030101010101" pitchFamily="2" charset="-122"/>
              </a:rPr>
              <a:t>器件适配</a:t>
            </a:r>
          </a:p>
        </p:txBody>
      </p:sp>
      <p:sp>
        <p:nvSpPr>
          <p:cNvPr id="57359" name="Rectangle 43"/>
          <p:cNvSpPr/>
          <p:nvPr/>
        </p:nvSpPr>
        <p:spPr>
          <a:xfrm>
            <a:off x="5508625" y="4797425"/>
            <a:ext cx="2087563" cy="792163"/>
          </a:xfrm>
          <a:prstGeom prst="rect">
            <a:avLst/>
          </a:prstGeom>
          <a:noFill/>
          <a:ln w="9525" cap="flat" cmpd="sng">
            <a:solidFill>
              <a:schemeClr val="tx1"/>
            </a:solidFill>
            <a:prstDash val="solid"/>
            <a:miter/>
            <a:headEnd type="none" w="med" len="med"/>
            <a:tailEnd type="none" w="med" len="med"/>
          </a:ln>
        </p:spPr>
        <p:txBody>
          <a:bodyPr wrap="none" anchor="ctr" anchorCtr="0"/>
          <a:lstStyle/>
          <a:p>
            <a:pPr algn="ctr"/>
            <a:r>
              <a:rPr lang="zh-CN" altLang="en-US" dirty="0">
                <a:latin typeface="Tahoma" panose="020B0604030504040204" pitchFamily="34" charset="0"/>
                <a:ea typeface="宋体" panose="02010600030101010101" pitchFamily="2" charset="-122"/>
              </a:rPr>
              <a:t>在线测试</a:t>
            </a:r>
          </a:p>
        </p:txBody>
      </p:sp>
      <p:sp>
        <p:nvSpPr>
          <p:cNvPr id="57360" name="Rectangle 44"/>
          <p:cNvSpPr/>
          <p:nvPr/>
        </p:nvSpPr>
        <p:spPr>
          <a:xfrm>
            <a:off x="5508625" y="1700213"/>
            <a:ext cx="2087563" cy="792162"/>
          </a:xfrm>
          <a:prstGeom prst="rect">
            <a:avLst/>
          </a:prstGeom>
          <a:noFill/>
          <a:ln w="9525" cap="flat" cmpd="sng">
            <a:solidFill>
              <a:schemeClr val="tx1"/>
            </a:solidFill>
            <a:prstDash val="solid"/>
            <a:miter/>
            <a:headEnd type="none" w="med" len="med"/>
            <a:tailEnd type="none" w="med" len="med"/>
          </a:ln>
        </p:spPr>
        <p:txBody>
          <a:bodyPr wrap="none" anchor="ctr" anchorCtr="0"/>
          <a:lstStyle/>
          <a:p>
            <a:pPr algn="ctr"/>
            <a:r>
              <a:rPr lang="zh-CN" altLang="en-US" dirty="0">
                <a:latin typeface="Tahoma" panose="020B0604030504040204" pitchFamily="34" charset="0"/>
                <a:ea typeface="宋体" panose="02010600030101010101" pitchFamily="2" charset="-122"/>
              </a:rPr>
              <a:t>功能仿真</a:t>
            </a:r>
          </a:p>
        </p:txBody>
      </p:sp>
      <p:sp>
        <p:nvSpPr>
          <p:cNvPr id="57361" name="Line 45"/>
          <p:cNvSpPr/>
          <p:nvPr/>
        </p:nvSpPr>
        <p:spPr>
          <a:xfrm>
            <a:off x="6372225" y="4149725"/>
            <a:ext cx="0" cy="647700"/>
          </a:xfrm>
          <a:prstGeom prst="line">
            <a:avLst/>
          </a:prstGeom>
          <a:ln w="9525" cap="flat" cmpd="sng">
            <a:solidFill>
              <a:schemeClr val="tx1"/>
            </a:solidFill>
            <a:prstDash val="solid"/>
            <a:round/>
            <a:headEnd type="none" w="med" len="med"/>
            <a:tailEnd type="triangle" w="med" len="med"/>
          </a:ln>
        </p:spPr>
        <p:txBody>
          <a:bodyPr/>
          <a:lstStyle/>
          <a:p>
            <a:endParaRPr lang="zh-CN" altLang="en-US"/>
          </a:p>
        </p:txBody>
      </p:sp>
      <p:sp>
        <p:nvSpPr>
          <p:cNvPr id="57362" name="Line 46"/>
          <p:cNvSpPr/>
          <p:nvPr/>
        </p:nvSpPr>
        <p:spPr>
          <a:xfrm>
            <a:off x="3708400" y="2133600"/>
            <a:ext cx="1800225" cy="0"/>
          </a:xfrm>
          <a:prstGeom prst="line">
            <a:avLst/>
          </a:prstGeom>
          <a:ln w="57150" cap="flat" cmpd="sng">
            <a:solidFill>
              <a:schemeClr val="tx1"/>
            </a:solidFill>
            <a:prstDash val="solid"/>
            <a:round/>
            <a:headEnd type="triangle" w="med" len="med"/>
            <a:tailEnd type="triangle" w="med" len="med"/>
          </a:ln>
        </p:spPr>
        <p:txBody>
          <a:bodyPr/>
          <a:lstStyle/>
          <a:p>
            <a:endParaRPr lang="zh-CN" altLang="en-US"/>
          </a:p>
        </p:txBody>
      </p:sp>
      <p:sp>
        <p:nvSpPr>
          <p:cNvPr id="57363" name="Line 47"/>
          <p:cNvSpPr/>
          <p:nvPr/>
        </p:nvSpPr>
        <p:spPr>
          <a:xfrm>
            <a:off x="3708400" y="3789363"/>
            <a:ext cx="1800225" cy="0"/>
          </a:xfrm>
          <a:prstGeom prst="line">
            <a:avLst/>
          </a:prstGeom>
          <a:ln w="57150" cap="flat" cmpd="sng">
            <a:solidFill>
              <a:schemeClr val="tx1"/>
            </a:solidFill>
            <a:prstDash val="solid"/>
            <a:round/>
            <a:headEnd type="triangle" w="med" len="med"/>
            <a:tailEnd type="triangle" w="med" len="med"/>
          </a:ln>
        </p:spPr>
        <p:txBody>
          <a:bodyPr/>
          <a:lstStyle/>
          <a:p>
            <a:endParaRPr lang="zh-CN" altLang="en-US"/>
          </a:p>
        </p:txBody>
      </p:sp>
      <p:sp>
        <p:nvSpPr>
          <p:cNvPr id="57364" name="Line 48"/>
          <p:cNvSpPr/>
          <p:nvPr/>
        </p:nvSpPr>
        <p:spPr>
          <a:xfrm>
            <a:off x="3708400" y="5229225"/>
            <a:ext cx="1800225" cy="0"/>
          </a:xfrm>
          <a:prstGeom prst="line">
            <a:avLst/>
          </a:prstGeom>
          <a:ln w="57150" cap="flat" cmpd="sng">
            <a:solidFill>
              <a:schemeClr val="tx1"/>
            </a:solidFill>
            <a:prstDash val="solid"/>
            <a:round/>
            <a:headEnd type="triangle" w="med" len="med"/>
            <a:tailEnd type="triangle" w="med" len="med"/>
          </a:ln>
        </p:spPr>
        <p:txBody>
          <a:bodyPr/>
          <a:lstStyle/>
          <a:p>
            <a:endParaRPr lang="zh-CN" altLang="en-US"/>
          </a:p>
        </p:txBody>
      </p:sp>
      <p:sp>
        <p:nvSpPr>
          <p:cNvPr id="2" name="矩形 1">
            <a:extLst>
              <a:ext uri="{FF2B5EF4-FFF2-40B4-BE49-F238E27FC236}">
                <a16:creationId xmlns:a16="http://schemas.microsoft.com/office/drawing/2014/main" id="{6AB45848-1E53-61C8-3E40-1DC4A3BB9878}"/>
              </a:ext>
            </a:extLst>
          </p:cNvPr>
          <p:cNvSpPr/>
          <p:nvPr/>
        </p:nvSpPr>
        <p:spPr bwMode="auto">
          <a:xfrm>
            <a:off x="1331640" y="1340768"/>
            <a:ext cx="6768752" cy="1631331"/>
          </a:xfrm>
          <a:prstGeom prst="rect">
            <a:avLst/>
          </a:prstGeom>
          <a:noFill/>
          <a:ln w="41275" cap="flat" cmpd="sng" algn="ctr">
            <a:solidFill>
              <a:srgbClr val="C00000"/>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sp>
        <p:nvSpPr>
          <p:cNvPr id="3" name="矩形 2">
            <a:extLst>
              <a:ext uri="{FF2B5EF4-FFF2-40B4-BE49-F238E27FC236}">
                <a16:creationId xmlns:a16="http://schemas.microsoft.com/office/drawing/2014/main" id="{3E8DBF08-3390-58AF-B0D9-AAB369006F5D}"/>
              </a:ext>
            </a:extLst>
          </p:cNvPr>
          <p:cNvSpPr/>
          <p:nvPr/>
        </p:nvSpPr>
        <p:spPr bwMode="auto">
          <a:xfrm>
            <a:off x="1331640" y="4643628"/>
            <a:ext cx="6768744" cy="1017620"/>
          </a:xfrm>
          <a:prstGeom prst="rect">
            <a:avLst/>
          </a:prstGeom>
          <a:noFill/>
          <a:ln w="41275" cap="flat" cmpd="sng" algn="ctr">
            <a:solidFill>
              <a:srgbClr val="C00000"/>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p:cNvSpPr>
          <p:nvPr>
            <p:ph type="title"/>
          </p:nvPr>
        </p:nvSpPr>
        <p:spPr>
          <a:xfrm>
            <a:off x="900113" y="188913"/>
            <a:ext cx="4319587" cy="792162"/>
          </a:xfrm>
        </p:spPr>
        <p:txBody>
          <a:bodyPr vert="horz" wrap="square" lIns="91440" tIns="45720" rIns="91440" bIns="45720" anchor="b" anchorCtr="0"/>
          <a:lstStyle/>
          <a:p>
            <a:pPr eaLnBrk="1" hangingPunct="1"/>
            <a:r>
              <a:rPr lang="zh-CN" altLang="en-US" dirty="0"/>
              <a:t>数字系统设计流程</a:t>
            </a:r>
          </a:p>
        </p:txBody>
      </p:sp>
      <p:sp>
        <p:nvSpPr>
          <p:cNvPr id="58370" name="Rectangle 3" descr="Rectangle: Click to edit Master text styles&#10;Second level&#10;Third level&#10;Fourth level&#10;Fifth level"/>
          <p:cNvSpPr>
            <a:spLocks noGrp="1"/>
          </p:cNvSpPr>
          <p:nvPr>
            <p:ph idx="1"/>
          </p:nvPr>
        </p:nvSpPr>
        <p:spPr/>
        <p:txBody>
          <a:bodyPr vert="horz" wrap="square" lIns="91440" tIns="45720" rIns="91440" bIns="45720" anchor="t" anchorCtr="0"/>
          <a:lstStyle/>
          <a:p>
            <a:pPr eaLnBrk="1" hangingPunct="1">
              <a:spcBef>
                <a:spcPts val="600"/>
              </a:spcBef>
              <a:spcAft>
                <a:spcPts val="600"/>
              </a:spcAft>
            </a:pPr>
            <a:r>
              <a:rPr lang="zh-CN" altLang="en-US" sz="3200" dirty="0"/>
              <a:t>设计输入</a:t>
            </a:r>
          </a:p>
          <a:p>
            <a:pPr eaLnBrk="1" hangingPunct="1">
              <a:spcBef>
                <a:spcPts val="600"/>
              </a:spcBef>
              <a:spcAft>
                <a:spcPts val="600"/>
              </a:spcAft>
              <a:buNone/>
            </a:pPr>
            <a:r>
              <a:rPr lang="zh-CN" altLang="en-US" sz="3200" dirty="0"/>
              <a:t>   </a:t>
            </a:r>
            <a:r>
              <a:rPr lang="en-US" altLang="zh-CN" sz="2800" dirty="0"/>
              <a:t>1.</a:t>
            </a:r>
            <a:r>
              <a:rPr lang="zh-CN" altLang="en-US" sz="2800" dirty="0"/>
              <a:t>原理图输入方式</a:t>
            </a:r>
          </a:p>
          <a:p>
            <a:pPr eaLnBrk="1" hangingPunct="1">
              <a:spcBef>
                <a:spcPts val="600"/>
              </a:spcBef>
              <a:spcAft>
                <a:spcPts val="600"/>
              </a:spcAft>
              <a:buNone/>
            </a:pPr>
            <a:r>
              <a:rPr lang="zh-CN" altLang="en-US" sz="3200" dirty="0"/>
              <a:t>   </a:t>
            </a:r>
            <a:r>
              <a:rPr lang="zh-CN" altLang="en-US" sz="2800" dirty="0"/>
              <a:t>图形化的输入方式</a:t>
            </a:r>
            <a:r>
              <a:rPr lang="en-US" altLang="zh-CN" sz="2800" dirty="0"/>
              <a:t>,</a:t>
            </a:r>
            <a:r>
              <a:rPr lang="zh-CN" altLang="en-US" sz="2800" dirty="0"/>
              <a:t>利用元件符号和连线来描述设计</a:t>
            </a:r>
            <a:r>
              <a:rPr lang="en-US" altLang="zh-CN" sz="2800" dirty="0"/>
              <a:t>.</a:t>
            </a:r>
            <a:r>
              <a:rPr lang="zh-CN" altLang="en-US" sz="2800" dirty="0"/>
              <a:t>适合描述连接关系和接口关系</a:t>
            </a:r>
            <a:r>
              <a:rPr lang="en-US" altLang="zh-CN" sz="2800" dirty="0"/>
              <a:t>,</a:t>
            </a:r>
            <a:r>
              <a:rPr lang="zh-CN" altLang="en-US" sz="2800" dirty="0"/>
              <a:t>简单直观</a:t>
            </a:r>
            <a:r>
              <a:rPr lang="en-US" altLang="zh-CN" sz="2800" dirty="0"/>
              <a:t>,</a:t>
            </a:r>
            <a:r>
              <a:rPr lang="zh-CN" altLang="en-US" sz="2800" dirty="0"/>
              <a:t>适合描述层次结构和模块化结构</a:t>
            </a:r>
            <a:r>
              <a:rPr lang="en-US" altLang="zh-CN" sz="2800" dirty="0"/>
              <a:t>.</a:t>
            </a:r>
            <a:r>
              <a:rPr lang="zh-CN" altLang="en-US" sz="2800" dirty="0"/>
              <a:t>适合简单逻辑</a:t>
            </a:r>
            <a:r>
              <a:rPr lang="en-US" altLang="zh-CN" sz="2800" dirty="0"/>
              <a:t>.</a:t>
            </a:r>
          </a:p>
          <a:p>
            <a:pPr eaLnBrk="1" hangingPunct="1">
              <a:spcBef>
                <a:spcPts val="600"/>
              </a:spcBef>
              <a:spcAft>
                <a:spcPts val="600"/>
              </a:spcAft>
              <a:buNone/>
            </a:pPr>
            <a:r>
              <a:rPr lang="en-US" altLang="zh-CN" sz="2800" dirty="0"/>
              <a:t>    2.HDL</a:t>
            </a:r>
            <a:r>
              <a:rPr lang="zh-CN" altLang="en-US" sz="2800" dirty="0"/>
              <a:t>输入方式</a:t>
            </a:r>
          </a:p>
          <a:p>
            <a:pPr eaLnBrk="1" hangingPunct="1">
              <a:spcBef>
                <a:spcPts val="600"/>
              </a:spcBef>
              <a:spcAft>
                <a:spcPts val="600"/>
              </a:spcAft>
              <a:buNone/>
            </a:pPr>
            <a:r>
              <a:rPr lang="zh-CN" altLang="en-US" sz="3200" dirty="0"/>
              <a:t>   </a:t>
            </a:r>
            <a:r>
              <a:rPr lang="zh-CN" altLang="en-US" sz="2800" dirty="0"/>
              <a:t>用文本方式来描述设计</a:t>
            </a:r>
            <a:r>
              <a:rPr lang="en-US" altLang="zh-CN" sz="2800" dirty="0"/>
              <a:t>,</a:t>
            </a:r>
            <a:r>
              <a:rPr lang="zh-CN" altLang="en-US" sz="2800" dirty="0"/>
              <a:t>逻辑描述能力强</a:t>
            </a:r>
            <a:r>
              <a:rPr lang="en-US" altLang="zh-CN" sz="2800" dirty="0"/>
              <a:t>,</a:t>
            </a:r>
            <a:r>
              <a:rPr lang="zh-CN" altLang="en-US" sz="2800" dirty="0"/>
              <a:t>但描述接口和连接关系不如图形方式直观</a:t>
            </a:r>
            <a:r>
              <a:rPr lang="en-US" altLang="zh-CN" sz="2800" dirty="0"/>
              <a:t>,</a:t>
            </a:r>
            <a:r>
              <a:rPr lang="zh-CN" altLang="en-US" sz="2800" dirty="0"/>
              <a:t>适合于描述和仿真复杂的逻辑设计</a:t>
            </a:r>
            <a:r>
              <a:rPr lang="en-US" altLang="zh-CN" sz="2800" dirty="0"/>
              <a:t>.</a:t>
            </a:r>
            <a:endParaRPr lang="en-US" altLang="zh-CN" sz="3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p:cNvSpPr>
          <p:nvPr>
            <p:ph type="title"/>
          </p:nvPr>
        </p:nvSpPr>
        <p:spPr>
          <a:xfrm>
            <a:off x="900113" y="188913"/>
            <a:ext cx="7632700" cy="792162"/>
          </a:xfrm>
        </p:spPr>
        <p:txBody>
          <a:bodyPr vert="horz" wrap="square" lIns="91440" tIns="45720" rIns="91440" bIns="45720" anchor="b" anchorCtr="0"/>
          <a:lstStyle/>
          <a:p>
            <a:pPr algn="l" eaLnBrk="1" hangingPunct="1"/>
            <a:r>
              <a:rPr lang="zh-CN" altLang="en-US" sz="3600" dirty="0"/>
              <a:t>基于原理图设计</a:t>
            </a:r>
            <a:endParaRPr lang="en-US" altLang="zh-CN" sz="3600" dirty="0">
              <a:solidFill>
                <a:schemeClr val="folHlink"/>
              </a:solidFill>
              <a:ea typeface="宋体" panose="02010600030101010101" pitchFamily="2" charset="-122"/>
            </a:endParaRPr>
          </a:p>
        </p:txBody>
      </p:sp>
      <p:sp>
        <p:nvSpPr>
          <p:cNvPr id="73730" name="Rectangle 3" descr="Rectangle: Click to edit Master text styles&#10;Second level&#10;Third level&#10;Fourth level&#10;Fifth level"/>
          <p:cNvSpPr>
            <a:spLocks noGrp="1"/>
          </p:cNvSpPr>
          <p:nvPr>
            <p:ph type="body" sz="half" idx="1"/>
          </p:nvPr>
        </p:nvSpPr>
        <p:spPr>
          <a:xfrm>
            <a:off x="827088" y="1196975"/>
            <a:ext cx="8066087" cy="647700"/>
          </a:xfrm>
        </p:spPr>
        <p:txBody>
          <a:bodyPr vert="horz" wrap="square" lIns="91440" tIns="45720" rIns="91440" bIns="45720" anchor="t" anchorCtr="0"/>
          <a:lstStyle/>
          <a:p>
            <a:pPr eaLnBrk="1" hangingPunct="1">
              <a:buClr>
                <a:schemeClr val="hlink"/>
              </a:buClr>
              <a:buSzPct val="110000"/>
              <a:buFont typeface="Wingdings" panose="05000000000000000000" pitchFamily="2" charset="2"/>
            </a:pPr>
            <a:r>
              <a:rPr lang="zh-CN" altLang="en-US" sz="3200" dirty="0"/>
              <a:t>以图形方式定义模块</a:t>
            </a:r>
            <a:r>
              <a:rPr lang="en-US" altLang="zh-CN" sz="3200" dirty="0"/>
              <a:t>/</a:t>
            </a:r>
            <a:r>
              <a:rPr lang="zh-CN" altLang="en-US" sz="3200" dirty="0"/>
              <a:t>器件的互连和功能</a:t>
            </a:r>
          </a:p>
          <a:p>
            <a:pPr eaLnBrk="1" hangingPunct="1">
              <a:buClr>
                <a:schemeClr val="hlink"/>
              </a:buClr>
              <a:buSzPct val="110000"/>
              <a:buFont typeface="Wingdings" panose="05000000000000000000" pitchFamily="2" charset="2"/>
              <a:buNone/>
            </a:pPr>
            <a:endParaRPr lang="en-US" altLang="zh-CN" sz="2800" dirty="0"/>
          </a:p>
        </p:txBody>
      </p:sp>
      <p:graphicFrame>
        <p:nvGraphicFramePr>
          <p:cNvPr id="73731" name="Object 1024" descr="Rectangle: Click to edit Master text styles&#10;Second level&#10;Third level&#10;Fourth level&#10;Fifth level"/>
          <p:cNvGraphicFramePr>
            <a:graphicFrameLocks noGrp="1"/>
          </p:cNvGraphicFramePr>
          <p:nvPr>
            <p:ph sz="half" idx="2"/>
          </p:nvPr>
        </p:nvGraphicFramePr>
        <p:xfrm>
          <a:off x="1476375" y="2349500"/>
          <a:ext cx="6510338" cy="2974975"/>
        </p:xfrm>
        <a:graphic>
          <a:graphicData uri="http://schemas.openxmlformats.org/presentationml/2006/ole">
            <mc:AlternateContent xmlns:mc="http://schemas.openxmlformats.org/markup-compatibility/2006">
              <mc:Choice xmlns:v="urn:schemas-microsoft-com:vml" Requires="v">
                <p:oleObj r:id="rId3" imgW="6172200" imgH="2819400" progId="Paint.Picture">
                  <p:embed/>
                </p:oleObj>
              </mc:Choice>
              <mc:Fallback>
                <p:oleObj r:id="rId3" imgW="6172200" imgH="2819400" progId="Paint.Picture">
                  <p:embed/>
                  <p:pic>
                    <p:nvPicPr>
                      <p:cNvPr id="73731" name="Object 1024" descr="Rectangle: Click to edit Master text styles&#10;Second level&#10;Third level&#10;Fourth level&#10;Fifth level"/>
                      <p:cNvPicPr/>
                      <p:nvPr/>
                    </p:nvPicPr>
                    <p:blipFill>
                      <a:blip r:embed="rId4"/>
                      <a:stretch>
                        <a:fillRect/>
                      </a:stretch>
                    </p:blipFill>
                    <p:spPr>
                      <a:xfrm>
                        <a:off x="1476375" y="2349500"/>
                        <a:ext cx="6510338" cy="2974975"/>
                      </a:xfrm>
                      <a:prstGeom prst="rect">
                        <a:avLst/>
                      </a:prstGeom>
                      <a:noFill/>
                      <a:ln w="38100">
                        <a:miter/>
                      </a:ln>
                    </p:spPr>
                  </p:pic>
                </p:oleObj>
              </mc:Fallback>
            </mc:AlternateContent>
          </a:graphicData>
        </a:graphic>
      </p:graphicFrame>
    </p:spTree>
    <p:extLst>
      <p:ext uri="{BB962C8B-B14F-4D97-AF65-F5344CB8AC3E}">
        <p14:creationId xmlns:p14="http://schemas.microsoft.com/office/powerpoint/2010/main" val="16013012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p:cNvSpPr>
          <p:nvPr>
            <p:ph type="title"/>
          </p:nvPr>
        </p:nvSpPr>
        <p:spPr>
          <a:xfrm>
            <a:off x="900113" y="188913"/>
            <a:ext cx="6335712" cy="792162"/>
          </a:xfrm>
        </p:spPr>
        <p:txBody>
          <a:bodyPr vert="horz" wrap="square" lIns="91440" tIns="45720" rIns="91440" bIns="45720" anchor="b" anchorCtr="0"/>
          <a:lstStyle/>
          <a:p>
            <a:pPr algn="l" eaLnBrk="1" hangingPunct="1"/>
            <a:r>
              <a:rPr lang="zh-CN" altLang="en-US" sz="3600" dirty="0"/>
              <a:t>基于</a:t>
            </a:r>
            <a:r>
              <a:rPr lang="en-US" altLang="zh-CN" sz="3600" dirty="0">
                <a:ea typeface="宋体" panose="02010600030101010101" pitchFamily="2" charset="-122"/>
              </a:rPr>
              <a:t>HDL</a:t>
            </a:r>
            <a:r>
              <a:rPr lang="zh-CN" altLang="en-US" sz="3600" dirty="0"/>
              <a:t>的设计</a:t>
            </a:r>
            <a:endParaRPr lang="en-US" altLang="zh-CN" sz="3600" dirty="0">
              <a:solidFill>
                <a:schemeClr val="folHlink"/>
              </a:solidFill>
              <a:ea typeface="宋体" panose="02010600030101010101" pitchFamily="2" charset="-122"/>
            </a:endParaRPr>
          </a:p>
        </p:txBody>
      </p:sp>
      <p:sp>
        <p:nvSpPr>
          <p:cNvPr id="74754" name="Rectangle 3" descr="Rectangle: Click to edit Master text styles&#10;Second level&#10;Third level&#10;Fourth level&#10;Fifth level"/>
          <p:cNvSpPr>
            <a:spLocks noGrp="1"/>
          </p:cNvSpPr>
          <p:nvPr>
            <p:ph idx="1"/>
          </p:nvPr>
        </p:nvSpPr>
        <p:spPr>
          <a:xfrm>
            <a:off x="899478" y="981075"/>
            <a:ext cx="7920037" cy="5472113"/>
          </a:xfrm>
        </p:spPr>
        <p:txBody>
          <a:bodyPr vert="horz" wrap="square" lIns="91440" tIns="45720" rIns="91440" bIns="45720" anchor="t" anchorCtr="0"/>
          <a:lstStyle/>
          <a:p>
            <a:pPr eaLnBrk="1" hangingPunct="1">
              <a:lnSpc>
                <a:spcPct val="80000"/>
              </a:lnSpc>
            </a:pPr>
            <a:r>
              <a:rPr lang="zh-CN" altLang="en-US" sz="2800" dirty="0"/>
              <a:t>用</a:t>
            </a:r>
            <a:r>
              <a:rPr lang="en-US" altLang="zh-CN" sz="2800" dirty="0"/>
              <a:t>HDL</a:t>
            </a:r>
            <a:r>
              <a:rPr lang="zh-CN" altLang="en-US" sz="2800" dirty="0"/>
              <a:t>定义模块及其行为</a:t>
            </a:r>
            <a:r>
              <a:rPr lang="en-US" altLang="zh-CN" sz="2800" dirty="0"/>
              <a:t>(Behavior)</a:t>
            </a:r>
          </a:p>
          <a:p>
            <a:pPr eaLnBrk="1" hangingPunct="1">
              <a:lnSpc>
                <a:spcPct val="80000"/>
              </a:lnSpc>
            </a:pPr>
            <a:r>
              <a:rPr lang="zh-CN" altLang="en-US" sz="2800" dirty="0"/>
              <a:t>用综合工具生成原理图或网表</a:t>
            </a:r>
            <a:r>
              <a:rPr lang="en-US" altLang="zh-CN" sz="2800" dirty="0"/>
              <a:t>(Netlists)</a:t>
            </a:r>
          </a:p>
          <a:p>
            <a:pPr eaLnBrk="1" hangingPunct="1">
              <a:lnSpc>
                <a:spcPct val="80000"/>
              </a:lnSpc>
              <a:buNone/>
            </a:pPr>
            <a:r>
              <a:rPr lang="en-US" altLang="zh-CN" sz="2000" dirty="0"/>
              <a:t>library ieee;</a:t>
            </a:r>
          </a:p>
          <a:p>
            <a:pPr eaLnBrk="1" hangingPunct="1">
              <a:lnSpc>
                <a:spcPct val="80000"/>
              </a:lnSpc>
              <a:buNone/>
            </a:pPr>
            <a:r>
              <a:rPr lang="en-US" altLang="zh-CN" sz="2000" dirty="0"/>
              <a:t>use ieee.std_logic_1164.all;</a:t>
            </a:r>
          </a:p>
          <a:p>
            <a:pPr eaLnBrk="1" hangingPunct="1">
              <a:lnSpc>
                <a:spcPct val="80000"/>
              </a:lnSpc>
              <a:buNone/>
            </a:pPr>
            <a:r>
              <a:rPr lang="en-US" altLang="zh-CN" sz="2000" dirty="0"/>
              <a:t>use ieee.std_logic_unsigned.all;</a:t>
            </a:r>
          </a:p>
          <a:p>
            <a:pPr eaLnBrk="1" hangingPunct="1">
              <a:lnSpc>
                <a:spcPct val="80000"/>
              </a:lnSpc>
              <a:buNone/>
            </a:pPr>
            <a:r>
              <a:rPr lang="en-US" altLang="zh-CN" sz="2000" dirty="0"/>
              <a:t>entity counter is  port(clk: in std_logic;</a:t>
            </a:r>
          </a:p>
          <a:p>
            <a:pPr eaLnBrk="1" hangingPunct="1">
              <a:lnSpc>
                <a:spcPct val="80000"/>
              </a:lnSpc>
              <a:buNone/>
            </a:pPr>
            <a:r>
              <a:rPr lang="en-US" altLang="zh-CN" sz="2000" dirty="0"/>
              <a:t>                       count:buffer std_logic_vector(3 downto 0)); </a:t>
            </a:r>
          </a:p>
          <a:p>
            <a:pPr eaLnBrk="1" hangingPunct="1">
              <a:lnSpc>
                <a:spcPct val="80000"/>
              </a:lnSpc>
              <a:buNone/>
            </a:pPr>
            <a:r>
              <a:rPr lang="en-US" altLang="zh-CN" sz="2000" dirty="0"/>
              <a:t>end counter;</a:t>
            </a:r>
          </a:p>
          <a:p>
            <a:pPr eaLnBrk="1" hangingPunct="1">
              <a:lnSpc>
                <a:spcPct val="80000"/>
              </a:lnSpc>
              <a:buNone/>
            </a:pPr>
            <a:r>
              <a:rPr lang="en-US" altLang="zh-CN" sz="2000" dirty="0"/>
              <a:t>architecture behave of counter is</a:t>
            </a:r>
          </a:p>
          <a:p>
            <a:pPr eaLnBrk="1" hangingPunct="1">
              <a:lnSpc>
                <a:spcPct val="80000"/>
              </a:lnSpc>
              <a:buNone/>
            </a:pPr>
            <a:r>
              <a:rPr lang="en-US" altLang="zh-CN" sz="2000" dirty="0"/>
              <a:t>Begin  </a:t>
            </a:r>
          </a:p>
          <a:p>
            <a:pPr eaLnBrk="1" hangingPunct="1">
              <a:lnSpc>
                <a:spcPct val="80000"/>
              </a:lnSpc>
              <a:buNone/>
            </a:pPr>
            <a:r>
              <a:rPr lang="en-US" altLang="zh-CN" sz="2000" dirty="0"/>
              <a:t>process(clk)</a:t>
            </a:r>
          </a:p>
          <a:p>
            <a:pPr eaLnBrk="1" hangingPunct="1">
              <a:lnSpc>
                <a:spcPct val="80000"/>
              </a:lnSpc>
              <a:buNone/>
            </a:pPr>
            <a:r>
              <a:rPr lang="en-US" altLang="zh-CN" sz="2000" dirty="0"/>
              <a:t>Begin </a:t>
            </a:r>
          </a:p>
          <a:p>
            <a:pPr eaLnBrk="1" hangingPunct="1">
              <a:lnSpc>
                <a:spcPct val="80000"/>
              </a:lnSpc>
              <a:buNone/>
            </a:pPr>
            <a:r>
              <a:rPr lang="en-US" altLang="zh-CN" sz="2000" dirty="0"/>
              <a:t>if(clk'event and clk='1')then </a:t>
            </a:r>
          </a:p>
          <a:p>
            <a:pPr eaLnBrk="1" hangingPunct="1">
              <a:lnSpc>
                <a:spcPct val="80000"/>
              </a:lnSpc>
              <a:buNone/>
            </a:pPr>
            <a:r>
              <a:rPr lang="en-US" altLang="zh-CN" sz="2000" dirty="0"/>
              <a:t>  if count="1001"then count&lt;="0000";else count&lt;=count+1;</a:t>
            </a:r>
          </a:p>
          <a:p>
            <a:pPr eaLnBrk="1" hangingPunct="1">
              <a:lnSpc>
                <a:spcPct val="80000"/>
              </a:lnSpc>
              <a:buNone/>
            </a:pPr>
            <a:r>
              <a:rPr lang="en-US" altLang="zh-CN" sz="2000" dirty="0"/>
              <a:t>  end if; </a:t>
            </a:r>
          </a:p>
          <a:p>
            <a:pPr eaLnBrk="1" hangingPunct="1">
              <a:lnSpc>
                <a:spcPct val="80000"/>
              </a:lnSpc>
              <a:buNone/>
            </a:pPr>
            <a:r>
              <a:rPr lang="en-US" altLang="zh-CN" sz="2000" dirty="0"/>
              <a:t>end if;</a:t>
            </a:r>
          </a:p>
          <a:p>
            <a:pPr eaLnBrk="1" hangingPunct="1">
              <a:lnSpc>
                <a:spcPct val="80000"/>
              </a:lnSpc>
              <a:buNone/>
            </a:pPr>
            <a:r>
              <a:rPr lang="en-US" altLang="zh-CN" sz="2000" dirty="0"/>
              <a:t>end process;</a:t>
            </a:r>
          </a:p>
          <a:p>
            <a:pPr eaLnBrk="1" hangingPunct="1">
              <a:lnSpc>
                <a:spcPct val="80000"/>
              </a:lnSpc>
              <a:buNone/>
            </a:pPr>
            <a:r>
              <a:rPr lang="en-US" altLang="zh-CN" sz="2000" dirty="0"/>
              <a:t>end behave;</a:t>
            </a:r>
          </a:p>
        </p:txBody>
      </p:sp>
    </p:spTree>
    <p:extLst>
      <p:ext uri="{BB962C8B-B14F-4D97-AF65-F5344CB8AC3E}">
        <p14:creationId xmlns:p14="http://schemas.microsoft.com/office/powerpoint/2010/main" val="37500832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p:cNvSpPr>
          <p:nvPr>
            <p:ph type="title"/>
          </p:nvPr>
        </p:nvSpPr>
        <p:spPr>
          <a:xfrm>
            <a:off x="900113" y="188913"/>
            <a:ext cx="4319587" cy="792162"/>
          </a:xfrm>
        </p:spPr>
        <p:txBody>
          <a:bodyPr vert="horz" wrap="square" lIns="91440" tIns="45720" rIns="91440" bIns="45720" anchor="b" anchorCtr="0"/>
          <a:lstStyle/>
          <a:p>
            <a:pPr eaLnBrk="1" hangingPunct="1"/>
            <a:r>
              <a:rPr lang="zh-CN" altLang="en-US" dirty="0"/>
              <a:t>数字系统设计流程</a:t>
            </a:r>
          </a:p>
        </p:txBody>
      </p:sp>
      <p:sp>
        <p:nvSpPr>
          <p:cNvPr id="59394" name="Rectangle 3" descr="Rectangle: Click to edit Master text styles&#10;Second level&#10;Third level&#10;Fourth level&#10;Fifth level"/>
          <p:cNvSpPr>
            <a:spLocks noGrp="1"/>
          </p:cNvSpPr>
          <p:nvPr>
            <p:ph idx="1"/>
          </p:nvPr>
        </p:nvSpPr>
        <p:spPr>
          <a:xfrm>
            <a:off x="916751" y="1196752"/>
            <a:ext cx="7816215" cy="5446395"/>
          </a:xfrm>
        </p:spPr>
        <p:txBody>
          <a:bodyPr vert="horz" wrap="square" lIns="91440" tIns="45720" rIns="91440" bIns="45720" anchor="t" anchorCtr="0"/>
          <a:lstStyle/>
          <a:p>
            <a:pPr eaLnBrk="1" hangingPunct="1">
              <a:spcBef>
                <a:spcPts val="600"/>
              </a:spcBef>
            </a:pPr>
            <a:r>
              <a:rPr lang="zh-CN" altLang="en-US" sz="3200" dirty="0"/>
              <a:t>设计处理</a:t>
            </a:r>
          </a:p>
          <a:p>
            <a:pPr eaLnBrk="1" hangingPunct="1">
              <a:spcBef>
                <a:spcPts val="600"/>
              </a:spcBef>
              <a:buNone/>
            </a:pPr>
            <a:r>
              <a:rPr lang="zh-CN" altLang="en-US" dirty="0"/>
              <a:t> </a:t>
            </a:r>
            <a:r>
              <a:rPr lang="en-US" altLang="zh-CN" sz="2800" dirty="0"/>
              <a:t>1</a:t>
            </a:r>
            <a:r>
              <a:rPr lang="zh-CN" altLang="en-US" dirty="0"/>
              <a:t>、</a:t>
            </a:r>
            <a:r>
              <a:rPr lang="zh-CN" altLang="en-US" sz="2800" dirty="0"/>
              <a:t>逻辑综合</a:t>
            </a:r>
          </a:p>
          <a:p>
            <a:pPr algn="just" eaLnBrk="1" hangingPunct="1">
              <a:spcBef>
                <a:spcPts val="600"/>
              </a:spcBef>
              <a:buNone/>
            </a:pPr>
            <a:r>
              <a:rPr lang="zh-CN" altLang="en-US" sz="2800" dirty="0"/>
              <a:t>   综合工具将</a:t>
            </a:r>
            <a:r>
              <a:rPr lang="en-US" altLang="zh-CN" sz="2800" dirty="0"/>
              <a:t>HDL</a:t>
            </a:r>
            <a:r>
              <a:rPr lang="zh-CN" altLang="en-US" sz="2800" dirty="0"/>
              <a:t>行为级描述或原理图描述转化为结构化的门级电路或电路描述</a:t>
            </a:r>
            <a:r>
              <a:rPr lang="zh-CN" altLang="en-US" sz="2800" dirty="0">
                <a:solidFill>
                  <a:srgbClr val="F2A10E"/>
                </a:solidFill>
              </a:rPr>
              <a:t>网表文件</a:t>
            </a:r>
            <a:r>
              <a:rPr lang="zh-CN" altLang="en-US" sz="2800" dirty="0"/>
              <a:t>。</a:t>
            </a:r>
            <a:r>
              <a:rPr lang="zh-CN" altLang="en-US" sz="2800" dirty="0">
                <a:sym typeface="+mn-ea"/>
              </a:rPr>
              <a:t>就是将软件描述与给定的硬件结构用某种网表文件的方式对应起来，成为互相对应的映射关系</a:t>
            </a:r>
            <a:r>
              <a:rPr lang="zh-CN" altLang="en-US" sz="2800" dirty="0">
                <a:latin typeface="楷体_GB2312" pitchFamily="49" charset="-122"/>
                <a:ea typeface="楷体_GB2312" pitchFamily="49" charset="-122"/>
                <a:sym typeface="+mn-ea"/>
              </a:rPr>
              <a:t>。</a:t>
            </a:r>
            <a:endParaRPr lang="zh-CN" altLang="en-US" sz="2800" dirty="0"/>
          </a:p>
          <a:p>
            <a:pPr eaLnBrk="1" hangingPunct="1">
              <a:spcBef>
                <a:spcPts val="600"/>
              </a:spcBef>
              <a:buNone/>
            </a:pPr>
            <a:r>
              <a:rPr lang="zh-CN" altLang="en-US" sz="2800" dirty="0"/>
              <a:t> </a:t>
            </a:r>
            <a:r>
              <a:rPr lang="en-US" altLang="zh-CN" sz="2800" dirty="0"/>
              <a:t>2</a:t>
            </a:r>
            <a:r>
              <a:rPr lang="zh-CN" altLang="en-US" sz="2800" dirty="0"/>
              <a:t>、器件适配</a:t>
            </a:r>
          </a:p>
          <a:p>
            <a:pPr algn="just" eaLnBrk="1" hangingPunct="1">
              <a:spcBef>
                <a:spcPts val="600"/>
              </a:spcBef>
              <a:buNone/>
            </a:pPr>
            <a:r>
              <a:rPr lang="zh-CN" altLang="en-US" sz="2800" dirty="0"/>
              <a:t>   适配器将综合器产生的网表文件配置到指定的目标器件中，产生最终的</a:t>
            </a:r>
            <a:r>
              <a:rPr lang="zh-CN" altLang="en-US" sz="2800" dirty="0">
                <a:solidFill>
                  <a:srgbClr val="F2A10E"/>
                </a:solidFill>
              </a:rPr>
              <a:t>下载文件</a:t>
            </a:r>
            <a:r>
              <a:rPr lang="zh-CN" altLang="en-US" sz="2800" dirty="0"/>
              <a:t>。</a:t>
            </a:r>
            <a:r>
              <a:rPr lang="zh-CN" altLang="en-US" sz="2800" dirty="0">
                <a:latin typeface="楷体_GB2312" pitchFamily="49" charset="-122"/>
                <a:ea typeface="楷体_GB2312" pitchFamily="49" charset="-122"/>
                <a:sym typeface="+mn-ea"/>
              </a:rPr>
              <a:t>适配所选定的目标器件</a:t>
            </a:r>
            <a:r>
              <a:rPr lang="en-US" altLang="zh-CN" sz="2800" dirty="0">
                <a:latin typeface="楷体_GB2312" pitchFamily="49" charset="-122"/>
                <a:ea typeface="楷体_GB2312" pitchFamily="49" charset="-122"/>
                <a:sym typeface="+mn-ea"/>
              </a:rPr>
              <a:t>(FPGA/CPLD</a:t>
            </a:r>
            <a:r>
              <a:rPr lang="zh-CN" altLang="en-US" sz="2800" dirty="0">
                <a:latin typeface="楷体_GB2312" pitchFamily="49" charset="-122"/>
                <a:ea typeface="楷体_GB2312" pitchFamily="49" charset="-122"/>
                <a:sym typeface="+mn-ea"/>
              </a:rPr>
              <a:t>芯片</a:t>
            </a:r>
            <a:r>
              <a:rPr lang="en-US" altLang="zh-CN" sz="2800" dirty="0">
                <a:latin typeface="楷体_GB2312" pitchFamily="49" charset="-122"/>
                <a:ea typeface="楷体_GB2312" pitchFamily="49" charset="-122"/>
                <a:sym typeface="+mn-ea"/>
              </a:rPr>
              <a:t>)</a:t>
            </a:r>
            <a:r>
              <a:rPr lang="zh-CN" altLang="en-US" sz="2800" dirty="0">
                <a:latin typeface="楷体_GB2312" pitchFamily="49" charset="-122"/>
                <a:ea typeface="楷体_GB2312" pitchFamily="49" charset="-122"/>
                <a:sym typeface="+mn-ea"/>
              </a:rPr>
              <a:t>必须属于原综合器指定的目标器件系列。</a:t>
            </a:r>
            <a:endParaRPr lang="zh-CN" altLang="en-US" sz="2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p:cNvSpPr>
          <p:nvPr>
            <p:ph type="title"/>
          </p:nvPr>
        </p:nvSpPr>
        <p:spPr>
          <a:xfrm>
            <a:off x="900113" y="188913"/>
            <a:ext cx="4319587" cy="792162"/>
          </a:xfrm>
        </p:spPr>
        <p:txBody>
          <a:bodyPr vert="horz" wrap="square" lIns="91440" tIns="45720" rIns="91440" bIns="45720" anchor="b" anchorCtr="0"/>
          <a:lstStyle/>
          <a:p>
            <a:pPr eaLnBrk="1" hangingPunct="1"/>
            <a:r>
              <a:rPr lang="zh-CN" altLang="en-US" dirty="0"/>
              <a:t>数字系统设计流程</a:t>
            </a:r>
          </a:p>
        </p:txBody>
      </p:sp>
      <p:sp>
        <p:nvSpPr>
          <p:cNvPr id="61442" name="Rectangle 3" descr="Rectangle: Click to edit Master text styles&#10;Second level&#10;Third level&#10;Fourth level&#10;Fifth level"/>
          <p:cNvSpPr>
            <a:spLocks noGrp="1"/>
          </p:cNvSpPr>
          <p:nvPr>
            <p:ph idx="1"/>
          </p:nvPr>
        </p:nvSpPr>
        <p:spPr>
          <a:xfrm>
            <a:off x="813997" y="1268760"/>
            <a:ext cx="7574427" cy="4676775"/>
          </a:xfrm>
        </p:spPr>
        <p:txBody>
          <a:bodyPr vert="horz" wrap="square" lIns="91440" tIns="45720" rIns="91440" bIns="45720" anchor="t" anchorCtr="0"/>
          <a:lstStyle/>
          <a:p>
            <a:pPr eaLnBrk="1" hangingPunct="1">
              <a:spcBef>
                <a:spcPts val="1200"/>
              </a:spcBef>
            </a:pPr>
            <a:r>
              <a:rPr lang="zh-CN" altLang="en-US" sz="3200" dirty="0"/>
              <a:t>下载编程</a:t>
            </a:r>
          </a:p>
          <a:p>
            <a:pPr algn="just" eaLnBrk="1" hangingPunct="1">
              <a:spcBef>
                <a:spcPts val="1200"/>
              </a:spcBef>
              <a:buNone/>
            </a:pPr>
            <a:r>
              <a:rPr lang="zh-CN" altLang="en-US" sz="3200" dirty="0"/>
              <a:t>   </a:t>
            </a:r>
            <a:r>
              <a:rPr lang="zh-CN" altLang="en-US" sz="2800" dirty="0"/>
              <a:t>把器件适配后生成的下载或配置文件</a:t>
            </a:r>
            <a:r>
              <a:rPr lang="en-US" altLang="zh-CN" sz="2800" dirty="0"/>
              <a:t>,</a:t>
            </a:r>
            <a:r>
              <a:rPr lang="zh-CN" altLang="en-US" sz="2800" dirty="0"/>
              <a:t>通过编程器或编程电缆向</a:t>
            </a:r>
            <a:r>
              <a:rPr lang="en-US" altLang="zh-CN" sz="2800" dirty="0"/>
              <a:t>FPGA</a:t>
            </a:r>
            <a:r>
              <a:rPr lang="zh-CN" altLang="en-US" sz="2800" dirty="0"/>
              <a:t>或</a:t>
            </a:r>
            <a:r>
              <a:rPr lang="en-US" altLang="zh-CN" sz="2800" dirty="0"/>
              <a:t>CPLD</a:t>
            </a:r>
            <a:r>
              <a:rPr lang="zh-CN" altLang="en-US" sz="2800" dirty="0"/>
              <a:t>进行下载</a:t>
            </a:r>
            <a:r>
              <a:rPr lang="en-US" altLang="zh-CN" sz="2800" dirty="0"/>
              <a:t>,</a:t>
            </a:r>
            <a:r>
              <a:rPr lang="zh-CN" altLang="en-US" sz="2800" dirty="0"/>
              <a:t>以便进行硬件调试和验证</a:t>
            </a:r>
            <a:endParaRPr lang="en-US" altLang="zh-CN" sz="2800" dirty="0"/>
          </a:p>
          <a:p>
            <a:pPr algn="just" eaLnBrk="1" hangingPunct="1">
              <a:spcBef>
                <a:spcPts val="600"/>
              </a:spcBef>
              <a:buNone/>
            </a:pPr>
            <a:endParaRPr lang="zh-CN" altLang="en-US" sz="2800" dirty="0"/>
          </a:p>
          <a:p>
            <a:pPr marL="456300" lvl="1" indent="-457200" algn="just" eaLnBrk="1" hangingPunct="1">
              <a:spcBef>
                <a:spcPts val="600"/>
              </a:spcBef>
              <a:buSzPct val="80000"/>
              <a:buFont typeface="Wingdings" panose="05000000000000000000" pitchFamily="2" charset="2"/>
              <a:buChar char="l"/>
            </a:pPr>
            <a:r>
              <a:rPr lang="zh-CN" altLang="en-US" sz="2800" dirty="0">
                <a:latin typeface="楷体_GB2312" pitchFamily="49" charset="-122"/>
                <a:ea typeface="楷体_GB2312" pitchFamily="49" charset="-122"/>
                <a:sym typeface="+mn-ea"/>
              </a:rPr>
              <a:t>通常，将对</a:t>
            </a:r>
            <a:r>
              <a:rPr lang="en-US" altLang="zh-CN" sz="2800" dirty="0">
                <a:latin typeface="楷体_GB2312" pitchFamily="49" charset="-122"/>
                <a:ea typeface="楷体_GB2312" pitchFamily="49" charset="-122"/>
                <a:sym typeface="+mn-ea"/>
              </a:rPr>
              <a:t>CPLD</a:t>
            </a:r>
            <a:r>
              <a:rPr lang="zh-CN" altLang="en-US" sz="2800" dirty="0">
                <a:latin typeface="楷体_GB2312" pitchFamily="49" charset="-122"/>
                <a:ea typeface="楷体_GB2312" pitchFamily="49" charset="-122"/>
                <a:sym typeface="+mn-ea"/>
              </a:rPr>
              <a:t>的下载称为编程</a:t>
            </a:r>
            <a:r>
              <a:rPr lang="en-US" altLang="zh-CN" sz="2800" dirty="0">
                <a:latin typeface="楷体_GB2312" pitchFamily="49" charset="-122"/>
                <a:ea typeface="楷体_GB2312" pitchFamily="49" charset="-122"/>
                <a:sym typeface="+mn-ea"/>
              </a:rPr>
              <a:t>(Program)</a:t>
            </a:r>
            <a:r>
              <a:rPr lang="zh-CN" altLang="en-US" sz="2800" dirty="0">
                <a:latin typeface="楷体_GB2312" pitchFamily="49" charset="-122"/>
                <a:ea typeface="楷体_GB2312" pitchFamily="49" charset="-122"/>
                <a:sym typeface="+mn-ea"/>
              </a:rPr>
              <a:t>，对</a:t>
            </a:r>
            <a:r>
              <a:rPr lang="en-US" altLang="zh-CN" sz="2800" dirty="0">
                <a:latin typeface="楷体_GB2312" pitchFamily="49" charset="-122"/>
                <a:ea typeface="楷体_GB2312" pitchFamily="49" charset="-122"/>
                <a:sym typeface="+mn-ea"/>
              </a:rPr>
              <a:t>FPGA</a:t>
            </a:r>
            <a:r>
              <a:rPr lang="zh-CN" altLang="en-US" sz="2800" dirty="0">
                <a:latin typeface="楷体_GB2312" pitchFamily="49" charset="-122"/>
                <a:ea typeface="楷体_GB2312" pitchFamily="49" charset="-122"/>
                <a:sym typeface="+mn-ea"/>
              </a:rPr>
              <a:t>中的</a:t>
            </a:r>
            <a:r>
              <a:rPr lang="en-US" altLang="zh-CN" sz="2800" dirty="0">
                <a:latin typeface="楷体_GB2312" pitchFamily="49" charset="-122"/>
                <a:ea typeface="楷体_GB2312" pitchFamily="49" charset="-122"/>
                <a:sym typeface="+mn-ea"/>
              </a:rPr>
              <a:t>SRAM</a:t>
            </a:r>
            <a:r>
              <a:rPr lang="zh-CN" altLang="en-US" sz="2800" dirty="0">
                <a:latin typeface="楷体_GB2312" pitchFamily="49" charset="-122"/>
                <a:ea typeface="楷体_GB2312" pitchFamily="49" charset="-122"/>
                <a:sym typeface="+mn-ea"/>
              </a:rPr>
              <a:t>进行直接下载的方式称为配置</a:t>
            </a:r>
            <a:r>
              <a:rPr lang="en-US" altLang="zh-CN" sz="2800" dirty="0">
                <a:latin typeface="楷体_GB2312" pitchFamily="49" charset="-122"/>
                <a:ea typeface="楷体_GB2312" pitchFamily="49" charset="-122"/>
                <a:sym typeface="+mn-ea"/>
              </a:rPr>
              <a:t>(Configure)</a:t>
            </a:r>
            <a:r>
              <a:rPr lang="zh-CN" altLang="en-US" sz="2800" dirty="0">
                <a:latin typeface="楷体_GB2312" pitchFamily="49" charset="-122"/>
                <a:ea typeface="楷体_GB2312" pitchFamily="49" charset="-122"/>
                <a:sym typeface="+mn-ea"/>
              </a:rPr>
              <a:t>，但对于</a:t>
            </a:r>
            <a:r>
              <a:rPr lang="en-US" altLang="zh-CN" sz="2800" dirty="0">
                <a:latin typeface="楷体_GB2312" pitchFamily="49" charset="-122"/>
                <a:ea typeface="楷体_GB2312" pitchFamily="49" charset="-122"/>
                <a:sym typeface="+mn-ea"/>
              </a:rPr>
              <a:t>OTP FPGA</a:t>
            </a:r>
            <a:r>
              <a:rPr lang="zh-CN" altLang="en-US" sz="2800" dirty="0">
                <a:latin typeface="楷体_GB2312" pitchFamily="49" charset="-122"/>
                <a:ea typeface="楷体_GB2312" pitchFamily="49" charset="-122"/>
                <a:sym typeface="+mn-ea"/>
              </a:rPr>
              <a:t>的下载和对</a:t>
            </a:r>
            <a:r>
              <a:rPr lang="en-US" altLang="zh-CN" sz="2800" dirty="0">
                <a:latin typeface="楷体_GB2312" pitchFamily="49" charset="-122"/>
                <a:ea typeface="楷体_GB2312" pitchFamily="49" charset="-122"/>
                <a:sym typeface="+mn-ea"/>
              </a:rPr>
              <a:t>FPGA</a:t>
            </a:r>
            <a:r>
              <a:rPr lang="zh-CN" altLang="en-US" sz="2800" dirty="0">
                <a:latin typeface="楷体_GB2312" pitchFamily="49" charset="-122"/>
                <a:ea typeface="楷体_GB2312" pitchFamily="49" charset="-122"/>
                <a:sym typeface="+mn-ea"/>
              </a:rPr>
              <a:t>的专用配置</a:t>
            </a:r>
            <a:r>
              <a:rPr lang="en-US" altLang="zh-CN" sz="2800" dirty="0">
                <a:latin typeface="楷体_GB2312" pitchFamily="49" charset="-122"/>
                <a:ea typeface="楷体_GB2312" pitchFamily="49" charset="-122"/>
                <a:sym typeface="+mn-ea"/>
              </a:rPr>
              <a:t>ROM</a:t>
            </a:r>
            <a:r>
              <a:rPr lang="zh-CN" altLang="en-US" sz="2800" dirty="0">
                <a:latin typeface="楷体_GB2312" pitchFamily="49" charset="-122"/>
                <a:ea typeface="楷体_GB2312" pitchFamily="49" charset="-122"/>
                <a:sym typeface="+mn-ea"/>
              </a:rPr>
              <a:t>的下载仍称为编程。</a:t>
            </a:r>
            <a:endParaRPr lang="zh-CN" altLang="en-US" sz="2800" b="1" dirty="0">
              <a:latin typeface="楷体_GB2312" pitchFamily="49" charset="-122"/>
              <a:ea typeface="楷体_GB2312" pitchFamily="49" charset="-122"/>
            </a:endParaRPr>
          </a:p>
          <a:p>
            <a:pPr marL="0" lvl="0" indent="0" eaLnBrk="1" hangingPunct="1">
              <a:spcBef>
                <a:spcPts val="600"/>
              </a:spcBef>
              <a:buNone/>
            </a:pPr>
            <a:endParaRPr lang="zh-CN" altLang="en-US" sz="2800" dirty="0">
              <a:solidFill>
                <a:srgbClr val="4B51A5"/>
              </a:solidFill>
            </a:endParaRPr>
          </a:p>
          <a:p>
            <a:pPr eaLnBrk="1" hangingPunct="1">
              <a:buNone/>
            </a:pPr>
            <a:endParaRPr lang="zh-CN" altLang="en-US" sz="3200" dirty="0"/>
          </a:p>
          <a:p>
            <a:pPr eaLnBrk="1" hangingPunct="1">
              <a:buNone/>
            </a:pPr>
            <a:endParaRPr lang="zh-CN" altLang="en-US" sz="3200" dirty="0"/>
          </a:p>
          <a:p>
            <a:pPr eaLnBrk="1" hangingPunct="1">
              <a:buNone/>
            </a:pPr>
            <a:endParaRPr lang="zh-CN" altLang="en-US" sz="3200" dirty="0"/>
          </a:p>
          <a:p>
            <a:pPr eaLnBrk="1" hangingPunct="1">
              <a:buNone/>
            </a:pPr>
            <a:endParaRPr lang="zh-CN" altLang="en-US" sz="3200" dirty="0"/>
          </a:p>
          <a:p>
            <a:pPr eaLnBrk="1" hangingPunct="1">
              <a:buNone/>
            </a:pPr>
            <a:endParaRPr lang="zh-CN" altLang="en-US" sz="3200" dirty="0"/>
          </a:p>
          <a:p>
            <a:pPr eaLnBrk="1" hangingPunct="1">
              <a:buNone/>
            </a:pPr>
            <a:endParaRPr lang="zh-CN" altLang="en-US" sz="3200" dirty="0"/>
          </a:p>
          <a:p>
            <a:pPr eaLnBrk="1" hangingPunct="1">
              <a:buNone/>
            </a:pPr>
            <a:endParaRPr lang="zh-CN" altLang="en-US" sz="3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p:cNvSpPr>
          <p:nvPr>
            <p:ph type="title"/>
          </p:nvPr>
        </p:nvSpPr>
        <p:spPr>
          <a:xfrm>
            <a:off x="900113" y="188913"/>
            <a:ext cx="4319587" cy="792162"/>
          </a:xfrm>
        </p:spPr>
        <p:txBody>
          <a:bodyPr vert="horz" wrap="square" lIns="91440" tIns="45720" rIns="91440" bIns="45720" anchor="b" anchorCtr="0"/>
          <a:lstStyle/>
          <a:p>
            <a:pPr eaLnBrk="1" hangingPunct="1"/>
            <a:r>
              <a:rPr lang="zh-CN" altLang="en-US" dirty="0"/>
              <a:t>数字系统设计流程</a:t>
            </a:r>
          </a:p>
        </p:txBody>
      </p:sp>
      <p:sp>
        <p:nvSpPr>
          <p:cNvPr id="60418" name="Rectangle 3" descr="Rectangle: Click to edit Master text styles&#10;Second level&#10;Third level&#10;Fourth level&#10;Fifth level"/>
          <p:cNvSpPr>
            <a:spLocks noGrp="1"/>
          </p:cNvSpPr>
          <p:nvPr>
            <p:ph idx="1"/>
          </p:nvPr>
        </p:nvSpPr>
        <p:spPr>
          <a:xfrm>
            <a:off x="827584" y="1340768"/>
            <a:ext cx="7843837" cy="4676775"/>
          </a:xfrm>
        </p:spPr>
        <p:txBody>
          <a:bodyPr vert="horz" wrap="square" lIns="91440" tIns="45720" rIns="91440" bIns="45720" anchor="t" anchorCtr="0"/>
          <a:lstStyle/>
          <a:p>
            <a:pPr eaLnBrk="1" hangingPunct="1">
              <a:spcBef>
                <a:spcPts val="800"/>
              </a:spcBef>
              <a:spcAft>
                <a:spcPts val="800"/>
              </a:spcAft>
            </a:pPr>
            <a:r>
              <a:rPr lang="zh-CN" altLang="en-US" sz="3200" dirty="0"/>
              <a:t>功能仿真（前仿真）</a:t>
            </a:r>
            <a:endParaRPr lang="en-US" altLang="zh-CN" sz="3200" dirty="0"/>
          </a:p>
          <a:p>
            <a:pPr marL="342000" indent="0" eaLnBrk="1" hangingPunct="1">
              <a:spcBef>
                <a:spcPts val="800"/>
              </a:spcBef>
              <a:spcAft>
                <a:spcPts val="800"/>
              </a:spcAft>
              <a:buNone/>
            </a:pPr>
            <a:r>
              <a:rPr lang="zh-CN" altLang="en-US" sz="2800" dirty="0"/>
              <a:t>直接对</a:t>
            </a:r>
            <a:r>
              <a:rPr lang="en-US" altLang="zh-CN" sz="2800" dirty="0"/>
              <a:t>HDL</a:t>
            </a:r>
            <a:r>
              <a:rPr lang="zh-CN" altLang="en-US" sz="2800" dirty="0"/>
              <a:t>、原理图描述的逻辑功能进行模拟测试</a:t>
            </a:r>
            <a:r>
              <a:rPr lang="en-US" altLang="zh-CN" sz="2800" dirty="0"/>
              <a:t>,</a:t>
            </a:r>
            <a:r>
              <a:rPr lang="zh-CN" altLang="en-US" sz="2800" dirty="0"/>
              <a:t>以了解实现的功能是否满足设计要求，不经过综合和器件适配，编译后即可进行仿真。</a:t>
            </a:r>
            <a:endParaRPr lang="en-US" altLang="zh-CN" sz="2800" dirty="0"/>
          </a:p>
          <a:p>
            <a:pPr eaLnBrk="1" hangingPunct="1">
              <a:spcBef>
                <a:spcPts val="800"/>
              </a:spcBef>
              <a:spcAft>
                <a:spcPts val="800"/>
              </a:spcAft>
            </a:pPr>
            <a:r>
              <a:rPr lang="zh-CN" altLang="en-US" sz="3200" dirty="0"/>
              <a:t>时序仿真（后仿真）</a:t>
            </a:r>
            <a:endParaRPr lang="en-US" altLang="zh-CN" sz="3200" dirty="0"/>
          </a:p>
          <a:p>
            <a:pPr marL="342000" indent="0" eaLnBrk="1" hangingPunct="1">
              <a:spcBef>
                <a:spcPts val="800"/>
              </a:spcBef>
              <a:spcAft>
                <a:spcPts val="800"/>
              </a:spcAft>
              <a:buNone/>
            </a:pPr>
            <a:r>
              <a:rPr lang="zh-CN" altLang="en-US" sz="2800" dirty="0"/>
              <a:t>综合和器件适配后的仿真，包含了具体器件的硬件特性参数，仿真精度高，接近于实际器件运行状况。 </a:t>
            </a:r>
            <a:endParaRPr lang="en-US" altLang="zh-CN" sz="2800" dirty="0"/>
          </a:p>
          <a:p>
            <a:pPr eaLnBrk="1" hangingPunct="1">
              <a:spcBef>
                <a:spcPts val="800"/>
              </a:spcBef>
              <a:spcAft>
                <a:spcPts val="800"/>
              </a:spcAft>
            </a:pPr>
            <a:r>
              <a:rPr lang="zh-CN" altLang="en-US" sz="3200" dirty="0"/>
              <a:t>在线测试</a:t>
            </a:r>
            <a:endParaRPr lang="en-US" altLang="zh-CN" sz="3200" dirty="0"/>
          </a:p>
          <a:p>
            <a:pPr eaLnBrk="1" hangingPunct="1">
              <a:spcBef>
                <a:spcPts val="600"/>
              </a:spcBef>
            </a:pPr>
            <a:endParaRPr lang="en-US" altLang="zh-CN" sz="3200" dirty="0"/>
          </a:p>
          <a:p>
            <a:pPr eaLnBrk="1" hangingPunct="1">
              <a:spcBef>
                <a:spcPts val="600"/>
              </a:spcBef>
            </a:pPr>
            <a:endParaRPr lang="en-US" altLang="zh-CN" sz="3200" dirty="0"/>
          </a:p>
          <a:p>
            <a:pPr eaLnBrk="1" hangingPunct="1">
              <a:spcBef>
                <a:spcPts val="600"/>
              </a:spcBef>
            </a:pPr>
            <a:endParaRPr lang="en-US" altLang="zh-CN" sz="3200" dirty="0"/>
          </a:p>
          <a:p>
            <a:pPr marL="342000" indent="0" eaLnBrk="1" hangingPunct="1">
              <a:spcBef>
                <a:spcPts val="600"/>
              </a:spcBef>
              <a:buNone/>
            </a:pPr>
            <a:endParaRPr lang="en-US" altLang="zh-CN" sz="2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1026"/>
          <p:cNvSpPr>
            <a:spLocks noGrp="1"/>
          </p:cNvSpPr>
          <p:nvPr>
            <p:ph type="title"/>
          </p:nvPr>
        </p:nvSpPr>
        <p:spPr>
          <a:xfrm>
            <a:off x="900113" y="188913"/>
            <a:ext cx="5472087" cy="792162"/>
          </a:xfrm>
        </p:spPr>
        <p:txBody>
          <a:bodyPr vert="horz" wrap="square" lIns="91440" tIns="45720" rIns="91440" bIns="45720" anchor="b" anchorCtr="0"/>
          <a:lstStyle/>
          <a:p>
            <a:pPr eaLnBrk="1" hangingPunct="1"/>
            <a:r>
              <a:rPr lang="zh-CN" altLang="en-US" dirty="0"/>
              <a:t>数字系统设计基础知识</a:t>
            </a:r>
          </a:p>
        </p:txBody>
      </p:sp>
      <p:sp>
        <p:nvSpPr>
          <p:cNvPr id="53250" name="Rectangle 1027" descr="Rectangle: Click to edit Master text styles&#10;Second level&#10;Third level&#10;Fourth level&#10;Fifth level"/>
          <p:cNvSpPr>
            <a:spLocks noGrp="1"/>
          </p:cNvSpPr>
          <p:nvPr>
            <p:ph idx="1"/>
          </p:nvPr>
        </p:nvSpPr>
        <p:spPr/>
        <p:txBody>
          <a:bodyPr vert="horz" wrap="square" lIns="91440" tIns="45720" rIns="91440" bIns="45720" anchor="t" anchorCtr="0"/>
          <a:lstStyle/>
          <a:p>
            <a:pPr eaLnBrk="1" hangingPunct="1">
              <a:lnSpc>
                <a:spcPct val="150000"/>
              </a:lnSpc>
              <a:spcBef>
                <a:spcPts val="600"/>
              </a:spcBef>
              <a:spcAft>
                <a:spcPts val="600"/>
              </a:spcAft>
            </a:pPr>
            <a:r>
              <a:rPr lang="zh-CN" altLang="en-US" dirty="0">
                <a:solidFill>
                  <a:schemeClr val="accent6"/>
                </a:solidFill>
              </a:rPr>
              <a:t>几个专用名词的介绍</a:t>
            </a:r>
          </a:p>
          <a:p>
            <a:pPr eaLnBrk="1" hangingPunct="1">
              <a:lnSpc>
                <a:spcPct val="150000"/>
              </a:lnSpc>
              <a:spcBef>
                <a:spcPts val="600"/>
              </a:spcBef>
              <a:spcAft>
                <a:spcPts val="600"/>
              </a:spcAft>
            </a:pPr>
            <a:r>
              <a:rPr lang="zh-CN" altLang="en-US" dirty="0">
                <a:solidFill>
                  <a:schemeClr val="accent6"/>
                </a:solidFill>
              </a:rPr>
              <a:t>数字系统设计的概念与流程</a:t>
            </a:r>
          </a:p>
          <a:p>
            <a:pPr eaLnBrk="1" hangingPunct="1">
              <a:lnSpc>
                <a:spcPct val="150000"/>
              </a:lnSpc>
              <a:spcBef>
                <a:spcPts val="600"/>
              </a:spcBef>
              <a:spcAft>
                <a:spcPts val="600"/>
              </a:spcAft>
            </a:pPr>
            <a:r>
              <a:rPr lang="zh-CN" altLang="en-US" dirty="0">
                <a:solidFill>
                  <a:srgbClr val="C00000"/>
                </a:solidFill>
              </a:rPr>
              <a:t>数字系统设计方法论</a:t>
            </a:r>
            <a:endParaRPr lang="en-US" altLang="zh-CN" dirty="0">
              <a:solidFill>
                <a:srgbClr val="C00000"/>
              </a:solidFill>
            </a:endParaRPr>
          </a:p>
        </p:txBody>
      </p:sp>
    </p:spTree>
    <p:extLst>
      <p:ext uri="{BB962C8B-B14F-4D97-AF65-F5344CB8AC3E}">
        <p14:creationId xmlns:p14="http://schemas.microsoft.com/office/powerpoint/2010/main" val="32731088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图片 38">
            <a:extLst>
              <a:ext uri="{FF2B5EF4-FFF2-40B4-BE49-F238E27FC236}">
                <a16:creationId xmlns:a16="http://schemas.microsoft.com/office/drawing/2014/main" id="{DC03CCC6-F4FA-B592-7C15-798D506C0F8D}"/>
              </a:ext>
            </a:extLst>
          </p:cNvPr>
          <p:cNvPicPr>
            <a:picLocks noChangeAspect="1"/>
          </p:cNvPicPr>
          <p:nvPr/>
        </p:nvPicPr>
        <p:blipFill>
          <a:blip r:embed="rId3"/>
          <a:stretch>
            <a:fillRect/>
          </a:stretch>
        </p:blipFill>
        <p:spPr>
          <a:xfrm>
            <a:off x="0" y="3573914"/>
            <a:ext cx="9144000" cy="3167454"/>
          </a:xfrm>
          <a:prstGeom prst="rect">
            <a:avLst/>
          </a:prstGeom>
        </p:spPr>
      </p:pic>
      <p:sp>
        <p:nvSpPr>
          <p:cNvPr id="40" name="Rectangle 3" descr="Rectangle: Click to edit Master text styles&#10;Second level&#10;Third level&#10;Fourth level&#10;Fifth level">
            <a:extLst>
              <a:ext uri="{FF2B5EF4-FFF2-40B4-BE49-F238E27FC236}">
                <a16:creationId xmlns:a16="http://schemas.microsoft.com/office/drawing/2014/main" id="{E0743FA7-E439-D877-FE58-6E8ABB59CBF0}"/>
              </a:ext>
            </a:extLst>
          </p:cNvPr>
          <p:cNvSpPr>
            <a:spLocks noGrp="1"/>
          </p:cNvSpPr>
          <p:nvPr>
            <p:ph idx="1"/>
          </p:nvPr>
        </p:nvSpPr>
        <p:spPr>
          <a:xfrm>
            <a:off x="179512" y="1154220"/>
            <a:ext cx="8784976" cy="4549559"/>
          </a:xfrm>
        </p:spPr>
        <p:txBody>
          <a:bodyPr vert="horz" wrap="square" lIns="91440" tIns="45720" rIns="91440" bIns="45720" anchor="t" anchorCtr="0"/>
          <a:lstStyle/>
          <a:p>
            <a:pPr marL="0" indent="0" eaLnBrk="1" hangingPunct="1">
              <a:spcBef>
                <a:spcPts val="800"/>
              </a:spcBef>
              <a:spcAft>
                <a:spcPts val="800"/>
              </a:spcAft>
              <a:buNone/>
            </a:pPr>
            <a:r>
              <a:rPr lang="zh-CN" altLang="en-US" sz="3200" dirty="0"/>
              <a:t>自顶向下的设计方法</a:t>
            </a:r>
            <a:endParaRPr lang="en-US" altLang="zh-CN" sz="3200" dirty="0"/>
          </a:p>
          <a:p>
            <a:pPr eaLnBrk="1" hangingPunct="1">
              <a:spcBef>
                <a:spcPts val="600"/>
              </a:spcBef>
              <a:spcAft>
                <a:spcPts val="600"/>
              </a:spcAft>
            </a:pPr>
            <a:r>
              <a:rPr lang="zh-CN" altLang="en-US" sz="3200" dirty="0"/>
              <a:t>首先定义顶层功能块，进而分析需要哪些构成顶层模块的必要的子模块；然后进一步对各个子模块进行分解，直到达到无法进一步分解的底层功能块</a:t>
            </a:r>
            <a:endParaRPr lang="zh-CN" altLang="zh-CN" sz="3200" dirty="0"/>
          </a:p>
        </p:txBody>
      </p:sp>
      <p:sp>
        <p:nvSpPr>
          <p:cNvPr id="2" name="Rectangle 1026">
            <a:extLst>
              <a:ext uri="{FF2B5EF4-FFF2-40B4-BE49-F238E27FC236}">
                <a16:creationId xmlns:a16="http://schemas.microsoft.com/office/drawing/2014/main" id="{0421AAD9-A7F1-77FA-C830-2B57EE467DA1}"/>
              </a:ext>
            </a:extLst>
          </p:cNvPr>
          <p:cNvSpPr>
            <a:spLocks noGrp="1"/>
          </p:cNvSpPr>
          <p:nvPr>
            <p:ph type="title"/>
          </p:nvPr>
        </p:nvSpPr>
        <p:spPr>
          <a:xfrm>
            <a:off x="323528" y="133233"/>
            <a:ext cx="7560840" cy="792162"/>
          </a:xfrm>
        </p:spPr>
        <p:txBody>
          <a:bodyPr vert="horz" wrap="square" lIns="91440" tIns="45720" rIns="91440" bIns="45720" anchor="b" anchorCtr="0"/>
          <a:lstStyle/>
          <a:p>
            <a:pPr algn="l" eaLnBrk="1" hangingPunct="1"/>
            <a:r>
              <a:rPr lang="zh-CN" altLang="en-US" dirty="0"/>
              <a:t>数字系统设计中基本的设计方法</a:t>
            </a:r>
          </a:p>
        </p:txBody>
      </p:sp>
    </p:spTree>
    <p:extLst>
      <p:ext uri="{BB962C8B-B14F-4D97-AF65-F5344CB8AC3E}">
        <p14:creationId xmlns:p14="http://schemas.microsoft.com/office/powerpoint/2010/main" val="2397880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p:cNvSpPr>
          <p:nvPr>
            <p:ph type="title"/>
          </p:nvPr>
        </p:nvSpPr>
        <p:spPr>
          <a:xfrm>
            <a:off x="900113" y="188913"/>
            <a:ext cx="5111750" cy="792162"/>
          </a:xfrm>
        </p:spPr>
        <p:txBody>
          <a:bodyPr vert="horz" wrap="square" lIns="91440" tIns="45720" rIns="91440" bIns="45720" anchor="b" anchorCtr="0"/>
          <a:lstStyle/>
          <a:p>
            <a:pPr eaLnBrk="1" hangingPunct="1"/>
            <a:r>
              <a:rPr lang="zh-CN" altLang="en-US" dirty="0"/>
              <a:t>自顶向下</a:t>
            </a:r>
            <a:r>
              <a:rPr lang="en-US" altLang="zh-CN" dirty="0">
                <a:solidFill>
                  <a:schemeClr val="folHlink"/>
                </a:solidFill>
              </a:rPr>
              <a:t>(</a:t>
            </a:r>
            <a:r>
              <a:rPr lang="en-US" altLang="zh-CN" dirty="0">
                <a:solidFill>
                  <a:schemeClr val="folHlink"/>
                </a:solidFill>
                <a:ea typeface="宋体" panose="02010600030101010101" pitchFamily="2" charset="-122"/>
              </a:rPr>
              <a:t>Top-down)</a:t>
            </a:r>
          </a:p>
        </p:txBody>
      </p:sp>
      <p:sp>
        <p:nvSpPr>
          <p:cNvPr id="65538" name="Rectangle 3" descr="Rectangle: Click to edit Master text styles&#10;Second level&#10;Third level&#10;Fourth level&#10;Fifth level"/>
          <p:cNvSpPr>
            <a:spLocks noGrp="1"/>
          </p:cNvSpPr>
          <p:nvPr>
            <p:ph idx="1"/>
          </p:nvPr>
        </p:nvSpPr>
        <p:spPr>
          <a:xfrm>
            <a:off x="900113" y="1196975"/>
            <a:ext cx="8243887" cy="4676775"/>
          </a:xfrm>
        </p:spPr>
        <p:txBody>
          <a:bodyPr vert="horz" wrap="square" lIns="91440" tIns="45720" rIns="91440" bIns="45720" anchor="t" anchorCtr="0"/>
          <a:lstStyle/>
          <a:p>
            <a:pPr eaLnBrk="1" hangingPunct="1">
              <a:spcBef>
                <a:spcPts val="600"/>
              </a:spcBef>
              <a:spcAft>
                <a:spcPts val="600"/>
              </a:spcAft>
            </a:pPr>
            <a:r>
              <a:rPr lang="zh-CN" altLang="en-US" sz="3200" dirty="0"/>
              <a:t>确定系统级算法（</a:t>
            </a:r>
            <a:r>
              <a:rPr lang="en-US" altLang="zh-CN" sz="3200" dirty="0">
                <a:ea typeface="宋体" panose="02010600030101010101" pitchFamily="2" charset="-122"/>
              </a:rPr>
              <a:t>Algorithm</a:t>
            </a:r>
            <a:r>
              <a:rPr lang="zh-CN" altLang="en-US" sz="3200" dirty="0"/>
              <a:t>）</a:t>
            </a:r>
          </a:p>
          <a:p>
            <a:pPr eaLnBrk="1" hangingPunct="1">
              <a:spcBef>
                <a:spcPts val="600"/>
              </a:spcBef>
              <a:spcAft>
                <a:spcPts val="600"/>
              </a:spcAft>
            </a:pPr>
            <a:r>
              <a:rPr lang="zh-CN" altLang="en-US" sz="3200" dirty="0"/>
              <a:t>确定系统级架构（</a:t>
            </a:r>
            <a:r>
              <a:rPr lang="en-US" altLang="zh-CN" sz="3200" dirty="0">
                <a:ea typeface="宋体" panose="02010600030101010101" pitchFamily="2" charset="-122"/>
              </a:rPr>
              <a:t>Architecture</a:t>
            </a:r>
            <a:r>
              <a:rPr lang="zh-CN" altLang="en-US" sz="3200" dirty="0"/>
              <a:t>）</a:t>
            </a:r>
          </a:p>
          <a:p>
            <a:pPr eaLnBrk="1" hangingPunct="1">
              <a:spcBef>
                <a:spcPts val="600"/>
              </a:spcBef>
              <a:spcAft>
                <a:spcPts val="600"/>
              </a:spcAft>
            </a:pPr>
            <a:r>
              <a:rPr lang="zh-CN" altLang="en-US" sz="3200" dirty="0"/>
              <a:t>定义设计层次（</a:t>
            </a:r>
            <a:r>
              <a:rPr lang="en-US" altLang="zh-CN" sz="3200" dirty="0">
                <a:ea typeface="宋体" panose="02010600030101010101" pitchFamily="2" charset="-122"/>
              </a:rPr>
              <a:t>Design hierarchy</a:t>
            </a:r>
            <a:r>
              <a:rPr lang="zh-CN" altLang="en-US" sz="3200" dirty="0">
                <a:ea typeface="宋体" panose="02010600030101010101" pitchFamily="2" charset="-122"/>
              </a:rPr>
              <a:t>）</a:t>
            </a:r>
            <a:endParaRPr lang="en-US" altLang="zh-CN" sz="3200" dirty="0">
              <a:ea typeface="宋体" panose="02010600030101010101" pitchFamily="2" charset="-122"/>
            </a:endParaRPr>
          </a:p>
          <a:p>
            <a:pPr eaLnBrk="1" hangingPunct="1">
              <a:spcBef>
                <a:spcPts val="600"/>
              </a:spcBef>
              <a:spcAft>
                <a:spcPts val="600"/>
              </a:spcAft>
            </a:pPr>
            <a:r>
              <a:rPr lang="zh-CN" altLang="en-US" sz="3200" dirty="0"/>
              <a:t>定义功能模块（</a:t>
            </a:r>
            <a:r>
              <a:rPr lang="en-US" altLang="zh-CN" sz="3200" dirty="0">
                <a:ea typeface="宋体" panose="02010600030101010101" pitchFamily="2" charset="-122"/>
              </a:rPr>
              <a:t>Functional modules</a:t>
            </a:r>
            <a:r>
              <a:rPr lang="zh-CN" altLang="en-US" sz="3200" dirty="0">
                <a:ea typeface="宋体" panose="02010600030101010101" pitchFamily="2" charset="-122"/>
              </a:rPr>
              <a:t>）</a:t>
            </a:r>
            <a:endParaRPr lang="zh-CN" altLang="en-US" sz="3200" dirty="0"/>
          </a:p>
          <a:p>
            <a:pPr eaLnBrk="1" hangingPunct="1">
              <a:spcBef>
                <a:spcPts val="600"/>
              </a:spcBef>
              <a:spcAft>
                <a:spcPts val="600"/>
              </a:spcAft>
            </a:pPr>
            <a:r>
              <a:rPr lang="zh-CN" altLang="en-US" sz="3200" dirty="0"/>
              <a:t>确定子模块（</a:t>
            </a:r>
            <a:r>
              <a:rPr lang="en-US" altLang="zh-CN" sz="3200" dirty="0"/>
              <a:t>Sub</a:t>
            </a:r>
            <a:r>
              <a:rPr lang="zh-CN" altLang="en-US" sz="3200" dirty="0"/>
              <a:t>－</a:t>
            </a:r>
            <a:r>
              <a:rPr lang="en-US" altLang="zh-CN" sz="3200" dirty="0"/>
              <a:t>blocks</a:t>
            </a:r>
            <a:r>
              <a:rPr lang="zh-CN" altLang="en-US" sz="3200" dirty="0"/>
              <a:t>）</a:t>
            </a:r>
          </a:p>
          <a:p>
            <a:pPr eaLnBrk="1" hangingPunct="1">
              <a:spcBef>
                <a:spcPts val="600"/>
              </a:spcBef>
              <a:spcAft>
                <a:spcPts val="600"/>
              </a:spcAft>
            </a:pPr>
            <a:r>
              <a:rPr lang="zh-CN" altLang="en-US" sz="3200" dirty="0"/>
              <a:t>定义子模块单元</a:t>
            </a:r>
            <a:r>
              <a:rPr lang="en-US" altLang="zh-CN" sz="3200" dirty="0"/>
              <a:t>(Units)</a:t>
            </a:r>
          </a:p>
          <a:p>
            <a:pPr eaLnBrk="1" hangingPunct="1">
              <a:spcBef>
                <a:spcPts val="600"/>
              </a:spcBef>
              <a:spcAft>
                <a:spcPts val="600"/>
              </a:spcAft>
            </a:pPr>
            <a:r>
              <a:rPr lang="zh-CN" altLang="en-US" sz="3200" dirty="0"/>
              <a:t>综合</a:t>
            </a:r>
            <a:r>
              <a:rPr lang="en-US" altLang="zh-CN" sz="3200" dirty="0"/>
              <a:t>,</a:t>
            </a:r>
            <a:r>
              <a:rPr lang="zh-CN" altLang="en-US" sz="3200" dirty="0"/>
              <a:t>布局布线</a:t>
            </a:r>
            <a:r>
              <a:rPr lang="en-US" altLang="zh-CN" sz="3200" dirty="0"/>
              <a:t>,</a:t>
            </a:r>
            <a:r>
              <a:rPr lang="zh-CN" altLang="en-US" sz="3200" dirty="0"/>
              <a:t>适配</a:t>
            </a:r>
            <a:r>
              <a:rPr lang="en-US" altLang="zh-CN" sz="3200" dirty="0"/>
              <a:t>,</a:t>
            </a:r>
            <a:r>
              <a:rPr lang="zh-CN" altLang="en-US" sz="3200" dirty="0"/>
              <a:t>仿真</a:t>
            </a:r>
            <a:r>
              <a:rPr lang="en-US" altLang="zh-CN" sz="3200" dirty="0"/>
              <a:t>,</a:t>
            </a:r>
            <a:r>
              <a:rPr lang="zh-CN" altLang="en-US" sz="3200" dirty="0"/>
              <a:t>验证</a:t>
            </a: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p:cNvSpPr>
          <p:nvPr>
            <p:ph type="title"/>
          </p:nvPr>
        </p:nvSpPr>
        <p:spPr>
          <a:xfrm>
            <a:off x="900113" y="188913"/>
            <a:ext cx="5040312" cy="792162"/>
          </a:xfrm>
        </p:spPr>
        <p:txBody>
          <a:bodyPr vert="horz" wrap="square" lIns="91440" tIns="45720" rIns="91440" bIns="45720" anchor="b" anchorCtr="0"/>
          <a:lstStyle/>
          <a:p>
            <a:pPr eaLnBrk="1" hangingPunct="1"/>
            <a:r>
              <a:rPr lang="zh-CN" altLang="en-US" dirty="0"/>
              <a:t>自顶向下</a:t>
            </a:r>
            <a:r>
              <a:rPr lang="en-US" altLang="zh-CN" dirty="0">
                <a:solidFill>
                  <a:schemeClr val="folHlink"/>
                </a:solidFill>
              </a:rPr>
              <a:t>(</a:t>
            </a:r>
            <a:r>
              <a:rPr lang="en-US" altLang="zh-CN" dirty="0">
                <a:solidFill>
                  <a:schemeClr val="folHlink"/>
                </a:solidFill>
                <a:ea typeface="宋体" panose="02010600030101010101" pitchFamily="2" charset="-122"/>
              </a:rPr>
              <a:t>Top-down)</a:t>
            </a:r>
          </a:p>
        </p:txBody>
      </p:sp>
      <p:sp>
        <p:nvSpPr>
          <p:cNvPr id="64515" name="Rectangle 3" descr="Rectangle: Click to edit Master text styles&#10;Second level&#10;Third level&#10;Fourth level&#10;Fifth level"/>
          <p:cNvSpPr>
            <a:spLocks noGrp="1" noChangeArrowheads="1"/>
          </p:cNvSpPr>
          <p:nvPr>
            <p:ph idx="1"/>
          </p:nvPr>
        </p:nvSpPr>
        <p:spPr>
          <a:xfrm>
            <a:off x="900113" y="1196975"/>
            <a:ext cx="7843838" cy="4676775"/>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ts val="1200"/>
              </a:spcBef>
              <a:spcAft>
                <a:spcPts val="1200"/>
              </a:spcAft>
              <a:buClr>
                <a:schemeClr val="hlink"/>
              </a:buClr>
              <a:buSzPct val="110000"/>
              <a:buFont typeface="Wingdings" panose="05000000000000000000" pitchFamily="2" charset="2"/>
              <a:buBlip>
                <a:blip r:embed="rId2"/>
              </a:buBlip>
              <a:defRPr/>
            </a:pPr>
            <a:r>
              <a:rPr kumimoji="1" lang="en-US" altLang="zh-CN" sz="3200" b="0" i="0" u="none" strike="noStrike" kern="0" cap="none" spc="0" normalizeH="0" baseline="0" noProof="0" dirty="0">
                <a:ln>
                  <a:noFill/>
                </a:ln>
                <a:solidFill>
                  <a:srgbClr val="4B51A5"/>
                </a:solidFill>
                <a:effectLst/>
                <a:uLnTx/>
                <a:uFillTx/>
                <a:latin typeface="+mn-lt"/>
                <a:ea typeface="+mn-ea"/>
                <a:cs typeface="+mn-cs"/>
              </a:rPr>
              <a:t>FOR SIMPLE:</a:t>
            </a:r>
          </a:p>
          <a:p>
            <a:pPr marL="342900" marR="0" lvl="0" indent="-342900" algn="l" defTabSz="914400" rtl="0" eaLnBrk="1" fontAlgn="base" latinLnBrk="0" hangingPunct="1">
              <a:lnSpc>
                <a:spcPct val="150000"/>
              </a:lnSpc>
              <a:spcBef>
                <a:spcPts val="1200"/>
              </a:spcBef>
              <a:spcAft>
                <a:spcPts val="1200"/>
              </a:spcAft>
              <a:buClr>
                <a:schemeClr val="hlink"/>
              </a:buClr>
              <a:buSzPct val="11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1.</a:t>
            </a:r>
            <a:r>
              <a:rPr kumimoji="0" lang="zh-CN" altLang="en-US" sz="3200" b="0" i="0" u="none" strike="noStrike" kern="0" cap="none" spc="0" normalizeH="0" baseline="0" noProof="0" dirty="0">
                <a:ln>
                  <a:noFill/>
                </a:ln>
                <a:solidFill>
                  <a:schemeClr val="tx1"/>
                </a:solidFill>
                <a:effectLst/>
                <a:uLnTx/>
                <a:uFillTx/>
                <a:latin typeface="+mn-lt"/>
                <a:ea typeface="+mn-ea"/>
                <a:cs typeface="+mn-cs"/>
              </a:rPr>
              <a:t>定义顶层模块并确定子模块</a:t>
            </a:r>
            <a:r>
              <a:rPr kumimoji="0" lang="en-US" altLang="zh-CN" sz="3200" b="0" i="0" u="none" strike="noStrike" kern="0" cap="none" spc="0" normalizeH="0" baseline="0" noProof="0" dirty="0">
                <a:ln>
                  <a:noFill/>
                </a:ln>
                <a:solidFill>
                  <a:schemeClr val="folHlink"/>
                </a:solidFill>
                <a:effectLst/>
                <a:uLnTx/>
                <a:uFillTx/>
                <a:latin typeface="+mn-lt"/>
                <a:ea typeface="+mn-ea"/>
                <a:cs typeface="+mn-cs"/>
              </a:rPr>
              <a:t>(Define top-level block and identify the sub-blocks)</a:t>
            </a:r>
          </a:p>
          <a:p>
            <a:pPr marL="342900" marR="0" lvl="0" indent="-342900" algn="l" defTabSz="914400" rtl="0" eaLnBrk="1" fontAlgn="base" latinLnBrk="0" hangingPunct="1">
              <a:lnSpc>
                <a:spcPct val="150000"/>
              </a:lnSpc>
              <a:spcBef>
                <a:spcPts val="1200"/>
              </a:spcBef>
              <a:spcAft>
                <a:spcPts val="1200"/>
              </a:spcAft>
              <a:buClr>
                <a:schemeClr val="hlink"/>
              </a:buClr>
              <a:buSzPct val="11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2.</a:t>
            </a:r>
            <a:r>
              <a:rPr kumimoji="0" lang="zh-CN" altLang="en-US" sz="3200" b="0" i="0" u="none" strike="noStrike" kern="0" cap="none" spc="0" normalizeH="0" baseline="0" noProof="0" dirty="0">
                <a:ln>
                  <a:noFill/>
                </a:ln>
                <a:solidFill>
                  <a:schemeClr val="tx1"/>
                </a:solidFill>
                <a:effectLst/>
                <a:uLnTx/>
                <a:uFillTx/>
                <a:latin typeface="+mn-lt"/>
                <a:ea typeface="+mn-ea"/>
                <a:cs typeface="+mn-cs"/>
              </a:rPr>
              <a:t>细化子模块直到底层逻辑单元</a:t>
            </a:r>
            <a:r>
              <a:rPr kumimoji="0" lang="en-US" altLang="zh-CN" sz="3200" b="0" i="0" u="none" strike="noStrike" kern="0" cap="none" spc="0" normalizeH="0" baseline="0" noProof="0" dirty="0">
                <a:ln>
                  <a:noFill/>
                </a:ln>
                <a:solidFill>
                  <a:schemeClr val="folHlink"/>
                </a:solidFill>
                <a:effectLst/>
                <a:uLnTx/>
                <a:uFillTx/>
                <a:latin typeface="+mn-lt"/>
                <a:ea typeface="+mn-ea"/>
                <a:cs typeface="+mn-cs"/>
              </a:rPr>
              <a:t>(Divide sub-block until we come to logic cells)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 descr="Rectangle: Click to edit Master text styles&#10;Second level&#10;Third level&#10;Fourth level&#10;Fifth level">
            <a:extLst>
              <a:ext uri="{FF2B5EF4-FFF2-40B4-BE49-F238E27FC236}">
                <a16:creationId xmlns:a16="http://schemas.microsoft.com/office/drawing/2014/main" id="{E0743FA7-E439-D877-FE58-6E8ABB59CBF0}"/>
              </a:ext>
            </a:extLst>
          </p:cNvPr>
          <p:cNvSpPr>
            <a:spLocks noGrp="1"/>
          </p:cNvSpPr>
          <p:nvPr>
            <p:ph idx="1"/>
          </p:nvPr>
        </p:nvSpPr>
        <p:spPr>
          <a:xfrm>
            <a:off x="179512" y="1154220"/>
            <a:ext cx="8784976" cy="4549559"/>
          </a:xfrm>
        </p:spPr>
        <p:txBody>
          <a:bodyPr vert="horz" wrap="square" lIns="91440" tIns="45720" rIns="91440" bIns="45720" anchor="t" anchorCtr="0"/>
          <a:lstStyle/>
          <a:p>
            <a:pPr marL="0" indent="0" eaLnBrk="1" hangingPunct="1">
              <a:spcBef>
                <a:spcPts val="800"/>
              </a:spcBef>
              <a:spcAft>
                <a:spcPts val="800"/>
              </a:spcAft>
              <a:buNone/>
            </a:pPr>
            <a:r>
              <a:rPr lang="zh-CN" altLang="en-US" sz="3200" dirty="0"/>
              <a:t>自底向上的设计方法</a:t>
            </a:r>
            <a:endParaRPr lang="en-US" altLang="zh-CN" sz="3200" dirty="0"/>
          </a:p>
          <a:p>
            <a:pPr eaLnBrk="1" hangingPunct="1">
              <a:spcBef>
                <a:spcPts val="300"/>
              </a:spcBef>
            </a:pPr>
            <a:r>
              <a:rPr lang="zh-CN" altLang="en-US" sz="3200" dirty="0"/>
              <a:t>对现有的功能块进行分析，然后使用这些模块来搭建规模大一些的功能块，如此继续直至顶层模块</a:t>
            </a:r>
            <a:endParaRPr lang="zh-CN" altLang="zh-CN" sz="3200" dirty="0"/>
          </a:p>
        </p:txBody>
      </p:sp>
      <p:pic>
        <p:nvPicPr>
          <p:cNvPr id="3" name="图片 2">
            <a:extLst>
              <a:ext uri="{FF2B5EF4-FFF2-40B4-BE49-F238E27FC236}">
                <a16:creationId xmlns:a16="http://schemas.microsoft.com/office/drawing/2014/main" id="{11108EA6-27AC-7217-FD28-04FFEDDC019A}"/>
              </a:ext>
            </a:extLst>
          </p:cNvPr>
          <p:cNvPicPr>
            <a:picLocks noChangeAspect="1"/>
          </p:cNvPicPr>
          <p:nvPr/>
        </p:nvPicPr>
        <p:blipFill>
          <a:blip r:embed="rId3"/>
          <a:stretch>
            <a:fillRect/>
          </a:stretch>
        </p:blipFill>
        <p:spPr>
          <a:xfrm>
            <a:off x="0" y="3275182"/>
            <a:ext cx="9144000" cy="2856031"/>
          </a:xfrm>
          <a:prstGeom prst="rect">
            <a:avLst/>
          </a:prstGeom>
        </p:spPr>
      </p:pic>
      <p:sp>
        <p:nvSpPr>
          <p:cNvPr id="2" name="Rectangle 1026">
            <a:extLst>
              <a:ext uri="{FF2B5EF4-FFF2-40B4-BE49-F238E27FC236}">
                <a16:creationId xmlns:a16="http://schemas.microsoft.com/office/drawing/2014/main" id="{AAE74F6A-11E3-D5F3-5D06-F870B8B31FF2}"/>
              </a:ext>
            </a:extLst>
          </p:cNvPr>
          <p:cNvSpPr>
            <a:spLocks noGrp="1"/>
          </p:cNvSpPr>
          <p:nvPr>
            <p:ph type="title"/>
          </p:nvPr>
        </p:nvSpPr>
        <p:spPr>
          <a:xfrm>
            <a:off x="323528" y="133233"/>
            <a:ext cx="7776864" cy="792162"/>
          </a:xfrm>
        </p:spPr>
        <p:txBody>
          <a:bodyPr vert="horz" wrap="square" lIns="91440" tIns="45720" rIns="91440" bIns="45720" anchor="b" anchorCtr="0"/>
          <a:lstStyle/>
          <a:p>
            <a:pPr algn="l" eaLnBrk="1" hangingPunct="1"/>
            <a:r>
              <a:rPr lang="zh-CN" altLang="en-US" dirty="0"/>
              <a:t>数字系统设计中基本的设计方法</a:t>
            </a:r>
          </a:p>
        </p:txBody>
      </p:sp>
    </p:spTree>
    <p:extLst>
      <p:ext uri="{BB962C8B-B14F-4D97-AF65-F5344CB8AC3E}">
        <p14:creationId xmlns:p14="http://schemas.microsoft.com/office/powerpoint/2010/main" val="1831543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p:cNvSpPr>
          <p:nvPr>
            <p:ph type="title"/>
          </p:nvPr>
        </p:nvSpPr>
        <p:spPr>
          <a:xfrm>
            <a:off x="900113" y="188913"/>
            <a:ext cx="5256212" cy="792162"/>
          </a:xfrm>
        </p:spPr>
        <p:txBody>
          <a:bodyPr vert="horz" wrap="square" lIns="91440" tIns="45720" rIns="91440" bIns="45720" anchor="b" anchorCtr="0"/>
          <a:lstStyle/>
          <a:p>
            <a:pPr eaLnBrk="1" hangingPunct="1"/>
            <a:r>
              <a:rPr lang="zh-CN" altLang="en-US" dirty="0"/>
              <a:t>自底向上</a:t>
            </a:r>
            <a:r>
              <a:rPr lang="en-US" altLang="zh-CN" dirty="0">
                <a:solidFill>
                  <a:schemeClr val="folHlink"/>
                </a:solidFill>
              </a:rPr>
              <a:t>(</a:t>
            </a:r>
            <a:r>
              <a:rPr lang="en-US" altLang="zh-CN" dirty="0">
                <a:solidFill>
                  <a:schemeClr val="folHlink"/>
                </a:solidFill>
                <a:ea typeface="宋体" panose="02010600030101010101" pitchFamily="2" charset="-122"/>
              </a:rPr>
              <a:t>Bottom up)</a:t>
            </a:r>
          </a:p>
        </p:txBody>
      </p:sp>
      <p:sp>
        <p:nvSpPr>
          <p:cNvPr id="68610" name="Rectangle 3" descr="Rectangle: Click to edit Master text styles&#10;Second level&#10;Third level&#10;Fourth level&#10;Fifth level"/>
          <p:cNvSpPr>
            <a:spLocks noGrp="1"/>
          </p:cNvSpPr>
          <p:nvPr>
            <p:ph idx="1"/>
          </p:nvPr>
        </p:nvSpPr>
        <p:spPr/>
        <p:txBody>
          <a:bodyPr vert="horz" wrap="square" lIns="91440" tIns="45720" rIns="91440" bIns="45720" anchor="t" anchorCtr="0"/>
          <a:lstStyle/>
          <a:p>
            <a:pPr eaLnBrk="1" hangingPunct="1">
              <a:lnSpc>
                <a:spcPct val="150000"/>
              </a:lnSpc>
              <a:spcBef>
                <a:spcPts val="600"/>
              </a:spcBef>
              <a:spcAft>
                <a:spcPts val="600"/>
              </a:spcAft>
            </a:pPr>
            <a:r>
              <a:rPr lang="zh-CN" altLang="en-US" sz="3200" dirty="0"/>
              <a:t>用给定的工艺建立门单元</a:t>
            </a:r>
            <a:r>
              <a:rPr lang="en-US" altLang="zh-CN" sz="3200" dirty="0"/>
              <a:t>(Gates)</a:t>
            </a:r>
          </a:p>
          <a:p>
            <a:pPr eaLnBrk="1" hangingPunct="1">
              <a:lnSpc>
                <a:spcPct val="150000"/>
              </a:lnSpc>
              <a:spcBef>
                <a:spcPts val="600"/>
              </a:spcBef>
              <a:spcAft>
                <a:spcPts val="600"/>
              </a:spcAft>
            </a:pPr>
            <a:r>
              <a:rPr lang="zh-CN" altLang="en-US" sz="3200" dirty="0"/>
              <a:t>用门单元建立基本单元</a:t>
            </a:r>
            <a:r>
              <a:rPr lang="en-US" altLang="zh-CN" sz="3200" dirty="0"/>
              <a:t>(Basic Units)</a:t>
            </a:r>
          </a:p>
          <a:p>
            <a:pPr eaLnBrk="1" hangingPunct="1">
              <a:lnSpc>
                <a:spcPct val="150000"/>
              </a:lnSpc>
              <a:spcBef>
                <a:spcPts val="600"/>
              </a:spcBef>
              <a:spcAft>
                <a:spcPts val="600"/>
              </a:spcAft>
            </a:pPr>
            <a:r>
              <a:rPr lang="zh-CN" altLang="en-US" sz="3200" dirty="0"/>
              <a:t>建立通用模块</a:t>
            </a:r>
            <a:r>
              <a:rPr lang="en-US" altLang="zh-CN" sz="3200" dirty="0"/>
              <a:t>(General Modules)</a:t>
            </a:r>
          </a:p>
          <a:p>
            <a:pPr eaLnBrk="1" hangingPunct="1">
              <a:lnSpc>
                <a:spcPct val="150000"/>
              </a:lnSpc>
              <a:spcBef>
                <a:spcPts val="600"/>
              </a:spcBef>
              <a:spcAft>
                <a:spcPts val="600"/>
              </a:spcAft>
            </a:pPr>
            <a:r>
              <a:rPr lang="zh-CN" altLang="en-US" sz="3200" dirty="0"/>
              <a:t>组合这些模块</a:t>
            </a:r>
            <a:r>
              <a:rPr lang="en-US" altLang="zh-CN" sz="3200" dirty="0"/>
              <a:t>(Assembled Modules)</a:t>
            </a:r>
          </a:p>
          <a:p>
            <a:pPr eaLnBrk="1" hangingPunct="1">
              <a:lnSpc>
                <a:spcPct val="150000"/>
              </a:lnSpc>
              <a:spcBef>
                <a:spcPts val="600"/>
              </a:spcBef>
              <a:spcAft>
                <a:spcPts val="600"/>
              </a:spcAft>
            </a:pPr>
            <a:r>
              <a:rPr lang="zh-CN" altLang="en-US" sz="3200" dirty="0"/>
              <a:t>门级仿真</a:t>
            </a:r>
            <a:r>
              <a:rPr lang="en-US" altLang="zh-CN" sz="3200" dirty="0"/>
              <a:t>(Gate Level Simulation)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p:cNvSpPr>
          <p:nvPr>
            <p:ph type="title"/>
          </p:nvPr>
        </p:nvSpPr>
        <p:spPr>
          <a:xfrm>
            <a:off x="900113" y="188913"/>
            <a:ext cx="5256212" cy="792162"/>
          </a:xfrm>
        </p:spPr>
        <p:txBody>
          <a:bodyPr vert="horz" wrap="square" lIns="91440" tIns="45720" rIns="91440" bIns="45720" anchor="b" anchorCtr="0"/>
          <a:lstStyle/>
          <a:p>
            <a:pPr eaLnBrk="1" hangingPunct="1"/>
            <a:r>
              <a:rPr lang="zh-CN" altLang="en-US" dirty="0"/>
              <a:t>自底向上</a:t>
            </a:r>
            <a:r>
              <a:rPr lang="en-US" altLang="zh-CN" dirty="0">
                <a:solidFill>
                  <a:schemeClr val="folHlink"/>
                </a:solidFill>
              </a:rPr>
              <a:t>(</a:t>
            </a:r>
            <a:r>
              <a:rPr lang="en-US" altLang="zh-CN" dirty="0">
                <a:solidFill>
                  <a:schemeClr val="folHlink"/>
                </a:solidFill>
                <a:ea typeface="宋体" panose="02010600030101010101" pitchFamily="2" charset="-122"/>
              </a:rPr>
              <a:t>Bottom up)</a:t>
            </a:r>
          </a:p>
        </p:txBody>
      </p:sp>
      <p:sp>
        <p:nvSpPr>
          <p:cNvPr id="69634" name="Rectangle 3" descr="Rectangle: Click to edit Master text styles&#10;Second level&#10;Third level&#10;Fourth level&#10;Fifth level"/>
          <p:cNvSpPr>
            <a:spLocks noGrp="1"/>
          </p:cNvSpPr>
          <p:nvPr>
            <p:ph idx="1"/>
          </p:nvPr>
        </p:nvSpPr>
        <p:spPr>
          <a:xfrm>
            <a:off x="900113" y="1196975"/>
            <a:ext cx="8064500" cy="5327650"/>
          </a:xfrm>
        </p:spPr>
        <p:txBody>
          <a:bodyPr vert="horz" wrap="square" lIns="91440" tIns="45720" rIns="91440" bIns="45720" anchor="t" anchorCtr="0"/>
          <a:lstStyle/>
          <a:p>
            <a:pPr eaLnBrk="1" hangingPunct="1">
              <a:lnSpc>
                <a:spcPct val="150000"/>
              </a:lnSpc>
              <a:spcBef>
                <a:spcPts val="0"/>
              </a:spcBef>
              <a:spcAft>
                <a:spcPts val="0"/>
              </a:spcAft>
            </a:pPr>
            <a:r>
              <a:rPr lang="en-US" altLang="zh-CN" sz="3200" dirty="0"/>
              <a:t>FOR SIMPLE:</a:t>
            </a:r>
          </a:p>
          <a:p>
            <a:pPr eaLnBrk="1" hangingPunct="1">
              <a:lnSpc>
                <a:spcPct val="150000"/>
              </a:lnSpc>
              <a:spcBef>
                <a:spcPts val="0"/>
              </a:spcBef>
              <a:spcAft>
                <a:spcPts val="0"/>
              </a:spcAft>
              <a:buNone/>
            </a:pPr>
            <a:r>
              <a:rPr lang="en-US" altLang="zh-CN" sz="3200" dirty="0"/>
              <a:t>   1.</a:t>
            </a:r>
            <a:r>
              <a:rPr lang="zh-CN" altLang="en-US" sz="3200" dirty="0"/>
              <a:t>确定那些我们可以使用的单元</a:t>
            </a:r>
            <a:r>
              <a:rPr lang="en-US" altLang="zh-CN" sz="3200" dirty="0">
                <a:solidFill>
                  <a:schemeClr val="folHlink"/>
                </a:solidFill>
              </a:rPr>
              <a:t>(Identify building block that are available for us)</a:t>
            </a:r>
          </a:p>
          <a:p>
            <a:pPr eaLnBrk="1" hangingPunct="1">
              <a:lnSpc>
                <a:spcPct val="150000"/>
              </a:lnSpc>
              <a:spcBef>
                <a:spcPts val="0"/>
              </a:spcBef>
              <a:spcAft>
                <a:spcPts val="0"/>
              </a:spcAft>
              <a:buNone/>
            </a:pPr>
            <a:r>
              <a:rPr lang="en-US" altLang="zh-CN" sz="3200" dirty="0">
                <a:solidFill>
                  <a:schemeClr val="tx1"/>
                </a:solidFill>
              </a:rPr>
              <a:t>   2.</a:t>
            </a:r>
            <a:r>
              <a:rPr lang="zh-CN" altLang="en-US" sz="3200" dirty="0">
                <a:solidFill>
                  <a:schemeClr val="tx1"/>
                </a:solidFill>
              </a:rPr>
              <a:t>用这些模块建立较大的单元</a:t>
            </a:r>
          </a:p>
          <a:p>
            <a:pPr eaLnBrk="1" hangingPunct="1">
              <a:lnSpc>
                <a:spcPct val="150000"/>
              </a:lnSpc>
              <a:spcBef>
                <a:spcPts val="0"/>
              </a:spcBef>
              <a:spcAft>
                <a:spcPts val="0"/>
              </a:spcAft>
              <a:buNone/>
            </a:pPr>
            <a:r>
              <a:rPr lang="zh-CN" altLang="en-US" sz="3200" dirty="0">
                <a:solidFill>
                  <a:schemeClr val="tx1"/>
                </a:solidFill>
              </a:rPr>
              <a:t>  </a:t>
            </a:r>
            <a:r>
              <a:rPr lang="en-US" altLang="zh-CN" sz="3200" dirty="0">
                <a:solidFill>
                  <a:schemeClr val="folHlink"/>
                </a:solidFill>
              </a:rPr>
              <a:t>(Build bigger cells using these block)</a:t>
            </a:r>
          </a:p>
          <a:p>
            <a:pPr eaLnBrk="1" hangingPunct="1">
              <a:lnSpc>
                <a:spcPct val="150000"/>
              </a:lnSpc>
              <a:spcBef>
                <a:spcPts val="0"/>
              </a:spcBef>
              <a:spcAft>
                <a:spcPts val="0"/>
              </a:spcAft>
              <a:buNone/>
            </a:pPr>
            <a:r>
              <a:rPr lang="en-US" altLang="zh-CN" sz="3200" dirty="0">
                <a:solidFill>
                  <a:schemeClr val="tx1"/>
                </a:solidFill>
              </a:rPr>
              <a:t>   3.</a:t>
            </a:r>
            <a:r>
              <a:rPr lang="zh-CN" altLang="en-US" sz="3200" dirty="0">
                <a:solidFill>
                  <a:schemeClr val="tx1"/>
                </a:solidFill>
              </a:rPr>
              <a:t>继续直到顶层</a:t>
            </a:r>
          </a:p>
          <a:p>
            <a:pPr eaLnBrk="1" hangingPunct="1">
              <a:lnSpc>
                <a:spcPct val="150000"/>
              </a:lnSpc>
              <a:spcBef>
                <a:spcPts val="0"/>
              </a:spcBef>
              <a:spcAft>
                <a:spcPts val="0"/>
              </a:spcAft>
              <a:buNone/>
            </a:pPr>
            <a:r>
              <a:rPr lang="zh-CN" altLang="en-US" sz="3200" dirty="0">
                <a:solidFill>
                  <a:schemeClr val="tx1"/>
                </a:solidFill>
              </a:rPr>
              <a:t>  </a:t>
            </a:r>
            <a:r>
              <a:rPr lang="en-US" altLang="zh-CN" sz="3200" dirty="0">
                <a:solidFill>
                  <a:schemeClr val="folHlink"/>
                </a:solidFill>
              </a:rPr>
              <a:t>(Continue until we build the top level)</a:t>
            </a:r>
          </a:p>
          <a:p>
            <a:pPr eaLnBrk="1" hangingPunct="1">
              <a:lnSpc>
                <a:spcPct val="150000"/>
              </a:lnSpc>
              <a:spcBef>
                <a:spcPts val="0"/>
              </a:spcBef>
              <a:spcAft>
                <a:spcPts val="0"/>
              </a:spcAft>
              <a:buNone/>
            </a:pPr>
            <a:r>
              <a:rPr lang="en-US" altLang="zh-CN" sz="3200" dirty="0">
                <a:solidFill>
                  <a:schemeClr val="tx1"/>
                </a:solidFill>
              </a:rPr>
              <a:t>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p:cNvSpPr>
          <p:nvPr>
            <p:ph type="title"/>
          </p:nvPr>
        </p:nvSpPr>
        <p:spPr>
          <a:xfrm>
            <a:off x="539552" y="188640"/>
            <a:ext cx="5832127" cy="792162"/>
          </a:xfrm>
        </p:spPr>
        <p:txBody>
          <a:bodyPr vert="horz" wrap="square" lIns="91440" tIns="45720" rIns="91440" bIns="45720" anchor="b" anchorCtr="0"/>
          <a:lstStyle/>
          <a:p>
            <a:pPr algn="l" eaLnBrk="1" hangingPunct="1"/>
            <a:r>
              <a:rPr lang="zh-CN" altLang="en-US" dirty="0"/>
              <a:t>两种基本设计方法比较</a:t>
            </a:r>
          </a:p>
        </p:txBody>
      </p:sp>
      <p:sp>
        <p:nvSpPr>
          <p:cNvPr id="71682" name="Rectangle 3" descr="Rectangle: Click to edit Master text styles&#10;Second level&#10;Third level&#10;Fourth level&#10;Fifth level"/>
          <p:cNvSpPr>
            <a:spLocks noGrp="1"/>
          </p:cNvSpPr>
          <p:nvPr>
            <p:ph idx="1"/>
          </p:nvPr>
        </p:nvSpPr>
        <p:spPr>
          <a:xfrm>
            <a:off x="395537" y="1124744"/>
            <a:ext cx="8348414" cy="4676775"/>
          </a:xfrm>
        </p:spPr>
        <p:txBody>
          <a:bodyPr vert="horz" wrap="square" lIns="91440" tIns="45720" rIns="91440" bIns="45720" anchor="t" anchorCtr="0"/>
          <a:lstStyle/>
          <a:p>
            <a:pPr eaLnBrk="1" hangingPunct="1"/>
            <a:r>
              <a:rPr lang="zh-CN" altLang="en-US" sz="3200" dirty="0"/>
              <a:t>传统设计－自底向上</a:t>
            </a:r>
          </a:p>
          <a:p>
            <a:pPr marL="342000" indent="0" algn="just" eaLnBrk="1" hangingPunct="1">
              <a:lnSpc>
                <a:spcPts val="4800"/>
              </a:lnSpc>
              <a:spcBef>
                <a:spcPts val="600"/>
              </a:spcBef>
              <a:buNone/>
            </a:pPr>
            <a:r>
              <a:rPr lang="zh-CN" altLang="en-US" sz="2800" dirty="0"/>
              <a:t>必须首先关注并致力于解决系统底层硬件的可获得性</a:t>
            </a:r>
            <a:r>
              <a:rPr lang="en-US" altLang="zh-CN" sz="2800" dirty="0"/>
              <a:t>,</a:t>
            </a:r>
            <a:r>
              <a:rPr lang="zh-CN" altLang="en-US" sz="2800" dirty="0"/>
              <a:t>以及它们的功能特性等细节问题</a:t>
            </a:r>
            <a:r>
              <a:rPr lang="en-US" altLang="zh-CN" sz="2800" dirty="0"/>
              <a:t>,</a:t>
            </a:r>
            <a:r>
              <a:rPr lang="zh-CN" altLang="en-US" sz="2800" dirty="0"/>
              <a:t>在逐级设计和测试过程中</a:t>
            </a:r>
            <a:r>
              <a:rPr lang="en-US" altLang="zh-CN" sz="2800" dirty="0"/>
              <a:t>,</a:t>
            </a:r>
            <a:r>
              <a:rPr lang="zh-CN" altLang="en-US" sz="2800" dirty="0"/>
              <a:t>必须顾及目标器件的技术细节</a:t>
            </a:r>
            <a:r>
              <a:rPr lang="en-US" altLang="zh-CN" sz="2800" dirty="0"/>
              <a:t>.</a:t>
            </a:r>
            <a:r>
              <a:rPr lang="zh-CN" altLang="en-US" sz="2800" dirty="0"/>
              <a:t>设计的任意时刻</a:t>
            </a:r>
            <a:r>
              <a:rPr lang="en-US" altLang="zh-CN" sz="2800" dirty="0"/>
              <a:t>,</a:t>
            </a:r>
            <a:r>
              <a:rPr lang="zh-CN" altLang="en-US" sz="2800" dirty="0"/>
              <a:t>底层目标器件的更换、缺货、成本限制、性能参数限制等等不可预料的因素都可能使整个设计工作前功尽弃</a:t>
            </a:r>
            <a:r>
              <a:rPr lang="en-US" altLang="zh-CN" sz="2800" dirty="0"/>
              <a:t>.</a:t>
            </a:r>
          </a:p>
          <a:p>
            <a:pPr marL="342000" indent="0" algn="just" eaLnBrk="1" hangingPunct="1">
              <a:lnSpc>
                <a:spcPts val="4800"/>
              </a:lnSpc>
              <a:spcBef>
                <a:spcPts val="600"/>
              </a:spcBef>
              <a:buNone/>
            </a:pPr>
            <a:r>
              <a:rPr lang="zh-CN" altLang="en-US" sz="2800" dirty="0"/>
              <a:t>因此</a:t>
            </a:r>
            <a:r>
              <a:rPr lang="en-US" altLang="zh-CN" sz="2800" dirty="0"/>
              <a:t>,</a:t>
            </a:r>
            <a:r>
              <a:rPr lang="zh-CN" altLang="en-US" sz="2800" dirty="0"/>
              <a:t>某些情况下</a:t>
            </a:r>
            <a:r>
              <a:rPr lang="en-US" altLang="zh-CN" sz="2800" dirty="0"/>
              <a:t>,</a:t>
            </a:r>
            <a:r>
              <a:rPr lang="zh-CN" altLang="en-US" sz="2800" dirty="0"/>
              <a:t>自底向上的设计方法是低效的</a:t>
            </a:r>
            <a:r>
              <a:rPr lang="en-US" altLang="zh-CN" sz="2800" dirty="0"/>
              <a:t>,</a:t>
            </a:r>
            <a:r>
              <a:rPr lang="zh-CN" altLang="en-US" sz="2800" dirty="0"/>
              <a:t>低可靠的</a:t>
            </a:r>
            <a:r>
              <a:rPr lang="en-US" altLang="zh-CN" sz="2800" dirty="0"/>
              <a:t>,</a:t>
            </a:r>
            <a:r>
              <a:rPr lang="zh-CN" altLang="en-US" sz="2800" dirty="0"/>
              <a:t>费时费力的</a:t>
            </a:r>
            <a:r>
              <a:rPr lang="en-US" altLang="zh-CN" sz="2800" dirty="0"/>
              <a:t>,</a:t>
            </a:r>
            <a:r>
              <a:rPr lang="zh-CN" altLang="en-US" sz="2800" dirty="0"/>
              <a:t>成本高昂的设计方法</a:t>
            </a:r>
            <a:r>
              <a:rPr lang="en-US" altLang="zh-CN" sz="2800" dirty="0"/>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3" descr="Rectangle: Click to edit Master text styles&#10;Second level&#10;Third level&#10;Fourth level&#10;Fifth level"/>
          <p:cNvSpPr>
            <a:spLocks noGrp="1"/>
          </p:cNvSpPr>
          <p:nvPr>
            <p:ph idx="1"/>
          </p:nvPr>
        </p:nvSpPr>
        <p:spPr>
          <a:xfrm>
            <a:off x="395536" y="1129357"/>
            <a:ext cx="8348413" cy="5540003"/>
          </a:xfrm>
        </p:spPr>
        <p:txBody>
          <a:bodyPr vert="horz" wrap="square" lIns="91440" tIns="45720" rIns="91440" bIns="45720" anchor="t" anchorCtr="0"/>
          <a:lstStyle/>
          <a:p>
            <a:pPr eaLnBrk="1" hangingPunct="1"/>
            <a:r>
              <a:rPr lang="zh-CN" altLang="en-US" sz="3200" dirty="0"/>
              <a:t>现代设计－自顶向下</a:t>
            </a:r>
          </a:p>
          <a:p>
            <a:pPr marL="342000" indent="0" algn="just" eaLnBrk="1" hangingPunct="1">
              <a:lnSpc>
                <a:spcPts val="4800"/>
              </a:lnSpc>
              <a:spcBef>
                <a:spcPts val="600"/>
              </a:spcBef>
              <a:buNone/>
            </a:pPr>
            <a:r>
              <a:rPr lang="zh-CN" altLang="en-US" sz="2800" dirty="0"/>
              <a:t>自顶向下的设计方法就是在设计流程中各环节逐步求精的过程</a:t>
            </a:r>
            <a:r>
              <a:rPr lang="en-US" altLang="zh-CN" sz="2800" dirty="0"/>
              <a:t>.</a:t>
            </a:r>
            <a:r>
              <a:rPr lang="zh-CN" altLang="en-US" sz="2800" dirty="0"/>
              <a:t>从自然语言的说明到算法的</a:t>
            </a:r>
            <a:r>
              <a:rPr lang="en-US" altLang="zh-CN" sz="2800" dirty="0"/>
              <a:t>HDL</a:t>
            </a:r>
            <a:r>
              <a:rPr lang="zh-CN" altLang="en-US" sz="2800" dirty="0"/>
              <a:t>描述</a:t>
            </a:r>
            <a:r>
              <a:rPr lang="en-US" altLang="zh-CN" sz="2800" dirty="0"/>
              <a:t>,</a:t>
            </a:r>
            <a:r>
              <a:rPr lang="zh-CN" altLang="en-US" sz="2800" dirty="0"/>
              <a:t>系统的分解</a:t>
            </a:r>
            <a:r>
              <a:rPr lang="en-US" altLang="zh-CN" sz="2800" dirty="0"/>
              <a:t>,RTL</a:t>
            </a:r>
            <a:r>
              <a:rPr lang="zh-CN" altLang="en-US" sz="2800" dirty="0"/>
              <a:t>模型的建立</a:t>
            </a:r>
            <a:r>
              <a:rPr lang="en-US" altLang="zh-CN" sz="2800" dirty="0"/>
              <a:t>,</a:t>
            </a:r>
            <a:r>
              <a:rPr lang="zh-CN" altLang="en-US" sz="2800" dirty="0"/>
              <a:t>门级模型的产生</a:t>
            </a:r>
            <a:r>
              <a:rPr lang="en-US" altLang="zh-CN" sz="2800" dirty="0"/>
              <a:t>,</a:t>
            </a:r>
            <a:r>
              <a:rPr lang="zh-CN" altLang="en-US" sz="2800" dirty="0"/>
              <a:t>到最后可以物理布线实现的底层电路</a:t>
            </a:r>
            <a:r>
              <a:rPr lang="en-US" altLang="zh-CN" sz="2800" dirty="0"/>
              <a:t>,</a:t>
            </a:r>
            <a:r>
              <a:rPr lang="zh-CN" altLang="en-US" sz="2800" dirty="0"/>
              <a:t>就是从高抽象级别到低抽象级别的设计周期</a:t>
            </a:r>
            <a:r>
              <a:rPr lang="en-US" altLang="zh-CN" sz="2800" dirty="0"/>
              <a:t>.</a:t>
            </a:r>
          </a:p>
          <a:p>
            <a:pPr marL="342000" indent="0" algn="just" eaLnBrk="1" hangingPunct="1">
              <a:lnSpc>
                <a:spcPts val="4800"/>
              </a:lnSpc>
              <a:spcBef>
                <a:spcPts val="600"/>
              </a:spcBef>
              <a:buNone/>
            </a:pPr>
            <a:r>
              <a:rPr lang="zh-CN" altLang="en-US" sz="2800" dirty="0"/>
              <a:t>基于强大的</a:t>
            </a:r>
            <a:r>
              <a:rPr lang="en-US" altLang="zh-CN" sz="2800" dirty="0"/>
              <a:t>EDA</a:t>
            </a:r>
            <a:r>
              <a:rPr lang="zh-CN" altLang="en-US" sz="2800" dirty="0"/>
              <a:t>工具</a:t>
            </a:r>
            <a:r>
              <a:rPr lang="en-US" altLang="zh-CN" sz="2800" dirty="0"/>
              <a:t>,</a:t>
            </a:r>
            <a:r>
              <a:rPr lang="zh-CN" altLang="en-US" sz="2800" dirty="0"/>
              <a:t>自顶向下的设计方法已经成为大规模电路的设计首选</a:t>
            </a:r>
            <a:r>
              <a:rPr lang="en-US" altLang="zh-CN" sz="2800" dirty="0"/>
              <a:t>,</a:t>
            </a:r>
            <a:r>
              <a:rPr lang="zh-CN" altLang="en-US" sz="2800" dirty="0"/>
              <a:t>是</a:t>
            </a:r>
            <a:r>
              <a:rPr lang="en-US" altLang="zh-CN" sz="2800" dirty="0"/>
              <a:t>ASIC</a:t>
            </a:r>
            <a:r>
              <a:rPr lang="zh-CN" altLang="en-US" sz="2800" dirty="0"/>
              <a:t>和</a:t>
            </a:r>
            <a:r>
              <a:rPr lang="en-US" altLang="zh-CN" sz="2800" dirty="0"/>
              <a:t>FPGA</a:t>
            </a:r>
            <a:r>
              <a:rPr lang="zh-CN" altLang="en-US" sz="2800" dirty="0"/>
              <a:t>开发的主要设计手段</a:t>
            </a:r>
            <a:r>
              <a:rPr lang="en-US" altLang="zh-CN" sz="2800" dirty="0"/>
              <a:t>.</a:t>
            </a:r>
          </a:p>
        </p:txBody>
      </p:sp>
      <p:sp>
        <p:nvSpPr>
          <p:cNvPr id="4" name="Rectangle 2">
            <a:extLst>
              <a:ext uri="{FF2B5EF4-FFF2-40B4-BE49-F238E27FC236}">
                <a16:creationId xmlns:a16="http://schemas.microsoft.com/office/drawing/2014/main" id="{F9276F01-5D52-21DA-B810-916B3D2FB1DA}"/>
              </a:ext>
            </a:extLst>
          </p:cNvPr>
          <p:cNvSpPr>
            <a:spLocks noGrp="1"/>
          </p:cNvSpPr>
          <p:nvPr>
            <p:ph type="title"/>
          </p:nvPr>
        </p:nvSpPr>
        <p:spPr>
          <a:xfrm>
            <a:off x="540073" y="188640"/>
            <a:ext cx="5832127" cy="792162"/>
          </a:xfrm>
        </p:spPr>
        <p:txBody>
          <a:bodyPr vert="horz" wrap="square" lIns="91440" tIns="45720" rIns="91440" bIns="45720" anchor="b" anchorCtr="0"/>
          <a:lstStyle/>
          <a:p>
            <a:pPr algn="l" eaLnBrk="1" hangingPunct="1"/>
            <a:r>
              <a:rPr lang="zh-CN" altLang="en-US" dirty="0"/>
              <a:t>两种基本设计方法比较</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176CF-D437-E532-7732-B68F6944B4C5}"/>
            </a:ext>
          </a:extLst>
        </p:cNvPr>
        <p:cNvGrpSpPr/>
        <p:nvPr/>
      </p:nvGrpSpPr>
      <p:grpSpPr>
        <a:xfrm>
          <a:off x="0" y="0"/>
          <a:ext cx="0" cy="0"/>
          <a:chOff x="0" y="0"/>
          <a:chExt cx="0" cy="0"/>
        </a:xfrm>
      </p:grpSpPr>
      <p:pic>
        <p:nvPicPr>
          <p:cNvPr id="39" name="图片 38">
            <a:extLst>
              <a:ext uri="{FF2B5EF4-FFF2-40B4-BE49-F238E27FC236}">
                <a16:creationId xmlns:a16="http://schemas.microsoft.com/office/drawing/2014/main" id="{CDC512A6-3809-0415-E6B0-5B4D5CC306D8}"/>
              </a:ext>
            </a:extLst>
          </p:cNvPr>
          <p:cNvPicPr>
            <a:picLocks noChangeAspect="1"/>
          </p:cNvPicPr>
          <p:nvPr/>
        </p:nvPicPr>
        <p:blipFill>
          <a:blip r:embed="rId3"/>
          <a:stretch>
            <a:fillRect/>
          </a:stretch>
        </p:blipFill>
        <p:spPr>
          <a:xfrm>
            <a:off x="1673932" y="2199675"/>
            <a:ext cx="5796136" cy="2007764"/>
          </a:xfrm>
          <a:prstGeom prst="rect">
            <a:avLst/>
          </a:prstGeom>
        </p:spPr>
      </p:pic>
      <p:sp>
        <p:nvSpPr>
          <p:cNvPr id="40" name="Rectangle 3" descr="Rectangle: Click to edit Master text styles&#10;Second level&#10;Third level&#10;Fourth level&#10;Fifth level">
            <a:extLst>
              <a:ext uri="{FF2B5EF4-FFF2-40B4-BE49-F238E27FC236}">
                <a16:creationId xmlns:a16="http://schemas.microsoft.com/office/drawing/2014/main" id="{A0DD984B-6718-71DC-930B-BBA8AC7D166C}"/>
              </a:ext>
            </a:extLst>
          </p:cNvPr>
          <p:cNvSpPr>
            <a:spLocks noGrp="1"/>
          </p:cNvSpPr>
          <p:nvPr>
            <p:ph idx="1"/>
          </p:nvPr>
        </p:nvSpPr>
        <p:spPr>
          <a:xfrm>
            <a:off x="683568" y="928778"/>
            <a:ext cx="8784976" cy="4549559"/>
          </a:xfrm>
        </p:spPr>
        <p:txBody>
          <a:bodyPr vert="horz" wrap="square" lIns="91440" tIns="45720" rIns="91440" bIns="45720" anchor="t" anchorCtr="0"/>
          <a:lstStyle/>
          <a:p>
            <a:pPr indent="-432000" eaLnBrk="1" hangingPunct="1">
              <a:lnSpc>
                <a:spcPct val="150000"/>
              </a:lnSpc>
              <a:spcBef>
                <a:spcPts val="600"/>
              </a:spcBef>
              <a:spcAft>
                <a:spcPts val="600"/>
              </a:spcAft>
              <a:buClr>
                <a:schemeClr val="tx1"/>
              </a:buClr>
              <a:buSzPct val="80000"/>
              <a:buFont typeface="Wingdings" panose="05000000000000000000" pitchFamily="2" charset="2"/>
              <a:buChar char="n"/>
            </a:pPr>
            <a:r>
              <a:rPr lang="zh-CN" altLang="en-US" b="1" dirty="0">
                <a:solidFill>
                  <a:schemeClr val="tx1"/>
                </a:solidFill>
              </a:rPr>
              <a:t>数字系统设计中</a:t>
            </a:r>
            <a:r>
              <a:rPr lang="zh-CN" altLang="en-US" b="1" dirty="0">
                <a:solidFill>
                  <a:srgbClr val="C00000"/>
                </a:solidFill>
              </a:rPr>
              <a:t>层次建模的概念</a:t>
            </a:r>
            <a:endParaRPr lang="en-US" altLang="zh-CN" b="1" dirty="0">
              <a:solidFill>
                <a:srgbClr val="C00000"/>
              </a:solidFill>
            </a:endParaRPr>
          </a:p>
          <a:p>
            <a:pPr eaLnBrk="1" hangingPunct="1">
              <a:spcBef>
                <a:spcPts val="800"/>
              </a:spcBef>
              <a:spcAft>
                <a:spcPts val="800"/>
              </a:spcAft>
              <a:buFont typeface="Arial" panose="020B0604020202020204" pitchFamily="34" charset="0"/>
              <a:buChar char="•"/>
            </a:pPr>
            <a:endParaRPr lang="zh-CN" altLang="zh-CN" b="1" dirty="0">
              <a:solidFill>
                <a:srgbClr val="C00000"/>
              </a:solidFill>
            </a:endParaRPr>
          </a:p>
        </p:txBody>
      </p:sp>
      <p:sp>
        <p:nvSpPr>
          <p:cNvPr id="2" name="Rectangle 1026">
            <a:extLst>
              <a:ext uri="{FF2B5EF4-FFF2-40B4-BE49-F238E27FC236}">
                <a16:creationId xmlns:a16="http://schemas.microsoft.com/office/drawing/2014/main" id="{046ACB03-2211-0C93-4B11-18597C189270}"/>
              </a:ext>
            </a:extLst>
          </p:cNvPr>
          <p:cNvSpPr>
            <a:spLocks noGrp="1"/>
          </p:cNvSpPr>
          <p:nvPr>
            <p:ph type="title"/>
          </p:nvPr>
        </p:nvSpPr>
        <p:spPr>
          <a:xfrm>
            <a:off x="323528" y="133233"/>
            <a:ext cx="7560840" cy="792162"/>
          </a:xfrm>
        </p:spPr>
        <p:txBody>
          <a:bodyPr vert="horz" wrap="square" lIns="91440" tIns="45720" rIns="91440" bIns="45720" anchor="b" anchorCtr="0"/>
          <a:lstStyle/>
          <a:p>
            <a:pPr algn="l" eaLnBrk="1" hangingPunct="1"/>
            <a:r>
              <a:rPr lang="zh-CN" altLang="en-US" dirty="0"/>
              <a:t>两种设计方法共通的设计理念</a:t>
            </a:r>
          </a:p>
        </p:txBody>
      </p:sp>
      <p:pic>
        <p:nvPicPr>
          <p:cNvPr id="3" name="图片 2">
            <a:extLst>
              <a:ext uri="{FF2B5EF4-FFF2-40B4-BE49-F238E27FC236}">
                <a16:creationId xmlns:a16="http://schemas.microsoft.com/office/drawing/2014/main" id="{08FA105F-A8E2-A9C1-D176-4BFB7795A7BD}"/>
              </a:ext>
            </a:extLst>
          </p:cNvPr>
          <p:cNvPicPr>
            <a:picLocks noChangeAspect="1"/>
          </p:cNvPicPr>
          <p:nvPr/>
        </p:nvPicPr>
        <p:blipFill>
          <a:blip r:embed="rId4"/>
          <a:stretch>
            <a:fillRect/>
          </a:stretch>
        </p:blipFill>
        <p:spPr>
          <a:xfrm>
            <a:off x="1168412" y="4509120"/>
            <a:ext cx="6807176" cy="2126149"/>
          </a:xfrm>
          <a:prstGeom prst="rect">
            <a:avLst/>
          </a:prstGeom>
        </p:spPr>
      </p:pic>
    </p:spTree>
    <p:extLst>
      <p:ext uri="{BB962C8B-B14F-4D97-AF65-F5344CB8AC3E}">
        <p14:creationId xmlns:p14="http://schemas.microsoft.com/office/powerpoint/2010/main" val="377460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E5C1B-CB43-BC31-A342-46425A2E332E}"/>
            </a:ext>
          </a:extLst>
        </p:cNvPr>
        <p:cNvGrpSpPr/>
        <p:nvPr/>
      </p:nvGrpSpPr>
      <p:grpSpPr>
        <a:xfrm>
          <a:off x="0" y="0"/>
          <a:ext cx="0" cy="0"/>
          <a:chOff x="0" y="0"/>
          <a:chExt cx="0" cy="0"/>
        </a:xfrm>
      </p:grpSpPr>
      <p:sp>
        <p:nvSpPr>
          <p:cNvPr id="6145" name="Rectangle 2">
            <a:extLst>
              <a:ext uri="{FF2B5EF4-FFF2-40B4-BE49-F238E27FC236}">
                <a16:creationId xmlns:a16="http://schemas.microsoft.com/office/drawing/2014/main" id="{2132B35B-9E69-E54D-6216-AC0B00B49D26}"/>
              </a:ext>
            </a:extLst>
          </p:cNvPr>
          <p:cNvSpPr>
            <a:spLocks noGrp="1"/>
          </p:cNvSpPr>
          <p:nvPr>
            <p:ph type="title"/>
          </p:nvPr>
        </p:nvSpPr>
        <p:spPr>
          <a:xfrm>
            <a:off x="900113" y="188913"/>
            <a:ext cx="4319959" cy="792162"/>
          </a:xfrm>
        </p:spPr>
        <p:txBody>
          <a:bodyPr vert="horz" wrap="square" lIns="91440" tIns="45720" rIns="91440" bIns="45720" anchor="b" anchorCtr="0"/>
          <a:lstStyle/>
          <a:p>
            <a:pPr algn="l" eaLnBrk="1" hangingPunct="1"/>
            <a:r>
              <a:rPr lang="zh-CN" altLang="en-US" dirty="0"/>
              <a:t>课程主要内容</a:t>
            </a:r>
          </a:p>
        </p:txBody>
      </p:sp>
      <p:sp>
        <p:nvSpPr>
          <p:cNvPr id="6146" name="Rectangle 3" descr="Rectangle: Click to edit Master text styles&#10;Second level&#10;Third level&#10;Fourth level&#10;Fifth level">
            <a:extLst>
              <a:ext uri="{FF2B5EF4-FFF2-40B4-BE49-F238E27FC236}">
                <a16:creationId xmlns:a16="http://schemas.microsoft.com/office/drawing/2014/main" id="{27C7810D-047E-5084-84EB-030A293302E0}"/>
              </a:ext>
            </a:extLst>
          </p:cNvPr>
          <p:cNvSpPr>
            <a:spLocks noGrp="1"/>
          </p:cNvSpPr>
          <p:nvPr>
            <p:ph idx="1"/>
          </p:nvPr>
        </p:nvSpPr>
        <p:spPr>
          <a:xfrm>
            <a:off x="900113" y="1412527"/>
            <a:ext cx="8064500" cy="4176713"/>
          </a:xfrm>
        </p:spPr>
        <p:txBody>
          <a:bodyPr vert="horz" wrap="square" lIns="91440" tIns="45720" rIns="91440" bIns="45720" anchor="t" anchorCtr="0"/>
          <a:lstStyle/>
          <a:p>
            <a:pPr eaLnBrk="1" hangingPunct="1">
              <a:spcBef>
                <a:spcPts val="1200"/>
              </a:spcBef>
              <a:spcAft>
                <a:spcPts val="1200"/>
              </a:spcAft>
            </a:pPr>
            <a:r>
              <a:rPr lang="zh-CN" altLang="en-US" dirty="0">
                <a:solidFill>
                  <a:schemeClr val="bg2"/>
                </a:solidFill>
              </a:rPr>
              <a:t>数字系统设计基础知识简介</a:t>
            </a:r>
          </a:p>
          <a:p>
            <a:pPr eaLnBrk="1" hangingPunct="1">
              <a:spcBef>
                <a:spcPts val="1200"/>
              </a:spcBef>
              <a:spcAft>
                <a:spcPts val="1200"/>
              </a:spcAft>
            </a:pPr>
            <a:r>
              <a:rPr lang="zh-CN" altLang="en-US" dirty="0">
                <a:solidFill>
                  <a:srgbClr val="C00000"/>
                </a:solidFill>
              </a:rPr>
              <a:t>熟练掌握</a:t>
            </a:r>
            <a:r>
              <a:rPr lang="en-US" altLang="zh-CN" dirty="0">
                <a:solidFill>
                  <a:srgbClr val="C00000"/>
                </a:solidFill>
              </a:rPr>
              <a:t>Verilog</a:t>
            </a:r>
            <a:r>
              <a:rPr lang="zh-CN" altLang="en-US" dirty="0">
                <a:solidFill>
                  <a:srgbClr val="C00000"/>
                </a:solidFill>
              </a:rPr>
              <a:t>的基本语法和使用</a:t>
            </a:r>
          </a:p>
          <a:p>
            <a:pPr eaLnBrk="1" hangingPunct="1">
              <a:spcBef>
                <a:spcPts val="1200"/>
              </a:spcBef>
              <a:spcAft>
                <a:spcPts val="1200"/>
              </a:spcAft>
            </a:pPr>
            <a:r>
              <a:rPr lang="zh-CN" altLang="en-US" dirty="0"/>
              <a:t>熟练使用</a:t>
            </a:r>
            <a:r>
              <a:rPr lang="en-US" altLang="zh-CN" dirty="0"/>
              <a:t>vivado</a:t>
            </a:r>
            <a:r>
              <a:rPr lang="zh-CN" altLang="en-US" dirty="0">
                <a:latin typeface="楷体_GB2312" pitchFamily="49" charset="-122"/>
              </a:rPr>
              <a:t>软件</a:t>
            </a:r>
          </a:p>
          <a:p>
            <a:pPr eaLnBrk="1" hangingPunct="1">
              <a:spcBef>
                <a:spcPts val="1200"/>
              </a:spcBef>
              <a:spcAft>
                <a:spcPts val="1200"/>
              </a:spcAft>
            </a:pPr>
            <a:r>
              <a:rPr lang="zh-CN" altLang="en-US" dirty="0"/>
              <a:t>在</a:t>
            </a:r>
            <a:r>
              <a:rPr lang="en-US" altLang="zh-CN" dirty="0"/>
              <a:t>vivado</a:t>
            </a:r>
            <a:r>
              <a:rPr lang="zh-CN" altLang="en-US" dirty="0">
                <a:latin typeface="楷体_GB2312" pitchFamily="49" charset="-122"/>
              </a:rPr>
              <a:t>软件环境下使用</a:t>
            </a:r>
            <a:r>
              <a:rPr lang="en-US" altLang="zh-CN" dirty="0"/>
              <a:t>verilog</a:t>
            </a:r>
            <a:r>
              <a:rPr lang="zh-CN" altLang="en-US" dirty="0"/>
              <a:t>设计一个数字系统并通过下载到目标实验板验证其功能</a:t>
            </a:r>
            <a:endParaRPr lang="zh-CN" altLang="en-US" dirty="0">
              <a:latin typeface="楷体_GB2312" pitchFamily="49" charset="-122"/>
            </a:endParaRPr>
          </a:p>
          <a:p>
            <a:pPr eaLnBrk="1" hangingPunct="1"/>
            <a:endParaRPr lang="zh-CN" altLang="en-US" dirty="0">
              <a:latin typeface="楷体_GB2312" pitchFamily="49" charset="-122"/>
            </a:endParaRPr>
          </a:p>
          <a:p>
            <a:pPr eaLnBrk="1" hangingPunct="1"/>
            <a:endParaRPr lang="en-US" altLang="zh-CN" dirty="0">
              <a:latin typeface="楷体_GB2312" pitchFamily="49" charset="-122"/>
            </a:endParaRPr>
          </a:p>
        </p:txBody>
      </p:sp>
    </p:spTree>
    <p:extLst>
      <p:ext uri="{BB962C8B-B14F-4D97-AF65-F5344CB8AC3E}">
        <p14:creationId xmlns:p14="http://schemas.microsoft.com/office/powerpoint/2010/main" val="18857672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5FBB0-6E78-A652-FAC1-265055BFF671}"/>
            </a:ext>
          </a:extLst>
        </p:cNvPr>
        <p:cNvGrpSpPr/>
        <p:nvPr/>
      </p:nvGrpSpPr>
      <p:grpSpPr>
        <a:xfrm>
          <a:off x="0" y="0"/>
          <a:ext cx="0" cy="0"/>
          <a:chOff x="0" y="0"/>
          <a:chExt cx="0" cy="0"/>
        </a:xfrm>
      </p:grpSpPr>
      <p:sp>
        <p:nvSpPr>
          <p:cNvPr id="53249" name="Rectangle 1026">
            <a:extLst>
              <a:ext uri="{FF2B5EF4-FFF2-40B4-BE49-F238E27FC236}">
                <a16:creationId xmlns:a16="http://schemas.microsoft.com/office/drawing/2014/main" id="{40D9C0E9-6193-FE36-EE53-3E6099D20A0B}"/>
              </a:ext>
            </a:extLst>
          </p:cNvPr>
          <p:cNvSpPr>
            <a:spLocks noGrp="1"/>
          </p:cNvSpPr>
          <p:nvPr>
            <p:ph type="title"/>
          </p:nvPr>
        </p:nvSpPr>
        <p:spPr>
          <a:xfrm>
            <a:off x="900113" y="188913"/>
            <a:ext cx="7056263" cy="792162"/>
          </a:xfrm>
        </p:spPr>
        <p:txBody>
          <a:bodyPr vert="horz" wrap="square" lIns="91440" tIns="45720" rIns="91440" bIns="45720" anchor="b" anchorCtr="0"/>
          <a:lstStyle/>
          <a:p>
            <a:pPr algn="l" eaLnBrk="1" hangingPunct="1"/>
            <a:r>
              <a:rPr lang="en-US" altLang="zh-CN" dirty="0"/>
              <a:t>Verilog HDL</a:t>
            </a:r>
            <a:r>
              <a:rPr lang="zh-CN" altLang="en-US" dirty="0"/>
              <a:t>语法和使用</a:t>
            </a:r>
          </a:p>
        </p:txBody>
      </p:sp>
      <p:sp>
        <p:nvSpPr>
          <p:cNvPr id="53250" name="Rectangle 1027" descr="Rectangle: Click to edit Master text styles&#10;Second level&#10;Third level&#10;Fourth level&#10;Fifth level">
            <a:extLst>
              <a:ext uri="{FF2B5EF4-FFF2-40B4-BE49-F238E27FC236}">
                <a16:creationId xmlns:a16="http://schemas.microsoft.com/office/drawing/2014/main" id="{EA3C4E6B-CC53-6A7A-8C4B-6D8F01B08A62}"/>
              </a:ext>
            </a:extLst>
          </p:cNvPr>
          <p:cNvSpPr>
            <a:spLocks noGrp="1"/>
          </p:cNvSpPr>
          <p:nvPr>
            <p:ph idx="1"/>
          </p:nvPr>
        </p:nvSpPr>
        <p:spPr>
          <a:xfrm>
            <a:off x="755576" y="1196975"/>
            <a:ext cx="8208391" cy="4676775"/>
          </a:xfrm>
        </p:spPr>
        <p:txBody>
          <a:bodyPr vert="horz" wrap="square" lIns="91440" tIns="45720" rIns="91440" bIns="45720" anchor="t" anchorCtr="0"/>
          <a:lstStyle/>
          <a:p>
            <a:pPr eaLnBrk="1" hangingPunct="1">
              <a:lnSpc>
                <a:spcPct val="150000"/>
              </a:lnSpc>
              <a:spcBef>
                <a:spcPts val="600"/>
              </a:spcBef>
              <a:spcAft>
                <a:spcPts val="600"/>
              </a:spcAft>
            </a:pPr>
            <a:r>
              <a:rPr lang="en-US" altLang="zh-CN" dirty="0">
                <a:solidFill>
                  <a:srgbClr val="C00000"/>
                </a:solidFill>
              </a:rPr>
              <a:t>Verilog HDL</a:t>
            </a:r>
            <a:r>
              <a:rPr lang="zh-CN" altLang="en-US" dirty="0">
                <a:solidFill>
                  <a:srgbClr val="C00000"/>
                </a:solidFill>
              </a:rPr>
              <a:t>语言基础</a:t>
            </a:r>
            <a:r>
              <a:rPr lang="en-US" altLang="zh-CN" dirty="0">
                <a:solidFill>
                  <a:srgbClr val="C00000"/>
                </a:solidFill>
              </a:rPr>
              <a:t>(</a:t>
            </a:r>
            <a:r>
              <a:rPr lang="zh-CN" altLang="en-US" dirty="0">
                <a:solidFill>
                  <a:srgbClr val="C00000"/>
                </a:solidFill>
              </a:rPr>
              <a:t>语法结构和约定）</a:t>
            </a:r>
          </a:p>
          <a:p>
            <a:pPr eaLnBrk="1" hangingPunct="1">
              <a:lnSpc>
                <a:spcPct val="150000"/>
              </a:lnSpc>
              <a:spcBef>
                <a:spcPts val="600"/>
              </a:spcBef>
              <a:spcAft>
                <a:spcPts val="600"/>
              </a:spcAft>
            </a:pPr>
            <a:r>
              <a:rPr lang="zh-CN" altLang="en-US" dirty="0"/>
              <a:t>如何用</a:t>
            </a:r>
            <a:r>
              <a:rPr lang="en-US" altLang="zh-CN" dirty="0"/>
              <a:t>Verilog</a:t>
            </a:r>
            <a:r>
              <a:rPr lang="zh-CN" altLang="en-US" dirty="0"/>
              <a:t>描述数字电路功能</a:t>
            </a:r>
            <a:endParaRPr lang="en-US" altLang="zh-CN" dirty="0"/>
          </a:p>
          <a:p>
            <a:pPr lvl="1" eaLnBrk="1" hangingPunct="1">
              <a:lnSpc>
                <a:spcPct val="150000"/>
              </a:lnSpc>
              <a:spcBef>
                <a:spcPts val="0"/>
              </a:spcBef>
              <a:spcAft>
                <a:spcPts val="0"/>
              </a:spcAft>
            </a:pPr>
            <a:r>
              <a:rPr lang="zh-CN" altLang="en-US" dirty="0"/>
              <a:t>结构化建模</a:t>
            </a:r>
            <a:endParaRPr lang="en-US" altLang="zh-CN" dirty="0"/>
          </a:p>
          <a:p>
            <a:pPr lvl="1" eaLnBrk="1" hangingPunct="1">
              <a:lnSpc>
                <a:spcPct val="150000"/>
              </a:lnSpc>
              <a:spcBef>
                <a:spcPts val="0"/>
              </a:spcBef>
              <a:spcAft>
                <a:spcPts val="0"/>
              </a:spcAft>
            </a:pPr>
            <a:r>
              <a:rPr lang="zh-CN" altLang="en-US" dirty="0"/>
              <a:t>数据流建模</a:t>
            </a:r>
            <a:endParaRPr lang="en-US" altLang="zh-CN" dirty="0"/>
          </a:p>
          <a:p>
            <a:pPr lvl="1" eaLnBrk="1" hangingPunct="1">
              <a:lnSpc>
                <a:spcPct val="150000"/>
              </a:lnSpc>
              <a:spcBef>
                <a:spcPts val="0"/>
              </a:spcBef>
              <a:spcAft>
                <a:spcPts val="0"/>
              </a:spcAft>
            </a:pPr>
            <a:r>
              <a:rPr lang="zh-CN" altLang="en-US" dirty="0"/>
              <a:t>行为级建模</a:t>
            </a:r>
          </a:p>
          <a:p>
            <a:pPr eaLnBrk="1" hangingPunct="1">
              <a:lnSpc>
                <a:spcPct val="150000"/>
              </a:lnSpc>
              <a:spcBef>
                <a:spcPts val="600"/>
              </a:spcBef>
              <a:spcAft>
                <a:spcPts val="600"/>
              </a:spcAft>
            </a:pPr>
            <a:r>
              <a:rPr lang="en-US" altLang="zh-CN" dirty="0"/>
              <a:t>Verilog HDL</a:t>
            </a:r>
            <a:r>
              <a:rPr lang="zh-CN" altLang="en-US" dirty="0"/>
              <a:t>逻辑仿真验证</a:t>
            </a:r>
          </a:p>
        </p:txBody>
      </p:sp>
    </p:spTree>
    <p:extLst>
      <p:ext uri="{BB962C8B-B14F-4D97-AF65-F5344CB8AC3E}">
        <p14:creationId xmlns:p14="http://schemas.microsoft.com/office/powerpoint/2010/main" val="3950516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63BF6-1B85-CCFF-EC0D-BD6CBF141514}"/>
            </a:ext>
          </a:extLst>
        </p:cNvPr>
        <p:cNvGrpSpPr/>
        <p:nvPr/>
      </p:nvGrpSpPr>
      <p:grpSpPr>
        <a:xfrm>
          <a:off x="0" y="0"/>
          <a:ext cx="0" cy="0"/>
          <a:chOff x="0" y="0"/>
          <a:chExt cx="0" cy="0"/>
        </a:xfrm>
      </p:grpSpPr>
      <p:sp>
        <p:nvSpPr>
          <p:cNvPr id="53249" name="Rectangle 1026">
            <a:extLst>
              <a:ext uri="{FF2B5EF4-FFF2-40B4-BE49-F238E27FC236}">
                <a16:creationId xmlns:a16="http://schemas.microsoft.com/office/drawing/2014/main" id="{DB0D56EE-3FC0-9BD6-5050-F50E8B950644}"/>
              </a:ext>
            </a:extLst>
          </p:cNvPr>
          <p:cNvSpPr>
            <a:spLocks noGrp="1"/>
          </p:cNvSpPr>
          <p:nvPr>
            <p:ph type="title"/>
          </p:nvPr>
        </p:nvSpPr>
        <p:spPr>
          <a:xfrm>
            <a:off x="900113" y="188913"/>
            <a:ext cx="7056263" cy="792162"/>
          </a:xfrm>
        </p:spPr>
        <p:txBody>
          <a:bodyPr vert="horz" wrap="square" lIns="91440" tIns="45720" rIns="91440" bIns="45720" anchor="b" anchorCtr="0"/>
          <a:lstStyle/>
          <a:p>
            <a:pPr algn="l" eaLnBrk="1" hangingPunct="1"/>
            <a:r>
              <a:rPr lang="en-US" altLang="zh-CN" dirty="0"/>
              <a:t>Verilog HDL</a:t>
            </a:r>
            <a:r>
              <a:rPr lang="zh-CN" altLang="en-US" dirty="0"/>
              <a:t>语言基础</a:t>
            </a:r>
          </a:p>
        </p:txBody>
      </p:sp>
      <p:sp>
        <p:nvSpPr>
          <p:cNvPr id="53250" name="Rectangle 1027" descr="Rectangle: Click to edit Master text styles&#10;Second level&#10;Third level&#10;Fourth level&#10;Fifth level">
            <a:extLst>
              <a:ext uri="{FF2B5EF4-FFF2-40B4-BE49-F238E27FC236}">
                <a16:creationId xmlns:a16="http://schemas.microsoft.com/office/drawing/2014/main" id="{AB555BBF-A260-432C-1686-B06CE2CEDE5B}"/>
              </a:ext>
            </a:extLst>
          </p:cNvPr>
          <p:cNvSpPr>
            <a:spLocks noGrp="1"/>
          </p:cNvSpPr>
          <p:nvPr>
            <p:ph idx="1"/>
          </p:nvPr>
        </p:nvSpPr>
        <p:spPr>
          <a:xfrm>
            <a:off x="755576" y="1196975"/>
            <a:ext cx="8208391" cy="4676775"/>
          </a:xfrm>
        </p:spPr>
        <p:txBody>
          <a:bodyPr vert="horz" wrap="square" lIns="91440" tIns="45720" rIns="91440" bIns="45720" anchor="t" anchorCtr="0"/>
          <a:lstStyle/>
          <a:p>
            <a:pPr eaLnBrk="1" hangingPunct="1">
              <a:lnSpc>
                <a:spcPct val="150000"/>
              </a:lnSpc>
              <a:spcBef>
                <a:spcPts val="600"/>
              </a:spcBef>
              <a:spcAft>
                <a:spcPts val="600"/>
              </a:spcAft>
            </a:pPr>
            <a:r>
              <a:rPr lang="zh-CN" altLang="en-US" dirty="0"/>
              <a:t>详细内容参考：</a:t>
            </a:r>
            <a:r>
              <a:rPr lang="en-US" altLang="zh-CN" dirty="0"/>
              <a:t>”</a:t>
            </a:r>
            <a:r>
              <a:rPr lang="zh-CN" altLang="en-US" dirty="0"/>
              <a:t>搭建你的数字积木</a:t>
            </a:r>
            <a:r>
              <a:rPr lang="en-US" altLang="zh-CN" dirty="0"/>
              <a:t>——</a:t>
            </a:r>
            <a:r>
              <a:rPr lang="zh-CN" altLang="en-US" dirty="0"/>
              <a:t>参考课件</a:t>
            </a:r>
            <a:r>
              <a:rPr lang="en-US" altLang="zh-CN" dirty="0"/>
              <a:t>PPT”</a:t>
            </a:r>
            <a:r>
              <a:rPr lang="zh-CN" altLang="en-US" dirty="0"/>
              <a:t> 第一部分</a:t>
            </a:r>
            <a:r>
              <a:rPr lang="en-US" altLang="zh-CN" dirty="0"/>
              <a:t>——Verilog HDL</a:t>
            </a:r>
            <a:r>
              <a:rPr lang="zh-CN" altLang="en-US" dirty="0"/>
              <a:t>基础</a:t>
            </a:r>
          </a:p>
          <a:p>
            <a:pPr marL="0" indent="0" eaLnBrk="1" hangingPunct="1">
              <a:lnSpc>
                <a:spcPct val="150000"/>
              </a:lnSpc>
              <a:spcBef>
                <a:spcPts val="600"/>
              </a:spcBef>
              <a:spcAft>
                <a:spcPts val="600"/>
              </a:spcAft>
              <a:buNone/>
            </a:pPr>
            <a:endParaRPr lang="zh-CN" altLang="en-US" dirty="0"/>
          </a:p>
        </p:txBody>
      </p:sp>
    </p:spTree>
    <p:extLst>
      <p:ext uri="{BB962C8B-B14F-4D97-AF65-F5344CB8AC3E}">
        <p14:creationId xmlns:p14="http://schemas.microsoft.com/office/powerpoint/2010/main" val="31723831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8B27D-DD99-1C41-7EB5-7A0E5F70647C}"/>
            </a:ext>
          </a:extLst>
        </p:cNvPr>
        <p:cNvGrpSpPr/>
        <p:nvPr/>
      </p:nvGrpSpPr>
      <p:grpSpPr>
        <a:xfrm>
          <a:off x="0" y="0"/>
          <a:ext cx="0" cy="0"/>
          <a:chOff x="0" y="0"/>
          <a:chExt cx="0" cy="0"/>
        </a:xfrm>
      </p:grpSpPr>
      <p:sp>
        <p:nvSpPr>
          <p:cNvPr id="53249" name="Rectangle 1026">
            <a:extLst>
              <a:ext uri="{FF2B5EF4-FFF2-40B4-BE49-F238E27FC236}">
                <a16:creationId xmlns:a16="http://schemas.microsoft.com/office/drawing/2014/main" id="{89DE9721-9FC2-E8B1-3612-95DA8A9C999F}"/>
              </a:ext>
            </a:extLst>
          </p:cNvPr>
          <p:cNvSpPr>
            <a:spLocks noGrp="1"/>
          </p:cNvSpPr>
          <p:nvPr>
            <p:ph type="title"/>
          </p:nvPr>
        </p:nvSpPr>
        <p:spPr>
          <a:xfrm>
            <a:off x="900113" y="188913"/>
            <a:ext cx="7056263" cy="792162"/>
          </a:xfrm>
        </p:spPr>
        <p:txBody>
          <a:bodyPr vert="horz" wrap="square" lIns="91440" tIns="45720" rIns="91440" bIns="45720" anchor="b" anchorCtr="0"/>
          <a:lstStyle/>
          <a:p>
            <a:pPr algn="l" eaLnBrk="1" hangingPunct="1"/>
            <a:r>
              <a:rPr lang="en-US" altLang="zh-CN" dirty="0"/>
              <a:t>Verilog HDL</a:t>
            </a:r>
            <a:r>
              <a:rPr lang="zh-CN" altLang="en-US" dirty="0"/>
              <a:t>语法和使用</a:t>
            </a:r>
          </a:p>
        </p:txBody>
      </p:sp>
      <p:sp>
        <p:nvSpPr>
          <p:cNvPr id="53250" name="Rectangle 1027" descr="Rectangle: Click to edit Master text styles&#10;Second level&#10;Third level&#10;Fourth level&#10;Fifth level">
            <a:extLst>
              <a:ext uri="{FF2B5EF4-FFF2-40B4-BE49-F238E27FC236}">
                <a16:creationId xmlns:a16="http://schemas.microsoft.com/office/drawing/2014/main" id="{9ACED3E2-2FC8-75D2-A652-BD13E1B496C6}"/>
              </a:ext>
            </a:extLst>
          </p:cNvPr>
          <p:cNvSpPr>
            <a:spLocks noGrp="1"/>
          </p:cNvSpPr>
          <p:nvPr>
            <p:ph idx="1"/>
          </p:nvPr>
        </p:nvSpPr>
        <p:spPr>
          <a:xfrm>
            <a:off x="755576" y="1196975"/>
            <a:ext cx="8208391" cy="4676775"/>
          </a:xfrm>
        </p:spPr>
        <p:txBody>
          <a:bodyPr vert="horz" wrap="square" lIns="91440" tIns="45720" rIns="91440" bIns="45720" anchor="t" anchorCtr="0"/>
          <a:lstStyle/>
          <a:p>
            <a:pPr eaLnBrk="1" hangingPunct="1">
              <a:lnSpc>
                <a:spcPct val="150000"/>
              </a:lnSpc>
              <a:spcBef>
                <a:spcPts val="1200"/>
              </a:spcBef>
              <a:spcAft>
                <a:spcPts val="1200"/>
              </a:spcAft>
            </a:pPr>
            <a:r>
              <a:rPr lang="en-US" altLang="zh-CN" dirty="0">
                <a:solidFill>
                  <a:schemeClr val="bg2"/>
                </a:solidFill>
              </a:rPr>
              <a:t>Verilog HDL</a:t>
            </a:r>
            <a:r>
              <a:rPr lang="zh-CN" altLang="en-US" dirty="0">
                <a:solidFill>
                  <a:schemeClr val="bg2"/>
                </a:solidFill>
              </a:rPr>
              <a:t>语言基础</a:t>
            </a:r>
            <a:r>
              <a:rPr lang="en-US" altLang="zh-CN" dirty="0">
                <a:solidFill>
                  <a:schemeClr val="bg2"/>
                </a:solidFill>
              </a:rPr>
              <a:t>(</a:t>
            </a:r>
            <a:r>
              <a:rPr lang="zh-CN" altLang="en-US" dirty="0">
                <a:solidFill>
                  <a:schemeClr val="bg2"/>
                </a:solidFill>
              </a:rPr>
              <a:t>语法结构和约定）</a:t>
            </a:r>
          </a:p>
          <a:p>
            <a:pPr eaLnBrk="1" hangingPunct="1">
              <a:lnSpc>
                <a:spcPct val="150000"/>
              </a:lnSpc>
              <a:spcBef>
                <a:spcPts val="600"/>
              </a:spcBef>
              <a:spcAft>
                <a:spcPts val="600"/>
              </a:spcAft>
            </a:pPr>
            <a:r>
              <a:rPr lang="zh-CN" altLang="en-US" dirty="0">
                <a:solidFill>
                  <a:srgbClr val="C00000"/>
                </a:solidFill>
              </a:rPr>
              <a:t>如何用</a:t>
            </a:r>
            <a:r>
              <a:rPr lang="en-US" altLang="zh-CN" dirty="0">
                <a:solidFill>
                  <a:srgbClr val="C00000"/>
                </a:solidFill>
              </a:rPr>
              <a:t>Verilog</a:t>
            </a:r>
            <a:r>
              <a:rPr lang="zh-CN" altLang="en-US" dirty="0">
                <a:solidFill>
                  <a:srgbClr val="C00000"/>
                </a:solidFill>
              </a:rPr>
              <a:t>描述数字电路功能</a:t>
            </a:r>
            <a:endParaRPr lang="en-US" altLang="zh-CN" dirty="0">
              <a:solidFill>
                <a:srgbClr val="C00000"/>
              </a:solidFill>
            </a:endParaRPr>
          </a:p>
          <a:p>
            <a:pPr lvl="1" eaLnBrk="1" hangingPunct="1">
              <a:lnSpc>
                <a:spcPct val="150000"/>
              </a:lnSpc>
              <a:spcBef>
                <a:spcPts val="0"/>
              </a:spcBef>
              <a:spcAft>
                <a:spcPts val="0"/>
              </a:spcAft>
            </a:pPr>
            <a:r>
              <a:rPr lang="zh-CN" altLang="en-US" dirty="0"/>
              <a:t>结构化建模</a:t>
            </a:r>
            <a:endParaRPr lang="en-US" altLang="zh-CN" dirty="0"/>
          </a:p>
          <a:p>
            <a:pPr lvl="1" eaLnBrk="1" hangingPunct="1">
              <a:lnSpc>
                <a:spcPct val="150000"/>
              </a:lnSpc>
              <a:spcBef>
                <a:spcPts val="0"/>
              </a:spcBef>
              <a:spcAft>
                <a:spcPts val="0"/>
              </a:spcAft>
            </a:pPr>
            <a:r>
              <a:rPr lang="zh-CN" altLang="en-US" dirty="0"/>
              <a:t>数据流建模</a:t>
            </a:r>
            <a:endParaRPr lang="en-US" altLang="zh-CN" dirty="0"/>
          </a:p>
          <a:p>
            <a:pPr lvl="1" eaLnBrk="1" hangingPunct="1">
              <a:lnSpc>
                <a:spcPct val="150000"/>
              </a:lnSpc>
              <a:spcBef>
                <a:spcPts val="0"/>
              </a:spcBef>
              <a:spcAft>
                <a:spcPts val="0"/>
              </a:spcAft>
            </a:pPr>
            <a:r>
              <a:rPr lang="zh-CN" altLang="en-US" b="1" i="1" u="sng" dirty="0"/>
              <a:t>行为级建模</a:t>
            </a:r>
          </a:p>
          <a:p>
            <a:pPr eaLnBrk="1" hangingPunct="1">
              <a:lnSpc>
                <a:spcPct val="150000"/>
              </a:lnSpc>
              <a:spcBef>
                <a:spcPts val="600"/>
              </a:spcBef>
              <a:spcAft>
                <a:spcPts val="600"/>
              </a:spcAft>
            </a:pPr>
            <a:r>
              <a:rPr lang="en-US" altLang="zh-CN" dirty="0"/>
              <a:t>Verilog HDL</a:t>
            </a:r>
            <a:r>
              <a:rPr lang="zh-CN" altLang="en-US" dirty="0"/>
              <a:t>逻辑仿真验证</a:t>
            </a:r>
          </a:p>
        </p:txBody>
      </p:sp>
    </p:spTree>
    <p:extLst>
      <p:ext uri="{BB962C8B-B14F-4D97-AF65-F5344CB8AC3E}">
        <p14:creationId xmlns:p14="http://schemas.microsoft.com/office/powerpoint/2010/main" val="23986483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28A71-8EF1-8E43-E81A-CCB56C9EE78C}"/>
            </a:ext>
          </a:extLst>
        </p:cNvPr>
        <p:cNvGrpSpPr/>
        <p:nvPr/>
      </p:nvGrpSpPr>
      <p:grpSpPr>
        <a:xfrm>
          <a:off x="0" y="0"/>
          <a:ext cx="0" cy="0"/>
          <a:chOff x="0" y="0"/>
          <a:chExt cx="0" cy="0"/>
        </a:xfrm>
      </p:grpSpPr>
      <p:sp>
        <p:nvSpPr>
          <p:cNvPr id="12" name="Rectangle 3" descr="Rectangle: Click to edit Master text styles&#10;Second level&#10;Third level&#10;Fourth level&#10;Fifth level">
            <a:extLst>
              <a:ext uri="{FF2B5EF4-FFF2-40B4-BE49-F238E27FC236}">
                <a16:creationId xmlns:a16="http://schemas.microsoft.com/office/drawing/2014/main" id="{D51305F5-1593-2948-299E-A213A76AD04C}"/>
              </a:ext>
            </a:extLst>
          </p:cNvPr>
          <p:cNvSpPr txBox="1">
            <a:spLocks/>
          </p:cNvSpPr>
          <p:nvPr/>
        </p:nvSpPr>
        <p:spPr bwMode="auto">
          <a:xfrm>
            <a:off x="932653" y="1224996"/>
            <a:ext cx="7959827" cy="4752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spcBef>
                <a:spcPts val="600"/>
              </a:spcBef>
              <a:spcAft>
                <a:spcPts val="600"/>
              </a:spcAft>
              <a:buNone/>
            </a:pPr>
            <a:r>
              <a:rPr kumimoji="1" lang="en-US" altLang="zh-CN" sz="2800" b="1" kern="0" dirty="0">
                <a:solidFill>
                  <a:srgbClr val="C00000"/>
                </a:solidFill>
                <a:latin typeface="黑体" panose="02010609060101010101" pitchFamily="49" charset="-122"/>
                <a:ea typeface="黑体" panose="02010609060101010101" pitchFamily="49" charset="-122"/>
              </a:rPr>
              <a:t>module</a:t>
            </a:r>
            <a:r>
              <a:rPr kumimoji="1" lang="en-US" altLang="zh-CN" sz="2800" b="1" kern="0" dirty="0">
                <a:solidFill>
                  <a:srgbClr val="4B51A5"/>
                </a:solidFill>
                <a:latin typeface="黑体" panose="02010609060101010101" pitchFamily="49" charset="-122"/>
                <a:ea typeface="黑体" panose="02010609060101010101" pitchFamily="49" charset="-122"/>
              </a:rPr>
              <a:t> &lt;</a:t>
            </a:r>
            <a:r>
              <a:rPr kumimoji="1" lang="zh-CN" altLang="en-US" sz="2800" b="1" kern="0" dirty="0">
                <a:solidFill>
                  <a:srgbClr val="4B51A5"/>
                </a:solidFill>
                <a:latin typeface="黑体" panose="02010609060101010101" pitchFamily="49" charset="-122"/>
                <a:ea typeface="黑体" panose="02010609060101010101" pitchFamily="49" charset="-122"/>
              </a:rPr>
              <a:t>模块名</a:t>
            </a:r>
            <a:r>
              <a:rPr kumimoji="1" lang="en-US" altLang="zh-CN" sz="2800" b="1" kern="0" dirty="0">
                <a:solidFill>
                  <a:srgbClr val="4B51A5"/>
                </a:solidFill>
                <a:latin typeface="黑体" panose="02010609060101010101" pitchFamily="49" charset="-122"/>
                <a:ea typeface="黑体" panose="02010609060101010101" pitchFamily="49" charset="-122"/>
              </a:rPr>
              <a:t>&gt; </a:t>
            </a:r>
            <a:r>
              <a:rPr kumimoji="1" lang="zh-CN" altLang="en-US" sz="2800" b="1" kern="0" dirty="0">
                <a:solidFill>
                  <a:srgbClr val="4B51A5"/>
                </a:solidFill>
                <a:latin typeface="黑体" panose="02010609060101010101" pitchFamily="49" charset="-122"/>
                <a:ea typeface="黑体" panose="02010609060101010101" pitchFamily="49" charset="-122"/>
              </a:rPr>
              <a:t>（模块端口列表）； </a:t>
            </a:r>
          </a:p>
          <a:p>
            <a:pPr marL="0" indent="0" eaLnBrk="1" hangingPunct="1">
              <a:spcBef>
                <a:spcPts val="600"/>
              </a:spcBef>
              <a:spcAft>
                <a:spcPts val="600"/>
              </a:spcAft>
              <a:buNone/>
            </a:pPr>
            <a:r>
              <a:rPr kumimoji="1" lang="zh-CN" altLang="en-US" sz="2800" b="1" kern="0" dirty="0">
                <a:solidFill>
                  <a:srgbClr val="4B51A5"/>
                </a:solidFill>
                <a:latin typeface="黑体" panose="02010609060101010101" pitchFamily="49" charset="-122"/>
                <a:ea typeface="黑体" panose="02010609060101010101" pitchFamily="49" charset="-122"/>
              </a:rPr>
              <a:t>    </a:t>
            </a:r>
            <a:r>
              <a:rPr kumimoji="1" lang="en-US" altLang="zh-CN" sz="2800" b="1" kern="0" dirty="0">
                <a:solidFill>
                  <a:srgbClr val="4B51A5"/>
                </a:solidFill>
                <a:latin typeface="黑体" panose="02010609060101010101" pitchFamily="49" charset="-122"/>
                <a:ea typeface="黑体" panose="02010609060101010101" pitchFamily="49" charset="-122"/>
              </a:rPr>
              <a:t>&lt;</a:t>
            </a:r>
            <a:r>
              <a:rPr kumimoji="1" lang="zh-CN" altLang="en-US" sz="2800" b="1" kern="0" dirty="0">
                <a:solidFill>
                  <a:srgbClr val="4B51A5"/>
                </a:solidFill>
                <a:latin typeface="黑体" panose="02010609060101010101" pitchFamily="49" charset="-122"/>
                <a:ea typeface="黑体" panose="02010609060101010101" pitchFamily="49" charset="-122"/>
              </a:rPr>
              <a:t>端口声明</a:t>
            </a:r>
            <a:r>
              <a:rPr kumimoji="1" lang="en-US" altLang="zh-CN" sz="2800" b="1" kern="0" dirty="0">
                <a:solidFill>
                  <a:srgbClr val="4B51A5"/>
                </a:solidFill>
                <a:latin typeface="黑体" panose="02010609060101010101" pitchFamily="49" charset="-122"/>
                <a:ea typeface="黑体" panose="02010609060101010101" pitchFamily="49" charset="-122"/>
              </a:rPr>
              <a:t>&gt;</a:t>
            </a:r>
          </a:p>
          <a:p>
            <a:pPr marL="0" indent="0" eaLnBrk="1" hangingPunct="1">
              <a:spcBef>
                <a:spcPts val="600"/>
              </a:spcBef>
              <a:spcAft>
                <a:spcPts val="600"/>
              </a:spcAft>
              <a:buNone/>
            </a:pPr>
            <a:r>
              <a:rPr kumimoji="1" lang="en-US" altLang="zh-CN" sz="2800" b="1" kern="0" dirty="0">
                <a:solidFill>
                  <a:srgbClr val="4B51A5"/>
                </a:solidFill>
                <a:latin typeface="黑体" panose="02010609060101010101" pitchFamily="49" charset="-122"/>
                <a:ea typeface="黑体" panose="02010609060101010101" pitchFamily="49" charset="-122"/>
              </a:rPr>
              <a:t>	&lt;</a:t>
            </a:r>
            <a:r>
              <a:rPr kumimoji="1" lang="en-US" altLang="zh-CN" sz="2800" b="1" kern="0" dirty="0">
                <a:solidFill>
                  <a:srgbClr val="C00000"/>
                </a:solidFill>
                <a:latin typeface="黑体" panose="02010609060101010101" pitchFamily="49" charset="-122"/>
                <a:ea typeface="黑体" panose="02010609060101010101" pitchFamily="49" charset="-122"/>
              </a:rPr>
              <a:t>parameter</a:t>
            </a:r>
            <a:r>
              <a:rPr kumimoji="1" lang="zh-CN" altLang="en-US" sz="2800" b="1" kern="0" dirty="0">
                <a:solidFill>
                  <a:srgbClr val="4B51A5"/>
                </a:solidFill>
                <a:latin typeface="黑体" panose="02010609060101010101" pitchFamily="49" charset="-122"/>
                <a:ea typeface="黑体" panose="02010609060101010101" pitchFamily="49" charset="-122"/>
              </a:rPr>
              <a:t>声明</a:t>
            </a:r>
            <a:r>
              <a:rPr kumimoji="1" lang="en-US" altLang="zh-CN" sz="2800" b="1" kern="0" dirty="0">
                <a:solidFill>
                  <a:srgbClr val="4B51A5"/>
                </a:solidFill>
                <a:latin typeface="黑体" panose="02010609060101010101" pitchFamily="49" charset="-122"/>
                <a:ea typeface="黑体" panose="02010609060101010101" pitchFamily="49" charset="-122"/>
              </a:rPr>
              <a:t>&gt;</a:t>
            </a:r>
          </a:p>
          <a:p>
            <a:pPr marL="0" indent="0" eaLnBrk="1" hangingPunct="1">
              <a:spcBef>
                <a:spcPts val="600"/>
              </a:spcBef>
              <a:spcAft>
                <a:spcPts val="600"/>
              </a:spcAft>
              <a:buNone/>
            </a:pPr>
            <a:r>
              <a:rPr kumimoji="1" lang="en-US" altLang="zh-CN" sz="2800" b="1" kern="0" dirty="0">
                <a:solidFill>
                  <a:srgbClr val="4B51A5"/>
                </a:solidFill>
                <a:latin typeface="黑体" panose="02010609060101010101" pitchFamily="49" charset="-122"/>
                <a:ea typeface="黑体" panose="02010609060101010101" pitchFamily="49" charset="-122"/>
              </a:rPr>
              <a:t>	&lt;</a:t>
            </a:r>
            <a:r>
              <a:rPr kumimoji="1" lang="en-US" altLang="zh-CN" sz="2800" b="1" kern="0" dirty="0">
                <a:solidFill>
                  <a:srgbClr val="C00000"/>
                </a:solidFill>
                <a:latin typeface="黑体" panose="02010609060101010101" pitchFamily="49" charset="-122"/>
                <a:ea typeface="黑体" panose="02010609060101010101" pitchFamily="49" charset="-122"/>
              </a:rPr>
              <a:t>wire</a:t>
            </a:r>
            <a:r>
              <a:rPr kumimoji="1" lang="en-US" altLang="zh-CN" sz="2800" b="1" kern="0" dirty="0">
                <a:solidFill>
                  <a:srgbClr val="4B51A5"/>
                </a:solidFill>
                <a:latin typeface="黑体" panose="02010609060101010101" pitchFamily="49" charset="-122"/>
                <a:ea typeface="黑体" panose="02010609060101010101" pitchFamily="49" charset="-122"/>
              </a:rPr>
              <a:t>, </a:t>
            </a:r>
            <a:r>
              <a:rPr kumimoji="1" lang="en-US" altLang="zh-CN" sz="2800" b="1" kern="0" dirty="0">
                <a:solidFill>
                  <a:srgbClr val="C00000"/>
                </a:solidFill>
                <a:latin typeface="黑体" panose="02010609060101010101" pitchFamily="49" charset="-122"/>
                <a:ea typeface="黑体" panose="02010609060101010101" pitchFamily="49" charset="-122"/>
              </a:rPr>
              <a:t>reg</a:t>
            </a:r>
            <a:r>
              <a:rPr kumimoji="1" lang="zh-CN" altLang="en-US" sz="2800" b="1" kern="0" dirty="0">
                <a:solidFill>
                  <a:srgbClr val="4B51A5"/>
                </a:solidFill>
                <a:latin typeface="黑体" panose="02010609060101010101" pitchFamily="49" charset="-122"/>
                <a:ea typeface="黑体" panose="02010609060101010101" pitchFamily="49" charset="-122"/>
              </a:rPr>
              <a:t>和其他类型变量声明</a:t>
            </a:r>
            <a:r>
              <a:rPr kumimoji="1" lang="en-US" altLang="zh-CN" sz="2800" b="1" kern="0" dirty="0">
                <a:solidFill>
                  <a:srgbClr val="4B51A5"/>
                </a:solidFill>
                <a:latin typeface="黑体" panose="02010609060101010101" pitchFamily="49" charset="-122"/>
                <a:ea typeface="黑体" panose="02010609060101010101" pitchFamily="49" charset="-122"/>
              </a:rPr>
              <a:t>&gt;</a:t>
            </a:r>
          </a:p>
          <a:p>
            <a:pPr marL="0" indent="0" eaLnBrk="1" hangingPunct="1">
              <a:spcBef>
                <a:spcPts val="600"/>
              </a:spcBef>
              <a:spcAft>
                <a:spcPts val="600"/>
              </a:spcAft>
              <a:buNone/>
            </a:pPr>
            <a:r>
              <a:rPr kumimoji="1" lang="en-US" altLang="zh-CN" sz="2800" b="1" kern="0" dirty="0">
                <a:solidFill>
                  <a:srgbClr val="4B51A5"/>
                </a:solidFill>
                <a:latin typeface="黑体" panose="02010609060101010101" pitchFamily="49" charset="-122"/>
                <a:ea typeface="黑体" panose="02010609060101010101" pitchFamily="49" charset="-122"/>
              </a:rPr>
              <a:t>	&lt;</a:t>
            </a:r>
            <a:r>
              <a:rPr kumimoji="1" lang="zh-CN" altLang="en-US" sz="2800" b="1" kern="0" dirty="0">
                <a:solidFill>
                  <a:srgbClr val="4B51A5"/>
                </a:solidFill>
                <a:latin typeface="黑体" panose="02010609060101010101" pitchFamily="49" charset="-122"/>
                <a:ea typeface="黑体" panose="02010609060101010101" pitchFamily="49" charset="-122"/>
              </a:rPr>
              <a:t>模块内容</a:t>
            </a:r>
            <a:r>
              <a:rPr kumimoji="1" lang="en-US" altLang="zh-CN" sz="2800" b="1" kern="0" dirty="0">
                <a:solidFill>
                  <a:srgbClr val="4B51A5"/>
                </a:solidFill>
                <a:latin typeface="黑体" panose="02010609060101010101" pitchFamily="49" charset="-122"/>
                <a:ea typeface="黑体" panose="02010609060101010101" pitchFamily="49" charset="-122"/>
              </a:rPr>
              <a:t>&gt;</a:t>
            </a:r>
          </a:p>
          <a:p>
            <a:pPr marL="0" indent="0" eaLnBrk="1" hangingPunct="1">
              <a:spcBef>
                <a:spcPts val="600"/>
              </a:spcBef>
              <a:spcAft>
                <a:spcPts val="600"/>
              </a:spcAft>
              <a:buNone/>
            </a:pPr>
            <a:r>
              <a:rPr kumimoji="1" lang="en-US" altLang="zh-CN" sz="2800" b="1" kern="0" dirty="0">
                <a:solidFill>
                  <a:srgbClr val="C00000"/>
                </a:solidFill>
                <a:latin typeface="黑体" panose="02010609060101010101" pitchFamily="49" charset="-122"/>
                <a:ea typeface="黑体" panose="02010609060101010101" pitchFamily="49" charset="-122"/>
              </a:rPr>
              <a:t>endmodule</a:t>
            </a:r>
          </a:p>
          <a:p>
            <a:pPr marL="0" indent="0" eaLnBrk="1" hangingPunct="1">
              <a:spcBef>
                <a:spcPts val="600"/>
              </a:spcBef>
              <a:spcAft>
                <a:spcPts val="600"/>
              </a:spcAft>
              <a:buNone/>
            </a:pPr>
            <a:endParaRPr kumimoji="1" lang="en-US" altLang="zh-CN" sz="2800" b="1" kern="0" dirty="0">
              <a:solidFill>
                <a:srgbClr val="4B51A5"/>
              </a:solidFill>
              <a:latin typeface="黑体" panose="02010609060101010101" pitchFamily="49" charset="-122"/>
              <a:ea typeface="黑体" panose="02010609060101010101" pitchFamily="49" charset="-122"/>
            </a:endParaRPr>
          </a:p>
        </p:txBody>
      </p:sp>
      <p:sp>
        <p:nvSpPr>
          <p:cNvPr id="53249" name="Rectangle 1026">
            <a:extLst>
              <a:ext uri="{FF2B5EF4-FFF2-40B4-BE49-F238E27FC236}">
                <a16:creationId xmlns:a16="http://schemas.microsoft.com/office/drawing/2014/main" id="{F8DC0A41-7E79-8628-5F9A-20E55530016E}"/>
              </a:ext>
            </a:extLst>
          </p:cNvPr>
          <p:cNvSpPr>
            <a:spLocks noGrp="1"/>
          </p:cNvSpPr>
          <p:nvPr>
            <p:ph type="title"/>
          </p:nvPr>
        </p:nvSpPr>
        <p:spPr>
          <a:xfrm>
            <a:off x="900113" y="188913"/>
            <a:ext cx="7632327" cy="792162"/>
          </a:xfrm>
        </p:spPr>
        <p:txBody>
          <a:bodyPr vert="horz" wrap="square" lIns="91440" tIns="45720" rIns="91440" bIns="45720" anchor="b" anchorCtr="0"/>
          <a:lstStyle/>
          <a:p>
            <a:pPr algn="l" eaLnBrk="1" hangingPunct="1"/>
            <a:r>
              <a:rPr lang="zh-CN" altLang="en-US" dirty="0"/>
              <a:t>基于</a:t>
            </a:r>
            <a:r>
              <a:rPr lang="en-US" altLang="zh-CN" dirty="0"/>
              <a:t>Verilog</a:t>
            </a:r>
            <a:r>
              <a:rPr lang="zh-CN" altLang="en-US" dirty="0"/>
              <a:t>的数字电路功能描述</a:t>
            </a:r>
          </a:p>
        </p:txBody>
      </p:sp>
      <p:cxnSp>
        <p:nvCxnSpPr>
          <p:cNvPr id="5" name="直接箭头连接符 4">
            <a:extLst>
              <a:ext uri="{FF2B5EF4-FFF2-40B4-BE49-F238E27FC236}">
                <a16:creationId xmlns:a16="http://schemas.microsoft.com/office/drawing/2014/main" id="{4838991C-B328-11BC-E4B6-2F25265E8CD4}"/>
              </a:ext>
            </a:extLst>
          </p:cNvPr>
          <p:cNvCxnSpPr>
            <a:cxnSpLocks/>
          </p:cNvCxnSpPr>
          <p:nvPr/>
        </p:nvCxnSpPr>
        <p:spPr>
          <a:xfrm>
            <a:off x="3779912" y="4006971"/>
            <a:ext cx="792088" cy="790181"/>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B80824E5-E34C-E51A-F7F8-5191DF2E5C42}"/>
              </a:ext>
            </a:extLst>
          </p:cNvPr>
          <p:cNvSpPr txBox="1"/>
          <p:nvPr/>
        </p:nvSpPr>
        <p:spPr>
          <a:xfrm>
            <a:off x="4211960" y="4250892"/>
            <a:ext cx="4464496" cy="2377574"/>
          </a:xfrm>
          <a:prstGeom prst="rect">
            <a:avLst/>
          </a:prstGeom>
          <a:noFill/>
        </p:spPr>
        <p:txBody>
          <a:bodyPr wrap="square" rtlCol="0">
            <a:spAutoFit/>
          </a:bodyPr>
          <a:lstStyle/>
          <a:p>
            <a:pPr marL="742950" marR="0" lvl="1" indent="-285750" algn="just" defTabSz="914400" rtl="0" eaLnBrk="0" fontAlgn="base" latinLnBrk="0" hangingPunct="0">
              <a:lnSpc>
                <a:spcPct val="120000"/>
              </a:lnSpc>
              <a:spcBef>
                <a:spcPct val="0"/>
              </a:spcBef>
              <a:spcAft>
                <a:spcPct val="0"/>
              </a:spcAft>
              <a:buClr>
                <a:srgbClr val="C00000"/>
              </a:buClr>
              <a:buSzPct val="60000"/>
              <a:buFont typeface="Wingdings" panose="05000000000000000000" pitchFamily="2" charset="2"/>
              <a:buChar char="n"/>
            </a:pPr>
            <a:r>
              <a:rPr kumimoji="1" lang="zh-CN" altLang="en-US" sz="3200" b="1" kern="0" noProof="1">
                <a:solidFill>
                  <a:srgbClr val="4B51A5"/>
                </a:solidFill>
                <a:latin typeface="黑体" panose="02010609060101010101" pitchFamily="49" charset="-122"/>
                <a:ea typeface="黑体" panose="02010609060101010101" pitchFamily="49" charset="-122"/>
              </a:rPr>
              <a:t>结构方式</a:t>
            </a:r>
          </a:p>
          <a:p>
            <a:pPr marL="742950" marR="0" lvl="1" indent="-285750" algn="just" defTabSz="914400" rtl="0" eaLnBrk="0" fontAlgn="base" latinLnBrk="0" hangingPunct="0">
              <a:lnSpc>
                <a:spcPct val="120000"/>
              </a:lnSpc>
              <a:spcBef>
                <a:spcPct val="0"/>
              </a:spcBef>
              <a:spcAft>
                <a:spcPct val="0"/>
              </a:spcAft>
              <a:buClr>
                <a:srgbClr val="C00000"/>
              </a:buClr>
              <a:buSzPct val="60000"/>
              <a:buFont typeface="Wingdings" panose="05000000000000000000" pitchFamily="2" charset="2"/>
              <a:buChar char="n"/>
            </a:pPr>
            <a:r>
              <a:rPr kumimoji="1" lang="zh-CN" altLang="en-US" sz="3200" b="1" kern="0" noProof="1">
                <a:solidFill>
                  <a:srgbClr val="4B51A5"/>
                </a:solidFill>
                <a:latin typeface="黑体" panose="02010609060101010101" pitchFamily="49" charset="-122"/>
                <a:ea typeface="黑体" panose="02010609060101010101" pitchFamily="49" charset="-122"/>
              </a:rPr>
              <a:t>数据流方式</a:t>
            </a:r>
          </a:p>
          <a:p>
            <a:pPr marL="742950" marR="0" lvl="1" indent="-285750" algn="just" defTabSz="914400" rtl="0" eaLnBrk="0" fontAlgn="base" latinLnBrk="0" hangingPunct="0">
              <a:lnSpc>
                <a:spcPct val="120000"/>
              </a:lnSpc>
              <a:spcBef>
                <a:spcPct val="0"/>
              </a:spcBef>
              <a:spcAft>
                <a:spcPct val="0"/>
              </a:spcAft>
              <a:buClr>
                <a:srgbClr val="C00000"/>
              </a:buClr>
              <a:buSzPct val="60000"/>
              <a:buFont typeface="Wingdings" panose="05000000000000000000" pitchFamily="2" charset="2"/>
              <a:buChar char="n"/>
            </a:pPr>
            <a:r>
              <a:rPr kumimoji="1" lang="zh-CN" altLang="en-US" sz="3200" b="1" i="1" u="sng" kern="0" noProof="1">
                <a:solidFill>
                  <a:srgbClr val="4B51A5"/>
                </a:solidFill>
                <a:latin typeface="黑体" panose="02010609060101010101" pitchFamily="49" charset="-122"/>
                <a:ea typeface="黑体" panose="02010609060101010101" pitchFamily="49" charset="-122"/>
              </a:rPr>
              <a:t>行为方式</a:t>
            </a:r>
          </a:p>
          <a:p>
            <a:pPr marL="742950" marR="0" lvl="1" indent="-285750" algn="just" defTabSz="914400" rtl="0" eaLnBrk="0" fontAlgn="base" latinLnBrk="0" hangingPunct="0">
              <a:lnSpc>
                <a:spcPct val="120000"/>
              </a:lnSpc>
              <a:spcBef>
                <a:spcPct val="0"/>
              </a:spcBef>
              <a:spcAft>
                <a:spcPct val="0"/>
              </a:spcAft>
              <a:buClr>
                <a:srgbClr val="C00000"/>
              </a:buClr>
              <a:buSzPct val="60000"/>
              <a:buFont typeface="Wingdings" panose="05000000000000000000" pitchFamily="2" charset="2"/>
              <a:buChar char="n"/>
            </a:pPr>
            <a:r>
              <a:rPr kumimoji="1" lang="zh-CN" altLang="en-US" sz="3200" b="1" kern="0" noProof="1">
                <a:solidFill>
                  <a:srgbClr val="C00000"/>
                </a:solidFill>
                <a:latin typeface="黑体" panose="02010609060101010101" pitchFamily="49" charset="-122"/>
                <a:ea typeface="黑体" panose="02010609060101010101" pitchFamily="49" charset="-122"/>
              </a:rPr>
              <a:t>上述方式的混合</a:t>
            </a:r>
            <a:endParaRPr kumimoji="1" lang="zh-CN" altLang="en-US" sz="2800" b="1" kern="0" noProof="1">
              <a:solidFill>
                <a:srgbClr val="C0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3062842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p:cNvSpPr>
          <p:nvPr>
            <p:ph type="title"/>
          </p:nvPr>
        </p:nvSpPr>
        <p:spPr>
          <a:xfrm>
            <a:off x="900113" y="188913"/>
            <a:ext cx="6616700" cy="792162"/>
          </a:xfrm>
        </p:spPr>
        <p:txBody>
          <a:bodyPr anchor="b"/>
          <a:lstStyle/>
          <a:p>
            <a:pPr algn="l"/>
            <a:r>
              <a:rPr lang="en-US" altLang="zh-CN" dirty="0"/>
              <a:t>Verilog</a:t>
            </a:r>
            <a:r>
              <a:rPr lang="zh-CN" altLang="en-US" dirty="0"/>
              <a:t>结构化描述方式</a:t>
            </a:r>
          </a:p>
        </p:txBody>
      </p:sp>
      <p:sp>
        <p:nvSpPr>
          <p:cNvPr id="73730" name="Rectangle 3" descr="Rectangle: Click to edit Master text styles&#10;Second level&#10;Third level&#10;Fourth level&#10;Fifth level"/>
          <p:cNvSpPr>
            <a:spLocks noGrp="1"/>
          </p:cNvSpPr>
          <p:nvPr>
            <p:ph idx="1"/>
          </p:nvPr>
        </p:nvSpPr>
        <p:spPr>
          <a:xfrm>
            <a:off x="596900" y="1244600"/>
            <a:ext cx="8147050" cy="4629150"/>
          </a:xfrm>
        </p:spPr>
        <p:txBody>
          <a:bodyPr anchor="t"/>
          <a:lstStyle/>
          <a:p>
            <a:r>
              <a:rPr lang="zh-CN" altLang="en-US" sz="3200" dirty="0"/>
              <a:t>通过调用逻辑元件、描述它们之间的连接来建立逻辑电路的</a:t>
            </a:r>
            <a:r>
              <a:rPr lang="en-US" altLang="zh-CN" sz="3200" dirty="0"/>
              <a:t>Verilog</a:t>
            </a:r>
            <a:r>
              <a:rPr lang="zh-CN" altLang="en-US" sz="3200" dirty="0"/>
              <a:t>模型；</a:t>
            </a:r>
          </a:p>
          <a:p>
            <a:pPr lvl="1"/>
            <a:r>
              <a:rPr lang="zh-CN" altLang="en-US" dirty="0"/>
              <a:t>逻辑元件：</a:t>
            </a:r>
            <a:r>
              <a:rPr lang="en-US" altLang="zh-CN" dirty="0"/>
              <a:t>Verilog</a:t>
            </a:r>
            <a:r>
              <a:rPr lang="zh-CN" altLang="en-US" dirty="0"/>
              <a:t>内置的逻辑门、自主开发的已有模块，商业</a:t>
            </a:r>
            <a:r>
              <a:rPr lang="en-US" altLang="zh-CN" dirty="0"/>
              <a:t>IP</a:t>
            </a:r>
            <a:r>
              <a:rPr lang="zh-CN" altLang="en-US" dirty="0"/>
              <a:t>模块；</a:t>
            </a:r>
          </a:p>
          <a:p>
            <a:r>
              <a:rPr lang="zh-CN" altLang="en-US" sz="3200" dirty="0"/>
              <a:t>可使用</a:t>
            </a:r>
          </a:p>
          <a:p>
            <a:pPr lvl="1">
              <a:buClr>
                <a:srgbClr val="C00000"/>
              </a:buClr>
            </a:pPr>
            <a:r>
              <a:rPr lang="zh-CN" altLang="en-US" dirty="0">
                <a:solidFill>
                  <a:schemeClr val="tx1">
                    <a:lumMod val="40000"/>
                    <a:lumOff val="60000"/>
                  </a:schemeClr>
                </a:solidFill>
              </a:rPr>
              <a:t>开关级</a:t>
            </a:r>
            <a:r>
              <a:rPr lang="en-US" altLang="zh-CN" dirty="0">
                <a:solidFill>
                  <a:schemeClr val="tx1">
                    <a:lumMod val="40000"/>
                    <a:lumOff val="60000"/>
                  </a:schemeClr>
                </a:solidFill>
              </a:rPr>
              <a:t>:  </a:t>
            </a:r>
            <a:r>
              <a:rPr lang="en-US" altLang="zh-CN" dirty="0" err="1">
                <a:solidFill>
                  <a:schemeClr val="tx1">
                    <a:lumMod val="40000"/>
                    <a:lumOff val="60000"/>
                  </a:schemeClr>
                </a:solidFill>
              </a:rPr>
              <a:t>nmos</a:t>
            </a:r>
            <a:r>
              <a:rPr lang="en-US" altLang="zh-CN" dirty="0">
                <a:solidFill>
                  <a:schemeClr val="tx1">
                    <a:lumMod val="40000"/>
                    <a:lumOff val="60000"/>
                  </a:schemeClr>
                </a:solidFill>
              </a:rPr>
              <a:t>, </a:t>
            </a:r>
            <a:r>
              <a:rPr lang="en-US" altLang="zh-CN" dirty="0" err="1">
                <a:solidFill>
                  <a:schemeClr val="tx1">
                    <a:lumMod val="40000"/>
                    <a:lumOff val="60000"/>
                  </a:schemeClr>
                </a:solidFill>
              </a:rPr>
              <a:t>cmos</a:t>
            </a:r>
            <a:r>
              <a:rPr lang="en-US" altLang="zh-CN" dirty="0">
                <a:solidFill>
                  <a:schemeClr val="tx1">
                    <a:lumMod val="40000"/>
                    <a:lumOff val="60000"/>
                  </a:schemeClr>
                </a:solidFill>
              </a:rPr>
              <a:t>, </a:t>
            </a:r>
            <a:r>
              <a:rPr lang="en-US" altLang="zh-CN" dirty="0" err="1">
                <a:solidFill>
                  <a:schemeClr val="tx1">
                    <a:lumMod val="40000"/>
                    <a:lumOff val="60000"/>
                  </a:schemeClr>
                </a:solidFill>
              </a:rPr>
              <a:t>tran</a:t>
            </a:r>
            <a:r>
              <a:rPr lang="en-US" altLang="zh-CN" dirty="0">
                <a:solidFill>
                  <a:schemeClr val="tx1">
                    <a:lumMod val="40000"/>
                    <a:lumOff val="60000"/>
                  </a:schemeClr>
                </a:solidFill>
                <a:latin typeface="Times New Roman" panose="02020603050405020304" pitchFamily="18" charset="0"/>
              </a:rPr>
              <a:t>…</a:t>
            </a:r>
            <a:endParaRPr lang="en-US" altLang="zh-CN" dirty="0">
              <a:solidFill>
                <a:schemeClr val="tx1">
                  <a:lumMod val="40000"/>
                  <a:lumOff val="60000"/>
                </a:schemeClr>
              </a:solidFill>
            </a:endParaRPr>
          </a:p>
          <a:p>
            <a:pPr lvl="1">
              <a:buClr>
                <a:srgbClr val="C00000"/>
              </a:buClr>
            </a:pPr>
            <a:r>
              <a:rPr lang="zh-CN" altLang="en-US" dirty="0"/>
              <a:t>内置门级原语：</a:t>
            </a:r>
            <a:r>
              <a:rPr lang="en-US" altLang="zh-CN" dirty="0"/>
              <a:t>not, and, or</a:t>
            </a:r>
            <a:r>
              <a:rPr lang="en-US" altLang="zh-CN" dirty="0">
                <a:latin typeface="Times New Roman" panose="02020603050405020304" pitchFamily="18" charset="0"/>
              </a:rPr>
              <a:t>…</a:t>
            </a:r>
            <a:endParaRPr lang="en-US" altLang="zh-CN" dirty="0"/>
          </a:p>
          <a:p>
            <a:pPr lvl="1">
              <a:buClr>
                <a:srgbClr val="C00000"/>
              </a:buClr>
            </a:pPr>
            <a:r>
              <a:rPr lang="zh-CN" altLang="en-US" dirty="0">
                <a:solidFill>
                  <a:schemeClr val="tx1">
                    <a:lumMod val="40000"/>
                    <a:lumOff val="60000"/>
                  </a:schemeClr>
                </a:solidFill>
              </a:rPr>
              <a:t>用户自定义的结构</a:t>
            </a:r>
          </a:p>
          <a:p>
            <a:pPr lvl="1">
              <a:buClr>
                <a:srgbClr val="C00000"/>
              </a:buClr>
            </a:pPr>
            <a:r>
              <a:rPr lang="zh-CN" altLang="en-US" dirty="0"/>
              <a:t>模块实例</a:t>
            </a:r>
            <a:r>
              <a:rPr lang="en-US" altLang="zh-CN" dirty="0"/>
              <a:t>:  </a:t>
            </a:r>
            <a:r>
              <a:rPr lang="zh-CN" altLang="en-US" dirty="0"/>
              <a:t>其它</a:t>
            </a:r>
            <a:r>
              <a:rPr lang="en-US" altLang="zh-CN" dirty="0"/>
              <a:t>module</a:t>
            </a:r>
            <a:r>
              <a:rPr lang="zh-CN" altLang="en-US" dirty="0"/>
              <a:t>单元</a:t>
            </a:r>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p:cNvSpPr>
          <p:nvPr>
            <p:ph type="title"/>
          </p:nvPr>
        </p:nvSpPr>
        <p:spPr>
          <a:xfrm>
            <a:off x="900113" y="188913"/>
            <a:ext cx="6616700" cy="792162"/>
          </a:xfrm>
        </p:spPr>
        <p:txBody>
          <a:bodyPr anchor="b"/>
          <a:lstStyle/>
          <a:p>
            <a:pPr algn="l"/>
            <a:r>
              <a:rPr lang="en-US" altLang="zh-CN" dirty="0"/>
              <a:t>Verilog</a:t>
            </a:r>
            <a:r>
              <a:rPr lang="zh-CN" altLang="en-US" dirty="0"/>
              <a:t>结构化描述方式</a:t>
            </a:r>
          </a:p>
        </p:txBody>
      </p:sp>
      <p:sp>
        <p:nvSpPr>
          <p:cNvPr id="133122" name="Rectangle 3" descr="Rectangle: Click to edit Master text styles&#10;Second level&#10;Third level&#10;Fourth level&#10;Fifth level"/>
          <p:cNvSpPr>
            <a:spLocks noGrp="1"/>
          </p:cNvSpPr>
          <p:nvPr>
            <p:ph idx="1"/>
          </p:nvPr>
        </p:nvSpPr>
        <p:spPr>
          <a:xfrm>
            <a:off x="682625" y="1090613"/>
            <a:ext cx="8061325" cy="1546299"/>
          </a:xfrm>
        </p:spPr>
        <p:txBody>
          <a:bodyPr anchor="t"/>
          <a:lstStyle/>
          <a:p>
            <a:pPr marL="342900" marR="0" indent="-34290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Blip>
                <a:blip r:embed="rId3"/>
              </a:buBlip>
            </a:pPr>
            <a:r>
              <a:rPr kumimoji="1" lang="zh-CN" altLang="en-US" sz="3200" b="0" i="0" u="none" strike="noStrike" kern="0" cap="none" spc="0" normalizeH="0" baseline="0" noProof="1">
                <a:solidFill>
                  <a:srgbClr val="4B51A5"/>
                </a:solidFill>
                <a:latin typeface="+mn-lt"/>
                <a:ea typeface="+mn-ea"/>
                <a:cs typeface="+mn-cs"/>
              </a:rPr>
              <a:t>门级建模</a:t>
            </a:r>
          </a:p>
          <a:p>
            <a:pPr marL="742950" marR="0" lvl="1" indent="-285750" algn="l" defTabSz="914400" rtl="0" eaLnBrk="0" fontAlgn="base" latinLnBrk="0" hangingPunct="0">
              <a:lnSpc>
                <a:spcPct val="100000"/>
              </a:lnSpc>
              <a:spcBef>
                <a:spcPct val="20000"/>
              </a:spcBef>
              <a:spcAft>
                <a:spcPct val="0"/>
              </a:spcAft>
              <a:buClr>
                <a:srgbClr val="C00000"/>
              </a:buClr>
              <a:buSzPct val="60000"/>
              <a:buFont typeface="Wingdings" panose="05000000000000000000" pitchFamily="2" charset="2"/>
              <a:buChar char="n"/>
            </a:pPr>
            <a:r>
              <a:rPr kumimoji="1" lang="zh-CN" altLang="en-US" sz="2800" b="0" i="0" u="none" strike="noStrike" kern="0" cap="none" spc="0" normalizeH="0" baseline="0" noProof="1">
                <a:solidFill>
                  <a:srgbClr val="4B51A5"/>
                </a:solidFill>
                <a:latin typeface="+mn-lt"/>
                <a:ea typeface="+mn-ea"/>
                <a:cs typeface="+mn-ea"/>
              </a:rPr>
              <a:t>利用</a:t>
            </a:r>
            <a:r>
              <a:rPr kumimoji="1" lang="en-US" altLang="zh-CN" sz="2800" b="0" i="0" u="none" strike="noStrike" kern="0" cap="none" spc="0" normalizeH="0" baseline="0" noProof="1">
                <a:solidFill>
                  <a:srgbClr val="4B51A5"/>
                </a:solidFill>
                <a:latin typeface="+mn-lt"/>
                <a:ea typeface="+mn-ea"/>
                <a:cs typeface="+mn-ea"/>
                <a:sym typeface="+mn-ea"/>
              </a:rPr>
              <a:t>Verilog</a:t>
            </a:r>
            <a:r>
              <a:rPr kumimoji="1" lang="zh-CN" altLang="en-US" sz="2800" b="0" i="0" u="none" strike="noStrike" kern="0" cap="none" spc="0" normalizeH="0" baseline="0" noProof="1">
                <a:solidFill>
                  <a:srgbClr val="4B51A5"/>
                </a:solidFill>
                <a:latin typeface="+mn-lt"/>
                <a:ea typeface="+mn-ea"/>
                <a:cs typeface="+mn-ea"/>
              </a:rPr>
              <a:t>内置的基本门级元件以及它们之间的连接来构筑逻辑电路的模型；</a:t>
            </a:r>
          </a:p>
          <a:p>
            <a:pPr marL="457200" marR="0" lvl="1" indent="0" algn="l" defTabSz="914400" rtl="0" eaLnBrk="0" fontAlgn="base" latinLnBrk="0" hangingPunct="0">
              <a:lnSpc>
                <a:spcPct val="100000"/>
              </a:lnSpc>
              <a:spcBef>
                <a:spcPct val="20000"/>
              </a:spcBef>
              <a:spcAft>
                <a:spcPct val="0"/>
              </a:spcAft>
              <a:buClr>
                <a:srgbClr val="C00000"/>
              </a:buClr>
              <a:buSzPct val="60000"/>
              <a:buFont typeface="Wingdings" panose="05000000000000000000" pitchFamily="2" charset="2"/>
              <a:buNone/>
            </a:pPr>
            <a:endParaRPr kumimoji="1" lang="zh-CN" altLang="en-US" sz="2000" b="0" i="0" u="none" strike="noStrike" kern="0" cap="none" spc="0" normalizeH="0" baseline="0" noProof="1">
              <a:solidFill>
                <a:srgbClr val="4B51A5"/>
              </a:solidFill>
              <a:latin typeface="+mn-lt"/>
              <a:ea typeface="+mn-ea"/>
              <a:cs typeface="+mn-ea"/>
            </a:endParaRPr>
          </a:p>
        </p:txBody>
      </p:sp>
      <p:sp>
        <p:nvSpPr>
          <p:cNvPr id="74755" name="文本框 5"/>
          <p:cNvSpPr txBox="1"/>
          <p:nvPr/>
        </p:nvSpPr>
        <p:spPr>
          <a:xfrm>
            <a:off x="5292080" y="2615220"/>
            <a:ext cx="3376775" cy="2368550"/>
          </a:xfrm>
          <a:prstGeom prst="rect">
            <a:avLst/>
          </a:prstGeom>
          <a:noFill/>
          <a:ln w="9525">
            <a:noFill/>
          </a:ln>
        </p:spPr>
        <p:txBody>
          <a:bodyPr wrap="square" anchor="t">
            <a:spAutoFit/>
          </a:bodyPr>
          <a:lstStyle/>
          <a:p>
            <a:r>
              <a:rPr lang="zh-CN" altLang="en-US" b="1" dirty="0">
                <a:solidFill>
                  <a:srgbClr val="202346"/>
                </a:solidFill>
                <a:latin typeface="Tahoma" panose="020B0604030504040204" pitchFamily="34" charset="0"/>
                <a:ea typeface="宋体" panose="02010600030101010101" pitchFamily="2" charset="-122"/>
              </a:rPr>
              <a:t>例子</a:t>
            </a:r>
            <a:r>
              <a:rPr lang="zh-CN" altLang="en-US" sz="2000" b="1" dirty="0">
                <a:solidFill>
                  <a:srgbClr val="202346"/>
                </a:solidFill>
                <a:latin typeface="Tahoma" panose="020B0604030504040204" pitchFamily="34" charset="0"/>
                <a:ea typeface="宋体" panose="02010600030101010101" pitchFamily="2" charset="-122"/>
              </a:rPr>
              <a:t>：</a:t>
            </a:r>
            <a:endParaRPr lang="en-US" altLang="zh-CN" sz="2000" b="1" dirty="0">
              <a:solidFill>
                <a:srgbClr val="202346"/>
              </a:solidFill>
              <a:latin typeface="Tahoma" panose="020B0604030504040204" pitchFamily="34" charset="0"/>
              <a:ea typeface="宋体" panose="02010600030101010101" pitchFamily="2" charset="-122"/>
            </a:endParaRPr>
          </a:p>
          <a:p>
            <a:r>
              <a:rPr lang="en-US" altLang="zh-CN" dirty="0">
                <a:solidFill>
                  <a:srgbClr val="202346"/>
                </a:solidFill>
                <a:latin typeface="Tahoma" panose="020B0604030504040204" pitchFamily="34" charset="0"/>
                <a:ea typeface="宋体" panose="02010600030101010101" pitchFamily="2" charset="-122"/>
              </a:rPr>
              <a:t>module </a:t>
            </a:r>
            <a:r>
              <a:rPr lang="en-US" altLang="zh-CN" dirty="0" err="1">
                <a:solidFill>
                  <a:srgbClr val="202346"/>
                </a:solidFill>
                <a:latin typeface="Tahoma" panose="020B0604030504040204" pitchFamily="34" charset="0"/>
                <a:ea typeface="宋体" panose="02010600030101010101" pitchFamily="2" charset="-122"/>
              </a:rPr>
              <a:t>ex_and</a:t>
            </a:r>
            <a:r>
              <a:rPr lang="en-US" altLang="zh-CN" dirty="0">
                <a:solidFill>
                  <a:srgbClr val="202346"/>
                </a:solidFill>
                <a:latin typeface="Tahoma" panose="020B0604030504040204" pitchFamily="34" charset="0"/>
                <a:ea typeface="宋体" panose="02010600030101010101" pitchFamily="2" charset="-122"/>
              </a:rPr>
              <a:t>(</a:t>
            </a:r>
            <a:r>
              <a:rPr lang="en-US" altLang="zh-CN" dirty="0" err="1">
                <a:solidFill>
                  <a:srgbClr val="202346"/>
                </a:solidFill>
                <a:latin typeface="Tahoma" panose="020B0604030504040204" pitchFamily="34" charset="0"/>
                <a:ea typeface="宋体" panose="02010600030101010101" pitchFamily="2" charset="-122"/>
              </a:rPr>
              <a:t>a,b,c</a:t>
            </a:r>
            <a:r>
              <a:rPr lang="en-US" altLang="zh-CN" dirty="0">
                <a:solidFill>
                  <a:srgbClr val="202346"/>
                </a:solidFill>
                <a:latin typeface="Tahoma" panose="020B0604030504040204" pitchFamily="34" charset="0"/>
                <a:ea typeface="宋体" panose="02010600030101010101" pitchFamily="2" charset="-122"/>
              </a:rPr>
              <a:t>);</a:t>
            </a:r>
          </a:p>
          <a:p>
            <a:r>
              <a:rPr lang="en-US" altLang="zh-CN" dirty="0">
                <a:solidFill>
                  <a:srgbClr val="202346"/>
                </a:solidFill>
                <a:latin typeface="Tahoma" panose="020B0604030504040204" pitchFamily="34" charset="0"/>
                <a:ea typeface="宋体" panose="02010600030101010101" pitchFamily="2" charset="-122"/>
              </a:rPr>
              <a:t>input </a:t>
            </a:r>
            <a:r>
              <a:rPr lang="en-US" altLang="zh-CN" dirty="0" err="1">
                <a:solidFill>
                  <a:srgbClr val="202346"/>
                </a:solidFill>
                <a:latin typeface="Tahoma" panose="020B0604030504040204" pitchFamily="34" charset="0"/>
                <a:ea typeface="宋体" panose="02010600030101010101" pitchFamily="2" charset="-122"/>
              </a:rPr>
              <a:t>a,b</a:t>
            </a:r>
            <a:r>
              <a:rPr lang="en-US" altLang="zh-CN" dirty="0">
                <a:solidFill>
                  <a:srgbClr val="202346"/>
                </a:solidFill>
                <a:latin typeface="Tahoma" panose="020B0604030504040204" pitchFamily="34" charset="0"/>
                <a:ea typeface="宋体" panose="02010600030101010101" pitchFamily="2" charset="-122"/>
              </a:rPr>
              <a:t>;</a:t>
            </a:r>
          </a:p>
          <a:p>
            <a:r>
              <a:rPr lang="en-US" altLang="zh-CN" dirty="0">
                <a:solidFill>
                  <a:srgbClr val="202346"/>
                </a:solidFill>
                <a:latin typeface="Tahoma" panose="020B0604030504040204" pitchFamily="34" charset="0"/>
                <a:ea typeface="宋体" panose="02010600030101010101" pitchFamily="2" charset="-122"/>
              </a:rPr>
              <a:t>output c;</a:t>
            </a:r>
          </a:p>
          <a:p>
            <a:r>
              <a:rPr lang="en-US" altLang="zh-CN" dirty="0">
                <a:solidFill>
                  <a:srgbClr val="202346"/>
                </a:solidFill>
                <a:latin typeface="Tahoma" panose="020B0604030504040204" pitchFamily="34" charset="0"/>
                <a:ea typeface="宋体" panose="02010600030101010101" pitchFamily="2" charset="-122"/>
              </a:rPr>
              <a:t>and (</a:t>
            </a:r>
            <a:r>
              <a:rPr lang="en-US" altLang="zh-CN" dirty="0" err="1">
                <a:solidFill>
                  <a:srgbClr val="202346"/>
                </a:solidFill>
                <a:latin typeface="Tahoma" panose="020B0604030504040204" pitchFamily="34" charset="0"/>
                <a:ea typeface="宋体" panose="02010600030101010101" pitchFamily="2" charset="-122"/>
              </a:rPr>
              <a:t>c,a,b</a:t>
            </a:r>
            <a:r>
              <a:rPr lang="en-US" altLang="zh-CN" dirty="0">
                <a:solidFill>
                  <a:srgbClr val="202346"/>
                </a:solidFill>
                <a:latin typeface="Tahoma" panose="020B0604030504040204" pitchFamily="34" charset="0"/>
                <a:ea typeface="宋体" panose="02010600030101010101" pitchFamily="2" charset="-122"/>
              </a:rPr>
              <a:t>);</a:t>
            </a:r>
          </a:p>
          <a:p>
            <a:r>
              <a:rPr lang="en-US" altLang="zh-CN" dirty="0">
                <a:solidFill>
                  <a:srgbClr val="202346"/>
                </a:solidFill>
                <a:latin typeface="Tahoma" panose="020B0604030504040204" pitchFamily="34" charset="0"/>
                <a:ea typeface="宋体" panose="02010600030101010101" pitchFamily="2" charset="-122"/>
              </a:rPr>
              <a:t>endmodule</a:t>
            </a:r>
          </a:p>
        </p:txBody>
      </p:sp>
      <p:sp>
        <p:nvSpPr>
          <p:cNvPr id="2" name="Rectangle 3" descr="Rectangle: Click to edit Master text styles&#10;Second level&#10;Third level&#10;Fourth level&#10;Fifth level">
            <a:extLst>
              <a:ext uri="{FF2B5EF4-FFF2-40B4-BE49-F238E27FC236}">
                <a16:creationId xmlns:a16="http://schemas.microsoft.com/office/drawing/2014/main" id="{95514AEE-3303-2C82-C8A0-E15BA0D1B59E}"/>
              </a:ext>
            </a:extLst>
          </p:cNvPr>
          <p:cNvSpPr txBox="1">
            <a:spLocks/>
          </p:cNvSpPr>
          <p:nvPr/>
        </p:nvSpPr>
        <p:spPr>
          <a:xfrm>
            <a:off x="1035353" y="2652837"/>
            <a:ext cx="4400743" cy="4676775"/>
          </a:xfrm>
          <a:prstGeom prst="rect">
            <a:avLst/>
          </a:prstGeom>
          <a:noFill/>
          <a:ln w="9525">
            <a:noFill/>
          </a:ln>
        </p:spPr>
        <p:txBody>
          <a:bodyPr anchor="t" anchorCtr="0"/>
          <a:lst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3"/>
              </a:buBlip>
              <a:defRPr kumimoji="1" sz="3600">
                <a:solidFill>
                  <a:srgbClr val="4B51A5"/>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3200">
                <a:solidFill>
                  <a:srgbClr val="4B51A5"/>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800">
                <a:solidFill>
                  <a:srgbClr val="4B51A5"/>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400">
                <a:solidFill>
                  <a:srgbClr val="4B51A5"/>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9pPr>
          </a:lstStyle>
          <a:p>
            <a:pPr lvl="1">
              <a:buClr>
                <a:srgbClr val="C00000"/>
              </a:buClr>
            </a:pPr>
            <a:r>
              <a:rPr lang="en-US" altLang="zh-CN" sz="2000" kern="0" noProof="1">
                <a:cs typeface="+mn-ea"/>
                <a:sym typeface="+mn-ea"/>
              </a:rPr>
              <a:t>module </a:t>
            </a:r>
            <a:r>
              <a:rPr lang="zh-CN" altLang="en-US" sz="2000" kern="0" noProof="1">
                <a:cs typeface="+mn-ea"/>
                <a:sym typeface="+mn-ea"/>
              </a:rPr>
              <a:t>模块名（端口列表）；</a:t>
            </a:r>
            <a:endParaRPr lang="en-US" altLang="zh-CN" sz="2000" kern="0" noProof="1">
              <a:cs typeface="+mn-ea"/>
            </a:endParaRPr>
          </a:p>
          <a:p>
            <a:pPr marL="457200" lvl="1" indent="0">
              <a:buClr>
                <a:srgbClr val="C00000"/>
              </a:buClr>
              <a:buFont typeface="Wingdings" panose="05000000000000000000" pitchFamily="2" charset="2"/>
              <a:buNone/>
            </a:pPr>
            <a:r>
              <a:rPr lang="zh-CN" altLang="en-US" sz="2000" kern="0" noProof="1">
                <a:cs typeface="+mn-ea"/>
              </a:rPr>
              <a:t>    端口定义：</a:t>
            </a:r>
          </a:p>
          <a:p>
            <a:pPr marL="457200" lvl="1" indent="0">
              <a:buClr>
                <a:srgbClr val="C00000"/>
              </a:buClr>
              <a:buFont typeface="Wingdings" panose="05000000000000000000" pitchFamily="2" charset="2"/>
              <a:buNone/>
            </a:pPr>
            <a:r>
              <a:rPr lang="zh-CN" altLang="en-US" sz="2000" kern="0" noProof="1">
                <a:cs typeface="+mn-ea"/>
              </a:rPr>
              <a:t>     </a:t>
            </a:r>
            <a:r>
              <a:rPr lang="en-US" altLang="zh-CN" sz="2000" kern="0" noProof="1">
                <a:cs typeface="+mn-ea"/>
              </a:rPr>
              <a:t>input</a:t>
            </a:r>
          </a:p>
          <a:p>
            <a:pPr marL="457200" lvl="1" indent="0">
              <a:buClr>
                <a:srgbClr val="C00000"/>
              </a:buClr>
              <a:buFont typeface="Wingdings" panose="05000000000000000000" pitchFamily="2" charset="2"/>
              <a:buNone/>
            </a:pPr>
            <a:r>
              <a:rPr lang="zh-CN" altLang="en-US" sz="2000" kern="0" noProof="1">
                <a:cs typeface="+mn-ea"/>
              </a:rPr>
              <a:t>     </a:t>
            </a:r>
            <a:r>
              <a:rPr lang="en-US" altLang="zh-CN" sz="2000" kern="0" noProof="1">
                <a:cs typeface="+mn-ea"/>
              </a:rPr>
              <a:t>output</a:t>
            </a:r>
          </a:p>
          <a:p>
            <a:pPr marL="457200" lvl="1" indent="0">
              <a:buClr>
                <a:srgbClr val="C00000"/>
              </a:buClr>
              <a:buFont typeface="Wingdings" panose="05000000000000000000" pitchFamily="2" charset="2"/>
              <a:buNone/>
            </a:pPr>
            <a:r>
              <a:rPr lang="en-US" altLang="zh-CN" sz="2000" kern="0" noProof="1">
                <a:cs typeface="+mn-ea"/>
              </a:rPr>
              <a:t>    </a:t>
            </a:r>
            <a:r>
              <a:rPr lang="zh-CN" altLang="en-US" sz="2000" kern="0" noProof="1">
                <a:cs typeface="+mn-ea"/>
              </a:rPr>
              <a:t>数据类型说明：</a:t>
            </a:r>
          </a:p>
          <a:p>
            <a:pPr marL="457200" lvl="1" indent="0">
              <a:buClr>
                <a:srgbClr val="C00000"/>
              </a:buClr>
              <a:buFont typeface="Wingdings" panose="05000000000000000000" pitchFamily="2" charset="2"/>
              <a:buNone/>
            </a:pPr>
            <a:r>
              <a:rPr lang="zh-CN" altLang="en-US" sz="2000" kern="0" noProof="1">
                <a:cs typeface="+mn-ea"/>
              </a:rPr>
              <a:t>     </a:t>
            </a:r>
            <a:r>
              <a:rPr lang="en-US" altLang="zh-CN" sz="2000" kern="0" noProof="1">
                <a:cs typeface="+mn-ea"/>
              </a:rPr>
              <a:t>wire</a:t>
            </a:r>
          </a:p>
          <a:p>
            <a:pPr marL="457200" lvl="1" indent="0">
              <a:buClr>
                <a:srgbClr val="C00000"/>
              </a:buClr>
              <a:buFont typeface="Wingdings" panose="05000000000000000000" pitchFamily="2" charset="2"/>
              <a:buNone/>
            </a:pPr>
            <a:r>
              <a:rPr lang="en-US" altLang="zh-CN" sz="2000" kern="0" noProof="1">
                <a:cs typeface="+mn-ea"/>
              </a:rPr>
              <a:t>    </a:t>
            </a:r>
            <a:r>
              <a:rPr lang="zh-CN" altLang="en-US" sz="2000" kern="0" noProof="1">
                <a:cs typeface="+mn-ea"/>
              </a:rPr>
              <a:t>门级建模描述：</a:t>
            </a:r>
          </a:p>
          <a:p>
            <a:pPr marL="457200" lvl="1" indent="0">
              <a:buClr>
                <a:srgbClr val="C00000"/>
              </a:buClr>
              <a:buFont typeface="Wingdings" panose="05000000000000000000" pitchFamily="2" charset="2"/>
              <a:buNone/>
            </a:pPr>
            <a:r>
              <a:rPr lang="zh-CN" altLang="en-US" sz="2000" kern="0" noProof="1">
                <a:cs typeface="+mn-ea"/>
              </a:rPr>
              <a:t>     </a:t>
            </a:r>
            <a:r>
              <a:rPr lang="en-US" altLang="zh-CN" sz="2000" kern="0" noProof="1">
                <a:cs typeface="+mn-ea"/>
              </a:rPr>
              <a:t>and </a:t>
            </a:r>
            <a:r>
              <a:rPr lang="zh-CN" altLang="en-US" sz="2000" kern="0" noProof="1">
                <a:cs typeface="+mn-ea"/>
              </a:rPr>
              <a:t>（输出，输入</a:t>
            </a:r>
            <a:r>
              <a:rPr lang="en-US" altLang="zh-CN" sz="2000" kern="0" noProof="1">
                <a:cs typeface="+mn-ea"/>
              </a:rPr>
              <a:t>......</a:t>
            </a:r>
            <a:r>
              <a:rPr lang="zh-CN" altLang="en-US" sz="2000" kern="0" noProof="1">
                <a:cs typeface="+mn-ea"/>
              </a:rPr>
              <a:t>）</a:t>
            </a:r>
            <a:r>
              <a:rPr lang="en-US" altLang="zh-CN" sz="2000" kern="0" noProof="1">
                <a:cs typeface="+mn-ea"/>
              </a:rPr>
              <a:t>;</a:t>
            </a:r>
          </a:p>
          <a:p>
            <a:pPr marL="457200" lvl="1" indent="0">
              <a:buClr>
                <a:srgbClr val="C00000"/>
              </a:buClr>
              <a:buFont typeface="Wingdings" panose="05000000000000000000" pitchFamily="2" charset="2"/>
              <a:buNone/>
            </a:pPr>
            <a:r>
              <a:rPr lang="en-US" altLang="zh-CN" sz="2000" kern="0" noProof="1">
                <a:cs typeface="+mn-ea"/>
              </a:rPr>
              <a:t>     not  </a:t>
            </a:r>
            <a:r>
              <a:rPr lang="zh-CN" altLang="en-US" sz="2000" kern="0" noProof="1">
                <a:cs typeface="+mn-ea"/>
              </a:rPr>
              <a:t>（输出，输入</a:t>
            </a:r>
            <a:r>
              <a:rPr lang="en-US" altLang="zh-CN" sz="2000" kern="0" noProof="1">
                <a:cs typeface="+mn-ea"/>
              </a:rPr>
              <a:t>......</a:t>
            </a:r>
            <a:r>
              <a:rPr lang="zh-CN" altLang="en-US" sz="2000" kern="0" noProof="1">
                <a:cs typeface="+mn-ea"/>
              </a:rPr>
              <a:t>）；</a:t>
            </a:r>
            <a:endParaRPr lang="en-US" altLang="zh-CN" sz="2000" kern="0" noProof="1">
              <a:cs typeface="+mn-ea"/>
            </a:endParaRPr>
          </a:p>
          <a:p>
            <a:pPr marL="457200" lvl="1" indent="0">
              <a:buClr>
                <a:srgbClr val="C00000"/>
              </a:buClr>
              <a:buFont typeface="Wingdings" panose="05000000000000000000" pitchFamily="2" charset="2"/>
              <a:buNone/>
            </a:pPr>
            <a:r>
              <a:rPr lang="en-US" altLang="zh-CN" sz="2000" kern="0" noProof="1">
                <a:cs typeface="+mn-ea"/>
              </a:rPr>
              <a:t>     ......</a:t>
            </a:r>
          </a:p>
          <a:p>
            <a:pPr marL="457200" lvl="1" indent="0">
              <a:buClr>
                <a:srgbClr val="C00000"/>
              </a:buClr>
              <a:buFont typeface="Wingdings" panose="05000000000000000000" pitchFamily="2" charset="2"/>
              <a:buNone/>
            </a:pPr>
            <a:r>
              <a:rPr lang="en-US" altLang="zh-CN" sz="2000" kern="0" noProof="1">
                <a:cs typeface="+mn-ea"/>
              </a:rPr>
              <a:t>   endmodule</a:t>
            </a:r>
            <a:endParaRPr lang="zh-CN" altLang="en-US" sz="2000" kern="0" noProof="1">
              <a:cs typeface="+mn-ea"/>
            </a:endParaRPr>
          </a:p>
          <a:p>
            <a:pPr marL="457200" lvl="1" indent="0">
              <a:buClr>
                <a:srgbClr val="C00000"/>
              </a:buClr>
              <a:buFont typeface="Wingdings" panose="05000000000000000000" pitchFamily="2" charset="2"/>
              <a:buNone/>
            </a:pPr>
            <a:endParaRPr lang="zh-CN" altLang="en-US" sz="2000" kern="0" noProof="1">
              <a:cs typeface="+mn-ea"/>
            </a:endParaRPr>
          </a:p>
        </p:txBody>
      </p:sp>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E862D-A788-B01F-9D65-B0F75CBA56D8}"/>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16E7ECA0-B407-8297-4374-F8FB599B08CD}"/>
              </a:ext>
            </a:extLst>
          </p:cNvPr>
          <p:cNvPicPr>
            <a:picLocks noChangeAspect="1"/>
          </p:cNvPicPr>
          <p:nvPr/>
        </p:nvPicPr>
        <p:blipFill>
          <a:blip r:embed="rId3"/>
          <a:stretch>
            <a:fillRect/>
          </a:stretch>
        </p:blipFill>
        <p:spPr>
          <a:xfrm>
            <a:off x="1471327" y="1614563"/>
            <a:ext cx="6045486" cy="5054524"/>
          </a:xfrm>
          <a:prstGeom prst="rect">
            <a:avLst/>
          </a:prstGeom>
        </p:spPr>
      </p:pic>
      <p:sp>
        <p:nvSpPr>
          <p:cNvPr id="74753" name="Rectangle 2">
            <a:extLst>
              <a:ext uri="{FF2B5EF4-FFF2-40B4-BE49-F238E27FC236}">
                <a16:creationId xmlns:a16="http://schemas.microsoft.com/office/drawing/2014/main" id="{5540277F-1B8F-7887-9B1E-BFB3954EE72C}"/>
              </a:ext>
            </a:extLst>
          </p:cNvPr>
          <p:cNvSpPr>
            <a:spLocks noGrp="1"/>
          </p:cNvSpPr>
          <p:nvPr>
            <p:ph type="title"/>
          </p:nvPr>
        </p:nvSpPr>
        <p:spPr>
          <a:xfrm>
            <a:off x="900113" y="188913"/>
            <a:ext cx="6616700" cy="792162"/>
          </a:xfrm>
        </p:spPr>
        <p:txBody>
          <a:bodyPr anchor="b"/>
          <a:lstStyle/>
          <a:p>
            <a:pPr algn="l"/>
            <a:r>
              <a:rPr lang="en-US" altLang="zh-CN" dirty="0"/>
              <a:t>Verilog</a:t>
            </a:r>
            <a:r>
              <a:rPr lang="zh-CN" altLang="en-US" dirty="0"/>
              <a:t>结构化描述方式示例</a:t>
            </a:r>
          </a:p>
        </p:txBody>
      </p:sp>
      <p:sp>
        <p:nvSpPr>
          <p:cNvPr id="133122" name="Rectangle 3" descr="Rectangle: Click to edit Master text styles&#10;Second level&#10;Third level&#10;Fourth level&#10;Fifth level">
            <a:extLst>
              <a:ext uri="{FF2B5EF4-FFF2-40B4-BE49-F238E27FC236}">
                <a16:creationId xmlns:a16="http://schemas.microsoft.com/office/drawing/2014/main" id="{57FFC6AE-2BF2-800D-A381-22D508816282}"/>
              </a:ext>
            </a:extLst>
          </p:cNvPr>
          <p:cNvSpPr>
            <a:spLocks noGrp="1"/>
          </p:cNvSpPr>
          <p:nvPr>
            <p:ph idx="1"/>
          </p:nvPr>
        </p:nvSpPr>
        <p:spPr>
          <a:xfrm>
            <a:off x="682625" y="1090613"/>
            <a:ext cx="8061325" cy="682203"/>
          </a:xfrm>
        </p:spPr>
        <p:txBody>
          <a:bodyPr anchor="t"/>
          <a:lstStyle/>
          <a:p>
            <a:pPr marL="342900" marR="0" indent="-34290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Blip>
                <a:blip r:embed="rId4"/>
              </a:buBlip>
            </a:pPr>
            <a:r>
              <a:rPr kumimoji="1" lang="zh-CN" altLang="en-US" sz="3200" b="0" i="0" u="none" strike="noStrike" kern="0" cap="none" spc="0" normalizeH="0" baseline="0" noProof="1">
                <a:solidFill>
                  <a:srgbClr val="4B51A5"/>
                </a:solidFill>
                <a:latin typeface="+mn-lt"/>
                <a:ea typeface="+mn-ea"/>
                <a:cs typeface="+mn-cs"/>
              </a:rPr>
              <a:t>用门级建模描述四选一多路选择器</a:t>
            </a:r>
          </a:p>
          <a:p>
            <a:pPr marL="457200" marR="0" lvl="1" indent="0" algn="l" defTabSz="914400" rtl="0" eaLnBrk="0" fontAlgn="base" latinLnBrk="0" hangingPunct="0">
              <a:lnSpc>
                <a:spcPct val="100000"/>
              </a:lnSpc>
              <a:spcBef>
                <a:spcPct val="20000"/>
              </a:spcBef>
              <a:spcAft>
                <a:spcPct val="0"/>
              </a:spcAft>
              <a:buClr>
                <a:srgbClr val="C00000"/>
              </a:buClr>
              <a:buSzPct val="60000"/>
              <a:buFont typeface="Wingdings" panose="05000000000000000000" pitchFamily="2" charset="2"/>
              <a:buNone/>
            </a:pPr>
            <a:endParaRPr kumimoji="1" lang="zh-CN" altLang="en-US" sz="2000" b="0" i="0" u="none" strike="noStrike" kern="0" cap="none" spc="0" normalizeH="0" baseline="0" noProof="1">
              <a:solidFill>
                <a:srgbClr val="4B51A5"/>
              </a:solidFill>
              <a:latin typeface="+mn-lt"/>
              <a:ea typeface="+mn-ea"/>
              <a:cs typeface="+mn-ea"/>
            </a:endParaRPr>
          </a:p>
        </p:txBody>
      </p:sp>
    </p:spTree>
    <p:extLst>
      <p:ext uri="{BB962C8B-B14F-4D97-AF65-F5344CB8AC3E}">
        <p14:creationId xmlns:p14="http://schemas.microsoft.com/office/powerpoint/2010/main" val="2369308348"/>
      </p:ext>
    </p:extLst>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D5D65-2B59-D681-D930-FB7DB8813D93}"/>
            </a:ext>
          </a:extLst>
        </p:cNvPr>
        <p:cNvGrpSpPr/>
        <p:nvPr/>
      </p:nvGrpSpPr>
      <p:grpSpPr>
        <a:xfrm>
          <a:off x="0" y="0"/>
          <a:ext cx="0" cy="0"/>
          <a:chOff x="0" y="0"/>
          <a:chExt cx="0" cy="0"/>
        </a:xfrm>
      </p:grpSpPr>
      <p:sp>
        <p:nvSpPr>
          <p:cNvPr id="3" name="内容占位符 2" descr="Rectangle: Click to edit Master text styles&#10;Second level&#10;Third level&#10;Fourth level&#10;Fifth level">
            <a:extLst>
              <a:ext uri="{FF2B5EF4-FFF2-40B4-BE49-F238E27FC236}">
                <a16:creationId xmlns:a16="http://schemas.microsoft.com/office/drawing/2014/main" id="{EED5F3C5-1E0E-63E7-3873-1DAFB921B217}"/>
              </a:ext>
            </a:extLst>
          </p:cNvPr>
          <p:cNvSpPr txBox="1">
            <a:spLocks/>
          </p:cNvSpPr>
          <p:nvPr/>
        </p:nvSpPr>
        <p:spPr>
          <a:xfrm>
            <a:off x="1331640" y="1614563"/>
            <a:ext cx="6912768" cy="4982789"/>
          </a:xfrm>
          <a:prstGeom prst="rect">
            <a:avLst/>
          </a:prstGeom>
          <a:solidFill>
            <a:schemeClr val="bg1"/>
          </a:solidFill>
          <a:ln w="9525">
            <a:noFill/>
          </a:ln>
        </p:spPr>
        <p:txBody>
          <a:bodyPr anchor="t" anchorCtr="0"/>
          <a:lst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3"/>
              </a:buBlip>
              <a:defRPr kumimoji="1" sz="3600">
                <a:solidFill>
                  <a:srgbClr val="4B51A5"/>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3200">
                <a:solidFill>
                  <a:srgbClr val="4B51A5"/>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800">
                <a:solidFill>
                  <a:srgbClr val="4B51A5"/>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400">
                <a:solidFill>
                  <a:srgbClr val="4B51A5"/>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9pPr>
          </a:lstStyle>
          <a:p>
            <a:pPr marL="457200" lvl="1" indent="0">
              <a:buNone/>
            </a:pPr>
            <a:endParaRPr lang="en-US" altLang="zh-CN" sz="2000" kern="0" noProof="1">
              <a:cs typeface="+mn-ea"/>
            </a:endParaRPr>
          </a:p>
          <a:p>
            <a:pPr marL="457200" lvl="1" indent="0">
              <a:buNone/>
            </a:pPr>
            <a:r>
              <a:rPr lang="en-US" altLang="zh-CN" sz="2000" kern="0" noProof="1">
                <a:cs typeface="+mn-ea"/>
              </a:rPr>
              <a:t>module mux4_to_1(out,i0,i1,i2,i3,s1,s0);</a:t>
            </a:r>
          </a:p>
          <a:p>
            <a:pPr marL="457200" lvl="1" indent="0">
              <a:buNone/>
            </a:pPr>
            <a:r>
              <a:rPr lang="en-US" altLang="zh-CN" sz="2000" kern="0" noProof="1">
                <a:cs typeface="+mn-ea"/>
              </a:rPr>
              <a:t>	output out;</a:t>
            </a:r>
          </a:p>
          <a:p>
            <a:pPr marL="457200" lvl="1" indent="0">
              <a:buNone/>
            </a:pPr>
            <a:r>
              <a:rPr lang="en-US" altLang="zh-CN" sz="2000" kern="0" noProof="1">
                <a:cs typeface="+mn-ea"/>
              </a:rPr>
              <a:t>	input i0,i1,i2,i3,s1,s0;</a:t>
            </a:r>
          </a:p>
          <a:p>
            <a:pPr marL="457200" lvl="1" indent="0">
              <a:buNone/>
            </a:pPr>
            <a:r>
              <a:rPr lang="en-US" altLang="zh-CN" sz="2000" kern="0" noProof="1">
                <a:cs typeface="+mn-ea"/>
              </a:rPr>
              <a:t>	wire s1n,s0n,y0,y1,y2,y3;</a:t>
            </a:r>
          </a:p>
          <a:p>
            <a:pPr marL="457200" lvl="1" indent="0">
              <a:buNone/>
            </a:pPr>
            <a:r>
              <a:rPr lang="en-US" altLang="zh-CN" sz="2000" kern="0" noProof="1">
                <a:cs typeface="+mn-ea"/>
              </a:rPr>
              <a:t>	not (s1n, s1);</a:t>
            </a:r>
          </a:p>
          <a:p>
            <a:pPr marL="457200" lvl="1" indent="0">
              <a:buNone/>
            </a:pPr>
            <a:r>
              <a:rPr lang="en-US" altLang="zh-CN" sz="2000" kern="0" noProof="1">
                <a:cs typeface="+mn-ea"/>
              </a:rPr>
              <a:t>	not (s0n, s0);</a:t>
            </a:r>
          </a:p>
          <a:p>
            <a:pPr marL="457200" lvl="1" indent="0">
              <a:buNone/>
            </a:pPr>
            <a:r>
              <a:rPr lang="en-US" altLang="zh-CN" sz="2000" kern="0" noProof="1">
                <a:cs typeface="+mn-ea"/>
              </a:rPr>
              <a:t>	and(y0, i0, s1n, s0n); </a:t>
            </a:r>
          </a:p>
          <a:p>
            <a:pPr marL="457200" lvl="1" indent="0">
              <a:buNone/>
            </a:pPr>
            <a:r>
              <a:rPr lang="en-US" altLang="zh-CN" sz="2000" kern="0" noProof="1">
                <a:cs typeface="+mn-ea"/>
              </a:rPr>
              <a:t>	and(y1, i1, s1n, s0); </a:t>
            </a:r>
          </a:p>
          <a:p>
            <a:pPr marL="457200" lvl="1" indent="0">
              <a:buNone/>
            </a:pPr>
            <a:r>
              <a:rPr lang="en-US" altLang="zh-CN" sz="2000" kern="0" noProof="1">
                <a:cs typeface="+mn-ea"/>
              </a:rPr>
              <a:t>	and(y2, i2, s1, s0n); </a:t>
            </a:r>
          </a:p>
          <a:p>
            <a:pPr marL="457200" lvl="1" indent="0">
              <a:buNone/>
            </a:pPr>
            <a:r>
              <a:rPr lang="en-US" altLang="zh-CN" sz="2000" kern="0" noProof="1">
                <a:cs typeface="+mn-ea"/>
              </a:rPr>
              <a:t>	and(y3, i3, s1, s0); </a:t>
            </a:r>
          </a:p>
          <a:p>
            <a:pPr marL="457200" lvl="1" indent="0">
              <a:buNone/>
            </a:pPr>
            <a:r>
              <a:rPr lang="en-US" altLang="zh-CN" sz="2000" kern="0" noProof="1">
                <a:cs typeface="+mn-ea"/>
              </a:rPr>
              <a:t>	or(out, y0, y1, y2, y3);</a:t>
            </a:r>
          </a:p>
          <a:p>
            <a:pPr marL="457200" lvl="1" indent="0">
              <a:buNone/>
            </a:pPr>
            <a:r>
              <a:rPr lang="en-US" altLang="zh-CN" sz="2000" kern="0" noProof="1">
                <a:cs typeface="+mn-ea"/>
              </a:rPr>
              <a:t>endmodule</a:t>
            </a:r>
            <a:endParaRPr lang="zh-CN" altLang="en-US" sz="2800" kern="0" noProof="1"/>
          </a:p>
        </p:txBody>
      </p:sp>
      <p:sp>
        <p:nvSpPr>
          <p:cNvPr id="74753" name="Rectangle 2">
            <a:extLst>
              <a:ext uri="{FF2B5EF4-FFF2-40B4-BE49-F238E27FC236}">
                <a16:creationId xmlns:a16="http://schemas.microsoft.com/office/drawing/2014/main" id="{5C0DAE38-BF62-16C6-024D-22EDFC95C449}"/>
              </a:ext>
            </a:extLst>
          </p:cNvPr>
          <p:cNvSpPr>
            <a:spLocks noGrp="1"/>
          </p:cNvSpPr>
          <p:nvPr>
            <p:ph type="title"/>
          </p:nvPr>
        </p:nvSpPr>
        <p:spPr>
          <a:xfrm>
            <a:off x="900113" y="188913"/>
            <a:ext cx="6616700" cy="792162"/>
          </a:xfrm>
        </p:spPr>
        <p:txBody>
          <a:bodyPr anchor="b"/>
          <a:lstStyle/>
          <a:p>
            <a:pPr algn="l"/>
            <a:r>
              <a:rPr lang="en-US" altLang="zh-CN" dirty="0"/>
              <a:t>Verilog</a:t>
            </a:r>
            <a:r>
              <a:rPr lang="zh-CN" altLang="en-US" dirty="0"/>
              <a:t>结构化描述方式示例</a:t>
            </a:r>
          </a:p>
        </p:txBody>
      </p:sp>
      <p:sp>
        <p:nvSpPr>
          <p:cNvPr id="133122" name="Rectangle 3" descr="Rectangle: Click to edit Master text styles&#10;Second level&#10;Third level&#10;Fourth level&#10;Fifth level">
            <a:extLst>
              <a:ext uri="{FF2B5EF4-FFF2-40B4-BE49-F238E27FC236}">
                <a16:creationId xmlns:a16="http://schemas.microsoft.com/office/drawing/2014/main" id="{24B28614-92C4-B528-F5E7-F1198CC4F684}"/>
              </a:ext>
            </a:extLst>
          </p:cNvPr>
          <p:cNvSpPr>
            <a:spLocks noGrp="1"/>
          </p:cNvSpPr>
          <p:nvPr>
            <p:ph idx="1"/>
          </p:nvPr>
        </p:nvSpPr>
        <p:spPr>
          <a:xfrm>
            <a:off x="682625" y="1090613"/>
            <a:ext cx="8061325" cy="682203"/>
          </a:xfrm>
        </p:spPr>
        <p:txBody>
          <a:bodyPr anchor="t"/>
          <a:lstStyle/>
          <a:p>
            <a:pPr marL="342900" marR="0" indent="-34290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Blip>
                <a:blip r:embed="rId3"/>
              </a:buBlip>
            </a:pPr>
            <a:r>
              <a:rPr kumimoji="1" lang="zh-CN" altLang="en-US" sz="3200" b="0" i="0" u="none" strike="noStrike" kern="0" cap="none" spc="0" normalizeH="0" baseline="0" noProof="1">
                <a:solidFill>
                  <a:srgbClr val="4B51A5"/>
                </a:solidFill>
                <a:latin typeface="+mn-lt"/>
                <a:ea typeface="+mn-ea"/>
                <a:cs typeface="+mn-cs"/>
              </a:rPr>
              <a:t>用门级建模描述四选一多路选择器</a:t>
            </a:r>
          </a:p>
          <a:p>
            <a:pPr marL="457200" marR="0" lvl="1" indent="0" algn="l" defTabSz="914400" rtl="0" eaLnBrk="0" fontAlgn="base" latinLnBrk="0" hangingPunct="0">
              <a:lnSpc>
                <a:spcPct val="100000"/>
              </a:lnSpc>
              <a:spcBef>
                <a:spcPct val="20000"/>
              </a:spcBef>
              <a:spcAft>
                <a:spcPct val="0"/>
              </a:spcAft>
              <a:buClr>
                <a:srgbClr val="C00000"/>
              </a:buClr>
              <a:buSzPct val="60000"/>
              <a:buFont typeface="Wingdings" panose="05000000000000000000" pitchFamily="2" charset="2"/>
              <a:buNone/>
            </a:pPr>
            <a:endParaRPr kumimoji="1" lang="zh-CN" altLang="en-US" sz="2000" b="0" i="0" u="none" strike="noStrike" kern="0" cap="none" spc="0" normalizeH="0" baseline="0" noProof="1">
              <a:solidFill>
                <a:srgbClr val="4B51A5"/>
              </a:solidFill>
              <a:latin typeface="+mn-lt"/>
              <a:ea typeface="+mn-ea"/>
              <a:cs typeface="+mn-ea"/>
            </a:endParaRPr>
          </a:p>
        </p:txBody>
      </p:sp>
    </p:spTree>
    <p:extLst>
      <p:ext uri="{BB962C8B-B14F-4D97-AF65-F5344CB8AC3E}">
        <p14:creationId xmlns:p14="http://schemas.microsoft.com/office/powerpoint/2010/main" val="2104050857"/>
      </p:ext>
    </p:extLst>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B0014-EF89-969A-A75A-103C6466721E}"/>
            </a:ext>
          </a:extLst>
        </p:cNvPr>
        <p:cNvGrpSpPr/>
        <p:nvPr/>
      </p:nvGrpSpPr>
      <p:grpSpPr>
        <a:xfrm>
          <a:off x="0" y="0"/>
          <a:ext cx="0" cy="0"/>
          <a:chOff x="0" y="0"/>
          <a:chExt cx="0" cy="0"/>
        </a:xfrm>
      </p:grpSpPr>
      <p:sp>
        <p:nvSpPr>
          <p:cNvPr id="73729" name="Rectangle 2">
            <a:extLst>
              <a:ext uri="{FF2B5EF4-FFF2-40B4-BE49-F238E27FC236}">
                <a16:creationId xmlns:a16="http://schemas.microsoft.com/office/drawing/2014/main" id="{A783FBF7-7D68-61E5-927B-C0131ED9CB51}"/>
              </a:ext>
            </a:extLst>
          </p:cNvPr>
          <p:cNvSpPr>
            <a:spLocks noGrp="1"/>
          </p:cNvSpPr>
          <p:nvPr>
            <p:ph type="title"/>
          </p:nvPr>
        </p:nvSpPr>
        <p:spPr>
          <a:xfrm>
            <a:off x="900113" y="188913"/>
            <a:ext cx="6616700" cy="792162"/>
          </a:xfrm>
        </p:spPr>
        <p:txBody>
          <a:bodyPr anchor="b"/>
          <a:lstStyle/>
          <a:p>
            <a:pPr algn="l"/>
            <a:r>
              <a:rPr lang="en-US" altLang="zh-CN" dirty="0"/>
              <a:t>Verilog</a:t>
            </a:r>
            <a:r>
              <a:rPr lang="zh-CN" altLang="en-US" dirty="0"/>
              <a:t>结构化描述方式示例</a:t>
            </a:r>
          </a:p>
        </p:txBody>
      </p:sp>
      <p:sp>
        <p:nvSpPr>
          <p:cNvPr id="73730" name="Rectangle 3" descr="Rectangle: Click to edit Master text styles&#10;Second level&#10;Third level&#10;Fourth level&#10;Fifth level">
            <a:extLst>
              <a:ext uri="{FF2B5EF4-FFF2-40B4-BE49-F238E27FC236}">
                <a16:creationId xmlns:a16="http://schemas.microsoft.com/office/drawing/2014/main" id="{78AC705E-D9BD-A335-E7C7-C3C68E535927}"/>
              </a:ext>
            </a:extLst>
          </p:cNvPr>
          <p:cNvSpPr>
            <a:spLocks noGrp="1"/>
          </p:cNvSpPr>
          <p:nvPr>
            <p:ph idx="1"/>
          </p:nvPr>
        </p:nvSpPr>
        <p:spPr>
          <a:xfrm>
            <a:off x="611560" y="1196752"/>
            <a:ext cx="8147050" cy="1032272"/>
          </a:xfrm>
        </p:spPr>
        <p:txBody>
          <a:bodyPr anchor="t"/>
          <a:lstStyle/>
          <a:p>
            <a:r>
              <a:rPr lang="zh-CN" altLang="en-US" sz="3200" dirty="0"/>
              <a:t>通过描述模块间的层次结构实现四位脉动进位计数器</a:t>
            </a:r>
            <a:r>
              <a:rPr lang="en-US" altLang="zh-CN" sz="3200" dirty="0"/>
              <a:t>——</a:t>
            </a:r>
            <a:r>
              <a:rPr lang="zh-CN" altLang="en-US" sz="3200" dirty="0"/>
              <a:t>四位脉动进位计数器通过四个</a:t>
            </a:r>
            <a:r>
              <a:rPr lang="en-US" altLang="zh-CN" sz="3200" dirty="0"/>
              <a:t>T</a:t>
            </a:r>
            <a:r>
              <a:rPr lang="zh-CN" altLang="en-US" sz="3200" dirty="0"/>
              <a:t>触发器级联构成</a:t>
            </a:r>
            <a:endParaRPr lang="zh-CN" altLang="en-US" dirty="0"/>
          </a:p>
        </p:txBody>
      </p:sp>
      <p:pic>
        <p:nvPicPr>
          <p:cNvPr id="3" name="图片 2">
            <a:extLst>
              <a:ext uri="{FF2B5EF4-FFF2-40B4-BE49-F238E27FC236}">
                <a16:creationId xmlns:a16="http://schemas.microsoft.com/office/drawing/2014/main" id="{3A1AF7A1-DDDB-096D-B68D-964AAC9E4B05}"/>
              </a:ext>
            </a:extLst>
          </p:cNvPr>
          <p:cNvPicPr>
            <a:picLocks noChangeAspect="1"/>
          </p:cNvPicPr>
          <p:nvPr/>
        </p:nvPicPr>
        <p:blipFill>
          <a:blip r:embed="rId3"/>
          <a:stretch>
            <a:fillRect/>
          </a:stretch>
        </p:blipFill>
        <p:spPr>
          <a:xfrm>
            <a:off x="0" y="2996952"/>
            <a:ext cx="9144000" cy="3078372"/>
          </a:xfrm>
          <a:prstGeom prst="rect">
            <a:avLst/>
          </a:prstGeom>
        </p:spPr>
      </p:pic>
    </p:spTree>
    <p:extLst>
      <p:ext uri="{BB962C8B-B14F-4D97-AF65-F5344CB8AC3E}">
        <p14:creationId xmlns:p14="http://schemas.microsoft.com/office/powerpoint/2010/main" val="2947461197"/>
      </p:ext>
    </p:extLst>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A2E61-A5A6-6B55-2C4E-20E14377B658}"/>
            </a:ext>
          </a:extLst>
        </p:cNvPr>
        <p:cNvGrpSpPr/>
        <p:nvPr/>
      </p:nvGrpSpPr>
      <p:grpSpPr>
        <a:xfrm>
          <a:off x="0" y="0"/>
          <a:ext cx="0" cy="0"/>
          <a:chOff x="0" y="0"/>
          <a:chExt cx="0" cy="0"/>
        </a:xfrm>
      </p:grpSpPr>
      <p:sp>
        <p:nvSpPr>
          <p:cNvPr id="73729" name="Rectangle 2">
            <a:extLst>
              <a:ext uri="{FF2B5EF4-FFF2-40B4-BE49-F238E27FC236}">
                <a16:creationId xmlns:a16="http://schemas.microsoft.com/office/drawing/2014/main" id="{A62FCE31-1261-58CF-E872-ECDB8045FBCD}"/>
              </a:ext>
            </a:extLst>
          </p:cNvPr>
          <p:cNvSpPr>
            <a:spLocks noGrp="1"/>
          </p:cNvSpPr>
          <p:nvPr>
            <p:ph type="title"/>
          </p:nvPr>
        </p:nvSpPr>
        <p:spPr>
          <a:xfrm>
            <a:off x="900113" y="188913"/>
            <a:ext cx="6616700" cy="792162"/>
          </a:xfrm>
        </p:spPr>
        <p:txBody>
          <a:bodyPr anchor="b"/>
          <a:lstStyle/>
          <a:p>
            <a:pPr algn="l"/>
            <a:r>
              <a:rPr lang="en-US" altLang="zh-CN" dirty="0"/>
              <a:t>Verilog</a:t>
            </a:r>
            <a:r>
              <a:rPr lang="zh-CN" altLang="en-US" dirty="0"/>
              <a:t>结构化描述方式示例</a:t>
            </a:r>
          </a:p>
        </p:txBody>
      </p:sp>
      <p:sp>
        <p:nvSpPr>
          <p:cNvPr id="73730" name="Rectangle 3" descr="Rectangle: Click to edit Master text styles&#10;Second level&#10;Third level&#10;Fourth level&#10;Fifth level">
            <a:extLst>
              <a:ext uri="{FF2B5EF4-FFF2-40B4-BE49-F238E27FC236}">
                <a16:creationId xmlns:a16="http://schemas.microsoft.com/office/drawing/2014/main" id="{37226B66-DD68-BE76-3678-913FF830D21E}"/>
              </a:ext>
            </a:extLst>
          </p:cNvPr>
          <p:cNvSpPr>
            <a:spLocks noGrp="1"/>
          </p:cNvSpPr>
          <p:nvPr>
            <p:ph idx="1"/>
          </p:nvPr>
        </p:nvSpPr>
        <p:spPr>
          <a:xfrm>
            <a:off x="611560" y="1196752"/>
            <a:ext cx="8147050" cy="1032272"/>
          </a:xfrm>
        </p:spPr>
        <p:txBody>
          <a:bodyPr anchor="t"/>
          <a:lstStyle/>
          <a:p>
            <a:r>
              <a:rPr lang="zh-CN" altLang="en-US" sz="3200" dirty="0"/>
              <a:t>通过描述模块间的层次结构实现四位脉动进位计数器</a:t>
            </a:r>
            <a:r>
              <a:rPr lang="en-US" altLang="zh-CN" sz="3200" dirty="0"/>
              <a:t>——</a:t>
            </a:r>
            <a:r>
              <a:rPr lang="zh-CN" altLang="en-US" sz="3200" dirty="0"/>
              <a:t>四位脉动进位计数器通过四个</a:t>
            </a:r>
            <a:r>
              <a:rPr lang="en-US" altLang="zh-CN" sz="3200" dirty="0"/>
              <a:t>T</a:t>
            </a:r>
            <a:r>
              <a:rPr lang="zh-CN" altLang="en-US" sz="3200" dirty="0"/>
              <a:t>触发器级联构成</a:t>
            </a:r>
            <a:endParaRPr lang="zh-CN" altLang="en-US" dirty="0"/>
          </a:p>
        </p:txBody>
      </p:sp>
      <p:pic>
        <p:nvPicPr>
          <p:cNvPr id="6" name="图片 5">
            <a:extLst>
              <a:ext uri="{FF2B5EF4-FFF2-40B4-BE49-F238E27FC236}">
                <a16:creationId xmlns:a16="http://schemas.microsoft.com/office/drawing/2014/main" id="{A3F71F01-2034-677F-8C00-4836ED5725F9}"/>
              </a:ext>
            </a:extLst>
          </p:cNvPr>
          <p:cNvPicPr>
            <a:picLocks noChangeAspect="1"/>
          </p:cNvPicPr>
          <p:nvPr/>
        </p:nvPicPr>
        <p:blipFill>
          <a:blip r:embed="rId3"/>
          <a:stretch>
            <a:fillRect/>
          </a:stretch>
        </p:blipFill>
        <p:spPr>
          <a:xfrm>
            <a:off x="-1" y="2996952"/>
            <a:ext cx="9144000" cy="2557365"/>
          </a:xfrm>
          <a:prstGeom prst="rect">
            <a:avLst/>
          </a:prstGeom>
        </p:spPr>
      </p:pic>
    </p:spTree>
    <p:extLst>
      <p:ext uri="{BB962C8B-B14F-4D97-AF65-F5344CB8AC3E}">
        <p14:creationId xmlns:p14="http://schemas.microsoft.com/office/powerpoint/2010/main" val="108629552"/>
      </p:ext>
    </p:extLst>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9692D-3835-029C-498D-1C22BCB69017}"/>
            </a:ext>
          </a:extLst>
        </p:cNvPr>
        <p:cNvGrpSpPr/>
        <p:nvPr/>
      </p:nvGrpSpPr>
      <p:grpSpPr>
        <a:xfrm>
          <a:off x="0" y="0"/>
          <a:ext cx="0" cy="0"/>
          <a:chOff x="0" y="0"/>
          <a:chExt cx="0" cy="0"/>
        </a:xfrm>
      </p:grpSpPr>
      <p:sp>
        <p:nvSpPr>
          <p:cNvPr id="73729" name="Rectangle 2">
            <a:extLst>
              <a:ext uri="{FF2B5EF4-FFF2-40B4-BE49-F238E27FC236}">
                <a16:creationId xmlns:a16="http://schemas.microsoft.com/office/drawing/2014/main" id="{AE88A812-BA9F-842C-B388-5A6CD1ABB0D6}"/>
              </a:ext>
            </a:extLst>
          </p:cNvPr>
          <p:cNvSpPr>
            <a:spLocks noGrp="1"/>
          </p:cNvSpPr>
          <p:nvPr>
            <p:ph type="title"/>
          </p:nvPr>
        </p:nvSpPr>
        <p:spPr>
          <a:xfrm>
            <a:off x="900113" y="188913"/>
            <a:ext cx="6616700" cy="792162"/>
          </a:xfrm>
        </p:spPr>
        <p:txBody>
          <a:bodyPr anchor="b"/>
          <a:lstStyle/>
          <a:p>
            <a:pPr algn="l"/>
            <a:r>
              <a:rPr lang="en-US" altLang="zh-CN" dirty="0"/>
              <a:t>Verilog</a:t>
            </a:r>
            <a:r>
              <a:rPr lang="zh-CN" altLang="en-US" dirty="0"/>
              <a:t>结构化描述方式示例</a:t>
            </a:r>
          </a:p>
        </p:txBody>
      </p:sp>
      <p:sp>
        <p:nvSpPr>
          <p:cNvPr id="73730" name="Rectangle 3" descr="Rectangle: Click to edit Master text styles&#10;Second level&#10;Third level&#10;Fourth level&#10;Fifth level">
            <a:extLst>
              <a:ext uri="{FF2B5EF4-FFF2-40B4-BE49-F238E27FC236}">
                <a16:creationId xmlns:a16="http://schemas.microsoft.com/office/drawing/2014/main" id="{2043405F-C540-4736-4D64-FA99D2623EB8}"/>
              </a:ext>
            </a:extLst>
          </p:cNvPr>
          <p:cNvSpPr>
            <a:spLocks noGrp="1"/>
          </p:cNvSpPr>
          <p:nvPr>
            <p:ph idx="1"/>
          </p:nvPr>
        </p:nvSpPr>
        <p:spPr>
          <a:xfrm>
            <a:off x="611560" y="1196752"/>
            <a:ext cx="8147050" cy="1032272"/>
          </a:xfrm>
        </p:spPr>
        <p:txBody>
          <a:bodyPr anchor="t"/>
          <a:lstStyle/>
          <a:p>
            <a:r>
              <a:rPr lang="zh-CN" altLang="en-US" sz="3200" dirty="0"/>
              <a:t>通过描述模块间的层次结构实现四位脉动进位计数器</a:t>
            </a:r>
            <a:r>
              <a:rPr lang="en-US" altLang="zh-CN" sz="3200" dirty="0"/>
              <a:t>——</a:t>
            </a:r>
            <a:r>
              <a:rPr lang="zh-CN" altLang="en-US" sz="3200" dirty="0"/>
              <a:t>四位脉动进位计数器通过四个</a:t>
            </a:r>
            <a:r>
              <a:rPr lang="en-US" altLang="zh-CN" sz="3200" dirty="0"/>
              <a:t>T</a:t>
            </a:r>
            <a:r>
              <a:rPr lang="zh-CN" altLang="en-US" sz="3200" dirty="0"/>
              <a:t>触发器级联构成</a:t>
            </a:r>
            <a:endParaRPr lang="zh-CN" altLang="en-US" dirty="0"/>
          </a:p>
        </p:txBody>
      </p:sp>
      <p:sp>
        <p:nvSpPr>
          <p:cNvPr id="2" name="内容占位符 2" descr="Rectangle: Click to edit Master text styles&#10;Second level&#10;Third level&#10;Fourth level&#10;Fifth level">
            <a:extLst>
              <a:ext uri="{FF2B5EF4-FFF2-40B4-BE49-F238E27FC236}">
                <a16:creationId xmlns:a16="http://schemas.microsoft.com/office/drawing/2014/main" id="{CBE52DF3-DF8D-B509-FD89-A2B337A16055}"/>
              </a:ext>
            </a:extLst>
          </p:cNvPr>
          <p:cNvSpPr txBox="1">
            <a:spLocks/>
          </p:cNvSpPr>
          <p:nvPr/>
        </p:nvSpPr>
        <p:spPr>
          <a:xfrm>
            <a:off x="1058055" y="2780928"/>
            <a:ext cx="7704856" cy="3648595"/>
          </a:xfrm>
          <a:prstGeom prst="rect">
            <a:avLst/>
          </a:prstGeom>
          <a:noFill/>
          <a:ln w="9525">
            <a:noFill/>
          </a:ln>
        </p:spPr>
        <p:txBody>
          <a:bodyPr anchor="t" anchorCtr="0"/>
          <a:lst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3"/>
              </a:buBlip>
              <a:defRPr kumimoji="1" sz="3600">
                <a:solidFill>
                  <a:srgbClr val="4B51A5"/>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3200">
                <a:solidFill>
                  <a:srgbClr val="4B51A5"/>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800">
                <a:solidFill>
                  <a:srgbClr val="4B51A5"/>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400">
                <a:solidFill>
                  <a:srgbClr val="4B51A5"/>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9pPr>
          </a:lstStyle>
          <a:p>
            <a:pPr marL="457200" lvl="1" indent="0">
              <a:buNone/>
            </a:pPr>
            <a:r>
              <a:rPr lang="en-US" altLang="zh-CN" sz="2400" kern="0" noProof="1">
                <a:cs typeface="+mn-ea"/>
              </a:rPr>
              <a:t>module ripple_carry_counter(q,clk,reset);</a:t>
            </a:r>
          </a:p>
          <a:p>
            <a:pPr marL="457200" lvl="1" indent="0">
              <a:buNone/>
            </a:pPr>
            <a:r>
              <a:rPr lang="en-US" altLang="zh-CN" sz="2400" kern="0" noProof="1">
                <a:cs typeface="+mn-ea"/>
              </a:rPr>
              <a:t>	output [3:0] q;</a:t>
            </a:r>
          </a:p>
          <a:p>
            <a:pPr marL="457200" lvl="1" indent="0">
              <a:buNone/>
            </a:pPr>
            <a:r>
              <a:rPr lang="en-US" altLang="zh-CN" sz="2400" kern="0" noProof="1">
                <a:cs typeface="+mn-ea"/>
              </a:rPr>
              <a:t>	input clk, reset;</a:t>
            </a:r>
          </a:p>
          <a:p>
            <a:pPr marL="457200" lvl="1" indent="0">
              <a:buNone/>
            </a:pPr>
            <a:r>
              <a:rPr lang="en-US" altLang="zh-CN" sz="2400" kern="0" noProof="1">
                <a:cs typeface="+mn-ea"/>
              </a:rPr>
              <a:t>	T_FF tff0(q[0], clk,reset);</a:t>
            </a:r>
          </a:p>
          <a:p>
            <a:pPr marL="457200" lvl="1" indent="0">
              <a:buNone/>
            </a:pPr>
            <a:r>
              <a:rPr lang="en-US" altLang="zh-CN" sz="2400" kern="0" noProof="1">
                <a:cs typeface="+mn-ea"/>
              </a:rPr>
              <a:t>	T_FF tff1(q[1], q[0],reset);</a:t>
            </a:r>
          </a:p>
          <a:p>
            <a:pPr marL="457200" lvl="1" indent="0">
              <a:buNone/>
            </a:pPr>
            <a:r>
              <a:rPr lang="en-US" altLang="zh-CN" sz="2400" kern="0" noProof="1">
                <a:cs typeface="+mn-ea"/>
              </a:rPr>
              <a:t>	T_FF tff2(q[2], q[1],reset);</a:t>
            </a:r>
          </a:p>
          <a:p>
            <a:pPr marL="457200" lvl="1" indent="0">
              <a:buNone/>
            </a:pPr>
            <a:r>
              <a:rPr lang="en-US" altLang="zh-CN" sz="2400" kern="0" noProof="1">
                <a:cs typeface="+mn-ea"/>
              </a:rPr>
              <a:t>	T_FF tff3(q[3], q[2],reset);</a:t>
            </a:r>
          </a:p>
          <a:p>
            <a:pPr marL="457200" lvl="1" indent="0">
              <a:buNone/>
            </a:pPr>
            <a:r>
              <a:rPr lang="en-US" altLang="zh-CN" sz="2400" kern="0" noProof="1">
                <a:cs typeface="+mn-ea"/>
              </a:rPr>
              <a:t>endmodule</a:t>
            </a:r>
            <a:endParaRPr lang="zh-CN" altLang="en-US" kern="0" noProof="1"/>
          </a:p>
        </p:txBody>
      </p:sp>
    </p:spTree>
    <p:extLst>
      <p:ext uri="{BB962C8B-B14F-4D97-AF65-F5344CB8AC3E}">
        <p14:creationId xmlns:p14="http://schemas.microsoft.com/office/powerpoint/2010/main" val="2034452798"/>
      </p:ext>
    </p:extLst>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063BC-42F0-35AC-F4C3-122F81C206EC}"/>
            </a:ext>
          </a:extLst>
        </p:cNvPr>
        <p:cNvGrpSpPr/>
        <p:nvPr/>
      </p:nvGrpSpPr>
      <p:grpSpPr>
        <a:xfrm>
          <a:off x="0" y="0"/>
          <a:ext cx="0" cy="0"/>
          <a:chOff x="0" y="0"/>
          <a:chExt cx="0" cy="0"/>
        </a:xfrm>
      </p:grpSpPr>
      <p:sp>
        <p:nvSpPr>
          <p:cNvPr id="73729" name="Rectangle 2">
            <a:extLst>
              <a:ext uri="{FF2B5EF4-FFF2-40B4-BE49-F238E27FC236}">
                <a16:creationId xmlns:a16="http://schemas.microsoft.com/office/drawing/2014/main" id="{DB4416AF-B184-3790-0A41-C36D7A2FA837}"/>
              </a:ext>
            </a:extLst>
          </p:cNvPr>
          <p:cNvSpPr>
            <a:spLocks noGrp="1"/>
          </p:cNvSpPr>
          <p:nvPr>
            <p:ph type="title"/>
          </p:nvPr>
        </p:nvSpPr>
        <p:spPr>
          <a:xfrm>
            <a:off x="900113" y="188913"/>
            <a:ext cx="6616700" cy="792162"/>
          </a:xfrm>
        </p:spPr>
        <p:txBody>
          <a:bodyPr anchor="b"/>
          <a:lstStyle/>
          <a:p>
            <a:pPr algn="l"/>
            <a:r>
              <a:rPr lang="en-US" altLang="zh-CN" dirty="0"/>
              <a:t>Verilog</a:t>
            </a:r>
            <a:r>
              <a:rPr lang="zh-CN" altLang="en-US" dirty="0"/>
              <a:t>结构化描述方式示例</a:t>
            </a:r>
          </a:p>
        </p:txBody>
      </p:sp>
      <p:sp>
        <p:nvSpPr>
          <p:cNvPr id="73730" name="Rectangle 3" descr="Rectangle: Click to edit Master text styles&#10;Second level&#10;Third level&#10;Fourth level&#10;Fifth level">
            <a:extLst>
              <a:ext uri="{FF2B5EF4-FFF2-40B4-BE49-F238E27FC236}">
                <a16:creationId xmlns:a16="http://schemas.microsoft.com/office/drawing/2014/main" id="{EEE1B299-198E-9325-D5CC-20FC09CA9466}"/>
              </a:ext>
            </a:extLst>
          </p:cNvPr>
          <p:cNvSpPr>
            <a:spLocks noGrp="1"/>
          </p:cNvSpPr>
          <p:nvPr>
            <p:ph idx="1"/>
          </p:nvPr>
        </p:nvSpPr>
        <p:spPr>
          <a:xfrm>
            <a:off x="611560" y="1196752"/>
            <a:ext cx="8147050" cy="1032272"/>
          </a:xfrm>
        </p:spPr>
        <p:txBody>
          <a:bodyPr anchor="t"/>
          <a:lstStyle/>
          <a:p>
            <a:r>
              <a:rPr lang="zh-CN" altLang="en-US" sz="3200" dirty="0"/>
              <a:t>每个</a:t>
            </a:r>
            <a:r>
              <a:rPr lang="en-US" altLang="zh-CN" sz="3200" dirty="0"/>
              <a:t>T</a:t>
            </a:r>
            <a:r>
              <a:rPr lang="zh-CN" altLang="en-US" sz="3200" dirty="0"/>
              <a:t>触发器由</a:t>
            </a:r>
            <a:r>
              <a:rPr lang="en-US" altLang="zh-CN" sz="3200" dirty="0"/>
              <a:t>D</a:t>
            </a:r>
            <a:r>
              <a:rPr lang="zh-CN" altLang="en-US" sz="3200" dirty="0"/>
              <a:t>触发器和非门搭建而成</a:t>
            </a:r>
            <a:endParaRPr lang="zh-CN" altLang="en-US" dirty="0"/>
          </a:p>
        </p:txBody>
      </p:sp>
      <p:sp>
        <p:nvSpPr>
          <p:cNvPr id="2" name="内容占位符 2" descr="Rectangle: Click to edit Master text styles&#10;Second level&#10;Third level&#10;Fourth level&#10;Fifth level">
            <a:extLst>
              <a:ext uri="{FF2B5EF4-FFF2-40B4-BE49-F238E27FC236}">
                <a16:creationId xmlns:a16="http://schemas.microsoft.com/office/drawing/2014/main" id="{EBD3B333-62CB-E2A3-A79D-870F4C5BF88E}"/>
              </a:ext>
            </a:extLst>
          </p:cNvPr>
          <p:cNvSpPr txBox="1">
            <a:spLocks/>
          </p:cNvSpPr>
          <p:nvPr/>
        </p:nvSpPr>
        <p:spPr>
          <a:xfrm>
            <a:off x="4710729" y="2276872"/>
            <a:ext cx="4104226" cy="3240360"/>
          </a:xfrm>
          <a:prstGeom prst="rect">
            <a:avLst/>
          </a:prstGeom>
          <a:noFill/>
          <a:ln w="9525">
            <a:noFill/>
          </a:ln>
        </p:spPr>
        <p:txBody>
          <a:bodyPr anchor="t" anchorCtr="0"/>
          <a:lst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3"/>
              </a:buBlip>
              <a:defRPr kumimoji="1" sz="3600">
                <a:solidFill>
                  <a:srgbClr val="4B51A5"/>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3200">
                <a:solidFill>
                  <a:srgbClr val="4B51A5"/>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800">
                <a:solidFill>
                  <a:srgbClr val="4B51A5"/>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400">
                <a:solidFill>
                  <a:srgbClr val="4B51A5"/>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9pPr>
          </a:lstStyle>
          <a:p>
            <a:pPr marL="0" lvl="1" indent="0">
              <a:buNone/>
            </a:pPr>
            <a:r>
              <a:rPr lang="en-US" altLang="zh-CN" sz="2400" kern="0" noProof="1">
                <a:cs typeface="+mn-ea"/>
              </a:rPr>
              <a:t>module T_FF(q,clk,reset);</a:t>
            </a:r>
          </a:p>
          <a:p>
            <a:pPr marL="360000" lvl="1" indent="0">
              <a:buNone/>
            </a:pPr>
            <a:r>
              <a:rPr lang="en-US" altLang="zh-CN" sz="2400" kern="0" noProof="1">
                <a:cs typeface="+mn-ea"/>
              </a:rPr>
              <a:t>output q;</a:t>
            </a:r>
          </a:p>
          <a:p>
            <a:pPr marL="360000" lvl="1" indent="0">
              <a:buNone/>
            </a:pPr>
            <a:r>
              <a:rPr lang="en-US" altLang="zh-CN" sz="2400" kern="0" noProof="1">
                <a:cs typeface="+mn-ea"/>
              </a:rPr>
              <a:t>input clk, reset;</a:t>
            </a:r>
          </a:p>
          <a:p>
            <a:pPr marL="360000" lvl="1" indent="0">
              <a:buNone/>
            </a:pPr>
            <a:r>
              <a:rPr lang="en-US" altLang="zh-CN" sz="2400" kern="0" noProof="1">
                <a:cs typeface="+mn-ea"/>
              </a:rPr>
              <a:t>wire d;</a:t>
            </a:r>
          </a:p>
          <a:p>
            <a:pPr marL="360000" lvl="1" indent="0">
              <a:buNone/>
            </a:pPr>
            <a:r>
              <a:rPr lang="en-US" altLang="zh-CN" sz="2400" kern="0" noProof="1">
                <a:cs typeface="+mn-ea"/>
              </a:rPr>
              <a:t>D_FF dff0(q, d, clk,reset);</a:t>
            </a:r>
          </a:p>
          <a:p>
            <a:pPr marL="360000" lvl="1" indent="0">
              <a:buNone/>
            </a:pPr>
            <a:r>
              <a:rPr lang="en-US" altLang="zh-CN" sz="2400" kern="0" noProof="1">
                <a:cs typeface="+mn-ea"/>
              </a:rPr>
              <a:t>not n1(d,q);</a:t>
            </a:r>
          </a:p>
          <a:p>
            <a:pPr marL="0" lvl="1" indent="0">
              <a:buNone/>
            </a:pPr>
            <a:r>
              <a:rPr lang="en-US" altLang="zh-CN" sz="2400" kern="0" noProof="1">
                <a:cs typeface="+mn-ea"/>
              </a:rPr>
              <a:t>endmodule</a:t>
            </a:r>
            <a:endParaRPr lang="zh-CN" altLang="en-US" kern="0" noProof="1"/>
          </a:p>
        </p:txBody>
      </p:sp>
      <p:pic>
        <p:nvPicPr>
          <p:cNvPr id="4" name="图片 3">
            <a:extLst>
              <a:ext uri="{FF2B5EF4-FFF2-40B4-BE49-F238E27FC236}">
                <a16:creationId xmlns:a16="http://schemas.microsoft.com/office/drawing/2014/main" id="{01B54E05-D06D-ED60-4DE9-4F2B5A148317}"/>
              </a:ext>
            </a:extLst>
          </p:cNvPr>
          <p:cNvPicPr>
            <a:picLocks noChangeAspect="1"/>
          </p:cNvPicPr>
          <p:nvPr/>
        </p:nvPicPr>
        <p:blipFill>
          <a:blip r:embed="rId4"/>
          <a:stretch>
            <a:fillRect/>
          </a:stretch>
        </p:blipFill>
        <p:spPr>
          <a:xfrm>
            <a:off x="489373" y="1988840"/>
            <a:ext cx="4047920" cy="4009122"/>
          </a:xfrm>
          <a:prstGeom prst="rect">
            <a:avLst/>
          </a:prstGeom>
        </p:spPr>
      </p:pic>
    </p:spTree>
    <p:extLst>
      <p:ext uri="{BB962C8B-B14F-4D97-AF65-F5344CB8AC3E}">
        <p14:creationId xmlns:p14="http://schemas.microsoft.com/office/powerpoint/2010/main" val="1806064773"/>
      </p:ext>
    </p:extLst>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96A47-37C7-06A2-F530-DED80E1752B5}"/>
            </a:ext>
          </a:extLst>
        </p:cNvPr>
        <p:cNvGrpSpPr/>
        <p:nvPr/>
      </p:nvGrpSpPr>
      <p:grpSpPr>
        <a:xfrm>
          <a:off x="0" y="0"/>
          <a:ext cx="0" cy="0"/>
          <a:chOff x="0" y="0"/>
          <a:chExt cx="0" cy="0"/>
        </a:xfrm>
      </p:grpSpPr>
      <p:sp>
        <p:nvSpPr>
          <p:cNvPr id="73729" name="Rectangle 2">
            <a:extLst>
              <a:ext uri="{FF2B5EF4-FFF2-40B4-BE49-F238E27FC236}">
                <a16:creationId xmlns:a16="http://schemas.microsoft.com/office/drawing/2014/main" id="{95C286FB-60FD-4F86-520F-27EB5E392038}"/>
              </a:ext>
            </a:extLst>
          </p:cNvPr>
          <p:cNvSpPr>
            <a:spLocks noGrp="1"/>
          </p:cNvSpPr>
          <p:nvPr>
            <p:ph type="title"/>
          </p:nvPr>
        </p:nvSpPr>
        <p:spPr>
          <a:xfrm>
            <a:off x="900113" y="188913"/>
            <a:ext cx="6616700" cy="792162"/>
          </a:xfrm>
        </p:spPr>
        <p:txBody>
          <a:bodyPr anchor="b"/>
          <a:lstStyle/>
          <a:p>
            <a:pPr algn="l"/>
            <a:r>
              <a:rPr lang="en-US" altLang="zh-CN" dirty="0"/>
              <a:t>Verilog</a:t>
            </a:r>
            <a:r>
              <a:rPr lang="zh-CN" altLang="en-US" dirty="0"/>
              <a:t>结构化描述方式示例</a:t>
            </a:r>
          </a:p>
        </p:txBody>
      </p:sp>
      <p:sp>
        <p:nvSpPr>
          <p:cNvPr id="3" name="Rectangle 3" descr="Rectangle: Click to edit Master text styles&#10;Second level&#10;Third level&#10;Fourth level&#10;Fifth level">
            <a:extLst>
              <a:ext uri="{FF2B5EF4-FFF2-40B4-BE49-F238E27FC236}">
                <a16:creationId xmlns:a16="http://schemas.microsoft.com/office/drawing/2014/main" id="{F3D2E1AA-6682-4AE4-FD36-C2062A3552A8}"/>
              </a:ext>
            </a:extLst>
          </p:cNvPr>
          <p:cNvSpPr txBox="1">
            <a:spLocks/>
          </p:cNvSpPr>
          <p:nvPr/>
        </p:nvSpPr>
        <p:spPr>
          <a:xfrm>
            <a:off x="755576" y="1196752"/>
            <a:ext cx="8147050" cy="1032272"/>
          </a:xfrm>
          <a:prstGeom prst="rect">
            <a:avLst/>
          </a:prstGeom>
          <a:noFill/>
          <a:ln w="9525">
            <a:noFill/>
          </a:ln>
        </p:spPr>
        <p:txBody>
          <a:bodyPr anchor="t" anchorCtr="0"/>
          <a:lst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3"/>
              </a:buBlip>
              <a:defRPr kumimoji="1" sz="3600">
                <a:solidFill>
                  <a:srgbClr val="4B51A5"/>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3200">
                <a:solidFill>
                  <a:srgbClr val="4B51A5"/>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800">
                <a:solidFill>
                  <a:srgbClr val="4B51A5"/>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400">
                <a:solidFill>
                  <a:srgbClr val="4B51A5"/>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9pPr>
          </a:lstStyle>
          <a:p>
            <a:r>
              <a:rPr lang="en-US" altLang="zh-CN" sz="3200" kern="0" dirty="0"/>
              <a:t>D</a:t>
            </a:r>
            <a:r>
              <a:rPr lang="zh-CN" altLang="en-US" sz="3200" kern="0" dirty="0"/>
              <a:t>触发器可以通过门级建模再去描述</a:t>
            </a:r>
            <a:endParaRPr lang="zh-CN" altLang="en-US" kern="0" dirty="0"/>
          </a:p>
        </p:txBody>
      </p:sp>
      <p:pic>
        <p:nvPicPr>
          <p:cNvPr id="4" name="图片 3">
            <a:extLst>
              <a:ext uri="{FF2B5EF4-FFF2-40B4-BE49-F238E27FC236}">
                <a16:creationId xmlns:a16="http://schemas.microsoft.com/office/drawing/2014/main" id="{B2E3CFDD-06F4-A5A9-63A6-6E756ACA21DD}"/>
              </a:ext>
            </a:extLst>
          </p:cNvPr>
          <p:cNvPicPr>
            <a:picLocks noChangeAspect="1"/>
          </p:cNvPicPr>
          <p:nvPr/>
        </p:nvPicPr>
        <p:blipFill>
          <a:blip r:embed="rId4"/>
          <a:stretch>
            <a:fillRect/>
          </a:stretch>
        </p:blipFill>
        <p:spPr>
          <a:xfrm>
            <a:off x="989856" y="1844824"/>
            <a:ext cx="7164288" cy="4445402"/>
          </a:xfrm>
          <a:prstGeom prst="rect">
            <a:avLst/>
          </a:prstGeom>
        </p:spPr>
      </p:pic>
    </p:spTree>
    <p:extLst>
      <p:ext uri="{BB962C8B-B14F-4D97-AF65-F5344CB8AC3E}">
        <p14:creationId xmlns:p14="http://schemas.microsoft.com/office/powerpoint/2010/main" val="3669866285"/>
      </p:ext>
    </p:extLst>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p:cNvSpPr>
          <p:nvPr>
            <p:ph type="title"/>
          </p:nvPr>
        </p:nvSpPr>
        <p:spPr>
          <a:xfrm>
            <a:off x="900113" y="188913"/>
            <a:ext cx="6067425" cy="792162"/>
          </a:xfrm>
        </p:spPr>
        <p:txBody>
          <a:bodyPr anchor="b"/>
          <a:lstStyle/>
          <a:p>
            <a:pPr algn="l"/>
            <a:r>
              <a:rPr lang="en-US" altLang="zh-CN" dirty="0"/>
              <a:t>Verilog</a:t>
            </a:r>
            <a:r>
              <a:rPr lang="zh-CN" altLang="en-US" dirty="0"/>
              <a:t>数据流描述方式</a:t>
            </a:r>
          </a:p>
        </p:txBody>
      </p:sp>
      <p:sp>
        <p:nvSpPr>
          <p:cNvPr id="134146" name="Rectangle 3" descr="Rectangle: Click to edit Master text styles&#10;Second level&#10;Third level&#10;Fourth level&#10;Fifth level"/>
          <p:cNvSpPr>
            <a:spLocks noGrp="1"/>
          </p:cNvSpPr>
          <p:nvPr>
            <p:ph idx="1"/>
          </p:nvPr>
        </p:nvSpPr>
        <p:spPr>
          <a:xfrm>
            <a:off x="569913" y="1138238"/>
            <a:ext cx="8174038" cy="2006600"/>
          </a:xfrm>
        </p:spPr>
        <p:txBody>
          <a:bodyPr anchor="t"/>
          <a:lstStyle/>
          <a:p>
            <a:pPr marL="342900" marR="0" indent="-342900" algn="l" defTabSz="914400" rtl="0" eaLnBrk="0" fontAlgn="base" latinLnBrk="0" hangingPunct="0">
              <a:lnSpc>
                <a:spcPct val="90000"/>
              </a:lnSpc>
              <a:spcBef>
                <a:spcPct val="20000"/>
              </a:spcBef>
              <a:spcAft>
                <a:spcPct val="0"/>
              </a:spcAft>
              <a:buClr>
                <a:schemeClr val="hlink"/>
              </a:buClr>
              <a:buSzPct val="110000"/>
              <a:buFont typeface="Wingdings" panose="05000000000000000000" pitchFamily="2" charset="2"/>
              <a:buBlip>
                <a:blip r:embed="rId3"/>
              </a:buBlip>
            </a:pPr>
            <a:r>
              <a:rPr kumimoji="1" lang="zh-CN" altLang="en-US" sz="2400" b="0" i="0" u="none" strike="noStrike" kern="0" cap="none" spc="0" normalizeH="0" baseline="0" noProof="1">
                <a:solidFill>
                  <a:srgbClr val="4B51A5"/>
                </a:solidFill>
                <a:latin typeface="+mn-lt"/>
                <a:ea typeface="微软雅黑" panose="020B0503020204020204" charset="-122"/>
                <a:cs typeface="+mn-cs"/>
              </a:rPr>
              <a:t>根据信号</a:t>
            </a:r>
            <a:r>
              <a:rPr kumimoji="1" lang="en-US" altLang="zh-CN" sz="2400" b="0" i="0" u="none" strike="noStrike" kern="0" cap="none" spc="0" normalizeH="0" baseline="0" noProof="1">
                <a:solidFill>
                  <a:srgbClr val="4B51A5"/>
                </a:solidFill>
                <a:latin typeface="+mn-lt"/>
                <a:ea typeface="微软雅黑" panose="020B0503020204020204" charset="-122"/>
                <a:cs typeface="+mn-cs"/>
              </a:rPr>
              <a:t>(</a:t>
            </a:r>
            <a:r>
              <a:rPr kumimoji="1" lang="zh-CN" altLang="en-US" sz="2400" b="0" i="0" u="none" strike="noStrike" kern="0" cap="none" spc="0" normalizeH="0" baseline="0" noProof="1">
                <a:solidFill>
                  <a:srgbClr val="4B51A5"/>
                </a:solidFill>
                <a:latin typeface="+mn-lt"/>
                <a:ea typeface="微软雅黑" panose="020B0503020204020204" charset="-122"/>
                <a:cs typeface="+mn-cs"/>
              </a:rPr>
              <a:t>变量</a:t>
            </a:r>
            <a:r>
              <a:rPr kumimoji="1" lang="en-US" altLang="zh-CN" sz="2400" b="0" i="0" u="none" strike="noStrike" kern="0" cap="none" spc="0" normalizeH="0" baseline="0" noProof="1">
                <a:solidFill>
                  <a:srgbClr val="4B51A5"/>
                </a:solidFill>
                <a:latin typeface="+mn-lt"/>
                <a:ea typeface="微软雅黑" panose="020B0503020204020204" charset="-122"/>
                <a:cs typeface="+mn-cs"/>
              </a:rPr>
              <a:t>)</a:t>
            </a:r>
            <a:r>
              <a:rPr kumimoji="1" lang="zh-CN" altLang="en-US" sz="2400" b="0" i="0" u="none" strike="noStrike" kern="0" cap="none" spc="0" normalizeH="0" baseline="0" noProof="1">
                <a:solidFill>
                  <a:srgbClr val="4B51A5"/>
                </a:solidFill>
                <a:latin typeface="+mn-lt"/>
                <a:ea typeface="微软雅黑" panose="020B0503020204020204" charset="-122"/>
                <a:cs typeface="+mn-cs"/>
              </a:rPr>
              <a:t>之间的逻辑关系，采用</a:t>
            </a:r>
            <a:r>
              <a:rPr kumimoji="1" lang="zh-CN" altLang="en-US" sz="2400" b="0" i="0" u="none" strike="noStrike" kern="0" cap="none" spc="0" normalizeH="0" baseline="0" noProof="1">
                <a:solidFill>
                  <a:srgbClr val="C00000"/>
                </a:solidFill>
                <a:latin typeface="+mn-lt"/>
                <a:ea typeface="微软雅黑" panose="020B0503020204020204" charset="-122"/>
                <a:cs typeface="+mn-cs"/>
              </a:rPr>
              <a:t>连续赋值语句</a:t>
            </a:r>
            <a:r>
              <a:rPr kumimoji="1" lang="zh-CN" altLang="en-US" sz="2400" b="0" i="0" u="none" strike="noStrike" kern="0" cap="none" spc="0" normalizeH="0" baseline="0" noProof="1">
                <a:solidFill>
                  <a:srgbClr val="4B51A5"/>
                </a:solidFill>
                <a:latin typeface="+mn-lt"/>
                <a:ea typeface="微软雅黑" panose="020B0503020204020204" charset="-122"/>
                <a:cs typeface="+mn-cs"/>
              </a:rPr>
              <a:t>，描述逻辑电路的方式；</a:t>
            </a:r>
            <a:r>
              <a:rPr lang="zh-CN" altLang="en-US" sz="2400" noProof="1">
                <a:ea typeface="微软雅黑" panose="020B0503020204020204" charset="-122"/>
              </a:rPr>
              <a:t>对数据的</a:t>
            </a:r>
            <a:r>
              <a:rPr lang="zh-CN" altLang="en-US" sz="2400" noProof="1">
                <a:solidFill>
                  <a:srgbClr val="C00000"/>
                </a:solidFill>
                <a:ea typeface="微软雅黑" panose="020B0503020204020204" charset="-122"/>
              </a:rPr>
              <a:t>流动</a:t>
            </a:r>
            <a:r>
              <a:rPr lang="zh-CN" altLang="en-US" sz="2400" noProof="1">
                <a:ea typeface="微软雅黑" panose="020B0503020204020204" charset="-122"/>
              </a:rPr>
              <a:t>和</a:t>
            </a:r>
            <a:r>
              <a:rPr lang="zh-CN" altLang="en-US" sz="2400" noProof="1">
                <a:solidFill>
                  <a:srgbClr val="C00000"/>
                </a:solidFill>
                <a:ea typeface="微软雅黑" panose="020B0503020204020204" charset="-122"/>
              </a:rPr>
              <a:t>处理过程</a:t>
            </a:r>
            <a:r>
              <a:rPr lang="zh-CN" altLang="en-US" sz="2400" noProof="1">
                <a:ea typeface="微软雅黑" panose="020B0503020204020204" charset="-122"/>
              </a:rPr>
              <a:t>进行建模</a:t>
            </a:r>
            <a:endParaRPr kumimoji="1" lang="zh-CN" altLang="en-US" sz="2400" b="0" i="0" u="none" strike="noStrike" kern="0" cap="none" spc="0" normalizeH="0" baseline="0" noProof="1">
              <a:solidFill>
                <a:srgbClr val="4B51A5"/>
              </a:solidFill>
              <a:latin typeface="+mn-lt"/>
              <a:ea typeface="微软雅黑" panose="020B0503020204020204" charset="-122"/>
              <a:cs typeface="+mn-cs"/>
            </a:endParaRPr>
          </a:p>
          <a:p>
            <a:pPr marL="0" marR="0" lvl="1" indent="-285750" algn="l" defTabSz="914400" rtl="0" eaLnBrk="0" fontAlgn="base" latinLnBrk="0" hangingPunct="0">
              <a:lnSpc>
                <a:spcPct val="90000"/>
              </a:lnSpc>
              <a:spcBef>
                <a:spcPct val="20000"/>
              </a:spcBef>
              <a:spcAft>
                <a:spcPct val="0"/>
              </a:spcAft>
              <a:buClr>
                <a:schemeClr val="tx1"/>
              </a:buClr>
              <a:buSzPct val="60000"/>
              <a:buFont typeface="Wingdings" panose="05000000000000000000" pitchFamily="2" charset="2"/>
              <a:buChar char="n"/>
            </a:pPr>
            <a:r>
              <a:rPr kumimoji="1" lang="zh-CN" altLang="en-US" sz="2400" b="0" i="0" u="none" strike="noStrike" kern="0" cap="none" spc="0" normalizeH="0" baseline="0" noProof="1">
                <a:solidFill>
                  <a:srgbClr val="4B51A5"/>
                </a:solidFill>
                <a:latin typeface="+mn-lt"/>
                <a:ea typeface="微软雅黑" panose="020B0503020204020204" charset="-122"/>
                <a:cs typeface="+mn-ea"/>
              </a:rPr>
              <a:t>连续赋值语句语法格式：</a:t>
            </a:r>
          </a:p>
          <a:p>
            <a:pPr marL="0" marR="0" indent="-342900" algn="l" defTabSz="914400" rtl="0" eaLnBrk="0" fontAlgn="base" latinLnBrk="0" hangingPunct="0">
              <a:lnSpc>
                <a:spcPct val="90000"/>
              </a:lnSpc>
              <a:spcBef>
                <a:spcPct val="20000"/>
              </a:spcBef>
              <a:spcAft>
                <a:spcPct val="0"/>
              </a:spcAft>
              <a:buClr>
                <a:schemeClr val="hlink"/>
              </a:buClr>
              <a:buSzPct val="110000"/>
              <a:buFont typeface="Wingdings" panose="05000000000000000000" pitchFamily="2" charset="2"/>
              <a:buNone/>
            </a:pPr>
            <a:r>
              <a:rPr kumimoji="1" lang="en-US" altLang="zh-CN" sz="2000" b="0" i="0" u="none" strike="noStrike" kern="0" cap="none" spc="0" normalizeH="0" baseline="0" noProof="1">
                <a:solidFill>
                  <a:srgbClr val="4B51A5"/>
                </a:solidFill>
                <a:latin typeface="+mn-lt"/>
                <a:ea typeface="微软雅黑" panose="020B0503020204020204" charset="-122"/>
                <a:cs typeface="+mn-cs"/>
              </a:rPr>
              <a:t>	</a:t>
            </a:r>
            <a:r>
              <a:rPr kumimoji="1" lang="en-US" altLang="zh-CN" sz="2000" b="0" i="0" u="none" strike="noStrike" kern="0" cap="none" spc="0" normalizeH="0" baseline="0" noProof="1">
                <a:solidFill>
                  <a:srgbClr val="C00000"/>
                </a:solidFill>
                <a:latin typeface="+mn-lt"/>
                <a:ea typeface="微软雅黑" panose="020B0503020204020204" charset="-122"/>
                <a:cs typeface="+mn-cs"/>
              </a:rPr>
              <a:t>assign</a:t>
            </a:r>
            <a:r>
              <a:rPr kumimoji="1" lang="en-US" altLang="zh-CN" sz="2000" b="0" i="0" u="none" strike="noStrike" kern="0" cap="none" spc="0" normalizeH="0" baseline="0" noProof="1">
                <a:solidFill>
                  <a:srgbClr val="4B51A5"/>
                </a:solidFill>
                <a:latin typeface="+mn-lt"/>
                <a:ea typeface="微软雅黑" panose="020B0503020204020204" charset="-122"/>
                <a:cs typeface="+mn-cs"/>
              </a:rPr>
              <a:t> [delay]  LHS_net=RHS_expression;</a:t>
            </a:r>
          </a:p>
          <a:p>
            <a:pPr marL="0" marR="0" indent="-342900" algn="l" defTabSz="914400" rtl="0" eaLnBrk="0" fontAlgn="base" latinLnBrk="0" hangingPunct="0">
              <a:lnSpc>
                <a:spcPct val="90000"/>
              </a:lnSpc>
              <a:spcBef>
                <a:spcPct val="20000"/>
              </a:spcBef>
              <a:spcAft>
                <a:spcPct val="0"/>
              </a:spcAft>
              <a:buClr>
                <a:schemeClr val="hlink"/>
              </a:buClr>
              <a:buSzPct val="110000"/>
              <a:buFont typeface="Wingdings" panose="05000000000000000000" pitchFamily="2" charset="2"/>
              <a:buNone/>
            </a:pPr>
            <a:r>
              <a:rPr kumimoji="1" lang="en-US" altLang="zh-CN" sz="2000" b="0" i="0" u="none" strike="noStrike" kern="0" cap="none" spc="0" normalizeH="0" baseline="0" noProof="1">
                <a:solidFill>
                  <a:srgbClr val="4B51A5"/>
                </a:solidFill>
                <a:latin typeface="+mn-lt"/>
                <a:ea typeface="微软雅黑" panose="020B0503020204020204" charset="-122"/>
                <a:cs typeface="+mn-cs"/>
              </a:rPr>
              <a:t>	</a:t>
            </a:r>
            <a:r>
              <a:rPr kumimoji="1" lang="en-US" altLang="zh-CN" sz="2000" b="0" i="0" u="none" strike="noStrike" kern="0" cap="none" spc="0" normalizeH="0" baseline="0" noProof="1">
                <a:solidFill>
                  <a:srgbClr val="C00000"/>
                </a:solidFill>
                <a:latin typeface="+mn-lt"/>
                <a:ea typeface="微软雅黑" panose="020B0503020204020204" charset="-122"/>
                <a:cs typeface="+mn-cs"/>
              </a:rPr>
              <a:t>assign</a:t>
            </a:r>
            <a:r>
              <a:rPr kumimoji="1" lang="en-US" altLang="zh-CN" sz="2000" b="0" i="0" u="none" strike="noStrike" kern="0" cap="none" spc="0" normalizeH="0" baseline="0" noProof="1">
                <a:solidFill>
                  <a:srgbClr val="4B51A5"/>
                </a:solidFill>
                <a:latin typeface="+mn-lt"/>
                <a:ea typeface="微软雅黑" panose="020B0503020204020204" charset="-122"/>
                <a:cs typeface="+mn-cs"/>
              </a:rPr>
              <a:t> </a:t>
            </a:r>
            <a:r>
              <a:rPr kumimoji="1" lang="zh-CN" altLang="en-US" sz="2000" b="0" i="0" u="none" strike="noStrike" kern="0" cap="none" spc="0" normalizeH="0" baseline="0" noProof="1">
                <a:solidFill>
                  <a:srgbClr val="C00000"/>
                </a:solidFill>
                <a:latin typeface="+mn-lt"/>
                <a:ea typeface="微软雅黑" panose="020B0503020204020204" charset="-122"/>
                <a:cs typeface="+mn-cs"/>
              </a:rPr>
              <a:t>线网</a:t>
            </a:r>
            <a:r>
              <a:rPr kumimoji="1" lang="zh-CN" altLang="en-US" sz="2000" b="0" i="0" u="none" strike="noStrike" kern="0" cap="none" spc="0" normalizeH="0" baseline="0" noProof="1">
                <a:solidFill>
                  <a:srgbClr val="4B51A5"/>
                </a:solidFill>
                <a:latin typeface="+mn-lt"/>
                <a:ea typeface="微软雅黑" panose="020B0503020204020204" charset="-122"/>
                <a:cs typeface="+mn-cs"/>
              </a:rPr>
              <a:t>信号名</a:t>
            </a:r>
            <a:r>
              <a:rPr kumimoji="1" lang="en-US" altLang="zh-CN" sz="2000" b="0" i="0" u="none" strike="noStrike" kern="0" cap="none" spc="0" normalizeH="0" baseline="0" noProof="1">
                <a:solidFill>
                  <a:srgbClr val="4B51A5"/>
                </a:solidFill>
                <a:latin typeface="+mn-lt"/>
                <a:ea typeface="微软雅黑" panose="020B0503020204020204" charset="-122"/>
                <a:cs typeface="+mn-cs"/>
              </a:rPr>
              <a:t>(</a:t>
            </a:r>
            <a:r>
              <a:rPr kumimoji="1" lang="en-US" altLang="zh-CN" sz="2000" b="0" i="0" u="none" strike="noStrike" kern="0" cap="none" spc="0" normalizeH="0" baseline="0" noProof="1">
                <a:solidFill>
                  <a:srgbClr val="C00000"/>
                </a:solidFill>
                <a:latin typeface="+mn-lt"/>
                <a:ea typeface="微软雅黑" panose="020B0503020204020204" charset="-122"/>
                <a:cs typeface="+mn-cs"/>
              </a:rPr>
              <a:t>wire</a:t>
            </a:r>
            <a:r>
              <a:rPr kumimoji="1" lang="zh-CN" altLang="en-US" sz="2000" b="0" i="0" u="none" strike="noStrike" kern="0" cap="none" spc="0" normalizeH="0" baseline="0" noProof="1">
                <a:solidFill>
                  <a:srgbClr val="C00000"/>
                </a:solidFill>
                <a:latin typeface="+mn-lt"/>
                <a:ea typeface="微软雅黑" panose="020B0503020204020204" charset="-122"/>
                <a:cs typeface="+mn-cs"/>
              </a:rPr>
              <a:t>类型</a:t>
            </a:r>
            <a:r>
              <a:rPr kumimoji="1" lang="en-US" altLang="zh-CN" sz="2000" b="0" i="0" u="none" strike="noStrike" kern="0" cap="none" spc="0" normalizeH="0" baseline="0" noProof="1">
                <a:solidFill>
                  <a:srgbClr val="4B51A5"/>
                </a:solidFill>
                <a:latin typeface="+mn-lt"/>
                <a:ea typeface="微软雅黑" panose="020B0503020204020204" charset="-122"/>
                <a:cs typeface="+mn-cs"/>
              </a:rPr>
              <a:t>)=</a:t>
            </a:r>
            <a:r>
              <a:rPr kumimoji="1" lang="zh-CN" altLang="en-US" sz="2000" b="0" i="0" u="none" strike="noStrike" kern="0" cap="none" spc="0" normalizeH="0" baseline="0" noProof="1">
                <a:solidFill>
                  <a:srgbClr val="4B51A5"/>
                </a:solidFill>
                <a:latin typeface="+mn-lt"/>
                <a:ea typeface="微软雅黑" panose="020B0503020204020204" charset="-122"/>
                <a:cs typeface="+mn-cs"/>
              </a:rPr>
              <a:t>运算表达式</a:t>
            </a:r>
            <a:r>
              <a:rPr kumimoji="1" lang="en-US" altLang="zh-CN" sz="2000" b="0" i="0" u="none" strike="noStrike" kern="0" cap="none" spc="0" normalizeH="0" baseline="0" noProof="1">
                <a:solidFill>
                  <a:srgbClr val="4B51A5"/>
                </a:solidFill>
                <a:latin typeface="+mn-lt"/>
                <a:ea typeface="微软雅黑" panose="020B0503020204020204" charset="-122"/>
                <a:cs typeface="+mn-cs"/>
              </a:rPr>
              <a:t>(</a:t>
            </a:r>
            <a:r>
              <a:rPr kumimoji="1" lang="zh-CN" altLang="en-US" sz="2000" b="0" i="0" u="none" strike="noStrike" kern="0" cap="none" spc="0" normalizeH="0" baseline="0" noProof="1">
                <a:solidFill>
                  <a:srgbClr val="4B51A5"/>
                </a:solidFill>
                <a:latin typeface="+mn-lt"/>
                <a:ea typeface="微软雅黑" panose="020B0503020204020204" charset="-122"/>
                <a:cs typeface="+mn-cs"/>
              </a:rPr>
              <a:t>操作数</a:t>
            </a:r>
            <a:r>
              <a:rPr kumimoji="1" lang="en-US" altLang="zh-CN" sz="2000" b="0" i="0" u="none" strike="noStrike" kern="0" cap="none" spc="0" normalizeH="0" baseline="0" noProof="1">
                <a:solidFill>
                  <a:srgbClr val="4B51A5"/>
                </a:solidFill>
                <a:latin typeface="+mn-lt"/>
                <a:ea typeface="微软雅黑" panose="020B0503020204020204" charset="-122"/>
                <a:cs typeface="+mn-cs"/>
              </a:rPr>
              <a:t>+</a:t>
            </a:r>
            <a:r>
              <a:rPr kumimoji="1" lang="zh-CN" altLang="en-US" sz="2000" b="0" i="0" u="none" strike="noStrike" kern="0" cap="none" spc="0" normalizeH="0" baseline="0" noProof="1">
                <a:solidFill>
                  <a:srgbClr val="4B51A5"/>
                </a:solidFill>
                <a:latin typeface="+mn-lt"/>
                <a:ea typeface="微软雅黑" panose="020B0503020204020204" charset="-122"/>
                <a:cs typeface="+mn-cs"/>
              </a:rPr>
              <a:t>操作符</a:t>
            </a:r>
            <a:r>
              <a:rPr kumimoji="1" lang="en-US" altLang="zh-CN" sz="2000" b="0" i="0" u="none" strike="noStrike" kern="0" cap="none" spc="0" normalizeH="0" baseline="0" noProof="1">
                <a:solidFill>
                  <a:srgbClr val="4B51A5"/>
                </a:solidFill>
                <a:latin typeface="+mn-lt"/>
                <a:ea typeface="微软雅黑" panose="020B0503020204020204" charset="-122"/>
                <a:cs typeface="+mn-cs"/>
              </a:rPr>
              <a:t>)</a:t>
            </a:r>
            <a:r>
              <a:rPr kumimoji="1" lang="zh-CN" altLang="en-US" sz="2000" b="0" i="0" u="none" strike="noStrike" kern="0" cap="none" spc="0" normalizeH="0" baseline="0" noProof="1">
                <a:solidFill>
                  <a:srgbClr val="4B51A5"/>
                </a:solidFill>
                <a:latin typeface="+mn-lt"/>
                <a:ea typeface="微软雅黑" panose="020B0503020204020204" charset="-122"/>
                <a:cs typeface="+mn-cs"/>
              </a:rPr>
              <a:t>；</a:t>
            </a:r>
            <a:r>
              <a:rPr kumimoji="1" lang="en-US" altLang="zh-CN" sz="2000" b="0" i="0" u="none" strike="noStrike" kern="0" cap="none" spc="0" normalizeH="0" baseline="0" noProof="1">
                <a:solidFill>
                  <a:srgbClr val="4B51A5"/>
                </a:solidFill>
                <a:latin typeface="+mn-lt"/>
                <a:ea typeface="微软雅黑" panose="020B0503020204020204" charset="-122"/>
                <a:cs typeface="+mn-cs"/>
              </a:rPr>
              <a:t> </a:t>
            </a:r>
            <a:r>
              <a:rPr kumimoji="1" lang="en-US" altLang="zh-CN" sz="2400" b="0" i="0" u="none" strike="noStrike" kern="0" cap="none" spc="0" normalizeH="0" baseline="0" noProof="1">
                <a:solidFill>
                  <a:srgbClr val="4B51A5"/>
                </a:solidFill>
                <a:latin typeface="+mn-lt"/>
                <a:ea typeface="微软雅黑" panose="020B0503020204020204" charset="-122"/>
                <a:cs typeface="+mn-cs"/>
              </a:rPr>
              <a:t>           </a:t>
            </a:r>
          </a:p>
          <a:p>
            <a:pPr marL="457200" marR="0" lvl="1" indent="0" algn="l" defTabSz="914400" rtl="0" eaLnBrk="0" fontAlgn="base" latinLnBrk="0" hangingPunct="0">
              <a:lnSpc>
                <a:spcPct val="100000"/>
              </a:lnSpc>
              <a:spcBef>
                <a:spcPct val="20000"/>
              </a:spcBef>
              <a:spcAft>
                <a:spcPct val="0"/>
              </a:spcAft>
              <a:buClr>
                <a:srgbClr val="C00000"/>
              </a:buClr>
              <a:buSzPct val="60000"/>
              <a:buNone/>
            </a:pPr>
            <a:endParaRPr kumimoji="1" lang="en-US" altLang="zh-CN" sz="1800" b="0" i="0" u="none" strike="noStrike" kern="0" cap="none" spc="0" normalizeH="0" baseline="0" noProof="1">
              <a:solidFill>
                <a:srgbClr val="4B51A5"/>
              </a:solidFill>
              <a:latin typeface="+mn-lt"/>
              <a:ea typeface="微软雅黑" panose="020B0503020204020204" charset="-122"/>
              <a:cs typeface="+mn-ea"/>
            </a:endParaRPr>
          </a:p>
        </p:txBody>
      </p:sp>
      <p:sp>
        <p:nvSpPr>
          <p:cNvPr id="76803" name="文本框 1"/>
          <p:cNvSpPr txBox="1"/>
          <p:nvPr/>
        </p:nvSpPr>
        <p:spPr>
          <a:xfrm>
            <a:off x="4860925" y="3144838"/>
            <a:ext cx="4283075" cy="2336024"/>
          </a:xfrm>
          <a:prstGeom prst="rect">
            <a:avLst/>
          </a:prstGeom>
          <a:noFill/>
          <a:ln w="9525">
            <a:noFill/>
          </a:ln>
        </p:spPr>
        <p:txBody>
          <a:bodyPr wrap="square" anchor="t">
            <a:spAutoFit/>
          </a:bodyPr>
          <a:lstStyle/>
          <a:p>
            <a:pPr>
              <a:lnSpc>
                <a:spcPct val="90000"/>
              </a:lnSpc>
            </a:pPr>
            <a:r>
              <a:rPr lang="zh-CN" altLang="en-US" sz="1800" dirty="0">
                <a:solidFill>
                  <a:srgbClr val="202346"/>
                </a:solidFill>
                <a:latin typeface="Tahoma" panose="020B0604030504040204" pitchFamily="34" charset="0"/>
                <a:ea typeface="微软雅黑" panose="020B0503020204020204" charset="-122"/>
              </a:rPr>
              <a:t>例子：</a:t>
            </a:r>
            <a:endParaRPr lang="en-US" altLang="zh-CN" sz="1800" dirty="0">
              <a:solidFill>
                <a:srgbClr val="202346"/>
              </a:solidFill>
              <a:latin typeface="Tahoma" panose="020B0604030504040204" pitchFamily="34" charset="0"/>
              <a:ea typeface="微软雅黑" panose="020B0503020204020204" charset="-122"/>
            </a:endParaRPr>
          </a:p>
          <a:p>
            <a:pPr>
              <a:lnSpc>
                <a:spcPct val="90000"/>
              </a:lnSpc>
            </a:pPr>
            <a:r>
              <a:rPr lang="en-US" altLang="zh-CN" sz="1800" dirty="0">
                <a:solidFill>
                  <a:srgbClr val="202346"/>
                </a:solidFill>
                <a:latin typeface="Tahoma" panose="020B0604030504040204" pitchFamily="34" charset="0"/>
                <a:ea typeface="微软雅黑" panose="020B0503020204020204" charset="-122"/>
              </a:rPr>
              <a:t>module </a:t>
            </a:r>
            <a:r>
              <a:rPr lang="en-US" altLang="zh-CN" sz="1800" dirty="0" err="1">
                <a:solidFill>
                  <a:srgbClr val="202346"/>
                </a:solidFill>
                <a:latin typeface="Tahoma" panose="020B0604030504040204" pitchFamily="34" charset="0"/>
                <a:ea typeface="微软雅黑" panose="020B0503020204020204" charset="-122"/>
              </a:rPr>
              <a:t>HalfAdder</a:t>
            </a:r>
            <a:r>
              <a:rPr lang="en-US" altLang="zh-CN" sz="1800" dirty="0">
                <a:solidFill>
                  <a:srgbClr val="202346"/>
                </a:solidFill>
                <a:latin typeface="Tahoma" panose="020B0604030504040204" pitchFamily="34" charset="0"/>
                <a:ea typeface="微软雅黑" panose="020B0503020204020204" charset="-122"/>
              </a:rPr>
              <a:t>(A, B, Sum, Carry);</a:t>
            </a:r>
          </a:p>
          <a:p>
            <a:pPr>
              <a:lnSpc>
                <a:spcPct val="90000"/>
              </a:lnSpc>
            </a:pPr>
            <a:r>
              <a:rPr lang="en-US" altLang="zh-CN" sz="1800" dirty="0">
                <a:solidFill>
                  <a:srgbClr val="202346"/>
                </a:solidFill>
                <a:latin typeface="Tahoma" panose="020B0604030504040204" pitchFamily="34" charset="0"/>
                <a:ea typeface="微软雅黑" panose="020B0503020204020204" charset="-122"/>
              </a:rPr>
              <a:t>       input  A, B;</a:t>
            </a:r>
          </a:p>
          <a:p>
            <a:pPr>
              <a:lnSpc>
                <a:spcPct val="90000"/>
              </a:lnSpc>
            </a:pPr>
            <a:r>
              <a:rPr lang="en-US" altLang="zh-CN" sz="1800" dirty="0">
                <a:solidFill>
                  <a:srgbClr val="202346"/>
                </a:solidFill>
                <a:latin typeface="Tahoma" panose="020B0604030504040204" pitchFamily="34" charset="0"/>
                <a:ea typeface="微软雅黑" panose="020B0503020204020204" charset="-122"/>
              </a:rPr>
              <a:t>       output  Sum, Carry;</a:t>
            </a:r>
          </a:p>
          <a:p>
            <a:pPr>
              <a:lnSpc>
                <a:spcPct val="90000"/>
              </a:lnSpc>
            </a:pPr>
            <a:r>
              <a:rPr lang="en-US" altLang="zh-CN" sz="1800" dirty="0">
                <a:solidFill>
                  <a:srgbClr val="202346"/>
                </a:solidFill>
                <a:latin typeface="Tahoma" panose="020B0604030504040204" pitchFamily="34" charset="0"/>
                <a:ea typeface="微软雅黑" panose="020B0503020204020204" charset="-122"/>
              </a:rPr>
              <a:t>       assign  Sum=A^B;(</a:t>
            </a:r>
            <a:r>
              <a:rPr lang="zh-CN" altLang="en-US" sz="1800" dirty="0">
                <a:solidFill>
                  <a:srgbClr val="202346"/>
                </a:solidFill>
                <a:latin typeface="Tahoma" panose="020B0604030504040204" pitchFamily="34" charset="0"/>
                <a:ea typeface="微软雅黑" panose="020B0503020204020204" charset="-122"/>
              </a:rPr>
              <a:t>异或</a:t>
            </a:r>
            <a:r>
              <a:rPr lang="en-US" altLang="zh-CN" sz="1800" dirty="0">
                <a:solidFill>
                  <a:srgbClr val="202346"/>
                </a:solidFill>
                <a:latin typeface="Tahoma" panose="020B0604030504040204" pitchFamily="34" charset="0"/>
                <a:ea typeface="微软雅黑" panose="020B0503020204020204" charset="-122"/>
              </a:rPr>
              <a:t>)</a:t>
            </a:r>
          </a:p>
          <a:p>
            <a:pPr>
              <a:lnSpc>
                <a:spcPct val="90000"/>
              </a:lnSpc>
            </a:pPr>
            <a:r>
              <a:rPr lang="en-US" altLang="zh-CN" sz="1800" dirty="0">
                <a:solidFill>
                  <a:srgbClr val="202346"/>
                </a:solidFill>
                <a:latin typeface="Tahoma" panose="020B0604030504040204" pitchFamily="34" charset="0"/>
                <a:ea typeface="微软雅黑" panose="020B0503020204020204" charset="-122"/>
              </a:rPr>
              <a:t>       assign  Carry=A&amp;B;</a:t>
            </a:r>
          </a:p>
          <a:p>
            <a:pPr>
              <a:lnSpc>
                <a:spcPct val="90000"/>
              </a:lnSpc>
            </a:pPr>
            <a:r>
              <a:rPr lang="en-US" altLang="zh-CN" sz="1800" dirty="0">
                <a:solidFill>
                  <a:srgbClr val="202346"/>
                </a:solidFill>
                <a:latin typeface="Tahoma" panose="020B0604030504040204" pitchFamily="34" charset="0"/>
                <a:ea typeface="微软雅黑" panose="020B0503020204020204" charset="-122"/>
              </a:rPr>
              <a:t>endmodule</a:t>
            </a:r>
          </a:p>
          <a:p>
            <a:pPr>
              <a:lnSpc>
                <a:spcPct val="90000"/>
              </a:lnSpc>
            </a:pPr>
            <a:endParaRPr lang="en-US" altLang="zh-CN" sz="1800" dirty="0">
              <a:solidFill>
                <a:srgbClr val="202346"/>
              </a:solidFill>
              <a:ea typeface="微软雅黑" panose="020B0503020204020204" charset="-122"/>
            </a:endParaRPr>
          </a:p>
          <a:p>
            <a:pPr>
              <a:lnSpc>
                <a:spcPct val="90000"/>
              </a:lnSpc>
            </a:pPr>
            <a:endParaRPr lang="en-US" altLang="zh-CN" sz="1800" dirty="0">
              <a:solidFill>
                <a:srgbClr val="202346"/>
              </a:solidFill>
              <a:latin typeface="Tahoma" panose="020B0604030504040204" pitchFamily="34" charset="0"/>
              <a:ea typeface="微软雅黑" panose="020B0503020204020204" charset="-122"/>
            </a:endParaRPr>
          </a:p>
        </p:txBody>
      </p:sp>
      <p:sp>
        <p:nvSpPr>
          <p:cNvPr id="76804" name="文本框 2"/>
          <p:cNvSpPr txBox="1"/>
          <p:nvPr/>
        </p:nvSpPr>
        <p:spPr>
          <a:xfrm>
            <a:off x="3165475" y="4557713"/>
            <a:ext cx="1831975" cy="582612"/>
          </a:xfrm>
          <a:prstGeom prst="rect">
            <a:avLst/>
          </a:prstGeom>
          <a:noFill/>
          <a:ln w="9525">
            <a:noFill/>
          </a:ln>
        </p:spPr>
        <p:txBody>
          <a:bodyPr wrap="square" anchor="t">
            <a:spAutoFit/>
          </a:bodyPr>
          <a:lstStyle/>
          <a:p>
            <a:r>
              <a:rPr lang="en-US" altLang="zh-CN" sz="1600">
                <a:solidFill>
                  <a:srgbClr val="C00000"/>
                </a:solidFill>
                <a:latin typeface="Tahoma" panose="020B0604030504040204" pitchFamily="34" charset="0"/>
                <a:ea typeface="宋体" panose="02010600030101010101" pitchFamily="2" charset="-122"/>
              </a:rPr>
              <a:t>assign</a:t>
            </a:r>
            <a:r>
              <a:rPr lang="zh-CN" altLang="en-US" sz="1600">
                <a:solidFill>
                  <a:srgbClr val="C00000"/>
                </a:solidFill>
                <a:latin typeface="Tahoma" panose="020B0604030504040204" pitchFamily="34" charset="0"/>
                <a:ea typeface="宋体" panose="02010600030101010101" pitchFamily="2" charset="-122"/>
              </a:rPr>
              <a:t>语句并发执行，与位置无关</a:t>
            </a:r>
          </a:p>
        </p:txBody>
      </p:sp>
      <p:cxnSp>
        <p:nvCxnSpPr>
          <p:cNvPr id="76805" name="直接箭头连接符 3"/>
          <p:cNvCxnSpPr/>
          <p:nvPr/>
        </p:nvCxnSpPr>
        <p:spPr>
          <a:xfrm flipH="1">
            <a:off x="3419475" y="5083175"/>
            <a:ext cx="258763" cy="288925"/>
          </a:xfrm>
          <a:prstGeom prst="straightConnector1">
            <a:avLst/>
          </a:prstGeom>
          <a:ln w="9525" cap="flat" cmpd="sng">
            <a:solidFill>
              <a:schemeClr val="tx1"/>
            </a:solidFill>
            <a:prstDash val="solid"/>
            <a:round/>
            <a:headEnd type="none" w="med" len="med"/>
            <a:tailEnd type="arrow" w="med" len="med"/>
          </a:ln>
        </p:spPr>
      </p:cxnSp>
      <p:sp>
        <p:nvSpPr>
          <p:cNvPr id="2" name="Rectangle 3" descr="Rectangle: Click to edit Master text styles&#10;Second level&#10;Third level&#10;Fourth level&#10;Fifth level">
            <a:extLst>
              <a:ext uri="{FF2B5EF4-FFF2-40B4-BE49-F238E27FC236}">
                <a16:creationId xmlns:a16="http://schemas.microsoft.com/office/drawing/2014/main" id="{A4A8C7C3-9E2E-D14B-24E1-A6E59A5F35D5}"/>
              </a:ext>
            </a:extLst>
          </p:cNvPr>
          <p:cNvSpPr txBox="1">
            <a:spLocks/>
          </p:cNvSpPr>
          <p:nvPr/>
        </p:nvSpPr>
        <p:spPr>
          <a:xfrm>
            <a:off x="582424" y="3112523"/>
            <a:ext cx="4415026" cy="5099050"/>
          </a:xfrm>
          <a:prstGeom prst="rect">
            <a:avLst/>
          </a:prstGeom>
          <a:noFill/>
          <a:ln w="9525">
            <a:noFill/>
          </a:ln>
        </p:spPr>
        <p:txBody>
          <a:bodyPr anchor="t" anchorCtr="0"/>
          <a:lst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3"/>
              </a:buBlip>
              <a:defRPr kumimoji="1" sz="3600">
                <a:solidFill>
                  <a:srgbClr val="4B51A5"/>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3200">
                <a:solidFill>
                  <a:srgbClr val="4B51A5"/>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800">
                <a:solidFill>
                  <a:srgbClr val="4B51A5"/>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400">
                <a:solidFill>
                  <a:srgbClr val="4B51A5"/>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9pPr>
          </a:lstStyle>
          <a:p>
            <a:pPr lvl="1">
              <a:buClr>
                <a:srgbClr val="C00000"/>
              </a:buClr>
            </a:pPr>
            <a:r>
              <a:rPr lang="en-US" altLang="zh-CN" sz="1800" kern="0" noProof="1">
                <a:cs typeface="+mn-ea"/>
                <a:sym typeface="+mn-ea"/>
              </a:rPr>
              <a:t>module </a:t>
            </a:r>
            <a:r>
              <a:rPr lang="zh-CN" altLang="en-US" sz="1800" kern="0" noProof="1">
                <a:cs typeface="+mn-ea"/>
                <a:sym typeface="+mn-ea"/>
              </a:rPr>
              <a:t>模块名（端口列表）；</a:t>
            </a:r>
            <a:endParaRPr lang="en-US" altLang="zh-CN" sz="1800" kern="0" noProof="1">
              <a:cs typeface="+mn-ea"/>
            </a:endParaRPr>
          </a:p>
          <a:p>
            <a:pPr marL="457200" lvl="1" indent="0">
              <a:buClr>
                <a:srgbClr val="C00000"/>
              </a:buClr>
              <a:buFont typeface="Wingdings" panose="05000000000000000000" pitchFamily="2" charset="2"/>
              <a:buNone/>
            </a:pPr>
            <a:r>
              <a:rPr lang="zh-CN" altLang="en-US" sz="1800" kern="0" noProof="1">
                <a:cs typeface="+mn-ea"/>
                <a:sym typeface="+mn-ea"/>
              </a:rPr>
              <a:t>    端口定义：</a:t>
            </a:r>
            <a:endParaRPr lang="zh-CN" altLang="en-US" sz="1800" kern="0" noProof="1">
              <a:cs typeface="+mn-ea"/>
            </a:endParaRPr>
          </a:p>
          <a:p>
            <a:pPr marL="457200" lvl="1" indent="0">
              <a:buClr>
                <a:srgbClr val="C00000"/>
              </a:buClr>
              <a:buFont typeface="Wingdings" panose="05000000000000000000" pitchFamily="2" charset="2"/>
              <a:buNone/>
            </a:pPr>
            <a:r>
              <a:rPr lang="zh-CN" altLang="en-US" sz="1800" kern="0" noProof="1">
                <a:cs typeface="+mn-ea"/>
                <a:sym typeface="+mn-ea"/>
              </a:rPr>
              <a:t>     </a:t>
            </a:r>
            <a:r>
              <a:rPr lang="en-US" altLang="zh-CN" sz="1800" kern="0" noProof="1">
                <a:cs typeface="+mn-ea"/>
                <a:sym typeface="+mn-ea"/>
              </a:rPr>
              <a:t>input</a:t>
            </a:r>
            <a:endParaRPr lang="en-US" altLang="zh-CN" sz="1800" kern="0" noProof="1">
              <a:cs typeface="+mn-ea"/>
            </a:endParaRPr>
          </a:p>
          <a:p>
            <a:pPr marL="457200" lvl="1" indent="0">
              <a:buClr>
                <a:srgbClr val="C00000"/>
              </a:buClr>
              <a:buFont typeface="Wingdings" panose="05000000000000000000" pitchFamily="2" charset="2"/>
              <a:buNone/>
            </a:pPr>
            <a:r>
              <a:rPr lang="zh-CN" altLang="en-US" sz="1800" kern="0" noProof="1">
                <a:cs typeface="+mn-ea"/>
                <a:sym typeface="+mn-ea"/>
              </a:rPr>
              <a:t>     </a:t>
            </a:r>
            <a:r>
              <a:rPr lang="en-US" altLang="zh-CN" sz="1800" kern="0" noProof="1">
                <a:cs typeface="+mn-ea"/>
                <a:sym typeface="+mn-ea"/>
              </a:rPr>
              <a:t>output</a:t>
            </a:r>
            <a:endParaRPr lang="en-US" altLang="zh-CN" sz="1800" kern="0" noProof="1">
              <a:cs typeface="+mn-ea"/>
            </a:endParaRPr>
          </a:p>
          <a:p>
            <a:pPr marL="457200" lvl="1" indent="0">
              <a:buClr>
                <a:srgbClr val="C00000"/>
              </a:buClr>
              <a:buFont typeface="Wingdings" panose="05000000000000000000" pitchFamily="2" charset="2"/>
              <a:buNone/>
            </a:pPr>
            <a:r>
              <a:rPr lang="en-US" altLang="zh-CN" sz="1800" kern="0" noProof="1">
                <a:cs typeface="+mn-ea"/>
                <a:sym typeface="+mn-ea"/>
              </a:rPr>
              <a:t>    </a:t>
            </a:r>
            <a:r>
              <a:rPr lang="zh-CN" altLang="en-US" sz="1800" kern="0" noProof="1">
                <a:cs typeface="+mn-ea"/>
                <a:sym typeface="+mn-ea"/>
              </a:rPr>
              <a:t>数据类型说明：</a:t>
            </a:r>
            <a:endParaRPr lang="zh-CN" altLang="en-US" sz="1800" kern="0" noProof="1">
              <a:cs typeface="+mn-ea"/>
            </a:endParaRPr>
          </a:p>
          <a:p>
            <a:pPr marL="457200" lvl="1" indent="0">
              <a:buClr>
                <a:srgbClr val="C00000"/>
              </a:buClr>
              <a:buFont typeface="Wingdings" panose="05000000000000000000" pitchFamily="2" charset="2"/>
              <a:buNone/>
            </a:pPr>
            <a:r>
              <a:rPr lang="zh-CN" altLang="en-US" sz="1800" kern="0" noProof="1">
                <a:cs typeface="+mn-ea"/>
                <a:sym typeface="+mn-ea"/>
              </a:rPr>
              <a:t>     </a:t>
            </a:r>
            <a:r>
              <a:rPr lang="en-US" altLang="zh-CN" sz="1800" kern="0" noProof="1">
                <a:cs typeface="+mn-ea"/>
                <a:sym typeface="+mn-ea"/>
              </a:rPr>
              <a:t>wire</a:t>
            </a:r>
            <a:endParaRPr lang="en-US" altLang="zh-CN" sz="1800" kern="0" noProof="1">
              <a:cs typeface="+mn-ea"/>
            </a:endParaRPr>
          </a:p>
          <a:p>
            <a:pPr marL="457200" lvl="1" indent="0">
              <a:buClr>
                <a:srgbClr val="C00000"/>
              </a:buClr>
              <a:buFont typeface="Wingdings" panose="05000000000000000000" pitchFamily="2" charset="2"/>
              <a:buNone/>
            </a:pPr>
            <a:r>
              <a:rPr lang="en-US" altLang="zh-CN" sz="1800" kern="0" noProof="1">
                <a:cs typeface="+mn-ea"/>
                <a:sym typeface="+mn-ea"/>
              </a:rPr>
              <a:t>    </a:t>
            </a:r>
            <a:r>
              <a:rPr lang="zh-CN" altLang="en-US" sz="1800" kern="0" noProof="1">
                <a:cs typeface="+mn-ea"/>
                <a:sym typeface="+mn-ea"/>
              </a:rPr>
              <a:t>逻辑功能定义：</a:t>
            </a:r>
            <a:endParaRPr lang="zh-CN" altLang="en-US" sz="1800" kern="0" noProof="1">
              <a:cs typeface="+mn-ea"/>
            </a:endParaRPr>
          </a:p>
          <a:p>
            <a:pPr marL="457200" lvl="1" indent="0">
              <a:buClr>
                <a:srgbClr val="C00000"/>
              </a:buClr>
              <a:buFont typeface="Wingdings" panose="05000000000000000000" pitchFamily="2" charset="2"/>
              <a:buNone/>
            </a:pPr>
            <a:r>
              <a:rPr lang="zh-CN" altLang="en-US" sz="1800" kern="0" noProof="1">
                <a:cs typeface="+mn-ea"/>
                <a:sym typeface="+mn-ea"/>
              </a:rPr>
              <a:t>     </a:t>
            </a:r>
            <a:r>
              <a:rPr lang="en-US" altLang="zh-CN" sz="1800" kern="0" noProof="1">
                <a:cs typeface="+mn-ea"/>
                <a:sym typeface="+mn-ea"/>
              </a:rPr>
              <a:t>assign</a:t>
            </a:r>
            <a:r>
              <a:rPr lang="zh-CN" altLang="en-US" sz="1800" kern="0" noProof="1">
                <a:cs typeface="+mn-ea"/>
                <a:sym typeface="+mn-ea"/>
              </a:rPr>
              <a:t>（逻辑功能表达式</a:t>
            </a:r>
            <a:r>
              <a:rPr lang="en-US" altLang="zh-CN" sz="1800" kern="0" noProof="1">
                <a:cs typeface="+mn-ea"/>
                <a:sym typeface="+mn-ea"/>
              </a:rPr>
              <a:t>1</a:t>
            </a:r>
            <a:r>
              <a:rPr lang="zh-CN" altLang="en-US" sz="1800" kern="0" noProof="1">
                <a:cs typeface="+mn-ea"/>
                <a:sym typeface="+mn-ea"/>
              </a:rPr>
              <a:t>）</a:t>
            </a:r>
            <a:r>
              <a:rPr lang="en-US" altLang="zh-CN" sz="1800" kern="0" noProof="1">
                <a:cs typeface="+mn-ea"/>
                <a:sym typeface="+mn-ea"/>
              </a:rPr>
              <a:t>;</a:t>
            </a:r>
          </a:p>
          <a:p>
            <a:pPr marL="457200" lvl="1" indent="0">
              <a:buClr>
                <a:srgbClr val="C00000"/>
              </a:buClr>
              <a:buFont typeface="Wingdings" panose="05000000000000000000" pitchFamily="2" charset="2"/>
              <a:buNone/>
            </a:pPr>
            <a:r>
              <a:rPr lang="en-US" altLang="zh-CN" sz="1800" kern="0" noProof="1">
                <a:cs typeface="+mn-ea"/>
              </a:rPr>
              <a:t>     ......</a:t>
            </a:r>
          </a:p>
          <a:p>
            <a:pPr marL="457200" lvl="1" indent="0">
              <a:buClr>
                <a:srgbClr val="C00000"/>
              </a:buClr>
              <a:buFont typeface="Wingdings" panose="05000000000000000000" pitchFamily="2" charset="2"/>
              <a:buNone/>
            </a:pPr>
            <a:r>
              <a:rPr lang="en-US" altLang="zh-CN" sz="1800" kern="0" noProof="1">
                <a:cs typeface="+mn-ea"/>
                <a:sym typeface="+mn-ea"/>
              </a:rPr>
              <a:t>     assign</a:t>
            </a:r>
            <a:r>
              <a:rPr lang="zh-CN" altLang="en-US" sz="1800" kern="0" noProof="1">
                <a:cs typeface="+mn-ea"/>
                <a:sym typeface="+mn-ea"/>
              </a:rPr>
              <a:t>（逻辑功能表达式</a:t>
            </a:r>
            <a:r>
              <a:rPr lang="en-US" altLang="zh-CN" sz="1800" kern="0" noProof="1">
                <a:cs typeface="+mn-ea"/>
                <a:sym typeface="+mn-ea"/>
              </a:rPr>
              <a:t>n</a:t>
            </a:r>
            <a:r>
              <a:rPr lang="zh-CN" altLang="en-US" sz="1800" kern="0" noProof="1">
                <a:cs typeface="+mn-ea"/>
                <a:sym typeface="+mn-ea"/>
              </a:rPr>
              <a:t>）；</a:t>
            </a:r>
            <a:endParaRPr lang="en-US" altLang="zh-CN" sz="1800" kern="0" noProof="1">
              <a:cs typeface="+mn-ea"/>
            </a:endParaRPr>
          </a:p>
          <a:p>
            <a:pPr marL="457200" lvl="1" indent="0">
              <a:buClr>
                <a:srgbClr val="C00000"/>
              </a:buClr>
              <a:buFont typeface="Wingdings" panose="05000000000000000000" pitchFamily="2" charset="2"/>
              <a:buNone/>
            </a:pPr>
            <a:r>
              <a:rPr lang="en-US" altLang="zh-CN" sz="1800" kern="0" noProof="1">
                <a:cs typeface="+mn-ea"/>
                <a:sym typeface="+mn-ea"/>
              </a:rPr>
              <a:t>   endmodule</a:t>
            </a:r>
            <a:endParaRPr lang="en-US" altLang="zh-CN" sz="1800" kern="0" noProof="1">
              <a:ea typeface="微软雅黑" panose="020B0503020204020204" charset="-122"/>
              <a:cs typeface="+mn-ea"/>
            </a:endParaRPr>
          </a:p>
        </p:txBody>
      </p: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20C31-5397-B8D1-D0E5-0CDD9AB3AA1B}"/>
            </a:ext>
          </a:extLst>
        </p:cNvPr>
        <p:cNvGrpSpPr/>
        <p:nvPr/>
      </p:nvGrpSpPr>
      <p:grpSpPr>
        <a:xfrm>
          <a:off x="0" y="0"/>
          <a:ext cx="0" cy="0"/>
          <a:chOff x="0" y="0"/>
          <a:chExt cx="0" cy="0"/>
        </a:xfrm>
      </p:grpSpPr>
      <p:sp>
        <p:nvSpPr>
          <p:cNvPr id="3" name="内容占位符 2" descr="Rectangle: Click to edit Master text styles&#10;Second level&#10;Third level&#10;Fourth level&#10;Fifth level">
            <a:extLst>
              <a:ext uri="{FF2B5EF4-FFF2-40B4-BE49-F238E27FC236}">
                <a16:creationId xmlns:a16="http://schemas.microsoft.com/office/drawing/2014/main" id="{A11ECED8-4218-3E7D-9C35-6CA8DBFA5D4A}"/>
              </a:ext>
            </a:extLst>
          </p:cNvPr>
          <p:cNvSpPr txBox="1">
            <a:spLocks/>
          </p:cNvSpPr>
          <p:nvPr/>
        </p:nvSpPr>
        <p:spPr>
          <a:xfrm>
            <a:off x="1115616" y="4899547"/>
            <a:ext cx="6912768" cy="1958453"/>
          </a:xfrm>
          <a:prstGeom prst="rect">
            <a:avLst/>
          </a:prstGeom>
          <a:solidFill>
            <a:schemeClr val="bg1"/>
          </a:solidFill>
          <a:ln w="9525">
            <a:noFill/>
          </a:ln>
        </p:spPr>
        <p:txBody>
          <a:bodyPr anchor="t" anchorCtr="0"/>
          <a:lst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3"/>
              </a:buBlip>
              <a:defRPr kumimoji="1" sz="3600">
                <a:solidFill>
                  <a:srgbClr val="4B51A5"/>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3200">
                <a:solidFill>
                  <a:srgbClr val="4B51A5"/>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800">
                <a:solidFill>
                  <a:srgbClr val="4B51A5"/>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400">
                <a:solidFill>
                  <a:srgbClr val="4B51A5"/>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9pPr>
          </a:lstStyle>
          <a:p>
            <a:pPr marL="457200" lvl="1" indent="0">
              <a:buNone/>
            </a:pPr>
            <a:r>
              <a:rPr lang="en-US" altLang="zh-CN" sz="2000" kern="0" noProof="1">
                <a:cs typeface="+mn-ea"/>
              </a:rPr>
              <a:t>module mux4_to_1(out,i0,i1,i2,i3,s1,s0);</a:t>
            </a:r>
          </a:p>
          <a:p>
            <a:pPr marL="457200" lvl="1" indent="0">
              <a:buNone/>
            </a:pPr>
            <a:r>
              <a:rPr lang="en-US" altLang="zh-CN" sz="2000" kern="0" noProof="1">
                <a:cs typeface="+mn-ea"/>
              </a:rPr>
              <a:t>       output out;</a:t>
            </a:r>
          </a:p>
          <a:p>
            <a:pPr marL="457200" lvl="1" indent="0">
              <a:buNone/>
            </a:pPr>
            <a:r>
              <a:rPr lang="en-US" altLang="zh-CN" sz="2000" kern="0" noProof="1">
                <a:cs typeface="+mn-ea"/>
              </a:rPr>
              <a:t>       input i0,i1,i2,i3,s1,s0;</a:t>
            </a:r>
          </a:p>
          <a:p>
            <a:pPr marL="457200" lvl="1" indent="0">
              <a:buNone/>
            </a:pPr>
            <a:r>
              <a:rPr lang="en-US" altLang="zh-CN" sz="2000" kern="0" noProof="1">
                <a:cs typeface="+mn-ea"/>
              </a:rPr>
              <a:t>       assign out=s1?(s0?i3:i2):(s0?i1:i0);</a:t>
            </a:r>
          </a:p>
          <a:p>
            <a:pPr marL="457200" lvl="1" indent="0">
              <a:buNone/>
            </a:pPr>
            <a:r>
              <a:rPr lang="en-US" altLang="zh-CN" sz="2000" kern="0" noProof="1">
                <a:cs typeface="+mn-ea"/>
              </a:rPr>
              <a:t>endmodule</a:t>
            </a:r>
            <a:endParaRPr lang="zh-CN" altLang="en-US" sz="2800" kern="0" noProof="1"/>
          </a:p>
        </p:txBody>
      </p:sp>
      <p:sp>
        <p:nvSpPr>
          <p:cNvPr id="74753" name="Rectangle 2">
            <a:extLst>
              <a:ext uri="{FF2B5EF4-FFF2-40B4-BE49-F238E27FC236}">
                <a16:creationId xmlns:a16="http://schemas.microsoft.com/office/drawing/2014/main" id="{33D3262F-2953-F313-F78B-9AEB8B4F7CC6}"/>
              </a:ext>
            </a:extLst>
          </p:cNvPr>
          <p:cNvSpPr>
            <a:spLocks noGrp="1"/>
          </p:cNvSpPr>
          <p:nvPr>
            <p:ph type="title"/>
          </p:nvPr>
        </p:nvSpPr>
        <p:spPr>
          <a:xfrm>
            <a:off x="900113" y="188913"/>
            <a:ext cx="6616700" cy="792162"/>
          </a:xfrm>
        </p:spPr>
        <p:txBody>
          <a:bodyPr anchor="b"/>
          <a:lstStyle/>
          <a:p>
            <a:pPr algn="l"/>
            <a:r>
              <a:rPr lang="en-US" altLang="zh-CN" dirty="0"/>
              <a:t>Verilog</a:t>
            </a:r>
            <a:r>
              <a:rPr lang="zh-CN" altLang="en-US" dirty="0"/>
              <a:t>结构化描述方式示例</a:t>
            </a:r>
          </a:p>
        </p:txBody>
      </p:sp>
      <p:sp>
        <p:nvSpPr>
          <p:cNvPr id="133122" name="Rectangle 3" descr="Rectangle: Click to edit Master text styles&#10;Second level&#10;Third level&#10;Fourth level&#10;Fifth level">
            <a:extLst>
              <a:ext uri="{FF2B5EF4-FFF2-40B4-BE49-F238E27FC236}">
                <a16:creationId xmlns:a16="http://schemas.microsoft.com/office/drawing/2014/main" id="{D59BD0CD-935D-5CB4-3B5A-E676F8B0D9D6}"/>
              </a:ext>
            </a:extLst>
          </p:cNvPr>
          <p:cNvSpPr>
            <a:spLocks noGrp="1"/>
          </p:cNvSpPr>
          <p:nvPr>
            <p:ph idx="1"/>
          </p:nvPr>
        </p:nvSpPr>
        <p:spPr>
          <a:xfrm>
            <a:off x="682625" y="1090613"/>
            <a:ext cx="8061325" cy="682203"/>
          </a:xfrm>
        </p:spPr>
        <p:txBody>
          <a:bodyPr anchor="t"/>
          <a:lstStyle/>
          <a:p>
            <a:pPr marL="342900" marR="0" indent="-34290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Blip>
                <a:blip r:embed="rId3"/>
              </a:buBlip>
            </a:pPr>
            <a:r>
              <a:rPr kumimoji="1" lang="zh-CN" altLang="en-US" sz="3200" b="0" i="0" u="none" strike="noStrike" kern="0" cap="none" spc="0" normalizeH="0" baseline="0" noProof="1">
                <a:solidFill>
                  <a:srgbClr val="4B51A5"/>
                </a:solidFill>
                <a:latin typeface="+mn-lt"/>
                <a:ea typeface="+mn-ea"/>
                <a:cs typeface="+mn-cs"/>
              </a:rPr>
              <a:t>用数据流建模描述四选一多路选择器</a:t>
            </a:r>
          </a:p>
          <a:p>
            <a:pPr marL="457200" marR="0" lvl="1" indent="0" algn="l" defTabSz="914400" rtl="0" eaLnBrk="0" fontAlgn="base" latinLnBrk="0" hangingPunct="0">
              <a:lnSpc>
                <a:spcPct val="100000"/>
              </a:lnSpc>
              <a:spcBef>
                <a:spcPct val="20000"/>
              </a:spcBef>
              <a:spcAft>
                <a:spcPct val="0"/>
              </a:spcAft>
              <a:buClr>
                <a:srgbClr val="C00000"/>
              </a:buClr>
              <a:buSzPct val="60000"/>
              <a:buFont typeface="Wingdings" panose="05000000000000000000" pitchFamily="2" charset="2"/>
              <a:buNone/>
            </a:pPr>
            <a:endParaRPr kumimoji="1" lang="zh-CN" altLang="en-US" sz="2000" b="0" i="0" u="none" strike="noStrike" kern="0" cap="none" spc="0" normalizeH="0" baseline="0" noProof="1">
              <a:solidFill>
                <a:srgbClr val="4B51A5"/>
              </a:solidFill>
              <a:latin typeface="+mn-lt"/>
              <a:ea typeface="+mn-ea"/>
              <a:cs typeface="+mn-ea"/>
            </a:endParaRPr>
          </a:p>
        </p:txBody>
      </p:sp>
      <p:sp>
        <p:nvSpPr>
          <p:cNvPr id="4" name="内容占位符 2" descr="Rectangle: Click to edit Master text styles&#10;Second level&#10;Third level&#10;Fourth level&#10;Fifth level">
            <a:extLst>
              <a:ext uri="{FF2B5EF4-FFF2-40B4-BE49-F238E27FC236}">
                <a16:creationId xmlns:a16="http://schemas.microsoft.com/office/drawing/2014/main" id="{3B659CCB-0983-35A2-A30B-4068FF5F4BD8}"/>
              </a:ext>
            </a:extLst>
          </p:cNvPr>
          <p:cNvSpPr txBox="1">
            <a:spLocks/>
          </p:cNvSpPr>
          <p:nvPr/>
        </p:nvSpPr>
        <p:spPr>
          <a:xfrm>
            <a:off x="1115616" y="1733349"/>
            <a:ext cx="6912768" cy="2986806"/>
          </a:xfrm>
          <a:prstGeom prst="rect">
            <a:avLst/>
          </a:prstGeom>
          <a:solidFill>
            <a:schemeClr val="bg1"/>
          </a:solidFill>
          <a:ln w="9525">
            <a:noFill/>
          </a:ln>
        </p:spPr>
        <p:txBody>
          <a:bodyPr anchor="t" anchorCtr="0"/>
          <a:lst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3"/>
              </a:buBlip>
              <a:defRPr kumimoji="1" sz="3600">
                <a:solidFill>
                  <a:srgbClr val="4B51A5"/>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3200">
                <a:solidFill>
                  <a:srgbClr val="4B51A5"/>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800">
                <a:solidFill>
                  <a:srgbClr val="4B51A5"/>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400">
                <a:solidFill>
                  <a:srgbClr val="4B51A5"/>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9pPr>
          </a:lstStyle>
          <a:p>
            <a:pPr marL="457200" lvl="1" indent="0">
              <a:buNone/>
            </a:pPr>
            <a:r>
              <a:rPr lang="en-US" altLang="zh-CN" sz="2000" kern="0" noProof="1">
                <a:cs typeface="+mn-ea"/>
              </a:rPr>
              <a:t>module mux4_to_1(out,i0,i1,i2,i3,s1,s0);</a:t>
            </a:r>
          </a:p>
          <a:p>
            <a:pPr marL="457200" lvl="1" indent="0">
              <a:buNone/>
            </a:pPr>
            <a:r>
              <a:rPr lang="en-US" altLang="zh-CN" sz="2000" kern="0" noProof="1">
                <a:cs typeface="+mn-ea"/>
              </a:rPr>
              <a:t>       output out;</a:t>
            </a:r>
          </a:p>
          <a:p>
            <a:pPr marL="457200" lvl="1" indent="0">
              <a:buNone/>
            </a:pPr>
            <a:r>
              <a:rPr lang="en-US" altLang="zh-CN" sz="2000" kern="0" noProof="1">
                <a:cs typeface="+mn-ea"/>
              </a:rPr>
              <a:t>       input i0,i1,i2,i3,s1,s0;</a:t>
            </a:r>
          </a:p>
          <a:p>
            <a:pPr marL="457200" lvl="1" indent="0">
              <a:buNone/>
            </a:pPr>
            <a:r>
              <a:rPr lang="en-US" altLang="zh-CN" sz="2000" kern="0" noProof="1">
                <a:cs typeface="+mn-ea"/>
              </a:rPr>
              <a:t>       assign out=(~s1 &amp; ~s0 &amp; i0) |</a:t>
            </a:r>
          </a:p>
          <a:p>
            <a:pPr marL="457200" lvl="1" indent="0">
              <a:buNone/>
            </a:pPr>
            <a:r>
              <a:rPr lang="en-US" altLang="zh-CN" sz="2000" kern="0" noProof="1">
                <a:cs typeface="+mn-ea"/>
              </a:rPr>
              <a:t>                        (~s1 &amp; s0 &amp; i1) |</a:t>
            </a:r>
          </a:p>
          <a:p>
            <a:pPr marL="457200" lvl="1" indent="0">
              <a:buNone/>
            </a:pPr>
            <a:r>
              <a:rPr lang="en-US" altLang="zh-CN" sz="2000" kern="0" noProof="1">
                <a:cs typeface="+mn-ea"/>
              </a:rPr>
              <a:t>                        (s1 &amp; ~s0 &amp; i2) |</a:t>
            </a:r>
          </a:p>
          <a:p>
            <a:pPr marL="457200" lvl="1" indent="0">
              <a:buNone/>
            </a:pPr>
            <a:r>
              <a:rPr lang="en-US" altLang="zh-CN" sz="2000" kern="0" noProof="1">
                <a:cs typeface="+mn-ea"/>
              </a:rPr>
              <a:t>                        (s1 &amp; s0 &amp; i3);</a:t>
            </a:r>
          </a:p>
          <a:p>
            <a:pPr marL="457200" lvl="1" indent="0">
              <a:buNone/>
            </a:pPr>
            <a:r>
              <a:rPr lang="en-US" altLang="zh-CN" sz="2000" kern="0" noProof="1">
                <a:cs typeface="+mn-ea"/>
              </a:rPr>
              <a:t>endmodule</a:t>
            </a:r>
            <a:endParaRPr lang="zh-CN" altLang="en-US" sz="2800" kern="0" noProof="1"/>
          </a:p>
        </p:txBody>
      </p:sp>
    </p:spTree>
    <p:extLst>
      <p:ext uri="{BB962C8B-B14F-4D97-AF65-F5344CB8AC3E}">
        <p14:creationId xmlns:p14="http://schemas.microsoft.com/office/powerpoint/2010/main" val="3178138239"/>
      </p:ext>
    </p:extLst>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内容占位符 2" descr="Rectangle: Click to edit Master text styles&#10;Second level&#10;Third level&#10;Fourth level&#10;Fifth level"/>
          <p:cNvSpPr>
            <a:spLocks noGrp="1"/>
          </p:cNvSpPr>
          <p:nvPr>
            <p:ph idx="1"/>
          </p:nvPr>
        </p:nvSpPr>
        <p:spPr>
          <a:xfrm>
            <a:off x="638175" y="1171575"/>
            <a:ext cx="8477250" cy="4768850"/>
          </a:xfrm>
        </p:spPr>
        <p:txBody>
          <a:bodyPr anchor="t"/>
          <a:lstStyle/>
          <a:p>
            <a:r>
              <a:rPr lang="zh-CN" altLang="en-US" sz="3200"/>
              <a:t>结构描述侧重表示一个电路由哪些基本元件组成，以及这些基本元件的相互连接关系；</a:t>
            </a:r>
          </a:p>
          <a:p>
            <a:r>
              <a:rPr lang="zh-CN" altLang="en-US" sz="3200"/>
              <a:t>数据流描述侧重于逻辑表达式以及</a:t>
            </a:r>
            <a:r>
              <a:rPr lang="en-US" altLang="zh-CN" sz="3200"/>
              <a:t>verilog</a:t>
            </a:r>
            <a:r>
              <a:rPr lang="zh-CN" altLang="en-US" sz="3200"/>
              <a:t>中运算符的灵活运用；</a:t>
            </a:r>
          </a:p>
          <a:p>
            <a:r>
              <a:rPr lang="zh-CN" altLang="en-US" sz="3200"/>
              <a:t>行为描述关注逻辑电路的输入、输出的因果关系</a:t>
            </a:r>
            <a:r>
              <a:rPr lang="en-US" altLang="zh-CN" sz="3200"/>
              <a:t>(</a:t>
            </a:r>
            <a:r>
              <a:rPr lang="zh-CN" altLang="en-US" sz="3200"/>
              <a:t>行为特性</a:t>
            </a:r>
            <a:r>
              <a:rPr lang="en-US" altLang="zh-CN" sz="3200"/>
              <a:t>)</a:t>
            </a:r>
            <a:r>
              <a:rPr lang="zh-CN" altLang="en-US" sz="3200"/>
              <a:t>，即在何种输入条件下，产生何种输出</a:t>
            </a:r>
            <a:r>
              <a:rPr lang="en-US" altLang="zh-CN" sz="3200"/>
              <a:t>(</a:t>
            </a:r>
            <a:r>
              <a:rPr lang="zh-CN" altLang="en-US" sz="3200"/>
              <a:t>操作</a:t>
            </a:r>
            <a:r>
              <a:rPr lang="en-US" altLang="zh-CN" sz="3200"/>
              <a:t>)</a:t>
            </a:r>
            <a:r>
              <a:rPr lang="zh-CN" altLang="en-US" sz="3200"/>
              <a:t>，并不关心电路的内部结构，</a:t>
            </a:r>
            <a:r>
              <a:rPr lang="en-US" altLang="zh-CN" sz="3200"/>
              <a:t>EDA</a:t>
            </a:r>
            <a:r>
              <a:rPr lang="zh-CN" altLang="en-US" sz="3200"/>
              <a:t>综合工具能自动将行为描述转换成电路结构，形成网表文件。</a:t>
            </a:r>
          </a:p>
        </p:txBody>
      </p:sp>
      <p:sp>
        <p:nvSpPr>
          <p:cNvPr id="91138" name="Rectangle 2"/>
          <p:cNvSpPr>
            <a:spLocks noGrp="1"/>
          </p:cNvSpPr>
          <p:nvPr/>
        </p:nvSpPr>
        <p:spPr>
          <a:xfrm>
            <a:off x="900113" y="188913"/>
            <a:ext cx="7573962" cy="792162"/>
          </a:xfrm>
          <a:prstGeom prst="rect">
            <a:avLst/>
          </a:prstGeom>
          <a:noFill/>
          <a:ln w="9525">
            <a:noFill/>
          </a:ln>
        </p:spPr>
        <p:txBody>
          <a:bodyPr anchor="b"/>
          <a:lstStyle/>
          <a:p>
            <a:pPr eaLnBrk="0" hangingPunct="0"/>
            <a:r>
              <a:rPr lang="en-US" altLang="zh-CN" sz="4000" b="1" dirty="0">
                <a:solidFill>
                  <a:schemeClr val="tx2"/>
                </a:solidFill>
                <a:latin typeface="Tahoma" panose="020B0604030504040204" pitchFamily="34" charset="0"/>
                <a:ea typeface="楷体_GB2312" pitchFamily="49" charset="-122"/>
              </a:rPr>
              <a:t>Verilog</a:t>
            </a:r>
            <a:r>
              <a:rPr lang="zh-CN" altLang="en-US" sz="4000" b="1" dirty="0">
                <a:solidFill>
                  <a:schemeClr val="tx2"/>
                </a:solidFill>
                <a:latin typeface="Tahoma" panose="020B0604030504040204" pitchFamily="34" charset="0"/>
                <a:ea typeface="楷体_GB2312" pitchFamily="49" charset="-122"/>
              </a:rPr>
              <a:t>行为描述方式</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p:cNvSpPr>
            <a:spLocks noGrp="1"/>
          </p:cNvSpPr>
          <p:nvPr>
            <p:ph type="title"/>
          </p:nvPr>
        </p:nvSpPr>
        <p:spPr>
          <a:xfrm>
            <a:off x="900113" y="188913"/>
            <a:ext cx="6161087" cy="792162"/>
          </a:xfrm>
        </p:spPr>
        <p:txBody>
          <a:bodyPr anchor="b"/>
          <a:lstStyle/>
          <a:p>
            <a:pPr algn="l"/>
            <a:r>
              <a:rPr lang="en-US" altLang="zh-CN" dirty="0"/>
              <a:t>Verilog</a:t>
            </a:r>
            <a:r>
              <a:rPr lang="zh-CN" altLang="en-US" dirty="0"/>
              <a:t>行为描述方式</a:t>
            </a:r>
          </a:p>
        </p:txBody>
      </p:sp>
      <p:sp>
        <p:nvSpPr>
          <p:cNvPr id="120834" name="Rectangle 3" descr="Rectangle: Click to edit Master text styles&#10;Second level&#10;Third level&#10;Fourth level&#10;Fifth level"/>
          <p:cNvSpPr>
            <a:spLocks noGrp="1"/>
          </p:cNvSpPr>
          <p:nvPr>
            <p:ph idx="1"/>
          </p:nvPr>
        </p:nvSpPr>
        <p:spPr>
          <a:xfrm>
            <a:off x="711200" y="1177925"/>
            <a:ext cx="7821613" cy="5041900"/>
          </a:xfrm>
        </p:spPr>
        <p:txBody>
          <a:bodyPr anchor="t"/>
          <a:lstStyle/>
          <a:p>
            <a:pPr marL="342900" marR="0" indent="-342900" algn="l" defTabSz="914400" rtl="0" eaLnBrk="0" fontAlgn="base" latinLnBrk="0" hangingPunct="0">
              <a:lnSpc>
                <a:spcPct val="90000"/>
              </a:lnSpc>
              <a:spcBef>
                <a:spcPct val="20000"/>
              </a:spcBef>
              <a:spcAft>
                <a:spcPct val="0"/>
              </a:spcAft>
              <a:buClr>
                <a:schemeClr val="hlink"/>
              </a:buClr>
              <a:buSzPct val="110000"/>
              <a:buFont typeface="Wingdings" panose="05000000000000000000" pitchFamily="2" charset="2"/>
              <a:buBlip>
                <a:blip r:embed="rId3"/>
              </a:buBlip>
            </a:pPr>
            <a:r>
              <a:rPr kumimoji="1" lang="zh-CN" altLang="en-US" sz="2800" b="0" i="0" u="none" strike="noStrike" kern="0" cap="none" spc="0" normalizeH="0" baseline="0" noProof="1">
                <a:solidFill>
                  <a:srgbClr val="4B51A5"/>
                </a:solidFill>
                <a:latin typeface="+mn-lt"/>
                <a:ea typeface="微软雅黑" panose="020B0503020204020204" charset="-122"/>
                <a:cs typeface="+mn-cs"/>
              </a:rPr>
              <a:t>行为级建模</a:t>
            </a:r>
            <a:r>
              <a:rPr lang="zh-CN" altLang="en-US" sz="2800" noProof="1">
                <a:ea typeface="微软雅黑" panose="020B0503020204020204" charset="-122"/>
              </a:rPr>
              <a:t>的基础</a:t>
            </a:r>
            <a:r>
              <a:rPr lang="en-US" altLang="zh-CN" sz="2800" noProof="1">
                <a:ea typeface="微软雅黑" panose="020B0503020204020204" charset="-122"/>
              </a:rPr>
              <a:t>——</a:t>
            </a:r>
            <a:r>
              <a:rPr kumimoji="1" lang="zh-CN" altLang="en-US" sz="2800" b="0" i="0" u="none" strike="noStrike" kern="0" cap="none" spc="0" normalizeH="0" baseline="0" noProof="1">
                <a:solidFill>
                  <a:srgbClr val="4B51A5"/>
                </a:solidFill>
                <a:latin typeface="+mn-lt"/>
                <a:ea typeface="微软雅黑" panose="020B0503020204020204" charset="-122"/>
                <a:cs typeface="+mn-cs"/>
              </a:rPr>
              <a:t>两种结构化过程语句：</a:t>
            </a:r>
          </a:p>
          <a:p>
            <a:pPr marL="742950" marR="0" lvl="1" indent="-285750" algn="just" defTabSz="914400" rtl="0" eaLnBrk="0" fontAlgn="base" latinLnBrk="0" hangingPunct="0">
              <a:lnSpc>
                <a:spcPct val="120000"/>
              </a:lnSpc>
              <a:spcBef>
                <a:spcPct val="0"/>
              </a:spcBef>
              <a:spcAft>
                <a:spcPct val="0"/>
              </a:spcAft>
              <a:buClr>
                <a:srgbClr val="C00000"/>
              </a:buClr>
              <a:buSzPct val="60000"/>
              <a:buFont typeface="Wingdings" panose="05000000000000000000" pitchFamily="2" charset="2"/>
              <a:buChar char="n"/>
            </a:pPr>
            <a:r>
              <a:rPr kumimoji="1" lang="en-US" altLang="zh-CN" sz="2200" b="0" i="0" u="none" strike="noStrike" kern="0" cap="none" spc="0" normalizeH="0" baseline="0" noProof="1">
                <a:solidFill>
                  <a:srgbClr val="C00000"/>
                </a:solidFill>
                <a:latin typeface="+mn-lt"/>
                <a:ea typeface="+mn-ea"/>
                <a:cs typeface="+mn-ea"/>
              </a:rPr>
              <a:t>initial</a:t>
            </a:r>
            <a:r>
              <a:rPr kumimoji="1" lang="zh-CN" altLang="en-US" sz="2200" b="0" i="0" u="none" strike="noStrike" kern="0" cap="none" spc="0" normalizeH="0" baseline="0" noProof="1">
                <a:solidFill>
                  <a:schemeClr val="tx1"/>
                </a:solidFill>
                <a:latin typeface="+mn-lt"/>
                <a:ea typeface="+mn-ea"/>
                <a:cs typeface="+mn-ea"/>
              </a:rPr>
              <a:t>语句：只执行一次（只用于</a:t>
            </a:r>
            <a:r>
              <a:rPr kumimoji="1" lang="zh-CN" altLang="en-US" sz="2200" b="0" u="none" strike="noStrike" kern="0" cap="none" spc="0" normalizeH="0" baseline="0" noProof="1">
                <a:solidFill>
                  <a:srgbClr val="C00000"/>
                </a:solidFill>
                <a:latin typeface="+mn-lt"/>
                <a:ea typeface="+mn-ea"/>
                <a:cs typeface="+mn-ea"/>
              </a:rPr>
              <a:t>仿真测试</a:t>
            </a:r>
            <a:r>
              <a:rPr lang="zh-CN" altLang="en-US" sz="2200" noProof="1">
                <a:solidFill>
                  <a:schemeClr val="tx1"/>
                </a:solidFill>
                <a:cs typeface="+mn-ea"/>
              </a:rPr>
              <a:t>，</a:t>
            </a:r>
            <a:r>
              <a:rPr lang="zh-CN" altLang="en-US" sz="2200" noProof="1">
                <a:solidFill>
                  <a:srgbClr val="C00000"/>
                </a:solidFill>
                <a:cs typeface="+mn-ea"/>
              </a:rPr>
              <a:t>不被综合</a:t>
            </a:r>
            <a:r>
              <a:rPr kumimoji="1" lang="zh-CN" altLang="en-US" sz="2200" b="0" i="0" u="none" strike="noStrike" kern="0" cap="none" spc="0" normalizeH="0" baseline="0" noProof="1">
                <a:solidFill>
                  <a:schemeClr val="tx1"/>
                </a:solidFill>
                <a:latin typeface="+mn-lt"/>
                <a:ea typeface="+mn-ea"/>
                <a:cs typeface="+mn-ea"/>
              </a:rPr>
              <a:t>）</a:t>
            </a:r>
          </a:p>
          <a:p>
            <a:pPr marL="457200" marR="0" lvl="1" indent="0" algn="just" defTabSz="914400" rtl="0" eaLnBrk="0" fontAlgn="base" latinLnBrk="0" hangingPunct="0">
              <a:lnSpc>
                <a:spcPct val="120000"/>
              </a:lnSpc>
              <a:spcBef>
                <a:spcPct val="0"/>
              </a:spcBef>
              <a:spcAft>
                <a:spcPct val="0"/>
              </a:spcAft>
              <a:buClr>
                <a:srgbClr val="C00000"/>
              </a:buClr>
              <a:buSzPct val="60000"/>
              <a:buFont typeface="Wingdings" panose="05000000000000000000" pitchFamily="2" charset="2"/>
              <a:buNone/>
            </a:pPr>
            <a:r>
              <a:rPr kumimoji="1" lang="zh-CN" altLang="en-US" sz="2200" b="0" i="0" u="none" strike="noStrike" kern="0" cap="none" spc="0" normalizeH="0" baseline="0" noProof="1">
                <a:solidFill>
                  <a:schemeClr val="tx1"/>
                </a:solidFill>
                <a:latin typeface="+mn-lt"/>
                <a:ea typeface="+mn-ea"/>
                <a:cs typeface="+mn-ea"/>
              </a:rPr>
              <a:t>   </a:t>
            </a:r>
            <a:r>
              <a:rPr kumimoji="1" lang="en-US" altLang="zh-CN" sz="2200" b="0" i="0" u="none" strike="noStrike" kern="0" cap="none" spc="0" normalizeH="0" baseline="0" noProof="1">
                <a:solidFill>
                  <a:srgbClr val="C00000"/>
                </a:solidFill>
                <a:latin typeface="+mn-lt"/>
                <a:ea typeface="+mn-ea"/>
                <a:cs typeface="+mn-ea"/>
              </a:rPr>
              <a:t>initial</a:t>
            </a:r>
          </a:p>
          <a:p>
            <a:pPr marL="457200" marR="0" lvl="1" indent="0" algn="just" defTabSz="914400" rtl="0" eaLnBrk="0" fontAlgn="base" latinLnBrk="0" hangingPunct="0">
              <a:lnSpc>
                <a:spcPct val="120000"/>
              </a:lnSpc>
              <a:spcBef>
                <a:spcPct val="0"/>
              </a:spcBef>
              <a:spcAft>
                <a:spcPct val="0"/>
              </a:spcAft>
              <a:buClr>
                <a:srgbClr val="C00000"/>
              </a:buClr>
              <a:buSzPct val="60000"/>
              <a:buFont typeface="Wingdings" panose="05000000000000000000" pitchFamily="2" charset="2"/>
              <a:buNone/>
            </a:pPr>
            <a:r>
              <a:rPr lang="en-US" altLang="zh-CN" sz="2200" noProof="1">
                <a:solidFill>
                  <a:schemeClr val="tx1"/>
                </a:solidFill>
                <a:cs typeface="+mn-ea"/>
              </a:rPr>
              <a:t>   </a:t>
            </a:r>
            <a:r>
              <a:rPr kumimoji="1" lang="en-US" altLang="zh-CN" sz="2200" b="0" i="0" u="none" strike="noStrike" kern="0" cap="none" spc="0" normalizeH="0" baseline="0" noProof="1">
                <a:solidFill>
                  <a:schemeClr val="tx1"/>
                </a:solidFill>
                <a:latin typeface="+mn-lt"/>
                <a:ea typeface="+mn-ea"/>
                <a:cs typeface="+mn-ea"/>
              </a:rPr>
              <a:t>begin</a:t>
            </a:r>
          </a:p>
          <a:p>
            <a:pPr marL="457200" marR="0" lvl="1" indent="0" algn="just" defTabSz="914400" rtl="0" eaLnBrk="0" fontAlgn="base" latinLnBrk="0" hangingPunct="0">
              <a:lnSpc>
                <a:spcPct val="120000"/>
              </a:lnSpc>
              <a:spcBef>
                <a:spcPct val="0"/>
              </a:spcBef>
              <a:spcAft>
                <a:spcPct val="0"/>
              </a:spcAft>
              <a:buClr>
                <a:srgbClr val="C00000"/>
              </a:buClr>
              <a:buSzPct val="60000"/>
              <a:buFont typeface="Wingdings" panose="05000000000000000000" pitchFamily="2" charset="2"/>
              <a:buNone/>
            </a:pPr>
            <a:r>
              <a:rPr kumimoji="1" lang="en-US" altLang="zh-CN" sz="2200" b="0" i="0" u="none" strike="noStrike" kern="0" cap="none" spc="0" normalizeH="0" baseline="0" noProof="1">
                <a:solidFill>
                  <a:schemeClr val="tx1"/>
                </a:solidFill>
                <a:latin typeface="+mn-lt"/>
                <a:ea typeface="+mn-ea"/>
                <a:cs typeface="+mn-ea"/>
              </a:rPr>
              <a:t>   ......</a:t>
            </a:r>
          </a:p>
          <a:p>
            <a:pPr marL="457200" marR="0" lvl="1" indent="0" algn="just" defTabSz="914400" rtl="0" eaLnBrk="0" fontAlgn="base" latinLnBrk="0" hangingPunct="0">
              <a:lnSpc>
                <a:spcPct val="120000"/>
              </a:lnSpc>
              <a:spcBef>
                <a:spcPct val="0"/>
              </a:spcBef>
              <a:spcAft>
                <a:spcPct val="0"/>
              </a:spcAft>
              <a:buClr>
                <a:srgbClr val="C00000"/>
              </a:buClr>
              <a:buSzPct val="60000"/>
              <a:buFont typeface="Wingdings" panose="05000000000000000000" pitchFamily="2" charset="2"/>
              <a:buNone/>
            </a:pPr>
            <a:r>
              <a:rPr kumimoji="1" lang="zh-CN" altLang="en-US" sz="2200" b="0" i="0" u="none" strike="noStrike" kern="0" cap="none" spc="0" normalizeH="0" baseline="0" noProof="1">
                <a:solidFill>
                  <a:schemeClr val="tx1"/>
                </a:solidFill>
                <a:latin typeface="+mn-lt"/>
                <a:ea typeface="+mn-ea"/>
                <a:cs typeface="+mn-ea"/>
              </a:rPr>
              <a:t>   </a:t>
            </a:r>
            <a:r>
              <a:rPr kumimoji="1" lang="en-US" altLang="zh-CN" sz="2200" b="0" i="0" u="none" strike="noStrike" kern="0" cap="none" spc="0" normalizeH="0" baseline="0" noProof="1">
                <a:solidFill>
                  <a:schemeClr val="tx1"/>
                </a:solidFill>
                <a:latin typeface="+mn-lt"/>
                <a:ea typeface="+mn-ea"/>
                <a:cs typeface="+mn-ea"/>
              </a:rPr>
              <a:t>end</a:t>
            </a:r>
          </a:p>
          <a:p>
            <a:pPr marL="457200" marR="0" lvl="1" indent="0" algn="just" defTabSz="914400" rtl="0" eaLnBrk="0" fontAlgn="base" latinLnBrk="0" hangingPunct="0">
              <a:lnSpc>
                <a:spcPct val="120000"/>
              </a:lnSpc>
              <a:spcBef>
                <a:spcPct val="0"/>
              </a:spcBef>
              <a:spcAft>
                <a:spcPct val="0"/>
              </a:spcAft>
              <a:buClr>
                <a:srgbClr val="C00000"/>
              </a:buClr>
              <a:buSzPct val="60000"/>
              <a:buFont typeface="Wingdings" panose="05000000000000000000" pitchFamily="2" charset="2"/>
              <a:buNone/>
            </a:pPr>
            <a:endParaRPr kumimoji="1" lang="zh-CN" altLang="en-US" sz="2200" b="0" i="0" u="none" strike="noStrike" kern="0" cap="none" spc="0" normalizeH="0" baseline="0" noProof="1">
              <a:solidFill>
                <a:schemeClr val="tx1"/>
              </a:solidFill>
              <a:latin typeface="+mn-lt"/>
              <a:ea typeface="+mn-ea"/>
              <a:cs typeface="+mn-ea"/>
            </a:endParaRPr>
          </a:p>
          <a:p>
            <a:pPr marL="742950" marR="0" lvl="1" indent="-285750" algn="just" defTabSz="914400" rtl="0" eaLnBrk="0" fontAlgn="base" latinLnBrk="0" hangingPunct="0">
              <a:lnSpc>
                <a:spcPct val="120000"/>
              </a:lnSpc>
              <a:spcBef>
                <a:spcPct val="0"/>
              </a:spcBef>
              <a:spcAft>
                <a:spcPct val="0"/>
              </a:spcAft>
              <a:buClr>
                <a:srgbClr val="C00000"/>
              </a:buClr>
              <a:buSzPct val="60000"/>
              <a:buFont typeface="Wingdings" panose="05000000000000000000" pitchFamily="2" charset="2"/>
              <a:buChar char="n"/>
            </a:pPr>
            <a:r>
              <a:rPr kumimoji="1" lang="en-US" altLang="zh-CN" sz="2200" b="0" i="0" u="none" strike="noStrike" kern="0" cap="none" spc="0" normalizeH="0" baseline="0" noProof="1">
                <a:solidFill>
                  <a:srgbClr val="C00000"/>
                </a:solidFill>
                <a:latin typeface="+mn-lt"/>
                <a:ea typeface="+mn-ea"/>
                <a:cs typeface="+mn-ea"/>
              </a:rPr>
              <a:t>always</a:t>
            </a:r>
            <a:r>
              <a:rPr kumimoji="1" lang="zh-CN" altLang="en-US" sz="2200" b="0" i="0" u="none" strike="noStrike" kern="0" cap="none" spc="0" normalizeH="0" baseline="0" noProof="1">
                <a:solidFill>
                  <a:schemeClr val="tx1"/>
                </a:solidFill>
                <a:latin typeface="+mn-lt"/>
                <a:ea typeface="+mn-ea"/>
                <a:cs typeface="+mn-ea"/>
              </a:rPr>
              <a:t>语句：循环重复执行</a:t>
            </a:r>
          </a:p>
          <a:p>
            <a:pPr marL="457200" marR="0" lvl="1" indent="0" algn="just" defTabSz="914400" rtl="0" eaLnBrk="0" fontAlgn="base" latinLnBrk="0" hangingPunct="0">
              <a:lnSpc>
                <a:spcPct val="120000"/>
              </a:lnSpc>
              <a:spcBef>
                <a:spcPct val="0"/>
              </a:spcBef>
              <a:spcAft>
                <a:spcPct val="0"/>
              </a:spcAft>
              <a:buClr>
                <a:srgbClr val="C00000"/>
              </a:buClr>
              <a:buSzPct val="60000"/>
              <a:buFont typeface="Wingdings" panose="05000000000000000000" pitchFamily="2" charset="2"/>
              <a:buNone/>
            </a:pPr>
            <a:r>
              <a:rPr kumimoji="1" lang="en-US" altLang="zh-CN" sz="2200" b="0" i="0" u="none" strike="noStrike" kern="0" cap="none" spc="0" normalizeH="0" baseline="0" noProof="1">
                <a:solidFill>
                  <a:schemeClr val="tx1"/>
                </a:solidFill>
                <a:latin typeface="+mn-lt"/>
                <a:ea typeface="+mn-ea"/>
                <a:cs typeface="+mn-ea"/>
              </a:rPr>
              <a:t>   </a:t>
            </a:r>
            <a:r>
              <a:rPr kumimoji="1" lang="en-US" altLang="zh-CN" sz="2200" b="0" i="0" u="none" strike="noStrike" kern="0" cap="none" spc="0" normalizeH="0" baseline="0" noProof="1">
                <a:solidFill>
                  <a:srgbClr val="C00000"/>
                </a:solidFill>
                <a:latin typeface="+mn-lt"/>
                <a:ea typeface="+mn-ea"/>
                <a:cs typeface="+mn-ea"/>
              </a:rPr>
              <a:t>always</a:t>
            </a:r>
            <a:r>
              <a:rPr kumimoji="1" lang="en-US" altLang="zh-CN" sz="2200" b="0" i="0" u="none" strike="noStrike" kern="0" cap="none" spc="0" normalizeH="0" baseline="0" noProof="1">
                <a:solidFill>
                  <a:schemeClr val="tx1"/>
                </a:solidFill>
                <a:latin typeface="+mn-lt"/>
                <a:ea typeface="+mn-ea"/>
                <a:cs typeface="+mn-ea"/>
              </a:rPr>
              <a:t> @(</a:t>
            </a:r>
            <a:r>
              <a:rPr kumimoji="1" lang="zh-CN" altLang="en-US" sz="2200" b="0" i="0" u="none" strike="noStrike" kern="0" cap="none" spc="0" normalizeH="0" baseline="0" noProof="1">
                <a:solidFill>
                  <a:schemeClr val="tx1"/>
                </a:solidFill>
                <a:latin typeface="+mn-lt"/>
                <a:ea typeface="+mn-ea"/>
                <a:cs typeface="+mn-ea"/>
              </a:rPr>
              <a:t>事件控制列表）</a:t>
            </a:r>
          </a:p>
          <a:p>
            <a:pPr marL="457200" marR="0" lvl="1" indent="0" algn="just" defTabSz="914400" rtl="0" eaLnBrk="0" fontAlgn="base" latinLnBrk="0" hangingPunct="0">
              <a:lnSpc>
                <a:spcPct val="120000"/>
              </a:lnSpc>
              <a:spcBef>
                <a:spcPct val="0"/>
              </a:spcBef>
              <a:spcAft>
                <a:spcPct val="0"/>
              </a:spcAft>
              <a:buClr>
                <a:srgbClr val="C00000"/>
              </a:buClr>
              <a:buSzPct val="60000"/>
              <a:buFont typeface="Wingdings" panose="05000000000000000000" pitchFamily="2" charset="2"/>
              <a:buNone/>
            </a:pPr>
            <a:r>
              <a:rPr kumimoji="1" lang="zh-CN" altLang="en-US" sz="2200" b="0" i="0" u="none" strike="noStrike" kern="0" cap="none" spc="0" normalizeH="0" baseline="0" noProof="1">
                <a:solidFill>
                  <a:schemeClr val="tx1"/>
                </a:solidFill>
                <a:latin typeface="+mn-lt"/>
                <a:ea typeface="+mn-ea"/>
                <a:cs typeface="+mn-ea"/>
              </a:rPr>
              <a:t>   </a:t>
            </a:r>
            <a:r>
              <a:rPr kumimoji="1" lang="en-US" altLang="zh-CN" sz="2200" b="0" i="0" u="none" strike="noStrike" kern="0" cap="none" spc="0" normalizeH="0" baseline="0" noProof="1">
                <a:solidFill>
                  <a:schemeClr val="tx1"/>
                </a:solidFill>
                <a:latin typeface="+mn-lt"/>
                <a:ea typeface="+mn-ea"/>
                <a:cs typeface="+mn-ea"/>
              </a:rPr>
              <a:t>begin</a:t>
            </a:r>
          </a:p>
          <a:p>
            <a:pPr marL="457200" marR="0" lvl="1" indent="0" algn="just" defTabSz="914400" rtl="0" eaLnBrk="0" fontAlgn="base" latinLnBrk="0" hangingPunct="0">
              <a:lnSpc>
                <a:spcPct val="120000"/>
              </a:lnSpc>
              <a:spcBef>
                <a:spcPct val="0"/>
              </a:spcBef>
              <a:spcAft>
                <a:spcPct val="0"/>
              </a:spcAft>
              <a:buClr>
                <a:srgbClr val="C00000"/>
              </a:buClr>
              <a:buSzPct val="60000"/>
              <a:buFont typeface="Wingdings" panose="05000000000000000000" pitchFamily="2" charset="2"/>
              <a:buNone/>
            </a:pPr>
            <a:r>
              <a:rPr kumimoji="1" lang="en-US" altLang="zh-CN" sz="2200" b="0" i="0" u="none" strike="noStrike" kern="0" cap="none" spc="0" normalizeH="0" baseline="0" noProof="1">
                <a:solidFill>
                  <a:schemeClr val="tx1"/>
                </a:solidFill>
                <a:latin typeface="+mn-lt"/>
                <a:ea typeface="+mn-ea"/>
                <a:cs typeface="+mn-ea"/>
              </a:rPr>
              <a:t>   ...... </a:t>
            </a:r>
          </a:p>
          <a:p>
            <a:pPr marL="457200" marR="0" lvl="1" indent="0" algn="just" defTabSz="914400" rtl="0" eaLnBrk="0" fontAlgn="base" latinLnBrk="0" hangingPunct="0">
              <a:lnSpc>
                <a:spcPct val="120000"/>
              </a:lnSpc>
              <a:spcBef>
                <a:spcPct val="0"/>
              </a:spcBef>
              <a:spcAft>
                <a:spcPct val="0"/>
              </a:spcAft>
              <a:buClr>
                <a:srgbClr val="C00000"/>
              </a:buClr>
              <a:buSzPct val="60000"/>
              <a:buFont typeface="Wingdings" panose="05000000000000000000" pitchFamily="2" charset="2"/>
              <a:buNone/>
            </a:pPr>
            <a:r>
              <a:rPr kumimoji="1" lang="en-US" altLang="zh-CN" sz="2200" b="0" i="0" u="none" strike="noStrike" kern="0" cap="none" spc="0" normalizeH="0" baseline="0" noProof="1">
                <a:solidFill>
                  <a:schemeClr val="tx1"/>
                </a:solidFill>
                <a:latin typeface="+mn-lt"/>
                <a:ea typeface="+mn-ea"/>
                <a:cs typeface="+mn-ea"/>
              </a:rPr>
              <a:t>   end </a:t>
            </a:r>
          </a:p>
          <a:p>
            <a:pPr marL="742950" marR="0" lvl="1" indent="-285750" algn="just" defTabSz="914400" rtl="0" eaLnBrk="0" fontAlgn="base" latinLnBrk="0" hangingPunct="0">
              <a:lnSpc>
                <a:spcPct val="120000"/>
              </a:lnSpc>
              <a:spcBef>
                <a:spcPct val="0"/>
              </a:spcBef>
              <a:spcAft>
                <a:spcPct val="0"/>
              </a:spcAft>
              <a:buClr>
                <a:srgbClr val="C00000"/>
              </a:buClr>
              <a:buSzPct val="60000"/>
              <a:buFont typeface="Wingdings" panose="05000000000000000000" pitchFamily="2" charset="2"/>
              <a:buChar char="n"/>
            </a:pPr>
            <a:r>
              <a:rPr kumimoji="1" lang="en-US" altLang="zh-CN" sz="2200" b="0" i="0" u="none" strike="noStrike" kern="0" cap="none" spc="0" normalizeH="0" baseline="0" noProof="1">
                <a:solidFill>
                  <a:schemeClr val="tx1"/>
                </a:solidFill>
                <a:latin typeface="+mn-lt"/>
                <a:ea typeface="+mn-ea"/>
                <a:cs typeface="+mn-ea"/>
              </a:rPr>
              <a:t> </a:t>
            </a:r>
            <a:r>
              <a:rPr kumimoji="1" lang="zh-CN" altLang="en-US" sz="2200" b="0" i="0" u="none" strike="noStrike" kern="0" cap="none" spc="0" normalizeH="0" baseline="0" noProof="1">
                <a:solidFill>
                  <a:schemeClr val="tx1"/>
                </a:solidFill>
                <a:latin typeface="+mn-lt"/>
                <a:ea typeface="+mn-ea"/>
                <a:cs typeface="+mn-ea"/>
              </a:rPr>
              <a:t>二者都可在</a:t>
            </a:r>
            <a:r>
              <a:rPr kumimoji="1" lang="en-US" altLang="zh-CN" sz="2200" b="0" i="0" u="none" strike="noStrike" kern="0" cap="none" spc="0" normalizeH="0" baseline="0" noProof="1">
                <a:solidFill>
                  <a:schemeClr val="tx1"/>
                </a:solidFill>
                <a:latin typeface="+mn-lt"/>
                <a:ea typeface="+mn-ea"/>
                <a:cs typeface="+mn-ea"/>
              </a:rPr>
              <a:t>module</a:t>
            </a:r>
            <a:r>
              <a:rPr kumimoji="1" lang="zh-CN" altLang="en-US" sz="2200" b="0" i="0" u="none" strike="noStrike" kern="0" cap="none" spc="0" normalizeH="0" baseline="0" noProof="1">
                <a:solidFill>
                  <a:schemeClr val="tx1"/>
                </a:solidFill>
                <a:latin typeface="+mn-lt"/>
                <a:ea typeface="+mn-ea"/>
                <a:cs typeface="+mn-ea"/>
              </a:rPr>
              <a:t>中出现多次，执行顺序是同时执行；</a:t>
            </a:r>
          </a:p>
          <a:p>
            <a:pPr marL="742950" marR="0" lvl="1" indent="-285750" algn="just" defTabSz="914400" rtl="0" eaLnBrk="0" fontAlgn="base" latinLnBrk="0" hangingPunct="0">
              <a:lnSpc>
                <a:spcPct val="120000"/>
              </a:lnSpc>
              <a:spcBef>
                <a:spcPct val="0"/>
              </a:spcBef>
              <a:spcAft>
                <a:spcPct val="0"/>
              </a:spcAft>
              <a:buClr>
                <a:srgbClr val="C00000"/>
              </a:buClr>
              <a:buSzPct val="60000"/>
              <a:buFont typeface="Wingdings" panose="05000000000000000000" pitchFamily="2" charset="2"/>
              <a:buChar char="n"/>
            </a:pPr>
            <a:r>
              <a:rPr kumimoji="1" lang="zh-CN" altLang="en-US" sz="2200" b="0" i="0" u="none" strike="noStrike" kern="0" cap="none" spc="0" normalizeH="0" baseline="0" noProof="1">
                <a:solidFill>
                  <a:schemeClr val="tx1"/>
                </a:solidFill>
                <a:latin typeface="+mn-lt"/>
                <a:ea typeface="+mn-ea"/>
                <a:cs typeface="+mn-ea"/>
              </a:rPr>
              <a:t> 二者不支持嵌套使用</a:t>
            </a:r>
          </a:p>
          <a:p>
            <a:pPr marL="742950" marR="0" lvl="1" indent="-285750" algn="just" defTabSz="914400" rtl="0" eaLnBrk="0" fontAlgn="base" latinLnBrk="0" hangingPunct="0">
              <a:lnSpc>
                <a:spcPct val="120000"/>
              </a:lnSpc>
              <a:spcBef>
                <a:spcPct val="0"/>
              </a:spcBef>
              <a:spcAft>
                <a:spcPct val="0"/>
              </a:spcAft>
              <a:buClr>
                <a:srgbClr val="C00000"/>
              </a:buClr>
              <a:buSzPct val="60000"/>
              <a:buFont typeface="Wingdings" panose="05000000000000000000" pitchFamily="2" charset="2"/>
              <a:buChar char="n"/>
            </a:pPr>
            <a:endParaRPr kumimoji="1" lang="en-US" altLang="zh-CN" sz="2200" b="0" i="0" u="none" strike="noStrike" kern="0" cap="none" spc="0" normalizeH="0" baseline="0" noProof="1">
              <a:solidFill>
                <a:schemeClr val="tx1"/>
              </a:solidFill>
              <a:latin typeface="+mn-lt"/>
              <a:ea typeface="+mn-ea"/>
              <a:cs typeface="+mn-ea"/>
            </a:endParaRPr>
          </a:p>
          <a:p>
            <a:pPr marL="342900" marR="0" indent="-342900" algn="l" defTabSz="914400" rtl="0" eaLnBrk="0" fontAlgn="base" latinLnBrk="0" hangingPunct="0">
              <a:lnSpc>
                <a:spcPct val="90000"/>
              </a:lnSpc>
              <a:spcBef>
                <a:spcPct val="20000"/>
              </a:spcBef>
              <a:spcAft>
                <a:spcPct val="0"/>
              </a:spcAft>
              <a:buClr>
                <a:schemeClr val="hlink"/>
              </a:buClr>
              <a:buSzPct val="110000"/>
              <a:buFont typeface="Wingdings" panose="05000000000000000000" pitchFamily="2" charset="2"/>
              <a:buNone/>
            </a:pPr>
            <a:r>
              <a:rPr kumimoji="1" lang="en-US" altLang="zh-CN" sz="2200" b="0" i="0" u="none" strike="noStrike" kern="0" cap="none" spc="0" normalizeH="0" baseline="0" noProof="1">
                <a:solidFill>
                  <a:srgbClr val="4B51A5"/>
                </a:solidFill>
                <a:latin typeface="+mn-lt"/>
                <a:ea typeface="微软雅黑" panose="020B0503020204020204" charset="-122"/>
                <a:cs typeface="+mn-cs"/>
              </a:rPr>
              <a:t>        </a:t>
            </a:r>
          </a:p>
        </p:txBody>
      </p:sp>
      <p:sp>
        <p:nvSpPr>
          <p:cNvPr id="2" name="文本框 1">
            <a:extLst>
              <a:ext uri="{FF2B5EF4-FFF2-40B4-BE49-F238E27FC236}">
                <a16:creationId xmlns:a16="http://schemas.microsoft.com/office/drawing/2014/main" id="{85495B5F-2F96-ABF2-BA68-81CF560FBD75}"/>
              </a:ext>
            </a:extLst>
          </p:cNvPr>
          <p:cNvSpPr txBox="1"/>
          <p:nvPr/>
        </p:nvSpPr>
        <p:spPr>
          <a:xfrm>
            <a:off x="5580112" y="2996952"/>
            <a:ext cx="2852688" cy="1785104"/>
          </a:xfrm>
          <a:prstGeom prst="rect">
            <a:avLst/>
          </a:prstGeom>
          <a:noFill/>
        </p:spPr>
        <p:txBody>
          <a:bodyPr wrap="square" rtlCol="0">
            <a:spAutoFit/>
          </a:bodyPr>
          <a:lstStyle/>
          <a:p>
            <a:pPr marL="342900" indent="-342900">
              <a:buSzPct val="75000"/>
              <a:buFont typeface="Wingdings" panose="05000000000000000000" pitchFamily="2" charset="2"/>
              <a:buChar char="p"/>
            </a:pPr>
            <a:r>
              <a:rPr kumimoji="1" lang="zh-CN" altLang="en-US" sz="2200" kern="0" dirty="0">
                <a:latin typeface="+mn-lt"/>
                <a:ea typeface="+mn-ea"/>
                <a:cs typeface="+mn-ea"/>
              </a:rPr>
              <a:t>关键字</a:t>
            </a:r>
            <a:r>
              <a:rPr kumimoji="1" lang="en-US" altLang="zh-CN" sz="2200" kern="0" dirty="0">
                <a:solidFill>
                  <a:srgbClr val="C00000"/>
                </a:solidFill>
                <a:latin typeface="+mn-lt"/>
                <a:ea typeface="+mn-ea"/>
                <a:cs typeface="+mn-ea"/>
              </a:rPr>
              <a:t>begin</a:t>
            </a:r>
            <a:r>
              <a:rPr kumimoji="1" lang="zh-CN" altLang="en-US" sz="2200" kern="0" dirty="0">
                <a:latin typeface="+mn-lt"/>
                <a:ea typeface="+mn-ea"/>
                <a:cs typeface="+mn-ea"/>
              </a:rPr>
              <a:t>和</a:t>
            </a:r>
            <a:r>
              <a:rPr kumimoji="1" lang="en-US" altLang="zh-CN" sz="2200" kern="0" dirty="0">
                <a:solidFill>
                  <a:srgbClr val="C00000"/>
                </a:solidFill>
                <a:latin typeface="+mn-lt"/>
                <a:ea typeface="+mn-ea"/>
                <a:cs typeface="+mn-ea"/>
              </a:rPr>
              <a:t>end</a:t>
            </a:r>
            <a:r>
              <a:rPr kumimoji="1" lang="zh-CN" altLang="en-US" sz="2200" kern="0" dirty="0">
                <a:latin typeface="+mn-lt"/>
                <a:ea typeface="+mn-ea"/>
                <a:cs typeface="+mn-ea"/>
              </a:rPr>
              <a:t>用于将多条行为语句合并组成一个块语句，作用类似于</a:t>
            </a:r>
            <a:r>
              <a:rPr kumimoji="1" lang="en-US" altLang="zh-CN" sz="2200" kern="0" dirty="0">
                <a:latin typeface="+mn-lt"/>
                <a:ea typeface="+mn-ea"/>
                <a:cs typeface="+mn-ea"/>
              </a:rPr>
              <a:t>C</a:t>
            </a:r>
            <a:r>
              <a:rPr kumimoji="1" lang="zh-CN" altLang="en-US" sz="2200" kern="0" dirty="0">
                <a:latin typeface="+mn-lt"/>
                <a:ea typeface="+mn-ea"/>
                <a:cs typeface="+mn-ea"/>
              </a:rPr>
              <a:t>语言中的</a:t>
            </a:r>
            <a:r>
              <a:rPr kumimoji="1" lang="en-US" altLang="zh-CN" sz="2200" kern="0" dirty="0">
                <a:latin typeface="+mn-lt"/>
                <a:ea typeface="+mn-ea"/>
                <a:cs typeface="+mn-ea"/>
              </a:rPr>
              <a:t>{}</a:t>
            </a:r>
            <a:endParaRPr kumimoji="1" lang="zh-CN" altLang="en-US" sz="2200" kern="0" dirty="0">
              <a:latin typeface="+mn-lt"/>
              <a:ea typeface="+mn-ea"/>
              <a:cs typeface="+mn-ea"/>
            </a:endParaRPr>
          </a:p>
        </p:txBody>
      </p:sp>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标题 1"/>
          <p:cNvSpPr>
            <a:spLocks noGrp="1"/>
          </p:cNvSpPr>
          <p:nvPr>
            <p:ph type="title"/>
          </p:nvPr>
        </p:nvSpPr>
        <p:spPr>
          <a:xfrm>
            <a:off x="900113" y="188913"/>
            <a:ext cx="7445375" cy="792162"/>
          </a:xfrm>
        </p:spPr>
        <p:txBody>
          <a:bodyPr anchor="b"/>
          <a:lstStyle/>
          <a:p>
            <a:pPr algn="l"/>
            <a:r>
              <a:rPr lang="en-US" altLang="zh-CN" dirty="0"/>
              <a:t>Verilog</a:t>
            </a:r>
            <a:r>
              <a:rPr lang="zh-CN" altLang="en-US" dirty="0"/>
              <a:t>行为描述基本设计模型</a:t>
            </a:r>
          </a:p>
        </p:txBody>
      </p:sp>
      <p:sp>
        <p:nvSpPr>
          <p:cNvPr id="3" name="内容占位符 2"/>
          <p:cNvSpPr>
            <a:spLocks noGrp="1"/>
          </p:cNvSpPr>
          <p:nvPr>
            <p:ph idx="1"/>
          </p:nvPr>
        </p:nvSpPr>
        <p:spPr>
          <a:xfrm>
            <a:off x="683568" y="981075"/>
            <a:ext cx="8136384" cy="4676775"/>
          </a:xfrm>
        </p:spPr>
        <p:txBody>
          <a:bodyPr/>
          <a:lstStyle/>
          <a:p>
            <a:pPr marL="0" marR="0" lvl="1" indent="-28575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Char char="n"/>
            </a:pPr>
            <a:r>
              <a:rPr kumimoji="1" lang="en-US" altLang="zh-CN" sz="2200" b="0" i="0" u="none" strike="noStrike" kern="0" cap="none" spc="0" normalizeH="0" baseline="0" noProof="1">
                <a:solidFill>
                  <a:srgbClr val="4B51A5"/>
                </a:solidFill>
                <a:latin typeface="+mn-lt"/>
                <a:ea typeface="+mn-ea"/>
                <a:cs typeface="+mn-ea"/>
              </a:rPr>
              <a:t>module </a:t>
            </a:r>
            <a:r>
              <a:rPr kumimoji="1" lang="zh-CN" altLang="en-US" sz="2200" b="0" i="0" u="none" strike="noStrike" kern="0" cap="none" spc="0" normalizeH="0" baseline="0" noProof="1">
                <a:solidFill>
                  <a:srgbClr val="4B51A5"/>
                </a:solidFill>
                <a:latin typeface="+mn-lt"/>
                <a:ea typeface="+mn-ea"/>
                <a:cs typeface="+mn-ea"/>
              </a:rPr>
              <a:t>模块名</a:t>
            </a:r>
            <a:r>
              <a:rPr kumimoji="1" lang="en-US" altLang="zh-CN" sz="2200" b="0" i="0" u="none" strike="noStrike" kern="0" cap="none" spc="0" normalizeH="0" baseline="0" noProof="1">
                <a:solidFill>
                  <a:srgbClr val="4B51A5"/>
                </a:solidFill>
                <a:latin typeface="+mn-lt"/>
                <a:ea typeface="+mn-ea"/>
                <a:cs typeface="+mn-ea"/>
              </a:rPr>
              <a:t>(</a:t>
            </a:r>
            <a:r>
              <a:rPr kumimoji="1" lang="zh-CN" altLang="en-US" sz="2200" b="0" i="0" u="none" strike="noStrike" kern="0" cap="none" spc="0" normalizeH="0" baseline="0" noProof="1">
                <a:solidFill>
                  <a:srgbClr val="4B51A5"/>
                </a:solidFill>
                <a:latin typeface="+mn-lt"/>
                <a:ea typeface="+mn-ea"/>
                <a:cs typeface="+mn-ea"/>
              </a:rPr>
              <a:t>端口列表</a:t>
            </a:r>
            <a:r>
              <a:rPr kumimoji="1" lang="en-US" altLang="zh-CN" sz="2200" b="0" i="0" u="none" strike="noStrike" kern="0" cap="none" spc="0" normalizeH="0" baseline="0" noProof="1">
                <a:solidFill>
                  <a:srgbClr val="4B51A5"/>
                </a:solidFill>
                <a:latin typeface="+mn-lt"/>
                <a:ea typeface="+mn-ea"/>
                <a:cs typeface="+mn-ea"/>
              </a:rPr>
              <a:t>)</a:t>
            </a:r>
            <a:r>
              <a:rPr kumimoji="1" lang="zh-CN" altLang="en-US" sz="2200" b="0" i="0" u="none" strike="noStrike" kern="0" cap="none" spc="0" normalizeH="0" baseline="0" noProof="1">
                <a:solidFill>
                  <a:srgbClr val="4B51A5"/>
                </a:solidFill>
                <a:latin typeface="+mn-lt"/>
                <a:ea typeface="+mn-ea"/>
                <a:cs typeface="+mn-ea"/>
              </a:rPr>
              <a:t>；</a:t>
            </a:r>
          </a:p>
          <a:p>
            <a:pPr marL="0" marR="0" lvl="1" indent="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None/>
            </a:pPr>
            <a:r>
              <a:rPr kumimoji="1" lang="en-US" altLang="zh-CN" sz="2200" b="0" i="0" u="none" strike="noStrike" kern="0" cap="none" spc="0" normalizeH="0" baseline="0" noProof="1">
                <a:solidFill>
                  <a:srgbClr val="4B51A5"/>
                </a:solidFill>
                <a:latin typeface="+mn-lt"/>
                <a:ea typeface="+mn-ea"/>
                <a:cs typeface="+mn-ea"/>
              </a:rPr>
              <a:t>	</a:t>
            </a:r>
            <a:r>
              <a:rPr kumimoji="1" lang="zh-CN" altLang="en-US" sz="2200" b="0" i="0" u="none" strike="noStrike" kern="0" cap="none" spc="0" normalizeH="0" baseline="0" noProof="1">
                <a:solidFill>
                  <a:srgbClr val="4B51A5"/>
                </a:solidFill>
                <a:latin typeface="+mn-lt"/>
                <a:ea typeface="+mn-ea"/>
                <a:cs typeface="+mn-ea"/>
              </a:rPr>
              <a:t>端口声明</a:t>
            </a:r>
            <a:endParaRPr kumimoji="1" lang="en-US" altLang="zh-CN" sz="2200" b="0" i="0" u="none" strike="noStrike" kern="0" cap="none" spc="0" normalizeH="0" baseline="0" noProof="1">
              <a:solidFill>
                <a:srgbClr val="4B51A5"/>
              </a:solidFill>
              <a:latin typeface="+mn-lt"/>
              <a:ea typeface="+mn-ea"/>
              <a:cs typeface="+mn-ea"/>
            </a:endParaRPr>
          </a:p>
          <a:p>
            <a:pPr marL="0" lvl="1" indent="0">
              <a:buNone/>
            </a:pPr>
            <a:r>
              <a:rPr lang="en-US" altLang="zh-CN" sz="2200" noProof="1">
                <a:cs typeface="+mn-ea"/>
              </a:rPr>
              <a:t>	parameter</a:t>
            </a:r>
          </a:p>
          <a:p>
            <a:pPr marL="0" marR="0" lvl="1" indent="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None/>
            </a:pPr>
            <a:r>
              <a:rPr kumimoji="1" lang="en-US" altLang="zh-CN" sz="2200" b="0" i="0" u="none" strike="noStrike" kern="0" cap="none" spc="0" normalizeH="0" baseline="0" noProof="1">
                <a:solidFill>
                  <a:srgbClr val="4B51A5"/>
                </a:solidFill>
                <a:latin typeface="+mn-lt"/>
                <a:ea typeface="+mn-ea"/>
                <a:cs typeface="+mn-ea"/>
              </a:rPr>
              <a:t>	</a:t>
            </a:r>
            <a:r>
              <a:rPr kumimoji="1" lang="zh-CN" altLang="en-US" sz="2200" b="0" i="0" u="none" strike="noStrike" kern="0" cap="none" spc="0" normalizeH="0" baseline="0" noProof="1">
                <a:solidFill>
                  <a:srgbClr val="4B51A5"/>
                </a:solidFill>
                <a:latin typeface="+mn-lt"/>
                <a:ea typeface="+mn-ea"/>
                <a:cs typeface="+mn-ea"/>
              </a:rPr>
              <a:t>其他数据类型变量说明</a:t>
            </a:r>
            <a:r>
              <a:rPr kumimoji="1" lang="en-US" altLang="zh-CN" sz="2200" b="0" i="0" u="none" strike="noStrike" kern="0" cap="none" spc="0" normalizeH="0" baseline="0" noProof="1">
                <a:solidFill>
                  <a:srgbClr val="4B51A5"/>
                </a:solidFill>
                <a:latin typeface="+mn-lt"/>
                <a:ea typeface="+mn-ea"/>
                <a:cs typeface="+mn-ea"/>
              </a:rPr>
              <a:t>wire,reg…</a:t>
            </a:r>
            <a:endParaRPr kumimoji="1" lang="zh-CN" altLang="en-US" sz="2200" b="0" i="0" u="none" strike="noStrike" kern="0" cap="none" spc="0" normalizeH="0" baseline="0" noProof="1">
              <a:solidFill>
                <a:srgbClr val="4B51A5"/>
              </a:solidFill>
              <a:latin typeface="+mn-lt"/>
              <a:ea typeface="+mn-ea"/>
              <a:cs typeface="+mn-ea"/>
            </a:endParaRPr>
          </a:p>
          <a:p>
            <a:pPr marL="0" marR="0" lvl="1" indent="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None/>
            </a:pPr>
            <a:r>
              <a:rPr kumimoji="1" lang="en-US" altLang="zh-CN" sz="2200" b="0" i="0" u="none" strike="noStrike" kern="0" cap="none" spc="0" normalizeH="0" baseline="0" noProof="1">
                <a:solidFill>
                  <a:srgbClr val="4B51A5"/>
                </a:solidFill>
                <a:latin typeface="+mn-lt"/>
                <a:ea typeface="+mn-ea"/>
                <a:cs typeface="+mn-ea"/>
              </a:rPr>
              <a:t>	always @</a:t>
            </a:r>
            <a:r>
              <a:rPr kumimoji="1" lang="zh-CN" altLang="en-US" sz="2200" b="0" i="0" u="none" strike="noStrike" kern="0" cap="none" spc="0" normalizeH="0" baseline="0" noProof="1">
                <a:solidFill>
                  <a:srgbClr val="4B51A5"/>
                </a:solidFill>
                <a:latin typeface="+mn-lt"/>
                <a:ea typeface="+mn-ea"/>
                <a:cs typeface="+mn-ea"/>
              </a:rPr>
              <a:t>（敏感事件列表）</a:t>
            </a:r>
            <a:endParaRPr kumimoji="1" lang="en-US" altLang="zh-CN" sz="2200" b="0" i="0" u="none" strike="noStrike" kern="0" cap="none" spc="0" normalizeH="0" baseline="0" noProof="1">
              <a:solidFill>
                <a:srgbClr val="4B51A5"/>
              </a:solidFill>
              <a:latin typeface="+mn-lt"/>
              <a:ea typeface="+mn-ea"/>
              <a:cs typeface="+mn-ea"/>
            </a:endParaRPr>
          </a:p>
          <a:p>
            <a:pPr marL="0" marR="0" lvl="1" indent="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None/>
            </a:pPr>
            <a:r>
              <a:rPr lang="en-US" altLang="zh-CN" sz="2200" noProof="1">
                <a:cs typeface="+mn-ea"/>
              </a:rPr>
              <a:t>		</a:t>
            </a:r>
            <a:r>
              <a:rPr kumimoji="1" lang="en-US" altLang="zh-CN" sz="2200" b="0" i="0" u="none" strike="noStrike" kern="0" cap="none" spc="0" normalizeH="0" baseline="0" noProof="1">
                <a:solidFill>
                  <a:srgbClr val="4B51A5"/>
                </a:solidFill>
                <a:latin typeface="+mn-lt"/>
                <a:ea typeface="+mn-ea"/>
                <a:cs typeface="+mn-ea"/>
              </a:rPr>
              <a:t>begin</a:t>
            </a:r>
          </a:p>
          <a:p>
            <a:pPr marL="0" marR="0" lvl="1" indent="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None/>
            </a:pPr>
            <a:r>
              <a:rPr lang="en-US" altLang="zh-CN" sz="2200" noProof="1">
                <a:cs typeface="+mn-ea"/>
              </a:rPr>
              <a:t>		</a:t>
            </a:r>
            <a:r>
              <a:rPr kumimoji="1" lang="zh-CN" altLang="en-US" sz="2200" b="0" i="0" u="none" strike="noStrike" kern="0" cap="none" spc="0" normalizeH="0" baseline="0" noProof="1">
                <a:solidFill>
                  <a:srgbClr val="4B51A5"/>
                </a:solidFill>
                <a:latin typeface="+mn-lt"/>
                <a:ea typeface="+mn-ea"/>
                <a:cs typeface="+mn-ea"/>
              </a:rPr>
              <a:t>阻塞、非阻塞赋值、</a:t>
            </a:r>
            <a:r>
              <a:rPr kumimoji="1" lang="en-US" altLang="zh-CN" sz="2200" b="0" i="0" u="none" strike="noStrike" kern="0" cap="none" spc="0" normalizeH="0" baseline="0" noProof="1">
                <a:solidFill>
                  <a:srgbClr val="4B51A5"/>
                </a:solidFill>
                <a:latin typeface="+mn-lt"/>
                <a:ea typeface="+mn-ea"/>
                <a:cs typeface="+mn-ea"/>
              </a:rPr>
              <a:t>if-else</a:t>
            </a:r>
            <a:r>
              <a:rPr kumimoji="1" lang="zh-CN" altLang="en-US" sz="2200" b="0" i="0" u="none" strike="noStrike" kern="0" cap="none" spc="0" normalizeH="0" baseline="0" noProof="1">
                <a:solidFill>
                  <a:srgbClr val="4B51A5"/>
                </a:solidFill>
                <a:latin typeface="+mn-lt"/>
                <a:ea typeface="+mn-ea"/>
                <a:cs typeface="+mn-ea"/>
              </a:rPr>
              <a:t>、</a:t>
            </a:r>
            <a:r>
              <a:rPr kumimoji="1" lang="en-US" altLang="zh-CN" sz="2200" b="0" i="0" u="none" strike="noStrike" kern="0" cap="none" spc="0" normalizeH="0" baseline="0" noProof="1">
                <a:solidFill>
                  <a:srgbClr val="4B51A5"/>
                </a:solidFill>
                <a:latin typeface="+mn-lt"/>
                <a:ea typeface="+mn-ea"/>
                <a:cs typeface="+mn-ea"/>
              </a:rPr>
              <a:t>case</a:t>
            </a:r>
            <a:r>
              <a:rPr kumimoji="1" lang="zh-CN" altLang="en-US" sz="2200" b="0" i="0" u="none" strike="noStrike" kern="0" cap="none" spc="0" normalizeH="0" baseline="0" noProof="1">
                <a:solidFill>
                  <a:srgbClr val="4B51A5"/>
                </a:solidFill>
                <a:latin typeface="+mn-lt"/>
                <a:ea typeface="+mn-ea"/>
                <a:cs typeface="+mn-ea"/>
              </a:rPr>
              <a:t>、</a:t>
            </a:r>
            <a:r>
              <a:rPr kumimoji="1" lang="en-US" altLang="zh-CN" sz="2200" b="0" i="0" u="none" strike="noStrike" kern="0" cap="none" spc="0" normalizeH="0" baseline="0" noProof="1">
                <a:solidFill>
                  <a:srgbClr val="4B51A5"/>
                </a:solidFill>
                <a:latin typeface="+mn-lt"/>
                <a:ea typeface="+mn-ea"/>
                <a:cs typeface="+mn-ea"/>
              </a:rPr>
              <a:t>for</a:t>
            </a:r>
            <a:r>
              <a:rPr kumimoji="1" lang="zh-CN" altLang="en-US" sz="2200" b="0" i="0" u="none" strike="noStrike" kern="0" cap="none" spc="0" normalizeH="0" baseline="0" noProof="1">
                <a:solidFill>
                  <a:srgbClr val="4B51A5"/>
                </a:solidFill>
                <a:latin typeface="+mn-lt"/>
                <a:ea typeface="+mn-ea"/>
                <a:cs typeface="+mn-ea"/>
              </a:rPr>
              <a:t>等行为语句</a:t>
            </a:r>
            <a:r>
              <a:rPr kumimoji="1" lang="en-US" altLang="zh-CN" sz="2200" b="0" i="0" u="none" strike="noStrike" kern="0" cap="none" spc="0" normalizeH="0" baseline="0" noProof="1">
                <a:solidFill>
                  <a:srgbClr val="4B51A5"/>
                </a:solidFill>
                <a:latin typeface="+mn-lt"/>
                <a:ea typeface="+mn-ea"/>
                <a:cs typeface="+mn-ea"/>
              </a:rPr>
              <a:t>		end</a:t>
            </a:r>
          </a:p>
          <a:p>
            <a:pPr marL="0" lvl="1" indent="0">
              <a:buNone/>
            </a:pPr>
            <a:r>
              <a:rPr lang="en-US" altLang="zh-CN" sz="2200" noProof="1">
                <a:cs typeface="+mn-ea"/>
              </a:rPr>
              <a:t>	always @</a:t>
            </a:r>
            <a:r>
              <a:rPr lang="zh-CN" altLang="en-US" sz="2200" noProof="1">
                <a:cs typeface="+mn-ea"/>
              </a:rPr>
              <a:t>（敏感事件列表）</a:t>
            </a:r>
            <a:endParaRPr lang="en-US" altLang="zh-CN" sz="2200" noProof="1">
              <a:cs typeface="+mn-ea"/>
            </a:endParaRPr>
          </a:p>
          <a:p>
            <a:pPr marL="0" lvl="1" indent="0">
              <a:buNone/>
            </a:pPr>
            <a:r>
              <a:rPr lang="en-US" altLang="zh-CN" sz="2200" noProof="1">
                <a:cs typeface="+mn-ea"/>
              </a:rPr>
              <a:t>		begin</a:t>
            </a:r>
          </a:p>
          <a:p>
            <a:pPr marL="0" lvl="1" indent="0">
              <a:buNone/>
            </a:pPr>
            <a:r>
              <a:rPr lang="en-US" altLang="zh-CN" sz="2200" noProof="1">
                <a:cs typeface="+mn-ea"/>
              </a:rPr>
              <a:t>		</a:t>
            </a:r>
            <a:r>
              <a:rPr lang="zh-CN" altLang="en-US" sz="2200" noProof="1">
                <a:cs typeface="+mn-ea"/>
              </a:rPr>
              <a:t>阻塞、非阻塞赋值、</a:t>
            </a:r>
            <a:r>
              <a:rPr lang="en-US" altLang="zh-CN" sz="2200" noProof="1">
                <a:cs typeface="+mn-ea"/>
              </a:rPr>
              <a:t>if-else</a:t>
            </a:r>
            <a:r>
              <a:rPr lang="zh-CN" altLang="en-US" sz="2200" noProof="1">
                <a:cs typeface="+mn-ea"/>
              </a:rPr>
              <a:t>、</a:t>
            </a:r>
            <a:r>
              <a:rPr lang="en-US" altLang="zh-CN" sz="2200" noProof="1">
                <a:cs typeface="+mn-ea"/>
              </a:rPr>
              <a:t>case</a:t>
            </a:r>
            <a:r>
              <a:rPr lang="zh-CN" altLang="en-US" sz="2200" noProof="1">
                <a:cs typeface="+mn-ea"/>
              </a:rPr>
              <a:t>、</a:t>
            </a:r>
            <a:r>
              <a:rPr lang="en-US" altLang="zh-CN" sz="2200" noProof="1">
                <a:cs typeface="+mn-ea"/>
              </a:rPr>
              <a:t>for</a:t>
            </a:r>
            <a:r>
              <a:rPr lang="zh-CN" altLang="en-US" sz="2200" noProof="1">
                <a:cs typeface="+mn-ea"/>
              </a:rPr>
              <a:t>等行为语句</a:t>
            </a:r>
            <a:r>
              <a:rPr lang="en-US" altLang="zh-CN" sz="2200" noProof="1">
                <a:cs typeface="+mn-ea"/>
              </a:rPr>
              <a:t>		end</a:t>
            </a:r>
          </a:p>
          <a:p>
            <a:pPr marL="0" marR="0" lvl="1" indent="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None/>
            </a:pPr>
            <a:r>
              <a:rPr kumimoji="1" lang="en-US" altLang="zh-CN" sz="2200" b="0" i="0" u="none" strike="noStrike" kern="0" cap="none" spc="0" normalizeH="0" baseline="0" noProof="1">
                <a:solidFill>
                  <a:srgbClr val="4B51A5"/>
                </a:solidFill>
                <a:latin typeface="+mn-lt"/>
                <a:ea typeface="+mn-ea"/>
                <a:cs typeface="+mn-ea"/>
              </a:rPr>
              <a:t>	</a:t>
            </a:r>
            <a:r>
              <a:rPr lang="en-US" altLang="zh-CN" sz="2200" noProof="1">
                <a:cs typeface="+mn-ea"/>
              </a:rPr>
              <a:t>……</a:t>
            </a:r>
            <a:endParaRPr kumimoji="1" lang="en-US" altLang="zh-CN" sz="2200" b="0" i="0" u="none" strike="noStrike" kern="0" cap="none" spc="0" normalizeH="0" baseline="0" noProof="1">
              <a:solidFill>
                <a:srgbClr val="4B51A5"/>
              </a:solidFill>
              <a:latin typeface="+mn-lt"/>
              <a:ea typeface="+mn-ea"/>
              <a:cs typeface="+mn-ea"/>
            </a:endParaRPr>
          </a:p>
          <a:p>
            <a:pPr marL="0" marR="0" lvl="1" indent="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None/>
            </a:pPr>
            <a:r>
              <a:rPr kumimoji="1" lang="en-US" altLang="zh-CN" sz="2200" b="0" i="0" u="none" strike="noStrike" kern="0" cap="none" spc="0" normalizeH="0" baseline="0" noProof="1">
                <a:solidFill>
                  <a:srgbClr val="4B51A5"/>
                </a:solidFill>
                <a:latin typeface="+mn-lt"/>
                <a:ea typeface="+mn-ea"/>
                <a:cs typeface="+mn-ea"/>
              </a:rPr>
              <a:t>endmodule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AAF3F-FDF6-8B8D-3B80-F5DC5E8699F5}"/>
            </a:ext>
          </a:extLst>
        </p:cNvPr>
        <p:cNvGrpSpPr/>
        <p:nvPr/>
      </p:nvGrpSpPr>
      <p:grpSpPr>
        <a:xfrm>
          <a:off x="0" y="0"/>
          <a:ext cx="0" cy="0"/>
          <a:chOff x="0" y="0"/>
          <a:chExt cx="0" cy="0"/>
        </a:xfrm>
      </p:grpSpPr>
      <p:sp>
        <p:nvSpPr>
          <p:cNvPr id="91137" name="内容占位符 2" descr="Rectangle: Click to edit Master text styles&#10;Second level&#10;Third level&#10;Fourth level&#10;Fifth level">
            <a:extLst>
              <a:ext uri="{FF2B5EF4-FFF2-40B4-BE49-F238E27FC236}">
                <a16:creationId xmlns:a16="http://schemas.microsoft.com/office/drawing/2014/main" id="{5E9A992D-3EAE-494F-33A1-A4C4C8F392AF}"/>
              </a:ext>
            </a:extLst>
          </p:cNvPr>
          <p:cNvSpPr>
            <a:spLocks noGrp="1"/>
          </p:cNvSpPr>
          <p:nvPr>
            <p:ph idx="1"/>
          </p:nvPr>
        </p:nvSpPr>
        <p:spPr>
          <a:xfrm>
            <a:off x="638175" y="1171575"/>
            <a:ext cx="8477250" cy="4768850"/>
          </a:xfrm>
        </p:spPr>
        <p:txBody>
          <a:bodyPr anchor="t"/>
          <a:lstStyle/>
          <a:p>
            <a:pPr>
              <a:spcBef>
                <a:spcPts val="0"/>
              </a:spcBef>
            </a:pPr>
            <a:r>
              <a:rPr lang="zh-CN" altLang="en-US" sz="3200" dirty="0"/>
              <a:t>组合逻辑电路设计</a:t>
            </a:r>
            <a:endParaRPr lang="en-US" altLang="zh-CN" sz="3200" dirty="0"/>
          </a:p>
          <a:p>
            <a:pPr marL="180000" indent="0">
              <a:buNone/>
            </a:pPr>
            <a:r>
              <a:rPr lang="zh-CN" altLang="en-US" sz="3200" dirty="0"/>
              <a:t>详细内容参考：搭建你的数字积木参考</a:t>
            </a:r>
            <a:r>
              <a:rPr lang="en-US" altLang="zh-CN" sz="3200" dirty="0"/>
              <a:t>PPT</a:t>
            </a:r>
            <a:r>
              <a:rPr lang="zh-CN" altLang="en-US" sz="3200" dirty="0"/>
              <a:t>第二部分</a:t>
            </a:r>
            <a:r>
              <a:rPr lang="en-US" altLang="zh-CN" sz="3200" dirty="0"/>
              <a:t>——</a:t>
            </a:r>
            <a:r>
              <a:rPr lang="zh-CN" altLang="en-US" sz="3200" dirty="0"/>
              <a:t>组合逻辑电路设计基础</a:t>
            </a:r>
            <a:endParaRPr lang="en-US" altLang="zh-CN" sz="3200" dirty="0"/>
          </a:p>
          <a:p>
            <a:pPr>
              <a:spcBef>
                <a:spcPts val="1800"/>
              </a:spcBef>
            </a:pPr>
            <a:r>
              <a:rPr lang="zh-CN" altLang="en-US" sz="3200" dirty="0"/>
              <a:t>时序逻辑电路设计</a:t>
            </a:r>
            <a:endParaRPr lang="en-US" altLang="zh-CN" sz="3200" dirty="0"/>
          </a:p>
          <a:p>
            <a:pPr marL="180000" indent="0">
              <a:buNone/>
            </a:pPr>
            <a:r>
              <a:rPr lang="zh-CN" altLang="en-US" sz="3200" dirty="0"/>
              <a:t>详细内容参考：搭建你的数字积木参考</a:t>
            </a:r>
            <a:r>
              <a:rPr lang="en-US" altLang="zh-CN" sz="3200" dirty="0"/>
              <a:t>PPT</a:t>
            </a:r>
            <a:r>
              <a:rPr lang="zh-CN" altLang="en-US" sz="3200" dirty="0"/>
              <a:t>第三部分</a:t>
            </a:r>
            <a:r>
              <a:rPr lang="en-US" altLang="zh-CN" sz="3200" dirty="0"/>
              <a:t>——</a:t>
            </a:r>
            <a:r>
              <a:rPr lang="zh-CN" altLang="en-US" sz="3200" dirty="0"/>
              <a:t>时序逻辑电路设计基础</a:t>
            </a:r>
            <a:endParaRPr lang="en-US" altLang="zh-CN" sz="3200" dirty="0"/>
          </a:p>
          <a:p>
            <a:pPr>
              <a:spcBef>
                <a:spcPts val="1800"/>
              </a:spcBef>
            </a:pPr>
            <a:r>
              <a:rPr lang="zh-CN" altLang="en-US" sz="3200" dirty="0">
                <a:solidFill>
                  <a:srgbClr val="C00000"/>
                </a:solidFill>
              </a:rPr>
              <a:t>有限状态机设计</a:t>
            </a:r>
            <a:endParaRPr lang="en-US" altLang="zh-CN" sz="3200" dirty="0">
              <a:solidFill>
                <a:srgbClr val="C00000"/>
              </a:solidFill>
            </a:endParaRPr>
          </a:p>
          <a:p>
            <a:pPr marL="180000" indent="0">
              <a:buNone/>
            </a:pPr>
            <a:r>
              <a:rPr lang="zh-CN" altLang="en-US" sz="3200" dirty="0"/>
              <a:t>详细内容参考：搭建你的数字积木参考</a:t>
            </a:r>
            <a:r>
              <a:rPr lang="en-US" altLang="zh-CN" sz="3200" dirty="0"/>
              <a:t>PPT</a:t>
            </a:r>
            <a:r>
              <a:rPr lang="zh-CN" altLang="en-US" sz="3200" dirty="0"/>
              <a:t>第四部分</a:t>
            </a:r>
            <a:r>
              <a:rPr lang="en-US" altLang="zh-CN" sz="3200" dirty="0"/>
              <a:t>——</a:t>
            </a:r>
            <a:r>
              <a:rPr lang="zh-CN" altLang="en-US" sz="3200" dirty="0"/>
              <a:t>有限状态机设计基础</a:t>
            </a:r>
          </a:p>
        </p:txBody>
      </p:sp>
      <p:sp>
        <p:nvSpPr>
          <p:cNvPr id="91138" name="Rectangle 2">
            <a:extLst>
              <a:ext uri="{FF2B5EF4-FFF2-40B4-BE49-F238E27FC236}">
                <a16:creationId xmlns:a16="http://schemas.microsoft.com/office/drawing/2014/main" id="{EA92A90A-8B1A-BE40-E185-5B386E7CD431}"/>
              </a:ext>
            </a:extLst>
          </p:cNvPr>
          <p:cNvSpPr>
            <a:spLocks noGrp="1"/>
          </p:cNvSpPr>
          <p:nvPr/>
        </p:nvSpPr>
        <p:spPr>
          <a:xfrm>
            <a:off x="900113" y="188913"/>
            <a:ext cx="7573962" cy="792162"/>
          </a:xfrm>
          <a:prstGeom prst="rect">
            <a:avLst/>
          </a:prstGeom>
          <a:noFill/>
          <a:ln w="9525">
            <a:noFill/>
          </a:ln>
        </p:spPr>
        <p:txBody>
          <a:bodyPr anchor="b"/>
          <a:lstStyle/>
          <a:p>
            <a:pPr eaLnBrk="0" hangingPunct="0"/>
            <a:r>
              <a:rPr lang="en-US" altLang="zh-CN" sz="4000" b="1" dirty="0">
                <a:solidFill>
                  <a:schemeClr val="tx2"/>
                </a:solidFill>
                <a:latin typeface="Tahoma" panose="020B0604030504040204" pitchFamily="34" charset="0"/>
                <a:ea typeface="楷体_GB2312" pitchFamily="49" charset="-122"/>
              </a:rPr>
              <a:t>Verilog</a:t>
            </a:r>
            <a:r>
              <a:rPr lang="zh-CN" altLang="en-US" sz="4000" b="1" dirty="0">
                <a:solidFill>
                  <a:schemeClr val="tx2"/>
                </a:solidFill>
                <a:latin typeface="Tahoma" panose="020B0604030504040204" pitchFamily="34" charset="0"/>
                <a:ea typeface="楷体_GB2312" pitchFamily="49" charset="-122"/>
              </a:rPr>
              <a:t>行为描述方式</a:t>
            </a:r>
          </a:p>
        </p:txBody>
      </p:sp>
    </p:spTree>
    <p:extLst>
      <p:ext uri="{BB962C8B-B14F-4D97-AF65-F5344CB8AC3E}">
        <p14:creationId xmlns:p14="http://schemas.microsoft.com/office/powerpoint/2010/main" val="10842759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57167-C0B9-461A-EA29-1CF15E93DB6E}"/>
            </a:ext>
          </a:extLst>
        </p:cNvPr>
        <p:cNvGrpSpPr/>
        <p:nvPr/>
      </p:nvGrpSpPr>
      <p:grpSpPr>
        <a:xfrm>
          <a:off x="0" y="0"/>
          <a:ext cx="0" cy="0"/>
          <a:chOff x="0" y="0"/>
          <a:chExt cx="0" cy="0"/>
        </a:xfrm>
      </p:grpSpPr>
      <p:sp>
        <p:nvSpPr>
          <p:cNvPr id="53249" name="Rectangle 1026">
            <a:extLst>
              <a:ext uri="{FF2B5EF4-FFF2-40B4-BE49-F238E27FC236}">
                <a16:creationId xmlns:a16="http://schemas.microsoft.com/office/drawing/2014/main" id="{B8A77AD1-8A71-3893-91A7-CA09CC0E3E35}"/>
              </a:ext>
            </a:extLst>
          </p:cNvPr>
          <p:cNvSpPr>
            <a:spLocks noGrp="1"/>
          </p:cNvSpPr>
          <p:nvPr>
            <p:ph type="title"/>
          </p:nvPr>
        </p:nvSpPr>
        <p:spPr>
          <a:xfrm>
            <a:off x="900113" y="188913"/>
            <a:ext cx="7056263" cy="792162"/>
          </a:xfrm>
        </p:spPr>
        <p:txBody>
          <a:bodyPr vert="horz" wrap="square" lIns="91440" tIns="45720" rIns="91440" bIns="45720" anchor="b" anchorCtr="0"/>
          <a:lstStyle/>
          <a:p>
            <a:pPr algn="l" eaLnBrk="1" hangingPunct="1"/>
            <a:r>
              <a:rPr lang="en-US" altLang="zh-CN" dirty="0"/>
              <a:t>Verilog HDL</a:t>
            </a:r>
            <a:r>
              <a:rPr lang="zh-CN" altLang="en-US" dirty="0"/>
              <a:t>语法和使用</a:t>
            </a:r>
          </a:p>
        </p:txBody>
      </p:sp>
      <p:sp>
        <p:nvSpPr>
          <p:cNvPr id="53250" name="Rectangle 1027" descr="Rectangle: Click to edit Master text styles&#10;Second level&#10;Third level&#10;Fourth level&#10;Fifth level">
            <a:extLst>
              <a:ext uri="{FF2B5EF4-FFF2-40B4-BE49-F238E27FC236}">
                <a16:creationId xmlns:a16="http://schemas.microsoft.com/office/drawing/2014/main" id="{3B57C089-9BC5-4EFA-27A0-2D99A6230430}"/>
              </a:ext>
            </a:extLst>
          </p:cNvPr>
          <p:cNvSpPr>
            <a:spLocks noGrp="1"/>
          </p:cNvSpPr>
          <p:nvPr>
            <p:ph idx="1"/>
          </p:nvPr>
        </p:nvSpPr>
        <p:spPr>
          <a:xfrm>
            <a:off x="755576" y="1196975"/>
            <a:ext cx="8208391" cy="4676775"/>
          </a:xfrm>
        </p:spPr>
        <p:txBody>
          <a:bodyPr vert="horz" wrap="square" lIns="91440" tIns="45720" rIns="91440" bIns="45720" anchor="t" anchorCtr="0"/>
          <a:lstStyle/>
          <a:p>
            <a:pPr eaLnBrk="1" hangingPunct="1">
              <a:lnSpc>
                <a:spcPct val="150000"/>
              </a:lnSpc>
              <a:spcBef>
                <a:spcPts val="1200"/>
              </a:spcBef>
              <a:spcAft>
                <a:spcPts val="1200"/>
              </a:spcAft>
            </a:pPr>
            <a:r>
              <a:rPr lang="en-US" altLang="zh-CN" dirty="0">
                <a:solidFill>
                  <a:schemeClr val="bg2"/>
                </a:solidFill>
              </a:rPr>
              <a:t>Verilog HDL</a:t>
            </a:r>
            <a:r>
              <a:rPr lang="zh-CN" altLang="en-US" dirty="0">
                <a:solidFill>
                  <a:schemeClr val="bg2"/>
                </a:solidFill>
              </a:rPr>
              <a:t>语言基础</a:t>
            </a:r>
            <a:r>
              <a:rPr lang="en-US" altLang="zh-CN" dirty="0">
                <a:solidFill>
                  <a:schemeClr val="bg2"/>
                </a:solidFill>
              </a:rPr>
              <a:t>(</a:t>
            </a:r>
            <a:r>
              <a:rPr lang="zh-CN" altLang="en-US" dirty="0">
                <a:solidFill>
                  <a:schemeClr val="bg2"/>
                </a:solidFill>
              </a:rPr>
              <a:t>语法结构和约定）</a:t>
            </a:r>
          </a:p>
          <a:p>
            <a:pPr eaLnBrk="1" hangingPunct="1">
              <a:lnSpc>
                <a:spcPct val="150000"/>
              </a:lnSpc>
              <a:spcBef>
                <a:spcPts val="600"/>
              </a:spcBef>
              <a:spcAft>
                <a:spcPts val="600"/>
              </a:spcAft>
            </a:pPr>
            <a:r>
              <a:rPr lang="zh-CN" altLang="en-US" dirty="0">
                <a:solidFill>
                  <a:schemeClr val="bg2"/>
                </a:solidFill>
              </a:rPr>
              <a:t>如何用</a:t>
            </a:r>
            <a:r>
              <a:rPr lang="en-US" altLang="zh-CN" dirty="0">
                <a:solidFill>
                  <a:schemeClr val="bg2"/>
                </a:solidFill>
              </a:rPr>
              <a:t>Verilog</a:t>
            </a:r>
            <a:r>
              <a:rPr lang="zh-CN" altLang="en-US" dirty="0">
                <a:solidFill>
                  <a:schemeClr val="bg2"/>
                </a:solidFill>
              </a:rPr>
              <a:t>描述数字电路功能</a:t>
            </a:r>
            <a:endParaRPr lang="en-US" altLang="zh-CN" dirty="0">
              <a:solidFill>
                <a:schemeClr val="bg2"/>
              </a:solidFill>
            </a:endParaRPr>
          </a:p>
          <a:p>
            <a:pPr lvl="1" eaLnBrk="1" hangingPunct="1">
              <a:lnSpc>
                <a:spcPct val="150000"/>
              </a:lnSpc>
              <a:spcBef>
                <a:spcPts val="0"/>
              </a:spcBef>
              <a:spcAft>
                <a:spcPts val="0"/>
              </a:spcAft>
            </a:pPr>
            <a:r>
              <a:rPr lang="zh-CN" altLang="en-US" dirty="0">
                <a:solidFill>
                  <a:schemeClr val="bg2"/>
                </a:solidFill>
              </a:rPr>
              <a:t>结构化建模</a:t>
            </a:r>
            <a:endParaRPr lang="en-US" altLang="zh-CN" dirty="0">
              <a:solidFill>
                <a:schemeClr val="bg2"/>
              </a:solidFill>
            </a:endParaRPr>
          </a:p>
          <a:p>
            <a:pPr lvl="1" eaLnBrk="1" hangingPunct="1">
              <a:lnSpc>
                <a:spcPct val="150000"/>
              </a:lnSpc>
              <a:spcBef>
                <a:spcPts val="0"/>
              </a:spcBef>
              <a:spcAft>
                <a:spcPts val="0"/>
              </a:spcAft>
            </a:pPr>
            <a:r>
              <a:rPr lang="zh-CN" altLang="en-US" dirty="0">
                <a:solidFill>
                  <a:schemeClr val="bg2"/>
                </a:solidFill>
              </a:rPr>
              <a:t>数据流建模</a:t>
            </a:r>
            <a:endParaRPr lang="en-US" altLang="zh-CN" dirty="0">
              <a:solidFill>
                <a:schemeClr val="bg2"/>
              </a:solidFill>
            </a:endParaRPr>
          </a:p>
          <a:p>
            <a:pPr lvl="1" eaLnBrk="1" hangingPunct="1">
              <a:lnSpc>
                <a:spcPct val="150000"/>
              </a:lnSpc>
              <a:spcBef>
                <a:spcPts val="0"/>
              </a:spcBef>
              <a:spcAft>
                <a:spcPts val="0"/>
              </a:spcAft>
            </a:pPr>
            <a:r>
              <a:rPr lang="zh-CN" altLang="en-US" b="1" i="1" u="sng" dirty="0">
                <a:solidFill>
                  <a:schemeClr val="bg2"/>
                </a:solidFill>
              </a:rPr>
              <a:t>行为级建模</a:t>
            </a:r>
          </a:p>
          <a:p>
            <a:pPr eaLnBrk="1" hangingPunct="1">
              <a:lnSpc>
                <a:spcPct val="150000"/>
              </a:lnSpc>
              <a:spcBef>
                <a:spcPts val="600"/>
              </a:spcBef>
              <a:spcAft>
                <a:spcPts val="600"/>
              </a:spcAft>
            </a:pPr>
            <a:r>
              <a:rPr lang="en-US" altLang="zh-CN" dirty="0">
                <a:solidFill>
                  <a:srgbClr val="C00000"/>
                </a:solidFill>
              </a:rPr>
              <a:t>Verilog HDL</a:t>
            </a:r>
            <a:r>
              <a:rPr lang="zh-CN" altLang="en-US" dirty="0">
                <a:solidFill>
                  <a:srgbClr val="C00000"/>
                </a:solidFill>
              </a:rPr>
              <a:t>逻辑仿真验证</a:t>
            </a:r>
          </a:p>
        </p:txBody>
      </p:sp>
    </p:spTree>
    <p:extLst>
      <p:ext uri="{BB962C8B-B14F-4D97-AF65-F5344CB8AC3E}">
        <p14:creationId xmlns:p14="http://schemas.microsoft.com/office/powerpoint/2010/main" val="213006530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413DA71-EC8E-9A59-BEB6-6D417E561CEE}"/>
              </a:ext>
            </a:extLst>
          </p:cNvPr>
          <p:cNvSpPr/>
          <p:nvPr/>
        </p:nvSpPr>
        <p:spPr bwMode="auto">
          <a:xfrm>
            <a:off x="1043608" y="1340768"/>
            <a:ext cx="7704856" cy="4248472"/>
          </a:xfrm>
          <a:prstGeom prst="rect">
            <a:avLst/>
          </a:prstGeom>
          <a:no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grpSp>
        <p:nvGrpSpPr>
          <p:cNvPr id="141314" name="Group 4"/>
          <p:cNvGrpSpPr/>
          <p:nvPr/>
        </p:nvGrpSpPr>
        <p:grpSpPr>
          <a:xfrm>
            <a:off x="1219200" y="2133600"/>
            <a:ext cx="7313613" cy="3095625"/>
            <a:chOff x="768" y="1536"/>
            <a:chExt cx="4416" cy="1758"/>
          </a:xfrm>
        </p:grpSpPr>
        <p:sp>
          <p:nvSpPr>
            <p:cNvPr id="141315" name="Freeform 5"/>
            <p:cNvSpPr/>
            <p:nvPr/>
          </p:nvSpPr>
          <p:spPr>
            <a:xfrm>
              <a:off x="768" y="1584"/>
              <a:ext cx="1056" cy="1710"/>
            </a:xfrm>
            <a:custGeom>
              <a:avLst/>
              <a:gdLst/>
              <a:ahLst/>
              <a:cxnLst>
                <a:cxn ang="0">
                  <a:pos x="171" y="0"/>
                </a:cxn>
                <a:cxn ang="0">
                  <a:pos x="433" y="7"/>
                </a:cxn>
                <a:cxn ang="0">
                  <a:pos x="499" y="22"/>
                </a:cxn>
                <a:cxn ang="0">
                  <a:pos x="548" y="110"/>
                </a:cxn>
                <a:cxn ang="0">
                  <a:pos x="614" y="228"/>
                </a:cxn>
                <a:cxn ang="0">
                  <a:pos x="671" y="339"/>
                </a:cxn>
                <a:cxn ang="0">
                  <a:pos x="729" y="479"/>
                </a:cxn>
                <a:cxn ang="0">
                  <a:pos x="761" y="501"/>
                </a:cxn>
                <a:cxn ang="0">
                  <a:pos x="794" y="538"/>
                </a:cxn>
                <a:cxn ang="0">
                  <a:pos x="909" y="618"/>
                </a:cxn>
                <a:cxn ang="0">
                  <a:pos x="1015" y="722"/>
                </a:cxn>
                <a:cxn ang="0">
                  <a:pos x="1056" y="788"/>
                </a:cxn>
                <a:cxn ang="0">
                  <a:pos x="1031" y="1171"/>
                </a:cxn>
                <a:cxn ang="0">
                  <a:pos x="998" y="1282"/>
                </a:cxn>
                <a:cxn ang="0">
                  <a:pos x="941" y="1348"/>
                </a:cxn>
                <a:cxn ang="0">
                  <a:pos x="794" y="1459"/>
                </a:cxn>
                <a:cxn ang="0">
                  <a:pos x="720" y="1539"/>
                </a:cxn>
                <a:cxn ang="0">
                  <a:pos x="622" y="1635"/>
                </a:cxn>
                <a:cxn ang="0">
                  <a:pos x="474" y="1687"/>
                </a:cxn>
                <a:cxn ang="0">
                  <a:pos x="458" y="1709"/>
                </a:cxn>
                <a:cxn ang="0">
                  <a:pos x="294" y="1665"/>
                </a:cxn>
                <a:cxn ang="0">
                  <a:pos x="138" y="1635"/>
                </a:cxn>
                <a:cxn ang="0">
                  <a:pos x="8" y="1606"/>
                </a:cxn>
                <a:cxn ang="0">
                  <a:pos x="41" y="1459"/>
                </a:cxn>
                <a:cxn ang="0">
                  <a:pos x="98" y="1274"/>
                </a:cxn>
                <a:cxn ang="0">
                  <a:pos x="89" y="1201"/>
                </a:cxn>
                <a:cxn ang="0">
                  <a:pos x="41" y="1090"/>
                </a:cxn>
                <a:cxn ang="0">
                  <a:pos x="49" y="987"/>
                </a:cxn>
                <a:cxn ang="0">
                  <a:pos x="122" y="892"/>
                </a:cxn>
                <a:cxn ang="0">
                  <a:pos x="163" y="832"/>
                </a:cxn>
                <a:cxn ang="0">
                  <a:pos x="221" y="655"/>
                </a:cxn>
                <a:cxn ang="0">
                  <a:pos x="163" y="442"/>
                </a:cxn>
                <a:cxn ang="0">
                  <a:pos x="106" y="346"/>
                </a:cxn>
                <a:cxn ang="0">
                  <a:pos x="73" y="287"/>
                </a:cxn>
                <a:cxn ang="0">
                  <a:pos x="65" y="221"/>
                </a:cxn>
                <a:cxn ang="0">
                  <a:pos x="81" y="118"/>
                </a:cxn>
                <a:cxn ang="0">
                  <a:pos x="180" y="44"/>
                </a:cxn>
                <a:cxn ang="0">
                  <a:pos x="171" y="0"/>
                </a:cxn>
              </a:cxnLst>
              <a:rect l="0" t="0" r="0" b="0"/>
              <a:pathLst>
                <a:path w="1179" h="2122">
                  <a:moveTo>
                    <a:pt x="192" y="0"/>
                  </a:moveTo>
                  <a:cubicBezTo>
                    <a:pt x="289" y="3"/>
                    <a:pt x="387" y="2"/>
                    <a:pt x="484" y="9"/>
                  </a:cubicBezTo>
                  <a:cubicBezTo>
                    <a:pt x="509" y="11"/>
                    <a:pt x="558" y="28"/>
                    <a:pt x="558" y="28"/>
                  </a:cubicBezTo>
                  <a:cubicBezTo>
                    <a:pt x="571" y="68"/>
                    <a:pt x="593" y="99"/>
                    <a:pt x="612" y="137"/>
                  </a:cubicBezTo>
                  <a:cubicBezTo>
                    <a:pt x="637" y="186"/>
                    <a:pt x="655" y="238"/>
                    <a:pt x="686" y="284"/>
                  </a:cubicBezTo>
                  <a:cubicBezTo>
                    <a:pt x="702" y="332"/>
                    <a:pt x="727" y="376"/>
                    <a:pt x="750" y="421"/>
                  </a:cubicBezTo>
                  <a:cubicBezTo>
                    <a:pt x="771" y="462"/>
                    <a:pt x="784" y="559"/>
                    <a:pt x="814" y="595"/>
                  </a:cubicBezTo>
                  <a:cubicBezTo>
                    <a:pt x="824" y="607"/>
                    <a:pt x="839" y="611"/>
                    <a:pt x="850" y="622"/>
                  </a:cubicBezTo>
                  <a:cubicBezTo>
                    <a:pt x="864" y="636"/>
                    <a:pt x="873" y="655"/>
                    <a:pt x="887" y="668"/>
                  </a:cubicBezTo>
                  <a:cubicBezTo>
                    <a:pt x="927" y="705"/>
                    <a:pt x="976" y="729"/>
                    <a:pt x="1015" y="768"/>
                  </a:cubicBezTo>
                  <a:cubicBezTo>
                    <a:pt x="1044" y="797"/>
                    <a:pt x="1106" y="878"/>
                    <a:pt x="1134" y="896"/>
                  </a:cubicBezTo>
                  <a:cubicBezTo>
                    <a:pt x="1175" y="959"/>
                    <a:pt x="1163" y="930"/>
                    <a:pt x="1179" y="979"/>
                  </a:cubicBezTo>
                  <a:cubicBezTo>
                    <a:pt x="1143" y="1269"/>
                    <a:pt x="1172" y="998"/>
                    <a:pt x="1152" y="1454"/>
                  </a:cubicBezTo>
                  <a:cubicBezTo>
                    <a:pt x="1150" y="1502"/>
                    <a:pt x="1151" y="1557"/>
                    <a:pt x="1115" y="1591"/>
                  </a:cubicBezTo>
                  <a:cubicBezTo>
                    <a:pt x="1096" y="1630"/>
                    <a:pt x="1087" y="1650"/>
                    <a:pt x="1051" y="1673"/>
                  </a:cubicBezTo>
                  <a:cubicBezTo>
                    <a:pt x="1015" y="1729"/>
                    <a:pt x="941" y="1773"/>
                    <a:pt x="887" y="1811"/>
                  </a:cubicBezTo>
                  <a:cubicBezTo>
                    <a:pt x="862" y="1847"/>
                    <a:pt x="831" y="1877"/>
                    <a:pt x="804" y="1911"/>
                  </a:cubicBezTo>
                  <a:cubicBezTo>
                    <a:pt x="764" y="1960"/>
                    <a:pt x="751" y="1996"/>
                    <a:pt x="695" y="2030"/>
                  </a:cubicBezTo>
                  <a:cubicBezTo>
                    <a:pt x="643" y="2061"/>
                    <a:pt x="587" y="2076"/>
                    <a:pt x="530" y="2094"/>
                  </a:cubicBezTo>
                  <a:cubicBezTo>
                    <a:pt x="524" y="2103"/>
                    <a:pt x="523" y="2122"/>
                    <a:pt x="512" y="2121"/>
                  </a:cubicBezTo>
                  <a:cubicBezTo>
                    <a:pt x="449" y="2113"/>
                    <a:pt x="390" y="2083"/>
                    <a:pt x="329" y="2067"/>
                  </a:cubicBezTo>
                  <a:cubicBezTo>
                    <a:pt x="0" y="1980"/>
                    <a:pt x="310" y="2067"/>
                    <a:pt x="155" y="2030"/>
                  </a:cubicBezTo>
                  <a:cubicBezTo>
                    <a:pt x="106" y="2018"/>
                    <a:pt x="9" y="1993"/>
                    <a:pt x="9" y="1993"/>
                  </a:cubicBezTo>
                  <a:cubicBezTo>
                    <a:pt x="30" y="1931"/>
                    <a:pt x="15" y="1870"/>
                    <a:pt x="46" y="1811"/>
                  </a:cubicBezTo>
                  <a:cubicBezTo>
                    <a:pt x="59" y="1731"/>
                    <a:pt x="93" y="1661"/>
                    <a:pt x="110" y="1582"/>
                  </a:cubicBezTo>
                  <a:cubicBezTo>
                    <a:pt x="100" y="1545"/>
                    <a:pt x="88" y="1527"/>
                    <a:pt x="100" y="1491"/>
                  </a:cubicBezTo>
                  <a:cubicBezTo>
                    <a:pt x="61" y="1450"/>
                    <a:pt x="57" y="1408"/>
                    <a:pt x="46" y="1353"/>
                  </a:cubicBezTo>
                  <a:cubicBezTo>
                    <a:pt x="49" y="1310"/>
                    <a:pt x="48" y="1267"/>
                    <a:pt x="55" y="1225"/>
                  </a:cubicBezTo>
                  <a:cubicBezTo>
                    <a:pt x="61" y="1192"/>
                    <a:pt x="117" y="1134"/>
                    <a:pt x="137" y="1107"/>
                  </a:cubicBezTo>
                  <a:cubicBezTo>
                    <a:pt x="147" y="1075"/>
                    <a:pt x="160" y="1056"/>
                    <a:pt x="183" y="1033"/>
                  </a:cubicBezTo>
                  <a:cubicBezTo>
                    <a:pt x="208" y="958"/>
                    <a:pt x="234" y="893"/>
                    <a:pt x="247" y="814"/>
                  </a:cubicBezTo>
                  <a:cubicBezTo>
                    <a:pt x="240" y="716"/>
                    <a:pt x="243" y="628"/>
                    <a:pt x="183" y="549"/>
                  </a:cubicBezTo>
                  <a:cubicBezTo>
                    <a:pt x="169" y="506"/>
                    <a:pt x="141" y="470"/>
                    <a:pt x="119" y="430"/>
                  </a:cubicBezTo>
                  <a:cubicBezTo>
                    <a:pt x="106" y="406"/>
                    <a:pt x="82" y="357"/>
                    <a:pt x="82" y="357"/>
                  </a:cubicBezTo>
                  <a:cubicBezTo>
                    <a:pt x="79" y="330"/>
                    <a:pt x="73" y="302"/>
                    <a:pt x="73" y="275"/>
                  </a:cubicBezTo>
                  <a:cubicBezTo>
                    <a:pt x="73" y="232"/>
                    <a:pt x="64" y="181"/>
                    <a:pt x="91" y="147"/>
                  </a:cubicBezTo>
                  <a:cubicBezTo>
                    <a:pt x="115" y="117"/>
                    <a:pt x="170" y="86"/>
                    <a:pt x="201" y="55"/>
                  </a:cubicBezTo>
                  <a:lnTo>
                    <a:pt x="192" y="0"/>
                  </a:lnTo>
                  <a:close/>
                </a:path>
              </a:pathLst>
            </a:custGeom>
            <a:solidFill>
              <a:schemeClr val="bg1"/>
            </a:solidFill>
            <a:ln w="9525" cap="flat" cmpd="sng">
              <a:solidFill>
                <a:schemeClr val="tx1"/>
              </a:solidFill>
              <a:prstDash val="solid"/>
              <a:round/>
              <a:headEnd type="none" w="med" len="med"/>
              <a:tailEnd type="none" w="med" len="med"/>
            </a:ln>
          </p:spPr>
          <p:txBody>
            <a:bodyPr/>
            <a:lstStyle/>
            <a:p>
              <a:endParaRPr lang="zh-CN" altLang="en-US"/>
            </a:p>
          </p:txBody>
        </p:sp>
        <p:sp>
          <p:nvSpPr>
            <p:cNvPr id="141316" name="Freeform 6"/>
            <p:cNvSpPr/>
            <p:nvPr/>
          </p:nvSpPr>
          <p:spPr>
            <a:xfrm>
              <a:off x="4224" y="1584"/>
              <a:ext cx="816" cy="1488"/>
            </a:xfrm>
            <a:custGeom>
              <a:avLst/>
              <a:gdLst/>
              <a:ahLst/>
              <a:cxnLst>
                <a:cxn ang="0">
                  <a:pos x="7" y="443"/>
                </a:cxn>
                <a:cxn ang="0">
                  <a:pos x="58" y="142"/>
                </a:cxn>
                <a:cxn ang="0">
                  <a:pos x="71" y="115"/>
                </a:cxn>
                <a:cxn ang="0">
                  <a:pos x="155" y="94"/>
                </a:cxn>
                <a:cxn ang="0">
                  <a:pos x="246" y="94"/>
                </a:cxn>
                <a:cxn ang="0">
                  <a:pos x="259" y="53"/>
                </a:cxn>
                <a:cxn ang="0">
                  <a:pos x="279" y="40"/>
                </a:cxn>
                <a:cxn ang="0">
                  <a:pos x="330" y="67"/>
                </a:cxn>
                <a:cxn ang="0">
                  <a:pos x="434" y="20"/>
                </a:cxn>
                <a:cxn ang="0">
                  <a:pos x="446" y="5"/>
                </a:cxn>
                <a:cxn ang="0">
                  <a:pos x="596" y="101"/>
                </a:cxn>
                <a:cxn ang="0">
                  <a:pos x="641" y="149"/>
                </a:cxn>
                <a:cxn ang="0">
                  <a:pos x="673" y="197"/>
                </a:cxn>
                <a:cxn ang="0">
                  <a:pos x="699" y="265"/>
                </a:cxn>
                <a:cxn ang="0">
                  <a:pos x="712" y="307"/>
                </a:cxn>
                <a:cxn ang="0">
                  <a:pos x="718" y="327"/>
                </a:cxn>
                <a:cxn ang="0">
                  <a:pos x="745" y="470"/>
                </a:cxn>
                <a:cxn ang="0">
                  <a:pos x="770" y="546"/>
                </a:cxn>
                <a:cxn ang="0">
                  <a:pos x="790" y="627"/>
                </a:cxn>
                <a:cxn ang="0">
                  <a:pos x="803" y="668"/>
                </a:cxn>
                <a:cxn ang="0">
                  <a:pos x="809" y="750"/>
                </a:cxn>
                <a:cxn ang="0">
                  <a:pos x="816" y="1017"/>
                </a:cxn>
                <a:cxn ang="0">
                  <a:pos x="732" y="1344"/>
                </a:cxn>
                <a:cxn ang="0">
                  <a:pos x="602" y="1481"/>
                </a:cxn>
                <a:cxn ang="0">
                  <a:pos x="518" y="1488"/>
                </a:cxn>
                <a:cxn ang="0">
                  <a:pos x="174" y="1433"/>
                </a:cxn>
                <a:cxn ang="0">
                  <a:pos x="116" y="1399"/>
                </a:cxn>
                <a:cxn ang="0">
                  <a:pos x="71" y="1263"/>
                </a:cxn>
                <a:cxn ang="0">
                  <a:pos x="38" y="1139"/>
                </a:cxn>
                <a:cxn ang="0">
                  <a:pos x="52" y="1071"/>
                </a:cxn>
                <a:cxn ang="0">
                  <a:pos x="123" y="770"/>
                </a:cxn>
                <a:cxn ang="0">
                  <a:pos x="84" y="716"/>
                </a:cxn>
                <a:cxn ang="0">
                  <a:pos x="58" y="641"/>
                </a:cxn>
                <a:cxn ang="0">
                  <a:pos x="32" y="525"/>
                </a:cxn>
                <a:cxn ang="0">
                  <a:pos x="13" y="436"/>
                </a:cxn>
                <a:cxn ang="0">
                  <a:pos x="7" y="409"/>
                </a:cxn>
                <a:cxn ang="0">
                  <a:pos x="7" y="443"/>
                </a:cxn>
              </a:cxnLst>
              <a:rect l="0" t="0" r="0" b="0"/>
              <a:pathLst>
                <a:path w="1152" h="1992">
                  <a:moveTo>
                    <a:pt x="10" y="594"/>
                  </a:moveTo>
                  <a:cubicBezTo>
                    <a:pt x="16" y="467"/>
                    <a:pt x="9" y="301"/>
                    <a:pt x="83" y="191"/>
                  </a:cubicBezTo>
                  <a:cubicBezTo>
                    <a:pt x="90" y="180"/>
                    <a:pt x="90" y="163"/>
                    <a:pt x="101" y="155"/>
                  </a:cubicBezTo>
                  <a:cubicBezTo>
                    <a:pt x="119" y="143"/>
                    <a:pt x="198" y="131"/>
                    <a:pt x="220" y="127"/>
                  </a:cubicBezTo>
                  <a:cubicBezTo>
                    <a:pt x="258" y="134"/>
                    <a:pt x="312" y="150"/>
                    <a:pt x="348" y="127"/>
                  </a:cubicBezTo>
                  <a:cubicBezTo>
                    <a:pt x="364" y="117"/>
                    <a:pt x="356" y="88"/>
                    <a:pt x="366" y="72"/>
                  </a:cubicBezTo>
                  <a:cubicBezTo>
                    <a:pt x="372" y="63"/>
                    <a:pt x="385" y="60"/>
                    <a:pt x="394" y="54"/>
                  </a:cubicBezTo>
                  <a:cubicBezTo>
                    <a:pt x="421" y="75"/>
                    <a:pt x="431" y="91"/>
                    <a:pt x="467" y="91"/>
                  </a:cubicBezTo>
                  <a:cubicBezTo>
                    <a:pt x="511" y="91"/>
                    <a:pt x="569" y="44"/>
                    <a:pt x="613" y="27"/>
                  </a:cubicBezTo>
                  <a:cubicBezTo>
                    <a:pt x="619" y="21"/>
                    <a:pt x="622" y="9"/>
                    <a:pt x="631" y="8"/>
                  </a:cubicBezTo>
                  <a:cubicBezTo>
                    <a:pt x="686" y="0"/>
                    <a:pt x="794" y="104"/>
                    <a:pt x="842" y="136"/>
                  </a:cubicBezTo>
                  <a:cubicBezTo>
                    <a:pt x="861" y="165"/>
                    <a:pt x="885" y="174"/>
                    <a:pt x="906" y="200"/>
                  </a:cubicBezTo>
                  <a:cubicBezTo>
                    <a:pt x="922" y="220"/>
                    <a:pt x="935" y="243"/>
                    <a:pt x="951" y="264"/>
                  </a:cubicBezTo>
                  <a:cubicBezTo>
                    <a:pt x="962" y="307"/>
                    <a:pt x="975" y="313"/>
                    <a:pt x="988" y="356"/>
                  </a:cubicBezTo>
                  <a:cubicBezTo>
                    <a:pt x="993" y="375"/>
                    <a:pt x="1000" y="393"/>
                    <a:pt x="1006" y="411"/>
                  </a:cubicBezTo>
                  <a:cubicBezTo>
                    <a:pt x="1009" y="420"/>
                    <a:pt x="1015" y="438"/>
                    <a:pt x="1015" y="438"/>
                  </a:cubicBezTo>
                  <a:cubicBezTo>
                    <a:pt x="1024" y="502"/>
                    <a:pt x="1032" y="568"/>
                    <a:pt x="1052" y="630"/>
                  </a:cubicBezTo>
                  <a:cubicBezTo>
                    <a:pt x="1063" y="664"/>
                    <a:pt x="1079" y="696"/>
                    <a:pt x="1088" y="731"/>
                  </a:cubicBezTo>
                  <a:cubicBezTo>
                    <a:pt x="1097" y="767"/>
                    <a:pt x="1105" y="804"/>
                    <a:pt x="1116" y="840"/>
                  </a:cubicBezTo>
                  <a:cubicBezTo>
                    <a:pt x="1121" y="858"/>
                    <a:pt x="1134" y="895"/>
                    <a:pt x="1134" y="895"/>
                  </a:cubicBezTo>
                  <a:cubicBezTo>
                    <a:pt x="1137" y="932"/>
                    <a:pt x="1142" y="968"/>
                    <a:pt x="1143" y="1005"/>
                  </a:cubicBezTo>
                  <a:cubicBezTo>
                    <a:pt x="1148" y="1124"/>
                    <a:pt x="1152" y="1243"/>
                    <a:pt x="1152" y="1362"/>
                  </a:cubicBezTo>
                  <a:cubicBezTo>
                    <a:pt x="1152" y="1570"/>
                    <a:pt x="1145" y="1646"/>
                    <a:pt x="1034" y="1800"/>
                  </a:cubicBezTo>
                  <a:cubicBezTo>
                    <a:pt x="991" y="1860"/>
                    <a:pt x="936" y="1968"/>
                    <a:pt x="851" y="1983"/>
                  </a:cubicBezTo>
                  <a:cubicBezTo>
                    <a:pt x="812" y="1990"/>
                    <a:pt x="772" y="1989"/>
                    <a:pt x="732" y="1992"/>
                  </a:cubicBezTo>
                  <a:cubicBezTo>
                    <a:pt x="572" y="1976"/>
                    <a:pt x="401" y="1968"/>
                    <a:pt x="247" y="1919"/>
                  </a:cubicBezTo>
                  <a:cubicBezTo>
                    <a:pt x="184" y="1878"/>
                    <a:pt x="213" y="1890"/>
                    <a:pt x="165" y="1874"/>
                  </a:cubicBezTo>
                  <a:cubicBezTo>
                    <a:pt x="112" y="1819"/>
                    <a:pt x="116" y="1764"/>
                    <a:pt x="101" y="1691"/>
                  </a:cubicBezTo>
                  <a:cubicBezTo>
                    <a:pt x="95" y="1631"/>
                    <a:pt x="100" y="1569"/>
                    <a:pt x="55" y="1526"/>
                  </a:cubicBezTo>
                  <a:cubicBezTo>
                    <a:pt x="37" y="1472"/>
                    <a:pt x="47" y="1521"/>
                    <a:pt x="74" y="1435"/>
                  </a:cubicBezTo>
                  <a:cubicBezTo>
                    <a:pt x="116" y="1303"/>
                    <a:pt x="141" y="1166"/>
                    <a:pt x="174" y="1032"/>
                  </a:cubicBezTo>
                  <a:cubicBezTo>
                    <a:pt x="133" y="971"/>
                    <a:pt x="153" y="993"/>
                    <a:pt x="119" y="959"/>
                  </a:cubicBezTo>
                  <a:cubicBezTo>
                    <a:pt x="110" y="924"/>
                    <a:pt x="92" y="894"/>
                    <a:pt x="83" y="859"/>
                  </a:cubicBezTo>
                  <a:cubicBezTo>
                    <a:pt x="70" y="807"/>
                    <a:pt x="57" y="755"/>
                    <a:pt x="46" y="703"/>
                  </a:cubicBezTo>
                  <a:cubicBezTo>
                    <a:pt x="37" y="663"/>
                    <a:pt x="27" y="625"/>
                    <a:pt x="19" y="584"/>
                  </a:cubicBezTo>
                  <a:cubicBezTo>
                    <a:pt x="17" y="572"/>
                    <a:pt x="18" y="539"/>
                    <a:pt x="10" y="548"/>
                  </a:cubicBezTo>
                  <a:cubicBezTo>
                    <a:pt x="0" y="559"/>
                    <a:pt x="10" y="579"/>
                    <a:pt x="10" y="594"/>
                  </a:cubicBezTo>
                  <a:close/>
                </a:path>
              </a:pathLst>
            </a:custGeom>
            <a:solidFill>
              <a:schemeClr val="bg1"/>
            </a:solidFill>
            <a:ln w="9525" cap="flat" cmpd="sng">
              <a:solidFill>
                <a:schemeClr val="tx1"/>
              </a:solidFill>
              <a:prstDash val="solid"/>
              <a:round/>
              <a:headEnd type="none" w="med" len="med"/>
              <a:tailEnd type="none" w="med" len="med"/>
            </a:ln>
          </p:spPr>
          <p:txBody>
            <a:bodyPr/>
            <a:lstStyle/>
            <a:p>
              <a:endParaRPr lang="zh-CN" altLang="en-US"/>
            </a:p>
          </p:txBody>
        </p:sp>
        <p:grpSp>
          <p:nvGrpSpPr>
            <p:cNvPr id="141317" name="Group 7"/>
            <p:cNvGrpSpPr/>
            <p:nvPr/>
          </p:nvGrpSpPr>
          <p:grpSpPr>
            <a:xfrm>
              <a:off x="2976" y="2112"/>
              <a:ext cx="240" cy="192"/>
              <a:chOff x="4464" y="2928"/>
              <a:chExt cx="240" cy="192"/>
            </a:xfrm>
          </p:grpSpPr>
          <p:sp>
            <p:nvSpPr>
              <p:cNvPr id="141318" name="Oval 8"/>
              <p:cNvSpPr/>
              <p:nvPr/>
            </p:nvSpPr>
            <p:spPr>
              <a:xfrm>
                <a:off x="4512" y="2928"/>
                <a:ext cx="192" cy="192"/>
              </a:xfrm>
              <a:prstGeom prst="ellipse">
                <a:avLst/>
              </a:prstGeom>
              <a:solidFill>
                <a:srgbClr val="99CC00"/>
              </a:solidFill>
              <a:ln w="9525">
                <a:noFill/>
              </a:ln>
            </p:spPr>
            <p:txBody>
              <a:bodyPr wrap="none" lIns="0" tIns="0" rIns="0" bIns="0" anchor="ctr"/>
              <a:lstStyle/>
              <a:p>
                <a:endParaRPr lang="zh-CN" altLang="en-US">
                  <a:latin typeface="Tahoma" panose="020B0604030504040204" pitchFamily="34" charset="0"/>
                  <a:ea typeface="宋体" panose="02010600030101010101" pitchFamily="2" charset="-122"/>
                </a:endParaRPr>
              </a:p>
            </p:txBody>
          </p:sp>
          <p:sp>
            <p:nvSpPr>
              <p:cNvPr id="141319" name="Rectangle 9"/>
              <p:cNvSpPr/>
              <p:nvPr/>
            </p:nvSpPr>
            <p:spPr>
              <a:xfrm>
                <a:off x="4464" y="2928"/>
                <a:ext cx="144" cy="192"/>
              </a:xfrm>
              <a:prstGeom prst="rect">
                <a:avLst/>
              </a:prstGeom>
              <a:solidFill>
                <a:srgbClr val="99CC00"/>
              </a:solidFill>
              <a:ln w="9525">
                <a:noFill/>
              </a:ln>
            </p:spPr>
            <p:txBody>
              <a:bodyPr wrap="none" lIns="0" tIns="0" rIns="0" bIns="0" anchor="ctr"/>
              <a:lstStyle/>
              <a:p>
                <a:endParaRPr lang="zh-CN" altLang="en-US">
                  <a:latin typeface="Tahoma" panose="020B0604030504040204" pitchFamily="34" charset="0"/>
                  <a:ea typeface="宋体" panose="02010600030101010101" pitchFamily="2" charset="-122"/>
                </a:endParaRPr>
              </a:p>
            </p:txBody>
          </p:sp>
        </p:grpSp>
        <p:grpSp>
          <p:nvGrpSpPr>
            <p:cNvPr id="141320" name="Group 10"/>
            <p:cNvGrpSpPr/>
            <p:nvPr/>
          </p:nvGrpSpPr>
          <p:grpSpPr>
            <a:xfrm>
              <a:off x="3456" y="2160"/>
              <a:ext cx="240" cy="192"/>
              <a:chOff x="4464" y="2928"/>
              <a:chExt cx="240" cy="192"/>
            </a:xfrm>
          </p:grpSpPr>
          <p:sp>
            <p:nvSpPr>
              <p:cNvPr id="141321" name="Oval 11"/>
              <p:cNvSpPr/>
              <p:nvPr/>
            </p:nvSpPr>
            <p:spPr>
              <a:xfrm>
                <a:off x="4512" y="2928"/>
                <a:ext cx="192" cy="192"/>
              </a:xfrm>
              <a:prstGeom prst="ellipse">
                <a:avLst/>
              </a:prstGeom>
              <a:solidFill>
                <a:srgbClr val="99CC00"/>
              </a:solidFill>
              <a:ln w="9525">
                <a:noFill/>
              </a:ln>
            </p:spPr>
            <p:txBody>
              <a:bodyPr wrap="none" lIns="0" tIns="0" rIns="0" bIns="0" anchor="ctr"/>
              <a:lstStyle/>
              <a:p>
                <a:endParaRPr lang="zh-CN" altLang="en-US">
                  <a:latin typeface="Tahoma" panose="020B0604030504040204" pitchFamily="34" charset="0"/>
                  <a:ea typeface="宋体" panose="02010600030101010101" pitchFamily="2" charset="-122"/>
                </a:endParaRPr>
              </a:p>
            </p:txBody>
          </p:sp>
          <p:sp>
            <p:nvSpPr>
              <p:cNvPr id="141322" name="Rectangle 12"/>
              <p:cNvSpPr/>
              <p:nvPr/>
            </p:nvSpPr>
            <p:spPr>
              <a:xfrm>
                <a:off x="4464" y="2928"/>
                <a:ext cx="144" cy="192"/>
              </a:xfrm>
              <a:prstGeom prst="rect">
                <a:avLst/>
              </a:prstGeom>
              <a:solidFill>
                <a:srgbClr val="99CC00"/>
              </a:solidFill>
              <a:ln w="9525">
                <a:noFill/>
              </a:ln>
            </p:spPr>
            <p:txBody>
              <a:bodyPr wrap="none" lIns="0" tIns="0" rIns="0" bIns="0" anchor="ctr"/>
              <a:lstStyle/>
              <a:p>
                <a:endParaRPr lang="zh-CN" altLang="en-US">
                  <a:latin typeface="Tahoma" panose="020B0604030504040204" pitchFamily="34" charset="0"/>
                  <a:ea typeface="宋体" panose="02010600030101010101" pitchFamily="2" charset="-122"/>
                </a:endParaRPr>
              </a:p>
            </p:txBody>
          </p:sp>
        </p:grpSp>
        <p:grpSp>
          <p:nvGrpSpPr>
            <p:cNvPr id="141323" name="Group 13"/>
            <p:cNvGrpSpPr/>
            <p:nvPr/>
          </p:nvGrpSpPr>
          <p:grpSpPr>
            <a:xfrm>
              <a:off x="2976" y="2400"/>
              <a:ext cx="240" cy="192"/>
              <a:chOff x="4464" y="2928"/>
              <a:chExt cx="240" cy="192"/>
            </a:xfrm>
          </p:grpSpPr>
          <p:sp>
            <p:nvSpPr>
              <p:cNvPr id="141324" name="Oval 14"/>
              <p:cNvSpPr/>
              <p:nvPr/>
            </p:nvSpPr>
            <p:spPr>
              <a:xfrm>
                <a:off x="4512" y="2928"/>
                <a:ext cx="192" cy="192"/>
              </a:xfrm>
              <a:prstGeom prst="ellipse">
                <a:avLst/>
              </a:prstGeom>
              <a:solidFill>
                <a:srgbClr val="99CC00"/>
              </a:solidFill>
              <a:ln w="9525">
                <a:noFill/>
              </a:ln>
            </p:spPr>
            <p:txBody>
              <a:bodyPr wrap="none" lIns="0" tIns="0" rIns="0" bIns="0" anchor="ctr"/>
              <a:lstStyle/>
              <a:p>
                <a:endParaRPr lang="zh-CN" altLang="en-US">
                  <a:latin typeface="Tahoma" panose="020B0604030504040204" pitchFamily="34" charset="0"/>
                  <a:ea typeface="宋体" panose="02010600030101010101" pitchFamily="2" charset="-122"/>
                </a:endParaRPr>
              </a:p>
            </p:txBody>
          </p:sp>
          <p:sp>
            <p:nvSpPr>
              <p:cNvPr id="141325" name="Rectangle 15"/>
              <p:cNvSpPr/>
              <p:nvPr/>
            </p:nvSpPr>
            <p:spPr>
              <a:xfrm>
                <a:off x="4464" y="2928"/>
                <a:ext cx="144" cy="192"/>
              </a:xfrm>
              <a:prstGeom prst="rect">
                <a:avLst/>
              </a:prstGeom>
              <a:solidFill>
                <a:srgbClr val="99CC00"/>
              </a:solidFill>
              <a:ln w="9525">
                <a:noFill/>
              </a:ln>
            </p:spPr>
            <p:txBody>
              <a:bodyPr wrap="none" lIns="0" tIns="0" rIns="0" bIns="0" anchor="ctr"/>
              <a:lstStyle/>
              <a:p>
                <a:endParaRPr lang="zh-CN" altLang="en-US">
                  <a:latin typeface="Tahoma" panose="020B0604030504040204" pitchFamily="34" charset="0"/>
                  <a:ea typeface="宋体" panose="02010600030101010101" pitchFamily="2" charset="-122"/>
                </a:endParaRPr>
              </a:p>
            </p:txBody>
          </p:sp>
        </p:grpSp>
        <p:grpSp>
          <p:nvGrpSpPr>
            <p:cNvPr id="141326" name="Group 16"/>
            <p:cNvGrpSpPr/>
            <p:nvPr/>
          </p:nvGrpSpPr>
          <p:grpSpPr>
            <a:xfrm>
              <a:off x="2496" y="2064"/>
              <a:ext cx="240" cy="192"/>
              <a:chOff x="4464" y="2928"/>
              <a:chExt cx="240" cy="192"/>
            </a:xfrm>
          </p:grpSpPr>
          <p:sp>
            <p:nvSpPr>
              <p:cNvPr id="141327" name="Oval 17"/>
              <p:cNvSpPr/>
              <p:nvPr/>
            </p:nvSpPr>
            <p:spPr>
              <a:xfrm>
                <a:off x="4512" y="2928"/>
                <a:ext cx="192" cy="192"/>
              </a:xfrm>
              <a:prstGeom prst="ellipse">
                <a:avLst/>
              </a:prstGeom>
              <a:solidFill>
                <a:srgbClr val="99CC00"/>
              </a:solidFill>
              <a:ln w="9525">
                <a:noFill/>
              </a:ln>
            </p:spPr>
            <p:txBody>
              <a:bodyPr wrap="none" lIns="0" tIns="0" rIns="0" bIns="0" anchor="ctr"/>
              <a:lstStyle/>
              <a:p>
                <a:endParaRPr lang="zh-CN" altLang="en-US">
                  <a:latin typeface="Tahoma" panose="020B0604030504040204" pitchFamily="34" charset="0"/>
                  <a:ea typeface="宋体" panose="02010600030101010101" pitchFamily="2" charset="-122"/>
                </a:endParaRPr>
              </a:p>
            </p:txBody>
          </p:sp>
          <p:sp>
            <p:nvSpPr>
              <p:cNvPr id="141328" name="Rectangle 18"/>
              <p:cNvSpPr/>
              <p:nvPr/>
            </p:nvSpPr>
            <p:spPr>
              <a:xfrm>
                <a:off x="4464" y="2928"/>
                <a:ext cx="144" cy="192"/>
              </a:xfrm>
              <a:prstGeom prst="rect">
                <a:avLst/>
              </a:prstGeom>
              <a:solidFill>
                <a:srgbClr val="99CC00"/>
              </a:solidFill>
              <a:ln w="9525">
                <a:noFill/>
              </a:ln>
            </p:spPr>
            <p:txBody>
              <a:bodyPr wrap="none" lIns="0" tIns="0" rIns="0" bIns="0" anchor="ctr"/>
              <a:lstStyle/>
              <a:p>
                <a:endParaRPr lang="zh-CN" altLang="en-US">
                  <a:latin typeface="Tahoma" panose="020B0604030504040204" pitchFamily="34" charset="0"/>
                  <a:ea typeface="宋体" panose="02010600030101010101" pitchFamily="2" charset="-122"/>
                </a:endParaRPr>
              </a:p>
            </p:txBody>
          </p:sp>
        </p:grpSp>
        <p:sp>
          <p:nvSpPr>
            <p:cNvPr id="141329" name="Line 19"/>
            <p:cNvSpPr/>
            <p:nvPr/>
          </p:nvSpPr>
          <p:spPr>
            <a:xfrm>
              <a:off x="2736" y="2160"/>
              <a:ext cx="240" cy="0"/>
            </a:xfrm>
            <a:prstGeom prst="line">
              <a:avLst/>
            </a:prstGeom>
            <a:ln w="9525" cap="flat" cmpd="sng">
              <a:solidFill>
                <a:schemeClr val="tx1"/>
              </a:solidFill>
              <a:prstDash val="solid"/>
              <a:round/>
              <a:headEnd type="none" w="med" len="med"/>
              <a:tailEnd type="none" w="med" len="med"/>
            </a:ln>
          </p:spPr>
          <p:txBody>
            <a:bodyPr lIns="0" tIns="0" rIns="0" bIns="0" anchor="t"/>
            <a:lstStyle/>
            <a:p>
              <a:endParaRPr lang="zh-CN" altLang="en-US">
                <a:latin typeface="Tahoma" panose="020B0604030504040204" pitchFamily="34" charset="0"/>
                <a:ea typeface="宋体" panose="02010600030101010101" pitchFamily="2" charset="-122"/>
              </a:endParaRPr>
            </a:p>
          </p:txBody>
        </p:sp>
        <p:sp>
          <p:nvSpPr>
            <p:cNvPr id="141330" name="Line 20"/>
            <p:cNvSpPr/>
            <p:nvPr/>
          </p:nvSpPr>
          <p:spPr>
            <a:xfrm>
              <a:off x="1824" y="2448"/>
              <a:ext cx="1152" cy="0"/>
            </a:xfrm>
            <a:prstGeom prst="line">
              <a:avLst/>
            </a:prstGeom>
            <a:ln w="9525" cap="flat" cmpd="sng">
              <a:solidFill>
                <a:schemeClr val="tx1"/>
              </a:solidFill>
              <a:prstDash val="solid"/>
              <a:round/>
              <a:headEnd type="none" w="med" len="med"/>
              <a:tailEnd type="none" w="med" len="med"/>
            </a:ln>
          </p:spPr>
          <p:txBody>
            <a:bodyPr lIns="0" tIns="0" rIns="0" bIns="0" anchor="t"/>
            <a:lstStyle/>
            <a:p>
              <a:endParaRPr lang="zh-CN" altLang="en-US">
                <a:latin typeface="Tahoma" panose="020B0604030504040204" pitchFamily="34" charset="0"/>
                <a:ea typeface="宋体" panose="02010600030101010101" pitchFamily="2" charset="-122"/>
              </a:endParaRPr>
            </a:p>
          </p:txBody>
        </p:sp>
        <p:sp>
          <p:nvSpPr>
            <p:cNvPr id="141331" name="Line 21"/>
            <p:cNvSpPr/>
            <p:nvPr/>
          </p:nvSpPr>
          <p:spPr>
            <a:xfrm>
              <a:off x="3216" y="2208"/>
              <a:ext cx="240" cy="0"/>
            </a:xfrm>
            <a:prstGeom prst="line">
              <a:avLst/>
            </a:prstGeom>
            <a:ln w="9525" cap="flat" cmpd="sng">
              <a:solidFill>
                <a:schemeClr val="tx1"/>
              </a:solidFill>
              <a:prstDash val="solid"/>
              <a:round/>
              <a:headEnd type="none" w="med" len="med"/>
              <a:tailEnd type="none" w="med" len="med"/>
            </a:ln>
          </p:spPr>
          <p:txBody>
            <a:bodyPr lIns="0" tIns="0" rIns="0" bIns="0" anchor="t"/>
            <a:lstStyle/>
            <a:p>
              <a:endParaRPr lang="zh-CN" altLang="en-US">
                <a:latin typeface="Tahoma" panose="020B0604030504040204" pitchFamily="34" charset="0"/>
                <a:ea typeface="宋体" panose="02010600030101010101" pitchFamily="2" charset="-122"/>
              </a:endParaRPr>
            </a:p>
          </p:txBody>
        </p:sp>
        <p:sp>
          <p:nvSpPr>
            <p:cNvPr id="141332" name="Line 22"/>
            <p:cNvSpPr/>
            <p:nvPr/>
          </p:nvSpPr>
          <p:spPr>
            <a:xfrm>
              <a:off x="3312" y="2304"/>
              <a:ext cx="144" cy="0"/>
            </a:xfrm>
            <a:prstGeom prst="line">
              <a:avLst/>
            </a:prstGeom>
            <a:ln w="9525" cap="flat" cmpd="sng">
              <a:solidFill>
                <a:schemeClr val="tx1"/>
              </a:solidFill>
              <a:prstDash val="solid"/>
              <a:round/>
              <a:headEnd type="none" w="med" len="med"/>
              <a:tailEnd type="none" w="med" len="med"/>
            </a:ln>
          </p:spPr>
          <p:txBody>
            <a:bodyPr lIns="0" tIns="0" rIns="0" bIns="0" anchor="t"/>
            <a:lstStyle/>
            <a:p>
              <a:endParaRPr lang="zh-CN" altLang="en-US">
                <a:latin typeface="Tahoma" panose="020B0604030504040204" pitchFamily="34" charset="0"/>
                <a:ea typeface="宋体" panose="02010600030101010101" pitchFamily="2" charset="-122"/>
              </a:endParaRPr>
            </a:p>
          </p:txBody>
        </p:sp>
        <p:sp>
          <p:nvSpPr>
            <p:cNvPr id="141333" name="Line 23"/>
            <p:cNvSpPr/>
            <p:nvPr/>
          </p:nvSpPr>
          <p:spPr>
            <a:xfrm>
              <a:off x="3696" y="2256"/>
              <a:ext cx="576" cy="0"/>
            </a:xfrm>
            <a:prstGeom prst="line">
              <a:avLst/>
            </a:prstGeom>
            <a:ln w="9525" cap="flat" cmpd="sng">
              <a:solidFill>
                <a:schemeClr val="tx1"/>
              </a:solidFill>
              <a:prstDash val="solid"/>
              <a:round/>
              <a:headEnd type="none" w="med" len="med"/>
              <a:tailEnd type="none" w="med" len="med"/>
            </a:ln>
          </p:spPr>
          <p:txBody>
            <a:bodyPr lIns="0" tIns="0" rIns="0" bIns="0" anchor="t"/>
            <a:lstStyle/>
            <a:p>
              <a:endParaRPr lang="zh-CN" altLang="en-US">
                <a:latin typeface="Tahoma" panose="020B0604030504040204" pitchFamily="34" charset="0"/>
                <a:ea typeface="宋体" panose="02010600030101010101" pitchFamily="2" charset="-122"/>
              </a:endParaRPr>
            </a:p>
          </p:txBody>
        </p:sp>
        <p:sp>
          <p:nvSpPr>
            <p:cNvPr id="141334" name="Line 24"/>
            <p:cNvSpPr/>
            <p:nvPr/>
          </p:nvSpPr>
          <p:spPr>
            <a:xfrm>
              <a:off x="3312" y="2304"/>
              <a:ext cx="0" cy="192"/>
            </a:xfrm>
            <a:prstGeom prst="line">
              <a:avLst/>
            </a:prstGeom>
            <a:ln w="9525" cap="flat" cmpd="sng">
              <a:solidFill>
                <a:schemeClr val="tx1"/>
              </a:solidFill>
              <a:prstDash val="solid"/>
              <a:round/>
              <a:headEnd type="none" w="med" len="med"/>
              <a:tailEnd type="none" w="med" len="med"/>
            </a:ln>
          </p:spPr>
          <p:txBody>
            <a:bodyPr lIns="0" tIns="0" rIns="0" bIns="0" anchor="t"/>
            <a:lstStyle/>
            <a:p>
              <a:endParaRPr lang="zh-CN" altLang="en-US">
                <a:latin typeface="Tahoma" panose="020B0604030504040204" pitchFamily="34" charset="0"/>
                <a:ea typeface="宋体" panose="02010600030101010101" pitchFamily="2" charset="-122"/>
              </a:endParaRPr>
            </a:p>
          </p:txBody>
        </p:sp>
        <p:sp>
          <p:nvSpPr>
            <p:cNvPr id="141335" name="Line 25"/>
            <p:cNvSpPr/>
            <p:nvPr/>
          </p:nvSpPr>
          <p:spPr>
            <a:xfrm flipV="1">
              <a:off x="3216" y="2496"/>
              <a:ext cx="96" cy="0"/>
            </a:xfrm>
            <a:prstGeom prst="line">
              <a:avLst/>
            </a:prstGeom>
            <a:ln w="9525" cap="flat" cmpd="sng">
              <a:solidFill>
                <a:schemeClr val="tx1"/>
              </a:solidFill>
              <a:prstDash val="solid"/>
              <a:round/>
              <a:headEnd type="none" w="med" len="med"/>
              <a:tailEnd type="none" w="med" len="med"/>
            </a:ln>
          </p:spPr>
          <p:txBody>
            <a:bodyPr lIns="0" tIns="0" rIns="0" bIns="0" anchor="t"/>
            <a:lstStyle/>
            <a:p>
              <a:endParaRPr lang="zh-CN" altLang="en-US">
                <a:latin typeface="Tahoma" panose="020B0604030504040204" pitchFamily="34" charset="0"/>
                <a:ea typeface="宋体" panose="02010600030101010101" pitchFamily="2" charset="-122"/>
              </a:endParaRPr>
            </a:p>
          </p:txBody>
        </p:sp>
        <p:sp>
          <p:nvSpPr>
            <p:cNvPr id="141336" name="Line 26"/>
            <p:cNvSpPr/>
            <p:nvPr/>
          </p:nvSpPr>
          <p:spPr>
            <a:xfrm flipH="1">
              <a:off x="1776" y="2544"/>
              <a:ext cx="1200" cy="0"/>
            </a:xfrm>
            <a:prstGeom prst="line">
              <a:avLst/>
            </a:prstGeom>
            <a:ln w="9525" cap="flat" cmpd="sng">
              <a:solidFill>
                <a:schemeClr val="tx1"/>
              </a:solidFill>
              <a:prstDash val="solid"/>
              <a:round/>
              <a:headEnd type="none" w="med" len="med"/>
              <a:tailEnd type="none" w="med" len="med"/>
            </a:ln>
          </p:spPr>
          <p:txBody>
            <a:bodyPr lIns="0" tIns="0" rIns="0" bIns="0" anchor="t"/>
            <a:lstStyle/>
            <a:p>
              <a:endParaRPr lang="zh-CN" altLang="en-US">
                <a:latin typeface="Tahoma" panose="020B0604030504040204" pitchFamily="34" charset="0"/>
                <a:ea typeface="宋体" panose="02010600030101010101" pitchFamily="2" charset="-122"/>
              </a:endParaRPr>
            </a:p>
          </p:txBody>
        </p:sp>
        <p:sp>
          <p:nvSpPr>
            <p:cNvPr id="141337" name="Line 27"/>
            <p:cNvSpPr/>
            <p:nvPr/>
          </p:nvSpPr>
          <p:spPr>
            <a:xfrm>
              <a:off x="1536" y="2112"/>
              <a:ext cx="960" cy="0"/>
            </a:xfrm>
            <a:prstGeom prst="line">
              <a:avLst/>
            </a:prstGeom>
            <a:ln w="9525" cap="flat" cmpd="sng">
              <a:solidFill>
                <a:schemeClr val="tx1"/>
              </a:solidFill>
              <a:prstDash val="solid"/>
              <a:round/>
              <a:headEnd type="none" w="med" len="med"/>
              <a:tailEnd type="none" w="med" len="med"/>
            </a:ln>
          </p:spPr>
          <p:txBody>
            <a:bodyPr lIns="0" tIns="0" rIns="0" bIns="0" anchor="t"/>
            <a:lstStyle/>
            <a:p>
              <a:endParaRPr lang="zh-CN" altLang="en-US">
                <a:latin typeface="Tahoma" panose="020B0604030504040204" pitchFamily="34" charset="0"/>
                <a:ea typeface="宋体" panose="02010600030101010101" pitchFamily="2" charset="-122"/>
              </a:endParaRPr>
            </a:p>
          </p:txBody>
        </p:sp>
        <p:sp>
          <p:nvSpPr>
            <p:cNvPr id="141338" name="Line 28"/>
            <p:cNvSpPr/>
            <p:nvPr/>
          </p:nvSpPr>
          <p:spPr>
            <a:xfrm>
              <a:off x="1680" y="2208"/>
              <a:ext cx="816" cy="0"/>
            </a:xfrm>
            <a:prstGeom prst="line">
              <a:avLst/>
            </a:prstGeom>
            <a:ln w="9525" cap="flat" cmpd="sng">
              <a:solidFill>
                <a:schemeClr val="tx1"/>
              </a:solidFill>
              <a:prstDash val="solid"/>
              <a:round/>
              <a:headEnd type="none" w="med" len="med"/>
              <a:tailEnd type="none" w="med" len="med"/>
            </a:ln>
          </p:spPr>
          <p:txBody>
            <a:bodyPr lIns="0" tIns="0" rIns="0" bIns="0" anchor="t"/>
            <a:lstStyle/>
            <a:p>
              <a:endParaRPr lang="zh-CN" altLang="en-US">
                <a:latin typeface="Tahoma" panose="020B0604030504040204" pitchFamily="34" charset="0"/>
                <a:ea typeface="宋体" panose="02010600030101010101" pitchFamily="2" charset="-122"/>
              </a:endParaRPr>
            </a:p>
          </p:txBody>
        </p:sp>
        <p:sp>
          <p:nvSpPr>
            <p:cNvPr id="141339" name="Rectangle 29"/>
            <p:cNvSpPr/>
            <p:nvPr/>
          </p:nvSpPr>
          <p:spPr>
            <a:xfrm>
              <a:off x="2352" y="1776"/>
              <a:ext cx="1536" cy="1104"/>
            </a:xfrm>
            <a:prstGeom prst="rect">
              <a:avLst/>
            </a:prstGeom>
            <a:noFill/>
            <a:ln w="9525" cap="flat" cmpd="sng">
              <a:solidFill>
                <a:schemeClr val="tx1"/>
              </a:solidFill>
              <a:prstDash val="solid"/>
              <a:miter/>
              <a:headEnd type="none" w="med" len="med"/>
              <a:tailEnd type="none" w="med" len="med"/>
            </a:ln>
          </p:spPr>
          <p:txBody>
            <a:bodyPr wrap="none" lIns="0" tIns="0" rIns="0" bIns="0" anchor="ctr"/>
            <a:lstStyle/>
            <a:p>
              <a:endParaRPr lang="zh-CN" altLang="en-US">
                <a:latin typeface="Tahoma" panose="020B0604030504040204" pitchFamily="34" charset="0"/>
                <a:ea typeface="宋体" panose="02010600030101010101" pitchFamily="2" charset="-122"/>
              </a:endParaRPr>
            </a:p>
          </p:txBody>
        </p:sp>
        <p:sp>
          <p:nvSpPr>
            <p:cNvPr id="141340" name="Text Box 30"/>
            <p:cNvSpPr txBox="1"/>
            <p:nvPr/>
          </p:nvSpPr>
          <p:spPr>
            <a:xfrm>
              <a:off x="2352" y="1536"/>
              <a:ext cx="1392" cy="210"/>
            </a:xfrm>
            <a:prstGeom prst="rect">
              <a:avLst/>
            </a:prstGeom>
            <a:solidFill>
              <a:schemeClr val="bg1"/>
            </a:solidFill>
            <a:ln w="9525">
              <a:noFill/>
            </a:ln>
          </p:spPr>
          <p:txBody>
            <a:bodyPr lIns="0" tIns="0" rIns="0" bIns="0" anchor="t">
              <a:spAutoFit/>
            </a:bodyPr>
            <a:lstStyle/>
            <a:p>
              <a:pPr algn="ctr"/>
              <a:r>
                <a:rPr lang="zh-CN" altLang="en-US">
                  <a:latin typeface="Tahoma" panose="020B0604030504040204" pitchFamily="34" charset="0"/>
                  <a:ea typeface="宋体" panose="02010600030101010101" pitchFamily="2" charset="-122"/>
                </a:rPr>
                <a:t>被测模块</a:t>
              </a:r>
            </a:p>
          </p:txBody>
        </p:sp>
        <p:sp>
          <p:nvSpPr>
            <p:cNvPr id="141341" name="Text Box 31"/>
            <p:cNvSpPr txBox="1"/>
            <p:nvPr/>
          </p:nvSpPr>
          <p:spPr>
            <a:xfrm>
              <a:off x="864" y="2304"/>
              <a:ext cx="864" cy="419"/>
            </a:xfrm>
            <a:prstGeom prst="rect">
              <a:avLst/>
            </a:prstGeom>
            <a:solidFill>
              <a:schemeClr val="bg1"/>
            </a:solidFill>
            <a:ln w="9525">
              <a:noFill/>
            </a:ln>
          </p:spPr>
          <p:txBody>
            <a:bodyPr lIns="0" tIns="0" rIns="0" bIns="0" anchor="t">
              <a:spAutoFit/>
            </a:bodyPr>
            <a:lstStyle/>
            <a:p>
              <a:pPr algn="just"/>
              <a:r>
                <a:rPr lang="zh-CN" altLang="en-US" dirty="0">
                  <a:latin typeface="Tahoma" panose="020B0604030504040204" pitchFamily="34" charset="0"/>
                  <a:ea typeface="宋体" panose="02010600030101010101" pitchFamily="2" charset="-122"/>
                </a:rPr>
                <a:t>激励和控制信号</a:t>
              </a:r>
            </a:p>
          </p:txBody>
        </p:sp>
        <p:sp>
          <p:nvSpPr>
            <p:cNvPr id="141342" name="Text Box 32"/>
            <p:cNvSpPr txBox="1"/>
            <p:nvPr/>
          </p:nvSpPr>
          <p:spPr>
            <a:xfrm>
              <a:off x="4368" y="2064"/>
              <a:ext cx="816" cy="419"/>
            </a:xfrm>
            <a:prstGeom prst="rect">
              <a:avLst/>
            </a:prstGeom>
            <a:solidFill>
              <a:schemeClr val="bg1"/>
            </a:solidFill>
            <a:ln w="9525">
              <a:noFill/>
            </a:ln>
          </p:spPr>
          <p:txBody>
            <a:bodyPr lIns="0" tIns="0" rIns="0" bIns="0" anchor="t">
              <a:spAutoFit/>
            </a:bodyPr>
            <a:lstStyle/>
            <a:p>
              <a:pPr algn="just"/>
              <a:r>
                <a:rPr lang="zh-CN" altLang="en-US">
                  <a:latin typeface="Tahoma" panose="020B0604030504040204" pitchFamily="34" charset="0"/>
                  <a:ea typeface="宋体" panose="02010600030101010101" pitchFamily="2" charset="-122"/>
                </a:rPr>
                <a:t>输出响应和验证</a:t>
              </a:r>
            </a:p>
          </p:txBody>
        </p:sp>
      </p:grpSp>
      <p:sp>
        <p:nvSpPr>
          <p:cNvPr id="3" name="Rectangle 2">
            <a:extLst>
              <a:ext uri="{FF2B5EF4-FFF2-40B4-BE49-F238E27FC236}">
                <a16:creationId xmlns:a16="http://schemas.microsoft.com/office/drawing/2014/main" id="{1ECF9596-93E3-7480-1B40-1306C955C3B0}"/>
              </a:ext>
            </a:extLst>
          </p:cNvPr>
          <p:cNvSpPr>
            <a:spLocks noGrp="1"/>
          </p:cNvSpPr>
          <p:nvPr/>
        </p:nvSpPr>
        <p:spPr>
          <a:xfrm>
            <a:off x="683568" y="188913"/>
            <a:ext cx="7573962" cy="792162"/>
          </a:xfrm>
          <a:prstGeom prst="rect">
            <a:avLst/>
          </a:prstGeom>
          <a:noFill/>
          <a:ln w="9525">
            <a:noFill/>
          </a:ln>
        </p:spPr>
        <p:txBody>
          <a:bodyPr anchor="b"/>
          <a:lstStyle/>
          <a:p>
            <a:pPr eaLnBrk="0" hangingPunct="0"/>
            <a:r>
              <a:rPr lang="en-US" altLang="zh-CN" sz="4000" b="1" dirty="0">
                <a:solidFill>
                  <a:schemeClr val="tx2"/>
                </a:solidFill>
                <a:latin typeface="Tahoma" panose="020B0604030504040204" pitchFamily="34" charset="0"/>
                <a:ea typeface="楷体_GB2312" pitchFamily="49" charset="-122"/>
              </a:rPr>
              <a:t>Verilog</a:t>
            </a:r>
            <a:r>
              <a:rPr lang="zh-CN" altLang="en-US" sz="4000" b="1" dirty="0">
                <a:solidFill>
                  <a:schemeClr val="tx2"/>
                </a:solidFill>
                <a:latin typeface="Tahoma" panose="020B0604030504040204" pitchFamily="34" charset="0"/>
                <a:ea typeface="楷体_GB2312" pitchFamily="49" charset="-122"/>
              </a:rPr>
              <a:t>模块的测试</a:t>
            </a:r>
          </a:p>
        </p:txBody>
      </p:sp>
      <p:sp>
        <p:nvSpPr>
          <p:cNvPr id="4" name="Text Box 31">
            <a:extLst>
              <a:ext uri="{FF2B5EF4-FFF2-40B4-BE49-F238E27FC236}">
                <a16:creationId xmlns:a16="http://schemas.microsoft.com/office/drawing/2014/main" id="{14194243-D2D7-FD51-57A1-30080139C904}"/>
              </a:ext>
            </a:extLst>
          </p:cNvPr>
          <p:cNvSpPr txBox="1"/>
          <p:nvPr/>
        </p:nvSpPr>
        <p:spPr>
          <a:xfrm>
            <a:off x="1207624" y="1435950"/>
            <a:ext cx="3633970" cy="369332"/>
          </a:xfrm>
          <a:prstGeom prst="rect">
            <a:avLst/>
          </a:prstGeom>
          <a:solidFill>
            <a:schemeClr val="bg1"/>
          </a:solidFill>
          <a:ln w="9525">
            <a:noFill/>
          </a:ln>
        </p:spPr>
        <p:txBody>
          <a:bodyPr wrap="square" lIns="0" tIns="0" rIns="0" bIns="0" anchor="t">
            <a:spAutoFit/>
          </a:bodyPr>
          <a:lstStyle/>
          <a:p>
            <a:pPr algn="just"/>
            <a:r>
              <a:rPr lang="zh-CN" altLang="en-US" dirty="0">
                <a:latin typeface="Tahoma" panose="020B0604030504040204" pitchFamily="34" charset="0"/>
                <a:ea typeface="宋体" panose="02010600030101010101" pitchFamily="2" charset="-122"/>
              </a:rPr>
              <a:t>虚拟测试平台 </a:t>
            </a:r>
            <a:r>
              <a:rPr lang="en-US" altLang="zh-CN" dirty="0"/>
              <a:t>testbench</a:t>
            </a:r>
            <a:endParaRPr lang="zh-CN" altLang="en-US" dirty="0">
              <a:latin typeface="Tahoma" panose="020B0604030504040204" pitchFamily="34" charset="0"/>
              <a:ea typeface="宋体" panose="02010600030101010101" pitchFamily="2" charset="-122"/>
            </a:endParaRPr>
          </a:p>
        </p:txBody>
      </p:sp>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descr="Rectangle: Click to edit Master text styles&#10;Second level&#10;Third level&#10;Fourth level&#10;Fifth level"/>
          <p:cNvSpPr>
            <a:spLocks noGrp="1" noChangeArrowheads="1"/>
          </p:cNvSpPr>
          <p:nvPr>
            <p:ph idx="1"/>
          </p:nvPr>
        </p:nvSpPr>
        <p:spPr>
          <a:xfrm>
            <a:off x="683568" y="1124744"/>
            <a:ext cx="7843838" cy="792162"/>
          </a:xfrm>
        </p:spPr>
        <p:txBody>
          <a:bodyPr/>
          <a:lstStyle/>
          <a:p>
            <a:pPr marL="342900" marR="0" indent="-34290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Blip>
                <a:blip r:embed="rId2"/>
              </a:buBlip>
            </a:pPr>
            <a:r>
              <a:rPr lang="zh-CN" altLang="en-US" sz="3200" noProof="1"/>
              <a:t>测试文件通常包含以下内容：</a:t>
            </a:r>
            <a:endParaRPr lang="en-US" altLang="zh-CN" sz="3200" noProof="1"/>
          </a:p>
          <a:p>
            <a:pPr marL="0" marR="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pPr>
            <a:r>
              <a:rPr kumimoji="1" lang="zh-CN" altLang="en-US" sz="2600" b="0" i="0" u="none" strike="noStrike" kern="0" cap="none" spc="0" normalizeH="0" baseline="0" noProof="1">
                <a:solidFill>
                  <a:srgbClr val="4B51A5"/>
                </a:solidFill>
                <a:latin typeface="微软雅黑" panose="020B0503020204020204" charset="-122"/>
                <a:ea typeface="微软雅黑" panose="020B0503020204020204" charset="-122"/>
                <a:cs typeface="+mn-cs"/>
              </a:rPr>
              <a:t>	</a:t>
            </a:r>
            <a:endParaRPr kumimoji="1" lang="en-US" altLang="zh-CN" sz="2600" b="0" i="0" u="none" strike="noStrike" kern="0" cap="none" spc="0" normalizeH="0" baseline="0" noProof="1">
              <a:solidFill>
                <a:srgbClr val="4B51A5"/>
              </a:solidFill>
              <a:latin typeface="微软雅黑" panose="020B0503020204020204" charset="-122"/>
              <a:ea typeface="微软雅黑" panose="020B0503020204020204" charset="-122"/>
              <a:cs typeface="+mn-cs"/>
            </a:endParaRPr>
          </a:p>
        </p:txBody>
      </p:sp>
      <p:sp>
        <p:nvSpPr>
          <p:cNvPr id="2" name="Rectangle 2">
            <a:extLst>
              <a:ext uri="{FF2B5EF4-FFF2-40B4-BE49-F238E27FC236}">
                <a16:creationId xmlns:a16="http://schemas.microsoft.com/office/drawing/2014/main" id="{9B430005-167B-C5C8-EE01-66F8D5D1BF40}"/>
              </a:ext>
            </a:extLst>
          </p:cNvPr>
          <p:cNvSpPr>
            <a:spLocks noGrp="1"/>
          </p:cNvSpPr>
          <p:nvPr/>
        </p:nvSpPr>
        <p:spPr>
          <a:xfrm>
            <a:off x="683568" y="188913"/>
            <a:ext cx="8243887" cy="792162"/>
          </a:xfrm>
          <a:prstGeom prst="rect">
            <a:avLst/>
          </a:prstGeom>
          <a:noFill/>
          <a:ln w="9525">
            <a:noFill/>
          </a:ln>
        </p:spPr>
        <p:txBody>
          <a:bodyPr anchor="b"/>
          <a:lstStyle/>
          <a:p>
            <a:pPr eaLnBrk="0" hangingPunct="0"/>
            <a:r>
              <a:rPr lang="en-US" altLang="zh-CN" sz="4000" b="1" dirty="0">
                <a:solidFill>
                  <a:schemeClr val="tx2"/>
                </a:solidFill>
                <a:latin typeface="Tahoma" panose="020B0604030504040204" pitchFamily="34" charset="0"/>
                <a:ea typeface="楷体_GB2312" pitchFamily="49" charset="-122"/>
              </a:rPr>
              <a:t>Verilog</a:t>
            </a:r>
            <a:r>
              <a:rPr lang="zh-CN" altLang="en-US" sz="4000" b="1" dirty="0">
                <a:solidFill>
                  <a:schemeClr val="tx2"/>
                </a:solidFill>
                <a:latin typeface="Tahoma" panose="020B0604030504040204" pitchFamily="34" charset="0"/>
                <a:ea typeface="楷体_GB2312" pitchFamily="49" charset="-122"/>
              </a:rPr>
              <a:t>模块的测试 </a:t>
            </a:r>
            <a:r>
              <a:rPr lang="en-US" altLang="zh-CN" sz="4000" b="1" dirty="0">
                <a:solidFill>
                  <a:schemeClr val="tx2"/>
                </a:solidFill>
                <a:latin typeface="Tahoma" panose="020B0604030504040204" pitchFamily="34" charset="0"/>
                <a:ea typeface="楷体_GB2312" pitchFamily="49" charset="-122"/>
              </a:rPr>
              <a:t>– </a:t>
            </a:r>
            <a:r>
              <a:rPr lang="zh-CN" altLang="en-US" sz="4000" b="1" dirty="0">
                <a:solidFill>
                  <a:schemeClr val="tx2"/>
                </a:solidFill>
                <a:latin typeface="Tahoma" panose="020B0604030504040204" pitchFamily="34" charset="0"/>
                <a:ea typeface="楷体_GB2312" pitchFamily="49" charset="-122"/>
              </a:rPr>
              <a:t>测试文件结构</a:t>
            </a:r>
          </a:p>
        </p:txBody>
      </p:sp>
      <p:sp>
        <p:nvSpPr>
          <p:cNvPr id="3" name="Rectangle 3" descr="Rectangle: Click to edit Master text styles&#10;Second level&#10;Third level&#10;Fourth level&#10;Fifth level">
            <a:extLst>
              <a:ext uri="{FF2B5EF4-FFF2-40B4-BE49-F238E27FC236}">
                <a16:creationId xmlns:a16="http://schemas.microsoft.com/office/drawing/2014/main" id="{C395BBF7-BD24-257D-37F7-1A387FC70012}"/>
              </a:ext>
            </a:extLst>
          </p:cNvPr>
          <p:cNvSpPr txBox="1">
            <a:spLocks noChangeArrowheads="1"/>
          </p:cNvSpPr>
          <p:nvPr/>
        </p:nvSpPr>
        <p:spPr>
          <a:xfrm>
            <a:off x="1299079" y="2064681"/>
            <a:ext cx="7089345" cy="3380544"/>
          </a:xfrm>
          <a:prstGeom prst="rect">
            <a:avLst/>
          </a:prstGeom>
          <a:noFill/>
          <a:ln w="9525">
            <a:noFill/>
          </a:ln>
        </p:spPr>
        <p:txBody>
          <a:bodyPr anchor="t" anchorCtr="0"/>
          <a:lst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2"/>
              </a:buBlip>
              <a:defRPr kumimoji="1" sz="3600">
                <a:solidFill>
                  <a:srgbClr val="4B51A5"/>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3200">
                <a:solidFill>
                  <a:srgbClr val="4B51A5"/>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800">
                <a:solidFill>
                  <a:srgbClr val="4B51A5"/>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400">
                <a:solidFill>
                  <a:srgbClr val="4B51A5"/>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9pPr>
          </a:lstStyle>
          <a:p>
            <a:pPr marL="0" indent="0">
              <a:buFont typeface="Wingdings" panose="05000000000000000000" pitchFamily="2" charset="2"/>
              <a:buNone/>
            </a:pPr>
            <a:r>
              <a:rPr lang="en-US" altLang="zh-CN" sz="2800" kern="0" noProof="1">
                <a:latin typeface="微软雅黑" panose="020B0503020204020204" charset="-122"/>
                <a:ea typeface="微软雅黑" panose="020B0503020204020204" charset="-122"/>
              </a:rPr>
              <a:t>module Test_bench(); //</a:t>
            </a:r>
            <a:r>
              <a:rPr lang="zh-CN" altLang="en-US" sz="2800" kern="0" noProof="1">
                <a:latin typeface="微软雅黑" panose="020B0503020204020204" charset="-122"/>
                <a:ea typeface="微软雅黑" panose="020B0503020204020204" charset="-122"/>
              </a:rPr>
              <a:t>通常无输入输出</a:t>
            </a:r>
          </a:p>
          <a:p>
            <a:pPr marL="0" indent="0">
              <a:buFont typeface="Wingdings" panose="05000000000000000000" pitchFamily="2" charset="2"/>
              <a:buNone/>
            </a:pPr>
            <a:r>
              <a:rPr lang="zh-CN" altLang="en-US" sz="2800" kern="0" noProof="1">
                <a:latin typeface="微软雅黑" panose="020B0503020204020204" charset="-122"/>
                <a:ea typeface="微软雅黑" panose="020B0503020204020204" charset="-122"/>
              </a:rPr>
              <a:t>	信号或变量声明定义</a:t>
            </a:r>
          </a:p>
          <a:p>
            <a:pPr marL="0" indent="0">
              <a:buFont typeface="Wingdings" panose="05000000000000000000" pitchFamily="2" charset="2"/>
              <a:buNone/>
            </a:pPr>
            <a:r>
              <a:rPr lang="zh-CN" altLang="en-US" sz="2800" kern="0" noProof="1">
                <a:latin typeface="微软雅黑" panose="020B0503020204020204" charset="-122"/>
                <a:ea typeface="微软雅黑" panose="020B0503020204020204" charset="-122"/>
              </a:rPr>
              <a:t>	使用 </a:t>
            </a:r>
            <a:r>
              <a:rPr lang="en-US" altLang="zh-CN" sz="2800" kern="0" noProof="1">
                <a:latin typeface="微软雅黑" panose="020B0503020204020204" charset="-122"/>
                <a:ea typeface="微软雅黑" panose="020B0503020204020204" charset="-122"/>
              </a:rPr>
              <a:t>initial  </a:t>
            </a:r>
            <a:r>
              <a:rPr lang="zh-CN" altLang="en-US" sz="2800" kern="0" noProof="1">
                <a:latin typeface="微软雅黑" panose="020B0503020204020204" charset="-122"/>
                <a:ea typeface="微软雅黑" panose="020B0503020204020204" charset="-122"/>
              </a:rPr>
              <a:t>或 </a:t>
            </a:r>
            <a:r>
              <a:rPr lang="en-US" altLang="zh-CN" sz="2800" kern="0" noProof="1">
                <a:latin typeface="微软雅黑" panose="020B0503020204020204" charset="-122"/>
                <a:ea typeface="微软雅黑" panose="020B0503020204020204" charset="-122"/>
              </a:rPr>
              <a:t>always</a:t>
            </a:r>
            <a:r>
              <a:rPr lang="zh-CN" altLang="en-US" sz="2800" kern="0" noProof="1">
                <a:latin typeface="微软雅黑" panose="020B0503020204020204" charset="-122"/>
                <a:ea typeface="微软雅黑" panose="020B0503020204020204" charset="-122"/>
              </a:rPr>
              <a:t>语句产生激励</a:t>
            </a:r>
          </a:p>
          <a:p>
            <a:pPr marL="0" indent="0">
              <a:buFont typeface="Wingdings" panose="05000000000000000000" pitchFamily="2" charset="2"/>
              <a:buNone/>
            </a:pPr>
            <a:r>
              <a:rPr lang="zh-CN" altLang="en-US" sz="2800" kern="0" noProof="1">
                <a:latin typeface="微软雅黑" panose="020B0503020204020204" charset="-122"/>
                <a:ea typeface="微软雅黑" panose="020B0503020204020204" charset="-122"/>
              </a:rPr>
              <a:t>	例化待测试模块</a:t>
            </a:r>
          </a:p>
          <a:p>
            <a:pPr marL="0" indent="0">
              <a:buFont typeface="Wingdings" panose="05000000000000000000" pitchFamily="2" charset="2"/>
              <a:buNone/>
            </a:pPr>
            <a:r>
              <a:rPr lang="zh-CN" altLang="en-US" sz="2800" kern="0" noProof="1">
                <a:latin typeface="微软雅黑" panose="020B0503020204020204" charset="-122"/>
                <a:ea typeface="微软雅黑" panose="020B0503020204020204" charset="-122"/>
              </a:rPr>
              <a:t>	监控和比较输出响应</a:t>
            </a:r>
          </a:p>
          <a:p>
            <a:pPr marL="0" indent="0">
              <a:buFont typeface="Wingdings" panose="05000000000000000000" pitchFamily="2" charset="2"/>
              <a:buNone/>
            </a:pPr>
            <a:r>
              <a:rPr lang="en-US" altLang="zh-CN" sz="2800" kern="0" noProof="1">
                <a:latin typeface="微软雅黑" panose="020B0503020204020204" charset="-122"/>
                <a:ea typeface="微软雅黑" panose="020B0503020204020204" charset="-122"/>
              </a:rPr>
              <a:t>Endmodule</a:t>
            </a:r>
          </a:p>
          <a:p>
            <a:pPr marL="0" indent="0">
              <a:buFont typeface="Wingdings" panose="05000000000000000000" pitchFamily="2" charset="2"/>
              <a:buNone/>
            </a:pPr>
            <a:r>
              <a:rPr lang="zh-CN" altLang="en-US" sz="2600" kern="0" noProof="1">
                <a:latin typeface="微软雅黑" panose="020B0503020204020204" charset="-122"/>
                <a:ea typeface="微软雅黑" panose="020B0503020204020204" charset="-122"/>
              </a:rPr>
              <a:t>	</a:t>
            </a:r>
            <a:endParaRPr lang="en-US" altLang="zh-CN" sz="2600" kern="0" noProof="1">
              <a:latin typeface="微软雅黑" panose="020B0503020204020204" charset="-122"/>
              <a:ea typeface="微软雅黑" panose="020B0503020204020204" charset="-122"/>
            </a:endParaRPr>
          </a:p>
        </p:txBody>
      </p:sp>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标题 1"/>
          <p:cNvSpPr>
            <a:spLocks noGrp="1"/>
          </p:cNvSpPr>
          <p:nvPr>
            <p:ph type="title"/>
          </p:nvPr>
        </p:nvSpPr>
        <p:spPr>
          <a:xfrm>
            <a:off x="683568" y="188913"/>
            <a:ext cx="8069262" cy="792162"/>
          </a:xfrm>
        </p:spPr>
        <p:txBody>
          <a:bodyPr anchor="b"/>
          <a:lstStyle/>
          <a:p>
            <a:pPr algn="l"/>
            <a:r>
              <a:rPr lang="en-US" altLang="zh-CN" kern="1200" dirty="0">
                <a:latin typeface="Tahoma" panose="020B0604030504040204" pitchFamily="34" charset="0"/>
                <a:ea typeface="楷体_GB2312" pitchFamily="49" charset="-122"/>
                <a:cs typeface="+mn-cs"/>
              </a:rPr>
              <a:t>Verilog</a:t>
            </a:r>
            <a:r>
              <a:rPr lang="zh-CN" altLang="en-US" kern="1200" dirty="0">
                <a:latin typeface="Tahoma" panose="020B0604030504040204" pitchFamily="34" charset="0"/>
                <a:ea typeface="楷体_GB2312" pitchFamily="49" charset="-122"/>
                <a:cs typeface="+mn-cs"/>
              </a:rPr>
              <a:t>模块的测试 </a:t>
            </a:r>
            <a:r>
              <a:rPr lang="en-US" altLang="zh-CN" kern="1200" dirty="0">
                <a:latin typeface="Tahoma" panose="020B0604030504040204" pitchFamily="34" charset="0"/>
                <a:ea typeface="楷体_GB2312" pitchFamily="49" charset="-122"/>
                <a:cs typeface="+mn-cs"/>
              </a:rPr>
              <a:t>– </a:t>
            </a:r>
            <a:r>
              <a:rPr lang="zh-CN" altLang="en-US" kern="1200" dirty="0">
                <a:latin typeface="Tahoma" panose="020B0604030504040204" pitchFamily="34" charset="0"/>
                <a:ea typeface="楷体_GB2312" pitchFamily="49" charset="-122"/>
                <a:cs typeface="+mn-cs"/>
              </a:rPr>
              <a:t>结构举例</a:t>
            </a:r>
          </a:p>
        </p:txBody>
      </p:sp>
      <p:sp>
        <p:nvSpPr>
          <p:cNvPr id="144386" name="内容占位符 2" descr="Rectangle: Click to edit Master text styles&#10;Second level&#10;Third level&#10;Fourth level&#10;Fifth level"/>
          <p:cNvSpPr>
            <a:spLocks noGrp="1"/>
          </p:cNvSpPr>
          <p:nvPr>
            <p:ph idx="1"/>
          </p:nvPr>
        </p:nvSpPr>
        <p:spPr>
          <a:xfrm>
            <a:off x="900113" y="1098550"/>
            <a:ext cx="7200900" cy="5040313"/>
          </a:xfrm>
        </p:spPr>
        <p:txBody>
          <a:bodyPr anchor="t"/>
          <a:lstStyle/>
          <a:p>
            <a:pPr algn="just">
              <a:lnSpc>
                <a:spcPct val="90000"/>
              </a:lnSpc>
              <a:spcBef>
                <a:spcPct val="0"/>
              </a:spcBef>
              <a:spcAft>
                <a:spcPts val="1200"/>
              </a:spcAft>
              <a:buClrTx/>
              <a:buSzTx/>
              <a:buFont typeface="Arial" panose="020B0604020202020204" pitchFamily="34" charset="0"/>
              <a:buChar char="•"/>
            </a:pPr>
            <a:endParaRPr lang="en-US" altLang="zh-CN" sz="3200" dirty="0"/>
          </a:p>
          <a:p>
            <a:pPr algn="just">
              <a:lnSpc>
                <a:spcPct val="90000"/>
              </a:lnSpc>
              <a:spcBef>
                <a:spcPct val="0"/>
              </a:spcBef>
              <a:buClrTx/>
              <a:buSzTx/>
              <a:buNone/>
            </a:pPr>
            <a:r>
              <a:rPr lang="en-US" altLang="zh-CN" sz="2000" dirty="0"/>
              <a:t>module </a:t>
            </a:r>
            <a:r>
              <a:rPr lang="en-US" altLang="zh-CN" sz="2000" dirty="0" err="1"/>
              <a:t>testfirstmodule</a:t>
            </a:r>
            <a:r>
              <a:rPr lang="en-US" altLang="zh-CN" sz="2000" dirty="0"/>
              <a:t>;</a:t>
            </a:r>
          </a:p>
          <a:p>
            <a:pPr algn="just">
              <a:lnSpc>
                <a:spcPct val="90000"/>
              </a:lnSpc>
              <a:spcBef>
                <a:spcPct val="0"/>
              </a:spcBef>
              <a:buClrTx/>
              <a:buSzTx/>
              <a:buNone/>
            </a:pPr>
            <a:r>
              <a:rPr lang="en-US" altLang="zh-CN" sz="2000" dirty="0"/>
              <a:t>	</a:t>
            </a:r>
            <a:r>
              <a:rPr lang="en-US" altLang="zh-CN" sz="2000" dirty="0" err="1"/>
              <a:t>reg</a:t>
            </a:r>
            <a:r>
              <a:rPr lang="en-US" altLang="zh-CN" sz="2000" dirty="0"/>
              <a:t> …;         </a:t>
            </a:r>
            <a:r>
              <a:rPr lang="en-US" altLang="zh-CN" sz="2000" dirty="0">
                <a:latin typeface="宋体" panose="02010600030101010101" pitchFamily="2" charset="-122"/>
              </a:rPr>
              <a:t>//</a:t>
            </a:r>
            <a:r>
              <a:rPr lang="zh-CN" altLang="en-US" sz="2000" dirty="0">
                <a:latin typeface="宋体" panose="02010600030101010101" pitchFamily="2" charset="-122"/>
              </a:rPr>
              <a:t>被测模块输入</a:t>
            </a:r>
            <a:endParaRPr lang="en-US" altLang="zh-CN" sz="2000" dirty="0">
              <a:latin typeface="宋体" panose="02010600030101010101" pitchFamily="2" charset="-122"/>
            </a:endParaRPr>
          </a:p>
          <a:p>
            <a:pPr algn="just">
              <a:lnSpc>
                <a:spcPct val="90000"/>
              </a:lnSpc>
              <a:spcBef>
                <a:spcPct val="0"/>
              </a:spcBef>
              <a:buClrTx/>
              <a:buSzTx/>
              <a:buNone/>
            </a:pPr>
            <a:r>
              <a:rPr lang="en-US" altLang="zh-CN" sz="2000" dirty="0"/>
              <a:t>	wire…;       </a:t>
            </a:r>
            <a:r>
              <a:rPr lang="en-US" altLang="zh-CN" sz="2000" dirty="0">
                <a:latin typeface="宋体" panose="02010600030101010101" pitchFamily="2" charset="-122"/>
              </a:rPr>
              <a:t>//</a:t>
            </a:r>
            <a:r>
              <a:rPr lang="zh-CN" altLang="en-US" sz="2000" dirty="0">
                <a:latin typeface="宋体" panose="02010600030101010101" pitchFamily="2" charset="-122"/>
              </a:rPr>
              <a:t>被测模块输出</a:t>
            </a:r>
            <a:endParaRPr lang="en-US" altLang="zh-CN" sz="2000" dirty="0">
              <a:latin typeface="宋体" panose="02010600030101010101" pitchFamily="2" charset="-122"/>
            </a:endParaRPr>
          </a:p>
          <a:p>
            <a:pPr algn="just">
              <a:lnSpc>
                <a:spcPct val="90000"/>
              </a:lnSpc>
              <a:spcBef>
                <a:spcPct val="0"/>
              </a:spcBef>
              <a:buClrTx/>
              <a:buSzTx/>
              <a:buNone/>
            </a:pPr>
            <a:endParaRPr lang="zh-CN" altLang="en-US" sz="2000" dirty="0"/>
          </a:p>
          <a:p>
            <a:pPr algn="just">
              <a:lnSpc>
                <a:spcPct val="90000"/>
              </a:lnSpc>
              <a:spcBef>
                <a:spcPct val="0"/>
              </a:spcBef>
              <a:buClrTx/>
              <a:buSzTx/>
              <a:buNone/>
            </a:pPr>
            <a:r>
              <a:rPr lang="en-US" altLang="zh-CN" sz="2000" dirty="0"/>
              <a:t>	initial </a:t>
            </a:r>
          </a:p>
          <a:p>
            <a:pPr marL="342900" lvl="1" indent="-342900" algn="just">
              <a:lnSpc>
                <a:spcPct val="90000"/>
              </a:lnSpc>
              <a:spcBef>
                <a:spcPct val="0"/>
              </a:spcBef>
              <a:buClrTx/>
              <a:buSzTx/>
              <a:buNone/>
            </a:pPr>
            <a:r>
              <a:rPr lang="en-US" altLang="zh-CN" sz="2000" dirty="0"/>
              <a:t>		begin </a:t>
            </a:r>
          </a:p>
          <a:p>
            <a:pPr marL="342900" lvl="1" indent="-342900" algn="just">
              <a:lnSpc>
                <a:spcPct val="90000"/>
              </a:lnSpc>
              <a:spcBef>
                <a:spcPct val="0"/>
              </a:spcBef>
              <a:buClrTx/>
              <a:buSzTx/>
              <a:buNone/>
            </a:pPr>
            <a:r>
              <a:rPr lang="en-US" altLang="zh-CN" sz="2000" dirty="0"/>
              <a:t>		…;    </a:t>
            </a:r>
          </a:p>
          <a:p>
            <a:pPr marL="342900" lvl="1" indent="-342900" algn="just">
              <a:lnSpc>
                <a:spcPct val="90000"/>
              </a:lnSpc>
              <a:spcBef>
                <a:spcPct val="0"/>
              </a:spcBef>
              <a:buClrTx/>
              <a:buSzTx/>
              <a:buNone/>
            </a:pPr>
            <a:r>
              <a:rPr lang="en-US" altLang="zh-CN" sz="2000" dirty="0"/>
              <a:t>		end … …//</a:t>
            </a:r>
            <a:r>
              <a:rPr lang="zh-CN" altLang="en-US" sz="2000" dirty="0"/>
              <a:t>产生测试激励或控制信号</a:t>
            </a:r>
            <a:endParaRPr lang="en-US" altLang="zh-CN" sz="2000" dirty="0"/>
          </a:p>
          <a:p>
            <a:pPr algn="just">
              <a:lnSpc>
                <a:spcPct val="90000"/>
              </a:lnSpc>
              <a:spcBef>
                <a:spcPct val="0"/>
              </a:spcBef>
              <a:buClrTx/>
              <a:buSzTx/>
              <a:buNone/>
            </a:pPr>
            <a:endParaRPr lang="zh-CN" altLang="en-US" sz="2000" dirty="0"/>
          </a:p>
          <a:p>
            <a:pPr algn="just">
              <a:lnSpc>
                <a:spcPct val="90000"/>
              </a:lnSpc>
              <a:spcBef>
                <a:spcPct val="0"/>
              </a:spcBef>
              <a:buClrTx/>
              <a:buSzTx/>
              <a:buNone/>
            </a:pPr>
            <a:r>
              <a:rPr lang="en-US" altLang="zh-CN" sz="2000" dirty="0"/>
              <a:t>	always #delay  </a:t>
            </a:r>
          </a:p>
          <a:p>
            <a:pPr algn="just">
              <a:lnSpc>
                <a:spcPct val="90000"/>
              </a:lnSpc>
              <a:spcBef>
                <a:spcPct val="0"/>
              </a:spcBef>
              <a:buClrTx/>
              <a:buSzTx/>
              <a:buNone/>
            </a:pPr>
            <a:r>
              <a:rPr lang="en-US" altLang="zh-CN" sz="2000" dirty="0"/>
              <a:t>		begin </a:t>
            </a:r>
          </a:p>
          <a:p>
            <a:pPr algn="just">
              <a:lnSpc>
                <a:spcPct val="90000"/>
              </a:lnSpc>
              <a:spcBef>
                <a:spcPct val="0"/>
              </a:spcBef>
              <a:buClrTx/>
              <a:buSzTx/>
              <a:buNone/>
            </a:pPr>
            <a:r>
              <a:rPr lang="en-US" altLang="zh-CN" sz="2000" dirty="0"/>
              <a:t>		…;</a:t>
            </a:r>
          </a:p>
          <a:p>
            <a:pPr algn="just">
              <a:lnSpc>
                <a:spcPct val="90000"/>
              </a:lnSpc>
              <a:spcBef>
                <a:spcPct val="0"/>
              </a:spcBef>
              <a:buClrTx/>
              <a:buSzTx/>
              <a:buNone/>
            </a:pPr>
            <a:r>
              <a:rPr lang="en-US" altLang="zh-CN" sz="2000" dirty="0"/>
              <a:t>		end  … …//</a:t>
            </a:r>
            <a:r>
              <a:rPr lang="zh-CN" altLang="en-US" sz="2000" dirty="0"/>
              <a:t>产生测试激励或控制信号</a:t>
            </a:r>
          </a:p>
          <a:p>
            <a:pPr algn="just">
              <a:lnSpc>
                <a:spcPct val="90000"/>
              </a:lnSpc>
              <a:spcBef>
                <a:spcPct val="0"/>
              </a:spcBef>
              <a:buClrTx/>
              <a:buSzTx/>
              <a:buNone/>
            </a:pPr>
            <a:endParaRPr lang="zh-CN" altLang="en-US" sz="2000" dirty="0"/>
          </a:p>
          <a:p>
            <a:pPr algn="just">
              <a:lnSpc>
                <a:spcPct val="90000"/>
              </a:lnSpc>
              <a:spcBef>
                <a:spcPct val="0"/>
              </a:spcBef>
              <a:buClrTx/>
              <a:buSzTx/>
              <a:buNone/>
            </a:pPr>
            <a:r>
              <a:rPr lang="en-US" altLang="zh-CN" sz="2000" dirty="0"/>
              <a:t>	</a:t>
            </a:r>
            <a:r>
              <a:rPr lang="en-US" altLang="zh-CN" sz="2000" dirty="0" err="1"/>
              <a:t>ForTestingModule</a:t>
            </a:r>
            <a:r>
              <a:rPr lang="en-US" altLang="zh-CN" sz="2000" dirty="0"/>
              <a:t> m(.in1(</a:t>
            </a:r>
            <a:r>
              <a:rPr lang="en-US" altLang="zh-CN" sz="2000" dirty="0" err="1"/>
              <a:t>ina</a:t>
            </a:r>
            <a:r>
              <a:rPr lang="en-US" altLang="zh-CN" sz="2000" dirty="0"/>
              <a:t>), .in2(</a:t>
            </a:r>
            <a:r>
              <a:rPr lang="en-US" altLang="zh-CN" sz="2000" dirty="0" err="1"/>
              <a:t>inb</a:t>
            </a:r>
            <a:r>
              <a:rPr lang="en-US" altLang="zh-CN" sz="2000" dirty="0"/>
              <a:t>), .out1(outa));</a:t>
            </a:r>
          </a:p>
          <a:p>
            <a:pPr algn="just">
              <a:lnSpc>
                <a:spcPct val="90000"/>
              </a:lnSpc>
              <a:spcBef>
                <a:spcPct val="0"/>
              </a:spcBef>
              <a:buClrTx/>
              <a:buSzTx/>
              <a:buNone/>
            </a:pPr>
            <a:r>
              <a:rPr lang="en-US" altLang="zh-CN" sz="2000" dirty="0">
                <a:latin typeface="宋体" panose="02010600030101010101" pitchFamily="2" charset="-122"/>
              </a:rPr>
              <a:t>  //</a:t>
            </a:r>
            <a:r>
              <a:rPr lang="zh-CN" altLang="en-US" sz="2000" dirty="0">
                <a:latin typeface="宋体" panose="02010600030101010101" pitchFamily="2" charset="-122"/>
              </a:rPr>
              <a:t>被测模块的实例引用</a:t>
            </a:r>
            <a:endParaRPr lang="zh-CN" altLang="en-US" sz="2000" dirty="0"/>
          </a:p>
          <a:p>
            <a:pPr algn="just">
              <a:lnSpc>
                <a:spcPct val="90000"/>
              </a:lnSpc>
              <a:spcBef>
                <a:spcPct val="0"/>
              </a:spcBef>
              <a:buClrTx/>
              <a:buSzTx/>
              <a:buNone/>
            </a:pPr>
            <a:endParaRPr lang="zh-CN" altLang="en-US" sz="2000" dirty="0"/>
          </a:p>
          <a:p>
            <a:pPr algn="just">
              <a:lnSpc>
                <a:spcPct val="90000"/>
              </a:lnSpc>
              <a:spcBef>
                <a:spcPct val="0"/>
              </a:spcBef>
              <a:buClrTx/>
              <a:buSzTx/>
              <a:buNone/>
            </a:pPr>
            <a:r>
              <a:rPr lang="en-US" altLang="zh-CN" sz="2000" dirty="0" err="1"/>
              <a:t>endmodule</a:t>
            </a:r>
            <a:endParaRPr lang="zh-CN" altLang="en-US" dirty="0"/>
          </a:p>
        </p:txBody>
      </p:sp>
      <p:sp>
        <p:nvSpPr>
          <p:cNvPr id="2" name="Rectangle 3" descr="Rectangle: Click to edit Master text styles&#10;Second level&#10;Third level&#10;Fourth level&#10;Fifth level">
            <a:extLst>
              <a:ext uri="{FF2B5EF4-FFF2-40B4-BE49-F238E27FC236}">
                <a16:creationId xmlns:a16="http://schemas.microsoft.com/office/drawing/2014/main" id="{E9BC3B01-F01C-6995-CCFD-150D3EA8575F}"/>
              </a:ext>
            </a:extLst>
          </p:cNvPr>
          <p:cNvSpPr txBox="1">
            <a:spLocks noChangeArrowheads="1"/>
          </p:cNvSpPr>
          <p:nvPr/>
        </p:nvSpPr>
        <p:spPr>
          <a:xfrm>
            <a:off x="698213" y="1098550"/>
            <a:ext cx="7843838" cy="716608"/>
          </a:xfrm>
          <a:prstGeom prst="rect">
            <a:avLst/>
          </a:prstGeom>
          <a:noFill/>
          <a:ln w="9525">
            <a:noFill/>
          </a:ln>
        </p:spPr>
        <p:txBody>
          <a:bodyPr anchor="t" anchorCtr="0"/>
          <a:lst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3"/>
              </a:buBlip>
              <a:defRPr kumimoji="1" sz="3600">
                <a:solidFill>
                  <a:srgbClr val="4B51A5"/>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kumimoji="1" sz="3200">
                <a:solidFill>
                  <a:srgbClr val="4B51A5"/>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kumimoji="1" sz="2800">
                <a:solidFill>
                  <a:srgbClr val="4B51A5"/>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kumimoji="1" sz="2400">
                <a:solidFill>
                  <a:srgbClr val="4B51A5"/>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rgbClr val="4B51A5"/>
                </a:solidFill>
                <a:latin typeface="+mn-lt"/>
                <a:ea typeface="+mn-ea"/>
              </a:defRPr>
            </a:lvl9pPr>
          </a:lstStyle>
          <a:p>
            <a:r>
              <a:rPr lang="zh-CN" altLang="en-US" sz="3200" dirty="0"/>
              <a:t>测试模块常见的形式：</a:t>
            </a:r>
            <a:endParaRPr lang="en-US" altLang="zh-CN" sz="2600" kern="0" noProof="1">
              <a:latin typeface="微软雅黑" panose="020B0503020204020204" charset="-122"/>
              <a:ea typeface="微软雅黑" panose="020B0503020204020204" charset="-122"/>
            </a:endParaRPr>
          </a:p>
        </p:txBody>
      </p:sp>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标题 1"/>
          <p:cNvSpPr>
            <a:spLocks noGrp="1"/>
          </p:cNvSpPr>
          <p:nvPr>
            <p:ph type="title"/>
          </p:nvPr>
        </p:nvSpPr>
        <p:spPr>
          <a:xfrm>
            <a:off x="683568" y="188913"/>
            <a:ext cx="8164512" cy="792162"/>
          </a:xfrm>
        </p:spPr>
        <p:txBody>
          <a:bodyPr anchor="b"/>
          <a:lstStyle/>
          <a:p>
            <a:pPr algn="l"/>
            <a:r>
              <a:rPr lang="en-US" altLang="zh-CN" kern="1200" dirty="0">
                <a:latin typeface="Tahoma" panose="020B0604030504040204" pitchFamily="34" charset="0"/>
                <a:ea typeface="楷体_GB2312" pitchFamily="49" charset="-122"/>
                <a:cs typeface="+mn-cs"/>
              </a:rPr>
              <a:t>Verilog</a:t>
            </a:r>
            <a:r>
              <a:rPr lang="zh-CN" altLang="en-US" kern="1200" dirty="0">
                <a:latin typeface="Tahoma" panose="020B0604030504040204" pitchFamily="34" charset="0"/>
                <a:ea typeface="楷体_GB2312" pitchFamily="49" charset="-122"/>
                <a:cs typeface="+mn-cs"/>
              </a:rPr>
              <a:t>模块的测试</a:t>
            </a:r>
          </a:p>
        </p:txBody>
      </p:sp>
      <p:sp>
        <p:nvSpPr>
          <p:cNvPr id="146434" name="内容占位符 2" descr="Rectangle: Click to edit Master text styles&#10;Second level&#10;Third level&#10;Fourth level&#10;Fifth level"/>
          <p:cNvSpPr>
            <a:spLocks noGrp="1"/>
          </p:cNvSpPr>
          <p:nvPr>
            <p:ph idx="1"/>
          </p:nvPr>
        </p:nvSpPr>
        <p:spPr>
          <a:xfrm>
            <a:off x="704705" y="1124744"/>
            <a:ext cx="7843837" cy="4676775"/>
          </a:xfrm>
        </p:spPr>
        <p:txBody>
          <a:bodyPr anchor="t"/>
          <a:lstStyle/>
          <a:p>
            <a:r>
              <a:rPr lang="zh-CN" altLang="en-US" sz="3200" dirty="0"/>
              <a:t>测试模块中常用的过程块：</a:t>
            </a:r>
          </a:p>
          <a:p>
            <a:pPr marL="0" indent="0">
              <a:buNone/>
            </a:pPr>
            <a:endParaRPr lang="zh-CN" altLang="en-US" dirty="0"/>
          </a:p>
        </p:txBody>
      </p:sp>
      <p:grpSp>
        <p:nvGrpSpPr>
          <p:cNvPr id="146436" name="Group 4"/>
          <p:cNvGrpSpPr/>
          <p:nvPr/>
        </p:nvGrpSpPr>
        <p:grpSpPr>
          <a:xfrm>
            <a:off x="1389063" y="1979613"/>
            <a:ext cx="4114800" cy="3455987"/>
            <a:chOff x="912" y="1615"/>
            <a:chExt cx="2592" cy="2177"/>
          </a:xfrm>
        </p:grpSpPr>
        <p:grpSp>
          <p:nvGrpSpPr>
            <p:cNvPr id="146437" name="Group 5"/>
            <p:cNvGrpSpPr/>
            <p:nvPr/>
          </p:nvGrpSpPr>
          <p:grpSpPr>
            <a:xfrm>
              <a:off x="2640" y="1632"/>
              <a:ext cx="864" cy="2160"/>
              <a:chOff x="1296" y="1680"/>
              <a:chExt cx="1344" cy="2160"/>
            </a:xfrm>
          </p:grpSpPr>
          <p:sp>
            <p:nvSpPr>
              <p:cNvPr id="146438" name="Rectangle 6"/>
              <p:cNvSpPr/>
              <p:nvPr/>
            </p:nvSpPr>
            <p:spPr>
              <a:xfrm>
                <a:off x="1296" y="1680"/>
                <a:ext cx="1344" cy="2160"/>
              </a:xfrm>
              <a:prstGeom prst="rect">
                <a:avLst/>
              </a:prstGeom>
              <a:noFill/>
              <a:ln w="9525" cap="flat" cmpd="sng">
                <a:solidFill>
                  <a:schemeClr val="tx1"/>
                </a:solidFill>
                <a:prstDash val="solid"/>
                <a:miter/>
                <a:headEnd type="none" w="med" len="med"/>
                <a:tailEnd type="none" w="med" len="med"/>
              </a:ln>
            </p:spPr>
            <p:txBody>
              <a:bodyPr wrap="none" lIns="0" tIns="0" rIns="0" bIns="0" anchor="ctr"/>
              <a:lstStyle/>
              <a:p>
                <a:pPr algn="ctr"/>
                <a:endParaRPr lang="en-US" altLang="zh-CN">
                  <a:latin typeface="Times New Roman" panose="02020603050405020304" pitchFamily="18" charset="0"/>
                  <a:ea typeface="宋体" panose="02010600030101010101" pitchFamily="2" charset="-122"/>
                </a:endParaRPr>
              </a:p>
              <a:p>
                <a:pPr algn="ctr"/>
                <a:endParaRPr lang="en-US" altLang="zh-CN">
                  <a:latin typeface="Tahoma" panose="020B0604030504040204" pitchFamily="34" charset="0"/>
                  <a:ea typeface="宋体" panose="02010600030101010101" pitchFamily="2" charset="-122"/>
                </a:endParaRPr>
              </a:p>
            </p:txBody>
          </p:sp>
          <p:sp>
            <p:nvSpPr>
              <p:cNvPr id="146439" name="Line 7"/>
              <p:cNvSpPr/>
              <p:nvPr/>
            </p:nvSpPr>
            <p:spPr>
              <a:xfrm>
                <a:off x="1296" y="2448"/>
                <a:ext cx="1344" cy="0"/>
              </a:xfrm>
              <a:prstGeom prst="line">
                <a:avLst/>
              </a:prstGeom>
              <a:ln w="9525" cap="flat" cmpd="sng">
                <a:solidFill>
                  <a:schemeClr val="tx1"/>
                </a:solidFill>
                <a:prstDash val="solid"/>
                <a:round/>
                <a:headEnd type="none" w="med" len="med"/>
                <a:tailEnd type="none" w="med" len="med"/>
              </a:ln>
            </p:spPr>
            <p:txBody>
              <a:bodyPr lIns="0" tIns="0" rIns="0" bIns="0" anchor="t"/>
              <a:lstStyle/>
              <a:p>
                <a:endParaRPr lang="zh-CN" altLang="en-US">
                  <a:latin typeface="Tahoma" panose="020B0604030504040204" pitchFamily="34" charset="0"/>
                  <a:ea typeface="宋体" panose="02010600030101010101" pitchFamily="2" charset="-122"/>
                </a:endParaRPr>
              </a:p>
            </p:txBody>
          </p:sp>
          <p:sp>
            <p:nvSpPr>
              <p:cNvPr id="146440" name="Line 8"/>
              <p:cNvSpPr/>
              <p:nvPr/>
            </p:nvSpPr>
            <p:spPr>
              <a:xfrm>
                <a:off x="1296" y="2256"/>
                <a:ext cx="1344" cy="0"/>
              </a:xfrm>
              <a:prstGeom prst="line">
                <a:avLst/>
              </a:prstGeom>
              <a:ln w="9525" cap="flat" cmpd="sng">
                <a:solidFill>
                  <a:schemeClr val="tx1"/>
                </a:solidFill>
                <a:prstDash val="solid"/>
                <a:round/>
                <a:headEnd type="none" w="med" len="med"/>
                <a:tailEnd type="none" w="med" len="med"/>
              </a:ln>
            </p:spPr>
            <p:txBody>
              <a:bodyPr lIns="0" tIns="0" rIns="0" bIns="0" anchor="t"/>
              <a:lstStyle/>
              <a:p>
                <a:endParaRPr lang="zh-CN" altLang="en-US">
                  <a:latin typeface="Tahoma" panose="020B0604030504040204" pitchFamily="34" charset="0"/>
                  <a:ea typeface="宋体" panose="02010600030101010101" pitchFamily="2" charset="-122"/>
                </a:endParaRPr>
              </a:p>
            </p:txBody>
          </p:sp>
          <p:sp>
            <p:nvSpPr>
              <p:cNvPr id="146441" name="Line 9"/>
              <p:cNvSpPr/>
              <p:nvPr/>
            </p:nvSpPr>
            <p:spPr>
              <a:xfrm>
                <a:off x="1296" y="2064"/>
                <a:ext cx="1344" cy="0"/>
              </a:xfrm>
              <a:prstGeom prst="line">
                <a:avLst/>
              </a:prstGeom>
              <a:ln w="9525" cap="flat" cmpd="sng">
                <a:solidFill>
                  <a:schemeClr val="tx1"/>
                </a:solidFill>
                <a:prstDash val="solid"/>
                <a:round/>
                <a:headEnd type="none" w="med" len="med"/>
                <a:tailEnd type="none" w="med" len="med"/>
              </a:ln>
            </p:spPr>
            <p:txBody>
              <a:bodyPr lIns="0" tIns="0" rIns="0" bIns="0" anchor="t"/>
              <a:lstStyle/>
              <a:p>
                <a:endParaRPr lang="zh-CN" altLang="en-US">
                  <a:latin typeface="Tahoma" panose="020B0604030504040204" pitchFamily="34" charset="0"/>
                  <a:ea typeface="宋体" panose="02010600030101010101" pitchFamily="2" charset="-122"/>
                </a:endParaRPr>
              </a:p>
            </p:txBody>
          </p:sp>
          <p:sp>
            <p:nvSpPr>
              <p:cNvPr id="146442" name="Line 10"/>
              <p:cNvSpPr/>
              <p:nvPr/>
            </p:nvSpPr>
            <p:spPr>
              <a:xfrm>
                <a:off x="1296" y="1872"/>
                <a:ext cx="1344" cy="0"/>
              </a:xfrm>
              <a:prstGeom prst="line">
                <a:avLst/>
              </a:prstGeom>
              <a:ln w="9525" cap="flat" cmpd="sng">
                <a:solidFill>
                  <a:schemeClr val="tx1"/>
                </a:solidFill>
                <a:prstDash val="solid"/>
                <a:round/>
                <a:headEnd type="none" w="med" len="med"/>
                <a:tailEnd type="none" w="med" len="med"/>
              </a:ln>
            </p:spPr>
            <p:txBody>
              <a:bodyPr lIns="0" tIns="0" rIns="0" bIns="0" anchor="t"/>
              <a:lstStyle/>
              <a:p>
                <a:endParaRPr lang="zh-CN" altLang="en-US">
                  <a:latin typeface="Tahoma" panose="020B0604030504040204" pitchFamily="34" charset="0"/>
                  <a:ea typeface="宋体" panose="02010600030101010101" pitchFamily="2" charset="-122"/>
                </a:endParaRPr>
              </a:p>
            </p:txBody>
          </p:sp>
          <p:sp>
            <p:nvSpPr>
              <p:cNvPr id="146443" name="Line 11"/>
              <p:cNvSpPr/>
              <p:nvPr/>
            </p:nvSpPr>
            <p:spPr>
              <a:xfrm>
                <a:off x="1296" y="3456"/>
                <a:ext cx="1344" cy="0"/>
              </a:xfrm>
              <a:prstGeom prst="line">
                <a:avLst/>
              </a:prstGeom>
              <a:ln w="9525" cap="flat" cmpd="sng">
                <a:solidFill>
                  <a:schemeClr val="tx1"/>
                </a:solidFill>
                <a:prstDash val="solid"/>
                <a:round/>
                <a:headEnd type="none" w="med" len="med"/>
                <a:tailEnd type="none" w="med" len="med"/>
              </a:ln>
            </p:spPr>
            <p:txBody>
              <a:bodyPr lIns="0" tIns="0" rIns="0" bIns="0" anchor="t"/>
              <a:lstStyle/>
              <a:p>
                <a:endParaRPr lang="zh-CN" altLang="en-US">
                  <a:latin typeface="Tahoma" panose="020B0604030504040204" pitchFamily="34" charset="0"/>
                  <a:ea typeface="宋体" panose="02010600030101010101" pitchFamily="2" charset="-122"/>
                </a:endParaRPr>
              </a:p>
            </p:txBody>
          </p:sp>
          <p:sp>
            <p:nvSpPr>
              <p:cNvPr id="146444" name="Line 12"/>
              <p:cNvSpPr/>
              <p:nvPr/>
            </p:nvSpPr>
            <p:spPr>
              <a:xfrm>
                <a:off x="1296" y="3648"/>
                <a:ext cx="1344" cy="0"/>
              </a:xfrm>
              <a:prstGeom prst="line">
                <a:avLst/>
              </a:prstGeom>
              <a:ln w="9525" cap="flat" cmpd="sng">
                <a:solidFill>
                  <a:schemeClr val="tx1"/>
                </a:solidFill>
                <a:prstDash val="solid"/>
                <a:round/>
                <a:headEnd type="none" w="med" len="med"/>
                <a:tailEnd type="none" w="med" len="med"/>
              </a:ln>
            </p:spPr>
            <p:txBody>
              <a:bodyPr lIns="0" tIns="0" rIns="0" bIns="0" anchor="t"/>
              <a:lstStyle/>
              <a:p>
                <a:endParaRPr lang="zh-CN" altLang="en-US">
                  <a:latin typeface="Tahoma" panose="020B0604030504040204" pitchFamily="34" charset="0"/>
                  <a:ea typeface="宋体" panose="02010600030101010101" pitchFamily="2" charset="-122"/>
                </a:endParaRPr>
              </a:p>
            </p:txBody>
          </p:sp>
        </p:grpSp>
        <p:grpSp>
          <p:nvGrpSpPr>
            <p:cNvPr id="146445" name="Group 13"/>
            <p:cNvGrpSpPr/>
            <p:nvPr/>
          </p:nvGrpSpPr>
          <p:grpSpPr>
            <a:xfrm>
              <a:off x="1152" y="1632"/>
              <a:ext cx="864" cy="2160"/>
              <a:chOff x="1296" y="1680"/>
              <a:chExt cx="1344" cy="2160"/>
            </a:xfrm>
          </p:grpSpPr>
          <p:sp>
            <p:nvSpPr>
              <p:cNvPr id="146446" name="Rectangle 14"/>
              <p:cNvSpPr/>
              <p:nvPr/>
            </p:nvSpPr>
            <p:spPr>
              <a:xfrm>
                <a:off x="1296" y="1680"/>
                <a:ext cx="1344" cy="2160"/>
              </a:xfrm>
              <a:prstGeom prst="rect">
                <a:avLst/>
              </a:prstGeom>
              <a:noFill/>
              <a:ln w="9525" cap="flat" cmpd="sng">
                <a:solidFill>
                  <a:schemeClr val="tx1"/>
                </a:solidFill>
                <a:prstDash val="solid"/>
                <a:miter/>
                <a:headEnd type="none" w="med" len="med"/>
                <a:tailEnd type="none" w="med" len="med"/>
              </a:ln>
            </p:spPr>
            <p:txBody>
              <a:bodyPr wrap="none" lIns="0" tIns="0" rIns="0" bIns="0" anchor="ctr"/>
              <a:lstStyle/>
              <a:p>
                <a:pPr algn="ctr"/>
                <a:endParaRPr lang="en-US" altLang="zh-CN">
                  <a:latin typeface="Times New Roman" panose="02020603050405020304" pitchFamily="18" charset="0"/>
                  <a:ea typeface="宋体" panose="02010600030101010101" pitchFamily="2" charset="-122"/>
                </a:endParaRPr>
              </a:p>
              <a:p>
                <a:pPr algn="ctr"/>
                <a:endParaRPr lang="en-US" altLang="zh-CN">
                  <a:latin typeface="Tahoma" panose="020B0604030504040204" pitchFamily="34" charset="0"/>
                  <a:ea typeface="宋体" panose="02010600030101010101" pitchFamily="2" charset="-122"/>
                </a:endParaRPr>
              </a:p>
            </p:txBody>
          </p:sp>
          <p:sp>
            <p:nvSpPr>
              <p:cNvPr id="146447" name="Line 15"/>
              <p:cNvSpPr/>
              <p:nvPr/>
            </p:nvSpPr>
            <p:spPr>
              <a:xfrm>
                <a:off x="1296" y="2448"/>
                <a:ext cx="1344" cy="0"/>
              </a:xfrm>
              <a:prstGeom prst="line">
                <a:avLst/>
              </a:prstGeom>
              <a:ln w="9525" cap="flat" cmpd="sng">
                <a:solidFill>
                  <a:schemeClr val="tx1"/>
                </a:solidFill>
                <a:prstDash val="solid"/>
                <a:round/>
                <a:headEnd type="none" w="med" len="med"/>
                <a:tailEnd type="none" w="med" len="med"/>
              </a:ln>
            </p:spPr>
            <p:txBody>
              <a:bodyPr lIns="0" tIns="0" rIns="0" bIns="0" anchor="t"/>
              <a:lstStyle/>
              <a:p>
                <a:endParaRPr lang="zh-CN" altLang="en-US">
                  <a:latin typeface="Tahoma" panose="020B0604030504040204" pitchFamily="34" charset="0"/>
                  <a:ea typeface="宋体" panose="02010600030101010101" pitchFamily="2" charset="-122"/>
                </a:endParaRPr>
              </a:p>
            </p:txBody>
          </p:sp>
          <p:sp>
            <p:nvSpPr>
              <p:cNvPr id="146448" name="Line 16"/>
              <p:cNvSpPr/>
              <p:nvPr/>
            </p:nvSpPr>
            <p:spPr>
              <a:xfrm>
                <a:off x="1296" y="2256"/>
                <a:ext cx="1344" cy="0"/>
              </a:xfrm>
              <a:prstGeom prst="line">
                <a:avLst/>
              </a:prstGeom>
              <a:ln w="9525" cap="flat" cmpd="sng">
                <a:solidFill>
                  <a:schemeClr val="tx1"/>
                </a:solidFill>
                <a:prstDash val="solid"/>
                <a:round/>
                <a:headEnd type="none" w="med" len="med"/>
                <a:tailEnd type="none" w="med" len="med"/>
              </a:ln>
            </p:spPr>
            <p:txBody>
              <a:bodyPr lIns="0" tIns="0" rIns="0" bIns="0" anchor="t"/>
              <a:lstStyle/>
              <a:p>
                <a:endParaRPr lang="zh-CN" altLang="en-US">
                  <a:latin typeface="Tahoma" panose="020B0604030504040204" pitchFamily="34" charset="0"/>
                  <a:ea typeface="宋体" panose="02010600030101010101" pitchFamily="2" charset="-122"/>
                </a:endParaRPr>
              </a:p>
            </p:txBody>
          </p:sp>
          <p:sp>
            <p:nvSpPr>
              <p:cNvPr id="146449" name="Line 17"/>
              <p:cNvSpPr/>
              <p:nvPr/>
            </p:nvSpPr>
            <p:spPr>
              <a:xfrm>
                <a:off x="1296" y="2064"/>
                <a:ext cx="1344" cy="0"/>
              </a:xfrm>
              <a:prstGeom prst="line">
                <a:avLst/>
              </a:prstGeom>
              <a:ln w="9525" cap="flat" cmpd="sng">
                <a:solidFill>
                  <a:schemeClr val="tx1"/>
                </a:solidFill>
                <a:prstDash val="solid"/>
                <a:round/>
                <a:headEnd type="none" w="med" len="med"/>
                <a:tailEnd type="none" w="med" len="med"/>
              </a:ln>
            </p:spPr>
            <p:txBody>
              <a:bodyPr lIns="0" tIns="0" rIns="0" bIns="0" anchor="t"/>
              <a:lstStyle/>
              <a:p>
                <a:endParaRPr lang="zh-CN" altLang="en-US">
                  <a:latin typeface="Tahoma" panose="020B0604030504040204" pitchFamily="34" charset="0"/>
                  <a:ea typeface="宋体" panose="02010600030101010101" pitchFamily="2" charset="-122"/>
                </a:endParaRPr>
              </a:p>
            </p:txBody>
          </p:sp>
          <p:sp>
            <p:nvSpPr>
              <p:cNvPr id="146450" name="Line 18"/>
              <p:cNvSpPr/>
              <p:nvPr/>
            </p:nvSpPr>
            <p:spPr>
              <a:xfrm>
                <a:off x="1296" y="1872"/>
                <a:ext cx="1344" cy="0"/>
              </a:xfrm>
              <a:prstGeom prst="line">
                <a:avLst/>
              </a:prstGeom>
              <a:ln w="9525" cap="flat" cmpd="sng">
                <a:solidFill>
                  <a:schemeClr val="tx1"/>
                </a:solidFill>
                <a:prstDash val="solid"/>
                <a:round/>
                <a:headEnd type="none" w="med" len="med"/>
                <a:tailEnd type="none" w="med" len="med"/>
              </a:ln>
            </p:spPr>
            <p:txBody>
              <a:bodyPr lIns="0" tIns="0" rIns="0" bIns="0" anchor="t"/>
              <a:lstStyle/>
              <a:p>
                <a:endParaRPr lang="zh-CN" altLang="en-US">
                  <a:latin typeface="Tahoma" panose="020B0604030504040204" pitchFamily="34" charset="0"/>
                  <a:ea typeface="宋体" panose="02010600030101010101" pitchFamily="2" charset="-122"/>
                </a:endParaRPr>
              </a:p>
            </p:txBody>
          </p:sp>
          <p:sp>
            <p:nvSpPr>
              <p:cNvPr id="146451" name="Line 19"/>
              <p:cNvSpPr/>
              <p:nvPr/>
            </p:nvSpPr>
            <p:spPr>
              <a:xfrm>
                <a:off x="1296" y="3456"/>
                <a:ext cx="1344" cy="0"/>
              </a:xfrm>
              <a:prstGeom prst="line">
                <a:avLst/>
              </a:prstGeom>
              <a:ln w="9525" cap="flat" cmpd="sng">
                <a:solidFill>
                  <a:schemeClr val="tx1"/>
                </a:solidFill>
                <a:prstDash val="solid"/>
                <a:round/>
                <a:headEnd type="none" w="med" len="med"/>
                <a:tailEnd type="none" w="med" len="med"/>
              </a:ln>
            </p:spPr>
            <p:txBody>
              <a:bodyPr lIns="0" tIns="0" rIns="0" bIns="0" anchor="t"/>
              <a:lstStyle/>
              <a:p>
                <a:endParaRPr lang="zh-CN" altLang="en-US">
                  <a:latin typeface="Tahoma" panose="020B0604030504040204" pitchFamily="34" charset="0"/>
                  <a:ea typeface="宋体" panose="02010600030101010101" pitchFamily="2" charset="-122"/>
                </a:endParaRPr>
              </a:p>
            </p:txBody>
          </p:sp>
          <p:sp>
            <p:nvSpPr>
              <p:cNvPr id="146452" name="Line 20"/>
              <p:cNvSpPr/>
              <p:nvPr/>
            </p:nvSpPr>
            <p:spPr>
              <a:xfrm>
                <a:off x="1296" y="3648"/>
                <a:ext cx="1344" cy="0"/>
              </a:xfrm>
              <a:prstGeom prst="line">
                <a:avLst/>
              </a:prstGeom>
              <a:ln w="9525" cap="flat" cmpd="sng">
                <a:solidFill>
                  <a:schemeClr val="tx1"/>
                </a:solidFill>
                <a:prstDash val="solid"/>
                <a:round/>
                <a:headEnd type="none" w="med" len="med"/>
                <a:tailEnd type="none" w="med" len="med"/>
              </a:ln>
            </p:spPr>
            <p:txBody>
              <a:bodyPr lIns="0" tIns="0" rIns="0" bIns="0" anchor="t"/>
              <a:lstStyle/>
              <a:p>
                <a:endParaRPr lang="zh-CN" altLang="en-US">
                  <a:latin typeface="Tahoma" panose="020B0604030504040204" pitchFamily="34" charset="0"/>
                  <a:ea typeface="宋体" panose="02010600030101010101" pitchFamily="2" charset="-122"/>
                </a:endParaRPr>
              </a:p>
            </p:txBody>
          </p:sp>
        </p:grpSp>
        <p:sp>
          <p:nvSpPr>
            <p:cNvPr id="146453" name="Text Box 21"/>
            <p:cNvSpPr txBox="1"/>
            <p:nvPr/>
          </p:nvSpPr>
          <p:spPr>
            <a:xfrm>
              <a:off x="1324" y="1615"/>
              <a:ext cx="490" cy="465"/>
            </a:xfrm>
            <a:prstGeom prst="rect">
              <a:avLst/>
            </a:prstGeom>
            <a:noFill/>
            <a:ln w="9525">
              <a:noFill/>
            </a:ln>
          </p:spPr>
          <p:txBody>
            <a:bodyPr wrap="square" lIns="0" tIns="0" rIns="0" bIns="0" anchor="t">
              <a:spAutoFit/>
            </a:bodyPr>
            <a:lstStyle/>
            <a:p>
              <a:pPr algn="just"/>
              <a:r>
                <a:rPr lang="en-US" altLang="zh-CN" dirty="0">
                  <a:latin typeface="Times New Roman" panose="02020603050405020304" pitchFamily="18" charset="0"/>
                  <a:ea typeface="宋体" panose="02010600030101010101" pitchFamily="2" charset="-122"/>
                </a:rPr>
                <a:t>initial</a:t>
              </a:r>
              <a:r>
                <a:rPr lang="en-US" altLang="zh-CN" dirty="0">
                  <a:latin typeface="Tahoma" panose="020B0604030504040204" pitchFamily="34" charset="0"/>
                  <a:ea typeface="宋体" panose="02010600030101010101" pitchFamily="2" charset="-122"/>
                </a:rPr>
                <a:t> </a:t>
              </a:r>
            </a:p>
            <a:p>
              <a:pPr algn="just"/>
              <a:endParaRPr lang="en-US" altLang="zh-CN" dirty="0">
                <a:latin typeface="Tahoma" panose="020B0604030504040204" pitchFamily="34" charset="0"/>
                <a:ea typeface="宋体" panose="02010600030101010101" pitchFamily="2" charset="-122"/>
              </a:endParaRPr>
            </a:p>
          </p:txBody>
        </p:sp>
        <p:sp>
          <p:nvSpPr>
            <p:cNvPr id="146454" name="Line 22"/>
            <p:cNvSpPr/>
            <p:nvPr/>
          </p:nvSpPr>
          <p:spPr>
            <a:xfrm>
              <a:off x="912" y="1680"/>
              <a:ext cx="0" cy="1920"/>
            </a:xfrm>
            <a:prstGeom prst="line">
              <a:avLst/>
            </a:prstGeom>
            <a:ln w="9525" cap="flat" cmpd="sng">
              <a:solidFill>
                <a:schemeClr val="tx1"/>
              </a:solidFill>
              <a:prstDash val="solid"/>
              <a:round/>
              <a:headEnd type="none" w="med" len="med"/>
              <a:tailEnd type="triangle" w="med" len="med"/>
            </a:ln>
          </p:spPr>
          <p:txBody>
            <a:bodyPr lIns="0" tIns="0" rIns="0" bIns="0" anchor="t"/>
            <a:lstStyle/>
            <a:p>
              <a:endParaRPr lang="zh-CN" altLang="en-US">
                <a:latin typeface="Tahoma" panose="020B0604030504040204" pitchFamily="34" charset="0"/>
                <a:ea typeface="宋体" panose="02010600030101010101" pitchFamily="2" charset="-122"/>
              </a:endParaRPr>
            </a:p>
          </p:txBody>
        </p:sp>
        <p:grpSp>
          <p:nvGrpSpPr>
            <p:cNvPr id="146455" name="Group 23"/>
            <p:cNvGrpSpPr/>
            <p:nvPr/>
          </p:nvGrpSpPr>
          <p:grpSpPr>
            <a:xfrm>
              <a:off x="2256" y="1728"/>
              <a:ext cx="336" cy="1824"/>
              <a:chOff x="3120" y="1824"/>
              <a:chExt cx="336" cy="1824"/>
            </a:xfrm>
          </p:grpSpPr>
          <p:sp>
            <p:nvSpPr>
              <p:cNvPr id="146456" name="Line 24"/>
              <p:cNvSpPr/>
              <p:nvPr/>
            </p:nvSpPr>
            <p:spPr>
              <a:xfrm>
                <a:off x="3120" y="1824"/>
                <a:ext cx="336" cy="0"/>
              </a:xfrm>
              <a:prstGeom prst="line">
                <a:avLst/>
              </a:prstGeom>
              <a:ln w="9525" cap="flat" cmpd="sng">
                <a:solidFill>
                  <a:schemeClr val="tx1"/>
                </a:solidFill>
                <a:prstDash val="solid"/>
                <a:round/>
                <a:headEnd type="none" w="med" len="med"/>
                <a:tailEnd type="stealth" w="lg" len="lg"/>
              </a:ln>
            </p:spPr>
            <p:txBody>
              <a:bodyPr lIns="0" tIns="0" rIns="0" bIns="0" anchor="t"/>
              <a:lstStyle/>
              <a:p>
                <a:endParaRPr lang="zh-CN" altLang="en-US">
                  <a:latin typeface="Tahoma" panose="020B0604030504040204" pitchFamily="34" charset="0"/>
                  <a:ea typeface="宋体" panose="02010600030101010101" pitchFamily="2" charset="-122"/>
                </a:endParaRPr>
              </a:p>
            </p:txBody>
          </p:sp>
          <p:sp>
            <p:nvSpPr>
              <p:cNvPr id="146457" name="Line 25"/>
              <p:cNvSpPr/>
              <p:nvPr/>
            </p:nvSpPr>
            <p:spPr>
              <a:xfrm flipH="1">
                <a:off x="3120" y="1824"/>
                <a:ext cx="0" cy="1824"/>
              </a:xfrm>
              <a:prstGeom prst="line">
                <a:avLst/>
              </a:prstGeom>
              <a:ln w="9525" cap="flat" cmpd="sng">
                <a:solidFill>
                  <a:schemeClr val="tx1"/>
                </a:solidFill>
                <a:prstDash val="solid"/>
                <a:round/>
                <a:headEnd type="none" w="med" len="med"/>
                <a:tailEnd type="none" w="med" len="med"/>
              </a:ln>
            </p:spPr>
            <p:txBody>
              <a:bodyPr lIns="0" tIns="0" rIns="0" bIns="0" anchor="t"/>
              <a:lstStyle/>
              <a:p>
                <a:endParaRPr lang="zh-CN" altLang="en-US">
                  <a:latin typeface="Tahoma" panose="020B0604030504040204" pitchFamily="34" charset="0"/>
                  <a:ea typeface="宋体" panose="02010600030101010101" pitchFamily="2" charset="-122"/>
                </a:endParaRPr>
              </a:p>
            </p:txBody>
          </p:sp>
          <p:sp>
            <p:nvSpPr>
              <p:cNvPr id="146458" name="Line 26"/>
              <p:cNvSpPr/>
              <p:nvPr/>
            </p:nvSpPr>
            <p:spPr>
              <a:xfrm>
                <a:off x="3408" y="2112"/>
                <a:ext cx="0" cy="1536"/>
              </a:xfrm>
              <a:prstGeom prst="line">
                <a:avLst/>
              </a:prstGeom>
              <a:ln w="9525" cap="flat" cmpd="sng">
                <a:solidFill>
                  <a:schemeClr val="tx1"/>
                </a:solidFill>
                <a:prstDash val="solid"/>
                <a:round/>
                <a:headEnd type="none" w="med" len="med"/>
                <a:tailEnd type="none" w="med" len="med"/>
              </a:ln>
            </p:spPr>
            <p:txBody>
              <a:bodyPr lIns="0" tIns="0" rIns="0" bIns="0" anchor="t"/>
              <a:lstStyle/>
              <a:p>
                <a:endParaRPr lang="zh-CN" altLang="en-US">
                  <a:latin typeface="Tahoma" panose="020B0604030504040204" pitchFamily="34" charset="0"/>
                  <a:ea typeface="宋体" panose="02010600030101010101" pitchFamily="2" charset="-122"/>
                </a:endParaRPr>
              </a:p>
            </p:txBody>
          </p:sp>
          <p:sp>
            <p:nvSpPr>
              <p:cNvPr id="146459" name="Line 27"/>
              <p:cNvSpPr/>
              <p:nvPr/>
            </p:nvSpPr>
            <p:spPr>
              <a:xfrm flipH="1">
                <a:off x="3120" y="3648"/>
                <a:ext cx="288" cy="0"/>
              </a:xfrm>
              <a:prstGeom prst="line">
                <a:avLst/>
              </a:prstGeom>
              <a:ln w="9525" cap="flat" cmpd="sng">
                <a:solidFill>
                  <a:schemeClr val="tx1"/>
                </a:solidFill>
                <a:prstDash val="solid"/>
                <a:round/>
                <a:headEnd type="none" w="med" len="med"/>
                <a:tailEnd type="none" w="med" len="med"/>
              </a:ln>
            </p:spPr>
            <p:txBody>
              <a:bodyPr lIns="0" tIns="0" rIns="0" bIns="0" anchor="t"/>
              <a:lstStyle/>
              <a:p>
                <a:endParaRPr lang="zh-CN" altLang="en-US">
                  <a:latin typeface="Tahoma" panose="020B0604030504040204" pitchFamily="34" charset="0"/>
                  <a:ea typeface="宋体" panose="02010600030101010101" pitchFamily="2" charset="-122"/>
                </a:endParaRPr>
              </a:p>
            </p:txBody>
          </p:sp>
        </p:grpSp>
      </p:grpSp>
      <p:sp>
        <p:nvSpPr>
          <p:cNvPr id="146460" name="Rectangle 29"/>
          <p:cNvSpPr/>
          <p:nvPr/>
        </p:nvSpPr>
        <p:spPr>
          <a:xfrm>
            <a:off x="5721350" y="2082800"/>
            <a:ext cx="2914650" cy="3046413"/>
          </a:xfrm>
          <a:prstGeom prst="rect">
            <a:avLst/>
          </a:prstGeom>
          <a:noFill/>
          <a:ln w="9525">
            <a:noFill/>
          </a:ln>
        </p:spPr>
        <p:txBody>
          <a:bodyPr wrap="square" anchor="t">
            <a:spAutoFit/>
          </a:bodyPr>
          <a:lstStyle/>
          <a:p>
            <a:pPr algn="just"/>
            <a:r>
              <a:rPr lang="zh-CN" altLang="en-US" dirty="0">
                <a:latin typeface="Tahoma" panose="020B0604030504040204" pitchFamily="34" charset="0"/>
                <a:ea typeface="宋体" panose="02010600030101010101" pitchFamily="2" charset="-122"/>
              </a:rPr>
              <a:t>所有的过程块都在</a:t>
            </a:r>
            <a:r>
              <a:rPr lang="en-US" altLang="zh-CN" dirty="0">
                <a:latin typeface="Tahoma" panose="020B0604030504040204" pitchFamily="34" charset="0"/>
                <a:ea typeface="宋体" panose="02010600030101010101" pitchFamily="2" charset="-122"/>
              </a:rPr>
              <a:t>0</a:t>
            </a:r>
            <a:r>
              <a:rPr lang="zh-CN" altLang="en-US" dirty="0">
                <a:latin typeface="Tahoma" panose="020B0604030504040204" pitchFamily="34" charset="0"/>
                <a:ea typeface="宋体" panose="02010600030101010101" pitchFamily="2" charset="-122"/>
              </a:rPr>
              <a:t>时刻同时启动；它们是并行的，在模块中不分前后。</a:t>
            </a:r>
          </a:p>
          <a:p>
            <a:pPr algn="just">
              <a:buFont typeface="Wingdings" panose="05000000000000000000" pitchFamily="2" charset="2"/>
              <a:buChar char="§"/>
            </a:pPr>
            <a:r>
              <a:rPr lang="zh-CN" altLang="en-US" dirty="0">
                <a:latin typeface="Tahoma" panose="020B0604030504040204" pitchFamily="34" charset="0"/>
                <a:ea typeface="宋体" panose="02010600030101010101" pitchFamily="2" charset="-122"/>
              </a:rPr>
              <a:t> </a:t>
            </a:r>
            <a:r>
              <a:rPr lang="en-US" altLang="zh-CN" dirty="0">
                <a:latin typeface="Tahoma" panose="020B0604030504040204" pitchFamily="34" charset="0"/>
                <a:ea typeface="宋体" panose="02010600030101010101" pitchFamily="2" charset="-122"/>
              </a:rPr>
              <a:t>initial</a:t>
            </a:r>
            <a:r>
              <a:rPr lang="zh-CN" altLang="en-US" dirty="0">
                <a:latin typeface="Tahoma" panose="020B0604030504040204" pitchFamily="34" charset="0"/>
                <a:ea typeface="宋体" panose="02010600030101010101" pitchFamily="2" charset="-122"/>
              </a:rPr>
              <a:t>块只执行一次</a:t>
            </a:r>
          </a:p>
          <a:p>
            <a:pPr algn="just">
              <a:buFont typeface="Wingdings" panose="05000000000000000000" pitchFamily="2" charset="2"/>
              <a:buChar char="§"/>
            </a:pPr>
            <a:r>
              <a:rPr lang="zh-CN" altLang="en-US" dirty="0">
                <a:latin typeface="Tahoma" panose="020B0604030504040204" pitchFamily="34" charset="0"/>
                <a:ea typeface="宋体" panose="02010600030101010101" pitchFamily="2" charset="-122"/>
              </a:rPr>
              <a:t> </a:t>
            </a:r>
            <a:r>
              <a:rPr lang="en-US" altLang="zh-CN" dirty="0">
                <a:latin typeface="Tahoma" panose="020B0604030504040204" pitchFamily="34" charset="0"/>
                <a:ea typeface="宋体" panose="02010600030101010101" pitchFamily="2" charset="-122"/>
              </a:rPr>
              <a:t>always</a:t>
            </a:r>
            <a:r>
              <a:rPr lang="zh-CN" altLang="en-US" dirty="0">
                <a:latin typeface="Tahoma" panose="020B0604030504040204" pitchFamily="34" charset="0"/>
                <a:ea typeface="宋体" panose="02010600030101010101" pitchFamily="2" charset="-122"/>
              </a:rPr>
              <a:t>块 只要符合触发条件可以循环执行</a:t>
            </a:r>
          </a:p>
        </p:txBody>
      </p:sp>
      <p:sp>
        <p:nvSpPr>
          <p:cNvPr id="146461" name="Text Box 28"/>
          <p:cNvSpPr txBox="1"/>
          <p:nvPr/>
        </p:nvSpPr>
        <p:spPr>
          <a:xfrm>
            <a:off x="4119563" y="1916113"/>
            <a:ext cx="1447800" cy="457200"/>
          </a:xfrm>
          <a:prstGeom prst="rect">
            <a:avLst/>
          </a:prstGeom>
          <a:noFill/>
          <a:ln w="9525">
            <a:noFill/>
          </a:ln>
        </p:spPr>
        <p:txBody>
          <a:bodyPr anchor="t">
            <a:spAutoFit/>
          </a:bodyPr>
          <a:lstStyle/>
          <a:p>
            <a:pPr>
              <a:buClr>
                <a:schemeClr val="accent1"/>
              </a:buClr>
              <a:buSzPct val="90000"/>
            </a:pPr>
            <a:r>
              <a:rPr lang="en-US" altLang="zh-CN" dirty="0">
                <a:latin typeface="Times New Roman" panose="02020603050405020304" pitchFamily="18" charset="0"/>
                <a:ea typeface="宋体" panose="02010600030101010101" pitchFamily="2" charset="-122"/>
              </a:rPr>
              <a:t>  always</a:t>
            </a:r>
          </a:p>
        </p:txBody>
      </p:sp>
    </p:spTree>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3" descr="Rectangle: Click to edit Master text styles&#10;Second level&#10;Third level&#10;Fourth level&#10;Fifth level"/>
          <p:cNvSpPr>
            <a:spLocks noGrp="1"/>
          </p:cNvSpPr>
          <p:nvPr>
            <p:ph idx="1"/>
          </p:nvPr>
        </p:nvSpPr>
        <p:spPr>
          <a:xfrm>
            <a:off x="843905" y="1412776"/>
            <a:ext cx="7843837" cy="4676775"/>
          </a:xfrm>
        </p:spPr>
        <p:txBody>
          <a:bodyPr anchor="t"/>
          <a:lstStyle/>
          <a:p>
            <a:pPr algn="just"/>
            <a:r>
              <a:rPr lang="zh-CN" altLang="en-US" sz="2800" dirty="0">
                <a:latin typeface="微软雅黑" panose="020B0503020204020204" charset="-122"/>
                <a:ea typeface="微软雅黑" panose="020B0503020204020204" charset="-122"/>
              </a:rPr>
              <a:t>代码中的变量的初始化可以用</a:t>
            </a:r>
            <a:r>
              <a:rPr lang="en-US" altLang="zh-CN" sz="2800" dirty="0">
                <a:latin typeface="微软雅黑" panose="020B0503020204020204" charset="-122"/>
                <a:ea typeface="微软雅黑" panose="020B0503020204020204" charset="-122"/>
              </a:rPr>
              <a:t>initial</a:t>
            </a:r>
            <a:r>
              <a:rPr lang="zh-CN" altLang="en-US" sz="2800" dirty="0">
                <a:latin typeface="微软雅黑" panose="020B0503020204020204" charset="-122"/>
                <a:ea typeface="微软雅黑" panose="020B0503020204020204" charset="-122"/>
              </a:rPr>
              <a:t>进行初始化，也可以在定义的时候进行初始化</a:t>
            </a:r>
            <a:endParaRPr lang="en-US" altLang="zh-CN" sz="2800" dirty="0">
              <a:latin typeface="微软雅黑" panose="020B0503020204020204" charset="-122"/>
              <a:ea typeface="微软雅黑" panose="020B0503020204020204" charset="-122"/>
            </a:endParaRPr>
          </a:p>
          <a:p>
            <a:pPr algn="just"/>
            <a:endParaRPr lang="en-US" altLang="zh-CN" sz="2800" dirty="0">
              <a:latin typeface="微软雅黑" panose="020B0503020204020204" charset="-122"/>
              <a:ea typeface="微软雅黑" panose="020B0503020204020204" charset="-122"/>
            </a:endParaRPr>
          </a:p>
          <a:p>
            <a:pPr algn="just"/>
            <a:r>
              <a:rPr lang="zh-CN" altLang="en-US" sz="2800" dirty="0">
                <a:latin typeface="微软雅黑" panose="020B0503020204020204" charset="-122"/>
                <a:ea typeface="微软雅黑" panose="020B0503020204020204" charset="-122"/>
              </a:rPr>
              <a:t>在一定的触发条件下，例如复位中进行初始化</a:t>
            </a:r>
            <a:endParaRPr lang="en-US" altLang="zh-CN" sz="2800" dirty="0">
              <a:latin typeface="微软雅黑" panose="020B0503020204020204" charset="-122"/>
              <a:ea typeface="微软雅黑" panose="020B0503020204020204" charset="-122"/>
            </a:endParaRPr>
          </a:p>
          <a:p>
            <a:pPr algn="just"/>
            <a:endParaRPr lang="en-US" altLang="zh-CN" sz="2800" dirty="0">
              <a:latin typeface="微软雅黑" panose="020B0503020204020204" charset="-122"/>
              <a:ea typeface="微软雅黑" panose="020B0503020204020204" charset="-122"/>
            </a:endParaRPr>
          </a:p>
          <a:p>
            <a:pPr algn="just"/>
            <a:r>
              <a:rPr lang="zh-CN" altLang="en-US" sz="2800" dirty="0">
                <a:latin typeface="微软雅黑" panose="020B0503020204020204" charset="-122"/>
                <a:ea typeface="微软雅黑" panose="020B0503020204020204" charset="-122"/>
              </a:rPr>
              <a:t>利用</a:t>
            </a:r>
            <a:r>
              <a:rPr lang="en-US" altLang="zh-CN" sz="2800" dirty="0">
                <a:latin typeface="微软雅黑" panose="020B0503020204020204" charset="-122"/>
                <a:ea typeface="微软雅黑" panose="020B0503020204020204" charset="-122"/>
              </a:rPr>
              <a:t>Verilog</a:t>
            </a:r>
            <a:r>
              <a:rPr lang="zh-CN" altLang="en-US" sz="2800" dirty="0">
                <a:latin typeface="微软雅黑" panose="020B0503020204020204" charset="-122"/>
                <a:ea typeface="微软雅黑" panose="020B0503020204020204" charset="-122"/>
              </a:rPr>
              <a:t>语言的读文件功能，从文本文件中读取数据（该数据可以通过</a:t>
            </a:r>
            <a:r>
              <a:rPr lang="en-US" altLang="zh-CN" sz="2800" dirty="0">
                <a:latin typeface="微软雅黑" panose="020B0503020204020204" charset="-122"/>
                <a:ea typeface="微软雅黑" panose="020B0503020204020204" charset="-122"/>
              </a:rPr>
              <a:t>C/C++</a:t>
            </a:r>
            <a:r>
              <a:rPr lang="zh-CN" altLang="en-US" sz="2800" dirty="0">
                <a:latin typeface="微软雅黑" panose="020B0503020204020204" charset="-122"/>
                <a:ea typeface="微软雅黑" panose="020B0503020204020204" charset="-122"/>
              </a:rPr>
              <a:t>、</a:t>
            </a:r>
            <a:r>
              <a:rPr lang="en-US" altLang="zh-CN" sz="2800" dirty="0">
                <a:latin typeface="微软雅黑" panose="020B0503020204020204" charset="-122"/>
                <a:ea typeface="微软雅黑" panose="020B0503020204020204" charset="-122"/>
              </a:rPr>
              <a:t>MATLAB </a:t>
            </a:r>
            <a:r>
              <a:rPr lang="zh-CN" altLang="en-US" sz="2800" dirty="0">
                <a:latin typeface="微软雅黑" panose="020B0503020204020204" charset="-122"/>
                <a:ea typeface="微软雅黑" panose="020B0503020204020204" charset="-122"/>
              </a:rPr>
              <a:t>等软件语言生成）</a:t>
            </a:r>
            <a:endParaRPr lang="en-US" altLang="zh-CN" sz="2800" dirty="0">
              <a:latin typeface="微软雅黑" panose="020B0503020204020204" charset="-122"/>
              <a:ea typeface="微软雅黑" panose="020B0503020204020204" charset="-122"/>
            </a:endParaRPr>
          </a:p>
        </p:txBody>
      </p:sp>
      <p:sp>
        <p:nvSpPr>
          <p:cNvPr id="2" name="标题 1">
            <a:extLst>
              <a:ext uri="{FF2B5EF4-FFF2-40B4-BE49-F238E27FC236}">
                <a16:creationId xmlns:a16="http://schemas.microsoft.com/office/drawing/2014/main" id="{03126934-2D53-4315-83F0-BF24F92D816A}"/>
              </a:ext>
            </a:extLst>
          </p:cNvPr>
          <p:cNvSpPr txBox="1">
            <a:spLocks/>
          </p:cNvSpPr>
          <p:nvPr/>
        </p:nvSpPr>
        <p:spPr>
          <a:xfrm>
            <a:off x="683568" y="188913"/>
            <a:ext cx="8164512" cy="792162"/>
          </a:xfrm>
          <a:prstGeom prst="rect">
            <a:avLst/>
          </a:prstGeom>
          <a:noFill/>
          <a:ln w="9525">
            <a:noFill/>
          </a:ln>
        </p:spPr>
        <p:txBody>
          <a:bodyPr anchor="b" anchorCtr="0"/>
          <a:lstStyle>
            <a:lvl1pPr algn="ctr" rtl="0" eaLnBrk="0" fontAlgn="base" hangingPunct="0">
              <a:spcBef>
                <a:spcPct val="0"/>
              </a:spcBef>
              <a:spcAft>
                <a:spcPct val="0"/>
              </a:spcAft>
              <a:defRPr kumimoji="1" sz="4000" b="1">
                <a:solidFill>
                  <a:schemeClr val="tx2"/>
                </a:solidFill>
                <a:latin typeface="+mj-lt"/>
                <a:ea typeface="+mj-ea"/>
                <a:cs typeface="+mj-cs"/>
              </a:defRPr>
            </a:lvl1pPr>
            <a:lvl2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2pPr>
            <a:lvl3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3pPr>
            <a:lvl4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4pPr>
            <a:lvl5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5pPr>
            <a:lvl6pPr marL="4572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6pPr>
            <a:lvl7pPr marL="9144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7pPr>
            <a:lvl8pPr marL="13716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8pPr>
            <a:lvl9pPr marL="18288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9pPr>
          </a:lstStyle>
          <a:p>
            <a:pPr algn="l"/>
            <a:r>
              <a:rPr lang="en-US" altLang="zh-CN" dirty="0">
                <a:latin typeface="Tahoma" panose="020B0604030504040204" pitchFamily="34" charset="0"/>
                <a:ea typeface="楷体_GB2312" pitchFamily="49" charset="-122"/>
              </a:rPr>
              <a:t>Verilog</a:t>
            </a:r>
            <a:r>
              <a:rPr lang="zh-CN" altLang="en-US" dirty="0">
                <a:latin typeface="Tahoma" panose="020B0604030504040204" pitchFamily="34" charset="0"/>
                <a:ea typeface="楷体_GB2312" pitchFamily="49" charset="-122"/>
              </a:rPr>
              <a:t>模块的测试 </a:t>
            </a:r>
            <a:r>
              <a:rPr lang="en-US" altLang="zh-CN" dirty="0">
                <a:latin typeface="Tahoma" panose="020B0604030504040204" pitchFamily="34" charset="0"/>
                <a:ea typeface="楷体_GB2312" pitchFamily="49" charset="-122"/>
              </a:rPr>
              <a:t>-</a:t>
            </a:r>
            <a:r>
              <a:rPr lang="zh-CN" altLang="en-US" dirty="0">
                <a:latin typeface="Tahoma" panose="020B0604030504040204" pitchFamily="34" charset="0"/>
                <a:ea typeface="楷体_GB2312" pitchFamily="49" charset="-122"/>
              </a:rPr>
              <a:t>信号的初始化</a:t>
            </a:r>
            <a:endParaRPr lang="zh-CN" altLang="en-US" kern="1200" dirty="0">
              <a:latin typeface="Tahoma" panose="020B0604030504040204" pitchFamily="34" charset="0"/>
              <a:ea typeface="楷体_GB2312" pitchFamily="49" charset="-122"/>
              <a:cs typeface="+mn-cs"/>
            </a:endParaRPr>
          </a:p>
        </p:txBody>
      </p:sp>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2"/>
          <p:cNvSpPr>
            <a:spLocks noGrp="1"/>
          </p:cNvSpPr>
          <p:nvPr>
            <p:ph type="title"/>
          </p:nvPr>
        </p:nvSpPr>
        <p:spPr>
          <a:xfrm>
            <a:off x="683568" y="188913"/>
            <a:ext cx="8243887" cy="792162"/>
          </a:xfrm>
        </p:spPr>
        <p:txBody>
          <a:bodyPr anchor="b"/>
          <a:lstStyle/>
          <a:p>
            <a:pPr algn="l"/>
            <a:r>
              <a:rPr lang="en-US" altLang="zh-CN" kern="1200" dirty="0">
                <a:latin typeface="Tahoma" panose="020B0604030504040204" pitchFamily="34" charset="0"/>
                <a:ea typeface="楷体_GB2312" pitchFamily="49" charset="-122"/>
                <a:cs typeface="+mn-cs"/>
              </a:rPr>
              <a:t>Verilog</a:t>
            </a:r>
            <a:r>
              <a:rPr lang="zh-CN" altLang="en-US" kern="1200" dirty="0">
                <a:latin typeface="Tahoma" panose="020B0604030504040204" pitchFamily="34" charset="0"/>
                <a:ea typeface="楷体_GB2312" pitchFamily="49" charset="-122"/>
                <a:cs typeface="+mn-cs"/>
              </a:rPr>
              <a:t>模块的测试 </a:t>
            </a:r>
            <a:r>
              <a:rPr lang="en-US" altLang="zh-CN" kern="1200" dirty="0">
                <a:latin typeface="Tahoma" panose="020B0604030504040204" pitchFamily="34" charset="0"/>
                <a:ea typeface="楷体_GB2312" pitchFamily="49" charset="-122"/>
                <a:cs typeface="+mn-cs"/>
              </a:rPr>
              <a:t>– </a:t>
            </a:r>
            <a:r>
              <a:rPr lang="zh-CN" altLang="en-US" kern="1200" dirty="0">
                <a:latin typeface="Tahoma" panose="020B0604030504040204" pitchFamily="34" charset="0"/>
                <a:ea typeface="楷体_GB2312" pitchFamily="49" charset="-122"/>
                <a:cs typeface="+mn-cs"/>
              </a:rPr>
              <a:t>激励源产生</a:t>
            </a:r>
          </a:p>
        </p:txBody>
      </p:sp>
      <p:sp>
        <p:nvSpPr>
          <p:cNvPr id="148482" name="Rectangle 3" descr="Rectangle: Click to edit Master text styles&#10;Second level&#10;Third level&#10;Fourth level&#10;Fifth level"/>
          <p:cNvSpPr txBox="1"/>
          <p:nvPr/>
        </p:nvSpPr>
        <p:spPr>
          <a:xfrm>
            <a:off x="900113" y="841375"/>
            <a:ext cx="3671887" cy="5040313"/>
          </a:xfrm>
          <a:prstGeom prst="rect">
            <a:avLst/>
          </a:prstGeom>
          <a:noFill/>
          <a:ln w="9525">
            <a:noFill/>
          </a:ln>
        </p:spPr>
        <p:txBody>
          <a:bodyPr wrap="square" lIns="91440" tIns="45720" rIns="91440" bIns="45720" anchor="t"/>
          <a:lstStyle/>
          <a:p>
            <a:pPr marL="342900" indent="-342900" eaLnBrk="0" hangingPunct="0">
              <a:spcBef>
                <a:spcPct val="20000"/>
              </a:spcBef>
              <a:buClr>
                <a:srgbClr val="0033CC"/>
              </a:buClr>
              <a:buSzPct val="90000"/>
              <a:buFont typeface="Wingdings" panose="05000000000000000000" pitchFamily="2" charset="2"/>
              <a:buChar char="n"/>
            </a:pPr>
            <a:r>
              <a:rPr lang="zh-CN" altLang="en-US" sz="2800" dirty="0">
                <a:solidFill>
                  <a:srgbClr val="000000"/>
                </a:solidFill>
                <a:latin typeface="微软雅黑" panose="020B0503020204020204" charset="-122"/>
                <a:ea typeface="微软雅黑" panose="020B0503020204020204" charset="-122"/>
              </a:rPr>
              <a:t>绝对时间：</a:t>
            </a:r>
            <a:endParaRPr lang="en-US" altLang="zh-CN" sz="2800" dirty="0">
              <a:solidFill>
                <a:srgbClr val="000000"/>
              </a:solidFill>
              <a:latin typeface="微软雅黑" panose="020B0503020204020204" charset="-122"/>
              <a:ea typeface="微软雅黑" panose="020B0503020204020204" charset="-122"/>
            </a:endParaRPr>
          </a:p>
          <a:p>
            <a:pPr marL="342900" indent="-342900" eaLnBrk="0" hangingPunct="0">
              <a:spcBef>
                <a:spcPct val="20000"/>
              </a:spcBef>
              <a:buClr>
                <a:srgbClr val="0033CC"/>
              </a:buClr>
              <a:buSzPct val="90000"/>
            </a:pPr>
            <a:r>
              <a:rPr lang="zh-CN" altLang="en-US" sz="1800" dirty="0">
                <a:solidFill>
                  <a:srgbClr val="000000"/>
                </a:solidFill>
                <a:latin typeface="Tahoma" panose="020B0604030504040204" pitchFamily="34" charset="0"/>
                <a:ea typeface="楷体_GB2312" pitchFamily="49" charset="-122"/>
              </a:rPr>
              <a:t> </a:t>
            </a:r>
            <a:r>
              <a:rPr lang="en-US" altLang="zh-CN" sz="1800" dirty="0">
                <a:solidFill>
                  <a:srgbClr val="000000"/>
                </a:solidFill>
                <a:latin typeface="Tahoma" panose="020B0604030504040204" pitchFamily="34" charset="0"/>
                <a:ea typeface="楷体_GB2312" pitchFamily="49" charset="-122"/>
              </a:rPr>
              <a:t>initial begin</a:t>
            </a:r>
          </a:p>
          <a:p>
            <a:pPr marL="342900" indent="-342900" eaLnBrk="0" hangingPunct="0">
              <a:spcBef>
                <a:spcPct val="20000"/>
              </a:spcBef>
              <a:buClr>
                <a:srgbClr val="0033CC"/>
              </a:buClr>
              <a:buSzPct val="90000"/>
            </a:pPr>
            <a:r>
              <a:rPr lang="en-US" altLang="zh-CN" sz="1800" dirty="0">
                <a:solidFill>
                  <a:srgbClr val="000000"/>
                </a:solidFill>
                <a:latin typeface="Tahoma" panose="020B0604030504040204" pitchFamily="34" charset="0"/>
                <a:ea typeface="楷体_GB2312" pitchFamily="49" charset="-122"/>
              </a:rPr>
              <a:t>     Reset = 1;   //</a:t>
            </a:r>
            <a:r>
              <a:rPr lang="zh-CN" altLang="en-US" sz="1800" dirty="0">
                <a:solidFill>
                  <a:srgbClr val="000000"/>
                </a:solidFill>
                <a:latin typeface="Tahoma" panose="020B0604030504040204" pitchFamily="34" charset="0"/>
                <a:ea typeface="楷体_GB2312" pitchFamily="49" charset="-122"/>
              </a:rPr>
              <a:t>仿真时间零点激励</a:t>
            </a:r>
          </a:p>
          <a:p>
            <a:pPr marL="342900" indent="-342900" eaLnBrk="0" hangingPunct="0">
              <a:spcBef>
                <a:spcPct val="20000"/>
              </a:spcBef>
              <a:buClr>
                <a:srgbClr val="0033CC"/>
              </a:buClr>
              <a:buSzPct val="90000"/>
            </a:pPr>
            <a:r>
              <a:rPr lang="zh-CN" altLang="en-US" sz="1800" dirty="0">
                <a:solidFill>
                  <a:srgbClr val="000000"/>
                </a:solidFill>
                <a:latin typeface="Tahoma" panose="020B0604030504040204" pitchFamily="34" charset="0"/>
                <a:ea typeface="楷体_GB2312" pitchFamily="49" charset="-122"/>
              </a:rPr>
              <a:t>     </a:t>
            </a:r>
            <a:r>
              <a:rPr lang="en-US" altLang="zh-CN" sz="1800" dirty="0">
                <a:solidFill>
                  <a:srgbClr val="000000"/>
                </a:solidFill>
                <a:latin typeface="Tahoma" panose="020B0604030504040204" pitchFamily="34" charset="0"/>
                <a:ea typeface="楷体_GB2312" pitchFamily="49" charset="-122"/>
              </a:rPr>
              <a:t>Load = 0;    //</a:t>
            </a:r>
            <a:r>
              <a:rPr lang="zh-CN" altLang="en-US" sz="1800" dirty="0">
                <a:solidFill>
                  <a:srgbClr val="000000"/>
                </a:solidFill>
                <a:latin typeface="Tahoma" panose="020B0604030504040204" pitchFamily="34" charset="0"/>
                <a:ea typeface="楷体_GB2312" pitchFamily="49" charset="-122"/>
              </a:rPr>
              <a:t>仿真时间零点激励</a:t>
            </a:r>
          </a:p>
          <a:p>
            <a:pPr marL="342900" indent="-342900" eaLnBrk="0" hangingPunct="0">
              <a:spcBef>
                <a:spcPct val="20000"/>
              </a:spcBef>
              <a:buClr>
                <a:srgbClr val="0033CC"/>
              </a:buClr>
              <a:buSzPct val="90000"/>
            </a:pPr>
            <a:r>
              <a:rPr lang="zh-CN" altLang="en-US" sz="1800" dirty="0">
                <a:solidFill>
                  <a:srgbClr val="000000"/>
                </a:solidFill>
                <a:latin typeface="Tahoma" panose="020B0604030504040204" pitchFamily="34" charset="0"/>
                <a:ea typeface="楷体_GB2312" pitchFamily="49" charset="-122"/>
              </a:rPr>
              <a:t>     </a:t>
            </a:r>
            <a:r>
              <a:rPr lang="en-US" altLang="zh-CN" sz="1800" dirty="0">
                <a:solidFill>
                  <a:srgbClr val="000000"/>
                </a:solidFill>
                <a:latin typeface="Tahoma" panose="020B0604030504040204" pitchFamily="34" charset="0"/>
                <a:ea typeface="楷体_GB2312" pitchFamily="49" charset="-122"/>
              </a:rPr>
              <a:t>Count = 0;  //</a:t>
            </a:r>
            <a:r>
              <a:rPr lang="zh-CN" altLang="en-US" sz="1800" dirty="0">
                <a:solidFill>
                  <a:srgbClr val="000000"/>
                </a:solidFill>
                <a:latin typeface="Tahoma" panose="020B0604030504040204" pitchFamily="34" charset="0"/>
                <a:ea typeface="楷体_GB2312" pitchFamily="49" charset="-122"/>
              </a:rPr>
              <a:t>仿真时间零点激励</a:t>
            </a:r>
            <a:endParaRPr lang="en-US" altLang="zh-CN" sz="1800" dirty="0">
              <a:solidFill>
                <a:srgbClr val="000000"/>
              </a:solidFill>
              <a:latin typeface="Tahoma" panose="020B0604030504040204" pitchFamily="34" charset="0"/>
              <a:ea typeface="楷体_GB2312" pitchFamily="49" charset="-122"/>
            </a:endParaRPr>
          </a:p>
          <a:p>
            <a:pPr marL="342900" indent="-342900" eaLnBrk="0" hangingPunct="0">
              <a:spcBef>
                <a:spcPct val="20000"/>
              </a:spcBef>
              <a:buClr>
                <a:srgbClr val="0033CC"/>
              </a:buClr>
              <a:buSzPct val="90000"/>
            </a:pPr>
            <a:r>
              <a:rPr lang="zh-CN" altLang="en-US" sz="1800" dirty="0">
                <a:solidFill>
                  <a:srgbClr val="000000"/>
                </a:solidFill>
                <a:latin typeface="Tahoma" panose="020B0604030504040204" pitchFamily="34" charset="0"/>
                <a:ea typeface="楷体_GB2312" pitchFamily="49" charset="-122"/>
              </a:rPr>
              <a:t>     </a:t>
            </a:r>
            <a:r>
              <a:rPr lang="en-US" altLang="zh-CN" sz="1800" dirty="0">
                <a:solidFill>
                  <a:srgbClr val="000000"/>
                </a:solidFill>
                <a:latin typeface="Tahoma" panose="020B0604030504040204" pitchFamily="34" charset="0"/>
                <a:ea typeface="楷体_GB2312" pitchFamily="49" charset="-122"/>
              </a:rPr>
              <a:t>#100 Reset = 0; </a:t>
            </a:r>
          </a:p>
          <a:p>
            <a:pPr marL="342900" indent="-342900" eaLnBrk="0" hangingPunct="0">
              <a:spcBef>
                <a:spcPct val="20000"/>
              </a:spcBef>
              <a:buClr>
                <a:srgbClr val="0033CC"/>
              </a:buClr>
              <a:buSzPct val="90000"/>
            </a:pPr>
            <a:r>
              <a:rPr lang="en-US" altLang="zh-CN" sz="1800" dirty="0">
                <a:solidFill>
                  <a:srgbClr val="000000"/>
                </a:solidFill>
                <a:latin typeface="Tahoma" panose="020B0604030504040204" pitchFamily="34" charset="0"/>
                <a:ea typeface="楷体_GB2312" pitchFamily="49" charset="-122"/>
              </a:rPr>
              <a:t>     //</a:t>
            </a:r>
            <a:r>
              <a:rPr lang="zh-CN" altLang="en-US" sz="1800" dirty="0">
                <a:solidFill>
                  <a:srgbClr val="000000"/>
                </a:solidFill>
                <a:latin typeface="Tahoma" panose="020B0604030504040204" pitchFamily="34" charset="0"/>
                <a:ea typeface="楷体_GB2312" pitchFamily="49" charset="-122"/>
              </a:rPr>
              <a:t>绝对时间</a:t>
            </a:r>
            <a:r>
              <a:rPr lang="en-US" altLang="zh-CN" sz="1800" dirty="0">
                <a:solidFill>
                  <a:srgbClr val="000000"/>
                </a:solidFill>
                <a:latin typeface="Tahoma" panose="020B0604030504040204" pitchFamily="34" charset="0"/>
                <a:ea typeface="楷体_GB2312" pitchFamily="49" charset="-122"/>
              </a:rPr>
              <a:t>100</a:t>
            </a:r>
            <a:r>
              <a:rPr lang="zh-CN" altLang="en-US" sz="1800" dirty="0">
                <a:solidFill>
                  <a:srgbClr val="000000"/>
                </a:solidFill>
                <a:latin typeface="Tahoma" panose="020B0604030504040204" pitchFamily="34" charset="0"/>
                <a:ea typeface="楷体_GB2312" pitchFamily="49" charset="-122"/>
              </a:rPr>
              <a:t>激励</a:t>
            </a:r>
            <a:endParaRPr lang="en-US" altLang="zh-CN" sz="1800" dirty="0">
              <a:solidFill>
                <a:srgbClr val="000000"/>
              </a:solidFill>
              <a:latin typeface="Tahoma" panose="020B0604030504040204" pitchFamily="34" charset="0"/>
              <a:ea typeface="楷体_GB2312" pitchFamily="49" charset="-122"/>
            </a:endParaRPr>
          </a:p>
          <a:p>
            <a:pPr marL="342900" indent="-342900" eaLnBrk="0" hangingPunct="0">
              <a:spcBef>
                <a:spcPct val="20000"/>
              </a:spcBef>
              <a:buClr>
                <a:srgbClr val="0033CC"/>
              </a:buClr>
              <a:buSzPct val="90000"/>
            </a:pPr>
            <a:endParaRPr lang="zh-CN" altLang="en-US" sz="1800" dirty="0">
              <a:solidFill>
                <a:srgbClr val="000000"/>
              </a:solidFill>
              <a:latin typeface="Tahoma" panose="020B0604030504040204" pitchFamily="34" charset="0"/>
              <a:ea typeface="楷体_GB2312" pitchFamily="49" charset="-122"/>
            </a:endParaRPr>
          </a:p>
          <a:p>
            <a:pPr marL="342900" indent="-342900" eaLnBrk="0" hangingPunct="0">
              <a:spcBef>
                <a:spcPct val="20000"/>
              </a:spcBef>
              <a:buClr>
                <a:srgbClr val="0033CC"/>
              </a:buClr>
              <a:buSzPct val="90000"/>
            </a:pPr>
            <a:r>
              <a:rPr lang="zh-CN" altLang="en-US" sz="1800" dirty="0">
                <a:solidFill>
                  <a:srgbClr val="000000"/>
                </a:solidFill>
                <a:latin typeface="Tahoma" panose="020B0604030504040204" pitchFamily="34" charset="0"/>
                <a:ea typeface="楷体_GB2312" pitchFamily="49" charset="-122"/>
              </a:rPr>
              <a:t>     </a:t>
            </a:r>
            <a:r>
              <a:rPr lang="en-US" altLang="zh-CN" sz="1800" dirty="0">
                <a:solidFill>
                  <a:srgbClr val="000000"/>
                </a:solidFill>
                <a:latin typeface="Tahoma" panose="020B0604030504040204" pitchFamily="34" charset="0"/>
                <a:ea typeface="楷体_GB2312" pitchFamily="49" charset="-122"/>
              </a:rPr>
              <a:t>#20 Load = 1;           </a:t>
            </a:r>
          </a:p>
          <a:p>
            <a:pPr marL="342900" indent="-342900" eaLnBrk="0" hangingPunct="0">
              <a:spcBef>
                <a:spcPct val="20000"/>
              </a:spcBef>
              <a:buClr>
                <a:srgbClr val="0033CC"/>
              </a:buClr>
              <a:buSzPct val="90000"/>
            </a:pPr>
            <a:r>
              <a:rPr lang="en-US" altLang="zh-CN" sz="1800" dirty="0">
                <a:solidFill>
                  <a:srgbClr val="000000"/>
                </a:solidFill>
                <a:latin typeface="Tahoma" panose="020B0604030504040204" pitchFamily="34" charset="0"/>
                <a:ea typeface="楷体_GB2312" pitchFamily="49" charset="-122"/>
              </a:rPr>
              <a:t>     //</a:t>
            </a:r>
            <a:r>
              <a:rPr lang="zh-CN" altLang="en-US" sz="1800" dirty="0">
                <a:solidFill>
                  <a:srgbClr val="000000"/>
                </a:solidFill>
                <a:latin typeface="Tahoma" panose="020B0604030504040204" pitchFamily="34" charset="0"/>
                <a:ea typeface="楷体_GB2312" pitchFamily="49" charset="-122"/>
              </a:rPr>
              <a:t>绝对时间</a:t>
            </a:r>
            <a:r>
              <a:rPr lang="en-US" altLang="zh-CN" sz="1800" dirty="0">
                <a:solidFill>
                  <a:srgbClr val="000000"/>
                </a:solidFill>
                <a:latin typeface="Tahoma" panose="020B0604030504040204" pitchFamily="34" charset="0"/>
                <a:ea typeface="楷体_GB2312" pitchFamily="49" charset="-122"/>
              </a:rPr>
              <a:t>120</a:t>
            </a:r>
            <a:r>
              <a:rPr lang="zh-CN" altLang="en-US" sz="1800" dirty="0">
                <a:solidFill>
                  <a:srgbClr val="000000"/>
                </a:solidFill>
                <a:latin typeface="Tahoma" panose="020B0604030504040204" pitchFamily="34" charset="0"/>
                <a:ea typeface="楷体_GB2312" pitchFamily="49" charset="-122"/>
              </a:rPr>
              <a:t>激励</a:t>
            </a:r>
            <a:endParaRPr lang="en-US" altLang="zh-CN" sz="1800" dirty="0">
              <a:solidFill>
                <a:srgbClr val="000000"/>
              </a:solidFill>
              <a:latin typeface="Tahoma" panose="020B0604030504040204" pitchFamily="34" charset="0"/>
              <a:ea typeface="楷体_GB2312" pitchFamily="49" charset="-122"/>
            </a:endParaRPr>
          </a:p>
          <a:p>
            <a:pPr marL="342900" indent="-342900" eaLnBrk="0" hangingPunct="0">
              <a:spcBef>
                <a:spcPct val="20000"/>
              </a:spcBef>
              <a:buClr>
                <a:srgbClr val="0033CC"/>
              </a:buClr>
              <a:buSzPct val="90000"/>
            </a:pPr>
            <a:r>
              <a:rPr lang="en-US" altLang="zh-CN" sz="1800" dirty="0">
                <a:solidFill>
                  <a:srgbClr val="000000"/>
                </a:solidFill>
                <a:latin typeface="Tahoma" panose="020B0604030504040204" pitchFamily="34" charset="0"/>
                <a:ea typeface="楷体_GB2312" pitchFamily="49" charset="-122"/>
              </a:rPr>
              <a:t>     //</a:t>
            </a:r>
            <a:r>
              <a:rPr lang="zh-CN" altLang="en-US" sz="1800" dirty="0">
                <a:solidFill>
                  <a:srgbClr val="000000"/>
                </a:solidFill>
                <a:latin typeface="Tahoma" panose="020B0604030504040204" pitchFamily="34" charset="0"/>
                <a:ea typeface="楷体_GB2312" pitchFamily="49" charset="-122"/>
              </a:rPr>
              <a:t>相对上一个时间点</a:t>
            </a:r>
            <a:r>
              <a:rPr lang="en-US" altLang="zh-CN" sz="1800" dirty="0">
                <a:solidFill>
                  <a:srgbClr val="000000"/>
                </a:solidFill>
                <a:latin typeface="Tahoma" panose="020B0604030504040204" pitchFamily="34" charset="0"/>
                <a:ea typeface="楷体_GB2312" pitchFamily="49" charset="-122"/>
              </a:rPr>
              <a:t>20</a:t>
            </a:r>
          </a:p>
          <a:p>
            <a:pPr marL="342900" indent="-342900" eaLnBrk="0" hangingPunct="0">
              <a:spcBef>
                <a:spcPct val="20000"/>
              </a:spcBef>
              <a:buClr>
                <a:srgbClr val="0033CC"/>
              </a:buClr>
              <a:buSzPct val="90000"/>
            </a:pPr>
            <a:r>
              <a:rPr lang="en-US" altLang="zh-CN" sz="1800" dirty="0">
                <a:solidFill>
                  <a:srgbClr val="000000"/>
                </a:solidFill>
                <a:latin typeface="Tahoma" panose="020B0604030504040204" pitchFamily="34" charset="0"/>
                <a:ea typeface="楷体_GB2312" pitchFamily="49" charset="-122"/>
              </a:rPr>
              <a:t>     #20 Count  = 1;</a:t>
            </a:r>
          </a:p>
          <a:p>
            <a:pPr marL="342900" indent="-342900" eaLnBrk="0" hangingPunct="0">
              <a:spcBef>
                <a:spcPct val="20000"/>
              </a:spcBef>
              <a:buClr>
                <a:srgbClr val="0033CC"/>
              </a:buClr>
              <a:buSzPct val="90000"/>
            </a:pPr>
            <a:r>
              <a:rPr lang="en-US" altLang="zh-CN" sz="1800" dirty="0">
                <a:solidFill>
                  <a:srgbClr val="000000"/>
                </a:solidFill>
                <a:latin typeface="Tahoma" panose="020B0604030504040204" pitchFamily="34" charset="0"/>
                <a:ea typeface="楷体_GB2312" pitchFamily="49" charset="-122"/>
              </a:rPr>
              <a:t>     //</a:t>
            </a:r>
            <a:r>
              <a:rPr lang="zh-CN" altLang="en-US" sz="1800" dirty="0">
                <a:solidFill>
                  <a:srgbClr val="000000"/>
                </a:solidFill>
                <a:latin typeface="Tahoma" panose="020B0604030504040204" pitchFamily="34" charset="0"/>
                <a:ea typeface="楷体_GB2312" pitchFamily="49" charset="-122"/>
              </a:rPr>
              <a:t>绝对时间</a:t>
            </a:r>
            <a:r>
              <a:rPr lang="en-US" altLang="zh-CN" sz="1800" dirty="0">
                <a:solidFill>
                  <a:srgbClr val="000000"/>
                </a:solidFill>
                <a:latin typeface="Tahoma" panose="020B0604030504040204" pitchFamily="34" charset="0"/>
                <a:ea typeface="楷体_GB2312" pitchFamily="49" charset="-122"/>
              </a:rPr>
              <a:t>140</a:t>
            </a:r>
            <a:r>
              <a:rPr lang="zh-CN" altLang="en-US" sz="1800" dirty="0">
                <a:solidFill>
                  <a:srgbClr val="000000"/>
                </a:solidFill>
                <a:latin typeface="Tahoma" panose="020B0604030504040204" pitchFamily="34" charset="0"/>
                <a:ea typeface="楷体_GB2312" pitchFamily="49" charset="-122"/>
              </a:rPr>
              <a:t>激励</a:t>
            </a:r>
            <a:endParaRPr lang="en-US" altLang="zh-CN" sz="1800" dirty="0">
              <a:solidFill>
                <a:srgbClr val="000000"/>
              </a:solidFill>
              <a:latin typeface="Tahoma" panose="020B0604030504040204" pitchFamily="34" charset="0"/>
              <a:ea typeface="楷体_GB2312" pitchFamily="49" charset="-122"/>
            </a:endParaRPr>
          </a:p>
          <a:p>
            <a:pPr marL="342900" indent="-342900" eaLnBrk="0" hangingPunct="0">
              <a:spcBef>
                <a:spcPct val="20000"/>
              </a:spcBef>
              <a:buClr>
                <a:srgbClr val="0033CC"/>
              </a:buClr>
              <a:buSzPct val="90000"/>
            </a:pPr>
            <a:r>
              <a:rPr lang="en-US" altLang="zh-CN" sz="1800" dirty="0">
                <a:solidFill>
                  <a:srgbClr val="000000"/>
                </a:solidFill>
                <a:latin typeface="Tahoma" panose="020B0604030504040204" pitchFamily="34" charset="0"/>
                <a:ea typeface="楷体_GB2312" pitchFamily="49" charset="-122"/>
              </a:rPr>
              <a:t>     //</a:t>
            </a:r>
            <a:r>
              <a:rPr lang="zh-CN" altLang="en-US" sz="1800" dirty="0">
                <a:solidFill>
                  <a:srgbClr val="000000"/>
                </a:solidFill>
                <a:latin typeface="Tahoma" panose="020B0604030504040204" pitchFamily="34" charset="0"/>
                <a:ea typeface="楷体_GB2312" pitchFamily="49" charset="-122"/>
              </a:rPr>
              <a:t>相对上一个时间点</a:t>
            </a:r>
            <a:r>
              <a:rPr lang="en-US" altLang="zh-CN" sz="1800" dirty="0">
                <a:solidFill>
                  <a:srgbClr val="000000"/>
                </a:solidFill>
                <a:latin typeface="Tahoma" panose="020B0604030504040204" pitchFamily="34" charset="0"/>
                <a:ea typeface="楷体_GB2312" pitchFamily="49" charset="-122"/>
              </a:rPr>
              <a:t>20</a:t>
            </a:r>
          </a:p>
          <a:p>
            <a:pPr marL="342900" indent="-342900" eaLnBrk="0" hangingPunct="0">
              <a:spcBef>
                <a:spcPct val="20000"/>
              </a:spcBef>
              <a:buClr>
                <a:srgbClr val="0033CC"/>
              </a:buClr>
              <a:buSzPct val="90000"/>
            </a:pPr>
            <a:r>
              <a:rPr lang="en-US" altLang="zh-CN" sz="1800" dirty="0">
                <a:solidFill>
                  <a:srgbClr val="000000"/>
                </a:solidFill>
                <a:latin typeface="Tahoma" panose="020B0604030504040204" pitchFamily="34" charset="0"/>
                <a:ea typeface="楷体_GB2312" pitchFamily="49" charset="-122"/>
              </a:rPr>
              <a:t>end</a:t>
            </a:r>
          </a:p>
        </p:txBody>
      </p:sp>
      <p:sp>
        <p:nvSpPr>
          <p:cNvPr id="3" name="矩形 2"/>
          <p:cNvSpPr/>
          <p:nvPr/>
        </p:nvSpPr>
        <p:spPr>
          <a:xfrm>
            <a:off x="4960938" y="841375"/>
            <a:ext cx="4183063" cy="6153150"/>
          </a:xfrm>
          <a:prstGeom prst="rect">
            <a:avLst/>
          </a:prstGeom>
        </p:spPr>
        <p:txBody>
          <a:bodyPr wrap="square">
            <a:spAutoFit/>
          </a:bodyPr>
          <a:lstStyle/>
          <a:p>
            <a:pPr marL="342900" indent="-342900" fontAlgn="base">
              <a:spcBef>
                <a:spcPct val="20000"/>
              </a:spcBef>
              <a:buClr>
                <a:srgbClr val="0033CC"/>
              </a:buClr>
              <a:buSzPct val="90000"/>
              <a:buFont typeface="Wingdings" panose="05000000000000000000" pitchFamily="2" charset="2"/>
              <a:buChar char="n"/>
            </a:pPr>
            <a:r>
              <a:rPr kumimoji="1" lang="zh-CN" altLang="en-US" sz="2800" strike="noStrike" kern="0" noProof="1">
                <a:solidFill>
                  <a:srgbClr val="000000"/>
                </a:solidFill>
                <a:latin typeface="微软雅黑" panose="020B0503020204020204" charset="-122"/>
                <a:ea typeface="微软雅黑" panose="020B0503020204020204" charset="-122"/>
                <a:cs typeface="+mn-cs"/>
              </a:rPr>
              <a:t>相对时间：</a:t>
            </a:r>
            <a:endParaRPr kumimoji="1" lang="en-US" altLang="zh-CN" sz="2800" strike="noStrike" kern="0" noProof="1">
              <a:solidFill>
                <a:srgbClr val="000000"/>
              </a:solidFill>
              <a:latin typeface="微软雅黑" panose="020B0503020204020204" charset="-122"/>
              <a:ea typeface="微软雅黑" panose="020B0503020204020204" charset="-122"/>
            </a:endParaRPr>
          </a:p>
          <a:p>
            <a:pPr fontAlgn="base">
              <a:buNone/>
            </a:pPr>
            <a:r>
              <a:rPr lang="en-US" altLang="zh-CN" strike="noStrike" kern="0" noProof="1">
                <a:latin typeface="+mj-lt"/>
                <a:ea typeface="宋体" panose="02010600030101010101" pitchFamily="2" charset="-122"/>
                <a:cs typeface="+mn-cs"/>
              </a:rPr>
              <a:t> </a:t>
            </a:r>
            <a:r>
              <a:rPr lang="en-US" altLang="zh-CN" sz="1800" strike="noStrike" kern="0" noProof="1">
                <a:latin typeface="+mj-lt"/>
                <a:ea typeface="宋体" panose="02010600030101010101" pitchFamily="2" charset="-122"/>
                <a:cs typeface="+mn-cs"/>
              </a:rPr>
              <a:t>always @ (posedge clock)</a:t>
            </a:r>
            <a:endParaRPr lang="en-US" altLang="zh-CN" sz="1800" strike="noStrike" kern="0" noProof="1">
              <a:latin typeface="+mj-lt"/>
            </a:endParaRPr>
          </a:p>
          <a:p>
            <a:pPr fontAlgn="base">
              <a:buNone/>
            </a:pPr>
            <a:r>
              <a:rPr lang="en-US" altLang="zh-CN" sz="1800" strike="noStrike" kern="0" noProof="1">
                <a:latin typeface="+mj-lt"/>
                <a:ea typeface="宋体" panose="02010600030101010101" pitchFamily="2" charset="-122"/>
                <a:cs typeface="+mn-cs"/>
              </a:rPr>
              <a:t>Count &lt;= Count + 1;    //</a:t>
            </a:r>
            <a:r>
              <a:rPr lang="zh-CN" altLang="en-US" sz="1800" strike="noStrike" kern="0" noProof="1">
                <a:latin typeface="+mj-lt"/>
                <a:ea typeface="宋体" panose="02010600030101010101" pitchFamily="2" charset="-122"/>
                <a:cs typeface="+mn-cs"/>
              </a:rPr>
              <a:t>绝对时间的递增</a:t>
            </a:r>
            <a:endParaRPr lang="zh-CN" altLang="en-US" sz="1800" strike="noStrike" kern="0" noProof="1">
              <a:latin typeface="+mj-lt"/>
            </a:endParaRPr>
          </a:p>
          <a:p>
            <a:pPr fontAlgn="base">
              <a:buNone/>
            </a:pPr>
            <a:endParaRPr lang="zh-CN" altLang="en-US" sz="1800" strike="noStrike" kern="0" noProof="1">
              <a:latin typeface="+mj-lt"/>
            </a:endParaRPr>
          </a:p>
          <a:p>
            <a:pPr fontAlgn="base">
              <a:buNone/>
            </a:pPr>
            <a:r>
              <a:rPr lang="en-US" altLang="zh-CN" sz="1800" strike="noStrike" kern="0" noProof="1">
                <a:latin typeface="+mj-lt"/>
                <a:ea typeface="宋体" panose="02010600030101010101" pitchFamily="2" charset="-122"/>
                <a:cs typeface="+mn-cs"/>
              </a:rPr>
              <a:t>initial begin</a:t>
            </a:r>
            <a:endParaRPr lang="en-US" altLang="zh-CN" sz="1800" strike="noStrike" kern="0" noProof="1">
              <a:latin typeface="+mj-lt"/>
            </a:endParaRPr>
          </a:p>
          <a:p>
            <a:pPr fontAlgn="base">
              <a:buNone/>
            </a:pPr>
            <a:r>
              <a:rPr lang="en-US" altLang="zh-CN" sz="1800" strike="noStrike" kern="0" noProof="1">
                <a:latin typeface="+mj-lt"/>
                <a:ea typeface="宋体" panose="02010600030101010101" pitchFamily="2" charset="-122"/>
                <a:cs typeface="+mn-cs"/>
              </a:rPr>
              <a:t>     if (Count &lt;= 5)    begin    </a:t>
            </a:r>
            <a:endParaRPr lang="en-US" altLang="zh-CN" sz="1800" strike="noStrike" kern="0" noProof="1">
              <a:latin typeface="+mj-lt"/>
            </a:endParaRPr>
          </a:p>
          <a:p>
            <a:pPr fontAlgn="base">
              <a:buNone/>
            </a:pPr>
            <a:r>
              <a:rPr lang="zh-CN" altLang="en-US" sz="1800" strike="noStrike" kern="0" noProof="1">
                <a:latin typeface="+mj-lt"/>
                <a:ea typeface="宋体" panose="02010600030101010101" pitchFamily="2" charset="-122"/>
                <a:cs typeface="+mn-cs"/>
              </a:rPr>
              <a:t>        </a:t>
            </a:r>
            <a:r>
              <a:rPr lang="en-US" altLang="zh-CN" sz="1800" strike="noStrike" kern="0" noProof="1">
                <a:latin typeface="+mj-lt"/>
                <a:ea typeface="宋体" panose="02010600030101010101" pitchFamily="2" charset="-122"/>
                <a:cs typeface="+mn-cs"/>
              </a:rPr>
              <a:t>Reset = 1; Load = 0;</a:t>
            </a:r>
            <a:endParaRPr lang="en-US" altLang="zh-CN" sz="1800" strike="noStrike" kern="0" noProof="1">
              <a:latin typeface="+mj-lt"/>
            </a:endParaRPr>
          </a:p>
          <a:p>
            <a:pPr fontAlgn="base">
              <a:buNone/>
            </a:pPr>
            <a:r>
              <a:rPr lang="en-US" altLang="zh-CN" sz="1800" strike="noStrike" kern="0" noProof="1">
                <a:latin typeface="+mj-lt"/>
                <a:ea typeface="宋体" panose="02010600030101010101" pitchFamily="2" charset="-122"/>
                <a:cs typeface="+mn-cs"/>
              </a:rPr>
              <a:t>     end</a:t>
            </a:r>
            <a:endParaRPr lang="en-US" altLang="zh-CN" sz="1800" strike="noStrike" kern="0" noProof="1">
              <a:latin typeface="+mj-lt"/>
            </a:endParaRPr>
          </a:p>
          <a:p>
            <a:pPr fontAlgn="base">
              <a:buNone/>
            </a:pPr>
            <a:r>
              <a:rPr lang="en-US" altLang="zh-CN" sz="1800" strike="noStrike" kern="0" noProof="1">
                <a:latin typeface="+mj-lt"/>
                <a:ea typeface="宋体" panose="02010600030101010101" pitchFamily="2" charset="-122"/>
                <a:cs typeface="+mn-cs"/>
              </a:rPr>
              <a:t>     else begin  //</a:t>
            </a:r>
            <a:r>
              <a:rPr lang="zh-CN" altLang="en-US" sz="1800" strike="noStrike" kern="0" noProof="1">
                <a:latin typeface="+mj-lt"/>
                <a:ea typeface="宋体" panose="02010600030101010101" pitchFamily="2" charset="-122"/>
                <a:cs typeface="+mn-cs"/>
              </a:rPr>
              <a:t>触发事件，产生下列激励</a:t>
            </a:r>
            <a:endParaRPr lang="zh-CN" altLang="en-US" sz="1800" strike="noStrike" kern="0" noProof="1">
              <a:latin typeface="+mj-lt"/>
            </a:endParaRPr>
          </a:p>
          <a:p>
            <a:pPr fontAlgn="base">
              <a:buNone/>
            </a:pPr>
            <a:r>
              <a:rPr lang="en-US" altLang="zh-CN" sz="1800" strike="noStrike" kern="0" noProof="1">
                <a:latin typeface="+mj-lt"/>
                <a:ea typeface="宋体" panose="02010600030101010101" pitchFamily="2" charset="-122"/>
                <a:cs typeface="+mn-cs"/>
              </a:rPr>
              <a:t>             Reset = 0; Load = 1;</a:t>
            </a:r>
            <a:endParaRPr lang="en-US" altLang="zh-CN" sz="1800" strike="noStrike" kern="0" noProof="1">
              <a:latin typeface="+mj-lt"/>
            </a:endParaRPr>
          </a:p>
          <a:p>
            <a:pPr fontAlgn="base">
              <a:buNone/>
            </a:pPr>
            <a:r>
              <a:rPr lang="en-US" altLang="zh-CN" sz="1800" strike="noStrike" kern="0" noProof="1">
                <a:latin typeface="+mj-lt"/>
                <a:ea typeface="宋体" panose="02010600030101010101" pitchFamily="2" charset="-122"/>
                <a:cs typeface="+mn-cs"/>
              </a:rPr>
              <a:t>             end</a:t>
            </a:r>
            <a:endParaRPr lang="en-US" altLang="zh-CN" sz="1800" strike="noStrike" kern="0" noProof="1">
              <a:latin typeface="+mj-lt"/>
            </a:endParaRPr>
          </a:p>
          <a:p>
            <a:pPr fontAlgn="base">
              <a:buNone/>
            </a:pPr>
            <a:r>
              <a:rPr lang="en-US" altLang="zh-CN" sz="1800" strike="noStrike" kern="0" noProof="1">
                <a:latin typeface="+mj-lt"/>
                <a:ea typeface="宋体" panose="02010600030101010101" pitchFamily="2" charset="-122"/>
                <a:cs typeface="+mn-cs"/>
              </a:rPr>
              <a:t>End</a:t>
            </a:r>
            <a:endParaRPr lang="en-US" altLang="zh-CN" sz="1800" strike="noStrike" kern="0" noProof="1">
              <a:latin typeface="+mj-lt"/>
            </a:endParaRPr>
          </a:p>
          <a:p>
            <a:pPr fontAlgn="base">
              <a:buNone/>
            </a:pPr>
            <a:endParaRPr lang="en-US" altLang="zh-CN" sz="1800" strike="noStrike" kern="0" noProof="1">
              <a:latin typeface="+mj-lt"/>
            </a:endParaRPr>
          </a:p>
          <a:p>
            <a:pPr fontAlgn="base">
              <a:buNone/>
            </a:pPr>
            <a:r>
              <a:rPr lang="en-US" altLang="zh-CN" sz="1800" strike="noStrike" kern="0" noProof="1">
                <a:latin typeface="+mj-lt"/>
                <a:ea typeface="宋体" panose="02010600030101010101" pitchFamily="2" charset="-122"/>
                <a:cs typeface="+mn-cs"/>
              </a:rPr>
              <a:t>initial begin</a:t>
            </a:r>
            <a:endParaRPr lang="en-US" altLang="zh-CN" sz="1800" strike="noStrike" kern="0" noProof="1">
              <a:latin typeface="+mj-lt"/>
            </a:endParaRPr>
          </a:p>
          <a:p>
            <a:pPr fontAlgn="base">
              <a:buNone/>
            </a:pPr>
            <a:r>
              <a:rPr lang="en-US" altLang="zh-CN" sz="1800" strike="noStrike" kern="0" noProof="1">
                <a:latin typeface="+mj-lt"/>
                <a:ea typeface="宋体" panose="02010600030101010101" pitchFamily="2" charset="-122"/>
                <a:cs typeface="+mn-cs"/>
              </a:rPr>
              <a:t>     if (Count == 0110) begin </a:t>
            </a:r>
            <a:endParaRPr lang="en-US" altLang="zh-CN" sz="1800" strike="noStrike" kern="0" noProof="1">
              <a:latin typeface="+mj-lt"/>
            </a:endParaRPr>
          </a:p>
          <a:p>
            <a:pPr fontAlgn="base">
              <a:buNone/>
            </a:pPr>
            <a:r>
              <a:rPr lang="en-US" altLang="zh-CN" sz="1800" strike="noStrike" kern="0" noProof="1">
                <a:latin typeface="+mj-lt"/>
                <a:ea typeface="宋体" panose="02010600030101010101" pitchFamily="2" charset="-122"/>
                <a:cs typeface="+mn-cs"/>
              </a:rPr>
              <a:t>           Load &lt;= 0;</a:t>
            </a:r>
            <a:endParaRPr lang="en-US" altLang="zh-CN" sz="1800" strike="noStrike" kern="0" noProof="1">
              <a:latin typeface="+mj-lt"/>
            </a:endParaRPr>
          </a:p>
          <a:p>
            <a:pPr fontAlgn="base">
              <a:buNone/>
            </a:pPr>
            <a:r>
              <a:rPr lang="en-US" altLang="zh-CN" sz="1800" strike="noStrike" kern="0" noProof="1">
                <a:latin typeface="+mj-lt"/>
                <a:ea typeface="宋体" panose="02010600030101010101" pitchFamily="2" charset="-122"/>
                <a:cs typeface="+mn-cs"/>
              </a:rPr>
              <a:t>           $display("Terminal.");</a:t>
            </a:r>
            <a:endParaRPr lang="en-US" altLang="zh-CN" sz="1800" strike="noStrike" kern="0" noProof="1">
              <a:latin typeface="+mj-lt"/>
            </a:endParaRPr>
          </a:p>
          <a:p>
            <a:pPr fontAlgn="base">
              <a:buNone/>
            </a:pPr>
            <a:r>
              <a:rPr lang="en-US" altLang="zh-CN" sz="1800" strike="noStrike" kern="0" noProof="1">
                <a:latin typeface="+mj-lt"/>
                <a:ea typeface="宋体" panose="02010600030101010101" pitchFamily="2" charset="-122"/>
                <a:cs typeface="+mn-cs"/>
              </a:rPr>
              <a:t>           end</a:t>
            </a:r>
            <a:endParaRPr lang="en-US" altLang="zh-CN" sz="1800" strike="noStrike" kern="0" noProof="1">
              <a:latin typeface="+mj-lt"/>
            </a:endParaRPr>
          </a:p>
          <a:p>
            <a:pPr fontAlgn="base">
              <a:buNone/>
            </a:pPr>
            <a:r>
              <a:rPr lang="en-US" altLang="zh-CN" sz="1800" strike="noStrike" kern="0" noProof="1">
                <a:latin typeface="+mj-lt"/>
                <a:ea typeface="宋体" panose="02010600030101010101" pitchFamily="2" charset="-122"/>
                <a:cs typeface="+mn-cs"/>
              </a:rPr>
              <a:t>end</a:t>
            </a:r>
            <a:endParaRPr lang="en-US" altLang="zh-CN" sz="1800" strike="noStrike" kern="0" noProof="1">
              <a:latin typeface="+mj-lt"/>
            </a:endParaRPr>
          </a:p>
        </p:txBody>
      </p:sp>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3" descr="Rectangle: Click to edit Master text styles&#10;Second level&#10;Third level&#10;Fourth level&#10;Fifth level"/>
          <p:cNvSpPr>
            <a:spLocks noGrp="1"/>
          </p:cNvSpPr>
          <p:nvPr>
            <p:ph idx="1"/>
          </p:nvPr>
        </p:nvSpPr>
        <p:spPr/>
        <p:txBody>
          <a:bodyPr anchor="t"/>
          <a:lstStyle/>
          <a:p>
            <a:r>
              <a:rPr lang="zh-CN" altLang="en-US" sz="2800" dirty="0">
                <a:latin typeface="微软雅黑" panose="020B0503020204020204" charset="-122"/>
                <a:ea typeface="微软雅黑" panose="020B0503020204020204" charset="-122"/>
              </a:rPr>
              <a:t>基于</a:t>
            </a:r>
            <a:r>
              <a:rPr lang="en-US" altLang="zh-CN" sz="2800" dirty="0">
                <a:latin typeface="微软雅黑" panose="020B0503020204020204" charset="-122"/>
                <a:ea typeface="微软雅黑" panose="020B0503020204020204" charset="-122"/>
              </a:rPr>
              <a:t>initial </a:t>
            </a:r>
            <a:r>
              <a:rPr lang="zh-CN" altLang="en-US" sz="2800" dirty="0">
                <a:latin typeface="微软雅黑" panose="020B0503020204020204" charset="-122"/>
                <a:ea typeface="微软雅黑" panose="020B0503020204020204" charset="-122"/>
              </a:rPr>
              <a:t>语句的方法：</a:t>
            </a:r>
            <a:endParaRPr lang="en-US" altLang="zh-CN" sz="2800" dirty="0">
              <a:latin typeface="微软雅黑" panose="020B0503020204020204" charset="-122"/>
              <a:ea typeface="微软雅黑" panose="020B0503020204020204" charset="-122"/>
            </a:endParaRPr>
          </a:p>
          <a:p>
            <a:pPr>
              <a:buNone/>
            </a:pPr>
            <a:r>
              <a:rPr lang="en-US" altLang="zh-CN" sz="1800" dirty="0"/>
              <a:t>parameter </a:t>
            </a:r>
            <a:r>
              <a:rPr lang="en-US" altLang="zh-CN" sz="1800" dirty="0" err="1"/>
              <a:t>clk_period</a:t>
            </a:r>
            <a:r>
              <a:rPr lang="en-US" altLang="zh-CN" sz="1800" dirty="0"/>
              <a:t> = 10;</a:t>
            </a:r>
          </a:p>
          <a:p>
            <a:pPr>
              <a:buNone/>
            </a:pPr>
            <a:r>
              <a:rPr lang="en-US" altLang="zh-CN" sz="1800" dirty="0" err="1"/>
              <a:t>reg</a:t>
            </a:r>
            <a:r>
              <a:rPr lang="en-US" altLang="zh-CN" sz="1800" dirty="0"/>
              <a:t> </a:t>
            </a:r>
            <a:r>
              <a:rPr lang="en-US" altLang="zh-CN" sz="1800" dirty="0" err="1"/>
              <a:t>clk</a:t>
            </a:r>
            <a:r>
              <a:rPr lang="en-US" altLang="zh-CN" sz="1800" dirty="0"/>
              <a:t>;</a:t>
            </a:r>
          </a:p>
          <a:p>
            <a:pPr>
              <a:buNone/>
            </a:pPr>
            <a:r>
              <a:rPr lang="en-US" altLang="zh-CN" sz="1800" dirty="0"/>
              <a:t>initial begin</a:t>
            </a:r>
          </a:p>
          <a:p>
            <a:pPr>
              <a:buNone/>
            </a:pPr>
            <a:r>
              <a:rPr lang="zh-CN" altLang="en-US" sz="1800" dirty="0"/>
              <a:t>　　</a:t>
            </a:r>
            <a:r>
              <a:rPr lang="en-US" altLang="zh-CN" sz="1800" dirty="0" err="1"/>
              <a:t>clk</a:t>
            </a:r>
            <a:r>
              <a:rPr lang="en-US" altLang="zh-CN" sz="1800" dirty="0"/>
              <a:t> = 0;</a:t>
            </a:r>
          </a:p>
          <a:p>
            <a:pPr>
              <a:buNone/>
            </a:pPr>
            <a:r>
              <a:rPr lang="zh-CN" altLang="en-US" sz="1800" dirty="0"/>
              <a:t>　　</a:t>
            </a:r>
            <a:r>
              <a:rPr lang="en-US" altLang="zh-CN" sz="1800" dirty="0"/>
              <a:t>forever</a:t>
            </a:r>
          </a:p>
          <a:p>
            <a:pPr>
              <a:buNone/>
            </a:pPr>
            <a:r>
              <a:rPr lang="zh-CN" altLang="en-US" sz="1800" dirty="0"/>
              <a:t>　　　　</a:t>
            </a:r>
            <a:r>
              <a:rPr lang="en-US" altLang="zh-CN" sz="1800" dirty="0"/>
              <a:t># (</a:t>
            </a:r>
            <a:r>
              <a:rPr lang="en-US" altLang="zh-CN" sz="1800" dirty="0" err="1"/>
              <a:t>clk_period</a:t>
            </a:r>
            <a:r>
              <a:rPr lang="en-US" altLang="zh-CN" sz="1800" dirty="0"/>
              <a:t>/2) </a:t>
            </a:r>
            <a:r>
              <a:rPr lang="en-US" altLang="zh-CN" sz="1800" dirty="0" err="1"/>
              <a:t>clk</a:t>
            </a:r>
            <a:r>
              <a:rPr lang="en-US" altLang="zh-CN" sz="1800" dirty="0"/>
              <a:t> = ~</a:t>
            </a:r>
            <a:r>
              <a:rPr lang="en-US" altLang="zh-CN" sz="1800" dirty="0" err="1"/>
              <a:t>clk</a:t>
            </a:r>
            <a:r>
              <a:rPr lang="en-US" altLang="zh-CN" sz="1800" dirty="0"/>
              <a:t>;</a:t>
            </a:r>
          </a:p>
          <a:p>
            <a:pPr>
              <a:buNone/>
            </a:pPr>
            <a:r>
              <a:rPr lang="en-US" altLang="zh-CN" sz="1800" dirty="0"/>
              <a:t>End</a:t>
            </a:r>
          </a:p>
          <a:p>
            <a:r>
              <a:rPr lang="zh-CN" altLang="en-US" sz="2800" dirty="0">
                <a:latin typeface="微软雅黑" panose="020B0503020204020204" charset="-122"/>
                <a:ea typeface="微软雅黑" panose="020B0503020204020204" charset="-122"/>
              </a:rPr>
              <a:t>基于</a:t>
            </a:r>
            <a:r>
              <a:rPr lang="en-US" altLang="zh-CN" sz="2800" dirty="0">
                <a:latin typeface="微软雅黑" panose="020B0503020204020204" charset="-122"/>
                <a:ea typeface="微软雅黑" panose="020B0503020204020204" charset="-122"/>
              </a:rPr>
              <a:t>always </a:t>
            </a:r>
            <a:r>
              <a:rPr lang="zh-CN" altLang="en-US" sz="2800" dirty="0">
                <a:latin typeface="微软雅黑" panose="020B0503020204020204" charset="-122"/>
                <a:ea typeface="微软雅黑" panose="020B0503020204020204" charset="-122"/>
              </a:rPr>
              <a:t>语句的方法：</a:t>
            </a:r>
            <a:endParaRPr lang="en-US" altLang="zh-CN" sz="2800" dirty="0">
              <a:latin typeface="微软雅黑" panose="020B0503020204020204" charset="-122"/>
              <a:ea typeface="微软雅黑" panose="020B0503020204020204" charset="-122"/>
            </a:endParaRPr>
          </a:p>
          <a:p>
            <a:pPr>
              <a:buNone/>
            </a:pPr>
            <a:r>
              <a:rPr lang="en-US" altLang="zh-CN" sz="1800" dirty="0"/>
              <a:t>parameter  </a:t>
            </a:r>
            <a:r>
              <a:rPr lang="en-US" altLang="zh-CN" sz="1800" dirty="0" err="1"/>
              <a:t>clk_period</a:t>
            </a:r>
            <a:r>
              <a:rPr lang="en-US" altLang="zh-CN" sz="1800" dirty="0"/>
              <a:t> = 10;</a:t>
            </a:r>
          </a:p>
          <a:p>
            <a:pPr>
              <a:buNone/>
            </a:pPr>
            <a:r>
              <a:rPr lang="en-US" altLang="zh-CN" sz="1800" dirty="0" err="1"/>
              <a:t>reg</a:t>
            </a:r>
            <a:r>
              <a:rPr lang="en-US" altLang="zh-CN" sz="1800" dirty="0"/>
              <a:t> </a:t>
            </a:r>
            <a:r>
              <a:rPr lang="en-US" altLang="zh-CN" sz="1800" dirty="0" err="1"/>
              <a:t>clk</a:t>
            </a:r>
            <a:r>
              <a:rPr lang="en-US" altLang="zh-CN" sz="1800" dirty="0"/>
              <a:t>;</a:t>
            </a:r>
          </a:p>
          <a:p>
            <a:pPr>
              <a:buNone/>
            </a:pPr>
            <a:r>
              <a:rPr lang="en-US" altLang="zh-CN" sz="1800" dirty="0"/>
              <a:t>initial </a:t>
            </a:r>
          </a:p>
          <a:p>
            <a:pPr>
              <a:buNone/>
            </a:pPr>
            <a:r>
              <a:rPr lang="en-US" altLang="zh-CN" sz="1800" dirty="0"/>
              <a:t>    </a:t>
            </a:r>
            <a:r>
              <a:rPr lang="en-US" altLang="zh-CN" sz="1800" dirty="0" err="1"/>
              <a:t>clk</a:t>
            </a:r>
            <a:r>
              <a:rPr lang="en-US" altLang="zh-CN" sz="1800" dirty="0"/>
              <a:t> = 0;</a:t>
            </a:r>
          </a:p>
          <a:p>
            <a:pPr>
              <a:buNone/>
            </a:pPr>
            <a:r>
              <a:rPr lang="en-US" altLang="zh-CN" sz="1800" dirty="0"/>
              <a:t>always # (</a:t>
            </a:r>
            <a:r>
              <a:rPr lang="en-US" altLang="zh-CN" sz="1800" dirty="0" err="1"/>
              <a:t>clk_period</a:t>
            </a:r>
            <a:r>
              <a:rPr lang="en-US" altLang="zh-CN" sz="1800" dirty="0"/>
              <a:t>/2) </a:t>
            </a:r>
            <a:r>
              <a:rPr lang="en-US" altLang="zh-CN" sz="1800" dirty="0" err="1"/>
              <a:t>clk</a:t>
            </a:r>
            <a:r>
              <a:rPr lang="en-US" altLang="zh-CN" sz="1800" dirty="0"/>
              <a:t> = ~</a:t>
            </a:r>
            <a:r>
              <a:rPr lang="en-US" altLang="zh-CN" sz="1800" dirty="0" err="1"/>
              <a:t>clk</a:t>
            </a:r>
            <a:r>
              <a:rPr lang="en-US" altLang="zh-CN" sz="1800" dirty="0"/>
              <a:t>;</a:t>
            </a:r>
          </a:p>
        </p:txBody>
      </p:sp>
      <p:sp>
        <p:nvSpPr>
          <p:cNvPr id="5" name="Rectangle 2">
            <a:extLst>
              <a:ext uri="{FF2B5EF4-FFF2-40B4-BE49-F238E27FC236}">
                <a16:creationId xmlns:a16="http://schemas.microsoft.com/office/drawing/2014/main" id="{13032F5F-F1F8-1BE8-BB97-E8565EFBD4C0}"/>
              </a:ext>
            </a:extLst>
          </p:cNvPr>
          <p:cNvSpPr txBox="1">
            <a:spLocks/>
          </p:cNvSpPr>
          <p:nvPr/>
        </p:nvSpPr>
        <p:spPr>
          <a:xfrm>
            <a:off x="683568" y="188913"/>
            <a:ext cx="8243887" cy="792162"/>
          </a:xfrm>
          <a:prstGeom prst="rect">
            <a:avLst/>
          </a:prstGeom>
          <a:noFill/>
          <a:ln w="9525">
            <a:noFill/>
          </a:ln>
        </p:spPr>
        <p:txBody>
          <a:bodyPr anchor="b" anchorCtr="0"/>
          <a:lstStyle>
            <a:lvl1pPr algn="ctr" rtl="0" eaLnBrk="0" fontAlgn="base" hangingPunct="0">
              <a:spcBef>
                <a:spcPct val="0"/>
              </a:spcBef>
              <a:spcAft>
                <a:spcPct val="0"/>
              </a:spcAft>
              <a:defRPr kumimoji="1" sz="4000" b="1">
                <a:solidFill>
                  <a:schemeClr val="tx2"/>
                </a:solidFill>
                <a:latin typeface="+mj-lt"/>
                <a:ea typeface="+mj-ea"/>
                <a:cs typeface="+mj-cs"/>
              </a:defRPr>
            </a:lvl1pPr>
            <a:lvl2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2pPr>
            <a:lvl3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3pPr>
            <a:lvl4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4pPr>
            <a:lvl5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5pPr>
            <a:lvl6pPr marL="4572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6pPr>
            <a:lvl7pPr marL="9144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7pPr>
            <a:lvl8pPr marL="13716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8pPr>
            <a:lvl9pPr marL="18288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9pPr>
          </a:lstStyle>
          <a:p>
            <a:pPr algn="l"/>
            <a:r>
              <a:rPr lang="en-US" altLang="zh-CN" dirty="0">
                <a:latin typeface="Tahoma" panose="020B0604030504040204" pitchFamily="34" charset="0"/>
                <a:ea typeface="楷体_GB2312" pitchFamily="49" charset="-122"/>
              </a:rPr>
              <a:t>Verilog</a:t>
            </a:r>
            <a:r>
              <a:rPr lang="zh-CN" altLang="en-US" dirty="0">
                <a:latin typeface="Tahoma" panose="020B0604030504040204" pitchFamily="34" charset="0"/>
                <a:ea typeface="楷体_GB2312" pitchFamily="49" charset="-122"/>
              </a:rPr>
              <a:t>模块的测试 </a:t>
            </a:r>
            <a:r>
              <a:rPr lang="en-US" altLang="zh-CN" dirty="0">
                <a:latin typeface="Tahoma" panose="020B0604030504040204" pitchFamily="34" charset="0"/>
                <a:ea typeface="楷体_GB2312" pitchFamily="49" charset="-122"/>
              </a:rPr>
              <a:t>- </a:t>
            </a:r>
            <a:r>
              <a:rPr lang="zh-CN" altLang="en-US" dirty="0">
                <a:latin typeface="Tahoma" panose="020B0604030504040204" pitchFamily="34" charset="0"/>
                <a:ea typeface="楷体_GB2312" pitchFamily="49" charset="-122"/>
              </a:rPr>
              <a:t>测试时钟产生</a:t>
            </a:r>
            <a:endParaRPr lang="zh-CN" altLang="en-US" kern="1200" dirty="0">
              <a:latin typeface="Tahoma" panose="020B0604030504040204" pitchFamily="34" charset="0"/>
              <a:ea typeface="楷体_GB2312" pitchFamily="49" charset="-122"/>
              <a:cs typeface="+mn-cs"/>
            </a:endParaRPr>
          </a:p>
        </p:txBody>
      </p:sp>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2"/>
          <p:cNvSpPr>
            <a:spLocks noGrp="1"/>
          </p:cNvSpPr>
          <p:nvPr>
            <p:ph type="title"/>
          </p:nvPr>
        </p:nvSpPr>
        <p:spPr>
          <a:xfrm>
            <a:off x="683568" y="188913"/>
            <a:ext cx="8129587" cy="792162"/>
          </a:xfrm>
        </p:spPr>
        <p:txBody>
          <a:bodyPr anchor="b"/>
          <a:lstStyle/>
          <a:p>
            <a:pPr algn="l"/>
            <a:r>
              <a:rPr lang="en-US" altLang="zh-CN" kern="1200" dirty="0">
                <a:latin typeface="Tahoma" panose="020B0604030504040204" pitchFamily="34" charset="0"/>
                <a:ea typeface="楷体_GB2312" pitchFamily="49" charset="-122"/>
                <a:cs typeface="+mn-cs"/>
              </a:rPr>
              <a:t>Verilog</a:t>
            </a:r>
            <a:r>
              <a:rPr lang="zh-CN" altLang="en-US" kern="1200" dirty="0">
                <a:latin typeface="Tahoma" panose="020B0604030504040204" pitchFamily="34" charset="0"/>
                <a:ea typeface="楷体_GB2312" pitchFamily="49" charset="-122"/>
                <a:cs typeface="+mn-cs"/>
              </a:rPr>
              <a:t>模块的测试 </a:t>
            </a:r>
            <a:r>
              <a:rPr lang="en-US" altLang="zh-CN" kern="1200" dirty="0">
                <a:latin typeface="Tahoma" panose="020B0604030504040204" pitchFamily="34" charset="0"/>
                <a:ea typeface="楷体_GB2312" pitchFamily="49" charset="-122"/>
                <a:cs typeface="+mn-cs"/>
              </a:rPr>
              <a:t>– </a:t>
            </a:r>
            <a:r>
              <a:rPr lang="zh-CN" altLang="en-US" kern="1200" dirty="0">
                <a:latin typeface="Tahoma" panose="020B0604030504040204" pitchFamily="34" charset="0"/>
                <a:ea typeface="楷体_GB2312" pitchFamily="49" charset="-122"/>
                <a:cs typeface="+mn-cs"/>
              </a:rPr>
              <a:t>复位产生</a:t>
            </a:r>
          </a:p>
        </p:txBody>
      </p:sp>
      <p:sp>
        <p:nvSpPr>
          <p:cNvPr id="151554" name="Rectangle 3" descr="Rectangle: Click to edit Master text styles&#10;Second level&#10;Third level&#10;Fourth level&#10;Fifth level"/>
          <p:cNvSpPr txBox="1"/>
          <p:nvPr/>
        </p:nvSpPr>
        <p:spPr>
          <a:xfrm>
            <a:off x="1116013" y="1165225"/>
            <a:ext cx="2808287" cy="5040313"/>
          </a:xfrm>
          <a:prstGeom prst="rect">
            <a:avLst/>
          </a:prstGeom>
          <a:noFill/>
          <a:ln w="9525">
            <a:noFill/>
          </a:ln>
        </p:spPr>
        <p:txBody>
          <a:bodyPr wrap="square" lIns="91440" tIns="45720" rIns="91440" bIns="45720" anchor="t"/>
          <a:lstStyle/>
          <a:p>
            <a:pPr marL="342900" indent="-342900" eaLnBrk="0" hangingPunct="0">
              <a:spcBef>
                <a:spcPct val="20000"/>
              </a:spcBef>
              <a:buClr>
                <a:srgbClr val="0033CC"/>
              </a:buClr>
              <a:buSzPct val="90000"/>
              <a:buFont typeface="Wingdings" panose="05000000000000000000" pitchFamily="2" charset="2"/>
              <a:buChar char="n"/>
            </a:pPr>
            <a:r>
              <a:rPr lang="zh-CN" altLang="en-US" sz="2800" dirty="0">
                <a:solidFill>
                  <a:srgbClr val="000000"/>
                </a:solidFill>
                <a:latin typeface="微软雅黑" panose="020B0503020204020204" charset="-122"/>
                <a:ea typeface="微软雅黑" panose="020B0503020204020204" charset="-122"/>
              </a:rPr>
              <a:t>异步复位：</a:t>
            </a:r>
            <a:endParaRPr lang="en-US" altLang="zh-CN" sz="2800" dirty="0">
              <a:solidFill>
                <a:srgbClr val="000000"/>
              </a:solidFill>
              <a:latin typeface="微软雅黑" panose="020B0503020204020204" charset="-122"/>
              <a:ea typeface="微软雅黑" panose="020B0503020204020204" charset="-122"/>
            </a:endParaRPr>
          </a:p>
          <a:p>
            <a:pPr marL="342900" indent="-342900" eaLnBrk="0" hangingPunct="0">
              <a:spcBef>
                <a:spcPct val="20000"/>
              </a:spcBef>
              <a:buClr>
                <a:srgbClr val="0033CC"/>
              </a:buClr>
              <a:buSzPct val="90000"/>
            </a:pPr>
            <a:r>
              <a:rPr lang="en-US" altLang="zh-CN" sz="1800" dirty="0">
                <a:solidFill>
                  <a:srgbClr val="000000"/>
                </a:solidFill>
                <a:latin typeface="Tahoma" panose="020B0604030504040204" pitchFamily="34" charset="0"/>
                <a:ea typeface="楷体_GB2312" pitchFamily="49" charset="-122"/>
              </a:rPr>
              <a:t>parameter </a:t>
            </a:r>
            <a:r>
              <a:rPr lang="en-US" altLang="zh-CN" sz="1800" dirty="0" err="1">
                <a:solidFill>
                  <a:srgbClr val="000000"/>
                </a:solidFill>
                <a:latin typeface="Tahoma" panose="020B0604030504040204" pitchFamily="34" charset="0"/>
                <a:ea typeface="楷体_GB2312" pitchFamily="49" charset="-122"/>
              </a:rPr>
              <a:t>rst_repiod</a:t>
            </a:r>
            <a:r>
              <a:rPr lang="en-US" altLang="zh-CN" sz="1800" dirty="0">
                <a:solidFill>
                  <a:srgbClr val="000000"/>
                </a:solidFill>
                <a:latin typeface="Tahoma" panose="020B0604030504040204" pitchFamily="34" charset="0"/>
                <a:ea typeface="楷体_GB2312" pitchFamily="49" charset="-122"/>
              </a:rPr>
              <a:t> = 100;</a:t>
            </a:r>
          </a:p>
          <a:p>
            <a:pPr marL="342900" indent="-342900" eaLnBrk="0" hangingPunct="0">
              <a:spcBef>
                <a:spcPct val="20000"/>
              </a:spcBef>
              <a:buClr>
                <a:srgbClr val="0033CC"/>
              </a:buClr>
              <a:buSzPct val="90000"/>
            </a:pPr>
            <a:r>
              <a:rPr lang="en-US" altLang="zh-CN" sz="1800" dirty="0" err="1">
                <a:solidFill>
                  <a:srgbClr val="000000"/>
                </a:solidFill>
                <a:latin typeface="Tahoma" panose="020B0604030504040204" pitchFamily="34" charset="0"/>
                <a:ea typeface="楷体_GB2312" pitchFamily="49" charset="-122"/>
              </a:rPr>
              <a:t>reg</a:t>
            </a:r>
            <a:r>
              <a:rPr lang="en-US" altLang="zh-CN" sz="1800" dirty="0">
                <a:solidFill>
                  <a:srgbClr val="000000"/>
                </a:solidFill>
                <a:latin typeface="Tahoma" panose="020B0604030504040204" pitchFamily="34" charset="0"/>
                <a:ea typeface="楷体_GB2312" pitchFamily="49" charset="-122"/>
              </a:rPr>
              <a:t> </a:t>
            </a:r>
            <a:r>
              <a:rPr lang="en-US" altLang="zh-CN" sz="1800" dirty="0" err="1">
                <a:solidFill>
                  <a:srgbClr val="000000"/>
                </a:solidFill>
                <a:latin typeface="Tahoma" panose="020B0604030504040204" pitchFamily="34" charset="0"/>
                <a:ea typeface="楷体_GB2312" pitchFamily="49" charset="-122"/>
              </a:rPr>
              <a:t>rst_n</a:t>
            </a:r>
            <a:r>
              <a:rPr lang="en-US" altLang="zh-CN" sz="1800" dirty="0">
                <a:solidFill>
                  <a:srgbClr val="000000"/>
                </a:solidFill>
                <a:latin typeface="Tahoma" panose="020B0604030504040204" pitchFamily="34" charset="0"/>
                <a:ea typeface="楷体_GB2312" pitchFamily="49" charset="-122"/>
              </a:rPr>
              <a:t>;</a:t>
            </a:r>
          </a:p>
          <a:p>
            <a:pPr marL="342900" indent="-342900" eaLnBrk="0" hangingPunct="0">
              <a:spcBef>
                <a:spcPct val="20000"/>
              </a:spcBef>
              <a:buClr>
                <a:srgbClr val="0033CC"/>
              </a:buClr>
              <a:buSzPct val="90000"/>
            </a:pPr>
            <a:endParaRPr lang="en-US" altLang="zh-CN" sz="1800" dirty="0">
              <a:solidFill>
                <a:srgbClr val="000000"/>
              </a:solidFill>
              <a:latin typeface="Tahoma" panose="020B0604030504040204" pitchFamily="34" charset="0"/>
              <a:ea typeface="楷体_GB2312" pitchFamily="49" charset="-122"/>
            </a:endParaRPr>
          </a:p>
          <a:p>
            <a:pPr marL="342900" indent="-342900" eaLnBrk="0" hangingPunct="0">
              <a:spcBef>
                <a:spcPct val="20000"/>
              </a:spcBef>
              <a:buClr>
                <a:srgbClr val="0033CC"/>
              </a:buClr>
              <a:buSzPct val="90000"/>
            </a:pPr>
            <a:r>
              <a:rPr lang="en-US" altLang="zh-CN" sz="1800" dirty="0">
                <a:solidFill>
                  <a:srgbClr val="000000"/>
                </a:solidFill>
                <a:latin typeface="Tahoma" panose="020B0604030504040204" pitchFamily="34" charset="0"/>
                <a:ea typeface="楷体_GB2312" pitchFamily="49" charset="-122"/>
              </a:rPr>
              <a:t>initial </a:t>
            </a:r>
            <a:endParaRPr lang="zh-CN" altLang="en-US" sz="1800" dirty="0">
              <a:solidFill>
                <a:srgbClr val="000000"/>
              </a:solidFill>
              <a:latin typeface="Tahoma" panose="020B0604030504040204" pitchFamily="34" charset="0"/>
              <a:ea typeface="楷体_GB2312" pitchFamily="49" charset="-122"/>
            </a:endParaRPr>
          </a:p>
          <a:p>
            <a:pPr marL="342900" indent="-342900" eaLnBrk="0" hangingPunct="0">
              <a:spcBef>
                <a:spcPct val="20000"/>
              </a:spcBef>
              <a:buClr>
                <a:srgbClr val="0033CC"/>
              </a:buClr>
              <a:buSzPct val="90000"/>
            </a:pPr>
            <a:r>
              <a:rPr lang="en-US" altLang="zh-CN" sz="1800" dirty="0">
                <a:solidFill>
                  <a:srgbClr val="000000"/>
                </a:solidFill>
                <a:latin typeface="Tahoma" panose="020B0604030504040204" pitchFamily="34" charset="0"/>
                <a:ea typeface="楷体_GB2312" pitchFamily="49" charset="-122"/>
              </a:rPr>
              <a:t>begin</a:t>
            </a:r>
          </a:p>
          <a:p>
            <a:pPr marL="342900" indent="-342900" eaLnBrk="0" hangingPunct="0">
              <a:spcBef>
                <a:spcPct val="20000"/>
              </a:spcBef>
              <a:buClr>
                <a:srgbClr val="0033CC"/>
              </a:buClr>
              <a:buSzPct val="90000"/>
            </a:pPr>
            <a:r>
              <a:rPr lang="en-US" altLang="zh-CN" sz="1800" dirty="0">
                <a:solidFill>
                  <a:srgbClr val="000000"/>
                </a:solidFill>
                <a:latin typeface="Tahoma" panose="020B0604030504040204" pitchFamily="34" charset="0"/>
                <a:ea typeface="楷体_GB2312" pitchFamily="49" charset="-122"/>
              </a:rPr>
              <a:t>    </a:t>
            </a:r>
            <a:r>
              <a:rPr lang="en-US" altLang="zh-CN" sz="1800" dirty="0" err="1">
                <a:solidFill>
                  <a:srgbClr val="000000"/>
                </a:solidFill>
                <a:latin typeface="Tahoma" panose="020B0604030504040204" pitchFamily="34" charset="0"/>
                <a:ea typeface="楷体_GB2312" pitchFamily="49" charset="-122"/>
              </a:rPr>
              <a:t>rst_n</a:t>
            </a:r>
            <a:r>
              <a:rPr lang="en-US" altLang="zh-CN" sz="1800" dirty="0">
                <a:solidFill>
                  <a:srgbClr val="000000"/>
                </a:solidFill>
                <a:latin typeface="Tahoma" panose="020B0604030504040204" pitchFamily="34" charset="0"/>
                <a:ea typeface="楷体_GB2312" pitchFamily="49" charset="-122"/>
              </a:rPr>
              <a:t> = 0;</a:t>
            </a:r>
          </a:p>
          <a:p>
            <a:pPr marL="342900" indent="-342900" eaLnBrk="0" hangingPunct="0">
              <a:spcBef>
                <a:spcPct val="20000"/>
              </a:spcBef>
              <a:buClr>
                <a:srgbClr val="0033CC"/>
              </a:buClr>
              <a:buSzPct val="90000"/>
            </a:pPr>
            <a:r>
              <a:rPr lang="en-US" altLang="zh-CN" sz="1800" dirty="0">
                <a:solidFill>
                  <a:srgbClr val="000000"/>
                </a:solidFill>
                <a:latin typeface="Tahoma" panose="020B0604030504040204" pitchFamily="34" charset="0"/>
                <a:ea typeface="楷体_GB2312" pitchFamily="49" charset="-122"/>
              </a:rPr>
              <a:t>    # </a:t>
            </a:r>
            <a:r>
              <a:rPr lang="en-US" altLang="zh-CN" sz="1800" dirty="0" err="1">
                <a:solidFill>
                  <a:srgbClr val="000000"/>
                </a:solidFill>
                <a:latin typeface="Tahoma" panose="020B0604030504040204" pitchFamily="34" charset="0"/>
                <a:ea typeface="楷体_GB2312" pitchFamily="49" charset="-122"/>
              </a:rPr>
              <a:t>rst_repiod</a:t>
            </a:r>
            <a:r>
              <a:rPr lang="en-US" altLang="zh-CN" sz="1800" dirty="0">
                <a:solidFill>
                  <a:srgbClr val="000000"/>
                </a:solidFill>
                <a:latin typeface="Tahoma" panose="020B0604030504040204" pitchFamily="34" charset="0"/>
                <a:ea typeface="楷体_GB2312" pitchFamily="49" charset="-122"/>
              </a:rPr>
              <a:t>;</a:t>
            </a:r>
          </a:p>
          <a:p>
            <a:pPr marL="342900" indent="-342900" eaLnBrk="0" hangingPunct="0">
              <a:spcBef>
                <a:spcPct val="20000"/>
              </a:spcBef>
              <a:buClr>
                <a:srgbClr val="0033CC"/>
              </a:buClr>
              <a:buSzPct val="90000"/>
            </a:pPr>
            <a:r>
              <a:rPr lang="en-US" altLang="zh-CN" sz="1800" dirty="0">
                <a:solidFill>
                  <a:srgbClr val="000000"/>
                </a:solidFill>
                <a:latin typeface="Tahoma" panose="020B0604030504040204" pitchFamily="34" charset="0"/>
                <a:ea typeface="楷体_GB2312" pitchFamily="49" charset="-122"/>
              </a:rPr>
              <a:t>    </a:t>
            </a:r>
            <a:r>
              <a:rPr lang="en-US" altLang="zh-CN" sz="1800" dirty="0" err="1">
                <a:solidFill>
                  <a:srgbClr val="000000"/>
                </a:solidFill>
                <a:latin typeface="Tahoma" panose="020B0604030504040204" pitchFamily="34" charset="0"/>
                <a:ea typeface="楷体_GB2312" pitchFamily="49" charset="-122"/>
              </a:rPr>
              <a:t>rst_n</a:t>
            </a:r>
            <a:r>
              <a:rPr lang="en-US" altLang="zh-CN" sz="1800" dirty="0">
                <a:solidFill>
                  <a:srgbClr val="000000"/>
                </a:solidFill>
                <a:latin typeface="Tahoma" panose="020B0604030504040204" pitchFamily="34" charset="0"/>
                <a:ea typeface="楷体_GB2312" pitchFamily="49" charset="-122"/>
              </a:rPr>
              <a:t> = 1;</a:t>
            </a:r>
          </a:p>
          <a:p>
            <a:pPr marL="342900" indent="-342900" eaLnBrk="0" hangingPunct="0">
              <a:spcBef>
                <a:spcPct val="20000"/>
              </a:spcBef>
              <a:buClr>
                <a:srgbClr val="0033CC"/>
              </a:buClr>
              <a:buSzPct val="90000"/>
            </a:pPr>
            <a:endParaRPr lang="en-US" altLang="zh-CN" sz="1800" dirty="0">
              <a:solidFill>
                <a:srgbClr val="000000"/>
              </a:solidFill>
              <a:latin typeface="Tahoma" panose="020B0604030504040204" pitchFamily="34" charset="0"/>
              <a:ea typeface="楷体_GB2312" pitchFamily="49" charset="-122"/>
            </a:endParaRPr>
          </a:p>
          <a:p>
            <a:pPr marL="342900" indent="-342900" eaLnBrk="0" hangingPunct="0">
              <a:spcBef>
                <a:spcPct val="20000"/>
              </a:spcBef>
              <a:buClr>
                <a:srgbClr val="0033CC"/>
              </a:buClr>
              <a:buSzPct val="90000"/>
            </a:pPr>
            <a:r>
              <a:rPr lang="en-US" altLang="zh-CN" sz="1800" dirty="0">
                <a:solidFill>
                  <a:srgbClr val="000000"/>
                </a:solidFill>
                <a:latin typeface="Tahoma" panose="020B0604030504040204" pitchFamily="34" charset="0"/>
                <a:ea typeface="楷体_GB2312" pitchFamily="49" charset="-122"/>
              </a:rPr>
              <a:t>End</a:t>
            </a:r>
          </a:p>
        </p:txBody>
      </p:sp>
      <p:sp>
        <p:nvSpPr>
          <p:cNvPr id="3" name="矩形 2"/>
          <p:cNvSpPr/>
          <p:nvPr/>
        </p:nvSpPr>
        <p:spPr>
          <a:xfrm>
            <a:off x="4806950" y="1108075"/>
            <a:ext cx="3600450" cy="5692775"/>
          </a:xfrm>
          <a:prstGeom prst="rect">
            <a:avLst/>
          </a:prstGeom>
        </p:spPr>
        <p:txBody>
          <a:bodyPr wrap="square">
            <a:spAutoFit/>
          </a:bodyPr>
          <a:lstStyle/>
          <a:p>
            <a:pPr marL="342900" indent="-342900" fontAlgn="base">
              <a:spcBef>
                <a:spcPct val="20000"/>
              </a:spcBef>
              <a:buClr>
                <a:srgbClr val="0033CC"/>
              </a:buClr>
              <a:buSzPct val="90000"/>
              <a:buFont typeface="Wingdings" panose="05000000000000000000" pitchFamily="2" charset="2"/>
              <a:buChar char="n"/>
            </a:pPr>
            <a:r>
              <a:rPr kumimoji="1" lang="zh-CN" altLang="en-US" sz="2800" strike="noStrike" kern="0" noProof="1">
                <a:solidFill>
                  <a:srgbClr val="000000"/>
                </a:solidFill>
                <a:latin typeface="微软雅黑" panose="020B0503020204020204" charset="-122"/>
                <a:ea typeface="微软雅黑" panose="020B0503020204020204" charset="-122"/>
                <a:cs typeface="+mn-cs"/>
              </a:rPr>
              <a:t>同步复位：</a:t>
            </a:r>
            <a:endParaRPr kumimoji="1" lang="en-US" altLang="zh-CN" sz="2800" strike="noStrike" kern="0" noProof="1">
              <a:solidFill>
                <a:srgbClr val="000000"/>
              </a:solidFill>
              <a:latin typeface="微软雅黑" panose="020B0503020204020204" charset="-122"/>
              <a:ea typeface="微软雅黑" panose="020B0503020204020204" charset="-122"/>
            </a:endParaRPr>
          </a:p>
          <a:p>
            <a:pPr fontAlgn="base">
              <a:buNone/>
            </a:pPr>
            <a:r>
              <a:rPr lang="en-US" altLang="zh-CN" strike="noStrike" kern="0" noProof="1">
                <a:latin typeface="+mj-lt"/>
                <a:ea typeface="宋体" panose="02010600030101010101" pitchFamily="2" charset="-122"/>
                <a:cs typeface="+mn-cs"/>
              </a:rPr>
              <a:t>parameter rst_repiod = 100;</a:t>
            </a:r>
            <a:endParaRPr lang="en-US" altLang="zh-CN" strike="noStrike" kern="0" noProof="1">
              <a:latin typeface="+mj-lt"/>
            </a:endParaRPr>
          </a:p>
          <a:p>
            <a:pPr fontAlgn="base">
              <a:buNone/>
            </a:pPr>
            <a:r>
              <a:rPr lang="en-US" altLang="zh-CN" strike="noStrike" kern="0" noProof="1">
                <a:latin typeface="+mj-lt"/>
                <a:ea typeface="宋体" panose="02010600030101010101" pitchFamily="2" charset="-122"/>
                <a:cs typeface="+mn-cs"/>
              </a:rPr>
              <a:t>reg rst_n;</a:t>
            </a:r>
            <a:endParaRPr lang="en-US" altLang="zh-CN" strike="noStrike" kern="0" noProof="1">
              <a:latin typeface="+mj-lt"/>
            </a:endParaRPr>
          </a:p>
          <a:p>
            <a:pPr fontAlgn="base">
              <a:buNone/>
            </a:pPr>
            <a:endParaRPr lang="en-US" altLang="zh-CN" strike="noStrike" kern="0" noProof="1">
              <a:latin typeface="+mj-lt"/>
            </a:endParaRPr>
          </a:p>
          <a:p>
            <a:pPr fontAlgn="base">
              <a:buNone/>
            </a:pPr>
            <a:r>
              <a:rPr lang="en-US" altLang="zh-CN" strike="noStrike" kern="0" noProof="1">
                <a:latin typeface="+mj-lt"/>
                <a:ea typeface="宋体" panose="02010600030101010101" pitchFamily="2" charset="-122"/>
                <a:cs typeface="+mn-cs"/>
              </a:rPr>
              <a:t>initial </a:t>
            </a:r>
          </a:p>
          <a:p>
            <a:pPr fontAlgn="base">
              <a:buNone/>
            </a:pPr>
            <a:r>
              <a:rPr lang="en-US" altLang="zh-CN" strike="noStrike" kern="0" noProof="1">
                <a:latin typeface="+mj-lt"/>
                <a:ea typeface="宋体" panose="02010600030101010101" pitchFamily="2" charset="-122"/>
                <a:cs typeface="+mn-cs"/>
              </a:rPr>
              <a:t>begin</a:t>
            </a:r>
            <a:endParaRPr lang="en-US" altLang="zh-CN" strike="noStrike" kern="0" noProof="1">
              <a:latin typeface="+mj-lt"/>
            </a:endParaRPr>
          </a:p>
          <a:p>
            <a:pPr fontAlgn="base">
              <a:buNone/>
            </a:pPr>
            <a:r>
              <a:rPr lang="en-US" altLang="zh-CN" strike="noStrike" kern="0" noProof="1">
                <a:latin typeface="+mj-lt"/>
                <a:ea typeface="宋体" panose="02010600030101010101" pitchFamily="2" charset="-122"/>
                <a:cs typeface="+mn-cs"/>
              </a:rPr>
              <a:t>    rst_n = 1;</a:t>
            </a:r>
            <a:endParaRPr lang="en-US" altLang="zh-CN" strike="noStrike" kern="0" noProof="1">
              <a:latin typeface="+mj-lt"/>
            </a:endParaRPr>
          </a:p>
          <a:p>
            <a:pPr fontAlgn="base">
              <a:buNone/>
            </a:pPr>
            <a:r>
              <a:rPr lang="en-US" altLang="zh-CN" strike="noStrike" kern="0" noProof="1">
                <a:latin typeface="+mj-lt"/>
                <a:ea typeface="宋体" panose="02010600030101010101" pitchFamily="2" charset="-122"/>
                <a:cs typeface="+mn-cs"/>
              </a:rPr>
              <a:t>    @( posedge clk);</a:t>
            </a:r>
            <a:endParaRPr lang="en-US" altLang="zh-CN" strike="noStrike" kern="0" noProof="1">
              <a:latin typeface="+mj-lt"/>
            </a:endParaRPr>
          </a:p>
          <a:p>
            <a:pPr fontAlgn="base">
              <a:buNone/>
            </a:pPr>
            <a:r>
              <a:rPr lang="en-US" altLang="zh-CN" strike="noStrike" kern="0" noProof="1">
                <a:latin typeface="+mj-lt"/>
                <a:ea typeface="宋体" panose="02010600030101010101" pitchFamily="2" charset="-122"/>
                <a:cs typeface="+mn-cs"/>
              </a:rPr>
              <a:t>     rst_n = 0;</a:t>
            </a:r>
            <a:endParaRPr lang="en-US" altLang="zh-CN" strike="noStrike" kern="0" noProof="1">
              <a:latin typeface="+mj-lt"/>
            </a:endParaRPr>
          </a:p>
          <a:p>
            <a:pPr fontAlgn="base">
              <a:buNone/>
            </a:pPr>
            <a:r>
              <a:rPr lang="en-US" altLang="zh-CN" strike="noStrike" kern="0" noProof="1">
                <a:latin typeface="+mj-lt"/>
                <a:ea typeface="宋体" panose="02010600030101010101" pitchFamily="2" charset="-122"/>
                <a:cs typeface="+mn-cs"/>
              </a:rPr>
              <a:t>    # rst_repiod;</a:t>
            </a:r>
            <a:endParaRPr lang="en-US" altLang="zh-CN" strike="noStrike" kern="0" noProof="1">
              <a:latin typeface="+mj-lt"/>
            </a:endParaRPr>
          </a:p>
          <a:p>
            <a:pPr fontAlgn="base">
              <a:buNone/>
            </a:pPr>
            <a:r>
              <a:rPr lang="en-US" altLang="zh-CN" strike="noStrike" kern="0" noProof="1">
                <a:latin typeface="+mj-lt"/>
                <a:ea typeface="宋体" panose="02010600030101010101" pitchFamily="2" charset="-122"/>
                <a:cs typeface="+mn-cs"/>
              </a:rPr>
              <a:t>    @( posedge clk);</a:t>
            </a:r>
            <a:endParaRPr lang="en-US" altLang="zh-CN" strike="noStrike" kern="0" noProof="1">
              <a:latin typeface="+mj-lt"/>
            </a:endParaRPr>
          </a:p>
          <a:p>
            <a:pPr fontAlgn="base">
              <a:buNone/>
            </a:pPr>
            <a:r>
              <a:rPr lang="en-US" altLang="zh-CN" strike="noStrike" kern="0" noProof="1">
                <a:latin typeface="+mj-lt"/>
                <a:ea typeface="宋体" panose="02010600030101010101" pitchFamily="2" charset="-122"/>
                <a:cs typeface="+mn-cs"/>
              </a:rPr>
              <a:t>     rst_n = 1;</a:t>
            </a:r>
            <a:endParaRPr lang="en-US" altLang="zh-CN" strike="noStrike" kern="0" noProof="1">
              <a:latin typeface="+mj-lt"/>
            </a:endParaRPr>
          </a:p>
          <a:p>
            <a:pPr fontAlgn="base">
              <a:buNone/>
            </a:pPr>
            <a:endParaRPr lang="en-US" altLang="zh-CN" strike="noStrike" kern="0" noProof="1">
              <a:latin typeface="+mj-lt"/>
            </a:endParaRPr>
          </a:p>
          <a:p>
            <a:pPr fontAlgn="base">
              <a:buNone/>
            </a:pPr>
            <a:r>
              <a:rPr lang="en-US" altLang="zh-CN" strike="noStrike" kern="0" noProof="1">
                <a:latin typeface="+mj-lt"/>
                <a:ea typeface="宋体" panose="02010600030101010101" pitchFamily="2" charset="-122"/>
                <a:cs typeface="+mn-cs"/>
              </a:rPr>
              <a:t>end </a:t>
            </a:r>
            <a:endParaRPr lang="en-US" altLang="zh-CN" strike="noStrike" kern="0" noProof="1">
              <a:latin typeface="+mj-lt"/>
            </a:endParaRPr>
          </a:p>
        </p:txBody>
      </p:sp>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2"/>
          <p:cNvSpPr>
            <a:spLocks noGrp="1"/>
          </p:cNvSpPr>
          <p:nvPr>
            <p:ph type="title"/>
          </p:nvPr>
        </p:nvSpPr>
        <p:spPr>
          <a:xfrm>
            <a:off x="683568" y="188913"/>
            <a:ext cx="8139112" cy="792162"/>
          </a:xfrm>
        </p:spPr>
        <p:txBody>
          <a:bodyPr anchor="b"/>
          <a:lstStyle/>
          <a:p>
            <a:pPr algn="l"/>
            <a:r>
              <a:rPr lang="en-US" altLang="zh-CN" kern="1200" dirty="0">
                <a:latin typeface="Tahoma" panose="020B0604030504040204" pitchFamily="34" charset="0"/>
                <a:ea typeface="楷体_GB2312" pitchFamily="49" charset="-122"/>
                <a:cs typeface="+mn-cs"/>
              </a:rPr>
              <a:t>Verilog</a:t>
            </a:r>
            <a:r>
              <a:rPr lang="zh-CN" altLang="en-US" kern="1200" dirty="0">
                <a:latin typeface="Tahoma" panose="020B0604030504040204" pitchFamily="34" charset="0"/>
                <a:ea typeface="楷体_GB2312" pitchFamily="49" charset="-122"/>
                <a:cs typeface="+mn-cs"/>
              </a:rPr>
              <a:t>模块的测试 </a:t>
            </a:r>
            <a:r>
              <a:rPr lang="en-US" altLang="zh-CN" kern="1200" dirty="0">
                <a:latin typeface="Tahoma" panose="020B0604030504040204" pitchFamily="34" charset="0"/>
                <a:ea typeface="楷体_GB2312" pitchFamily="49" charset="-122"/>
                <a:cs typeface="+mn-cs"/>
              </a:rPr>
              <a:t>– </a:t>
            </a:r>
            <a:r>
              <a:rPr lang="zh-CN" altLang="en-US" kern="1200" dirty="0">
                <a:latin typeface="Tahoma" panose="020B0604030504040204" pitchFamily="34" charset="0"/>
                <a:ea typeface="楷体_GB2312" pitchFamily="49" charset="-122"/>
                <a:cs typeface="+mn-cs"/>
              </a:rPr>
              <a:t>结果输出</a:t>
            </a:r>
          </a:p>
        </p:txBody>
      </p:sp>
      <p:sp>
        <p:nvSpPr>
          <p:cNvPr id="18435" name="Rectangle 3" descr="Rectangle: Click to edit Master text styles&#10;Second level&#10;Third level&#10;Fourth level&#10;Fifth level"/>
          <p:cNvSpPr>
            <a:spLocks noGrp="1" noChangeArrowheads="1"/>
          </p:cNvSpPr>
          <p:nvPr>
            <p:ph idx="1"/>
          </p:nvPr>
        </p:nvSpPr>
        <p:spPr>
          <a:xfrm>
            <a:off x="900430" y="1196975"/>
            <a:ext cx="7844155" cy="5138420"/>
          </a:xfrm>
        </p:spPr>
        <p:txBody>
          <a:bodyPr/>
          <a:lstStyle/>
          <a:p>
            <a:pPr marL="342900" marR="0" indent="-342900" algn="just"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Blip>
                <a:blip r:embed="rId2"/>
              </a:buBlip>
            </a:pPr>
            <a:r>
              <a:rPr kumimoji="1" lang="zh-CN" altLang="en-US" sz="2800" b="0" i="0" u="none" strike="noStrike" kern="0" cap="none" spc="0" normalizeH="0" baseline="0" noProof="1">
                <a:solidFill>
                  <a:srgbClr val="4B51A5"/>
                </a:solidFill>
                <a:latin typeface="微软雅黑" panose="020B0503020204020204" charset="-122"/>
                <a:ea typeface="微软雅黑" panose="020B0503020204020204" charset="-122"/>
                <a:cs typeface="+mn-cs"/>
              </a:rPr>
              <a:t>关键词</a:t>
            </a:r>
            <a:r>
              <a:rPr kumimoji="1" lang="en-US" altLang="zh-CN" sz="2800" b="0" i="0" u="none" strike="noStrike" kern="0" cap="none" spc="0" normalizeH="0" baseline="0" noProof="1">
                <a:solidFill>
                  <a:srgbClr val="4B51A5"/>
                </a:solidFill>
                <a:latin typeface="微软雅黑" panose="020B0503020204020204" charset="-122"/>
                <a:ea typeface="微软雅黑" panose="020B0503020204020204" charset="-122"/>
                <a:cs typeface="+mn-cs"/>
              </a:rPr>
              <a:t>$display</a:t>
            </a:r>
            <a:r>
              <a:rPr kumimoji="1" lang="zh-CN" altLang="en-US" sz="2800" b="0" i="0" u="none" strike="noStrike" kern="0" cap="none" spc="0" normalizeH="0" baseline="0" noProof="1">
                <a:solidFill>
                  <a:srgbClr val="4B51A5"/>
                </a:solidFill>
                <a:latin typeface="微软雅黑" panose="020B0503020204020204" charset="-122"/>
                <a:ea typeface="微软雅黑" panose="020B0503020204020204" charset="-122"/>
                <a:cs typeface="+mn-cs"/>
              </a:rPr>
              <a:t>和</a:t>
            </a:r>
            <a:r>
              <a:rPr kumimoji="1" lang="en-US" altLang="zh-CN" sz="2800" b="0" i="0" u="none" strike="noStrike" kern="0" cap="none" spc="0" normalizeH="0" baseline="0" noProof="1">
                <a:solidFill>
                  <a:srgbClr val="4B51A5"/>
                </a:solidFill>
                <a:latin typeface="微软雅黑" panose="020B0503020204020204" charset="-122"/>
                <a:ea typeface="微软雅黑" panose="020B0503020204020204" charset="-122"/>
                <a:cs typeface="+mn-cs"/>
              </a:rPr>
              <a:t>$monitor</a:t>
            </a:r>
            <a:r>
              <a:rPr kumimoji="1" lang="zh-CN" altLang="en-US" sz="2800" b="0" i="0" u="none" strike="noStrike" kern="0" cap="none" spc="0" normalizeH="0" baseline="0" noProof="1">
                <a:solidFill>
                  <a:srgbClr val="4B51A5"/>
                </a:solidFill>
                <a:latin typeface="微软雅黑" panose="020B0503020204020204" charset="-122"/>
                <a:ea typeface="微软雅黑" panose="020B0503020204020204" charset="-122"/>
                <a:cs typeface="+mn-cs"/>
              </a:rPr>
              <a:t>实现结果的输出</a:t>
            </a:r>
            <a:endParaRPr kumimoji="1" lang="en-US" altLang="zh-CN" sz="2800" b="0" i="0" u="none" strike="noStrike" kern="0" cap="none" spc="0" normalizeH="0" baseline="0" noProof="1">
              <a:solidFill>
                <a:srgbClr val="4B51A5"/>
              </a:solidFill>
              <a:latin typeface="微软雅黑" panose="020B0503020204020204" charset="-122"/>
              <a:ea typeface="微软雅黑" panose="020B0503020204020204" charset="-122"/>
              <a:cs typeface="+mn-cs"/>
            </a:endParaRPr>
          </a:p>
          <a:p>
            <a:pPr marL="0" marR="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pPr>
            <a:endParaRPr kumimoji="1" lang="en-US" altLang="zh-CN" sz="1800" b="0" i="0" u="none" strike="noStrike" kern="0" cap="none" spc="0" normalizeH="0" baseline="0" noProof="1">
              <a:solidFill>
                <a:srgbClr val="4B51A5"/>
              </a:solidFill>
              <a:latin typeface="+mj-lt"/>
              <a:ea typeface="+mn-ea"/>
              <a:cs typeface="+mn-cs"/>
            </a:endParaRPr>
          </a:p>
          <a:p>
            <a:pPr marL="0" marR="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pPr>
            <a:r>
              <a:rPr kumimoji="1" lang="zh-CN" altLang="en-US" sz="2000" b="0" i="0" u="none" strike="noStrike" kern="0" cap="none" spc="0" normalizeH="0" baseline="0" noProof="1">
                <a:solidFill>
                  <a:srgbClr val="4B51A5"/>
                </a:solidFill>
                <a:latin typeface="+mj-lt"/>
                <a:ea typeface="微软雅黑" panose="020B0503020204020204" charset="-122"/>
                <a:cs typeface="+mn-cs"/>
              </a:rPr>
              <a:t>在终端中打印信号的</a:t>
            </a:r>
            <a:r>
              <a:rPr kumimoji="1" lang="en-US" altLang="zh-CN" sz="2000" b="0" i="0" u="none" strike="noStrike" kern="0" cap="none" spc="0" normalizeH="0" baseline="0" noProof="1">
                <a:solidFill>
                  <a:srgbClr val="4B51A5"/>
                </a:solidFill>
                <a:latin typeface="+mj-lt"/>
                <a:ea typeface="微软雅黑" panose="020B0503020204020204" charset="-122"/>
                <a:cs typeface="+mn-cs"/>
              </a:rPr>
              <a:t>ASCII</a:t>
            </a:r>
            <a:r>
              <a:rPr kumimoji="1" lang="zh-CN" altLang="en-US" sz="2000" b="0" i="0" u="none" strike="noStrike" kern="0" cap="none" spc="0" normalizeH="0" baseline="0" noProof="1">
                <a:solidFill>
                  <a:srgbClr val="4B51A5"/>
                </a:solidFill>
                <a:latin typeface="+mj-lt"/>
                <a:ea typeface="微软雅黑" panose="020B0503020204020204" charset="-122"/>
                <a:cs typeface="+mn-cs"/>
              </a:rPr>
              <a:t>值</a:t>
            </a:r>
          </a:p>
          <a:p>
            <a:pPr marL="0" marR="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pPr>
            <a:r>
              <a:rPr kumimoji="1" lang="en-US" altLang="zh-CN" sz="2000" b="0" i="0" u="none" strike="noStrike" kern="0" cap="none" spc="0" normalizeH="0" baseline="0" noProof="1">
                <a:solidFill>
                  <a:srgbClr val="4B51A5"/>
                </a:solidFill>
                <a:latin typeface="+mj-lt"/>
                <a:ea typeface="微软雅黑" panose="020B0503020204020204" charset="-122"/>
                <a:cs typeface="+mn-cs"/>
              </a:rPr>
              <a:t>initial begin</a:t>
            </a:r>
          </a:p>
          <a:p>
            <a:pPr marL="0" marR="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pPr>
            <a:r>
              <a:rPr kumimoji="1" lang="en-US" altLang="zh-CN" sz="2000" b="0" i="0" u="none" strike="noStrike" kern="0" cap="none" spc="0" normalizeH="0" baseline="0" noProof="1">
                <a:solidFill>
                  <a:srgbClr val="4B51A5"/>
                </a:solidFill>
                <a:latin typeface="+mj-lt"/>
                <a:ea typeface="微软雅黑" panose="020B0503020204020204" charset="-122"/>
                <a:cs typeface="+mn-cs"/>
              </a:rPr>
              <a:t>      $timeformat(-9,1,"ns",12);                        //</a:t>
            </a:r>
            <a:r>
              <a:rPr kumimoji="1" lang="zh-CN" altLang="en-US" sz="2000" b="0" i="0" u="none" strike="noStrike" kern="0" cap="none" spc="0" normalizeH="0" baseline="0" noProof="1">
                <a:solidFill>
                  <a:srgbClr val="4B51A5"/>
                </a:solidFill>
                <a:latin typeface="+mj-lt"/>
                <a:ea typeface="微软雅黑" panose="020B0503020204020204" charset="-122"/>
                <a:cs typeface="+mn-cs"/>
              </a:rPr>
              <a:t>设置输出时钟格式</a:t>
            </a:r>
          </a:p>
          <a:p>
            <a:pPr marL="0" marR="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pPr>
            <a:r>
              <a:rPr kumimoji="1" lang="zh-CN" altLang="en-US" sz="2000" b="0" i="0" u="none" strike="noStrike" kern="0" cap="none" spc="0" normalizeH="0" baseline="0" noProof="1">
                <a:solidFill>
                  <a:srgbClr val="4B51A5"/>
                </a:solidFill>
                <a:latin typeface="+mj-lt"/>
                <a:ea typeface="微软雅黑" panose="020B0503020204020204" charset="-122"/>
                <a:cs typeface="+mn-cs"/>
              </a:rPr>
              <a:t>      </a:t>
            </a:r>
            <a:r>
              <a:rPr kumimoji="1" lang="en-US" altLang="zh-CN" sz="2000" b="0" i="0" u="none" strike="noStrike" kern="0" cap="none" spc="0" normalizeH="0" baseline="0" noProof="1">
                <a:solidFill>
                  <a:srgbClr val="4B51A5"/>
                </a:solidFill>
                <a:latin typeface="+mj-lt"/>
                <a:ea typeface="微软雅黑" panose="020B0503020204020204" charset="-122"/>
                <a:cs typeface="+mn-cs"/>
              </a:rPr>
              <a:t>$display(" Time Clk Rst Ld SftRg Data Sel");  //</a:t>
            </a:r>
            <a:r>
              <a:rPr kumimoji="1" lang="zh-CN" altLang="en-US" sz="2000" b="0" i="0" u="none" strike="noStrike" kern="0" cap="none" spc="0" normalizeH="0" baseline="0" noProof="1">
                <a:solidFill>
                  <a:srgbClr val="4B51A5"/>
                </a:solidFill>
                <a:latin typeface="+mj-lt"/>
                <a:ea typeface="微软雅黑" panose="020B0503020204020204" charset="-122"/>
                <a:cs typeface="+mn-cs"/>
              </a:rPr>
              <a:t>显示输入的字符串</a:t>
            </a:r>
          </a:p>
          <a:p>
            <a:pPr marL="0" marR="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pPr>
            <a:r>
              <a:rPr kumimoji="1" lang="zh-CN" altLang="en-US" sz="2000" b="0" i="0" u="none" strike="noStrike" kern="0" cap="none" spc="0" normalizeH="0" baseline="0" noProof="1">
                <a:solidFill>
                  <a:srgbClr val="4B51A5"/>
                </a:solidFill>
                <a:latin typeface="+mj-lt"/>
                <a:ea typeface="微软雅黑" panose="020B0503020204020204" charset="-122"/>
                <a:cs typeface="+mn-cs"/>
              </a:rPr>
              <a:t>      </a:t>
            </a:r>
            <a:r>
              <a:rPr kumimoji="1" lang="en-US" altLang="zh-CN" sz="2000" b="0" i="0" u="none" strike="noStrike" kern="0" cap="none" spc="0" normalizeH="0" baseline="0" noProof="1">
                <a:solidFill>
                  <a:srgbClr val="4B51A5"/>
                </a:solidFill>
                <a:latin typeface="+mj-lt"/>
                <a:ea typeface="微软雅黑" panose="020B0503020204020204" charset="-122"/>
                <a:cs typeface="+mn-cs"/>
              </a:rPr>
              <a:t>$monitor("%t %b %b %b %b %b %b" ,  //</a:t>
            </a:r>
            <a:r>
              <a:rPr kumimoji="1" lang="zh-CN" altLang="en-US" sz="2000" b="0" i="0" u="none" strike="noStrike" kern="0" cap="none" spc="0" normalizeH="0" baseline="0" noProof="1">
                <a:solidFill>
                  <a:srgbClr val="4B51A5"/>
                </a:solidFill>
                <a:latin typeface="+mj-lt"/>
                <a:ea typeface="微软雅黑" panose="020B0503020204020204" charset="-122"/>
                <a:cs typeface="+mn-cs"/>
              </a:rPr>
              <a:t>设置输出信号格式</a:t>
            </a:r>
          </a:p>
          <a:p>
            <a:pPr marL="0" marR="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pPr>
            <a:r>
              <a:rPr kumimoji="1" lang="zh-CN" altLang="en-US" sz="2000" b="0" i="0" u="none" strike="noStrike" kern="0" cap="none" spc="0" normalizeH="0" baseline="0" noProof="1">
                <a:solidFill>
                  <a:srgbClr val="4B51A5"/>
                </a:solidFill>
                <a:latin typeface="+mj-lt"/>
                <a:ea typeface="微软雅黑" panose="020B0503020204020204" charset="-122"/>
                <a:cs typeface="+mn-cs"/>
              </a:rPr>
              <a:t>      </a:t>
            </a:r>
            <a:r>
              <a:rPr kumimoji="1" lang="en-US" altLang="zh-CN" sz="2000" b="0" i="0" u="none" strike="noStrike" kern="0" cap="none" spc="0" normalizeH="0" baseline="0" noProof="1">
                <a:solidFill>
                  <a:srgbClr val="4B51A5"/>
                </a:solidFill>
                <a:latin typeface="+mj-lt"/>
                <a:ea typeface="微软雅黑" panose="020B0503020204020204" charset="-122"/>
                <a:cs typeface="+mn-cs"/>
              </a:rPr>
              <a:t>$realtime, clock, reset, load, shiftreg, data, sel); //</a:t>
            </a:r>
            <a:r>
              <a:rPr kumimoji="1" lang="zh-CN" altLang="en-US" sz="2000" b="0" i="0" u="none" strike="noStrike" kern="0" cap="none" spc="0" normalizeH="0" baseline="0" noProof="1">
                <a:solidFill>
                  <a:srgbClr val="4B51A5"/>
                </a:solidFill>
                <a:latin typeface="+mj-lt"/>
                <a:ea typeface="微软雅黑" panose="020B0503020204020204" charset="-122"/>
                <a:cs typeface="+mn-cs"/>
              </a:rPr>
              <a:t>指定输出的信号</a:t>
            </a:r>
          </a:p>
          <a:p>
            <a:pPr marL="0" marR="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pPr>
            <a:r>
              <a:rPr kumimoji="1" lang="en-US" altLang="zh-CN" sz="2000" b="0" i="0" u="none" strike="noStrike" kern="0" cap="none" spc="0" normalizeH="0" baseline="0" noProof="1">
                <a:solidFill>
                  <a:srgbClr val="4B51A5"/>
                </a:solidFill>
                <a:latin typeface="+mj-lt"/>
                <a:ea typeface="微软雅黑" panose="020B0503020204020204" charset="-122"/>
                <a:cs typeface="+mn-cs"/>
              </a:rPr>
              <a:t>End</a:t>
            </a:r>
          </a:p>
          <a:p>
            <a:pPr marL="0" marR="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pPr>
            <a:endParaRPr kumimoji="1" lang="en-US" altLang="zh-CN" sz="1800" b="0" i="0" u="none" strike="noStrike" kern="0" cap="none" spc="0" normalizeH="0" baseline="0" noProof="1">
              <a:solidFill>
                <a:srgbClr val="4B51A5"/>
              </a:solidFill>
              <a:latin typeface="+mj-lt"/>
              <a:ea typeface="微软雅黑" panose="020B0503020204020204" charset="-122"/>
              <a:cs typeface="+mn-cs"/>
            </a:endParaRPr>
          </a:p>
          <a:p>
            <a:pPr marL="342900" marR="0" indent="-342900" algn="just"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Blip>
                <a:blip r:embed="rId2"/>
              </a:buBlip>
            </a:pPr>
            <a:r>
              <a:rPr kumimoji="1" lang="zh-CN" altLang="en-US" sz="2800" b="0" i="0" u="none" strike="noStrike" kern="0" cap="none" spc="0" normalizeH="0" baseline="0" noProof="1">
                <a:solidFill>
                  <a:srgbClr val="4B51A5"/>
                </a:solidFill>
                <a:latin typeface="微软雅黑" panose="020B0503020204020204" charset="-122"/>
                <a:ea typeface="微软雅黑" panose="020B0503020204020204" charset="-122"/>
                <a:cs typeface="+mn-cs"/>
              </a:rPr>
              <a:t>关键词</a:t>
            </a:r>
            <a:r>
              <a:rPr kumimoji="1" lang="en-US" altLang="zh-CN" sz="2800" b="0" i="0" u="none" strike="noStrike" kern="0" cap="none" spc="0" normalizeH="0" baseline="0" noProof="1">
                <a:solidFill>
                  <a:srgbClr val="4B51A5"/>
                </a:solidFill>
                <a:latin typeface="微软雅黑" panose="020B0503020204020204" charset="-122"/>
                <a:ea typeface="微软雅黑" panose="020B0503020204020204" charset="-122"/>
                <a:cs typeface="+mn-cs"/>
              </a:rPr>
              <a:t>$stop</a:t>
            </a:r>
            <a:r>
              <a:rPr kumimoji="1" lang="zh-CN" altLang="en-US" sz="2800" b="0" i="0" u="none" strike="noStrike" kern="0" cap="none" spc="0" normalizeH="0" baseline="0" noProof="1">
                <a:solidFill>
                  <a:srgbClr val="4B51A5"/>
                </a:solidFill>
                <a:latin typeface="微软雅黑" panose="020B0503020204020204" charset="-122"/>
                <a:ea typeface="微软雅黑" panose="020B0503020204020204" charset="-122"/>
                <a:cs typeface="+mn-cs"/>
              </a:rPr>
              <a:t>停止仿真</a:t>
            </a:r>
            <a:endParaRPr kumimoji="1" lang="en-US" altLang="zh-CN" sz="2800" b="0" i="0" u="none" strike="noStrike" kern="0" cap="none" spc="0" normalizeH="0" baseline="0" noProof="1">
              <a:solidFill>
                <a:srgbClr val="4B51A5"/>
              </a:solidFill>
              <a:latin typeface="微软雅黑" panose="020B0503020204020204" charset="-122"/>
              <a:ea typeface="微软雅黑" panose="020B0503020204020204" charset="-122"/>
              <a:cs typeface="+mn-cs"/>
            </a:endParaRPr>
          </a:p>
        </p:txBody>
      </p:sp>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descr="Rectangle: Click to edit Master text styles&#10;Second level&#10;Third level&#10;Fourth level&#10;Fifth level"/>
          <p:cNvSpPr>
            <a:spLocks noGrp="1" noChangeArrowheads="1"/>
          </p:cNvSpPr>
          <p:nvPr>
            <p:ph idx="1"/>
          </p:nvPr>
        </p:nvSpPr>
        <p:spPr>
          <a:xfrm>
            <a:off x="900113" y="1196975"/>
            <a:ext cx="7843838" cy="4676775"/>
          </a:xfrm>
        </p:spPr>
        <p:txBody>
          <a:bodyPr/>
          <a:lstStyle/>
          <a:p>
            <a:pPr marL="342900" marR="0" indent="-34290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Blip>
                <a:blip r:embed="rId3"/>
              </a:buBlip>
            </a:pPr>
            <a:r>
              <a:rPr kumimoji="1" lang="zh-CN" altLang="en-US" sz="2800" b="0" i="0" u="none" strike="noStrike" kern="0" cap="none" spc="0" normalizeH="0" baseline="0" noProof="1">
                <a:solidFill>
                  <a:srgbClr val="4B51A5"/>
                </a:solidFill>
                <a:latin typeface="微软雅黑" panose="020B0503020204020204" charset="-122"/>
                <a:ea typeface="微软雅黑" panose="020B0503020204020204" charset="-122"/>
                <a:cs typeface="+mn-cs"/>
              </a:rPr>
              <a:t>关键字</a:t>
            </a:r>
            <a:r>
              <a:rPr kumimoji="1" lang="en-US" altLang="zh-CN" sz="2800" b="0" i="0" u="none" strike="noStrike" kern="0" cap="none" spc="0" normalizeH="0" baseline="0" noProof="1">
                <a:solidFill>
                  <a:srgbClr val="4B51A5"/>
                </a:solidFill>
                <a:latin typeface="微软雅黑" panose="020B0503020204020204" charset="-122"/>
                <a:ea typeface="微软雅黑" panose="020B0503020204020204" charset="-122"/>
                <a:cs typeface="+mn-cs"/>
              </a:rPr>
              <a:t>timescale</a:t>
            </a:r>
            <a:r>
              <a:rPr kumimoji="1" lang="zh-CN" altLang="en-US" sz="2800" b="0" i="0" u="none" strike="noStrike" kern="0" cap="none" spc="0" normalizeH="0" baseline="0" noProof="1">
                <a:solidFill>
                  <a:srgbClr val="4B51A5"/>
                </a:solidFill>
                <a:latin typeface="微软雅黑" panose="020B0503020204020204" charset="-122"/>
                <a:ea typeface="微软雅黑" panose="020B0503020204020204" charset="-122"/>
                <a:cs typeface="+mn-cs"/>
              </a:rPr>
              <a:t>定义测试文件的单位时间，和仿真的精度</a:t>
            </a:r>
            <a:endParaRPr kumimoji="1" lang="en-US" altLang="zh-CN" sz="2800" b="0" i="0" u="none" strike="noStrike" kern="0" cap="none" spc="0" normalizeH="0" baseline="0" noProof="1">
              <a:solidFill>
                <a:srgbClr val="4B51A5"/>
              </a:solidFill>
              <a:latin typeface="微软雅黑" panose="020B0503020204020204" charset="-122"/>
              <a:ea typeface="微软雅黑" panose="020B0503020204020204" charset="-122"/>
              <a:cs typeface="+mn-cs"/>
            </a:endParaRPr>
          </a:p>
          <a:p>
            <a:pPr marL="0" marR="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pPr>
            <a:endParaRPr kumimoji="1" lang="en-US" altLang="zh-CN" sz="1800" b="0" i="0" u="none" strike="noStrike" kern="0" cap="none" spc="0" normalizeH="0" baseline="0" noProof="1">
              <a:solidFill>
                <a:srgbClr val="4B51A5"/>
              </a:solidFill>
              <a:latin typeface="+mj-lt"/>
              <a:ea typeface="微软雅黑" panose="020B0503020204020204" charset="-122"/>
              <a:cs typeface="+mn-cs"/>
            </a:endParaRPr>
          </a:p>
          <a:p>
            <a:pPr marL="0" marR="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pPr>
            <a:r>
              <a:rPr kumimoji="1" lang="zh-CN" altLang="en-US" sz="1800" b="0" i="0" u="none" strike="noStrike" kern="0" cap="none" spc="0" normalizeH="0" baseline="0" noProof="1">
                <a:solidFill>
                  <a:srgbClr val="4B51A5"/>
                </a:solidFill>
                <a:latin typeface="+mj-lt"/>
                <a:ea typeface="微软雅黑" panose="020B0503020204020204" charset="-122"/>
                <a:cs typeface="+mn-cs"/>
              </a:rPr>
              <a:t>  ‘</a:t>
            </a:r>
            <a:r>
              <a:rPr kumimoji="1" lang="en-US" altLang="zh-CN" sz="2000" b="0" i="0" u="none" strike="noStrike" kern="0" cap="none" spc="0" normalizeH="0" baseline="0" noProof="1">
                <a:solidFill>
                  <a:srgbClr val="4B51A5"/>
                </a:solidFill>
                <a:latin typeface="+mj-lt"/>
                <a:ea typeface="微软雅黑" panose="020B0503020204020204" charset="-122"/>
                <a:cs typeface="+mn-cs"/>
              </a:rPr>
              <a:t>timescale reference_time/precision</a:t>
            </a:r>
          </a:p>
          <a:p>
            <a:pPr marL="0" marR="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pPr>
            <a:r>
              <a:rPr kumimoji="1" lang="zh-CN" altLang="en-US" sz="2000" b="0" i="0" u="none" strike="noStrike" kern="0" cap="none" spc="0" normalizeH="0" baseline="0" noProof="1">
                <a:solidFill>
                  <a:srgbClr val="4B51A5"/>
                </a:solidFill>
                <a:latin typeface="+mj-lt"/>
                <a:ea typeface="微软雅黑" panose="020B0503020204020204" charset="-122"/>
                <a:cs typeface="+mn-cs"/>
              </a:rPr>
              <a:t>其中，</a:t>
            </a:r>
            <a:r>
              <a:rPr kumimoji="1" lang="en-US" altLang="zh-CN" sz="2000" b="0" i="0" u="none" strike="noStrike" kern="0" cap="none" spc="0" normalizeH="0" baseline="0" noProof="1">
                <a:solidFill>
                  <a:srgbClr val="4B51A5"/>
                </a:solidFill>
                <a:latin typeface="+mj-lt"/>
                <a:ea typeface="微软雅黑" panose="020B0503020204020204" charset="-122"/>
                <a:cs typeface="+mn-cs"/>
              </a:rPr>
              <a:t>reference_time</a:t>
            </a:r>
            <a:r>
              <a:rPr kumimoji="1" lang="zh-CN" altLang="en-US" sz="2000" b="0" i="0" u="none" strike="noStrike" kern="0" cap="none" spc="0" normalizeH="0" baseline="0" noProof="1">
                <a:solidFill>
                  <a:srgbClr val="4B51A5"/>
                </a:solidFill>
                <a:latin typeface="+mj-lt"/>
                <a:ea typeface="微软雅黑" panose="020B0503020204020204" charset="-122"/>
                <a:cs typeface="+mn-cs"/>
              </a:rPr>
              <a:t>是单位时间的度量，</a:t>
            </a:r>
            <a:r>
              <a:rPr kumimoji="1" lang="en-US" altLang="zh-CN" sz="2000" b="0" i="0" u="none" strike="noStrike" kern="0" cap="none" spc="0" normalizeH="0" baseline="0" noProof="1">
                <a:solidFill>
                  <a:srgbClr val="4B51A5"/>
                </a:solidFill>
                <a:latin typeface="+mj-lt"/>
                <a:ea typeface="微软雅黑" panose="020B0503020204020204" charset="-122"/>
                <a:cs typeface="+mn-cs"/>
              </a:rPr>
              <a:t>precision</a:t>
            </a:r>
            <a:r>
              <a:rPr kumimoji="1" lang="zh-CN" altLang="en-US" sz="2000" b="0" i="0" u="none" strike="noStrike" kern="0" cap="none" spc="0" normalizeH="0" baseline="0" noProof="1">
                <a:solidFill>
                  <a:srgbClr val="4B51A5"/>
                </a:solidFill>
                <a:latin typeface="+mj-lt"/>
                <a:ea typeface="微软雅黑" panose="020B0503020204020204" charset="-122"/>
                <a:cs typeface="+mn-cs"/>
              </a:rPr>
              <a:t>决定了仿真的推进延迟精度，同时也设置了仿真的推进步进单位。只有</a:t>
            </a:r>
            <a:r>
              <a:rPr kumimoji="1" lang="en-US" altLang="zh-CN" sz="2000" b="0" i="0" u="none" strike="noStrike" kern="0" cap="none" spc="0" normalizeH="0" baseline="0" noProof="1">
                <a:solidFill>
                  <a:srgbClr val="4B51A5"/>
                </a:solidFill>
                <a:latin typeface="+mj-lt"/>
                <a:ea typeface="微软雅黑" panose="020B0503020204020204" charset="-122"/>
                <a:cs typeface="+mn-cs"/>
              </a:rPr>
              <a:t>1</a:t>
            </a:r>
            <a:r>
              <a:rPr kumimoji="1" lang="zh-CN" altLang="en-US" sz="2000" b="0" i="0" u="none" strike="noStrike" kern="0" cap="none" spc="0" normalizeH="0" baseline="0" noProof="1">
                <a:solidFill>
                  <a:srgbClr val="4B51A5"/>
                </a:solidFill>
                <a:latin typeface="+mj-lt"/>
                <a:ea typeface="微软雅黑" panose="020B0503020204020204" charset="-122"/>
                <a:cs typeface="+mn-cs"/>
              </a:rPr>
              <a:t>，</a:t>
            </a:r>
            <a:r>
              <a:rPr kumimoji="1" lang="en-US" altLang="zh-CN" sz="2000" b="0" i="0" u="none" strike="noStrike" kern="0" cap="none" spc="0" normalizeH="0" baseline="0" noProof="1">
                <a:solidFill>
                  <a:srgbClr val="4B51A5"/>
                </a:solidFill>
                <a:latin typeface="+mj-lt"/>
                <a:ea typeface="微软雅黑" panose="020B0503020204020204" charset="-122"/>
                <a:cs typeface="+mn-cs"/>
              </a:rPr>
              <a:t>10</a:t>
            </a:r>
            <a:r>
              <a:rPr kumimoji="1" lang="zh-CN" altLang="en-US" sz="2000" b="0" i="0" u="none" strike="noStrike" kern="0" cap="none" spc="0" normalizeH="0" baseline="0" noProof="1">
                <a:solidFill>
                  <a:srgbClr val="4B51A5"/>
                </a:solidFill>
                <a:latin typeface="+mj-lt"/>
                <a:ea typeface="微软雅黑" panose="020B0503020204020204" charset="-122"/>
                <a:cs typeface="+mn-cs"/>
              </a:rPr>
              <a:t>和</a:t>
            </a:r>
            <a:r>
              <a:rPr kumimoji="1" lang="en-US" altLang="zh-CN" sz="2000" b="0" i="0" u="none" strike="noStrike" kern="0" cap="none" spc="0" normalizeH="0" baseline="0" noProof="1">
                <a:solidFill>
                  <a:srgbClr val="4B51A5"/>
                </a:solidFill>
                <a:latin typeface="+mj-lt"/>
                <a:ea typeface="微软雅黑" panose="020B0503020204020204" charset="-122"/>
                <a:cs typeface="+mn-cs"/>
              </a:rPr>
              <a:t>100</a:t>
            </a:r>
            <a:r>
              <a:rPr kumimoji="1" lang="zh-CN" altLang="en-US" sz="2000" b="0" i="0" u="none" strike="noStrike" kern="0" cap="none" spc="0" normalizeH="0" baseline="0" noProof="1">
                <a:solidFill>
                  <a:srgbClr val="4B51A5"/>
                </a:solidFill>
                <a:latin typeface="+mj-lt"/>
                <a:ea typeface="微软雅黑" panose="020B0503020204020204" charset="-122"/>
                <a:cs typeface="+mn-cs"/>
              </a:rPr>
              <a:t>才是合法的说明单位时间和延迟精度的整数</a:t>
            </a:r>
            <a:endParaRPr kumimoji="1" lang="en-US" altLang="zh-CN" sz="2000" b="0" i="0" u="none" strike="noStrike" kern="0" cap="none" spc="0" normalizeH="0" baseline="0" noProof="1">
              <a:solidFill>
                <a:srgbClr val="4B51A5"/>
              </a:solidFill>
              <a:latin typeface="+mj-lt"/>
              <a:ea typeface="微软雅黑" panose="020B0503020204020204" charset="-122"/>
              <a:cs typeface="+mn-cs"/>
            </a:endParaRPr>
          </a:p>
          <a:p>
            <a:pPr marL="0" marR="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pPr>
            <a:endParaRPr kumimoji="1" lang="zh-CN" altLang="en-US" sz="2000" b="0" i="0" u="none" strike="noStrike" kern="0" cap="none" spc="0" normalizeH="0" baseline="0" noProof="1">
              <a:solidFill>
                <a:srgbClr val="4B51A5"/>
              </a:solidFill>
              <a:latin typeface="+mj-lt"/>
              <a:ea typeface="微软雅黑" panose="020B0503020204020204" charset="-122"/>
              <a:cs typeface="+mn-cs"/>
            </a:endParaRPr>
          </a:p>
          <a:p>
            <a:pPr marL="0" marR="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pPr>
            <a:r>
              <a:rPr kumimoji="1" lang="zh-CN" altLang="en-US" sz="2000" b="0" i="0" u="none" strike="noStrike" kern="0" cap="none" spc="0" normalizeH="0" baseline="0" noProof="1">
                <a:solidFill>
                  <a:srgbClr val="4B51A5"/>
                </a:solidFill>
                <a:latin typeface="+mj-lt"/>
                <a:ea typeface="微软雅黑" panose="020B0503020204020204" charset="-122"/>
                <a:cs typeface="+mn-cs"/>
              </a:rPr>
              <a:t>例如</a:t>
            </a:r>
            <a:endParaRPr kumimoji="1" lang="en-US" altLang="zh-CN" sz="2000" b="0" i="0" u="none" strike="noStrike" kern="0" cap="none" spc="0" normalizeH="0" baseline="0" noProof="1">
              <a:solidFill>
                <a:srgbClr val="4B51A5"/>
              </a:solidFill>
              <a:latin typeface="+mj-lt"/>
              <a:ea typeface="微软雅黑" panose="020B0503020204020204" charset="-122"/>
              <a:cs typeface="+mn-cs"/>
            </a:endParaRPr>
          </a:p>
          <a:p>
            <a:pPr marL="0" marR="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pPr>
            <a:r>
              <a:rPr kumimoji="1" lang="zh-CN" altLang="en-US" sz="2000" b="0" i="0" u="none" strike="noStrike" kern="0" cap="none" spc="0" normalizeH="0" baseline="0" noProof="1">
                <a:solidFill>
                  <a:srgbClr val="4B51A5"/>
                </a:solidFill>
                <a:latin typeface="+mj-lt"/>
                <a:ea typeface="微软雅黑" panose="020B0503020204020204" charset="-122"/>
                <a:cs typeface="+mn-cs"/>
              </a:rPr>
              <a:t>‘</a:t>
            </a:r>
            <a:r>
              <a:rPr kumimoji="1" lang="en-US" altLang="zh-CN" sz="2000" b="0" i="0" u="none" strike="noStrike" kern="0" cap="none" spc="0" normalizeH="0" baseline="0" noProof="1">
                <a:solidFill>
                  <a:srgbClr val="4B51A5"/>
                </a:solidFill>
                <a:latin typeface="+mj-lt"/>
                <a:ea typeface="微软雅黑" panose="020B0503020204020204" charset="-122"/>
                <a:cs typeface="+mn-cs"/>
              </a:rPr>
              <a:t>timescale 1 ns / 1 ps           //</a:t>
            </a:r>
            <a:r>
              <a:rPr kumimoji="1" lang="zh-CN" altLang="en-US" sz="2000" b="0" i="0" u="none" strike="noStrike" kern="0" cap="none" spc="0" normalizeH="0" baseline="0" noProof="1">
                <a:solidFill>
                  <a:srgbClr val="4B51A5"/>
                </a:solidFill>
                <a:latin typeface="+mj-lt"/>
                <a:ea typeface="微软雅黑" panose="020B0503020204020204" charset="-122"/>
                <a:cs typeface="+mn-cs"/>
              </a:rPr>
              <a:t>度量参考为</a:t>
            </a:r>
            <a:r>
              <a:rPr kumimoji="1" lang="en-US" altLang="zh-CN" sz="2000" b="0" i="0" u="none" strike="noStrike" kern="0" cap="none" spc="0" normalizeH="0" baseline="0" noProof="1">
                <a:solidFill>
                  <a:srgbClr val="4B51A5"/>
                </a:solidFill>
                <a:latin typeface="+mj-lt"/>
                <a:ea typeface="微软雅黑" panose="020B0503020204020204" charset="-122"/>
                <a:cs typeface="+mn-cs"/>
              </a:rPr>
              <a:t>1ns</a:t>
            </a:r>
            <a:r>
              <a:rPr kumimoji="1" lang="zh-CN" altLang="en-US" sz="2000" b="0" i="0" u="none" strike="noStrike" kern="0" cap="none" spc="0" normalizeH="0" baseline="0" noProof="1">
                <a:solidFill>
                  <a:srgbClr val="4B51A5"/>
                </a:solidFill>
                <a:latin typeface="+mj-lt"/>
                <a:ea typeface="微软雅黑" panose="020B0503020204020204" charset="-122"/>
                <a:cs typeface="+mn-cs"/>
              </a:rPr>
              <a:t>，精度为</a:t>
            </a:r>
            <a:r>
              <a:rPr kumimoji="1" lang="en-US" altLang="zh-CN" sz="2000" b="0" i="0" u="none" strike="noStrike" kern="0" cap="none" spc="0" normalizeH="0" baseline="0" noProof="1">
                <a:solidFill>
                  <a:srgbClr val="4B51A5"/>
                </a:solidFill>
                <a:latin typeface="+mj-lt"/>
                <a:ea typeface="微软雅黑" panose="020B0503020204020204" charset="-122"/>
                <a:cs typeface="+mn-cs"/>
              </a:rPr>
              <a:t>1ps</a:t>
            </a:r>
          </a:p>
          <a:p>
            <a:pPr marL="0" marR="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pPr>
            <a:r>
              <a:rPr kumimoji="1" lang="en-US" altLang="zh-CN" sz="2000" b="0" i="0" u="none" strike="noStrike" kern="0" cap="none" spc="0" normalizeH="0" baseline="0" noProof="1">
                <a:solidFill>
                  <a:srgbClr val="4B51A5"/>
                </a:solidFill>
                <a:latin typeface="+mj-lt"/>
                <a:ea typeface="微软雅黑" panose="020B0503020204020204" charset="-122"/>
                <a:cs typeface="+mn-cs"/>
              </a:rPr>
              <a:t>    #5 reset = 1;  // 5</a:t>
            </a:r>
            <a:r>
              <a:rPr kumimoji="1" lang="zh-CN" altLang="en-US" sz="2000" b="0" i="0" u="none" strike="noStrike" kern="0" cap="none" spc="0" normalizeH="0" baseline="0" noProof="1">
                <a:solidFill>
                  <a:srgbClr val="4B51A5"/>
                </a:solidFill>
                <a:latin typeface="+mj-lt"/>
                <a:ea typeface="微软雅黑" panose="020B0503020204020204" charset="-122"/>
                <a:cs typeface="+mn-cs"/>
              </a:rPr>
              <a:t>个仿真时间延迟，相当于</a:t>
            </a:r>
            <a:r>
              <a:rPr kumimoji="1" lang="en-US" altLang="zh-CN" sz="2000" b="0" i="0" u="none" strike="noStrike" kern="0" cap="none" spc="0" normalizeH="0" baseline="0" noProof="1">
                <a:solidFill>
                  <a:srgbClr val="4B51A5"/>
                </a:solidFill>
                <a:latin typeface="+mj-lt"/>
                <a:ea typeface="微软雅黑" panose="020B0503020204020204" charset="-122"/>
                <a:cs typeface="+mn-cs"/>
              </a:rPr>
              <a:t>5×1ns = 5ns </a:t>
            </a:r>
            <a:r>
              <a:rPr kumimoji="1" lang="zh-CN" altLang="en-US" sz="2000" b="0" i="0" u="none" strike="noStrike" kern="0" cap="none" spc="0" normalizeH="0" baseline="0" noProof="1">
                <a:solidFill>
                  <a:srgbClr val="4B51A5"/>
                </a:solidFill>
                <a:latin typeface="+mj-lt"/>
                <a:ea typeface="微软雅黑" panose="020B0503020204020204" charset="-122"/>
                <a:cs typeface="+mn-cs"/>
              </a:rPr>
              <a:t>的仿真时间</a:t>
            </a:r>
            <a:endParaRPr kumimoji="1" lang="en-US" altLang="zh-CN" sz="2000" b="0" i="0" u="none" strike="noStrike" kern="0" cap="none" spc="0" normalizeH="0" baseline="0" noProof="1">
              <a:solidFill>
                <a:srgbClr val="4B51A5"/>
              </a:solidFill>
              <a:latin typeface="+mj-lt"/>
              <a:ea typeface="微软雅黑" panose="020B0503020204020204" charset="-122"/>
              <a:cs typeface="+mn-cs"/>
            </a:endParaRPr>
          </a:p>
          <a:p>
            <a:pPr marL="0" marR="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pPr>
            <a:endParaRPr kumimoji="1" lang="en-US" altLang="zh-CN" sz="2000" b="0" i="0" u="none" strike="noStrike" kern="0" cap="none" spc="0" normalizeH="0" baseline="0" noProof="1">
              <a:solidFill>
                <a:srgbClr val="4B51A5"/>
              </a:solidFill>
              <a:latin typeface="+mj-lt"/>
              <a:ea typeface="微软雅黑" panose="020B0503020204020204" charset="-122"/>
              <a:cs typeface="+mn-cs"/>
            </a:endParaRPr>
          </a:p>
          <a:p>
            <a:pPr marL="342900" marR="0" indent="-34290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Blip>
                <a:blip r:embed="rId3"/>
              </a:buBlip>
            </a:pPr>
            <a:r>
              <a:rPr kumimoji="1" lang="zh-CN" altLang="en-US" sz="2800" b="0" i="0" u="none" strike="noStrike" kern="0" cap="none" spc="0" normalizeH="0" baseline="0" noProof="1">
                <a:solidFill>
                  <a:srgbClr val="4B51A5"/>
                </a:solidFill>
                <a:latin typeface="微软雅黑" panose="020B0503020204020204" charset="-122"/>
                <a:ea typeface="微软雅黑" panose="020B0503020204020204" charset="-122"/>
                <a:cs typeface="+mn-cs"/>
              </a:rPr>
              <a:t>布局布线时将仿真的时延与和物理器件的时延相关联</a:t>
            </a:r>
            <a:endParaRPr kumimoji="1" lang="en-US" altLang="zh-CN" sz="2800" b="0" i="0" u="none" strike="noStrike" kern="0" cap="none" spc="0" normalizeH="0" baseline="0" noProof="1">
              <a:solidFill>
                <a:srgbClr val="4B51A5"/>
              </a:solidFill>
              <a:latin typeface="微软雅黑" panose="020B0503020204020204" charset="-122"/>
              <a:ea typeface="微软雅黑" panose="020B0503020204020204" charset="-122"/>
              <a:cs typeface="+mn-cs"/>
            </a:endParaRPr>
          </a:p>
          <a:p>
            <a:pPr marL="0" marR="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pPr>
            <a:r>
              <a:rPr kumimoji="1" lang="zh-CN" altLang="en-US" sz="1800" b="0" i="0" u="none" strike="noStrike" kern="0" cap="none" spc="0" normalizeH="0" baseline="0" noProof="1">
                <a:solidFill>
                  <a:srgbClr val="4B51A5"/>
                </a:solidFill>
                <a:latin typeface="+mj-lt"/>
                <a:ea typeface="微软雅黑" panose="020B0503020204020204" charset="-122"/>
                <a:cs typeface="+mn-cs"/>
              </a:rPr>
              <a:t> </a:t>
            </a:r>
            <a:endParaRPr kumimoji="1" lang="en-US" altLang="zh-CN" sz="3600" b="0" i="0" u="none" strike="noStrike" kern="0" cap="none" spc="0" normalizeH="0" baseline="0" noProof="1">
              <a:solidFill>
                <a:srgbClr val="4B51A5"/>
              </a:solidFill>
              <a:latin typeface="+mn-lt"/>
              <a:ea typeface="+mn-ea"/>
              <a:cs typeface="+mn-cs"/>
            </a:endParaRPr>
          </a:p>
          <a:p>
            <a:pPr marL="342900" marR="0" indent="-34290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pPr>
            <a:endParaRPr kumimoji="1" lang="en-US" altLang="zh-CN" sz="3600" b="0" i="0" u="none" strike="noStrike" kern="0" cap="none" spc="0" normalizeH="0" baseline="0" noProof="1">
              <a:solidFill>
                <a:srgbClr val="4B51A5"/>
              </a:solidFill>
              <a:latin typeface="+mn-lt"/>
              <a:ea typeface="+mn-ea"/>
              <a:cs typeface="+mn-cs"/>
            </a:endParaRPr>
          </a:p>
        </p:txBody>
      </p:sp>
      <p:sp>
        <p:nvSpPr>
          <p:cNvPr id="2" name="Rectangle 2">
            <a:extLst>
              <a:ext uri="{FF2B5EF4-FFF2-40B4-BE49-F238E27FC236}">
                <a16:creationId xmlns:a16="http://schemas.microsoft.com/office/drawing/2014/main" id="{7B23F234-6D4E-84EC-F78B-2E88EA3DAC65}"/>
              </a:ext>
            </a:extLst>
          </p:cNvPr>
          <p:cNvSpPr txBox="1">
            <a:spLocks/>
          </p:cNvSpPr>
          <p:nvPr/>
        </p:nvSpPr>
        <p:spPr>
          <a:xfrm>
            <a:off x="683568" y="188913"/>
            <a:ext cx="8424415" cy="792162"/>
          </a:xfrm>
          <a:prstGeom prst="rect">
            <a:avLst/>
          </a:prstGeom>
          <a:noFill/>
          <a:ln w="9525">
            <a:noFill/>
          </a:ln>
        </p:spPr>
        <p:txBody>
          <a:bodyPr anchor="b" anchorCtr="0"/>
          <a:lstStyle>
            <a:lvl1pPr algn="ctr" rtl="0" eaLnBrk="0" fontAlgn="base" hangingPunct="0">
              <a:spcBef>
                <a:spcPct val="0"/>
              </a:spcBef>
              <a:spcAft>
                <a:spcPct val="0"/>
              </a:spcAft>
              <a:defRPr kumimoji="1" sz="4000" b="1">
                <a:solidFill>
                  <a:schemeClr val="tx2"/>
                </a:solidFill>
                <a:latin typeface="+mj-lt"/>
                <a:ea typeface="+mj-ea"/>
                <a:cs typeface="+mj-cs"/>
              </a:defRPr>
            </a:lvl1pPr>
            <a:lvl2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2pPr>
            <a:lvl3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3pPr>
            <a:lvl4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4pPr>
            <a:lvl5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5pPr>
            <a:lvl6pPr marL="4572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6pPr>
            <a:lvl7pPr marL="9144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7pPr>
            <a:lvl8pPr marL="13716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8pPr>
            <a:lvl9pPr marL="18288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9pPr>
          </a:lstStyle>
          <a:p>
            <a:pPr algn="l"/>
            <a:r>
              <a:rPr lang="en-US" altLang="zh-CN" dirty="0">
                <a:latin typeface="Tahoma" panose="020B0604030504040204" pitchFamily="34" charset="0"/>
                <a:ea typeface="楷体_GB2312" pitchFamily="49" charset="-122"/>
              </a:rPr>
              <a:t>Verilog</a:t>
            </a:r>
            <a:r>
              <a:rPr lang="zh-CN" altLang="en-US" dirty="0">
                <a:latin typeface="Tahoma" panose="020B0604030504040204" pitchFamily="34" charset="0"/>
                <a:ea typeface="楷体_GB2312" pitchFamily="49" charset="-122"/>
              </a:rPr>
              <a:t>模块的测试</a:t>
            </a:r>
            <a:r>
              <a:rPr lang="en-US" altLang="zh-CN" dirty="0">
                <a:latin typeface="Tahoma" panose="020B0604030504040204" pitchFamily="34" charset="0"/>
                <a:ea typeface="楷体_GB2312" pitchFamily="49" charset="-122"/>
              </a:rPr>
              <a:t>–</a:t>
            </a:r>
            <a:r>
              <a:rPr lang="zh-CN" altLang="en-US" dirty="0">
                <a:latin typeface="Tahoma" panose="020B0604030504040204" pitchFamily="34" charset="0"/>
                <a:ea typeface="楷体_GB2312" pitchFamily="49" charset="-122"/>
              </a:rPr>
              <a:t>仿真时间与精度</a:t>
            </a:r>
            <a:endParaRPr lang="zh-CN" altLang="en-US" kern="1200" dirty="0">
              <a:latin typeface="Tahoma" panose="020B0604030504040204" pitchFamily="34" charset="0"/>
              <a:ea typeface="楷体_GB2312" pitchFamily="49" charset="-122"/>
              <a:cs typeface="+mn-cs"/>
            </a:endParaRPr>
          </a:p>
        </p:txBody>
      </p:sp>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3" descr="Rectangle: Click to edit Master text styles&#10;Second level&#10;Third level&#10;Fourth level&#10;Fifth level"/>
          <p:cNvSpPr>
            <a:spLocks noGrp="1"/>
          </p:cNvSpPr>
          <p:nvPr>
            <p:ph idx="1"/>
          </p:nvPr>
        </p:nvSpPr>
        <p:spPr>
          <a:xfrm>
            <a:off x="665163" y="981075"/>
            <a:ext cx="8328025" cy="5040313"/>
          </a:xfrm>
        </p:spPr>
        <p:txBody>
          <a:bodyPr anchor="t"/>
          <a:lstStyle/>
          <a:p>
            <a:pPr>
              <a:lnSpc>
                <a:spcPct val="90000"/>
              </a:lnSpc>
            </a:pPr>
            <a:r>
              <a:rPr lang="zh-CN" altLang="en-US" sz="2000" dirty="0"/>
              <a:t>实例</a:t>
            </a:r>
            <a:r>
              <a:rPr lang="en-US" altLang="zh-CN" sz="2000" dirty="0"/>
              <a:t>--</a:t>
            </a:r>
            <a:r>
              <a:rPr lang="zh-CN" altLang="en-US" sz="2000" dirty="0"/>
              <a:t>带有异步复位、置数功能的十进制计数器</a:t>
            </a:r>
          </a:p>
          <a:p>
            <a:pPr lvl="1">
              <a:lnSpc>
                <a:spcPct val="90000"/>
              </a:lnSpc>
            </a:pPr>
            <a:r>
              <a:rPr lang="en-US" altLang="zh-CN" sz="1800" dirty="0"/>
              <a:t>module counter_10(clk,reset,load,en,D,Q,C);</a:t>
            </a:r>
          </a:p>
          <a:p>
            <a:pPr marL="914400" lvl="2" indent="0">
              <a:lnSpc>
                <a:spcPct val="90000"/>
              </a:lnSpc>
              <a:buNone/>
            </a:pPr>
            <a:r>
              <a:rPr lang="en-US" altLang="zh-CN" sz="1800" dirty="0"/>
              <a:t>input clk,reset,load,en;</a:t>
            </a:r>
          </a:p>
          <a:p>
            <a:pPr marL="914400" lvl="2" indent="0">
              <a:lnSpc>
                <a:spcPct val="90000"/>
              </a:lnSpc>
              <a:buNone/>
            </a:pPr>
            <a:r>
              <a:rPr lang="en-US" altLang="zh-CN" sz="1800" dirty="0"/>
              <a:t>input [3:0] D;</a:t>
            </a:r>
          </a:p>
          <a:p>
            <a:pPr marL="914400" lvl="2" indent="0">
              <a:lnSpc>
                <a:spcPct val="90000"/>
              </a:lnSpc>
              <a:buNone/>
            </a:pPr>
            <a:r>
              <a:rPr lang="en-US" altLang="zh-CN" sz="1800" dirty="0"/>
              <a:t>output C;</a:t>
            </a:r>
          </a:p>
          <a:p>
            <a:pPr marL="914400" lvl="2" indent="0">
              <a:lnSpc>
                <a:spcPct val="90000"/>
              </a:lnSpc>
              <a:buNone/>
            </a:pPr>
            <a:r>
              <a:rPr lang="en-US" altLang="zh-CN" sz="1800" dirty="0"/>
              <a:t>output [3:0] Q</a:t>
            </a:r>
            <a:r>
              <a:rPr lang="zh-CN" altLang="en-US" sz="1800" dirty="0"/>
              <a:t>；</a:t>
            </a:r>
          </a:p>
          <a:p>
            <a:pPr marL="914400" lvl="2" indent="0">
              <a:lnSpc>
                <a:spcPct val="90000"/>
              </a:lnSpc>
              <a:buNone/>
            </a:pPr>
            <a:r>
              <a:rPr lang="en-US" altLang="zh-CN" sz="1800" dirty="0"/>
              <a:t>reg [3:0] Q</a:t>
            </a:r>
            <a:r>
              <a:rPr lang="zh-CN" altLang="en-US" sz="1800" dirty="0"/>
              <a:t>；</a:t>
            </a:r>
          </a:p>
          <a:p>
            <a:pPr marL="914400" lvl="2" indent="0">
              <a:lnSpc>
                <a:spcPct val="90000"/>
              </a:lnSpc>
              <a:buNone/>
            </a:pPr>
            <a:endParaRPr lang="zh-CN" altLang="en-US" sz="1800" dirty="0"/>
          </a:p>
          <a:p>
            <a:pPr marL="914400" lvl="2" indent="0">
              <a:lnSpc>
                <a:spcPct val="90000"/>
              </a:lnSpc>
              <a:buNone/>
            </a:pPr>
            <a:r>
              <a:rPr lang="en-US" altLang="zh-CN" sz="1800" dirty="0"/>
              <a:t>always @(posedge clk or posedge reset)</a:t>
            </a:r>
          </a:p>
          <a:p>
            <a:pPr marL="914400" lvl="2" indent="0">
              <a:lnSpc>
                <a:spcPct val="90000"/>
              </a:lnSpc>
              <a:buNone/>
            </a:pPr>
            <a:r>
              <a:rPr lang="en-US" altLang="zh-CN" sz="1800" dirty="0"/>
              <a:t> begin</a:t>
            </a:r>
          </a:p>
          <a:p>
            <a:pPr marL="914400" lvl="2" indent="0">
              <a:lnSpc>
                <a:spcPct val="90000"/>
              </a:lnSpc>
              <a:buNone/>
            </a:pPr>
            <a:r>
              <a:rPr lang="en-US" altLang="zh-CN" sz="1800" dirty="0"/>
              <a:t>  if(reset==1)  Q&lt;=4'd0;</a:t>
            </a:r>
          </a:p>
          <a:p>
            <a:pPr marL="914400" lvl="2" indent="0">
              <a:lnSpc>
                <a:spcPct val="90000"/>
              </a:lnSpc>
              <a:buNone/>
            </a:pPr>
            <a:r>
              <a:rPr lang="en-US" altLang="zh-CN" sz="1800" dirty="0"/>
              <a:t>  else if(load==1) Q&lt;=D;</a:t>
            </a:r>
          </a:p>
          <a:p>
            <a:pPr marL="914400" lvl="2" indent="0">
              <a:lnSpc>
                <a:spcPct val="90000"/>
              </a:lnSpc>
              <a:buNone/>
            </a:pPr>
            <a:r>
              <a:rPr lang="en-US" altLang="zh-CN" sz="1800" dirty="0"/>
              <a:t>  else if(en) Q&lt;=Q;</a:t>
            </a:r>
          </a:p>
          <a:p>
            <a:pPr marL="914400" lvl="2" indent="0">
              <a:lnSpc>
                <a:spcPct val="90000"/>
              </a:lnSpc>
              <a:buNone/>
            </a:pPr>
            <a:r>
              <a:rPr lang="en-US" altLang="zh-CN" sz="1800" dirty="0"/>
              <a:t>  else if(Q==9) Q&lt;=0;</a:t>
            </a:r>
          </a:p>
          <a:p>
            <a:pPr marL="914400" lvl="2" indent="0">
              <a:lnSpc>
                <a:spcPct val="90000"/>
              </a:lnSpc>
              <a:buNone/>
            </a:pPr>
            <a:r>
              <a:rPr lang="en-US" altLang="zh-CN" sz="1800" dirty="0"/>
              <a:t>  else Q&lt;=Q+1;</a:t>
            </a:r>
          </a:p>
          <a:p>
            <a:pPr marL="914400" lvl="2" indent="0">
              <a:lnSpc>
                <a:spcPct val="90000"/>
              </a:lnSpc>
              <a:buNone/>
            </a:pPr>
            <a:r>
              <a:rPr lang="en-US" altLang="zh-CN" sz="1800" dirty="0"/>
              <a:t>end</a:t>
            </a:r>
          </a:p>
          <a:p>
            <a:pPr marL="914400" lvl="2" indent="0">
              <a:lnSpc>
                <a:spcPct val="90000"/>
              </a:lnSpc>
              <a:buNone/>
            </a:pPr>
            <a:endParaRPr lang="en-US" altLang="zh-CN" sz="1800" dirty="0"/>
          </a:p>
          <a:p>
            <a:pPr marL="914400" lvl="2" indent="0">
              <a:lnSpc>
                <a:spcPct val="90000"/>
              </a:lnSpc>
              <a:buNone/>
            </a:pPr>
            <a:r>
              <a:rPr lang="en-US" altLang="zh-CN" sz="1800" dirty="0"/>
              <a:t>assign C=(Q==9);</a:t>
            </a:r>
          </a:p>
          <a:p>
            <a:pPr marL="914400" lvl="2" indent="0">
              <a:lnSpc>
                <a:spcPct val="90000"/>
              </a:lnSpc>
              <a:buNone/>
            </a:pPr>
            <a:r>
              <a:rPr lang="en-US" altLang="zh-CN" sz="1800" dirty="0"/>
              <a:t>endmodule</a:t>
            </a:r>
            <a:endParaRPr lang="zh-CN" altLang="en-US" sz="1800" dirty="0"/>
          </a:p>
          <a:p>
            <a:pPr>
              <a:lnSpc>
                <a:spcPct val="90000"/>
              </a:lnSpc>
            </a:pPr>
            <a:endParaRPr lang="zh-CN" altLang="en-US" sz="1800" dirty="0"/>
          </a:p>
        </p:txBody>
      </p:sp>
      <p:sp>
        <p:nvSpPr>
          <p:cNvPr id="3" name="Rectangle 2">
            <a:extLst>
              <a:ext uri="{FF2B5EF4-FFF2-40B4-BE49-F238E27FC236}">
                <a16:creationId xmlns:a16="http://schemas.microsoft.com/office/drawing/2014/main" id="{F46E8139-90A5-2DEC-CD11-AB048248482E}"/>
              </a:ext>
            </a:extLst>
          </p:cNvPr>
          <p:cNvSpPr txBox="1">
            <a:spLocks/>
          </p:cNvSpPr>
          <p:nvPr/>
        </p:nvSpPr>
        <p:spPr>
          <a:xfrm>
            <a:off x="683568" y="188913"/>
            <a:ext cx="8424415" cy="792162"/>
          </a:xfrm>
          <a:prstGeom prst="rect">
            <a:avLst/>
          </a:prstGeom>
          <a:noFill/>
          <a:ln w="9525">
            <a:noFill/>
          </a:ln>
        </p:spPr>
        <p:txBody>
          <a:bodyPr anchor="b" anchorCtr="0"/>
          <a:lstStyle>
            <a:lvl1pPr algn="ctr" rtl="0" eaLnBrk="0" fontAlgn="base" hangingPunct="0">
              <a:spcBef>
                <a:spcPct val="0"/>
              </a:spcBef>
              <a:spcAft>
                <a:spcPct val="0"/>
              </a:spcAft>
              <a:defRPr kumimoji="1" sz="4000" b="1">
                <a:solidFill>
                  <a:schemeClr val="tx2"/>
                </a:solidFill>
                <a:latin typeface="+mj-lt"/>
                <a:ea typeface="+mj-ea"/>
                <a:cs typeface="+mj-cs"/>
              </a:defRPr>
            </a:lvl1pPr>
            <a:lvl2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2pPr>
            <a:lvl3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3pPr>
            <a:lvl4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4pPr>
            <a:lvl5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5pPr>
            <a:lvl6pPr marL="4572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6pPr>
            <a:lvl7pPr marL="9144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7pPr>
            <a:lvl8pPr marL="13716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8pPr>
            <a:lvl9pPr marL="18288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9pPr>
          </a:lstStyle>
          <a:p>
            <a:pPr algn="l"/>
            <a:r>
              <a:rPr lang="en-US" altLang="zh-CN" dirty="0">
                <a:latin typeface="Tahoma" panose="020B0604030504040204" pitchFamily="34" charset="0"/>
                <a:ea typeface="楷体_GB2312" pitchFamily="49" charset="-122"/>
              </a:rPr>
              <a:t>Verilog</a:t>
            </a:r>
            <a:r>
              <a:rPr lang="zh-CN" altLang="en-US" dirty="0">
                <a:latin typeface="Tahoma" panose="020B0604030504040204" pitchFamily="34" charset="0"/>
                <a:ea typeface="楷体_GB2312" pitchFamily="49" charset="-122"/>
              </a:rPr>
              <a:t>仿真文件设计示例</a:t>
            </a:r>
            <a:endParaRPr lang="zh-CN" altLang="en-US" kern="1200" dirty="0">
              <a:latin typeface="Tahoma" panose="020B0604030504040204" pitchFamily="34" charset="0"/>
              <a:ea typeface="楷体_GB2312" pitchFamily="49" charset="-122"/>
              <a:cs typeface="+mn-cs"/>
            </a:endParaRPr>
          </a:p>
        </p:txBody>
      </p:sp>
    </p:spTree>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77863" y="981075"/>
            <a:ext cx="8128000" cy="4676775"/>
          </a:xfrm>
        </p:spPr>
        <p:txBody>
          <a:bodyPr/>
          <a:lstStyle/>
          <a:p>
            <a:pPr marL="342900" marR="0" indent="-34290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Blip>
                <a:blip r:embed="rId2"/>
              </a:buBlip>
            </a:pPr>
            <a:r>
              <a:rPr kumimoji="1" lang="zh-CN" altLang="en-US" sz="2000" b="0" i="0" u="none" strike="noStrike" kern="0" cap="none" spc="0" normalizeH="0" baseline="0" noProof="1">
                <a:solidFill>
                  <a:srgbClr val="4B51A5"/>
                </a:solidFill>
                <a:latin typeface="+mn-lt"/>
                <a:ea typeface="+mn-ea"/>
                <a:cs typeface="+mn-cs"/>
                <a:sym typeface="+mn-ea"/>
              </a:rPr>
              <a:t>实例</a:t>
            </a:r>
            <a:r>
              <a:rPr kumimoji="1" lang="en-US" altLang="zh-CN" sz="2000" b="0" i="0" u="none" strike="noStrike" kern="0" cap="none" spc="0" normalizeH="0" baseline="0" noProof="1">
                <a:solidFill>
                  <a:srgbClr val="4B51A5"/>
                </a:solidFill>
                <a:latin typeface="+mn-lt"/>
                <a:ea typeface="+mn-ea"/>
                <a:cs typeface="+mn-cs"/>
                <a:sym typeface="+mn-ea"/>
              </a:rPr>
              <a:t>--</a:t>
            </a:r>
            <a:r>
              <a:rPr kumimoji="1" lang="zh-CN" altLang="en-US" sz="2000" b="0" i="0" u="none" strike="noStrike" kern="0" cap="none" spc="0" normalizeH="0" baseline="0" noProof="1">
                <a:solidFill>
                  <a:srgbClr val="4B51A5"/>
                </a:solidFill>
                <a:latin typeface="+mn-lt"/>
                <a:ea typeface="+mn-ea"/>
                <a:cs typeface="+mn-cs"/>
                <a:sym typeface="+mn-ea"/>
              </a:rPr>
              <a:t>带有复位、置数功能的十进制计数器</a:t>
            </a:r>
          </a:p>
          <a:p>
            <a:pPr marL="742950" marR="0" lvl="1" indent="-28575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Char char="n"/>
            </a:pPr>
            <a:r>
              <a:rPr kumimoji="1" lang="en-US" altLang="zh-CN" sz="1775" b="0" i="0" u="none" strike="noStrike" kern="0" cap="none" spc="0" normalizeH="0" baseline="0" noProof="1">
                <a:solidFill>
                  <a:srgbClr val="4B51A5"/>
                </a:solidFill>
                <a:latin typeface="+mn-lt"/>
                <a:ea typeface="+mn-ea"/>
                <a:cs typeface="+mn-ea"/>
              </a:rPr>
              <a:t>module counter_10_t();</a:t>
            </a:r>
          </a:p>
          <a:p>
            <a:pPr marL="457200" marR="0" lvl="1" indent="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None/>
            </a:pPr>
            <a:r>
              <a:rPr kumimoji="1" lang="zh-CN" altLang="en-US" sz="1775" b="0" i="0" u="none" strike="noStrike" kern="0" cap="none" spc="0" normalizeH="0" baseline="0" noProof="1">
                <a:solidFill>
                  <a:srgbClr val="4B51A5"/>
                </a:solidFill>
                <a:latin typeface="+mn-lt"/>
                <a:ea typeface="+mn-ea"/>
                <a:cs typeface="+mn-ea"/>
              </a:rPr>
              <a:t>    </a:t>
            </a:r>
            <a:r>
              <a:rPr kumimoji="1" lang="en-US" altLang="zh-CN" sz="1775" b="0" i="0" u="none" strike="noStrike" kern="0" cap="none" spc="0" normalizeH="0" baseline="0" noProof="1">
                <a:solidFill>
                  <a:srgbClr val="4B51A5"/>
                </a:solidFill>
                <a:latin typeface="+mn-lt"/>
                <a:ea typeface="+mn-ea"/>
                <a:cs typeface="+mn-ea"/>
              </a:rPr>
              <a:t>reg clk,reset,load,en;</a:t>
            </a:r>
          </a:p>
          <a:p>
            <a:pPr marL="457200" marR="0" lvl="1" indent="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None/>
            </a:pPr>
            <a:r>
              <a:rPr kumimoji="1" lang="en-US" altLang="zh-CN" sz="1775" b="0" i="0" u="none" strike="noStrike" kern="0" cap="none" spc="0" normalizeH="0" baseline="0" noProof="1">
                <a:solidFill>
                  <a:srgbClr val="4B51A5"/>
                </a:solidFill>
                <a:latin typeface="+mn-lt"/>
                <a:ea typeface="+mn-ea"/>
                <a:cs typeface="+mn-ea"/>
              </a:rPr>
              <a:t>    reg [3:0] D;</a:t>
            </a:r>
          </a:p>
          <a:p>
            <a:pPr marL="457200" marR="0" lvl="1" indent="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None/>
            </a:pPr>
            <a:r>
              <a:rPr kumimoji="1" lang="zh-CN" altLang="en-US" sz="1775" b="0" i="0" u="none" strike="noStrike" kern="0" cap="none" spc="0" normalizeH="0" baseline="0" noProof="1">
                <a:solidFill>
                  <a:srgbClr val="4B51A5"/>
                </a:solidFill>
                <a:latin typeface="+mn-lt"/>
                <a:ea typeface="+mn-ea"/>
                <a:cs typeface="+mn-ea"/>
              </a:rPr>
              <a:t>    </a:t>
            </a:r>
            <a:r>
              <a:rPr kumimoji="1" lang="en-US" altLang="zh-CN" sz="1775" b="0" i="0" u="none" strike="noStrike" kern="0" cap="none" spc="0" normalizeH="0" baseline="0" noProof="1">
                <a:solidFill>
                  <a:srgbClr val="4B51A5"/>
                </a:solidFill>
                <a:latin typeface="+mn-lt"/>
                <a:ea typeface="+mn-ea"/>
                <a:cs typeface="+mn-ea"/>
              </a:rPr>
              <a:t>wire C;</a:t>
            </a:r>
          </a:p>
          <a:p>
            <a:pPr marL="457200" marR="0" lvl="1" indent="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None/>
            </a:pPr>
            <a:r>
              <a:rPr kumimoji="1" lang="en-US" altLang="zh-CN" sz="1775" b="0" i="0" u="none" strike="noStrike" kern="0" cap="none" spc="0" normalizeH="0" baseline="0" noProof="1">
                <a:solidFill>
                  <a:srgbClr val="4B51A5"/>
                </a:solidFill>
                <a:latin typeface="+mn-lt"/>
                <a:ea typeface="+mn-ea"/>
                <a:cs typeface="+mn-ea"/>
              </a:rPr>
              <a:t>    wire [3:0] Q;</a:t>
            </a:r>
          </a:p>
          <a:p>
            <a:pPr marL="457200" marR="0" lvl="1" indent="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None/>
            </a:pPr>
            <a:r>
              <a:rPr kumimoji="1" lang="en-US" altLang="zh-CN" sz="1775" b="0" i="0" u="none" strike="noStrike" kern="0" cap="none" spc="0" normalizeH="0" baseline="0" noProof="1">
                <a:solidFill>
                  <a:srgbClr val="4B51A5"/>
                </a:solidFill>
                <a:latin typeface="+mn-lt"/>
                <a:ea typeface="+mn-ea"/>
                <a:cs typeface="+mn-ea"/>
              </a:rPr>
              <a:t>    </a:t>
            </a:r>
            <a:r>
              <a:rPr kumimoji="1" lang="zh-CN" altLang="en-US" sz="1775" b="0" i="0" u="none" strike="noStrike" kern="0" cap="none" spc="0" normalizeH="0" baseline="0" noProof="1">
                <a:solidFill>
                  <a:srgbClr val="4B51A5"/>
                </a:solidFill>
                <a:latin typeface="+mn-lt"/>
                <a:ea typeface="+mn-ea"/>
                <a:cs typeface="+mn-ea"/>
                <a:sym typeface="+mn-ea"/>
              </a:rPr>
              <a:t>parameter clk_period=20;</a:t>
            </a:r>
          </a:p>
          <a:p>
            <a:pPr marL="457200" marR="0" lvl="1" indent="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None/>
            </a:pPr>
            <a:endParaRPr kumimoji="1" lang="en-US" altLang="zh-CN" sz="1775" b="0" i="0" u="none" strike="noStrike" kern="0" cap="none" spc="0" normalizeH="0" baseline="0" noProof="1">
              <a:solidFill>
                <a:srgbClr val="4B51A5"/>
              </a:solidFill>
              <a:latin typeface="+mn-lt"/>
              <a:ea typeface="+mn-ea"/>
              <a:cs typeface="+mn-ea"/>
            </a:endParaRPr>
          </a:p>
          <a:p>
            <a:pPr marL="457200" marR="0" lvl="1" indent="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None/>
            </a:pPr>
            <a:r>
              <a:rPr kumimoji="1" lang="en-US" altLang="zh-CN" sz="1775" b="0" i="0" u="none" strike="noStrike" kern="0" cap="none" spc="0" normalizeH="0" baseline="0" noProof="1">
                <a:solidFill>
                  <a:srgbClr val="4B51A5"/>
                </a:solidFill>
                <a:latin typeface="+mn-lt"/>
                <a:ea typeface="+mn-ea"/>
                <a:cs typeface="+mn-ea"/>
              </a:rPr>
              <a:t>    counter_10 ins_counter_10(</a:t>
            </a:r>
          </a:p>
          <a:p>
            <a:pPr marL="457200" marR="0" lvl="1" indent="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None/>
            </a:pPr>
            <a:r>
              <a:rPr kumimoji="1" lang="en-US" altLang="zh-CN" sz="1775" b="0" i="0" u="none" strike="noStrike" kern="0" cap="none" spc="0" normalizeH="0" baseline="0" noProof="1">
                <a:solidFill>
                  <a:srgbClr val="4B51A5"/>
                </a:solidFill>
                <a:latin typeface="+mn-lt"/>
                <a:ea typeface="+mn-ea"/>
                <a:cs typeface="+mn-ea"/>
              </a:rPr>
              <a:t>  .clk(clk),</a:t>
            </a:r>
          </a:p>
          <a:p>
            <a:pPr marL="457200" marR="0" lvl="1" indent="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None/>
            </a:pPr>
            <a:r>
              <a:rPr kumimoji="1" lang="en-US" altLang="zh-CN" sz="1775" b="0" i="0" u="none" strike="noStrike" kern="0" cap="none" spc="0" normalizeH="0" baseline="0" noProof="1">
                <a:solidFill>
                  <a:srgbClr val="4B51A5"/>
                </a:solidFill>
                <a:latin typeface="+mn-lt"/>
                <a:ea typeface="+mn-ea"/>
                <a:cs typeface="+mn-ea"/>
              </a:rPr>
              <a:t>  .reset(reset),</a:t>
            </a:r>
          </a:p>
          <a:p>
            <a:pPr marL="457200" marR="0" lvl="1" indent="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None/>
            </a:pPr>
            <a:r>
              <a:rPr kumimoji="1" lang="en-US" altLang="zh-CN" sz="1775" b="0" i="0" u="none" strike="noStrike" kern="0" cap="none" spc="0" normalizeH="0" baseline="0" noProof="1">
                <a:solidFill>
                  <a:srgbClr val="4B51A5"/>
                </a:solidFill>
                <a:latin typeface="+mn-lt"/>
                <a:ea typeface="+mn-ea"/>
                <a:cs typeface="+mn-ea"/>
              </a:rPr>
              <a:t>  .load(load),</a:t>
            </a:r>
          </a:p>
          <a:p>
            <a:pPr marL="457200" marR="0" lvl="1" indent="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None/>
            </a:pPr>
            <a:r>
              <a:rPr kumimoji="1" lang="en-US" altLang="zh-CN" sz="1775" b="0" i="0" u="none" strike="noStrike" kern="0" cap="none" spc="0" normalizeH="0" baseline="0" noProof="1">
                <a:solidFill>
                  <a:srgbClr val="4B51A5"/>
                </a:solidFill>
                <a:latin typeface="+mn-lt"/>
                <a:ea typeface="+mn-ea"/>
                <a:cs typeface="+mn-ea"/>
              </a:rPr>
              <a:t>  .en(en),</a:t>
            </a:r>
          </a:p>
          <a:p>
            <a:pPr marL="457200" marR="0" lvl="1" indent="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None/>
            </a:pPr>
            <a:r>
              <a:rPr kumimoji="1" lang="en-US" altLang="zh-CN" sz="1775" b="0" i="0" u="none" strike="noStrike" kern="0" cap="none" spc="0" normalizeH="0" baseline="0" noProof="1">
                <a:solidFill>
                  <a:srgbClr val="4B51A5"/>
                </a:solidFill>
                <a:latin typeface="+mn-lt"/>
                <a:ea typeface="+mn-ea"/>
                <a:cs typeface="+mn-ea"/>
              </a:rPr>
              <a:t>  .D(D),</a:t>
            </a:r>
          </a:p>
          <a:p>
            <a:pPr marL="457200" marR="0" lvl="1" indent="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None/>
            </a:pPr>
            <a:r>
              <a:rPr kumimoji="1" lang="en-US" altLang="zh-CN" sz="1775" b="0" i="0" u="none" strike="noStrike" kern="0" cap="none" spc="0" normalizeH="0" baseline="0" noProof="1">
                <a:solidFill>
                  <a:srgbClr val="4B51A5"/>
                </a:solidFill>
                <a:latin typeface="+mn-lt"/>
                <a:ea typeface="+mn-ea"/>
                <a:cs typeface="+mn-ea"/>
              </a:rPr>
              <a:t>  .C(C),</a:t>
            </a:r>
          </a:p>
          <a:p>
            <a:pPr marL="457200" marR="0" lvl="1" indent="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None/>
            </a:pPr>
            <a:r>
              <a:rPr kumimoji="1" lang="en-US" altLang="zh-CN" sz="1775" b="0" i="0" u="none" strike="noStrike" kern="0" cap="none" spc="0" normalizeH="0" baseline="0" noProof="1">
                <a:solidFill>
                  <a:srgbClr val="4B51A5"/>
                </a:solidFill>
                <a:latin typeface="+mn-lt"/>
                <a:ea typeface="+mn-ea"/>
                <a:cs typeface="+mn-ea"/>
              </a:rPr>
              <a:t>  .Q(Q)</a:t>
            </a:r>
          </a:p>
          <a:p>
            <a:pPr marL="457200" marR="0" lvl="1" indent="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None/>
            </a:pPr>
            <a:r>
              <a:rPr kumimoji="1" lang="en-US" altLang="zh-CN" sz="1775" b="0" i="0" u="none" strike="noStrike" kern="0" cap="none" spc="0" normalizeH="0" baseline="0" noProof="1">
                <a:solidFill>
                  <a:srgbClr val="4B51A5"/>
                </a:solidFill>
                <a:latin typeface="+mn-lt"/>
                <a:ea typeface="+mn-ea"/>
                <a:cs typeface="+mn-ea"/>
              </a:rPr>
              <a:t>  ); </a:t>
            </a:r>
            <a:endParaRPr kumimoji="1" lang="zh-CN" altLang="en-US" sz="1775" b="0" i="0" u="none" strike="noStrike" kern="0" cap="none" spc="0" normalizeH="0" baseline="0" noProof="1">
              <a:solidFill>
                <a:srgbClr val="4B51A5"/>
              </a:solidFill>
              <a:latin typeface="+mn-lt"/>
              <a:ea typeface="+mn-ea"/>
              <a:cs typeface="+mn-ea"/>
            </a:endParaRPr>
          </a:p>
          <a:p>
            <a:pPr marL="0" marR="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pPr>
            <a:endParaRPr kumimoji="1" lang="en-US" altLang="zh-CN" sz="2000" b="0" i="0" u="none" strike="noStrike" kern="0" cap="none" spc="0" normalizeH="0" baseline="0" noProof="1">
              <a:solidFill>
                <a:srgbClr val="4B51A5"/>
              </a:solidFill>
              <a:latin typeface="+mn-lt"/>
              <a:ea typeface="+mn-ea"/>
              <a:cs typeface="+mn-cs"/>
            </a:endParaRPr>
          </a:p>
        </p:txBody>
      </p:sp>
      <p:sp>
        <p:nvSpPr>
          <p:cNvPr id="156675" name="文本框 3"/>
          <p:cNvSpPr txBox="1"/>
          <p:nvPr/>
        </p:nvSpPr>
        <p:spPr>
          <a:xfrm>
            <a:off x="4479925" y="1700213"/>
            <a:ext cx="4791075" cy="4614862"/>
          </a:xfrm>
          <a:prstGeom prst="rect">
            <a:avLst/>
          </a:prstGeom>
          <a:noFill/>
          <a:ln w="9525">
            <a:noFill/>
          </a:ln>
        </p:spPr>
        <p:txBody>
          <a:bodyPr wrap="square" anchor="t">
            <a:spAutoFit/>
          </a:bodyPr>
          <a:lstStyle/>
          <a:p>
            <a:pPr lvl="1" indent="0">
              <a:buNone/>
            </a:pPr>
            <a:r>
              <a:rPr lang="en-US" altLang="zh-CN" dirty="0">
                <a:latin typeface="Tahoma" panose="020B0604030504040204" pitchFamily="34" charset="0"/>
                <a:ea typeface="宋体" panose="02010600030101010101" pitchFamily="2" charset="-122"/>
              </a:rPr>
              <a:t>initial</a:t>
            </a:r>
          </a:p>
          <a:p>
            <a:pPr lvl="1" indent="0">
              <a:buNone/>
            </a:pPr>
            <a:r>
              <a:rPr lang="en-US" altLang="zh-CN" dirty="0">
                <a:latin typeface="Tahoma" panose="020B0604030504040204" pitchFamily="34" charset="0"/>
                <a:ea typeface="宋体" panose="02010600030101010101" pitchFamily="2" charset="-122"/>
              </a:rPr>
              <a:t>begin   </a:t>
            </a:r>
            <a:r>
              <a:rPr lang="en-US" altLang="zh-CN" sz="1800" dirty="0">
                <a:latin typeface="Tahoma" panose="020B0604030504040204" pitchFamily="34" charset="0"/>
                <a:ea typeface="宋体" panose="02010600030101010101" pitchFamily="2" charset="-122"/>
              </a:rPr>
              <a:t>reset=1;load=0;en=0;D=4'd9;clk=0;</a:t>
            </a:r>
          </a:p>
          <a:p>
            <a:pPr lvl="1" indent="0">
              <a:buNone/>
            </a:pPr>
            <a:r>
              <a:rPr lang="en-US" altLang="zh-CN" sz="1800" dirty="0">
                <a:latin typeface="Tahoma" panose="020B0604030504040204" pitchFamily="34" charset="0"/>
                <a:ea typeface="宋体" panose="02010600030101010101" pitchFamily="2" charset="-122"/>
              </a:rPr>
              <a:t>    #20 reset=0;  //</a:t>
            </a:r>
            <a:r>
              <a:rPr lang="zh-CN" altLang="en-US" sz="1800" dirty="0">
                <a:latin typeface="Tahoma" panose="020B0604030504040204" pitchFamily="34" charset="0"/>
                <a:ea typeface="宋体" panose="02010600030101010101" pitchFamily="2" charset="-122"/>
              </a:rPr>
              <a:t>复位功能</a:t>
            </a:r>
            <a:endParaRPr lang="en-US" altLang="zh-CN" sz="1800" dirty="0">
              <a:latin typeface="Tahoma" panose="020B0604030504040204" pitchFamily="34" charset="0"/>
              <a:ea typeface="宋体" panose="02010600030101010101" pitchFamily="2" charset="-122"/>
            </a:endParaRPr>
          </a:p>
          <a:p>
            <a:pPr lvl="1" indent="0">
              <a:buNone/>
            </a:pPr>
            <a:r>
              <a:rPr lang="en-US" altLang="zh-CN" sz="1800" dirty="0">
                <a:latin typeface="Tahoma" panose="020B0604030504040204" pitchFamily="34" charset="0"/>
                <a:ea typeface="宋体" panose="02010600030101010101" pitchFamily="2" charset="-122"/>
              </a:rPr>
              <a:t>    #120 en=1;    //</a:t>
            </a:r>
            <a:r>
              <a:rPr lang="zh-CN" altLang="en-US" sz="1800" dirty="0">
                <a:latin typeface="Tahoma" panose="020B0604030504040204" pitchFamily="34" charset="0"/>
                <a:ea typeface="宋体" panose="02010600030101010101" pitchFamily="2" charset="-122"/>
              </a:rPr>
              <a:t>暂停计数功能</a:t>
            </a:r>
            <a:endParaRPr lang="en-US" altLang="zh-CN" sz="1800" dirty="0">
              <a:latin typeface="Tahoma" panose="020B0604030504040204" pitchFamily="34" charset="0"/>
              <a:ea typeface="宋体" panose="02010600030101010101" pitchFamily="2" charset="-122"/>
            </a:endParaRPr>
          </a:p>
          <a:p>
            <a:pPr lvl="1" indent="0">
              <a:buNone/>
            </a:pPr>
            <a:r>
              <a:rPr lang="en-US" altLang="zh-CN" sz="1800" dirty="0">
                <a:latin typeface="Tahoma" panose="020B0604030504040204" pitchFamily="34" charset="0"/>
                <a:ea typeface="宋体" panose="02010600030101010101" pitchFamily="2" charset="-122"/>
              </a:rPr>
              <a:t>    #50 load=1;   //</a:t>
            </a:r>
            <a:r>
              <a:rPr lang="zh-CN" altLang="en-US" sz="1800" dirty="0">
                <a:latin typeface="Tahoma" panose="020B0604030504040204" pitchFamily="34" charset="0"/>
                <a:ea typeface="宋体" panose="02010600030101010101" pitchFamily="2" charset="-122"/>
              </a:rPr>
              <a:t>置数功能</a:t>
            </a:r>
            <a:endParaRPr lang="en-US" altLang="zh-CN" sz="1800" dirty="0">
              <a:latin typeface="Tahoma" panose="020B0604030504040204" pitchFamily="34" charset="0"/>
              <a:ea typeface="宋体" panose="02010600030101010101" pitchFamily="2" charset="-122"/>
            </a:endParaRPr>
          </a:p>
          <a:p>
            <a:pPr lvl="1" indent="0">
              <a:buNone/>
            </a:pPr>
            <a:r>
              <a:rPr lang="en-US" altLang="zh-CN" sz="1800" dirty="0">
                <a:latin typeface="Tahoma" panose="020B0604030504040204" pitchFamily="34" charset="0"/>
                <a:ea typeface="宋体" panose="02010600030101010101" pitchFamily="2" charset="-122"/>
              </a:rPr>
              <a:t>    #20 en=0;</a:t>
            </a:r>
          </a:p>
          <a:p>
            <a:pPr lvl="1" indent="0">
              <a:buNone/>
            </a:pPr>
            <a:r>
              <a:rPr lang="en-US" altLang="zh-CN" sz="1800" dirty="0">
                <a:latin typeface="Tahoma" panose="020B0604030504040204" pitchFamily="34" charset="0"/>
                <a:ea typeface="宋体" panose="02010600030101010101" pitchFamily="2" charset="-122"/>
              </a:rPr>
              <a:t>    #20 load=0; //</a:t>
            </a:r>
            <a:r>
              <a:rPr lang="zh-CN" altLang="en-US" sz="1800" dirty="0">
                <a:latin typeface="Tahoma" panose="020B0604030504040204" pitchFamily="34" charset="0"/>
                <a:ea typeface="宋体" panose="02010600030101010101" pitchFamily="2" charset="-122"/>
              </a:rPr>
              <a:t>验证</a:t>
            </a:r>
            <a:r>
              <a:rPr lang="en-US" altLang="zh-CN" sz="1800" dirty="0">
                <a:latin typeface="Tahoma" panose="020B0604030504040204" pitchFamily="34" charset="0"/>
                <a:ea typeface="宋体" panose="02010600030101010101" pitchFamily="2" charset="-122"/>
              </a:rPr>
              <a:t>load</a:t>
            </a:r>
            <a:r>
              <a:rPr lang="zh-CN" altLang="en-US" sz="1800" dirty="0">
                <a:latin typeface="Tahoma" panose="020B0604030504040204" pitchFamily="34" charset="0"/>
                <a:ea typeface="宋体" panose="02010600030101010101" pitchFamily="2" charset="-122"/>
              </a:rPr>
              <a:t>和</a:t>
            </a:r>
            <a:r>
              <a:rPr lang="en-US" altLang="zh-CN" sz="1800" dirty="0">
                <a:latin typeface="Tahoma" panose="020B0604030504040204" pitchFamily="34" charset="0"/>
                <a:ea typeface="宋体" panose="02010600030101010101" pitchFamily="2" charset="-122"/>
              </a:rPr>
              <a:t>en</a:t>
            </a:r>
            <a:r>
              <a:rPr lang="zh-CN" altLang="en-US" sz="1800" dirty="0">
                <a:latin typeface="Tahoma" panose="020B0604030504040204" pitchFamily="34" charset="0"/>
                <a:ea typeface="宋体" panose="02010600030101010101" pitchFamily="2" charset="-122"/>
              </a:rPr>
              <a:t>的优先级</a:t>
            </a:r>
            <a:endParaRPr lang="en-US" altLang="zh-CN" sz="1800" dirty="0">
              <a:latin typeface="Tahoma" panose="020B0604030504040204" pitchFamily="34" charset="0"/>
              <a:ea typeface="宋体" panose="02010600030101010101" pitchFamily="2" charset="-122"/>
            </a:endParaRPr>
          </a:p>
          <a:p>
            <a:pPr lvl="1" indent="0">
              <a:buNone/>
            </a:pPr>
            <a:r>
              <a:rPr lang="en-US" altLang="zh-CN" dirty="0">
                <a:latin typeface="Tahoma" panose="020B0604030504040204" pitchFamily="34" charset="0"/>
                <a:ea typeface="宋体" panose="02010600030101010101" pitchFamily="2" charset="-122"/>
              </a:rPr>
              <a:t> end</a:t>
            </a:r>
          </a:p>
          <a:p>
            <a:pPr lvl="1" indent="0">
              <a:buNone/>
            </a:pPr>
            <a:endParaRPr lang="en-US" altLang="zh-CN" dirty="0">
              <a:latin typeface="Tahoma" panose="020B0604030504040204" pitchFamily="34" charset="0"/>
              <a:ea typeface="宋体" panose="02010600030101010101" pitchFamily="2" charset="-122"/>
            </a:endParaRPr>
          </a:p>
          <a:p>
            <a:pPr lvl="1" indent="0">
              <a:buNone/>
            </a:pPr>
            <a:r>
              <a:rPr lang="en-US" altLang="zh-CN" sz="1800" dirty="0">
                <a:latin typeface="Tahoma" panose="020B0604030504040204" pitchFamily="34" charset="0"/>
                <a:ea typeface="宋体" panose="02010600030101010101" pitchFamily="2" charset="-122"/>
              </a:rPr>
              <a:t>always #(clk_period/2)  clk=~clk;</a:t>
            </a:r>
            <a:endParaRPr lang="en-US" altLang="zh-CN" dirty="0">
              <a:latin typeface="Tahoma" panose="020B0604030504040204" pitchFamily="34" charset="0"/>
              <a:ea typeface="宋体" panose="02010600030101010101" pitchFamily="2" charset="-122"/>
            </a:endParaRPr>
          </a:p>
          <a:p>
            <a:pPr lvl="1" indent="0">
              <a:buNone/>
            </a:pPr>
            <a:endParaRPr lang="en-US" altLang="zh-CN" dirty="0">
              <a:latin typeface="Tahoma" panose="020B0604030504040204" pitchFamily="34" charset="0"/>
              <a:ea typeface="宋体" panose="02010600030101010101" pitchFamily="2" charset="-122"/>
            </a:endParaRPr>
          </a:p>
          <a:p>
            <a:pPr lvl="1" indent="0">
              <a:buNone/>
            </a:pPr>
            <a:r>
              <a:rPr lang="en-US" altLang="zh-CN" dirty="0">
                <a:latin typeface="Tahoma" panose="020B0604030504040204" pitchFamily="34" charset="0"/>
                <a:ea typeface="宋体" panose="02010600030101010101" pitchFamily="2" charset="-122"/>
              </a:rPr>
              <a:t>endmodule</a:t>
            </a:r>
          </a:p>
          <a:p>
            <a:pPr lvl="1" indent="0">
              <a:buNone/>
            </a:pPr>
            <a:r>
              <a:rPr lang="en-US" altLang="zh-CN" dirty="0">
                <a:latin typeface="Tahoma" panose="020B0604030504040204" pitchFamily="34" charset="0"/>
                <a:ea typeface="宋体" panose="02010600030101010101" pitchFamily="2" charset="-122"/>
              </a:rPr>
              <a:t> </a:t>
            </a:r>
            <a:endParaRPr lang="zh-CN" altLang="en-US">
              <a:latin typeface="Tahoma" panose="020B0604030504040204" pitchFamily="34" charset="0"/>
              <a:ea typeface="宋体" panose="02010600030101010101" pitchFamily="2" charset="-122"/>
            </a:endParaRPr>
          </a:p>
        </p:txBody>
      </p:sp>
      <p:cxnSp>
        <p:nvCxnSpPr>
          <p:cNvPr id="156676" name="曲线连接符 4"/>
          <p:cNvCxnSpPr/>
          <p:nvPr/>
        </p:nvCxnSpPr>
        <p:spPr>
          <a:xfrm rot="-5400000">
            <a:off x="2168525" y="3089275"/>
            <a:ext cx="3851275" cy="1835150"/>
          </a:xfrm>
          <a:prstGeom prst="curvedConnector3">
            <a:avLst>
              <a:gd name="adj1" fmla="val 49986"/>
            </a:avLst>
          </a:prstGeom>
          <a:ln w="9525" cap="flat" cmpd="sng">
            <a:solidFill>
              <a:schemeClr val="tx1"/>
            </a:solidFill>
            <a:prstDash val="solid"/>
            <a:round/>
            <a:headEnd type="none" w="med" len="med"/>
            <a:tailEnd type="arrow" w="med" len="med"/>
          </a:ln>
        </p:spPr>
      </p:cxnSp>
      <p:sp>
        <p:nvSpPr>
          <p:cNvPr id="5" name="Rectangle 2">
            <a:extLst>
              <a:ext uri="{FF2B5EF4-FFF2-40B4-BE49-F238E27FC236}">
                <a16:creationId xmlns:a16="http://schemas.microsoft.com/office/drawing/2014/main" id="{A383F9EC-F06D-A243-B9BE-36D54A0EF431}"/>
              </a:ext>
            </a:extLst>
          </p:cNvPr>
          <p:cNvSpPr txBox="1">
            <a:spLocks/>
          </p:cNvSpPr>
          <p:nvPr/>
        </p:nvSpPr>
        <p:spPr>
          <a:xfrm>
            <a:off x="683568" y="188913"/>
            <a:ext cx="8424415" cy="792162"/>
          </a:xfrm>
          <a:prstGeom prst="rect">
            <a:avLst/>
          </a:prstGeom>
          <a:noFill/>
          <a:ln w="9525">
            <a:noFill/>
          </a:ln>
        </p:spPr>
        <p:txBody>
          <a:bodyPr anchor="b" anchorCtr="0"/>
          <a:lstStyle>
            <a:lvl1pPr algn="ctr" rtl="0" eaLnBrk="0" fontAlgn="base" hangingPunct="0">
              <a:spcBef>
                <a:spcPct val="0"/>
              </a:spcBef>
              <a:spcAft>
                <a:spcPct val="0"/>
              </a:spcAft>
              <a:defRPr kumimoji="1" sz="4000" b="1">
                <a:solidFill>
                  <a:schemeClr val="tx2"/>
                </a:solidFill>
                <a:latin typeface="+mj-lt"/>
                <a:ea typeface="+mj-ea"/>
                <a:cs typeface="+mj-cs"/>
              </a:defRPr>
            </a:lvl1pPr>
            <a:lvl2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2pPr>
            <a:lvl3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3pPr>
            <a:lvl4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4pPr>
            <a:lvl5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5pPr>
            <a:lvl6pPr marL="4572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6pPr>
            <a:lvl7pPr marL="9144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7pPr>
            <a:lvl8pPr marL="13716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8pPr>
            <a:lvl9pPr marL="18288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9pPr>
          </a:lstStyle>
          <a:p>
            <a:pPr algn="l"/>
            <a:r>
              <a:rPr lang="en-US" altLang="zh-CN" dirty="0">
                <a:latin typeface="Tahoma" panose="020B0604030504040204" pitchFamily="34" charset="0"/>
                <a:ea typeface="楷体_GB2312" pitchFamily="49" charset="-122"/>
              </a:rPr>
              <a:t>Verilog</a:t>
            </a:r>
            <a:r>
              <a:rPr lang="zh-CN" altLang="en-US" dirty="0">
                <a:latin typeface="Tahoma" panose="020B0604030504040204" pitchFamily="34" charset="0"/>
                <a:ea typeface="楷体_GB2312" pitchFamily="49" charset="-122"/>
              </a:rPr>
              <a:t>仿真文件设计示例</a:t>
            </a:r>
            <a:endParaRPr lang="zh-CN" altLang="en-US" kern="1200" dirty="0">
              <a:latin typeface="Tahoma" panose="020B0604030504040204" pitchFamily="34" charset="0"/>
              <a:ea typeface="楷体_GB2312" pitchFamily="49" charset="-122"/>
              <a:cs typeface="+mn-cs"/>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00113" y="1187450"/>
            <a:ext cx="7843838" cy="4676775"/>
          </a:xfrm>
        </p:spPr>
        <p:txBody>
          <a:bodyPr/>
          <a:lstStyle/>
          <a:p>
            <a:pPr marL="342900" marR="0" indent="-34290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Blip>
                <a:blip r:embed="rId2"/>
              </a:buBlip>
            </a:pPr>
            <a:r>
              <a:rPr kumimoji="1" lang="zh-CN" altLang="en-US" sz="2800" b="0" i="0" u="none" strike="noStrike" kern="0" cap="none" spc="0" normalizeH="0" baseline="0" noProof="1">
                <a:solidFill>
                  <a:srgbClr val="4B51A5"/>
                </a:solidFill>
                <a:latin typeface="+mn-lt"/>
                <a:ea typeface="+mn-ea"/>
                <a:cs typeface="+mn-cs"/>
              </a:rPr>
              <a:t>实例</a:t>
            </a:r>
            <a:r>
              <a:rPr kumimoji="1" lang="en-US" altLang="zh-CN" sz="2800" b="0" i="0" u="none" strike="noStrike" kern="0" cap="none" spc="0" normalizeH="0" baseline="0" noProof="1">
                <a:solidFill>
                  <a:srgbClr val="4B51A5"/>
                </a:solidFill>
                <a:latin typeface="+mn-lt"/>
                <a:ea typeface="+mn-ea"/>
                <a:cs typeface="+mn-cs"/>
                <a:sym typeface="+mn-ea"/>
              </a:rPr>
              <a:t>--</a:t>
            </a:r>
            <a:r>
              <a:rPr kumimoji="1" lang="zh-CN" altLang="en-US" sz="2800" b="0" i="0" u="none" strike="noStrike" kern="0" cap="none" spc="0" normalizeH="0" baseline="0" noProof="1">
                <a:solidFill>
                  <a:srgbClr val="4B51A5"/>
                </a:solidFill>
                <a:latin typeface="+mn-lt"/>
                <a:ea typeface="+mn-ea"/>
                <a:cs typeface="+mn-cs"/>
                <a:sym typeface="+mn-ea"/>
              </a:rPr>
              <a:t>带有复位、置数功能的十进制计数器仿真波形</a:t>
            </a:r>
          </a:p>
          <a:p>
            <a:pPr marL="742950" marR="0" lvl="1" indent="-28575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Char char="n"/>
            </a:pPr>
            <a:r>
              <a:rPr kumimoji="1" lang="en-US" altLang="zh-CN" sz="2000" b="0" i="0" u="none" strike="noStrike" kern="0" cap="none" spc="0" normalizeH="0" baseline="0" noProof="1">
                <a:solidFill>
                  <a:srgbClr val="4B51A5"/>
                </a:solidFill>
                <a:latin typeface="+mn-lt"/>
                <a:ea typeface="+mn-ea"/>
                <a:cs typeface="+mn-ea"/>
                <a:sym typeface="+mn-ea"/>
              </a:rPr>
              <a:t>reset</a:t>
            </a:r>
            <a:r>
              <a:rPr kumimoji="1" lang="zh-CN" altLang="en-US" sz="2000" b="0" i="0" u="none" strike="noStrike" kern="0" cap="none" spc="0" normalizeH="0" baseline="0" noProof="1">
                <a:solidFill>
                  <a:srgbClr val="4B51A5"/>
                </a:solidFill>
                <a:latin typeface="+mn-lt"/>
                <a:ea typeface="+mn-ea"/>
                <a:cs typeface="+mn-ea"/>
                <a:sym typeface="+mn-ea"/>
              </a:rPr>
              <a:t>复位功能；</a:t>
            </a:r>
          </a:p>
          <a:p>
            <a:pPr marL="742950" marR="0" lvl="1" indent="-28575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Char char="n"/>
            </a:pPr>
            <a:r>
              <a:rPr kumimoji="1" lang="en-US" altLang="zh-CN" sz="2000" b="0" i="0" u="none" strike="noStrike" kern="0" cap="none" spc="0" normalizeH="0" baseline="0" noProof="1">
                <a:solidFill>
                  <a:srgbClr val="4B51A5"/>
                </a:solidFill>
                <a:latin typeface="+mn-lt"/>
                <a:ea typeface="+mn-ea"/>
                <a:cs typeface="+mn-ea"/>
                <a:sym typeface="+mn-ea"/>
              </a:rPr>
              <a:t>en</a:t>
            </a:r>
            <a:r>
              <a:rPr kumimoji="1" lang="zh-CN" altLang="en-US" sz="2000" b="0" i="0" u="none" strike="noStrike" kern="0" cap="none" spc="0" normalizeH="0" baseline="0" noProof="1">
                <a:solidFill>
                  <a:srgbClr val="4B51A5"/>
                </a:solidFill>
                <a:latin typeface="+mn-lt"/>
                <a:ea typeface="+mn-ea"/>
                <a:cs typeface="+mn-ea"/>
                <a:sym typeface="+mn-ea"/>
              </a:rPr>
              <a:t>暂停计数功能；</a:t>
            </a:r>
          </a:p>
          <a:p>
            <a:pPr marL="742950" marR="0" lvl="1" indent="-28575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Char char="n"/>
            </a:pPr>
            <a:r>
              <a:rPr kumimoji="1" lang="en-US" altLang="zh-CN" sz="2000" b="0" i="0" u="none" strike="noStrike" kern="0" cap="none" spc="0" normalizeH="0" baseline="0" noProof="1">
                <a:solidFill>
                  <a:srgbClr val="4B51A5"/>
                </a:solidFill>
                <a:latin typeface="+mn-lt"/>
                <a:ea typeface="+mn-ea"/>
                <a:cs typeface="+mn-ea"/>
                <a:sym typeface="+mn-ea"/>
              </a:rPr>
              <a:t>load</a:t>
            </a:r>
            <a:r>
              <a:rPr kumimoji="1" lang="zh-CN" altLang="en-US" sz="2000" b="0" i="0" u="none" strike="noStrike" kern="0" cap="none" spc="0" normalizeH="0" baseline="0" noProof="1">
                <a:solidFill>
                  <a:srgbClr val="4B51A5"/>
                </a:solidFill>
                <a:latin typeface="+mn-lt"/>
                <a:ea typeface="+mn-ea"/>
                <a:cs typeface="+mn-ea"/>
                <a:sym typeface="+mn-ea"/>
              </a:rPr>
              <a:t>置数功能；</a:t>
            </a:r>
          </a:p>
          <a:p>
            <a:pPr marL="742950" marR="0" lvl="1" indent="-28575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Char char="n"/>
            </a:pPr>
            <a:r>
              <a:rPr kumimoji="1" lang="en-US" altLang="zh-CN" sz="2000" b="0" i="0" u="none" strike="noStrike" kern="0" cap="none" spc="0" normalizeH="0" baseline="0" noProof="1">
                <a:solidFill>
                  <a:srgbClr val="4B51A5"/>
                </a:solidFill>
                <a:latin typeface="+mn-lt"/>
                <a:ea typeface="+mn-ea"/>
                <a:cs typeface="+mn-ea"/>
                <a:sym typeface="+mn-ea"/>
              </a:rPr>
              <a:t>load</a:t>
            </a:r>
            <a:r>
              <a:rPr kumimoji="1" lang="zh-CN" altLang="en-US" sz="2000" b="0" i="0" u="none" strike="noStrike" kern="0" cap="none" spc="0" normalizeH="0" baseline="0" noProof="1">
                <a:solidFill>
                  <a:srgbClr val="4B51A5"/>
                </a:solidFill>
                <a:latin typeface="+mn-lt"/>
                <a:ea typeface="+mn-ea"/>
                <a:cs typeface="+mn-ea"/>
                <a:sym typeface="+mn-ea"/>
              </a:rPr>
              <a:t>、</a:t>
            </a:r>
            <a:r>
              <a:rPr kumimoji="1" lang="en-US" altLang="zh-CN" sz="2000" b="0" i="0" u="none" strike="noStrike" kern="0" cap="none" spc="0" normalizeH="0" baseline="0" noProof="1">
                <a:solidFill>
                  <a:srgbClr val="4B51A5"/>
                </a:solidFill>
                <a:latin typeface="+mn-lt"/>
                <a:ea typeface="+mn-ea"/>
                <a:cs typeface="+mn-ea"/>
                <a:sym typeface="+mn-ea"/>
              </a:rPr>
              <a:t>en</a:t>
            </a:r>
            <a:r>
              <a:rPr kumimoji="1" lang="zh-CN" altLang="en-US" sz="2000" b="0" i="0" u="none" strike="noStrike" kern="0" cap="none" spc="0" normalizeH="0" baseline="0" noProof="1">
                <a:solidFill>
                  <a:srgbClr val="4B51A5"/>
                </a:solidFill>
                <a:latin typeface="+mn-lt"/>
                <a:ea typeface="+mn-ea"/>
                <a:cs typeface="+mn-ea"/>
                <a:sym typeface="+mn-ea"/>
              </a:rPr>
              <a:t>优先级；</a:t>
            </a:r>
          </a:p>
          <a:p>
            <a:pPr marL="742950" marR="0" lvl="1" indent="-285750" algn="l" defTabSz="914400" rtl="0" eaLnBrk="0" fontAlgn="base" latinLnBrk="0" hangingPunct="0">
              <a:lnSpc>
                <a:spcPct val="100000"/>
              </a:lnSpc>
              <a:spcBef>
                <a:spcPct val="20000"/>
              </a:spcBef>
              <a:spcAft>
                <a:spcPct val="0"/>
              </a:spcAft>
              <a:buClr>
                <a:schemeClr val="tx1"/>
              </a:buClr>
              <a:buSzPct val="60000"/>
              <a:buFont typeface="Wingdings" panose="05000000000000000000" pitchFamily="2" charset="2"/>
              <a:buChar char="n"/>
            </a:pPr>
            <a:endParaRPr kumimoji="1" lang="zh-CN" altLang="en-US" sz="2485" b="0" i="0" u="none" strike="noStrike" kern="0" cap="none" spc="0" normalizeH="0" baseline="0" noProof="1">
              <a:solidFill>
                <a:srgbClr val="4B51A5"/>
              </a:solidFill>
              <a:latin typeface="+mn-lt"/>
              <a:ea typeface="+mn-ea"/>
              <a:cs typeface="+mn-ea"/>
              <a:sym typeface="+mn-ea"/>
            </a:endParaRPr>
          </a:p>
          <a:p>
            <a:pPr marL="0" marR="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pPr>
            <a:endParaRPr kumimoji="1" lang="zh-CN" altLang="en-US" sz="2800" b="0" i="0" u="none" strike="noStrike" kern="0" cap="none" spc="0" normalizeH="0" baseline="0" noProof="1">
              <a:solidFill>
                <a:srgbClr val="4B51A5"/>
              </a:solidFill>
              <a:latin typeface="+mn-lt"/>
              <a:ea typeface="+mn-ea"/>
              <a:cs typeface="+mn-cs"/>
            </a:endParaRPr>
          </a:p>
        </p:txBody>
      </p:sp>
      <p:pic>
        <p:nvPicPr>
          <p:cNvPr id="157699" name="图片 7"/>
          <p:cNvPicPr>
            <a:picLocks noChangeAspect="1"/>
          </p:cNvPicPr>
          <p:nvPr/>
        </p:nvPicPr>
        <p:blipFill>
          <a:blip r:embed="rId3"/>
          <a:stretch>
            <a:fillRect/>
          </a:stretch>
        </p:blipFill>
        <p:spPr>
          <a:xfrm>
            <a:off x="1200150" y="3671888"/>
            <a:ext cx="7077075" cy="2524125"/>
          </a:xfrm>
          <a:prstGeom prst="rect">
            <a:avLst/>
          </a:prstGeom>
          <a:noFill/>
          <a:ln w="9525">
            <a:noFill/>
          </a:ln>
        </p:spPr>
      </p:pic>
      <p:sp>
        <p:nvSpPr>
          <p:cNvPr id="5" name="Rectangle 2">
            <a:extLst>
              <a:ext uri="{FF2B5EF4-FFF2-40B4-BE49-F238E27FC236}">
                <a16:creationId xmlns:a16="http://schemas.microsoft.com/office/drawing/2014/main" id="{D8051709-4433-0778-4F2B-6CF59C93F333}"/>
              </a:ext>
            </a:extLst>
          </p:cNvPr>
          <p:cNvSpPr txBox="1">
            <a:spLocks/>
          </p:cNvSpPr>
          <p:nvPr/>
        </p:nvSpPr>
        <p:spPr>
          <a:xfrm>
            <a:off x="683568" y="188913"/>
            <a:ext cx="8424415" cy="792162"/>
          </a:xfrm>
          <a:prstGeom prst="rect">
            <a:avLst/>
          </a:prstGeom>
          <a:noFill/>
          <a:ln w="9525">
            <a:noFill/>
          </a:ln>
        </p:spPr>
        <p:txBody>
          <a:bodyPr anchor="b" anchorCtr="0"/>
          <a:lstStyle>
            <a:lvl1pPr algn="ctr" rtl="0" eaLnBrk="0" fontAlgn="base" hangingPunct="0">
              <a:spcBef>
                <a:spcPct val="0"/>
              </a:spcBef>
              <a:spcAft>
                <a:spcPct val="0"/>
              </a:spcAft>
              <a:defRPr kumimoji="1" sz="4000" b="1">
                <a:solidFill>
                  <a:schemeClr val="tx2"/>
                </a:solidFill>
                <a:latin typeface="+mj-lt"/>
                <a:ea typeface="+mj-ea"/>
                <a:cs typeface="+mj-cs"/>
              </a:defRPr>
            </a:lvl1pPr>
            <a:lvl2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2pPr>
            <a:lvl3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3pPr>
            <a:lvl4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4pPr>
            <a:lvl5pPr algn="ctr" rtl="0" eaLnBrk="0" fontAlgn="base" hangingPunct="0">
              <a:spcBef>
                <a:spcPct val="0"/>
              </a:spcBef>
              <a:spcAft>
                <a:spcPct val="0"/>
              </a:spcAft>
              <a:defRPr kumimoji="1" sz="4000" b="1">
                <a:solidFill>
                  <a:schemeClr val="tx2"/>
                </a:solidFill>
                <a:latin typeface="Tahoma" panose="020B0604030504040204" pitchFamily="34" charset="0"/>
                <a:ea typeface="楷体_GB2312" pitchFamily="49" charset="-122"/>
              </a:defRPr>
            </a:lvl5pPr>
            <a:lvl6pPr marL="4572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6pPr>
            <a:lvl7pPr marL="9144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7pPr>
            <a:lvl8pPr marL="13716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8pPr>
            <a:lvl9pPr marL="1828800" algn="ctr" rtl="0" fontAlgn="base">
              <a:spcBef>
                <a:spcPct val="0"/>
              </a:spcBef>
              <a:spcAft>
                <a:spcPct val="0"/>
              </a:spcAft>
              <a:defRPr kumimoji="1" sz="4000" b="1">
                <a:solidFill>
                  <a:schemeClr val="tx2"/>
                </a:solidFill>
                <a:latin typeface="Tahoma" panose="020B0604030504040204" pitchFamily="34" charset="0"/>
                <a:ea typeface="楷体_GB2312" pitchFamily="49" charset="-122"/>
              </a:defRPr>
            </a:lvl9pPr>
          </a:lstStyle>
          <a:p>
            <a:pPr algn="l"/>
            <a:r>
              <a:rPr lang="en-US" altLang="zh-CN" dirty="0">
                <a:latin typeface="Tahoma" panose="020B0604030504040204" pitchFamily="34" charset="0"/>
                <a:ea typeface="楷体_GB2312" pitchFamily="49" charset="-122"/>
              </a:rPr>
              <a:t>Verilog</a:t>
            </a:r>
            <a:r>
              <a:rPr lang="zh-CN" altLang="en-US" dirty="0">
                <a:latin typeface="Tahoma" panose="020B0604030504040204" pitchFamily="34" charset="0"/>
                <a:ea typeface="楷体_GB2312" pitchFamily="49" charset="-122"/>
              </a:rPr>
              <a:t>仿真文件设计示例</a:t>
            </a:r>
            <a:endParaRPr lang="zh-CN" altLang="en-US" kern="1200" dirty="0">
              <a:latin typeface="Tahoma" panose="020B0604030504040204" pitchFamily="34" charset="0"/>
              <a:ea typeface="楷体_GB2312" pitchFamily="49" charset="-122"/>
              <a:cs typeface="+mn-cs"/>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899C-E13B-8CE6-B283-F1B6A14656FE}"/>
            </a:ext>
          </a:extLst>
        </p:cNvPr>
        <p:cNvGrpSpPr/>
        <p:nvPr/>
      </p:nvGrpSpPr>
      <p:grpSpPr>
        <a:xfrm>
          <a:off x="0" y="0"/>
          <a:ext cx="0" cy="0"/>
          <a:chOff x="0" y="0"/>
          <a:chExt cx="0" cy="0"/>
        </a:xfrm>
      </p:grpSpPr>
      <p:sp>
        <p:nvSpPr>
          <p:cNvPr id="6145" name="Rectangle 2">
            <a:extLst>
              <a:ext uri="{FF2B5EF4-FFF2-40B4-BE49-F238E27FC236}">
                <a16:creationId xmlns:a16="http://schemas.microsoft.com/office/drawing/2014/main" id="{CAA59CEB-A6B7-1559-24EF-BAD6B19E4CB6}"/>
              </a:ext>
            </a:extLst>
          </p:cNvPr>
          <p:cNvSpPr>
            <a:spLocks noGrp="1"/>
          </p:cNvSpPr>
          <p:nvPr>
            <p:ph type="title"/>
          </p:nvPr>
        </p:nvSpPr>
        <p:spPr>
          <a:xfrm>
            <a:off x="900113" y="188913"/>
            <a:ext cx="4319959" cy="792162"/>
          </a:xfrm>
        </p:spPr>
        <p:txBody>
          <a:bodyPr vert="horz" wrap="square" lIns="91440" tIns="45720" rIns="91440" bIns="45720" anchor="b" anchorCtr="0"/>
          <a:lstStyle/>
          <a:p>
            <a:pPr algn="l" eaLnBrk="1" hangingPunct="1"/>
            <a:r>
              <a:rPr lang="zh-CN" altLang="en-US" dirty="0"/>
              <a:t>课程主要内容</a:t>
            </a:r>
          </a:p>
        </p:txBody>
      </p:sp>
      <p:sp>
        <p:nvSpPr>
          <p:cNvPr id="6146" name="Rectangle 3" descr="Rectangle: Click to edit Master text styles&#10;Second level&#10;Third level&#10;Fourth level&#10;Fifth level">
            <a:extLst>
              <a:ext uri="{FF2B5EF4-FFF2-40B4-BE49-F238E27FC236}">
                <a16:creationId xmlns:a16="http://schemas.microsoft.com/office/drawing/2014/main" id="{EC32F003-F22B-0E9A-74E0-677F004BA95C}"/>
              </a:ext>
            </a:extLst>
          </p:cNvPr>
          <p:cNvSpPr>
            <a:spLocks noGrp="1"/>
          </p:cNvSpPr>
          <p:nvPr>
            <p:ph idx="1"/>
          </p:nvPr>
        </p:nvSpPr>
        <p:spPr>
          <a:xfrm>
            <a:off x="900113" y="1412527"/>
            <a:ext cx="8064500" cy="4176713"/>
          </a:xfrm>
        </p:spPr>
        <p:txBody>
          <a:bodyPr vert="horz" wrap="square" lIns="91440" tIns="45720" rIns="91440" bIns="45720" anchor="t" anchorCtr="0"/>
          <a:lstStyle/>
          <a:p>
            <a:pPr eaLnBrk="1" hangingPunct="1">
              <a:spcBef>
                <a:spcPts val="1200"/>
              </a:spcBef>
              <a:spcAft>
                <a:spcPts val="1200"/>
              </a:spcAft>
            </a:pPr>
            <a:r>
              <a:rPr lang="zh-CN" altLang="en-US" dirty="0">
                <a:solidFill>
                  <a:schemeClr val="bg2"/>
                </a:solidFill>
              </a:rPr>
              <a:t>数字系统设计基础知识简介</a:t>
            </a:r>
          </a:p>
          <a:p>
            <a:pPr eaLnBrk="1" hangingPunct="1">
              <a:spcBef>
                <a:spcPts val="1200"/>
              </a:spcBef>
              <a:spcAft>
                <a:spcPts val="1200"/>
              </a:spcAft>
            </a:pPr>
            <a:r>
              <a:rPr lang="zh-CN" altLang="en-US" dirty="0">
                <a:solidFill>
                  <a:schemeClr val="bg2"/>
                </a:solidFill>
              </a:rPr>
              <a:t>熟练掌握</a:t>
            </a:r>
            <a:r>
              <a:rPr lang="en-US" altLang="zh-CN" dirty="0">
                <a:solidFill>
                  <a:schemeClr val="bg2"/>
                </a:solidFill>
              </a:rPr>
              <a:t>Verilog</a:t>
            </a:r>
            <a:r>
              <a:rPr lang="zh-CN" altLang="en-US" dirty="0">
                <a:solidFill>
                  <a:schemeClr val="bg2"/>
                </a:solidFill>
              </a:rPr>
              <a:t>的基本语法和使用</a:t>
            </a:r>
          </a:p>
          <a:p>
            <a:pPr eaLnBrk="1" hangingPunct="1">
              <a:spcBef>
                <a:spcPts val="1200"/>
              </a:spcBef>
              <a:spcAft>
                <a:spcPts val="1200"/>
              </a:spcAft>
            </a:pPr>
            <a:r>
              <a:rPr lang="zh-CN" altLang="en-US" dirty="0">
                <a:solidFill>
                  <a:srgbClr val="C00000"/>
                </a:solidFill>
              </a:rPr>
              <a:t>熟练使用</a:t>
            </a:r>
            <a:r>
              <a:rPr lang="en-US" altLang="zh-CN" dirty="0">
                <a:solidFill>
                  <a:srgbClr val="C00000"/>
                </a:solidFill>
              </a:rPr>
              <a:t>vivado</a:t>
            </a:r>
            <a:r>
              <a:rPr lang="zh-CN" altLang="en-US" dirty="0">
                <a:solidFill>
                  <a:srgbClr val="C00000"/>
                </a:solidFill>
                <a:latin typeface="楷体_GB2312" pitchFamily="49" charset="-122"/>
              </a:rPr>
              <a:t>软件</a:t>
            </a:r>
          </a:p>
          <a:p>
            <a:pPr eaLnBrk="1" hangingPunct="1">
              <a:spcBef>
                <a:spcPts val="1200"/>
              </a:spcBef>
              <a:spcAft>
                <a:spcPts val="1200"/>
              </a:spcAft>
            </a:pPr>
            <a:r>
              <a:rPr lang="zh-CN" altLang="en-US" dirty="0"/>
              <a:t>在</a:t>
            </a:r>
            <a:r>
              <a:rPr lang="en-US" altLang="zh-CN" dirty="0"/>
              <a:t>vivado</a:t>
            </a:r>
            <a:r>
              <a:rPr lang="zh-CN" altLang="en-US" dirty="0">
                <a:latin typeface="楷体_GB2312" pitchFamily="49" charset="-122"/>
              </a:rPr>
              <a:t>软件环境下使用</a:t>
            </a:r>
            <a:r>
              <a:rPr lang="en-US" altLang="zh-CN" dirty="0"/>
              <a:t>verilog</a:t>
            </a:r>
            <a:r>
              <a:rPr lang="zh-CN" altLang="en-US" dirty="0"/>
              <a:t>设计一个数字系统并通过下载到目标实验板验证其功能</a:t>
            </a:r>
            <a:endParaRPr lang="zh-CN" altLang="en-US" dirty="0">
              <a:latin typeface="楷体_GB2312" pitchFamily="49" charset="-122"/>
            </a:endParaRPr>
          </a:p>
          <a:p>
            <a:pPr eaLnBrk="1" hangingPunct="1"/>
            <a:endParaRPr lang="zh-CN" altLang="en-US" dirty="0">
              <a:latin typeface="楷体_GB2312" pitchFamily="49" charset="-122"/>
            </a:endParaRPr>
          </a:p>
          <a:p>
            <a:pPr eaLnBrk="1" hangingPunct="1"/>
            <a:endParaRPr lang="en-US" altLang="zh-CN" dirty="0">
              <a:latin typeface="楷体_GB2312" pitchFamily="49" charset="-122"/>
            </a:endParaRPr>
          </a:p>
        </p:txBody>
      </p:sp>
    </p:spTree>
    <p:extLst>
      <p:ext uri="{BB962C8B-B14F-4D97-AF65-F5344CB8AC3E}">
        <p14:creationId xmlns:p14="http://schemas.microsoft.com/office/powerpoint/2010/main" val="126128917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82B62-1A5F-6ED6-AEAE-E14BFD450EE3}"/>
            </a:ext>
          </a:extLst>
        </p:cNvPr>
        <p:cNvGrpSpPr/>
        <p:nvPr/>
      </p:nvGrpSpPr>
      <p:grpSpPr>
        <a:xfrm>
          <a:off x="0" y="0"/>
          <a:ext cx="0" cy="0"/>
          <a:chOff x="0" y="0"/>
          <a:chExt cx="0" cy="0"/>
        </a:xfrm>
      </p:grpSpPr>
      <p:sp>
        <p:nvSpPr>
          <p:cNvPr id="6145" name="Rectangle 2">
            <a:extLst>
              <a:ext uri="{FF2B5EF4-FFF2-40B4-BE49-F238E27FC236}">
                <a16:creationId xmlns:a16="http://schemas.microsoft.com/office/drawing/2014/main" id="{1293EE28-B144-B487-AAF4-AB2996B0AAE1}"/>
              </a:ext>
            </a:extLst>
          </p:cNvPr>
          <p:cNvSpPr>
            <a:spLocks noGrp="1"/>
          </p:cNvSpPr>
          <p:nvPr>
            <p:ph type="title"/>
          </p:nvPr>
        </p:nvSpPr>
        <p:spPr>
          <a:xfrm>
            <a:off x="900113" y="188913"/>
            <a:ext cx="4319959" cy="792162"/>
          </a:xfrm>
        </p:spPr>
        <p:txBody>
          <a:bodyPr vert="horz" wrap="square" lIns="91440" tIns="45720" rIns="91440" bIns="45720" anchor="b" anchorCtr="0"/>
          <a:lstStyle/>
          <a:p>
            <a:pPr algn="l" eaLnBrk="1" hangingPunct="1"/>
            <a:r>
              <a:rPr lang="zh-CN" altLang="en-US" dirty="0"/>
              <a:t>课程主要内容</a:t>
            </a:r>
          </a:p>
        </p:txBody>
      </p:sp>
      <p:sp>
        <p:nvSpPr>
          <p:cNvPr id="6146" name="Rectangle 3" descr="Rectangle: Click to edit Master text styles&#10;Second level&#10;Third level&#10;Fourth level&#10;Fifth level">
            <a:extLst>
              <a:ext uri="{FF2B5EF4-FFF2-40B4-BE49-F238E27FC236}">
                <a16:creationId xmlns:a16="http://schemas.microsoft.com/office/drawing/2014/main" id="{4F998D41-6D0D-8E64-EA0A-2EB32236D637}"/>
              </a:ext>
            </a:extLst>
          </p:cNvPr>
          <p:cNvSpPr>
            <a:spLocks noGrp="1"/>
          </p:cNvSpPr>
          <p:nvPr>
            <p:ph idx="1"/>
          </p:nvPr>
        </p:nvSpPr>
        <p:spPr>
          <a:xfrm>
            <a:off x="900113" y="1412527"/>
            <a:ext cx="8064500" cy="4176713"/>
          </a:xfrm>
        </p:spPr>
        <p:txBody>
          <a:bodyPr vert="horz" wrap="square" lIns="91440" tIns="45720" rIns="91440" bIns="45720" anchor="t" anchorCtr="0"/>
          <a:lstStyle/>
          <a:p>
            <a:pPr eaLnBrk="1" hangingPunct="1">
              <a:spcBef>
                <a:spcPts val="1200"/>
              </a:spcBef>
              <a:spcAft>
                <a:spcPts val="1200"/>
              </a:spcAft>
            </a:pPr>
            <a:r>
              <a:rPr lang="zh-CN" altLang="en-US" dirty="0">
                <a:solidFill>
                  <a:schemeClr val="bg2"/>
                </a:solidFill>
              </a:rPr>
              <a:t>数字系统设计基础知识简介</a:t>
            </a:r>
          </a:p>
          <a:p>
            <a:pPr eaLnBrk="1" hangingPunct="1">
              <a:spcBef>
                <a:spcPts val="1200"/>
              </a:spcBef>
              <a:spcAft>
                <a:spcPts val="1200"/>
              </a:spcAft>
            </a:pPr>
            <a:r>
              <a:rPr lang="zh-CN" altLang="en-US" dirty="0">
                <a:solidFill>
                  <a:schemeClr val="bg2"/>
                </a:solidFill>
              </a:rPr>
              <a:t>熟练掌握</a:t>
            </a:r>
            <a:r>
              <a:rPr lang="en-US" altLang="zh-CN" dirty="0">
                <a:solidFill>
                  <a:schemeClr val="bg2"/>
                </a:solidFill>
              </a:rPr>
              <a:t>Verilog</a:t>
            </a:r>
            <a:r>
              <a:rPr lang="zh-CN" altLang="en-US" dirty="0">
                <a:solidFill>
                  <a:schemeClr val="bg2"/>
                </a:solidFill>
              </a:rPr>
              <a:t>的基本语法和使用</a:t>
            </a:r>
          </a:p>
          <a:p>
            <a:pPr eaLnBrk="1" hangingPunct="1">
              <a:spcBef>
                <a:spcPts val="1200"/>
              </a:spcBef>
              <a:spcAft>
                <a:spcPts val="1200"/>
              </a:spcAft>
            </a:pPr>
            <a:r>
              <a:rPr lang="zh-CN" altLang="en-US" dirty="0">
                <a:solidFill>
                  <a:schemeClr val="bg2"/>
                </a:solidFill>
              </a:rPr>
              <a:t>熟练使用</a:t>
            </a:r>
            <a:r>
              <a:rPr lang="en-US" altLang="zh-CN" dirty="0">
                <a:solidFill>
                  <a:schemeClr val="bg2"/>
                </a:solidFill>
              </a:rPr>
              <a:t>vivado</a:t>
            </a:r>
            <a:r>
              <a:rPr lang="zh-CN" altLang="en-US" dirty="0">
                <a:solidFill>
                  <a:schemeClr val="bg2"/>
                </a:solidFill>
              </a:rPr>
              <a:t>软件</a:t>
            </a:r>
          </a:p>
          <a:p>
            <a:pPr eaLnBrk="1" hangingPunct="1">
              <a:spcBef>
                <a:spcPts val="1200"/>
              </a:spcBef>
              <a:spcAft>
                <a:spcPts val="1200"/>
              </a:spcAft>
            </a:pPr>
            <a:r>
              <a:rPr lang="zh-CN" altLang="en-US" dirty="0">
                <a:solidFill>
                  <a:srgbClr val="C00000"/>
                </a:solidFill>
              </a:rPr>
              <a:t>在</a:t>
            </a:r>
            <a:r>
              <a:rPr lang="en-US" altLang="zh-CN" dirty="0">
                <a:solidFill>
                  <a:srgbClr val="C00000"/>
                </a:solidFill>
              </a:rPr>
              <a:t>vivado</a:t>
            </a:r>
            <a:r>
              <a:rPr lang="zh-CN" altLang="en-US" dirty="0">
                <a:solidFill>
                  <a:srgbClr val="C00000"/>
                </a:solidFill>
                <a:latin typeface="楷体_GB2312" pitchFamily="49" charset="-122"/>
              </a:rPr>
              <a:t>软件环境下使用</a:t>
            </a:r>
            <a:r>
              <a:rPr lang="en-US" altLang="zh-CN" dirty="0">
                <a:solidFill>
                  <a:srgbClr val="C00000"/>
                </a:solidFill>
              </a:rPr>
              <a:t>verilog</a:t>
            </a:r>
            <a:r>
              <a:rPr lang="zh-CN" altLang="en-US" dirty="0">
                <a:solidFill>
                  <a:srgbClr val="C00000"/>
                </a:solidFill>
              </a:rPr>
              <a:t>设计一个数字系统并通过下载到目标实验板验证其功能</a:t>
            </a:r>
            <a:endParaRPr lang="zh-CN" altLang="en-US" dirty="0">
              <a:solidFill>
                <a:srgbClr val="C00000"/>
              </a:solidFill>
              <a:latin typeface="楷体_GB2312" pitchFamily="49" charset="-122"/>
            </a:endParaRPr>
          </a:p>
          <a:p>
            <a:pPr eaLnBrk="1" hangingPunct="1"/>
            <a:endParaRPr lang="zh-CN" altLang="en-US" dirty="0">
              <a:latin typeface="楷体_GB2312" pitchFamily="49" charset="-122"/>
            </a:endParaRPr>
          </a:p>
          <a:p>
            <a:pPr eaLnBrk="1" hangingPunct="1"/>
            <a:endParaRPr lang="en-US" altLang="zh-CN" dirty="0">
              <a:latin typeface="楷体_GB2312" pitchFamily="49" charset="-122"/>
            </a:endParaRPr>
          </a:p>
        </p:txBody>
      </p:sp>
    </p:spTree>
    <p:extLst>
      <p:ext uri="{BB962C8B-B14F-4D97-AF65-F5344CB8AC3E}">
        <p14:creationId xmlns:p14="http://schemas.microsoft.com/office/powerpoint/2010/main" val="137284934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9a5a26b3-cf15-4443-863f-e1e6b9a8d362"/>
  <p:tag name="COMMONDATA" val="eyJoZGlkIjoiOThhMDBlNzAyZGRmOTBkODc0ZTRhYjdhMzgwNzA1NjEifQ=="/>
</p:tagLst>
</file>

<file path=ppt/theme/theme1.xml><?xml version="1.0" encoding="utf-8"?>
<a:theme xmlns:a="http://schemas.openxmlformats.org/drawingml/2006/main" name="频率选择性信道中的MIMO V1.0">
  <a:themeElements>
    <a:clrScheme name="频率选择性信道中的MIMO V1.0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频率选择性信道中的MIMO V1.0">
      <a:majorFont>
        <a:latin typeface="Tahoma"/>
        <a:ea typeface="楷体_GB2312"/>
        <a:cs typeface=""/>
      </a:majorFont>
      <a:minorFont>
        <a:latin typeface="Tahoma"/>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频率选择性信道中的MIMO V1.0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频率选择性信道中的MIMO V1.0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频率选择性信道中的MIMO V1.0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频率选择性信道中的MIMO V1.0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频率选择性信道中的MIMO V1.0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频率选择性信道中的MIMO V1.0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频率选择性信道中的MIMO V1.0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频率选择性信道中的MIMO V1.0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spAutoFit/>
      </a:bodyPr>
      <a:lstStyle>
        <a:defPPr>
          <a:defRPr dirty="0"/>
        </a:defPPr>
      </a:lstStyle>
    </a:tx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6663</TotalTime>
  <Words>11463</Words>
  <Application>Microsoft Office PowerPoint</Application>
  <PresentationFormat>全屏显示(4:3)</PresentationFormat>
  <Paragraphs>793</Paragraphs>
  <Slides>89</Slides>
  <Notes>70</Notes>
  <HiddenSlides>0</HiddenSlides>
  <MMClips>0</MMClips>
  <ScaleCrop>false</ScaleCrop>
  <HeadingPairs>
    <vt:vector size="8" baseType="variant">
      <vt:variant>
        <vt:lpstr>已用的字体</vt:lpstr>
      </vt:variant>
      <vt:variant>
        <vt:i4>17</vt:i4>
      </vt:variant>
      <vt:variant>
        <vt:lpstr>主题</vt:lpstr>
      </vt:variant>
      <vt:variant>
        <vt:i4>2</vt:i4>
      </vt:variant>
      <vt:variant>
        <vt:lpstr>嵌入 OLE 服务器</vt:lpstr>
      </vt:variant>
      <vt:variant>
        <vt:i4>1</vt:i4>
      </vt:variant>
      <vt:variant>
        <vt:lpstr>幻灯片标题</vt:lpstr>
      </vt:variant>
      <vt:variant>
        <vt:i4>89</vt:i4>
      </vt:variant>
    </vt:vector>
  </HeadingPairs>
  <TitlesOfParts>
    <vt:vector size="109" baseType="lpstr">
      <vt:lpstr>-apple-system</vt:lpstr>
      <vt:lpstr>Helvetica Neue</vt:lpstr>
      <vt:lpstr>等线</vt:lpstr>
      <vt:lpstr>黑体</vt:lpstr>
      <vt:lpstr>楷体_GB2312</vt:lpstr>
      <vt:lpstr>宋体</vt:lpstr>
      <vt:lpstr>Microsoft YaHei</vt:lpstr>
      <vt:lpstr>Microsoft YaHei</vt:lpstr>
      <vt:lpstr>arial</vt:lpstr>
      <vt:lpstr>arial</vt:lpstr>
      <vt:lpstr>Arial Black</vt:lpstr>
      <vt:lpstr>Book Antiqua</vt:lpstr>
      <vt:lpstr>Calibri</vt:lpstr>
      <vt:lpstr>Courier New</vt:lpstr>
      <vt:lpstr>Tahoma</vt:lpstr>
      <vt:lpstr>Times New Roman</vt:lpstr>
      <vt:lpstr>Wingdings</vt:lpstr>
      <vt:lpstr>频率选择性信道中的MIMO V1.0</vt:lpstr>
      <vt:lpstr>Pixel</vt:lpstr>
      <vt:lpstr>Paintbrush Picture</vt:lpstr>
      <vt:lpstr>PowerPoint 演示文稿</vt:lpstr>
      <vt:lpstr>PowerPoint 演示文稿</vt:lpstr>
      <vt:lpstr>PowerPoint 演示文稿</vt:lpstr>
      <vt:lpstr>PowerPoint 演示文稿</vt:lpstr>
      <vt:lpstr>PowerPoint 演示文稿</vt:lpstr>
      <vt:lpstr>PowerPoint 演示文稿</vt:lpstr>
      <vt:lpstr>课程主要内容</vt:lpstr>
      <vt:lpstr>数字系统设计基础知识</vt:lpstr>
      <vt:lpstr>几个专用名词的介绍</vt:lpstr>
      <vt:lpstr>几个专用名词的介绍</vt:lpstr>
      <vt:lpstr>可编程逻辑器件的发展</vt:lpstr>
      <vt:lpstr>可编程逻辑器件的分类</vt:lpstr>
      <vt:lpstr>几个专用名词的介绍</vt:lpstr>
      <vt:lpstr>几个专用名词的介绍</vt:lpstr>
      <vt:lpstr>CPLD简介-乘积项结构</vt:lpstr>
      <vt:lpstr>乘积项结构CPLD的逻辑实现原理</vt:lpstr>
      <vt:lpstr>乘积项结构CPLD的逻辑实现原理</vt:lpstr>
      <vt:lpstr>CPLD逻辑实现-乘积项</vt:lpstr>
      <vt:lpstr>基于乘积项的CPLD内部结构（MAX7000系列）</vt:lpstr>
      <vt:lpstr>CPLD宏单元结构</vt:lpstr>
      <vt:lpstr>FPGA简介-查找表结构</vt:lpstr>
      <vt:lpstr>查找表的原理</vt:lpstr>
      <vt:lpstr>查找表的原理</vt:lpstr>
      <vt:lpstr>LUT结构FPGA的逻辑实现原理</vt:lpstr>
      <vt:lpstr>PowerPoint 演示文稿</vt:lpstr>
      <vt:lpstr>FPGA逻辑单元（LE）内部结构</vt:lpstr>
      <vt:lpstr>FPGA与CPLD的区别</vt:lpstr>
      <vt:lpstr>常用FPGA产品</vt:lpstr>
      <vt:lpstr>FPGA的应用</vt:lpstr>
      <vt:lpstr>几个专用名词的介绍</vt:lpstr>
      <vt:lpstr>Verilog与VHDL比较</vt:lpstr>
      <vt:lpstr>Verilog与VHDL比较</vt:lpstr>
      <vt:lpstr>数字系统设计基础知识</vt:lpstr>
      <vt:lpstr>数字系统设计的概念</vt:lpstr>
      <vt:lpstr>数字系统设计的概念</vt:lpstr>
      <vt:lpstr>数字系统设计的概念</vt:lpstr>
      <vt:lpstr>数字系统设计流程</vt:lpstr>
      <vt:lpstr>数字系统设计流程</vt:lpstr>
      <vt:lpstr>基于原理图设计</vt:lpstr>
      <vt:lpstr>基于HDL的设计</vt:lpstr>
      <vt:lpstr>数字系统设计流程</vt:lpstr>
      <vt:lpstr>数字系统设计流程</vt:lpstr>
      <vt:lpstr>数字系统设计流程</vt:lpstr>
      <vt:lpstr>数字系统设计基础知识</vt:lpstr>
      <vt:lpstr>数字系统设计中基本的设计方法</vt:lpstr>
      <vt:lpstr>自顶向下(Top-down)</vt:lpstr>
      <vt:lpstr>自顶向下(Top-down)</vt:lpstr>
      <vt:lpstr>数字系统设计中基本的设计方法</vt:lpstr>
      <vt:lpstr>自底向上(Bottom up)</vt:lpstr>
      <vt:lpstr>自底向上(Bottom up)</vt:lpstr>
      <vt:lpstr>两种基本设计方法比较</vt:lpstr>
      <vt:lpstr>两种基本设计方法比较</vt:lpstr>
      <vt:lpstr>两种设计方法共通的设计理念</vt:lpstr>
      <vt:lpstr>课程主要内容</vt:lpstr>
      <vt:lpstr>Verilog HDL语法和使用</vt:lpstr>
      <vt:lpstr>Verilog HDL语言基础</vt:lpstr>
      <vt:lpstr>Verilog HDL语法和使用</vt:lpstr>
      <vt:lpstr>基于Verilog的数字电路功能描述</vt:lpstr>
      <vt:lpstr>Verilog结构化描述方式</vt:lpstr>
      <vt:lpstr>Verilog结构化描述方式</vt:lpstr>
      <vt:lpstr>Verilog结构化描述方式示例</vt:lpstr>
      <vt:lpstr>Verilog结构化描述方式示例</vt:lpstr>
      <vt:lpstr>Verilog结构化描述方式示例</vt:lpstr>
      <vt:lpstr>Verilog结构化描述方式示例</vt:lpstr>
      <vt:lpstr>Verilog结构化描述方式示例</vt:lpstr>
      <vt:lpstr>Verilog结构化描述方式示例</vt:lpstr>
      <vt:lpstr>Verilog结构化描述方式示例</vt:lpstr>
      <vt:lpstr>Verilog数据流描述方式</vt:lpstr>
      <vt:lpstr>Verilog结构化描述方式示例</vt:lpstr>
      <vt:lpstr>PowerPoint 演示文稿</vt:lpstr>
      <vt:lpstr>Verilog行为描述方式</vt:lpstr>
      <vt:lpstr>Verilog行为描述基本设计模型</vt:lpstr>
      <vt:lpstr>PowerPoint 演示文稿</vt:lpstr>
      <vt:lpstr>Verilog HDL语法和使用</vt:lpstr>
      <vt:lpstr>PowerPoint 演示文稿</vt:lpstr>
      <vt:lpstr>PowerPoint 演示文稿</vt:lpstr>
      <vt:lpstr>Verilog模块的测试 – 结构举例</vt:lpstr>
      <vt:lpstr>Verilog模块的测试</vt:lpstr>
      <vt:lpstr>PowerPoint 演示文稿</vt:lpstr>
      <vt:lpstr>Verilog模块的测试 – 激励源产生</vt:lpstr>
      <vt:lpstr>PowerPoint 演示文稿</vt:lpstr>
      <vt:lpstr>Verilog模块的测试 – 复位产生</vt:lpstr>
      <vt:lpstr>Verilog模块的测试 – 结果输出</vt:lpstr>
      <vt:lpstr>PowerPoint 演示文稿</vt:lpstr>
      <vt:lpstr>PowerPoint 演示文稿</vt:lpstr>
      <vt:lpstr>PowerPoint 演示文稿</vt:lpstr>
      <vt:lpstr>PowerPoint 演示文稿</vt:lpstr>
      <vt:lpstr>课程主要内容</vt:lpstr>
      <vt:lpstr>课程主要内容</vt:lpstr>
    </vt:vector>
  </TitlesOfParts>
  <Company>Sklmmw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数字系统课程设计</dc:title>
  <dc:creator>yd</dc:creator>
  <cp:lastModifiedBy>Tianyi Chen</cp:lastModifiedBy>
  <cp:revision>475</cp:revision>
  <dcterms:created xsi:type="dcterms:W3CDTF">2003-05-28T05:09:00Z</dcterms:created>
  <dcterms:modified xsi:type="dcterms:W3CDTF">2026-08-25T03:04:09Z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E01C61C9B0094045B99BD98A9671471C_13</vt:lpwstr>
  </property>
</Properties>
</file>
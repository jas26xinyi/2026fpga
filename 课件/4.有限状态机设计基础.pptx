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0693400" cy="7562850"/>
  <p:notesSz cx="10693400" cy="7562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1312"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8323" y="1229360"/>
            <a:ext cx="2165350" cy="453389"/>
          </a:xfrm>
          <a:prstGeom prst="rect">
            <a:avLst/>
          </a:prstGeom>
        </p:spPr>
        <p:txBody>
          <a:bodyPr wrap="square" lIns="0" tIns="0" rIns="0" bIns="0">
            <a:spAutoFit/>
          </a:bodyPr>
          <a:lstStyle>
            <a:lvl1pPr>
              <a:defRPr sz="2800" b="0" i="0">
                <a:solidFill>
                  <a:schemeClr val="tx1"/>
                </a:solidFill>
                <a:latin typeface="微软雅黑"/>
                <a:cs typeface="微软雅黑"/>
              </a:defRPr>
            </a:lvl1pPr>
          </a:lstStyle>
          <a:p>
            <a:endParaRPr/>
          </a:p>
        </p:txBody>
      </p:sp>
      <p:sp>
        <p:nvSpPr>
          <p:cNvPr id="3" name="Holder 3"/>
          <p:cNvSpPr>
            <a:spLocks noGrp="1"/>
          </p:cNvSpPr>
          <p:nvPr>
            <p:ph type="subTitle" idx="4"/>
          </p:nvPr>
        </p:nvSpPr>
        <p:spPr>
          <a:xfrm>
            <a:off x="1560709" y="4013852"/>
            <a:ext cx="6708140" cy="1470025"/>
          </a:xfrm>
          <a:prstGeom prst="rect">
            <a:avLst/>
          </a:prstGeom>
        </p:spPr>
        <p:txBody>
          <a:bodyPr wrap="square" lIns="0" tIns="0" rIns="0" bIns="0">
            <a:spAutoFit/>
          </a:bodyPr>
          <a:lstStyle>
            <a:lvl1pPr>
              <a:defRPr sz="155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400" b="1" i="0">
                <a:solidFill>
                  <a:srgbClr val="3F3F3F"/>
                </a:solidFill>
                <a:latin typeface="微软雅黑"/>
                <a:cs typeface="微软雅黑"/>
              </a:defRPr>
            </a:lvl1pPr>
          </a:lstStyle>
          <a:p>
            <a:pPr marL="13335">
              <a:lnSpc>
                <a:spcPct val="100000"/>
              </a:lnSpc>
              <a:spcBef>
                <a:spcPts val="185"/>
              </a:spcBef>
            </a:pPr>
            <a:r>
              <a:rPr dirty="0"/>
              <a:t>Xilinx</a:t>
            </a:r>
            <a:r>
              <a:rPr spc="-5" dirty="0"/>
              <a:t> 大学合作部 </a:t>
            </a:r>
            <a:r>
              <a:rPr dirty="0"/>
              <a:t>&amp;</a:t>
            </a:r>
            <a:r>
              <a:rPr spc="-10" dirty="0"/>
              <a:t> 东南大学</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8/27/2026</a:t>
            </a:fld>
            <a:endParaRPr lang="en-US"/>
          </a:p>
        </p:txBody>
      </p:sp>
      <p:sp>
        <p:nvSpPr>
          <p:cNvPr id="6" name="Holder 6"/>
          <p:cNvSpPr>
            <a:spLocks noGrp="1"/>
          </p:cNvSpPr>
          <p:nvPr>
            <p:ph type="sldNum" sz="quarter" idx="7"/>
          </p:nvPr>
        </p:nvSpPr>
        <p:spPr/>
        <p:txBody>
          <a:bodyPr lIns="0" tIns="0" rIns="0" bIns="0"/>
          <a:lstStyle>
            <a:lvl1pPr>
              <a:defRPr sz="700" b="0" i="0">
                <a:solidFill>
                  <a:schemeClr val="tx1"/>
                </a:solidFill>
                <a:latin typeface="Arial"/>
                <a:cs typeface="Arial"/>
              </a:defRPr>
            </a:lvl1pPr>
          </a:lstStyle>
          <a:p>
            <a:pPr marL="38100">
              <a:lnSpc>
                <a:spcPct val="100000"/>
              </a:lnSpc>
              <a:spcBef>
                <a:spcPts val="35"/>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微软雅黑"/>
                <a:cs typeface="微软雅黑"/>
              </a:defRPr>
            </a:lvl1pPr>
          </a:lstStyle>
          <a:p>
            <a:endParaRPr/>
          </a:p>
        </p:txBody>
      </p:sp>
      <p:sp>
        <p:nvSpPr>
          <p:cNvPr id="3" name="Holder 3"/>
          <p:cNvSpPr>
            <a:spLocks noGrp="1"/>
          </p:cNvSpPr>
          <p:nvPr>
            <p:ph type="body" idx="1"/>
          </p:nvPr>
        </p:nvSpPr>
        <p:spPr/>
        <p:txBody>
          <a:bodyPr lIns="0" tIns="0" rIns="0" bIns="0"/>
          <a:lstStyle>
            <a:lvl1pPr>
              <a:defRPr sz="155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400" b="1" i="0">
                <a:solidFill>
                  <a:srgbClr val="3F3F3F"/>
                </a:solidFill>
                <a:latin typeface="微软雅黑"/>
                <a:cs typeface="微软雅黑"/>
              </a:defRPr>
            </a:lvl1pPr>
          </a:lstStyle>
          <a:p>
            <a:pPr marL="13335">
              <a:lnSpc>
                <a:spcPct val="100000"/>
              </a:lnSpc>
              <a:spcBef>
                <a:spcPts val="185"/>
              </a:spcBef>
            </a:pPr>
            <a:r>
              <a:rPr dirty="0"/>
              <a:t>Xilinx</a:t>
            </a:r>
            <a:r>
              <a:rPr spc="-5" dirty="0"/>
              <a:t> 大学合作部 </a:t>
            </a:r>
            <a:r>
              <a:rPr dirty="0"/>
              <a:t>&amp;</a:t>
            </a:r>
            <a:r>
              <a:rPr spc="-10" dirty="0"/>
              <a:t> 东南大学</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8/27/2026</a:t>
            </a:fld>
            <a:endParaRPr lang="en-US"/>
          </a:p>
        </p:txBody>
      </p:sp>
      <p:sp>
        <p:nvSpPr>
          <p:cNvPr id="6" name="Holder 6"/>
          <p:cNvSpPr>
            <a:spLocks noGrp="1"/>
          </p:cNvSpPr>
          <p:nvPr>
            <p:ph type="sldNum" sz="quarter" idx="7"/>
          </p:nvPr>
        </p:nvSpPr>
        <p:spPr/>
        <p:txBody>
          <a:bodyPr lIns="0" tIns="0" rIns="0" bIns="0"/>
          <a:lstStyle>
            <a:lvl1pPr>
              <a:defRPr sz="700" b="0" i="0">
                <a:solidFill>
                  <a:schemeClr val="tx1"/>
                </a:solidFill>
                <a:latin typeface="Arial"/>
                <a:cs typeface="Arial"/>
              </a:defRPr>
            </a:lvl1pPr>
          </a:lstStyle>
          <a:p>
            <a:pPr marL="38100">
              <a:lnSpc>
                <a:spcPct val="100000"/>
              </a:lnSpc>
              <a:spcBef>
                <a:spcPts val="35"/>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微软雅黑"/>
                <a:cs typeface="微软雅黑"/>
              </a:defRPr>
            </a:lvl1pPr>
          </a:lstStyle>
          <a:p>
            <a:endParaRPr/>
          </a:p>
        </p:txBody>
      </p:sp>
      <p:sp>
        <p:nvSpPr>
          <p:cNvPr id="3" name="Holder 3"/>
          <p:cNvSpPr>
            <a:spLocks noGrp="1"/>
          </p:cNvSpPr>
          <p:nvPr>
            <p:ph sz="half" idx="2"/>
          </p:nvPr>
        </p:nvSpPr>
        <p:spPr>
          <a:xfrm>
            <a:off x="500005" y="1766570"/>
            <a:ext cx="2758440" cy="4354195"/>
          </a:xfrm>
          <a:prstGeom prst="rect">
            <a:avLst/>
          </a:prstGeom>
        </p:spPr>
        <p:txBody>
          <a:bodyPr wrap="square" lIns="0" tIns="0" rIns="0" bIns="0">
            <a:spAutoFit/>
          </a:bodyPr>
          <a:lstStyle>
            <a:lvl1pPr>
              <a:defRPr sz="1550" b="1" i="0">
                <a:solidFill>
                  <a:schemeClr val="tx1"/>
                </a:solidFill>
                <a:latin typeface="Arial"/>
                <a:cs typeface="Arial"/>
              </a:defRPr>
            </a:lvl1pPr>
          </a:lstStyle>
          <a:p>
            <a:endParaRPr/>
          </a:p>
        </p:txBody>
      </p:sp>
      <p:sp>
        <p:nvSpPr>
          <p:cNvPr id="4" name="Holder 4"/>
          <p:cNvSpPr>
            <a:spLocks noGrp="1"/>
          </p:cNvSpPr>
          <p:nvPr>
            <p:ph sz="half" idx="3"/>
          </p:nvPr>
        </p:nvSpPr>
        <p:spPr>
          <a:xfrm>
            <a:off x="5398916" y="1921252"/>
            <a:ext cx="2591434" cy="4354195"/>
          </a:xfrm>
          <a:prstGeom prst="rect">
            <a:avLst/>
          </a:prstGeom>
        </p:spPr>
        <p:txBody>
          <a:bodyPr wrap="square" lIns="0" tIns="0" rIns="0" bIns="0">
            <a:spAutoFit/>
          </a:bodyPr>
          <a:lstStyle>
            <a:lvl1pPr>
              <a:defRPr b="0" i="0">
                <a:solidFill>
                  <a:schemeClr val="tx1"/>
                </a:solidFill>
              </a:defRPr>
            </a:lvl1pPr>
          </a:lstStyle>
          <a:p>
            <a:endParaRPr/>
          </a:p>
        </p:txBody>
      </p:sp>
      <p:sp>
        <p:nvSpPr>
          <p:cNvPr id="5" name="Holder 5"/>
          <p:cNvSpPr>
            <a:spLocks noGrp="1"/>
          </p:cNvSpPr>
          <p:nvPr>
            <p:ph type="ftr" sz="quarter" idx="5"/>
          </p:nvPr>
        </p:nvSpPr>
        <p:spPr/>
        <p:txBody>
          <a:bodyPr lIns="0" tIns="0" rIns="0" bIns="0"/>
          <a:lstStyle>
            <a:lvl1pPr>
              <a:defRPr sz="1400" b="1" i="0">
                <a:solidFill>
                  <a:srgbClr val="3F3F3F"/>
                </a:solidFill>
                <a:latin typeface="微软雅黑"/>
                <a:cs typeface="微软雅黑"/>
              </a:defRPr>
            </a:lvl1pPr>
          </a:lstStyle>
          <a:p>
            <a:pPr marL="13335">
              <a:lnSpc>
                <a:spcPct val="100000"/>
              </a:lnSpc>
              <a:spcBef>
                <a:spcPts val="185"/>
              </a:spcBef>
            </a:pPr>
            <a:r>
              <a:rPr dirty="0"/>
              <a:t>Xilinx</a:t>
            </a:r>
            <a:r>
              <a:rPr spc="-5" dirty="0"/>
              <a:t> 大学合作部 </a:t>
            </a:r>
            <a:r>
              <a:rPr dirty="0"/>
              <a:t>&amp;</a:t>
            </a:r>
            <a:r>
              <a:rPr spc="-10" dirty="0"/>
              <a:t> 东南大学</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8/27/2026</a:t>
            </a:fld>
            <a:endParaRPr lang="en-US"/>
          </a:p>
        </p:txBody>
      </p:sp>
      <p:sp>
        <p:nvSpPr>
          <p:cNvPr id="7" name="Holder 7"/>
          <p:cNvSpPr>
            <a:spLocks noGrp="1"/>
          </p:cNvSpPr>
          <p:nvPr>
            <p:ph type="sldNum" sz="quarter" idx="7"/>
          </p:nvPr>
        </p:nvSpPr>
        <p:spPr/>
        <p:txBody>
          <a:bodyPr lIns="0" tIns="0" rIns="0" bIns="0"/>
          <a:lstStyle>
            <a:lvl1pPr>
              <a:defRPr sz="700" b="0" i="0">
                <a:solidFill>
                  <a:schemeClr val="tx1"/>
                </a:solidFill>
                <a:latin typeface="Arial"/>
                <a:cs typeface="Arial"/>
              </a:defRPr>
            </a:lvl1pPr>
          </a:lstStyle>
          <a:p>
            <a:pPr marL="38100">
              <a:lnSpc>
                <a:spcPct val="100000"/>
              </a:lnSpc>
              <a:spcBef>
                <a:spcPts val="35"/>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微软雅黑"/>
                <a:cs typeface="微软雅黑"/>
              </a:defRPr>
            </a:lvl1pPr>
          </a:lstStyle>
          <a:p>
            <a:endParaRPr/>
          </a:p>
        </p:txBody>
      </p:sp>
      <p:sp>
        <p:nvSpPr>
          <p:cNvPr id="3" name="Holder 3"/>
          <p:cNvSpPr>
            <a:spLocks noGrp="1"/>
          </p:cNvSpPr>
          <p:nvPr>
            <p:ph type="ftr" sz="quarter" idx="5"/>
          </p:nvPr>
        </p:nvSpPr>
        <p:spPr/>
        <p:txBody>
          <a:bodyPr lIns="0" tIns="0" rIns="0" bIns="0"/>
          <a:lstStyle>
            <a:lvl1pPr>
              <a:defRPr sz="1400" b="1" i="0">
                <a:solidFill>
                  <a:srgbClr val="3F3F3F"/>
                </a:solidFill>
                <a:latin typeface="微软雅黑"/>
                <a:cs typeface="微软雅黑"/>
              </a:defRPr>
            </a:lvl1pPr>
          </a:lstStyle>
          <a:p>
            <a:pPr marL="13335">
              <a:lnSpc>
                <a:spcPct val="100000"/>
              </a:lnSpc>
              <a:spcBef>
                <a:spcPts val="185"/>
              </a:spcBef>
            </a:pPr>
            <a:r>
              <a:rPr dirty="0"/>
              <a:t>Xilinx</a:t>
            </a:r>
            <a:r>
              <a:rPr spc="-5" dirty="0"/>
              <a:t> 大学合作部 </a:t>
            </a:r>
            <a:r>
              <a:rPr dirty="0"/>
              <a:t>&amp;</a:t>
            </a:r>
            <a:r>
              <a:rPr spc="-10" dirty="0"/>
              <a:t> 东南大学</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8/27/2026</a:t>
            </a:fld>
            <a:endParaRPr lang="en-US"/>
          </a:p>
        </p:txBody>
      </p:sp>
      <p:sp>
        <p:nvSpPr>
          <p:cNvPr id="5" name="Holder 5"/>
          <p:cNvSpPr>
            <a:spLocks noGrp="1"/>
          </p:cNvSpPr>
          <p:nvPr>
            <p:ph type="sldNum" sz="quarter" idx="7"/>
          </p:nvPr>
        </p:nvSpPr>
        <p:spPr/>
        <p:txBody>
          <a:bodyPr lIns="0" tIns="0" rIns="0" bIns="0"/>
          <a:lstStyle>
            <a:lvl1pPr>
              <a:defRPr sz="700" b="0" i="0">
                <a:solidFill>
                  <a:schemeClr val="tx1"/>
                </a:solidFill>
                <a:latin typeface="Arial"/>
                <a:cs typeface="Arial"/>
              </a:defRPr>
            </a:lvl1pPr>
          </a:lstStyle>
          <a:p>
            <a:pPr marL="38100">
              <a:lnSpc>
                <a:spcPct val="100000"/>
              </a:lnSpc>
              <a:spcBef>
                <a:spcPts val="35"/>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1" i="0">
                <a:solidFill>
                  <a:srgbClr val="3F3F3F"/>
                </a:solidFill>
                <a:latin typeface="微软雅黑"/>
                <a:cs typeface="微软雅黑"/>
              </a:defRPr>
            </a:lvl1pPr>
          </a:lstStyle>
          <a:p>
            <a:pPr marL="13335">
              <a:lnSpc>
                <a:spcPct val="100000"/>
              </a:lnSpc>
              <a:spcBef>
                <a:spcPts val="185"/>
              </a:spcBef>
            </a:pPr>
            <a:r>
              <a:rPr dirty="0"/>
              <a:t>Xilinx</a:t>
            </a:r>
            <a:r>
              <a:rPr spc="-5" dirty="0"/>
              <a:t> 大学合作部 </a:t>
            </a:r>
            <a:r>
              <a:rPr dirty="0"/>
              <a:t>&amp;</a:t>
            </a:r>
            <a:r>
              <a:rPr spc="-10" dirty="0"/>
              <a:t> 东南大学</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8/27/2026</a:t>
            </a:fld>
            <a:endParaRPr lang="en-US"/>
          </a:p>
        </p:txBody>
      </p:sp>
      <p:sp>
        <p:nvSpPr>
          <p:cNvPr id="4" name="Holder 4"/>
          <p:cNvSpPr>
            <a:spLocks noGrp="1"/>
          </p:cNvSpPr>
          <p:nvPr>
            <p:ph type="sldNum" sz="quarter" idx="7"/>
          </p:nvPr>
        </p:nvSpPr>
        <p:spPr/>
        <p:txBody>
          <a:bodyPr lIns="0" tIns="0" rIns="0" bIns="0"/>
          <a:lstStyle>
            <a:lvl1pPr>
              <a:defRPr sz="700" b="0" i="0">
                <a:solidFill>
                  <a:schemeClr val="tx1"/>
                </a:solidFill>
                <a:latin typeface="Arial"/>
                <a:cs typeface="Arial"/>
              </a:defRPr>
            </a:lvl1pPr>
          </a:lstStyle>
          <a:p>
            <a:pPr marL="38100">
              <a:lnSpc>
                <a:spcPct val="100000"/>
              </a:lnSpc>
              <a:spcBef>
                <a:spcPts val="35"/>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64527" y="771905"/>
            <a:ext cx="10128885" cy="134620"/>
          </a:xfrm>
          <a:custGeom>
            <a:avLst/>
            <a:gdLst/>
            <a:ahLst/>
            <a:cxnLst/>
            <a:rect l="l" t="t" r="r" b="b"/>
            <a:pathLst>
              <a:path w="10128885" h="134619">
                <a:moveTo>
                  <a:pt x="10128631" y="134111"/>
                </a:moveTo>
                <a:lnTo>
                  <a:pt x="10128631" y="0"/>
                </a:lnTo>
                <a:lnTo>
                  <a:pt x="0" y="0"/>
                </a:lnTo>
                <a:lnTo>
                  <a:pt x="0" y="134112"/>
                </a:lnTo>
                <a:lnTo>
                  <a:pt x="10128631" y="134111"/>
                </a:lnTo>
                <a:close/>
              </a:path>
            </a:pathLst>
          </a:custGeom>
          <a:solidFill>
            <a:srgbClr val="585858"/>
          </a:solidFill>
        </p:spPr>
        <p:txBody>
          <a:bodyPr wrap="square" lIns="0" tIns="0" rIns="0" bIns="0" rtlCol="0"/>
          <a:lstStyle/>
          <a:p>
            <a:endParaRPr/>
          </a:p>
        </p:txBody>
      </p:sp>
      <p:sp>
        <p:nvSpPr>
          <p:cNvPr id="17" name="bg object 17"/>
          <p:cNvSpPr/>
          <p:nvPr/>
        </p:nvSpPr>
        <p:spPr>
          <a:xfrm>
            <a:off x="1403" y="771905"/>
            <a:ext cx="563245" cy="134620"/>
          </a:xfrm>
          <a:custGeom>
            <a:avLst/>
            <a:gdLst/>
            <a:ahLst/>
            <a:cxnLst/>
            <a:rect l="l" t="t" r="r" b="b"/>
            <a:pathLst>
              <a:path w="563245" h="134619">
                <a:moveTo>
                  <a:pt x="563118" y="134112"/>
                </a:moveTo>
                <a:lnTo>
                  <a:pt x="563118" y="0"/>
                </a:lnTo>
                <a:lnTo>
                  <a:pt x="0" y="0"/>
                </a:lnTo>
                <a:lnTo>
                  <a:pt x="0" y="134112"/>
                </a:lnTo>
                <a:lnTo>
                  <a:pt x="563118" y="134112"/>
                </a:lnTo>
                <a:close/>
              </a:path>
            </a:pathLst>
          </a:custGeom>
          <a:solidFill>
            <a:srgbClr val="FF0000"/>
          </a:solidFill>
        </p:spPr>
        <p:txBody>
          <a:bodyPr wrap="square" lIns="0" tIns="0" rIns="0" bIns="0" rtlCol="0"/>
          <a:lstStyle/>
          <a:p>
            <a:endParaRPr/>
          </a:p>
        </p:txBody>
      </p:sp>
      <p:sp>
        <p:nvSpPr>
          <p:cNvPr id="2" name="Holder 2"/>
          <p:cNvSpPr>
            <a:spLocks noGrp="1"/>
          </p:cNvSpPr>
          <p:nvPr>
            <p:ph type="title"/>
          </p:nvPr>
        </p:nvSpPr>
        <p:spPr>
          <a:xfrm>
            <a:off x="186823" y="1037336"/>
            <a:ext cx="6489065" cy="453390"/>
          </a:xfrm>
          <a:prstGeom prst="rect">
            <a:avLst/>
          </a:prstGeom>
        </p:spPr>
        <p:txBody>
          <a:bodyPr wrap="square" lIns="0" tIns="0" rIns="0" bIns="0">
            <a:spAutoFit/>
          </a:bodyPr>
          <a:lstStyle>
            <a:lvl1pPr>
              <a:defRPr sz="2800" b="0" i="0">
                <a:solidFill>
                  <a:schemeClr val="tx1"/>
                </a:solidFill>
                <a:latin typeface="微软雅黑"/>
                <a:cs typeface="微软雅黑"/>
              </a:defRPr>
            </a:lvl1pPr>
          </a:lstStyle>
          <a:p>
            <a:endParaRPr/>
          </a:p>
        </p:txBody>
      </p:sp>
      <p:sp>
        <p:nvSpPr>
          <p:cNvPr id="3" name="Holder 3"/>
          <p:cNvSpPr>
            <a:spLocks noGrp="1"/>
          </p:cNvSpPr>
          <p:nvPr>
            <p:ph type="body" idx="1"/>
          </p:nvPr>
        </p:nvSpPr>
        <p:spPr>
          <a:xfrm>
            <a:off x="5009487" y="1766570"/>
            <a:ext cx="4840605" cy="3152140"/>
          </a:xfrm>
          <a:prstGeom prst="rect">
            <a:avLst/>
          </a:prstGeom>
        </p:spPr>
        <p:txBody>
          <a:bodyPr wrap="square" lIns="0" tIns="0" rIns="0" bIns="0">
            <a:spAutoFit/>
          </a:bodyPr>
          <a:lstStyle>
            <a:lvl1pPr>
              <a:defRPr sz="1550" b="0" i="0">
                <a:solidFill>
                  <a:schemeClr val="tx1"/>
                </a:solidFill>
                <a:latin typeface="Arial"/>
                <a:cs typeface="Arial"/>
              </a:defRPr>
            </a:lvl1pPr>
          </a:lstStyle>
          <a:p>
            <a:endParaRPr/>
          </a:p>
        </p:txBody>
      </p:sp>
      <p:sp>
        <p:nvSpPr>
          <p:cNvPr id="4" name="Holder 4"/>
          <p:cNvSpPr>
            <a:spLocks noGrp="1"/>
          </p:cNvSpPr>
          <p:nvPr>
            <p:ph type="ftr" sz="quarter" idx="5"/>
          </p:nvPr>
        </p:nvSpPr>
        <p:spPr>
          <a:xfrm>
            <a:off x="8029327" y="6508039"/>
            <a:ext cx="2455671" cy="261748"/>
          </a:xfrm>
          <a:prstGeom prst="rect">
            <a:avLst/>
          </a:prstGeom>
        </p:spPr>
        <p:txBody>
          <a:bodyPr wrap="square" lIns="0" tIns="0" rIns="0" bIns="0">
            <a:spAutoFit/>
          </a:bodyPr>
          <a:lstStyle>
            <a:lvl1pPr>
              <a:defRPr sz="1400" b="1" i="0">
                <a:solidFill>
                  <a:srgbClr val="3F3F3F"/>
                </a:solidFill>
                <a:latin typeface="微软雅黑"/>
                <a:cs typeface="微软雅黑"/>
              </a:defRPr>
            </a:lvl1pPr>
          </a:lstStyle>
          <a:p>
            <a:pPr marL="13335">
              <a:lnSpc>
                <a:spcPct val="100000"/>
              </a:lnSpc>
              <a:spcBef>
                <a:spcPts val="185"/>
              </a:spcBef>
            </a:pPr>
            <a:r>
              <a:rPr dirty="0"/>
              <a:t>Xilinx</a:t>
            </a:r>
            <a:r>
              <a:rPr spc="-5" dirty="0"/>
              <a:t> 大学合作部 </a:t>
            </a:r>
            <a:r>
              <a:rPr dirty="0"/>
              <a:t>&amp;</a:t>
            </a:r>
            <a:r>
              <a:rPr spc="-10" dirty="0"/>
              <a:t> 东南大学</a:t>
            </a:r>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8/27/2026</a:t>
            </a:fld>
            <a:endParaRPr lang="en-US"/>
          </a:p>
        </p:txBody>
      </p:sp>
      <p:sp>
        <p:nvSpPr>
          <p:cNvPr id="6" name="Holder 6"/>
          <p:cNvSpPr>
            <a:spLocks noGrp="1"/>
          </p:cNvSpPr>
          <p:nvPr>
            <p:ph type="sldNum" sz="quarter" idx="7"/>
          </p:nvPr>
        </p:nvSpPr>
        <p:spPr>
          <a:xfrm>
            <a:off x="578237" y="6573328"/>
            <a:ext cx="189229" cy="126365"/>
          </a:xfrm>
          <a:prstGeom prst="rect">
            <a:avLst/>
          </a:prstGeom>
        </p:spPr>
        <p:txBody>
          <a:bodyPr wrap="square" lIns="0" tIns="0" rIns="0" bIns="0">
            <a:spAutoFit/>
          </a:bodyPr>
          <a:lstStyle>
            <a:lvl1pPr>
              <a:defRPr sz="700" b="0" i="0">
                <a:solidFill>
                  <a:schemeClr val="tx1"/>
                </a:solidFill>
                <a:latin typeface="Arial"/>
                <a:cs typeface="Arial"/>
              </a:defRPr>
            </a:lvl1pPr>
          </a:lstStyle>
          <a:p>
            <a:pPr marL="38100">
              <a:lnSpc>
                <a:spcPct val="100000"/>
              </a:lnSpc>
              <a:spcBef>
                <a:spcPts val="35"/>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50.xml.rels><?xml version="1.0" encoding="UTF-8" standalone="yes"?>
<Relationships xmlns="http://schemas.openxmlformats.org/package/2006/relationships"><Relationship Id="rId3" Type="http://schemas.openxmlformats.org/officeDocument/2006/relationships/hyperlink" Target="mailto:xup@xilinx.com" TargetMode="External"/><Relationship Id="rId2" Type="http://schemas.openxmlformats.org/officeDocument/2006/relationships/image" Target="../media/image47.jpg"/><Relationship Id="rId1" Type="http://schemas.openxmlformats.org/officeDocument/2006/relationships/slideLayout" Target="../slideLayouts/slideLayout5.xml"/><Relationship Id="rId4" Type="http://schemas.openxmlformats.org/officeDocument/2006/relationships/image" Target="../media/image4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30089" y="6519164"/>
            <a:ext cx="2454910"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3" name="object 3"/>
          <p:cNvSpPr txBox="1">
            <a:spLocks noGrp="1"/>
          </p:cNvSpPr>
          <p:nvPr>
            <p:ph type="title"/>
          </p:nvPr>
        </p:nvSpPr>
        <p:spPr>
          <a:xfrm>
            <a:off x="1489081" y="1819910"/>
            <a:ext cx="4302760" cy="667385"/>
          </a:xfrm>
          <a:prstGeom prst="rect">
            <a:avLst/>
          </a:prstGeom>
        </p:spPr>
        <p:txBody>
          <a:bodyPr vert="horz" wrap="square" lIns="0" tIns="13970" rIns="0" bIns="0" rtlCol="0">
            <a:spAutoFit/>
          </a:bodyPr>
          <a:lstStyle/>
          <a:p>
            <a:pPr marL="12700">
              <a:lnSpc>
                <a:spcPct val="100000"/>
              </a:lnSpc>
              <a:spcBef>
                <a:spcPts val="110"/>
              </a:spcBef>
            </a:pPr>
            <a:r>
              <a:rPr sz="4200" b="1" spc="-20" dirty="0">
                <a:solidFill>
                  <a:srgbClr val="6F2FA0"/>
                </a:solidFill>
                <a:latin typeface="微软雅黑"/>
                <a:cs typeface="微软雅黑"/>
              </a:rPr>
              <a:t>搭建你的数字积木</a:t>
            </a:r>
            <a:endParaRPr sz="4200">
              <a:latin typeface="微软雅黑"/>
              <a:cs typeface="微软雅黑"/>
            </a:endParaRPr>
          </a:p>
        </p:txBody>
      </p:sp>
      <p:sp>
        <p:nvSpPr>
          <p:cNvPr id="4" name="object 4"/>
          <p:cNvSpPr txBox="1"/>
          <p:nvPr/>
        </p:nvSpPr>
        <p:spPr>
          <a:xfrm>
            <a:off x="1234573" y="2466086"/>
            <a:ext cx="4558030" cy="2202815"/>
          </a:xfrm>
          <a:prstGeom prst="rect">
            <a:avLst/>
          </a:prstGeom>
        </p:spPr>
        <p:txBody>
          <a:bodyPr vert="horz" wrap="square" lIns="0" tIns="16510" rIns="0" bIns="0" rtlCol="0">
            <a:spAutoFit/>
          </a:bodyPr>
          <a:lstStyle/>
          <a:p>
            <a:pPr marL="281940">
              <a:lnSpc>
                <a:spcPct val="100000"/>
              </a:lnSpc>
              <a:spcBef>
                <a:spcPts val="130"/>
              </a:spcBef>
            </a:pPr>
            <a:r>
              <a:rPr sz="3300" b="1" spc="-15" dirty="0">
                <a:solidFill>
                  <a:srgbClr val="6F2FA0"/>
                </a:solidFill>
                <a:latin typeface="微软雅黑"/>
                <a:cs typeface="微软雅黑"/>
              </a:rPr>
              <a:t>—数字电路与逻辑设计</a:t>
            </a:r>
            <a:endParaRPr sz="3300">
              <a:latin typeface="微软雅黑"/>
              <a:cs typeface="微软雅黑"/>
            </a:endParaRPr>
          </a:p>
          <a:p>
            <a:pPr marL="12700">
              <a:lnSpc>
                <a:spcPct val="100000"/>
              </a:lnSpc>
              <a:spcBef>
                <a:spcPts val="35"/>
              </a:spcBef>
            </a:pPr>
            <a:r>
              <a:rPr sz="2800" b="1" dirty="0">
                <a:solidFill>
                  <a:srgbClr val="3F3F3F"/>
                </a:solidFill>
                <a:latin typeface="微软雅黑"/>
                <a:cs typeface="微软雅黑"/>
              </a:rPr>
              <a:t>（</a:t>
            </a:r>
            <a:r>
              <a:rPr sz="2800" b="1" dirty="0">
                <a:solidFill>
                  <a:srgbClr val="3F3F3F"/>
                </a:solidFill>
                <a:latin typeface="Arial"/>
                <a:cs typeface="Arial"/>
              </a:rPr>
              <a:t>Verilog</a:t>
            </a:r>
            <a:r>
              <a:rPr sz="2800" b="1" spc="-20" dirty="0">
                <a:solidFill>
                  <a:srgbClr val="3F3F3F"/>
                </a:solidFill>
                <a:latin typeface="Arial"/>
                <a:cs typeface="Arial"/>
              </a:rPr>
              <a:t> </a:t>
            </a:r>
            <a:r>
              <a:rPr sz="2800" b="1" spc="-10" dirty="0">
                <a:solidFill>
                  <a:srgbClr val="3F3F3F"/>
                </a:solidFill>
                <a:latin typeface="Arial"/>
                <a:cs typeface="Arial"/>
              </a:rPr>
              <a:t>HDL&amp;Vivado</a:t>
            </a:r>
            <a:r>
              <a:rPr sz="2800" b="1" spc="-10" dirty="0">
                <a:solidFill>
                  <a:srgbClr val="3F3F3F"/>
                </a:solidFill>
                <a:latin typeface="微软雅黑"/>
                <a:cs typeface="微软雅黑"/>
              </a:rPr>
              <a:t>版</a:t>
            </a:r>
            <a:r>
              <a:rPr sz="2800" b="1" spc="-50" dirty="0">
                <a:solidFill>
                  <a:srgbClr val="3F3F3F"/>
                </a:solidFill>
                <a:latin typeface="微软雅黑"/>
                <a:cs typeface="微软雅黑"/>
              </a:rPr>
              <a:t>）</a:t>
            </a:r>
            <a:endParaRPr sz="2800">
              <a:latin typeface="微软雅黑"/>
              <a:cs typeface="微软雅黑"/>
            </a:endParaRPr>
          </a:p>
          <a:p>
            <a:pPr marL="1935480">
              <a:lnSpc>
                <a:spcPct val="100000"/>
              </a:lnSpc>
            </a:pPr>
            <a:r>
              <a:rPr sz="2800" b="1" spc="-10" dirty="0">
                <a:solidFill>
                  <a:srgbClr val="C00000"/>
                </a:solidFill>
                <a:latin typeface="微软雅黑"/>
                <a:cs typeface="微软雅黑"/>
              </a:rPr>
              <a:t>— 参考课件</a:t>
            </a:r>
            <a:r>
              <a:rPr sz="2800" b="1" spc="-25" dirty="0">
                <a:solidFill>
                  <a:srgbClr val="C00000"/>
                </a:solidFill>
                <a:latin typeface="微软雅黑"/>
                <a:cs typeface="微软雅黑"/>
              </a:rPr>
              <a:t>PPT</a:t>
            </a:r>
            <a:endParaRPr sz="2800">
              <a:latin typeface="微软雅黑"/>
              <a:cs typeface="微软雅黑"/>
            </a:endParaRPr>
          </a:p>
          <a:p>
            <a:pPr marL="368935">
              <a:lnSpc>
                <a:spcPct val="100000"/>
              </a:lnSpc>
              <a:spcBef>
                <a:spcPts val="3454"/>
              </a:spcBef>
            </a:pPr>
            <a:r>
              <a:rPr sz="2450" b="1" spc="-5" dirty="0">
                <a:solidFill>
                  <a:srgbClr val="7E7E7E"/>
                </a:solidFill>
                <a:latin typeface="微软雅黑"/>
                <a:cs typeface="微软雅黑"/>
              </a:rPr>
              <a:t>东南大学 </a:t>
            </a:r>
            <a:r>
              <a:rPr sz="2450" b="1" dirty="0">
                <a:solidFill>
                  <a:srgbClr val="7E7E7E"/>
                </a:solidFill>
                <a:latin typeface="微软雅黑"/>
                <a:cs typeface="微软雅黑"/>
              </a:rPr>
              <a:t>&amp;</a:t>
            </a:r>
            <a:r>
              <a:rPr sz="2450" b="1" spc="-10" dirty="0">
                <a:solidFill>
                  <a:srgbClr val="7E7E7E"/>
                </a:solidFill>
                <a:latin typeface="微软雅黑"/>
                <a:cs typeface="微软雅黑"/>
              </a:rPr>
              <a:t> </a:t>
            </a:r>
            <a:r>
              <a:rPr sz="2450" b="1" dirty="0">
                <a:solidFill>
                  <a:srgbClr val="7E7E7E"/>
                </a:solidFill>
                <a:latin typeface="微软雅黑"/>
                <a:cs typeface="微软雅黑"/>
              </a:rPr>
              <a:t>Xilinx</a:t>
            </a:r>
            <a:r>
              <a:rPr sz="2450" b="1" spc="-10" dirty="0">
                <a:solidFill>
                  <a:srgbClr val="7E7E7E"/>
                </a:solidFill>
                <a:latin typeface="微软雅黑"/>
                <a:cs typeface="微软雅黑"/>
              </a:rPr>
              <a:t>大学计划部</a:t>
            </a:r>
            <a:endParaRPr sz="2450">
              <a:latin typeface="微软雅黑"/>
              <a:cs typeface="微软雅黑"/>
            </a:endParaRPr>
          </a:p>
        </p:txBody>
      </p:sp>
      <p:pic>
        <p:nvPicPr>
          <p:cNvPr id="5" name="object 5"/>
          <p:cNvPicPr/>
          <p:nvPr/>
        </p:nvPicPr>
        <p:blipFill>
          <a:blip r:embed="rId2" cstate="print"/>
          <a:stretch>
            <a:fillRect/>
          </a:stretch>
        </p:blipFill>
        <p:spPr>
          <a:xfrm>
            <a:off x="6302893" y="1630679"/>
            <a:ext cx="2993379" cy="4238244"/>
          </a:xfrm>
          <a:prstGeom prst="rect">
            <a:avLst/>
          </a:prstGeom>
        </p:spPr>
      </p:pic>
      <p:pic>
        <p:nvPicPr>
          <p:cNvPr id="6" name="object 6"/>
          <p:cNvPicPr/>
          <p:nvPr/>
        </p:nvPicPr>
        <p:blipFill>
          <a:blip r:embed="rId3" cstate="print"/>
          <a:stretch>
            <a:fillRect/>
          </a:stretch>
        </p:blipFill>
        <p:spPr>
          <a:xfrm>
            <a:off x="1426349" y="4620005"/>
            <a:ext cx="2112264" cy="902969"/>
          </a:xfrm>
          <a:prstGeom prst="rect">
            <a:avLst/>
          </a:prstGeom>
        </p:spPr>
      </p:pic>
      <p:pic>
        <p:nvPicPr>
          <p:cNvPr id="7" name="object 7"/>
          <p:cNvPicPr/>
          <p:nvPr/>
        </p:nvPicPr>
        <p:blipFill>
          <a:blip r:embed="rId4" cstate="print"/>
          <a:stretch>
            <a:fillRect/>
          </a:stretch>
        </p:blipFill>
        <p:spPr>
          <a:xfrm>
            <a:off x="3664289" y="4854702"/>
            <a:ext cx="2197662" cy="42915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61" y="2786633"/>
            <a:ext cx="10692765" cy="1800225"/>
            <a:chOff x="761" y="2786633"/>
            <a:chExt cx="10692765" cy="1800225"/>
          </a:xfrm>
        </p:grpSpPr>
        <p:pic>
          <p:nvPicPr>
            <p:cNvPr id="3" name="object 3"/>
            <p:cNvPicPr/>
            <p:nvPr/>
          </p:nvPicPr>
          <p:blipFill>
            <a:blip r:embed="rId2" cstate="print"/>
            <a:stretch>
              <a:fillRect/>
            </a:stretch>
          </p:blipFill>
          <p:spPr>
            <a:xfrm>
              <a:off x="1403" y="2786633"/>
              <a:ext cx="10691622" cy="1799844"/>
            </a:xfrm>
            <a:prstGeom prst="rect">
              <a:avLst/>
            </a:prstGeom>
          </p:spPr>
        </p:pic>
        <p:sp>
          <p:nvSpPr>
            <p:cNvPr id="4" name="object 4"/>
            <p:cNvSpPr/>
            <p:nvPr/>
          </p:nvSpPr>
          <p:spPr>
            <a:xfrm>
              <a:off x="761" y="2786633"/>
              <a:ext cx="118110" cy="1800225"/>
            </a:xfrm>
            <a:custGeom>
              <a:avLst/>
              <a:gdLst/>
              <a:ahLst/>
              <a:cxnLst/>
              <a:rect l="l" t="t" r="r" b="b"/>
              <a:pathLst>
                <a:path w="118110" h="1800225">
                  <a:moveTo>
                    <a:pt x="117990" y="1799844"/>
                  </a:moveTo>
                  <a:lnTo>
                    <a:pt x="117990" y="0"/>
                  </a:lnTo>
                  <a:lnTo>
                    <a:pt x="0" y="0"/>
                  </a:lnTo>
                  <a:lnTo>
                    <a:pt x="0" y="1799844"/>
                  </a:lnTo>
                  <a:lnTo>
                    <a:pt x="117990" y="1799844"/>
                  </a:lnTo>
                  <a:close/>
                </a:path>
              </a:pathLst>
            </a:custGeom>
            <a:solidFill>
              <a:srgbClr val="FF0000"/>
            </a:solidFill>
          </p:spPr>
          <p:txBody>
            <a:bodyPr wrap="square" lIns="0" tIns="0" rIns="0" bIns="0" rtlCol="0"/>
            <a:lstStyle/>
            <a:p>
              <a:endParaRPr/>
            </a:p>
          </p:txBody>
        </p:sp>
      </p:grpSp>
      <p:sp>
        <p:nvSpPr>
          <p:cNvPr id="5" name="object 5"/>
          <p:cNvSpPr/>
          <p:nvPr/>
        </p:nvSpPr>
        <p:spPr>
          <a:xfrm>
            <a:off x="1403" y="771905"/>
            <a:ext cx="10692130" cy="284480"/>
          </a:xfrm>
          <a:custGeom>
            <a:avLst/>
            <a:gdLst/>
            <a:ahLst/>
            <a:cxnLst/>
            <a:rect l="l" t="t" r="r" b="b"/>
            <a:pathLst>
              <a:path w="10692130" h="284480">
                <a:moveTo>
                  <a:pt x="10691749" y="284225"/>
                </a:moveTo>
                <a:lnTo>
                  <a:pt x="10691749" y="0"/>
                </a:lnTo>
                <a:lnTo>
                  <a:pt x="0" y="0"/>
                </a:lnTo>
                <a:lnTo>
                  <a:pt x="0" y="284226"/>
                </a:lnTo>
                <a:lnTo>
                  <a:pt x="10691749" y="284225"/>
                </a:lnTo>
                <a:close/>
              </a:path>
            </a:pathLst>
          </a:custGeom>
          <a:solidFill>
            <a:srgbClr val="FFFFFF"/>
          </a:solidFill>
        </p:spPr>
        <p:txBody>
          <a:bodyPr wrap="square" lIns="0" tIns="0" rIns="0" bIns="0" rtlCol="0"/>
          <a:lstStyle/>
          <a:p>
            <a:endParaRPr/>
          </a:p>
        </p:txBody>
      </p:sp>
      <p:sp>
        <p:nvSpPr>
          <p:cNvPr id="6" name="object 6"/>
          <p:cNvSpPr txBox="1"/>
          <p:nvPr/>
        </p:nvSpPr>
        <p:spPr>
          <a:xfrm>
            <a:off x="8029327" y="6518400"/>
            <a:ext cx="2454910"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7" name="object 7"/>
          <p:cNvSpPr txBox="1">
            <a:spLocks noGrp="1"/>
          </p:cNvSpPr>
          <p:nvPr>
            <p:ph type="title"/>
          </p:nvPr>
        </p:nvSpPr>
        <p:spPr>
          <a:xfrm>
            <a:off x="523627" y="3394964"/>
            <a:ext cx="3234055" cy="453390"/>
          </a:xfrm>
          <a:prstGeom prst="rect">
            <a:avLst/>
          </a:prstGeom>
        </p:spPr>
        <p:txBody>
          <a:bodyPr vert="horz" wrap="square" lIns="0" tIns="13335" rIns="0" bIns="0" rtlCol="0">
            <a:spAutoFit/>
          </a:bodyPr>
          <a:lstStyle/>
          <a:p>
            <a:pPr marL="12700">
              <a:lnSpc>
                <a:spcPct val="100000"/>
              </a:lnSpc>
              <a:spcBef>
                <a:spcPts val="105"/>
              </a:spcBef>
            </a:pPr>
            <a:r>
              <a:rPr b="1" spc="-15" dirty="0">
                <a:solidFill>
                  <a:srgbClr val="FFFFFF"/>
                </a:solidFill>
                <a:latin typeface="微软雅黑"/>
                <a:cs typeface="微软雅黑"/>
              </a:rPr>
              <a:t>有限状态机设计基础</a:t>
            </a:r>
          </a:p>
        </p:txBody>
      </p:sp>
      <p:sp>
        <p:nvSpPr>
          <p:cNvPr id="8" name="object 8"/>
          <p:cNvSpPr txBox="1"/>
          <p:nvPr/>
        </p:nvSpPr>
        <p:spPr>
          <a:xfrm>
            <a:off x="603637" y="6564883"/>
            <a:ext cx="75565" cy="132715"/>
          </a:xfrm>
          <a:prstGeom prst="rect">
            <a:avLst/>
          </a:prstGeom>
        </p:spPr>
        <p:txBody>
          <a:bodyPr vert="horz" wrap="square" lIns="0" tIns="12700" rIns="0" bIns="0" rtlCol="0">
            <a:spAutoFit/>
          </a:bodyPr>
          <a:lstStyle/>
          <a:p>
            <a:pPr marL="12700">
              <a:lnSpc>
                <a:spcPct val="100000"/>
              </a:lnSpc>
              <a:spcBef>
                <a:spcPts val="100"/>
              </a:spcBef>
            </a:pPr>
            <a:r>
              <a:rPr sz="700" spc="-50" dirty="0">
                <a:latin typeface="Arial"/>
                <a:cs typeface="Arial"/>
              </a:rPr>
              <a:t>2</a:t>
            </a:r>
            <a:endParaRPr sz="7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30089" y="6519164"/>
            <a:ext cx="2454910"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pic>
        <p:nvPicPr>
          <p:cNvPr id="3" name="object 3"/>
          <p:cNvPicPr/>
          <p:nvPr/>
        </p:nvPicPr>
        <p:blipFill>
          <a:blip r:embed="rId2" cstate="print"/>
          <a:stretch>
            <a:fillRect/>
          </a:stretch>
        </p:blipFill>
        <p:spPr>
          <a:xfrm>
            <a:off x="608203" y="1859321"/>
            <a:ext cx="146324" cy="133066"/>
          </a:xfrm>
          <a:prstGeom prst="rect">
            <a:avLst/>
          </a:prstGeom>
        </p:spPr>
      </p:pic>
      <p:sp>
        <p:nvSpPr>
          <p:cNvPr id="4" name="object 4"/>
          <p:cNvSpPr txBox="1"/>
          <p:nvPr/>
        </p:nvSpPr>
        <p:spPr>
          <a:xfrm>
            <a:off x="859670" y="1686858"/>
            <a:ext cx="9236710" cy="2919730"/>
          </a:xfrm>
          <a:prstGeom prst="rect">
            <a:avLst/>
          </a:prstGeom>
        </p:spPr>
        <p:txBody>
          <a:bodyPr vert="horz" wrap="square" lIns="0" tIns="12700" rIns="0" bIns="0" rtlCol="0">
            <a:spAutoFit/>
          </a:bodyPr>
          <a:lstStyle/>
          <a:p>
            <a:pPr marL="12700" marR="5080" algn="just">
              <a:lnSpc>
                <a:spcPct val="150300"/>
              </a:lnSpc>
              <a:spcBef>
                <a:spcPts val="100"/>
              </a:spcBef>
            </a:pPr>
            <a:r>
              <a:rPr sz="1750" dirty="0">
                <a:latin typeface="微软雅黑"/>
                <a:cs typeface="微软雅黑"/>
              </a:rPr>
              <a:t>前面两章已经介绍了作为数字电路（逻辑设计）最基本的电路概念：</a:t>
            </a:r>
            <a:r>
              <a:rPr sz="1750" b="1" dirty="0">
                <a:solidFill>
                  <a:srgbClr val="C00000"/>
                </a:solidFill>
                <a:latin typeface="微软雅黑"/>
                <a:cs typeface="微软雅黑"/>
              </a:rPr>
              <a:t>组合逻辑</a:t>
            </a:r>
            <a:r>
              <a:rPr sz="1750" dirty="0">
                <a:latin typeface="微软雅黑"/>
                <a:cs typeface="微软雅黑"/>
              </a:rPr>
              <a:t>和</a:t>
            </a:r>
            <a:r>
              <a:rPr sz="1750" b="1" dirty="0">
                <a:solidFill>
                  <a:srgbClr val="C00000"/>
                </a:solidFill>
                <a:latin typeface="微软雅黑"/>
                <a:cs typeface="微软雅黑"/>
              </a:rPr>
              <a:t>时序逻辑</a:t>
            </a:r>
            <a:r>
              <a:rPr sz="1750" spc="-25" dirty="0">
                <a:latin typeface="微软雅黑"/>
                <a:cs typeface="微软雅黑"/>
              </a:rPr>
              <a:t>。以</a:t>
            </a:r>
            <a:r>
              <a:rPr sz="1750" dirty="0">
                <a:latin typeface="微软雅黑"/>
                <a:cs typeface="微软雅黑"/>
              </a:rPr>
              <a:t>及</a:t>
            </a:r>
            <a:r>
              <a:rPr sz="1750" dirty="0">
                <a:latin typeface="Arial"/>
                <a:cs typeface="Arial"/>
              </a:rPr>
              <a:t>VerilogHDL</a:t>
            </a:r>
            <a:r>
              <a:rPr sz="1750" spc="-5" dirty="0">
                <a:latin typeface="微软雅黑"/>
                <a:cs typeface="微软雅黑"/>
              </a:rPr>
              <a:t>相关的语言基础和编程案例。本章将主要介绍在绝大多数逻辑系统设计中最常用</a:t>
            </a:r>
            <a:r>
              <a:rPr sz="1750" dirty="0">
                <a:latin typeface="微软雅黑"/>
                <a:cs typeface="微软雅黑"/>
              </a:rPr>
              <a:t>的电路单元：</a:t>
            </a:r>
            <a:r>
              <a:rPr sz="1750" b="1" dirty="0">
                <a:solidFill>
                  <a:srgbClr val="C00000"/>
                </a:solidFill>
                <a:latin typeface="微软雅黑"/>
                <a:cs typeface="微软雅黑"/>
              </a:rPr>
              <a:t>有限状态机</a:t>
            </a:r>
            <a:r>
              <a:rPr sz="1750" b="1" spc="-10" dirty="0">
                <a:solidFill>
                  <a:srgbClr val="C00000"/>
                </a:solidFill>
                <a:latin typeface="微软雅黑"/>
                <a:cs typeface="微软雅黑"/>
              </a:rPr>
              <a:t>（</a:t>
            </a:r>
            <a:r>
              <a:rPr sz="1750" b="1" spc="-10" dirty="0">
                <a:solidFill>
                  <a:srgbClr val="C00000"/>
                </a:solidFill>
                <a:latin typeface="Arial"/>
                <a:cs typeface="Arial"/>
              </a:rPr>
              <a:t>FSM</a:t>
            </a:r>
            <a:r>
              <a:rPr sz="1750" b="1" spc="-10" dirty="0">
                <a:solidFill>
                  <a:srgbClr val="C00000"/>
                </a:solidFill>
                <a:latin typeface="微软雅黑"/>
                <a:cs typeface="微软雅黑"/>
              </a:rPr>
              <a:t>）</a:t>
            </a:r>
            <a:r>
              <a:rPr sz="1750" spc="-5" dirty="0">
                <a:latin typeface="微软雅黑"/>
                <a:cs typeface="微软雅黑"/>
              </a:rPr>
              <a:t>，包括其概念及</a:t>
            </a:r>
            <a:r>
              <a:rPr sz="1750" dirty="0">
                <a:latin typeface="Arial"/>
                <a:cs typeface="Arial"/>
              </a:rPr>
              <a:t>Verilog</a:t>
            </a:r>
            <a:r>
              <a:rPr sz="1750" spc="5" dirty="0">
                <a:latin typeface="Arial"/>
                <a:cs typeface="Arial"/>
              </a:rPr>
              <a:t> </a:t>
            </a:r>
            <a:r>
              <a:rPr sz="1750" spc="-10" dirty="0">
                <a:latin typeface="Arial"/>
                <a:cs typeface="Arial"/>
              </a:rPr>
              <a:t>HDL</a:t>
            </a:r>
            <a:r>
              <a:rPr sz="1750" spc="-20" dirty="0">
                <a:latin typeface="微软雅黑"/>
                <a:cs typeface="微软雅黑"/>
              </a:rPr>
              <a:t>描述。</a:t>
            </a:r>
            <a:endParaRPr sz="1750">
              <a:latin typeface="微软雅黑"/>
              <a:cs typeface="微软雅黑"/>
            </a:endParaRPr>
          </a:p>
          <a:p>
            <a:pPr marL="12700" marR="5080" algn="just">
              <a:lnSpc>
                <a:spcPct val="150300"/>
              </a:lnSpc>
              <a:spcBef>
                <a:spcPts val="695"/>
              </a:spcBef>
            </a:pPr>
            <a:r>
              <a:rPr sz="1750" spc="-5" dirty="0">
                <a:latin typeface="微软雅黑"/>
                <a:cs typeface="微软雅黑"/>
              </a:rPr>
              <a:t>有限状态机可以实现对外部激励和当前状态的有效响应机制，在数字通信、自动化控制、指令集设计等方面均有重要作用，应用广泛。当前的程序化设计方法使得有限状态机的设计得以极大简化，从过去数字电路教学中较复杂的设计内容演变为基础教学内容，提升了设计效率，这也符合行业对于数字电路系统设计的需求。</a:t>
            </a:r>
            <a:endParaRPr sz="1750">
              <a:latin typeface="微软雅黑"/>
              <a:cs typeface="微软雅黑"/>
            </a:endParaRPr>
          </a:p>
        </p:txBody>
      </p:sp>
      <p:pic>
        <p:nvPicPr>
          <p:cNvPr id="5" name="object 5"/>
          <p:cNvPicPr/>
          <p:nvPr/>
        </p:nvPicPr>
        <p:blipFill>
          <a:blip r:embed="rId3" cstate="print"/>
          <a:stretch>
            <a:fillRect/>
          </a:stretch>
        </p:blipFill>
        <p:spPr>
          <a:xfrm>
            <a:off x="608203" y="3147537"/>
            <a:ext cx="146324" cy="137943"/>
          </a:xfrm>
          <a:prstGeom prst="rect">
            <a:avLst/>
          </a:prstGeom>
        </p:spPr>
      </p:pic>
      <p:sp>
        <p:nvSpPr>
          <p:cNvPr id="6" name="object 6"/>
          <p:cNvSpPr txBox="1">
            <a:spLocks noGrp="1"/>
          </p:cNvSpPr>
          <p:nvPr>
            <p:ph type="title"/>
          </p:nvPr>
        </p:nvSpPr>
        <p:spPr>
          <a:xfrm>
            <a:off x="523627" y="1073911"/>
            <a:ext cx="1964055" cy="413384"/>
          </a:xfrm>
          <a:prstGeom prst="rect">
            <a:avLst/>
          </a:prstGeom>
        </p:spPr>
        <p:txBody>
          <a:bodyPr vert="horz" wrap="square" lIns="0" tIns="12065" rIns="0" bIns="0" rtlCol="0">
            <a:spAutoFit/>
          </a:bodyPr>
          <a:lstStyle/>
          <a:p>
            <a:pPr marL="12700">
              <a:lnSpc>
                <a:spcPct val="100000"/>
              </a:lnSpc>
              <a:spcBef>
                <a:spcPts val="95"/>
              </a:spcBef>
            </a:pPr>
            <a:r>
              <a:rPr sz="2550" b="1" spc="-40" dirty="0">
                <a:solidFill>
                  <a:srgbClr val="3F3F3F"/>
                </a:solidFill>
                <a:latin typeface="微软雅黑"/>
                <a:cs typeface="微软雅黑"/>
              </a:rPr>
              <a:t>本章学习导言</a:t>
            </a:r>
            <a:endParaRPr sz="2550">
              <a:latin typeface="微软雅黑"/>
              <a:cs typeface="微软雅黑"/>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30089" y="6519164"/>
            <a:ext cx="2454910"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pic>
        <p:nvPicPr>
          <p:cNvPr id="3" name="object 3"/>
          <p:cNvPicPr/>
          <p:nvPr/>
        </p:nvPicPr>
        <p:blipFill>
          <a:blip r:embed="rId2" cstate="print"/>
          <a:stretch>
            <a:fillRect/>
          </a:stretch>
        </p:blipFill>
        <p:spPr>
          <a:xfrm>
            <a:off x="1002641" y="2226527"/>
            <a:ext cx="162741" cy="162741"/>
          </a:xfrm>
          <a:prstGeom prst="rect">
            <a:avLst/>
          </a:prstGeom>
        </p:spPr>
      </p:pic>
      <p:sp>
        <p:nvSpPr>
          <p:cNvPr id="4" name="object 4"/>
          <p:cNvSpPr txBox="1"/>
          <p:nvPr/>
        </p:nvSpPr>
        <p:spPr>
          <a:xfrm>
            <a:off x="1240670" y="2107184"/>
            <a:ext cx="2432685" cy="3197225"/>
          </a:xfrm>
          <a:prstGeom prst="rect">
            <a:avLst/>
          </a:prstGeom>
        </p:spPr>
        <p:txBody>
          <a:bodyPr vert="horz" wrap="square" lIns="0" tIns="13335" rIns="0" bIns="0" rtlCol="0">
            <a:spAutoFit/>
          </a:bodyPr>
          <a:lstStyle/>
          <a:p>
            <a:pPr marL="12700">
              <a:lnSpc>
                <a:spcPct val="100000"/>
              </a:lnSpc>
              <a:spcBef>
                <a:spcPts val="105"/>
              </a:spcBef>
            </a:pPr>
            <a:r>
              <a:rPr sz="2100" spc="-10" dirty="0">
                <a:latin typeface="宋体"/>
                <a:cs typeface="宋体"/>
              </a:rPr>
              <a:t>有限状态机定义</a:t>
            </a:r>
            <a:endParaRPr sz="2100">
              <a:latin typeface="宋体"/>
              <a:cs typeface="宋体"/>
            </a:endParaRPr>
          </a:p>
          <a:p>
            <a:pPr marL="12700" marR="539750">
              <a:lnSpc>
                <a:spcPts val="4490"/>
              </a:lnSpc>
              <a:spcBef>
                <a:spcPts val="475"/>
              </a:spcBef>
            </a:pPr>
            <a:r>
              <a:rPr sz="2100" spc="-10" dirty="0">
                <a:latin typeface="宋体"/>
                <a:cs typeface="宋体"/>
              </a:rPr>
              <a:t>有限状态机优点有限状态机分类</a:t>
            </a:r>
            <a:endParaRPr sz="2100">
              <a:latin typeface="宋体"/>
              <a:cs typeface="宋体"/>
            </a:endParaRPr>
          </a:p>
          <a:p>
            <a:pPr marL="12700" marR="5080">
              <a:lnSpc>
                <a:spcPts val="4490"/>
              </a:lnSpc>
            </a:pPr>
            <a:r>
              <a:rPr sz="2100" spc="-10" dirty="0">
                <a:latin typeface="宋体"/>
                <a:cs typeface="宋体"/>
              </a:rPr>
              <a:t>有限状态机代码实现状态机设计实例</a:t>
            </a:r>
            <a:endParaRPr sz="2100">
              <a:latin typeface="宋体"/>
              <a:cs typeface="宋体"/>
            </a:endParaRPr>
          </a:p>
          <a:p>
            <a:pPr marL="12700">
              <a:lnSpc>
                <a:spcPct val="100000"/>
              </a:lnSpc>
              <a:spcBef>
                <a:spcPts val="1490"/>
              </a:spcBef>
            </a:pPr>
            <a:r>
              <a:rPr sz="2100" spc="-10" dirty="0">
                <a:latin typeface="宋体"/>
                <a:cs typeface="宋体"/>
              </a:rPr>
              <a:t>习题与练习</a:t>
            </a:r>
            <a:endParaRPr sz="2100">
              <a:latin typeface="宋体"/>
              <a:cs typeface="宋体"/>
            </a:endParaRPr>
          </a:p>
        </p:txBody>
      </p:sp>
      <p:pic>
        <p:nvPicPr>
          <p:cNvPr id="5" name="object 5"/>
          <p:cNvPicPr/>
          <p:nvPr/>
        </p:nvPicPr>
        <p:blipFill>
          <a:blip r:embed="rId3" cstate="print"/>
          <a:stretch>
            <a:fillRect/>
          </a:stretch>
        </p:blipFill>
        <p:spPr>
          <a:xfrm>
            <a:off x="1002641" y="2795741"/>
            <a:ext cx="162741" cy="162741"/>
          </a:xfrm>
          <a:prstGeom prst="rect">
            <a:avLst/>
          </a:prstGeom>
        </p:spPr>
      </p:pic>
      <p:pic>
        <p:nvPicPr>
          <p:cNvPr id="6" name="object 6"/>
          <p:cNvPicPr/>
          <p:nvPr/>
        </p:nvPicPr>
        <p:blipFill>
          <a:blip r:embed="rId4" cstate="print"/>
          <a:stretch>
            <a:fillRect/>
          </a:stretch>
        </p:blipFill>
        <p:spPr>
          <a:xfrm>
            <a:off x="1002641" y="3365344"/>
            <a:ext cx="162741" cy="162361"/>
          </a:xfrm>
          <a:prstGeom prst="rect">
            <a:avLst/>
          </a:prstGeom>
        </p:spPr>
      </p:pic>
      <p:pic>
        <p:nvPicPr>
          <p:cNvPr id="7" name="object 7"/>
          <p:cNvPicPr/>
          <p:nvPr/>
        </p:nvPicPr>
        <p:blipFill>
          <a:blip r:embed="rId5" cstate="print"/>
          <a:stretch>
            <a:fillRect/>
          </a:stretch>
        </p:blipFill>
        <p:spPr>
          <a:xfrm>
            <a:off x="1002641" y="3934577"/>
            <a:ext cx="162741" cy="163086"/>
          </a:xfrm>
          <a:prstGeom prst="rect">
            <a:avLst/>
          </a:prstGeom>
        </p:spPr>
      </p:pic>
      <p:pic>
        <p:nvPicPr>
          <p:cNvPr id="8" name="object 8"/>
          <p:cNvPicPr/>
          <p:nvPr/>
        </p:nvPicPr>
        <p:blipFill>
          <a:blip r:embed="rId6" cstate="print"/>
          <a:stretch>
            <a:fillRect/>
          </a:stretch>
        </p:blipFill>
        <p:spPr>
          <a:xfrm>
            <a:off x="1002641" y="4503782"/>
            <a:ext cx="162741" cy="162741"/>
          </a:xfrm>
          <a:prstGeom prst="rect">
            <a:avLst/>
          </a:prstGeom>
        </p:spPr>
      </p:pic>
      <p:pic>
        <p:nvPicPr>
          <p:cNvPr id="9" name="object 9"/>
          <p:cNvPicPr/>
          <p:nvPr/>
        </p:nvPicPr>
        <p:blipFill>
          <a:blip r:embed="rId7" cstate="print"/>
          <a:stretch>
            <a:fillRect/>
          </a:stretch>
        </p:blipFill>
        <p:spPr>
          <a:xfrm>
            <a:off x="1002641" y="5073758"/>
            <a:ext cx="162741" cy="162741"/>
          </a:xfrm>
          <a:prstGeom prst="rect">
            <a:avLst/>
          </a:prstGeom>
        </p:spPr>
      </p:pic>
      <p:sp>
        <p:nvSpPr>
          <p:cNvPr id="10" name="object 10"/>
          <p:cNvSpPr txBox="1">
            <a:spLocks noGrp="1"/>
          </p:cNvSpPr>
          <p:nvPr>
            <p:ph type="title"/>
          </p:nvPr>
        </p:nvSpPr>
        <p:spPr>
          <a:xfrm>
            <a:off x="523627" y="1295653"/>
            <a:ext cx="1318260" cy="413384"/>
          </a:xfrm>
          <a:prstGeom prst="rect">
            <a:avLst/>
          </a:prstGeom>
        </p:spPr>
        <p:txBody>
          <a:bodyPr vert="horz" wrap="square" lIns="0" tIns="12065" rIns="0" bIns="0" rtlCol="0">
            <a:spAutoFit/>
          </a:bodyPr>
          <a:lstStyle/>
          <a:p>
            <a:pPr marL="12700">
              <a:lnSpc>
                <a:spcPct val="100000"/>
              </a:lnSpc>
              <a:spcBef>
                <a:spcPts val="95"/>
              </a:spcBef>
            </a:pPr>
            <a:r>
              <a:rPr sz="2550" b="1" spc="-40" dirty="0">
                <a:solidFill>
                  <a:srgbClr val="3F3F3F"/>
                </a:solidFill>
                <a:latin typeface="微软雅黑"/>
                <a:cs typeface="微软雅黑"/>
              </a:rPr>
              <a:t>主要内容</a:t>
            </a:r>
            <a:endParaRPr sz="2550">
              <a:latin typeface="微软雅黑"/>
              <a:cs typeface="微软雅黑"/>
            </a:endParaRPr>
          </a:p>
        </p:txBody>
      </p:sp>
      <p:sp>
        <p:nvSpPr>
          <p:cNvPr id="11" name="object 11"/>
          <p:cNvSpPr txBox="1"/>
          <p:nvPr/>
        </p:nvSpPr>
        <p:spPr>
          <a:xfrm>
            <a:off x="988447" y="6565644"/>
            <a:ext cx="75565" cy="132715"/>
          </a:xfrm>
          <a:prstGeom prst="rect">
            <a:avLst/>
          </a:prstGeom>
        </p:spPr>
        <p:txBody>
          <a:bodyPr vert="horz" wrap="square" lIns="0" tIns="12700" rIns="0" bIns="0" rtlCol="0">
            <a:spAutoFit/>
          </a:bodyPr>
          <a:lstStyle/>
          <a:p>
            <a:pPr marL="12700">
              <a:lnSpc>
                <a:spcPct val="100000"/>
              </a:lnSpc>
              <a:spcBef>
                <a:spcPts val="100"/>
              </a:spcBef>
            </a:pPr>
            <a:r>
              <a:rPr sz="700" spc="-50" dirty="0">
                <a:latin typeface="Arial"/>
                <a:cs typeface="Arial"/>
              </a:rPr>
              <a:t>4</a:t>
            </a:r>
            <a:endParaRPr sz="7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29327" y="6518400"/>
            <a:ext cx="2454910"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3" name="object 3"/>
          <p:cNvSpPr txBox="1"/>
          <p:nvPr/>
        </p:nvSpPr>
        <p:spPr>
          <a:xfrm>
            <a:off x="1037977" y="2166002"/>
            <a:ext cx="8305165" cy="2185035"/>
          </a:xfrm>
          <a:prstGeom prst="rect">
            <a:avLst/>
          </a:prstGeom>
        </p:spPr>
        <p:txBody>
          <a:bodyPr vert="horz" wrap="square" lIns="0" tIns="12065" rIns="0" bIns="0" rtlCol="0">
            <a:spAutoFit/>
          </a:bodyPr>
          <a:lstStyle/>
          <a:p>
            <a:pPr marL="12700" marR="45720">
              <a:lnSpc>
                <a:spcPct val="150500"/>
              </a:lnSpc>
              <a:spcBef>
                <a:spcPts val="95"/>
              </a:spcBef>
            </a:pPr>
            <a:r>
              <a:rPr sz="2100" dirty="0">
                <a:latin typeface="微软雅黑"/>
                <a:cs typeface="微软雅黑"/>
              </a:rPr>
              <a:t>有限状态机（</a:t>
            </a:r>
            <a:r>
              <a:rPr sz="2100" dirty="0">
                <a:latin typeface="Times New Roman"/>
                <a:cs typeface="Times New Roman"/>
              </a:rPr>
              <a:t>Finite</a:t>
            </a:r>
            <a:r>
              <a:rPr sz="2100" spc="-55" dirty="0">
                <a:latin typeface="Times New Roman"/>
                <a:cs typeface="Times New Roman"/>
              </a:rPr>
              <a:t> </a:t>
            </a:r>
            <a:r>
              <a:rPr sz="2100" dirty="0">
                <a:latin typeface="Times New Roman"/>
                <a:cs typeface="Times New Roman"/>
              </a:rPr>
              <a:t>State</a:t>
            </a:r>
            <a:r>
              <a:rPr sz="2100" spc="-55" dirty="0">
                <a:latin typeface="Times New Roman"/>
                <a:cs typeface="Times New Roman"/>
              </a:rPr>
              <a:t> </a:t>
            </a:r>
            <a:r>
              <a:rPr sz="2100" dirty="0">
                <a:latin typeface="Times New Roman"/>
                <a:cs typeface="Times New Roman"/>
              </a:rPr>
              <a:t>Machine</a:t>
            </a:r>
            <a:r>
              <a:rPr sz="2100" spc="-30" dirty="0">
                <a:latin typeface="Times New Roman"/>
                <a:cs typeface="Times New Roman"/>
              </a:rPr>
              <a:t>, </a:t>
            </a:r>
            <a:r>
              <a:rPr sz="2100" spc="-10" dirty="0">
                <a:latin typeface="Times New Roman"/>
                <a:cs typeface="Times New Roman"/>
              </a:rPr>
              <a:t>FSM</a:t>
            </a:r>
            <a:r>
              <a:rPr sz="2100" spc="-10" dirty="0">
                <a:latin typeface="微软雅黑"/>
                <a:cs typeface="微软雅黑"/>
              </a:rPr>
              <a:t>）</a:t>
            </a:r>
            <a:r>
              <a:rPr sz="2100" spc="-5" dirty="0">
                <a:latin typeface="微软雅黑"/>
                <a:cs typeface="微软雅黑"/>
              </a:rPr>
              <a:t>简称状态机，是用来表示系统</a:t>
            </a:r>
            <a:r>
              <a:rPr sz="2100" spc="-15" dirty="0">
                <a:latin typeface="微软雅黑"/>
                <a:cs typeface="微软雅黑"/>
              </a:rPr>
              <a:t>中的有限个状态及这些状态之间的转移和动作的模型。</a:t>
            </a:r>
            <a:endParaRPr sz="2100">
              <a:latin typeface="微软雅黑"/>
              <a:cs typeface="微软雅黑"/>
            </a:endParaRPr>
          </a:p>
          <a:p>
            <a:pPr marL="12700" marR="5080">
              <a:lnSpc>
                <a:spcPct val="150500"/>
              </a:lnSpc>
              <a:spcBef>
                <a:spcPts val="1835"/>
              </a:spcBef>
            </a:pPr>
            <a:r>
              <a:rPr sz="2100" spc="-20" dirty="0">
                <a:latin typeface="微软雅黑"/>
                <a:cs typeface="微软雅黑"/>
              </a:rPr>
              <a:t>这些转移和动作依赖于当前状态和外部输入，它下一步的状态逻辑通常</a:t>
            </a:r>
            <a:r>
              <a:rPr sz="2100" spc="-15" dirty="0">
                <a:latin typeface="微软雅黑"/>
                <a:cs typeface="微软雅黑"/>
              </a:rPr>
              <a:t>是重新建立的，也称之为随机逻辑。</a:t>
            </a:r>
            <a:endParaRPr sz="2100">
              <a:latin typeface="微软雅黑"/>
              <a:cs typeface="微软雅黑"/>
            </a:endParaRPr>
          </a:p>
        </p:txBody>
      </p:sp>
      <p:sp>
        <p:nvSpPr>
          <p:cNvPr id="4" name="object 4"/>
          <p:cNvSpPr txBox="1">
            <a:spLocks noGrp="1"/>
          </p:cNvSpPr>
          <p:nvPr>
            <p:ph type="title"/>
          </p:nvPr>
        </p:nvSpPr>
        <p:spPr>
          <a:xfrm>
            <a:off x="523627" y="1054099"/>
            <a:ext cx="1808480" cy="453390"/>
          </a:xfrm>
          <a:prstGeom prst="rect">
            <a:avLst/>
          </a:prstGeom>
        </p:spPr>
        <p:txBody>
          <a:bodyPr vert="horz" wrap="square" lIns="0" tIns="13335" rIns="0" bIns="0" rtlCol="0">
            <a:spAutoFit/>
          </a:bodyPr>
          <a:lstStyle/>
          <a:p>
            <a:pPr marL="12700">
              <a:lnSpc>
                <a:spcPct val="100000"/>
              </a:lnSpc>
              <a:spcBef>
                <a:spcPts val="105"/>
              </a:spcBef>
            </a:pPr>
            <a:r>
              <a:rPr spc="-10" dirty="0">
                <a:solidFill>
                  <a:srgbClr val="3F3F3F"/>
                </a:solidFill>
              </a:rPr>
              <a:t>状态机定义</a:t>
            </a:r>
          </a:p>
        </p:txBody>
      </p:sp>
      <p:sp>
        <p:nvSpPr>
          <p:cNvPr id="5" name="object 5"/>
          <p:cNvSpPr txBox="1"/>
          <p:nvPr/>
        </p:nvSpPr>
        <p:spPr>
          <a:xfrm>
            <a:off x="603637" y="6563359"/>
            <a:ext cx="99695" cy="185420"/>
          </a:xfrm>
          <a:prstGeom prst="rect">
            <a:avLst/>
          </a:prstGeom>
        </p:spPr>
        <p:txBody>
          <a:bodyPr vert="horz" wrap="square" lIns="0" tIns="12700" rIns="0" bIns="0" rtlCol="0">
            <a:spAutoFit/>
          </a:bodyPr>
          <a:lstStyle/>
          <a:p>
            <a:pPr marL="12700">
              <a:lnSpc>
                <a:spcPct val="100000"/>
              </a:lnSpc>
              <a:spcBef>
                <a:spcPts val="100"/>
              </a:spcBef>
            </a:pPr>
            <a:r>
              <a:rPr sz="1050" spc="-50" dirty="0">
                <a:latin typeface="Arial"/>
                <a:cs typeface="Arial"/>
              </a:rPr>
              <a:t>5</a:t>
            </a:r>
            <a:endParaRPr sz="105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3637" y="1037336"/>
            <a:ext cx="1808480" cy="453390"/>
          </a:xfrm>
          <a:prstGeom prst="rect">
            <a:avLst/>
          </a:prstGeom>
        </p:spPr>
        <p:txBody>
          <a:bodyPr vert="horz" wrap="square" lIns="0" tIns="13335" rIns="0" bIns="0" rtlCol="0">
            <a:spAutoFit/>
          </a:bodyPr>
          <a:lstStyle/>
          <a:p>
            <a:pPr marL="12700">
              <a:lnSpc>
                <a:spcPct val="100000"/>
              </a:lnSpc>
              <a:spcBef>
                <a:spcPts val="105"/>
              </a:spcBef>
            </a:pPr>
            <a:r>
              <a:rPr spc="-10" dirty="0"/>
              <a:t>状态机优点</a:t>
            </a:r>
          </a:p>
        </p:txBody>
      </p:sp>
      <p:sp>
        <p:nvSpPr>
          <p:cNvPr id="4" name="object 4"/>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5" name="object 5"/>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6</a:t>
            </a:fld>
            <a:endParaRPr spc="-25" dirty="0"/>
          </a:p>
        </p:txBody>
      </p:sp>
      <p:sp>
        <p:nvSpPr>
          <p:cNvPr id="3" name="object 3"/>
          <p:cNvSpPr txBox="1"/>
          <p:nvPr/>
        </p:nvSpPr>
        <p:spPr>
          <a:xfrm>
            <a:off x="679837" y="1690937"/>
            <a:ext cx="9241790" cy="3361690"/>
          </a:xfrm>
          <a:prstGeom prst="rect">
            <a:avLst/>
          </a:prstGeom>
        </p:spPr>
        <p:txBody>
          <a:bodyPr vert="horz" wrap="square" lIns="0" tIns="173355" rIns="0" bIns="0" rtlCol="0">
            <a:spAutoFit/>
          </a:bodyPr>
          <a:lstStyle/>
          <a:p>
            <a:pPr marL="413384" indent="-400685">
              <a:lnSpc>
                <a:spcPct val="100000"/>
              </a:lnSpc>
              <a:spcBef>
                <a:spcPts val="1365"/>
              </a:spcBef>
              <a:buFont typeface="Wingdings"/>
              <a:buChar char=""/>
              <a:tabLst>
                <a:tab pos="413384" algn="l"/>
              </a:tabLst>
            </a:pPr>
            <a:r>
              <a:rPr sz="2450" b="1" spc="-10" dirty="0">
                <a:latin typeface="微软雅黑"/>
                <a:cs typeface="微软雅黑"/>
              </a:rPr>
              <a:t>高效的顺序控制模型</a:t>
            </a:r>
            <a:endParaRPr sz="2450">
              <a:latin typeface="微软雅黑"/>
              <a:cs typeface="微软雅黑"/>
            </a:endParaRPr>
          </a:p>
          <a:p>
            <a:pPr marL="513715" marR="5080" indent="-5080">
              <a:lnSpc>
                <a:spcPct val="122300"/>
              </a:lnSpc>
              <a:spcBef>
                <a:spcPts val="425"/>
              </a:spcBef>
            </a:pPr>
            <a:r>
              <a:rPr sz="1550" dirty="0">
                <a:latin typeface="宋体"/>
                <a:cs typeface="宋体"/>
              </a:rPr>
              <a:t>克服了纯硬件数字系统顺序方式控制不灵活的缺点，在其运行方式上类似于控制灵活和方便的</a:t>
            </a:r>
            <a:r>
              <a:rPr sz="1550" spc="-20" dirty="0">
                <a:latin typeface="宋体"/>
                <a:cs typeface="宋体"/>
              </a:rPr>
              <a:t>CPU，</a:t>
            </a:r>
            <a:r>
              <a:rPr sz="1550" spc="-5" dirty="0">
                <a:latin typeface="宋体"/>
                <a:cs typeface="宋体"/>
              </a:rPr>
              <a:t>是高速高效控制的首选。</a:t>
            </a:r>
            <a:endParaRPr sz="1550">
              <a:latin typeface="宋体"/>
              <a:cs typeface="宋体"/>
            </a:endParaRPr>
          </a:p>
          <a:p>
            <a:pPr marL="413384" indent="-400685">
              <a:lnSpc>
                <a:spcPct val="100000"/>
              </a:lnSpc>
              <a:spcBef>
                <a:spcPts val="1765"/>
              </a:spcBef>
              <a:buFont typeface="Wingdings"/>
              <a:buChar char=""/>
              <a:tabLst>
                <a:tab pos="413384" algn="l"/>
              </a:tabLst>
            </a:pPr>
            <a:r>
              <a:rPr sz="2450" b="1" dirty="0">
                <a:latin typeface="微软雅黑"/>
                <a:cs typeface="微软雅黑"/>
              </a:rPr>
              <a:t>容易利用现成的</a:t>
            </a:r>
            <a:r>
              <a:rPr sz="2450" b="1" spc="-20" dirty="0">
                <a:latin typeface="微软雅黑"/>
                <a:cs typeface="微软雅黑"/>
              </a:rPr>
              <a:t>EDA</a:t>
            </a:r>
            <a:r>
              <a:rPr sz="2450" b="1" spc="-10" dirty="0">
                <a:latin typeface="微软雅黑"/>
                <a:cs typeface="微软雅黑"/>
              </a:rPr>
              <a:t>工具进行优化设计</a:t>
            </a:r>
            <a:endParaRPr sz="2450">
              <a:latin typeface="微软雅黑"/>
              <a:cs typeface="微软雅黑"/>
            </a:endParaRPr>
          </a:p>
          <a:p>
            <a:pPr marL="730250" lvl="1" indent="-220979">
              <a:lnSpc>
                <a:spcPct val="100000"/>
              </a:lnSpc>
              <a:spcBef>
                <a:spcPts val="840"/>
              </a:spcBef>
              <a:buFont typeface="Arial"/>
              <a:buAutoNum type="arabicPeriod"/>
              <a:tabLst>
                <a:tab pos="730250" algn="l"/>
              </a:tabLst>
            </a:pPr>
            <a:r>
              <a:rPr sz="1550" dirty="0">
                <a:latin typeface="宋体"/>
                <a:cs typeface="宋体"/>
              </a:rPr>
              <a:t>状态机构建简单，设计方案相对固定，使用HDL</a:t>
            </a:r>
            <a:r>
              <a:rPr sz="1550" spc="-5" dirty="0">
                <a:latin typeface="宋体"/>
                <a:cs typeface="宋体"/>
              </a:rPr>
              <a:t>综合器可以发挥其强大的优化功能；</a:t>
            </a:r>
            <a:endParaRPr sz="1550">
              <a:latin typeface="宋体"/>
              <a:cs typeface="宋体"/>
            </a:endParaRPr>
          </a:p>
          <a:p>
            <a:pPr marL="713740" lvl="1" indent="-209550">
              <a:lnSpc>
                <a:spcPct val="100000"/>
              </a:lnSpc>
              <a:spcBef>
                <a:spcPts val="409"/>
              </a:spcBef>
              <a:buSzPct val="93548"/>
              <a:buAutoNum type="arabicPeriod"/>
              <a:tabLst>
                <a:tab pos="713740" algn="l"/>
              </a:tabLst>
            </a:pPr>
            <a:r>
              <a:rPr sz="1550" spc="-5" dirty="0">
                <a:latin typeface="宋体"/>
                <a:cs typeface="宋体"/>
              </a:rPr>
              <a:t>性能良好的综合器都具备许多可控或自动优化状态机的功能</a:t>
            </a:r>
            <a:endParaRPr sz="1550">
              <a:latin typeface="宋体"/>
              <a:cs typeface="宋体"/>
            </a:endParaRPr>
          </a:p>
          <a:p>
            <a:pPr marL="413384" indent="-400685">
              <a:lnSpc>
                <a:spcPct val="100000"/>
              </a:lnSpc>
              <a:spcBef>
                <a:spcPts val="1764"/>
              </a:spcBef>
              <a:buFont typeface="Wingdings"/>
              <a:buChar char=""/>
              <a:tabLst>
                <a:tab pos="413384" algn="l"/>
              </a:tabLst>
            </a:pPr>
            <a:r>
              <a:rPr sz="2450" b="1" spc="-15" dirty="0">
                <a:latin typeface="微软雅黑"/>
                <a:cs typeface="微软雅黑"/>
              </a:rPr>
              <a:t>稳定性能</a:t>
            </a:r>
            <a:endParaRPr sz="2450">
              <a:latin typeface="微软雅黑"/>
              <a:cs typeface="微软雅黑"/>
            </a:endParaRPr>
          </a:p>
          <a:p>
            <a:pPr marL="509270">
              <a:lnSpc>
                <a:spcPct val="100000"/>
              </a:lnSpc>
              <a:spcBef>
                <a:spcPts val="840"/>
              </a:spcBef>
            </a:pPr>
            <a:r>
              <a:rPr sz="1550" spc="-5" dirty="0">
                <a:latin typeface="宋体"/>
                <a:cs typeface="宋体"/>
              </a:rPr>
              <a:t>状态机容易构成良好的同步时序逻辑模块，可用于解决大规模逻辑电路设计中的竞争和冒险现象。</a:t>
            </a:r>
            <a:endParaRPr sz="1550">
              <a:latin typeface="宋体"/>
              <a:cs typeface="宋体"/>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429259">
              <a:lnSpc>
                <a:spcPct val="100000"/>
              </a:lnSpc>
              <a:spcBef>
                <a:spcPts val="105"/>
              </a:spcBef>
            </a:pPr>
            <a:r>
              <a:rPr dirty="0"/>
              <a:t>状态机优点（续</a:t>
            </a:r>
            <a:r>
              <a:rPr spc="-50" dirty="0"/>
              <a:t>）</a:t>
            </a:r>
          </a:p>
        </p:txBody>
      </p:sp>
      <p:sp>
        <p:nvSpPr>
          <p:cNvPr id="4" name="object 4"/>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5" name="object 5"/>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7</a:t>
            </a:fld>
            <a:endParaRPr spc="-25" dirty="0"/>
          </a:p>
        </p:txBody>
      </p:sp>
      <p:sp>
        <p:nvSpPr>
          <p:cNvPr id="3" name="object 3"/>
          <p:cNvSpPr txBox="1"/>
          <p:nvPr/>
        </p:nvSpPr>
        <p:spPr>
          <a:xfrm>
            <a:off x="758323" y="2058984"/>
            <a:ext cx="9040495" cy="2606040"/>
          </a:xfrm>
          <a:prstGeom prst="rect">
            <a:avLst/>
          </a:prstGeom>
        </p:spPr>
        <p:txBody>
          <a:bodyPr vert="horz" wrap="square" lIns="0" tIns="173355" rIns="0" bIns="0" rtlCol="0">
            <a:spAutoFit/>
          </a:bodyPr>
          <a:lstStyle/>
          <a:p>
            <a:pPr marL="413384" indent="-400685">
              <a:lnSpc>
                <a:spcPct val="100000"/>
              </a:lnSpc>
              <a:spcBef>
                <a:spcPts val="1365"/>
              </a:spcBef>
              <a:buFont typeface="Wingdings"/>
              <a:buChar char=""/>
              <a:tabLst>
                <a:tab pos="413384" algn="l"/>
              </a:tabLst>
            </a:pPr>
            <a:r>
              <a:rPr sz="2450" b="1" spc="-15" dirty="0">
                <a:latin typeface="微软雅黑"/>
                <a:cs typeface="微软雅黑"/>
              </a:rPr>
              <a:t>高速性能</a:t>
            </a:r>
            <a:endParaRPr sz="2450">
              <a:latin typeface="微软雅黑"/>
              <a:cs typeface="微软雅黑"/>
            </a:endParaRPr>
          </a:p>
          <a:p>
            <a:pPr marL="509270">
              <a:lnSpc>
                <a:spcPct val="100000"/>
              </a:lnSpc>
              <a:spcBef>
                <a:spcPts val="840"/>
              </a:spcBef>
            </a:pPr>
            <a:r>
              <a:rPr sz="1550" dirty="0">
                <a:latin typeface="宋体"/>
                <a:cs typeface="宋体"/>
              </a:rPr>
              <a:t>在高速通信和高速控制方面，状态机更具有其巨大的优势，一个状态机的功能类似于CPU</a:t>
            </a:r>
            <a:r>
              <a:rPr sz="1550" spc="-15" dirty="0">
                <a:latin typeface="宋体"/>
                <a:cs typeface="宋体"/>
              </a:rPr>
              <a:t>的功能。</a:t>
            </a:r>
            <a:endParaRPr sz="1550">
              <a:latin typeface="宋体"/>
              <a:cs typeface="宋体"/>
            </a:endParaRPr>
          </a:p>
          <a:p>
            <a:pPr>
              <a:lnSpc>
                <a:spcPct val="100000"/>
              </a:lnSpc>
              <a:spcBef>
                <a:spcPts val="125"/>
              </a:spcBef>
            </a:pPr>
            <a:endParaRPr sz="1550">
              <a:latin typeface="宋体"/>
              <a:cs typeface="宋体"/>
            </a:endParaRPr>
          </a:p>
          <a:p>
            <a:pPr marL="413384" indent="-400685">
              <a:lnSpc>
                <a:spcPct val="100000"/>
              </a:lnSpc>
              <a:buFont typeface="Wingdings"/>
              <a:buChar char=""/>
              <a:tabLst>
                <a:tab pos="413384" algn="l"/>
              </a:tabLst>
            </a:pPr>
            <a:r>
              <a:rPr sz="2450" b="1" spc="-10" dirty="0">
                <a:latin typeface="微软雅黑"/>
                <a:cs typeface="微软雅黑"/>
              </a:rPr>
              <a:t>高可靠性能</a:t>
            </a:r>
            <a:endParaRPr sz="2450">
              <a:latin typeface="微软雅黑"/>
              <a:cs typeface="微软雅黑"/>
            </a:endParaRPr>
          </a:p>
          <a:p>
            <a:pPr marL="709295" lvl="1" indent="-200025">
              <a:lnSpc>
                <a:spcPct val="100000"/>
              </a:lnSpc>
              <a:spcBef>
                <a:spcPts val="840"/>
              </a:spcBef>
              <a:buSzPct val="93548"/>
              <a:buAutoNum type="arabicPeriod"/>
              <a:tabLst>
                <a:tab pos="709295" algn="l"/>
              </a:tabLst>
            </a:pPr>
            <a:r>
              <a:rPr sz="1550" dirty="0">
                <a:latin typeface="宋体"/>
                <a:cs typeface="宋体"/>
              </a:rPr>
              <a:t>状态机是由纯硬件电路构成，不存在CPU</a:t>
            </a:r>
            <a:r>
              <a:rPr sz="1550" spc="-5" dirty="0">
                <a:latin typeface="宋体"/>
                <a:cs typeface="宋体"/>
              </a:rPr>
              <a:t>运行软件过程中许多固有的缺陷；</a:t>
            </a:r>
            <a:endParaRPr sz="1550">
              <a:latin typeface="宋体"/>
              <a:cs typeface="宋体"/>
            </a:endParaRPr>
          </a:p>
          <a:p>
            <a:pPr marL="713740" lvl="1" indent="-200025">
              <a:lnSpc>
                <a:spcPct val="100000"/>
              </a:lnSpc>
              <a:spcBef>
                <a:spcPts val="919"/>
              </a:spcBef>
              <a:buSzPct val="93548"/>
              <a:buAutoNum type="arabicPeriod"/>
              <a:tabLst>
                <a:tab pos="713740" algn="l"/>
              </a:tabLst>
            </a:pPr>
            <a:r>
              <a:rPr sz="1550" spc="-5" dirty="0">
                <a:latin typeface="宋体"/>
                <a:cs typeface="宋体"/>
              </a:rPr>
              <a:t>状态机的设计中能使用各种容错技术</a:t>
            </a:r>
            <a:endParaRPr sz="1550">
              <a:latin typeface="宋体"/>
              <a:cs typeface="宋体"/>
            </a:endParaRPr>
          </a:p>
          <a:p>
            <a:pPr marL="713740" lvl="1" indent="-200025">
              <a:lnSpc>
                <a:spcPct val="100000"/>
              </a:lnSpc>
              <a:spcBef>
                <a:spcPts val="985"/>
              </a:spcBef>
              <a:buSzPct val="93548"/>
              <a:buAutoNum type="arabicPeriod"/>
              <a:tabLst>
                <a:tab pos="713740" algn="l"/>
              </a:tabLst>
            </a:pPr>
            <a:r>
              <a:rPr sz="1550" spc="-5" dirty="0">
                <a:latin typeface="宋体"/>
                <a:cs typeface="宋体"/>
              </a:rPr>
              <a:t>当状态机进入非法状态并从中跳出，进入正常状态的时间短暂，对系统的危害不大。</a:t>
            </a:r>
            <a:endParaRPr sz="1550">
              <a:latin typeface="宋体"/>
              <a:cs typeface="宋体"/>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429895">
              <a:lnSpc>
                <a:spcPct val="100000"/>
              </a:lnSpc>
              <a:spcBef>
                <a:spcPts val="105"/>
              </a:spcBef>
            </a:pPr>
            <a:r>
              <a:rPr spc="-10" dirty="0"/>
              <a:t>有限状态机（FSM）</a:t>
            </a:r>
          </a:p>
        </p:txBody>
      </p:sp>
      <p:sp>
        <p:nvSpPr>
          <p:cNvPr id="3" name="object 3"/>
          <p:cNvSpPr txBox="1"/>
          <p:nvPr/>
        </p:nvSpPr>
        <p:spPr>
          <a:xfrm>
            <a:off x="525906" y="1598312"/>
            <a:ext cx="8576310" cy="1950720"/>
          </a:xfrm>
          <a:prstGeom prst="rect">
            <a:avLst/>
          </a:prstGeom>
        </p:spPr>
        <p:txBody>
          <a:bodyPr vert="horz" wrap="square" lIns="0" tIns="12700" rIns="0" bIns="0" rtlCol="0">
            <a:spAutoFit/>
          </a:bodyPr>
          <a:lstStyle/>
          <a:p>
            <a:pPr marL="12700" marR="5080" indent="668020">
              <a:lnSpc>
                <a:spcPct val="150300"/>
              </a:lnSpc>
              <a:spcBef>
                <a:spcPts val="100"/>
              </a:spcBef>
            </a:pPr>
            <a:r>
              <a:rPr sz="2100" spc="-10" dirty="0">
                <a:latin typeface="宋体"/>
                <a:cs typeface="宋体"/>
              </a:rPr>
              <a:t>有限状态机（FSM）的基本框图和常规时序电路一样，图5.1</a:t>
            </a:r>
            <a:r>
              <a:rPr sz="2100" spc="-30" dirty="0">
                <a:latin typeface="宋体"/>
                <a:cs typeface="宋体"/>
              </a:rPr>
              <a:t>描述</a:t>
            </a:r>
            <a:r>
              <a:rPr sz="2100" spc="-50" dirty="0">
                <a:latin typeface="宋体"/>
                <a:cs typeface="宋体"/>
              </a:rPr>
              <a:t>  </a:t>
            </a:r>
            <a:r>
              <a:rPr sz="2100" spc="-15" dirty="0">
                <a:latin typeface="宋体"/>
                <a:cs typeface="宋体"/>
              </a:rPr>
              <a:t>了一个经典状态机的示意图，它由状态寄存器和组合逻辑单元组成。其中</a:t>
            </a:r>
            <a:r>
              <a:rPr sz="2100" spc="-10" dirty="0">
                <a:latin typeface="宋体"/>
                <a:cs typeface="宋体"/>
              </a:rPr>
              <a:t>，x(t)为当前输入；z(t)为当前输出；状态寄存器的输出s(t)</a:t>
            </a:r>
            <a:r>
              <a:rPr sz="2100" spc="-20" dirty="0">
                <a:latin typeface="宋体"/>
                <a:cs typeface="宋体"/>
              </a:rPr>
              <a:t>为现态；组</a:t>
            </a:r>
            <a:r>
              <a:rPr sz="2100" spc="-10" dirty="0">
                <a:latin typeface="宋体"/>
                <a:cs typeface="宋体"/>
              </a:rPr>
              <a:t>合逻辑电路输出s(t+1)</a:t>
            </a:r>
            <a:r>
              <a:rPr sz="2100" spc="-20" dirty="0">
                <a:latin typeface="宋体"/>
                <a:cs typeface="宋体"/>
              </a:rPr>
              <a:t>则为次态。</a:t>
            </a:r>
            <a:endParaRPr sz="2100">
              <a:latin typeface="宋体"/>
              <a:cs typeface="宋体"/>
            </a:endParaRPr>
          </a:p>
        </p:txBody>
      </p:sp>
      <p:pic>
        <p:nvPicPr>
          <p:cNvPr id="4" name="object 4"/>
          <p:cNvPicPr/>
          <p:nvPr/>
        </p:nvPicPr>
        <p:blipFill>
          <a:blip r:embed="rId2" cstate="print"/>
          <a:stretch>
            <a:fillRect/>
          </a:stretch>
        </p:blipFill>
        <p:spPr>
          <a:xfrm>
            <a:off x="1668128" y="4051243"/>
            <a:ext cx="5179382" cy="1787910"/>
          </a:xfrm>
          <a:prstGeom prst="rect">
            <a:avLst/>
          </a:prstGeom>
        </p:spPr>
      </p:pic>
      <p:sp>
        <p:nvSpPr>
          <p:cNvPr id="5" name="object 5"/>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6" name="object 6"/>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8</a:t>
            </a:fld>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3637" y="1037336"/>
            <a:ext cx="1808480" cy="453390"/>
          </a:xfrm>
          <a:prstGeom prst="rect">
            <a:avLst/>
          </a:prstGeom>
        </p:spPr>
        <p:txBody>
          <a:bodyPr vert="horz" wrap="square" lIns="0" tIns="13335" rIns="0" bIns="0" rtlCol="0">
            <a:spAutoFit/>
          </a:bodyPr>
          <a:lstStyle/>
          <a:p>
            <a:pPr marL="12700">
              <a:lnSpc>
                <a:spcPct val="100000"/>
              </a:lnSpc>
              <a:spcBef>
                <a:spcPts val="105"/>
              </a:spcBef>
            </a:pPr>
            <a:r>
              <a:rPr spc="-10" dirty="0"/>
              <a:t>状态机分类</a:t>
            </a:r>
          </a:p>
        </p:txBody>
      </p:sp>
      <p:sp>
        <p:nvSpPr>
          <p:cNvPr id="4" name="object 4"/>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5" name="object 5"/>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9</a:t>
            </a:fld>
            <a:endParaRPr spc="-25" dirty="0"/>
          </a:p>
        </p:txBody>
      </p:sp>
      <p:sp>
        <p:nvSpPr>
          <p:cNvPr id="3" name="object 3"/>
          <p:cNvSpPr txBox="1"/>
          <p:nvPr/>
        </p:nvSpPr>
        <p:spPr>
          <a:xfrm>
            <a:off x="1103509" y="2019698"/>
            <a:ext cx="8419465" cy="3083560"/>
          </a:xfrm>
          <a:prstGeom prst="rect">
            <a:avLst/>
          </a:prstGeom>
        </p:spPr>
        <p:txBody>
          <a:bodyPr vert="horz" wrap="square" lIns="0" tIns="173990" rIns="0" bIns="0" rtlCol="0">
            <a:spAutoFit/>
          </a:bodyPr>
          <a:lstStyle/>
          <a:p>
            <a:pPr marL="12700">
              <a:lnSpc>
                <a:spcPct val="100000"/>
              </a:lnSpc>
              <a:spcBef>
                <a:spcPts val="1370"/>
              </a:spcBef>
            </a:pPr>
            <a:r>
              <a:rPr sz="2100" spc="-15" dirty="0">
                <a:latin typeface="宋体"/>
                <a:cs typeface="宋体"/>
              </a:rPr>
              <a:t>状态机主要分为两种类型：</a:t>
            </a:r>
            <a:endParaRPr sz="2100">
              <a:latin typeface="宋体"/>
              <a:cs typeface="宋体"/>
            </a:endParaRPr>
          </a:p>
          <a:p>
            <a:pPr marL="464184" indent="-451484">
              <a:lnSpc>
                <a:spcPct val="100000"/>
              </a:lnSpc>
              <a:spcBef>
                <a:spcPts val="1270"/>
              </a:spcBef>
              <a:buAutoNum type="arabicPeriod"/>
              <a:tabLst>
                <a:tab pos="464184" algn="l"/>
              </a:tabLst>
            </a:pPr>
            <a:r>
              <a:rPr sz="2100" b="1" spc="-10" dirty="0">
                <a:latin typeface="微软雅黑"/>
                <a:cs typeface="微软雅黑"/>
              </a:rPr>
              <a:t>Moore</a:t>
            </a:r>
            <a:r>
              <a:rPr sz="2100" b="1" spc="-5" dirty="0">
                <a:latin typeface="微软雅黑"/>
                <a:cs typeface="微软雅黑"/>
              </a:rPr>
              <a:t>型状态机：</a:t>
            </a:r>
            <a:r>
              <a:rPr sz="1750" spc="-5" dirty="0">
                <a:latin typeface="宋体"/>
                <a:cs typeface="宋体"/>
              </a:rPr>
              <a:t>状态机的输出只由当前状态决定。即：</a:t>
            </a:r>
            <a:endParaRPr sz="1750">
              <a:latin typeface="宋体"/>
              <a:cs typeface="宋体"/>
            </a:endParaRPr>
          </a:p>
          <a:p>
            <a:pPr marL="2165350">
              <a:lnSpc>
                <a:spcPct val="100000"/>
              </a:lnSpc>
              <a:spcBef>
                <a:spcPts val="1145"/>
              </a:spcBef>
            </a:pPr>
            <a:r>
              <a:rPr sz="1750" dirty="0">
                <a:latin typeface="宋体"/>
                <a:cs typeface="宋体"/>
              </a:rPr>
              <a:t>次态=f(现状，输入)，输出=f（现状</a:t>
            </a:r>
            <a:r>
              <a:rPr sz="1750" spc="-25" dirty="0">
                <a:latin typeface="宋体"/>
                <a:cs typeface="宋体"/>
              </a:rPr>
              <a:t>）；</a:t>
            </a:r>
            <a:endParaRPr sz="1750">
              <a:latin typeface="宋体"/>
              <a:cs typeface="宋体"/>
            </a:endParaRPr>
          </a:p>
          <a:p>
            <a:pPr>
              <a:lnSpc>
                <a:spcPct val="100000"/>
              </a:lnSpc>
              <a:spcBef>
                <a:spcPts val="915"/>
              </a:spcBef>
            </a:pPr>
            <a:endParaRPr sz="1750">
              <a:latin typeface="宋体"/>
              <a:cs typeface="宋体"/>
            </a:endParaRPr>
          </a:p>
          <a:p>
            <a:pPr marL="463550" marR="5080" indent="-451484">
              <a:lnSpc>
                <a:spcPct val="145300"/>
              </a:lnSpc>
              <a:spcBef>
                <a:spcPts val="5"/>
              </a:spcBef>
              <a:buAutoNum type="arabicPeriod" startAt="2"/>
              <a:tabLst>
                <a:tab pos="463550" algn="l"/>
              </a:tabLst>
            </a:pPr>
            <a:r>
              <a:rPr sz="2100" b="1" spc="-10" dirty="0">
                <a:latin typeface="微软雅黑"/>
                <a:cs typeface="微软雅黑"/>
              </a:rPr>
              <a:t>Mealy型状态机：</a:t>
            </a:r>
            <a:r>
              <a:rPr sz="1750" spc="-5" dirty="0">
                <a:latin typeface="宋体"/>
                <a:cs typeface="宋体"/>
              </a:rPr>
              <a:t>状态机的输出不但与当前状态有关，还与当前输入值有关，</a:t>
            </a:r>
            <a:r>
              <a:rPr sz="1750" spc="-25" dirty="0">
                <a:latin typeface="宋体"/>
                <a:cs typeface="宋体"/>
              </a:rPr>
              <a:t>即：</a:t>
            </a:r>
            <a:endParaRPr sz="1750">
              <a:latin typeface="宋体"/>
              <a:cs typeface="宋体"/>
            </a:endParaRPr>
          </a:p>
          <a:p>
            <a:pPr marL="2110105">
              <a:lnSpc>
                <a:spcPct val="100000"/>
              </a:lnSpc>
              <a:spcBef>
                <a:spcPts val="1055"/>
              </a:spcBef>
            </a:pPr>
            <a:r>
              <a:rPr sz="1750" dirty="0">
                <a:latin typeface="宋体"/>
                <a:cs typeface="宋体"/>
              </a:rPr>
              <a:t>次态=f(现状，输入)，输出=f（现状，输入</a:t>
            </a:r>
            <a:r>
              <a:rPr sz="1750" spc="-25" dirty="0">
                <a:latin typeface="宋体"/>
                <a:cs typeface="宋体"/>
              </a:rPr>
              <a:t>）；</a:t>
            </a:r>
            <a:endParaRPr sz="1750">
              <a:latin typeface="宋体"/>
              <a:cs typeface="宋体"/>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3637" y="1067815"/>
            <a:ext cx="2315210" cy="399415"/>
          </a:xfrm>
          <a:prstGeom prst="rect">
            <a:avLst/>
          </a:prstGeom>
        </p:spPr>
        <p:txBody>
          <a:bodyPr vert="horz" wrap="square" lIns="0" tIns="13335" rIns="0" bIns="0" rtlCol="0">
            <a:spAutoFit/>
          </a:bodyPr>
          <a:lstStyle/>
          <a:p>
            <a:pPr marL="12700">
              <a:lnSpc>
                <a:spcPct val="100000"/>
              </a:lnSpc>
              <a:spcBef>
                <a:spcPts val="105"/>
              </a:spcBef>
            </a:pPr>
            <a:r>
              <a:rPr sz="2450" b="1" spc="-10" dirty="0">
                <a:latin typeface="微软雅黑"/>
                <a:cs typeface="微软雅黑"/>
              </a:rPr>
              <a:t>Moore</a:t>
            </a:r>
            <a:r>
              <a:rPr sz="2450" b="1" spc="-15" dirty="0">
                <a:latin typeface="微软雅黑"/>
                <a:cs typeface="微软雅黑"/>
              </a:rPr>
              <a:t>型状态机</a:t>
            </a:r>
            <a:endParaRPr sz="2450">
              <a:latin typeface="微软雅黑"/>
              <a:cs typeface="微软雅黑"/>
            </a:endParaRPr>
          </a:p>
        </p:txBody>
      </p:sp>
      <p:pic>
        <p:nvPicPr>
          <p:cNvPr id="3" name="object 3"/>
          <p:cNvPicPr/>
          <p:nvPr/>
        </p:nvPicPr>
        <p:blipFill>
          <a:blip r:embed="rId2" cstate="print"/>
          <a:stretch>
            <a:fillRect/>
          </a:stretch>
        </p:blipFill>
        <p:spPr>
          <a:xfrm>
            <a:off x="1753485" y="1944365"/>
            <a:ext cx="6427245" cy="1753788"/>
          </a:xfrm>
          <a:prstGeom prst="rect">
            <a:avLst/>
          </a:prstGeom>
        </p:spPr>
      </p:pic>
      <p:sp>
        <p:nvSpPr>
          <p:cNvPr id="4" name="object 4"/>
          <p:cNvSpPr txBox="1"/>
          <p:nvPr/>
        </p:nvSpPr>
        <p:spPr>
          <a:xfrm>
            <a:off x="1638433" y="4078622"/>
            <a:ext cx="7242175" cy="1470025"/>
          </a:xfrm>
          <a:prstGeom prst="rect">
            <a:avLst/>
          </a:prstGeom>
        </p:spPr>
        <p:txBody>
          <a:bodyPr vert="horz" wrap="square" lIns="0" tIns="12700" rIns="0" bIns="0" rtlCol="0">
            <a:spAutoFit/>
          </a:bodyPr>
          <a:lstStyle/>
          <a:p>
            <a:pPr marL="12700" marR="5080" algn="just">
              <a:lnSpc>
                <a:spcPct val="150400"/>
              </a:lnSpc>
              <a:spcBef>
                <a:spcPts val="100"/>
              </a:spcBef>
            </a:pPr>
            <a:r>
              <a:rPr sz="2100" spc="-20" dirty="0">
                <a:latin typeface="Calibri"/>
                <a:cs typeface="Calibri"/>
              </a:rPr>
              <a:t>Mooer</a:t>
            </a:r>
            <a:r>
              <a:rPr sz="2100" spc="-15" dirty="0">
                <a:latin typeface="微软雅黑"/>
                <a:cs typeface="微软雅黑"/>
              </a:rPr>
              <a:t>状态机的输出只与当前的状态有关，也就是由当前的状态决定输出，而与此时的输入无关，输入只决定状态机的状态改变，不影响电路最终的输出。</a:t>
            </a:r>
            <a:endParaRPr sz="2100">
              <a:latin typeface="微软雅黑"/>
              <a:cs typeface="微软雅黑"/>
            </a:endParaRPr>
          </a:p>
        </p:txBody>
      </p:sp>
      <p:sp>
        <p:nvSpPr>
          <p:cNvPr id="5" name="object 5"/>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6" name="object 6"/>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10</a:t>
            </a:fld>
            <a:endParaRPr spc="-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3637" y="1067815"/>
            <a:ext cx="2225675" cy="399415"/>
          </a:xfrm>
          <a:prstGeom prst="rect">
            <a:avLst/>
          </a:prstGeom>
        </p:spPr>
        <p:txBody>
          <a:bodyPr vert="horz" wrap="square" lIns="0" tIns="13335" rIns="0" bIns="0" rtlCol="0">
            <a:spAutoFit/>
          </a:bodyPr>
          <a:lstStyle/>
          <a:p>
            <a:pPr marL="12700">
              <a:lnSpc>
                <a:spcPct val="100000"/>
              </a:lnSpc>
              <a:spcBef>
                <a:spcPts val="105"/>
              </a:spcBef>
            </a:pPr>
            <a:r>
              <a:rPr sz="2450" b="1" dirty="0">
                <a:latin typeface="微软雅黑"/>
                <a:cs typeface="微软雅黑"/>
              </a:rPr>
              <a:t>Mealy</a:t>
            </a:r>
            <a:r>
              <a:rPr sz="2450" b="1" spc="-15" dirty="0">
                <a:latin typeface="微软雅黑"/>
                <a:cs typeface="微软雅黑"/>
              </a:rPr>
              <a:t>型状态机</a:t>
            </a:r>
            <a:endParaRPr sz="2450">
              <a:latin typeface="微软雅黑"/>
              <a:cs typeface="微软雅黑"/>
            </a:endParaRPr>
          </a:p>
        </p:txBody>
      </p:sp>
      <p:pic>
        <p:nvPicPr>
          <p:cNvPr id="3" name="object 3"/>
          <p:cNvPicPr/>
          <p:nvPr/>
        </p:nvPicPr>
        <p:blipFill>
          <a:blip r:embed="rId2" cstate="print"/>
          <a:stretch>
            <a:fillRect/>
          </a:stretch>
        </p:blipFill>
        <p:spPr>
          <a:xfrm>
            <a:off x="1786921" y="1964729"/>
            <a:ext cx="5698288" cy="1758402"/>
          </a:xfrm>
          <a:prstGeom prst="rect">
            <a:avLst/>
          </a:prstGeom>
        </p:spPr>
      </p:pic>
      <p:sp>
        <p:nvSpPr>
          <p:cNvPr id="4" name="object 4"/>
          <p:cNvSpPr txBox="1">
            <a:spLocks noGrp="1"/>
          </p:cNvSpPr>
          <p:nvPr>
            <p:ph type="subTitle" idx="4"/>
          </p:nvPr>
        </p:nvSpPr>
        <p:spPr>
          <a:prstGeom prst="rect">
            <a:avLst/>
          </a:prstGeom>
        </p:spPr>
        <p:txBody>
          <a:bodyPr vert="horz" wrap="square" lIns="0" tIns="12700" rIns="0" bIns="0" rtlCol="0">
            <a:spAutoFit/>
          </a:bodyPr>
          <a:lstStyle/>
          <a:p>
            <a:pPr marL="12700" marR="5080">
              <a:lnSpc>
                <a:spcPct val="150400"/>
              </a:lnSpc>
              <a:spcBef>
                <a:spcPts val="100"/>
              </a:spcBef>
            </a:pPr>
            <a:r>
              <a:rPr sz="2100" spc="-10" dirty="0">
                <a:latin typeface="宋体"/>
                <a:cs typeface="宋体"/>
              </a:rPr>
              <a:t>Mealy</a:t>
            </a:r>
            <a:r>
              <a:rPr sz="2100" spc="-15" dirty="0">
                <a:latin typeface="宋体"/>
                <a:cs typeface="宋体"/>
              </a:rPr>
              <a:t>状态机的输出不仅与当前的状态有关，还与当前的输入有关，即当前的输入和当前的状态共同决定当前的输</a:t>
            </a:r>
            <a:r>
              <a:rPr sz="2100" spc="-25" dirty="0">
                <a:latin typeface="宋体"/>
                <a:cs typeface="宋体"/>
              </a:rPr>
              <a:t>入。</a:t>
            </a:r>
            <a:endParaRPr sz="2100">
              <a:latin typeface="宋体"/>
              <a:cs typeface="宋体"/>
            </a:endParaRPr>
          </a:p>
        </p:txBody>
      </p:sp>
      <p:sp>
        <p:nvSpPr>
          <p:cNvPr id="5" name="object 5"/>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6" name="object 6"/>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11</a:t>
            </a:fld>
            <a:endParaRPr spc="-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3637" y="1037336"/>
            <a:ext cx="3590925" cy="453390"/>
          </a:xfrm>
          <a:prstGeom prst="rect">
            <a:avLst/>
          </a:prstGeom>
        </p:spPr>
        <p:txBody>
          <a:bodyPr vert="horz" wrap="square" lIns="0" tIns="13335" rIns="0" bIns="0" rtlCol="0">
            <a:spAutoFit/>
          </a:bodyPr>
          <a:lstStyle/>
          <a:p>
            <a:pPr marL="12700">
              <a:lnSpc>
                <a:spcPct val="100000"/>
              </a:lnSpc>
              <a:spcBef>
                <a:spcPts val="105"/>
              </a:spcBef>
            </a:pPr>
            <a:r>
              <a:rPr spc="-15" dirty="0"/>
              <a:t>有限状态机的表示方法</a:t>
            </a:r>
          </a:p>
        </p:txBody>
      </p:sp>
      <p:sp>
        <p:nvSpPr>
          <p:cNvPr id="5" name="object 5"/>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6" name="object 6"/>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12</a:t>
            </a:fld>
            <a:endParaRPr spc="-25" dirty="0"/>
          </a:p>
        </p:txBody>
      </p:sp>
      <p:sp>
        <p:nvSpPr>
          <p:cNvPr id="3" name="object 3"/>
          <p:cNvSpPr txBox="1"/>
          <p:nvPr/>
        </p:nvSpPr>
        <p:spPr>
          <a:xfrm>
            <a:off x="1285627" y="1941562"/>
            <a:ext cx="7926705" cy="2136140"/>
          </a:xfrm>
          <a:prstGeom prst="rect">
            <a:avLst/>
          </a:prstGeom>
        </p:spPr>
        <p:txBody>
          <a:bodyPr vert="horz" wrap="square" lIns="0" tIns="187960" rIns="0" bIns="0" rtlCol="0">
            <a:spAutoFit/>
          </a:bodyPr>
          <a:lstStyle/>
          <a:p>
            <a:pPr marL="393065" indent="-380365">
              <a:lnSpc>
                <a:spcPct val="100000"/>
              </a:lnSpc>
              <a:spcBef>
                <a:spcPts val="1480"/>
              </a:spcBef>
              <a:buAutoNum type="arabicPeriod"/>
              <a:tabLst>
                <a:tab pos="393065" algn="l"/>
              </a:tabLst>
            </a:pPr>
            <a:r>
              <a:rPr sz="2100" b="1" spc="-20" dirty="0">
                <a:latin typeface="微软雅黑"/>
                <a:cs typeface="微软雅黑"/>
              </a:rPr>
              <a:t>状态转移图</a:t>
            </a:r>
            <a:endParaRPr sz="2100">
              <a:latin typeface="微软雅黑"/>
              <a:cs typeface="微软雅黑"/>
            </a:endParaRPr>
          </a:p>
          <a:p>
            <a:pPr marL="413384">
              <a:lnSpc>
                <a:spcPct val="100000"/>
              </a:lnSpc>
              <a:spcBef>
                <a:spcPts val="1150"/>
              </a:spcBef>
            </a:pPr>
            <a:r>
              <a:rPr sz="1750" dirty="0">
                <a:latin typeface="宋体"/>
                <a:cs typeface="宋体"/>
              </a:rPr>
              <a:t>状态转移图表示法更为紧凑，更适合描述较为简单的系统</a:t>
            </a:r>
            <a:r>
              <a:rPr sz="1550" spc="-50" dirty="0">
                <a:latin typeface="宋体"/>
                <a:cs typeface="宋体"/>
              </a:rPr>
              <a:t>。</a:t>
            </a:r>
            <a:endParaRPr sz="1550">
              <a:latin typeface="宋体"/>
              <a:cs typeface="宋体"/>
            </a:endParaRPr>
          </a:p>
          <a:p>
            <a:pPr>
              <a:lnSpc>
                <a:spcPct val="100000"/>
              </a:lnSpc>
              <a:spcBef>
                <a:spcPts val="1425"/>
              </a:spcBef>
            </a:pPr>
            <a:endParaRPr sz="1750">
              <a:latin typeface="宋体"/>
              <a:cs typeface="宋体"/>
            </a:endParaRPr>
          </a:p>
          <a:p>
            <a:pPr marL="412750" indent="-400050">
              <a:lnSpc>
                <a:spcPct val="100000"/>
              </a:lnSpc>
              <a:buAutoNum type="arabicPeriod" startAt="2"/>
              <a:tabLst>
                <a:tab pos="412750" algn="l"/>
              </a:tabLst>
            </a:pPr>
            <a:r>
              <a:rPr sz="2100" b="1" spc="-10" dirty="0">
                <a:latin typeface="微软雅黑"/>
                <a:cs typeface="微软雅黑"/>
              </a:rPr>
              <a:t>算法状态机（ASM）</a:t>
            </a:r>
            <a:r>
              <a:rPr sz="2100" b="1" spc="-50" dirty="0">
                <a:latin typeface="微软雅黑"/>
                <a:cs typeface="微软雅黑"/>
              </a:rPr>
              <a:t>图</a:t>
            </a:r>
            <a:endParaRPr sz="2100">
              <a:latin typeface="微软雅黑"/>
              <a:cs typeface="微软雅黑"/>
            </a:endParaRPr>
          </a:p>
          <a:p>
            <a:pPr marL="346075">
              <a:lnSpc>
                <a:spcPct val="100000"/>
              </a:lnSpc>
              <a:spcBef>
                <a:spcPts val="1145"/>
              </a:spcBef>
            </a:pPr>
            <a:r>
              <a:rPr sz="1750" spc="-5" dirty="0">
                <a:latin typeface="宋体"/>
                <a:cs typeface="宋体"/>
              </a:rPr>
              <a:t>算法状态机图则更像是流程图，能较好地描述复杂系统中状态的转换和动作。</a:t>
            </a:r>
            <a:endParaRPr sz="1750">
              <a:latin typeface="宋体"/>
              <a:cs typeface="宋体"/>
            </a:endParaRPr>
          </a:p>
        </p:txBody>
      </p:sp>
      <p:sp>
        <p:nvSpPr>
          <p:cNvPr id="4" name="object 4"/>
          <p:cNvSpPr txBox="1"/>
          <p:nvPr/>
        </p:nvSpPr>
        <p:spPr>
          <a:xfrm>
            <a:off x="1196473" y="4796426"/>
            <a:ext cx="8044180" cy="988694"/>
          </a:xfrm>
          <a:prstGeom prst="rect">
            <a:avLst/>
          </a:prstGeom>
        </p:spPr>
        <p:txBody>
          <a:bodyPr vert="horz" wrap="square" lIns="0" tIns="12065" rIns="0" bIns="0" rtlCol="0">
            <a:spAutoFit/>
          </a:bodyPr>
          <a:lstStyle/>
          <a:p>
            <a:pPr marL="12700" marR="5080">
              <a:lnSpc>
                <a:spcPct val="150500"/>
              </a:lnSpc>
              <a:spcBef>
                <a:spcPts val="95"/>
              </a:spcBef>
            </a:pPr>
            <a:r>
              <a:rPr sz="2100" spc="-15" dirty="0">
                <a:latin typeface="宋体"/>
                <a:cs typeface="宋体"/>
              </a:rPr>
              <a:t>相同点：这两种表示方法包含了相同的信息，都包含了状态机的输入</a:t>
            </a:r>
            <a:r>
              <a:rPr sz="2100" spc="-10" dirty="0">
                <a:latin typeface="宋体"/>
                <a:cs typeface="宋体"/>
              </a:rPr>
              <a:t>输出、状态和转换。</a:t>
            </a:r>
            <a:endParaRPr sz="2100">
              <a:latin typeface="宋体"/>
              <a:cs typeface="宋体"/>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38395" y="2505451"/>
            <a:ext cx="2297430" cy="1334770"/>
          </a:xfrm>
          <a:prstGeom prst="rect">
            <a:avLst/>
          </a:prstGeom>
        </p:spPr>
        <p:txBody>
          <a:bodyPr vert="horz" wrap="square" lIns="0" tIns="187960" rIns="0" bIns="0" rtlCol="0">
            <a:spAutoFit/>
          </a:bodyPr>
          <a:lstStyle/>
          <a:p>
            <a:pPr marL="12700">
              <a:lnSpc>
                <a:spcPct val="100000"/>
              </a:lnSpc>
              <a:spcBef>
                <a:spcPts val="1480"/>
              </a:spcBef>
            </a:pPr>
            <a:r>
              <a:rPr sz="2100" dirty="0">
                <a:latin typeface="宋体"/>
                <a:cs typeface="宋体"/>
              </a:rPr>
              <a:t>转移状态图组成</a:t>
            </a:r>
            <a:r>
              <a:rPr sz="1750" spc="-50" dirty="0">
                <a:latin typeface="宋体"/>
                <a:cs typeface="宋体"/>
              </a:rPr>
              <a:t>：</a:t>
            </a:r>
            <a:endParaRPr sz="1750">
              <a:latin typeface="宋体"/>
              <a:cs typeface="宋体"/>
            </a:endParaRPr>
          </a:p>
          <a:p>
            <a:pPr marL="281940" indent="-269240">
              <a:lnSpc>
                <a:spcPct val="100000"/>
              </a:lnSpc>
              <a:spcBef>
                <a:spcPts val="1150"/>
              </a:spcBef>
              <a:buFont typeface="Calibri"/>
              <a:buAutoNum type="arabicPeriod"/>
              <a:tabLst>
                <a:tab pos="281940" algn="l"/>
              </a:tabLst>
            </a:pPr>
            <a:r>
              <a:rPr sz="1750" spc="-10" dirty="0">
                <a:latin typeface="宋体"/>
                <a:cs typeface="宋体"/>
              </a:rPr>
              <a:t>带有标示状态的节点</a:t>
            </a:r>
            <a:endParaRPr sz="1750">
              <a:latin typeface="宋体"/>
              <a:cs typeface="宋体"/>
            </a:endParaRPr>
          </a:p>
          <a:p>
            <a:pPr marL="281940" indent="-269240">
              <a:lnSpc>
                <a:spcPct val="100000"/>
              </a:lnSpc>
              <a:spcBef>
                <a:spcPts val="1055"/>
              </a:spcBef>
              <a:buFont typeface="Calibri"/>
              <a:buAutoNum type="arabicPeriod"/>
              <a:tabLst>
                <a:tab pos="281940" algn="l"/>
              </a:tabLst>
            </a:pPr>
            <a:r>
              <a:rPr sz="1750" spc="-10" dirty="0">
                <a:latin typeface="宋体"/>
                <a:cs typeface="宋体"/>
              </a:rPr>
              <a:t>带有注释的有向弧线</a:t>
            </a:r>
            <a:endParaRPr sz="1750">
              <a:latin typeface="宋体"/>
              <a:cs typeface="宋体"/>
            </a:endParaRPr>
          </a:p>
        </p:txBody>
      </p:sp>
      <p:pic>
        <p:nvPicPr>
          <p:cNvPr id="3" name="object 3"/>
          <p:cNvPicPr/>
          <p:nvPr/>
        </p:nvPicPr>
        <p:blipFill>
          <a:blip r:embed="rId2" cstate="print"/>
          <a:stretch>
            <a:fillRect/>
          </a:stretch>
        </p:blipFill>
        <p:spPr>
          <a:xfrm>
            <a:off x="1371467" y="2266146"/>
            <a:ext cx="3395030" cy="2031008"/>
          </a:xfrm>
          <a:prstGeom prst="rect">
            <a:avLst/>
          </a:prstGeom>
        </p:spPr>
      </p:pic>
      <p:sp>
        <p:nvSpPr>
          <p:cNvPr id="4" name="object 4"/>
          <p:cNvSpPr txBox="1"/>
          <p:nvPr/>
        </p:nvSpPr>
        <p:spPr>
          <a:xfrm>
            <a:off x="1086746" y="4512354"/>
            <a:ext cx="8726805" cy="1228090"/>
          </a:xfrm>
          <a:prstGeom prst="rect">
            <a:avLst/>
          </a:prstGeom>
        </p:spPr>
        <p:txBody>
          <a:bodyPr vert="horz" wrap="square" lIns="0" tIns="146685" rIns="0" bIns="0" rtlCol="0">
            <a:spAutoFit/>
          </a:bodyPr>
          <a:lstStyle/>
          <a:p>
            <a:pPr marL="12700">
              <a:lnSpc>
                <a:spcPct val="100000"/>
              </a:lnSpc>
              <a:spcBef>
                <a:spcPts val="1155"/>
              </a:spcBef>
            </a:pPr>
            <a:r>
              <a:rPr sz="1750" spc="-10" dirty="0">
                <a:latin typeface="宋体"/>
                <a:cs typeface="宋体"/>
              </a:rPr>
              <a:t>上图中的逻辑表达式由输入信号决定，放在每个转移弧线上，表示状态转移的特定条件。</a:t>
            </a:r>
            <a:endParaRPr sz="1750">
              <a:latin typeface="宋体"/>
              <a:cs typeface="宋体"/>
            </a:endParaRPr>
          </a:p>
          <a:p>
            <a:pPr marL="12700">
              <a:lnSpc>
                <a:spcPct val="100000"/>
              </a:lnSpc>
              <a:spcBef>
                <a:spcPts val="1055"/>
              </a:spcBef>
            </a:pPr>
            <a:r>
              <a:rPr sz="1750" dirty="0">
                <a:latin typeface="Calibri"/>
                <a:cs typeface="Calibri"/>
              </a:rPr>
              <a:t>Moore</a:t>
            </a:r>
            <a:r>
              <a:rPr sz="1750" spc="-80" dirty="0">
                <a:latin typeface="Calibri"/>
                <a:cs typeface="Calibri"/>
              </a:rPr>
              <a:t> </a:t>
            </a:r>
            <a:r>
              <a:rPr sz="1750" spc="-5" dirty="0">
                <a:latin typeface="宋体"/>
                <a:cs typeface="宋体"/>
              </a:rPr>
              <a:t>型输出值放置在节点内，只由当前状态决定；</a:t>
            </a:r>
            <a:endParaRPr sz="1750">
              <a:latin typeface="宋体"/>
              <a:cs typeface="宋体"/>
            </a:endParaRPr>
          </a:p>
          <a:p>
            <a:pPr marL="12700">
              <a:lnSpc>
                <a:spcPct val="100000"/>
              </a:lnSpc>
              <a:spcBef>
                <a:spcPts val="1055"/>
              </a:spcBef>
            </a:pPr>
            <a:r>
              <a:rPr sz="1750" dirty="0">
                <a:latin typeface="Calibri"/>
                <a:cs typeface="Calibri"/>
              </a:rPr>
              <a:t>Mealy</a:t>
            </a:r>
            <a:r>
              <a:rPr sz="1750" spc="5" dirty="0">
                <a:latin typeface="Calibri"/>
                <a:cs typeface="Calibri"/>
              </a:rPr>
              <a:t> </a:t>
            </a:r>
            <a:r>
              <a:rPr sz="1750" spc="-5" dirty="0">
                <a:latin typeface="宋体"/>
                <a:cs typeface="宋体"/>
              </a:rPr>
              <a:t>型输出放置在转换弧线上，由当前状态和外部输入决定。</a:t>
            </a:r>
            <a:endParaRPr sz="1750">
              <a:latin typeface="宋体"/>
              <a:cs typeface="宋体"/>
            </a:endParaRPr>
          </a:p>
        </p:txBody>
      </p:sp>
      <p:sp>
        <p:nvSpPr>
          <p:cNvPr id="6" name="object 6"/>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7" name="object 7"/>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13</a:t>
            </a:fld>
            <a:endParaRPr spc="-25" dirty="0"/>
          </a:p>
        </p:txBody>
      </p:sp>
      <p:sp>
        <p:nvSpPr>
          <p:cNvPr id="5" name="object 5"/>
          <p:cNvSpPr txBox="1">
            <a:spLocks noGrp="1"/>
          </p:cNvSpPr>
          <p:nvPr>
            <p:ph type="title"/>
          </p:nvPr>
        </p:nvSpPr>
        <p:spPr>
          <a:xfrm>
            <a:off x="603637" y="1089913"/>
            <a:ext cx="1583690" cy="399415"/>
          </a:xfrm>
          <a:prstGeom prst="rect">
            <a:avLst/>
          </a:prstGeom>
        </p:spPr>
        <p:txBody>
          <a:bodyPr vert="horz" wrap="square" lIns="0" tIns="13335" rIns="0" bIns="0" rtlCol="0">
            <a:spAutoFit/>
          </a:bodyPr>
          <a:lstStyle/>
          <a:p>
            <a:pPr marL="12700">
              <a:lnSpc>
                <a:spcPct val="100000"/>
              </a:lnSpc>
              <a:spcBef>
                <a:spcPts val="105"/>
              </a:spcBef>
            </a:pPr>
            <a:r>
              <a:rPr sz="2450" spc="-10" dirty="0">
                <a:latin typeface="宋体"/>
                <a:cs typeface="宋体"/>
              </a:rPr>
              <a:t>状态转移图</a:t>
            </a:r>
            <a:endParaRPr sz="2450">
              <a:latin typeface="宋体"/>
              <a:cs typeface="宋体"/>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51227" y="2074568"/>
            <a:ext cx="4853940" cy="3251835"/>
          </a:xfrm>
          <a:prstGeom prst="rect">
            <a:avLst/>
          </a:prstGeom>
        </p:spPr>
        <p:txBody>
          <a:bodyPr vert="horz" wrap="square" lIns="0" tIns="12700" rIns="0" bIns="0" rtlCol="0">
            <a:spAutoFit/>
          </a:bodyPr>
          <a:lstStyle/>
          <a:p>
            <a:pPr marL="12700" marR="6985" algn="just">
              <a:lnSpc>
                <a:spcPct val="151100"/>
              </a:lnSpc>
              <a:spcBef>
                <a:spcPts val="100"/>
              </a:spcBef>
            </a:pPr>
            <a:r>
              <a:rPr sz="2000" spc="90" dirty="0">
                <a:latin typeface="宋体"/>
                <a:cs typeface="宋体"/>
              </a:rPr>
              <a:t>图中这个有限状态机包含三个状态、两个</a:t>
            </a:r>
            <a:r>
              <a:rPr sz="2000" spc="75" dirty="0">
                <a:latin typeface="宋体"/>
                <a:cs typeface="宋体"/>
              </a:rPr>
              <a:t>信号输入、一个</a:t>
            </a:r>
            <a:r>
              <a:rPr sz="2000" dirty="0">
                <a:latin typeface="Calibri"/>
                <a:cs typeface="Calibri"/>
              </a:rPr>
              <a:t>Moore</a:t>
            </a:r>
            <a:r>
              <a:rPr sz="2000" spc="75" dirty="0">
                <a:latin typeface="宋体"/>
                <a:cs typeface="宋体"/>
              </a:rPr>
              <a:t>输出和一个</a:t>
            </a:r>
            <a:r>
              <a:rPr sz="2000" dirty="0">
                <a:latin typeface="Calibri"/>
                <a:cs typeface="Calibri"/>
              </a:rPr>
              <a:t>Mealy</a:t>
            </a:r>
            <a:r>
              <a:rPr sz="2000" spc="-50" dirty="0">
                <a:latin typeface="宋体"/>
                <a:cs typeface="宋体"/>
              </a:rPr>
              <a:t>输</a:t>
            </a:r>
            <a:r>
              <a:rPr sz="2000" spc="-25" dirty="0">
                <a:latin typeface="宋体"/>
                <a:cs typeface="宋体"/>
              </a:rPr>
              <a:t>出。</a:t>
            </a:r>
            <a:endParaRPr sz="2000" dirty="0">
              <a:latin typeface="宋体"/>
              <a:cs typeface="宋体"/>
            </a:endParaRPr>
          </a:p>
          <a:p>
            <a:pPr marL="12700" marR="5080">
              <a:lnSpc>
                <a:spcPts val="3629"/>
              </a:lnSpc>
              <a:spcBef>
                <a:spcPts val="325"/>
              </a:spcBef>
            </a:pPr>
            <a:r>
              <a:rPr sz="2000" spc="105" dirty="0">
                <a:latin typeface="宋体"/>
                <a:cs typeface="宋体"/>
              </a:rPr>
              <a:t>当有限状态机在</a:t>
            </a:r>
            <a:r>
              <a:rPr sz="2000" spc="50" dirty="0">
                <a:latin typeface="Calibri"/>
                <a:cs typeface="Calibri"/>
              </a:rPr>
              <a:t>S0</a:t>
            </a:r>
            <a:r>
              <a:rPr sz="2000" spc="105" dirty="0">
                <a:latin typeface="宋体"/>
                <a:cs typeface="宋体"/>
              </a:rPr>
              <a:t>或</a:t>
            </a:r>
            <a:r>
              <a:rPr sz="2000" spc="50" dirty="0">
                <a:latin typeface="Calibri"/>
                <a:cs typeface="Calibri"/>
              </a:rPr>
              <a:t>S1</a:t>
            </a:r>
            <a:r>
              <a:rPr sz="2000" spc="95" dirty="0">
                <a:latin typeface="宋体"/>
                <a:cs typeface="宋体"/>
              </a:rPr>
              <a:t>状态时，</a:t>
            </a:r>
            <a:r>
              <a:rPr sz="2000" spc="70" dirty="0">
                <a:latin typeface="Calibri"/>
                <a:cs typeface="Calibri"/>
              </a:rPr>
              <a:t>y1</a:t>
            </a:r>
            <a:r>
              <a:rPr sz="2000" spc="85" dirty="0">
                <a:latin typeface="宋体"/>
                <a:cs typeface="宋体"/>
              </a:rPr>
              <a:t>输出高</a:t>
            </a:r>
            <a:r>
              <a:rPr sz="2000" spc="-20" dirty="0">
                <a:latin typeface="宋体"/>
                <a:cs typeface="宋体"/>
              </a:rPr>
              <a:t>电平；</a:t>
            </a:r>
            <a:endParaRPr sz="2000" dirty="0">
              <a:latin typeface="宋体"/>
              <a:cs typeface="宋体"/>
            </a:endParaRPr>
          </a:p>
          <a:p>
            <a:pPr marL="12700">
              <a:lnSpc>
                <a:spcPct val="100000"/>
              </a:lnSpc>
              <a:spcBef>
                <a:spcPts val="905"/>
              </a:spcBef>
            </a:pPr>
            <a:r>
              <a:rPr sz="2000" dirty="0">
                <a:latin typeface="宋体"/>
                <a:cs typeface="宋体"/>
              </a:rPr>
              <a:t>当状态机处于</a:t>
            </a:r>
            <a:r>
              <a:rPr sz="2000" dirty="0">
                <a:latin typeface="Calibri"/>
                <a:cs typeface="Calibri"/>
              </a:rPr>
              <a:t>S0</a:t>
            </a:r>
            <a:r>
              <a:rPr sz="2000" dirty="0">
                <a:latin typeface="宋体"/>
                <a:cs typeface="宋体"/>
              </a:rPr>
              <a:t>状态且</a:t>
            </a:r>
            <a:r>
              <a:rPr sz="2000" dirty="0">
                <a:latin typeface="Calibri"/>
                <a:cs typeface="Calibri"/>
              </a:rPr>
              <a:t>a</a:t>
            </a:r>
            <a:r>
              <a:rPr sz="2000" dirty="0">
                <a:latin typeface="宋体"/>
                <a:cs typeface="宋体"/>
              </a:rPr>
              <a:t>、</a:t>
            </a:r>
            <a:r>
              <a:rPr sz="2000" dirty="0">
                <a:latin typeface="Calibri"/>
                <a:cs typeface="Calibri"/>
              </a:rPr>
              <a:t>b</a:t>
            </a:r>
            <a:r>
              <a:rPr sz="2000" dirty="0">
                <a:latin typeface="宋体"/>
                <a:cs typeface="宋体"/>
              </a:rPr>
              <a:t>均为</a:t>
            </a:r>
            <a:r>
              <a:rPr sz="2000" dirty="0">
                <a:latin typeface="Calibri"/>
                <a:cs typeface="Calibri"/>
              </a:rPr>
              <a:t>1</a:t>
            </a:r>
            <a:r>
              <a:rPr sz="2000" spc="-15" dirty="0">
                <a:latin typeface="宋体"/>
                <a:cs typeface="宋体"/>
              </a:rPr>
              <a:t>的时候，</a:t>
            </a:r>
            <a:endParaRPr sz="2000" dirty="0">
              <a:latin typeface="宋体"/>
              <a:cs typeface="宋体"/>
            </a:endParaRPr>
          </a:p>
          <a:p>
            <a:pPr marL="12700">
              <a:lnSpc>
                <a:spcPct val="100000"/>
              </a:lnSpc>
              <a:spcBef>
                <a:spcPts val="1230"/>
              </a:spcBef>
            </a:pPr>
            <a:r>
              <a:rPr sz="2000" dirty="0">
                <a:latin typeface="Calibri"/>
                <a:cs typeface="Calibri"/>
              </a:rPr>
              <a:t>y0</a:t>
            </a:r>
            <a:r>
              <a:rPr sz="2000" spc="-10" dirty="0">
                <a:latin typeface="宋体"/>
                <a:cs typeface="宋体"/>
              </a:rPr>
              <a:t>输出为高电平。</a:t>
            </a:r>
            <a:endParaRPr sz="2000" dirty="0">
              <a:latin typeface="宋体"/>
              <a:cs typeface="宋体"/>
            </a:endParaRPr>
          </a:p>
        </p:txBody>
      </p:sp>
      <p:sp>
        <p:nvSpPr>
          <p:cNvPr id="3" name="object 3"/>
          <p:cNvSpPr txBox="1">
            <a:spLocks noGrp="1"/>
          </p:cNvSpPr>
          <p:nvPr>
            <p:ph type="title"/>
          </p:nvPr>
        </p:nvSpPr>
        <p:spPr>
          <a:prstGeom prst="rect">
            <a:avLst/>
          </a:prstGeom>
        </p:spPr>
        <p:txBody>
          <a:bodyPr vert="horz" wrap="square" lIns="0" tIns="66675" rIns="0" bIns="0" rtlCol="0">
            <a:spAutoFit/>
          </a:bodyPr>
          <a:lstStyle/>
          <a:p>
            <a:pPr marL="429895">
              <a:lnSpc>
                <a:spcPct val="100000"/>
              </a:lnSpc>
              <a:spcBef>
                <a:spcPts val="105"/>
              </a:spcBef>
            </a:pPr>
            <a:r>
              <a:rPr sz="2450" dirty="0">
                <a:latin typeface="宋体"/>
                <a:cs typeface="宋体"/>
              </a:rPr>
              <a:t>状态转移图（续</a:t>
            </a:r>
            <a:r>
              <a:rPr sz="2450" spc="-50" dirty="0">
                <a:latin typeface="宋体"/>
                <a:cs typeface="宋体"/>
              </a:rPr>
              <a:t>）</a:t>
            </a:r>
            <a:endParaRPr sz="2450">
              <a:latin typeface="宋体"/>
              <a:cs typeface="宋体"/>
            </a:endParaRPr>
          </a:p>
        </p:txBody>
      </p:sp>
      <p:pic>
        <p:nvPicPr>
          <p:cNvPr id="4" name="object 4"/>
          <p:cNvPicPr/>
          <p:nvPr/>
        </p:nvPicPr>
        <p:blipFill>
          <a:blip r:embed="rId2" cstate="print"/>
          <a:srcRect r="8970"/>
          <a:stretch>
            <a:fillRect/>
          </a:stretch>
        </p:blipFill>
        <p:spPr>
          <a:xfrm>
            <a:off x="88900" y="2368128"/>
            <a:ext cx="4964404" cy="2664714"/>
          </a:xfrm>
          <a:prstGeom prst="rect">
            <a:avLst/>
          </a:prstGeom>
        </p:spPr>
      </p:pic>
      <p:sp>
        <p:nvSpPr>
          <p:cNvPr id="5" name="object 5"/>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6" name="object 6"/>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14</a:t>
            </a:fld>
            <a:endParaRPr spc="-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28042" y="2229780"/>
            <a:ext cx="4834807" cy="3677584"/>
          </a:xfrm>
          <a:prstGeom prst="rect">
            <a:avLst/>
          </a:prstGeom>
        </p:spPr>
      </p:pic>
      <p:sp>
        <p:nvSpPr>
          <p:cNvPr id="3" name="object 3"/>
          <p:cNvSpPr txBox="1"/>
          <p:nvPr/>
        </p:nvSpPr>
        <p:spPr>
          <a:xfrm>
            <a:off x="6390265" y="2500826"/>
            <a:ext cx="3573779" cy="3110230"/>
          </a:xfrm>
          <a:prstGeom prst="rect">
            <a:avLst/>
          </a:prstGeom>
        </p:spPr>
        <p:txBody>
          <a:bodyPr vert="horz" wrap="square" lIns="0" tIns="11430" rIns="0" bIns="0" rtlCol="0">
            <a:spAutoFit/>
          </a:bodyPr>
          <a:lstStyle/>
          <a:p>
            <a:pPr marL="12700" marR="10795">
              <a:lnSpc>
                <a:spcPct val="122300"/>
              </a:lnSpc>
              <a:spcBef>
                <a:spcPts val="90"/>
              </a:spcBef>
            </a:pPr>
            <a:r>
              <a:rPr sz="1550" dirty="0">
                <a:latin typeface="宋体"/>
                <a:cs typeface="宋体"/>
              </a:rPr>
              <a:t>由ASM</a:t>
            </a:r>
            <a:r>
              <a:rPr sz="1550" spc="-5" dirty="0">
                <a:latin typeface="宋体"/>
                <a:cs typeface="宋体"/>
              </a:rPr>
              <a:t>的一些状态框、判断框和条件输出框相互连接构成，其中判断框是可选的</a:t>
            </a:r>
            <a:endParaRPr sz="1550">
              <a:latin typeface="宋体"/>
              <a:cs typeface="宋体"/>
            </a:endParaRPr>
          </a:p>
          <a:p>
            <a:pPr marL="12700">
              <a:lnSpc>
                <a:spcPct val="100000"/>
              </a:lnSpc>
              <a:spcBef>
                <a:spcPts val="835"/>
              </a:spcBef>
            </a:pPr>
            <a:r>
              <a:rPr sz="1550" spc="-5" dirty="0">
                <a:latin typeface="宋体"/>
                <a:cs typeface="宋体"/>
              </a:rPr>
              <a:t>状态框代表的是有限状态机的状态。</a:t>
            </a:r>
            <a:endParaRPr sz="1550">
              <a:latin typeface="宋体"/>
              <a:cs typeface="宋体"/>
            </a:endParaRPr>
          </a:p>
          <a:p>
            <a:pPr marL="12700" marR="5080">
              <a:lnSpc>
                <a:spcPct val="152600"/>
              </a:lnSpc>
              <a:spcBef>
                <a:spcPts val="5"/>
              </a:spcBef>
            </a:pPr>
            <a:r>
              <a:rPr sz="1550" spc="75" dirty="0">
                <a:latin typeface="宋体"/>
                <a:cs typeface="宋体"/>
              </a:rPr>
              <a:t>判断框用于测试输入条件和根据测试的</a:t>
            </a:r>
            <a:r>
              <a:rPr sz="1550" spc="-5" dirty="0">
                <a:latin typeface="宋体"/>
                <a:cs typeface="宋体"/>
              </a:rPr>
              <a:t>结果来决定选择输出通道。</a:t>
            </a:r>
            <a:endParaRPr sz="1550">
              <a:latin typeface="宋体"/>
              <a:cs typeface="宋体"/>
            </a:endParaRPr>
          </a:p>
          <a:p>
            <a:pPr marL="12700" marR="5080" algn="just">
              <a:lnSpc>
                <a:spcPct val="152700"/>
              </a:lnSpc>
              <a:spcBef>
                <a:spcPts val="5"/>
              </a:spcBef>
            </a:pPr>
            <a:r>
              <a:rPr sz="1550" dirty="0">
                <a:latin typeface="宋体"/>
                <a:cs typeface="宋体"/>
              </a:rPr>
              <a:t>条件输出框通常放置</a:t>
            </a:r>
            <a:r>
              <a:rPr sz="1550" dirty="0">
                <a:latin typeface="Calibri"/>
                <a:cs typeface="Calibri"/>
              </a:rPr>
              <a:t>Mealy</a:t>
            </a:r>
            <a:r>
              <a:rPr sz="1550" spc="-10" dirty="0">
                <a:latin typeface="宋体"/>
                <a:cs typeface="宋体"/>
              </a:rPr>
              <a:t>型的有效输出</a:t>
            </a:r>
            <a:r>
              <a:rPr sz="1550" spc="75" dirty="0">
                <a:latin typeface="宋体"/>
                <a:cs typeface="宋体"/>
              </a:rPr>
              <a:t>值，一般情况下放置在判断框的后面，表示控制器某些状态只有在特定条件下</a:t>
            </a:r>
            <a:r>
              <a:rPr sz="1550" spc="-10" dirty="0">
                <a:latin typeface="宋体"/>
                <a:cs typeface="宋体"/>
              </a:rPr>
              <a:t>才能输出。</a:t>
            </a:r>
            <a:endParaRPr sz="1550">
              <a:latin typeface="宋体"/>
              <a:cs typeface="宋体"/>
            </a:endParaRPr>
          </a:p>
        </p:txBody>
      </p:sp>
      <p:sp>
        <p:nvSpPr>
          <p:cNvPr id="5" name="object 5"/>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6" name="object 6"/>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15</a:t>
            </a:fld>
            <a:endParaRPr spc="-25" dirty="0"/>
          </a:p>
        </p:txBody>
      </p:sp>
      <p:sp>
        <p:nvSpPr>
          <p:cNvPr id="4" name="object 4"/>
          <p:cNvSpPr txBox="1">
            <a:spLocks noGrp="1"/>
          </p:cNvSpPr>
          <p:nvPr>
            <p:ph type="title"/>
          </p:nvPr>
        </p:nvSpPr>
        <p:spPr>
          <a:xfrm>
            <a:off x="603637" y="1089913"/>
            <a:ext cx="2987675" cy="399415"/>
          </a:xfrm>
          <a:prstGeom prst="rect">
            <a:avLst/>
          </a:prstGeom>
        </p:spPr>
        <p:txBody>
          <a:bodyPr vert="horz" wrap="square" lIns="0" tIns="13335" rIns="0" bIns="0" rtlCol="0">
            <a:spAutoFit/>
          </a:bodyPr>
          <a:lstStyle/>
          <a:p>
            <a:pPr marL="12700">
              <a:lnSpc>
                <a:spcPct val="100000"/>
              </a:lnSpc>
              <a:spcBef>
                <a:spcPts val="105"/>
              </a:spcBef>
            </a:pPr>
            <a:r>
              <a:rPr sz="2450" dirty="0">
                <a:latin typeface="宋体"/>
                <a:cs typeface="宋体"/>
              </a:rPr>
              <a:t>算法状态机（ASM）</a:t>
            </a:r>
            <a:r>
              <a:rPr sz="2450" spc="-50" dirty="0">
                <a:latin typeface="宋体"/>
                <a:cs typeface="宋体"/>
              </a:rPr>
              <a:t>图</a:t>
            </a:r>
            <a:endParaRPr sz="2450">
              <a:latin typeface="宋体"/>
              <a:cs typeface="宋体"/>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78285" y="5095900"/>
            <a:ext cx="6407785" cy="825500"/>
          </a:xfrm>
          <a:prstGeom prst="rect">
            <a:avLst/>
          </a:prstGeom>
        </p:spPr>
        <p:txBody>
          <a:bodyPr vert="horz" wrap="square" lIns="0" tIns="12065" rIns="0" bIns="0" rtlCol="0">
            <a:spAutoFit/>
          </a:bodyPr>
          <a:lstStyle/>
          <a:p>
            <a:pPr marL="12700" marR="5080" indent="24130">
              <a:lnSpc>
                <a:spcPct val="125000"/>
              </a:lnSpc>
              <a:spcBef>
                <a:spcPts val="95"/>
              </a:spcBef>
            </a:pPr>
            <a:r>
              <a:rPr sz="2100" dirty="0">
                <a:latin typeface="宋体"/>
                <a:cs typeface="宋体"/>
              </a:rPr>
              <a:t>状态图可以转换为</a:t>
            </a:r>
            <a:r>
              <a:rPr sz="2100" spc="-10" dirty="0">
                <a:latin typeface="Calibri"/>
                <a:cs typeface="Calibri"/>
              </a:rPr>
              <a:t>ASM</a:t>
            </a:r>
            <a:r>
              <a:rPr sz="2100" spc="-5" dirty="0">
                <a:latin typeface="宋体"/>
                <a:cs typeface="宋体"/>
              </a:rPr>
              <a:t>图，</a:t>
            </a:r>
            <a:r>
              <a:rPr sz="2100" spc="-10" dirty="0">
                <a:latin typeface="Calibri"/>
                <a:cs typeface="Calibri"/>
              </a:rPr>
              <a:t>ASM</a:t>
            </a:r>
            <a:r>
              <a:rPr sz="2100" spc="-15" dirty="0">
                <a:latin typeface="宋体"/>
                <a:cs typeface="宋体"/>
              </a:rPr>
              <a:t>图也可以转换为状态图</a:t>
            </a:r>
            <a:r>
              <a:rPr sz="2100" spc="-10" dirty="0">
                <a:latin typeface="宋体"/>
                <a:cs typeface="宋体"/>
              </a:rPr>
              <a:t>上面两幅图便是状态转移图与</a:t>
            </a:r>
            <a:r>
              <a:rPr sz="2100" spc="-10" dirty="0">
                <a:latin typeface="Calibri"/>
                <a:cs typeface="Calibri"/>
              </a:rPr>
              <a:t>ASM</a:t>
            </a:r>
            <a:r>
              <a:rPr sz="2100" spc="-20" dirty="0">
                <a:latin typeface="宋体"/>
                <a:cs typeface="宋体"/>
              </a:rPr>
              <a:t>图的相互转化</a:t>
            </a:r>
            <a:endParaRPr sz="2100">
              <a:latin typeface="宋体"/>
              <a:cs typeface="宋体"/>
            </a:endParaRPr>
          </a:p>
        </p:txBody>
      </p:sp>
      <p:grpSp>
        <p:nvGrpSpPr>
          <p:cNvPr id="3" name="object 3"/>
          <p:cNvGrpSpPr/>
          <p:nvPr/>
        </p:nvGrpSpPr>
        <p:grpSpPr>
          <a:xfrm>
            <a:off x="1305953" y="1723644"/>
            <a:ext cx="7483475" cy="3168650"/>
            <a:chOff x="1305953" y="1723644"/>
            <a:chExt cx="7483475" cy="3168650"/>
          </a:xfrm>
        </p:grpSpPr>
        <p:pic>
          <p:nvPicPr>
            <p:cNvPr id="4" name="object 4"/>
            <p:cNvPicPr/>
            <p:nvPr/>
          </p:nvPicPr>
          <p:blipFill>
            <a:blip r:embed="rId2" cstate="print"/>
            <a:stretch>
              <a:fillRect/>
            </a:stretch>
          </p:blipFill>
          <p:spPr>
            <a:xfrm>
              <a:off x="6283047" y="1873768"/>
              <a:ext cx="2505859" cy="3018319"/>
            </a:xfrm>
            <a:prstGeom prst="rect">
              <a:avLst/>
            </a:prstGeom>
          </p:spPr>
        </p:pic>
        <p:pic>
          <p:nvPicPr>
            <p:cNvPr id="5" name="object 5"/>
            <p:cNvPicPr/>
            <p:nvPr/>
          </p:nvPicPr>
          <p:blipFill>
            <a:blip r:embed="rId3" cstate="print"/>
            <a:stretch>
              <a:fillRect/>
            </a:stretch>
          </p:blipFill>
          <p:spPr>
            <a:xfrm>
              <a:off x="1305953" y="1723644"/>
              <a:ext cx="5183885" cy="2768345"/>
            </a:xfrm>
            <a:prstGeom prst="rect">
              <a:avLst/>
            </a:prstGeom>
          </p:spPr>
        </p:pic>
      </p:grpSp>
      <p:sp>
        <p:nvSpPr>
          <p:cNvPr id="6" name="object 6"/>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7" name="object 7"/>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16</a:t>
            </a:fld>
            <a:endParaRPr spc="-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3637" y="1037336"/>
            <a:ext cx="3234055" cy="453390"/>
          </a:xfrm>
          <a:prstGeom prst="rect">
            <a:avLst/>
          </a:prstGeom>
        </p:spPr>
        <p:txBody>
          <a:bodyPr vert="horz" wrap="square" lIns="0" tIns="13335" rIns="0" bIns="0" rtlCol="0">
            <a:spAutoFit/>
          </a:bodyPr>
          <a:lstStyle/>
          <a:p>
            <a:pPr marL="12700">
              <a:lnSpc>
                <a:spcPct val="100000"/>
              </a:lnSpc>
              <a:spcBef>
                <a:spcPts val="105"/>
              </a:spcBef>
            </a:pPr>
            <a:r>
              <a:rPr spc="-15" dirty="0"/>
              <a:t>有限状态机代码实现</a:t>
            </a:r>
          </a:p>
        </p:txBody>
      </p:sp>
      <p:sp>
        <p:nvSpPr>
          <p:cNvPr id="5" name="object 5"/>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6" name="object 6"/>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17</a:t>
            </a:fld>
            <a:endParaRPr spc="-25" dirty="0"/>
          </a:p>
        </p:txBody>
      </p:sp>
      <p:sp>
        <p:nvSpPr>
          <p:cNvPr id="3" name="object 3"/>
          <p:cNvSpPr txBox="1"/>
          <p:nvPr/>
        </p:nvSpPr>
        <p:spPr>
          <a:xfrm>
            <a:off x="1751971" y="2033001"/>
            <a:ext cx="6478905" cy="2136140"/>
          </a:xfrm>
          <a:prstGeom prst="rect">
            <a:avLst/>
          </a:prstGeom>
        </p:spPr>
        <p:txBody>
          <a:bodyPr vert="horz" wrap="square" lIns="0" tIns="187960" rIns="0" bIns="0" rtlCol="0">
            <a:spAutoFit/>
          </a:bodyPr>
          <a:lstStyle/>
          <a:p>
            <a:pPr marL="12700">
              <a:lnSpc>
                <a:spcPct val="100000"/>
              </a:lnSpc>
              <a:spcBef>
                <a:spcPts val="1480"/>
              </a:spcBef>
            </a:pPr>
            <a:r>
              <a:rPr sz="2100" spc="-15" dirty="0">
                <a:latin typeface="宋体"/>
                <a:cs typeface="宋体"/>
              </a:rPr>
              <a:t>有限状态机和常规时序电路的代码编写对比：</a:t>
            </a:r>
            <a:endParaRPr sz="2100">
              <a:latin typeface="宋体"/>
              <a:cs typeface="宋体"/>
            </a:endParaRPr>
          </a:p>
          <a:p>
            <a:pPr marL="864235" marR="5080" indent="-852169">
              <a:lnSpc>
                <a:spcPct val="150300"/>
              </a:lnSpc>
              <a:spcBef>
                <a:spcPts val="90"/>
              </a:spcBef>
            </a:pPr>
            <a:r>
              <a:rPr sz="1750" b="1" dirty="0">
                <a:latin typeface="微软雅黑"/>
                <a:cs typeface="微软雅黑"/>
              </a:rPr>
              <a:t>相同点：</a:t>
            </a:r>
            <a:r>
              <a:rPr sz="1750" spc="-5" dirty="0">
                <a:latin typeface="宋体"/>
                <a:cs typeface="宋体"/>
              </a:rPr>
              <a:t>均是先将状态寄存器拿出，然后将次态逻辑和输出逻辑结合起来并书写相应的代码。</a:t>
            </a:r>
            <a:endParaRPr sz="1750">
              <a:latin typeface="宋体"/>
              <a:cs typeface="宋体"/>
            </a:endParaRPr>
          </a:p>
          <a:p>
            <a:pPr marL="914400" marR="5080" indent="-902335">
              <a:lnSpc>
                <a:spcPct val="150300"/>
              </a:lnSpc>
            </a:pPr>
            <a:r>
              <a:rPr sz="1750" b="1" dirty="0">
                <a:latin typeface="微软雅黑"/>
                <a:cs typeface="微软雅黑"/>
              </a:rPr>
              <a:t>不同点：</a:t>
            </a:r>
            <a:r>
              <a:rPr sz="1750" spc="-5" dirty="0">
                <a:latin typeface="宋体"/>
                <a:cs typeface="宋体"/>
              </a:rPr>
              <a:t>次态逻辑的代码较为不同，对于有限状态机，次态逻辑单</a:t>
            </a:r>
            <a:r>
              <a:rPr sz="1750" dirty="0">
                <a:latin typeface="宋体"/>
                <a:cs typeface="宋体"/>
              </a:rPr>
              <a:t>元的代码要遵循状态图或者</a:t>
            </a:r>
            <a:r>
              <a:rPr sz="1750" spc="-10" dirty="0">
                <a:latin typeface="Calibri"/>
                <a:cs typeface="Calibri"/>
              </a:rPr>
              <a:t>ASM</a:t>
            </a:r>
            <a:r>
              <a:rPr sz="1750" spc="-10" dirty="0">
                <a:latin typeface="宋体"/>
                <a:cs typeface="宋体"/>
              </a:rPr>
              <a:t>图的逻辑转移流向。</a:t>
            </a:r>
            <a:endParaRPr sz="1750">
              <a:latin typeface="宋体"/>
              <a:cs typeface="宋体"/>
            </a:endParaRPr>
          </a:p>
        </p:txBody>
      </p:sp>
      <p:sp>
        <p:nvSpPr>
          <p:cNvPr id="4" name="object 4"/>
          <p:cNvSpPr txBox="1"/>
          <p:nvPr/>
        </p:nvSpPr>
        <p:spPr>
          <a:xfrm>
            <a:off x="2093336" y="4864129"/>
            <a:ext cx="5588635" cy="292735"/>
          </a:xfrm>
          <a:prstGeom prst="rect">
            <a:avLst/>
          </a:prstGeom>
        </p:spPr>
        <p:txBody>
          <a:bodyPr vert="horz" wrap="square" lIns="0" tIns="12700" rIns="0" bIns="0" rtlCol="0">
            <a:spAutoFit/>
          </a:bodyPr>
          <a:lstStyle/>
          <a:p>
            <a:pPr marL="12700">
              <a:lnSpc>
                <a:spcPct val="100000"/>
              </a:lnSpc>
              <a:spcBef>
                <a:spcPts val="100"/>
              </a:spcBef>
            </a:pPr>
            <a:r>
              <a:rPr sz="1750" spc="-5" dirty="0">
                <a:latin typeface="宋体"/>
                <a:cs typeface="宋体"/>
              </a:rPr>
              <a:t>下面我们重点学习状态机的状态以及次态逻辑的代码编写</a:t>
            </a:r>
            <a:endParaRPr sz="1750">
              <a:latin typeface="宋体"/>
              <a:cs typeface="宋体"/>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89487" y="2043473"/>
            <a:ext cx="8123555" cy="3761104"/>
          </a:xfrm>
          <a:prstGeom prst="rect">
            <a:avLst/>
          </a:prstGeom>
        </p:spPr>
        <p:txBody>
          <a:bodyPr vert="horz" wrap="square" lIns="0" tIns="12700" rIns="0" bIns="0" rtlCol="0">
            <a:spAutoFit/>
          </a:bodyPr>
          <a:lstStyle/>
          <a:p>
            <a:pPr marL="2924810" marR="5080" algn="just">
              <a:lnSpc>
                <a:spcPct val="150300"/>
              </a:lnSpc>
              <a:spcBef>
                <a:spcPts val="100"/>
              </a:spcBef>
            </a:pPr>
            <a:r>
              <a:rPr sz="1750" spc="-5" dirty="0">
                <a:latin typeface="宋体"/>
                <a:cs typeface="宋体"/>
              </a:rPr>
              <a:t>考虑到简便性和灵活性，我们用一个符号常量来表示有限状态机的状态。例如对于图中的三个状态，我们</a:t>
            </a:r>
            <a:r>
              <a:rPr sz="1750" spc="-10" dirty="0">
                <a:latin typeface="宋体"/>
                <a:cs typeface="宋体"/>
              </a:rPr>
              <a:t>可以这样定义：</a:t>
            </a:r>
            <a:endParaRPr sz="1750" dirty="0">
              <a:latin typeface="宋体"/>
              <a:cs typeface="宋体"/>
            </a:endParaRPr>
          </a:p>
          <a:p>
            <a:pPr marL="3074670">
              <a:lnSpc>
                <a:spcPct val="100000"/>
              </a:lnSpc>
              <a:spcBef>
                <a:spcPts val="1055"/>
              </a:spcBef>
            </a:pPr>
            <a:r>
              <a:rPr sz="1750" b="1" dirty="0">
                <a:latin typeface="Calibri"/>
                <a:cs typeface="Calibri"/>
              </a:rPr>
              <a:t>localparam</a:t>
            </a:r>
            <a:r>
              <a:rPr sz="1750" b="1" spc="-25" dirty="0">
                <a:latin typeface="Calibri"/>
                <a:cs typeface="Calibri"/>
              </a:rPr>
              <a:t> </a:t>
            </a:r>
            <a:r>
              <a:rPr sz="1750" dirty="0">
                <a:latin typeface="Calibri"/>
                <a:cs typeface="Calibri"/>
              </a:rPr>
              <a:t>[1:0]</a:t>
            </a:r>
            <a:r>
              <a:rPr sz="1750" spc="350" dirty="0">
                <a:latin typeface="Calibri"/>
                <a:cs typeface="Calibri"/>
              </a:rPr>
              <a:t> </a:t>
            </a:r>
            <a:r>
              <a:rPr sz="1750" dirty="0">
                <a:latin typeface="Calibri"/>
                <a:cs typeface="Calibri"/>
              </a:rPr>
              <a:t>s0</a:t>
            </a:r>
            <a:r>
              <a:rPr sz="1750" spc="-15" dirty="0">
                <a:latin typeface="Calibri"/>
                <a:cs typeface="Calibri"/>
              </a:rPr>
              <a:t> </a:t>
            </a:r>
            <a:r>
              <a:rPr sz="1750" dirty="0">
                <a:latin typeface="Calibri"/>
                <a:cs typeface="Calibri"/>
              </a:rPr>
              <a:t>=</a:t>
            </a:r>
            <a:r>
              <a:rPr sz="1750" spc="-25" dirty="0">
                <a:latin typeface="Calibri"/>
                <a:cs typeface="Calibri"/>
              </a:rPr>
              <a:t> </a:t>
            </a:r>
            <a:r>
              <a:rPr sz="1750" spc="-10" dirty="0">
                <a:latin typeface="Calibri"/>
                <a:cs typeface="Calibri"/>
              </a:rPr>
              <a:t>2’b00,</a:t>
            </a:r>
            <a:endParaRPr sz="1750" dirty="0">
              <a:latin typeface="Calibri"/>
              <a:cs typeface="Calibri"/>
            </a:endParaRPr>
          </a:p>
          <a:p>
            <a:pPr marL="4678045" marR="2454275">
              <a:lnSpc>
                <a:spcPct val="150300"/>
              </a:lnSpc>
            </a:pPr>
            <a:r>
              <a:rPr sz="1750" dirty="0">
                <a:latin typeface="Calibri"/>
                <a:cs typeface="Calibri"/>
              </a:rPr>
              <a:t>s1</a:t>
            </a:r>
            <a:r>
              <a:rPr sz="1750" spc="-10" dirty="0">
                <a:latin typeface="Calibri"/>
                <a:cs typeface="Calibri"/>
              </a:rPr>
              <a:t> </a:t>
            </a:r>
            <a:r>
              <a:rPr sz="1750" dirty="0">
                <a:latin typeface="Calibri"/>
                <a:cs typeface="Calibri"/>
              </a:rPr>
              <a:t>=</a:t>
            </a:r>
            <a:r>
              <a:rPr sz="1750" spc="-15" dirty="0">
                <a:latin typeface="Calibri"/>
                <a:cs typeface="Calibri"/>
              </a:rPr>
              <a:t> </a:t>
            </a:r>
            <a:r>
              <a:rPr sz="1750" spc="-10" dirty="0">
                <a:latin typeface="Calibri"/>
                <a:cs typeface="Calibri"/>
              </a:rPr>
              <a:t>2’b01, </a:t>
            </a:r>
            <a:r>
              <a:rPr sz="1750" dirty="0">
                <a:latin typeface="Calibri"/>
                <a:cs typeface="Calibri"/>
              </a:rPr>
              <a:t>s2</a:t>
            </a:r>
            <a:r>
              <a:rPr sz="1750" spc="-10" dirty="0">
                <a:latin typeface="Calibri"/>
                <a:cs typeface="Calibri"/>
              </a:rPr>
              <a:t> </a:t>
            </a:r>
            <a:r>
              <a:rPr sz="1750" dirty="0">
                <a:latin typeface="Calibri"/>
                <a:cs typeface="Calibri"/>
              </a:rPr>
              <a:t>=</a:t>
            </a:r>
            <a:r>
              <a:rPr sz="1750" spc="-15" dirty="0">
                <a:latin typeface="Calibri"/>
                <a:cs typeface="Calibri"/>
              </a:rPr>
              <a:t> </a:t>
            </a:r>
            <a:r>
              <a:rPr sz="1750" spc="-10" dirty="0">
                <a:latin typeface="Calibri"/>
                <a:cs typeface="Calibri"/>
              </a:rPr>
              <a:t>2’b10;</a:t>
            </a:r>
            <a:endParaRPr sz="1750" dirty="0">
              <a:latin typeface="Calibri"/>
              <a:cs typeface="Calibri"/>
            </a:endParaRPr>
          </a:p>
          <a:p>
            <a:pPr>
              <a:lnSpc>
                <a:spcPct val="100000"/>
              </a:lnSpc>
              <a:spcBef>
                <a:spcPts val="750"/>
              </a:spcBef>
            </a:pPr>
            <a:endParaRPr sz="1750" dirty="0">
              <a:latin typeface="Calibri"/>
              <a:cs typeface="Calibri"/>
            </a:endParaRPr>
          </a:p>
          <a:p>
            <a:pPr marL="12700" marR="1337945">
              <a:lnSpc>
                <a:spcPct val="150500"/>
              </a:lnSpc>
            </a:pPr>
            <a:r>
              <a:rPr sz="2100" spc="-5" dirty="0">
                <a:latin typeface="宋体"/>
                <a:cs typeface="宋体"/>
              </a:rPr>
              <a:t>综合的时候，软件会根据有限状态机的结构将符号常量映</a:t>
            </a:r>
            <a:r>
              <a:rPr sz="2100" spc="-10" dirty="0">
                <a:latin typeface="宋体"/>
                <a:cs typeface="宋体"/>
              </a:rPr>
              <a:t>射为对应的二进制字符（如独热码），</a:t>
            </a:r>
            <a:r>
              <a:rPr sz="2100" spc="-20" dirty="0">
                <a:latin typeface="宋体"/>
                <a:cs typeface="宋体"/>
              </a:rPr>
              <a:t>这就是状态分配。</a:t>
            </a:r>
            <a:endParaRPr sz="2100" dirty="0">
              <a:latin typeface="宋体"/>
              <a:cs typeface="宋体"/>
            </a:endParaRPr>
          </a:p>
        </p:txBody>
      </p:sp>
      <p:sp>
        <p:nvSpPr>
          <p:cNvPr id="3" name="object 3"/>
          <p:cNvSpPr txBox="1">
            <a:spLocks noGrp="1"/>
          </p:cNvSpPr>
          <p:nvPr>
            <p:ph type="title"/>
          </p:nvPr>
        </p:nvSpPr>
        <p:spPr>
          <a:xfrm>
            <a:off x="604399" y="1037336"/>
            <a:ext cx="3947795" cy="453390"/>
          </a:xfrm>
          <a:prstGeom prst="rect">
            <a:avLst/>
          </a:prstGeom>
        </p:spPr>
        <p:txBody>
          <a:bodyPr vert="horz" wrap="square" lIns="0" tIns="13335" rIns="0" bIns="0" rtlCol="0">
            <a:spAutoFit/>
          </a:bodyPr>
          <a:lstStyle/>
          <a:p>
            <a:pPr marL="12700">
              <a:lnSpc>
                <a:spcPct val="100000"/>
              </a:lnSpc>
              <a:spcBef>
                <a:spcPts val="105"/>
              </a:spcBef>
            </a:pPr>
            <a:r>
              <a:rPr spc="-15" dirty="0"/>
              <a:t>有限状态机代码实现实例</a:t>
            </a:r>
          </a:p>
        </p:txBody>
      </p:sp>
      <p:pic>
        <p:nvPicPr>
          <p:cNvPr id="4" name="object 4"/>
          <p:cNvPicPr/>
          <p:nvPr/>
        </p:nvPicPr>
        <p:blipFill>
          <a:blip r:embed="rId2" cstate="print"/>
          <a:srcRect r="15110"/>
          <a:stretch>
            <a:fillRect/>
          </a:stretch>
        </p:blipFill>
        <p:spPr>
          <a:xfrm>
            <a:off x="333641" y="1798320"/>
            <a:ext cx="4174859" cy="2410967"/>
          </a:xfrm>
          <a:prstGeom prst="rect">
            <a:avLst/>
          </a:prstGeom>
        </p:spPr>
      </p:pic>
      <p:sp>
        <p:nvSpPr>
          <p:cNvPr id="5" name="object 5"/>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6" name="object 6"/>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18</a:t>
            </a:fld>
            <a:endParaRPr spc="-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4399" y="1037336"/>
            <a:ext cx="3947795" cy="453390"/>
          </a:xfrm>
          <a:prstGeom prst="rect">
            <a:avLst/>
          </a:prstGeom>
        </p:spPr>
        <p:txBody>
          <a:bodyPr vert="horz" wrap="square" lIns="0" tIns="13335" rIns="0" bIns="0" rtlCol="0">
            <a:spAutoFit/>
          </a:bodyPr>
          <a:lstStyle/>
          <a:p>
            <a:pPr marL="12700">
              <a:lnSpc>
                <a:spcPct val="100000"/>
              </a:lnSpc>
              <a:spcBef>
                <a:spcPts val="105"/>
              </a:spcBef>
            </a:pPr>
            <a:r>
              <a:rPr spc="-15" dirty="0"/>
              <a:t>有限状态机代码实现代码</a:t>
            </a:r>
          </a:p>
        </p:txBody>
      </p:sp>
      <p:grpSp>
        <p:nvGrpSpPr>
          <p:cNvPr id="3" name="object 3"/>
          <p:cNvGrpSpPr/>
          <p:nvPr/>
        </p:nvGrpSpPr>
        <p:grpSpPr>
          <a:xfrm>
            <a:off x="166763" y="1661922"/>
            <a:ext cx="4122420" cy="4462780"/>
            <a:chOff x="166763" y="1661922"/>
            <a:chExt cx="4122420" cy="4462780"/>
          </a:xfrm>
        </p:grpSpPr>
        <p:sp>
          <p:nvSpPr>
            <p:cNvPr id="4" name="object 4"/>
            <p:cNvSpPr/>
            <p:nvPr/>
          </p:nvSpPr>
          <p:spPr>
            <a:xfrm>
              <a:off x="171335" y="1666494"/>
              <a:ext cx="4114165" cy="4453255"/>
            </a:xfrm>
            <a:custGeom>
              <a:avLst/>
              <a:gdLst/>
              <a:ahLst/>
              <a:cxnLst/>
              <a:rect l="l" t="t" r="r" b="b"/>
              <a:pathLst>
                <a:path w="4114165" h="4453255">
                  <a:moveTo>
                    <a:pt x="4114038" y="4453128"/>
                  </a:moveTo>
                  <a:lnTo>
                    <a:pt x="4114038" y="0"/>
                  </a:lnTo>
                  <a:lnTo>
                    <a:pt x="0" y="0"/>
                  </a:lnTo>
                  <a:lnTo>
                    <a:pt x="0" y="4453128"/>
                  </a:lnTo>
                  <a:lnTo>
                    <a:pt x="4114038" y="4453128"/>
                  </a:lnTo>
                  <a:close/>
                </a:path>
              </a:pathLst>
            </a:custGeom>
            <a:solidFill>
              <a:srgbClr val="F9FABA"/>
            </a:solidFill>
          </p:spPr>
          <p:txBody>
            <a:bodyPr wrap="square" lIns="0" tIns="0" rIns="0" bIns="0" rtlCol="0"/>
            <a:lstStyle/>
            <a:p>
              <a:endParaRPr/>
            </a:p>
          </p:txBody>
        </p:sp>
        <p:sp>
          <p:nvSpPr>
            <p:cNvPr id="5" name="object 5"/>
            <p:cNvSpPr/>
            <p:nvPr/>
          </p:nvSpPr>
          <p:spPr>
            <a:xfrm>
              <a:off x="166763" y="1661922"/>
              <a:ext cx="4122420" cy="4462780"/>
            </a:xfrm>
            <a:custGeom>
              <a:avLst/>
              <a:gdLst/>
              <a:ahLst/>
              <a:cxnLst/>
              <a:rect l="l" t="t" r="r" b="b"/>
              <a:pathLst>
                <a:path w="4122420" h="4462780">
                  <a:moveTo>
                    <a:pt x="4122420" y="4459986"/>
                  </a:moveTo>
                  <a:lnTo>
                    <a:pt x="4122420" y="2285"/>
                  </a:lnTo>
                  <a:lnTo>
                    <a:pt x="4120896" y="0"/>
                  </a:lnTo>
                  <a:lnTo>
                    <a:pt x="1523" y="0"/>
                  </a:lnTo>
                  <a:lnTo>
                    <a:pt x="0" y="2286"/>
                  </a:lnTo>
                  <a:lnTo>
                    <a:pt x="0" y="4459986"/>
                  </a:lnTo>
                  <a:lnTo>
                    <a:pt x="1524" y="4462272"/>
                  </a:lnTo>
                  <a:lnTo>
                    <a:pt x="4572" y="4462272"/>
                  </a:lnTo>
                  <a:lnTo>
                    <a:pt x="4572" y="8382"/>
                  </a:lnTo>
                  <a:lnTo>
                    <a:pt x="8382" y="4572"/>
                  </a:lnTo>
                  <a:lnTo>
                    <a:pt x="8382" y="8382"/>
                  </a:lnTo>
                  <a:lnTo>
                    <a:pt x="4114038" y="8381"/>
                  </a:lnTo>
                  <a:lnTo>
                    <a:pt x="4114038" y="4571"/>
                  </a:lnTo>
                  <a:lnTo>
                    <a:pt x="4118610" y="8381"/>
                  </a:lnTo>
                  <a:lnTo>
                    <a:pt x="4118610" y="4462272"/>
                  </a:lnTo>
                  <a:lnTo>
                    <a:pt x="4120896" y="4462272"/>
                  </a:lnTo>
                  <a:lnTo>
                    <a:pt x="4122420" y="4459986"/>
                  </a:lnTo>
                  <a:close/>
                </a:path>
                <a:path w="4122420" h="4462780">
                  <a:moveTo>
                    <a:pt x="8382" y="8382"/>
                  </a:moveTo>
                  <a:lnTo>
                    <a:pt x="8382" y="4572"/>
                  </a:lnTo>
                  <a:lnTo>
                    <a:pt x="4572" y="8382"/>
                  </a:lnTo>
                  <a:lnTo>
                    <a:pt x="8382" y="8382"/>
                  </a:lnTo>
                  <a:close/>
                </a:path>
                <a:path w="4122420" h="4462780">
                  <a:moveTo>
                    <a:pt x="8382" y="4453890"/>
                  </a:moveTo>
                  <a:lnTo>
                    <a:pt x="8382" y="8382"/>
                  </a:lnTo>
                  <a:lnTo>
                    <a:pt x="4572" y="8382"/>
                  </a:lnTo>
                  <a:lnTo>
                    <a:pt x="4572" y="4453890"/>
                  </a:lnTo>
                  <a:lnTo>
                    <a:pt x="8382" y="4453890"/>
                  </a:lnTo>
                  <a:close/>
                </a:path>
                <a:path w="4122420" h="4462780">
                  <a:moveTo>
                    <a:pt x="4118610" y="4453890"/>
                  </a:moveTo>
                  <a:lnTo>
                    <a:pt x="4572" y="4453890"/>
                  </a:lnTo>
                  <a:lnTo>
                    <a:pt x="8382" y="4457700"/>
                  </a:lnTo>
                  <a:lnTo>
                    <a:pt x="8382" y="4462272"/>
                  </a:lnTo>
                  <a:lnTo>
                    <a:pt x="4114038" y="4462272"/>
                  </a:lnTo>
                  <a:lnTo>
                    <a:pt x="4114038" y="4457700"/>
                  </a:lnTo>
                  <a:lnTo>
                    <a:pt x="4118610" y="4453890"/>
                  </a:lnTo>
                  <a:close/>
                </a:path>
                <a:path w="4122420" h="4462780">
                  <a:moveTo>
                    <a:pt x="8382" y="4462272"/>
                  </a:moveTo>
                  <a:lnTo>
                    <a:pt x="8382" y="4457700"/>
                  </a:lnTo>
                  <a:lnTo>
                    <a:pt x="4572" y="4453890"/>
                  </a:lnTo>
                  <a:lnTo>
                    <a:pt x="4572" y="4462272"/>
                  </a:lnTo>
                  <a:lnTo>
                    <a:pt x="8382" y="4462272"/>
                  </a:lnTo>
                  <a:close/>
                </a:path>
                <a:path w="4122420" h="4462780">
                  <a:moveTo>
                    <a:pt x="4118610" y="8381"/>
                  </a:moveTo>
                  <a:lnTo>
                    <a:pt x="4114038" y="4571"/>
                  </a:lnTo>
                  <a:lnTo>
                    <a:pt x="4114038" y="8381"/>
                  </a:lnTo>
                  <a:lnTo>
                    <a:pt x="4118610" y="8381"/>
                  </a:lnTo>
                  <a:close/>
                </a:path>
                <a:path w="4122420" h="4462780">
                  <a:moveTo>
                    <a:pt x="4118610" y="4453890"/>
                  </a:moveTo>
                  <a:lnTo>
                    <a:pt x="4118610" y="8381"/>
                  </a:lnTo>
                  <a:lnTo>
                    <a:pt x="4114038" y="8381"/>
                  </a:lnTo>
                  <a:lnTo>
                    <a:pt x="4114038" y="4453890"/>
                  </a:lnTo>
                  <a:lnTo>
                    <a:pt x="4118610" y="4453890"/>
                  </a:lnTo>
                  <a:close/>
                </a:path>
                <a:path w="4122420" h="4462780">
                  <a:moveTo>
                    <a:pt x="4118610" y="4462272"/>
                  </a:moveTo>
                  <a:lnTo>
                    <a:pt x="4118610" y="4453890"/>
                  </a:lnTo>
                  <a:lnTo>
                    <a:pt x="4114038" y="4457700"/>
                  </a:lnTo>
                  <a:lnTo>
                    <a:pt x="4114038" y="4462272"/>
                  </a:lnTo>
                  <a:lnTo>
                    <a:pt x="4118610" y="4462272"/>
                  </a:lnTo>
                  <a:close/>
                </a:path>
              </a:pathLst>
            </a:custGeom>
            <a:solidFill>
              <a:srgbClr val="FF0000"/>
            </a:solidFill>
          </p:spPr>
          <p:txBody>
            <a:bodyPr wrap="square" lIns="0" tIns="0" rIns="0" bIns="0" rtlCol="0"/>
            <a:lstStyle/>
            <a:p>
              <a:endParaRPr/>
            </a:p>
          </p:txBody>
        </p:sp>
      </p:grpSp>
      <p:sp>
        <p:nvSpPr>
          <p:cNvPr id="6" name="object 6"/>
          <p:cNvSpPr txBox="1"/>
          <p:nvPr/>
        </p:nvSpPr>
        <p:spPr>
          <a:xfrm>
            <a:off x="238639" y="1681226"/>
            <a:ext cx="3969385" cy="4121150"/>
          </a:xfrm>
          <a:prstGeom prst="rect">
            <a:avLst/>
          </a:prstGeom>
        </p:spPr>
        <p:txBody>
          <a:bodyPr vert="horz" wrap="square" lIns="0" tIns="8255" rIns="0" bIns="0" rtlCol="0">
            <a:spAutoFit/>
          </a:bodyPr>
          <a:lstStyle/>
          <a:p>
            <a:pPr marL="12700" marR="1827530">
              <a:lnSpc>
                <a:spcPct val="103400"/>
              </a:lnSpc>
              <a:spcBef>
                <a:spcPts val="65"/>
              </a:spcBef>
            </a:pPr>
            <a:r>
              <a:rPr sz="1550" b="1" dirty="0">
                <a:latin typeface="Calibri"/>
                <a:cs typeface="Calibri"/>
              </a:rPr>
              <a:t>module</a:t>
            </a:r>
            <a:r>
              <a:rPr sz="1550" b="1" spc="15" dirty="0">
                <a:latin typeface="Calibri"/>
                <a:cs typeface="Calibri"/>
              </a:rPr>
              <a:t> </a:t>
            </a:r>
            <a:r>
              <a:rPr sz="1550" spc="-10" dirty="0">
                <a:latin typeface="Calibri"/>
                <a:cs typeface="Calibri"/>
              </a:rPr>
              <a:t>fsm_eg_mult_seg </a:t>
            </a:r>
            <a:r>
              <a:rPr sz="1550" dirty="0">
                <a:latin typeface="Arial"/>
                <a:cs typeface="Arial"/>
              </a:rPr>
              <a:t>(</a:t>
            </a:r>
            <a:r>
              <a:rPr sz="1550" spc="25" dirty="0">
                <a:latin typeface="Arial"/>
                <a:cs typeface="Arial"/>
              </a:rPr>
              <a:t> </a:t>
            </a:r>
            <a:r>
              <a:rPr sz="1550" b="1" dirty="0">
                <a:latin typeface="Arial"/>
                <a:cs typeface="Arial"/>
              </a:rPr>
              <a:t>input</a:t>
            </a:r>
            <a:r>
              <a:rPr sz="1550" b="1" spc="15" dirty="0">
                <a:latin typeface="Arial"/>
                <a:cs typeface="Arial"/>
              </a:rPr>
              <a:t> </a:t>
            </a:r>
            <a:r>
              <a:rPr sz="1550" dirty="0">
                <a:latin typeface="Arial"/>
                <a:cs typeface="Arial"/>
              </a:rPr>
              <a:t>clk</a:t>
            </a:r>
            <a:r>
              <a:rPr sz="1550" spc="20" dirty="0">
                <a:latin typeface="Arial"/>
                <a:cs typeface="Arial"/>
              </a:rPr>
              <a:t> </a:t>
            </a:r>
            <a:r>
              <a:rPr sz="1550" dirty="0">
                <a:latin typeface="Arial"/>
                <a:cs typeface="Arial"/>
              </a:rPr>
              <a:t>,</a:t>
            </a:r>
            <a:r>
              <a:rPr sz="1550" spc="25" dirty="0">
                <a:latin typeface="Arial"/>
                <a:cs typeface="Arial"/>
              </a:rPr>
              <a:t> </a:t>
            </a:r>
            <a:r>
              <a:rPr sz="1550" spc="-10" dirty="0">
                <a:latin typeface="Arial"/>
                <a:cs typeface="Arial"/>
              </a:rPr>
              <a:t>reset,</a:t>
            </a:r>
            <a:r>
              <a:rPr sz="1550" spc="500" dirty="0">
                <a:latin typeface="Arial"/>
                <a:cs typeface="Arial"/>
              </a:rPr>
              <a:t> </a:t>
            </a:r>
            <a:r>
              <a:rPr sz="1550" b="1" dirty="0">
                <a:latin typeface="Arial"/>
                <a:cs typeface="Arial"/>
              </a:rPr>
              <a:t>input</a:t>
            </a:r>
            <a:r>
              <a:rPr sz="1550" b="1" spc="15" dirty="0">
                <a:latin typeface="Arial"/>
                <a:cs typeface="Arial"/>
              </a:rPr>
              <a:t> </a:t>
            </a:r>
            <a:r>
              <a:rPr sz="1550" dirty="0">
                <a:latin typeface="Arial"/>
                <a:cs typeface="Arial"/>
              </a:rPr>
              <a:t>a</a:t>
            </a:r>
            <a:r>
              <a:rPr sz="1550" spc="25" dirty="0">
                <a:latin typeface="Arial"/>
                <a:cs typeface="Arial"/>
              </a:rPr>
              <a:t> </a:t>
            </a:r>
            <a:r>
              <a:rPr sz="1550" dirty="0">
                <a:latin typeface="Arial"/>
                <a:cs typeface="Arial"/>
              </a:rPr>
              <a:t>,</a:t>
            </a:r>
            <a:r>
              <a:rPr sz="1550" spc="25" dirty="0">
                <a:latin typeface="Arial"/>
                <a:cs typeface="Arial"/>
              </a:rPr>
              <a:t> </a:t>
            </a:r>
            <a:r>
              <a:rPr sz="1550" spc="-25" dirty="0">
                <a:latin typeface="Arial"/>
                <a:cs typeface="Arial"/>
              </a:rPr>
              <a:t>b,</a:t>
            </a:r>
            <a:endParaRPr sz="1550">
              <a:latin typeface="Arial"/>
              <a:cs typeface="Arial"/>
            </a:endParaRPr>
          </a:p>
          <a:p>
            <a:pPr marL="123825">
              <a:lnSpc>
                <a:spcPct val="100000"/>
              </a:lnSpc>
              <a:spcBef>
                <a:spcPts val="15"/>
              </a:spcBef>
              <a:tabLst>
                <a:tab pos="1738630" algn="l"/>
              </a:tabLst>
            </a:pPr>
            <a:r>
              <a:rPr sz="1550" b="1" dirty="0">
                <a:latin typeface="Arial"/>
                <a:cs typeface="Arial"/>
              </a:rPr>
              <a:t>output</a:t>
            </a:r>
            <a:r>
              <a:rPr sz="1550" b="1" spc="35" dirty="0">
                <a:latin typeface="Arial"/>
                <a:cs typeface="Arial"/>
              </a:rPr>
              <a:t> </a:t>
            </a:r>
            <a:r>
              <a:rPr sz="1550" dirty="0">
                <a:latin typeface="Arial"/>
                <a:cs typeface="Arial"/>
              </a:rPr>
              <a:t>y0,</a:t>
            </a:r>
            <a:r>
              <a:rPr sz="1550" spc="50" dirty="0">
                <a:latin typeface="Arial"/>
                <a:cs typeface="Arial"/>
              </a:rPr>
              <a:t> </a:t>
            </a:r>
            <a:r>
              <a:rPr sz="1550" spc="-25" dirty="0">
                <a:latin typeface="Arial"/>
                <a:cs typeface="Arial"/>
              </a:rPr>
              <a:t>y1</a:t>
            </a:r>
            <a:r>
              <a:rPr sz="1550" dirty="0">
                <a:latin typeface="Arial"/>
                <a:cs typeface="Arial"/>
              </a:rPr>
              <a:t>	</a:t>
            </a:r>
            <a:r>
              <a:rPr sz="1550" spc="-25" dirty="0">
                <a:latin typeface="Arial"/>
                <a:cs typeface="Arial"/>
              </a:rPr>
              <a:t>);</a:t>
            </a:r>
            <a:endParaRPr sz="1550">
              <a:latin typeface="Arial"/>
              <a:cs typeface="Arial"/>
            </a:endParaRPr>
          </a:p>
          <a:p>
            <a:pPr marL="212725">
              <a:lnSpc>
                <a:spcPct val="100000"/>
              </a:lnSpc>
              <a:spcBef>
                <a:spcPts val="35"/>
              </a:spcBef>
            </a:pPr>
            <a:r>
              <a:rPr sz="1550" spc="30" dirty="0">
                <a:solidFill>
                  <a:srgbClr val="00B0EF"/>
                </a:solidFill>
                <a:latin typeface="Arial"/>
                <a:cs typeface="Arial"/>
              </a:rPr>
              <a:t>// </a:t>
            </a:r>
            <a:r>
              <a:rPr sz="1550" spc="-10" dirty="0">
                <a:solidFill>
                  <a:srgbClr val="00B0EF"/>
                </a:solidFill>
                <a:latin typeface="微软雅黑"/>
                <a:cs typeface="微软雅黑"/>
              </a:rPr>
              <a:t>状态符号声明</a:t>
            </a:r>
            <a:endParaRPr sz="1550">
              <a:latin typeface="微软雅黑"/>
              <a:cs typeface="微软雅黑"/>
            </a:endParaRPr>
          </a:p>
          <a:p>
            <a:pPr marL="179070" marR="988694" indent="33020">
              <a:lnSpc>
                <a:spcPts val="1900"/>
              </a:lnSpc>
              <a:spcBef>
                <a:spcPts val="70"/>
              </a:spcBef>
            </a:pPr>
            <a:r>
              <a:rPr sz="1550" b="1" dirty="0">
                <a:latin typeface="Arial"/>
                <a:cs typeface="Arial"/>
              </a:rPr>
              <a:t>localparam</a:t>
            </a:r>
            <a:r>
              <a:rPr sz="1550" b="1" spc="25" dirty="0">
                <a:latin typeface="Arial"/>
                <a:cs typeface="Arial"/>
              </a:rPr>
              <a:t> </a:t>
            </a:r>
            <a:r>
              <a:rPr sz="1550" dirty="0">
                <a:latin typeface="Arial"/>
                <a:cs typeface="Arial"/>
              </a:rPr>
              <a:t>[1:0]</a:t>
            </a:r>
            <a:r>
              <a:rPr sz="1550" spc="465" dirty="0">
                <a:latin typeface="Arial"/>
                <a:cs typeface="Arial"/>
              </a:rPr>
              <a:t> </a:t>
            </a:r>
            <a:r>
              <a:rPr sz="1550" dirty="0">
                <a:latin typeface="Arial"/>
                <a:cs typeface="Arial"/>
              </a:rPr>
              <a:t>s0</a:t>
            </a:r>
            <a:r>
              <a:rPr sz="1550" spc="25" dirty="0">
                <a:latin typeface="Arial"/>
                <a:cs typeface="Arial"/>
              </a:rPr>
              <a:t> </a:t>
            </a:r>
            <a:r>
              <a:rPr sz="1550" dirty="0">
                <a:latin typeface="Arial"/>
                <a:cs typeface="Arial"/>
              </a:rPr>
              <a:t>=</a:t>
            </a:r>
            <a:r>
              <a:rPr sz="1550" spc="20" dirty="0">
                <a:latin typeface="Arial"/>
                <a:cs typeface="Arial"/>
              </a:rPr>
              <a:t> </a:t>
            </a:r>
            <a:r>
              <a:rPr sz="1550" dirty="0">
                <a:latin typeface="Arial"/>
                <a:cs typeface="Arial"/>
              </a:rPr>
              <a:t>2</a:t>
            </a:r>
            <a:r>
              <a:rPr sz="1550" spc="20" dirty="0">
                <a:latin typeface="Arial"/>
                <a:cs typeface="Arial"/>
              </a:rPr>
              <a:t> </a:t>
            </a:r>
            <a:r>
              <a:rPr sz="1550" dirty="0">
                <a:latin typeface="Arial"/>
                <a:cs typeface="Arial"/>
              </a:rPr>
              <a:t>'</a:t>
            </a:r>
            <a:r>
              <a:rPr sz="1550" spc="20" dirty="0">
                <a:latin typeface="Arial"/>
                <a:cs typeface="Arial"/>
              </a:rPr>
              <a:t> </a:t>
            </a:r>
            <a:r>
              <a:rPr sz="1550" dirty="0">
                <a:latin typeface="Arial"/>
                <a:cs typeface="Arial"/>
              </a:rPr>
              <a:t>b00</a:t>
            </a:r>
            <a:r>
              <a:rPr sz="1550" spc="25" dirty="0">
                <a:latin typeface="Arial"/>
                <a:cs typeface="Arial"/>
              </a:rPr>
              <a:t> </a:t>
            </a:r>
            <a:r>
              <a:rPr sz="1550" spc="-50" dirty="0">
                <a:latin typeface="Arial"/>
                <a:cs typeface="Arial"/>
              </a:rPr>
              <a:t>, </a:t>
            </a:r>
            <a:r>
              <a:rPr sz="1550" dirty="0">
                <a:latin typeface="Arial"/>
                <a:cs typeface="Arial"/>
              </a:rPr>
              <a:t>s1</a:t>
            </a:r>
            <a:r>
              <a:rPr sz="1550" spc="10" dirty="0">
                <a:latin typeface="Arial"/>
                <a:cs typeface="Arial"/>
              </a:rPr>
              <a:t> </a:t>
            </a:r>
            <a:r>
              <a:rPr sz="1550" dirty="0">
                <a:latin typeface="Arial"/>
                <a:cs typeface="Arial"/>
              </a:rPr>
              <a:t>=</a:t>
            </a:r>
            <a:r>
              <a:rPr sz="1550" spc="15" dirty="0">
                <a:latin typeface="Arial"/>
                <a:cs typeface="Arial"/>
              </a:rPr>
              <a:t> </a:t>
            </a:r>
            <a:r>
              <a:rPr sz="1550" dirty="0">
                <a:latin typeface="Arial"/>
                <a:cs typeface="Arial"/>
              </a:rPr>
              <a:t>2</a:t>
            </a:r>
            <a:r>
              <a:rPr sz="1550" spc="15" dirty="0">
                <a:latin typeface="Arial"/>
                <a:cs typeface="Arial"/>
              </a:rPr>
              <a:t> </a:t>
            </a:r>
            <a:r>
              <a:rPr sz="1550" dirty="0">
                <a:latin typeface="Arial"/>
                <a:cs typeface="Arial"/>
              </a:rPr>
              <a:t>'</a:t>
            </a:r>
            <a:r>
              <a:rPr sz="1550" spc="15" dirty="0">
                <a:latin typeface="Arial"/>
                <a:cs typeface="Arial"/>
              </a:rPr>
              <a:t> </a:t>
            </a:r>
            <a:r>
              <a:rPr sz="1550" spc="-20" dirty="0">
                <a:latin typeface="Arial"/>
                <a:cs typeface="Arial"/>
              </a:rPr>
              <a:t>b01,</a:t>
            </a:r>
            <a:endParaRPr sz="1550">
              <a:latin typeface="Arial"/>
              <a:cs typeface="Arial"/>
            </a:endParaRPr>
          </a:p>
          <a:p>
            <a:pPr marL="179070">
              <a:lnSpc>
                <a:spcPts val="1830"/>
              </a:lnSpc>
            </a:pPr>
            <a:r>
              <a:rPr sz="1550" dirty="0">
                <a:latin typeface="Arial"/>
                <a:cs typeface="Arial"/>
              </a:rPr>
              <a:t>s2</a:t>
            </a:r>
            <a:r>
              <a:rPr sz="1550" spc="10" dirty="0">
                <a:latin typeface="Arial"/>
                <a:cs typeface="Arial"/>
              </a:rPr>
              <a:t> </a:t>
            </a:r>
            <a:r>
              <a:rPr sz="1550" dirty="0">
                <a:latin typeface="Arial"/>
                <a:cs typeface="Arial"/>
              </a:rPr>
              <a:t>=</a:t>
            </a:r>
            <a:r>
              <a:rPr sz="1550" spc="15" dirty="0">
                <a:latin typeface="Arial"/>
                <a:cs typeface="Arial"/>
              </a:rPr>
              <a:t> </a:t>
            </a:r>
            <a:r>
              <a:rPr sz="1550" dirty="0">
                <a:latin typeface="Arial"/>
                <a:cs typeface="Arial"/>
              </a:rPr>
              <a:t>2</a:t>
            </a:r>
            <a:r>
              <a:rPr sz="1550" spc="15" dirty="0">
                <a:latin typeface="Arial"/>
                <a:cs typeface="Arial"/>
              </a:rPr>
              <a:t> </a:t>
            </a:r>
            <a:r>
              <a:rPr sz="1550" dirty="0">
                <a:latin typeface="Arial"/>
                <a:cs typeface="Arial"/>
              </a:rPr>
              <a:t>'</a:t>
            </a:r>
            <a:r>
              <a:rPr sz="1550" spc="15" dirty="0">
                <a:latin typeface="Arial"/>
                <a:cs typeface="Arial"/>
              </a:rPr>
              <a:t> </a:t>
            </a:r>
            <a:r>
              <a:rPr sz="1550" spc="-20" dirty="0">
                <a:latin typeface="Arial"/>
                <a:cs typeface="Arial"/>
              </a:rPr>
              <a:t>bl0;</a:t>
            </a:r>
            <a:endParaRPr sz="1550">
              <a:latin typeface="Arial"/>
              <a:cs typeface="Arial"/>
            </a:endParaRPr>
          </a:p>
          <a:p>
            <a:pPr>
              <a:lnSpc>
                <a:spcPct val="100000"/>
              </a:lnSpc>
              <a:spcBef>
                <a:spcPts val="30"/>
              </a:spcBef>
            </a:pPr>
            <a:endParaRPr sz="1550">
              <a:latin typeface="Arial"/>
              <a:cs typeface="Arial"/>
            </a:endParaRPr>
          </a:p>
          <a:p>
            <a:pPr marL="346075">
              <a:lnSpc>
                <a:spcPct val="100000"/>
              </a:lnSpc>
            </a:pPr>
            <a:r>
              <a:rPr sz="1550" dirty="0">
                <a:solidFill>
                  <a:srgbClr val="00B0EF"/>
                </a:solidFill>
                <a:latin typeface="Arial"/>
                <a:cs typeface="Arial"/>
              </a:rPr>
              <a:t>//</a:t>
            </a:r>
            <a:r>
              <a:rPr sz="1650" i="1" spc="-80" dirty="0">
                <a:solidFill>
                  <a:srgbClr val="00B0EF"/>
                </a:solidFill>
                <a:latin typeface="微软雅黑"/>
                <a:cs typeface="微软雅黑"/>
              </a:rPr>
              <a:t>信号声明</a:t>
            </a:r>
            <a:endParaRPr sz="1650">
              <a:latin typeface="微软雅黑"/>
              <a:cs typeface="微软雅黑"/>
            </a:endParaRPr>
          </a:p>
          <a:p>
            <a:pPr marL="212725">
              <a:lnSpc>
                <a:spcPts val="1825"/>
              </a:lnSpc>
              <a:spcBef>
                <a:spcPts val="15"/>
              </a:spcBef>
            </a:pPr>
            <a:r>
              <a:rPr sz="1550" b="1" dirty="0">
                <a:latin typeface="Arial"/>
                <a:cs typeface="Arial"/>
              </a:rPr>
              <a:t>reg</a:t>
            </a:r>
            <a:r>
              <a:rPr sz="1550" b="1" spc="25" dirty="0">
                <a:latin typeface="Arial"/>
                <a:cs typeface="Arial"/>
              </a:rPr>
              <a:t> </a:t>
            </a:r>
            <a:r>
              <a:rPr sz="1550" dirty="0">
                <a:latin typeface="Arial"/>
                <a:cs typeface="Arial"/>
              </a:rPr>
              <a:t>[1</a:t>
            </a:r>
            <a:r>
              <a:rPr sz="1550" spc="30"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0]</a:t>
            </a:r>
            <a:r>
              <a:rPr sz="1550" spc="490" dirty="0">
                <a:latin typeface="Arial"/>
                <a:cs typeface="Arial"/>
              </a:rPr>
              <a:t> </a:t>
            </a:r>
            <a:r>
              <a:rPr sz="1550" dirty="0">
                <a:latin typeface="Arial"/>
                <a:cs typeface="Arial"/>
              </a:rPr>
              <a:t>state_reg</a:t>
            </a:r>
            <a:r>
              <a:rPr sz="1550" spc="30" dirty="0">
                <a:latin typeface="Arial"/>
                <a:cs typeface="Arial"/>
              </a:rPr>
              <a:t> </a:t>
            </a:r>
            <a:r>
              <a:rPr sz="1550" dirty="0">
                <a:latin typeface="Arial"/>
                <a:cs typeface="Arial"/>
              </a:rPr>
              <a:t>,</a:t>
            </a:r>
            <a:r>
              <a:rPr sz="1550" spc="30" dirty="0">
                <a:latin typeface="Arial"/>
                <a:cs typeface="Arial"/>
              </a:rPr>
              <a:t> </a:t>
            </a:r>
            <a:r>
              <a:rPr sz="1550" spc="-10" dirty="0">
                <a:latin typeface="Arial"/>
                <a:cs typeface="Arial"/>
              </a:rPr>
              <a:t>state_next;</a:t>
            </a:r>
            <a:endParaRPr sz="1550">
              <a:latin typeface="Arial"/>
              <a:cs typeface="Arial"/>
            </a:endParaRPr>
          </a:p>
          <a:p>
            <a:pPr marL="413384">
              <a:lnSpc>
                <a:spcPts val="1945"/>
              </a:lnSpc>
            </a:pPr>
            <a:r>
              <a:rPr sz="1550" spc="15" dirty="0">
                <a:solidFill>
                  <a:srgbClr val="00B0EF"/>
                </a:solidFill>
                <a:latin typeface="Arial"/>
                <a:cs typeface="Arial"/>
              </a:rPr>
              <a:t>// </a:t>
            </a:r>
            <a:r>
              <a:rPr sz="1650" i="1" spc="-80" dirty="0">
                <a:solidFill>
                  <a:srgbClr val="00B0EF"/>
                </a:solidFill>
                <a:latin typeface="微软雅黑"/>
                <a:cs typeface="微软雅黑"/>
              </a:rPr>
              <a:t>状态切换</a:t>
            </a:r>
            <a:endParaRPr sz="1650">
              <a:latin typeface="微软雅黑"/>
              <a:cs typeface="微软雅黑"/>
            </a:endParaRPr>
          </a:p>
          <a:p>
            <a:pPr marL="179070">
              <a:lnSpc>
                <a:spcPct val="100000"/>
              </a:lnSpc>
              <a:spcBef>
                <a:spcPts val="30"/>
              </a:spcBef>
            </a:pPr>
            <a:r>
              <a:rPr sz="1550" b="1" dirty="0">
                <a:latin typeface="Arial"/>
                <a:cs typeface="Arial"/>
              </a:rPr>
              <a:t>always</a:t>
            </a:r>
            <a:r>
              <a:rPr sz="1550" b="1" spc="45" dirty="0">
                <a:latin typeface="Arial"/>
                <a:cs typeface="Arial"/>
              </a:rPr>
              <a:t> </a:t>
            </a:r>
            <a:r>
              <a:rPr sz="1550" dirty="0">
                <a:latin typeface="Arial"/>
                <a:cs typeface="Arial"/>
              </a:rPr>
              <a:t>@</a:t>
            </a:r>
            <a:r>
              <a:rPr sz="1550" spc="45" dirty="0">
                <a:latin typeface="Arial"/>
                <a:cs typeface="Arial"/>
              </a:rPr>
              <a:t> </a:t>
            </a:r>
            <a:r>
              <a:rPr sz="1550" dirty="0">
                <a:latin typeface="Arial"/>
                <a:cs typeface="Arial"/>
              </a:rPr>
              <a:t>(</a:t>
            </a:r>
            <a:r>
              <a:rPr sz="1550" b="1" dirty="0">
                <a:latin typeface="Arial"/>
                <a:cs typeface="Arial"/>
              </a:rPr>
              <a:t>posedge</a:t>
            </a:r>
            <a:r>
              <a:rPr sz="1550" b="1" spc="40" dirty="0">
                <a:latin typeface="Arial"/>
                <a:cs typeface="Arial"/>
              </a:rPr>
              <a:t> </a:t>
            </a:r>
            <a:r>
              <a:rPr sz="1550" dirty="0">
                <a:latin typeface="Arial"/>
                <a:cs typeface="Arial"/>
              </a:rPr>
              <a:t>clk</a:t>
            </a:r>
            <a:r>
              <a:rPr sz="1550" spc="35" dirty="0">
                <a:latin typeface="Arial"/>
                <a:cs typeface="Arial"/>
              </a:rPr>
              <a:t> </a:t>
            </a:r>
            <a:r>
              <a:rPr sz="1550" dirty="0">
                <a:latin typeface="Arial"/>
                <a:cs typeface="Arial"/>
              </a:rPr>
              <a:t>,</a:t>
            </a:r>
            <a:r>
              <a:rPr sz="1550" spc="55" dirty="0">
                <a:latin typeface="Arial"/>
                <a:cs typeface="Arial"/>
              </a:rPr>
              <a:t> </a:t>
            </a:r>
            <a:r>
              <a:rPr sz="1550" b="1" dirty="0">
                <a:latin typeface="Arial"/>
                <a:cs typeface="Arial"/>
              </a:rPr>
              <a:t>posedge</a:t>
            </a:r>
            <a:r>
              <a:rPr sz="1550" b="1" spc="40" dirty="0">
                <a:latin typeface="Arial"/>
                <a:cs typeface="Arial"/>
              </a:rPr>
              <a:t> </a:t>
            </a:r>
            <a:r>
              <a:rPr sz="1550" dirty="0">
                <a:latin typeface="Arial"/>
                <a:cs typeface="Arial"/>
              </a:rPr>
              <a:t>reset</a:t>
            </a:r>
            <a:r>
              <a:rPr sz="1550" spc="40" dirty="0">
                <a:latin typeface="Arial"/>
                <a:cs typeface="Arial"/>
              </a:rPr>
              <a:t> </a:t>
            </a:r>
            <a:r>
              <a:rPr sz="1550" spc="-50" dirty="0">
                <a:latin typeface="Arial"/>
                <a:cs typeface="Arial"/>
              </a:rPr>
              <a:t>)</a:t>
            </a:r>
            <a:endParaRPr sz="1550">
              <a:latin typeface="Arial"/>
              <a:cs typeface="Arial"/>
            </a:endParaRPr>
          </a:p>
          <a:p>
            <a:pPr marL="791845" marR="1776095" indent="-167005">
              <a:lnSpc>
                <a:spcPts val="1900"/>
              </a:lnSpc>
              <a:spcBef>
                <a:spcPts val="60"/>
              </a:spcBef>
            </a:pPr>
            <a:r>
              <a:rPr sz="1550" b="1" dirty="0">
                <a:latin typeface="Arial"/>
                <a:cs typeface="Arial"/>
              </a:rPr>
              <a:t>if</a:t>
            </a:r>
            <a:r>
              <a:rPr sz="1550" b="1" spc="30" dirty="0">
                <a:latin typeface="Arial"/>
                <a:cs typeface="Arial"/>
              </a:rPr>
              <a:t> </a:t>
            </a:r>
            <a:r>
              <a:rPr sz="1550" dirty="0">
                <a:latin typeface="Arial"/>
                <a:cs typeface="Arial"/>
              </a:rPr>
              <a:t>(</a:t>
            </a:r>
            <a:r>
              <a:rPr sz="1550" spc="35" dirty="0">
                <a:latin typeface="Arial"/>
                <a:cs typeface="Arial"/>
              </a:rPr>
              <a:t> </a:t>
            </a:r>
            <a:r>
              <a:rPr sz="1550" dirty="0">
                <a:latin typeface="Arial"/>
                <a:cs typeface="Arial"/>
              </a:rPr>
              <a:t>reset</a:t>
            </a:r>
            <a:r>
              <a:rPr sz="1550" spc="35" dirty="0">
                <a:latin typeface="Arial"/>
                <a:cs typeface="Arial"/>
              </a:rPr>
              <a:t> </a:t>
            </a:r>
            <a:r>
              <a:rPr sz="1550" spc="-50" dirty="0">
                <a:latin typeface="Arial"/>
                <a:cs typeface="Arial"/>
              </a:rPr>
              <a:t>) </a:t>
            </a:r>
            <a:r>
              <a:rPr sz="1550" dirty="0">
                <a:latin typeface="Arial"/>
                <a:cs typeface="Arial"/>
              </a:rPr>
              <a:t>state_reg&lt;=</a:t>
            </a:r>
            <a:r>
              <a:rPr sz="1550" spc="165" dirty="0">
                <a:latin typeface="Arial"/>
                <a:cs typeface="Arial"/>
              </a:rPr>
              <a:t> </a:t>
            </a:r>
            <a:r>
              <a:rPr sz="1550" spc="-25" dirty="0">
                <a:latin typeface="Arial"/>
                <a:cs typeface="Arial"/>
              </a:rPr>
              <a:t>s0;</a:t>
            </a:r>
            <a:endParaRPr sz="1550">
              <a:latin typeface="Arial"/>
              <a:cs typeface="Arial"/>
            </a:endParaRPr>
          </a:p>
          <a:p>
            <a:pPr marL="524510">
              <a:lnSpc>
                <a:spcPts val="1810"/>
              </a:lnSpc>
            </a:pPr>
            <a:r>
              <a:rPr sz="1550" b="1" spc="-20" dirty="0">
                <a:latin typeface="Arial"/>
                <a:cs typeface="Arial"/>
              </a:rPr>
              <a:t>else</a:t>
            </a:r>
            <a:endParaRPr sz="1550">
              <a:latin typeface="Arial"/>
              <a:cs typeface="Arial"/>
            </a:endParaRPr>
          </a:p>
          <a:p>
            <a:pPr marL="735965">
              <a:lnSpc>
                <a:spcPct val="100000"/>
              </a:lnSpc>
              <a:spcBef>
                <a:spcPts val="40"/>
              </a:spcBef>
            </a:pPr>
            <a:r>
              <a:rPr sz="1550" dirty="0">
                <a:latin typeface="Arial"/>
                <a:cs typeface="Arial"/>
              </a:rPr>
              <a:t>state_reg&lt;=</a:t>
            </a:r>
            <a:r>
              <a:rPr sz="1550" spc="145" dirty="0">
                <a:latin typeface="Arial"/>
                <a:cs typeface="Arial"/>
              </a:rPr>
              <a:t> </a:t>
            </a:r>
            <a:r>
              <a:rPr sz="1550" dirty="0">
                <a:latin typeface="Arial"/>
                <a:cs typeface="Arial"/>
              </a:rPr>
              <a:t>state_next</a:t>
            </a:r>
            <a:r>
              <a:rPr sz="1550" spc="160" dirty="0">
                <a:latin typeface="Arial"/>
                <a:cs typeface="Arial"/>
              </a:rPr>
              <a:t> </a:t>
            </a:r>
            <a:r>
              <a:rPr sz="1550" spc="-50" dirty="0">
                <a:latin typeface="Arial"/>
                <a:cs typeface="Arial"/>
              </a:rPr>
              <a:t>;</a:t>
            </a:r>
            <a:endParaRPr sz="1550">
              <a:latin typeface="Arial"/>
              <a:cs typeface="Arial"/>
            </a:endParaRPr>
          </a:p>
        </p:txBody>
      </p:sp>
      <p:grpSp>
        <p:nvGrpSpPr>
          <p:cNvPr id="7" name="object 7"/>
          <p:cNvGrpSpPr/>
          <p:nvPr/>
        </p:nvGrpSpPr>
        <p:grpSpPr>
          <a:xfrm>
            <a:off x="4930787" y="1062989"/>
            <a:ext cx="5029200" cy="5434330"/>
            <a:chOff x="4930787" y="1062989"/>
            <a:chExt cx="5029200" cy="5434330"/>
          </a:xfrm>
        </p:grpSpPr>
        <p:sp>
          <p:nvSpPr>
            <p:cNvPr id="8" name="object 8"/>
            <p:cNvSpPr/>
            <p:nvPr/>
          </p:nvSpPr>
          <p:spPr>
            <a:xfrm>
              <a:off x="4935359" y="1067561"/>
              <a:ext cx="5020945" cy="5424805"/>
            </a:xfrm>
            <a:custGeom>
              <a:avLst/>
              <a:gdLst/>
              <a:ahLst/>
              <a:cxnLst/>
              <a:rect l="l" t="t" r="r" b="b"/>
              <a:pathLst>
                <a:path w="5020945" h="5424805">
                  <a:moveTo>
                    <a:pt x="5020818" y="5424678"/>
                  </a:moveTo>
                  <a:lnTo>
                    <a:pt x="5020818" y="0"/>
                  </a:lnTo>
                  <a:lnTo>
                    <a:pt x="0" y="0"/>
                  </a:lnTo>
                  <a:lnTo>
                    <a:pt x="0" y="5424678"/>
                  </a:lnTo>
                  <a:lnTo>
                    <a:pt x="5020818" y="5424678"/>
                  </a:lnTo>
                  <a:close/>
                </a:path>
              </a:pathLst>
            </a:custGeom>
            <a:solidFill>
              <a:srgbClr val="F9FABA"/>
            </a:solidFill>
          </p:spPr>
          <p:txBody>
            <a:bodyPr wrap="square" lIns="0" tIns="0" rIns="0" bIns="0" rtlCol="0"/>
            <a:lstStyle/>
            <a:p>
              <a:endParaRPr/>
            </a:p>
          </p:txBody>
        </p:sp>
        <p:sp>
          <p:nvSpPr>
            <p:cNvPr id="9" name="object 9"/>
            <p:cNvSpPr/>
            <p:nvPr/>
          </p:nvSpPr>
          <p:spPr>
            <a:xfrm>
              <a:off x="4930787" y="1062989"/>
              <a:ext cx="5029200" cy="5434330"/>
            </a:xfrm>
            <a:custGeom>
              <a:avLst/>
              <a:gdLst/>
              <a:ahLst/>
              <a:cxnLst/>
              <a:rect l="l" t="t" r="r" b="b"/>
              <a:pathLst>
                <a:path w="5029200" h="5434330">
                  <a:moveTo>
                    <a:pt x="5029200" y="5431536"/>
                  </a:moveTo>
                  <a:lnTo>
                    <a:pt x="5029200" y="2285"/>
                  </a:lnTo>
                  <a:lnTo>
                    <a:pt x="5027676" y="0"/>
                  </a:lnTo>
                  <a:lnTo>
                    <a:pt x="2285" y="0"/>
                  </a:lnTo>
                  <a:lnTo>
                    <a:pt x="0" y="2286"/>
                  </a:lnTo>
                  <a:lnTo>
                    <a:pt x="0" y="5431536"/>
                  </a:lnTo>
                  <a:lnTo>
                    <a:pt x="2286" y="5433822"/>
                  </a:lnTo>
                  <a:lnTo>
                    <a:pt x="4571" y="5433822"/>
                  </a:lnTo>
                  <a:lnTo>
                    <a:pt x="4572" y="8382"/>
                  </a:lnTo>
                  <a:lnTo>
                    <a:pt x="8381" y="4572"/>
                  </a:lnTo>
                  <a:lnTo>
                    <a:pt x="8381" y="8382"/>
                  </a:lnTo>
                  <a:lnTo>
                    <a:pt x="5020818" y="8381"/>
                  </a:lnTo>
                  <a:lnTo>
                    <a:pt x="5020818" y="4571"/>
                  </a:lnTo>
                  <a:lnTo>
                    <a:pt x="5025390" y="8381"/>
                  </a:lnTo>
                  <a:lnTo>
                    <a:pt x="5025390" y="5433822"/>
                  </a:lnTo>
                  <a:lnTo>
                    <a:pt x="5027676" y="5433822"/>
                  </a:lnTo>
                  <a:lnTo>
                    <a:pt x="5029200" y="5431536"/>
                  </a:lnTo>
                  <a:close/>
                </a:path>
                <a:path w="5029200" h="5434330">
                  <a:moveTo>
                    <a:pt x="8381" y="8382"/>
                  </a:moveTo>
                  <a:lnTo>
                    <a:pt x="8381" y="4572"/>
                  </a:lnTo>
                  <a:lnTo>
                    <a:pt x="4572" y="8382"/>
                  </a:lnTo>
                  <a:lnTo>
                    <a:pt x="8381" y="8382"/>
                  </a:lnTo>
                  <a:close/>
                </a:path>
                <a:path w="5029200" h="5434330">
                  <a:moveTo>
                    <a:pt x="8381" y="5425440"/>
                  </a:moveTo>
                  <a:lnTo>
                    <a:pt x="8381" y="8382"/>
                  </a:lnTo>
                  <a:lnTo>
                    <a:pt x="4572" y="8382"/>
                  </a:lnTo>
                  <a:lnTo>
                    <a:pt x="4572" y="5425440"/>
                  </a:lnTo>
                  <a:lnTo>
                    <a:pt x="8381" y="5425440"/>
                  </a:lnTo>
                  <a:close/>
                </a:path>
                <a:path w="5029200" h="5434330">
                  <a:moveTo>
                    <a:pt x="5025390" y="5425440"/>
                  </a:moveTo>
                  <a:lnTo>
                    <a:pt x="4572" y="5425440"/>
                  </a:lnTo>
                  <a:lnTo>
                    <a:pt x="8381" y="5429249"/>
                  </a:lnTo>
                  <a:lnTo>
                    <a:pt x="8381" y="5433822"/>
                  </a:lnTo>
                  <a:lnTo>
                    <a:pt x="5020818" y="5433822"/>
                  </a:lnTo>
                  <a:lnTo>
                    <a:pt x="5020818" y="5429250"/>
                  </a:lnTo>
                  <a:lnTo>
                    <a:pt x="5025390" y="5425440"/>
                  </a:lnTo>
                  <a:close/>
                </a:path>
                <a:path w="5029200" h="5434330">
                  <a:moveTo>
                    <a:pt x="8381" y="5433822"/>
                  </a:moveTo>
                  <a:lnTo>
                    <a:pt x="8381" y="5429249"/>
                  </a:lnTo>
                  <a:lnTo>
                    <a:pt x="4572" y="5425440"/>
                  </a:lnTo>
                  <a:lnTo>
                    <a:pt x="4571" y="5433822"/>
                  </a:lnTo>
                  <a:lnTo>
                    <a:pt x="8381" y="5433822"/>
                  </a:lnTo>
                  <a:close/>
                </a:path>
                <a:path w="5029200" h="5434330">
                  <a:moveTo>
                    <a:pt x="5025390" y="8381"/>
                  </a:moveTo>
                  <a:lnTo>
                    <a:pt x="5020818" y="4571"/>
                  </a:lnTo>
                  <a:lnTo>
                    <a:pt x="5020818" y="8381"/>
                  </a:lnTo>
                  <a:lnTo>
                    <a:pt x="5025390" y="8381"/>
                  </a:lnTo>
                  <a:close/>
                </a:path>
                <a:path w="5029200" h="5434330">
                  <a:moveTo>
                    <a:pt x="5025390" y="5425440"/>
                  </a:moveTo>
                  <a:lnTo>
                    <a:pt x="5025390" y="8381"/>
                  </a:lnTo>
                  <a:lnTo>
                    <a:pt x="5020818" y="8381"/>
                  </a:lnTo>
                  <a:lnTo>
                    <a:pt x="5020818" y="5425440"/>
                  </a:lnTo>
                  <a:lnTo>
                    <a:pt x="5025390" y="5425440"/>
                  </a:lnTo>
                  <a:close/>
                </a:path>
                <a:path w="5029200" h="5434330">
                  <a:moveTo>
                    <a:pt x="5025390" y="5433822"/>
                  </a:moveTo>
                  <a:lnTo>
                    <a:pt x="5025390" y="5425440"/>
                  </a:lnTo>
                  <a:lnTo>
                    <a:pt x="5020818" y="5429250"/>
                  </a:lnTo>
                  <a:lnTo>
                    <a:pt x="5020818" y="5433822"/>
                  </a:lnTo>
                  <a:lnTo>
                    <a:pt x="5025390" y="5433822"/>
                  </a:lnTo>
                  <a:close/>
                </a:path>
              </a:pathLst>
            </a:custGeom>
            <a:solidFill>
              <a:srgbClr val="FF0000"/>
            </a:solidFill>
          </p:spPr>
          <p:txBody>
            <a:bodyPr wrap="square" lIns="0" tIns="0" rIns="0" bIns="0" rtlCol="0"/>
            <a:lstStyle/>
            <a:p>
              <a:endParaRPr/>
            </a:p>
          </p:txBody>
        </p:sp>
      </p:grpSp>
      <p:sp>
        <p:nvSpPr>
          <p:cNvPr id="10" name="object 10"/>
          <p:cNvSpPr txBox="1"/>
          <p:nvPr/>
        </p:nvSpPr>
        <p:spPr>
          <a:xfrm>
            <a:off x="5002705" y="1086103"/>
            <a:ext cx="4371975" cy="5313045"/>
          </a:xfrm>
          <a:prstGeom prst="rect">
            <a:avLst/>
          </a:prstGeom>
        </p:spPr>
        <p:txBody>
          <a:bodyPr vert="horz" wrap="square" lIns="0" tIns="15875" rIns="0" bIns="0" rtlCol="0">
            <a:spAutoFit/>
          </a:bodyPr>
          <a:lstStyle/>
          <a:p>
            <a:pPr marL="150495">
              <a:lnSpc>
                <a:spcPct val="100000"/>
              </a:lnSpc>
              <a:spcBef>
                <a:spcPts val="125"/>
              </a:spcBef>
            </a:pPr>
            <a:r>
              <a:rPr sz="1550" b="1" spc="150" dirty="0">
                <a:solidFill>
                  <a:srgbClr val="00B0EF"/>
                </a:solidFill>
                <a:latin typeface="Calibri"/>
                <a:cs typeface="Calibri"/>
              </a:rPr>
              <a:t>// </a:t>
            </a:r>
            <a:r>
              <a:rPr sz="1550" b="1" spc="-15" dirty="0">
                <a:solidFill>
                  <a:srgbClr val="00B0EF"/>
                </a:solidFill>
                <a:latin typeface="宋体"/>
                <a:cs typeface="宋体"/>
              </a:rPr>
              <a:t>次态逻辑</a:t>
            </a:r>
            <a:endParaRPr sz="1550">
              <a:latin typeface="宋体"/>
              <a:cs typeface="宋体"/>
            </a:endParaRPr>
          </a:p>
          <a:p>
            <a:pPr marL="104775">
              <a:lnSpc>
                <a:spcPct val="100000"/>
              </a:lnSpc>
              <a:spcBef>
                <a:spcPts val="5"/>
              </a:spcBef>
            </a:pPr>
            <a:r>
              <a:rPr sz="1550" b="1" dirty="0">
                <a:latin typeface="Calibri"/>
                <a:cs typeface="Calibri"/>
              </a:rPr>
              <a:t>always</a:t>
            </a:r>
            <a:r>
              <a:rPr sz="1550" b="1" spc="370" dirty="0">
                <a:latin typeface="Calibri"/>
                <a:cs typeface="Calibri"/>
              </a:rPr>
              <a:t> </a:t>
            </a:r>
            <a:r>
              <a:rPr sz="1550" spc="-25" dirty="0">
                <a:latin typeface="Calibri"/>
                <a:cs typeface="Calibri"/>
              </a:rPr>
              <a:t>@*</a:t>
            </a:r>
            <a:endParaRPr sz="1550">
              <a:latin typeface="Calibri"/>
              <a:cs typeface="Calibri"/>
            </a:endParaRPr>
          </a:p>
          <a:p>
            <a:pPr marL="425450" marR="2739390" indent="-184150">
              <a:lnSpc>
                <a:spcPts val="1900"/>
              </a:lnSpc>
              <a:spcBef>
                <a:spcPts val="60"/>
              </a:spcBef>
            </a:pPr>
            <a:r>
              <a:rPr sz="1550" b="1" dirty="0">
                <a:latin typeface="Calibri"/>
                <a:cs typeface="Calibri"/>
              </a:rPr>
              <a:t>case </a:t>
            </a:r>
            <a:r>
              <a:rPr sz="1550" dirty="0">
                <a:latin typeface="Calibri"/>
                <a:cs typeface="Calibri"/>
              </a:rPr>
              <a:t>(</a:t>
            </a:r>
            <a:r>
              <a:rPr sz="1550" spc="15" dirty="0">
                <a:latin typeface="Calibri"/>
                <a:cs typeface="Calibri"/>
              </a:rPr>
              <a:t> </a:t>
            </a:r>
            <a:r>
              <a:rPr sz="1550" dirty="0">
                <a:latin typeface="Calibri"/>
                <a:cs typeface="Calibri"/>
              </a:rPr>
              <a:t>state_reg</a:t>
            </a:r>
            <a:r>
              <a:rPr sz="1550" spc="5" dirty="0">
                <a:latin typeface="Calibri"/>
                <a:cs typeface="Calibri"/>
              </a:rPr>
              <a:t> </a:t>
            </a:r>
            <a:r>
              <a:rPr sz="1550" spc="-50" dirty="0">
                <a:latin typeface="Calibri"/>
                <a:cs typeface="Calibri"/>
              </a:rPr>
              <a:t>) </a:t>
            </a:r>
            <a:r>
              <a:rPr sz="1550" dirty="0">
                <a:latin typeface="Calibri"/>
                <a:cs typeface="Calibri"/>
              </a:rPr>
              <a:t>s0:</a:t>
            </a:r>
            <a:r>
              <a:rPr sz="1550" spc="400" dirty="0">
                <a:latin typeface="Calibri"/>
                <a:cs typeface="Calibri"/>
              </a:rPr>
              <a:t> </a:t>
            </a:r>
            <a:r>
              <a:rPr sz="1550" b="1" dirty="0">
                <a:latin typeface="Calibri"/>
                <a:cs typeface="Calibri"/>
              </a:rPr>
              <a:t>if</a:t>
            </a:r>
            <a:r>
              <a:rPr sz="1550" b="1" spc="25" dirty="0">
                <a:latin typeface="Calibri"/>
                <a:cs typeface="Calibri"/>
              </a:rPr>
              <a:t> </a:t>
            </a:r>
            <a:r>
              <a:rPr sz="1550" dirty="0">
                <a:latin typeface="Calibri"/>
                <a:cs typeface="Calibri"/>
              </a:rPr>
              <a:t>(</a:t>
            </a:r>
            <a:r>
              <a:rPr sz="1550" spc="20" dirty="0">
                <a:latin typeface="Calibri"/>
                <a:cs typeface="Calibri"/>
              </a:rPr>
              <a:t> </a:t>
            </a:r>
            <a:r>
              <a:rPr sz="1550" dirty="0">
                <a:latin typeface="Calibri"/>
                <a:cs typeface="Calibri"/>
              </a:rPr>
              <a:t>a</a:t>
            </a:r>
            <a:r>
              <a:rPr sz="1550" spc="25" dirty="0">
                <a:latin typeface="Calibri"/>
                <a:cs typeface="Calibri"/>
              </a:rPr>
              <a:t> </a:t>
            </a:r>
            <a:r>
              <a:rPr sz="1550" spc="-50" dirty="0">
                <a:latin typeface="Calibri"/>
                <a:cs typeface="Calibri"/>
              </a:rPr>
              <a:t>)</a:t>
            </a:r>
            <a:endParaRPr sz="1550">
              <a:latin typeface="Calibri"/>
              <a:cs typeface="Calibri"/>
            </a:endParaRPr>
          </a:p>
          <a:p>
            <a:pPr marL="865505">
              <a:lnSpc>
                <a:spcPts val="1850"/>
              </a:lnSpc>
            </a:pPr>
            <a:r>
              <a:rPr sz="1550" b="1" dirty="0">
                <a:latin typeface="Calibri"/>
                <a:cs typeface="Calibri"/>
              </a:rPr>
              <a:t>if</a:t>
            </a:r>
            <a:r>
              <a:rPr sz="1550" b="1" spc="20" dirty="0">
                <a:latin typeface="Calibri"/>
                <a:cs typeface="Calibri"/>
              </a:rPr>
              <a:t> </a:t>
            </a:r>
            <a:r>
              <a:rPr sz="1550" dirty="0">
                <a:latin typeface="Calibri"/>
                <a:cs typeface="Calibri"/>
              </a:rPr>
              <a:t>(</a:t>
            </a:r>
            <a:r>
              <a:rPr sz="1550" spc="20" dirty="0">
                <a:latin typeface="Calibri"/>
                <a:cs typeface="Calibri"/>
              </a:rPr>
              <a:t> </a:t>
            </a:r>
            <a:r>
              <a:rPr sz="1550" dirty="0">
                <a:latin typeface="Calibri"/>
                <a:cs typeface="Calibri"/>
              </a:rPr>
              <a:t>b</a:t>
            </a:r>
            <a:r>
              <a:rPr sz="1550" spc="20" dirty="0">
                <a:latin typeface="Calibri"/>
                <a:cs typeface="Calibri"/>
              </a:rPr>
              <a:t> </a:t>
            </a:r>
            <a:r>
              <a:rPr sz="1550" spc="-50" dirty="0">
                <a:latin typeface="Calibri"/>
                <a:cs typeface="Calibri"/>
              </a:rPr>
              <a:t>)</a:t>
            </a:r>
            <a:endParaRPr sz="1550">
              <a:latin typeface="Calibri"/>
              <a:cs typeface="Calibri"/>
            </a:endParaRPr>
          </a:p>
          <a:p>
            <a:pPr marL="1022985">
              <a:lnSpc>
                <a:spcPct val="100000"/>
              </a:lnSpc>
            </a:pPr>
            <a:r>
              <a:rPr sz="1550" dirty="0">
                <a:latin typeface="Calibri"/>
                <a:cs typeface="Calibri"/>
              </a:rPr>
              <a:t>state_next</a:t>
            </a:r>
            <a:r>
              <a:rPr sz="1550" spc="5" dirty="0">
                <a:latin typeface="Calibri"/>
                <a:cs typeface="Calibri"/>
              </a:rPr>
              <a:t> </a:t>
            </a:r>
            <a:r>
              <a:rPr sz="1550" dirty="0">
                <a:latin typeface="Calibri"/>
                <a:cs typeface="Calibri"/>
              </a:rPr>
              <a:t>=</a:t>
            </a:r>
            <a:r>
              <a:rPr sz="1550" spc="10" dirty="0">
                <a:latin typeface="Calibri"/>
                <a:cs typeface="Calibri"/>
              </a:rPr>
              <a:t> </a:t>
            </a:r>
            <a:r>
              <a:rPr sz="1550" dirty="0">
                <a:latin typeface="Calibri"/>
                <a:cs typeface="Calibri"/>
              </a:rPr>
              <a:t>s2</a:t>
            </a:r>
            <a:r>
              <a:rPr sz="1550" spc="15" dirty="0">
                <a:latin typeface="Calibri"/>
                <a:cs typeface="Calibri"/>
              </a:rPr>
              <a:t> </a:t>
            </a:r>
            <a:r>
              <a:rPr sz="1550" spc="-50" dirty="0">
                <a:latin typeface="Calibri"/>
                <a:cs typeface="Calibri"/>
              </a:rPr>
              <a:t>;</a:t>
            </a:r>
            <a:endParaRPr sz="1550">
              <a:latin typeface="Calibri"/>
              <a:cs typeface="Calibri"/>
            </a:endParaRPr>
          </a:p>
          <a:p>
            <a:pPr marL="819150">
              <a:lnSpc>
                <a:spcPct val="100000"/>
              </a:lnSpc>
              <a:spcBef>
                <a:spcPts val="70"/>
              </a:spcBef>
            </a:pPr>
            <a:r>
              <a:rPr sz="1550" b="1" spc="-20" dirty="0">
                <a:latin typeface="Calibri"/>
                <a:cs typeface="Calibri"/>
              </a:rPr>
              <a:t>else</a:t>
            </a:r>
            <a:endParaRPr sz="1550">
              <a:latin typeface="Calibri"/>
              <a:cs typeface="Calibri"/>
            </a:endParaRPr>
          </a:p>
          <a:p>
            <a:pPr marL="1022985">
              <a:lnSpc>
                <a:spcPct val="100000"/>
              </a:lnSpc>
            </a:pPr>
            <a:r>
              <a:rPr sz="1550" dirty="0">
                <a:latin typeface="Calibri"/>
                <a:cs typeface="Calibri"/>
              </a:rPr>
              <a:t>state_next</a:t>
            </a:r>
            <a:r>
              <a:rPr sz="1550" spc="5" dirty="0">
                <a:latin typeface="Calibri"/>
                <a:cs typeface="Calibri"/>
              </a:rPr>
              <a:t> </a:t>
            </a:r>
            <a:r>
              <a:rPr sz="1550" dirty="0">
                <a:latin typeface="Calibri"/>
                <a:cs typeface="Calibri"/>
              </a:rPr>
              <a:t>=</a:t>
            </a:r>
            <a:r>
              <a:rPr sz="1550" spc="10" dirty="0">
                <a:latin typeface="Calibri"/>
                <a:cs typeface="Calibri"/>
              </a:rPr>
              <a:t> </a:t>
            </a:r>
            <a:r>
              <a:rPr sz="1550" dirty="0">
                <a:latin typeface="Calibri"/>
                <a:cs typeface="Calibri"/>
              </a:rPr>
              <a:t>s1</a:t>
            </a:r>
            <a:r>
              <a:rPr sz="1550" spc="15" dirty="0">
                <a:latin typeface="Calibri"/>
                <a:cs typeface="Calibri"/>
              </a:rPr>
              <a:t> </a:t>
            </a:r>
            <a:r>
              <a:rPr sz="1550" spc="-50" dirty="0">
                <a:latin typeface="Calibri"/>
                <a:cs typeface="Calibri"/>
              </a:rPr>
              <a:t>;</a:t>
            </a:r>
            <a:endParaRPr sz="1550">
              <a:latin typeface="Calibri"/>
              <a:cs typeface="Calibri"/>
            </a:endParaRPr>
          </a:p>
          <a:p>
            <a:pPr marL="746760">
              <a:lnSpc>
                <a:spcPct val="100000"/>
              </a:lnSpc>
              <a:spcBef>
                <a:spcPts val="35"/>
              </a:spcBef>
            </a:pPr>
            <a:r>
              <a:rPr sz="1550" b="1" spc="-20" dirty="0">
                <a:latin typeface="Calibri"/>
                <a:cs typeface="Calibri"/>
              </a:rPr>
              <a:t>else</a:t>
            </a:r>
            <a:endParaRPr sz="1550">
              <a:latin typeface="Calibri"/>
              <a:cs typeface="Calibri"/>
            </a:endParaRPr>
          </a:p>
          <a:p>
            <a:pPr marL="425450" marR="2196465" indent="459105">
              <a:lnSpc>
                <a:spcPct val="101600"/>
              </a:lnSpc>
              <a:spcBef>
                <a:spcPts val="5"/>
              </a:spcBef>
              <a:tabLst>
                <a:tab pos="796925" algn="l"/>
              </a:tabLst>
            </a:pPr>
            <a:r>
              <a:rPr sz="1550" dirty="0">
                <a:latin typeface="Calibri"/>
                <a:cs typeface="Calibri"/>
              </a:rPr>
              <a:t>state_next</a:t>
            </a:r>
            <a:r>
              <a:rPr sz="1550" spc="-10" dirty="0">
                <a:latin typeface="Calibri"/>
                <a:cs typeface="Calibri"/>
              </a:rPr>
              <a:t> </a:t>
            </a:r>
            <a:r>
              <a:rPr sz="1550" dirty="0">
                <a:latin typeface="Calibri"/>
                <a:cs typeface="Calibri"/>
              </a:rPr>
              <a:t>= </a:t>
            </a:r>
            <a:r>
              <a:rPr sz="1550" spc="-25" dirty="0">
                <a:latin typeface="Calibri"/>
                <a:cs typeface="Calibri"/>
              </a:rPr>
              <a:t>s0; s1:</a:t>
            </a:r>
            <a:r>
              <a:rPr sz="1550" dirty="0">
                <a:latin typeface="Calibri"/>
                <a:cs typeface="Calibri"/>
              </a:rPr>
              <a:t>	</a:t>
            </a:r>
            <a:r>
              <a:rPr sz="1550" b="1" dirty="0">
                <a:latin typeface="Calibri"/>
                <a:cs typeface="Calibri"/>
              </a:rPr>
              <a:t>if</a:t>
            </a:r>
            <a:r>
              <a:rPr sz="1550" b="1" spc="390" dirty="0">
                <a:latin typeface="Calibri"/>
                <a:cs typeface="Calibri"/>
              </a:rPr>
              <a:t> </a:t>
            </a:r>
            <a:r>
              <a:rPr sz="1550" dirty="0">
                <a:latin typeface="Calibri"/>
                <a:cs typeface="Calibri"/>
              </a:rPr>
              <a:t>(</a:t>
            </a:r>
            <a:r>
              <a:rPr sz="1550" spc="15" dirty="0">
                <a:latin typeface="Calibri"/>
                <a:cs typeface="Calibri"/>
              </a:rPr>
              <a:t> </a:t>
            </a:r>
            <a:r>
              <a:rPr sz="1550" dirty="0">
                <a:latin typeface="Calibri"/>
                <a:cs typeface="Calibri"/>
              </a:rPr>
              <a:t>a</a:t>
            </a:r>
            <a:r>
              <a:rPr sz="1550" spc="20" dirty="0">
                <a:latin typeface="Calibri"/>
                <a:cs typeface="Calibri"/>
              </a:rPr>
              <a:t> </a:t>
            </a:r>
            <a:r>
              <a:rPr sz="1550" spc="-60" dirty="0">
                <a:latin typeface="Calibri"/>
                <a:cs typeface="Calibri"/>
              </a:rPr>
              <a:t>)</a:t>
            </a:r>
            <a:endParaRPr sz="1550">
              <a:latin typeface="Calibri"/>
              <a:cs typeface="Calibri"/>
            </a:endParaRPr>
          </a:p>
          <a:p>
            <a:pPr marL="930275">
              <a:lnSpc>
                <a:spcPct val="100000"/>
              </a:lnSpc>
              <a:spcBef>
                <a:spcPts val="35"/>
              </a:spcBef>
            </a:pPr>
            <a:r>
              <a:rPr sz="1550" dirty="0">
                <a:latin typeface="Calibri"/>
                <a:cs typeface="Calibri"/>
              </a:rPr>
              <a:t>state_next</a:t>
            </a:r>
            <a:r>
              <a:rPr sz="1550" spc="-10" dirty="0">
                <a:latin typeface="Calibri"/>
                <a:cs typeface="Calibri"/>
              </a:rPr>
              <a:t> </a:t>
            </a:r>
            <a:r>
              <a:rPr sz="1550" dirty="0">
                <a:latin typeface="Calibri"/>
                <a:cs typeface="Calibri"/>
              </a:rPr>
              <a:t>=</a:t>
            </a:r>
            <a:r>
              <a:rPr sz="1550" spc="5" dirty="0">
                <a:latin typeface="Calibri"/>
                <a:cs typeface="Calibri"/>
              </a:rPr>
              <a:t> </a:t>
            </a:r>
            <a:r>
              <a:rPr sz="1550" spc="-25" dirty="0">
                <a:latin typeface="Calibri"/>
                <a:cs typeface="Calibri"/>
              </a:rPr>
              <a:t>s0;</a:t>
            </a:r>
            <a:endParaRPr sz="1550">
              <a:latin typeface="Calibri"/>
              <a:cs typeface="Calibri"/>
            </a:endParaRPr>
          </a:p>
          <a:p>
            <a:pPr marL="746760">
              <a:lnSpc>
                <a:spcPct val="100000"/>
              </a:lnSpc>
              <a:spcBef>
                <a:spcPts val="30"/>
              </a:spcBef>
            </a:pPr>
            <a:r>
              <a:rPr sz="1550" b="1" spc="-20" dirty="0">
                <a:latin typeface="Calibri"/>
                <a:cs typeface="Calibri"/>
              </a:rPr>
              <a:t>else</a:t>
            </a:r>
            <a:endParaRPr sz="1550">
              <a:latin typeface="Calibri"/>
              <a:cs typeface="Calibri"/>
            </a:endParaRPr>
          </a:p>
          <a:p>
            <a:pPr marL="379730" marR="2009139" indent="550545">
              <a:lnSpc>
                <a:spcPct val="101800"/>
              </a:lnSpc>
              <a:spcBef>
                <a:spcPts val="5"/>
              </a:spcBef>
              <a:tabLst>
                <a:tab pos="752475" algn="l"/>
              </a:tabLst>
            </a:pPr>
            <a:r>
              <a:rPr sz="1550" dirty="0">
                <a:latin typeface="Calibri"/>
                <a:cs typeface="Calibri"/>
              </a:rPr>
              <a:t>state_next</a:t>
            </a:r>
            <a:r>
              <a:rPr sz="1550" spc="-10" dirty="0">
                <a:latin typeface="Calibri"/>
                <a:cs typeface="Calibri"/>
              </a:rPr>
              <a:t> </a:t>
            </a:r>
            <a:r>
              <a:rPr sz="1550" dirty="0">
                <a:latin typeface="Calibri"/>
                <a:cs typeface="Calibri"/>
              </a:rPr>
              <a:t>=</a:t>
            </a:r>
            <a:r>
              <a:rPr sz="1550" spc="5" dirty="0">
                <a:latin typeface="Calibri"/>
                <a:cs typeface="Calibri"/>
              </a:rPr>
              <a:t> </a:t>
            </a:r>
            <a:r>
              <a:rPr sz="1550" spc="-25" dirty="0">
                <a:latin typeface="Calibri"/>
                <a:cs typeface="Calibri"/>
              </a:rPr>
              <a:t>s1; s2:</a:t>
            </a:r>
            <a:r>
              <a:rPr sz="1550" dirty="0">
                <a:latin typeface="Calibri"/>
                <a:cs typeface="Calibri"/>
              </a:rPr>
              <a:t>	state_next</a:t>
            </a:r>
            <a:r>
              <a:rPr sz="1550" spc="-10" dirty="0">
                <a:latin typeface="Calibri"/>
                <a:cs typeface="Calibri"/>
              </a:rPr>
              <a:t> </a:t>
            </a:r>
            <a:r>
              <a:rPr sz="1550" dirty="0">
                <a:latin typeface="Calibri"/>
                <a:cs typeface="Calibri"/>
              </a:rPr>
              <a:t>= </a:t>
            </a:r>
            <a:r>
              <a:rPr sz="1550" spc="-25" dirty="0">
                <a:latin typeface="Calibri"/>
                <a:cs typeface="Calibri"/>
              </a:rPr>
              <a:t>s0; </a:t>
            </a:r>
            <a:r>
              <a:rPr sz="1550" b="1" dirty="0">
                <a:latin typeface="Calibri"/>
                <a:cs typeface="Calibri"/>
              </a:rPr>
              <a:t>default: </a:t>
            </a:r>
            <a:r>
              <a:rPr sz="1550" dirty="0">
                <a:latin typeface="Calibri"/>
                <a:cs typeface="Calibri"/>
              </a:rPr>
              <a:t>state_next =</a:t>
            </a:r>
            <a:r>
              <a:rPr sz="1550" spc="10" dirty="0">
                <a:latin typeface="Calibri"/>
                <a:cs typeface="Calibri"/>
              </a:rPr>
              <a:t> </a:t>
            </a:r>
            <a:r>
              <a:rPr sz="1550" spc="-25" dirty="0">
                <a:latin typeface="Calibri"/>
                <a:cs typeface="Calibri"/>
              </a:rPr>
              <a:t>s0;</a:t>
            </a:r>
            <a:endParaRPr sz="1550">
              <a:latin typeface="Calibri"/>
              <a:cs typeface="Calibri"/>
            </a:endParaRPr>
          </a:p>
          <a:p>
            <a:pPr marL="104775">
              <a:lnSpc>
                <a:spcPct val="100000"/>
              </a:lnSpc>
              <a:spcBef>
                <a:spcPts val="35"/>
              </a:spcBef>
            </a:pPr>
            <a:r>
              <a:rPr sz="1550" b="1" spc="-10" dirty="0">
                <a:latin typeface="Calibri"/>
                <a:cs typeface="Calibri"/>
              </a:rPr>
              <a:t>endcase</a:t>
            </a:r>
            <a:endParaRPr sz="1550">
              <a:latin typeface="Calibri"/>
              <a:cs typeface="Calibri"/>
            </a:endParaRPr>
          </a:p>
          <a:p>
            <a:pPr marL="150495">
              <a:lnSpc>
                <a:spcPct val="100000"/>
              </a:lnSpc>
              <a:spcBef>
                <a:spcPts val="65"/>
              </a:spcBef>
            </a:pPr>
            <a:r>
              <a:rPr sz="1550" b="1" spc="40" dirty="0">
                <a:solidFill>
                  <a:srgbClr val="00B0EF"/>
                </a:solidFill>
                <a:latin typeface="Calibri"/>
                <a:cs typeface="Calibri"/>
              </a:rPr>
              <a:t>// </a:t>
            </a:r>
            <a:r>
              <a:rPr sz="1550" b="1" dirty="0">
                <a:solidFill>
                  <a:srgbClr val="00B0EF"/>
                </a:solidFill>
                <a:latin typeface="Calibri"/>
                <a:cs typeface="Calibri"/>
              </a:rPr>
              <a:t>Moore</a:t>
            </a:r>
            <a:r>
              <a:rPr sz="1550" b="1" spc="-10" dirty="0">
                <a:solidFill>
                  <a:srgbClr val="00B0EF"/>
                </a:solidFill>
                <a:latin typeface="宋体"/>
                <a:cs typeface="宋体"/>
              </a:rPr>
              <a:t>型逻辑输出</a:t>
            </a:r>
            <a:endParaRPr sz="1550">
              <a:latin typeface="宋体"/>
              <a:cs typeface="宋体"/>
            </a:endParaRPr>
          </a:p>
          <a:p>
            <a:pPr marL="12700">
              <a:lnSpc>
                <a:spcPct val="100000"/>
              </a:lnSpc>
            </a:pPr>
            <a:r>
              <a:rPr sz="1550" b="1" dirty="0">
                <a:latin typeface="Calibri"/>
                <a:cs typeface="Calibri"/>
              </a:rPr>
              <a:t>assign</a:t>
            </a:r>
            <a:r>
              <a:rPr sz="1550" b="1" spc="360" dirty="0">
                <a:latin typeface="Calibri"/>
                <a:cs typeface="Calibri"/>
              </a:rPr>
              <a:t> </a:t>
            </a:r>
            <a:r>
              <a:rPr sz="1550" dirty="0">
                <a:latin typeface="Calibri"/>
                <a:cs typeface="Calibri"/>
              </a:rPr>
              <a:t>y1</a:t>
            </a:r>
            <a:r>
              <a:rPr sz="1550" spc="20" dirty="0">
                <a:latin typeface="Calibri"/>
                <a:cs typeface="Calibri"/>
              </a:rPr>
              <a:t> </a:t>
            </a:r>
            <a:r>
              <a:rPr sz="1550" dirty="0">
                <a:latin typeface="Calibri"/>
                <a:cs typeface="Calibri"/>
              </a:rPr>
              <a:t>=</a:t>
            </a:r>
            <a:r>
              <a:rPr sz="1550" spc="15" dirty="0">
                <a:latin typeface="Calibri"/>
                <a:cs typeface="Calibri"/>
              </a:rPr>
              <a:t> </a:t>
            </a:r>
            <a:r>
              <a:rPr sz="1550" dirty="0">
                <a:latin typeface="Calibri"/>
                <a:cs typeface="Calibri"/>
              </a:rPr>
              <a:t>(</a:t>
            </a:r>
            <a:r>
              <a:rPr sz="1550" spc="20" dirty="0">
                <a:latin typeface="Calibri"/>
                <a:cs typeface="Calibri"/>
              </a:rPr>
              <a:t> </a:t>
            </a:r>
            <a:r>
              <a:rPr sz="1550" dirty="0">
                <a:latin typeface="Calibri"/>
                <a:cs typeface="Calibri"/>
              </a:rPr>
              <a:t>state_reg</a:t>
            </a:r>
            <a:r>
              <a:rPr sz="1550" spc="15" dirty="0">
                <a:latin typeface="Calibri"/>
                <a:cs typeface="Calibri"/>
              </a:rPr>
              <a:t> </a:t>
            </a:r>
            <a:r>
              <a:rPr sz="1550" dirty="0">
                <a:latin typeface="Calibri"/>
                <a:cs typeface="Calibri"/>
              </a:rPr>
              <a:t>=</a:t>
            </a:r>
            <a:r>
              <a:rPr sz="1550" spc="20" dirty="0">
                <a:latin typeface="Calibri"/>
                <a:cs typeface="Calibri"/>
              </a:rPr>
              <a:t> </a:t>
            </a:r>
            <a:r>
              <a:rPr sz="1550" dirty="0">
                <a:latin typeface="Calibri"/>
                <a:cs typeface="Calibri"/>
              </a:rPr>
              <a:t>=</a:t>
            </a:r>
            <a:r>
              <a:rPr sz="1550" spc="15" dirty="0">
                <a:latin typeface="Calibri"/>
                <a:cs typeface="Calibri"/>
              </a:rPr>
              <a:t> </a:t>
            </a:r>
            <a:r>
              <a:rPr sz="1550" dirty="0">
                <a:latin typeface="Calibri"/>
                <a:cs typeface="Calibri"/>
              </a:rPr>
              <a:t>s0</a:t>
            </a:r>
            <a:r>
              <a:rPr sz="1550" spc="10" dirty="0">
                <a:latin typeface="Calibri"/>
                <a:cs typeface="Calibri"/>
              </a:rPr>
              <a:t> </a:t>
            </a:r>
            <a:r>
              <a:rPr sz="1550" dirty="0">
                <a:latin typeface="Calibri"/>
                <a:cs typeface="Calibri"/>
              </a:rPr>
              <a:t>)</a:t>
            </a:r>
            <a:r>
              <a:rPr sz="1550" spc="20" dirty="0">
                <a:latin typeface="Calibri"/>
                <a:cs typeface="Calibri"/>
              </a:rPr>
              <a:t> </a:t>
            </a:r>
            <a:r>
              <a:rPr sz="1550" dirty="0">
                <a:latin typeface="Calibri"/>
                <a:cs typeface="Calibri"/>
              </a:rPr>
              <a:t>||</a:t>
            </a:r>
            <a:r>
              <a:rPr sz="1550" spc="5" dirty="0">
                <a:latin typeface="Calibri"/>
                <a:cs typeface="Calibri"/>
              </a:rPr>
              <a:t> </a:t>
            </a:r>
            <a:r>
              <a:rPr sz="1550" dirty="0">
                <a:latin typeface="Calibri"/>
                <a:cs typeface="Calibri"/>
              </a:rPr>
              <a:t>(</a:t>
            </a:r>
            <a:r>
              <a:rPr sz="1550" spc="20" dirty="0">
                <a:latin typeface="Calibri"/>
                <a:cs typeface="Calibri"/>
              </a:rPr>
              <a:t> </a:t>
            </a:r>
            <a:r>
              <a:rPr sz="1550" dirty="0">
                <a:latin typeface="Calibri"/>
                <a:cs typeface="Calibri"/>
              </a:rPr>
              <a:t>state_reg</a:t>
            </a:r>
            <a:r>
              <a:rPr sz="1550" spc="15" dirty="0">
                <a:latin typeface="Calibri"/>
                <a:cs typeface="Calibri"/>
              </a:rPr>
              <a:t> </a:t>
            </a:r>
            <a:r>
              <a:rPr sz="1550" dirty="0">
                <a:latin typeface="Calibri"/>
                <a:cs typeface="Calibri"/>
              </a:rPr>
              <a:t>=</a:t>
            </a:r>
            <a:r>
              <a:rPr sz="1550" spc="20" dirty="0">
                <a:latin typeface="Calibri"/>
                <a:cs typeface="Calibri"/>
              </a:rPr>
              <a:t> </a:t>
            </a:r>
            <a:r>
              <a:rPr sz="1550" dirty="0">
                <a:latin typeface="Calibri"/>
                <a:cs typeface="Calibri"/>
              </a:rPr>
              <a:t>=</a:t>
            </a:r>
            <a:r>
              <a:rPr sz="1550" spc="15" dirty="0">
                <a:latin typeface="Calibri"/>
                <a:cs typeface="Calibri"/>
              </a:rPr>
              <a:t> </a:t>
            </a:r>
            <a:r>
              <a:rPr sz="1550" dirty="0">
                <a:latin typeface="Calibri"/>
                <a:cs typeface="Calibri"/>
              </a:rPr>
              <a:t>s1</a:t>
            </a:r>
            <a:r>
              <a:rPr sz="1550" spc="20" dirty="0">
                <a:latin typeface="Calibri"/>
                <a:cs typeface="Calibri"/>
              </a:rPr>
              <a:t> </a:t>
            </a:r>
            <a:r>
              <a:rPr sz="1550" dirty="0">
                <a:latin typeface="Calibri"/>
                <a:cs typeface="Calibri"/>
              </a:rPr>
              <a:t>)</a:t>
            </a:r>
            <a:r>
              <a:rPr sz="1550" spc="20" dirty="0">
                <a:latin typeface="Calibri"/>
                <a:cs typeface="Calibri"/>
              </a:rPr>
              <a:t> </a:t>
            </a:r>
            <a:r>
              <a:rPr sz="1550" spc="-50" dirty="0">
                <a:latin typeface="Calibri"/>
                <a:cs typeface="Calibri"/>
              </a:rPr>
              <a:t>;</a:t>
            </a:r>
            <a:endParaRPr sz="1550">
              <a:latin typeface="Calibri"/>
              <a:cs typeface="Calibri"/>
            </a:endParaRPr>
          </a:p>
          <a:p>
            <a:pPr marL="104775">
              <a:lnSpc>
                <a:spcPct val="100000"/>
              </a:lnSpc>
              <a:spcBef>
                <a:spcPts val="65"/>
              </a:spcBef>
            </a:pPr>
            <a:r>
              <a:rPr sz="1550" b="1" spc="60" dirty="0">
                <a:solidFill>
                  <a:srgbClr val="00B0EF"/>
                </a:solidFill>
                <a:latin typeface="Calibri"/>
                <a:cs typeface="Calibri"/>
              </a:rPr>
              <a:t>// </a:t>
            </a:r>
            <a:r>
              <a:rPr sz="1550" b="1" dirty="0">
                <a:solidFill>
                  <a:srgbClr val="00B0EF"/>
                </a:solidFill>
                <a:latin typeface="Calibri"/>
                <a:cs typeface="Calibri"/>
              </a:rPr>
              <a:t>Mealy</a:t>
            </a:r>
            <a:r>
              <a:rPr sz="1550" b="1" spc="-10" dirty="0">
                <a:solidFill>
                  <a:srgbClr val="00B0EF"/>
                </a:solidFill>
                <a:latin typeface="宋体"/>
                <a:cs typeface="宋体"/>
              </a:rPr>
              <a:t>型逻辑输出</a:t>
            </a:r>
            <a:endParaRPr sz="1550">
              <a:latin typeface="宋体"/>
              <a:cs typeface="宋体"/>
            </a:endParaRPr>
          </a:p>
          <a:p>
            <a:pPr marL="12700">
              <a:lnSpc>
                <a:spcPct val="100000"/>
              </a:lnSpc>
            </a:pPr>
            <a:r>
              <a:rPr sz="1550" b="1" dirty="0">
                <a:latin typeface="Calibri"/>
                <a:cs typeface="Calibri"/>
              </a:rPr>
              <a:t>assign</a:t>
            </a:r>
            <a:r>
              <a:rPr sz="1550" b="1" spc="365" dirty="0">
                <a:latin typeface="Calibri"/>
                <a:cs typeface="Calibri"/>
              </a:rPr>
              <a:t> </a:t>
            </a:r>
            <a:r>
              <a:rPr sz="1550" dirty="0">
                <a:latin typeface="Calibri"/>
                <a:cs typeface="Calibri"/>
              </a:rPr>
              <a:t>y0</a:t>
            </a:r>
            <a:r>
              <a:rPr sz="1550" spc="20" dirty="0">
                <a:latin typeface="Calibri"/>
                <a:cs typeface="Calibri"/>
              </a:rPr>
              <a:t> </a:t>
            </a:r>
            <a:r>
              <a:rPr sz="1550" dirty="0">
                <a:latin typeface="Calibri"/>
                <a:cs typeface="Calibri"/>
              </a:rPr>
              <a:t>=</a:t>
            </a:r>
            <a:r>
              <a:rPr sz="1550" spc="25" dirty="0">
                <a:latin typeface="Calibri"/>
                <a:cs typeface="Calibri"/>
              </a:rPr>
              <a:t> </a:t>
            </a:r>
            <a:r>
              <a:rPr sz="1550" dirty="0">
                <a:latin typeface="Calibri"/>
                <a:cs typeface="Calibri"/>
              </a:rPr>
              <a:t>(</a:t>
            </a:r>
            <a:r>
              <a:rPr sz="1550" spc="20" dirty="0">
                <a:latin typeface="Calibri"/>
                <a:cs typeface="Calibri"/>
              </a:rPr>
              <a:t> </a:t>
            </a:r>
            <a:r>
              <a:rPr sz="1550" dirty="0">
                <a:latin typeface="Calibri"/>
                <a:cs typeface="Calibri"/>
              </a:rPr>
              <a:t>state_reg</a:t>
            </a:r>
            <a:r>
              <a:rPr sz="1550" spc="15" dirty="0">
                <a:latin typeface="Calibri"/>
                <a:cs typeface="Calibri"/>
              </a:rPr>
              <a:t> </a:t>
            </a:r>
            <a:r>
              <a:rPr sz="1550" dirty="0">
                <a:latin typeface="Calibri"/>
                <a:cs typeface="Calibri"/>
              </a:rPr>
              <a:t>=</a:t>
            </a:r>
            <a:r>
              <a:rPr sz="1550" spc="25" dirty="0">
                <a:latin typeface="Calibri"/>
                <a:cs typeface="Calibri"/>
              </a:rPr>
              <a:t> </a:t>
            </a:r>
            <a:r>
              <a:rPr sz="1550" dirty="0">
                <a:latin typeface="Calibri"/>
                <a:cs typeface="Calibri"/>
              </a:rPr>
              <a:t>=</a:t>
            </a:r>
            <a:r>
              <a:rPr sz="1550" spc="20" dirty="0">
                <a:latin typeface="Calibri"/>
                <a:cs typeface="Calibri"/>
              </a:rPr>
              <a:t> </a:t>
            </a:r>
            <a:r>
              <a:rPr sz="1550" dirty="0">
                <a:latin typeface="Calibri"/>
                <a:cs typeface="Calibri"/>
              </a:rPr>
              <a:t>s0</a:t>
            </a:r>
            <a:r>
              <a:rPr sz="1550" spc="10" dirty="0">
                <a:latin typeface="Calibri"/>
                <a:cs typeface="Calibri"/>
              </a:rPr>
              <a:t> </a:t>
            </a:r>
            <a:r>
              <a:rPr sz="1550" dirty="0">
                <a:latin typeface="Calibri"/>
                <a:cs typeface="Calibri"/>
              </a:rPr>
              <a:t>)</a:t>
            </a:r>
            <a:r>
              <a:rPr sz="1550" spc="25" dirty="0">
                <a:latin typeface="Calibri"/>
                <a:cs typeface="Calibri"/>
              </a:rPr>
              <a:t> </a:t>
            </a:r>
            <a:r>
              <a:rPr sz="1550" dirty="0">
                <a:latin typeface="Calibri"/>
                <a:cs typeface="Calibri"/>
              </a:rPr>
              <a:t>&amp;</a:t>
            </a:r>
            <a:r>
              <a:rPr sz="1550" spc="20" dirty="0">
                <a:latin typeface="Calibri"/>
                <a:cs typeface="Calibri"/>
              </a:rPr>
              <a:t> </a:t>
            </a:r>
            <a:r>
              <a:rPr sz="1550" dirty="0">
                <a:latin typeface="Calibri"/>
                <a:cs typeface="Calibri"/>
              </a:rPr>
              <a:t>a</a:t>
            </a:r>
            <a:r>
              <a:rPr sz="1550" spc="20" dirty="0">
                <a:latin typeface="Calibri"/>
                <a:cs typeface="Calibri"/>
              </a:rPr>
              <a:t> </a:t>
            </a:r>
            <a:r>
              <a:rPr sz="1550" dirty="0">
                <a:latin typeface="Calibri"/>
                <a:cs typeface="Calibri"/>
              </a:rPr>
              <a:t>&amp;</a:t>
            </a:r>
            <a:r>
              <a:rPr sz="1550" spc="25" dirty="0">
                <a:latin typeface="Calibri"/>
                <a:cs typeface="Calibri"/>
              </a:rPr>
              <a:t> </a:t>
            </a:r>
            <a:r>
              <a:rPr sz="1550" dirty="0">
                <a:latin typeface="Calibri"/>
                <a:cs typeface="Calibri"/>
              </a:rPr>
              <a:t>b</a:t>
            </a:r>
            <a:r>
              <a:rPr sz="1550" spc="20" dirty="0">
                <a:latin typeface="Calibri"/>
                <a:cs typeface="Calibri"/>
              </a:rPr>
              <a:t> </a:t>
            </a:r>
            <a:r>
              <a:rPr sz="1550" spc="-60" dirty="0">
                <a:latin typeface="Calibri"/>
                <a:cs typeface="Calibri"/>
              </a:rPr>
              <a:t>;</a:t>
            </a:r>
            <a:endParaRPr sz="1550">
              <a:latin typeface="Calibri"/>
              <a:cs typeface="Calibri"/>
            </a:endParaRPr>
          </a:p>
          <a:p>
            <a:pPr marL="12700">
              <a:lnSpc>
                <a:spcPct val="100000"/>
              </a:lnSpc>
              <a:spcBef>
                <a:spcPts val="40"/>
              </a:spcBef>
            </a:pPr>
            <a:r>
              <a:rPr sz="1550" b="1" spc="-10" dirty="0">
                <a:latin typeface="Calibri"/>
                <a:cs typeface="Calibri"/>
              </a:rPr>
              <a:t>endmodule</a:t>
            </a:r>
            <a:endParaRPr sz="1550">
              <a:latin typeface="Calibri"/>
              <a:cs typeface="Calibri"/>
            </a:endParaRPr>
          </a:p>
        </p:txBody>
      </p:sp>
      <p:pic>
        <p:nvPicPr>
          <p:cNvPr id="11" name="object 11"/>
          <p:cNvPicPr/>
          <p:nvPr/>
        </p:nvPicPr>
        <p:blipFill>
          <a:blip r:embed="rId2" cstate="print"/>
          <a:stretch>
            <a:fillRect/>
          </a:stretch>
        </p:blipFill>
        <p:spPr>
          <a:xfrm>
            <a:off x="7112393" y="1607058"/>
            <a:ext cx="3580638" cy="2411729"/>
          </a:xfrm>
          <a:prstGeom prst="rect">
            <a:avLst/>
          </a:prstGeom>
        </p:spPr>
      </p:pic>
      <p:sp>
        <p:nvSpPr>
          <p:cNvPr id="12" name="object 12"/>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13" name="object 13"/>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19</a:t>
            </a:fld>
            <a:endParaRPr spc="-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226185" y="2582970"/>
            <a:ext cx="4632960" cy="2030095"/>
          </a:xfrm>
          <a:prstGeom prst="rect">
            <a:avLst/>
          </a:prstGeom>
        </p:spPr>
        <p:txBody>
          <a:bodyPr vert="horz" wrap="square" lIns="0" tIns="12700" rIns="0" bIns="0" rtlCol="0">
            <a:spAutoFit/>
          </a:bodyPr>
          <a:lstStyle/>
          <a:p>
            <a:pPr marL="12700" marR="5080" algn="just">
              <a:lnSpc>
                <a:spcPct val="150300"/>
              </a:lnSpc>
              <a:spcBef>
                <a:spcPts val="100"/>
              </a:spcBef>
            </a:pPr>
            <a:r>
              <a:rPr sz="1750" spc="55" dirty="0">
                <a:latin typeface="宋体"/>
                <a:cs typeface="宋体"/>
              </a:rPr>
              <a:t>次态逻辑单元是这个例程的关键。从例程中可</a:t>
            </a:r>
            <a:r>
              <a:rPr sz="1750" spc="65" dirty="0">
                <a:latin typeface="宋体"/>
                <a:cs typeface="宋体"/>
              </a:rPr>
              <a:t>以看出，次态</a:t>
            </a:r>
            <a:r>
              <a:rPr sz="1750" dirty="0">
                <a:latin typeface="宋体"/>
                <a:cs typeface="宋体"/>
              </a:rPr>
              <a:t>（</a:t>
            </a:r>
            <a:r>
              <a:rPr sz="1750" dirty="0">
                <a:latin typeface="Calibri"/>
                <a:cs typeface="Calibri"/>
              </a:rPr>
              <a:t>state_next</a:t>
            </a:r>
            <a:r>
              <a:rPr sz="1750" spc="80" dirty="0">
                <a:latin typeface="Calibri"/>
                <a:cs typeface="Calibri"/>
              </a:rPr>
              <a:t>  </a:t>
            </a:r>
            <a:r>
              <a:rPr sz="1750" dirty="0">
                <a:latin typeface="Calibri"/>
                <a:cs typeface="Calibri"/>
              </a:rPr>
              <a:t>signal</a:t>
            </a:r>
            <a:r>
              <a:rPr sz="1750" dirty="0">
                <a:latin typeface="宋体"/>
                <a:cs typeface="宋体"/>
              </a:rPr>
              <a:t>）</a:t>
            </a:r>
            <a:r>
              <a:rPr sz="1750" spc="55" dirty="0">
                <a:latin typeface="宋体"/>
                <a:cs typeface="宋体"/>
              </a:rPr>
              <a:t>由当前状态</a:t>
            </a:r>
            <a:r>
              <a:rPr sz="1750" spc="15" dirty="0">
                <a:latin typeface="宋体"/>
                <a:cs typeface="宋体"/>
              </a:rPr>
              <a:t> </a:t>
            </a:r>
            <a:r>
              <a:rPr sz="1750" spc="-20" dirty="0">
                <a:latin typeface="Calibri"/>
                <a:cs typeface="Calibri"/>
              </a:rPr>
              <a:t>(state_reg)</a:t>
            </a:r>
            <a:r>
              <a:rPr sz="1750" spc="-5" dirty="0">
                <a:latin typeface="宋体"/>
                <a:cs typeface="宋体"/>
              </a:rPr>
              <a:t>和外部输入信号决定。</a:t>
            </a:r>
            <a:endParaRPr sz="1750">
              <a:latin typeface="宋体"/>
              <a:cs typeface="宋体"/>
            </a:endParaRPr>
          </a:p>
          <a:p>
            <a:pPr marL="12700" marR="5080">
              <a:lnSpc>
                <a:spcPct val="150300"/>
              </a:lnSpc>
            </a:pPr>
            <a:r>
              <a:rPr sz="1750" spc="55" dirty="0">
                <a:latin typeface="宋体"/>
                <a:cs typeface="宋体"/>
              </a:rPr>
              <a:t>每个状态的代码都要遵循转移状态图的流程来</a:t>
            </a:r>
            <a:r>
              <a:rPr sz="1750" spc="-20" dirty="0">
                <a:latin typeface="宋体"/>
                <a:cs typeface="宋体"/>
              </a:rPr>
              <a:t>描述。</a:t>
            </a:r>
            <a:endParaRPr sz="1750">
              <a:latin typeface="宋体"/>
              <a:cs typeface="宋体"/>
            </a:endParaRPr>
          </a:p>
        </p:txBody>
      </p:sp>
      <p:sp>
        <p:nvSpPr>
          <p:cNvPr id="3" name="object 3"/>
          <p:cNvSpPr txBox="1">
            <a:spLocks noGrp="1"/>
          </p:cNvSpPr>
          <p:nvPr>
            <p:ph type="title"/>
          </p:nvPr>
        </p:nvSpPr>
        <p:spPr>
          <a:xfrm>
            <a:off x="604399" y="1037336"/>
            <a:ext cx="3234055" cy="453390"/>
          </a:xfrm>
          <a:prstGeom prst="rect">
            <a:avLst/>
          </a:prstGeom>
        </p:spPr>
        <p:txBody>
          <a:bodyPr vert="horz" wrap="square" lIns="0" tIns="13335" rIns="0" bIns="0" rtlCol="0">
            <a:spAutoFit/>
          </a:bodyPr>
          <a:lstStyle/>
          <a:p>
            <a:pPr marL="12700">
              <a:lnSpc>
                <a:spcPct val="100000"/>
              </a:lnSpc>
              <a:spcBef>
                <a:spcPts val="105"/>
              </a:spcBef>
            </a:pPr>
            <a:r>
              <a:rPr spc="-15" dirty="0"/>
              <a:t>有限状态机代码实现</a:t>
            </a:r>
          </a:p>
        </p:txBody>
      </p:sp>
      <p:pic>
        <p:nvPicPr>
          <p:cNvPr id="4" name="object 4"/>
          <p:cNvPicPr/>
          <p:nvPr/>
        </p:nvPicPr>
        <p:blipFill>
          <a:blip r:embed="rId2" cstate="print"/>
          <a:srcRect r="22948"/>
          <a:stretch>
            <a:fillRect/>
          </a:stretch>
        </p:blipFill>
        <p:spPr>
          <a:xfrm>
            <a:off x="258965" y="2484120"/>
            <a:ext cx="3792335" cy="2407157"/>
          </a:xfrm>
          <a:prstGeom prst="rect">
            <a:avLst/>
          </a:prstGeom>
        </p:spPr>
      </p:pic>
      <p:sp>
        <p:nvSpPr>
          <p:cNvPr id="5" name="object 5"/>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6" name="object 6"/>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20</a:t>
            </a:fld>
            <a:endParaRPr spc="-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924475" y="6519164"/>
            <a:ext cx="560705" cy="239395"/>
          </a:xfrm>
          <a:prstGeom prst="rect">
            <a:avLst/>
          </a:prstGeom>
        </p:spPr>
        <p:txBody>
          <a:bodyPr vert="horz" wrap="square" lIns="0" tIns="12700" rIns="0" bIns="0" rtlCol="0">
            <a:spAutoFit/>
          </a:bodyPr>
          <a:lstStyle/>
          <a:p>
            <a:pPr marL="12700">
              <a:lnSpc>
                <a:spcPct val="100000"/>
              </a:lnSpc>
              <a:spcBef>
                <a:spcPts val="100"/>
              </a:spcBef>
            </a:pPr>
            <a:r>
              <a:rPr sz="1400" b="1" spc="-20" dirty="0">
                <a:solidFill>
                  <a:srgbClr val="3F3F3F"/>
                </a:solidFill>
                <a:latin typeface="微软雅黑"/>
                <a:cs typeface="微软雅黑"/>
              </a:rPr>
              <a:t>南大学</a:t>
            </a:r>
            <a:endParaRPr sz="1400">
              <a:latin typeface="微软雅黑"/>
              <a:cs typeface="微软雅黑"/>
            </a:endParaRPr>
          </a:p>
        </p:txBody>
      </p:sp>
      <p:sp>
        <p:nvSpPr>
          <p:cNvPr id="3" name="object 3"/>
          <p:cNvSpPr txBox="1"/>
          <p:nvPr/>
        </p:nvSpPr>
        <p:spPr>
          <a:xfrm>
            <a:off x="8042789" y="6521503"/>
            <a:ext cx="1894839" cy="235585"/>
          </a:xfrm>
          <a:prstGeom prst="rect">
            <a:avLst/>
          </a:prstGeom>
        </p:spPr>
        <p:txBody>
          <a:bodyPr vert="horz" wrap="square" lIns="0" tIns="10795" rIns="0" bIns="0" rtlCol="0">
            <a:spAutoFit/>
          </a:bodyPr>
          <a:lstStyle/>
          <a:p>
            <a:pPr>
              <a:lnSpc>
                <a:spcPct val="100000"/>
              </a:lnSpc>
              <a:spcBef>
                <a:spcPts val="85"/>
              </a:spcBef>
            </a:pPr>
            <a:r>
              <a:rPr sz="1400" b="1" dirty="0">
                <a:solidFill>
                  <a:srgbClr val="3F3F3F"/>
                </a:solidFill>
                <a:latin typeface="微软雅黑"/>
                <a:cs typeface="微软雅黑"/>
              </a:rPr>
              <a:t>Xilin</a:t>
            </a:r>
            <a:r>
              <a:rPr sz="1400" b="1" spc="-3965" dirty="0">
                <a:solidFill>
                  <a:srgbClr val="3F3F3F"/>
                </a:solidFill>
                <a:latin typeface="微软雅黑"/>
                <a:cs typeface="微软雅黑"/>
              </a:rPr>
              <a:t>x</a:t>
            </a:r>
            <a:r>
              <a:rPr sz="1400" b="1" dirty="0">
                <a:solidFill>
                  <a:srgbClr val="3F3F3F"/>
                </a:solidFill>
                <a:latin typeface="微软雅黑"/>
                <a:cs typeface="微软雅黑"/>
              </a:rPr>
              <a:t>Xilinx 大学合作</a:t>
            </a:r>
            <a:r>
              <a:rPr sz="1400" b="1" spc="-7020" dirty="0">
                <a:solidFill>
                  <a:srgbClr val="3F3F3F"/>
                </a:solidFill>
                <a:latin typeface="微软雅黑"/>
                <a:cs typeface="微软雅黑"/>
              </a:rPr>
              <a:t>部</a:t>
            </a:r>
            <a:r>
              <a:rPr sz="1400" b="1" spc="-560" dirty="0">
                <a:solidFill>
                  <a:srgbClr val="3F3F3F"/>
                </a:solidFill>
                <a:latin typeface="微软雅黑"/>
                <a:cs typeface="微软雅黑"/>
              </a:rPr>
              <a:t>大学</a:t>
            </a:r>
            <a:r>
              <a:rPr sz="1400" b="1" dirty="0">
                <a:solidFill>
                  <a:srgbClr val="3F3F3F"/>
                </a:solidFill>
                <a:latin typeface="微软雅黑"/>
                <a:cs typeface="微软雅黑"/>
              </a:rPr>
              <a:t> </a:t>
            </a:r>
            <a:r>
              <a:rPr sz="1400" b="1" spc="-5" dirty="0">
                <a:solidFill>
                  <a:srgbClr val="3F3F3F"/>
                </a:solidFill>
                <a:latin typeface="微软雅黑"/>
                <a:cs typeface="微软雅黑"/>
              </a:rPr>
              <a:t>合作部 </a:t>
            </a:r>
            <a:r>
              <a:rPr sz="1400" b="1" spc="-1280" dirty="0">
                <a:solidFill>
                  <a:srgbClr val="3F3F3F"/>
                </a:solidFill>
                <a:latin typeface="微软雅黑"/>
                <a:cs typeface="微软雅黑"/>
              </a:rPr>
              <a:t>&amp;</a:t>
            </a:r>
            <a:r>
              <a:rPr sz="1400" b="1" dirty="0">
                <a:solidFill>
                  <a:srgbClr val="3F3F3F"/>
                </a:solidFill>
                <a:latin typeface="微软雅黑"/>
                <a:cs typeface="微软雅黑"/>
              </a:rPr>
              <a:t>&amp;</a:t>
            </a:r>
            <a:r>
              <a:rPr sz="1400" b="1" spc="-25" dirty="0">
                <a:solidFill>
                  <a:srgbClr val="3F3F3F"/>
                </a:solidFill>
                <a:latin typeface="微软雅黑"/>
                <a:cs typeface="微软雅黑"/>
              </a:rPr>
              <a:t> 东</a:t>
            </a:r>
            <a:endParaRPr sz="1400">
              <a:latin typeface="微软雅黑"/>
              <a:cs typeface="微软雅黑"/>
            </a:endParaRPr>
          </a:p>
        </p:txBody>
      </p:sp>
      <p:sp>
        <p:nvSpPr>
          <p:cNvPr id="4" name="object 4"/>
          <p:cNvSpPr txBox="1">
            <a:spLocks noGrp="1"/>
          </p:cNvSpPr>
          <p:nvPr>
            <p:ph type="title"/>
          </p:nvPr>
        </p:nvSpPr>
        <p:spPr>
          <a:xfrm>
            <a:off x="191395" y="962660"/>
            <a:ext cx="4660265" cy="453390"/>
          </a:xfrm>
          <a:prstGeom prst="rect">
            <a:avLst/>
          </a:prstGeom>
        </p:spPr>
        <p:txBody>
          <a:bodyPr vert="horz" wrap="square" lIns="0" tIns="13335" rIns="0" bIns="0" rtlCol="0">
            <a:spAutoFit/>
          </a:bodyPr>
          <a:lstStyle/>
          <a:p>
            <a:pPr marL="12700">
              <a:lnSpc>
                <a:spcPct val="100000"/>
              </a:lnSpc>
              <a:spcBef>
                <a:spcPts val="105"/>
              </a:spcBef>
            </a:pPr>
            <a:r>
              <a:rPr spc="-15" dirty="0"/>
              <a:t>有限状态机代码另外一种实现</a:t>
            </a:r>
          </a:p>
        </p:txBody>
      </p:sp>
      <p:sp>
        <p:nvSpPr>
          <p:cNvPr id="5" name="object 5"/>
          <p:cNvSpPr txBox="1"/>
          <p:nvPr/>
        </p:nvSpPr>
        <p:spPr>
          <a:xfrm>
            <a:off x="604399" y="6565644"/>
            <a:ext cx="124460" cy="132715"/>
          </a:xfrm>
          <a:prstGeom prst="rect">
            <a:avLst/>
          </a:prstGeom>
        </p:spPr>
        <p:txBody>
          <a:bodyPr vert="horz" wrap="square" lIns="0" tIns="12700" rIns="0" bIns="0" rtlCol="0">
            <a:spAutoFit/>
          </a:bodyPr>
          <a:lstStyle/>
          <a:p>
            <a:pPr marL="12700">
              <a:lnSpc>
                <a:spcPct val="100000"/>
              </a:lnSpc>
              <a:spcBef>
                <a:spcPts val="100"/>
              </a:spcBef>
            </a:pPr>
            <a:r>
              <a:rPr sz="700" spc="-25" dirty="0">
                <a:latin typeface="Arial"/>
                <a:cs typeface="Arial"/>
              </a:rPr>
              <a:t>21</a:t>
            </a:r>
            <a:endParaRPr sz="700">
              <a:latin typeface="Arial"/>
              <a:cs typeface="Arial"/>
            </a:endParaRPr>
          </a:p>
        </p:txBody>
      </p:sp>
      <p:grpSp>
        <p:nvGrpSpPr>
          <p:cNvPr id="6" name="object 6"/>
          <p:cNvGrpSpPr/>
          <p:nvPr/>
        </p:nvGrpSpPr>
        <p:grpSpPr>
          <a:xfrm>
            <a:off x="166763" y="1661922"/>
            <a:ext cx="4122420" cy="4462780"/>
            <a:chOff x="166763" y="1661922"/>
            <a:chExt cx="4122420" cy="4462780"/>
          </a:xfrm>
        </p:grpSpPr>
        <p:sp>
          <p:nvSpPr>
            <p:cNvPr id="7" name="object 7"/>
            <p:cNvSpPr/>
            <p:nvPr/>
          </p:nvSpPr>
          <p:spPr>
            <a:xfrm>
              <a:off x="171335" y="1666494"/>
              <a:ext cx="4114165" cy="4453255"/>
            </a:xfrm>
            <a:custGeom>
              <a:avLst/>
              <a:gdLst/>
              <a:ahLst/>
              <a:cxnLst/>
              <a:rect l="l" t="t" r="r" b="b"/>
              <a:pathLst>
                <a:path w="4114165" h="4453255">
                  <a:moveTo>
                    <a:pt x="4114038" y="4453128"/>
                  </a:moveTo>
                  <a:lnTo>
                    <a:pt x="4114038" y="0"/>
                  </a:lnTo>
                  <a:lnTo>
                    <a:pt x="0" y="0"/>
                  </a:lnTo>
                  <a:lnTo>
                    <a:pt x="0" y="4453128"/>
                  </a:lnTo>
                  <a:lnTo>
                    <a:pt x="4114038" y="4453128"/>
                  </a:lnTo>
                  <a:close/>
                </a:path>
              </a:pathLst>
            </a:custGeom>
            <a:solidFill>
              <a:srgbClr val="F9FABA"/>
            </a:solidFill>
          </p:spPr>
          <p:txBody>
            <a:bodyPr wrap="square" lIns="0" tIns="0" rIns="0" bIns="0" rtlCol="0"/>
            <a:lstStyle/>
            <a:p>
              <a:endParaRPr/>
            </a:p>
          </p:txBody>
        </p:sp>
        <p:sp>
          <p:nvSpPr>
            <p:cNvPr id="8" name="object 8"/>
            <p:cNvSpPr/>
            <p:nvPr/>
          </p:nvSpPr>
          <p:spPr>
            <a:xfrm>
              <a:off x="166763" y="1661922"/>
              <a:ext cx="4122420" cy="4462780"/>
            </a:xfrm>
            <a:custGeom>
              <a:avLst/>
              <a:gdLst/>
              <a:ahLst/>
              <a:cxnLst/>
              <a:rect l="l" t="t" r="r" b="b"/>
              <a:pathLst>
                <a:path w="4122420" h="4462780">
                  <a:moveTo>
                    <a:pt x="4122420" y="4459986"/>
                  </a:moveTo>
                  <a:lnTo>
                    <a:pt x="4122420" y="2285"/>
                  </a:lnTo>
                  <a:lnTo>
                    <a:pt x="4120896" y="0"/>
                  </a:lnTo>
                  <a:lnTo>
                    <a:pt x="1523" y="0"/>
                  </a:lnTo>
                  <a:lnTo>
                    <a:pt x="0" y="2286"/>
                  </a:lnTo>
                  <a:lnTo>
                    <a:pt x="0" y="4459986"/>
                  </a:lnTo>
                  <a:lnTo>
                    <a:pt x="1524" y="4462272"/>
                  </a:lnTo>
                  <a:lnTo>
                    <a:pt x="4572" y="4462272"/>
                  </a:lnTo>
                  <a:lnTo>
                    <a:pt x="4572" y="8382"/>
                  </a:lnTo>
                  <a:lnTo>
                    <a:pt x="8382" y="4572"/>
                  </a:lnTo>
                  <a:lnTo>
                    <a:pt x="8382" y="8382"/>
                  </a:lnTo>
                  <a:lnTo>
                    <a:pt x="4114038" y="8381"/>
                  </a:lnTo>
                  <a:lnTo>
                    <a:pt x="4114038" y="4571"/>
                  </a:lnTo>
                  <a:lnTo>
                    <a:pt x="4118610" y="8381"/>
                  </a:lnTo>
                  <a:lnTo>
                    <a:pt x="4118610" y="4462272"/>
                  </a:lnTo>
                  <a:lnTo>
                    <a:pt x="4120896" y="4462272"/>
                  </a:lnTo>
                  <a:lnTo>
                    <a:pt x="4122420" y="4459986"/>
                  </a:lnTo>
                  <a:close/>
                </a:path>
                <a:path w="4122420" h="4462780">
                  <a:moveTo>
                    <a:pt x="8382" y="8382"/>
                  </a:moveTo>
                  <a:lnTo>
                    <a:pt x="8382" y="4572"/>
                  </a:lnTo>
                  <a:lnTo>
                    <a:pt x="4572" y="8382"/>
                  </a:lnTo>
                  <a:lnTo>
                    <a:pt x="8382" y="8382"/>
                  </a:lnTo>
                  <a:close/>
                </a:path>
                <a:path w="4122420" h="4462780">
                  <a:moveTo>
                    <a:pt x="8382" y="4453890"/>
                  </a:moveTo>
                  <a:lnTo>
                    <a:pt x="8382" y="8382"/>
                  </a:lnTo>
                  <a:lnTo>
                    <a:pt x="4572" y="8382"/>
                  </a:lnTo>
                  <a:lnTo>
                    <a:pt x="4572" y="4453890"/>
                  </a:lnTo>
                  <a:lnTo>
                    <a:pt x="8382" y="4453890"/>
                  </a:lnTo>
                  <a:close/>
                </a:path>
                <a:path w="4122420" h="4462780">
                  <a:moveTo>
                    <a:pt x="4118610" y="4453890"/>
                  </a:moveTo>
                  <a:lnTo>
                    <a:pt x="4572" y="4453890"/>
                  </a:lnTo>
                  <a:lnTo>
                    <a:pt x="8382" y="4457700"/>
                  </a:lnTo>
                  <a:lnTo>
                    <a:pt x="8382" y="4462272"/>
                  </a:lnTo>
                  <a:lnTo>
                    <a:pt x="4114038" y="4462272"/>
                  </a:lnTo>
                  <a:lnTo>
                    <a:pt x="4114038" y="4457700"/>
                  </a:lnTo>
                  <a:lnTo>
                    <a:pt x="4118610" y="4453890"/>
                  </a:lnTo>
                  <a:close/>
                </a:path>
                <a:path w="4122420" h="4462780">
                  <a:moveTo>
                    <a:pt x="8382" y="4462272"/>
                  </a:moveTo>
                  <a:lnTo>
                    <a:pt x="8382" y="4457700"/>
                  </a:lnTo>
                  <a:lnTo>
                    <a:pt x="4572" y="4453890"/>
                  </a:lnTo>
                  <a:lnTo>
                    <a:pt x="4572" y="4462272"/>
                  </a:lnTo>
                  <a:lnTo>
                    <a:pt x="8382" y="4462272"/>
                  </a:lnTo>
                  <a:close/>
                </a:path>
                <a:path w="4122420" h="4462780">
                  <a:moveTo>
                    <a:pt x="4118610" y="8381"/>
                  </a:moveTo>
                  <a:lnTo>
                    <a:pt x="4114038" y="4571"/>
                  </a:lnTo>
                  <a:lnTo>
                    <a:pt x="4114038" y="8381"/>
                  </a:lnTo>
                  <a:lnTo>
                    <a:pt x="4118610" y="8381"/>
                  </a:lnTo>
                  <a:close/>
                </a:path>
                <a:path w="4122420" h="4462780">
                  <a:moveTo>
                    <a:pt x="4118610" y="4453890"/>
                  </a:moveTo>
                  <a:lnTo>
                    <a:pt x="4118610" y="8381"/>
                  </a:lnTo>
                  <a:lnTo>
                    <a:pt x="4114038" y="8381"/>
                  </a:lnTo>
                  <a:lnTo>
                    <a:pt x="4114038" y="4453890"/>
                  </a:lnTo>
                  <a:lnTo>
                    <a:pt x="4118610" y="4453890"/>
                  </a:lnTo>
                  <a:close/>
                </a:path>
                <a:path w="4122420" h="4462780">
                  <a:moveTo>
                    <a:pt x="4118610" y="4462272"/>
                  </a:moveTo>
                  <a:lnTo>
                    <a:pt x="4118610" y="4453890"/>
                  </a:lnTo>
                  <a:lnTo>
                    <a:pt x="4114038" y="4457700"/>
                  </a:lnTo>
                  <a:lnTo>
                    <a:pt x="4114038" y="4462272"/>
                  </a:lnTo>
                  <a:lnTo>
                    <a:pt x="4118610" y="4462272"/>
                  </a:lnTo>
                  <a:close/>
                </a:path>
              </a:pathLst>
            </a:custGeom>
            <a:solidFill>
              <a:srgbClr val="FF0000"/>
            </a:solidFill>
          </p:spPr>
          <p:txBody>
            <a:bodyPr wrap="square" lIns="0" tIns="0" rIns="0" bIns="0" rtlCol="0"/>
            <a:lstStyle/>
            <a:p>
              <a:endParaRPr/>
            </a:p>
          </p:txBody>
        </p:sp>
      </p:grpSp>
      <p:sp>
        <p:nvSpPr>
          <p:cNvPr id="9" name="object 9"/>
          <p:cNvSpPr txBox="1"/>
          <p:nvPr/>
        </p:nvSpPr>
        <p:spPr>
          <a:xfrm>
            <a:off x="238639" y="1681226"/>
            <a:ext cx="2985770" cy="1474470"/>
          </a:xfrm>
          <a:prstGeom prst="rect">
            <a:avLst/>
          </a:prstGeom>
        </p:spPr>
        <p:txBody>
          <a:bodyPr vert="horz" wrap="square" lIns="0" tIns="8255" rIns="0" bIns="0" rtlCol="0">
            <a:spAutoFit/>
          </a:bodyPr>
          <a:lstStyle/>
          <a:p>
            <a:pPr marL="12700" marR="1120140">
              <a:lnSpc>
                <a:spcPct val="103400"/>
              </a:lnSpc>
              <a:spcBef>
                <a:spcPts val="65"/>
              </a:spcBef>
            </a:pPr>
            <a:r>
              <a:rPr sz="1550" b="1" dirty="0">
                <a:latin typeface="Calibri"/>
                <a:cs typeface="Calibri"/>
              </a:rPr>
              <a:t>module</a:t>
            </a:r>
            <a:r>
              <a:rPr sz="1550" b="1" spc="15" dirty="0">
                <a:latin typeface="Calibri"/>
                <a:cs typeface="Calibri"/>
              </a:rPr>
              <a:t> </a:t>
            </a:r>
            <a:r>
              <a:rPr sz="1550" spc="-10" dirty="0">
                <a:latin typeface="Calibri"/>
                <a:cs typeface="Calibri"/>
              </a:rPr>
              <a:t>fsm_eg_2_seg </a:t>
            </a:r>
            <a:r>
              <a:rPr sz="1550" dirty="0">
                <a:latin typeface="Arial"/>
                <a:cs typeface="Arial"/>
              </a:rPr>
              <a:t>(</a:t>
            </a:r>
            <a:r>
              <a:rPr sz="1550" spc="25" dirty="0">
                <a:latin typeface="Arial"/>
                <a:cs typeface="Arial"/>
              </a:rPr>
              <a:t> </a:t>
            </a:r>
            <a:r>
              <a:rPr sz="1550" b="1" dirty="0">
                <a:latin typeface="Arial"/>
                <a:cs typeface="Arial"/>
              </a:rPr>
              <a:t>input</a:t>
            </a:r>
            <a:r>
              <a:rPr sz="1550" b="1" spc="15" dirty="0">
                <a:latin typeface="Arial"/>
                <a:cs typeface="Arial"/>
              </a:rPr>
              <a:t> </a:t>
            </a:r>
            <a:r>
              <a:rPr sz="1550" dirty="0">
                <a:latin typeface="Arial"/>
                <a:cs typeface="Arial"/>
              </a:rPr>
              <a:t>clk</a:t>
            </a:r>
            <a:r>
              <a:rPr sz="1550" spc="20" dirty="0">
                <a:latin typeface="Arial"/>
                <a:cs typeface="Arial"/>
              </a:rPr>
              <a:t> </a:t>
            </a:r>
            <a:r>
              <a:rPr sz="1550" dirty="0">
                <a:latin typeface="Arial"/>
                <a:cs typeface="Arial"/>
              </a:rPr>
              <a:t>,</a:t>
            </a:r>
            <a:r>
              <a:rPr sz="1550" spc="25" dirty="0">
                <a:latin typeface="Arial"/>
                <a:cs typeface="Arial"/>
              </a:rPr>
              <a:t> </a:t>
            </a:r>
            <a:r>
              <a:rPr sz="1550" spc="-10" dirty="0">
                <a:latin typeface="Arial"/>
                <a:cs typeface="Arial"/>
              </a:rPr>
              <a:t>reset, </a:t>
            </a:r>
            <a:r>
              <a:rPr sz="1550" b="1" dirty="0">
                <a:latin typeface="Arial"/>
                <a:cs typeface="Arial"/>
              </a:rPr>
              <a:t>input</a:t>
            </a:r>
            <a:r>
              <a:rPr sz="1550" b="1" spc="15" dirty="0">
                <a:latin typeface="Arial"/>
                <a:cs typeface="Arial"/>
              </a:rPr>
              <a:t> </a:t>
            </a:r>
            <a:r>
              <a:rPr sz="1550" dirty="0">
                <a:latin typeface="Arial"/>
                <a:cs typeface="Arial"/>
              </a:rPr>
              <a:t>a</a:t>
            </a:r>
            <a:r>
              <a:rPr sz="1550" spc="25" dirty="0">
                <a:latin typeface="Arial"/>
                <a:cs typeface="Arial"/>
              </a:rPr>
              <a:t> </a:t>
            </a:r>
            <a:r>
              <a:rPr sz="1550" dirty="0">
                <a:latin typeface="Arial"/>
                <a:cs typeface="Arial"/>
              </a:rPr>
              <a:t>,</a:t>
            </a:r>
            <a:r>
              <a:rPr sz="1550" spc="25" dirty="0">
                <a:latin typeface="Arial"/>
                <a:cs typeface="Arial"/>
              </a:rPr>
              <a:t> </a:t>
            </a:r>
            <a:r>
              <a:rPr sz="1550" spc="-25" dirty="0">
                <a:latin typeface="Arial"/>
                <a:cs typeface="Arial"/>
              </a:rPr>
              <a:t>b,</a:t>
            </a:r>
            <a:endParaRPr sz="1550">
              <a:latin typeface="Arial"/>
              <a:cs typeface="Arial"/>
            </a:endParaRPr>
          </a:p>
          <a:p>
            <a:pPr marL="123825">
              <a:lnSpc>
                <a:spcPct val="100000"/>
              </a:lnSpc>
              <a:spcBef>
                <a:spcPts val="15"/>
              </a:spcBef>
              <a:tabLst>
                <a:tab pos="1738630" algn="l"/>
              </a:tabLst>
            </a:pPr>
            <a:r>
              <a:rPr sz="1550" b="1" dirty="0">
                <a:latin typeface="Arial"/>
                <a:cs typeface="Arial"/>
              </a:rPr>
              <a:t>output</a:t>
            </a:r>
            <a:r>
              <a:rPr sz="1550" b="1" spc="35" dirty="0">
                <a:latin typeface="Arial"/>
                <a:cs typeface="Arial"/>
              </a:rPr>
              <a:t> </a:t>
            </a:r>
            <a:r>
              <a:rPr sz="1550" dirty="0">
                <a:latin typeface="Arial"/>
                <a:cs typeface="Arial"/>
              </a:rPr>
              <a:t>y0,</a:t>
            </a:r>
            <a:r>
              <a:rPr sz="1550" spc="50" dirty="0">
                <a:latin typeface="Arial"/>
                <a:cs typeface="Arial"/>
              </a:rPr>
              <a:t> </a:t>
            </a:r>
            <a:r>
              <a:rPr sz="1550" spc="-25" dirty="0">
                <a:latin typeface="Arial"/>
                <a:cs typeface="Arial"/>
              </a:rPr>
              <a:t>y1</a:t>
            </a:r>
            <a:r>
              <a:rPr sz="1550" dirty="0">
                <a:latin typeface="Arial"/>
                <a:cs typeface="Arial"/>
              </a:rPr>
              <a:t>	</a:t>
            </a:r>
            <a:r>
              <a:rPr sz="1550" spc="-25" dirty="0">
                <a:latin typeface="Arial"/>
                <a:cs typeface="Arial"/>
              </a:rPr>
              <a:t>);</a:t>
            </a:r>
            <a:endParaRPr sz="1550">
              <a:latin typeface="Arial"/>
              <a:cs typeface="Arial"/>
            </a:endParaRPr>
          </a:p>
          <a:p>
            <a:pPr marL="212725">
              <a:lnSpc>
                <a:spcPct val="100000"/>
              </a:lnSpc>
              <a:spcBef>
                <a:spcPts val="35"/>
              </a:spcBef>
            </a:pPr>
            <a:r>
              <a:rPr sz="1550" spc="30" dirty="0">
                <a:solidFill>
                  <a:srgbClr val="00B0EF"/>
                </a:solidFill>
                <a:latin typeface="Arial"/>
                <a:cs typeface="Arial"/>
              </a:rPr>
              <a:t>// </a:t>
            </a:r>
            <a:r>
              <a:rPr sz="1550" spc="-10" dirty="0">
                <a:solidFill>
                  <a:srgbClr val="00B0EF"/>
                </a:solidFill>
                <a:latin typeface="微软雅黑"/>
                <a:cs typeface="微软雅黑"/>
              </a:rPr>
              <a:t>状态符号声明</a:t>
            </a:r>
            <a:endParaRPr sz="1550">
              <a:latin typeface="微软雅黑"/>
              <a:cs typeface="微软雅黑"/>
            </a:endParaRPr>
          </a:p>
          <a:p>
            <a:pPr marL="212725">
              <a:lnSpc>
                <a:spcPct val="100000"/>
              </a:lnSpc>
              <a:spcBef>
                <a:spcPts val="40"/>
              </a:spcBef>
            </a:pPr>
            <a:r>
              <a:rPr sz="1550" b="1" dirty="0">
                <a:latin typeface="Arial"/>
                <a:cs typeface="Arial"/>
              </a:rPr>
              <a:t>localparam</a:t>
            </a:r>
            <a:r>
              <a:rPr sz="1550" b="1" spc="25" dirty="0">
                <a:latin typeface="Arial"/>
                <a:cs typeface="Arial"/>
              </a:rPr>
              <a:t> </a:t>
            </a:r>
            <a:r>
              <a:rPr sz="1550" dirty="0">
                <a:latin typeface="Arial"/>
                <a:cs typeface="Arial"/>
              </a:rPr>
              <a:t>[1:0]</a:t>
            </a:r>
            <a:r>
              <a:rPr sz="1550" spc="465" dirty="0">
                <a:latin typeface="Arial"/>
                <a:cs typeface="Arial"/>
              </a:rPr>
              <a:t> </a:t>
            </a:r>
            <a:r>
              <a:rPr sz="1550" dirty="0">
                <a:latin typeface="Arial"/>
                <a:cs typeface="Arial"/>
              </a:rPr>
              <a:t>s0</a:t>
            </a:r>
            <a:r>
              <a:rPr sz="1550" spc="25" dirty="0">
                <a:latin typeface="Arial"/>
                <a:cs typeface="Arial"/>
              </a:rPr>
              <a:t> </a:t>
            </a:r>
            <a:r>
              <a:rPr sz="1550" dirty="0">
                <a:latin typeface="Arial"/>
                <a:cs typeface="Arial"/>
              </a:rPr>
              <a:t>=</a:t>
            </a:r>
            <a:r>
              <a:rPr sz="1550" spc="20" dirty="0">
                <a:latin typeface="Arial"/>
                <a:cs typeface="Arial"/>
              </a:rPr>
              <a:t> </a:t>
            </a:r>
            <a:r>
              <a:rPr sz="1550" dirty="0">
                <a:latin typeface="Arial"/>
                <a:cs typeface="Arial"/>
              </a:rPr>
              <a:t>2</a:t>
            </a:r>
            <a:r>
              <a:rPr sz="1550" spc="20" dirty="0">
                <a:latin typeface="Arial"/>
                <a:cs typeface="Arial"/>
              </a:rPr>
              <a:t> </a:t>
            </a:r>
            <a:r>
              <a:rPr sz="1550" dirty="0">
                <a:latin typeface="Arial"/>
                <a:cs typeface="Arial"/>
              </a:rPr>
              <a:t>'</a:t>
            </a:r>
            <a:r>
              <a:rPr sz="1550" spc="20" dirty="0">
                <a:latin typeface="Arial"/>
                <a:cs typeface="Arial"/>
              </a:rPr>
              <a:t> </a:t>
            </a:r>
            <a:r>
              <a:rPr sz="1550" dirty="0">
                <a:latin typeface="Arial"/>
                <a:cs typeface="Arial"/>
              </a:rPr>
              <a:t>b00</a:t>
            </a:r>
            <a:r>
              <a:rPr sz="1550" spc="25" dirty="0">
                <a:latin typeface="Arial"/>
                <a:cs typeface="Arial"/>
              </a:rPr>
              <a:t> </a:t>
            </a:r>
            <a:r>
              <a:rPr sz="1550" spc="-50" dirty="0">
                <a:latin typeface="Arial"/>
                <a:cs typeface="Arial"/>
              </a:rPr>
              <a:t>,</a:t>
            </a:r>
            <a:endParaRPr sz="1550">
              <a:latin typeface="Arial"/>
              <a:cs typeface="Arial"/>
            </a:endParaRPr>
          </a:p>
        </p:txBody>
      </p:sp>
      <p:sp>
        <p:nvSpPr>
          <p:cNvPr id="10" name="object 10"/>
          <p:cNvSpPr txBox="1"/>
          <p:nvPr/>
        </p:nvSpPr>
        <p:spPr>
          <a:xfrm>
            <a:off x="405497" y="3131283"/>
            <a:ext cx="1122680" cy="506730"/>
          </a:xfrm>
          <a:prstGeom prst="rect">
            <a:avLst/>
          </a:prstGeom>
        </p:spPr>
        <p:txBody>
          <a:bodyPr vert="horz" wrap="square" lIns="0" tIns="11430" rIns="0" bIns="0" rtlCol="0">
            <a:spAutoFit/>
          </a:bodyPr>
          <a:lstStyle/>
          <a:p>
            <a:pPr marL="12700" marR="5080">
              <a:lnSpc>
                <a:spcPct val="101899"/>
              </a:lnSpc>
              <a:spcBef>
                <a:spcPts val="90"/>
              </a:spcBef>
            </a:pPr>
            <a:r>
              <a:rPr sz="1550" dirty="0">
                <a:latin typeface="Arial"/>
                <a:cs typeface="Arial"/>
              </a:rPr>
              <a:t>s1</a:t>
            </a:r>
            <a:r>
              <a:rPr sz="1550" spc="10" dirty="0">
                <a:latin typeface="Arial"/>
                <a:cs typeface="Arial"/>
              </a:rPr>
              <a:t> </a:t>
            </a:r>
            <a:r>
              <a:rPr sz="1550" dirty="0">
                <a:latin typeface="Arial"/>
                <a:cs typeface="Arial"/>
              </a:rPr>
              <a:t>=</a:t>
            </a:r>
            <a:r>
              <a:rPr sz="1550" spc="15" dirty="0">
                <a:latin typeface="Arial"/>
                <a:cs typeface="Arial"/>
              </a:rPr>
              <a:t> </a:t>
            </a:r>
            <a:r>
              <a:rPr sz="1550" dirty="0">
                <a:latin typeface="Arial"/>
                <a:cs typeface="Arial"/>
              </a:rPr>
              <a:t>2</a:t>
            </a:r>
            <a:r>
              <a:rPr sz="1550" spc="15" dirty="0">
                <a:latin typeface="Arial"/>
                <a:cs typeface="Arial"/>
              </a:rPr>
              <a:t> </a:t>
            </a:r>
            <a:r>
              <a:rPr sz="1550" dirty="0">
                <a:latin typeface="Arial"/>
                <a:cs typeface="Arial"/>
              </a:rPr>
              <a:t>'</a:t>
            </a:r>
            <a:r>
              <a:rPr sz="1550" spc="15" dirty="0">
                <a:latin typeface="Arial"/>
                <a:cs typeface="Arial"/>
              </a:rPr>
              <a:t> </a:t>
            </a:r>
            <a:r>
              <a:rPr sz="1550" spc="-20" dirty="0">
                <a:latin typeface="Arial"/>
                <a:cs typeface="Arial"/>
              </a:rPr>
              <a:t>b01, </a:t>
            </a:r>
            <a:r>
              <a:rPr sz="1550" dirty="0">
                <a:latin typeface="Arial"/>
                <a:cs typeface="Arial"/>
              </a:rPr>
              <a:t>s2</a:t>
            </a:r>
            <a:r>
              <a:rPr sz="1550" spc="10" dirty="0">
                <a:latin typeface="Arial"/>
                <a:cs typeface="Arial"/>
              </a:rPr>
              <a:t> </a:t>
            </a:r>
            <a:r>
              <a:rPr sz="1550" dirty="0">
                <a:latin typeface="Arial"/>
                <a:cs typeface="Arial"/>
              </a:rPr>
              <a:t>=</a:t>
            </a:r>
            <a:r>
              <a:rPr sz="1550" spc="15" dirty="0">
                <a:latin typeface="Arial"/>
                <a:cs typeface="Arial"/>
              </a:rPr>
              <a:t> </a:t>
            </a:r>
            <a:r>
              <a:rPr sz="1550" dirty="0">
                <a:latin typeface="Arial"/>
                <a:cs typeface="Arial"/>
              </a:rPr>
              <a:t>2</a:t>
            </a:r>
            <a:r>
              <a:rPr sz="1550" spc="15" dirty="0">
                <a:latin typeface="Arial"/>
                <a:cs typeface="Arial"/>
              </a:rPr>
              <a:t> </a:t>
            </a:r>
            <a:r>
              <a:rPr sz="1550" dirty="0">
                <a:latin typeface="Arial"/>
                <a:cs typeface="Arial"/>
              </a:rPr>
              <a:t>‘</a:t>
            </a:r>
            <a:r>
              <a:rPr sz="1550" spc="15" dirty="0">
                <a:latin typeface="Arial"/>
                <a:cs typeface="Arial"/>
              </a:rPr>
              <a:t> </a:t>
            </a:r>
            <a:r>
              <a:rPr sz="1550" spc="-20" dirty="0">
                <a:latin typeface="Arial"/>
                <a:cs typeface="Arial"/>
              </a:rPr>
              <a:t>b10;</a:t>
            </a:r>
            <a:endParaRPr sz="1550">
              <a:latin typeface="Arial"/>
              <a:cs typeface="Arial"/>
            </a:endParaRPr>
          </a:p>
        </p:txBody>
      </p:sp>
      <p:sp>
        <p:nvSpPr>
          <p:cNvPr id="11" name="object 11"/>
          <p:cNvSpPr txBox="1"/>
          <p:nvPr/>
        </p:nvSpPr>
        <p:spPr>
          <a:xfrm>
            <a:off x="405517" y="3839966"/>
            <a:ext cx="3803015" cy="1962150"/>
          </a:xfrm>
          <a:prstGeom prst="rect">
            <a:avLst/>
          </a:prstGeom>
        </p:spPr>
        <p:txBody>
          <a:bodyPr vert="horz" wrap="square" lIns="0" tIns="14604" rIns="0" bIns="0" rtlCol="0">
            <a:spAutoFit/>
          </a:bodyPr>
          <a:lstStyle/>
          <a:p>
            <a:pPr marL="179070">
              <a:lnSpc>
                <a:spcPct val="100000"/>
              </a:lnSpc>
              <a:spcBef>
                <a:spcPts val="114"/>
              </a:spcBef>
            </a:pPr>
            <a:r>
              <a:rPr sz="1550" dirty="0">
                <a:solidFill>
                  <a:srgbClr val="00B0EF"/>
                </a:solidFill>
                <a:latin typeface="Arial"/>
                <a:cs typeface="Arial"/>
              </a:rPr>
              <a:t>//</a:t>
            </a:r>
            <a:r>
              <a:rPr sz="1650" i="1" spc="-80" dirty="0">
                <a:solidFill>
                  <a:srgbClr val="00B0EF"/>
                </a:solidFill>
                <a:latin typeface="微软雅黑"/>
                <a:cs typeface="微软雅黑"/>
              </a:rPr>
              <a:t>信号声明</a:t>
            </a:r>
            <a:endParaRPr sz="1650">
              <a:latin typeface="微软雅黑"/>
              <a:cs typeface="微软雅黑"/>
            </a:endParaRPr>
          </a:p>
          <a:p>
            <a:pPr marL="45720">
              <a:lnSpc>
                <a:spcPts val="1825"/>
              </a:lnSpc>
              <a:spcBef>
                <a:spcPts val="20"/>
              </a:spcBef>
            </a:pPr>
            <a:r>
              <a:rPr sz="1550" b="1" dirty="0">
                <a:latin typeface="Arial"/>
                <a:cs typeface="Arial"/>
              </a:rPr>
              <a:t>reg</a:t>
            </a:r>
            <a:r>
              <a:rPr sz="1550" b="1" spc="25" dirty="0">
                <a:latin typeface="Arial"/>
                <a:cs typeface="Arial"/>
              </a:rPr>
              <a:t> </a:t>
            </a:r>
            <a:r>
              <a:rPr sz="1550" dirty="0">
                <a:latin typeface="Arial"/>
                <a:cs typeface="Arial"/>
              </a:rPr>
              <a:t>[1</a:t>
            </a:r>
            <a:r>
              <a:rPr sz="1550" spc="30"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0]</a:t>
            </a:r>
            <a:r>
              <a:rPr sz="1550" spc="490" dirty="0">
                <a:latin typeface="Arial"/>
                <a:cs typeface="Arial"/>
              </a:rPr>
              <a:t> </a:t>
            </a:r>
            <a:r>
              <a:rPr sz="1550" dirty="0">
                <a:latin typeface="Arial"/>
                <a:cs typeface="Arial"/>
              </a:rPr>
              <a:t>state_reg</a:t>
            </a:r>
            <a:r>
              <a:rPr sz="1550" spc="30" dirty="0">
                <a:latin typeface="Arial"/>
                <a:cs typeface="Arial"/>
              </a:rPr>
              <a:t> </a:t>
            </a:r>
            <a:r>
              <a:rPr sz="1550" dirty="0">
                <a:latin typeface="Arial"/>
                <a:cs typeface="Arial"/>
              </a:rPr>
              <a:t>,</a:t>
            </a:r>
            <a:r>
              <a:rPr sz="1550" spc="30" dirty="0">
                <a:latin typeface="Arial"/>
                <a:cs typeface="Arial"/>
              </a:rPr>
              <a:t> </a:t>
            </a:r>
            <a:r>
              <a:rPr sz="1550" spc="-10" dirty="0">
                <a:latin typeface="Arial"/>
                <a:cs typeface="Arial"/>
              </a:rPr>
              <a:t>state_next;</a:t>
            </a:r>
            <a:endParaRPr sz="1550">
              <a:latin typeface="Arial"/>
              <a:cs typeface="Arial"/>
            </a:endParaRPr>
          </a:p>
          <a:p>
            <a:pPr marL="246379">
              <a:lnSpc>
                <a:spcPts val="1945"/>
              </a:lnSpc>
            </a:pPr>
            <a:r>
              <a:rPr sz="1550" spc="15" dirty="0">
                <a:solidFill>
                  <a:srgbClr val="00B0EF"/>
                </a:solidFill>
                <a:latin typeface="Arial"/>
                <a:cs typeface="Arial"/>
              </a:rPr>
              <a:t>// </a:t>
            </a:r>
            <a:r>
              <a:rPr sz="1650" i="1" spc="-80" dirty="0">
                <a:solidFill>
                  <a:srgbClr val="00B0EF"/>
                </a:solidFill>
                <a:latin typeface="微软雅黑"/>
                <a:cs typeface="微软雅黑"/>
              </a:rPr>
              <a:t>状态切换</a:t>
            </a:r>
            <a:endParaRPr sz="1650">
              <a:latin typeface="微软雅黑"/>
              <a:cs typeface="微软雅黑"/>
            </a:endParaRPr>
          </a:p>
          <a:p>
            <a:pPr marL="12700">
              <a:lnSpc>
                <a:spcPct val="100000"/>
              </a:lnSpc>
              <a:spcBef>
                <a:spcPts val="25"/>
              </a:spcBef>
            </a:pPr>
            <a:r>
              <a:rPr sz="1550" b="1" dirty="0">
                <a:latin typeface="Arial"/>
                <a:cs typeface="Arial"/>
              </a:rPr>
              <a:t>always</a:t>
            </a:r>
            <a:r>
              <a:rPr sz="1550" b="1" spc="45" dirty="0">
                <a:latin typeface="Arial"/>
                <a:cs typeface="Arial"/>
              </a:rPr>
              <a:t> </a:t>
            </a:r>
            <a:r>
              <a:rPr sz="1550" dirty="0">
                <a:latin typeface="Arial"/>
                <a:cs typeface="Arial"/>
              </a:rPr>
              <a:t>@</a:t>
            </a:r>
            <a:r>
              <a:rPr sz="1550" spc="45" dirty="0">
                <a:latin typeface="Arial"/>
                <a:cs typeface="Arial"/>
              </a:rPr>
              <a:t> </a:t>
            </a:r>
            <a:r>
              <a:rPr sz="1550" dirty="0">
                <a:latin typeface="Arial"/>
                <a:cs typeface="Arial"/>
              </a:rPr>
              <a:t>(</a:t>
            </a:r>
            <a:r>
              <a:rPr sz="1550" b="1" dirty="0">
                <a:latin typeface="Arial"/>
                <a:cs typeface="Arial"/>
              </a:rPr>
              <a:t>posedge</a:t>
            </a:r>
            <a:r>
              <a:rPr sz="1550" b="1" spc="40" dirty="0">
                <a:latin typeface="Arial"/>
                <a:cs typeface="Arial"/>
              </a:rPr>
              <a:t> </a:t>
            </a:r>
            <a:r>
              <a:rPr sz="1550" dirty="0">
                <a:latin typeface="Arial"/>
                <a:cs typeface="Arial"/>
              </a:rPr>
              <a:t>clk</a:t>
            </a:r>
            <a:r>
              <a:rPr sz="1550" spc="35" dirty="0">
                <a:latin typeface="Arial"/>
                <a:cs typeface="Arial"/>
              </a:rPr>
              <a:t> </a:t>
            </a:r>
            <a:r>
              <a:rPr sz="1550" dirty="0">
                <a:latin typeface="Arial"/>
                <a:cs typeface="Arial"/>
              </a:rPr>
              <a:t>,</a:t>
            </a:r>
            <a:r>
              <a:rPr sz="1550" spc="55" dirty="0">
                <a:latin typeface="Arial"/>
                <a:cs typeface="Arial"/>
              </a:rPr>
              <a:t> </a:t>
            </a:r>
            <a:r>
              <a:rPr sz="1550" b="1" dirty="0">
                <a:latin typeface="Arial"/>
                <a:cs typeface="Arial"/>
              </a:rPr>
              <a:t>posedge</a:t>
            </a:r>
            <a:r>
              <a:rPr sz="1550" b="1" spc="40" dirty="0">
                <a:latin typeface="Arial"/>
                <a:cs typeface="Arial"/>
              </a:rPr>
              <a:t> </a:t>
            </a:r>
            <a:r>
              <a:rPr sz="1550" dirty="0">
                <a:latin typeface="Arial"/>
                <a:cs typeface="Arial"/>
              </a:rPr>
              <a:t>reset</a:t>
            </a:r>
            <a:r>
              <a:rPr sz="1550" spc="40" dirty="0">
                <a:latin typeface="Arial"/>
                <a:cs typeface="Arial"/>
              </a:rPr>
              <a:t> </a:t>
            </a:r>
            <a:r>
              <a:rPr sz="1550" spc="-50" dirty="0">
                <a:latin typeface="Arial"/>
                <a:cs typeface="Arial"/>
              </a:rPr>
              <a:t>)</a:t>
            </a:r>
            <a:endParaRPr sz="1550">
              <a:latin typeface="Arial"/>
              <a:cs typeface="Arial"/>
            </a:endParaRPr>
          </a:p>
          <a:p>
            <a:pPr marL="624840" marR="1776095" indent="-167005">
              <a:lnSpc>
                <a:spcPts val="1900"/>
              </a:lnSpc>
              <a:spcBef>
                <a:spcPts val="60"/>
              </a:spcBef>
            </a:pPr>
            <a:r>
              <a:rPr sz="1550" b="1" dirty="0">
                <a:latin typeface="Arial"/>
                <a:cs typeface="Arial"/>
              </a:rPr>
              <a:t>if</a:t>
            </a:r>
            <a:r>
              <a:rPr sz="1550" b="1" spc="30" dirty="0">
                <a:latin typeface="Arial"/>
                <a:cs typeface="Arial"/>
              </a:rPr>
              <a:t> </a:t>
            </a:r>
            <a:r>
              <a:rPr sz="1550" dirty="0">
                <a:latin typeface="Arial"/>
                <a:cs typeface="Arial"/>
              </a:rPr>
              <a:t>(</a:t>
            </a:r>
            <a:r>
              <a:rPr sz="1550" spc="35" dirty="0">
                <a:latin typeface="Arial"/>
                <a:cs typeface="Arial"/>
              </a:rPr>
              <a:t> </a:t>
            </a:r>
            <a:r>
              <a:rPr sz="1550" dirty="0">
                <a:latin typeface="Arial"/>
                <a:cs typeface="Arial"/>
              </a:rPr>
              <a:t>reset</a:t>
            </a:r>
            <a:r>
              <a:rPr sz="1550" spc="35" dirty="0">
                <a:latin typeface="Arial"/>
                <a:cs typeface="Arial"/>
              </a:rPr>
              <a:t> </a:t>
            </a:r>
            <a:r>
              <a:rPr sz="1550" spc="-50" dirty="0">
                <a:latin typeface="Arial"/>
                <a:cs typeface="Arial"/>
              </a:rPr>
              <a:t>) </a:t>
            </a:r>
            <a:r>
              <a:rPr sz="1550" dirty="0">
                <a:latin typeface="Arial"/>
                <a:cs typeface="Arial"/>
              </a:rPr>
              <a:t>state_reg&lt;=</a:t>
            </a:r>
            <a:r>
              <a:rPr sz="1550" spc="165" dirty="0">
                <a:latin typeface="Arial"/>
                <a:cs typeface="Arial"/>
              </a:rPr>
              <a:t> </a:t>
            </a:r>
            <a:r>
              <a:rPr sz="1550" spc="-25" dirty="0">
                <a:latin typeface="Arial"/>
                <a:cs typeface="Arial"/>
              </a:rPr>
              <a:t>s0;</a:t>
            </a:r>
            <a:endParaRPr sz="1550">
              <a:latin typeface="Arial"/>
              <a:cs typeface="Arial"/>
            </a:endParaRPr>
          </a:p>
          <a:p>
            <a:pPr marL="357505">
              <a:lnSpc>
                <a:spcPts val="1810"/>
              </a:lnSpc>
            </a:pPr>
            <a:r>
              <a:rPr sz="1550" b="1" spc="-20" dirty="0">
                <a:latin typeface="Arial"/>
                <a:cs typeface="Arial"/>
              </a:rPr>
              <a:t>else</a:t>
            </a:r>
            <a:endParaRPr sz="1550">
              <a:latin typeface="Arial"/>
              <a:cs typeface="Arial"/>
            </a:endParaRPr>
          </a:p>
          <a:p>
            <a:pPr marL="569595">
              <a:lnSpc>
                <a:spcPct val="100000"/>
              </a:lnSpc>
              <a:spcBef>
                <a:spcPts val="45"/>
              </a:spcBef>
            </a:pPr>
            <a:r>
              <a:rPr sz="1550" dirty="0">
                <a:latin typeface="Arial"/>
                <a:cs typeface="Arial"/>
              </a:rPr>
              <a:t>state_reg&lt;=</a:t>
            </a:r>
            <a:r>
              <a:rPr sz="1550" spc="145" dirty="0">
                <a:latin typeface="Arial"/>
                <a:cs typeface="Arial"/>
              </a:rPr>
              <a:t> </a:t>
            </a:r>
            <a:r>
              <a:rPr sz="1550" dirty="0">
                <a:latin typeface="Arial"/>
                <a:cs typeface="Arial"/>
              </a:rPr>
              <a:t>state_next</a:t>
            </a:r>
            <a:r>
              <a:rPr sz="1550" spc="160" dirty="0">
                <a:latin typeface="Arial"/>
                <a:cs typeface="Arial"/>
              </a:rPr>
              <a:t> </a:t>
            </a:r>
            <a:r>
              <a:rPr sz="1550" spc="-50" dirty="0">
                <a:latin typeface="Arial"/>
                <a:cs typeface="Arial"/>
              </a:rPr>
              <a:t>;</a:t>
            </a:r>
            <a:endParaRPr sz="1550">
              <a:latin typeface="Arial"/>
              <a:cs typeface="Arial"/>
            </a:endParaRPr>
          </a:p>
        </p:txBody>
      </p:sp>
      <p:grpSp>
        <p:nvGrpSpPr>
          <p:cNvPr id="12" name="object 12"/>
          <p:cNvGrpSpPr/>
          <p:nvPr/>
        </p:nvGrpSpPr>
        <p:grpSpPr>
          <a:xfrm>
            <a:off x="5096141" y="986789"/>
            <a:ext cx="4864100" cy="5676900"/>
            <a:chOff x="5096141" y="986789"/>
            <a:chExt cx="4864100" cy="5676900"/>
          </a:xfrm>
        </p:grpSpPr>
        <p:sp>
          <p:nvSpPr>
            <p:cNvPr id="13" name="object 13"/>
            <p:cNvSpPr/>
            <p:nvPr/>
          </p:nvSpPr>
          <p:spPr>
            <a:xfrm>
              <a:off x="5099951" y="991361"/>
              <a:ext cx="4856480" cy="5668010"/>
            </a:xfrm>
            <a:custGeom>
              <a:avLst/>
              <a:gdLst/>
              <a:ahLst/>
              <a:cxnLst/>
              <a:rect l="l" t="t" r="r" b="b"/>
              <a:pathLst>
                <a:path w="4856480" h="5668009">
                  <a:moveTo>
                    <a:pt x="4856226" y="5667756"/>
                  </a:moveTo>
                  <a:lnTo>
                    <a:pt x="4856226" y="0"/>
                  </a:lnTo>
                  <a:lnTo>
                    <a:pt x="0" y="0"/>
                  </a:lnTo>
                  <a:lnTo>
                    <a:pt x="0" y="5667756"/>
                  </a:lnTo>
                  <a:lnTo>
                    <a:pt x="4856226" y="5667756"/>
                  </a:lnTo>
                  <a:close/>
                </a:path>
              </a:pathLst>
            </a:custGeom>
            <a:solidFill>
              <a:srgbClr val="F9FABA"/>
            </a:solidFill>
          </p:spPr>
          <p:txBody>
            <a:bodyPr wrap="square" lIns="0" tIns="0" rIns="0" bIns="0" rtlCol="0"/>
            <a:lstStyle/>
            <a:p>
              <a:endParaRPr/>
            </a:p>
          </p:txBody>
        </p:sp>
        <p:sp>
          <p:nvSpPr>
            <p:cNvPr id="14" name="object 14"/>
            <p:cNvSpPr/>
            <p:nvPr/>
          </p:nvSpPr>
          <p:spPr>
            <a:xfrm>
              <a:off x="5096141" y="986789"/>
              <a:ext cx="4864100" cy="5676900"/>
            </a:xfrm>
            <a:custGeom>
              <a:avLst/>
              <a:gdLst/>
              <a:ahLst/>
              <a:cxnLst/>
              <a:rect l="l" t="t" r="r" b="b"/>
              <a:pathLst>
                <a:path w="4864100" h="5676900">
                  <a:moveTo>
                    <a:pt x="4863846" y="5674614"/>
                  </a:moveTo>
                  <a:lnTo>
                    <a:pt x="4863846" y="2285"/>
                  </a:lnTo>
                  <a:lnTo>
                    <a:pt x="4862322" y="0"/>
                  </a:lnTo>
                  <a:lnTo>
                    <a:pt x="1523" y="0"/>
                  </a:lnTo>
                  <a:lnTo>
                    <a:pt x="0" y="2286"/>
                  </a:lnTo>
                  <a:lnTo>
                    <a:pt x="0" y="5674614"/>
                  </a:lnTo>
                  <a:lnTo>
                    <a:pt x="1524" y="5676900"/>
                  </a:lnTo>
                  <a:lnTo>
                    <a:pt x="3810" y="5676900"/>
                  </a:lnTo>
                  <a:lnTo>
                    <a:pt x="3810" y="8382"/>
                  </a:lnTo>
                  <a:lnTo>
                    <a:pt x="8382" y="4572"/>
                  </a:lnTo>
                  <a:lnTo>
                    <a:pt x="8382" y="8382"/>
                  </a:lnTo>
                  <a:lnTo>
                    <a:pt x="4855464" y="8381"/>
                  </a:lnTo>
                  <a:lnTo>
                    <a:pt x="4855464" y="4571"/>
                  </a:lnTo>
                  <a:lnTo>
                    <a:pt x="4860036" y="8381"/>
                  </a:lnTo>
                  <a:lnTo>
                    <a:pt x="4860036" y="5676900"/>
                  </a:lnTo>
                  <a:lnTo>
                    <a:pt x="4862322" y="5676900"/>
                  </a:lnTo>
                  <a:lnTo>
                    <a:pt x="4863846" y="5674614"/>
                  </a:lnTo>
                  <a:close/>
                </a:path>
                <a:path w="4864100" h="5676900">
                  <a:moveTo>
                    <a:pt x="8382" y="8382"/>
                  </a:moveTo>
                  <a:lnTo>
                    <a:pt x="8382" y="4572"/>
                  </a:lnTo>
                  <a:lnTo>
                    <a:pt x="3810" y="8382"/>
                  </a:lnTo>
                  <a:lnTo>
                    <a:pt x="8382" y="8382"/>
                  </a:lnTo>
                  <a:close/>
                </a:path>
                <a:path w="4864100" h="5676900">
                  <a:moveTo>
                    <a:pt x="8382" y="5668518"/>
                  </a:moveTo>
                  <a:lnTo>
                    <a:pt x="8382" y="8382"/>
                  </a:lnTo>
                  <a:lnTo>
                    <a:pt x="3810" y="8382"/>
                  </a:lnTo>
                  <a:lnTo>
                    <a:pt x="3810" y="5668518"/>
                  </a:lnTo>
                  <a:lnTo>
                    <a:pt x="8382" y="5668518"/>
                  </a:lnTo>
                  <a:close/>
                </a:path>
                <a:path w="4864100" h="5676900">
                  <a:moveTo>
                    <a:pt x="4860036" y="5668518"/>
                  </a:moveTo>
                  <a:lnTo>
                    <a:pt x="3810" y="5668518"/>
                  </a:lnTo>
                  <a:lnTo>
                    <a:pt x="8382" y="5672328"/>
                  </a:lnTo>
                  <a:lnTo>
                    <a:pt x="8382" y="5676900"/>
                  </a:lnTo>
                  <a:lnTo>
                    <a:pt x="4855464" y="5676900"/>
                  </a:lnTo>
                  <a:lnTo>
                    <a:pt x="4855464" y="5672328"/>
                  </a:lnTo>
                  <a:lnTo>
                    <a:pt x="4860036" y="5668518"/>
                  </a:lnTo>
                  <a:close/>
                </a:path>
                <a:path w="4864100" h="5676900">
                  <a:moveTo>
                    <a:pt x="8382" y="5676900"/>
                  </a:moveTo>
                  <a:lnTo>
                    <a:pt x="8382" y="5672328"/>
                  </a:lnTo>
                  <a:lnTo>
                    <a:pt x="3810" y="5668518"/>
                  </a:lnTo>
                  <a:lnTo>
                    <a:pt x="3810" y="5676900"/>
                  </a:lnTo>
                  <a:lnTo>
                    <a:pt x="8382" y="5676900"/>
                  </a:lnTo>
                  <a:close/>
                </a:path>
                <a:path w="4864100" h="5676900">
                  <a:moveTo>
                    <a:pt x="4860036" y="8381"/>
                  </a:moveTo>
                  <a:lnTo>
                    <a:pt x="4855464" y="4571"/>
                  </a:lnTo>
                  <a:lnTo>
                    <a:pt x="4855464" y="8381"/>
                  </a:lnTo>
                  <a:lnTo>
                    <a:pt x="4860036" y="8381"/>
                  </a:lnTo>
                  <a:close/>
                </a:path>
                <a:path w="4864100" h="5676900">
                  <a:moveTo>
                    <a:pt x="4860036" y="5668518"/>
                  </a:moveTo>
                  <a:lnTo>
                    <a:pt x="4860036" y="8381"/>
                  </a:lnTo>
                  <a:lnTo>
                    <a:pt x="4855464" y="8381"/>
                  </a:lnTo>
                  <a:lnTo>
                    <a:pt x="4855464" y="5668518"/>
                  </a:lnTo>
                  <a:lnTo>
                    <a:pt x="4860036" y="5668518"/>
                  </a:lnTo>
                  <a:close/>
                </a:path>
                <a:path w="4864100" h="5676900">
                  <a:moveTo>
                    <a:pt x="4860036" y="5676900"/>
                  </a:moveTo>
                  <a:lnTo>
                    <a:pt x="4860036" y="5668518"/>
                  </a:lnTo>
                  <a:lnTo>
                    <a:pt x="4855464" y="5672328"/>
                  </a:lnTo>
                  <a:lnTo>
                    <a:pt x="4855464" y="5676900"/>
                  </a:lnTo>
                  <a:lnTo>
                    <a:pt x="4860036" y="5676900"/>
                  </a:lnTo>
                  <a:close/>
                </a:path>
              </a:pathLst>
            </a:custGeom>
            <a:solidFill>
              <a:srgbClr val="FF0000"/>
            </a:solidFill>
          </p:spPr>
          <p:txBody>
            <a:bodyPr wrap="square" lIns="0" tIns="0" rIns="0" bIns="0" rtlCol="0"/>
            <a:lstStyle/>
            <a:p>
              <a:endParaRPr/>
            </a:p>
          </p:txBody>
        </p:sp>
      </p:grpSp>
      <p:sp>
        <p:nvSpPr>
          <p:cNvPr id="15" name="object 15"/>
          <p:cNvSpPr txBox="1"/>
          <p:nvPr/>
        </p:nvSpPr>
        <p:spPr>
          <a:xfrm>
            <a:off x="5168017" y="1009903"/>
            <a:ext cx="2823210" cy="5553075"/>
          </a:xfrm>
          <a:prstGeom prst="rect">
            <a:avLst/>
          </a:prstGeom>
        </p:spPr>
        <p:txBody>
          <a:bodyPr vert="horz" wrap="square" lIns="0" tIns="15875" rIns="0" bIns="0" rtlCol="0">
            <a:spAutoFit/>
          </a:bodyPr>
          <a:lstStyle/>
          <a:p>
            <a:pPr marL="12700">
              <a:lnSpc>
                <a:spcPct val="100000"/>
              </a:lnSpc>
              <a:spcBef>
                <a:spcPts val="125"/>
              </a:spcBef>
            </a:pPr>
            <a:r>
              <a:rPr sz="1550" b="1" spc="50" dirty="0">
                <a:solidFill>
                  <a:srgbClr val="00B0EF"/>
                </a:solidFill>
                <a:latin typeface="Calibri"/>
                <a:cs typeface="Calibri"/>
              </a:rPr>
              <a:t>//  </a:t>
            </a:r>
            <a:r>
              <a:rPr sz="1550" b="1" spc="-10" dirty="0">
                <a:solidFill>
                  <a:srgbClr val="00B0EF"/>
                </a:solidFill>
                <a:latin typeface="宋体"/>
                <a:cs typeface="宋体"/>
              </a:rPr>
              <a:t>下一状态和输出逻辑</a:t>
            </a:r>
            <a:endParaRPr sz="1550">
              <a:latin typeface="宋体"/>
              <a:cs typeface="宋体"/>
            </a:endParaRPr>
          </a:p>
          <a:p>
            <a:pPr marL="12700">
              <a:lnSpc>
                <a:spcPct val="100000"/>
              </a:lnSpc>
              <a:spcBef>
                <a:spcPts val="5"/>
              </a:spcBef>
            </a:pPr>
            <a:r>
              <a:rPr sz="1550" b="1" dirty="0">
                <a:latin typeface="Calibri"/>
                <a:cs typeface="Calibri"/>
              </a:rPr>
              <a:t>always</a:t>
            </a:r>
            <a:r>
              <a:rPr sz="1550" b="1" spc="370" dirty="0">
                <a:latin typeface="Calibri"/>
                <a:cs typeface="Calibri"/>
              </a:rPr>
              <a:t> </a:t>
            </a:r>
            <a:r>
              <a:rPr sz="1550" spc="-25" dirty="0">
                <a:latin typeface="Calibri"/>
                <a:cs typeface="Calibri"/>
              </a:rPr>
              <a:t>@*</a:t>
            </a:r>
            <a:endParaRPr sz="1550">
              <a:latin typeface="Calibri"/>
              <a:cs typeface="Calibri"/>
            </a:endParaRPr>
          </a:p>
          <a:p>
            <a:pPr marL="104775">
              <a:lnSpc>
                <a:spcPct val="100000"/>
              </a:lnSpc>
              <a:spcBef>
                <a:spcPts val="30"/>
              </a:spcBef>
            </a:pPr>
            <a:r>
              <a:rPr sz="1550" b="1" spc="-10" dirty="0">
                <a:latin typeface="Calibri"/>
                <a:cs typeface="Calibri"/>
              </a:rPr>
              <a:t>begin</a:t>
            </a:r>
            <a:endParaRPr sz="1550">
              <a:latin typeface="Calibri"/>
              <a:cs typeface="Calibri"/>
            </a:endParaRPr>
          </a:p>
          <a:p>
            <a:pPr marL="596900" marR="443230" indent="-135255">
              <a:lnSpc>
                <a:spcPct val="101899"/>
              </a:lnSpc>
              <a:spcBef>
                <a:spcPts val="35"/>
              </a:spcBef>
            </a:pPr>
            <a:r>
              <a:rPr sz="1550" dirty="0">
                <a:latin typeface="Calibri"/>
                <a:cs typeface="Calibri"/>
              </a:rPr>
              <a:t>state_next</a:t>
            </a:r>
            <a:r>
              <a:rPr sz="1550" spc="-20" dirty="0">
                <a:latin typeface="Calibri"/>
                <a:cs typeface="Calibri"/>
              </a:rPr>
              <a:t> </a:t>
            </a:r>
            <a:r>
              <a:rPr sz="1550" dirty="0">
                <a:latin typeface="Calibri"/>
                <a:cs typeface="Calibri"/>
              </a:rPr>
              <a:t>=</a:t>
            </a:r>
            <a:r>
              <a:rPr sz="1550" spc="-10" dirty="0">
                <a:latin typeface="Calibri"/>
                <a:cs typeface="Calibri"/>
              </a:rPr>
              <a:t> </a:t>
            </a:r>
            <a:r>
              <a:rPr sz="1550" dirty="0">
                <a:latin typeface="Calibri"/>
                <a:cs typeface="Calibri"/>
              </a:rPr>
              <a:t>state_reg</a:t>
            </a:r>
            <a:r>
              <a:rPr sz="1550" spc="-15" dirty="0">
                <a:latin typeface="Calibri"/>
                <a:cs typeface="Calibri"/>
              </a:rPr>
              <a:t> </a:t>
            </a:r>
            <a:r>
              <a:rPr sz="1550" spc="-50" dirty="0">
                <a:latin typeface="Calibri"/>
                <a:cs typeface="Calibri"/>
              </a:rPr>
              <a:t>; </a:t>
            </a:r>
            <a:r>
              <a:rPr sz="1550" dirty="0">
                <a:latin typeface="Calibri"/>
                <a:cs typeface="Calibri"/>
              </a:rPr>
              <a:t>y1</a:t>
            </a:r>
            <a:r>
              <a:rPr sz="1550" spc="20" dirty="0">
                <a:latin typeface="Calibri"/>
                <a:cs typeface="Calibri"/>
              </a:rPr>
              <a:t> </a:t>
            </a:r>
            <a:r>
              <a:rPr sz="1550" dirty="0">
                <a:latin typeface="Calibri"/>
                <a:cs typeface="Calibri"/>
              </a:rPr>
              <a:t>=</a:t>
            </a:r>
            <a:r>
              <a:rPr sz="1550" spc="20" dirty="0">
                <a:latin typeface="Calibri"/>
                <a:cs typeface="Calibri"/>
              </a:rPr>
              <a:t> </a:t>
            </a:r>
            <a:r>
              <a:rPr sz="1550" spc="-20" dirty="0">
                <a:latin typeface="Calibri"/>
                <a:cs typeface="Calibri"/>
              </a:rPr>
              <a:t>1’b0;</a:t>
            </a:r>
            <a:endParaRPr sz="1550">
              <a:latin typeface="Calibri"/>
              <a:cs typeface="Calibri"/>
            </a:endParaRPr>
          </a:p>
          <a:p>
            <a:pPr marL="596900">
              <a:lnSpc>
                <a:spcPct val="100000"/>
              </a:lnSpc>
              <a:spcBef>
                <a:spcPts val="30"/>
              </a:spcBef>
            </a:pPr>
            <a:r>
              <a:rPr sz="1550" dirty="0">
                <a:latin typeface="Calibri"/>
                <a:cs typeface="Calibri"/>
              </a:rPr>
              <a:t>y0</a:t>
            </a:r>
            <a:r>
              <a:rPr sz="1550" spc="20" dirty="0">
                <a:latin typeface="Calibri"/>
                <a:cs typeface="Calibri"/>
              </a:rPr>
              <a:t> </a:t>
            </a:r>
            <a:r>
              <a:rPr sz="1550" dirty="0">
                <a:latin typeface="Calibri"/>
                <a:cs typeface="Calibri"/>
              </a:rPr>
              <a:t>=</a:t>
            </a:r>
            <a:r>
              <a:rPr sz="1550" spc="20" dirty="0">
                <a:latin typeface="Calibri"/>
                <a:cs typeface="Calibri"/>
              </a:rPr>
              <a:t> </a:t>
            </a:r>
            <a:r>
              <a:rPr sz="1550" spc="-10" dirty="0">
                <a:latin typeface="Calibri"/>
                <a:cs typeface="Calibri"/>
              </a:rPr>
              <a:t>1’b0;</a:t>
            </a:r>
            <a:endParaRPr sz="1550">
              <a:latin typeface="Calibri"/>
              <a:cs typeface="Calibri"/>
            </a:endParaRPr>
          </a:p>
          <a:p>
            <a:pPr marL="701040" marR="915669" indent="-184150">
              <a:lnSpc>
                <a:spcPts val="1889"/>
              </a:lnSpc>
              <a:spcBef>
                <a:spcPts val="40"/>
              </a:spcBef>
            </a:pPr>
            <a:r>
              <a:rPr sz="1550" b="1" dirty="0">
                <a:latin typeface="Calibri"/>
                <a:cs typeface="Calibri"/>
              </a:rPr>
              <a:t>case</a:t>
            </a:r>
            <a:r>
              <a:rPr sz="1550" b="1" spc="355" dirty="0">
                <a:latin typeface="Calibri"/>
                <a:cs typeface="Calibri"/>
              </a:rPr>
              <a:t> </a:t>
            </a:r>
            <a:r>
              <a:rPr sz="1550" dirty="0">
                <a:latin typeface="Calibri"/>
                <a:cs typeface="Calibri"/>
              </a:rPr>
              <a:t>(state_reg</a:t>
            </a:r>
            <a:r>
              <a:rPr sz="1550" spc="10" dirty="0">
                <a:latin typeface="Calibri"/>
                <a:cs typeface="Calibri"/>
              </a:rPr>
              <a:t> </a:t>
            </a:r>
            <a:r>
              <a:rPr sz="1550" spc="-50" dirty="0">
                <a:latin typeface="Calibri"/>
                <a:cs typeface="Calibri"/>
              </a:rPr>
              <a:t>) </a:t>
            </a:r>
            <a:r>
              <a:rPr sz="1550" dirty="0">
                <a:latin typeface="Calibri"/>
                <a:cs typeface="Calibri"/>
              </a:rPr>
              <a:t>s0</a:t>
            </a:r>
            <a:r>
              <a:rPr sz="1550" spc="35" dirty="0">
                <a:latin typeface="Calibri"/>
                <a:cs typeface="Calibri"/>
              </a:rPr>
              <a:t> </a:t>
            </a:r>
            <a:r>
              <a:rPr sz="1550" spc="-10" dirty="0">
                <a:latin typeface="Calibri"/>
                <a:cs typeface="Calibri"/>
              </a:rPr>
              <a:t>:</a:t>
            </a:r>
            <a:r>
              <a:rPr sz="1550" b="1" spc="-10" dirty="0">
                <a:latin typeface="Calibri"/>
                <a:cs typeface="Calibri"/>
              </a:rPr>
              <a:t>begin</a:t>
            </a:r>
            <a:endParaRPr sz="1550">
              <a:latin typeface="Calibri"/>
              <a:cs typeface="Calibri"/>
            </a:endParaRPr>
          </a:p>
          <a:p>
            <a:pPr marL="1115060">
              <a:lnSpc>
                <a:spcPts val="1830"/>
              </a:lnSpc>
            </a:pPr>
            <a:r>
              <a:rPr sz="1550" dirty="0">
                <a:latin typeface="Calibri"/>
                <a:cs typeface="Calibri"/>
              </a:rPr>
              <a:t>y1</a:t>
            </a:r>
            <a:r>
              <a:rPr sz="1550" spc="25" dirty="0">
                <a:latin typeface="Calibri"/>
                <a:cs typeface="Calibri"/>
              </a:rPr>
              <a:t> </a:t>
            </a:r>
            <a:r>
              <a:rPr sz="1550" dirty="0">
                <a:latin typeface="Calibri"/>
                <a:cs typeface="Calibri"/>
              </a:rPr>
              <a:t>=</a:t>
            </a:r>
            <a:r>
              <a:rPr sz="1550" spc="25" dirty="0">
                <a:latin typeface="Calibri"/>
                <a:cs typeface="Calibri"/>
              </a:rPr>
              <a:t> </a:t>
            </a:r>
            <a:r>
              <a:rPr sz="1550" dirty="0">
                <a:latin typeface="Calibri"/>
                <a:cs typeface="Calibri"/>
              </a:rPr>
              <a:t>1’b1</a:t>
            </a:r>
            <a:r>
              <a:rPr sz="1550" spc="30" dirty="0">
                <a:latin typeface="Calibri"/>
                <a:cs typeface="Calibri"/>
              </a:rPr>
              <a:t> </a:t>
            </a:r>
            <a:r>
              <a:rPr sz="1550" spc="-50" dirty="0">
                <a:latin typeface="Calibri"/>
                <a:cs typeface="Calibri"/>
              </a:rPr>
              <a:t>;</a:t>
            </a:r>
            <a:endParaRPr sz="1550">
              <a:latin typeface="Calibri"/>
              <a:cs typeface="Calibri"/>
            </a:endParaRPr>
          </a:p>
          <a:p>
            <a:pPr marL="1115060">
              <a:lnSpc>
                <a:spcPct val="100000"/>
              </a:lnSpc>
              <a:spcBef>
                <a:spcPts val="40"/>
              </a:spcBef>
            </a:pPr>
            <a:r>
              <a:rPr sz="1550" b="1" dirty="0">
                <a:latin typeface="Calibri"/>
                <a:cs typeface="Calibri"/>
              </a:rPr>
              <a:t>if</a:t>
            </a:r>
            <a:r>
              <a:rPr sz="1550" b="1" spc="380" dirty="0">
                <a:latin typeface="Calibri"/>
                <a:cs typeface="Calibri"/>
              </a:rPr>
              <a:t> </a:t>
            </a:r>
            <a:r>
              <a:rPr sz="1550" dirty="0">
                <a:latin typeface="Calibri"/>
                <a:cs typeface="Calibri"/>
              </a:rPr>
              <a:t>(</a:t>
            </a:r>
            <a:r>
              <a:rPr sz="1550" spc="15" dirty="0">
                <a:latin typeface="Calibri"/>
                <a:cs typeface="Calibri"/>
              </a:rPr>
              <a:t> </a:t>
            </a:r>
            <a:r>
              <a:rPr sz="1550" dirty="0">
                <a:latin typeface="Calibri"/>
                <a:cs typeface="Calibri"/>
              </a:rPr>
              <a:t>a</a:t>
            </a:r>
            <a:r>
              <a:rPr sz="1550" spc="20" dirty="0">
                <a:latin typeface="Calibri"/>
                <a:cs typeface="Calibri"/>
              </a:rPr>
              <a:t> </a:t>
            </a:r>
            <a:r>
              <a:rPr sz="1550" spc="-50" dirty="0">
                <a:latin typeface="Calibri"/>
                <a:cs typeface="Calibri"/>
              </a:rPr>
              <a:t>)</a:t>
            </a:r>
            <a:endParaRPr sz="1550">
              <a:latin typeface="Calibri"/>
              <a:cs typeface="Calibri"/>
            </a:endParaRPr>
          </a:p>
          <a:p>
            <a:pPr marL="1206500">
              <a:lnSpc>
                <a:spcPct val="100000"/>
              </a:lnSpc>
              <a:spcBef>
                <a:spcPts val="30"/>
              </a:spcBef>
            </a:pPr>
            <a:r>
              <a:rPr sz="1550" b="1" dirty="0">
                <a:latin typeface="Calibri"/>
                <a:cs typeface="Calibri"/>
              </a:rPr>
              <a:t>if</a:t>
            </a:r>
            <a:r>
              <a:rPr sz="1550" b="1" spc="390" dirty="0">
                <a:latin typeface="Calibri"/>
                <a:cs typeface="Calibri"/>
              </a:rPr>
              <a:t> </a:t>
            </a:r>
            <a:r>
              <a:rPr sz="1550" dirty="0">
                <a:latin typeface="Calibri"/>
                <a:cs typeface="Calibri"/>
              </a:rPr>
              <a:t>(</a:t>
            </a:r>
            <a:r>
              <a:rPr sz="1550" spc="20" dirty="0">
                <a:latin typeface="Calibri"/>
                <a:cs typeface="Calibri"/>
              </a:rPr>
              <a:t> </a:t>
            </a:r>
            <a:r>
              <a:rPr sz="1550" dirty="0">
                <a:latin typeface="Calibri"/>
                <a:cs typeface="Calibri"/>
              </a:rPr>
              <a:t>b</a:t>
            </a:r>
            <a:r>
              <a:rPr sz="1550" spc="15" dirty="0">
                <a:latin typeface="Calibri"/>
                <a:cs typeface="Calibri"/>
              </a:rPr>
              <a:t> </a:t>
            </a:r>
            <a:r>
              <a:rPr sz="1550" spc="-50" dirty="0">
                <a:latin typeface="Calibri"/>
                <a:cs typeface="Calibri"/>
              </a:rPr>
              <a:t>)</a:t>
            </a:r>
            <a:endParaRPr sz="1550">
              <a:latin typeface="Calibri"/>
              <a:cs typeface="Calibri"/>
            </a:endParaRPr>
          </a:p>
          <a:p>
            <a:pPr marL="1344295">
              <a:lnSpc>
                <a:spcPct val="100000"/>
              </a:lnSpc>
              <a:spcBef>
                <a:spcPts val="35"/>
              </a:spcBef>
            </a:pPr>
            <a:r>
              <a:rPr sz="1550" b="1" spc="-10" dirty="0">
                <a:latin typeface="Calibri"/>
                <a:cs typeface="Calibri"/>
              </a:rPr>
              <a:t>begin</a:t>
            </a:r>
            <a:endParaRPr sz="1550">
              <a:latin typeface="Calibri"/>
              <a:cs typeface="Calibri"/>
            </a:endParaRPr>
          </a:p>
          <a:p>
            <a:pPr marL="1482090" marR="5080">
              <a:lnSpc>
                <a:spcPts val="1900"/>
              </a:lnSpc>
              <a:spcBef>
                <a:spcPts val="60"/>
              </a:spcBef>
            </a:pPr>
            <a:r>
              <a:rPr sz="1550" dirty="0">
                <a:latin typeface="Calibri"/>
                <a:cs typeface="Calibri"/>
              </a:rPr>
              <a:t>state_next =</a:t>
            </a:r>
            <a:r>
              <a:rPr sz="1550" spc="10" dirty="0">
                <a:latin typeface="Calibri"/>
                <a:cs typeface="Calibri"/>
              </a:rPr>
              <a:t> </a:t>
            </a:r>
            <a:r>
              <a:rPr sz="1550" dirty="0">
                <a:latin typeface="Calibri"/>
                <a:cs typeface="Calibri"/>
              </a:rPr>
              <a:t>s2</a:t>
            </a:r>
            <a:r>
              <a:rPr sz="1550" spc="15" dirty="0">
                <a:latin typeface="Calibri"/>
                <a:cs typeface="Calibri"/>
              </a:rPr>
              <a:t> </a:t>
            </a:r>
            <a:r>
              <a:rPr sz="1550" spc="-50" dirty="0">
                <a:latin typeface="Calibri"/>
                <a:cs typeface="Calibri"/>
              </a:rPr>
              <a:t>; </a:t>
            </a:r>
            <a:r>
              <a:rPr sz="1550" dirty="0">
                <a:latin typeface="Calibri"/>
                <a:cs typeface="Calibri"/>
              </a:rPr>
              <a:t>y0</a:t>
            </a:r>
            <a:r>
              <a:rPr sz="1550" spc="25" dirty="0">
                <a:latin typeface="Calibri"/>
                <a:cs typeface="Calibri"/>
              </a:rPr>
              <a:t> </a:t>
            </a:r>
            <a:r>
              <a:rPr sz="1550" dirty="0">
                <a:latin typeface="Calibri"/>
                <a:cs typeface="Calibri"/>
              </a:rPr>
              <a:t>=</a:t>
            </a:r>
            <a:r>
              <a:rPr sz="1550" spc="25" dirty="0">
                <a:latin typeface="Calibri"/>
                <a:cs typeface="Calibri"/>
              </a:rPr>
              <a:t> </a:t>
            </a:r>
            <a:r>
              <a:rPr sz="1550" dirty="0">
                <a:latin typeface="Calibri"/>
                <a:cs typeface="Calibri"/>
              </a:rPr>
              <a:t>1’b1</a:t>
            </a:r>
            <a:r>
              <a:rPr sz="1550" spc="30" dirty="0">
                <a:latin typeface="Calibri"/>
                <a:cs typeface="Calibri"/>
              </a:rPr>
              <a:t> </a:t>
            </a:r>
            <a:r>
              <a:rPr sz="1550" spc="-50" dirty="0">
                <a:latin typeface="Calibri"/>
                <a:cs typeface="Calibri"/>
              </a:rPr>
              <a:t>;</a:t>
            </a:r>
            <a:endParaRPr sz="1550">
              <a:latin typeface="Calibri"/>
              <a:cs typeface="Calibri"/>
            </a:endParaRPr>
          </a:p>
          <a:p>
            <a:pPr marL="1068705" marR="1200785" indent="229870">
              <a:lnSpc>
                <a:spcPts val="1889"/>
              </a:lnSpc>
            </a:pPr>
            <a:r>
              <a:rPr sz="1550" b="1" spc="-25" dirty="0">
                <a:latin typeface="Calibri"/>
                <a:cs typeface="Calibri"/>
              </a:rPr>
              <a:t>end </a:t>
            </a:r>
            <a:r>
              <a:rPr sz="1550" b="1" spc="-20" dirty="0">
                <a:latin typeface="Calibri"/>
                <a:cs typeface="Calibri"/>
              </a:rPr>
              <a:t>else</a:t>
            </a:r>
            <a:endParaRPr sz="1550">
              <a:latin typeface="Calibri"/>
              <a:cs typeface="Calibri"/>
            </a:endParaRPr>
          </a:p>
          <a:p>
            <a:pPr marL="1344295">
              <a:lnSpc>
                <a:spcPts val="1830"/>
              </a:lnSpc>
            </a:pPr>
            <a:r>
              <a:rPr sz="1550" dirty="0">
                <a:latin typeface="Calibri"/>
                <a:cs typeface="Calibri"/>
              </a:rPr>
              <a:t>state_next =</a:t>
            </a:r>
            <a:r>
              <a:rPr sz="1550" spc="10" dirty="0">
                <a:latin typeface="Calibri"/>
                <a:cs typeface="Calibri"/>
              </a:rPr>
              <a:t> </a:t>
            </a:r>
            <a:r>
              <a:rPr sz="1550" dirty="0">
                <a:latin typeface="Calibri"/>
                <a:cs typeface="Calibri"/>
              </a:rPr>
              <a:t>s1</a:t>
            </a:r>
            <a:r>
              <a:rPr sz="1550" spc="15" dirty="0">
                <a:latin typeface="Calibri"/>
                <a:cs typeface="Calibri"/>
              </a:rPr>
              <a:t> </a:t>
            </a:r>
            <a:r>
              <a:rPr sz="1550" spc="-50" dirty="0">
                <a:latin typeface="Calibri"/>
                <a:cs typeface="Calibri"/>
              </a:rPr>
              <a:t>;</a:t>
            </a:r>
            <a:endParaRPr sz="1550">
              <a:latin typeface="Calibri"/>
              <a:cs typeface="Calibri"/>
            </a:endParaRPr>
          </a:p>
          <a:p>
            <a:pPr marR="1430655" algn="r">
              <a:lnSpc>
                <a:spcPct val="100000"/>
              </a:lnSpc>
              <a:spcBef>
                <a:spcPts val="30"/>
              </a:spcBef>
            </a:pPr>
            <a:r>
              <a:rPr sz="1550" b="1" spc="-25" dirty="0">
                <a:latin typeface="Calibri"/>
                <a:cs typeface="Calibri"/>
              </a:rPr>
              <a:t>end</a:t>
            </a:r>
            <a:endParaRPr sz="1550">
              <a:latin typeface="Calibri"/>
              <a:cs typeface="Calibri"/>
            </a:endParaRPr>
          </a:p>
          <a:p>
            <a:pPr marR="1372870" algn="r">
              <a:lnSpc>
                <a:spcPct val="100000"/>
              </a:lnSpc>
              <a:spcBef>
                <a:spcPts val="35"/>
              </a:spcBef>
            </a:pPr>
            <a:r>
              <a:rPr sz="1550" dirty="0">
                <a:latin typeface="Calibri"/>
                <a:cs typeface="Calibri"/>
              </a:rPr>
              <a:t>s1:</a:t>
            </a:r>
            <a:r>
              <a:rPr sz="1550" spc="395" dirty="0">
                <a:latin typeface="Calibri"/>
                <a:cs typeface="Calibri"/>
              </a:rPr>
              <a:t> </a:t>
            </a:r>
            <a:r>
              <a:rPr sz="1550" b="1" spc="-10" dirty="0">
                <a:latin typeface="Calibri"/>
                <a:cs typeface="Calibri"/>
              </a:rPr>
              <a:t>begin</a:t>
            </a:r>
            <a:endParaRPr sz="1550">
              <a:latin typeface="Calibri"/>
              <a:cs typeface="Calibri"/>
            </a:endParaRPr>
          </a:p>
          <a:p>
            <a:pPr marL="930910">
              <a:lnSpc>
                <a:spcPct val="100000"/>
              </a:lnSpc>
              <a:spcBef>
                <a:spcPts val="35"/>
              </a:spcBef>
            </a:pPr>
            <a:r>
              <a:rPr sz="1550" dirty="0">
                <a:latin typeface="Calibri"/>
                <a:cs typeface="Calibri"/>
              </a:rPr>
              <a:t>y1</a:t>
            </a:r>
            <a:r>
              <a:rPr sz="1550" spc="20" dirty="0">
                <a:latin typeface="Calibri"/>
                <a:cs typeface="Calibri"/>
              </a:rPr>
              <a:t> </a:t>
            </a:r>
            <a:r>
              <a:rPr sz="1550" dirty="0">
                <a:latin typeface="Calibri"/>
                <a:cs typeface="Calibri"/>
              </a:rPr>
              <a:t>=</a:t>
            </a:r>
            <a:r>
              <a:rPr sz="1550" spc="20" dirty="0">
                <a:latin typeface="Calibri"/>
                <a:cs typeface="Calibri"/>
              </a:rPr>
              <a:t> </a:t>
            </a:r>
            <a:r>
              <a:rPr sz="1550" spc="-10" dirty="0">
                <a:latin typeface="Calibri"/>
                <a:cs typeface="Calibri"/>
              </a:rPr>
              <a:t>1’b1;</a:t>
            </a:r>
            <a:endParaRPr sz="1550">
              <a:latin typeface="Calibri"/>
              <a:cs typeface="Calibri"/>
            </a:endParaRPr>
          </a:p>
          <a:p>
            <a:pPr marL="977265">
              <a:lnSpc>
                <a:spcPct val="100000"/>
              </a:lnSpc>
              <a:spcBef>
                <a:spcPts val="30"/>
              </a:spcBef>
            </a:pPr>
            <a:r>
              <a:rPr sz="1550" b="1" dirty="0">
                <a:latin typeface="Calibri"/>
                <a:cs typeface="Calibri"/>
              </a:rPr>
              <a:t>if</a:t>
            </a:r>
            <a:r>
              <a:rPr sz="1550" b="1" spc="385" dirty="0">
                <a:latin typeface="Calibri"/>
                <a:cs typeface="Calibri"/>
              </a:rPr>
              <a:t> </a:t>
            </a:r>
            <a:r>
              <a:rPr sz="1550" dirty="0">
                <a:latin typeface="Calibri"/>
                <a:cs typeface="Calibri"/>
              </a:rPr>
              <a:t>(</a:t>
            </a:r>
            <a:r>
              <a:rPr sz="1550" spc="15" dirty="0">
                <a:latin typeface="Calibri"/>
                <a:cs typeface="Calibri"/>
              </a:rPr>
              <a:t> </a:t>
            </a:r>
            <a:r>
              <a:rPr sz="1550" dirty="0">
                <a:latin typeface="Calibri"/>
                <a:cs typeface="Calibri"/>
              </a:rPr>
              <a:t>a</a:t>
            </a:r>
            <a:r>
              <a:rPr sz="1550" spc="20" dirty="0">
                <a:latin typeface="Calibri"/>
                <a:cs typeface="Calibri"/>
              </a:rPr>
              <a:t> </a:t>
            </a:r>
            <a:r>
              <a:rPr sz="1550" spc="-50" dirty="0">
                <a:latin typeface="Calibri"/>
                <a:cs typeface="Calibri"/>
              </a:rPr>
              <a:t>)</a:t>
            </a:r>
            <a:endParaRPr sz="1550">
              <a:latin typeface="Calibri"/>
              <a:cs typeface="Calibri"/>
            </a:endParaRPr>
          </a:p>
          <a:p>
            <a:pPr marL="1252220">
              <a:lnSpc>
                <a:spcPct val="100000"/>
              </a:lnSpc>
              <a:spcBef>
                <a:spcPts val="35"/>
              </a:spcBef>
            </a:pPr>
            <a:r>
              <a:rPr sz="1550" dirty="0">
                <a:latin typeface="Calibri"/>
                <a:cs typeface="Calibri"/>
              </a:rPr>
              <a:t>state_next</a:t>
            </a:r>
            <a:r>
              <a:rPr sz="1550" spc="-10" dirty="0">
                <a:latin typeface="Calibri"/>
                <a:cs typeface="Calibri"/>
              </a:rPr>
              <a:t> </a:t>
            </a:r>
            <a:r>
              <a:rPr sz="1550" dirty="0">
                <a:latin typeface="Calibri"/>
                <a:cs typeface="Calibri"/>
              </a:rPr>
              <a:t>=</a:t>
            </a:r>
            <a:r>
              <a:rPr sz="1550" spc="5" dirty="0">
                <a:latin typeface="Calibri"/>
                <a:cs typeface="Calibri"/>
              </a:rPr>
              <a:t> </a:t>
            </a:r>
            <a:r>
              <a:rPr sz="1550" spc="-25" dirty="0">
                <a:latin typeface="Calibri"/>
                <a:cs typeface="Calibri"/>
              </a:rPr>
              <a:t>s0;</a:t>
            </a:r>
            <a:endParaRPr sz="1550">
              <a:latin typeface="Calibri"/>
              <a:cs typeface="Calibri"/>
            </a:endParaRPr>
          </a:p>
          <a:p>
            <a:pPr marL="930910">
              <a:lnSpc>
                <a:spcPct val="100000"/>
              </a:lnSpc>
              <a:spcBef>
                <a:spcPts val="30"/>
              </a:spcBef>
            </a:pPr>
            <a:r>
              <a:rPr sz="1550" b="1" spc="-25" dirty="0">
                <a:latin typeface="Calibri"/>
                <a:cs typeface="Calibri"/>
              </a:rPr>
              <a:t>end</a:t>
            </a:r>
            <a:endParaRPr sz="1550">
              <a:latin typeface="Calibri"/>
              <a:cs typeface="Calibri"/>
            </a:endParaRPr>
          </a:p>
        </p:txBody>
      </p:sp>
      <p:pic>
        <p:nvPicPr>
          <p:cNvPr id="16" name="object 16"/>
          <p:cNvPicPr/>
          <p:nvPr/>
        </p:nvPicPr>
        <p:blipFill>
          <a:blip r:embed="rId2" cstate="print"/>
          <a:srcRect l="21238"/>
          <a:stretch>
            <a:fillRect/>
          </a:stretch>
        </p:blipFill>
        <p:spPr>
          <a:xfrm>
            <a:off x="7869806" y="1652777"/>
            <a:ext cx="2823211" cy="241172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1395" y="962660"/>
            <a:ext cx="5253990" cy="453390"/>
          </a:xfrm>
          <a:prstGeom prst="rect">
            <a:avLst/>
          </a:prstGeom>
        </p:spPr>
        <p:txBody>
          <a:bodyPr vert="horz" wrap="square" lIns="0" tIns="13335" rIns="0" bIns="0" rtlCol="0">
            <a:spAutoFit/>
          </a:bodyPr>
          <a:lstStyle/>
          <a:p>
            <a:pPr marL="12700">
              <a:lnSpc>
                <a:spcPct val="100000"/>
              </a:lnSpc>
              <a:spcBef>
                <a:spcPts val="105"/>
              </a:spcBef>
            </a:pPr>
            <a:r>
              <a:rPr spc="-15" dirty="0"/>
              <a:t>有限状态机代码另外一种实现(续)</a:t>
            </a:r>
          </a:p>
        </p:txBody>
      </p:sp>
      <p:grpSp>
        <p:nvGrpSpPr>
          <p:cNvPr id="3" name="object 3"/>
          <p:cNvGrpSpPr/>
          <p:nvPr/>
        </p:nvGrpSpPr>
        <p:grpSpPr>
          <a:xfrm>
            <a:off x="166763" y="1661922"/>
            <a:ext cx="4122420" cy="1304290"/>
            <a:chOff x="166763" y="1661922"/>
            <a:chExt cx="4122420" cy="1304290"/>
          </a:xfrm>
        </p:grpSpPr>
        <p:sp>
          <p:nvSpPr>
            <p:cNvPr id="4" name="object 4"/>
            <p:cNvSpPr/>
            <p:nvPr/>
          </p:nvSpPr>
          <p:spPr>
            <a:xfrm>
              <a:off x="171335" y="1666494"/>
              <a:ext cx="4114165" cy="1295400"/>
            </a:xfrm>
            <a:custGeom>
              <a:avLst/>
              <a:gdLst/>
              <a:ahLst/>
              <a:cxnLst/>
              <a:rect l="l" t="t" r="r" b="b"/>
              <a:pathLst>
                <a:path w="4114165" h="1295400">
                  <a:moveTo>
                    <a:pt x="4114038" y="1295400"/>
                  </a:moveTo>
                  <a:lnTo>
                    <a:pt x="4114038" y="0"/>
                  </a:lnTo>
                  <a:lnTo>
                    <a:pt x="0" y="0"/>
                  </a:lnTo>
                  <a:lnTo>
                    <a:pt x="0" y="1295400"/>
                  </a:lnTo>
                  <a:lnTo>
                    <a:pt x="4114038" y="1295400"/>
                  </a:lnTo>
                  <a:close/>
                </a:path>
              </a:pathLst>
            </a:custGeom>
            <a:solidFill>
              <a:srgbClr val="F9FABA"/>
            </a:solidFill>
          </p:spPr>
          <p:txBody>
            <a:bodyPr wrap="square" lIns="0" tIns="0" rIns="0" bIns="0" rtlCol="0"/>
            <a:lstStyle/>
            <a:p>
              <a:endParaRPr/>
            </a:p>
          </p:txBody>
        </p:sp>
        <p:sp>
          <p:nvSpPr>
            <p:cNvPr id="5" name="object 5"/>
            <p:cNvSpPr/>
            <p:nvPr/>
          </p:nvSpPr>
          <p:spPr>
            <a:xfrm>
              <a:off x="166763" y="1661922"/>
              <a:ext cx="4122420" cy="1304290"/>
            </a:xfrm>
            <a:custGeom>
              <a:avLst/>
              <a:gdLst/>
              <a:ahLst/>
              <a:cxnLst/>
              <a:rect l="l" t="t" r="r" b="b"/>
              <a:pathLst>
                <a:path w="4122420" h="1304289">
                  <a:moveTo>
                    <a:pt x="4122420" y="1302258"/>
                  </a:moveTo>
                  <a:lnTo>
                    <a:pt x="4122420" y="2285"/>
                  </a:lnTo>
                  <a:lnTo>
                    <a:pt x="4120896" y="0"/>
                  </a:lnTo>
                  <a:lnTo>
                    <a:pt x="1523" y="0"/>
                  </a:lnTo>
                  <a:lnTo>
                    <a:pt x="0" y="2286"/>
                  </a:lnTo>
                  <a:lnTo>
                    <a:pt x="0" y="1302258"/>
                  </a:lnTo>
                  <a:lnTo>
                    <a:pt x="1524" y="1303782"/>
                  </a:lnTo>
                  <a:lnTo>
                    <a:pt x="4571" y="1303782"/>
                  </a:lnTo>
                  <a:lnTo>
                    <a:pt x="4572" y="8382"/>
                  </a:lnTo>
                  <a:lnTo>
                    <a:pt x="8382" y="4572"/>
                  </a:lnTo>
                  <a:lnTo>
                    <a:pt x="8382" y="8382"/>
                  </a:lnTo>
                  <a:lnTo>
                    <a:pt x="4114038" y="8381"/>
                  </a:lnTo>
                  <a:lnTo>
                    <a:pt x="4114038" y="4571"/>
                  </a:lnTo>
                  <a:lnTo>
                    <a:pt x="4118610" y="8381"/>
                  </a:lnTo>
                  <a:lnTo>
                    <a:pt x="4118610" y="1303782"/>
                  </a:lnTo>
                  <a:lnTo>
                    <a:pt x="4120896" y="1303782"/>
                  </a:lnTo>
                  <a:lnTo>
                    <a:pt x="4122420" y="1302258"/>
                  </a:lnTo>
                  <a:close/>
                </a:path>
                <a:path w="4122420" h="1304289">
                  <a:moveTo>
                    <a:pt x="8382" y="8382"/>
                  </a:moveTo>
                  <a:lnTo>
                    <a:pt x="8382" y="4572"/>
                  </a:lnTo>
                  <a:lnTo>
                    <a:pt x="4572" y="8382"/>
                  </a:lnTo>
                  <a:lnTo>
                    <a:pt x="8382" y="8382"/>
                  </a:lnTo>
                  <a:close/>
                </a:path>
                <a:path w="4122420" h="1304289">
                  <a:moveTo>
                    <a:pt x="8382" y="1296162"/>
                  </a:moveTo>
                  <a:lnTo>
                    <a:pt x="8382" y="8382"/>
                  </a:lnTo>
                  <a:lnTo>
                    <a:pt x="4572" y="8382"/>
                  </a:lnTo>
                  <a:lnTo>
                    <a:pt x="4572" y="1296162"/>
                  </a:lnTo>
                  <a:lnTo>
                    <a:pt x="8382" y="1296162"/>
                  </a:lnTo>
                  <a:close/>
                </a:path>
                <a:path w="4122420" h="1304289">
                  <a:moveTo>
                    <a:pt x="4118610" y="1296162"/>
                  </a:moveTo>
                  <a:lnTo>
                    <a:pt x="4572" y="1296162"/>
                  </a:lnTo>
                  <a:lnTo>
                    <a:pt x="8382" y="1299972"/>
                  </a:lnTo>
                  <a:lnTo>
                    <a:pt x="8381" y="1303782"/>
                  </a:lnTo>
                  <a:lnTo>
                    <a:pt x="4114038" y="1303782"/>
                  </a:lnTo>
                  <a:lnTo>
                    <a:pt x="4114038" y="1299972"/>
                  </a:lnTo>
                  <a:lnTo>
                    <a:pt x="4118610" y="1296162"/>
                  </a:lnTo>
                  <a:close/>
                </a:path>
                <a:path w="4122420" h="1304289">
                  <a:moveTo>
                    <a:pt x="8381" y="1303782"/>
                  </a:moveTo>
                  <a:lnTo>
                    <a:pt x="8382" y="1299972"/>
                  </a:lnTo>
                  <a:lnTo>
                    <a:pt x="4572" y="1296162"/>
                  </a:lnTo>
                  <a:lnTo>
                    <a:pt x="4571" y="1303782"/>
                  </a:lnTo>
                  <a:lnTo>
                    <a:pt x="8381" y="1303782"/>
                  </a:lnTo>
                  <a:close/>
                </a:path>
                <a:path w="4122420" h="1304289">
                  <a:moveTo>
                    <a:pt x="4118610" y="8381"/>
                  </a:moveTo>
                  <a:lnTo>
                    <a:pt x="4114038" y="4571"/>
                  </a:lnTo>
                  <a:lnTo>
                    <a:pt x="4114038" y="8381"/>
                  </a:lnTo>
                  <a:lnTo>
                    <a:pt x="4118610" y="8381"/>
                  </a:lnTo>
                  <a:close/>
                </a:path>
                <a:path w="4122420" h="1304289">
                  <a:moveTo>
                    <a:pt x="4118610" y="1296162"/>
                  </a:moveTo>
                  <a:lnTo>
                    <a:pt x="4118610" y="8381"/>
                  </a:lnTo>
                  <a:lnTo>
                    <a:pt x="4114038" y="8381"/>
                  </a:lnTo>
                  <a:lnTo>
                    <a:pt x="4114038" y="1296162"/>
                  </a:lnTo>
                  <a:lnTo>
                    <a:pt x="4118610" y="1296162"/>
                  </a:lnTo>
                  <a:close/>
                </a:path>
                <a:path w="4122420" h="1304289">
                  <a:moveTo>
                    <a:pt x="4118610" y="1303782"/>
                  </a:moveTo>
                  <a:lnTo>
                    <a:pt x="4118610" y="1296162"/>
                  </a:lnTo>
                  <a:lnTo>
                    <a:pt x="4114038" y="1299972"/>
                  </a:lnTo>
                  <a:lnTo>
                    <a:pt x="4114038" y="1303782"/>
                  </a:lnTo>
                  <a:lnTo>
                    <a:pt x="4118610" y="1303782"/>
                  </a:lnTo>
                  <a:close/>
                </a:path>
              </a:pathLst>
            </a:custGeom>
            <a:solidFill>
              <a:srgbClr val="FF0000"/>
            </a:solidFill>
          </p:spPr>
          <p:txBody>
            <a:bodyPr wrap="square" lIns="0" tIns="0" rIns="0" bIns="0" rtlCol="0"/>
            <a:lstStyle/>
            <a:p>
              <a:endParaRPr/>
            </a:p>
          </p:txBody>
        </p:sp>
      </p:grpSp>
      <p:sp>
        <p:nvSpPr>
          <p:cNvPr id="6" name="object 6"/>
          <p:cNvSpPr txBox="1"/>
          <p:nvPr/>
        </p:nvSpPr>
        <p:spPr>
          <a:xfrm>
            <a:off x="516763" y="1682750"/>
            <a:ext cx="2603500" cy="753110"/>
          </a:xfrm>
          <a:prstGeom prst="rect">
            <a:avLst/>
          </a:prstGeom>
        </p:spPr>
        <p:txBody>
          <a:bodyPr vert="horz" wrap="square" lIns="0" tIns="15875" rIns="0" bIns="0" rtlCol="0">
            <a:spAutoFit/>
          </a:bodyPr>
          <a:lstStyle/>
          <a:p>
            <a:pPr marL="468630">
              <a:lnSpc>
                <a:spcPct val="100000"/>
              </a:lnSpc>
              <a:spcBef>
                <a:spcPts val="125"/>
              </a:spcBef>
            </a:pPr>
            <a:r>
              <a:rPr sz="1550" b="1" dirty="0">
                <a:latin typeface="Calibri"/>
                <a:cs typeface="Calibri"/>
              </a:rPr>
              <a:t>s2:</a:t>
            </a:r>
            <a:r>
              <a:rPr sz="1550" b="1" spc="10" dirty="0">
                <a:latin typeface="Calibri"/>
                <a:cs typeface="Calibri"/>
              </a:rPr>
              <a:t> </a:t>
            </a:r>
            <a:r>
              <a:rPr sz="1550" b="1" dirty="0">
                <a:latin typeface="Calibri"/>
                <a:cs typeface="Calibri"/>
              </a:rPr>
              <a:t>state</a:t>
            </a:r>
            <a:r>
              <a:rPr sz="1550" b="1" spc="15" dirty="0">
                <a:latin typeface="Calibri"/>
                <a:cs typeface="Calibri"/>
              </a:rPr>
              <a:t> </a:t>
            </a:r>
            <a:r>
              <a:rPr sz="1550" b="1" dirty="0">
                <a:latin typeface="Calibri"/>
                <a:cs typeface="Calibri"/>
              </a:rPr>
              <a:t>_</a:t>
            </a:r>
            <a:r>
              <a:rPr sz="1550" b="1" spc="25" dirty="0">
                <a:latin typeface="Calibri"/>
                <a:cs typeface="Calibri"/>
              </a:rPr>
              <a:t> </a:t>
            </a:r>
            <a:r>
              <a:rPr sz="1550" b="1" dirty="0">
                <a:latin typeface="Calibri"/>
                <a:cs typeface="Calibri"/>
              </a:rPr>
              <a:t>next</a:t>
            </a:r>
            <a:r>
              <a:rPr sz="1550" b="1" spc="10" dirty="0">
                <a:latin typeface="Calibri"/>
                <a:cs typeface="Calibri"/>
              </a:rPr>
              <a:t> </a:t>
            </a:r>
            <a:r>
              <a:rPr sz="1550" b="1" dirty="0">
                <a:latin typeface="Calibri"/>
                <a:cs typeface="Calibri"/>
              </a:rPr>
              <a:t>=</a:t>
            </a:r>
            <a:r>
              <a:rPr sz="1550" b="1" spc="25" dirty="0">
                <a:latin typeface="Calibri"/>
                <a:cs typeface="Calibri"/>
              </a:rPr>
              <a:t> </a:t>
            </a:r>
            <a:r>
              <a:rPr sz="1550" b="1" dirty="0">
                <a:latin typeface="Calibri"/>
                <a:cs typeface="Calibri"/>
              </a:rPr>
              <a:t>s0</a:t>
            </a:r>
            <a:r>
              <a:rPr sz="1550" b="1" spc="15" dirty="0">
                <a:latin typeface="Calibri"/>
                <a:cs typeface="Calibri"/>
              </a:rPr>
              <a:t> </a:t>
            </a:r>
            <a:r>
              <a:rPr sz="1550" b="1" spc="-50" dirty="0">
                <a:latin typeface="Calibri"/>
                <a:cs typeface="Calibri"/>
              </a:rPr>
              <a:t>;</a:t>
            </a:r>
            <a:endParaRPr sz="1550">
              <a:latin typeface="Calibri"/>
              <a:cs typeface="Calibri"/>
            </a:endParaRPr>
          </a:p>
          <a:p>
            <a:pPr marL="346710">
              <a:lnSpc>
                <a:spcPct val="100000"/>
              </a:lnSpc>
              <a:spcBef>
                <a:spcPts val="80"/>
              </a:spcBef>
            </a:pPr>
            <a:r>
              <a:rPr sz="1550" b="1" dirty="0">
                <a:latin typeface="Arial"/>
                <a:cs typeface="Arial"/>
              </a:rPr>
              <a:t>default</a:t>
            </a:r>
            <a:r>
              <a:rPr sz="1550" b="1" spc="45" dirty="0">
                <a:latin typeface="Arial"/>
                <a:cs typeface="Arial"/>
              </a:rPr>
              <a:t> </a:t>
            </a:r>
            <a:r>
              <a:rPr sz="1550" dirty="0">
                <a:latin typeface="Arial"/>
                <a:cs typeface="Arial"/>
              </a:rPr>
              <a:t>:state_next</a:t>
            </a:r>
            <a:r>
              <a:rPr sz="1550" spc="50" dirty="0">
                <a:latin typeface="Arial"/>
                <a:cs typeface="Arial"/>
              </a:rPr>
              <a:t> </a:t>
            </a:r>
            <a:r>
              <a:rPr sz="1550" dirty="0">
                <a:latin typeface="Arial"/>
                <a:cs typeface="Arial"/>
              </a:rPr>
              <a:t>=</a:t>
            </a:r>
            <a:r>
              <a:rPr sz="1550" spc="50" dirty="0">
                <a:latin typeface="Arial"/>
                <a:cs typeface="Arial"/>
              </a:rPr>
              <a:t> </a:t>
            </a:r>
            <a:r>
              <a:rPr sz="1550" dirty="0">
                <a:latin typeface="Arial"/>
                <a:cs typeface="Arial"/>
              </a:rPr>
              <a:t>s0</a:t>
            </a:r>
            <a:r>
              <a:rPr sz="1550" spc="45" dirty="0">
                <a:latin typeface="Arial"/>
                <a:cs typeface="Arial"/>
              </a:rPr>
              <a:t> </a:t>
            </a:r>
            <a:r>
              <a:rPr sz="1550" spc="-50" dirty="0">
                <a:latin typeface="Arial"/>
                <a:cs typeface="Arial"/>
              </a:rPr>
              <a:t>;</a:t>
            </a:r>
            <a:endParaRPr sz="1550">
              <a:latin typeface="Arial"/>
              <a:cs typeface="Arial"/>
            </a:endParaRPr>
          </a:p>
          <a:p>
            <a:pPr marL="12700">
              <a:lnSpc>
                <a:spcPct val="100000"/>
              </a:lnSpc>
              <a:spcBef>
                <a:spcPts val="35"/>
              </a:spcBef>
            </a:pPr>
            <a:r>
              <a:rPr sz="1550" b="1" spc="-10" dirty="0">
                <a:latin typeface="Arial"/>
                <a:cs typeface="Arial"/>
              </a:rPr>
              <a:t>endcase</a:t>
            </a:r>
            <a:endParaRPr sz="1550">
              <a:latin typeface="Arial"/>
              <a:cs typeface="Arial"/>
            </a:endParaRPr>
          </a:p>
        </p:txBody>
      </p:sp>
      <p:sp>
        <p:nvSpPr>
          <p:cNvPr id="7" name="object 7"/>
          <p:cNvSpPr txBox="1"/>
          <p:nvPr/>
        </p:nvSpPr>
        <p:spPr>
          <a:xfrm>
            <a:off x="238640" y="2409682"/>
            <a:ext cx="1095375" cy="506730"/>
          </a:xfrm>
          <a:prstGeom prst="rect">
            <a:avLst/>
          </a:prstGeom>
        </p:spPr>
        <p:txBody>
          <a:bodyPr vert="horz" wrap="square" lIns="0" tIns="11430" rIns="0" bIns="0" rtlCol="0">
            <a:spAutoFit/>
          </a:bodyPr>
          <a:lstStyle/>
          <a:p>
            <a:pPr marL="12700" marR="5080" indent="111125">
              <a:lnSpc>
                <a:spcPct val="101899"/>
              </a:lnSpc>
              <a:spcBef>
                <a:spcPts val="90"/>
              </a:spcBef>
            </a:pPr>
            <a:r>
              <a:rPr sz="1550" b="1" spc="-25" dirty="0">
                <a:latin typeface="Arial"/>
                <a:cs typeface="Arial"/>
              </a:rPr>
              <a:t>end </a:t>
            </a:r>
            <a:r>
              <a:rPr sz="1550" b="1" spc="-10" dirty="0">
                <a:latin typeface="Arial"/>
                <a:cs typeface="Arial"/>
              </a:rPr>
              <a:t>endmodule</a:t>
            </a:r>
            <a:endParaRPr sz="1550">
              <a:latin typeface="Arial"/>
              <a:cs typeface="Arial"/>
            </a:endParaRPr>
          </a:p>
        </p:txBody>
      </p:sp>
      <p:pic>
        <p:nvPicPr>
          <p:cNvPr id="8" name="object 8"/>
          <p:cNvPicPr/>
          <p:nvPr/>
        </p:nvPicPr>
        <p:blipFill>
          <a:blip r:embed="rId2" cstate="print"/>
          <a:stretch>
            <a:fillRect/>
          </a:stretch>
        </p:blipFill>
        <p:spPr>
          <a:xfrm>
            <a:off x="1119438" y="3610203"/>
            <a:ext cx="2394166" cy="1971250"/>
          </a:xfrm>
          <a:prstGeom prst="rect">
            <a:avLst/>
          </a:prstGeom>
        </p:spPr>
      </p:pic>
      <p:sp>
        <p:nvSpPr>
          <p:cNvPr id="9" name="object 9"/>
          <p:cNvSpPr txBox="1"/>
          <p:nvPr/>
        </p:nvSpPr>
        <p:spPr>
          <a:xfrm>
            <a:off x="4902841" y="2276646"/>
            <a:ext cx="4647565" cy="2430780"/>
          </a:xfrm>
          <a:prstGeom prst="rect">
            <a:avLst/>
          </a:prstGeom>
        </p:spPr>
        <p:txBody>
          <a:bodyPr vert="horz" wrap="square" lIns="0" tIns="12700" rIns="0" bIns="0" rtlCol="0">
            <a:spAutoFit/>
          </a:bodyPr>
          <a:lstStyle/>
          <a:p>
            <a:pPr marL="12700" marR="19685">
              <a:lnSpc>
                <a:spcPct val="150300"/>
              </a:lnSpc>
              <a:spcBef>
                <a:spcPts val="100"/>
              </a:spcBef>
            </a:pPr>
            <a:r>
              <a:rPr sz="1750" spc="55" dirty="0">
                <a:latin typeface="宋体"/>
                <a:cs typeface="宋体"/>
              </a:rPr>
              <a:t>这种实现把次态逻辑单元和输出逻辑单元合并</a:t>
            </a:r>
            <a:r>
              <a:rPr sz="1750" spc="-10" dirty="0">
                <a:latin typeface="宋体"/>
                <a:cs typeface="宋体"/>
              </a:rPr>
              <a:t>成一个组合模块。</a:t>
            </a:r>
            <a:endParaRPr sz="1750">
              <a:latin typeface="宋体"/>
              <a:cs typeface="宋体"/>
            </a:endParaRPr>
          </a:p>
          <a:p>
            <a:pPr marL="12700" marR="5080" algn="just">
              <a:lnSpc>
                <a:spcPct val="150300"/>
              </a:lnSpc>
            </a:pPr>
            <a:r>
              <a:rPr sz="1750" spc="55" dirty="0">
                <a:latin typeface="宋体"/>
                <a:cs typeface="宋体"/>
              </a:rPr>
              <a:t>把次态逻辑单元和输出逻辑单元结合起来的部</a:t>
            </a:r>
            <a:r>
              <a:rPr sz="1750" spc="175" dirty="0">
                <a:latin typeface="宋体"/>
                <a:cs typeface="宋体"/>
              </a:rPr>
              <a:t>分代码和</a:t>
            </a:r>
            <a:r>
              <a:rPr sz="1750" spc="65" dirty="0">
                <a:latin typeface="Calibri"/>
                <a:cs typeface="Calibri"/>
              </a:rPr>
              <a:t>ASM</a:t>
            </a:r>
            <a:r>
              <a:rPr sz="1750" spc="175" dirty="0">
                <a:latin typeface="宋体"/>
                <a:cs typeface="宋体"/>
              </a:rPr>
              <a:t>图密切相关，当状态图或者是</a:t>
            </a:r>
            <a:r>
              <a:rPr sz="1750" spc="130" dirty="0">
                <a:latin typeface="宋体"/>
                <a:cs typeface="宋体"/>
              </a:rPr>
              <a:t> </a:t>
            </a:r>
            <a:r>
              <a:rPr sz="1750" dirty="0">
                <a:latin typeface="Calibri"/>
                <a:cs typeface="Calibri"/>
              </a:rPr>
              <a:t>ASM</a:t>
            </a:r>
            <a:r>
              <a:rPr sz="1750" spc="65" dirty="0">
                <a:latin typeface="宋体"/>
                <a:cs typeface="宋体"/>
              </a:rPr>
              <a:t>图已经分析出来时，把有限状态机转换为</a:t>
            </a:r>
            <a:r>
              <a:rPr sz="1750" spc="20" dirty="0">
                <a:latin typeface="宋体"/>
                <a:cs typeface="宋体"/>
              </a:rPr>
              <a:t> </a:t>
            </a:r>
            <a:r>
              <a:rPr sz="1750" dirty="0">
                <a:latin typeface="Calibri"/>
                <a:cs typeface="Calibri"/>
              </a:rPr>
              <a:t>HDL</a:t>
            </a:r>
            <a:r>
              <a:rPr sz="1750" spc="-5" dirty="0">
                <a:latin typeface="宋体"/>
                <a:cs typeface="宋体"/>
              </a:rPr>
              <a:t>代码就变得很轻松了。</a:t>
            </a:r>
            <a:endParaRPr sz="1750">
              <a:latin typeface="宋体"/>
              <a:cs typeface="宋体"/>
            </a:endParaRPr>
          </a:p>
        </p:txBody>
      </p:sp>
      <p:sp>
        <p:nvSpPr>
          <p:cNvPr id="10" name="object 10"/>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11" name="object 11"/>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22</a:t>
            </a:fld>
            <a:endParaRPr spc="-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6561" y="1247648"/>
            <a:ext cx="2522220" cy="453390"/>
          </a:xfrm>
          <a:prstGeom prst="rect">
            <a:avLst/>
          </a:prstGeom>
        </p:spPr>
        <p:txBody>
          <a:bodyPr vert="horz" wrap="square" lIns="0" tIns="13335" rIns="0" bIns="0" rtlCol="0">
            <a:spAutoFit/>
          </a:bodyPr>
          <a:lstStyle/>
          <a:p>
            <a:pPr marL="12700">
              <a:lnSpc>
                <a:spcPct val="100000"/>
              </a:lnSpc>
              <a:spcBef>
                <a:spcPts val="105"/>
              </a:spcBef>
            </a:pPr>
            <a:r>
              <a:rPr spc="-10" dirty="0"/>
              <a:t>状态机设计实例</a:t>
            </a:r>
          </a:p>
        </p:txBody>
      </p:sp>
      <p:sp>
        <p:nvSpPr>
          <p:cNvPr id="4" name="object 4"/>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5" name="object 5"/>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23</a:t>
            </a:fld>
            <a:endParaRPr spc="-25" dirty="0"/>
          </a:p>
        </p:txBody>
      </p:sp>
      <p:sp>
        <p:nvSpPr>
          <p:cNvPr id="3" name="object 3"/>
          <p:cNvSpPr txBox="1"/>
          <p:nvPr/>
        </p:nvSpPr>
        <p:spPr>
          <a:xfrm>
            <a:off x="757561" y="2149855"/>
            <a:ext cx="3408679" cy="2497455"/>
          </a:xfrm>
          <a:prstGeom prst="rect">
            <a:avLst/>
          </a:prstGeom>
        </p:spPr>
        <p:txBody>
          <a:bodyPr vert="horz" wrap="square" lIns="0" tIns="13335" rIns="0" bIns="0" rtlCol="0">
            <a:spAutoFit/>
          </a:bodyPr>
          <a:lstStyle/>
          <a:p>
            <a:pPr marL="244475" indent="-234950">
              <a:lnSpc>
                <a:spcPct val="100000"/>
              </a:lnSpc>
              <a:spcBef>
                <a:spcPts val="105"/>
              </a:spcBef>
              <a:buSzPct val="95918"/>
              <a:buFont typeface="Wingdings"/>
              <a:buChar char=""/>
              <a:tabLst>
                <a:tab pos="244475" algn="l"/>
              </a:tabLst>
            </a:pPr>
            <a:r>
              <a:rPr sz="2450" spc="-10" dirty="0">
                <a:latin typeface="微软雅黑"/>
                <a:cs typeface="微软雅黑"/>
              </a:rPr>
              <a:t>序列检测器设计</a:t>
            </a:r>
            <a:endParaRPr sz="2450">
              <a:latin typeface="微软雅黑"/>
              <a:cs typeface="微软雅黑"/>
            </a:endParaRPr>
          </a:p>
          <a:p>
            <a:pPr marL="613410" lvl="1" indent="-200025">
              <a:lnSpc>
                <a:spcPct val="100000"/>
              </a:lnSpc>
              <a:spcBef>
                <a:spcPts val="1545"/>
              </a:spcBef>
              <a:buChar char="•"/>
              <a:tabLst>
                <a:tab pos="613410" algn="l"/>
              </a:tabLst>
            </a:pPr>
            <a:r>
              <a:rPr sz="1400" spc="-10" dirty="0">
                <a:latin typeface="Arial"/>
                <a:cs typeface="Arial"/>
              </a:rPr>
              <a:t>Moore</a:t>
            </a:r>
            <a:r>
              <a:rPr sz="1400" spc="-10" dirty="0">
                <a:latin typeface="微软雅黑"/>
                <a:cs typeface="微软雅黑"/>
              </a:rPr>
              <a:t>状态机序列检测器</a:t>
            </a:r>
            <a:endParaRPr sz="1400">
              <a:latin typeface="微软雅黑"/>
              <a:cs typeface="微软雅黑"/>
            </a:endParaRPr>
          </a:p>
          <a:p>
            <a:pPr marL="613410" lvl="1" indent="-200025">
              <a:lnSpc>
                <a:spcPct val="100000"/>
              </a:lnSpc>
              <a:spcBef>
                <a:spcPts val="1285"/>
              </a:spcBef>
              <a:buChar char="•"/>
              <a:tabLst>
                <a:tab pos="613410" algn="l"/>
              </a:tabLst>
            </a:pPr>
            <a:r>
              <a:rPr sz="1400" spc="-10" dirty="0">
                <a:latin typeface="Arial"/>
                <a:cs typeface="Arial"/>
              </a:rPr>
              <a:t>Mealy</a:t>
            </a:r>
            <a:r>
              <a:rPr sz="1400" spc="-10" dirty="0">
                <a:latin typeface="微软雅黑"/>
                <a:cs typeface="微软雅黑"/>
              </a:rPr>
              <a:t>状态机序列检测器</a:t>
            </a:r>
            <a:endParaRPr sz="1400">
              <a:latin typeface="微软雅黑"/>
              <a:cs typeface="微软雅黑"/>
            </a:endParaRPr>
          </a:p>
          <a:p>
            <a:pPr marL="244475" indent="-234950">
              <a:lnSpc>
                <a:spcPct val="100000"/>
              </a:lnSpc>
              <a:spcBef>
                <a:spcPts val="2095"/>
              </a:spcBef>
              <a:buSzPct val="95918"/>
              <a:buFont typeface="Wingdings"/>
              <a:buChar char=""/>
              <a:tabLst>
                <a:tab pos="244475" algn="l"/>
              </a:tabLst>
            </a:pPr>
            <a:r>
              <a:rPr sz="2450" spc="-30" dirty="0">
                <a:latin typeface="Arial"/>
                <a:cs typeface="Arial"/>
              </a:rPr>
              <a:t>ADC</a:t>
            </a:r>
            <a:r>
              <a:rPr sz="2450" spc="-10" dirty="0">
                <a:latin typeface="微软雅黑"/>
                <a:cs typeface="微软雅黑"/>
              </a:rPr>
              <a:t>采样控制电路设计</a:t>
            </a:r>
            <a:endParaRPr sz="2450">
              <a:latin typeface="微软雅黑"/>
              <a:cs typeface="微软雅黑"/>
            </a:endParaRPr>
          </a:p>
          <a:p>
            <a:pPr marL="244475" indent="-234950">
              <a:lnSpc>
                <a:spcPct val="100000"/>
              </a:lnSpc>
              <a:spcBef>
                <a:spcPts val="2350"/>
              </a:spcBef>
              <a:buSzPct val="95918"/>
              <a:buFont typeface="Wingdings"/>
              <a:buChar char=""/>
              <a:tabLst>
                <a:tab pos="244475" algn="l"/>
              </a:tabLst>
            </a:pPr>
            <a:r>
              <a:rPr sz="2450" spc="-10" dirty="0">
                <a:latin typeface="微软雅黑"/>
                <a:cs typeface="微软雅黑"/>
              </a:rPr>
              <a:t>按键消抖电路设计</a:t>
            </a:r>
            <a:endParaRPr sz="2450">
              <a:latin typeface="微软雅黑"/>
              <a:cs typeface="微软雅黑"/>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4241" y="2018328"/>
            <a:ext cx="7390130" cy="3647440"/>
          </a:xfrm>
          <a:prstGeom prst="rect">
            <a:avLst/>
          </a:prstGeom>
        </p:spPr>
        <p:txBody>
          <a:bodyPr vert="horz" wrap="square" lIns="0" tIns="12700" rIns="0" bIns="0" rtlCol="0">
            <a:spAutoFit/>
          </a:bodyPr>
          <a:lstStyle/>
          <a:p>
            <a:pPr marL="768985" marR="367030" indent="451484" algn="just">
              <a:lnSpc>
                <a:spcPct val="150300"/>
              </a:lnSpc>
              <a:spcBef>
                <a:spcPts val="100"/>
              </a:spcBef>
            </a:pPr>
            <a:r>
              <a:rPr sz="1750" spc="65" dirty="0">
                <a:latin typeface="宋体"/>
                <a:cs typeface="宋体"/>
              </a:rPr>
              <a:t>序列检测器可用于检测一组或多组由二进制码组成的脉冲</a:t>
            </a:r>
            <a:r>
              <a:rPr sz="1750" spc="-5" dirty="0">
                <a:latin typeface="宋体"/>
                <a:cs typeface="宋体"/>
              </a:rPr>
              <a:t>序列信号，当序列检测器连续收到一组串行二进制码后，如果这</a:t>
            </a:r>
            <a:r>
              <a:rPr sz="1750" dirty="0">
                <a:latin typeface="宋体"/>
                <a:cs typeface="宋体"/>
              </a:rPr>
              <a:t>组码与检测器中预先设置的码相同，则输出</a:t>
            </a:r>
            <a:r>
              <a:rPr sz="1750" spc="-10" dirty="0">
                <a:latin typeface="Calibri"/>
                <a:cs typeface="Calibri"/>
              </a:rPr>
              <a:t>1</a:t>
            </a:r>
            <a:r>
              <a:rPr sz="1750" spc="-5" dirty="0">
                <a:latin typeface="宋体"/>
                <a:cs typeface="宋体"/>
              </a:rPr>
              <a:t>，否则输出</a:t>
            </a:r>
            <a:r>
              <a:rPr sz="1750" dirty="0">
                <a:latin typeface="Calibri"/>
                <a:cs typeface="Calibri"/>
              </a:rPr>
              <a:t>0</a:t>
            </a:r>
            <a:r>
              <a:rPr sz="1750" spc="-50" dirty="0">
                <a:latin typeface="宋体"/>
                <a:cs typeface="宋体"/>
              </a:rPr>
              <a:t>。</a:t>
            </a:r>
            <a:endParaRPr sz="1750">
              <a:latin typeface="宋体"/>
              <a:cs typeface="宋体"/>
            </a:endParaRPr>
          </a:p>
          <a:p>
            <a:pPr>
              <a:lnSpc>
                <a:spcPct val="100000"/>
              </a:lnSpc>
              <a:spcBef>
                <a:spcPts val="880"/>
              </a:spcBef>
            </a:pPr>
            <a:endParaRPr sz="1750">
              <a:latin typeface="宋体"/>
              <a:cs typeface="宋体"/>
            </a:endParaRPr>
          </a:p>
          <a:p>
            <a:pPr marL="768985" marR="367665" algn="just">
              <a:lnSpc>
                <a:spcPct val="150300"/>
              </a:lnSpc>
            </a:pPr>
            <a:r>
              <a:rPr sz="1750" b="1" spc="50" dirty="0">
                <a:latin typeface="宋体"/>
                <a:cs typeface="宋体"/>
              </a:rPr>
              <a:t>关键步骤</a:t>
            </a:r>
            <a:r>
              <a:rPr sz="1750" spc="60" dirty="0">
                <a:latin typeface="宋体"/>
                <a:cs typeface="宋体"/>
              </a:rPr>
              <a:t>：正确码的接收必须是连续的，要求检测器必须记住</a:t>
            </a:r>
            <a:r>
              <a:rPr sz="1750" spc="-5" dirty="0">
                <a:latin typeface="宋体"/>
                <a:cs typeface="宋体"/>
              </a:rPr>
              <a:t>前一次的正确码及正确序列，直到在连续的检测中所收到的每一位码都与预置数的对应码相同。</a:t>
            </a:r>
            <a:endParaRPr sz="1750">
              <a:latin typeface="宋体"/>
              <a:cs typeface="宋体"/>
            </a:endParaRPr>
          </a:p>
          <a:p>
            <a:pPr>
              <a:lnSpc>
                <a:spcPct val="100000"/>
              </a:lnSpc>
              <a:spcBef>
                <a:spcPts val="2050"/>
              </a:spcBef>
            </a:pPr>
            <a:endParaRPr sz="1750">
              <a:latin typeface="宋体"/>
              <a:cs typeface="宋体"/>
            </a:endParaRPr>
          </a:p>
          <a:p>
            <a:pPr marL="12700">
              <a:lnSpc>
                <a:spcPct val="100000"/>
              </a:lnSpc>
            </a:pPr>
            <a:r>
              <a:rPr sz="1750" dirty="0">
                <a:latin typeface="宋体"/>
                <a:cs typeface="宋体"/>
              </a:rPr>
              <a:t>我们利用</a:t>
            </a:r>
            <a:r>
              <a:rPr sz="1750" spc="-25" dirty="0">
                <a:latin typeface="Calibri"/>
                <a:cs typeface="Calibri"/>
              </a:rPr>
              <a:t>Moore</a:t>
            </a:r>
            <a:r>
              <a:rPr sz="1750" dirty="0">
                <a:latin typeface="宋体"/>
                <a:cs typeface="宋体"/>
              </a:rPr>
              <a:t>状态机和</a:t>
            </a:r>
            <a:r>
              <a:rPr sz="1750" spc="-10" dirty="0">
                <a:latin typeface="Calibri"/>
                <a:cs typeface="Calibri"/>
              </a:rPr>
              <a:t>Mealy</a:t>
            </a:r>
            <a:r>
              <a:rPr sz="1750" dirty="0">
                <a:latin typeface="宋体"/>
                <a:cs typeface="宋体"/>
              </a:rPr>
              <a:t>状态机来分别实现对输入序列数</a:t>
            </a:r>
            <a:r>
              <a:rPr sz="1750" spc="-10" dirty="0">
                <a:latin typeface="Calibri"/>
                <a:cs typeface="Calibri"/>
              </a:rPr>
              <a:t>"1101"</a:t>
            </a:r>
            <a:r>
              <a:rPr sz="1750" spc="-20" dirty="0">
                <a:latin typeface="宋体"/>
                <a:cs typeface="宋体"/>
              </a:rPr>
              <a:t>的检测</a:t>
            </a:r>
            <a:endParaRPr sz="1750">
              <a:latin typeface="宋体"/>
              <a:cs typeface="宋体"/>
            </a:endParaRPr>
          </a:p>
        </p:txBody>
      </p:sp>
      <p:sp>
        <p:nvSpPr>
          <p:cNvPr id="4" name="object 4"/>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5" name="object 5"/>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24</a:t>
            </a:fld>
            <a:endParaRPr spc="-25" dirty="0"/>
          </a:p>
        </p:txBody>
      </p:sp>
      <p:sp>
        <p:nvSpPr>
          <p:cNvPr id="3" name="object 3"/>
          <p:cNvSpPr txBox="1">
            <a:spLocks noGrp="1"/>
          </p:cNvSpPr>
          <p:nvPr>
            <p:ph type="title"/>
          </p:nvPr>
        </p:nvSpPr>
        <p:spPr>
          <a:xfrm>
            <a:off x="758323" y="1229360"/>
            <a:ext cx="2522220" cy="453390"/>
          </a:xfrm>
          <a:prstGeom prst="rect">
            <a:avLst/>
          </a:prstGeom>
        </p:spPr>
        <p:txBody>
          <a:bodyPr vert="horz" wrap="square" lIns="0" tIns="13335" rIns="0" bIns="0" rtlCol="0">
            <a:spAutoFit/>
          </a:bodyPr>
          <a:lstStyle/>
          <a:p>
            <a:pPr marL="12700">
              <a:lnSpc>
                <a:spcPct val="100000"/>
              </a:lnSpc>
              <a:spcBef>
                <a:spcPts val="105"/>
              </a:spcBef>
            </a:pPr>
            <a:r>
              <a:rPr spc="-10" dirty="0"/>
              <a:t>序列检测器设计</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91852" y="1387094"/>
            <a:ext cx="4340860" cy="399415"/>
          </a:xfrm>
          <a:prstGeom prst="rect">
            <a:avLst/>
          </a:prstGeom>
        </p:spPr>
        <p:txBody>
          <a:bodyPr vert="horz" wrap="square" lIns="0" tIns="13335" rIns="0" bIns="0" rtlCol="0">
            <a:spAutoFit/>
          </a:bodyPr>
          <a:lstStyle/>
          <a:p>
            <a:pPr marL="12700">
              <a:lnSpc>
                <a:spcPct val="100000"/>
              </a:lnSpc>
              <a:spcBef>
                <a:spcPts val="105"/>
              </a:spcBef>
            </a:pPr>
            <a:r>
              <a:rPr sz="2450" b="1" spc="-20" dirty="0">
                <a:latin typeface="Calibri"/>
                <a:cs typeface="Calibri"/>
              </a:rPr>
              <a:t>Moore</a:t>
            </a:r>
            <a:r>
              <a:rPr sz="2450" b="1" spc="-25" dirty="0">
                <a:latin typeface="宋体"/>
                <a:cs typeface="宋体"/>
              </a:rPr>
              <a:t>状态机序列检测器设计</a:t>
            </a:r>
            <a:r>
              <a:rPr sz="2450" b="1" spc="-25" dirty="0">
                <a:latin typeface="Calibri"/>
                <a:cs typeface="Calibri"/>
              </a:rPr>
              <a:t>_1</a:t>
            </a:r>
            <a:endParaRPr sz="2450">
              <a:latin typeface="Calibri"/>
              <a:cs typeface="Calibri"/>
            </a:endParaRPr>
          </a:p>
        </p:txBody>
      </p:sp>
      <p:sp>
        <p:nvSpPr>
          <p:cNvPr id="3" name="object 3"/>
          <p:cNvSpPr txBox="1"/>
          <p:nvPr/>
        </p:nvSpPr>
        <p:spPr>
          <a:xfrm>
            <a:off x="4116277" y="2098231"/>
            <a:ext cx="6040120" cy="4044950"/>
          </a:xfrm>
          <a:prstGeom prst="rect">
            <a:avLst/>
          </a:prstGeom>
        </p:spPr>
        <p:txBody>
          <a:bodyPr vert="horz" wrap="square" lIns="0" tIns="151765" rIns="0" bIns="0" rtlCol="0">
            <a:spAutoFit/>
          </a:bodyPr>
          <a:lstStyle/>
          <a:p>
            <a:pPr marL="12700">
              <a:lnSpc>
                <a:spcPct val="100000"/>
              </a:lnSpc>
              <a:spcBef>
                <a:spcPts val="1195"/>
              </a:spcBef>
            </a:pPr>
            <a:r>
              <a:rPr sz="1750" b="1" spc="-30" dirty="0">
                <a:latin typeface="宋体"/>
                <a:cs typeface="宋体"/>
              </a:rPr>
              <a:t>解题分析：</a:t>
            </a:r>
            <a:endParaRPr sz="1750">
              <a:latin typeface="宋体"/>
              <a:cs typeface="宋体"/>
            </a:endParaRPr>
          </a:p>
          <a:p>
            <a:pPr marL="12700" marR="5080">
              <a:lnSpc>
                <a:spcPct val="152600"/>
              </a:lnSpc>
              <a:spcBef>
                <a:spcPts val="40"/>
              </a:spcBef>
            </a:pPr>
            <a:r>
              <a:rPr sz="1550" dirty="0">
                <a:latin typeface="宋体"/>
                <a:cs typeface="宋体"/>
              </a:rPr>
              <a:t>如果现态是</a:t>
            </a:r>
            <a:r>
              <a:rPr sz="1550" dirty="0">
                <a:latin typeface="Calibri"/>
                <a:cs typeface="Calibri"/>
              </a:rPr>
              <a:t>s0</a:t>
            </a:r>
            <a:r>
              <a:rPr sz="1550" dirty="0">
                <a:latin typeface="宋体"/>
                <a:cs typeface="宋体"/>
              </a:rPr>
              <a:t>，输入为</a:t>
            </a:r>
            <a:r>
              <a:rPr sz="1550" dirty="0">
                <a:latin typeface="Calibri"/>
                <a:cs typeface="Calibri"/>
              </a:rPr>
              <a:t>0</a:t>
            </a:r>
            <a:r>
              <a:rPr sz="1550" dirty="0">
                <a:latin typeface="宋体"/>
                <a:cs typeface="宋体"/>
              </a:rPr>
              <a:t>，那么下一状态还是停留在</a:t>
            </a:r>
            <a:r>
              <a:rPr sz="1550" dirty="0">
                <a:latin typeface="Calibri"/>
                <a:cs typeface="Calibri"/>
              </a:rPr>
              <a:t>s0</a:t>
            </a:r>
            <a:r>
              <a:rPr sz="1550" dirty="0">
                <a:latin typeface="宋体"/>
                <a:cs typeface="宋体"/>
              </a:rPr>
              <a:t>；如果输入</a:t>
            </a:r>
            <a:r>
              <a:rPr sz="1550" spc="-25" dirty="0">
                <a:latin typeface="Calibri"/>
                <a:cs typeface="Calibri"/>
              </a:rPr>
              <a:t>1</a:t>
            </a:r>
            <a:r>
              <a:rPr sz="1550" spc="-25" dirty="0">
                <a:latin typeface="宋体"/>
                <a:cs typeface="宋体"/>
              </a:rPr>
              <a:t>，</a:t>
            </a:r>
            <a:r>
              <a:rPr sz="1550" dirty="0">
                <a:latin typeface="宋体"/>
                <a:cs typeface="宋体"/>
              </a:rPr>
              <a:t>则转移到状态</a:t>
            </a:r>
            <a:r>
              <a:rPr sz="1550" dirty="0">
                <a:latin typeface="Calibri"/>
                <a:cs typeface="Calibri"/>
              </a:rPr>
              <a:t>s1</a:t>
            </a:r>
            <a:r>
              <a:rPr sz="1550" spc="-50" dirty="0">
                <a:latin typeface="宋体"/>
                <a:cs typeface="宋体"/>
              </a:rPr>
              <a:t>。</a:t>
            </a:r>
            <a:endParaRPr sz="1550">
              <a:latin typeface="宋体"/>
              <a:cs typeface="宋体"/>
            </a:endParaRPr>
          </a:p>
          <a:p>
            <a:pPr marL="12700" marR="203200">
              <a:lnSpc>
                <a:spcPct val="152600"/>
              </a:lnSpc>
              <a:spcBef>
                <a:spcPts val="5"/>
              </a:spcBef>
            </a:pPr>
            <a:r>
              <a:rPr sz="1550" dirty="0">
                <a:latin typeface="宋体"/>
                <a:cs typeface="宋体"/>
              </a:rPr>
              <a:t>在状态</a:t>
            </a:r>
            <a:r>
              <a:rPr sz="1550" dirty="0">
                <a:latin typeface="Calibri"/>
                <a:cs typeface="Calibri"/>
              </a:rPr>
              <a:t>s1</a:t>
            </a:r>
            <a:r>
              <a:rPr sz="1550" dirty="0">
                <a:latin typeface="宋体"/>
                <a:cs typeface="宋体"/>
              </a:rPr>
              <a:t>，如果输入为</a:t>
            </a:r>
            <a:r>
              <a:rPr sz="1550" dirty="0">
                <a:latin typeface="Calibri"/>
                <a:cs typeface="Calibri"/>
              </a:rPr>
              <a:t>0</a:t>
            </a:r>
            <a:r>
              <a:rPr sz="1550" dirty="0">
                <a:latin typeface="宋体"/>
                <a:cs typeface="宋体"/>
              </a:rPr>
              <a:t>，则回到状态</a:t>
            </a:r>
            <a:r>
              <a:rPr sz="1550" dirty="0">
                <a:latin typeface="Calibri"/>
                <a:cs typeface="Calibri"/>
              </a:rPr>
              <a:t>s0</a:t>
            </a:r>
            <a:r>
              <a:rPr sz="1550" dirty="0">
                <a:latin typeface="宋体"/>
                <a:cs typeface="宋体"/>
              </a:rPr>
              <a:t>；如果输入为</a:t>
            </a:r>
            <a:r>
              <a:rPr sz="1550" dirty="0">
                <a:latin typeface="Calibri"/>
                <a:cs typeface="Calibri"/>
              </a:rPr>
              <a:t>1</a:t>
            </a:r>
            <a:r>
              <a:rPr sz="1550" spc="-10" dirty="0">
                <a:latin typeface="宋体"/>
                <a:cs typeface="宋体"/>
              </a:rPr>
              <a:t>，那么就转</a:t>
            </a:r>
            <a:r>
              <a:rPr sz="1550" dirty="0">
                <a:latin typeface="宋体"/>
                <a:cs typeface="宋体"/>
              </a:rPr>
              <a:t>移到</a:t>
            </a:r>
            <a:r>
              <a:rPr sz="1550" dirty="0">
                <a:latin typeface="Calibri"/>
                <a:cs typeface="Calibri"/>
              </a:rPr>
              <a:t>s2</a:t>
            </a:r>
            <a:r>
              <a:rPr sz="1550" spc="-50" dirty="0">
                <a:latin typeface="宋体"/>
                <a:cs typeface="宋体"/>
              </a:rPr>
              <a:t>。</a:t>
            </a:r>
            <a:endParaRPr sz="1550">
              <a:latin typeface="宋体"/>
              <a:cs typeface="宋体"/>
            </a:endParaRPr>
          </a:p>
          <a:p>
            <a:pPr marL="12700" marR="203200">
              <a:lnSpc>
                <a:spcPct val="152600"/>
              </a:lnSpc>
              <a:spcBef>
                <a:spcPts val="5"/>
              </a:spcBef>
            </a:pPr>
            <a:r>
              <a:rPr sz="1550" dirty="0">
                <a:latin typeface="宋体"/>
                <a:cs typeface="宋体"/>
              </a:rPr>
              <a:t>在</a:t>
            </a:r>
            <a:r>
              <a:rPr sz="1550" dirty="0">
                <a:latin typeface="Calibri"/>
                <a:cs typeface="Calibri"/>
              </a:rPr>
              <a:t>s2</a:t>
            </a:r>
            <a:r>
              <a:rPr sz="1550" dirty="0">
                <a:latin typeface="宋体"/>
                <a:cs typeface="宋体"/>
              </a:rPr>
              <a:t>状态，如果输入为</a:t>
            </a:r>
            <a:r>
              <a:rPr sz="1550" dirty="0">
                <a:latin typeface="Calibri"/>
                <a:cs typeface="Calibri"/>
              </a:rPr>
              <a:t>1</a:t>
            </a:r>
            <a:r>
              <a:rPr sz="1550" dirty="0">
                <a:latin typeface="宋体"/>
                <a:cs typeface="宋体"/>
              </a:rPr>
              <a:t>，则停留在状态</a:t>
            </a:r>
            <a:r>
              <a:rPr sz="1550" dirty="0">
                <a:latin typeface="Calibri"/>
                <a:cs typeface="Calibri"/>
              </a:rPr>
              <a:t>s2</a:t>
            </a:r>
            <a:r>
              <a:rPr sz="1550" dirty="0">
                <a:latin typeface="宋体"/>
                <a:cs typeface="宋体"/>
              </a:rPr>
              <a:t>；如果输入为</a:t>
            </a:r>
            <a:r>
              <a:rPr sz="1550" dirty="0">
                <a:latin typeface="Calibri"/>
                <a:cs typeface="Calibri"/>
              </a:rPr>
              <a:t>0</a:t>
            </a:r>
            <a:r>
              <a:rPr sz="1550" spc="-15" dirty="0">
                <a:latin typeface="宋体"/>
                <a:cs typeface="宋体"/>
              </a:rPr>
              <a:t>，那么下</a:t>
            </a:r>
            <a:r>
              <a:rPr sz="1550" dirty="0">
                <a:latin typeface="宋体"/>
                <a:cs typeface="宋体"/>
              </a:rPr>
              <a:t>一状态为</a:t>
            </a:r>
            <a:r>
              <a:rPr sz="1550" dirty="0">
                <a:latin typeface="Calibri"/>
                <a:cs typeface="Calibri"/>
              </a:rPr>
              <a:t>s3</a:t>
            </a:r>
            <a:r>
              <a:rPr sz="1550" spc="-50" dirty="0">
                <a:latin typeface="宋体"/>
                <a:cs typeface="宋体"/>
              </a:rPr>
              <a:t>。</a:t>
            </a:r>
            <a:endParaRPr sz="1550">
              <a:latin typeface="宋体"/>
              <a:cs typeface="宋体"/>
            </a:endParaRPr>
          </a:p>
          <a:p>
            <a:pPr marL="12700" marR="5080">
              <a:lnSpc>
                <a:spcPts val="2840"/>
              </a:lnSpc>
              <a:spcBef>
                <a:spcPts val="254"/>
              </a:spcBef>
            </a:pPr>
            <a:r>
              <a:rPr sz="1550" spc="50" dirty="0">
                <a:latin typeface="宋体"/>
                <a:cs typeface="宋体"/>
              </a:rPr>
              <a:t>在</a:t>
            </a:r>
            <a:r>
              <a:rPr sz="1550" dirty="0">
                <a:latin typeface="Calibri"/>
                <a:cs typeface="Calibri"/>
              </a:rPr>
              <a:t>s3</a:t>
            </a:r>
            <a:r>
              <a:rPr sz="1550" spc="50" dirty="0">
                <a:latin typeface="宋体"/>
                <a:cs typeface="宋体"/>
              </a:rPr>
              <a:t>状态，如果输入为</a:t>
            </a:r>
            <a:r>
              <a:rPr sz="1550" dirty="0">
                <a:latin typeface="Calibri"/>
                <a:cs typeface="Calibri"/>
              </a:rPr>
              <a:t>1</a:t>
            </a:r>
            <a:r>
              <a:rPr sz="1550" spc="35" dirty="0">
                <a:latin typeface="宋体"/>
                <a:cs typeface="宋体"/>
              </a:rPr>
              <a:t>，则转移到状态</a:t>
            </a:r>
            <a:r>
              <a:rPr sz="1550" dirty="0">
                <a:latin typeface="Calibri"/>
                <a:cs typeface="Calibri"/>
              </a:rPr>
              <a:t>s4</a:t>
            </a:r>
            <a:r>
              <a:rPr sz="1550" spc="30" dirty="0">
                <a:latin typeface="宋体"/>
                <a:cs typeface="宋体"/>
              </a:rPr>
              <a:t>，输出</a:t>
            </a:r>
            <a:r>
              <a:rPr sz="1550" dirty="0">
                <a:latin typeface="Calibri"/>
                <a:cs typeface="Calibri"/>
              </a:rPr>
              <a:t>1</a:t>
            </a:r>
            <a:r>
              <a:rPr sz="1550" spc="35" dirty="0">
                <a:latin typeface="宋体"/>
                <a:cs typeface="宋体"/>
              </a:rPr>
              <a:t>；如果输入为</a:t>
            </a:r>
            <a:r>
              <a:rPr sz="1550" spc="-25" dirty="0">
                <a:latin typeface="Calibri"/>
                <a:cs typeface="Calibri"/>
              </a:rPr>
              <a:t>0</a:t>
            </a:r>
            <a:r>
              <a:rPr sz="1550" spc="-25" dirty="0">
                <a:latin typeface="宋体"/>
                <a:cs typeface="宋体"/>
              </a:rPr>
              <a:t>，</a:t>
            </a:r>
            <a:r>
              <a:rPr sz="1550" dirty="0">
                <a:latin typeface="宋体"/>
                <a:cs typeface="宋体"/>
              </a:rPr>
              <a:t>则返回状态</a:t>
            </a:r>
            <a:r>
              <a:rPr sz="1550" dirty="0">
                <a:latin typeface="Calibri"/>
                <a:cs typeface="Calibri"/>
              </a:rPr>
              <a:t>s0</a:t>
            </a:r>
            <a:r>
              <a:rPr sz="1550" spc="-50" dirty="0">
                <a:latin typeface="宋体"/>
                <a:cs typeface="宋体"/>
              </a:rPr>
              <a:t>。</a:t>
            </a:r>
            <a:endParaRPr sz="1550">
              <a:latin typeface="宋体"/>
              <a:cs typeface="宋体"/>
            </a:endParaRPr>
          </a:p>
          <a:p>
            <a:pPr marL="12700" marR="203200">
              <a:lnSpc>
                <a:spcPts val="2840"/>
              </a:lnSpc>
            </a:pPr>
            <a:r>
              <a:rPr sz="1550" dirty="0">
                <a:latin typeface="宋体"/>
                <a:cs typeface="宋体"/>
              </a:rPr>
              <a:t>在</a:t>
            </a:r>
            <a:r>
              <a:rPr sz="1550" dirty="0">
                <a:latin typeface="Calibri"/>
                <a:cs typeface="Calibri"/>
              </a:rPr>
              <a:t>s4</a:t>
            </a:r>
            <a:r>
              <a:rPr sz="1550" dirty="0">
                <a:latin typeface="宋体"/>
                <a:cs typeface="宋体"/>
              </a:rPr>
              <a:t>状态，如果输入为</a:t>
            </a:r>
            <a:r>
              <a:rPr sz="1550" dirty="0">
                <a:latin typeface="Calibri"/>
                <a:cs typeface="Calibri"/>
              </a:rPr>
              <a:t>0</a:t>
            </a:r>
            <a:r>
              <a:rPr sz="1550" dirty="0">
                <a:latin typeface="宋体"/>
                <a:cs typeface="宋体"/>
              </a:rPr>
              <a:t>，回到初始状态</a:t>
            </a:r>
            <a:r>
              <a:rPr sz="1550" dirty="0">
                <a:latin typeface="Calibri"/>
                <a:cs typeface="Calibri"/>
              </a:rPr>
              <a:t>s0</a:t>
            </a:r>
            <a:r>
              <a:rPr sz="1550" dirty="0">
                <a:latin typeface="宋体"/>
                <a:cs typeface="宋体"/>
              </a:rPr>
              <a:t>；如果输入为</a:t>
            </a:r>
            <a:r>
              <a:rPr sz="1550" dirty="0">
                <a:latin typeface="Calibri"/>
                <a:cs typeface="Calibri"/>
              </a:rPr>
              <a:t>1</a:t>
            </a:r>
            <a:r>
              <a:rPr sz="1550" spc="-15" dirty="0">
                <a:latin typeface="宋体"/>
                <a:cs typeface="宋体"/>
              </a:rPr>
              <a:t>，下一状</a:t>
            </a:r>
            <a:r>
              <a:rPr sz="1550" dirty="0">
                <a:latin typeface="宋体"/>
                <a:cs typeface="宋体"/>
              </a:rPr>
              <a:t>态为</a:t>
            </a:r>
            <a:r>
              <a:rPr sz="1550" dirty="0">
                <a:latin typeface="Calibri"/>
                <a:cs typeface="Calibri"/>
              </a:rPr>
              <a:t>s1</a:t>
            </a:r>
            <a:r>
              <a:rPr sz="1550" spc="-50" dirty="0">
                <a:latin typeface="宋体"/>
                <a:cs typeface="宋体"/>
              </a:rPr>
              <a:t>。</a:t>
            </a:r>
            <a:endParaRPr sz="1550">
              <a:latin typeface="宋体"/>
              <a:cs typeface="宋体"/>
            </a:endParaRPr>
          </a:p>
        </p:txBody>
      </p:sp>
      <p:sp>
        <p:nvSpPr>
          <p:cNvPr id="4" name="object 4"/>
          <p:cNvSpPr/>
          <p:nvPr/>
        </p:nvSpPr>
        <p:spPr>
          <a:xfrm>
            <a:off x="368693" y="3244595"/>
            <a:ext cx="2390140" cy="2113280"/>
          </a:xfrm>
          <a:custGeom>
            <a:avLst/>
            <a:gdLst/>
            <a:ahLst/>
            <a:cxnLst/>
            <a:rect l="l" t="t" r="r" b="b"/>
            <a:pathLst>
              <a:path w="2390140" h="2113279">
                <a:moveTo>
                  <a:pt x="2389632" y="2111502"/>
                </a:moveTo>
                <a:lnTo>
                  <a:pt x="2389632" y="1523"/>
                </a:lnTo>
                <a:lnTo>
                  <a:pt x="2387346" y="0"/>
                </a:lnTo>
                <a:lnTo>
                  <a:pt x="1523" y="0"/>
                </a:lnTo>
                <a:lnTo>
                  <a:pt x="0" y="1524"/>
                </a:lnTo>
                <a:lnTo>
                  <a:pt x="0" y="2111502"/>
                </a:lnTo>
                <a:lnTo>
                  <a:pt x="1524" y="2113026"/>
                </a:lnTo>
                <a:lnTo>
                  <a:pt x="3810" y="2113026"/>
                </a:lnTo>
                <a:lnTo>
                  <a:pt x="3810" y="8382"/>
                </a:lnTo>
                <a:lnTo>
                  <a:pt x="8381" y="3810"/>
                </a:lnTo>
                <a:lnTo>
                  <a:pt x="8381" y="8382"/>
                </a:lnTo>
                <a:lnTo>
                  <a:pt x="2381250" y="8381"/>
                </a:lnTo>
                <a:lnTo>
                  <a:pt x="2381250" y="3809"/>
                </a:lnTo>
                <a:lnTo>
                  <a:pt x="2385060" y="8381"/>
                </a:lnTo>
                <a:lnTo>
                  <a:pt x="2385060" y="2113026"/>
                </a:lnTo>
                <a:lnTo>
                  <a:pt x="2387346" y="2113026"/>
                </a:lnTo>
                <a:lnTo>
                  <a:pt x="2389632" y="2111502"/>
                </a:lnTo>
                <a:close/>
              </a:path>
              <a:path w="2390140" h="2113279">
                <a:moveTo>
                  <a:pt x="8381" y="8382"/>
                </a:moveTo>
                <a:lnTo>
                  <a:pt x="8381" y="3810"/>
                </a:lnTo>
                <a:lnTo>
                  <a:pt x="3810" y="8382"/>
                </a:lnTo>
                <a:lnTo>
                  <a:pt x="8381" y="8382"/>
                </a:lnTo>
                <a:close/>
              </a:path>
              <a:path w="2390140" h="2113279">
                <a:moveTo>
                  <a:pt x="8382" y="2104644"/>
                </a:moveTo>
                <a:lnTo>
                  <a:pt x="8381" y="8382"/>
                </a:lnTo>
                <a:lnTo>
                  <a:pt x="3810" y="8382"/>
                </a:lnTo>
                <a:lnTo>
                  <a:pt x="3810" y="2104644"/>
                </a:lnTo>
                <a:lnTo>
                  <a:pt x="8382" y="2104644"/>
                </a:lnTo>
                <a:close/>
              </a:path>
              <a:path w="2390140" h="2113279">
                <a:moveTo>
                  <a:pt x="2385060" y="2104644"/>
                </a:moveTo>
                <a:lnTo>
                  <a:pt x="3810" y="2104644"/>
                </a:lnTo>
                <a:lnTo>
                  <a:pt x="8382" y="2109216"/>
                </a:lnTo>
                <a:lnTo>
                  <a:pt x="8382" y="2113026"/>
                </a:lnTo>
                <a:lnTo>
                  <a:pt x="2381250" y="2113026"/>
                </a:lnTo>
                <a:lnTo>
                  <a:pt x="2381250" y="2109216"/>
                </a:lnTo>
                <a:lnTo>
                  <a:pt x="2385060" y="2104644"/>
                </a:lnTo>
                <a:close/>
              </a:path>
              <a:path w="2390140" h="2113279">
                <a:moveTo>
                  <a:pt x="8382" y="2113026"/>
                </a:moveTo>
                <a:lnTo>
                  <a:pt x="8382" y="2109216"/>
                </a:lnTo>
                <a:lnTo>
                  <a:pt x="3810" y="2104644"/>
                </a:lnTo>
                <a:lnTo>
                  <a:pt x="3810" y="2113026"/>
                </a:lnTo>
                <a:lnTo>
                  <a:pt x="8382" y="2113026"/>
                </a:lnTo>
                <a:close/>
              </a:path>
              <a:path w="2390140" h="2113279">
                <a:moveTo>
                  <a:pt x="2385060" y="8381"/>
                </a:moveTo>
                <a:lnTo>
                  <a:pt x="2381250" y="3809"/>
                </a:lnTo>
                <a:lnTo>
                  <a:pt x="2381250" y="8381"/>
                </a:lnTo>
                <a:lnTo>
                  <a:pt x="2385060" y="8381"/>
                </a:lnTo>
                <a:close/>
              </a:path>
              <a:path w="2390140" h="2113279">
                <a:moveTo>
                  <a:pt x="2385060" y="2104644"/>
                </a:moveTo>
                <a:lnTo>
                  <a:pt x="2385060" y="8381"/>
                </a:lnTo>
                <a:lnTo>
                  <a:pt x="2381250" y="8381"/>
                </a:lnTo>
                <a:lnTo>
                  <a:pt x="2381250" y="2104644"/>
                </a:lnTo>
                <a:lnTo>
                  <a:pt x="2385060" y="2104644"/>
                </a:lnTo>
                <a:close/>
              </a:path>
              <a:path w="2390140" h="2113279">
                <a:moveTo>
                  <a:pt x="2385060" y="2113026"/>
                </a:moveTo>
                <a:lnTo>
                  <a:pt x="2385060" y="2104644"/>
                </a:lnTo>
                <a:lnTo>
                  <a:pt x="2381250" y="2109216"/>
                </a:lnTo>
                <a:lnTo>
                  <a:pt x="2381250" y="2113026"/>
                </a:lnTo>
                <a:lnTo>
                  <a:pt x="2385060" y="2113026"/>
                </a:lnTo>
                <a:close/>
              </a:path>
            </a:pathLst>
          </a:custGeom>
          <a:solidFill>
            <a:srgbClr val="008BA7"/>
          </a:solidFill>
        </p:spPr>
        <p:txBody>
          <a:bodyPr wrap="square" lIns="0" tIns="0" rIns="0" bIns="0" rtlCol="0"/>
          <a:lstStyle/>
          <a:p>
            <a:endParaRPr/>
          </a:p>
        </p:txBody>
      </p:sp>
      <p:sp>
        <p:nvSpPr>
          <p:cNvPr id="5" name="object 5"/>
          <p:cNvSpPr txBox="1"/>
          <p:nvPr/>
        </p:nvSpPr>
        <p:spPr>
          <a:xfrm>
            <a:off x="685171" y="3220002"/>
            <a:ext cx="1879600" cy="2030095"/>
          </a:xfrm>
          <a:prstGeom prst="rect">
            <a:avLst/>
          </a:prstGeom>
        </p:spPr>
        <p:txBody>
          <a:bodyPr vert="horz" wrap="square" lIns="0" tIns="12700" rIns="0" bIns="0" rtlCol="0">
            <a:spAutoFit/>
          </a:bodyPr>
          <a:lstStyle/>
          <a:p>
            <a:pPr marL="12700" marR="5080">
              <a:lnSpc>
                <a:spcPct val="150300"/>
              </a:lnSpc>
              <a:spcBef>
                <a:spcPts val="100"/>
              </a:spcBef>
            </a:pPr>
            <a:r>
              <a:rPr sz="1750" spc="-20" dirty="0">
                <a:latin typeface="Arial"/>
                <a:cs typeface="Arial"/>
              </a:rPr>
              <a:t>s0:</a:t>
            </a:r>
            <a:r>
              <a:rPr sz="1750" dirty="0">
                <a:latin typeface="微软雅黑"/>
                <a:cs typeface="微软雅黑"/>
              </a:rPr>
              <a:t>未检测到</a:t>
            </a:r>
            <a:r>
              <a:rPr sz="1750" spc="-10" dirty="0">
                <a:latin typeface="Arial"/>
                <a:cs typeface="Arial"/>
              </a:rPr>
              <a:t>‘1’</a:t>
            </a:r>
            <a:r>
              <a:rPr sz="1750" spc="-25" dirty="0">
                <a:latin typeface="微软雅黑"/>
                <a:cs typeface="微软雅黑"/>
              </a:rPr>
              <a:t>输入</a:t>
            </a:r>
            <a:r>
              <a:rPr sz="1750" spc="-50" dirty="0">
                <a:latin typeface="微软雅黑"/>
                <a:cs typeface="微软雅黑"/>
              </a:rPr>
              <a:t> </a:t>
            </a:r>
            <a:r>
              <a:rPr sz="1750" spc="-20" dirty="0">
                <a:latin typeface="Arial"/>
                <a:cs typeface="Arial"/>
              </a:rPr>
              <a:t>s1:</a:t>
            </a:r>
            <a:r>
              <a:rPr sz="1750" dirty="0">
                <a:latin typeface="微软雅黑"/>
                <a:cs typeface="微软雅黑"/>
              </a:rPr>
              <a:t>收到</a:t>
            </a:r>
            <a:r>
              <a:rPr sz="1750" spc="-25" dirty="0">
                <a:latin typeface="Arial"/>
                <a:cs typeface="Arial"/>
              </a:rPr>
              <a:t>‘1’</a:t>
            </a:r>
            <a:endParaRPr sz="1750">
              <a:latin typeface="Arial"/>
              <a:cs typeface="Arial"/>
            </a:endParaRPr>
          </a:p>
          <a:p>
            <a:pPr marL="12700" marR="590550">
              <a:lnSpc>
                <a:spcPct val="150300"/>
              </a:lnSpc>
            </a:pPr>
            <a:r>
              <a:rPr sz="1750" spc="-20" dirty="0">
                <a:latin typeface="Arial"/>
                <a:cs typeface="Arial"/>
              </a:rPr>
              <a:t>s2:</a:t>
            </a:r>
            <a:r>
              <a:rPr sz="1750" dirty="0">
                <a:latin typeface="微软雅黑"/>
                <a:cs typeface="微软雅黑"/>
              </a:rPr>
              <a:t>收到</a:t>
            </a:r>
            <a:r>
              <a:rPr sz="1750" spc="-20" dirty="0">
                <a:latin typeface="Arial"/>
                <a:cs typeface="Arial"/>
              </a:rPr>
              <a:t>’11‘ s3:</a:t>
            </a:r>
            <a:r>
              <a:rPr sz="1750" dirty="0">
                <a:latin typeface="微软雅黑"/>
                <a:cs typeface="微软雅黑"/>
              </a:rPr>
              <a:t>收到</a:t>
            </a:r>
            <a:r>
              <a:rPr sz="1750" spc="-10" dirty="0">
                <a:latin typeface="Arial"/>
                <a:cs typeface="Arial"/>
              </a:rPr>
              <a:t>‘110’ </a:t>
            </a:r>
            <a:r>
              <a:rPr sz="1750" spc="-20" dirty="0">
                <a:latin typeface="Arial"/>
                <a:cs typeface="Arial"/>
              </a:rPr>
              <a:t>s4:</a:t>
            </a:r>
            <a:r>
              <a:rPr sz="1750" dirty="0">
                <a:latin typeface="微软雅黑"/>
                <a:cs typeface="微软雅黑"/>
              </a:rPr>
              <a:t>收到</a:t>
            </a:r>
            <a:r>
              <a:rPr sz="1750" spc="-35" dirty="0">
                <a:latin typeface="Arial"/>
                <a:cs typeface="Arial"/>
              </a:rPr>
              <a:t>‘1101</a:t>
            </a:r>
            <a:endParaRPr sz="1750">
              <a:latin typeface="Arial"/>
              <a:cs typeface="Arial"/>
            </a:endParaRPr>
          </a:p>
        </p:txBody>
      </p:sp>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8" name="object 8"/>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25</a:t>
            </a:fld>
            <a:endParaRPr spc="-25" dirty="0"/>
          </a:p>
        </p:txBody>
      </p:sp>
      <p:sp>
        <p:nvSpPr>
          <p:cNvPr id="6" name="object 6"/>
          <p:cNvSpPr txBox="1"/>
          <p:nvPr/>
        </p:nvSpPr>
        <p:spPr>
          <a:xfrm>
            <a:off x="543439" y="2325116"/>
            <a:ext cx="1630680" cy="346710"/>
          </a:xfrm>
          <a:prstGeom prst="rect">
            <a:avLst/>
          </a:prstGeom>
        </p:spPr>
        <p:txBody>
          <a:bodyPr vert="horz" wrap="square" lIns="0" tIns="13335" rIns="0" bIns="0" rtlCol="0">
            <a:spAutoFit/>
          </a:bodyPr>
          <a:lstStyle/>
          <a:p>
            <a:pPr marL="12700">
              <a:lnSpc>
                <a:spcPct val="100000"/>
              </a:lnSpc>
              <a:spcBef>
                <a:spcPts val="105"/>
              </a:spcBef>
            </a:pPr>
            <a:r>
              <a:rPr sz="2100" spc="-10" dirty="0">
                <a:latin typeface="微软雅黑"/>
                <a:cs typeface="微软雅黑"/>
              </a:rPr>
              <a:t>定义以下状态</a:t>
            </a:r>
            <a:endParaRPr sz="2100">
              <a:latin typeface="微软雅黑"/>
              <a:cs typeface="微软雅黑"/>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92614" y="1387856"/>
            <a:ext cx="4340860" cy="399415"/>
          </a:xfrm>
          <a:prstGeom prst="rect">
            <a:avLst/>
          </a:prstGeom>
        </p:spPr>
        <p:txBody>
          <a:bodyPr vert="horz" wrap="square" lIns="0" tIns="13335" rIns="0" bIns="0" rtlCol="0">
            <a:spAutoFit/>
          </a:bodyPr>
          <a:lstStyle/>
          <a:p>
            <a:pPr marL="12700">
              <a:lnSpc>
                <a:spcPct val="100000"/>
              </a:lnSpc>
              <a:spcBef>
                <a:spcPts val="105"/>
              </a:spcBef>
            </a:pPr>
            <a:r>
              <a:rPr sz="2450" b="1" spc="-20" dirty="0">
                <a:latin typeface="Calibri"/>
                <a:cs typeface="Calibri"/>
              </a:rPr>
              <a:t>Moore</a:t>
            </a:r>
            <a:r>
              <a:rPr sz="2450" b="1" spc="-25" dirty="0">
                <a:latin typeface="宋体"/>
                <a:cs typeface="宋体"/>
              </a:rPr>
              <a:t>状态机序列检测器设计</a:t>
            </a:r>
            <a:r>
              <a:rPr sz="2450" b="1" spc="-25" dirty="0">
                <a:latin typeface="Calibri"/>
                <a:cs typeface="Calibri"/>
              </a:rPr>
              <a:t>_2</a:t>
            </a:r>
            <a:endParaRPr sz="2450">
              <a:latin typeface="Calibri"/>
              <a:cs typeface="Calibri"/>
            </a:endParaRPr>
          </a:p>
        </p:txBody>
      </p:sp>
      <p:sp>
        <p:nvSpPr>
          <p:cNvPr id="3" name="object 3"/>
          <p:cNvSpPr txBox="1"/>
          <p:nvPr/>
        </p:nvSpPr>
        <p:spPr>
          <a:xfrm>
            <a:off x="1025785" y="2267966"/>
            <a:ext cx="1630680" cy="346710"/>
          </a:xfrm>
          <a:prstGeom prst="rect">
            <a:avLst/>
          </a:prstGeom>
        </p:spPr>
        <p:txBody>
          <a:bodyPr vert="horz" wrap="square" lIns="0" tIns="13335" rIns="0" bIns="0" rtlCol="0">
            <a:spAutoFit/>
          </a:bodyPr>
          <a:lstStyle/>
          <a:p>
            <a:pPr marL="12700">
              <a:lnSpc>
                <a:spcPct val="100000"/>
              </a:lnSpc>
              <a:spcBef>
                <a:spcPts val="105"/>
              </a:spcBef>
            </a:pPr>
            <a:r>
              <a:rPr sz="2100" spc="-10" dirty="0">
                <a:latin typeface="微软雅黑"/>
                <a:cs typeface="微软雅黑"/>
              </a:rPr>
              <a:t>状态转移图：</a:t>
            </a:r>
            <a:endParaRPr sz="2100">
              <a:latin typeface="微软雅黑"/>
              <a:cs typeface="微软雅黑"/>
            </a:endParaRPr>
          </a:p>
        </p:txBody>
      </p:sp>
      <p:pic>
        <p:nvPicPr>
          <p:cNvPr id="4" name="object 4"/>
          <p:cNvPicPr/>
          <p:nvPr/>
        </p:nvPicPr>
        <p:blipFill>
          <a:blip r:embed="rId2" cstate="print"/>
          <a:stretch>
            <a:fillRect/>
          </a:stretch>
        </p:blipFill>
        <p:spPr>
          <a:xfrm>
            <a:off x="1403" y="3032760"/>
            <a:ext cx="7527797" cy="2552700"/>
          </a:xfrm>
          <a:prstGeom prst="rect">
            <a:avLst/>
          </a:prstGeom>
        </p:spPr>
      </p:pic>
      <p:sp>
        <p:nvSpPr>
          <p:cNvPr id="5" name="object 5"/>
          <p:cNvSpPr/>
          <p:nvPr/>
        </p:nvSpPr>
        <p:spPr>
          <a:xfrm>
            <a:off x="7684655" y="2549651"/>
            <a:ext cx="2570480" cy="2784475"/>
          </a:xfrm>
          <a:custGeom>
            <a:avLst/>
            <a:gdLst/>
            <a:ahLst/>
            <a:cxnLst/>
            <a:rect l="l" t="t" r="r" b="b"/>
            <a:pathLst>
              <a:path w="2570479" h="2784475">
                <a:moveTo>
                  <a:pt x="2570226" y="2782824"/>
                </a:moveTo>
                <a:lnTo>
                  <a:pt x="2570226" y="2286"/>
                </a:lnTo>
                <a:lnTo>
                  <a:pt x="2567940" y="0"/>
                </a:lnTo>
                <a:lnTo>
                  <a:pt x="1523" y="0"/>
                </a:lnTo>
                <a:lnTo>
                  <a:pt x="0" y="2286"/>
                </a:lnTo>
                <a:lnTo>
                  <a:pt x="0" y="2782824"/>
                </a:lnTo>
                <a:lnTo>
                  <a:pt x="1524" y="2784348"/>
                </a:lnTo>
                <a:lnTo>
                  <a:pt x="3810" y="2784348"/>
                </a:lnTo>
                <a:lnTo>
                  <a:pt x="3810" y="8382"/>
                </a:lnTo>
                <a:lnTo>
                  <a:pt x="8381" y="4572"/>
                </a:lnTo>
                <a:lnTo>
                  <a:pt x="8381" y="8382"/>
                </a:lnTo>
                <a:lnTo>
                  <a:pt x="2561844" y="8382"/>
                </a:lnTo>
                <a:lnTo>
                  <a:pt x="2561844" y="4572"/>
                </a:lnTo>
                <a:lnTo>
                  <a:pt x="2565654" y="8382"/>
                </a:lnTo>
                <a:lnTo>
                  <a:pt x="2565654" y="2784348"/>
                </a:lnTo>
                <a:lnTo>
                  <a:pt x="2567940" y="2784348"/>
                </a:lnTo>
                <a:lnTo>
                  <a:pt x="2570226" y="2782824"/>
                </a:lnTo>
                <a:close/>
              </a:path>
              <a:path w="2570479" h="2784475">
                <a:moveTo>
                  <a:pt x="8381" y="8382"/>
                </a:moveTo>
                <a:lnTo>
                  <a:pt x="8381" y="4572"/>
                </a:lnTo>
                <a:lnTo>
                  <a:pt x="3810" y="8382"/>
                </a:lnTo>
                <a:lnTo>
                  <a:pt x="8381" y="8382"/>
                </a:lnTo>
                <a:close/>
              </a:path>
              <a:path w="2570479" h="2784475">
                <a:moveTo>
                  <a:pt x="8382" y="2775966"/>
                </a:moveTo>
                <a:lnTo>
                  <a:pt x="8381" y="8382"/>
                </a:lnTo>
                <a:lnTo>
                  <a:pt x="3810" y="8382"/>
                </a:lnTo>
                <a:lnTo>
                  <a:pt x="3810" y="2775966"/>
                </a:lnTo>
                <a:lnTo>
                  <a:pt x="8382" y="2775966"/>
                </a:lnTo>
                <a:close/>
              </a:path>
              <a:path w="2570479" h="2784475">
                <a:moveTo>
                  <a:pt x="2565654" y="2775966"/>
                </a:moveTo>
                <a:lnTo>
                  <a:pt x="3810" y="2775966"/>
                </a:lnTo>
                <a:lnTo>
                  <a:pt x="8382" y="2780538"/>
                </a:lnTo>
                <a:lnTo>
                  <a:pt x="8382" y="2784348"/>
                </a:lnTo>
                <a:lnTo>
                  <a:pt x="2561844" y="2784348"/>
                </a:lnTo>
                <a:lnTo>
                  <a:pt x="2561844" y="2780538"/>
                </a:lnTo>
                <a:lnTo>
                  <a:pt x="2565654" y="2775966"/>
                </a:lnTo>
                <a:close/>
              </a:path>
              <a:path w="2570479" h="2784475">
                <a:moveTo>
                  <a:pt x="8382" y="2784348"/>
                </a:moveTo>
                <a:lnTo>
                  <a:pt x="8382" y="2780538"/>
                </a:lnTo>
                <a:lnTo>
                  <a:pt x="3810" y="2775966"/>
                </a:lnTo>
                <a:lnTo>
                  <a:pt x="3810" y="2784348"/>
                </a:lnTo>
                <a:lnTo>
                  <a:pt x="8382" y="2784348"/>
                </a:lnTo>
                <a:close/>
              </a:path>
              <a:path w="2570479" h="2784475">
                <a:moveTo>
                  <a:pt x="2565654" y="8382"/>
                </a:moveTo>
                <a:lnTo>
                  <a:pt x="2561844" y="4572"/>
                </a:lnTo>
                <a:lnTo>
                  <a:pt x="2561844" y="8382"/>
                </a:lnTo>
                <a:lnTo>
                  <a:pt x="2565654" y="8382"/>
                </a:lnTo>
                <a:close/>
              </a:path>
              <a:path w="2570479" h="2784475">
                <a:moveTo>
                  <a:pt x="2565654" y="2775966"/>
                </a:moveTo>
                <a:lnTo>
                  <a:pt x="2565654" y="8382"/>
                </a:lnTo>
                <a:lnTo>
                  <a:pt x="2561844" y="8382"/>
                </a:lnTo>
                <a:lnTo>
                  <a:pt x="2561844" y="2775966"/>
                </a:lnTo>
                <a:lnTo>
                  <a:pt x="2565654" y="2775966"/>
                </a:lnTo>
                <a:close/>
              </a:path>
              <a:path w="2570479" h="2784475">
                <a:moveTo>
                  <a:pt x="2565654" y="2784348"/>
                </a:moveTo>
                <a:lnTo>
                  <a:pt x="2565654" y="2775966"/>
                </a:lnTo>
                <a:lnTo>
                  <a:pt x="2561844" y="2780538"/>
                </a:lnTo>
                <a:lnTo>
                  <a:pt x="2561844" y="2784348"/>
                </a:lnTo>
                <a:lnTo>
                  <a:pt x="2565654" y="2784348"/>
                </a:lnTo>
                <a:close/>
              </a:path>
            </a:pathLst>
          </a:custGeom>
          <a:solidFill>
            <a:srgbClr val="008BA7"/>
          </a:solidFill>
        </p:spPr>
        <p:txBody>
          <a:bodyPr wrap="square" lIns="0" tIns="0" rIns="0" bIns="0" rtlCol="0"/>
          <a:lstStyle/>
          <a:p>
            <a:endParaRPr/>
          </a:p>
        </p:txBody>
      </p:sp>
      <p:sp>
        <p:nvSpPr>
          <p:cNvPr id="6" name="object 6"/>
          <p:cNvSpPr txBox="1"/>
          <p:nvPr/>
        </p:nvSpPr>
        <p:spPr>
          <a:xfrm>
            <a:off x="7719967" y="1742125"/>
            <a:ext cx="2151380" cy="3131820"/>
          </a:xfrm>
          <a:prstGeom prst="rect">
            <a:avLst/>
          </a:prstGeom>
        </p:spPr>
        <p:txBody>
          <a:bodyPr vert="horz" wrap="square" lIns="0" tIns="13335" rIns="0" bIns="0" rtlCol="0">
            <a:spAutoFit/>
          </a:bodyPr>
          <a:lstStyle/>
          <a:p>
            <a:pPr marL="12700">
              <a:lnSpc>
                <a:spcPct val="100000"/>
              </a:lnSpc>
              <a:spcBef>
                <a:spcPts val="105"/>
              </a:spcBef>
            </a:pPr>
            <a:r>
              <a:rPr sz="2100" spc="-10" dirty="0">
                <a:latin typeface="宋体"/>
                <a:cs typeface="宋体"/>
              </a:rPr>
              <a:t>状态声明代码</a:t>
            </a:r>
            <a:endParaRPr sz="2100">
              <a:latin typeface="宋体"/>
              <a:cs typeface="宋体"/>
            </a:endParaRPr>
          </a:p>
          <a:p>
            <a:pPr>
              <a:lnSpc>
                <a:spcPct val="100000"/>
              </a:lnSpc>
              <a:spcBef>
                <a:spcPts val="1019"/>
              </a:spcBef>
            </a:pPr>
            <a:endParaRPr sz="2100">
              <a:latin typeface="宋体"/>
              <a:cs typeface="宋体"/>
            </a:endParaRPr>
          </a:p>
          <a:p>
            <a:pPr marL="399415" marR="5080" indent="-116205" algn="just">
              <a:lnSpc>
                <a:spcPct val="120200"/>
              </a:lnSpc>
            </a:pPr>
            <a:r>
              <a:rPr sz="2100" b="1" dirty="0">
                <a:latin typeface="Calibri"/>
                <a:cs typeface="Calibri"/>
              </a:rPr>
              <a:t>localparam</a:t>
            </a:r>
            <a:r>
              <a:rPr sz="2100" dirty="0">
                <a:latin typeface="Calibri"/>
                <a:cs typeface="Calibri"/>
              </a:rPr>
              <a:t>[</a:t>
            </a:r>
            <a:r>
              <a:rPr sz="2100" spc="-65" dirty="0">
                <a:latin typeface="Calibri"/>
                <a:cs typeface="Calibri"/>
              </a:rPr>
              <a:t> </a:t>
            </a:r>
            <a:r>
              <a:rPr sz="2100" dirty="0">
                <a:latin typeface="Calibri"/>
                <a:cs typeface="Calibri"/>
              </a:rPr>
              <a:t>2:0</a:t>
            </a:r>
            <a:r>
              <a:rPr sz="2100" spc="-65" dirty="0">
                <a:latin typeface="Calibri"/>
                <a:cs typeface="Calibri"/>
              </a:rPr>
              <a:t> </a:t>
            </a:r>
            <a:r>
              <a:rPr sz="2100" spc="-50" dirty="0">
                <a:latin typeface="Calibri"/>
                <a:cs typeface="Calibri"/>
              </a:rPr>
              <a:t>] </a:t>
            </a:r>
            <a:r>
              <a:rPr sz="2100" dirty="0">
                <a:latin typeface="Calibri"/>
                <a:cs typeface="Calibri"/>
              </a:rPr>
              <a:t>s0</a:t>
            </a:r>
            <a:r>
              <a:rPr sz="2100" spc="-15" dirty="0">
                <a:latin typeface="Calibri"/>
                <a:cs typeface="Calibri"/>
              </a:rPr>
              <a:t> </a:t>
            </a:r>
            <a:r>
              <a:rPr sz="2100" dirty="0">
                <a:latin typeface="Calibri"/>
                <a:cs typeface="Calibri"/>
              </a:rPr>
              <a:t>=</a:t>
            </a:r>
            <a:r>
              <a:rPr sz="2100" spc="-5" dirty="0">
                <a:latin typeface="Calibri"/>
                <a:cs typeface="Calibri"/>
              </a:rPr>
              <a:t> </a:t>
            </a:r>
            <a:r>
              <a:rPr sz="2100" dirty="0">
                <a:latin typeface="Calibri"/>
                <a:cs typeface="Calibri"/>
              </a:rPr>
              <a:t>3’b000</a:t>
            </a:r>
            <a:r>
              <a:rPr sz="2100" spc="-30" dirty="0">
                <a:latin typeface="Calibri"/>
                <a:cs typeface="Calibri"/>
              </a:rPr>
              <a:t> </a:t>
            </a:r>
            <a:r>
              <a:rPr sz="2100" spc="-50" dirty="0">
                <a:latin typeface="Calibri"/>
                <a:cs typeface="Calibri"/>
              </a:rPr>
              <a:t>,</a:t>
            </a:r>
            <a:endParaRPr sz="2100">
              <a:latin typeface="Calibri"/>
              <a:cs typeface="Calibri"/>
            </a:endParaRPr>
          </a:p>
          <a:p>
            <a:pPr marL="399415" marR="376555" algn="just">
              <a:lnSpc>
                <a:spcPct val="120200"/>
              </a:lnSpc>
            </a:pPr>
            <a:r>
              <a:rPr sz="2100" dirty="0">
                <a:latin typeface="Calibri"/>
                <a:cs typeface="Calibri"/>
              </a:rPr>
              <a:t>s1</a:t>
            </a:r>
            <a:r>
              <a:rPr sz="2100" spc="-15" dirty="0">
                <a:latin typeface="Calibri"/>
                <a:cs typeface="Calibri"/>
              </a:rPr>
              <a:t> </a:t>
            </a:r>
            <a:r>
              <a:rPr sz="2100" dirty="0">
                <a:latin typeface="Calibri"/>
                <a:cs typeface="Calibri"/>
              </a:rPr>
              <a:t>=</a:t>
            </a:r>
            <a:r>
              <a:rPr sz="2100" spc="-5" dirty="0">
                <a:latin typeface="Calibri"/>
                <a:cs typeface="Calibri"/>
              </a:rPr>
              <a:t> </a:t>
            </a:r>
            <a:r>
              <a:rPr sz="2100" dirty="0">
                <a:latin typeface="Calibri"/>
                <a:cs typeface="Calibri"/>
              </a:rPr>
              <a:t>3’b001</a:t>
            </a:r>
            <a:r>
              <a:rPr sz="2100" spc="-30" dirty="0">
                <a:latin typeface="Calibri"/>
                <a:cs typeface="Calibri"/>
              </a:rPr>
              <a:t> </a:t>
            </a:r>
            <a:r>
              <a:rPr sz="2100" spc="-50" dirty="0">
                <a:latin typeface="Calibri"/>
                <a:cs typeface="Calibri"/>
              </a:rPr>
              <a:t>, </a:t>
            </a:r>
            <a:r>
              <a:rPr sz="2100" dirty="0">
                <a:latin typeface="Calibri"/>
                <a:cs typeface="Calibri"/>
              </a:rPr>
              <a:t>s2</a:t>
            </a:r>
            <a:r>
              <a:rPr sz="2100" spc="-15" dirty="0">
                <a:latin typeface="Calibri"/>
                <a:cs typeface="Calibri"/>
              </a:rPr>
              <a:t> </a:t>
            </a:r>
            <a:r>
              <a:rPr sz="2100" dirty="0">
                <a:latin typeface="Calibri"/>
                <a:cs typeface="Calibri"/>
              </a:rPr>
              <a:t>=</a:t>
            </a:r>
            <a:r>
              <a:rPr sz="2100" spc="-5" dirty="0">
                <a:latin typeface="Calibri"/>
                <a:cs typeface="Calibri"/>
              </a:rPr>
              <a:t> </a:t>
            </a:r>
            <a:r>
              <a:rPr sz="2100" dirty="0">
                <a:latin typeface="Calibri"/>
                <a:cs typeface="Calibri"/>
              </a:rPr>
              <a:t>3’b010</a:t>
            </a:r>
            <a:r>
              <a:rPr sz="2100" spc="-30" dirty="0">
                <a:latin typeface="Calibri"/>
                <a:cs typeface="Calibri"/>
              </a:rPr>
              <a:t> </a:t>
            </a:r>
            <a:r>
              <a:rPr sz="2100" spc="-50" dirty="0">
                <a:latin typeface="Calibri"/>
                <a:cs typeface="Calibri"/>
              </a:rPr>
              <a:t>, </a:t>
            </a:r>
            <a:r>
              <a:rPr sz="2100" dirty="0">
                <a:latin typeface="Calibri"/>
                <a:cs typeface="Calibri"/>
              </a:rPr>
              <a:t>s3</a:t>
            </a:r>
            <a:r>
              <a:rPr sz="2100" spc="-15" dirty="0">
                <a:latin typeface="Calibri"/>
                <a:cs typeface="Calibri"/>
              </a:rPr>
              <a:t> </a:t>
            </a:r>
            <a:r>
              <a:rPr sz="2100" dirty="0">
                <a:latin typeface="Calibri"/>
                <a:cs typeface="Calibri"/>
              </a:rPr>
              <a:t>=</a:t>
            </a:r>
            <a:r>
              <a:rPr sz="2100" spc="-5" dirty="0">
                <a:latin typeface="Calibri"/>
                <a:cs typeface="Calibri"/>
              </a:rPr>
              <a:t> </a:t>
            </a:r>
            <a:r>
              <a:rPr sz="2100" dirty="0">
                <a:latin typeface="Calibri"/>
                <a:cs typeface="Calibri"/>
              </a:rPr>
              <a:t>3’b011</a:t>
            </a:r>
            <a:r>
              <a:rPr sz="2100" spc="-30" dirty="0">
                <a:latin typeface="Calibri"/>
                <a:cs typeface="Calibri"/>
              </a:rPr>
              <a:t> </a:t>
            </a:r>
            <a:r>
              <a:rPr sz="2100" spc="-50" dirty="0">
                <a:latin typeface="Calibri"/>
                <a:cs typeface="Calibri"/>
              </a:rPr>
              <a:t>, </a:t>
            </a:r>
            <a:r>
              <a:rPr sz="2100" dirty="0">
                <a:latin typeface="Calibri"/>
                <a:cs typeface="Calibri"/>
              </a:rPr>
              <a:t>s4</a:t>
            </a:r>
            <a:r>
              <a:rPr sz="2100" spc="-20" dirty="0">
                <a:latin typeface="Calibri"/>
                <a:cs typeface="Calibri"/>
              </a:rPr>
              <a:t> </a:t>
            </a:r>
            <a:r>
              <a:rPr sz="2100" dirty="0">
                <a:latin typeface="Calibri"/>
                <a:cs typeface="Calibri"/>
              </a:rPr>
              <a:t>=</a:t>
            </a:r>
            <a:r>
              <a:rPr sz="2100" spc="-10" dirty="0">
                <a:latin typeface="Calibri"/>
                <a:cs typeface="Calibri"/>
              </a:rPr>
              <a:t> 3’b100;</a:t>
            </a:r>
            <a:endParaRPr sz="2100">
              <a:latin typeface="Calibri"/>
              <a:cs typeface="Calibri"/>
            </a:endParaRPr>
          </a:p>
        </p:txBody>
      </p:sp>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8" name="object 8"/>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26</a:t>
            </a:fld>
            <a:endParaRPr spc="-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b="1" spc="-10" dirty="0">
                <a:latin typeface="Calibri"/>
                <a:cs typeface="Calibri"/>
              </a:rPr>
              <a:t>Moore</a:t>
            </a:r>
            <a:r>
              <a:rPr b="1" spc="-30" dirty="0">
                <a:latin typeface="宋体"/>
                <a:cs typeface="宋体"/>
              </a:rPr>
              <a:t>状态机序列检测器实现代码</a:t>
            </a:r>
            <a:r>
              <a:rPr b="1" spc="-50" dirty="0">
                <a:latin typeface="Calibri"/>
                <a:cs typeface="Calibri"/>
              </a:rPr>
              <a:t>1</a:t>
            </a:r>
          </a:p>
        </p:txBody>
      </p:sp>
      <p:grpSp>
        <p:nvGrpSpPr>
          <p:cNvPr id="5" name="object 5"/>
          <p:cNvGrpSpPr/>
          <p:nvPr/>
        </p:nvGrpSpPr>
        <p:grpSpPr>
          <a:xfrm>
            <a:off x="166763" y="1678685"/>
            <a:ext cx="4122420" cy="4947920"/>
            <a:chOff x="166763" y="1678685"/>
            <a:chExt cx="4122420" cy="4947920"/>
          </a:xfrm>
        </p:grpSpPr>
        <p:sp>
          <p:nvSpPr>
            <p:cNvPr id="6" name="object 6"/>
            <p:cNvSpPr/>
            <p:nvPr/>
          </p:nvSpPr>
          <p:spPr>
            <a:xfrm>
              <a:off x="171335" y="1683257"/>
              <a:ext cx="4114165" cy="4939665"/>
            </a:xfrm>
            <a:custGeom>
              <a:avLst/>
              <a:gdLst/>
              <a:ahLst/>
              <a:cxnLst/>
              <a:rect l="l" t="t" r="r" b="b"/>
              <a:pathLst>
                <a:path w="4114165" h="4939665">
                  <a:moveTo>
                    <a:pt x="4114038" y="4939284"/>
                  </a:moveTo>
                  <a:lnTo>
                    <a:pt x="4114038" y="0"/>
                  </a:lnTo>
                  <a:lnTo>
                    <a:pt x="0" y="0"/>
                  </a:lnTo>
                  <a:lnTo>
                    <a:pt x="0" y="4939284"/>
                  </a:lnTo>
                  <a:lnTo>
                    <a:pt x="4114038" y="4939284"/>
                  </a:lnTo>
                  <a:close/>
                </a:path>
              </a:pathLst>
            </a:custGeom>
            <a:solidFill>
              <a:srgbClr val="F9FABA"/>
            </a:solidFill>
          </p:spPr>
          <p:txBody>
            <a:bodyPr wrap="square" lIns="0" tIns="0" rIns="0" bIns="0" rtlCol="0"/>
            <a:lstStyle/>
            <a:p>
              <a:endParaRPr/>
            </a:p>
          </p:txBody>
        </p:sp>
        <p:sp>
          <p:nvSpPr>
            <p:cNvPr id="7" name="object 7"/>
            <p:cNvSpPr/>
            <p:nvPr/>
          </p:nvSpPr>
          <p:spPr>
            <a:xfrm>
              <a:off x="166763" y="1678685"/>
              <a:ext cx="4122420" cy="4947920"/>
            </a:xfrm>
            <a:custGeom>
              <a:avLst/>
              <a:gdLst/>
              <a:ahLst/>
              <a:cxnLst/>
              <a:rect l="l" t="t" r="r" b="b"/>
              <a:pathLst>
                <a:path w="4122420" h="4947920">
                  <a:moveTo>
                    <a:pt x="4122420" y="4946142"/>
                  </a:moveTo>
                  <a:lnTo>
                    <a:pt x="4122420" y="2285"/>
                  </a:lnTo>
                  <a:lnTo>
                    <a:pt x="4120896" y="0"/>
                  </a:lnTo>
                  <a:lnTo>
                    <a:pt x="1523" y="0"/>
                  </a:lnTo>
                  <a:lnTo>
                    <a:pt x="0" y="2286"/>
                  </a:lnTo>
                  <a:lnTo>
                    <a:pt x="0" y="4946142"/>
                  </a:lnTo>
                  <a:lnTo>
                    <a:pt x="1524" y="4947666"/>
                  </a:lnTo>
                  <a:lnTo>
                    <a:pt x="4572" y="4947666"/>
                  </a:lnTo>
                  <a:lnTo>
                    <a:pt x="4572" y="8382"/>
                  </a:lnTo>
                  <a:lnTo>
                    <a:pt x="8382" y="4572"/>
                  </a:lnTo>
                  <a:lnTo>
                    <a:pt x="8382" y="8382"/>
                  </a:lnTo>
                  <a:lnTo>
                    <a:pt x="4114038" y="8381"/>
                  </a:lnTo>
                  <a:lnTo>
                    <a:pt x="4114038" y="4571"/>
                  </a:lnTo>
                  <a:lnTo>
                    <a:pt x="4118610" y="8381"/>
                  </a:lnTo>
                  <a:lnTo>
                    <a:pt x="4118610" y="4947666"/>
                  </a:lnTo>
                  <a:lnTo>
                    <a:pt x="4120896" y="4947666"/>
                  </a:lnTo>
                  <a:lnTo>
                    <a:pt x="4122420" y="4946142"/>
                  </a:lnTo>
                  <a:close/>
                </a:path>
                <a:path w="4122420" h="4947920">
                  <a:moveTo>
                    <a:pt x="8382" y="8382"/>
                  </a:moveTo>
                  <a:lnTo>
                    <a:pt x="8382" y="4572"/>
                  </a:lnTo>
                  <a:lnTo>
                    <a:pt x="4572" y="8382"/>
                  </a:lnTo>
                  <a:lnTo>
                    <a:pt x="8382" y="8382"/>
                  </a:lnTo>
                  <a:close/>
                </a:path>
                <a:path w="4122420" h="4947920">
                  <a:moveTo>
                    <a:pt x="8382" y="4939284"/>
                  </a:moveTo>
                  <a:lnTo>
                    <a:pt x="8382" y="8382"/>
                  </a:lnTo>
                  <a:lnTo>
                    <a:pt x="4572" y="8382"/>
                  </a:lnTo>
                  <a:lnTo>
                    <a:pt x="4572" y="4939284"/>
                  </a:lnTo>
                  <a:lnTo>
                    <a:pt x="8382" y="4939284"/>
                  </a:lnTo>
                  <a:close/>
                </a:path>
                <a:path w="4122420" h="4947920">
                  <a:moveTo>
                    <a:pt x="4118610" y="4939284"/>
                  </a:moveTo>
                  <a:lnTo>
                    <a:pt x="4572" y="4939284"/>
                  </a:lnTo>
                  <a:lnTo>
                    <a:pt x="8382" y="4943856"/>
                  </a:lnTo>
                  <a:lnTo>
                    <a:pt x="8381" y="4947666"/>
                  </a:lnTo>
                  <a:lnTo>
                    <a:pt x="4114038" y="4947666"/>
                  </a:lnTo>
                  <a:lnTo>
                    <a:pt x="4114038" y="4943856"/>
                  </a:lnTo>
                  <a:lnTo>
                    <a:pt x="4118610" y="4939284"/>
                  </a:lnTo>
                  <a:close/>
                </a:path>
                <a:path w="4122420" h="4947920">
                  <a:moveTo>
                    <a:pt x="8381" y="4947666"/>
                  </a:moveTo>
                  <a:lnTo>
                    <a:pt x="8382" y="4943856"/>
                  </a:lnTo>
                  <a:lnTo>
                    <a:pt x="4572" y="4939284"/>
                  </a:lnTo>
                  <a:lnTo>
                    <a:pt x="4572" y="4947666"/>
                  </a:lnTo>
                  <a:lnTo>
                    <a:pt x="8381" y="4947666"/>
                  </a:lnTo>
                  <a:close/>
                </a:path>
                <a:path w="4122420" h="4947920">
                  <a:moveTo>
                    <a:pt x="4118610" y="8381"/>
                  </a:moveTo>
                  <a:lnTo>
                    <a:pt x="4114038" y="4571"/>
                  </a:lnTo>
                  <a:lnTo>
                    <a:pt x="4114038" y="8381"/>
                  </a:lnTo>
                  <a:lnTo>
                    <a:pt x="4118610" y="8381"/>
                  </a:lnTo>
                  <a:close/>
                </a:path>
                <a:path w="4122420" h="4947920">
                  <a:moveTo>
                    <a:pt x="4118610" y="4939284"/>
                  </a:moveTo>
                  <a:lnTo>
                    <a:pt x="4118610" y="8381"/>
                  </a:lnTo>
                  <a:lnTo>
                    <a:pt x="4114038" y="8381"/>
                  </a:lnTo>
                  <a:lnTo>
                    <a:pt x="4114038" y="4939284"/>
                  </a:lnTo>
                  <a:lnTo>
                    <a:pt x="4118610" y="4939284"/>
                  </a:lnTo>
                  <a:close/>
                </a:path>
                <a:path w="4122420" h="4947920">
                  <a:moveTo>
                    <a:pt x="4118610" y="4947666"/>
                  </a:moveTo>
                  <a:lnTo>
                    <a:pt x="4118610" y="4939284"/>
                  </a:lnTo>
                  <a:lnTo>
                    <a:pt x="4114038" y="4943856"/>
                  </a:lnTo>
                  <a:lnTo>
                    <a:pt x="4114038" y="4947666"/>
                  </a:lnTo>
                  <a:lnTo>
                    <a:pt x="4118610" y="4947666"/>
                  </a:lnTo>
                  <a:close/>
                </a:path>
              </a:pathLst>
            </a:custGeom>
            <a:solidFill>
              <a:srgbClr val="FF0000"/>
            </a:solidFill>
          </p:spPr>
          <p:txBody>
            <a:bodyPr wrap="square" lIns="0" tIns="0" rIns="0" bIns="0" rtlCol="0"/>
            <a:lstStyle/>
            <a:p>
              <a:endParaRPr/>
            </a:p>
          </p:txBody>
        </p:sp>
      </p:grpSp>
      <p:sp>
        <p:nvSpPr>
          <p:cNvPr id="8" name="object 8"/>
          <p:cNvSpPr txBox="1"/>
          <p:nvPr/>
        </p:nvSpPr>
        <p:spPr>
          <a:xfrm>
            <a:off x="250577" y="1697228"/>
            <a:ext cx="2020570" cy="266065"/>
          </a:xfrm>
          <a:prstGeom prst="rect">
            <a:avLst/>
          </a:prstGeom>
        </p:spPr>
        <p:txBody>
          <a:bodyPr vert="horz" wrap="square" lIns="0" tIns="15875" rIns="0" bIns="0" rtlCol="0">
            <a:spAutoFit/>
          </a:bodyPr>
          <a:lstStyle/>
          <a:p>
            <a:pPr>
              <a:lnSpc>
                <a:spcPct val="100000"/>
              </a:lnSpc>
              <a:spcBef>
                <a:spcPts val="125"/>
              </a:spcBef>
            </a:pPr>
            <a:r>
              <a:rPr sz="1550" b="1" dirty="0">
                <a:latin typeface="Calibri"/>
                <a:cs typeface="Calibri"/>
              </a:rPr>
              <a:t>module</a:t>
            </a:r>
            <a:r>
              <a:rPr sz="1550" b="1" spc="380" dirty="0">
                <a:latin typeface="Calibri"/>
                <a:cs typeface="Calibri"/>
              </a:rPr>
              <a:t> </a:t>
            </a:r>
            <a:r>
              <a:rPr sz="1550" spc="-10" dirty="0">
                <a:latin typeface="Calibri"/>
                <a:cs typeface="Calibri"/>
              </a:rPr>
              <a:t>seq_det_moore</a:t>
            </a:r>
            <a:endParaRPr sz="1550">
              <a:latin typeface="Calibri"/>
              <a:cs typeface="Calibri"/>
            </a:endParaRPr>
          </a:p>
        </p:txBody>
      </p:sp>
      <p:sp>
        <p:nvSpPr>
          <p:cNvPr id="9" name="object 9"/>
          <p:cNvSpPr txBox="1"/>
          <p:nvPr/>
        </p:nvSpPr>
        <p:spPr>
          <a:xfrm>
            <a:off x="388496" y="1938015"/>
            <a:ext cx="62865" cy="266065"/>
          </a:xfrm>
          <a:prstGeom prst="rect">
            <a:avLst/>
          </a:prstGeom>
        </p:spPr>
        <p:txBody>
          <a:bodyPr vert="horz" wrap="square" lIns="0" tIns="15875" rIns="0" bIns="0" rtlCol="0">
            <a:spAutoFit/>
          </a:bodyPr>
          <a:lstStyle/>
          <a:p>
            <a:pPr>
              <a:lnSpc>
                <a:spcPct val="100000"/>
              </a:lnSpc>
              <a:spcBef>
                <a:spcPts val="125"/>
              </a:spcBef>
            </a:pPr>
            <a:r>
              <a:rPr sz="1550" b="1" spc="-50" dirty="0">
                <a:latin typeface="Calibri"/>
                <a:cs typeface="Calibri"/>
              </a:rPr>
              <a:t>(</a:t>
            </a:r>
            <a:endParaRPr sz="1550">
              <a:latin typeface="Calibri"/>
              <a:cs typeface="Calibri"/>
            </a:endParaRPr>
          </a:p>
        </p:txBody>
      </p:sp>
      <p:sp>
        <p:nvSpPr>
          <p:cNvPr id="10" name="object 10"/>
          <p:cNvSpPr txBox="1"/>
          <p:nvPr/>
        </p:nvSpPr>
        <p:spPr>
          <a:xfrm>
            <a:off x="250617" y="2178042"/>
            <a:ext cx="3305810" cy="4519295"/>
          </a:xfrm>
          <a:prstGeom prst="rect">
            <a:avLst/>
          </a:prstGeom>
        </p:spPr>
        <p:txBody>
          <a:bodyPr vert="horz" wrap="square" lIns="0" tIns="11430" rIns="0" bIns="0" rtlCol="0">
            <a:spAutoFit/>
          </a:bodyPr>
          <a:lstStyle/>
          <a:p>
            <a:pPr marL="137795" marR="1663700" indent="91440">
              <a:lnSpc>
                <a:spcPct val="101899"/>
              </a:lnSpc>
              <a:spcBef>
                <a:spcPts val="90"/>
              </a:spcBef>
              <a:tabLst>
                <a:tab pos="715010" algn="l"/>
                <a:tab pos="806450" algn="l"/>
              </a:tabLst>
            </a:pPr>
            <a:r>
              <a:rPr sz="1550" b="1" spc="-10" dirty="0">
                <a:latin typeface="Calibri"/>
                <a:cs typeface="Calibri"/>
              </a:rPr>
              <a:t>input</a:t>
            </a:r>
            <a:r>
              <a:rPr sz="1550" b="1" dirty="0">
                <a:latin typeface="Calibri"/>
                <a:cs typeface="Calibri"/>
              </a:rPr>
              <a:t>		</a:t>
            </a:r>
            <a:r>
              <a:rPr sz="1550" dirty="0">
                <a:latin typeface="Calibri"/>
                <a:cs typeface="Calibri"/>
              </a:rPr>
              <a:t>clk</a:t>
            </a:r>
            <a:r>
              <a:rPr sz="1550" spc="25" dirty="0">
                <a:latin typeface="Calibri"/>
                <a:cs typeface="Calibri"/>
              </a:rPr>
              <a:t> </a:t>
            </a:r>
            <a:r>
              <a:rPr sz="1550" dirty="0">
                <a:latin typeface="Calibri"/>
                <a:cs typeface="Calibri"/>
              </a:rPr>
              <a:t>,</a:t>
            </a:r>
            <a:r>
              <a:rPr sz="1550" spc="30" dirty="0">
                <a:latin typeface="Calibri"/>
                <a:cs typeface="Calibri"/>
              </a:rPr>
              <a:t> </a:t>
            </a:r>
            <a:r>
              <a:rPr sz="1550" spc="-10" dirty="0">
                <a:latin typeface="Calibri"/>
                <a:cs typeface="Calibri"/>
              </a:rPr>
              <a:t>reset, </a:t>
            </a:r>
            <a:r>
              <a:rPr sz="1550" b="1" spc="-10" dirty="0">
                <a:latin typeface="Calibri"/>
                <a:cs typeface="Calibri"/>
              </a:rPr>
              <a:t>input</a:t>
            </a:r>
            <a:r>
              <a:rPr sz="1550" b="1" dirty="0">
                <a:latin typeface="Calibri"/>
                <a:cs typeface="Calibri"/>
              </a:rPr>
              <a:t>	</a:t>
            </a:r>
            <a:r>
              <a:rPr sz="1550" spc="-20" dirty="0">
                <a:latin typeface="Calibri"/>
                <a:cs typeface="Calibri"/>
              </a:rPr>
              <a:t>din,</a:t>
            </a:r>
            <a:r>
              <a:rPr sz="1550" spc="500" dirty="0">
                <a:latin typeface="Calibri"/>
                <a:cs typeface="Calibri"/>
              </a:rPr>
              <a:t> </a:t>
            </a:r>
            <a:r>
              <a:rPr sz="1550" b="1" dirty="0">
                <a:latin typeface="Calibri"/>
                <a:cs typeface="Calibri"/>
              </a:rPr>
              <a:t>output</a:t>
            </a:r>
            <a:r>
              <a:rPr sz="1550" b="1" spc="5" dirty="0">
                <a:latin typeface="Calibri"/>
                <a:cs typeface="Calibri"/>
              </a:rPr>
              <a:t> </a:t>
            </a:r>
            <a:r>
              <a:rPr sz="1550" b="1" dirty="0">
                <a:latin typeface="Calibri"/>
                <a:cs typeface="Calibri"/>
              </a:rPr>
              <a:t>reg</a:t>
            </a:r>
            <a:r>
              <a:rPr sz="1550" b="1" spc="10" dirty="0">
                <a:latin typeface="Calibri"/>
                <a:cs typeface="Calibri"/>
              </a:rPr>
              <a:t> </a:t>
            </a:r>
            <a:r>
              <a:rPr sz="1550" spc="-20" dirty="0">
                <a:latin typeface="Calibri"/>
                <a:cs typeface="Calibri"/>
              </a:rPr>
              <a:t>sout</a:t>
            </a:r>
            <a:endParaRPr sz="1550">
              <a:latin typeface="Calibri"/>
              <a:cs typeface="Calibri"/>
            </a:endParaRPr>
          </a:p>
          <a:p>
            <a:pPr marL="92075">
              <a:lnSpc>
                <a:spcPct val="100000"/>
              </a:lnSpc>
              <a:spcBef>
                <a:spcPts val="30"/>
              </a:spcBef>
            </a:pPr>
            <a:r>
              <a:rPr sz="1550" b="1" dirty="0">
                <a:latin typeface="Calibri"/>
                <a:cs typeface="Calibri"/>
              </a:rPr>
              <a:t>)</a:t>
            </a:r>
            <a:r>
              <a:rPr sz="1550" b="1" spc="10" dirty="0">
                <a:latin typeface="Calibri"/>
                <a:cs typeface="Calibri"/>
              </a:rPr>
              <a:t> </a:t>
            </a:r>
            <a:r>
              <a:rPr sz="1550" b="1" spc="-50" dirty="0">
                <a:latin typeface="Calibri"/>
                <a:cs typeface="Calibri"/>
              </a:rPr>
              <a:t>;</a:t>
            </a:r>
            <a:endParaRPr sz="1550">
              <a:latin typeface="Calibri"/>
              <a:cs typeface="Calibri"/>
            </a:endParaRPr>
          </a:p>
          <a:p>
            <a:pPr marL="92075" marR="1813560">
              <a:lnSpc>
                <a:spcPct val="101000"/>
              </a:lnSpc>
              <a:spcBef>
                <a:spcPts val="50"/>
              </a:spcBef>
            </a:pPr>
            <a:r>
              <a:rPr sz="1550" b="1" spc="150" dirty="0">
                <a:solidFill>
                  <a:srgbClr val="00B0EF"/>
                </a:solidFill>
                <a:latin typeface="Calibri"/>
                <a:cs typeface="Calibri"/>
              </a:rPr>
              <a:t>// </a:t>
            </a:r>
            <a:r>
              <a:rPr sz="1550" b="1" spc="-15" dirty="0">
                <a:solidFill>
                  <a:srgbClr val="00B0EF"/>
                </a:solidFill>
                <a:latin typeface="宋体"/>
                <a:cs typeface="宋体"/>
              </a:rPr>
              <a:t>状态声明</a:t>
            </a:r>
            <a:r>
              <a:rPr sz="1550" b="1" spc="-50" dirty="0">
                <a:solidFill>
                  <a:srgbClr val="00B0EF"/>
                </a:solidFill>
                <a:latin typeface="宋体"/>
                <a:cs typeface="宋体"/>
              </a:rPr>
              <a:t> </a:t>
            </a:r>
            <a:r>
              <a:rPr sz="1550" b="1" dirty="0">
                <a:latin typeface="Calibri"/>
                <a:cs typeface="Calibri"/>
              </a:rPr>
              <a:t>localparam</a:t>
            </a:r>
            <a:r>
              <a:rPr sz="1550" spc="10" dirty="0">
                <a:latin typeface="Calibri"/>
                <a:cs typeface="Calibri"/>
              </a:rPr>
              <a:t>[ </a:t>
            </a:r>
            <a:r>
              <a:rPr sz="1550" dirty="0">
                <a:latin typeface="Calibri"/>
                <a:cs typeface="Calibri"/>
              </a:rPr>
              <a:t>2:0</a:t>
            </a:r>
            <a:r>
              <a:rPr sz="1550" spc="-10" dirty="0">
                <a:latin typeface="Calibri"/>
                <a:cs typeface="Calibri"/>
              </a:rPr>
              <a:t> ]</a:t>
            </a:r>
            <a:r>
              <a:rPr sz="1550" spc="-50" dirty="0">
                <a:latin typeface="Calibri"/>
                <a:cs typeface="Calibri"/>
              </a:rPr>
              <a:t> </a:t>
            </a:r>
            <a:r>
              <a:rPr sz="1550" dirty="0">
                <a:latin typeface="Calibri"/>
                <a:cs typeface="Calibri"/>
              </a:rPr>
              <a:t>s0</a:t>
            </a:r>
            <a:r>
              <a:rPr sz="1550" spc="10" dirty="0">
                <a:latin typeface="Calibri"/>
                <a:cs typeface="Calibri"/>
              </a:rPr>
              <a:t> = </a:t>
            </a:r>
            <a:r>
              <a:rPr sz="1550" dirty="0">
                <a:latin typeface="Calibri"/>
                <a:cs typeface="Calibri"/>
              </a:rPr>
              <a:t>3’b000</a:t>
            </a:r>
            <a:r>
              <a:rPr sz="1550" spc="-5" dirty="0">
                <a:latin typeface="Calibri"/>
                <a:cs typeface="Calibri"/>
              </a:rPr>
              <a:t> ,</a:t>
            </a:r>
            <a:endParaRPr sz="1550">
              <a:latin typeface="Calibri"/>
              <a:cs typeface="Calibri"/>
            </a:endParaRPr>
          </a:p>
          <a:p>
            <a:pPr marL="137795" marR="2129155" algn="just">
              <a:lnSpc>
                <a:spcPct val="101699"/>
              </a:lnSpc>
              <a:spcBef>
                <a:spcPts val="5"/>
              </a:spcBef>
            </a:pPr>
            <a:r>
              <a:rPr sz="1550" dirty="0">
                <a:latin typeface="Calibri"/>
                <a:cs typeface="Calibri"/>
              </a:rPr>
              <a:t>s1</a:t>
            </a:r>
            <a:r>
              <a:rPr sz="1550" spc="20" dirty="0">
                <a:latin typeface="Calibri"/>
                <a:cs typeface="Calibri"/>
              </a:rPr>
              <a:t> </a:t>
            </a:r>
            <a:r>
              <a:rPr sz="1550" dirty="0">
                <a:latin typeface="Calibri"/>
                <a:cs typeface="Calibri"/>
              </a:rPr>
              <a:t>=</a:t>
            </a:r>
            <a:r>
              <a:rPr sz="1550" spc="20" dirty="0">
                <a:latin typeface="Calibri"/>
                <a:cs typeface="Calibri"/>
              </a:rPr>
              <a:t> </a:t>
            </a:r>
            <a:r>
              <a:rPr sz="1550" dirty="0">
                <a:latin typeface="Calibri"/>
                <a:cs typeface="Calibri"/>
              </a:rPr>
              <a:t>3’b001</a:t>
            </a:r>
            <a:r>
              <a:rPr sz="1550" spc="40" dirty="0">
                <a:latin typeface="Calibri"/>
                <a:cs typeface="Calibri"/>
              </a:rPr>
              <a:t> </a:t>
            </a:r>
            <a:r>
              <a:rPr sz="1550" spc="-50" dirty="0">
                <a:latin typeface="Calibri"/>
                <a:cs typeface="Calibri"/>
              </a:rPr>
              <a:t>, </a:t>
            </a:r>
            <a:r>
              <a:rPr sz="1550" dirty="0">
                <a:latin typeface="Calibri"/>
                <a:cs typeface="Calibri"/>
              </a:rPr>
              <a:t>s2</a:t>
            </a:r>
            <a:r>
              <a:rPr sz="1550" spc="20" dirty="0">
                <a:latin typeface="Calibri"/>
                <a:cs typeface="Calibri"/>
              </a:rPr>
              <a:t> </a:t>
            </a:r>
            <a:r>
              <a:rPr sz="1550" dirty="0">
                <a:latin typeface="Calibri"/>
                <a:cs typeface="Calibri"/>
              </a:rPr>
              <a:t>=</a:t>
            </a:r>
            <a:r>
              <a:rPr sz="1550" spc="20" dirty="0">
                <a:latin typeface="Calibri"/>
                <a:cs typeface="Calibri"/>
              </a:rPr>
              <a:t> </a:t>
            </a:r>
            <a:r>
              <a:rPr sz="1550" dirty="0">
                <a:latin typeface="Calibri"/>
                <a:cs typeface="Calibri"/>
              </a:rPr>
              <a:t>3’b010</a:t>
            </a:r>
            <a:r>
              <a:rPr sz="1550" spc="40" dirty="0">
                <a:latin typeface="Calibri"/>
                <a:cs typeface="Calibri"/>
              </a:rPr>
              <a:t> </a:t>
            </a:r>
            <a:r>
              <a:rPr sz="1550" spc="-50" dirty="0">
                <a:latin typeface="Calibri"/>
                <a:cs typeface="Calibri"/>
              </a:rPr>
              <a:t>, </a:t>
            </a:r>
            <a:r>
              <a:rPr sz="1550" dirty="0">
                <a:latin typeface="Calibri"/>
                <a:cs typeface="Calibri"/>
              </a:rPr>
              <a:t>s3</a:t>
            </a:r>
            <a:r>
              <a:rPr sz="1550" spc="20" dirty="0">
                <a:latin typeface="Calibri"/>
                <a:cs typeface="Calibri"/>
              </a:rPr>
              <a:t> </a:t>
            </a:r>
            <a:r>
              <a:rPr sz="1550" dirty="0">
                <a:latin typeface="Calibri"/>
                <a:cs typeface="Calibri"/>
              </a:rPr>
              <a:t>=</a:t>
            </a:r>
            <a:r>
              <a:rPr sz="1550" spc="20" dirty="0">
                <a:latin typeface="Calibri"/>
                <a:cs typeface="Calibri"/>
              </a:rPr>
              <a:t> </a:t>
            </a:r>
            <a:r>
              <a:rPr sz="1550" dirty="0">
                <a:latin typeface="Calibri"/>
                <a:cs typeface="Calibri"/>
              </a:rPr>
              <a:t>3’b011</a:t>
            </a:r>
            <a:r>
              <a:rPr sz="1550" spc="40" dirty="0">
                <a:latin typeface="Calibri"/>
                <a:cs typeface="Calibri"/>
              </a:rPr>
              <a:t> </a:t>
            </a:r>
            <a:r>
              <a:rPr sz="1550" spc="-50" dirty="0">
                <a:latin typeface="Calibri"/>
                <a:cs typeface="Calibri"/>
              </a:rPr>
              <a:t>, </a:t>
            </a:r>
            <a:r>
              <a:rPr sz="1550" dirty="0">
                <a:latin typeface="Calibri"/>
                <a:cs typeface="Calibri"/>
              </a:rPr>
              <a:t>s4</a:t>
            </a:r>
            <a:r>
              <a:rPr sz="1550" spc="20" dirty="0">
                <a:latin typeface="Calibri"/>
                <a:cs typeface="Calibri"/>
              </a:rPr>
              <a:t> </a:t>
            </a:r>
            <a:r>
              <a:rPr sz="1550" dirty="0">
                <a:latin typeface="Calibri"/>
                <a:cs typeface="Calibri"/>
              </a:rPr>
              <a:t>=</a:t>
            </a:r>
            <a:r>
              <a:rPr sz="1550" spc="20" dirty="0">
                <a:latin typeface="Calibri"/>
                <a:cs typeface="Calibri"/>
              </a:rPr>
              <a:t> </a:t>
            </a:r>
            <a:r>
              <a:rPr sz="1550" spc="-10" dirty="0">
                <a:latin typeface="Calibri"/>
                <a:cs typeface="Calibri"/>
              </a:rPr>
              <a:t>3’b100;</a:t>
            </a:r>
            <a:endParaRPr sz="1550">
              <a:latin typeface="Calibri"/>
              <a:cs typeface="Calibri"/>
            </a:endParaRPr>
          </a:p>
          <a:p>
            <a:pPr marL="92075" algn="just">
              <a:lnSpc>
                <a:spcPct val="100000"/>
              </a:lnSpc>
              <a:spcBef>
                <a:spcPts val="35"/>
              </a:spcBef>
            </a:pPr>
            <a:r>
              <a:rPr sz="1550" b="1" dirty="0">
                <a:latin typeface="Calibri"/>
                <a:cs typeface="Calibri"/>
              </a:rPr>
              <a:t>reg[</a:t>
            </a:r>
            <a:r>
              <a:rPr sz="1550" b="1" spc="20" dirty="0">
                <a:latin typeface="Calibri"/>
                <a:cs typeface="Calibri"/>
              </a:rPr>
              <a:t> </a:t>
            </a:r>
            <a:r>
              <a:rPr sz="1550" b="1" dirty="0">
                <a:latin typeface="Calibri"/>
                <a:cs typeface="Calibri"/>
              </a:rPr>
              <a:t>2:0</a:t>
            </a:r>
            <a:r>
              <a:rPr sz="1550" b="1" spc="20" dirty="0">
                <a:latin typeface="Calibri"/>
                <a:cs typeface="Calibri"/>
              </a:rPr>
              <a:t> </a:t>
            </a:r>
            <a:r>
              <a:rPr sz="1550" b="1" dirty="0">
                <a:latin typeface="Calibri"/>
                <a:cs typeface="Calibri"/>
              </a:rPr>
              <a:t>]</a:t>
            </a:r>
            <a:r>
              <a:rPr sz="1550" b="1" spc="20" dirty="0">
                <a:latin typeface="Calibri"/>
                <a:cs typeface="Calibri"/>
              </a:rPr>
              <a:t> </a:t>
            </a:r>
            <a:r>
              <a:rPr sz="1550" dirty="0">
                <a:latin typeface="Calibri"/>
                <a:cs typeface="Calibri"/>
              </a:rPr>
              <a:t>cs</a:t>
            </a:r>
            <a:r>
              <a:rPr sz="1550" spc="20" dirty="0">
                <a:latin typeface="Calibri"/>
                <a:cs typeface="Calibri"/>
              </a:rPr>
              <a:t> </a:t>
            </a:r>
            <a:r>
              <a:rPr sz="1550" dirty="0">
                <a:latin typeface="Calibri"/>
                <a:cs typeface="Calibri"/>
              </a:rPr>
              <a:t>,</a:t>
            </a:r>
            <a:r>
              <a:rPr sz="1550" spc="20" dirty="0">
                <a:latin typeface="Calibri"/>
                <a:cs typeface="Calibri"/>
              </a:rPr>
              <a:t> </a:t>
            </a:r>
            <a:r>
              <a:rPr sz="1550" dirty="0">
                <a:latin typeface="Calibri"/>
                <a:cs typeface="Calibri"/>
              </a:rPr>
              <a:t>nst</a:t>
            </a:r>
            <a:r>
              <a:rPr sz="1550" spc="15" dirty="0">
                <a:latin typeface="Calibri"/>
                <a:cs typeface="Calibri"/>
              </a:rPr>
              <a:t> </a:t>
            </a:r>
            <a:r>
              <a:rPr sz="1550" spc="-50" dirty="0">
                <a:latin typeface="Calibri"/>
                <a:cs typeface="Calibri"/>
              </a:rPr>
              <a:t>;</a:t>
            </a:r>
            <a:endParaRPr sz="1550">
              <a:latin typeface="Calibri"/>
              <a:cs typeface="Calibri"/>
            </a:endParaRPr>
          </a:p>
          <a:p>
            <a:pPr>
              <a:lnSpc>
                <a:spcPct val="100000"/>
              </a:lnSpc>
              <a:spcBef>
                <a:spcPts val="65"/>
              </a:spcBef>
            </a:pPr>
            <a:r>
              <a:rPr sz="1550" b="1" dirty="0">
                <a:solidFill>
                  <a:srgbClr val="00B0EF"/>
                </a:solidFill>
                <a:latin typeface="Calibri"/>
                <a:cs typeface="Calibri"/>
              </a:rPr>
              <a:t>//</a:t>
            </a:r>
            <a:r>
              <a:rPr sz="1550" b="1" spc="-10" dirty="0">
                <a:solidFill>
                  <a:srgbClr val="00B0EF"/>
                </a:solidFill>
                <a:latin typeface="宋体"/>
                <a:cs typeface="宋体"/>
              </a:rPr>
              <a:t>状态寄存器</a:t>
            </a:r>
            <a:endParaRPr sz="1550">
              <a:latin typeface="宋体"/>
              <a:cs typeface="宋体"/>
            </a:endParaRPr>
          </a:p>
          <a:p>
            <a:pPr marL="92075" algn="just">
              <a:lnSpc>
                <a:spcPct val="100000"/>
              </a:lnSpc>
            </a:pPr>
            <a:r>
              <a:rPr sz="1550" b="1" dirty="0">
                <a:latin typeface="Calibri"/>
                <a:cs typeface="Calibri"/>
              </a:rPr>
              <a:t>always@ (posedge</a:t>
            </a:r>
            <a:r>
              <a:rPr sz="1550" b="1" spc="10" dirty="0">
                <a:latin typeface="Calibri"/>
                <a:cs typeface="Calibri"/>
              </a:rPr>
              <a:t> </a:t>
            </a:r>
            <a:r>
              <a:rPr sz="1550" dirty="0">
                <a:latin typeface="Calibri"/>
                <a:cs typeface="Calibri"/>
              </a:rPr>
              <a:t>clk</a:t>
            </a:r>
            <a:r>
              <a:rPr sz="1550" spc="25" dirty="0">
                <a:latin typeface="Calibri"/>
                <a:cs typeface="Calibri"/>
              </a:rPr>
              <a:t> </a:t>
            </a:r>
            <a:r>
              <a:rPr sz="1550" b="1" dirty="0">
                <a:latin typeface="Calibri"/>
                <a:cs typeface="Calibri"/>
              </a:rPr>
              <a:t>,</a:t>
            </a:r>
            <a:r>
              <a:rPr sz="1550" b="1" spc="20" dirty="0">
                <a:latin typeface="Calibri"/>
                <a:cs typeface="Calibri"/>
              </a:rPr>
              <a:t> </a:t>
            </a:r>
            <a:r>
              <a:rPr sz="1550" b="1" dirty="0">
                <a:latin typeface="Calibri"/>
                <a:cs typeface="Calibri"/>
              </a:rPr>
              <a:t>posedge</a:t>
            </a:r>
            <a:r>
              <a:rPr sz="1550" b="1" spc="5" dirty="0">
                <a:latin typeface="Calibri"/>
                <a:cs typeface="Calibri"/>
              </a:rPr>
              <a:t> </a:t>
            </a:r>
            <a:r>
              <a:rPr sz="1550" dirty="0">
                <a:latin typeface="Calibri"/>
                <a:cs typeface="Calibri"/>
              </a:rPr>
              <a:t>reset</a:t>
            </a:r>
            <a:r>
              <a:rPr sz="1550" spc="15" dirty="0">
                <a:latin typeface="Calibri"/>
                <a:cs typeface="Calibri"/>
              </a:rPr>
              <a:t> </a:t>
            </a:r>
            <a:r>
              <a:rPr sz="1550" b="1" spc="-50" dirty="0">
                <a:latin typeface="Calibri"/>
                <a:cs typeface="Calibri"/>
              </a:rPr>
              <a:t>)</a:t>
            </a:r>
            <a:endParaRPr sz="1550">
              <a:latin typeface="Calibri"/>
              <a:cs typeface="Calibri"/>
            </a:endParaRPr>
          </a:p>
          <a:p>
            <a:pPr marL="183515" marR="2287270" algn="just">
              <a:lnSpc>
                <a:spcPct val="101800"/>
              </a:lnSpc>
            </a:pPr>
            <a:r>
              <a:rPr sz="1550" dirty="0">
                <a:latin typeface="Calibri"/>
                <a:cs typeface="Calibri"/>
              </a:rPr>
              <a:t>if</a:t>
            </a:r>
            <a:r>
              <a:rPr sz="1550" spc="10" dirty="0">
                <a:latin typeface="Calibri"/>
                <a:cs typeface="Calibri"/>
              </a:rPr>
              <a:t> </a:t>
            </a:r>
            <a:r>
              <a:rPr sz="1550" dirty="0">
                <a:latin typeface="Calibri"/>
                <a:cs typeface="Calibri"/>
              </a:rPr>
              <a:t>(</a:t>
            </a:r>
            <a:r>
              <a:rPr sz="1550" spc="15" dirty="0">
                <a:latin typeface="Calibri"/>
                <a:cs typeface="Calibri"/>
              </a:rPr>
              <a:t> </a:t>
            </a:r>
            <a:r>
              <a:rPr sz="1550" dirty="0">
                <a:latin typeface="Calibri"/>
                <a:cs typeface="Calibri"/>
              </a:rPr>
              <a:t>reset </a:t>
            </a:r>
            <a:r>
              <a:rPr sz="1550" spc="-50" dirty="0">
                <a:latin typeface="Calibri"/>
                <a:cs typeface="Calibri"/>
              </a:rPr>
              <a:t>) </a:t>
            </a:r>
            <a:r>
              <a:rPr sz="1550" dirty="0">
                <a:latin typeface="Calibri"/>
                <a:cs typeface="Calibri"/>
              </a:rPr>
              <a:t>cs</a:t>
            </a:r>
            <a:r>
              <a:rPr sz="1550" spc="30" dirty="0">
                <a:latin typeface="Calibri"/>
                <a:cs typeface="Calibri"/>
              </a:rPr>
              <a:t> </a:t>
            </a:r>
            <a:r>
              <a:rPr sz="1550" dirty="0">
                <a:latin typeface="Calibri"/>
                <a:cs typeface="Calibri"/>
              </a:rPr>
              <a:t>&lt;=</a:t>
            </a:r>
            <a:r>
              <a:rPr sz="1550" spc="35" dirty="0">
                <a:latin typeface="Calibri"/>
                <a:cs typeface="Calibri"/>
              </a:rPr>
              <a:t> </a:t>
            </a:r>
            <a:r>
              <a:rPr sz="1550" dirty="0">
                <a:latin typeface="Calibri"/>
                <a:cs typeface="Calibri"/>
              </a:rPr>
              <a:t>s0</a:t>
            </a:r>
            <a:r>
              <a:rPr sz="1550" spc="30" dirty="0">
                <a:latin typeface="Calibri"/>
                <a:cs typeface="Calibri"/>
              </a:rPr>
              <a:t> </a:t>
            </a:r>
            <a:r>
              <a:rPr sz="1550" spc="-50" dirty="0">
                <a:latin typeface="Calibri"/>
                <a:cs typeface="Calibri"/>
              </a:rPr>
              <a:t>; </a:t>
            </a:r>
            <a:r>
              <a:rPr sz="1550" b="1" spc="-20" dirty="0">
                <a:latin typeface="Calibri"/>
                <a:cs typeface="Calibri"/>
              </a:rPr>
              <a:t>else</a:t>
            </a:r>
            <a:endParaRPr sz="1550">
              <a:latin typeface="Calibri"/>
              <a:cs typeface="Calibri"/>
            </a:endParaRPr>
          </a:p>
          <a:p>
            <a:pPr marL="275590" algn="just">
              <a:lnSpc>
                <a:spcPct val="100000"/>
              </a:lnSpc>
              <a:spcBef>
                <a:spcPts val="50"/>
              </a:spcBef>
            </a:pPr>
            <a:r>
              <a:rPr sz="1550" dirty="0">
                <a:latin typeface="Calibri"/>
                <a:cs typeface="Calibri"/>
              </a:rPr>
              <a:t>cs</a:t>
            </a:r>
            <a:r>
              <a:rPr sz="1550" spc="25" dirty="0">
                <a:latin typeface="Calibri"/>
                <a:cs typeface="Calibri"/>
              </a:rPr>
              <a:t> </a:t>
            </a:r>
            <a:r>
              <a:rPr sz="1550" dirty="0">
                <a:latin typeface="Calibri"/>
                <a:cs typeface="Calibri"/>
              </a:rPr>
              <a:t>&lt;=</a:t>
            </a:r>
            <a:r>
              <a:rPr sz="1550" spc="25" dirty="0">
                <a:latin typeface="Calibri"/>
                <a:cs typeface="Calibri"/>
              </a:rPr>
              <a:t> </a:t>
            </a:r>
            <a:r>
              <a:rPr sz="1550" dirty="0">
                <a:latin typeface="Calibri"/>
                <a:cs typeface="Calibri"/>
              </a:rPr>
              <a:t>nst</a:t>
            </a:r>
            <a:r>
              <a:rPr sz="1550" spc="20" dirty="0">
                <a:latin typeface="Calibri"/>
                <a:cs typeface="Calibri"/>
              </a:rPr>
              <a:t> </a:t>
            </a:r>
            <a:r>
              <a:rPr sz="1550" spc="-50" dirty="0">
                <a:latin typeface="Calibri"/>
                <a:cs typeface="Calibri"/>
              </a:rPr>
              <a:t>;</a:t>
            </a:r>
            <a:endParaRPr sz="1550">
              <a:latin typeface="Calibri"/>
              <a:cs typeface="Calibri"/>
            </a:endParaRPr>
          </a:p>
          <a:p>
            <a:pPr marL="365125">
              <a:lnSpc>
                <a:spcPct val="100000"/>
              </a:lnSpc>
              <a:spcBef>
                <a:spcPts val="450"/>
              </a:spcBef>
            </a:pPr>
            <a:r>
              <a:rPr sz="700" spc="-25" dirty="0">
                <a:latin typeface="Arial"/>
                <a:cs typeface="Arial"/>
              </a:rPr>
              <a:t>27</a:t>
            </a:r>
            <a:endParaRPr sz="700">
              <a:latin typeface="Arial"/>
              <a:cs typeface="Arial"/>
            </a:endParaRPr>
          </a:p>
        </p:txBody>
      </p:sp>
      <p:grpSp>
        <p:nvGrpSpPr>
          <p:cNvPr id="11" name="object 11"/>
          <p:cNvGrpSpPr/>
          <p:nvPr/>
        </p:nvGrpSpPr>
        <p:grpSpPr>
          <a:xfrm>
            <a:off x="4968887" y="1578863"/>
            <a:ext cx="5013960" cy="5191125"/>
            <a:chOff x="4968887" y="1578863"/>
            <a:chExt cx="5013960" cy="5191125"/>
          </a:xfrm>
        </p:grpSpPr>
        <p:sp>
          <p:nvSpPr>
            <p:cNvPr id="12" name="object 12"/>
            <p:cNvSpPr/>
            <p:nvPr/>
          </p:nvSpPr>
          <p:spPr>
            <a:xfrm>
              <a:off x="4972697" y="1583435"/>
              <a:ext cx="5006340" cy="5182870"/>
            </a:xfrm>
            <a:custGeom>
              <a:avLst/>
              <a:gdLst/>
              <a:ahLst/>
              <a:cxnLst/>
              <a:rect l="l" t="t" r="r" b="b"/>
              <a:pathLst>
                <a:path w="5006340" h="5182870">
                  <a:moveTo>
                    <a:pt x="5006340" y="5182362"/>
                  </a:moveTo>
                  <a:lnTo>
                    <a:pt x="5006340" y="0"/>
                  </a:lnTo>
                  <a:lnTo>
                    <a:pt x="0" y="0"/>
                  </a:lnTo>
                  <a:lnTo>
                    <a:pt x="0" y="5182362"/>
                  </a:lnTo>
                  <a:lnTo>
                    <a:pt x="5006340" y="5182362"/>
                  </a:lnTo>
                  <a:close/>
                </a:path>
              </a:pathLst>
            </a:custGeom>
            <a:solidFill>
              <a:srgbClr val="F9FABA"/>
            </a:solidFill>
          </p:spPr>
          <p:txBody>
            <a:bodyPr wrap="square" lIns="0" tIns="0" rIns="0" bIns="0" rtlCol="0"/>
            <a:lstStyle/>
            <a:p>
              <a:endParaRPr dirty="0"/>
            </a:p>
          </p:txBody>
        </p:sp>
        <p:sp>
          <p:nvSpPr>
            <p:cNvPr id="13" name="object 13"/>
            <p:cNvSpPr/>
            <p:nvPr/>
          </p:nvSpPr>
          <p:spPr>
            <a:xfrm>
              <a:off x="4968887" y="1578863"/>
              <a:ext cx="5013960" cy="5191125"/>
            </a:xfrm>
            <a:custGeom>
              <a:avLst/>
              <a:gdLst/>
              <a:ahLst/>
              <a:cxnLst/>
              <a:rect l="l" t="t" r="r" b="b"/>
              <a:pathLst>
                <a:path w="5013959" h="5191125">
                  <a:moveTo>
                    <a:pt x="5013960" y="5189220"/>
                  </a:moveTo>
                  <a:lnTo>
                    <a:pt x="5013960" y="2285"/>
                  </a:lnTo>
                  <a:lnTo>
                    <a:pt x="5012436" y="0"/>
                  </a:lnTo>
                  <a:lnTo>
                    <a:pt x="1523" y="0"/>
                  </a:lnTo>
                  <a:lnTo>
                    <a:pt x="0" y="2286"/>
                  </a:lnTo>
                  <a:lnTo>
                    <a:pt x="0" y="5189220"/>
                  </a:lnTo>
                  <a:lnTo>
                    <a:pt x="1524" y="5190744"/>
                  </a:lnTo>
                  <a:lnTo>
                    <a:pt x="3810" y="5190744"/>
                  </a:lnTo>
                  <a:lnTo>
                    <a:pt x="3810" y="8382"/>
                  </a:lnTo>
                  <a:lnTo>
                    <a:pt x="8382" y="4572"/>
                  </a:lnTo>
                  <a:lnTo>
                    <a:pt x="8382" y="8382"/>
                  </a:lnTo>
                  <a:lnTo>
                    <a:pt x="5005578" y="8381"/>
                  </a:lnTo>
                  <a:lnTo>
                    <a:pt x="5005578" y="4571"/>
                  </a:lnTo>
                  <a:lnTo>
                    <a:pt x="5010150" y="8381"/>
                  </a:lnTo>
                  <a:lnTo>
                    <a:pt x="5010150" y="5190744"/>
                  </a:lnTo>
                  <a:lnTo>
                    <a:pt x="5012436" y="5190744"/>
                  </a:lnTo>
                  <a:lnTo>
                    <a:pt x="5013960" y="5189220"/>
                  </a:lnTo>
                  <a:close/>
                </a:path>
                <a:path w="5013959" h="5191125">
                  <a:moveTo>
                    <a:pt x="8382" y="8382"/>
                  </a:moveTo>
                  <a:lnTo>
                    <a:pt x="8382" y="4572"/>
                  </a:lnTo>
                  <a:lnTo>
                    <a:pt x="3810" y="8382"/>
                  </a:lnTo>
                  <a:lnTo>
                    <a:pt x="8382" y="8382"/>
                  </a:lnTo>
                  <a:close/>
                </a:path>
                <a:path w="5013959" h="5191125">
                  <a:moveTo>
                    <a:pt x="8382" y="5182362"/>
                  </a:moveTo>
                  <a:lnTo>
                    <a:pt x="8382" y="8382"/>
                  </a:lnTo>
                  <a:lnTo>
                    <a:pt x="3810" y="8382"/>
                  </a:lnTo>
                  <a:lnTo>
                    <a:pt x="3810" y="5182362"/>
                  </a:lnTo>
                  <a:lnTo>
                    <a:pt x="8382" y="5182362"/>
                  </a:lnTo>
                  <a:close/>
                </a:path>
                <a:path w="5013959" h="5191125">
                  <a:moveTo>
                    <a:pt x="5010150" y="5182362"/>
                  </a:moveTo>
                  <a:lnTo>
                    <a:pt x="3810" y="5182362"/>
                  </a:lnTo>
                  <a:lnTo>
                    <a:pt x="8382" y="5186934"/>
                  </a:lnTo>
                  <a:lnTo>
                    <a:pt x="8382" y="5190744"/>
                  </a:lnTo>
                  <a:lnTo>
                    <a:pt x="5005578" y="5190744"/>
                  </a:lnTo>
                  <a:lnTo>
                    <a:pt x="5005578" y="5186934"/>
                  </a:lnTo>
                  <a:lnTo>
                    <a:pt x="5010150" y="5182362"/>
                  </a:lnTo>
                  <a:close/>
                </a:path>
                <a:path w="5013959" h="5191125">
                  <a:moveTo>
                    <a:pt x="8382" y="5190744"/>
                  </a:moveTo>
                  <a:lnTo>
                    <a:pt x="8382" y="5186934"/>
                  </a:lnTo>
                  <a:lnTo>
                    <a:pt x="3810" y="5182362"/>
                  </a:lnTo>
                  <a:lnTo>
                    <a:pt x="3810" y="5190744"/>
                  </a:lnTo>
                  <a:lnTo>
                    <a:pt x="8382" y="5190744"/>
                  </a:lnTo>
                  <a:close/>
                </a:path>
                <a:path w="5013959" h="5191125">
                  <a:moveTo>
                    <a:pt x="5010150" y="8381"/>
                  </a:moveTo>
                  <a:lnTo>
                    <a:pt x="5005578" y="4571"/>
                  </a:lnTo>
                  <a:lnTo>
                    <a:pt x="5005578" y="8381"/>
                  </a:lnTo>
                  <a:lnTo>
                    <a:pt x="5010150" y="8381"/>
                  </a:lnTo>
                  <a:close/>
                </a:path>
                <a:path w="5013959" h="5191125">
                  <a:moveTo>
                    <a:pt x="5010150" y="5182362"/>
                  </a:moveTo>
                  <a:lnTo>
                    <a:pt x="5010150" y="8381"/>
                  </a:lnTo>
                  <a:lnTo>
                    <a:pt x="5005578" y="8381"/>
                  </a:lnTo>
                  <a:lnTo>
                    <a:pt x="5005578" y="5182362"/>
                  </a:lnTo>
                  <a:lnTo>
                    <a:pt x="5010150" y="5182362"/>
                  </a:lnTo>
                  <a:close/>
                </a:path>
                <a:path w="5013959" h="5191125">
                  <a:moveTo>
                    <a:pt x="5010150" y="5190744"/>
                  </a:moveTo>
                  <a:lnTo>
                    <a:pt x="5010150" y="5182362"/>
                  </a:lnTo>
                  <a:lnTo>
                    <a:pt x="5005578" y="5186934"/>
                  </a:lnTo>
                  <a:lnTo>
                    <a:pt x="5005578" y="5190744"/>
                  </a:lnTo>
                  <a:lnTo>
                    <a:pt x="5010150" y="5190744"/>
                  </a:lnTo>
                  <a:close/>
                </a:path>
              </a:pathLst>
            </a:custGeom>
            <a:solidFill>
              <a:srgbClr val="FF0000"/>
            </a:solidFill>
          </p:spPr>
          <p:txBody>
            <a:bodyPr wrap="square" lIns="0" tIns="0" rIns="0" bIns="0" rtlCol="0"/>
            <a:lstStyle/>
            <a:p>
              <a:endParaRPr/>
            </a:p>
          </p:txBody>
        </p:sp>
      </p:grpSp>
      <p:sp>
        <p:nvSpPr>
          <p:cNvPr id="14" name="object 14"/>
          <p:cNvSpPr txBox="1"/>
          <p:nvPr/>
        </p:nvSpPr>
        <p:spPr>
          <a:xfrm>
            <a:off x="5040001" y="1601215"/>
            <a:ext cx="2440940" cy="5071745"/>
          </a:xfrm>
          <a:prstGeom prst="rect">
            <a:avLst/>
          </a:prstGeom>
        </p:spPr>
        <p:txBody>
          <a:bodyPr vert="horz" wrap="square" lIns="0" tIns="15875" rIns="0" bIns="0" rtlCol="0">
            <a:spAutoFit/>
          </a:bodyPr>
          <a:lstStyle/>
          <a:p>
            <a:pPr marL="12700" marR="612140">
              <a:lnSpc>
                <a:spcPct val="100000"/>
              </a:lnSpc>
              <a:spcBef>
                <a:spcPts val="125"/>
              </a:spcBef>
            </a:pPr>
            <a:r>
              <a:rPr sz="1550" b="1" dirty="0">
                <a:latin typeface="Calibri"/>
                <a:cs typeface="Calibri"/>
              </a:rPr>
              <a:t>always</a:t>
            </a:r>
            <a:r>
              <a:rPr sz="1550" b="1" spc="380" dirty="0">
                <a:latin typeface="Calibri"/>
                <a:cs typeface="Calibri"/>
              </a:rPr>
              <a:t> </a:t>
            </a:r>
            <a:r>
              <a:rPr sz="1550" dirty="0">
                <a:latin typeface="Calibri"/>
                <a:cs typeface="Calibri"/>
              </a:rPr>
              <a:t>@*</a:t>
            </a:r>
            <a:r>
              <a:rPr sz="1550" spc="415" dirty="0">
                <a:latin typeface="Calibri"/>
                <a:cs typeface="Calibri"/>
              </a:rPr>
              <a:t> </a:t>
            </a:r>
            <a:r>
              <a:rPr sz="1550" b="1" dirty="0">
                <a:solidFill>
                  <a:srgbClr val="00B0EF"/>
                </a:solidFill>
                <a:latin typeface="Calibri"/>
                <a:cs typeface="Calibri"/>
              </a:rPr>
              <a:t>//C1</a:t>
            </a:r>
            <a:r>
              <a:rPr sz="1550" b="1" spc="-25" dirty="0">
                <a:solidFill>
                  <a:srgbClr val="00B0EF"/>
                </a:solidFill>
                <a:latin typeface="宋体"/>
                <a:cs typeface="宋体"/>
              </a:rPr>
              <a:t>模块</a:t>
            </a:r>
            <a:r>
              <a:rPr sz="1550" b="1" spc="-50" dirty="0">
                <a:solidFill>
                  <a:srgbClr val="00B0EF"/>
                </a:solidFill>
                <a:latin typeface="宋体"/>
                <a:cs typeface="宋体"/>
              </a:rPr>
              <a:t> </a:t>
            </a:r>
            <a:r>
              <a:rPr sz="1550" b="1" spc="-10" dirty="0">
                <a:latin typeface="Calibri"/>
                <a:cs typeface="Calibri"/>
              </a:rPr>
              <a:t>begin</a:t>
            </a:r>
            <a:endParaRPr sz="1550" dirty="0">
              <a:latin typeface="Calibri"/>
              <a:cs typeface="Calibri"/>
            </a:endParaRPr>
          </a:p>
          <a:p>
            <a:pPr marL="288290" marR="1498600" indent="-138430">
              <a:lnSpc>
                <a:spcPct val="101899"/>
              </a:lnSpc>
            </a:pPr>
            <a:r>
              <a:rPr sz="1550" b="1" dirty="0">
                <a:latin typeface="Calibri"/>
                <a:cs typeface="Calibri"/>
              </a:rPr>
              <a:t>case</a:t>
            </a:r>
            <a:r>
              <a:rPr sz="1550" b="1" spc="395" dirty="0">
                <a:latin typeface="Calibri"/>
                <a:cs typeface="Calibri"/>
              </a:rPr>
              <a:t> </a:t>
            </a:r>
            <a:r>
              <a:rPr sz="1550" dirty="0">
                <a:latin typeface="Calibri"/>
                <a:cs typeface="Calibri"/>
              </a:rPr>
              <a:t>(cs</a:t>
            </a:r>
            <a:r>
              <a:rPr sz="1550" spc="25" dirty="0">
                <a:latin typeface="Calibri"/>
                <a:cs typeface="Calibri"/>
              </a:rPr>
              <a:t> </a:t>
            </a:r>
            <a:r>
              <a:rPr sz="1550" spc="-50" dirty="0">
                <a:latin typeface="Calibri"/>
                <a:cs typeface="Calibri"/>
              </a:rPr>
              <a:t>) </a:t>
            </a:r>
            <a:r>
              <a:rPr sz="1550" spc="-25" dirty="0">
                <a:latin typeface="Calibri"/>
                <a:cs typeface="Calibri"/>
              </a:rPr>
              <a:t>s0:</a:t>
            </a:r>
            <a:endParaRPr sz="1550" dirty="0">
              <a:latin typeface="Calibri"/>
              <a:cs typeface="Calibri"/>
            </a:endParaRPr>
          </a:p>
          <a:p>
            <a:pPr marL="425450">
              <a:lnSpc>
                <a:spcPct val="100000"/>
              </a:lnSpc>
              <a:spcBef>
                <a:spcPts val="40"/>
              </a:spcBef>
            </a:pPr>
            <a:r>
              <a:rPr sz="1550" b="1" dirty="0">
                <a:latin typeface="Calibri"/>
                <a:cs typeface="Calibri"/>
              </a:rPr>
              <a:t>if</a:t>
            </a:r>
            <a:r>
              <a:rPr sz="1550" b="1" spc="25" dirty="0">
                <a:latin typeface="Calibri"/>
                <a:cs typeface="Calibri"/>
              </a:rPr>
              <a:t> </a:t>
            </a:r>
            <a:r>
              <a:rPr sz="1550" dirty="0">
                <a:latin typeface="Calibri"/>
                <a:cs typeface="Calibri"/>
              </a:rPr>
              <a:t>(din</a:t>
            </a:r>
            <a:r>
              <a:rPr sz="1550" spc="30" dirty="0">
                <a:latin typeface="Calibri"/>
                <a:cs typeface="Calibri"/>
              </a:rPr>
              <a:t> </a:t>
            </a:r>
            <a:r>
              <a:rPr sz="1550" dirty="0">
                <a:latin typeface="Calibri"/>
                <a:cs typeface="Calibri"/>
              </a:rPr>
              <a:t>==</a:t>
            </a:r>
            <a:r>
              <a:rPr sz="1550" spc="30" dirty="0">
                <a:latin typeface="Calibri"/>
                <a:cs typeface="Calibri"/>
              </a:rPr>
              <a:t> </a:t>
            </a:r>
            <a:r>
              <a:rPr sz="1550" dirty="0">
                <a:latin typeface="Calibri"/>
                <a:cs typeface="Calibri"/>
              </a:rPr>
              <a:t>1’b1</a:t>
            </a:r>
            <a:r>
              <a:rPr sz="1550" spc="30" dirty="0">
                <a:latin typeface="Calibri"/>
                <a:cs typeface="Calibri"/>
              </a:rPr>
              <a:t> </a:t>
            </a:r>
            <a:r>
              <a:rPr sz="1550" dirty="0">
                <a:latin typeface="Calibri"/>
                <a:cs typeface="Calibri"/>
              </a:rPr>
              <a:t>)</a:t>
            </a:r>
            <a:r>
              <a:rPr sz="1550" spc="30" dirty="0">
                <a:latin typeface="Calibri"/>
                <a:cs typeface="Calibri"/>
              </a:rPr>
              <a:t> </a:t>
            </a:r>
            <a:r>
              <a:rPr sz="1550" dirty="0">
                <a:latin typeface="Calibri"/>
                <a:cs typeface="Calibri"/>
              </a:rPr>
              <a:t>nst</a:t>
            </a:r>
            <a:r>
              <a:rPr sz="1550" spc="20" dirty="0">
                <a:latin typeface="Calibri"/>
                <a:cs typeface="Calibri"/>
              </a:rPr>
              <a:t> </a:t>
            </a:r>
            <a:r>
              <a:rPr sz="1550" dirty="0">
                <a:latin typeface="Calibri"/>
                <a:cs typeface="Calibri"/>
              </a:rPr>
              <a:t>=</a:t>
            </a:r>
            <a:r>
              <a:rPr sz="1550" spc="15" dirty="0">
                <a:latin typeface="Calibri"/>
                <a:cs typeface="Calibri"/>
              </a:rPr>
              <a:t> </a:t>
            </a:r>
            <a:r>
              <a:rPr sz="1550" dirty="0">
                <a:latin typeface="Calibri"/>
                <a:cs typeface="Calibri"/>
              </a:rPr>
              <a:t>s1</a:t>
            </a:r>
            <a:r>
              <a:rPr sz="1550" spc="20" dirty="0">
                <a:latin typeface="Calibri"/>
                <a:cs typeface="Calibri"/>
              </a:rPr>
              <a:t> </a:t>
            </a:r>
            <a:r>
              <a:rPr sz="1550" spc="-50" dirty="0">
                <a:latin typeface="Calibri"/>
                <a:cs typeface="Calibri"/>
              </a:rPr>
              <a:t>;</a:t>
            </a:r>
            <a:endParaRPr sz="1550" dirty="0">
              <a:latin typeface="Calibri"/>
              <a:cs typeface="Calibri"/>
            </a:endParaRPr>
          </a:p>
          <a:p>
            <a:pPr marL="563245">
              <a:lnSpc>
                <a:spcPct val="100000"/>
              </a:lnSpc>
              <a:spcBef>
                <a:spcPts val="30"/>
              </a:spcBef>
            </a:pPr>
            <a:r>
              <a:rPr sz="1550" b="1" dirty="0">
                <a:latin typeface="Calibri"/>
                <a:cs typeface="Calibri"/>
              </a:rPr>
              <a:t>else</a:t>
            </a:r>
            <a:r>
              <a:rPr sz="1550" b="1" spc="10" dirty="0">
                <a:latin typeface="Calibri"/>
                <a:cs typeface="Calibri"/>
              </a:rPr>
              <a:t> </a:t>
            </a:r>
            <a:r>
              <a:rPr sz="1550" dirty="0">
                <a:latin typeface="Calibri"/>
                <a:cs typeface="Calibri"/>
              </a:rPr>
              <a:t>nst</a:t>
            </a:r>
            <a:r>
              <a:rPr sz="1550" spc="25" dirty="0">
                <a:latin typeface="Calibri"/>
                <a:cs typeface="Calibri"/>
              </a:rPr>
              <a:t> </a:t>
            </a:r>
            <a:r>
              <a:rPr sz="1550" dirty="0">
                <a:latin typeface="Calibri"/>
                <a:cs typeface="Calibri"/>
              </a:rPr>
              <a:t>=</a:t>
            </a:r>
            <a:r>
              <a:rPr sz="1550" spc="25" dirty="0">
                <a:latin typeface="Calibri"/>
                <a:cs typeface="Calibri"/>
              </a:rPr>
              <a:t> </a:t>
            </a:r>
            <a:r>
              <a:rPr sz="1550" dirty="0">
                <a:latin typeface="Calibri"/>
                <a:cs typeface="Calibri"/>
              </a:rPr>
              <a:t>s0</a:t>
            </a:r>
            <a:r>
              <a:rPr sz="1550" spc="30" dirty="0">
                <a:latin typeface="Calibri"/>
                <a:cs typeface="Calibri"/>
              </a:rPr>
              <a:t> </a:t>
            </a:r>
            <a:r>
              <a:rPr sz="1550" spc="-50" dirty="0">
                <a:latin typeface="Calibri"/>
                <a:cs typeface="Calibri"/>
              </a:rPr>
              <a:t>;</a:t>
            </a:r>
            <a:endParaRPr sz="1550" dirty="0">
              <a:latin typeface="Calibri"/>
              <a:cs typeface="Calibri"/>
            </a:endParaRPr>
          </a:p>
          <a:p>
            <a:pPr marL="288290">
              <a:lnSpc>
                <a:spcPct val="100000"/>
              </a:lnSpc>
              <a:spcBef>
                <a:spcPts val="35"/>
              </a:spcBef>
            </a:pPr>
            <a:r>
              <a:rPr sz="1550" spc="-25" dirty="0">
                <a:latin typeface="Calibri"/>
                <a:cs typeface="Calibri"/>
              </a:rPr>
              <a:t>s1:</a:t>
            </a:r>
            <a:endParaRPr sz="1550" dirty="0">
              <a:latin typeface="Calibri"/>
              <a:cs typeface="Calibri"/>
            </a:endParaRPr>
          </a:p>
          <a:p>
            <a:pPr marL="563245" marR="5080" indent="-138430">
              <a:lnSpc>
                <a:spcPts val="1900"/>
              </a:lnSpc>
              <a:spcBef>
                <a:spcPts val="60"/>
              </a:spcBef>
            </a:pPr>
            <a:r>
              <a:rPr sz="1550" b="1" dirty="0">
                <a:latin typeface="Calibri"/>
                <a:cs typeface="Calibri"/>
              </a:rPr>
              <a:t>if</a:t>
            </a:r>
            <a:r>
              <a:rPr sz="1550" b="1" spc="25" dirty="0">
                <a:latin typeface="Calibri"/>
                <a:cs typeface="Calibri"/>
              </a:rPr>
              <a:t> </a:t>
            </a:r>
            <a:r>
              <a:rPr sz="1550" dirty="0">
                <a:latin typeface="Calibri"/>
                <a:cs typeface="Calibri"/>
              </a:rPr>
              <a:t>(din</a:t>
            </a:r>
            <a:r>
              <a:rPr sz="1550" spc="30" dirty="0">
                <a:latin typeface="Calibri"/>
                <a:cs typeface="Calibri"/>
              </a:rPr>
              <a:t> </a:t>
            </a:r>
            <a:r>
              <a:rPr sz="1550" dirty="0">
                <a:latin typeface="Calibri"/>
                <a:cs typeface="Calibri"/>
              </a:rPr>
              <a:t>==</a:t>
            </a:r>
            <a:r>
              <a:rPr sz="1550" spc="30" dirty="0">
                <a:latin typeface="Calibri"/>
                <a:cs typeface="Calibri"/>
              </a:rPr>
              <a:t> </a:t>
            </a:r>
            <a:r>
              <a:rPr sz="1550" dirty="0">
                <a:latin typeface="Calibri"/>
                <a:cs typeface="Calibri"/>
              </a:rPr>
              <a:t>1’b1</a:t>
            </a:r>
            <a:r>
              <a:rPr sz="1550" spc="30" dirty="0">
                <a:latin typeface="Calibri"/>
                <a:cs typeface="Calibri"/>
              </a:rPr>
              <a:t> </a:t>
            </a:r>
            <a:r>
              <a:rPr sz="1550" dirty="0">
                <a:latin typeface="Calibri"/>
                <a:cs typeface="Calibri"/>
              </a:rPr>
              <a:t>)</a:t>
            </a:r>
            <a:r>
              <a:rPr sz="1550" spc="30" dirty="0">
                <a:latin typeface="Calibri"/>
                <a:cs typeface="Calibri"/>
              </a:rPr>
              <a:t> </a:t>
            </a:r>
            <a:r>
              <a:rPr sz="1550" dirty="0">
                <a:latin typeface="Calibri"/>
                <a:cs typeface="Calibri"/>
              </a:rPr>
              <a:t>nst</a:t>
            </a:r>
            <a:r>
              <a:rPr sz="1550" spc="20" dirty="0">
                <a:latin typeface="Calibri"/>
                <a:cs typeface="Calibri"/>
              </a:rPr>
              <a:t> </a:t>
            </a:r>
            <a:r>
              <a:rPr sz="1550" dirty="0">
                <a:latin typeface="Calibri"/>
                <a:cs typeface="Calibri"/>
              </a:rPr>
              <a:t>=</a:t>
            </a:r>
            <a:r>
              <a:rPr sz="1550" spc="15" dirty="0">
                <a:latin typeface="Calibri"/>
                <a:cs typeface="Calibri"/>
              </a:rPr>
              <a:t> </a:t>
            </a:r>
            <a:r>
              <a:rPr sz="1550" dirty="0">
                <a:latin typeface="Calibri"/>
                <a:cs typeface="Calibri"/>
              </a:rPr>
              <a:t>s2</a:t>
            </a:r>
            <a:r>
              <a:rPr sz="1550" spc="20" dirty="0">
                <a:latin typeface="Calibri"/>
                <a:cs typeface="Calibri"/>
              </a:rPr>
              <a:t> </a:t>
            </a:r>
            <a:r>
              <a:rPr sz="1550" spc="-50" dirty="0">
                <a:latin typeface="Calibri"/>
                <a:cs typeface="Calibri"/>
              </a:rPr>
              <a:t>; </a:t>
            </a:r>
            <a:r>
              <a:rPr sz="1550" dirty="0">
                <a:latin typeface="Calibri"/>
                <a:cs typeface="Calibri"/>
              </a:rPr>
              <a:t>else</a:t>
            </a:r>
            <a:r>
              <a:rPr sz="1550" spc="25" dirty="0">
                <a:latin typeface="Calibri"/>
                <a:cs typeface="Calibri"/>
              </a:rPr>
              <a:t> </a:t>
            </a:r>
            <a:r>
              <a:rPr sz="1550" dirty="0">
                <a:latin typeface="Calibri"/>
                <a:cs typeface="Calibri"/>
              </a:rPr>
              <a:t>nst</a:t>
            </a:r>
            <a:r>
              <a:rPr sz="1550" spc="20" dirty="0">
                <a:latin typeface="Calibri"/>
                <a:cs typeface="Calibri"/>
              </a:rPr>
              <a:t> </a:t>
            </a:r>
            <a:r>
              <a:rPr sz="1550" dirty="0">
                <a:latin typeface="Calibri"/>
                <a:cs typeface="Calibri"/>
              </a:rPr>
              <a:t>=</a:t>
            </a:r>
            <a:r>
              <a:rPr sz="1550" spc="30" dirty="0">
                <a:latin typeface="Calibri"/>
                <a:cs typeface="Calibri"/>
              </a:rPr>
              <a:t> </a:t>
            </a:r>
            <a:r>
              <a:rPr sz="1550" dirty="0">
                <a:latin typeface="Calibri"/>
                <a:cs typeface="Calibri"/>
              </a:rPr>
              <a:t>s0</a:t>
            </a:r>
            <a:r>
              <a:rPr sz="1550" spc="25" dirty="0">
                <a:latin typeface="Calibri"/>
                <a:cs typeface="Calibri"/>
              </a:rPr>
              <a:t> </a:t>
            </a:r>
            <a:r>
              <a:rPr sz="1550" spc="-50" dirty="0">
                <a:latin typeface="Calibri"/>
                <a:cs typeface="Calibri"/>
              </a:rPr>
              <a:t>;</a:t>
            </a:r>
            <a:endParaRPr sz="1550" dirty="0">
              <a:latin typeface="Calibri"/>
              <a:cs typeface="Calibri"/>
            </a:endParaRPr>
          </a:p>
          <a:p>
            <a:pPr marL="288290">
              <a:lnSpc>
                <a:spcPts val="1820"/>
              </a:lnSpc>
            </a:pPr>
            <a:r>
              <a:rPr sz="1550" spc="-25" dirty="0">
                <a:latin typeface="Calibri"/>
                <a:cs typeface="Calibri"/>
              </a:rPr>
              <a:t>s2:</a:t>
            </a:r>
            <a:endParaRPr sz="1550" dirty="0">
              <a:latin typeface="Calibri"/>
              <a:cs typeface="Calibri"/>
            </a:endParaRPr>
          </a:p>
          <a:p>
            <a:pPr marL="379730">
              <a:lnSpc>
                <a:spcPct val="100000"/>
              </a:lnSpc>
              <a:spcBef>
                <a:spcPts val="30"/>
              </a:spcBef>
            </a:pPr>
            <a:r>
              <a:rPr sz="1550" b="1" dirty="0">
                <a:latin typeface="Calibri"/>
                <a:cs typeface="Calibri"/>
              </a:rPr>
              <a:t>if</a:t>
            </a:r>
            <a:r>
              <a:rPr sz="1550" b="1" spc="25" dirty="0">
                <a:latin typeface="Calibri"/>
                <a:cs typeface="Calibri"/>
              </a:rPr>
              <a:t> </a:t>
            </a:r>
            <a:r>
              <a:rPr sz="1550" dirty="0">
                <a:latin typeface="Calibri"/>
                <a:cs typeface="Calibri"/>
              </a:rPr>
              <a:t>(din</a:t>
            </a:r>
            <a:r>
              <a:rPr sz="1550" spc="40" dirty="0">
                <a:latin typeface="Calibri"/>
                <a:cs typeface="Calibri"/>
              </a:rPr>
              <a:t> </a:t>
            </a:r>
            <a:r>
              <a:rPr sz="1550" dirty="0">
                <a:latin typeface="Calibri"/>
                <a:cs typeface="Calibri"/>
              </a:rPr>
              <a:t>==</a:t>
            </a:r>
            <a:r>
              <a:rPr sz="1550" spc="30" dirty="0">
                <a:latin typeface="Calibri"/>
                <a:cs typeface="Calibri"/>
              </a:rPr>
              <a:t> </a:t>
            </a:r>
            <a:r>
              <a:rPr sz="1550" dirty="0">
                <a:latin typeface="Calibri"/>
                <a:cs typeface="Calibri"/>
              </a:rPr>
              <a:t>1’b0</a:t>
            </a:r>
            <a:r>
              <a:rPr sz="1550" spc="30" dirty="0">
                <a:latin typeface="Calibri"/>
                <a:cs typeface="Calibri"/>
              </a:rPr>
              <a:t> </a:t>
            </a:r>
            <a:r>
              <a:rPr sz="1550" dirty="0">
                <a:latin typeface="Calibri"/>
                <a:cs typeface="Calibri"/>
              </a:rPr>
              <a:t>)</a:t>
            </a:r>
            <a:r>
              <a:rPr sz="1550" spc="30" dirty="0">
                <a:latin typeface="Calibri"/>
                <a:cs typeface="Calibri"/>
              </a:rPr>
              <a:t> </a:t>
            </a:r>
            <a:r>
              <a:rPr sz="1550" dirty="0">
                <a:latin typeface="Calibri"/>
                <a:cs typeface="Calibri"/>
              </a:rPr>
              <a:t>nst</a:t>
            </a:r>
            <a:r>
              <a:rPr sz="1550" spc="20" dirty="0">
                <a:latin typeface="Calibri"/>
                <a:cs typeface="Calibri"/>
              </a:rPr>
              <a:t> </a:t>
            </a:r>
            <a:r>
              <a:rPr sz="1550" dirty="0">
                <a:latin typeface="Calibri"/>
                <a:cs typeface="Calibri"/>
              </a:rPr>
              <a:t>=</a:t>
            </a:r>
            <a:r>
              <a:rPr sz="1550" spc="25" dirty="0">
                <a:latin typeface="Calibri"/>
                <a:cs typeface="Calibri"/>
              </a:rPr>
              <a:t> </a:t>
            </a:r>
            <a:r>
              <a:rPr sz="1550" dirty="0">
                <a:latin typeface="Calibri"/>
                <a:cs typeface="Calibri"/>
              </a:rPr>
              <a:t>s3</a:t>
            </a:r>
            <a:r>
              <a:rPr sz="1550" spc="30" dirty="0">
                <a:latin typeface="Calibri"/>
                <a:cs typeface="Calibri"/>
              </a:rPr>
              <a:t> </a:t>
            </a:r>
            <a:r>
              <a:rPr sz="1550" spc="-50" dirty="0">
                <a:latin typeface="Calibri"/>
                <a:cs typeface="Calibri"/>
              </a:rPr>
              <a:t>;</a:t>
            </a:r>
            <a:endParaRPr sz="1550" dirty="0">
              <a:latin typeface="Calibri"/>
              <a:cs typeface="Calibri"/>
            </a:endParaRPr>
          </a:p>
          <a:p>
            <a:pPr marL="563245">
              <a:lnSpc>
                <a:spcPct val="100000"/>
              </a:lnSpc>
              <a:spcBef>
                <a:spcPts val="35"/>
              </a:spcBef>
            </a:pPr>
            <a:r>
              <a:rPr sz="1550" b="1" dirty="0">
                <a:latin typeface="Calibri"/>
                <a:cs typeface="Calibri"/>
              </a:rPr>
              <a:t>else</a:t>
            </a:r>
            <a:r>
              <a:rPr sz="1550" b="1" spc="10" dirty="0">
                <a:latin typeface="Calibri"/>
                <a:cs typeface="Calibri"/>
              </a:rPr>
              <a:t> </a:t>
            </a:r>
            <a:r>
              <a:rPr sz="1550" dirty="0">
                <a:latin typeface="Calibri"/>
                <a:cs typeface="Calibri"/>
              </a:rPr>
              <a:t>nst</a:t>
            </a:r>
            <a:r>
              <a:rPr sz="1550" spc="25" dirty="0">
                <a:latin typeface="Calibri"/>
                <a:cs typeface="Calibri"/>
              </a:rPr>
              <a:t> </a:t>
            </a:r>
            <a:r>
              <a:rPr sz="1550" dirty="0">
                <a:latin typeface="Calibri"/>
                <a:cs typeface="Calibri"/>
              </a:rPr>
              <a:t>=</a:t>
            </a:r>
            <a:r>
              <a:rPr sz="1550" spc="25" dirty="0">
                <a:latin typeface="Calibri"/>
                <a:cs typeface="Calibri"/>
              </a:rPr>
              <a:t> </a:t>
            </a:r>
            <a:r>
              <a:rPr sz="1550" dirty="0">
                <a:latin typeface="Calibri"/>
                <a:cs typeface="Calibri"/>
              </a:rPr>
              <a:t>s2</a:t>
            </a:r>
            <a:r>
              <a:rPr sz="1550" spc="30" dirty="0">
                <a:latin typeface="Calibri"/>
                <a:cs typeface="Calibri"/>
              </a:rPr>
              <a:t> </a:t>
            </a:r>
            <a:r>
              <a:rPr sz="1550" spc="-50" dirty="0">
                <a:latin typeface="Calibri"/>
                <a:cs typeface="Calibri"/>
              </a:rPr>
              <a:t>;</a:t>
            </a:r>
            <a:endParaRPr sz="1550" dirty="0">
              <a:latin typeface="Calibri"/>
              <a:cs typeface="Calibri"/>
            </a:endParaRPr>
          </a:p>
          <a:p>
            <a:pPr marL="241935">
              <a:lnSpc>
                <a:spcPct val="100000"/>
              </a:lnSpc>
              <a:spcBef>
                <a:spcPts val="30"/>
              </a:spcBef>
            </a:pPr>
            <a:r>
              <a:rPr sz="1550" spc="-25" dirty="0">
                <a:latin typeface="Calibri"/>
                <a:cs typeface="Calibri"/>
              </a:rPr>
              <a:t>s3:</a:t>
            </a:r>
            <a:endParaRPr sz="1550" dirty="0">
              <a:latin typeface="Calibri"/>
              <a:cs typeface="Calibri"/>
            </a:endParaRPr>
          </a:p>
          <a:p>
            <a:pPr marL="563245" marR="94615" indent="-184150">
              <a:lnSpc>
                <a:spcPct val="101899"/>
              </a:lnSpc>
            </a:pPr>
            <a:r>
              <a:rPr sz="1550" b="1" dirty="0">
                <a:latin typeface="Calibri"/>
                <a:cs typeface="Calibri"/>
              </a:rPr>
              <a:t>if</a:t>
            </a:r>
            <a:r>
              <a:rPr sz="1550" b="1" spc="20" dirty="0">
                <a:latin typeface="Calibri"/>
                <a:cs typeface="Calibri"/>
              </a:rPr>
              <a:t> </a:t>
            </a:r>
            <a:r>
              <a:rPr sz="1550" dirty="0">
                <a:latin typeface="Calibri"/>
                <a:cs typeface="Calibri"/>
              </a:rPr>
              <a:t>(din</a:t>
            </a:r>
            <a:r>
              <a:rPr sz="1550" spc="40" dirty="0">
                <a:latin typeface="Calibri"/>
                <a:cs typeface="Calibri"/>
              </a:rPr>
              <a:t> </a:t>
            </a:r>
            <a:r>
              <a:rPr sz="1550" dirty="0">
                <a:latin typeface="Calibri"/>
                <a:cs typeface="Calibri"/>
              </a:rPr>
              <a:t>==</a:t>
            </a:r>
            <a:r>
              <a:rPr sz="1550" spc="30" dirty="0">
                <a:latin typeface="Calibri"/>
                <a:cs typeface="Calibri"/>
              </a:rPr>
              <a:t> </a:t>
            </a:r>
            <a:r>
              <a:rPr sz="1550" dirty="0">
                <a:latin typeface="Calibri"/>
                <a:cs typeface="Calibri"/>
              </a:rPr>
              <a:t>1’b1</a:t>
            </a:r>
            <a:r>
              <a:rPr sz="1550" spc="30" dirty="0">
                <a:latin typeface="Calibri"/>
                <a:cs typeface="Calibri"/>
              </a:rPr>
              <a:t> </a:t>
            </a:r>
            <a:r>
              <a:rPr sz="1550" dirty="0">
                <a:latin typeface="Calibri"/>
                <a:cs typeface="Calibri"/>
              </a:rPr>
              <a:t>)</a:t>
            </a:r>
            <a:r>
              <a:rPr sz="1550" spc="30" dirty="0">
                <a:latin typeface="Calibri"/>
                <a:cs typeface="Calibri"/>
              </a:rPr>
              <a:t> </a:t>
            </a:r>
            <a:r>
              <a:rPr sz="1550" dirty="0">
                <a:latin typeface="Calibri"/>
                <a:cs typeface="Calibri"/>
              </a:rPr>
              <a:t>nst</a:t>
            </a:r>
            <a:r>
              <a:rPr sz="1550" spc="20" dirty="0">
                <a:latin typeface="Calibri"/>
                <a:cs typeface="Calibri"/>
              </a:rPr>
              <a:t> </a:t>
            </a:r>
            <a:r>
              <a:rPr sz="1550" dirty="0">
                <a:latin typeface="Calibri"/>
                <a:cs typeface="Calibri"/>
              </a:rPr>
              <a:t>=</a:t>
            </a:r>
            <a:r>
              <a:rPr sz="1550" spc="30" dirty="0">
                <a:latin typeface="Calibri"/>
                <a:cs typeface="Calibri"/>
              </a:rPr>
              <a:t> </a:t>
            </a:r>
            <a:r>
              <a:rPr sz="1550" spc="-25" dirty="0">
                <a:latin typeface="Calibri"/>
                <a:cs typeface="Calibri"/>
              </a:rPr>
              <a:t>s4; </a:t>
            </a:r>
            <a:r>
              <a:rPr sz="1550" dirty="0">
                <a:latin typeface="Calibri"/>
                <a:cs typeface="Calibri"/>
              </a:rPr>
              <a:t>else</a:t>
            </a:r>
            <a:r>
              <a:rPr sz="1550" spc="25" dirty="0">
                <a:latin typeface="Calibri"/>
                <a:cs typeface="Calibri"/>
              </a:rPr>
              <a:t> </a:t>
            </a:r>
            <a:r>
              <a:rPr sz="1550" dirty="0">
                <a:latin typeface="Calibri"/>
                <a:cs typeface="Calibri"/>
              </a:rPr>
              <a:t>nst</a:t>
            </a:r>
            <a:r>
              <a:rPr sz="1550" spc="20" dirty="0">
                <a:latin typeface="Calibri"/>
                <a:cs typeface="Calibri"/>
              </a:rPr>
              <a:t> </a:t>
            </a:r>
            <a:r>
              <a:rPr sz="1550" dirty="0">
                <a:latin typeface="Calibri"/>
                <a:cs typeface="Calibri"/>
              </a:rPr>
              <a:t>=</a:t>
            </a:r>
            <a:r>
              <a:rPr sz="1550" spc="30" dirty="0">
                <a:latin typeface="Calibri"/>
                <a:cs typeface="Calibri"/>
              </a:rPr>
              <a:t> </a:t>
            </a:r>
            <a:r>
              <a:rPr sz="1550" dirty="0">
                <a:latin typeface="Calibri"/>
                <a:cs typeface="Calibri"/>
              </a:rPr>
              <a:t>s0</a:t>
            </a:r>
            <a:r>
              <a:rPr sz="1550" spc="25" dirty="0">
                <a:latin typeface="Calibri"/>
                <a:cs typeface="Calibri"/>
              </a:rPr>
              <a:t> </a:t>
            </a:r>
            <a:r>
              <a:rPr sz="1550" spc="-50" dirty="0">
                <a:latin typeface="Calibri"/>
                <a:cs typeface="Calibri"/>
              </a:rPr>
              <a:t>;</a:t>
            </a:r>
            <a:endParaRPr sz="1550" dirty="0">
              <a:latin typeface="Calibri"/>
              <a:cs typeface="Calibri"/>
            </a:endParaRPr>
          </a:p>
          <a:p>
            <a:pPr marL="241935">
              <a:lnSpc>
                <a:spcPct val="100000"/>
              </a:lnSpc>
              <a:spcBef>
                <a:spcPts val="30"/>
              </a:spcBef>
            </a:pPr>
            <a:r>
              <a:rPr sz="1550" spc="-25" dirty="0">
                <a:latin typeface="Calibri"/>
                <a:cs typeface="Calibri"/>
              </a:rPr>
              <a:t>s4:</a:t>
            </a:r>
            <a:endParaRPr sz="1550" dirty="0">
              <a:latin typeface="Calibri"/>
              <a:cs typeface="Calibri"/>
            </a:endParaRPr>
          </a:p>
          <a:p>
            <a:pPr marL="379730">
              <a:lnSpc>
                <a:spcPct val="100000"/>
              </a:lnSpc>
              <a:spcBef>
                <a:spcPts val="35"/>
              </a:spcBef>
            </a:pPr>
            <a:r>
              <a:rPr sz="1550" b="1" dirty="0">
                <a:latin typeface="Calibri"/>
                <a:cs typeface="Calibri"/>
              </a:rPr>
              <a:t>if</a:t>
            </a:r>
            <a:r>
              <a:rPr sz="1550" b="1" spc="25" dirty="0">
                <a:latin typeface="Calibri"/>
                <a:cs typeface="Calibri"/>
              </a:rPr>
              <a:t> </a:t>
            </a:r>
            <a:r>
              <a:rPr sz="1550" dirty="0">
                <a:latin typeface="Calibri"/>
                <a:cs typeface="Calibri"/>
              </a:rPr>
              <a:t>(din</a:t>
            </a:r>
            <a:r>
              <a:rPr sz="1550" spc="40" dirty="0">
                <a:latin typeface="Calibri"/>
                <a:cs typeface="Calibri"/>
              </a:rPr>
              <a:t> </a:t>
            </a:r>
            <a:r>
              <a:rPr sz="1550" dirty="0">
                <a:latin typeface="Calibri"/>
                <a:cs typeface="Calibri"/>
              </a:rPr>
              <a:t>==</a:t>
            </a:r>
            <a:r>
              <a:rPr sz="1550" spc="30" dirty="0">
                <a:latin typeface="Calibri"/>
                <a:cs typeface="Calibri"/>
              </a:rPr>
              <a:t> </a:t>
            </a:r>
            <a:r>
              <a:rPr sz="1550" dirty="0">
                <a:latin typeface="Calibri"/>
                <a:cs typeface="Calibri"/>
              </a:rPr>
              <a:t>1’b</a:t>
            </a:r>
            <a:r>
              <a:rPr lang="en-US" altLang="zh-CN" sz="1550" dirty="0">
                <a:latin typeface="Calibri"/>
                <a:cs typeface="Calibri"/>
              </a:rPr>
              <a:t>0</a:t>
            </a:r>
            <a:r>
              <a:rPr sz="1550" spc="30" dirty="0">
                <a:latin typeface="Calibri"/>
                <a:cs typeface="Calibri"/>
              </a:rPr>
              <a:t> </a:t>
            </a:r>
            <a:r>
              <a:rPr sz="1550" dirty="0">
                <a:latin typeface="Calibri"/>
                <a:cs typeface="Calibri"/>
              </a:rPr>
              <a:t>)</a:t>
            </a:r>
            <a:r>
              <a:rPr sz="1550" spc="30" dirty="0">
                <a:latin typeface="Calibri"/>
                <a:cs typeface="Calibri"/>
              </a:rPr>
              <a:t> </a:t>
            </a:r>
            <a:r>
              <a:rPr sz="1550" dirty="0">
                <a:latin typeface="Calibri"/>
                <a:cs typeface="Calibri"/>
              </a:rPr>
              <a:t>nst</a:t>
            </a:r>
            <a:r>
              <a:rPr sz="1550" spc="20" dirty="0">
                <a:latin typeface="Calibri"/>
                <a:cs typeface="Calibri"/>
              </a:rPr>
              <a:t> </a:t>
            </a:r>
            <a:r>
              <a:rPr sz="1550" dirty="0">
                <a:latin typeface="Calibri"/>
                <a:cs typeface="Calibri"/>
              </a:rPr>
              <a:t>=</a:t>
            </a:r>
            <a:r>
              <a:rPr sz="1550" spc="25" dirty="0">
                <a:latin typeface="Calibri"/>
                <a:cs typeface="Calibri"/>
              </a:rPr>
              <a:t> </a:t>
            </a:r>
            <a:r>
              <a:rPr sz="1550" dirty="0">
                <a:latin typeface="Calibri"/>
                <a:cs typeface="Calibri"/>
              </a:rPr>
              <a:t>s</a:t>
            </a:r>
            <a:r>
              <a:rPr lang="en-US" altLang="zh-CN" sz="1550" dirty="0">
                <a:latin typeface="Calibri"/>
                <a:cs typeface="Calibri"/>
              </a:rPr>
              <a:t>1</a:t>
            </a:r>
            <a:r>
              <a:rPr sz="1550" spc="30" dirty="0">
                <a:latin typeface="Calibri"/>
                <a:cs typeface="Calibri"/>
              </a:rPr>
              <a:t> </a:t>
            </a:r>
            <a:r>
              <a:rPr sz="1550" spc="-50" dirty="0">
                <a:latin typeface="Calibri"/>
                <a:cs typeface="Calibri"/>
              </a:rPr>
              <a:t>;</a:t>
            </a:r>
            <a:endParaRPr sz="1550" dirty="0">
              <a:latin typeface="Calibri"/>
              <a:cs typeface="Calibri"/>
            </a:endParaRPr>
          </a:p>
          <a:p>
            <a:pPr marL="563245">
              <a:lnSpc>
                <a:spcPct val="100000"/>
              </a:lnSpc>
              <a:spcBef>
                <a:spcPts val="30"/>
              </a:spcBef>
            </a:pPr>
            <a:r>
              <a:rPr sz="1550" b="1" dirty="0">
                <a:latin typeface="Calibri"/>
                <a:cs typeface="Calibri"/>
              </a:rPr>
              <a:t>else</a:t>
            </a:r>
            <a:r>
              <a:rPr sz="1550" b="1" spc="10" dirty="0">
                <a:latin typeface="Calibri"/>
                <a:cs typeface="Calibri"/>
              </a:rPr>
              <a:t> </a:t>
            </a:r>
            <a:r>
              <a:rPr sz="1550" dirty="0">
                <a:latin typeface="Calibri"/>
                <a:cs typeface="Calibri"/>
              </a:rPr>
              <a:t>nst</a:t>
            </a:r>
            <a:r>
              <a:rPr sz="1550" spc="20" dirty="0">
                <a:latin typeface="Calibri"/>
                <a:cs typeface="Calibri"/>
              </a:rPr>
              <a:t> </a:t>
            </a:r>
            <a:r>
              <a:rPr sz="1550" dirty="0">
                <a:latin typeface="Calibri"/>
                <a:cs typeface="Calibri"/>
              </a:rPr>
              <a:t>=</a:t>
            </a:r>
            <a:r>
              <a:rPr sz="1550" spc="20" dirty="0">
                <a:latin typeface="Calibri"/>
                <a:cs typeface="Calibri"/>
              </a:rPr>
              <a:t> </a:t>
            </a:r>
            <a:r>
              <a:rPr sz="1550" spc="-25" dirty="0">
                <a:latin typeface="Calibri"/>
                <a:cs typeface="Calibri"/>
              </a:rPr>
              <a:t>s</a:t>
            </a:r>
            <a:r>
              <a:rPr lang="en-US" altLang="zh-CN" sz="1550" spc="-25" dirty="0">
                <a:latin typeface="Calibri"/>
                <a:cs typeface="Calibri"/>
              </a:rPr>
              <a:t>0</a:t>
            </a:r>
            <a:r>
              <a:rPr sz="1550" spc="-25" dirty="0">
                <a:latin typeface="Calibri"/>
                <a:cs typeface="Calibri"/>
              </a:rPr>
              <a:t>;</a:t>
            </a:r>
            <a:endParaRPr sz="1550" dirty="0">
              <a:latin typeface="Calibri"/>
              <a:cs typeface="Calibri"/>
            </a:endParaRPr>
          </a:p>
          <a:p>
            <a:pPr marL="241935">
              <a:lnSpc>
                <a:spcPct val="100000"/>
              </a:lnSpc>
              <a:spcBef>
                <a:spcPts val="35"/>
              </a:spcBef>
            </a:pPr>
            <a:r>
              <a:rPr sz="1550" b="1" dirty="0">
                <a:latin typeface="Calibri"/>
                <a:cs typeface="Calibri"/>
              </a:rPr>
              <a:t>default</a:t>
            </a:r>
            <a:r>
              <a:rPr sz="1550" b="1" spc="10" dirty="0">
                <a:latin typeface="Calibri"/>
                <a:cs typeface="Calibri"/>
              </a:rPr>
              <a:t> </a:t>
            </a:r>
            <a:r>
              <a:rPr sz="1550" b="1" dirty="0">
                <a:latin typeface="Calibri"/>
                <a:cs typeface="Calibri"/>
              </a:rPr>
              <a:t>:</a:t>
            </a:r>
            <a:r>
              <a:rPr sz="1550" b="1" spc="25" dirty="0">
                <a:latin typeface="Calibri"/>
                <a:cs typeface="Calibri"/>
              </a:rPr>
              <a:t> </a:t>
            </a:r>
            <a:r>
              <a:rPr sz="1550" dirty="0">
                <a:latin typeface="Calibri"/>
                <a:cs typeface="Calibri"/>
              </a:rPr>
              <a:t>nst</a:t>
            </a:r>
            <a:r>
              <a:rPr sz="1550" spc="20" dirty="0">
                <a:latin typeface="Calibri"/>
                <a:cs typeface="Calibri"/>
              </a:rPr>
              <a:t> </a:t>
            </a:r>
            <a:r>
              <a:rPr sz="1550" dirty="0">
                <a:latin typeface="Calibri"/>
                <a:cs typeface="Calibri"/>
              </a:rPr>
              <a:t>=</a:t>
            </a:r>
            <a:r>
              <a:rPr sz="1550" spc="15" dirty="0">
                <a:latin typeface="Calibri"/>
                <a:cs typeface="Calibri"/>
              </a:rPr>
              <a:t> </a:t>
            </a:r>
            <a:r>
              <a:rPr sz="1550" dirty="0">
                <a:latin typeface="Calibri"/>
                <a:cs typeface="Calibri"/>
              </a:rPr>
              <a:t>s0</a:t>
            </a:r>
            <a:r>
              <a:rPr sz="1550" spc="25" dirty="0">
                <a:latin typeface="Calibri"/>
                <a:cs typeface="Calibri"/>
              </a:rPr>
              <a:t> </a:t>
            </a:r>
            <a:r>
              <a:rPr sz="1550" spc="-50" dirty="0">
                <a:latin typeface="Calibri"/>
                <a:cs typeface="Calibri"/>
              </a:rPr>
              <a:t>;</a:t>
            </a:r>
            <a:endParaRPr sz="1550" dirty="0">
              <a:latin typeface="Calibri"/>
              <a:cs typeface="Calibri"/>
            </a:endParaRPr>
          </a:p>
          <a:p>
            <a:pPr marL="12700" marR="1650364" indent="92075">
              <a:lnSpc>
                <a:spcPct val="101600"/>
              </a:lnSpc>
              <a:spcBef>
                <a:spcPts val="10"/>
              </a:spcBef>
            </a:pPr>
            <a:r>
              <a:rPr sz="1550" b="1" spc="-10" dirty="0">
                <a:latin typeface="Calibri"/>
                <a:cs typeface="Calibri"/>
              </a:rPr>
              <a:t>endcase </a:t>
            </a:r>
            <a:r>
              <a:rPr sz="1550" b="1" spc="-25" dirty="0">
                <a:latin typeface="Calibri"/>
                <a:cs typeface="Calibri"/>
              </a:rPr>
              <a:t>end</a:t>
            </a:r>
            <a:endParaRPr sz="1550" dirty="0">
              <a:latin typeface="Calibri"/>
              <a:cs typeface="Calibri"/>
            </a:endParaRPr>
          </a:p>
        </p:txBody>
      </p:sp>
      <p:sp>
        <p:nvSpPr>
          <p:cNvPr id="15" name="object 7">
            <a:extLst>
              <a:ext uri="{FF2B5EF4-FFF2-40B4-BE49-F238E27FC236}">
                <a16:creationId xmlns:a16="http://schemas.microsoft.com/office/drawing/2014/main" id="{B3C32BBC-DA45-BAEC-2F32-D0C877BA9954}"/>
              </a:ext>
            </a:extLst>
          </p:cNvPr>
          <p:cNvSpPr txBox="1">
            <a:spLocks noGrp="1"/>
          </p:cNvSpPr>
          <p:nvPr>
            <p:ph type="ftr" sz="quarter" idx="5"/>
          </p:nvPr>
        </p:nvSpPr>
        <p:spPr>
          <a:xfrm>
            <a:off x="8029327" y="6508039"/>
            <a:ext cx="2455671" cy="261748"/>
          </a:xfrm>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16" name="矩形 15">
            <a:extLst>
              <a:ext uri="{FF2B5EF4-FFF2-40B4-BE49-F238E27FC236}">
                <a16:creationId xmlns:a16="http://schemas.microsoft.com/office/drawing/2014/main" id="{8139B9BA-D379-ED93-7261-B83F45AADEBB}"/>
              </a:ext>
            </a:extLst>
          </p:cNvPr>
          <p:cNvSpPr/>
          <p:nvPr/>
        </p:nvSpPr>
        <p:spPr>
          <a:xfrm>
            <a:off x="5118100" y="5457825"/>
            <a:ext cx="2819400" cy="457200"/>
          </a:xfrm>
          <a:prstGeom prst="rect">
            <a:avLst/>
          </a:prstGeom>
          <a:noFill/>
          <a:ln w="476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文本框 16">
            <a:extLst>
              <a:ext uri="{FF2B5EF4-FFF2-40B4-BE49-F238E27FC236}">
                <a16:creationId xmlns:a16="http://schemas.microsoft.com/office/drawing/2014/main" id="{38E181E0-5483-0BE1-6ABF-23C6595C4465}"/>
              </a:ext>
            </a:extLst>
          </p:cNvPr>
          <p:cNvSpPr txBox="1"/>
          <p:nvPr/>
        </p:nvSpPr>
        <p:spPr>
          <a:xfrm>
            <a:off x="7937500" y="5163509"/>
            <a:ext cx="1524000" cy="369332"/>
          </a:xfrm>
          <a:prstGeom prst="rect">
            <a:avLst/>
          </a:prstGeom>
          <a:noFill/>
        </p:spPr>
        <p:txBody>
          <a:bodyPr wrap="square" rtlCol="0">
            <a:spAutoFit/>
          </a:bodyPr>
          <a:lstStyle/>
          <a:p>
            <a:r>
              <a:rPr lang="zh-CN" altLang="en-US" dirty="0">
                <a:solidFill>
                  <a:srgbClr val="C00000"/>
                </a:solidFill>
              </a:rPr>
              <a:t>写反了！</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3335">
              <a:lnSpc>
                <a:spcPct val="100000"/>
              </a:lnSpc>
              <a:spcBef>
                <a:spcPts val="105"/>
              </a:spcBef>
            </a:pPr>
            <a:r>
              <a:rPr b="1" spc="-10" dirty="0">
                <a:latin typeface="Calibri"/>
                <a:cs typeface="Calibri"/>
              </a:rPr>
              <a:t>Moore</a:t>
            </a:r>
            <a:r>
              <a:rPr b="1" spc="-30" dirty="0">
                <a:latin typeface="宋体"/>
                <a:cs typeface="宋体"/>
              </a:rPr>
              <a:t>状态机序列检测器实现代码</a:t>
            </a:r>
            <a:r>
              <a:rPr b="1" spc="-50" dirty="0">
                <a:latin typeface="Calibri"/>
                <a:cs typeface="Calibri"/>
              </a:rPr>
              <a:t>2</a:t>
            </a:r>
          </a:p>
        </p:txBody>
      </p:sp>
      <p:grpSp>
        <p:nvGrpSpPr>
          <p:cNvPr id="3" name="object 3"/>
          <p:cNvGrpSpPr/>
          <p:nvPr/>
        </p:nvGrpSpPr>
        <p:grpSpPr>
          <a:xfrm>
            <a:off x="153809" y="1690116"/>
            <a:ext cx="5029200" cy="1790064"/>
            <a:chOff x="153809" y="1690116"/>
            <a:chExt cx="5029200" cy="1790064"/>
          </a:xfrm>
        </p:grpSpPr>
        <p:sp>
          <p:nvSpPr>
            <p:cNvPr id="4" name="object 4"/>
            <p:cNvSpPr/>
            <p:nvPr/>
          </p:nvSpPr>
          <p:spPr>
            <a:xfrm>
              <a:off x="157619" y="1694688"/>
              <a:ext cx="5021580" cy="1781810"/>
            </a:xfrm>
            <a:custGeom>
              <a:avLst/>
              <a:gdLst/>
              <a:ahLst/>
              <a:cxnLst/>
              <a:rect l="l" t="t" r="r" b="b"/>
              <a:pathLst>
                <a:path w="5021580" h="1781810">
                  <a:moveTo>
                    <a:pt x="5021580" y="1781556"/>
                  </a:moveTo>
                  <a:lnTo>
                    <a:pt x="5021580" y="0"/>
                  </a:lnTo>
                  <a:lnTo>
                    <a:pt x="0" y="0"/>
                  </a:lnTo>
                  <a:lnTo>
                    <a:pt x="0" y="1781556"/>
                  </a:lnTo>
                  <a:lnTo>
                    <a:pt x="5021580" y="1781556"/>
                  </a:lnTo>
                  <a:close/>
                </a:path>
              </a:pathLst>
            </a:custGeom>
            <a:solidFill>
              <a:srgbClr val="F9FABA"/>
            </a:solidFill>
          </p:spPr>
          <p:txBody>
            <a:bodyPr wrap="square" lIns="0" tIns="0" rIns="0" bIns="0" rtlCol="0"/>
            <a:lstStyle/>
            <a:p>
              <a:endParaRPr/>
            </a:p>
          </p:txBody>
        </p:sp>
        <p:sp>
          <p:nvSpPr>
            <p:cNvPr id="5" name="object 5"/>
            <p:cNvSpPr/>
            <p:nvPr/>
          </p:nvSpPr>
          <p:spPr>
            <a:xfrm>
              <a:off x="153809" y="1690116"/>
              <a:ext cx="5029200" cy="1790064"/>
            </a:xfrm>
            <a:custGeom>
              <a:avLst/>
              <a:gdLst/>
              <a:ahLst/>
              <a:cxnLst/>
              <a:rect l="l" t="t" r="r" b="b"/>
              <a:pathLst>
                <a:path w="5029200" h="1790064">
                  <a:moveTo>
                    <a:pt x="5029200" y="1788414"/>
                  </a:moveTo>
                  <a:lnTo>
                    <a:pt x="5029200" y="2285"/>
                  </a:lnTo>
                  <a:lnTo>
                    <a:pt x="5027676" y="0"/>
                  </a:lnTo>
                  <a:lnTo>
                    <a:pt x="1523" y="0"/>
                  </a:lnTo>
                  <a:lnTo>
                    <a:pt x="0" y="2286"/>
                  </a:lnTo>
                  <a:lnTo>
                    <a:pt x="0" y="1788414"/>
                  </a:lnTo>
                  <a:lnTo>
                    <a:pt x="1524" y="1789938"/>
                  </a:lnTo>
                  <a:lnTo>
                    <a:pt x="3810" y="1789938"/>
                  </a:lnTo>
                  <a:lnTo>
                    <a:pt x="3810" y="8382"/>
                  </a:lnTo>
                  <a:lnTo>
                    <a:pt x="8381" y="4572"/>
                  </a:lnTo>
                  <a:lnTo>
                    <a:pt x="8382" y="8382"/>
                  </a:lnTo>
                  <a:lnTo>
                    <a:pt x="5020818" y="8381"/>
                  </a:lnTo>
                  <a:lnTo>
                    <a:pt x="5020818" y="4571"/>
                  </a:lnTo>
                  <a:lnTo>
                    <a:pt x="5025390" y="8381"/>
                  </a:lnTo>
                  <a:lnTo>
                    <a:pt x="5025390" y="1789938"/>
                  </a:lnTo>
                  <a:lnTo>
                    <a:pt x="5027676" y="1789938"/>
                  </a:lnTo>
                  <a:lnTo>
                    <a:pt x="5029200" y="1788414"/>
                  </a:lnTo>
                  <a:close/>
                </a:path>
                <a:path w="5029200" h="1790064">
                  <a:moveTo>
                    <a:pt x="8381" y="8382"/>
                  </a:moveTo>
                  <a:lnTo>
                    <a:pt x="8381" y="4572"/>
                  </a:lnTo>
                  <a:lnTo>
                    <a:pt x="3810" y="8382"/>
                  </a:lnTo>
                  <a:lnTo>
                    <a:pt x="8381" y="8382"/>
                  </a:lnTo>
                  <a:close/>
                </a:path>
                <a:path w="5029200" h="1790064">
                  <a:moveTo>
                    <a:pt x="8382" y="1781556"/>
                  </a:moveTo>
                  <a:lnTo>
                    <a:pt x="8381" y="8382"/>
                  </a:lnTo>
                  <a:lnTo>
                    <a:pt x="3810" y="8382"/>
                  </a:lnTo>
                  <a:lnTo>
                    <a:pt x="3810" y="1781556"/>
                  </a:lnTo>
                  <a:lnTo>
                    <a:pt x="8382" y="1781556"/>
                  </a:lnTo>
                  <a:close/>
                </a:path>
                <a:path w="5029200" h="1790064">
                  <a:moveTo>
                    <a:pt x="5025390" y="1781555"/>
                  </a:moveTo>
                  <a:lnTo>
                    <a:pt x="3810" y="1781556"/>
                  </a:lnTo>
                  <a:lnTo>
                    <a:pt x="8382" y="1786128"/>
                  </a:lnTo>
                  <a:lnTo>
                    <a:pt x="8382" y="1789938"/>
                  </a:lnTo>
                  <a:lnTo>
                    <a:pt x="5020818" y="1789938"/>
                  </a:lnTo>
                  <a:lnTo>
                    <a:pt x="5020818" y="1786127"/>
                  </a:lnTo>
                  <a:lnTo>
                    <a:pt x="5025390" y="1781555"/>
                  </a:lnTo>
                  <a:close/>
                </a:path>
                <a:path w="5029200" h="1790064">
                  <a:moveTo>
                    <a:pt x="8382" y="1789938"/>
                  </a:moveTo>
                  <a:lnTo>
                    <a:pt x="8382" y="1786128"/>
                  </a:lnTo>
                  <a:lnTo>
                    <a:pt x="3810" y="1781556"/>
                  </a:lnTo>
                  <a:lnTo>
                    <a:pt x="3810" y="1789938"/>
                  </a:lnTo>
                  <a:lnTo>
                    <a:pt x="8382" y="1789938"/>
                  </a:lnTo>
                  <a:close/>
                </a:path>
                <a:path w="5029200" h="1790064">
                  <a:moveTo>
                    <a:pt x="5025390" y="8381"/>
                  </a:moveTo>
                  <a:lnTo>
                    <a:pt x="5020818" y="4571"/>
                  </a:lnTo>
                  <a:lnTo>
                    <a:pt x="5020818" y="8381"/>
                  </a:lnTo>
                  <a:lnTo>
                    <a:pt x="5025390" y="8381"/>
                  </a:lnTo>
                  <a:close/>
                </a:path>
                <a:path w="5029200" h="1790064">
                  <a:moveTo>
                    <a:pt x="5025390" y="1781555"/>
                  </a:moveTo>
                  <a:lnTo>
                    <a:pt x="5025390" y="8381"/>
                  </a:lnTo>
                  <a:lnTo>
                    <a:pt x="5020818" y="8381"/>
                  </a:lnTo>
                  <a:lnTo>
                    <a:pt x="5020818" y="1781555"/>
                  </a:lnTo>
                  <a:lnTo>
                    <a:pt x="5025390" y="1781555"/>
                  </a:lnTo>
                  <a:close/>
                </a:path>
                <a:path w="5029200" h="1790064">
                  <a:moveTo>
                    <a:pt x="5025390" y="1789938"/>
                  </a:moveTo>
                  <a:lnTo>
                    <a:pt x="5025390" y="1781555"/>
                  </a:lnTo>
                  <a:lnTo>
                    <a:pt x="5020818" y="1786127"/>
                  </a:lnTo>
                  <a:lnTo>
                    <a:pt x="5020818" y="1789938"/>
                  </a:lnTo>
                  <a:lnTo>
                    <a:pt x="5025390" y="1789938"/>
                  </a:lnTo>
                  <a:close/>
                </a:path>
              </a:pathLst>
            </a:custGeom>
            <a:solidFill>
              <a:srgbClr val="FF0000"/>
            </a:solidFill>
          </p:spPr>
          <p:txBody>
            <a:bodyPr wrap="square" lIns="0" tIns="0" rIns="0" bIns="0" rtlCol="0"/>
            <a:lstStyle/>
            <a:p>
              <a:endParaRPr/>
            </a:p>
          </p:txBody>
        </p:sp>
      </p:grpSp>
      <p:sp>
        <p:nvSpPr>
          <p:cNvPr id="6" name="object 6"/>
          <p:cNvSpPr txBox="1"/>
          <p:nvPr/>
        </p:nvSpPr>
        <p:spPr>
          <a:xfrm>
            <a:off x="225685" y="1713229"/>
            <a:ext cx="1979930" cy="1705610"/>
          </a:xfrm>
          <a:prstGeom prst="rect">
            <a:avLst/>
          </a:prstGeom>
        </p:spPr>
        <p:txBody>
          <a:bodyPr vert="horz" wrap="square" lIns="0" tIns="13970" rIns="0" bIns="0" rtlCol="0">
            <a:spAutoFit/>
          </a:bodyPr>
          <a:lstStyle/>
          <a:p>
            <a:pPr marL="12700" marR="1025525">
              <a:lnSpc>
                <a:spcPct val="101000"/>
              </a:lnSpc>
              <a:spcBef>
                <a:spcPts val="110"/>
              </a:spcBef>
            </a:pPr>
            <a:r>
              <a:rPr sz="1550" b="1" dirty="0">
                <a:solidFill>
                  <a:srgbClr val="00B0EF"/>
                </a:solidFill>
                <a:latin typeface="Calibri"/>
                <a:cs typeface="Calibri"/>
              </a:rPr>
              <a:t>//C2</a:t>
            </a:r>
            <a:r>
              <a:rPr sz="1550" b="1" spc="-25" dirty="0">
                <a:solidFill>
                  <a:srgbClr val="00B0EF"/>
                </a:solidFill>
                <a:latin typeface="宋体"/>
                <a:cs typeface="宋体"/>
              </a:rPr>
              <a:t>模块</a:t>
            </a:r>
            <a:r>
              <a:rPr sz="1550" b="1" spc="-50" dirty="0">
                <a:solidFill>
                  <a:srgbClr val="00B0EF"/>
                </a:solidFill>
                <a:latin typeface="宋体"/>
                <a:cs typeface="宋体"/>
              </a:rPr>
              <a:t> </a:t>
            </a:r>
            <a:r>
              <a:rPr sz="1550" b="1" dirty="0">
                <a:latin typeface="Calibri"/>
                <a:cs typeface="Calibri"/>
              </a:rPr>
              <a:t>always</a:t>
            </a:r>
            <a:r>
              <a:rPr sz="1550" b="1" spc="370" dirty="0">
                <a:latin typeface="Calibri"/>
                <a:cs typeface="Calibri"/>
              </a:rPr>
              <a:t> </a:t>
            </a:r>
            <a:r>
              <a:rPr sz="1550" b="1" spc="-25" dirty="0">
                <a:latin typeface="Calibri"/>
                <a:cs typeface="Calibri"/>
              </a:rPr>
              <a:t>@* </a:t>
            </a:r>
            <a:r>
              <a:rPr sz="1550" b="1" spc="-10" dirty="0">
                <a:latin typeface="Calibri"/>
                <a:cs typeface="Calibri"/>
              </a:rPr>
              <a:t>begin</a:t>
            </a:r>
            <a:endParaRPr sz="1550">
              <a:latin typeface="Calibri"/>
              <a:cs typeface="Calibri"/>
            </a:endParaRPr>
          </a:p>
          <a:p>
            <a:pPr marL="241935" marR="5080" indent="46355">
              <a:lnSpc>
                <a:spcPct val="101899"/>
              </a:lnSpc>
            </a:pPr>
            <a:r>
              <a:rPr sz="1550" b="1" dirty="0">
                <a:latin typeface="Calibri"/>
                <a:cs typeface="Calibri"/>
              </a:rPr>
              <a:t>if</a:t>
            </a:r>
            <a:r>
              <a:rPr sz="1550" b="1" spc="25" dirty="0">
                <a:latin typeface="Calibri"/>
                <a:cs typeface="Calibri"/>
              </a:rPr>
              <a:t> </a:t>
            </a:r>
            <a:r>
              <a:rPr sz="1550" b="1" dirty="0">
                <a:latin typeface="Calibri"/>
                <a:cs typeface="Calibri"/>
              </a:rPr>
              <a:t>(cs</a:t>
            </a:r>
            <a:r>
              <a:rPr sz="1550" b="1" spc="25" dirty="0">
                <a:latin typeface="Calibri"/>
                <a:cs typeface="Calibri"/>
              </a:rPr>
              <a:t> </a:t>
            </a:r>
            <a:r>
              <a:rPr sz="1550" b="1" dirty="0">
                <a:latin typeface="Calibri"/>
                <a:cs typeface="Calibri"/>
              </a:rPr>
              <a:t>==</a:t>
            </a:r>
            <a:r>
              <a:rPr sz="1550" b="1" spc="25" dirty="0">
                <a:latin typeface="Calibri"/>
                <a:cs typeface="Calibri"/>
              </a:rPr>
              <a:t> </a:t>
            </a:r>
            <a:r>
              <a:rPr sz="1550" b="1" dirty="0">
                <a:latin typeface="Calibri"/>
                <a:cs typeface="Calibri"/>
              </a:rPr>
              <a:t>s4)</a:t>
            </a:r>
            <a:r>
              <a:rPr sz="1550" b="1" spc="25" dirty="0">
                <a:latin typeface="Calibri"/>
                <a:cs typeface="Calibri"/>
              </a:rPr>
              <a:t> </a:t>
            </a:r>
            <a:r>
              <a:rPr sz="1550" b="1" dirty="0">
                <a:latin typeface="Calibri"/>
                <a:cs typeface="Calibri"/>
              </a:rPr>
              <a:t>sout</a:t>
            </a:r>
            <a:r>
              <a:rPr sz="1550" b="1" spc="15" dirty="0">
                <a:latin typeface="Calibri"/>
                <a:cs typeface="Calibri"/>
              </a:rPr>
              <a:t> </a:t>
            </a:r>
            <a:r>
              <a:rPr sz="1550" b="1" dirty="0">
                <a:latin typeface="Calibri"/>
                <a:cs typeface="Calibri"/>
              </a:rPr>
              <a:t>=</a:t>
            </a:r>
            <a:r>
              <a:rPr sz="1550" b="1" spc="30" dirty="0">
                <a:latin typeface="Calibri"/>
                <a:cs typeface="Calibri"/>
              </a:rPr>
              <a:t> </a:t>
            </a:r>
            <a:r>
              <a:rPr sz="1550" b="1" spc="-25" dirty="0">
                <a:latin typeface="Calibri"/>
                <a:cs typeface="Calibri"/>
              </a:rPr>
              <a:t>1; </a:t>
            </a:r>
            <a:r>
              <a:rPr sz="1550" b="1" dirty="0">
                <a:latin typeface="Calibri"/>
                <a:cs typeface="Calibri"/>
              </a:rPr>
              <a:t>else</a:t>
            </a:r>
            <a:r>
              <a:rPr sz="1550" b="1" spc="10" dirty="0">
                <a:latin typeface="Calibri"/>
                <a:cs typeface="Calibri"/>
              </a:rPr>
              <a:t> </a:t>
            </a:r>
            <a:r>
              <a:rPr sz="1550" b="1" dirty="0">
                <a:latin typeface="Calibri"/>
                <a:cs typeface="Calibri"/>
              </a:rPr>
              <a:t>sout</a:t>
            </a:r>
            <a:r>
              <a:rPr sz="1550" b="1" spc="20" dirty="0">
                <a:latin typeface="Calibri"/>
                <a:cs typeface="Calibri"/>
              </a:rPr>
              <a:t> </a:t>
            </a:r>
            <a:r>
              <a:rPr sz="1550" b="1" dirty="0">
                <a:latin typeface="Calibri"/>
                <a:cs typeface="Calibri"/>
              </a:rPr>
              <a:t>=</a:t>
            </a:r>
            <a:r>
              <a:rPr sz="1550" b="1" spc="25" dirty="0">
                <a:latin typeface="Calibri"/>
                <a:cs typeface="Calibri"/>
              </a:rPr>
              <a:t> </a:t>
            </a:r>
            <a:r>
              <a:rPr sz="1550" b="1" spc="-25" dirty="0">
                <a:latin typeface="Calibri"/>
                <a:cs typeface="Calibri"/>
              </a:rPr>
              <a:t>0;</a:t>
            </a:r>
            <a:endParaRPr sz="1550">
              <a:latin typeface="Calibri"/>
              <a:cs typeface="Calibri"/>
            </a:endParaRPr>
          </a:p>
          <a:p>
            <a:pPr marL="12700" marR="1009650" indent="92075">
              <a:lnSpc>
                <a:spcPts val="1900"/>
              </a:lnSpc>
              <a:spcBef>
                <a:spcPts val="60"/>
              </a:spcBef>
            </a:pPr>
            <a:r>
              <a:rPr sz="1550" b="1" spc="-25" dirty="0">
                <a:latin typeface="Calibri"/>
                <a:cs typeface="Calibri"/>
              </a:rPr>
              <a:t>end </a:t>
            </a:r>
            <a:r>
              <a:rPr sz="1550" b="1" spc="-10" dirty="0">
                <a:latin typeface="Calibri"/>
                <a:cs typeface="Calibri"/>
              </a:rPr>
              <a:t>endmodule</a:t>
            </a:r>
            <a:endParaRPr sz="1550">
              <a:latin typeface="Calibri"/>
              <a:cs typeface="Calibri"/>
            </a:endParaRPr>
          </a:p>
        </p:txBody>
      </p:sp>
      <p:pic>
        <p:nvPicPr>
          <p:cNvPr id="7" name="object 7"/>
          <p:cNvPicPr/>
          <p:nvPr/>
        </p:nvPicPr>
        <p:blipFill>
          <a:blip r:embed="rId2" cstate="print"/>
          <a:stretch>
            <a:fillRect/>
          </a:stretch>
        </p:blipFill>
        <p:spPr>
          <a:xfrm>
            <a:off x="1114691" y="3884676"/>
            <a:ext cx="8953500" cy="2552700"/>
          </a:xfrm>
          <a:prstGeom prst="rect">
            <a:avLst/>
          </a:prstGeom>
        </p:spPr>
      </p:pic>
      <p:sp>
        <p:nvSpPr>
          <p:cNvPr id="8" name="object 8"/>
          <p:cNvSpPr txBox="1"/>
          <p:nvPr/>
        </p:nvSpPr>
        <p:spPr>
          <a:xfrm>
            <a:off x="6749929" y="3286759"/>
            <a:ext cx="1362710" cy="346710"/>
          </a:xfrm>
          <a:prstGeom prst="rect">
            <a:avLst/>
          </a:prstGeom>
        </p:spPr>
        <p:txBody>
          <a:bodyPr vert="horz" wrap="square" lIns="0" tIns="13335" rIns="0" bIns="0" rtlCol="0">
            <a:spAutoFit/>
          </a:bodyPr>
          <a:lstStyle/>
          <a:p>
            <a:pPr marL="12700">
              <a:lnSpc>
                <a:spcPct val="100000"/>
              </a:lnSpc>
              <a:spcBef>
                <a:spcPts val="105"/>
              </a:spcBef>
            </a:pPr>
            <a:r>
              <a:rPr sz="2100" spc="-10" dirty="0">
                <a:latin typeface="宋体"/>
                <a:cs typeface="宋体"/>
              </a:rPr>
              <a:t>仿真结果：</a:t>
            </a:r>
            <a:endParaRPr sz="2100">
              <a:latin typeface="宋体"/>
              <a:cs typeface="宋体"/>
            </a:endParaRPr>
          </a:p>
        </p:txBody>
      </p:sp>
      <p:sp>
        <p:nvSpPr>
          <p:cNvPr id="9" name="object 9"/>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10" name="object 10"/>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28</a:t>
            </a:fld>
            <a:endParaRPr spc="-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92614" y="1387856"/>
            <a:ext cx="4121150" cy="399415"/>
          </a:xfrm>
          <a:prstGeom prst="rect">
            <a:avLst/>
          </a:prstGeom>
        </p:spPr>
        <p:txBody>
          <a:bodyPr vert="horz" wrap="square" lIns="0" tIns="13335" rIns="0" bIns="0" rtlCol="0">
            <a:spAutoFit/>
          </a:bodyPr>
          <a:lstStyle/>
          <a:p>
            <a:pPr marL="12700">
              <a:lnSpc>
                <a:spcPct val="100000"/>
              </a:lnSpc>
              <a:spcBef>
                <a:spcPts val="105"/>
              </a:spcBef>
            </a:pPr>
            <a:r>
              <a:rPr sz="2450" b="1" spc="-10" dirty="0">
                <a:latin typeface="Calibri"/>
                <a:cs typeface="Calibri"/>
              </a:rPr>
              <a:t>Mealy</a:t>
            </a:r>
            <a:r>
              <a:rPr sz="2450" b="1" spc="-20" dirty="0">
                <a:latin typeface="宋体"/>
                <a:cs typeface="宋体"/>
              </a:rPr>
              <a:t>状态机序列检测器设计</a:t>
            </a:r>
            <a:r>
              <a:rPr sz="2450" b="1" spc="-50" dirty="0">
                <a:latin typeface="Calibri"/>
                <a:cs typeface="Calibri"/>
              </a:rPr>
              <a:t>1</a:t>
            </a:r>
            <a:endParaRPr sz="2450">
              <a:latin typeface="Calibri"/>
              <a:cs typeface="Calibri"/>
            </a:endParaRPr>
          </a:p>
        </p:txBody>
      </p:sp>
      <p:sp>
        <p:nvSpPr>
          <p:cNvPr id="3" name="object 3"/>
          <p:cNvSpPr txBox="1"/>
          <p:nvPr/>
        </p:nvSpPr>
        <p:spPr>
          <a:xfrm>
            <a:off x="1075315" y="4393482"/>
            <a:ext cx="8706485" cy="1697355"/>
          </a:xfrm>
          <a:prstGeom prst="rect">
            <a:avLst/>
          </a:prstGeom>
        </p:spPr>
        <p:txBody>
          <a:bodyPr vert="horz" wrap="square" lIns="0" tIns="7620" rIns="0" bIns="0" rtlCol="0">
            <a:spAutoFit/>
          </a:bodyPr>
          <a:lstStyle/>
          <a:p>
            <a:pPr marL="12700" marR="5080">
              <a:lnSpc>
                <a:spcPct val="152200"/>
              </a:lnSpc>
              <a:spcBef>
                <a:spcPts val="60"/>
              </a:spcBef>
            </a:pPr>
            <a:r>
              <a:rPr sz="1750" dirty="0">
                <a:latin typeface="宋体"/>
                <a:cs typeface="宋体"/>
              </a:rPr>
              <a:t>对比Mealy状态机与Moore</a:t>
            </a:r>
            <a:r>
              <a:rPr sz="1750" spc="-5" dirty="0">
                <a:latin typeface="宋体"/>
                <a:cs typeface="宋体"/>
              </a:rPr>
              <a:t>状态机的状态图可知:</a:t>
            </a:r>
            <a:r>
              <a:rPr sz="1750" spc="500" dirty="0">
                <a:latin typeface="宋体"/>
                <a:cs typeface="宋体"/>
              </a:rPr>
              <a:t>                     </a:t>
            </a:r>
            <a:r>
              <a:rPr sz="1750" dirty="0">
                <a:latin typeface="宋体"/>
                <a:cs typeface="宋体"/>
              </a:rPr>
              <a:t>Moore状态机的检测结果输出是与时钟同步的；而Mealy</a:t>
            </a:r>
            <a:r>
              <a:rPr sz="1750" spc="-5" dirty="0">
                <a:latin typeface="宋体"/>
                <a:cs typeface="宋体"/>
              </a:rPr>
              <a:t>状态机的检测结果输出是异步的，</a:t>
            </a:r>
            <a:r>
              <a:rPr sz="1750" dirty="0">
                <a:latin typeface="宋体"/>
                <a:cs typeface="宋体"/>
              </a:rPr>
              <a:t>当输入发生变化时，输出就立即变化。因此Mealy状态机的输出比Moore</a:t>
            </a:r>
            <a:r>
              <a:rPr sz="1750" spc="-10" dirty="0">
                <a:latin typeface="宋体"/>
                <a:cs typeface="宋体"/>
              </a:rPr>
              <a:t>状态机状态的输出</a:t>
            </a:r>
            <a:r>
              <a:rPr sz="1750" dirty="0">
                <a:latin typeface="宋体"/>
                <a:cs typeface="宋体"/>
              </a:rPr>
              <a:t>提前一个周期</a:t>
            </a:r>
            <a:r>
              <a:rPr sz="2100" spc="-50" dirty="0">
                <a:latin typeface="宋体"/>
                <a:cs typeface="宋体"/>
              </a:rPr>
              <a:t>。</a:t>
            </a:r>
            <a:endParaRPr sz="2100">
              <a:latin typeface="宋体"/>
              <a:cs typeface="宋体"/>
            </a:endParaRPr>
          </a:p>
        </p:txBody>
      </p:sp>
      <p:pic>
        <p:nvPicPr>
          <p:cNvPr id="4" name="object 4"/>
          <p:cNvPicPr/>
          <p:nvPr/>
        </p:nvPicPr>
        <p:blipFill>
          <a:blip r:embed="rId2" cstate="print"/>
          <a:stretch>
            <a:fillRect/>
          </a:stretch>
        </p:blipFill>
        <p:spPr>
          <a:xfrm>
            <a:off x="1538693" y="2492124"/>
            <a:ext cx="5732679" cy="1713185"/>
          </a:xfrm>
          <a:prstGeom prst="rect">
            <a:avLst/>
          </a:prstGeom>
        </p:spPr>
      </p:pic>
      <p:sp>
        <p:nvSpPr>
          <p:cNvPr id="5" name="object 5"/>
          <p:cNvSpPr txBox="1"/>
          <p:nvPr/>
        </p:nvSpPr>
        <p:spPr>
          <a:xfrm>
            <a:off x="757561" y="2144522"/>
            <a:ext cx="1630680" cy="346710"/>
          </a:xfrm>
          <a:prstGeom prst="rect">
            <a:avLst/>
          </a:prstGeom>
        </p:spPr>
        <p:txBody>
          <a:bodyPr vert="horz" wrap="square" lIns="0" tIns="13335" rIns="0" bIns="0" rtlCol="0">
            <a:spAutoFit/>
          </a:bodyPr>
          <a:lstStyle/>
          <a:p>
            <a:pPr marL="12700">
              <a:lnSpc>
                <a:spcPct val="100000"/>
              </a:lnSpc>
              <a:spcBef>
                <a:spcPts val="105"/>
              </a:spcBef>
            </a:pPr>
            <a:r>
              <a:rPr sz="2100" spc="-10" dirty="0">
                <a:latin typeface="宋体"/>
                <a:cs typeface="宋体"/>
              </a:rPr>
              <a:t>状态转移图：</a:t>
            </a:r>
            <a:endParaRPr sz="2100">
              <a:latin typeface="宋体"/>
              <a:cs typeface="宋体"/>
            </a:endParaRPr>
          </a:p>
        </p:txBody>
      </p:sp>
      <p:sp>
        <p:nvSpPr>
          <p:cNvPr id="6" name="object 6"/>
          <p:cNvSpPr txBox="1"/>
          <p:nvPr/>
        </p:nvSpPr>
        <p:spPr>
          <a:xfrm>
            <a:off x="8205349" y="1788667"/>
            <a:ext cx="1630680" cy="346710"/>
          </a:xfrm>
          <a:prstGeom prst="rect">
            <a:avLst/>
          </a:prstGeom>
        </p:spPr>
        <p:txBody>
          <a:bodyPr vert="horz" wrap="square" lIns="0" tIns="13335" rIns="0" bIns="0" rtlCol="0">
            <a:spAutoFit/>
          </a:bodyPr>
          <a:lstStyle/>
          <a:p>
            <a:pPr marL="12700">
              <a:lnSpc>
                <a:spcPct val="100000"/>
              </a:lnSpc>
              <a:spcBef>
                <a:spcPts val="105"/>
              </a:spcBef>
            </a:pPr>
            <a:r>
              <a:rPr sz="2100" spc="-10" dirty="0">
                <a:latin typeface="宋体"/>
                <a:cs typeface="宋体"/>
              </a:rPr>
              <a:t>状态声明代码</a:t>
            </a:r>
            <a:endParaRPr sz="2100">
              <a:latin typeface="宋体"/>
              <a:cs typeface="宋体"/>
            </a:endParaRPr>
          </a:p>
        </p:txBody>
      </p:sp>
      <p:sp>
        <p:nvSpPr>
          <p:cNvPr id="7" name="object 7"/>
          <p:cNvSpPr/>
          <p:nvPr/>
        </p:nvSpPr>
        <p:spPr>
          <a:xfrm>
            <a:off x="7933067" y="2305050"/>
            <a:ext cx="2570480" cy="2006600"/>
          </a:xfrm>
          <a:custGeom>
            <a:avLst/>
            <a:gdLst/>
            <a:ahLst/>
            <a:cxnLst/>
            <a:rect l="l" t="t" r="r" b="b"/>
            <a:pathLst>
              <a:path w="2570479" h="2006600">
                <a:moveTo>
                  <a:pt x="2570226" y="2004822"/>
                </a:moveTo>
                <a:lnTo>
                  <a:pt x="2570226" y="1523"/>
                </a:lnTo>
                <a:lnTo>
                  <a:pt x="2568702" y="0"/>
                </a:lnTo>
                <a:lnTo>
                  <a:pt x="2285" y="0"/>
                </a:lnTo>
                <a:lnTo>
                  <a:pt x="0" y="1524"/>
                </a:lnTo>
                <a:lnTo>
                  <a:pt x="0" y="2004822"/>
                </a:lnTo>
                <a:lnTo>
                  <a:pt x="2286" y="2006346"/>
                </a:lnTo>
                <a:lnTo>
                  <a:pt x="4572" y="2006346"/>
                </a:lnTo>
                <a:lnTo>
                  <a:pt x="4572" y="8382"/>
                </a:lnTo>
                <a:lnTo>
                  <a:pt x="8381" y="3810"/>
                </a:lnTo>
                <a:lnTo>
                  <a:pt x="8381" y="8382"/>
                </a:lnTo>
                <a:lnTo>
                  <a:pt x="2561844" y="8381"/>
                </a:lnTo>
                <a:lnTo>
                  <a:pt x="2561844" y="3809"/>
                </a:lnTo>
                <a:lnTo>
                  <a:pt x="2566416" y="8381"/>
                </a:lnTo>
                <a:lnTo>
                  <a:pt x="2566416" y="2006346"/>
                </a:lnTo>
                <a:lnTo>
                  <a:pt x="2568702" y="2006346"/>
                </a:lnTo>
                <a:lnTo>
                  <a:pt x="2570226" y="2004822"/>
                </a:lnTo>
                <a:close/>
              </a:path>
              <a:path w="2570479" h="2006600">
                <a:moveTo>
                  <a:pt x="8381" y="8382"/>
                </a:moveTo>
                <a:lnTo>
                  <a:pt x="8381" y="3810"/>
                </a:lnTo>
                <a:lnTo>
                  <a:pt x="4572" y="8382"/>
                </a:lnTo>
                <a:lnTo>
                  <a:pt x="8381" y="8382"/>
                </a:lnTo>
                <a:close/>
              </a:path>
              <a:path w="2570479" h="2006600">
                <a:moveTo>
                  <a:pt x="8382" y="1997964"/>
                </a:moveTo>
                <a:lnTo>
                  <a:pt x="8381" y="8382"/>
                </a:lnTo>
                <a:lnTo>
                  <a:pt x="4572" y="8382"/>
                </a:lnTo>
                <a:lnTo>
                  <a:pt x="4572" y="1997964"/>
                </a:lnTo>
                <a:lnTo>
                  <a:pt x="8382" y="1997964"/>
                </a:lnTo>
                <a:close/>
              </a:path>
              <a:path w="2570479" h="2006600">
                <a:moveTo>
                  <a:pt x="2566416" y="1997964"/>
                </a:moveTo>
                <a:lnTo>
                  <a:pt x="4572" y="1997964"/>
                </a:lnTo>
                <a:lnTo>
                  <a:pt x="8382" y="2002536"/>
                </a:lnTo>
                <a:lnTo>
                  <a:pt x="8382" y="2006346"/>
                </a:lnTo>
                <a:lnTo>
                  <a:pt x="2561844" y="2006346"/>
                </a:lnTo>
                <a:lnTo>
                  <a:pt x="2561844" y="2002536"/>
                </a:lnTo>
                <a:lnTo>
                  <a:pt x="2566416" y="1997964"/>
                </a:lnTo>
                <a:close/>
              </a:path>
              <a:path w="2570479" h="2006600">
                <a:moveTo>
                  <a:pt x="8382" y="2006346"/>
                </a:moveTo>
                <a:lnTo>
                  <a:pt x="8382" y="2002536"/>
                </a:lnTo>
                <a:lnTo>
                  <a:pt x="4572" y="1997964"/>
                </a:lnTo>
                <a:lnTo>
                  <a:pt x="4572" y="2006346"/>
                </a:lnTo>
                <a:lnTo>
                  <a:pt x="8382" y="2006346"/>
                </a:lnTo>
                <a:close/>
              </a:path>
              <a:path w="2570479" h="2006600">
                <a:moveTo>
                  <a:pt x="2566416" y="8381"/>
                </a:moveTo>
                <a:lnTo>
                  <a:pt x="2561844" y="3809"/>
                </a:lnTo>
                <a:lnTo>
                  <a:pt x="2561844" y="8381"/>
                </a:lnTo>
                <a:lnTo>
                  <a:pt x="2566416" y="8381"/>
                </a:lnTo>
                <a:close/>
              </a:path>
              <a:path w="2570479" h="2006600">
                <a:moveTo>
                  <a:pt x="2566416" y="1997964"/>
                </a:moveTo>
                <a:lnTo>
                  <a:pt x="2566416" y="8381"/>
                </a:lnTo>
                <a:lnTo>
                  <a:pt x="2561844" y="8381"/>
                </a:lnTo>
                <a:lnTo>
                  <a:pt x="2561844" y="1997964"/>
                </a:lnTo>
                <a:lnTo>
                  <a:pt x="2566416" y="1997964"/>
                </a:lnTo>
                <a:close/>
              </a:path>
              <a:path w="2570479" h="2006600">
                <a:moveTo>
                  <a:pt x="2566416" y="2006346"/>
                </a:moveTo>
                <a:lnTo>
                  <a:pt x="2566416" y="1997964"/>
                </a:lnTo>
                <a:lnTo>
                  <a:pt x="2561844" y="2002536"/>
                </a:lnTo>
                <a:lnTo>
                  <a:pt x="2561844" y="2006346"/>
                </a:lnTo>
                <a:lnTo>
                  <a:pt x="2566416" y="2006346"/>
                </a:lnTo>
                <a:close/>
              </a:path>
            </a:pathLst>
          </a:custGeom>
          <a:solidFill>
            <a:srgbClr val="008BA7"/>
          </a:solidFill>
        </p:spPr>
        <p:txBody>
          <a:bodyPr wrap="square" lIns="0" tIns="0" rIns="0" bIns="0" rtlCol="0"/>
          <a:lstStyle/>
          <a:p>
            <a:endParaRPr/>
          </a:p>
        </p:txBody>
      </p:sp>
      <p:sp>
        <p:nvSpPr>
          <p:cNvPr id="8" name="object 8"/>
          <p:cNvSpPr txBox="1"/>
          <p:nvPr/>
        </p:nvSpPr>
        <p:spPr>
          <a:xfrm>
            <a:off x="8239639" y="2294039"/>
            <a:ext cx="1880235" cy="1949450"/>
          </a:xfrm>
          <a:prstGeom prst="rect">
            <a:avLst/>
          </a:prstGeom>
        </p:spPr>
        <p:txBody>
          <a:bodyPr vert="horz" wrap="square" lIns="0" tIns="12700" rIns="0" bIns="0" rtlCol="0">
            <a:spAutoFit/>
          </a:bodyPr>
          <a:lstStyle/>
          <a:p>
            <a:pPr marL="128270" marR="5080" indent="-116205" algn="just">
              <a:lnSpc>
                <a:spcPct val="120200"/>
              </a:lnSpc>
              <a:spcBef>
                <a:spcPts val="100"/>
              </a:spcBef>
            </a:pPr>
            <a:r>
              <a:rPr sz="2100" b="1" dirty="0">
                <a:latin typeface="Calibri"/>
                <a:cs typeface="Calibri"/>
              </a:rPr>
              <a:t>localparam</a:t>
            </a:r>
            <a:r>
              <a:rPr sz="2100" dirty="0">
                <a:latin typeface="Calibri"/>
                <a:cs typeface="Calibri"/>
              </a:rPr>
              <a:t>[</a:t>
            </a:r>
            <a:r>
              <a:rPr sz="2100" spc="-65" dirty="0">
                <a:latin typeface="Calibri"/>
                <a:cs typeface="Calibri"/>
              </a:rPr>
              <a:t> </a:t>
            </a:r>
            <a:r>
              <a:rPr sz="2100" dirty="0">
                <a:latin typeface="Calibri"/>
                <a:cs typeface="Calibri"/>
              </a:rPr>
              <a:t>1:0</a:t>
            </a:r>
            <a:r>
              <a:rPr sz="2100" spc="-65" dirty="0">
                <a:latin typeface="Calibri"/>
                <a:cs typeface="Calibri"/>
              </a:rPr>
              <a:t> </a:t>
            </a:r>
            <a:r>
              <a:rPr sz="2100" spc="-50" dirty="0">
                <a:latin typeface="Calibri"/>
                <a:cs typeface="Calibri"/>
              </a:rPr>
              <a:t>] </a:t>
            </a:r>
            <a:r>
              <a:rPr sz="2100" dirty="0">
                <a:latin typeface="Calibri"/>
                <a:cs typeface="Calibri"/>
              </a:rPr>
              <a:t>s0</a:t>
            </a:r>
            <a:r>
              <a:rPr sz="2100" spc="-25" dirty="0">
                <a:latin typeface="Calibri"/>
                <a:cs typeface="Calibri"/>
              </a:rPr>
              <a:t> </a:t>
            </a:r>
            <a:r>
              <a:rPr sz="2100" dirty="0">
                <a:latin typeface="Calibri"/>
                <a:cs typeface="Calibri"/>
              </a:rPr>
              <a:t>=</a:t>
            </a:r>
            <a:r>
              <a:rPr sz="2100" spc="-10" dirty="0">
                <a:latin typeface="Calibri"/>
                <a:cs typeface="Calibri"/>
              </a:rPr>
              <a:t> </a:t>
            </a:r>
            <a:r>
              <a:rPr sz="2100" dirty="0">
                <a:latin typeface="Calibri"/>
                <a:cs typeface="Calibri"/>
              </a:rPr>
              <a:t>2’b00</a:t>
            </a:r>
            <a:r>
              <a:rPr sz="2100" spc="-30" dirty="0">
                <a:latin typeface="Calibri"/>
                <a:cs typeface="Calibri"/>
              </a:rPr>
              <a:t> </a:t>
            </a:r>
            <a:r>
              <a:rPr sz="2100" spc="-50" dirty="0">
                <a:latin typeface="Calibri"/>
                <a:cs typeface="Calibri"/>
              </a:rPr>
              <a:t>,</a:t>
            </a:r>
            <a:endParaRPr sz="2100">
              <a:latin typeface="Calibri"/>
              <a:cs typeface="Calibri"/>
            </a:endParaRPr>
          </a:p>
          <a:p>
            <a:pPr marL="128270" marR="511809" algn="just">
              <a:lnSpc>
                <a:spcPct val="120200"/>
              </a:lnSpc>
            </a:pPr>
            <a:r>
              <a:rPr sz="2100" dirty="0">
                <a:latin typeface="Calibri"/>
                <a:cs typeface="Calibri"/>
              </a:rPr>
              <a:t>s1</a:t>
            </a:r>
            <a:r>
              <a:rPr sz="2100" spc="-25" dirty="0">
                <a:latin typeface="Calibri"/>
                <a:cs typeface="Calibri"/>
              </a:rPr>
              <a:t> </a:t>
            </a:r>
            <a:r>
              <a:rPr sz="2100" dirty="0">
                <a:latin typeface="Calibri"/>
                <a:cs typeface="Calibri"/>
              </a:rPr>
              <a:t>=</a:t>
            </a:r>
            <a:r>
              <a:rPr sz="2100" spc="-10" dirty="0">
                <a:latin typeface="Calibri"/>
                <a:cs typeface="Calibri"/>
              </a:rPr>
              <a:t> </a:t>
            </a:r>
            <a:r>
              <a:rPr sz="2100" dirty="0">
                <a:latin typeface="Calibri"/>
                <a:cs typeface="Calibri"/>
              </a:rPr>
              <a:t>2’b01</a:t>
            </a:r>
            <a:r>
              <a:rPr sz="2100" spc="-30" dirty="0">
                <a:latin typeface="Calibri"/>
                <a:cs typeface="Calibri"/>
              </a:rPr>
              <a:t> </a:t>
            </a:r>
            <a:r>
              <a:rPr sz="2100" spc="-50" dirty="0">
                <a:latin typeface="Calibri"/>
                <a:cs typeface="Calibri"/>
              </a:rPr>
              <a:t>, </a:t>
            </a:r>
            <a:r>
              <a:rPr sz="2100" dirty="0">
                <a:latin typeface="Calibri"/>
                <a:cs typeface="Calibri"/>
              </a:rPr>
              <a:t>s2</a:t>
            </a:r>
            <a:r>
              <a:rPr sz="2100" spc="-25" dirty="0">
                <a:latin typeface="Calibri"/>
                <a:cs typeface="Calibri"/>
              </a:rPr>
              <a:t> </a:t>
            </a:r>
            <a:r>
              <a:rPr sz="2100" dirty="0">
                <a:latin typeface="Calibri"/>
                <a:cs typeface="Calibri"/>
              </a:rPr>
              <a:t>=</a:t>
            </a:r>
            <a:r>
              <a:rPr sz="2100" spc="-10" dirty="0">
                <a:latin typeface="Calibri"/>
                <a:cs typeface="Calibri"/>
              </a:rPr>
              <a:t> </a:t>
            </a:r>
            <a:r>
              <a:rPr sz="2100" dirty="0">
                <a:latin typeface="Calibri"/>
                <a:cs typeface="Calibri"/>
              </a:rPr>
              <a:t>2’b10</a:t>
            </a:r>
            <a:r>
              <a:rPr sz="2100" spc="-30" dirty="0">
                <a:latin typeface="Calibri"/>
                <a:cs typeface="Calibri"/>
              </a:rPr>
              <a:t> </a:t>
            </a:r>
            <a:r>
              <a:rPr sz="2100" spc="-50" dirty="0">
                <a:latin typeface="Calibri"/>
                <a:cs typeface="Calibri"/>
              </a:rPr>
              <a:t>, </a:t>
            </a:r>
            <a:r>
              <a:rPr sz="2100" dirty="0">
                <a:latin typeface="Calibri"/>
                <a:cs typeface="Calibri"/>
              </a:rPr>
              <a:t>s3</a:t>
            </a:r>
            <a:r>
              <a:rPr sz="2100" spc="-20" dirty="0">
                <a:latin typeface="Calibri"/>
                <a:cs typeface="Calibri"/>
              </a:rPr>
              <a:t> </a:t>
            </a:r>
            <a:r>
              <a:rPr sz="2100" dirty="0">
                <a:latin typeface="Calibri"/>
                <a:cs typeface="Calibri"/>
              </a:rPr>
              <a:t>=</a:t>
            </a:r>
            <a:r>
              <a:rPr sz="2100" spc="-5" dirty="0">
                <a:latin typeface="Calibri"/>
                <a:cs typeface="Calibri"/>
              </a:rPr>
              <a:t> </a:t>
            </a:r>
            <a:r>
              <a:rPr sz="2100" spc="-10" dirty="0">
                <a:latin typeface="Calibri"/>
                <a:cs typeface="Calibri"/>
              </a:rPr>
              <a:t>2’b11;</a:t>
            </a:r>
            <a:endParaRPr sz="2100">
              <a:latin typeface="Calibri"/>
              <a:cs typeface="Calibri"/>
            </a:endParaRPr>
          </a:p>
        </p:txBody>
      </p:sp>
      <p:sp>
        <p:nvSpPr>
          <p:cNvPr id="9" name="object 9"/>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10" name="object 10"/>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29</a:t>
            </a:fld>
            <a:endParaRPr spc="-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b="1" spc="-10" dirty="0">
                <a:latin typeface="Calibri"/>
                <a:cs typeface="Calibri"/>
              </a:rPr>
              <a:t>Mealy</a:t>
            </a:r>
            <a:r>
              <a:rPr b="1" spc="-30" dirty="0">
                <a:latin typeface="宋体"/>
                <a:cs typeface="宋体"/>
              </a:rPr>
              <a:t>状态机序列检测器实现代码</a:t>
            </a:r>
            <a:r>
              <a:rPr b="1" spc="-50" dirty="0">
                <a:latin typeface="Calibri"/>
                <a:cs typeface="Calibri"/>
              </a:rPr>
              <a:t>1</a:t>
            </a:r>
          </a:p>
        </p:txBody>
      </p:sp>
      <p:grpSp>
        <p:nvGrpSpPr>
          <p:cNvPr id="3" name="object 3"/>
          <p:cNvGrpSpPr/>
          <p:nvPr/>
        </p:nvGrpSpPr>
        <p:grpSpPr>
          <a:xfrm>
            <a:off x="166763" y="1678685"/>
            <a:ext cx="4122420" cy="4705350"/>
            <a:chOff x="166763" y="1678685"/>
            <a:chExt cx="4122420" cy="4705350"/>
          </a:xfrm>
        </p:grpSpPr>
        <p:sp>
          <p:nvSpPr>
            <p:cNvPr id="4" name="object 4"/>
            <p:cNvSpPr/>
            <p:nvPr/>
          </p:nvSpPr>
          <p:spPr>
            <a:xfrm>
              <a:off x="171335" y="1683257"/>
              <a:ext cx="4114165" cy="4696460"/>
            </a:xfrm>
            <a:custGeom>
              <a:avLst/>
              <a:gdLst/>
              <a:ahLst/>
              <a:cxnLst/>
              <a:rect l="l" t="t" r="r" b="b"/>
              <a:pathLst>
                <a:path w="4114165" h="4696460">
                  <a:moveTo>
                    <a:pt x="4114038" y="4696206"/>
                  </a:moveTo>
                  <a:lnTo>
                    <a:pt x="4114038" y="0"/>
                  </a:lnTo>
                  <a:lnTo>
                    <a:pt x="0" y="0"/>
                  </a:lnTo>
                  <a:lnTo>
                    <a:pt x="0" y="4696206"/>
                  </a:lnTo>
                  <a:lnTo>
                    <a:pt x="4114038" y="4696206"/>
                  </a:lnTo>
                  <a:close/>
                </a:path>
              </a:pathLst>
            </a:custGeom>
            <a:solidFill>
              <a:srgbClr val="F9FABA"/>
            </a:solidFill>
          </p:spPr>
          <p:txBody>
            <a:bodyPr wrap="square" lIns="0" tIns="0" rIns="0" bIns="0" rtlCol="0"/>
            <a:lstStyle/>
            <a:p>
              <a:endParaRPr/>
            </a:p>
          </p:txBody>
        </p:sp>
        <p:sp>
          <p:nvSpPr>
            <p:cNvPr id="5" name="object 5"/>
            <p:cNvSpPr/>
            <p:nvPr/>
          </p:nvSpPr>
          <p:spPr>
            <a:xfrm>
              <a:off x="166763" y="1678685"/>
              <a:ext cx="4122420" cy="4705350"/>
            </a:xfrm>
            <a:custGeom>
              <a:avLst/>
              <a:gdLst/>
              <a:ahLst/>
              <a:cxnLst/>
              <a:rect l="l" t="t" r="r" b="b"/>
              <a:pathLst>
                <a:path w="4122420" h="4705350">
                  <a:moveTo>
                    <a:pt x="4122420" y="4703064"/>
                  </a:moveTo>
                  <a:lnTo>
                    <a:pt x="4122420" y="2285"/>
                  </a:lnTo>
                  <a:lnTo>
                    <a:pt x="4120896" y="0"/>
                  </a:lnTo>
                  <a:lnTo>
                    <a:pt x="1523" y="0"/>
                  </a:lnTo>
                  <a:lnTo>
                    <a:pt x="0" y="2286"/>
                  </a:lnTo>
                  <a:lnTo>
                    <a:pt x="0" y="4703064"/>
                  </a:lnTo>
                  <a:lnTo>
                    <a:pt x="1524" y="4705350"/>
                  </a:lnTo>
                  <a:lnTo>
                    <a:pt x="4572" y="4705350"/>
                  </a:lnTo>
                  <a:lnTo>
                    <a:pt x="4572" y="8382"/>
                  </a:lnTo>
                  <a:lnTo>
                    <a:pt x="8382" y="4572"/>
                  </a:lnTo>
                  <a:lnTo>
                    <a:pt x="8382" y="8382"/>
                  </a:lnTo>
                  <a:lnTo>
                    <a:pt x="4114038" y="8381"/>
                  </a:lnTo>
                  <a:lnTo>
                    <a:pt x="4114038" y="4571"/>
                  </a:lnTo>
                  <a:lnTo>
                    <a:pt x="4118610" y="8381"/>
                  </a:lnTo>
                  <a:lnTo>
                    <a:pt x="4118610" y="4705350"/>
                  </a:lnTo>
                  <a:lnTo>
                    <a:pt x="4120896" y="4705350"/>
                  </a:lnTo>
                  <a:lnTo>
                    <a:pt x="4122420" y="4703064"/>
                  </a:lnTo>
                  <a:close/>
                </a:path>
                <a:path w="4122420" h="4705350">
                  <a:moveTo>
                    <a:pt x="8382" y="8382"/>
                  </a:moveTo>
                  <a:lnTo>
                    <a:pt x="8382" y="4572"/>
                  </a:lnTo>
                  <a:lnTo>
                    <a:pt x="4572" y="8382"/>
                  </a:lnTo>
                  <a:lnTo>
                    <a:pt x="8382" y="8382"/>
                  </a:lnTo>
                  <a:close/>
                </a:path>
                <a:path w="4122420" h="4705350">
                  <a:moveTo>
                    <a:pt x="8382" y="4696968"/>
                  </a:moveTo>
                  <a:lnTo>
                    <a:pt x="8382" y="8382"/>
                  </a:lnTo>
                  <a:lnTo>
                    <a:pt x="4572" y="8382"/>
                  </a:lnTo>
                  <a:lnTo>
                    <a:pt x="4572" y="4696968"/>
                  </a:lnTo>
                  <a:lnTo>
                    <a:pt x="8382" y="4696968"/>
                  </a:lnTo>
                  <a:close/>
                </a:path>
                <a:path w="4122420" h="4705350">
                  <a:moveTo>
                    <a:pt x="4118610" y="4696968"/>
                  </a:moveTo>
                  <a:lnTo>
                    <a:pt x="4572" y="4696968"/>
                  </a:lnTo>
                  <a:lnTo>
                    <a:pt x="8382" y="4700778"/>
                  </a:lnTo>
                  <a:lnTo>
                    <a:pt x="8382" y="4705350"/>
                  </a:lnTo>
                  <a:lnTo>
                    <a:pt x="4114038" y="4705350"/>
                  </a:lnTo>
                  <a:lnTo>
                    <a:pt x="4114038" y="4700778"/>
                  </a:lnTo>
                  <a:lnTo>
                    <a:pt x="4118610" y="4696968"/>
                  </a:lnTo>
                  <a:close/>
                </a:path>
                <a:path w="4122420" h="4705350">
                  <a:moveTo>
                    <a:pt x="8382" y="4705350"/>
                  </a:moveTo>
                  <a:lnTo>
                    <a:pt x="8382" y="4700778"/>
                  </a:lnTo>
                  <a:lnTo>
                    <a:pt x="4572" y="4696968"/>
                  </a:lnTo>
                  <a:lnTo>
                    <a:pt x="4572" y="4705350"/>
                  </a:lnTo>
                  <a:lnTo>
                    <a:pt x="8382" y="4705350"/>
                  </a:lnTo>
                  <a:close/>
                </a:path>
                <a:path w="4122420" h="4705350">
                  <a:moveTo>
                    <a:pt x="4118610" y="8381"/>
                  </a:moveTo>
                  <a:lnTo>
                    <a:pt x="4114038" y="4571"/>
                  </a:lnTo>
                  <a:lnTo>
                    <a:pt x="4114038" y="8381"/>
                  </a:lnTo>
                  <a:lnTo>
                    <a:pt x="4118610" y="8381"/>
                  </a:lnTo>
                  <a:close/>
                </a:path>
                <a:path w="4122420" h="4705350">
                  <a:moveTo>
                    <a:pt x="4118610" y="4696968"/>
                  </a:moveTo>
                  <a:lnTo>
                    <a:pt x="4118610" y="8381"/>
                  </a:lnTo>
                  <a:lnTo>
                    <a:pt x="4114038" y="8381"/>
                  </a:lnTo>
                  <a:lnTo>
                    <a:pt x="4114038" y="4696968"/>
                  </a:lnTo>
                  <a:lnTo>
                    <a:pt x="4118610" y="4696968"/>
                  </a:lnTo>
                  <a:close/>
                </a:path>
                <a:path w="4122420" h="4705350">
                  <a:moveTo>
                    <a:pt x="4118610" y="4705350"/>
                  </a:moveTo>
                  <a:lnTo>
                    <a:pt x="4118610" y="4696968"/>
                  </a:lnTo>
                  <a:lnTo>
                    <a:pt x="4114038" y="4700778"/>
                  </a:lnTo>
                  <a:lnTo>
                    <a:pt x="4114038" y="4705350"/>
                  </a:lnTo>
                  <a:lnTo>
                    <a:pt x="4118610" y="4705350"/>
                  </a:lnTo>
                  <a:close/>
                </a:path>
              </a:pathLst>
            </a:custGeom>
            <a:solidFill>
              <a:srgbClr val="FF0000"/>
            </a:solidFill>
          </p:spPr>
          <p:txBody>
            <a:bodyPr wrap="square" lIns="0" tIns="0" rIns="0" bIns="0" rtlCol="0"/>
            <a:lstStyle/>
            <a:p>
              <a:endParaRPr/>
            </a:p>
          </p:txBody>
        </p:sp>
      </p:grpSp>
      <p:sp>
        <p:nvSpPr>
          <p:cNvPr id="6" name="object 6"/>
          <p:cNvSpPr txBox="1"/>
          <p:nvPr/>
        </p:nvSpPr>
        <p:spPr>
          <a:xfrm>
            <a:off x="250577" y="1704847"/>
            <a:ext cx="2181860" cy="266065"/>
          </a:xfrm>
          <a:prstGeom prst="rect">
            <a:avLst/>
          </a:prstGeom>
        </p:spPr>
        <p:txBody>
          <a:bodyPr vert="horz" wrap="square" lIns="0" tIns="15875" rIns="0" bIns="0" rtlCol="0">
            <a:spAutoFit/>
          </a:bodyPr>
          <a:lstStyle/>
          <a:p>
            <a:pPr>
              <a:lnSpc>
                <a:spcPct val="100000"/>
              </a:lnSpc>
              <a:spcBef>
                <a:spcPts val="125"/>
              </a:spcBef>
            </a:pPr>
            <a:r>
              <a:rPr sz="1550" b="1" dirty="0">
                <a:latin typeface="Arial"/>
                <a:cs typeface="Arial"/>
              </a:rPr>
              <a:t>module</a:t>
            </a:r>
            <a:r>
              <a:rPr sz="1550" b="1" spc="490" dirty="0">
                <a:latin typeface="Arial"/>
                <a:cs typeface="Arial"/>
              </a:rPr>
              <a:t> </a:t>
            </a:r>
            <a:r>
              <a:rPr sz="1550" spc="-10" dirty="0">
                <a:latin typeface="Arial"/>
                <a:cs typeface="Arial"/>
              </a:rPr>
              <a:t>seq_det_mealy</a:t>
            </a:r>
            <a:endParaRPr sz="1550">
              <a:latin typeface="Arial"/>
              <a:cs typeface="Arial"/>
            </a:endParaRPr>
          </a:p>
        </p:txBody>
      </p:sp>
      <p:sp>
        <p:nvSpPr>
          <p:cNvPr id="7" name="object 7"/>
          <p:cNvSpPr txBox="1"/>
          <p:nvPr/>
        </p:nvSpPr>
        <p:spPr>
          <a:xfrm>
            <a:off x="361842" y="1944874"/>
            <a:ext cx="67310" cy="266065"/>
          </a:xfrm>
          <a:prstGeom prst="rect">
            <a:avLst/>
          </a:prstGeom>
        </p:spPr>
        <p:txBody>
          <a:bodyPr vert="horz" wrap="square" lIns="0" tIns="15875" rIns="0" bIns="0" rtlCol="0">
            <a:spAutoFit/>
          </a:bodyPr>
          <a:lstStyle/>
          <a:p>
            <a:pPr>
              <a:lnSpc>
                <a:spcPct val="100000"/>
              </a:lnSpc>
              <a:spcBef>
                <a:spcPts val="125"/>
              </a:spcBef>
            </a:pPr>
            <a:r>
              <a:rPr sz="1550" spc="-50" dirty="0">
                <a:latin typeface="Arial"/>
                <a:cs typeface="Arial"/>
              </a:rPr>
              <a:t>(</a:t>
            </a:r>
            <a:endParaRPr sz="1550">
              <a:latin typeface="Arial"/>
              <a:cs typeface="Arial"/>
            </a:endParaRPr>
          </a:p>
        </p:txBody>
      </p:sp>
      <p:sp>
        <p:nvSpPr>
          <p:cNvPr id="8" name="object 8"/>
          <p:cNvSpPr txBox="1"/>
          <p:nvPr/>
        </p:nvSpPr>
        <p:spPr>
          <a:xfrm>
            <a:off x="516020" y="2185661"/>
            <a:ext cx="516255" cy="506095"/>
          </a:xfrm>
          <a:prstGeom prst="rect">
            <a:avLst/>
          </a:prstGeom>
        </p:spPr>
        <p:txBody>
          <a:bodyPr vert="horz" wrap="square" lIns="0" tIns="12065" rIns="0" bIns="0" rtlCol="0">
            <a:spAutoFit/>
          </a:bodyPr>
          <a:lstStyle/>
          <a:p>
            <a:pPr marL="12700" marR="5080">
              <a:lnSpc>
                <a:spcPct val="101600"/>
              </a:lnSpc>
              <a:spcBef>
                <a:spcPts val="95"/>
              </a:spcBef>
            </a:pPr>
            <a:r>
              <a:rPr sz="1550" b="1" spc="-10" dirty="0">
                <a:latin typeface="Arial"/>
                <a:cs typeface="Arial"/>
              </a:rPr>
              <a:t>input input</a:t>
            </a:r>
            <a:endParaRPr sz="1550">
              <a:latin typeface="Arial"/>
              <a:cs typeface="Arial"/>
            </a:endParaRPr>
          </a:p>
        </p:txBody>
      </p:sp>
      <p:sp>
        <p:nvSpPr>
          <p:cNvPr id="9" name="object 9"/>
          <p:cNvSpPr txBox="1"/>
          <p:nvPr/>
        </p:nvSpPr>
        <p:spPr>
          <a:xfrm>
            <a:off x="1172871" y="2185661"/>
            <a:ext cx="939800" cy="506095"/>
          </a:xfrm>
          <a:prstGeom prst="rect">
            <a:avLst/>
          </a:prstGeom>
        </p:spPr>
        <p:txBody>
          <a:bodyPr vert="horz" wrap="square" lIns="0" tIns="12065" rIns="0" bIns="0" rtlCol="0">
            <a:spAutoFit/>
          </a:bodyPr>
          <a:lstStyle/>
          <a:p>
            <a:pPr marL="12700" marR="5080">
              <a:lnSpc>
                <a:spcPct val="101600"/>
              </a:lnSpc>
              <a:spcBef>
                <a:spcPts val="95"/>
              </a:spcBef>
            </a:pPr>
            <a:r>
              <a:rPr sz="1550" dirty="0">
                <a:latin typeface="Arial"/>
                <a:cs typeface="Arial"/>
              </a:rPr>
              <a:t>clk</a:t>
            </a:r>
            <a:r>
              <a:rPr sz="1550" spc="25" dirty="0">
                <a:latin typeface="Arial"/>
                <a:cs typeface="Arial"/>
              </a:rPr>
              <a:t> </a:t>
            </a:r>
            <a:r>
              <a:rPr sz="1550" dirty="0">
                <a:latin typeface="Arial"/>
                <a:cs typeface="Arial"/>
              </a:rPr>
              <a:t>,</a:t>
            </a:r>
            <a:r>
              <a:rPr sz="1550" spc="20" dirty="0">
                <a:latin typeface="Arial"/>
                <a:cs typeface="Arial"/>
              </a:rPr>
              <a:t> </a:t>
            </a:r>
            <a:r>
              <a:rPr sz="1550" spc="-10" dirty="0">
                <a:latin typeface="Arial"/>
                <a:cs typeface="Arial"/>
              </a:rPr>
              <a:t>reset, </a:t>
            </a:r>
            <a:r>
              <a:rPr sz="1550" spc="-20" dirty="0">
                <a:latin typeface="Arial"/>
                <a:cs typeface="Arial"/>
              </a:rPr>
              <a:t>din,</a:t>
            </a:r>
            <a:endParaRPr sz="1550">
              <a:latin typeface="Arial"/>
              <a:cs typeface="Arial"/>
            </a:endParaRPr>
          </a:p>
        </p:txBody>
      </p:sp>
      <p:sp>
        <p:nvSpPr>
          <p:cNvPr id="10" name="object 10"/>
          <p:cNvSpPr txBox="1"/>
          <p:nvPr/>
        </p:nvSpPr>
        <p:spPr>
          <a:xfrm>
            <a:off x="237897" y="2666476"/>
            <a:ext cx="3858260" cy="3632835"/>
          </a:xfrm>
          <a:prstGeom prst="rect">
            <a:avLst/>
          </a:prstGeom>
        </p:spPr>
        <p:txBody>
          <a:bodyPr vert="horz" wrap="square" lIns="0" tIns="15875" rIns="0" bIns="0" rtlCol="0">
            <a:spAutoFit/>
          </a:bodyPr>
          <a:lstStyle/>
          <a:p>
            <a:pPr marL="290195">
              <a:lnSpc>
                <a:spcPct val="100000"/>
              </a:lnSpc>
              <a:spcBef>
                <a:spcPts val="125"/>
              </a:spcBef>
            </a:pPr>
            <a:r>
              <a:rPr sz="1550" b="1" dirty="0">
                <a:latin typeface="Arial"/>
                <a:cs typeface="Arial"/>
              </a:rPr>
              <a:t>output</a:t>
            </a:r>
            <a:r>
              <a:rPr sz="1550" b="1" spc="35" dirty="0">
                <a:latin typeface="Arial"/>
                <a:cs typeface="Arial"/>
              </a:rPr>
              <a:t> </a:t>
            </a:r>
            <a:r>
              <a:rPr sz="1550" b="1" dirty="0">
                <a:latin typeface="Arial"/>
                <a:cs typeface="Arial"/>
              </a:rPr>
              <a:t>reg</a:t>
            </a:r>
            <a:r>
              <a:rPr sz="1550" b="1" spc="40" dirty="0">
                <a:latin typeface="Arial"/>
                <a:cs typeface="Arial"/>
              </a:rPr>
              <a:t> </a:t>
            </a:r>
            <a:r>
              <a:rPr sz="1550" spc="-20" dirty="0">
                <a:latin typeface="Arial"/>
                <a:cs typeface="Arial"/>
              </a:rPr>
              <a:t>sout</a:t>
            </a:r>
            <a:endParaRPr sz="1550">
              <a:latin typeface="Arial"/>
              <a:cs typeface="Arial"/>
            </a:endParaRPr>
          </a:p>
          <a:p>
            <a:pPr marL="123825">
              <a:lnSpc>
                <a:spcPts val="1820"/>
              </a:lnSpc>
              <a:spcBef>
                <a:spcPts val="35"/>
              </a:spcBef>
            </a:pPr>
            <a:r>
              <a:rPr sz="1550" dirty="0">
                <a:latin typeface="Arial"/>
                <a:cs typeface="Arial"/>
              </a:rPr>
              <a:t>)</a:t>
            </a:r>
            <a:r>
              <a:rPr sz="1550" spc="20" dirty="0">
                <a:latin typeface="Arial"/>
                <a:cs typeface="Arial"/>
              </a:rPr>
              <a:t> </a:t>
            </a:r>
            <a:r>
              <a:rPr sz="1550" spc="-50" dirty="0">
                <a:latin typeface="Arial"/>
                <a:cs typeface="Arial"/>
              </a:rPr>
              <a:t>;</a:t>
            </a:r>
            <a:endParaRPr sz="1550">
              <a:latin typeface="Arial"/>
              <a:cs typeface="Arial"/>
            </a:endParaRPr>
          </a:p>
          <a:p>
            <a:pPr marL="12700">
              <a:lnSpc>
                <a:spcPts val="1939"/>
              </a:lnSpc>
            </a:pPr>
            <a:r>
              <a:rPr sz="1550" spc="155" dirty="0">
                <a:solidFill>
                  <a:srgbClr val="00B0EF"/>
                </a:solidFill>
                <a:latin typeface="Arial"/>
                <a:cs typeface="Arial"/>
              </a:rPr>
              <a:t>// </a:t>
            </a:r>
            <a:r>
              <a:rPr sz="1650" i="1" spc="-80" dirty="0">
                <a:solidFill>
                  <a:srgbClr val="00B0EF"/>
                </a:solidFill>
                <a:latin typeface="微软雅黑"/>
                <a:cs typeface="微软雅黑"/>
              </a:rPr>
              <a:t>状态声明</a:t>
            </a:r>
            <a:endParaRPr sz="1650">
              <a:latin typeface="微软雅黑"/>
              <a:cs typeface="微软雅黑"/>
            </a:endParaRPr>
          </a:p>
          <a:p>
            <a:pPr marL="123825" marR="2167255">
              <a:lnSpc>
                <a:spcPts val="1889"/>
              </a:lnSpc>
              <a:spcBef>
                <a:spcPts val="70"/>
              </a:spcBef>
            </a:pPr>
            <a:r>
              <a:rPr sz="1550" b="1" dirty="0">
                <a:latin typeface="Arial"/>
                <a:cs typeface="Arial"/>
              </a:rPr>
              <a:t>localparam</a:t>
            </a:r>
            <a:r>
              <a:rPr sz="1550" dirty="0">
                <a:latin typeface="Arial"/>
                <a:cs typeface="Arial"/>
              </a:rPr>
              <a:t>[</a:t>
            </a:r>
            <a:r>
              <a:rPr sz="1550" spc="45" dirty="0">
                <a:latin typeface="Arial"/>
                <a:cs typeface="Arial"/>
              </a:rPr>
              <a:t> </a:t>
            </a:r>
            <a:r>
              <a:rPr sz="1550" dirty="0">
                <a:latin typeface="Arial"/>
                <a:cs typeface="Arial"/>
              </a:rPr>
              <a:t>1:0</a:t>
            </a:r>
            <a:r>
              <a:rPr sz="1550" spc="45" dirty="0">
                <a:latin typeface="Arial"/>
                <a:cs typeface="Arial"/>
              </a:rPr>
              <a:t> </a:t>
            </a:r>
            <a:r>
              <a:rPr sz="1550" spc="-50" dirty="0">
                <a:latin typeface="Arial"/>
                <a:cs typeface="Arial"/>
              </a:rPr>
              <a:t>] </a:t>
            </a:r>
            <a:r>
              <a:rPr sz="1550" dirty="0">
                <a:latin typeface="Arial"/>
                <a:cs typeface="Arial"/>
              </a:rPr>
              <a:t>s0</a:t>
            </a:r>
            <a:r>
              <a:rPr sz="1550" spc="20" dirty="0">
                <a:latin typeface="Arial"/>
                <a:cs typeface="Arial"/>
              </a:rPr>
              <a:t> </a:t>
            </a:r>
            <a:r>
              <a:rPr sz="1550" dirty="0">
                <a:latin typeface="Arial"/>
                <a:cs typeface="Arial"/>
              </a:rPr>
              <a:t>=</a:t>
            </a:r>
            <a:r>
              <a:rPr sz="1550" spc="20" dirty="0">
                <a:latin typeface="Arial"/>
                <a:cs typeface="Arial"/>
              </a:rPr>
              <a:t> </a:t>
            </a:r>
            <a:r>
              <a:rPr sz="1550" dirty="0">
                <a:latin typeface="Arial"/>
                <a:cs typeface="Arial"/>
              </a:rPr>
              <a:t>2’b00</a:t>
            </a:r>
            <a:r>
              <a:rPr sz="1550" spc="20" dirty="0">
                <a:latin typeface="Arial"/>
                <a:cs typeface="Arial"/>
              </a:rPr>
              <a:t> </a:t>
            </a:r>
            <a:r>
              <a:rPr sz="1550" spc="-50" dirty="0">
                <a:latin typeface="Arial"/>
                <a:cs typeface="Arial"/>
              </a:rPr>
              <a:t>,</a:t>
            </a:r>
            <a:endParaRPr sz="1550">
              <a:latin typeface="Arial"/>
              <a:cs typeface="Arial"/>
            </a:endParaRPr>
          </a:p>
          <a:p>
            <a:pPr marL="123825">
              <a:lnSpc>
                <a:spcPts val="1830"/>
              </a:lnSpc>
            </a:pPr>
            <a:r>
              <a:rPr sz="1550" dirty="0">
                <a:latin typeface="Arial"/>
                <a:cs typeface="Arial"/>
              </a:rPr>
              <a:t>s1</a:t>
            </a:r>
            <a:r>
              <a:rPr sz="1550" spc="20" dirty="0">
                <a:latin typeface="Arial"/>
                <a:cs typeface="Arial"/>
              </a:rPr>
              <a:t> </a:t>
            </a:r>
            <a:r>
              <a:rPr sz="1550" dirty="0">
                <a:latin typeface="Arial"/>
                <a:cs typeface="Arial"/>
              </a:rPr>
              <a:t>=</a:t>
            </a:r>
            <a:r>
              <a:rPr sz="1550" spc="20" dirty="0">
                <a:latin typeface="Arial"/>
                <a:cs typeface="Arial"/>
              </a:rPr>
              <a:t> </a:t>
            </a:r>
            <a:r>
              <a:rPr sz="1550" dirty="0">
                <a:latin typeface="Arial"/>
                <a:cs typeface="Arial"/>
              </a:rPr>
              <a:t>2’b01</a:t>
            </a:r>
            <a:r>
              <a:rPr sz="1550" spc="20" dirty="0">
                <a:latin typeface="Arial"/>
                <a:cs typeface="Arial"/>
              </a:rPr>
              <a:t> </a:t>
            </a:r>
            <a:r>
              <a:rPr sz="1550" spc="-50" dirty="0">
                <a:latin typeface="Arial"/>
                <a:cs typeface="Arial"/>
              </a:rPr>
              <a:t>,</a:t>
            </a:r>
            <a:endParaRPr sz="1550">
              <a:latin typeface="Arial"/>
              <a:cs typeface="Arial"/>
            </a:endParaRPr>
          </a:p>
          <a:p>
            <a:pPr marL="123825" marR="2685415">
              <a:lnSpc>
                <a:spcPct val="101600"/>
              </a:lnSpc>
              <a:spcBef>
                <a:spcPts val="5"/>
              </a:spcBef>
            </a:pPr>
            <a:r>
              <a:rPr sz="1550" dirty="0">
                <a:latin typeface="Arial"/>
                <a:cs typeface="Arial"/>
              </a:rPr>
              <a:t>s2</a:t>
            </a:r>
            <a:r>
              <a:rPr sz="1550" spc="20" dirty="0">
                <a:latin typeface="Arial"/>
                <a:cs typeface="Arial"/>
              </a:rPr>
              <a:t> </a:t>
            </a:r>
            <a:r>
              <a:rPr sz="1550" dirty="0">
                <a:latin typeface="Arial"/>
                <a:cs typeface="Arial"/>
              </a:rPr>
              <a:t>=</a:t>
            </a:r>
            <a:r>
              <a:rPr sz="1550" spc="20" dirty="0">
                <a:latin typeface="Arial"/>
                <a:cs typeface="Arial"/>
              </a:rPr>
              <a:t> </a:t>
            </a:r>
            <a:r>
              <a:rPr sz="1550" dirty="0">
                <a:latin typeface="Arial"/>
                <a:cs typeface="Arial"/>
              </a:rPr>
              <a:t>2’b10</a:t>
            </a:r>
            <a:r>
              <a:rPr sz="1550" spc="20" dirty="0">
                <a:latin typeface="Arial"/>
                <a:cs typeface="Arial"/>
              </a:rPr>
              <a:t> </a:t>
            </a:r>
            <a:r>
              <a:rPr sz="1550" spc="-50" dirty="0">
                <a:latin typeface="Arial"/>
                <a:cs typeface="Arial"/>
              </a:rPr>
              <a:t>, </a:t>
            </a:r>
            <a:r>
              <a:rPr sz="1550" dirty="0">
                <a:latin typeface="Arial"/>
                <a:cs typeface="Arial"/>
              </a:rPr>
              <a:t>s3</a:t>
            </a:r>
            <a:r>
              <a:rPr sz="1550" spc="10" dirty="0">
                <a:latin typeface="Arial"/>
                <a:cs typeface="Arial"/>
              </a:rPr>
              <a:t> </a:t>
            </a:r>
            <a:r>
              <a:rPr sz="1550" dirty="0">
                <a:latin typeface="Arial"/>
                <a:cs typeface="Arial"/>
              </a:rPr>
              <a:t>=</a:t>
            </a:r>
            <a:r>
              <a:rPr sz="1550" spc="15" dirty="0">
                <a:latin typeface="Arial"/>
                <a:cs typeface="Arial"/>
              </a:rPr>
              <a:t> </a:t>
            </a:r>
            <a:r>
              <a:rPr sz="1550" spc="-10" dirty="0">
                <a:latin typeface="Arial"/>
                <a:cs typeface="Arial"/>
              </a:rPr>
              <a:t>2’b11;</a:t>
            </a:r>
            <a:endParaRPr sz="1550">
              <a:latin typeface="Arial"/>
              <a:cs typeface="Arial"/>
            </a:endParaRPr>
          </a:p>
          <a:p>
            <a:pPr marL="123825">
              <a:lnSpc>
                <a:spcPct val="100000"/>
              </a:lnSpc>
              <a:spcBef>
                <a:spcPts val="35"/>
              </a:spcBef>
            </a:pPr>
            <a:r>
              <a:rPr sz="1550" b="1" dirty="0">
                <a:latin typeface="Arial"/>
                <a:cs typeface="Arial"/>
              </a:rPr>
              <a:t>reg</a:t>
            </a:r>
            <a:r>
              <a:rPr sz="1550" dirty="0">
                <a:latin typeface="Arial"/>
                <a:cs typeface="Arial"/>
              </a:rPr>
              <a:t>[</a:t>
            </a:r>
            <a:r>
              <a:rPr sz="1550" spc="25" dirty="0">
                <a:latin typeface="Arial"/>
                <a:cs typeface="Arial"/>
              </a:rPr>
              <a:t> </a:t>
            </a:r>
            <a:r>
              <a:rPr sz="1550" dirty="0">
                <a:latin typeface="Arial"/>
                <a:cs typeface="Arial"/>
              </a:rPr>
              <a:t>1:0</a:t>
            </a:r>
            <a:r>
              <a:rPr sz="1550" spc="30"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cs</a:t>
            </a:r>
            <a:r>
              <a:rPr sz="1550" spc="25"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nst</a:t>
            </a:r>
            <a:r>
              <a:rPr sz="1550" spc="30" dirty="0">
                <a:latin typeface="Arial"/>
                <a:cs typeface="Arial"/>
              </a:rPr>
              <a:t> </a:t>
            </a:r>
            <a:r>
              <a:rPr sz="1550" spc="-50" dirty="0">
                <a:latin typeface="Arial"/>
                <a:cs typeface="Arial"/>
              </a:rPr>
              <a:t>;</a:t>
            </a:r>
            <a:endParaRPr sz="1550">
              <a:latin typeface="Arial"/>
              <a:cs typeface="Arial"/>
            </a:endParaRPr>
          </a:p>
          <a:p>
            <a:pPr marL="123825">
              <a:lnSpc>
                <a:spcPct val="100000"/>
              </a:lnSpc>
              <a:spcBef>
                <a:spcPts val="20"/>
              </a:spcBef>
            </a:pPr>
            <a:r>
              <a:rPr sz="1550" dirty="0">
                <a:solidFill>
                  <a:srgbClr val="00B0EF"/>
                </a:solidFill>
                <a:latin typeface="Arial"/>
                <a:cs typeface="Arial"/>
              </a:rPr>
              <a:t>//</a:t>
            </a:r>
            <a:r>
              <a:rPr sz="1550" spc="-15" dirty="0">
                <a:solidFill>
                  <a:srgbClr val="00B0EF"/>
                </a:solidFill>
                <a:latin typeface="微软雅黑"/>
                <a:cs typeface="微软雅黑"/>
              </a:rPr>
              <a:t>状态转移</a:t>
            </a:r>
            <a:endParaRPr sz="1550">
              <a:latin typeface="微软雅黑"/>
              <a:cs typeface="微软雅黑"/>
            </a:endParaRPr>
          </a:p>
          <a:p>
            <a:pPr marL="123825">
              <a:lnSpc>
                <a:spcPct val="100000"/>
              </a:lnSpc>
              <a:spcBef>
                <a:spcPts val="45"/>
              </a:spcBef>
            </a:pPr>
            <a:r>
              <a:rPr sz="1550" b="1" dirty="0">
                <a:latin typeface="Arial"/>
                <a:cs typeface="Arial"/>
              </a:rPr>
              <a:t>always</a:t>
            </a:r>
            <a:r>
              <a:rPr sz="1550" dirty="0">
                <a:latin typeface="Arial"/>
                <a:cs typeface="Arial"/>
              </a:rPr>
              <a:t>@</a:t>
            </a:r>
            <a:r>
              <a:rPr sz="1550" spc="50" dirty="0">
                <a:latin typeface="Arial"/>
                <a:cs typeface="Arial"/>
              </a:rPr>
              <a:t> </a:t>
            </a:r>
            <a:r>
              <a:rPr sz="1550" dirty="0">
                <a:latin typeface="Arial"/>
                <a:cs typeface="Arial"/>
              </a:rPr>
              <a:t>(</a:t>
            </a:r>
            <a:r>
              <a:rPr sz="1550" b="1" dirty="0">
                <a:latin typeface="Arial"/>
                <a:cs typeface="Arial"/>
              </a:rPr>
              <a:t>posedge</a:t>
            </a:r>
            <a:r>
              <a:rPr sz="1550" b="1" spc="45" dirty="0">
                <a:latin typeface="Arial"/>
                <a:cs typeface="Arial"/>
              </a:rPr>
              <a:t> </a:t>
            </a:r>
            <a:r>
              <a:rPr sz="1550" dirty="0">
                <a:latin typeface="Arial"/>
                <a:cs typeface="Arial"/>
              </a:rPr>
              <a:t>clk</a:t>
            </a:r>
            <a:r>
              <a:rPr sz="1550" spc="45" dirty="0">
                <a:latin typeface="Arial"/>
                <a:cs typeface="Arial"/>
              </a:rPr>
              <a:t> </a:t>
            </a:r>
            <a:r>
              <a:rPr sz="1550" dirty="0">
                <a:latin typeface="Arial"/>
                <a:cs typeface="Arial"/>
              </a:rPr>
              <a:t>,</a:t>
            </a:r>
            <a:r>
              <a:rPr sz="1550" spc="55" dirty="0">
                <a:latin typeface="Arial"/>
                <a:cs typeface="Arial"/>
              </a:rPr>
              <a:t> </a:t>
            </a:r>
            <a:r>
              <a:rPr sz="1550" b="1" dirty="0">
                <a:latin typeface="Arial"/>
                <a:cs typeface="Arial"/>
              </a:rPr>
              <a:t>posedge</a:t>
            </a:r>
            <a:r>
              <a:rPr sz="1550" b="1" spc="50" dirty="0">
                <a:latin typeface="Arial"/>
                <a:cs typeface="Arial"/>
              </a:rPr>
              <a:t> </a:t>
            </a:r>
            <a:r>
              <a:rPr sz="1550" dirty="0">
                <a:latin typeface="Arial"/>
                <a:cs typeface="Arial"/>
              </a:rPr>
              <a:t>reset</a:t>
            </a:r>
            <a:r>
              <a:rPr sz="1550" spc="50" dirty="0">
                <a:latin typeface="Arial"/>
                <a:cs typeface="Arial"/>
              </a:rPr>
              <a:t> </a:t>
            </a:r>
            <a:r>
              <a:rPr sz="1550" spc="-50" dirty="0">
                <a:latin typeface="Arial"/>
                <a:cs typeface="Arial"/>
              </a:rPr>
              <a:t>)</a:t>
            </a:r>
            <a:endParaRPr sz="1550">
              <a:latin typeface="Arial"/>
              <a:cs typeface="Arial"/>
            </a:endParaRPr>
          </a:p>
          <a:p>
            <a:pPr marL="401955" marR="2579370" indent="-167005">
              <a:lnSpc>
                <a:spcPct val="101600"/>
              </a:lnSpc>
              <a:spcBef>
                <a:spcPts val="10"/>
              </a:spcBef>
            </a:pPr>
            <a:r>
              <a:rPr sz="1550" b="1" dirty="0">
                <a:latin typeface="Arial"/>
                <a:cs typeface="Arial"/>
              </a:rPr>
              <a:t>if</a:t>
            </a:r>
            <a:r>
              <a:rPr sz="1550" b="1" spc="35" dirty="0">
                <a:latin typeface="Arial"/>
                <a:cs typeface="Arial"/>
              </a:rPr>
              <a:t> </a:t>
            </a:r>
            <a:r>
              <a:rPr sz="1550" dirty="0">
                <a:latin typeface="Arial"/>
                <a:cs typeface="Arial"/>
              </a:rPr>
              <a:t>(</a:t>
            </a:r>
            <a:r>
              <a:rPr sz="1550" spc="40" dirty="0">
                <a:latin typeface="Arial"/>
                <a:cs typeface="Arial"/>
              </a:rPr>
              <a:t> </a:t>
            </a:r>
            <a:r>
              <a:rPr sz="1550" dirty="0">
                <a:latin typeface="Arial"/>
                <a:cs typeface="Arial"/>
              </a:rPr>
              <a:t>reset</a:t>
            </a:r>
            <a:r>
              <a:rPr sz="1550" spc="35" dirty="0">
                <a:latin typeface="Arial"/>
                <a:cs typeface="Arial"/>
              </a:rPr>
              <a:t> </a:t>
            </a:r>
            <a:r>
              <a:rPr sz="1550" spc="-50" dirty="0">
                <a:latin typeface="Arial"/>
                <a:cs typeface="Arial"/>
              </a:rPr>
              <a:t>) </a:t>
            </a:r>
            <a:r>
              <a:rPr sz="1550" dirty="0">
                <a:latin typeface="Arial"/>
                <a:cs typeface="Arial"/>
              </a:rPr>
              <a:t>cs</a:t>
            </a:r>
            <a:r>
              <a:rPr sz="1550" spc="25" dirty="0">
                <a:latin typeface="Arial"/>
                <a:cs typeface="Arial"/>
              </a:rPr>
              <a:t> </a:t>
            </a:r>
            <a:r>
              <a:rPr sz="1550" dirty="0">
                <a:latin typeface="Arial"/>
                <a:cs typeface="Arial"/>
              </a:rPr>
              <a:t>&lt;=</a:t>
            </a:r>
            <a:r>
              <a:rPr sz="1550" spc="30" dirty="0">
                <a:latin typeface="Arial"/>
                <a:cs typeface="Arial"/>
              </a:rPr>
              <a:t> </a:t>
            </a:r>
            <a:r>
              <a:rPr sz="1550" dirty="0">
                <a:latin typeface="Arial"/>
                <a:cs typeface="Arial"/>
              </a:rPr>
              <a:t>s0</a:t>
            </a:r>
            <a:r>
              <a:rPr sz="1550" spc="25" dirty="0">
                <a:latin typeface="Arial"/>
                <a:cs typeface="Arial"/>
              </a:rPr>
              <a:t> </a:t>
            </a:r>
            <a:r>
              <a:rPr sz="1550" spc="-50" dirty="0">
                <a:latin typeface="Arial"/>
                <a:cs typeface="Arial"/>
              </a:rPr>
              <a:t>;</a:t>
            </a:r>
            <a:endParaRPr sz="1550">
              <a:latin typeface="Arial"/>
              <a:cs typeface="Arial"/>
            </a:endParaRPr>
          </a:p>
          <a:p>
            <a:pPr marL="179070">
              <a:lnSpc>
                <a:spcPct val="100000"/>
              </a:lnSpc>
              <a:spcBef>
                <a:spcPts val="35"/>
              </a:spcBef>
            </a:pPr>
            <a:r>
              <a:rPr sz="1550" b="1" spc="-20" dirty="0">
                <a:latin typeface="Arial"/>
                <a:cs typeface="Arial"/>
              </a:rPr>
              <a:t>else</a:t>
            </a:r>
            <a:endParaRPr sz="1550">
              <a:latin typeface="Arial"/>
              <a:cs typeface="Arial"/>
            </a:endParaRPr>
          </a:p>
          <a:p>
            <a:pPr marL="401955">
              <a:lnSpc>
                <a:spcPct val="100000"/>
              </a:lnSpc>
              <a:spcBef>
                <a:spcPts val="30"/>
              </a:spcBef>
            </a:pPr>
            <a:r>
              <a:rPr sz="1550" dirty="0">
                <a:latin typeface="Arial"/>
                <a:cs typeface="Arial"/>
              </a:rPr>
              <a:t>cs</a:t>
            </a:r>
            <a:r>
              <a:rPr sz="1550" spc="30" dirty="0">
                <a:latin typeface="Arial"/>
                <a:cs typeface="Arial"/>
              </a:rPr>
              <a:t> </a:t>
            </a:r>
            <a:r>
              <a:rPr sz="1550" dirty="0">
                <a:latin typeface="Arial"/>
                <a:cs typeface="Arial"/>
              </a:rPr>
              <a:t>&lt;=</a:t>
            </a:r>
            <a:r>
              <a:rPr sz="1550" spc="30" dirty="0">
                <a:latin typeface="Arial"/>
                <a:cs typeface="Arial"/>
              </a:rPr>
              <a:t> </a:t>
            </a:r>
            <a:r>
              <a:rPr sz="1550" dirty="0">
                <a:latin typeface="Arial"/>
                <a:cs typeface="Arial"/>
              </a:rPr>
              <a:t>nst</a:t>
            </a:r>
            <a:r>
              <a:rPr sz="1550" spc="35" dirty="0">
                <a:latin typeface="Arial"/>
                <a:cs typeface="Arial"/>
              </a:rPr>
              <a:t> </a:t>
            </a:r>
            <a:r>
              <a:rPr sz="1550" spc="-50" dirty="0">
                <a:latin typeface="Arial"/>
                <a:cs typeface="Arial"/>
              </a:rPr>
              <a:t>;</a:t>
            </a:r>
            <a:endParaRPr sz="1550">
              <a:latin typeface="Arial"/>
              <a:cs typeface="Arial"/>
            </a:endParaRPr>
          </a:p>
        </p:txBody>
      </p:sp>
      <p:grpSp>
        <p:nvGrpSpPr>
          <p:cNvPr id="11" name="object 11"/>
          <p:cNvGrpSpPr/>
          <p:nvPr/>
        </p:nvGrpSpPr>
        <p:grpSpPr>
          <a:xfrm>
            <a:off x="4968887" y="1578863"/>
            <a:ext cx="5013960" cy="4462780"/>
            <a:chOff x="4968887" y="1578863"/>
            <a:chExt cx="5013960" cy="4462780"/>
          </a:xfrm>
        </p:grpSpPr>
        <p:sp>
          <p:nvSpPr>
            <p:cNvPr id="12" name="object 12"/>
            <p:cNvSpPr/>
            <p:nvPr/>
          </p:nvSpPr>
          <p:spPr>
            <a:xfrm>
              <a:off x="4972697" y="1583435"/>
              <a:ext cx="5006340" cy="4453255"/>
            </a:xfrm>
            <a:custGeom>
              <a:avLst/>
              <a:gdLst/>
              <a:ahLst/>
              <a:cxnLst/>
              <a:rect l="l" t="t" r="r" b="b"/>
              <a:pathLst>
                <a:path w="5006340" h="4453255">
                  <a:moveTo>
                    <a:pt x="5006340" y="4453128"/>
                  </a:moveTo>
                  <a:lnTo>
                    <a:pt x="5006340" y="0"/>
                  </a:lnTo>
                  <a:lnTo>
                    <a:pt x="0" y="0"/>
                  </a:lnTo>
                  <a:lnTo>
                    <a:pt x="0" y="4453128"/>
                  </a:lnTo>
                  <a:lnTo>
                    <a:pt x="5006340" y="4453128"/>
                  </a:lnTo>
                  <a:close/>
                </a:path>
              </a:pathLst>
            </a:custGeom>
            <a:solidFill>
              <a:srgbClr val="F9FABA"/>
            </a:solidFill>
          </p:spPr>
          <p:txBody>
            <a:bodyPr wrap="square" lIns="0" tIns="0" rIns="0" bIns="0" rtlCol="0"/>
            <a:lstStyle/>
            <a:p>
              <a:endParaRPr/>
            </a:p>
          </p:txBody>
        </p:sp>
        <p:sp>
          <p:nvSpPr>
            <p:cNvPr id="13" name="object 13"/>
            <p:cNvSpPr/>
            <p:nvPr/>
          </p:nvSpPr>
          <p:spPr>
            <a:xfrm>
              <a:off x="4968887" y="1578863"/>
              <a:ext cx="5013960" cy="4462780"/>
            </a:xfrm>
            <a:custGeom>
              <a:avLst/>
              <a:gdLst/>
              <a:ahLst/>
              <a:cxnLst/>
              <a:rect l="l" t="t" r="r" b="b"/>
              <a:pathLst>
                <a:path w="5013959" h="4462780">
                  <a:moveTo>
                    <a:pt x="5013960" y="4459986"/>
                  </a:moveTo>
                  <a:lnTo>
                    <a:pt x="5013960" y="2285"/>
                  </a:lnTo>
                  <a:lnTo>
                    <a:pt x="5012436" y="0"/>
                  </a:lnTo>
                  <a:lnTo>
                    <a:pt x="1523" y="0"/>
                  </a:lnTo>
                  <a:lnTo>
                    <a:pt x="0" y="2286"/>
                  </a:lnTo>
                  <a:lnTo>
                    <a:pt x="0" y="4459986"/>
                  </a:lnTo>
                  <a:lnTo>
                    <a:pt x="1524" y="4462272"/>
                  </a:lnTo>
                  <a:lnTo>
                    <a:pt x="3810" y="4462272"/>
                  </a:lnTo>
                  <a:lnTo>
                    <a:pt x="3810" y="8382"/>
                  </a:lnTo>
                  <a:lnTo>
                    <a:pt x="8381" y="4572"/>
                  </a:lnTo>
                  <a:lnTo>
                    <a:pt x="8382" y="8382"/>
                  </a:lnTo>
                  <a:lnTo>
                    <a:pt x="5005578" y="8381"/>
                  </a:lnTo>
                  <a:lnTo>
                    <a:pt x="5005578" y="4571"/>
                  </a:lnTo>
                  <a:lnTo>
                    <a:pt x="5010150" y="8381"/>
                  </a:lnTo>
                  <a:lnTo>
                    <a:pt x="5010150" y="4462272"/>
                  </a:lnTo>
                  <a:lnTo>
                    <a:pt x="5012436" y="4462272"/>
                  </a:lnTo>
                  <a:lnTo>
                    <a:pt x="5013960" y="4459986"/>
                  </a:lnTo>
                  <a:close/>
                </a:path>
                <a:path w="5013959" h="4462780">
                  <a:moveTo>
                    <a:pt x="8381" y="8382"/>
                  </a:moveTo>
                  <a:lnTo>
                    <a:pt x="8381" y="4572"/>
                  </a:lnTo>
                  <a:lnTo>
                    <a:pt x="3810" y="8382"/>
                  </a:lnTo>
                  <a:lnTo>
                    <a:pt x="8381" y="8382"/>
                  </a:lnTo>
                  <a:close/>
                </a:path>
                <a:path w="5013959" h="4462780">
                  <a:moveTo>
                    <a:pt x="8382" y="4453890"/>
                  </a:moveTo>
                  <a:lnTo>
                    <a:pt x="8381" y="8382"/>
                  </a:lnTo>
                  <a:lnTo>
                    <a:pt x="3810" y="8382"/>
                  </a:lnTo>
                  <a:lnTo>
                    <a:pt x="3810" y="4453890"/>
                  </a:lnTo>
                  <a:lnTo>
                    <a:pt x="8382" y="4453890"/>
                  </a:lnTo>
                  <a:close/>
                </a:path>
                <a:path w="5013959" h="4462780">
                  <a:moveTo>
                    <a:pt x="5010150" y="4453890"/>
                  </a:moveTo>
                  <a:lnTo>
                    <a:pt x="3810" y="4453890"/>
                  </a:lnTo>
                  <a:lnTo>
                    <a:pt x="8382" y="4457700"/>
                  </a:lnTo>
                  <a:lnTo>
                    <a:pt x="8382" y="4462272"/>
                  </a:lnTo>
                  <a:lnTo>
                    <a:pt x="5005578" y="4462272"/>
                  </a:lnTo>
                  <a:lnTo>
                    <a:pt x="5005578" y="4457700"/>
                  </a:lnTo>
                  <a:lnTo>
                    <a:pt x="5010150" y="4453890"/>
                  </a:lnTo>
                  <a:close/>
                </a:path>
                <a:path w="5013959" h="4462780">
                  <a:moveTo>
                    <a:pt x="8382" y="4462272"/>
                  </a:moveTo>
                  <a:lnTo>
                    <a:pt x="8382" y="4457700"/>
                  </a:lnTo>
                  <a:lnTo>
                    <a:pt x="3810" y="4453890"/>
                  </a:lnTo>
                  <a:lnTo>
                    <a:pt x="3810" y="4462272"/>
                  </a:lnTo>
                  <a:lnTo>
                    <a:pt x="8382" y="4462272"/>
                  </a:lnTo>
                  <a:close/>
                </a:path>
                <a:path w="5013959" h="4462780">
                  <a:moveTo>
                    <a:pt x="5010150" y="8381"/>
                  </a:moveTo>
                  <a:lnTo>
                    <a:pt x="5005578" y="4571"/>
                  </a:lnTo>
                  <a:lnTo>
                    <a:pt x="5005578" y="8381"/>
                  </a:lnTo>
                  <a:lnTo>
                    <a:pt x="5010150" y="8381"/>
                  </a:lnTo>
                  <a:close/>
                </a:path>
                <a:path w="5013959" h="4462780">
                  <a:moveTo>
                    <a:pt x="5010150" y="4453890"/>
                  </a:moveTo>
                  <a:lnTo>
                    <a:pt x="5010150" y="8381"/>
                  </a:lnTo>
                  <a:lnTo>
                    <a:pt x="5005578" y="8381"/>
                  </a:lnTo>
                  <a:lnTo>
                    <a:pt x="5005578" y="4453890"/>
                  </a:lnTo>
                  <a:lnTo>
                    <a:pt x="5010150" y="4453890"/>
                  </a:lnTo>
                  <a:close/>
                </a:path>
                <a:path w="5013959" h="4462780">
                  <a:moveTo>
                    <a:pt x="5010150" y="4462272"/>
                  </a:moveTo>
                  <a:lnTo>
                    <a:pt x="5010150" y="4453890"/>
                  </a:lnTo>
                  <a:lnTo>
                    <a:pt x="5005578" y="4457700"/>
                  </a:lnTo>
                  <a:lnTo>
                    <a:pt x="5005578" y="4462272"/>
                  </a:lnTo>
                  <a:lnTo>
                    <a:pt x="5010150" y="4462272"/>
                  </a:lnTo>
                  <a:close/>
                </a:path>
              </a:pathLst>
            </a:custGeom>
            <a:solidFill>
              <a:srgbClr val="FF0000"/>
            </a:solidFill>
          </p:spPr>
          <p:txBody>
            <a:bodyPr wrap="square" lIns="0" tIns="0" rIns="0" bIns="0" rtlCol="0"/>
            <a:lstStyle/>
            <a:p>
              <a:endParaRPr/>
            </a:p>
          </p:txBody>
        </p:sp>
      </p:grpSp>
      <p:sp>
        <p:nvSpPr>
          <p:cNvPr id="14" name="object 14"/>
          <p:cNvSpPr txBox="1"/>
          <p:nvPr/>
        </p:nvSpPr>
        <p:spPr>
          <a:xfrm>
            <a:off x="5095627" y="1603502"/>
            <a:ext cx="793750" cy="266065"/>
          </a:xfrm>
          <a:prstGeom prst="rect">
            <a:avLst/>
          </a:prstGeom>
        </p:spPr>
        <p:txBody>
          <a:bodyPr vert="horz" wrap="square" lIns="0" tIns="15875" rIns="0" bIns="0" rtlCol="0">
            <a:spAutoFit/>
          </a:bodyPr>
          <a:lstStyle/>
          <a:p>
            <a:pPr marL="12700">
              <a:lnSpc>
                <a:spcPct val="100000"/>
              </a:lnSpc>
              <a:spcBef>
                <a:spcPts val="125"/>
              </a:spcBef>
            </a:pPr>
            <a:r>
              <a:rPr sz="1550" dirty="0">
                <a:solidFill>
                  <a:srgbClr val="00B0EF"/>
                </a:solidFill>
                <a:latin typeface="Arial"/>
                <a:cs typeface="Arial"/>
              </a:rPr>
              <a:t>//C1</a:t>
            </a:r>
            <a:r>
              <a:rPr sz="1550" spc="-25" dirty="0">
                <a:solidFill>
                  <a:srgbClr val="00B0EF"/>
                </a:solidFill>
                <a:latin typeface="微软雅黑"/>
                <a:cs typeface="微软雅黑"/>
              </a:rPr>
              <a:t>模块</a:t>
            </a:r>
            <a:endParaRPr sz="1550">
              <a:latin typeface="微软雅黑"/>
              <a:cs typeface="微软雅黑"/>
            </a:endParaRPr>
          </a:p>
        </p:txBody>
      </p:sp>
      <p:sp>
        <p:nvSpPr>
          <p:cNvPr id="17" name="object 17"/>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18" name="object 18"/>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30</a:t>
            </a:fld>
            <a:endParaRPr spc="-25" dirty="0"/>
          </a:p>
        </p:txBody>
      </p:sp>
      <p:sp>
        <p:nvSpPr>
          <p:cNvPr id="15" name="object 15"/>
          <p:cNvSpPr txBox="1"/>
          <p:nvPr/>
        </p:nvSpPr>
        <p:spPr>
          <a:xfrm>
            <a:off x="5151259" y="1845051"/>
            <a:ext cx="2815590" cy="3633470"/>
          </a:xfrm>
          <a:prstGeom prst="rect">
            <a:avLst/>
          </a:prstGeom>
        </p:spPr>
        <p:txBody>
          <a:bodyPr vert="horz" wrap="square" lIns="0" tIns="15875" rIns="0" bIns="0" rtlCol="0">
            <a:spAutoFit/>
          </a:bodyPr>
          <a:lstStyle/>
          <a:p>
            <a:pPr marL="12700">
              <a:lnSpc>
                <a:spcPct val="100000"/>
              </a:lnSpc>
              <a:spcBef>
                <a:spcPts val="125"/>
              </a:spcBef>
            </a:pPr>
            <a:r>
              <a:rPr sz="1550" b="1" dirty="0">
                <a:latin typeface="Arial"/>
                <a:cs typeface="Arial"/>
              </a:rPr>
              <a:t>always</a:t>
            </a:r>
            <a:r>
              <a:rPr sz="1550" b="1" spc="465" dirty="0">
                <a:latin typeface="Arial"/>
                <a:cs typeface="Arial"/>
              </a:rPr>
              <a:t> </a:t>
            </a:r>
            <a:r>
              <a:rPr sz="1550" spc="-25" dirty="0">
                <a:latin typeface="Arial"/>
                <a:cs typeface="Arial"/>
              </a:rPr>
              <a:t>@*</a:t>
            </a:r>
            <a:endParaRPr sz="1550">
              <a:latin typeface="Arial"/>
              <a:cs typeface="Arial"/>
            </a:endParaRPr>
          </a:p>
          <a:p>
            <a:pPr marL="12700">
              <a:lnSpc>
                <a:spcPct val="100000"/>
              </a:lnSpc>
              <a:spcBef>
                <a:spcPts val="35"/>
              </a:spcBef>
            </a:pPr>
            <a:r>
              <a:rPr sz="1550" b="1" spc="-10" dirty="0">
                <a:latin typeface="Arial"/>
                <a:cs typeface="Arial"/>
              </a:rPr>
              <a:t>begin</a:t>
            </a:r>
            <a:endParaRPr sz="1550">
              <a:latin typeface="Arial"/>
              <a:cs typeface="Arial"/>
            </a:endParaRPr>
          </a:p>
          <a:p>
            <a:pPr marL="346075" marR="1680845" indent="-167005">
              <a:lnSpc>
                <a:spcPts val="1900"/>
              </a:lnSpc>
              <a:spcBef>
                <a:spcPts val="60"/>
              </a:spcBef>
            </a:pPr>
            <a:r>
              <a:rPr sz="1550" b="1" dirty="0">
                <a:latin typeface="Arial"/>
                <a:cs typeface="Arial"/>
              </a:rPr>
              <a:t>case</a:t>
            </a:r>
            <a:r>
              <a:rPr sz="1550" b="1" spc="465" dirty="0">
                <a:latin typeface="Arial"/>
                <a:cs typeface="Arial"/>
              </a:rPr>
              <a:t> </a:t>
            </a:r>
            <a:r>
              <a:rPr sz="1550" dirty="0">
                <a:latin typeface="Arial"/>
                <a:cs typeface="Arial"/>
              </a:rPr>
              <a:t>(cs</a:t>
            </a:r>
            <a:r>
              <a:rPr sz="1550" spc="15" dirty="0">
                <a:latin typeface="Arial"/>
                <a:cs typeface="Arial"/>
              </a:rPr>
              <a:t> </a:t>
            </a:r>
            <a:r>
              <a:rPr sz="1550" spc="-50" dirty="0">
                <a:latin typeface="Arial"/>
                <a:cs typeface="Arial"/>
              </a:rPr>
              <a:t>) </a:t>
            </a:r>
            <a:r>
              <a:rPr sz="1550" spc="-25" dirty="0">
                <a:latin typeface="Arial"/>
                <a:cs typeface="Arial"/>
              </a:rPr>
              <a:t>s0:</a:t>
            </a:r>
            <a:endParaRPr sz="1550">
              <a:latin typeface="Arial"/>
              <a:cs typeface="Arial"/>
            </a:endParaRPr>
          </a:p>
          <a:p>
            <a:pPr marL="569595">
              <a:lnSpc>
                <a:spcPts val="1820"/>
              </a:lnSpc>
            </a:pPr>
            <a:r>
              <a:rPr sz="1550" b="1" dirty="0">
                <a:latin typeface="Arial"/>
                <a:cs typeface="Arial"/>
              </a:rPr>
              <a:t>if</a:t>
            </a:r>
            <a:r>
              <a:rPr sz="1550" b="1" spc="20" dirty="0">
                <a:latin typeface="Arial"/>
                <a:cs typeface="Arial"/>
              </a:rPr>
              <a:t> </a:t>
            </a:r>
            <a:r>
              <a:rPr sz="1550" dirty="0">
                <a:latin typeface="Arial"/>
                <a:cs typeface="Arial"/>
              </a:rPr>
              <a:t>(din</a:t>
            </a:r>
            <a:r>
              <a:rPr sz="1550" spc="35"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1’b1</a:t>
            </a:r>
            <a:r>
              <a:rPr sz="1550" spc="35"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nst</a:t>
            </a:r>
            <a:r>
              <a:rPr sz="1550" spc="30"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s1</a:t>
            </a:r>
            <a:r>
              <a:rPr sz="1550" spc="25" dirty="0">
                <a:latin typeface="Arial"/>
                <a:cs typeface="Arial"/>
              </a:rPr>
              <a:t> </a:t>
            </a:r>
            <a:r>
              <a:rPr sz="1550" spc="-50" dirty="0">
                <a:latin typeface="Arial"/>
                <a:cs typeface="Arial"/>
              </a:rPr>
              <a:t>;</a:t>
            </a:r>
            <a:endParaRPr sz="1550">
              <a:latin typeface="Arial"/>
              <a:cs typeface="Arial"/>
            </a:endParaRPr>
          </a:p>
          <a:p>
            <a:pPr marL="346075" marR="974725" indent="222885">
              <a:lnSpc>
                <a:spcPts val="1900"/>
              </a:lnSpc>
              <a:spcBef>
                <a:spcPts val="60"/>
              </a:spcBef>
            </a:pPr>
            <a:r>
              <a:rPr sz="1550" b="1" dirty="0">
                <a:latin typeface="Arial"/>
                <a:cs typeface="Arial"/>
              </a:rPr>
              <a:t>else</a:t>
            </a:r>
            <a:r>
              <a:rPr sz="1550" b="1" spc="20" dirty="0">
                <a:latin typeface="Arial"/>
                <a:cs typeface="Arial"/>
              </a:rPr>
              <a:t> </a:t>
            </a:r>
            <a:r>
              <a:rPr sz="1550" dirty="0">
                <a:latin typeface="Arial"/>
                <a:cs typeface="Arial"/>
              </a:rPr>
              <a:t>nst</a:t>
            </a:r>
            <a:r>
              <a:rPr sz="1550" spc="25"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s0</a:t>
            </a:r>
            <a:r>
              <a:rPr sz="1550" spc="20" dirty="0">
                <a:latin typeface="Arial"/>
                <a:cs typeface="Arial"/>
              </a:rPr>
              <a:t> </a:t>
            </a:r>
            <a:r>
              <a:rPr sz="1550" spc="-50" dirty="0">
                <a:latin typeface="Arial"/>
                <a:cs typeface="Arial"/>
              </a:rPr>
              <a:t>; </a:t>
            </a:r>
            <a:r>
              <a:rPr sz="1550" spc="-25" dirty="0">
                <a:latin typeface="Arial"/>
                <a:cs typeface="Arial"/>
              </a:rPr>
              <a:t>s1:</a:t>
            </a:r>
            <a:endParaRPr sz="1550">
              <a:latin typeface="Arial"/>
              <a:cs typeface="Arial"/>
            </a:endParaRPr>
          </a:p>
          <a:p>
            <a:pPr marL="569595">
              <a:lnSpc>
                <a:spcPts val="1814"/>
              </a:lnSpc>
            </a:pPr>
            <a:r>
              <a:rPr sz="1550" b="1" dirty="0">
                <a:latin typeface="Arial"/>
                <a:cs typeface="Arial"/>
              </a:rPr>
              <a:t>if</a:t>
            </a:r>
            <a:r>
              <a:rPr sz="1550" b="1" spc="20" dirty="0">
                <a:latin typeface="Arial"/>
                <a:cs typeface="Arial"/>
              </a:rPr>
              <a:t> </a:t>
            </a:r>
            <a:r>
              <a:rPr sz="1550" dirty="0">
                <a:latin typeface="Arial"/>
                <a:cs typeface="Arial"/>
              </a:rPr>
              <a:t>(din</a:t>
            </a:r>
            <a:r>
              <a:rPr sz="1550" spc="35"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1’b1</a:t>
            </a:r>
            <a:r>
              <a:rPr sz="1550" spc="35"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nst</a:t>
            </a:r>
            <a:r>
              <a:rPr sz="1550" spc="30"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s2</a:t>
            </a:r>
            <a:r>
              <a:rPr sz="1550" spc="25" dirty="0">
                <a:latin typeface="Arial"/>
                <a:cs typeface="Arial"/>
              </a:rPr>
              <a:t> </a:t>
            </a:r>
            <a:r>
              <a:rPr sz="1550" spc="-50" dirty="0">
                <a:latin typeface="Arial"/>
                <a:cs typeface="Arial"/>
              </a:rPr>
              <a:t>;</a:t>
            </a:r>
            <a:endParaRPr sz="1550">
              <a:latin typeface="Arial"/>
              <a:cs typeface="Arial"/>
            </a:endParaRPr>
          </a:p>
          <a:p>
            <a:pPr marL="346075" marR="974725" indent="222885">
              <a:lnSpc>
                <a:spcPct val="101899"/>
              </a:lnSpc>
              <a:spcBef>
                <a:spcPts val="5"/>
              </a:spcBef>
            </a:pPr>
            <a:r>
              <a:rPr sz="1550" b="1" dirty="0">
                <a:latin typeface="Arial"/>
                <a:cs typeface="Arial"/>
              </a:rPr>
              <a:t>else</a:t>
            </a:r>
            <a:r>
              <a:rPr sz="1550" b="1" spc="20" dirty="0">
                <a:latin typeface="Arial"/>
                <a:cs typeface="Arial"/>
              </a:rPr>
              <a:t> </a:t>
            </a:r>
            <a:r>
              <a:rPr sz="1550" dirty="0">
                <a:latin typeface="Arial"/>
                <a:cs typeface="Arial"/>
              </a:rPr>
              <a:t>nst</a:t>
            </a:r>
            <a:r>
              <a:rPr sz="1550" spc="25"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s0</a:t>
            </a:r>
            <a:r>
              <a:rPr sz="1550" spc="20" dirty="0">
                <a:latin typeface="Arial"/>
                <a:cs typeface="Arial"/>
              </a:rPr>
              <a:t> </a:t>
            </a:r>
            <a:r>
              <a:rPr sz="1550" spc="-50" dirty="0">
                <a:latin typeface="Arial"/>
                <a:cs typeface="Arial"/>
              </a:rPr>
              <a:t>; </a:t>
            </a:r>
            <a:r>
              <a:rPr sz="1550" spc="-25" dirty="0">
                <a:latin typeface="Arial"/>
                <a:cs typeface="Arial"/>
              </a:rPr>
              <a:t>s2:</a:t>
            </a:r>
            <a:endParaRPr sz="1550">
              <a:latin typeface="Arial"/>
              <a:cs typeface="Arial"/>
            </a:endParaRPr>
          </a:p>
          <a:p>
            <a:pPr marL="569595">
              <a:lnSpc>
                <a:spcPct val="100000"/>
              </a:lnSpc>
              <a:spcBef>
                <a:spcPts val="30"/>
              </a:spcBef>
            </a:pPr>
            <a:r>
              <a:rPr sz="1550" b="1" dirty="0">
                <a:latin typeface="Arial"/>
                <a:cs typeface="Arial"/>
              </a:rPr>
              <a:t>if</a:t>
            </a:r>
            <a:r>
              <a:rPr sz="1550" b="1" spc="20" dirty="0">
                <a:latin typeface="Arial"/>
                <a:cs typeface="Arial"/>
              </a:rPr>
              <a:t> </a:t>
            </a:r>
            <a:r>
              <a:rPr sz="1550" dirty="0">
                <a:latin typeface="Arial"/>
                <a:cs typeface="Arial"/>
              </a:rPr>
              <a:t>(din</a:t>
            </a:r>
            <a:r>
              <a:rPr sz="1550" spc="35"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1’b0</a:t>
            </a:r>
            <a:r>
              <a:rPr sz="1550" spc="35"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nst</a:t>
            </a:r>
            <a:r>
              <a:rPr sz="1550" spc="30"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s3</a:t>
            </a:r>
            <a:r>
              <a:rPr sz="1550" spc="25" dirty="0">
                <a:latin typeface="Arial"/>
                <a:cs typeface="Arial"/>
              </a:rPr>
              <a:t> </a:t>
            </a:r>
            <a:r>
              <a:rPr sz="1550" spc="-50" dirty="0">
                <a:latin typeface="Arial"/>
                <a:cs typeface="Arial"/>
              </a:rPr>
              <a:t>;</a:t>
            </a:r>
            <a:endParaRPr sz="1550">
              <a:latin typeface="Arial"/>
              <a:cs typeface="Arial"/>
            </a:endParaRPr>
          </a:p>
          <a:p>
            <a:pPr marL="346075" marR="817880" indent="222885">
              <a:lnSpc>
                <a:spcPct val="101800"/>
              </a:lnSpc>
            </a:pPr>
            <a:r>
              <a:rPr sz="1550" b="1" dirty="0">
                <a:latin typeface="Arial"/>
                <a:cs typeface="Arial"/>
              </a:rPr>
              <a:t>else</a:t>
            </a:r>
            <a:r>
              <a:rPr sz="1550" b="1" spc="20" dirty="0">
                <a:latin typeface="Arial"/>
                <a:cs typeface="Arial"/>
              </a:rPr>
              <a:t> </a:t>
            </a:r>
            <a:r>
              <a:rPr sz="1550" dirty="0">
                <a:latin typeface="Arial"/>
                <a:cs typeface="Arial"/>
              </a:rPr>
              <a:t>nst</a:t>
            </a:r>
            <a:r>
              <a:rPr sz="1550" spc="25"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s2</a:t>
            </a:r>
            <a:r>
              <a:rPr sz="1550" spc="20" dirty="0">
                <a:latin typeface="Arial"/>
                <a:cs typeface="Arial"/>
              </a:rPr>
              <a:t> </a:t>
            </a:r>
            <a:r>
              <a:rPr sz="1550" spc="-50" dirty="0">
                <a:latin typeface="Arial"/>
                <a:cs typeface="Arial"/>
              </a:rPr>
              <a:t>; </a:t>
            </a:r>
            <a:r>
              <a:rPr sz="1550" dirty="0">
                <a:latin typeface="Arial"/>
                <a:cs typeface="Arial"/>
              </a:rPr>
              <a:t>s3:</a:t>
            </a:r>
            <a:r>
              <a:rPr sz="1550" spc="30" dirty="0">
                <a:latin typeface="Arial"/>
                <a:cs typeface="Arial"/>
              </a:rPr>
              <a:t> </a:t>
            </a:r>
            <a:r>
              <a:rPr sz="1550" dirty="0">
                <a:latin typeface="Arial"/>
                <a:cs typeface="Arial"/>
              </a:rPr>
              <a:t>nst</a:t>
            </a:r>
            <a:r>
              <a:rPr sz="1550" spc="35" dirty="0">
                <a:latin typeface="Arial"/>
                <a:cs typeface="Arial"/>
              </a:rPr>
              <a:t> </a:t>
            </a:r>
            <a:r>
              <a:rPr sz="1550" dirty="0">
                <a:latin typeface="Arial"/>
                <a:cs typeface="Arial"/>
              </a:rPr>
              <a:t>=</a:t>
            </a:r>
            <a:r>
              <a:rPr sz="1550" spc="35" dirty="0">
                <a:latin typeface="Arial"/>
                <a:cs typeface="Arial"/>
              </a:rPr>
              <a:t> </a:t>
            </a:r>
            <a:r>
              <a:rPr sz="1550" dirty="0">
                <a:latin typeface="Arial"/>
                <a:cs typeface="Arial"/>
              </a:rPr>
              <a:t>s0</a:t>
            </a:r>
            <a:r>
              <a:rPr sz="1550" spc="35" dirty="0">
                <a:latin typeface="Arial"/>
                <a:cs typeface="Arial"/>
              </a:rPr>
              <a:t> </a:t>
            </a:r>
            <a:r>
              <a:rPr sz="1550" spc="-50" dirty="0">
                <a:latin typeface="Arial"/>
                <a:cs typeface="Arial"/>
              </a:rPr>
              <a:t>; </a:t>
            </a:r>
            <a:r>
              <a:rPr sz="1550" b="1" dirty="0">
                <a:latin typeface="Arial"/>
                <a:cs typeface="Arial"/>
              </a:rPr>
              <a:t>default</a:t>
            </a:r>
            <a:r>
              <a:rPr sz="1550" b="1" spc="35"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nst</a:t>
            </a:r>
            <a:r>
              <a:rPr sz="1550" spc="30" dirty="0">
                <a:latin typeface="Arial"/>
                <a:cs typeface="Arial"/>
              </a:rPr>
              <a:t> </a:t>
            </a:r>
            <a:r>
              <a:rPr sz="1550" dirty="0">
                <a:latin typeface="Arial"/>
                <a:cs typeface="Arial"/>
              </a:rPr>
              <a:t>=</a:t>
            </a:r>
            <a:r>
              <a:rPr sz="1550" spc="35" dirty="0">
                <a:latin typeface="Arial"/>
                <a:cs typeface="Arial"/>
              </a:rPr>
              <a:t> </a:t>
            </a:r>
            <a:r>
              <a:rPr sz="1550" dirty="0">
                <a:latin typeface="Arial"/>
                <a:cs typeface="Arial"/>
              </a:rPr>
              <a:t>s0</a:t>
            </a:r>
            <a:r>
              <a:rPr sz="1550" spc="30" dirty="0">
                <a:latin typeface="Arial"/>
                <a:cs typeface="Arial"/>
              </a:rPr>
              <a:t> </a:t>
            </a:r>
            <a:r>
              <a:rPr sz="1550" spc="-50" dirty="0">
                <a:latin typeface="Arial"/>
                <a:cs typeface="Arial"/>
              </a:rPr>
              <a:t>;</a:t>
            </a:r>
            <a:endParaRPr sz="1550">
              <a:latin typeface="Arial"/>
              <a:cs typeface="Arial"/>
            </a:endParaRPr>
          </a:p>
          <a:p>
            <a:pPr marL="179070">
              <a:lnSpc>
                <a:spcPct val="100000"/>
              </a:lnSpc>
              <a:spcBef>
                <a:spcPts val="35"/>
              </a:spcBef>
            </a:pPr>
            <a:r>
              <a:rPr sz="1550" b="1" spc="-10" dirty="0">
                <a:latin typeface="Arial"/>
                <a:cs typeface="Arial"/>
              </a:rPr>
              <a:t>endcase</a:t>
            </a:r>
            <a:endParaRPr sz="1550">
              <a:latin typeface="Arial"/>
              <a:cs typeface="Arial"/>
            </a:endParaRPr>
          </a:p>
        </p:txBody>
      </p:sp>
      <p:sp>
        <p:nvSpPr>
          <p:cNvPr id="16" name="object 16"/>
          <p:cNvSpPr txBox="1"/>
          <p:nvPr/>
        </p:nvSpPr>
        <p:spPr>
          <a:xfrm>
            <a:off x="5040014" y="5452298"/>
            <a:ext cx="382270" cy="266065"/>
          </a:xfrm>
          <a:prstGeom prst="rect">
            <a:avLst/>
          </a:prstGeom>
        </p:spPr>
        <p:txBody>
          <a:bodyPr vert="horz" wrap="square" lIns="0" tIns="15875" rIns="0" bIns="0" rtlCol="0">
            <a:spAutoFit/>
          </a:bodyPr>
          <a:lstStyle/>
          <a:p>
            <a:pPr marL="12700">
              <a:lnSpc>
                <a:spcPct val="100000"/>
              </a:lnSpc>
              <a:spcBef>
                <a:spcPts val="125"/>
              </a:spcBef>
            </a:pPr>
            <a:r>
              <a:rPr sz="1550" b="1" spc="-25" dirty="0">
                <a:latin typeface="Arial"/>
                <a:cs typeface="Arial"/>
              </a:rPr>
              <a:t>end</a:t>
            </a:r>
            <a:endParaRPr sz="1550">
              <a:latin typeface="Arial"/>
              <a:cs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3335">
              <a:lnSpc>
                <a:spcPct val="100000"/>
              </a:lnSpc>
              <a:spcBef>
                <a:spcPts val="105"/>
              </a:spcBef>
            </a:pPr>
            <a:r>
              <a:rPr b="1" spc="-10" dirty="0">
                <a:latin typeface="Calibri"/>
                <a:cs typeface="Calibri"/>
              </a:rPr>
              <a:t>Mealy</a:t>
            </a:r>
            <a:r>
              <a:rPr b="1" spc="-30" dirty="0">
                <a:latin typeface="宋体"/>
                <a:cs typeface="宋体"/>
              </a:rPr>
              <a:t>状态机序列检测器实现代码</a:t>
            </a:r>
            <a:r>
              <a:rPr b="1" spc="-50" dirty="0">
                <a:latin typeface="Calibri"/>
                <a:cs typeface="Calibri"/>
              </a:rPr>
              <a:t>2</a:t>
            </a:r>
          </a:p>
        </p:txBody>
      </p:sp>
      <p:grpSp>
        <p:nvGrpSpPr>
          <p:cNvPr id="3" name="object 3"/>
          <p:cNvGrpSpPr/>
          <p:nvPr/>
        </p:nvGrpSpPr>
        <p:grpSpPr>
          <a:xfrm>
            <a:off x="153809" y="1690116"/>
            <a:ext cx="5029200" cy="2033270"/>
            <a:chOff x="153809" y="1690116"/>
            <a:chExt cx="5029200" cy="2033270"/>
          </a:xfrm>
        </p:grpSpPr>
        <p:sp>
          <p:nvSpPr>
            <p:cNvPr id="4" name="object 4"/>
            <p:cNvSpPr/>
            <p:nvPr/>
          </p:nvSpPr>
          <p:spPr>
            <a:xfrm>
              <a:off x="157619" y="1694688"/>
              <a:ext cx="5021580" cy="2024380"/>
            </a:xfrm>
            <a:custGeom>
              <a:avLst/>
              <a:gdLst/>
              <a:ahLst/>
              <a:cxnLst/>
              <a:rect l="l" t="t" r="r" b="b"/>
              <a:pathLst>
                <a:path w="5021580" h="2024379">
                  <a:moveTo>
                    <a:pt x="5021580" y="2023872"/>
                  </a:moveTo>
                  <a:lnTo>
                    <a:pt x="5021580" y="0"/>
                  </a:lnTo>
                  <a:lnTo>
                    <a:pt x="0" y="0"/>
                  </a:lnTo>
                  <a:lnTo>
                    <a:pt x="0" y="2023872"/>
                  </a:lnTo>
                  <a:lnTo>
                    <a:pt x="5021580" y="2023872"/>
                  </a:lnTo>
                  <a:close/>
                </a:path>
              </a:pathLst>
            </a:custGeom>
            <a:solidFill>
              <a:srgbClr val="F9FABA"/>
            </a:solidFill>
          </p:spPr>
          <p:txBody>
            <a:bodyPr wrap="square" lIns="0" tIns="0" rIns="0" bIns="0" rtlCol="0"/>
            <a:lstStyle/>
            <a:p>
              <a:endParaRPr/>
            </a:p>
          </p:txBody>
        </p:sp>
        <p:sp>
          <p:nvSpPr>
            <p:cNvPr id="5" name="object 5"/>
            <p:cNvSpPr/>
            <p:nvPr/>
          </p:nvSpPr>
          <p:spPr>
            <a:xfrm>
              <a:off x="153809" y="1690116"/>
              <a:ext cx="5029200" cy="2033270"/>
            </a:xfrm>
            <a:custGeom>
              <a:avLst/>
              <a:gdLst/>
              <a:ahLst/>
              <a:cxnLst/>
              <a:rect l="l" t="t" r="r" b="b"/>
              <a:pathLst>
                <a:path w="5029200" h="2033270">
                  <a:moveTo>
                    <a:pt x="5029200" y="2030729"/>
                  </a:moveTo>
                  <a:lnTo>
                    <a:pt x="5029200" y="2285"/>
                  </a:lnTo>
                  <a:lnTo>
                    <a:pt x="5027676" y="0"/>
                  </a:lnTo>
                  <a:lnTo>
                    <a:pt x="1523" y="0"/>
                  </a:lnTo>
                  <a:lnTo>
                    <a:pt x="0" y="2286"/>
                  </a:lnTo>
                  <a:lnTo>
                    <a:pt x="0" y="2030730"/>
                  </a:lnTo>
                  <a:lnTo>
                    <a:pt x="1524" y="2033016"/>
                  </a:lnTo>
                  <a:lnTo>
                    <a:pt x="3810" y="2033016"/>
                  </a:lnTo>
                  <a:lnTo>
                    <a:pt x="3810" y="8382"/>
                  </a:lnTo>
                  <a:lnTo>
                    <a:pt x="8382" y="4572"/>
                  </a:lnTo>
                  <a:lnTo>
                    <a:pt x="8382" y="8382"/>
                  </a:lnTo>
                  <a:lnTo>
                    <a:pt x="5020817" y="8381"/>
                  </a:lnTo>
                  <a:lnTo>
                    <a:pt x="5020817" y="4571"/>
                  </a:lnTo>
                  <a:lnTo>
                    <a:pt x="5025390" y="8381"/>
                  </a:lnTo>
                  <a:lnTo>
                    <a:pt x="5025390" y="2033015"/>
                  </a:lnTo>
                  <a:lnTo>
                    <a:pt x="5027676" y="2033015"/>
                  </a:lnTo>
                  <a:lnTo>
                    <a:pt x="5029200" y="2030729"/>
                  </a:lnTo>
                  <a:close/>
                </a:path>
                <a:path w="5029200" h="2033270">
                  <a:moveTo>
                    <a:pt x="8382" y="8382"/>
                  </a:moveTo>
                  <a:lnTo>
                    <a:pt x="8382" y="4572"/>
                  </a:lnTo>
                  <a:lnTo>
                    <a:pt x="3810" y="8382"/>
                  </a:lnTo>
                  <a:lnTo>
                    <a:pt x="8382" y="8382"/>
                  </a:lnTo>
                  <a:close/>
                </a:path>
                <a:path w="5029200" h="2033270">
                  <a:moveTo>
                    <a:pt x="8382" y="2024634"/>
                  </a:moveTo>
                  <a:lnTo>
                    <a:pt x="8382" y="8382"/>
                  </a:lnTo>
                  <a:lnTo>
                    <a:pt x="3810" y="8382"/>
                  </a:lnTo>
                  <a:lnTo>
                    <a:pt x="3810" y="2024634"/>
                  </a:lnTo>
                  <a:lnTo>
                    <a:pt x="8382" y="2024634"/>
                  </a:lnTo>
                  <a:close/>
                </a:path>
                <a:path w="5029200" h="2033270">
                  <a:moveTo>
                    <a:pt x="5025390" y="2024633"/>
                  </a:moveTo>
                  <a:lnTo>
                    <a:pt x="3810" y="2024634"/>
                  </a:lnTo>
                  <a:lnTo>
                    <a:pt x="8382" y="2028444"/>
                  </a:lnTo>
                  <a:lnTo>
                    <a:pt x="8382" y="2033016"/>
                  </a:lnTo>
                  <a:lnTo>
                    <a:pt x="5020817" y="2033015"/>
                  </a:lnTo>
                  <a:lnTo>
                    <a:pt x="5020817" y="2028444"/>
                  </a:lnTo>
                  <a:lnTo>
                    <a:pt x="5025390" y="2024633"/>
                  </a:lnTo>
                  <a:close/>
                </a:path>
                <a:path w="5029200" h="2033270">
                  <a:moveTo>
                    <a:pt x="8382" y="2033016"/>
                  </a:moveTo>
                  <a:lnTo>
                    <a:pt x="8382" y="2028444"/>
                  </a:lnTo>
                  <a:lnTo>
                    <a:pt x="3810" y="2024634"/>
                  </a:lnTo>
                  <a:lnTo>
                    <a:pt x="3810" y="2033016"/>
                  </a:lnTo>
                  <a:lnTo>
                    <a:pt x="8382" y="2033016"/>
                  </a:lnTo>
                  <a:close/>
                </a:path>
                <a:path w="5029200" h="2033270">
                  <a:moveTo>
                    <a:pt x="5025390" y="8381"/>
                  </a:moveTo>
                  <a:lnTo>
                    <a:pt x="5020817" y="4571"/>
                  </a:lnTo>
                  <a:lnTo>
                    <a:pt x="5020817" y="8381"/>
                  </a:lnTo>
                  <a:lnTo>
                    <a:pt x="5025390" y="8381"/>
                  </a:lnTo>
                  <a:close/>
                </a:path>
                <a:path w="5029200" h="2033270">
                  <a:moveTo>
                    <a:pt x="5025390" y="2024633"/>
                  </a:moveTo>
                  <a:lnTo>
                    <a:pt x="5025390" y="8381"/>
                  </a:lnTo>
                  <a:lnTo>
                    <a:pt x="5020817" y="8381"/>
                  </a:lnTo>
                  <a:lnTo>
                    <a:pt x="5020817" y="2024633"/>
                  </a:lnTo>
                  <a:lnTo>
                    <a:pt x="5025390" y="2024633"/>
                  </a:lnTo>
                  <a:close/>
                </a:path>
                <a:path w="5029200" h="2033270">
                  <a:moveTo>
                    <a:pt x="5025390" y="2033015"/>
                  </a:moveTo>
                  <a:lnTo>
                    <a:pt x="5025390" y="2024633"/>
                  </a:lnTo>
                  <a:lnTo>
                    <a:pt x="5020817" y="2028444"/>
                  </a:lnTo>
                  <a:lnTo>
                    <a:pt x="5020817" y="2033015"/>
                  </a:lnTo>
                  <a:lnTo>
                    <a:pt x="5025390" y="2033015"/>
                  </a:lnTo>
                  <a:close/>
                </a:path>
              </a:pathLst>
            </a:custGeom>
            <a:solidFill>
              <a:srgbClr val="FF0000"/>
            </a:solidFill>
          </p:spPr>
          <p:txBody>
            <a:bodyPr wrap="square" lIns="0" tIns="0" rIns="0" bIns="0" rtlCol="0"/>
            <a:lstStyle/>
            <a:p>
              <a:endParaRPr/>
            </a:p>
          </p:txBody>
        </p:sp>
      </p:grpSp>
      <p:sp>
        <p:nvSpPr>
          <p:cNvPr id="6" name="object 6"/>
          <p:cNvSpPr txBox="1"/>
          <p:nvPr/>
        </p:nvSpPr>
        <p:spPr>
          <a:xfrm>
            <a:off x="225665" y="1715515"/>
            <a:ext cx="3783329" cy="1945005"/>
          </a:xfrm>
          <a:prstGeom prst="rect">
            <a:avLst/>
          </a:prstGeom>
        </p:spPr>
        <p:txBody>
          <a:bodyPr vert="horz" wrap="square" lIns="0" tIns="10795" rIns="0" bIns="0" rtlCol="0">
            <a:spAutoFit/>
          </a:bodyPr>
          <a:lstStyle/>
          <a:p>
            <a:pPr marL="123825" marR="2601595" indent="-111760">
              <a:lnSpc>
                <a:spcPct val="102099"/>
              </a:lnSpc>
              <a:spcBef>
                <a:spcPts val="85"/>
              </a:spcBef>
            </a:pPr>
            <a:r>
              <a:rPr sz="1550" dirty="0">
                <a:solidFill>
                  <a:srgbClr val="00B0EF"/>
                </a:solidFill>
                <a:latin typeface="Arial"/>
                <a:cs typeface="Arial"/>
              </a:rPr>
              <a:t>//C2</a:t>
            </a:r>
            <a:r>
              <a:rPr sz="1550" spc="-25" dirty="0">
                <a:solidFill>
                  <a:srgbClr val="00B0EF"/>
                </a:solidFill>
                <a:latin typeface="微软雅黑"/>
                <a:cs typeface="微软雅黑"/>
              </a:rPr>
              <a:t>模块</a:t>
            </a:r>
            <a:r>
              <a:rPr sz="1550" spc="-50" dirty="0">
                <a:solidFill>
                  <a:srgbClr val="00B0EF"/>
                </a:solidFill>
                <a:latin typeface="微软雅黑"/>
                <a:cs typeface="微软雅黑"/>
              </a:rPr>
              <a:t> </a:t>
            </a:r>
            <a:r>
              <a:rPr sz="1550" b="1" dirty="0">
                <a:latin typeface="Arial"/>
                <a:cs typeface="Arial"/>
              </a:rPr>
              <a:t>always</a:t>
            </a:r>
            <a:r>
              <a:rPr sz="1550" b="1" spc="465" dirty="0">
                <a:latin typeface="Arial"/>
                <a:cs typeface="Arial"/>
              </a:rPr>
              <a:t> </a:t>
            </a:r>
            <a:r>
              <a:rPr sz="1550" spc="-25" dirty="0">
                <a:latin typeface="Arial"/>
                <a:cs typeface="Arial"/>
              </a:rPr>
              <a:t>@* </a:t>
            </a:r>
            <a:r>
              <a:rPr sz="1550" b="1" spc="-10" dirty="0">
                <a:latin typeface="Arial"/>
                <a:cs typeface="Arial"/>
              </a:rPr>
              <a:t>begin</a:t>
            </a:r>
            <a:endParaRPr sz="1550">
              <a:latin typeface="Arial"/>
              <a:cs typeface="Arial"/>
            </a:endParaRPr>
          </a:p>
          <a:p>
            <a:pPr marL="401955">
              <a:lnSpc>
                <a:spcPct val="100000"/>
              </a:lnSpc>
              <a:spcBef>
                <a:spcPts val="30"/>
              </a:spcBef>
              <a:tabLst>
                <a:tab pos="1725930" algn="l"/>
              </a:tabLst>
            </a:pPr>
            <a:r>
              <a:rPr sz="1550" b="1" dirty="0">
                <a:latin typeface="Arial"/>
                <a:cs typeface="Arial"/>
              </a:rPr>
              <a:t>if</a:t>
            </a:r>
            <a:r>
              <a:rPr sz="1550" dirty="0">
                <a:latin typeface="Arial"/>
                <a:cs typeface="Arial"/>
              </a:rPr>
              <a:t>(reset</a:t>
            </a:r>
            <a:r>
              <a:rPr sz="1550" spc="65" dirty="0">
                <a:latin typeface="Arial"/>
                <a:cs typeface="Arial"/>
              </a:rPr>
              <a:t> </a:t>
            </a:r>
            <a:r>
              <a:rPr sz="1550" dirty="0">
                <a:latin typeface="Arial"/>
                <a:cs typeface="Arial"/>
              </a:rPr>
              <a:t>==</a:t>
            </a:r>
            <a:r>
              <a:rPr sz="1550" spc="70" dirty="0">
                <a:latin typeface="Arial"/>
                <a:cs typeface="Arial"/>
              </a:rPr>
              <a:t> </a:t>
            </a:r>
            <a:r>
              <a:rPr sz="1550" spc="-25" dirty="0">
                <a:latin typeface="Arial"/>
                <a:cs typeface="Arial"/>
              </a:rPr>
              <a:t>0)</a:t>
            </a:r>
            <a:r>
              <a:rPr sz="1550" dirty="0">
                <a:latin typeface="Arial"/>
                <a:cs typeface="Arial"/>
              </a:rPr>
              <a:t>	sout</a:t>
            </a:r>
            <a:r>
              <a:rPr sz="1550" spc="25" dirty="0">
                <a:latin typeface="Arial"/>
                <a:cs typeface="Arial"/>
              </a:rPr>
              <a:t> </a:t>
            </a:r>
            <a:r>
              <a:rPr sz="1550" dirty="0">
                <a:latin typeface="Arial"/>
                <a:cs typeface="Arial"/>
              </a:rPr>
              <a:t>=</a:t>
            </a:r>
            <a:r>
              <a:rPr sz="1550" spc="30" dirty="0">
                <a:latin typeface="Arial"/>
                <a:cs typeface="Arial"/>
              </a:rPr>
              <a:t> </a:t>
            </a:r>
            <a:r>
              <a:rPr sz="1550" spc="-25" dirty="0">
                <a:latin typeface="Arial"/>
                <a:cs typeface="Arial"/>
              </a:rPr>
              <a:t>0;</a:t>
            </a:r>
            <a:endParaRPr sz="1550">
              <a:latin typeface="Arial"/>
              <a:cs typeface="Arial"/>
            </a:endParaRPr>
          </a:p>
          <a:p>
            <a:pPr marL="401955">
              <a:lnSpc>
                <a:spcPct val="100000"/>
              </a:lnSpc>
              <a:spcBef>
                <a:spcPts val="40"/>
              </a:spcBef>
            </a:pPr>
            <a:r>
              <a:rPr sz="1550" b="1" dirty="0">
                <a:latin typeface="Arial"/>
                <a:cs typeface="Arial"/>
              </a:rPr>
              <a:t>if</a:t>
            </a:r>
            <a:r>
              <a:rPr sz="1550" b="1" spc="40" dirty="0">
                <a:latin typeface="Arial"/>
                <a:cs typeface="Arial"/>
              </a:rPr>
              <a:t> </a:t>
            </a:r>
            <a:r>
              <a:rPr sz="1550" b="1" dirty="0">
                <a:latin typeface="Arial"/>
                <a:cs typeface="Arial"/>
              </a:rPr>
              <a:t>(</a:t>
            </a:r>
            <a:r>
              <a:rPr sz="1550" dirty="0">
                <a:latin typeface="Arial"/>
                <a:cs typeface="Arial"/>
              </a:rPr>
              <a:t>(cs</a:t>
            </a:r>
            <a:r>
              <a:rPr sz="1550" spc="35" dirty="0">
                <a:latin typeface="Arial"/>
                <a:cs typeface="Arial"/>
              </a:rPr>
              <a:t> </a:t>
            </a:r>
            <a:r>
              <a:rPr sz="1550" dirty="0">
                <a:latin typeface="Arial"/>
                <a:cs typeface="Arial"/>
              </a:rPr>
              <a:t>==</a:t>
            </a:r>
            <a:r>
              <a:rPr sz="1550" spc="35" dirty="0">
                <a:latin typeface="Arial"/>
                <a:cs typeface="Arial"/>
              </a:rPr>
              <a:t> </a:t>
            </a:r>
            <a:r>
              <a:rPr sz="1550" dirty="0">
                <a:latin typeface="Arial"/>
                <a:cs typeface="Arial"/>
              </a:rPr>
              <a:t>s3)</a:t>
            </a:r>
            <a:r>
              <a:rPr sz="1550" spc="35" dirty="0">
                <a:latin typeface="Arial"/>
                <a:cs typeface="Arial"/>
              </a:rPr>
              <a:t> </a:t>
            </a:r>
            <a:r>
              <a:rPr sz="1550" dirty="0">
                <a:latin typeface="Arial"/>
                <a:cs typeface="Arial"/>
              </a:rPr>
              <a:t>&amp;&amp;(din==1’b1))</a:t>
            </a:r>
            <a:r>
              <a:rPr sz="1550" spc="35" dirty="0">
                <a:latin typeface="Arial"/>
                <a:cs typeface="Arial"/>
              </a:rPr>
              <a:t> </a:t>
            </a:r>
            <a:r>
              <a:rPr sz="1550" dirty="0">
                <a:latin typeface="Arial"/>
                <a:cs typeface="Arial"/>
              </a:rPr>
              <a:t>sout</a:t>
            </a:r>
            <a:r>
              <a:rPr sz="1550" spc="45" dirty="0">
                <a:latin typeface="Arial"/>
                <a:cs typeface="Arial"/>
              </a:rPr>
              <a:t> </a:t>
            </a:r>
            <a:r>
              <a:rPr sz="1550" dirty="0">
                <a:latin typeface="Arial"/>
                <a:cs typeface="Arial"/>
              </a:rPr>
              <a:t>=</a:t>
            </a:r>
            <a:r>
              <a:rPr sz="1550" spc="35" dirty="0">
                <a:latin typeface="Arial"/>
                <a:cs typeface="Arial"/>
              </a:rPr>
              <a:t> </a:t>
            </a:r>
            <a:r>
              <a:rPr sz="1550" spc="-25" dirty="0">
                <a:latin typeface="Arial"/>
                <a:cs typeface="Arial"/>
              </a:rPr>
              <a:t>1;</a:t>
            </a:r>
            <a:endParaRPr sz="1550">
              <a:latin typeface="Arial"/>
              <a:cs typeface="Arial"/>
            </a:endParaRPr>
          </a:p>
          <a:p>
            <a:pPr marL="401955">
              <a:lnSpc>
                <a:spcPct val="100000"/>
              </a:lnSpc>
              <a:spcBef>
                <a:spcPts val="35"/>
              </a:spcBef>
            </a:pPr>
            <a:r>
              <a:rPr sz="1550" b="1" dirty="0">
                <a:latin typeface="Arial"/>
                <a:cs typeface="Arial"/>
              </a:rPr>
              <a:t>else</a:t>
            </a:r>
            <a:r>
              <a:rPr sz="1550" b="1" spc="30" dirty="0">
                <a:latin typeface="Arial"/>
                <a:cs typeface="Arial"/>
              </a:rPr>
              <a:t> </a:t>
            </a:r>
            <a:r>
              <a:rPr sz="1550" dirty="0">
                <a:latin typeface="Arial"/>
                <a:cs typeface="Arial"/>
              </a:rPr>
              <a:t>sout</a:t>
            </a:r>
            <a:r>
              <a:rPr sz="1550" spc="25" dirty="0">
                <a:latin typeface="Arial"/>
                <a:cs typeface="Arial"/>
              </a:rPr>
              <a:t> </a:t>
            </a:r>
            <a:r>
              <a:rPr sz="1550" dirty="0">
                <a:latin typeface="Arial"/>
                <a:cs typeface="Arial"/>
              </a:rPr>
              <a:t>=</a:t>
            </a:r>
            <a:r>
              <a:rPr sz="1550" spc="20" dirty="0">
                <a:latin typeface="Arial"/>
                <a:cs typeface="Arial"/>
              </a:rPr>
              <a:t> </a:t>
            </a:r>
            <a:r>
              <a:rPr sz="1550" spc="-25" dirty="0">
                <a:latin typeface="Arial"/>
                <a:cs typeface="Arial"/>
              </a:rPr>
              <a:t>0;</a:t>
            </a:r>
            <a:endParaRPr sz="1550">
              <a:latin typeface="Arial"/>
              <a:cs typeface="Arial"/>
            </a:endParaRPr>
          </a:p>
          <a:p>
            <a:pPr marL="12700" marR="2692400" indent="222250">
              <a:lnSpc>
                <a:spcPts val="1850"/>
              </a:lnSpc>
              <a:spcBef>
                <a:spcPts val="100"/>
              </a:spcBef>
            </a:pPr>
            <a:r>
              <a:rPr sz="1550" b="1" spc="-25" dirty="0">
                <a:latin typeface="Arial"/>
                <a:cs typeface="Arial"/>
              </a:rPr>
              <a:t>end </a:t>
            </a:r>
            <a:r>
              <a:rPr sz="1550" b="1" spc="-10" dirty="0">
                <a:latin typeface="Arial"/>
                <a:cs typeface="Arial"/>
              </a:rPr>
              <a:t>endmodule</a:t>
            </a:r>
            <a:endParaRPr sz="1550">
              <a:latin typeface="Arial"/>
              <a:cs typeface="Arial"/>
            </a:endParaRPr>
          </a:p>
        </p:txBody>
      </p:sp>
      <p:sp>
        <p:nvSpPr>
          <p:cNvPr id="7" name="object 7"/>
          <p:cNvSpPr txBox="1"/>
          <p:nvPr/>
        </p:nvSpPr>
        <p:spPr>
          <a:xfrm>
            <a:off x="6749929" y="3286759"/>
            <a:ext cx="1362710" cy="346710"/>
          </a:xfrm>
          <a:prstGeom prst="rect">
            <a:avLst/>
          </a:prstGeom>
        </p:spPr>
        <p:txBody>
          <a:bodyPr vert="horz" wrap="square" lIns="0" tIns="13335" rIns="0" bIns="0" rtlCol="0">
            <a:spAutoFit/>
          </a:bodyPr>
          <a:lstStyle/>
          <a:p>
            <a:pPr marL="12700">
              <a:lnSpc>
                <a:spcPct val="100000"/>
              </a:lnSpc>
              <a:spcBef>
                <a:spcPts val="105"/>
              </a:spcBef>
            </a:pPr>
            <a:r>
              <a:rPr sz="2100" spc="-10" dirty="0">
                <a:latin typeface="宋体"/>
                <a:cs typeface="宋体"/>
              </a:rPr>
              <a:t>仿真结果：</a:t>
            </a:r>
            <a:endParaRPr sz="2100">
              <a:latin typeface="宋体"/>
              <a:cs typeface="宋体"/>
            </a:endParaRPr>
          </a:p>
        </p:txBody>
      </p:sp>
      <p:pic>
        <p:nvPicPr>
          <p:cNvPr id="8" name="object 8"/>
          <p:cNvPicPr/>
          <p:nvPr/>
        </p:nvPicPr>
        <p:blipFill>
          <a:blip r:embed="rId2" cstate="print"/>
          <a:stretch>
            <a:fillRect/>
          </a:stretch>
        </p:blipFill>
        <p:spPr>
          <a:xfrm>
            <a:off x="408664" y="3759706"/>
            <a:ext cx="9709473" cy="2606856"/>
          </a:xfrm>
          <a:prstGeom prst="rect">
            <a:avLst/>
          </a:prstGeom>
        </p:spPr>
      </p:pic>
      <p:sp>
        <p:nvSpPr>
          <p:cNvPr id="9" name="object 9"/>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10" name="object 10"/>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31</a:t>
            </a:fld>
            <a:endParaRPr spc="-2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7585" y="1035049"/>
            <a:ext cx="8380730" cy="453390"/>
          </a:xfrm>
          <a:prstGeom prst="rect">
            <a:avLst/>
          </a:prstGeom>
        </p:spPr>
        <p:txBody>
          <a:bodyPr vert="horz" wrap="square" lIns="0" tIns="13335" rIns="0" bIns="0" rtlCol="0">
            <a:spAutoFit/>
          </a:bodyPr>
          <a:lstStyle/>
          <a:p>
            <a:pPr marL="12700">
              <a:lnSpc>
                <a:spcPct val="100000"/>
              </a:lnSpc>
              <a:spcBef>
                <a:spcPts val="105"/>
              </a:spcBef>
            </a:pPr>
            <a:r>
              <a:rPr b="1" spc="-10" dirty="0">
                <a:latin typeface="Calibri"/>
                <a:cs typeface="Calibri"/>
              </a:rPr>
              <a:t>Moore</a:t>
            </a:r>
            <a:r>
              <a:rPr b="1" spc="-30" dirty="0">
                <a:latin typeface="宋体"/>
                <a:cs typeface="宋体"/>
              </a:rPr>
              <a:t>状态机和</a:t>
            </a:r>
            <a:r>
              <a:rPr b="1" spc="-10" dirty="0">
                <a:latin typeface="Calibri"/>
                <a:cs typeface="Calibri"/>
              </a:rPr>
              <a:t>Mealy</a:t>
            </a:r>
            <a:r>
              <a:rPr b="1" spc="-35" dirty="0">
                <a:latin typeface="宋体"/>
                <a:cs typeface="宋体"/>
              </a:rPr>
              <a:t>状态机序列检测器仿真结果比较</a:t>
            </a:r>
          </a:p>
        </p:txBody>
      </p:sp>
      <p:grpSp>
        <p:nvGrpSpPr>
          <p:cNvPr id="3" name="object 3"/>
          <p:cNvGrpSpPr/>
          <p:nvPr/>
        </p:nvGrpSpPr>
        <p:grpSpPr>
          <a:xfrm>
            <a:off x="973721" y="1573530"/>
            <a:ext cx="8408670" cy="4834890"/>
            <a:chOff x="973721" y="1573530"/>
            <a:chExt cx="8408670" cy="4834890"/>
          </a:xfrm>
        </p:grpSpPr>
        <p:pic>
          <p:nvPicPr>
            <p:cNvPr id="4" name="object 4"/>
            <p:cNvPicPr/>
            <p:nvPr/>
          </p:nvPicPr>
          <p:blipFill>
            <a:blip r:embed="rId2" cstate="print"/>
            <a:stretch>
              <a:fillRect/>
            </a:stretch>
          </p:blipFill>
          <p:spPr>
            <a:xfrm>
              <a:off x="1019441" y="1573530"/>
              <a:ext cx="8362950" cy="2386583"/>
            </a:xfrm>
            <a:prstGeom prst="rect">
              <a:avLst/>
            </a:prstGeom>
          </p:spPr>
        </p:pic>
        <p:pic>
          <p:nvPicPr>
            <p:cNvPr id="5" name="object 5"/>
            <p:cNvPicPr/>
            <p:nvPr/>
          </p:nvPicPr>
          <p:blipFill>
            <a:blip r:embed="rId3" cstate="print"/>
            <a:stretch>
              <a:fillRect/>
            </a:stretch>
          </p:blipFill>
          <p:spPr>
            <a:xfrm>
              <a:off x="973721" y="3996689"/>
              <a:ext cx="8408669" cy="2411730"/>
            </a:xfrm>
            <a:prstGeom prst="rect">
              <a:avLst/>
            </a:prstGeom>
          </p:spPr>
        </p:pic>
      </p:grpSp>
      <p:sp>
        <p:nvSpPr>
          <p:cNvPr id="6" name="object 6"/>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7" name="object 7"/>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32</a:t>
            </a:fld>
            <a:endParaRPr spc="-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9085" y="1230122"/>
            <a:ext cx="3845560" cy="453390"/>
          </a:xfrm>
          <a:prstGeom prst="rect">
            <a:avLst/>
          </a:prstGeom>
        </p:spPr>
        <p:txBody>
          <a:bodyPr vert="horz" wrap="square" lIns="0" tIns="13335" rIns="0" bIns="0" rtlCol="0">
            <a:spAutoFit/>
          </a:bodyPr>
          <a:lstStyle/>
          <a:p>
            <a:pPr marL="12700">
              <a:lnSpc>
                <a:spcPct val="100000"/>
              </a:lnSpc>
              <a:spcBef>
                <a:spcPts val="105"/>
              </a:spcBef>
            </a:pPr>
            <a:r>
              <a:rPr spc="-10" dirty="0"/>
              <a:t>ADC采样控制电路设计</a:t>
            </a:r>
            <a:r>
              <a:rPr spc="-50" dirty="0"/>
              <a:t>1</a:t>
            </a:r>
          </a:p>
        </p:txBody>
      </p:sp>
      <p:sp>
        <p:nvSpPr>
          <p:cNvPr id="3" name="object 3"/>
          <p:cNvSpPr txBox="1"/>
          <p:nvPr/>
        </p:nvSpPr>
        <p:spPr>
          <a:xfrm>
            <a:off x="404755" y="2113774"/>
            <a:ext cx="5931535" cy="4140200"/>
          </a:xfrm>
          <a:prstGeom prst="rect">
            <a:avLst/>
          </a:prstGeom>
        </p:spPr>
        <p:txBody>
          <a:bodyPr vert="horz" wrap="square" lIns="0" tIns="187960" rIns="0" bIns="0" rtlCol="0">
            <a:spAutoFit/>
          </a:bodyPr>
          <a:lstStyle/>
          <a:p>
            <a:pPr marL="12700">
              <a:lnSpc>
                <a:spcPct val="100000"/>
              </a:lnSpc>
              <a:spcBef>
                <a:spcPts val="1480"/>
              </a:spcBef>
            </a:pPr>
            <a:r>
              <a:rPr sz="2100" dirty="0">
                <a:latin typeface="Calibri"/>
                <a:cs typeface="Calibri"/>
              </a:rPr>
              <a:t>8</a:t>
            </a:r>
            <a:r>
              <a:rPr sz="2100" dirty="0">
                <a:latin typeface="宋体"/>
                <a:cs typeface="宋体"/>
              </a:rPr>
              <a:t>通道输入的</a:t>
            </a:r>
            <a:r>
              <a:rPr sz="2100" dirty="0">
                <a:latin typeface="Calibri"/>
                <a:cs typeface="Calibri"/>
              </a:rPr>
              <a:t>ADC</a:t>
            </a:r>
            <a:r>
              <a:rPr sz="2100" spc="5" dirty="0">
                <a:latin typeface="Calibri"/>
                <a:cs typeface="Calibri"/>
              </a:rPr>
              <a:t> ——</a:t>
            </a:r>
            <a:r>
              <a:rPr sz="2100" spc="-10" dirty="0">
                <a:latin typeface="Calibri"/>
                <a:cs typeface="Calibri"/>
              </a:rPr>
              <a:t>ADC0809</a:t>
            </a:r>
            <a:r>
              <a:rPr sz="2100" spc="-20" dirty="0">
                <a:latin typeface="宋体"/>
                <a:cs typeface="宋体"/>
              </a:rPr>
              <a:t>来完成设计。</a:t>
            </a:r>
            <a:endParaRPr sz="2100">
              <a:latin typeface="宋体"/>
              <a:cs typeface="宋体"/>
            </a:endParaRPr>
          </a:p>
          <a:p>
            <a:pPr marL="12700">
              <a:lnSpc>
                <a:spcPct val="100000"/>
              </a:lnSpc>
              <a:spcBef>
                <a:spcPts val="1150"/>
              </a:spcBef>
            </a:pPr>
            <a:r>
              <a:rPr sz="1750" spc="-20" dirty="0">
                <a:latin typeface="宋体"/>
                <a:cs typeface="宋体"/>
              </a:rPr>
              <a:t>其中：</a:t>
            </a:r>
            <a:endParaRPr sz="1750">
              <a:latin typeface="宋体"/>
              <a:cs typeface="宋体"/>
            </a:endParaRPr>
          </a:p>
          <a:p>
            <a:pPr marL="430530" indent="-217804">
              <a:lnSpc>
                <a:spcPct val="100000"/>
              </a:lnSpc>
              <a:spcBef>
                <a:spcPts val="1055"/>
              </a:spcBef>
              <a:buAutoNum type="arabicPeriod"/>
              <a:tabLst>
                <a:tab pos="430530" algn="l"/>
              </a:tabLst>
            </a:pPr>
            <a:r>
              <a:rPr sz="1750" spc="-10" dirty="0">
                <a:latin typeface="Calibri"/>
                <a:cs typeface="Calibri"/>
              </a:rPr>
              <a:t>ADDA</a:t>
            </a:r>
            <a:r>
              <a:rPr sz="1750" dirty="0">
                <a:latin typeface="宋体"/>
                <a:cs typeface="宋体"/>
              </a:rPr>
              <a:t>、</a:t>
            </a:r>
            <a:r>
              <a:rPr sz="1750" dirty="0">
                <a:latin typeface="Calibri"/>
                <a:cs typeface="Calibri"/>
              </a:rPr>
              <a:t>ADDB</a:t>
            </a:r>
            <a:r>
              <a:rPr sz="1750" dirty="0">
                <a:latin typeface="宋体"/>
                <a:cs typeface="宋体"/>
              </a:rPr>
              <a:t>和</a:t>
            </a:r>
            <a:r>
              <a:rPr sz="1750" spc="-10" dirty="0">
                <a:latin typeface="Calibri"/>
                <a:cs typeface="Calibri"/>
              </a:rPr>
              <a:t>ADDC</a:t>
            </a:r>
            <a:r>
              <a:rPr sz="1750" dirty="0">
                <a:latin typeface="宋体"/>
                <a:cs typeface="宋体"/>
              </a:rPr>
              <a:t>是八路输入</a:t>
            </a:r>
            <a:r>
              <a:rPr sz="1750" spc="-10" dirty="0">
                <a:latin typeface="Calibri"/>
                <a:cs typeface="Calibri"/>
              </a:rPr>
              <a:t>IN0~IN7</a:t>
            </a:r>
            <a:r>
              <a:rPr sz="1750" spc="-10" dirty="0">
                <a:latin typeface="宋体"/>
                <a:cs typeface="宋体"/>
              </a:rPr>
              <a:t>的选择信号；</a:t>
            </a:r>
            <a:endParaRPr sz="1750">
              <a:latin typeface="宋体"/>
              <a:cs typeface="宋体"/>
            </a:endParaRPr>
          </a:p>
          <a:p>
            <a:pPr marL="12700" marR="41910" indent="419100">
              <a:lnSpc>
                <a:spcPct val="150300"/>
              </a:lnSpc>
              <a:buFont typeface="Calibri"/>
              <a:buAutoNum type="arabicPeriod"/>
              <a:tabLst>
                <a:tab pos="431800" algn="l"/>
              </a:tabLst>
            </a:pPr>
            <a:r>
              <a:rPr sz="1750" dirty="0">
                <a:latin typeface="宋体"/>
                <a:cs typeface="宋体"/>
              </a:rPr>
              <a:t>端口</a:t>
            </a:r>
            <a:r>
              <a:rPr sz="1750" dirty="0">
                <a:latin typeface="Calibri"/>
                <a:cs typeface="Calibri"/>
              </a:rPr>
              <a:t>ALE</a:t>
            </a:r>
            <a:r>
              <a:rPr sz="1750" spc="-5" dirty="0">
                <a:latin typeface="宋体"/>
                <a:cs typeface="宋体"/>
              </a:rPr>
              <a:t>为模拟信号输入选通端口地址锁存信号，上升沿</a:t>
            </a:r>
            <a:r>
              <a:rPr sz="1750" spc="-20" dirty="0">
                <a:latin typeface="宋体"/>
                <a:cs typeface="宋体"/>
              </a:rPr>
              <a:t>有效。</a:t>
            </a:r>
            <a:endParaRPr sz="1750">
              <a:latin typeface="宋体"/>
              <a:cs typeface="宋体"/>
            </a:endParaRPr>
          </a:p>
          <a:p>
            <a:pPr marL="12700" marR="50800" indent="417830">
              <a:lnSpc>
                <a:spcPct val="150300"/>
              </a:lnSpc>
              <a:buAutoNum type="arabicPeriod"/>
              <a:tabLst>
                <a:tab pos="430530" algn="l"/>
              </a:tabLst>
            </a:pPr>
            <a:r>
              <a:rPr sz="1750" spc="-45" dirty="0">
                <a:latin typeface="Calibri"/>
                <a:cs typeface="Calibri"/>
              </a:rPr>
              <a:t>START</a:t>
            </a:r>
            <a:r>
              <a:rPr sz="1750" dirty="0">
                <a:latin typeface="宋体"/>
                <a:cs typeface="宋体"/>
              </a:rPr>
              <a:t>为转换启动信号，高电平有效；当</a:t>
            </a:r>
            <a:r>
              <a:rPr sz="1750" spc="-40" dirty="0">
                <a:latin typeface="Calibri"/>
                <a:cs typeface="Calibri"/>
              </a:rPr>
              <a:t>START</a:t>
            </a:r>
            <a:r>
              <a:rPr sz="1750" spc="-15" dirty="0">
                <a:latin typeface="宋体"/>
                <a:cs typeface="宋体"/>
              </a:rPr>
              <a:t>有效后，</a:t>
            </a:r>
            <a:r>
              <a:rPr sz="1750" spc="-5" dirty="0">
                <a:latin typeface="宋体"/>
                <a:cs typeface="宋体"/>
              </a:rPr>
              <a:t>转换状态信号，</a:t>
            </a:r>
            <a:r>
              <a:rPr sz="1750" spc="-20" dirty="0">
                <a:latin typeface="Calibri"/>
                <a:cs typeface="Calibri"/>
              </a:rPr>
              <a:t>EOC</a:t>
            </a:r>
            <a:r>
              <a:rPr sz="1750" spc="-5" dirty="0">
                <a:latin typeface="宋体"/>
                <a:cs typeface="宋体"/>
              </a:rPr>
              <a:t>立即变为低电平，转换结束后，</a:t>
            </a:r>
            <a:r>
              <a:rPr sz="1750" spc="-20" dirty="0">
                <a:latin typeface="Calibri"/>
                <a:cs typeface="Calibri"/>
              </a:rPr>
              <a:t>EOC</a:t>
            </a:r>
            <a:r>
              <a:rPr sz="1750" spc="-25" dirty="0">
                <a:latin typeface="宋体"/>
                <a:cs typeface="宋体"/>
              </a:rPr>
              <a:t>变为</a:t>
            </a:r>
            <a:r>
              <a:rPr sz="1750" spc="-5" dirty="0">
                <a:latin typeface="宋体"/>
                <a:cs typeface="宋体"/>
              </a:rPr>
              <a:t>高电平，控制器可以根据此信号了解转换状态。</a:t>
            </a:r>
            <a:endParaRPr sz="1750">
              <a:latin typeface="宋体"/>
              <a:cs typeface="宋体"/>
            </a:endParaRPr>
          </a:p>
          <a:p>
            <a:pPr marL="12700" marR="5080" indent="419100">
              <a:lnSpc>
                <a:spcPct val="150300"/>
              </a:lnSpc>
              <a:buFont typeface="Calibri"/>
              <a:buAutoNum type="arabicPeriod"/>
              <a:tabLst>
                <a:tab pos="431800" algn="l"/>
              </a:tabLst>
            </a:pPr>
            <a:r>
              <a:rPr sz="1750" dirty="0">
                <a:latin typeface="宋体"/>
                <a:cs typeface="宋体"/>
              </a:rPr>
              <a:t>此后控制器可以通过控制输出使能端</a:t>
            </a:r>
            <a:r>
              <a:rPr sz="1750" spc="-10" dirty="0">
                <a:latin typeface="Calibri"/>
                <a:cs typeface="Calibri"/>
              </a:rPr>
              <a:t>OE</a:t>
            </a:r>
            <a:r>
              <a:rPr sz="1750" spc="-5" dirty="0">
                <a:latin typeface="宋体"/>
                <a:cs typeface="宋体"/>
              </a:rPr>
              <a:t>，通过</a:t>
            </a:r>
            <a:r>
              <a:rPr sz="1750" dirty="0">
                <a:latin typeface="Calibri"/>
                <a:cs typeface="Calibri"/>
              </a:rPr>
              <a:t>8</a:t>
            </a:r>
            <a:r>
              <a:rPr sz="1750" spc="-15" dirty="0">
                <a:latin typeface="宋体"/>
                <a:cs typeface="宋体"/>
              </a:rPr>
              <a:t>位并行数</a:t>
            </a:r>
            <a:r>
              <a:rPr sz="1750" dirty="0">
                <a:latin typeface="宋体"/>
                <a:cs typeface="宋体"/>
              </a:rPr>
              <a:t>据总线</a:t>
            </a:r>
            <a:r>
              <a:rPr sz="1750" dirty="0">
                <a:latin typeface="Calibri"/>
                <a:cs typeface="Calibri"/>
              </a:rPr>
              <a:t>D[7:0]</a:t>
            </a:r>
            <a:r>
              <a:rPr sz="1750" spc="-10" dirty="0">
                <a:latin typeface="宋体"/>
                <a:cs typeface="宋体"/>
              </a:rPr>
              <a:t>来读取转换结果。</a:t>
            </a:r>
            <a:endParaRPr sz="1750">
              <a:latin typeface="宋体"/>
              <a:cs typeface="宋体"/>
            </a:endParaRPr>
          </a:p>
        </p:txBody>
      </p:sp>
      <p:pic>
        <p:nvPicPr>
          <p:cNvPr id="4" name="object 4"/>
          <p:cNvPicPr/>
          <p:nvPr/>
        </p:nvPicPr>
        <p:blipFill>
          <a:blip r:embed="rId2" cstate="print"/>
          <a:stretch>
            <a:fillRect/>
          </a:stretch>
        </p:blipFill>
        <p:spPr>
          <a:xfrm>
            <a:off x="6314579" y="1785366"/>
            <a:ext cx="4161282" cy="4702302"/>
          </a:xfrm>
          <a:prstGeom prst="rect">
            <a:avLst/>
          </a:prstGeom>
        </p:spPr>
      </p:pic>
      <p:sp>
        <p:nvSpPr>
          <p:cNvPr id="5" name="object 5"/>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6" name="object 6"/>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33</a:t>
            </a:fld>
            <a:endParaRPr spc="-2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5265" y="1122680"/>
            <a:ext cx="3845560" cy="453390"/>
          </a:xfrm>
          <a:prstGeom prst="rect">
            <a:avLst/>
          </a:prstGeom>
        </p:spPr>
        <p:txBody>
          <a:bodyPr vert="horz" wrap="square" lIns="0" tIns="13335" rIns="0" bIns="0" rtlCol="0">
            <a:spAutoFit/>
          </a:bodyPr>
          <a:lstStyle/>
          <a:p>
            <a:pPr marL="12700">
              <a:lnSpc>
                <a:spcPct val="100000"/>
              </a:lnSpc>
              <a:spcBef>
                <a:spcPts val="105"/>
              </a:spcBef>
            </a:pPr>
            <a:r>
              <a:rPr spc="-10" dirty="0"/>
              <a:t>ADC采样控制电路设计</a:t>
            </a:r>
            <a:r>
              <a:rPr spc="-50" dirty="0"/>
              <a:t>2</a:t>
            </a:r>
          </a:p>
        </p:txBody>
      </p:sp>
      <p:sp>
        <p:nvSpPr>
          <p:cNvPr id="3" name="object 3"/>
          <p:cNvSpPr txBox="1"/>
          <p:nvPr/>
        </p:nvSpPr>
        <p:spPr>
          <a:xfrm>
            <a:off x="239380" y="1760968"/>
            <a:ext cx="5647055" cy="4140200"/>
          </a:xfrm>
          <a:prstGeom prst="rect">
            <a:avLst/>
          </a:prstGeom>
        </p:spPr>
        <p:txBody>
          <a:bodyPr vert="horz" wrap="square" lIns="0" tIns="187960" rIns="0" bIns="0" rtlCol="0">
            <a:spAutoFit/>
          </a:bodyPr>
          <a:lstStyle/>
          <a:p>
            <a:pPr marL="12700">
              <a:lnSpc>
                <a:spcPct val="100000"/>
              </a:lnSpc>
              <a:spcBef>
                <a:spcPts val="1480"/>
              </a:spcBef>
            </a:pPr>
            <a:r>
              <a:rPr sz="2100" spc="-5" dirty="0">
                <a:latin typeface="宋体"/>
                <a:cs typeface="宋体"/>
              </a:rPr>
              <a:t>采用</a:t>
            </a:r>
            <a:r>
              <a:rPr sz="2100" spc="-10" dirty="0">
                <a:latin typeface="Calibri"/>
                <a:cs typeface="Calibri"/>
              </a:rPr>
              <a:t>8</a:t>
            </a:r>
            <a:r>
              <a:rPr sz="2100" spc="-10" dirty="0">
                <a:latin typeface="宋体"/>
                <a:cs typeface="宋体"/>
              </a:rPr>
              <a:t>通道输入的</a:t>
            </a:r>
            <a:r>
              <a:rPr sz="2100" dirty="0">
                <a:latin typeface="Calibri"/>
                <a:cs typeface="Calibri"/>
              </a:rPr>
              <a:t>ADC</a:t>
            </a:r>
            <a:r>
              <a:rPr sz="2100" spc="20" dirty="0">
                <a:latin typeface="Calibri"/>
                <a:cs typeface="Calibri"/>
              </a:rPr>
              <a:t> ——</a:t>
            </a:r>
            <a:r>
              <a:rPr sz="2100" spc="-10" dirty="0">
                <a:latin typeface="Calibri"/>
                <a:cs typeface="Calibri"/>
              </a:rPr>
              <a:t>ADC0809</a:t>
            </a:r>
            <a:r>
              <a:rPr sz="2100" spc="-20" dirty="0">
                <a:latin typeface="宋体"/>
                <a:cs typeface="宋体"/>
              </a:rPr>
              <a:t>来完成设计。</a:t>
            </a:r>
            <a:endParaRPr sz="2100">
              <a:latin typeface="宋体"/>
              <a:cs typeface="宋体"/>
            </a:endParaRPr>
          </a:p>
          <a:p>
            <a:pPr marL="12700">
              <a:lnSpc>
                <a:spcPct val="100000"/>
              </a:lnSpc>
              <a:spcBef>
                <a:spcPts val="1150"/>
              </a:spcBef>
            </a:pPr>
            <a:r>
              <a:rPr sz="1750" spc="-20" dirty="0">
                <a:latin typeface="宋体"/>
                <a:cs typeface="宋体"/>
              </a:rPr>
              <a:t>其中：</a:t>
            </a:r>
            <a:endParaRPr sz="1750">
              <a:latin typeface="宋体"/>
              <a:cs typeface="宋体"/>
            </a:endParaRPr>
          </a:p>
          <a:p>
            <a:pPr marL="431800" indent="-218440">
              <a:lnSpc>
                <a:spcPct val="100000"/>
              </a:lnSpc>
              <a:spcBef>
                <a:spcPts val="1055"/>
              </a:spcBef>
              <a:buAutoNum type="arabicPeriod"/>
              <a:tabLst>
                <a:tab pos="431800" algn="l"/>
              </a:tabLst>
            </a:pPr>
            <a:r>
              <a:rPr sz="1750" spc="-10" dirty="0">
                <a:latin typeface="Calibri"/>
                <a:cs typeface="Calibri"/>
              </a:rPr>
              <a:t>ADDA</a:t>
            </a:r>
            <a:r>
              <a:rPr sz="1750" dirty="0">
                <a:latin typeface="宋体"/>
                <a:cs typeface="宋体"/>
              </a:rPr>
              <a:t>、</a:t>
            </a:r>
            <a:r>
              <a:rPr sz="1750" dirty="0">
                <a:latin typeface="Calibri"/>
                <a:cs typeface="Calibri"/>
              </a:rPr>
              <a:t>ADDB</a:t>
            </a:r>
            <a:r>
              <a:rPr sz="1750" dirty="0">
                <a:latin typeface="宋体"/>
                <a:cs typeface="宋体"/>
              </a:rPr>
              <a:t>和</a:t>
            </a:r>
            <a:r>
              <a:rPr sz="1750" spc="-10" dirty="0">
                <a:latin typeface="Calibri"/>
                <a:cs typeface="Calibri"/>
              </a:rPr>
              <a:t>ADDC</a:t>
            </a:r>
            <a:r>
              <a:rPr sz="1750" dirty="0">
                <a:latin typeface="宋体"/>
                <a:cs typeface="宋体"/>
              </a:rPr>
              <a:t>是八路输入</a:t>
            </a:r>
            <a:r>
              <a:rPr sz="1750" spc="-10" dirty="0">
                <a:latin typeface="Calibri"/>
                <a:cs typeface="Calibri"/>
              </a:rPr>
              <a:t>IN0~IN7</a:t>
            </a:r>
            <a:r>
              <a:rPr sz="1750" spc="-10" dirty="0">
                <a:latin typeface="宋体"/>
                <a:cs typeface="宋体"/>
              </a:rPr>
              <a:t>的选择信号；</a:t>
            </a:r>
            <a:endParaRPr sz="1750">
              <a:latin typeface="宋体"/>
              <a:cs typeface="宋体"/>
            </a:endParaRPr>
          </a:p>
          <a:p>
            <a:pPr marL="12700" marR="203200" indent="419100">
              <a:lnSpc>
                <a:spcPct val="150300"/>
              </a:lnSpc>
              <a:buFont typeface="Calibri"/>
              <a:buAutoNum type="arabicPeriod"/>
              <a:tabLst>
                <a:tab pos="431800" algn="l"/>
              </a:tabLst>
            </a:pPr>
            <a:r>
              <a:rPr sz="1750" dirty="0">
                <a:latin typeface="宋体"/>
                <a:cs typeface="宋体"/>
              </a:rPr>
              <a:t>端口</a:t>
            </a:r>
            <a:r>
              <a:rPr sz="1750" dirty="0">
                <a:latin typeface="Calibri"/>
                <a:cs typeface="Calibri"/>
              </a:rPr>
              <a:t>ALE</a:t>
            </a:r>
            <a:r>
              <a:rPr sz="1750" spc="-5" dirty="0">
                <a:latin typeface="宋体"/>
                <a:cs typeface="宋体"/>
              </a:rPr>
              <a:t>为模拟信号输入选通端口地址锁存信号，上</a:t>
            </a:r>
            <a:r>
              <a:rPr sz="1750" spc="-10" dirty="0">
                <a:latin typeface="宋体"/>
                <a:cs typeface="宋体"/>
              </a:rPr>
              <a:t>升沿有效。</a:t>
            </a:r>
            <a:endParaRPr sz="1750">
              <a:latin typeface="宋体"/>
              <a:cs typeface="宋体"/>
            </a:endParaRPr>
          </a:p>
          <a:p>
            <a:pPr marL="12700" marR="132080" indent="417830">
              <a:lnSpc>
                <a:spcPct val="150300"/>
              </a:lnSpc>
              <a:buAutoNum type="arabicPeriod"/>
              <a:tabLst>
                <a:tab pos="430530" algn="l"/>
              </a:tabLst>
            </a:pPr>
            <a:r>
              <a:rPr sz="1750" spc="-15" dirty="0">
                <a:latin typeface="Calibri"/>
                <a:cs typeface="Calibri"/>
              </a:rPr>
              <a:t>S</a:t>
            </a:r>
            <a:r>
              <a:rPr sz="1750" spc="-145" dirty="0">
                <a:latin typeface="Calibri"/>
                <a:cs typeface="Calibri"/>
              </a:rPr>
              <a:t>T</a:t>
            </a:r>
            <a:r>
              <a:rPr sz="1750" spc="-5" dirty="0">
                <a:latin typeface="Calibri"/>
                <a:cs typeface="Calibri"/>
              </a:rPr>
              <a:t>A</a:t>
            </a:r>
            <a:r>
              <a:rPr sz="1750" spc="-20" dirty="0">
                <a:latin typeface="Calibri"/>
                <a:cs typeface="Calibri"/>
              </a:rPr>
              <a:t>R</a:t>
            </a:r>
            <a:r>
              <a:rPr sz="1750" spc="5" dirty="0">
                <a:latin typeface="Calibri"/>
                <a:cs typeface="Calibri"/>
              </a:rPr>
              <a:t>T</a:t>
            </a:r>
            <a:r>
              <a:rPr sz="1750" dirty="0">
                <a:latin typeface="宋体"/>
                <a:cs typeface="宋体"/>
              </a:rPr>
              <a:t>为转换启动信号，高电平有效；当</a:t>
            </a:r>
            <a:r>
              <a:rPr sz="1750" spc="-10" dirty="0">
                <a:latin typeface="Calibri"/>
                <a:cs typeface="Calibri"/>
              </a:rPr>
              <a:t>S</a:t>
            </a:r>
            <a:r>
              <a:rPr sz="1750" spc="-135" dirty="0">
                <a:latin typeface="Calibri"/>
                <a:cs typeface="Calibri"/>
              </a:rPr>
              <a:t>T</a:t>
            </a:r>
            <a:r>
              <a:rPr sz="1750" spc="-10" dirty="0">
                <a:latin typeface="Calibri"/>
                <a:cs typeface="Calibri"/>
              </a:rPr>
              <a:t>AR</a:t>
            </a:r>
            <a:r>
              <a:rPr sz="1750" spc="5" dirty="0">
                <a:latin typeface="Calibri"/>
                <a:cs typeface="Calibri"/>
              </a:rPr>
              <a:t>T</a:t>
            </a:r>
            <a:r>
              <a:rPr sz="1750" dirty="0">
                <a:latin typeface="宋体"/>
                <a:cs typeface="宋体"/>
              </a:rPr>
              <a:t>有效</a:t>
            </a:r>
            <a:r>
              <a:rPr sz="1750" spc="-5" dirty="0">
                <a:latin typeface="宋体"/>
                <a:cs typeface="宋体"/>
              </a:rPr>
              <a:t>后，转换状态信号，</a:t>
            </a:r>
            <a:r>
              <a:rPr sz="1750" spc="-10" dirty="0">
                <a:latin typeface="Calibri"/>
                <a:cs typeface="Calibri"/>
              </a:rPr>
              <a:t>EOC</a:t>
            </a:r>
            <a:r>
              <a:rPr sz="1750" dirty="0">
                <a:latin typeface="宋体"/>
                <a:cs typeface="宋体"/>
              </a:rPr>
              <a:t>立即变为低电平，转换结束后， </a:t>
            </a:r>
            <a:r>
              <a:rPr sz="1750" spc="-15" dirty="0">
                <a:latin typeface="Calibri"/>
                <a:cs typeface="Calibri"/>
              </a:rPr>
              <a:t>EOC</a:t>
            </a:r>
            <a:r>
              <a:rPr sz="1750" dirty="0">
                <a:latin typeface="宋体"/>
                <a:cs typeface="宋体"/>
              </a:rPr>
              <a:t>变为高电平，控制器可以根据此信号了解转换状态。</a:t>
            </a:r>
            <a:endParaRPr sz="1750">
              <a:latin typeface="宋体"/>
              <a:cs typeface="宋体"/>
            </a:endParaRPr>
          </a:p>
          <a:p>
            <a:pPr marL="12700" marR="165735" indent="419100">
              <a:lnSpc>
                <a:spcPct val="150300"/>
              </a:lnSpc>
              <a:buFont typeface="Calibri"/>
              <a:buAutoNum type="arabicPeriod"/>
              <a:tabLst>
                <a:tab pos="431800" algn="l"/>
              </a:tabLst>
            </a:pPr>
            <a:r>
              <a:rPr sz="1750" dirty="0">
                <a:latin typeface="宋体"/>
                <a:cs typeface="宋体"/>
              </a:rPr>
              <a:t>此后控制器可以通过控制输出使能端</a:t>
            </a:r>
            <a:r>
              <a:rPr sz="1750" spc="-10" dirty="0">
                <a:latin typeface="Calibri"/>
                <a:cs typeface="Calibri"/>
              </a:rPr>
              <a:t>OE</a:t>
            </a:r>
            <a:r>
              <a:rPr sz="1750" spc="-5" dirty="0">
                <a:latin typeface="宋体"/>
                <a:cs typeface="宋体"/>
              </a:rPr>
              <a:t>，通过</a:t>
            </a:r>
            <a:r>
              <a:rPr sz="1750" spc="-10" dirty="0">
                <a:latin typeface="Calibri"/>
                <a:cs typeface="Calibri"/>
              </a:rPr>
              <a:t>8</a:t>
            </a:r>
            <a:r>
              <a:rPr sz="1750" spc="-25" dirty="0">
                <a:latin typeface="宋体"/>
                <a:cs typeface="宋体"/>
              </a:rPr>
              <a:t>位并</a:t>
            </a:r>
            <a:r>
              <a:rPr sz="1750" dirty="0">
                <a:latin typeface="宋体"/>
                <a:cs typeface="宋体"/>
              </a:rPr>
              <a:t>行数据总</a:t>
            </a:r>
            <a:r>
              <a:rPr sz="1750" dirty="0">
                <a:latin typeface="Calibri"/>
                <a:cs typeface="Calibri"/>
              </a:rPr>
              <a:t>D[7:0]</a:t>
            </a:r>
            <a:r>
              <a:rPr sz="1750" spc="-10" dirty="0">
                <a:latin typeface="宋体"/>
                <a:cs typeface="宋体"/>
              </a:rPr>
              <a:t>来读取转换结果。</a:t>
            </a:r>
            <a:endParaRPr sz="1750">
              <a:latin typeface="宋体"/>
              <a:cs typeface="宋体"/>
            </a:endParaRPr>
          </a:p>
        </p:txBody>
      </p:sp>
      <p:pic>
        <p:nvPicPr>
          <p:cNvPr id="4" name="object 4"/>
          <p:cNvPicPr/>
          <p:nvPr/>
        </p:nvPicPr>
        <p:blipFill>
          <a:blip r:embed="rId2" cstate="print"/>
          <a:stretch>
            <a:fillRect/>
          </a:stretch>
        </p:blipFill>
        <p:spPr>
          <a:xfrm>
            <a:off x="5736983" y="2546603"/>
            <a:ext cx="4718303" cy="2698242"/>
          </a:xfrm>
          <a:prstGeom prst="rect">
            <a:avLst/>
          </a:prstGeom>
        </p:spPr>
      </p:pic>
      <p:sp>
        <p:nvSpPr>
          <p:cNvPr id="5" name="object 5"/>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6" name="object 6"/>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34</a:t>
            </a:fld>
            <a:endParaRPr spc="-2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6340" y="2350261"/>
            <a:ext cx="7273290" cy="3693795"/>
          </a:xfrm>
          <a:prstGeom prst="rect">
            <a:avLst/>
          </a:prstGeom>
        </p:spPr>
        <p:txBody>
          <a:bodyPr vert="horz" wrap="square" lIns="0" tIns="13335" rIns="0" bIns="0" rtlCol="0">
            <a:spAutoFit/>
          </a:bodyPr>
          <a:lstStyle/>
          <a:p>
            <a:pPr marL="119380">
              <a:lnSpc>
                <a:spcPct val="100000"/>
              </a:lnSpc>
              <a:spcBef>
                <a:spcPts val="105"/>
              </a:spcBef>
            </a:pPr>
            <a:r>
              <a:rPr sz="2100" spc="-10" dirty="0">
                <a:latin typeface="宋体"/>
                <a:cs typeface="宋体"/>
              </a:rPr>
              <a:t>状态分析：</a:t>
            </a:r>
            <a:endParaRPr sz="2100" dirty="0">
              <a:latin typeface="宋体"/>
              <a:cs typeface="宋体"/>
            </a:endParaRPr>
          </a:p>
          <a:p>
            <a:pPr marL="12700">
              <a:lnSpc>
                <a:spcPct val="100000"/>
              </a:lnSpc>
              <a:spcBef>
                <a:spcPts val="2160"/>
              </a:spcBef>
            </a:pPr>
            <a:r>
              <a:rPr sz="1750" dirty="0">
                <a:latin typeface="Calibri"/>
                <a:cs typeface="Calibri"/>
              </a:rPr>
              <a:t>ADC</a:t>
            </a:r>
            <a:r>
              <a:rPr sz="1750" dirty="0">
                <a:latin typeface="宋体"/>
                <a:cs typeface="宋体"/>
              </a:rPr>
              <a:t>转换控制状态机共有</a:t>
            </a:r>
            <a:r>
              <a:rPr sz="1750" spc="-10" dirty="0">
                <a:latin typeface="Calibri"/>
                <a:cs typeface="Calibri"/>
              </a:rPr>
              <a:t>4</a:t>
            </a:r>
            <a:r>
              <a:rPr sz="1750" spc="-25" dirty="0">
                <a:latin typeface="宋体"/>
                <a:cs typeface="宋体"/>
              </a:rPr>
              <a:t>个状</a:t>
            </a:r>
            <a:r>
              <a:rPr lang="zh-CN" altLang="en-US" sz="1750" spc="-25" dirty="0">
                <a:latin typeface="宋体"/>
                <a:cs typeface="宋体"/>
              </a:rPr>
              <a:t>态</a:t>
            </a:r>
            <a:endParaRPr sz="1750" dirty="0">
              <a:latin typeface="宋体"/>
              <a:cs typeface="宋体"/>
            </a:endParaRPr>
          </a:p>
          <a:p>
            <a:pPr marL="231775" indent="-219075">
              <a:lnSpc>
                <a:spcPct val="100000"/>
              </a:lnSpc>
              <a:spcBef>
                <a:spcPts val="1060"/>
              </a:spcBef>
              <a:buFont typeface="Calibri"/>
              <a:buAutoNum type="arabicPeriod"/>
              <a:tabLst>
                <a:tab pos="231775" algn="l"/>
              </a:tabLst>
            </a:pPr>
            <a:r>
              <a:rPr sz="1750" dirty="0">
                <a:latin typeface="宋体"/>
                <a:cs typeface="宋体"/>
              </a:rPr>
              <a:t>初始化状态</a:t>
            </a:r>
            <a:r>
              <a:rPr sz="1750" spc="-25" dirty="0">
                <a:latin typeface="Calibri"/>
                <a:cs typeface="Calibri"/>
              </a:rPr>
              <a:t>s0</a:t>
            </a:r>
            <a:endParaRPr sz="1750" dirty="0">
              <a:latin typeface="Calibri"/>
              <a:cs typeface="Calibri"/>
            </a:endParaRPr>
          </a:p>
          <a:p>
            <a:pPr marL="231775" indent="-219075">
              <a:lnSpc>
                <a:spcPct val="100000"/>
              </a:lnSpc>
              <a:spcBef>
                <a:spcPts val="1055"/>
              </a:spcBef>
              <a:buFont typeface="Calibri"/>
              <a:buAutoNum type="arabicPeriod"/>
              <a:tabLst>
                <a:tab pos="231775" algn="l"/>
              </a:tabLst>
            </a:pPr>
            <a:r>
              <a:rPr sz="1750" dirty="0">
                <a:latin typeface="宋体"/>
                <a:cs typeface="宋体"/>
              </a:rPr>
              <a:t>启动</a:t>
            </a:r>
            <a:r>
              <a:rPr sz="1750" dirty="0">
                <a:latin typeface="Calibri"/>
                <a:cs typeface="Calibri"/>
              </a:rPr>
              <a:t>ADC</a:t>
            </a:r>
            <a:r>
              <a:rPr sz="1750" dirty="0">
                <a:latin typeface="宋体"/>
                <a:cs typeface="宋体"/>
              </a:rPr>
              <a:t>状态</a:t>
            </a:r>
            <a:r>
              <a:rPr sz="1750" spc="-25" dirty="0">
                <a:latin typeface="Calibri"/>
                <a:cs typeface="Calibri"/>
              </a:rPr>
              <a:t>s1</a:t>
            </a:r>
            <a:endParaRPr sz="1750" dirty="0">
              <a:latin typeface="Calibri"/>
              <a:cs typeface="Calibri"/>
            </a:endParaRPr>
          </a:p>
          <a:p>
            <a:pPr marL="231775" indent="-219075">
              <a:lnSpc>
                <a:spcPct val="100000"/>
              </a:lnSpc>
              <a:spcBef>
                <a:spcPts val="1055"/>
              </a:spcBef>
              <a:buFont typeface="Calibri"/>
              <a:buAutoNum type="arabicPeriod"/>
              <a:tabLst>
                <a:tab pos="231775" algn="l"/>
              </a:tabLst>
            </a:pPr>
            <a:r>
              <a:rPr sz="1750" dirty="0">
                <a:latin typeface="宋体"/>
                <a:cs typeface="宋体"/>
              </a:rPr>
              <a:t>等待</a:t>
            </a:r>
            <a:r>
              <a:rPr sz="1750" dirty="0">
                <a:latin typeface="Calibri"/>
                <a:cs typeface="Calibri"/>
              </a:rPr>
              <a:t>ADC</a:t>
            </a:r>
            <a:r>
              <a:rPr sz="1750" dirty="0">
                <a:latin typeface="宋体"/>
                <a:cs typeface="宋体"/>
              </a:rPr>
              <a:t>转换结束状态</a:t>
            </a:r>
            <a:r>
              <a:rPr sz="1750" spc="-25" dirty="0">
                <a:latin typeface="Calibri"/>
                <a:cs typeface="Calibri"/>
              </a:rPr>
              <a:t>s2</a:t>
            </a:r>
            <a:endParaRPr sz="1750" dirty="0">
              <a:latin typeface="Calibri"/>
              <a:cs typeface="Calibri"/>
            </a:endParaRPr>
          </a:p>
          <a:p>
            <a:pPr marL="231775" indent="-219075">
              <a:lnSpc>
                <a:spcPct val="100000"/>
              </a:lnSpc>
              <a:spcBef>
                <a:spcPts val="1055"/>
              </a:spcBef>
              <a:buFont typeface="Calibri"/>
              <a:buAutoNum type="arabicPeriod"/>
              <a:tabLst>
                <a:tab pos="231775" algn="l"/>
              </a:tabLst>
            </a:pPr>
            <a:r>
              <a:rPr sz="1750" dirty="0">
                <a:latin typeface="宋体"/>
                <a:cs typeface="宋体"/>
              </a:rPr>
              <a:t>转换数据读取状态</a:t>
            </a:r>
            <a:r>
              <a:rPr sz="1750" spc="-20" dirty="0">
                <a:latin typeface="Calibri"/>
                <a:cs typeface="Calibri"/>
              </a:rPr>
              <a:t>s3</a:t>
            </a:r>
            <a:r>
              <a:rPr sz="1750" spc="-50" dirty="0">
                <a:latin typeface="宋体"/>
                <a:cs typeface="宋体"/>
              </a:rPr>
              <a:t>。</a:t>
            </a:r>
            <a:endParaRPr sz="1750" dirty="0">
              <a:latin typeface="宋体"/>
              <a:cs typeface="宋体"/>
            </a:endParaRPr>
          </a:p>
          <a:p>
            <a:pPr marL="12700" marR="5080" indent="-635">
              <a:lnSpc>
                <a:spcPct val="150300"/>
              </a:lnSpc>
            </a:pPr>
            <a:r>
              <a:rPr sz="1750" spc="-10" dirty="0">
                <a:latin typeface="Calibri"/>
                <a:cs typeface="Calibri"/>
              </a:rPr>
              <a:t>ADC0809</a:t>
            </a:r>
            <a:r>
              <a:rPr sz="1750" dirty="0">
                <a:latin typeface="宋体"/>
                <a:cs typeface="宋体"/>
              </a:rPr>
              <a:t>控制的状态从</a:t>
            </a:r>
            <a:r>
              <a:rPr sz="1750" spc="-20" dirty="0">
                <a:latin typeface="Calibri"/>
                <a:cs typeface="Calibri"/>
              </a:rPr>
              <a:t>s0</a:t>
            </a:r>
            <a:r>
              <a:rPr sz="1750" dirty="0">
                <a:latin typeface="宋体"/>
                <a:cs typeface="宋体"/>
              </a:rPr>
              <a:t>到</a:t>
            </a:r>
            <a:r>
              <a:rPr sz="1750" spc="-20" dirty="0">
                <a:latin typeface="Calibri"/>
                <a:cs typeface="Calibri"/>
              </a:rPr>
              <a:t>s1</a:t>
            </a:r>
            <a:r>
              <a:rPr sz="1750" spc="-20" dirty="0">
                <a:latin typeface="宋体"/>
                <a:cs typeface="宋体"/>
              </a:rPr>
              <a:t>，</a:t>
            </a:r>
            <a:r>
              <a:rPr sz="1750" spc="-20" dirty="0">
                <a:latin typeface="Calibri"/>
                <a:cs typeface="Calibri"/>
              </a:rPr>
              <a:t>s1</a:t>
            </a:r>
            <a:r>
              <a:rPr sz="1750" dirty="0">
                <a:latin typeface="宋体"/>
                <a:cs typeface="宋体"/>
              </a:rPr>
              <a:t>到</a:t>
            </a:r>
            <a:r>
              <a:rPr sz="1750" spc="-10" dirty="0">
                <a:latin typeface="Calibri"/>
                <a:cs typeface="Calibri"/>
              </a:rPr>
              <a:t>s2</a:t>
            </a:r>
            <a:r>
              <a:rPr sz="1750" spc="-10" dirty="0">
                <a:latin typeface="宋体"/>
                <a:cs typeface="宋体"/>
              </a:rPr>
              <a:t>，</a:t>
            </a:r>
            <a:r>
              <a:rPr sz="1750" spc="-10" dirty="0">
                <a:latin typeface="Calibri"/>
                <a:cs typeface="Calibri"/>
              </a:rPr>
              <a:t>s3</a:t>
            </a:r>
            <a:r>
              <a:rPr sz="1750" dirty="0">
                <a:latin typeface="宋体"/>
                <a:cs typeface="宋体"/>
              </a:rPr>
              <a:t>到</a:t>
            </a:r>
            <a:r>
              <a:rPr sz="1750" spc="-10" dirty="0">
                <a:latin typeface="Calibri"/>
                <a:cs typeface="Calibri"/>
              </a:rPr>
              <a:t>s0</a:t>
            </a:r>
            <a:r>
              <a:rPr sz="1750" spc="-5" dirty="0">
                <a:latin typeface="宋体"/>
                <a:cs typeface="宋体"/>
              </a:rPr>
              <a:t>的状态转换都是在时钟上升</a:t>
            </a:r>
            <a:r>
              <a:rPr sz="1750" dirty="0">
                <a:latin typeface="宋体"/>
                <a:cs typeface="宋体"/>
              </a:rPr>
              <a:t>沿直接变化，只有在</a:t>
            </a:r>
            <a:r>
              <a:rPr sz="1750" spc="-20" dirty="0">
                <a:latin typeface="Calibri"/>
                <a:cs typeface="Calibri"/>
              </a:rPr>
              <a:t>s2</a:t>
            </a:r>
            <a:r>
              <a:rPr sz="1750" dirty="0">
                <a:latin typeface="宋体"/>
                <a:cs typeface="宋体"/>
              </a:rPr>
              <a:t>状态时，根据输入信号</a:t>
            </a:r>
            <a:r>
              <a:rPr sz="1750" spc="-20" dirty="0">
                <a:latin typeface="Calibri"/>
                <a:cs typeface="Calibri"/>
              </a:rPr>
              <a:t>EOC</a:t>
            </a:r>
            <a:r>
              <a:rPr sz="1750" spc="-5" dirty="0">
                <a:latin typeface="宋体"/>
                <a:cs typeface="宋体"/>
              </a:rPr>
              <a:t>来判断状态转移的下一状</a:t>
            </a:r>
            <a:r>
              <a:rPr sz="1750" dirty="0">
                <a:latin typeface="宋体"/>
                <a:cs typeface="宋体"/>
              </a:rPr>
              <a:t>态。</a:t>
            </a:r>
            <a:r>
              <a:rPr sz="1750" dirty="0">
                <a:latin typeface="Calibri"/>
                <a:cs typeface="Calibri"/>
              </a:rPr>
              <a:t>ADC</a:t>
            </a:r>
            <a:r>
              <a:rPr sz="1750" dirty="0">
                <a:latin typeface="宋体"/>
                <a:cs typeface="宋体"/>
              </a:rPr>
              <a:t>在状态机控制下，依次在这</a:t>
            </a:r>
            <a:r>
              <a:rPr sz="1750" spc="-10" dirty="0">
                <a:latin typeface="Calibri"/>
                <a:cs typeface="Calibri"/>
              </a:rPr>
              <a:t>4</a:t>
            </a:r>
            <a:r>
              <a:rPr sz="1750" dirty="0">
                <a:latin typeface="宋体"/>
                <a:cs typeface="宋体"/>
              </a:rPr>
              <a:t>个状态切换，完成</a:t>
            </a:r>
            <a:r>
              <a:rPr sz="1750" spc="-10" dirty="0">
                <a:latin typeface="Calibri"/>
                <a:cs typeface="Calibri"/>
              </a:rPr>
              <a:t>AD</a:t>
            </a:r>
            <a:r>
              <a:rPr sz="1750" spc="-10" dirty="0">
                <a:latin typeface="宋体"/>
                <a:cs typeface="宋体"/>
              </a:rPr>
              <a:t>转换功能。</a:t>
            </a:r>
            <a:endParaRPr sz="1750" dirty="0">
              <a:latin typeface="宋体"/>
              <a:cs typeface="宋体"/>
            </a:endParaRPr>
          </a:p>
        </p:txBody>
      </p:sp>
      <p:sp>
        <p:nvSpPr>
          <p:cNvPr id="3" name="object 3"/>
          <p:cNvSpPr txBox="1"/>
          <p:nvPr/>
        </p:nvSpPr>
        <p:spPr>
          <a:xfrm>
            <a:off x="3670269" y="1222100"/>
            <a:ext cx="922019" cy="1378583"/>
          </a:xfrm>
          <a:prstGeom prst="rect">
            <a:avLst/>
          </a:prstGeom>
        </p:spPr>
        <p:txBody>
          <a:bodyPr vert="horz" wrap="square" lIns="0" tIns="21590" rIns="0" bIns="0" rtlCol="0">
            <a:spAutoFit/>
          </a:bodyPr>
          <a:lstStyle/>
          <a:p>
            <a:pPr>
              <a:lnSpc>
                <a:spcPct val="100000"/>
              </a:lnSpc>
              <a:spcBef>
                <a:spcPts val="170"/>
              </a:spcBef>
            </a:pPr>
            <a:r>
              <a:rPr sz="2800" spc="-10" dirty="0">
                <a:latin typeface="微软雅黑"/>
                <a:cs typeface="微软雅黑"/>
              </a:rPr>
              <a:t>设计</a:t>
            </a:r>
            <a:r>
              <a:rPr sz="2800" spc="-50" dirty="0">
                <a:latin typeface="微软雅黑"/>
                <a:cs typeface="微软雅黑"/>
              </a:rPr>
              <a:t>3</a:t>
            </a:r>
            <a:endParaRPr sz="2800" dirty="0">
              <a:latin typeface="微软雅黑"/>
              <a:cs typeface="微软雅黑"/>
            </a:endParaRPr>
          </a:p>
          <a:p>
            <a:pPr>
              <a:lnSpc>
                <a:spcPct val="100000"/>
              </a:lnSpc>
            </a:pPr>
            <a:endParaRPr sz="2800" dirty="0">
              <a:latin typeface="微软雅黑"/>
              <a:cs typeface="微软雅黑"/>
            </a:endParaRPr>
          </a:p>
          <a:p>
            <a:pPr>
              <a:lnSpc>
                <a:spcPct val="100000"/>
              </a:lnSpc>
              <a:spcBef>
                <a:spcPts val="530"/>
              </a:spcBef>
            </a:pPr>
            <a:endParaRPr sz="2800" dirty="0">
              <a:latin typeface="微软雅黑"/>
              <a:cs typeface="微软雅黑"/>
            </a:endParaRPr>
          </a:p>
        </p:txBody>
      </p:sp>
      <p:sp>
        <p:nvSpPr>
          <p:cNvPr id="4" name="object 4"/>
          <p:cNvSpPr txBox="1">
            <a:spLocks noGrp="1"/>
          </p:cNvSpPr>
          <p:nvPr>
            <p:ph type="title"/>
          </p:nvPr>
        </p:nvSpPr>
        <p:spPr>
          <a:xfrm>
            <a:off x="759085" y="1230122"/>
            <a:ext cx="2924175" cy="453390"/>
          </a:xfrm>
          <a:prstGeom prst="rect">
            <a:avLst/>
          </a:prstGeom>
        </p:spPr>
        <p:txBody>
          <a:bodyPr vert="horz" wrap="square" lIns="0" tIns="13335" rIns="0" bIns="0" rtlCol="0">
            <a:spAutoFit/>
          </a:bodyPr>
          <a:lstStyle/>
          <a:p>
            <a:pPr marL="12700">
              <a:lnSpc>
                <a:spcPct val="100000"/>
              </a:lnSpc>
              <a:spcBef>
                <a:spcPts val="105"/>
              </a:spcBef>
            </a:pPr>
            <a:r>
              <a:rPr spc="-10" dirty="0"/>
              <a:t>ADC</a:t>
            </a:r>
            <a:r>
              <a:rPr spc="-20" dirty="0"/>
              <a:t>采样控制电路</a:t>
            </a:r>
          </a:p>
        </p:txBody>
      </p:sp>
      <p:pic>
        <p:nvPicPr>
          <p:cNvPr id="5" name="object 5"/>
          <p:cNvPicPr/>
          <p:nvPr/>
        </p:nvPicPr>
        <p:blipFill>
          <a:blip r:embed="rId2" cstate="print"/>
          <a:stretch>
            <a:fillRect/>
          </a:stretch>
        </p:blipFill>
        <p:spPr>
          <a:xfrm>
            <a:off x="4036961" y="1395222"/>
            <a:ext cx="5524782" cy="2590099"/>
          </a:xfrm>
          <a:prstGeom prst="rect">
            <a:avLst/>
          </a:prstGeom>
        </p:spPr>
      </p:pic>
      <p:sp>
        <p:nvSpPr>
          <p:cNvPr id="6" name="object 6"/>
          <p:cNvSpPr txBox="1"/>
          <p:nvPr/>
        </p:nvSpPr>
        <p:spPr>
          <a:xfrm>
            <a:off x="6494659" y="1448816"/>
            <a:ext cx="1630680" cy="346710"/>
          </a:xfrm>
          <a:prstGeom prst="rect">
            <a:avLst/>
          </a:prstGeom>
        </p:spPr>
        <p:txBody>
          <a:bodyPr vert="horz" wrap="square" lIns="0" tIns="13335" rIns="0" bIns="0" rtlCol="0">
            <a:spAutoFit/>
          </a:bodyPr>
          <a:lstStyle/>
          <a:p>
            <a:pPr marL="12700">
              <a:lnSpc>
                <a:spcPct val="100000"/>
              </a:lnSpc>
              <a:spcBef>
                <a:spcPts val="105"/>
              </a:spcBef>
            </a:pPr>
            <a:r>
              <a:rPr sz="2100" spc="-10" dirty="0">
                <a:latin typeface="宋体"/>
                <a:cs typeface="宋体"/>
              </a:rPr>
              <a:t>状态转移图：</a:t>
            </a:r>
            <a:endParaRPr sz="2100">
              <a:latin typeface="宋体"/>
              <a:cs typeface="宋体"/>
            </a:endParaRPr>
          </a:p>
        </p:txBody>
      </p:sp>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8" name="object 8"/>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35</a:t>
            </a:fld>
            <a:endParaRPr spc="-2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t>ADC采样控制电路</a:t>
            </a:r>
            <a:r>
              <a:rPr b="1" spc="-30" dirty="0">
                <a:latin typeface="宋体"/>
                <a:cs typeface="宋体"/>
              </a:rPr>
              <a:t>实现代码</a:t>
            </a:r>
            <a:r>
              <a:rPr b="1" spc="-50" dirty="0">
                <a:latin typeface="Calibri"/>
                <a:cs typeface="Calibri"/>
              </a:rPr>
              <a:t>1</a:t>
            </a:r>
          </a:p>
        </p:txBody>
      </p:sp>
      <p:grpSp>
        <p:nvGrpSpPr>
          <p:cNvPr id="3" name="object 3"/>
          <p:cNvGrpSpPr/>
          <p:nvPr/>
        </p:nvGrpSpPr>
        <p:grpSpPr>
          <a:xfrm>
            <a:off x="166763" y="1678685"/>
            <a:ext cx="4127500" cy="4219575"/>
            <a:chOff x="166763" y="1678685"/>
            <a:chExt cx="4127500" cy="4219575"/>
          </a:xfrm>
        </p:grpSpPr>
        <p:sp>
          <p:nvSpPr>
            <p:cNvPr id="4" name="object 4"/>
            <p:cNvSpPr/>
            <p:nvPr/>
          </p:nvSpPr>
          <p:spPr>
            <a:xfrm>
              <a:off x="171335" y="1683257"/>
              <a:ext cx="4118610" cy="4211320"/>
            </a:xfrm>
            <a:custGeom>
              <a:avLst/>
              <a:gdLst/>
              <a:ahLst/>
              <a:cxnLst/>
              <a:rect l="l" t="t" r="r" b="b"/>
              <a:pathLst>
                <a:path w="4118610" h="4211320">
                  <a:moveTo>
                    <a:pt x="4118610" y="4210812"/>
                  </a:moveTo>
                  <a:lnTo>
                    <a:pt x="4118610" y="0"/>
                  </a:lnTo>
                  <a:lnTo>
                    <a:pt x="0" y="0"/>
                  </a:lnTo>
                  <a:lnTo>
                    <a:pt x="0" y="4210812"/>
                  </a:lnTo>
                  <a:lnTo>
                    <a:pt x="4118610" y="4210812"/>
                  </a:lnTo>
                  <a:close/>
                </a:path>
              </a:pathLst>
            </a:custGeom>
            <a:solidFill>
              <a:srgbClr val="F9FABA"/>
            </a:solidFill>
          </p:spPr>
          <p:txBody>
            <a:bodyPr wrap="square" lIns="0" tIns="0" rIns="0" bIns="0" rtlCol="0"/>
            <a:lstStyle/>
            <a:p>
              <a:endParaRPr/>
            </a:p>
          </p:txBody>
        </p:sp>
        <p:sp>
          <p:nvSpPr>
            <p:cNvPr id="5" name="object 5"/>
            <p:cNvSpPr/>
            <p:nvPr/>
          </p:nvSpPr>
          <p:spPr>
            <a:xfrm>
              <a:off x="166763" y="1678685"/>
              <a:ext cx="4127500" cy="4219575"/>
            </a:xfrm>
            <a:custGeom>
              <a:avLst/>
              <a:gdLst/>
              <a:ahLst/>
              <a:cxnLst/>
              <a:rect l="l" t="t" r="r" b="b"/>
              <a:pathLst>
                <a:path w="4127500" h="4219575">
                  <a:moveTo>
                    <a:pt x="4126991" y="4217670"/>
                  </a:moveTo>
                  <a:lnTo>
                    <a:pt x="4126991" y="2285"/>
                  </a:lnTo>
                  <a:lnTo>
                    <a:pt x="4125467" y="0"/>
                  </a:lnTo>
                  <a:lnTo>
                    <a:pt x="1523" y="0"/>
                  </a:lnTo>
                  <a:lnTo>
                    <a:pt x="0" y="2286"/>
                  </a:lnTo>
                  <a:lnTo>
                    <a:pt x="0" y="4217670"/>
                  </a:lnTo>
                  <a:lnTo>
                    <a:pt x="1524" y="4219194"/>
                  </a:lnTo>
                  <a:lnTo>
                    <a:pt x="4572" y="4219194"/>
                  </a:lnTo>
                  <a:lnTo>
                    <a:pt x="4572" y="8382"/>
                  </a:lnTo>
                  <a:lnTo>
                    <a:pt x="8382" y="4572"/>
                  </a:lnTo>
                  <a:lnTo>
                    <a:pt x="8382" y="8382"/>
                  </a:lnTo>
                  <a:lnTo>
                    <a:pt x="4118610" y="8381"/>
                  </a:lnTo>
                  <a:lnTo>
                    <a:pt x="4118610" y="4571"/>
                  </a:lnTo>
                  <a:lnTo>
                    <a:pt x="4123182" y="8381"/>
                  </a:lnTo>
                  <a:lnTo>
                    <a:pt x="4123182" y="4219194"/>
                  </a:lnTo>
                  <a:lnTo>
                    <a:pt x="4125467" y="4219194"/>
                  </a:lnTo>
                  <a:lnTo>
                    <a:pt x="4126991" y="4217670"/>
                  </a:lnTo>
                  <a:close/>
                </a:path>
                <a:path w="4127500" h="4219575">
                  <a:moveTo>
                    <a:pt x="8382" y="8382"/>
                  </a:moveTo>
                  <a:lnTo>
                    <a:pt x="8382" y="4572"/>
                  </a:lnTo>
                  <a:lnTo>
                    <a:pt x="4572" y="8382"/>
                  </a:lnTo>
                  <a:lnTo>
                    <a:pt x="8382" y="8382"/>
                  </a:lnTo>
                  <a:close/>
                </a:path>
                <a:path w="4127500" h="4219575">
                  <a:moveTo>
                    <a:pt x="8382" y="4210812"/>
                  </a:moveTo>
                  <a:lnTo>
                    <a:pt x="8382" y="8382"/>
                  </a:lnTo>
                  <a:lnTo>
                    <a:pt x="4572" y="8382"/>
                  </a:lnTo>
                  <a:lnTo>
                    <a:pt x="4572" y="4210812"/>
                  </a:lnTo>
                  <a:lnTo>
                    <a:pt x="8382" y="4210812"/>
                  </a:lnTo>
                  <a:close/>
                </a:path>
                <a:path w="4127500" h="4219575">
                  <a:moveTo>
                    <a:pt x="4123182" y="4210812"/>
                  </a:moveTo>
                  <a:lnTo>
                    <a:pt x="4572" y="4210812"/>
                  </a:lnTo>
                  <a:lnTo>
                    <a:pt x="8382" y="4215384"/>
                  </a:lnTo>
                  <a:lnTo>
                    <a:pt x="8382" y="4219194"/>
                  </a:lnTo>
                  <a:lnTo>
                    <a:pt x="4118610" y="4219194"/>
                  </a:lnTo>
                  <a:lnTo>
                    <a:pt x="4118610" y="4215384"/>
                  </a:lnTo>
                  <a:lnTo>
                    <a:pt x="4123182" y="4210812"/>
                  </a:lnTo>
                  <a:close/>
                </a:path>
                <a:path w="4127500" h="4219575">
                  <a:moveTo>
                    <a:pt x="8382" y="4219194"/>
                  </a:moveTo>
                  <a:lnTo>
                    <a:pt x="8382" y="4215384"/>
                  </a:lnTo>
                  <a:lnTo>
                    <a:pt x="4572" y="4210812"/>
                  </a:lnTo>
                  <a:lnTo>
                    <a:pt x="4572" y="4219194"/>
                  </a:lnTo>
                  <a:lnTo>
                    <a:pt x="8382" y="4219194"/>
                  </a:lnTo>
                  <a:close/>
                </a:path>
                <a:path w="4127500" h="4219575">
                  <a:moveTo>
                    <a:pt x="4123182" y="8381"/>
                  </a:moveTo>
                  <a:lnTo>
                    <a:pt x="4118610" y="4571"/>
                  </a:lnTo>
                  <a:lnTo>
                    <a:pt x="4118610" y="8381"/>
                  </a:lnTo>
                  <a:lnTo>
                    <a:pt x="4123182" y="8381"/>
                  </a:lnTo>
                  <a:close/>
                </a:path>
                <a:path w="4127500" h="4219575">
                  <a:moveTo>
                    <a:pt x="4123182" y="4210812"/>
                  </a:moveTo>
                  <a:lnTo>
                    <a:pt x="4123182" y="8381"/>
                  </a:lnTo>
                  <a:lnTo>
                    <a:pt x="4118610" y="8381"/>
                  </a:lnTo>
                  <a:lnTo>
                    <a:pt x="4118610" y="4210812"/>
                  </a:lnTo>
                  <a:lnTo>
                    <a:pt x="4123182" y="4210812"/>
                  </a:lnTo>
                  <a:close/>
                </a:path>
                <a:path w="4127500" h="4219575">
                  <a:moveTo>
                    <a:pt x="4123182" y="4219194"/>
                  </a:moveTo>
                  <a:lnTo>
                    <a:pt x="4123182" y="4210812"/>
                  </a:lnTo>
                  <a:lnTo>
                    <a:pt x="4118610" y="4215384"/>
                  </a:lnTo>
                  <a:lnTo>
                    <a:pt x="4118610" y="4219194"/>
                  </a:lnTo>
                  <a:lnTo>
                    <a:pt x="4123182" y="4219194"/>
                  </a:lnTo>
                  <a:close/>
                </a:path>
              </a:pathLst>
            </a:custGeom>
            <a:solidFill>
              <a:srgbClr val="FF0000"/>
            </a:solidFill>
          </p:spPr>
          <p:txBody>
            <a:bodyPr wrap="square" lIns="0" tIns="0" rIns="0" bIns="0" rtlCol="0"/>
            <a:lstStyle/>
            <a:p>
              <a:endParaRPr/>
            </a:p>
          </p:txBody>
        </p:sp>
      </p:grpSp>
      <p:sp>
        <p:nvSpPr>
          <p:cNvPr id="6" name="object 6"/>
          <p:cNvSpPr txBox="1"/>
          <p:nvPr/>
        </p:nvSpPr>
        <p:spPr>
          <a:xfrm>
            <a:off x="237877" y="1704847"/>
            <a:ext cx="3942715" cy="3873500"/>
          </a:xfrm>
          <a:prstGeom prst="rect">
            <a:avLst/>
          </a:prstGeom>
        </p:spPr>
        <p:txBody>
          <a:bodyPr vert="horz" wrap="square" lIns="0" tIns="12065" rIns="0" bIns="0" rtlCol="0">
            <a:spAutoFit/>
          </a:bodyPr>
          <a:lstStyle/>
          <a:p>
            <a:pPr marL="179070" marR="2441575" indent="-167005">
              <a:lnSpc>
                <a:spcPct val="101600"/>
              </a:lnSpc>
              <a:spcBef>
                <a:spcPts val="95"/>
              </a:spcBef>
            </a:pPr>
            <a:r>
              <a:rPr sz="1550" dirty="0">
                <a:latin typeface="Arial"/>
                <a:cs typeface="Arial"/>
              </a:rPr>
              <a:t>module</a:t>
            </a:r>
            <a:r>
              <a:rPr sz="1550" spc="35" dirty="0">
                <a:latin typeface="Arial"/>
                <a:cs typeface="Arial"/>
              </a:rPr>
              <a:t> </a:t>
            </a:r>
            <a:r>
              <a:rPr sz="1550" spc="-10" dirty="0">
                <a:latin typeface="Arial"/>
                <a:cs typeface="Arial"/>
              </a:rPr>
              <a:t>adc0809 </a:t>
            </a:r>
            <a:r>
              <a:rPr sz="1550" spc="-50" dirty="0">
                <a:latin typeface="Arial"/>
                <a:cs typeface="Arial"/>
              </a:rPr>
              <a:t>(</a:t>
            </a:r>
            <a:endParaRPr sz="1550">
              <a:latin typeface="Arial"/>
              <a:cs typeface="Arial"/>
            </a:endParaRPr>
          </a:p>
          <a:p>
            <a:pPr marL="12700" marR="69215" indent="277495">
              <a:lnSpc>
                <a:spcPts val="1889"/>
              </a:lnSpc>
              <a:spcBef>
                <a:spcPts val="65"/>
              </a:spcBef>
            </a:pPr>
            <a:r>
              <a:rPr sz="1550" b="1" dirty="0">
                <a:latin typeface="Arial"/>
                <a:cs typeface="Arial"/>
              </a:rPr>
              <a:t>input</a:t>
            </a:r>
            <a:r>
              <a:rPr sz="1550" b="1" spc="500" dirty="0">
                <a:latin typeface="Arial"/>
                <a:cs typeface="Arial"/>
              </a:rPr>
              <a:t> </a:t>
            </a:r>
            <a:r>
              <a:rPr sz="1550" dirty="0">
                <a:latin typeface="Arial"/>
                <a:cs typeface="Arial"/>
              </a:rPr>
              <a:t>clk, reset</a:t>
            </a:r>
            <a:r>
              <a:rPr sz="1550" dirty="0">
                <a:solidFill>
                  <a:srgbClr val="00B0EF"/>
                </a:solidFill>
                <a:latin typeface="Arial"/>
                <a:cs typeface="Arial"/>
              </a:rPr>
              <a:t>,//</a:t>
            </a:r>
            <a:r>
              <a:rPr sz="1550" spc="-5" dirty="0">
                <a:solidFill>
                  <a:srgbClr val="00B0EF"/>
                </a:solidFill>
                <a:latin typeface="微软雅黑"/>
                <a:cs typeface="微软雅黑"/>
              </a:rPr>
              <a:t>状态机工作时钟和系统</a:t>
            </a:r>
            <a:r>
              <a:rPr sz="1550" spc="-15" dirty="0">
                <a:solidFill>
                  <a:srgbClr val="00B0EF"/>
                </a:solidFill>
                <a:latin typeface="微软雅黑"/>
                <a:cs typeface="微软雅黑"/>
              </a:rPr>
              <a:t>复位控制</a:t>
            </a:r>
            <a:endParaRPr sz="1550">
              <a:latin typeface="微软雅黑"/>
              <a:cs typeface="微软雅黑"/>
            </a:endParaRPr>
          </a:p>
          <a:p>
            <a:pPr marL="234950">
              <a:lnSpc>
                <a:spcPts val="1830"/>
              </a:lnSpc>
            </a:pPr>
            <a:r>
              <a:rPr sz="1550" b="1" dirty="0">
                <a:latin typeface="Arial"/>
                <a:cs typeface="Arial"/>
              </a:rPr>
              <a:t>input</a:t>
            </a:r>
            <a:r>
              <a:rPr sz="1550" b="1" spc="85" dirty="0">
                <a:latin typeface="Arial"/>
                <a:cs typeface="Arial"/>
              </a:rPr>
              <a:t> </a:t>
            </a:r>
            <a:r>
              <a:rPr sz="1550" dirty="0">
                <a:latin typeface="Arial"/>
                <a:cs typeface="Arial"/>
              </a:rPr>
              <a:t>start</a:t>
            </a:r>
            <a:r>
              <a:rPr sz="1550" dirty="0">
                <a:latin typeface="微软雅黑"/>
                <a:cs typeface="微软雅黑"/>
              </a:rPr>
              <a:t>，</a:t>
            </a:r>
            <a:r>
              <a:rPr sz="1550" dirty="0">
                <a:latin typeface="Arial"/>
                <a:cs typeface="Arial"/>
              </a:rPr>
              <a:t>eoc,</a:t>
            </a:r>
            <a:r>
              <a:rPr sz="1550" spc="85" dirty="0">
                <a:latin typeface="Arial"/>
                <a:cs typeface="Arial"/>
              </a:rPr>
              <a:t>  </a:t>
            </a:r>
            <a:r>
              <a:rPr sz="1550" dirty="0">
                <a:solidFill>
                  <a:srgbClr val="00B0EF"/>
                </a:solidFill>
                <a:latin typeface="Arial"/>
                <a:cs typeface="Arial"/>
              </a:rPr>
              <a:t>//AADC</a:t>
            </a:r>
            <a:r>
              <a:rPr sz="1550" spc="-10" dirty="0">
                <a:solidFill>
                  <a:srgbClr val="00B0EF"/>
                </a:solidFill>
                <a:latin typeface="微软雅黑"/>
                <a:cs typeface="微软雅黑"/>
              </a:rPr>
              <a:t>转换启动信号和</a:t>
            </a:r>
            <a:endParaRPr sz="1550">
              <a:latin typeface="微软雅黑"/>
              <a:cs typeface="微软雅黑"/>
            </a:endParaRPr>
          </a:p>
          <a:p>
            <a:pPr marL="12700">
              <a:lnSpc>
                <a:spcPct val="100000"/>
              </a:lnSpc>
              <a:spcBef>
                <a:spcPts val="35"/>
              </a:spcBef>
            </a:pPr>
            <a:r>
              <a:rPr sz="1550" spc="-10" dirty="0">
                <a:solidFill>
                  <a:srgbClr val="00B0EF"/>
                </a:solidFill>
                <a:latin typeface="微软雅黑"/>
                <a:cs typeface="微软雅黑"/>
              </a:rPr>
              <a:t>转换结束标志信号</a:t>
            </a:r>
            <a:endParaRPr sz="1550">
              <a:latin typeface="微软雅黑"/>
              <a:cs typeface="微软雅黑"/>
            </a:endParaRPr>
          </a:p>
          <a:p>
            <a:pPr marL="234950">
              <a:lnSpc>
                <a:spcPct val="100000"/>
              </a:lnSpc>
              <a:spcBef>
                <a:spcPts val="30"/>
              </a:spcBef>
            </a:pPr>
            <a:r>
              <a:rPr sz="1550" b="1" dirty="0">
                <a:latin typeface="Arial"/>
                <a:cs typeface="Arial"/>
              </a:rPr>
              <a:t>input</a:t>
            </a:r>
            <a:r>
              <a:rPr sz="1550" b="1" spc="110" dirty="0">
                <a:latin typeface="Arial"/>
                <a:cs typeface="Arial"/>
              </a:rPr>
              <a:t> </a:t>
            </a:r>
            <a:r>
              <a:rPr sz="1550" dirty="0">
                <a:latin typeface="Arial"/>
                <a:cs typeface="Arial"/>
              </a:rPr>
              <a:t>[7:0</a:t>
            </a:r>
            <a:r>
              <a:rPr sz="1550" spc="60" dirty="0">
                <a:latin typeface="Arial"/>
                <a:cs typeface="Arial"/>
              </a:rPr>
              <a:t>] </a:t>
            </a:r>
            <a:r>
              <a:rPr sz="1550" dirty="0">
                <a:latin typeface="Arial"/>
                <a:cs typeface="Arial"/>
              </a:rPr>
              <a:t>data</a:t>
            </a:r>
            <a:r>
              <a:rPr sz="1550" dirty="0">
                <a:solidFill>
                  <a:srgbClr val="00B0EF"/>
                </a:solidFill>
                <a:latin typeface="Arial"/>
                <a:cs typeface="Arial"/>
              </a:rPr>
              <a:t>,//</a:t>
            </a:r>
            <a:r>
              <a:rPr sz="1550" dirty="0">
                <a:solidFill>
                  <a:srgbClr val="00B0EF"/>
                </a:solidFill>
                <a:latin typeface="微软雅黑"/>
                <a:cs typeface="微软雅黑"/>
              </a:rPr>
              <a:t>来自</a:t>
            </a:r>
            <a:r>
              <a:rPr sz="1550" dirty="0">
                <a:solidFill>
                  <a:srgbClr val="00B0EF"/>
                </a:solidFill>
                <a:latin typeface="Arial"/>
                <a:cs typeface="Arial"/>
              </a:rPr>
              <a:t>ADC</a:t>
            </a:r>
            <a:r>
              <a:rPr sz="1550" spc="-10" dirty="0">
                <a:solidFill>
                  <a:srgbClr val="00B0EF"/>
                </a:solidFill>
                <a:latin typeface="微软雅黑"/>
                <a:cs typeface="微软雅黑"/>
              </a:rPr>
              <a:t>的数据总线</a:t>
            </a:r>
            <a:endParaRPr sz="1550">
              <a:latin typeface="微软雅黑"/>
              <a:cs typeface="微软雅黑"/>
            </a:endParaRPr>
          </a:p>
          <a:p>
            <a:pPr marL="234950">
              <a:lnSpc>
                <a:spcPct val="101800"/>
              </a:lnSpc>
            </a:pPr>
            <a:r>
              <a:rPr sz="1550" b="1" dirty="0">
                <a:latin typeface="Arial"/>
                <a:cs typeface="Arial"/>
              </a:rPr>
              <a:t>output</a:t>
            </a:r>
            <a:r>
              <a:rPr sz="1550" b="1" spc="120" dirty="0">
                <a:latin typeface="Arial"/>
                <a:cs typeface="Arial"/>
              </a:rPr>
              <a:t> </a:t>
            </a:r>
            <a:r>
              <a:rPr sz="1550" dirty="0">
                <a:latin typeface="Arial"/>
                <a:cs typeface="Arial"/>
              </a:rPr>
              <a:t>[2:0</a:t>
            </a:r>
            <a:r>
              <a:rPr sz="1550" spc="60" dirty="0">
                <a:latin typeface="Arial"/>
                <a:cs typeface="Arial"/>
              </a:rPr>
              <a:t>] </a:t>
            </a:r>
            <a:r>
              <a:rPr sz="1550" spc="-10" dirty="0">
                <a:latin typeface="Arial"/>
                <a:cs typeface="Arial"/>
              </a:rPr>
              <a:t>addr</a:t>
            </a:r>
            <a:r>
              <a:rPr sz="1550" spc="-10" dirty="0">
                <a:solidFill>
                  <a:srgbClr val="00B0EF"/>
                </a:solidFill>
                <a:latin typeface="Arial"/>
                <a:cs typeface="Arial"/>
              </a:rPr>
              <a:t>,//ADC</a:t>
            </a:r>
            <a:r>
              <a:rPr sz="1550" spc="-10" dirty="0">
                <a:solidFill>
                  <a:srgbClr val="00B0EF"/>
                </a:solidFill>
                <a:latin typeface="微软雅黑"/>
                <a:cs typeface="微软雅黑"/>
              </a:rPr>
              <a:t>输入通道选择地址</a:t>
            </a:r>
            <a:r>
              <a:rPr sz="1550" spc="-50" dirty="0">
                <a:solidFill>
                  <a:srgbClr val="00B0EF"/>
                </a:solidFill>
                <a:latin typeface="微软雅黑"/>
                <a:cs typeface="微软雅黑"/>
              </a:rPr>
              <a:t> </a:t>
            </a:r>
            <a:r>
              <a:rPr sz="1550" b="1" dirty="0">
                <a:latin typeface="Arial"/>
                <a:cs typeface="Arial"/>
              </a:rPr>
              <a:t>output</a:t>
            </a:r>
            <a:r>
              <a:rPr sz="1550" b="1" spc="245" dirty="0">
                <a:latin typeface="Arial"/>
                <a:cs typeface="Arial"/>
              </a:rPr>
              <a:t> </a:t>
            </a:r>
            <a:r>
              <a:rPr sz="1550" dirty="0">
                <a:latin typeface="Arial"/>
                <a:cs typeface="Arial"/>
              </a:rPr>
              <a:t>ale</a:t>
            </a:r>
            <a:r>
              <a:rPr sz="1550" dirty="0">
                <a:solidFill>
                  <a:srgbClr val="00B0EF"/>
                </a:solidFill>
                <a:latin typeface="Arial"/>
                <a:cs typeface="Arial"/>
              </a:rPr>
              <a:t>,//</a:t>
            </a:r>
            <a:r>
              <a:rPr sz="1550" spc="-5" dirty="0">
                <a:solidFill>
                  <a:srgbClr val="00B0EF"/>
                </a:solidFill>
                <a:latin typeface="微软雅黑"/>
                <a:cs typeface="微软雅黑"/>
              </a:rPr>
              <a:t>模拟通道地址输入锁存信号</a:t>
            </a:r>
            <a:r>
              <a:rPr sz="1550" spc="-50" dirty="0">
                <a:solidFill>
                  <a:srgbClr val="00B0EF"/>
                </a:solidFill>
                <a:latin typeface="微软雅黑"/>
                <a:cs typeface="微软雅黑"/>
              </a:rPr>
              <a:t> </a:t>
            </a:r>
            <a:r>
              <a:rPr sz="1550" b="1" dirty="0">
                <a:latin typeface="Arial"/>
                <a:cs typeface="Arial"/>
              </a:rPr>
              <a:t>output</a:t>
            </a:r>
            <a:r>
              <a:rPr sz="1550" b="1" spc="75" dirty="0">
                <a:latin typeface="Arial"/>
                <a:cs typeface="Arial"/>
              </a:rPr>
              <a:t> </a:t>
            </a:r>
            <a:r>
              <a:rPr sz="1550" dirty="0">
                <a:latin typeface="Arial"/>
                <a:cs typeface="Arial"/>
              </a:rPr>
              <a:t>oe</a:t>
            </a:r>
            <a:r>
              <a:rPr sz="1550" spc="85" dirty="0">
                <a:latin typeface="Arial"/>
                <a:cs typeface="Arial"/>
              </a:rPr>
              <a:t> </a:t>
            </a:r>
            <a:r>
              <a:rPr sz="1550" dirty="0">
                <a:solidFill>
                  <a:srgbClr val="00B0EF"/>
                </a:solidFill>
                <a:latin typeface="Arial"/>
                <a:cs typeface="Arial"/>
              </a:rPr>
              <a:t>//ADC</a:t>
            </a:r>
            <a:r>
              <a:rPr sz="1550" spc="-10" dirty="0">
                <a:solidFill>
                  <a:srgbClr val="00B0EF"/>
                </a:solidFill>
                <a:latin typeface="微软雅黑"/>
                <a:cs typeface="微软雅黑"/>
              </a:rPr>
              <a:t>数据输出使能</a:t>
            </a:r>
            <a:endParaRPr sz="1550">
              <a:latin typeface="微软雅黑"/>
              <a:cs typeface="微软雅黑"/>
            </a:endParaRPr>
          </a:p>
          <a:p>
            <a:pPr marL="179070">
              <a:lnSpc>
                <a:spcPct val="100000"/>
              </a:lnSpc>
              <a:spcBef>
                <a:spcPts val="50"/>
              </a:spcBef>
            </a:pPr>
            <a:r>
              <a:rPr sz="1550" dirty="0">
                <a:latin typeface="Arial"/>
                <a:cs typeface="Arial"/>
              </a:rPr>
              <a:t>)</a:t>
            </a:r>
            <a:r>
              <a:rPr sz="1550" spc="20" dirty="0">
                <a:latin typeface="Arial"/>
                <a:cs typeface="Arial"/>
              </a:rPr>
              <a:t> </a:t>
            </a:r>
            <a:r>
              <a:rPr sz="1550" spc="-50" dirty="0">
                <a:latin typeface="Arial"/>
                <a:cs typeface="Arial"/>
              </a:rPr>
              <a:t>;</a:t>
            </a:r>
            <a:endParaRPr sz="1550">
              <a:latin typeface="Arial"/>
              <a:cs typeface="Arial"/>
            </a:endParaRPr>
          </a:p>
          <a:p>
            <a:pPr marL="123825" marR="971550">
              <a:lnSpc>
                <a:spcPts val="1910"/>
              </a:lnSpc>
              <a:spcBef>
                <a:spcPts val="40"/>
              </a:spcBef>
            </a:pPr>
            <a:r>
              <a:rPr sz="1550" b="1" dirty="0">
                <a:latin typeface="Arial"/>
                <a:cs typeface="Arial"/>
              </a:rPr>
              <a:t>localparam</a:t>
            </a:r>
            <a:r>
              <a:rPr sz="1550" spc="15" dirty="0">
                <a:latin typeface="Arial"/>
                <a:cs typeface="Arial"/>
              </a:rPr>
              <a:t>[ </a:t>
            </a:r>
            <a:r>
              <a:rPr sz="1550" dirty="0">
                <a:latin typeface="Arial"/>
                <a:cs typeface="Arial"/>
              </a:rPr>
              <a:t>1:</a:t>
            </a:r>
            <a:r>
              <a:rPr sz="1550" spc="40" dirty="0">
                <a:latin typeface="Arial"/>
                <a:cs typeface="Arial"/>
              </a:rPr>
              <a:t> </a:t>
            </a:r>
            <a:r>
              <a:rPr sz="1550" dirty="0">
                <a:latin typeface="Arial"/>
                <a:cs typeface="Arial"/>
              </a:rPr>
              <a:t>0</a:t>
            </a:r>
            <a:r>
              <a:rPr sz="1550" spc="30" dirty="0">
                <a:latin typeface="Arial"/>
                <a:cs typeface="Arial"/>
              </a:rPr>
              <a:t> ]  </a:t>
            </a:r>
            <a:r>
              <a:rPr sz="1550" dirty="0">
                <a:solidFill>
                  <a:srgbClr val="00B0EF"/>
                </a:solidFill>
                <a:latin typeface="Arial"/>
                <a:cs typeface="Arial"/>
              </a:rPr>
              <a:t>//</a:t>
            </a:r>
            <a:r>
              <a:rPr sz="1550" spc="-10" dirty="0">
                <a:solidFill>
                  <a:srgbClr val="00B0EF"/>
                </a:solidFill>
                <a:latin typeface="微软雅黑"/>
                <a:cs typeface="微软雅黑"/>
              </a:rPr>
              <a:t>定义各状态</a:t>
            </a:r>
            <a:r>
              <a:rPr sz="1550" spc="-50" dirty="0">
                <a:solidFill>
                  <a:srgbClr val="00B0EF"/>
                </a:solidFill>
                <a:latin typeface="微软雅黑"/>
                <a:cs typeface="微软雅黑"/>
              </a:rPr>
              <a:t> </a:t>
            </a:r>
            <a:r>
              <a:rPr sz="1550" dirty="0">
                <a:latin typeface="Arial"/>
                <a:cs typeface="Arial"/>
              </a:rPr>
              <a:t>s0</a:t>
            </a:r>
            <a:r>
              <a:rPr sz="1550" spc="10" dirty="0">
                <a:latin typeface="Arial"/>
                <a:cs typeface="Arial"/>
              </a:rPr>
              <a:t> = </a:t>
            </a:r>
            <a:r>
              <a:rPr sz="1550" dirty="0">
                <a:latin typeface="Arial"/>
                <a:cs typeface="Arial"/>
              </a:rPr>
              <a:t>2’b00</a:t>
            </a:r>
            <a:r>
              <a:rPr sz="1550" spc="-15" dirty="0">
                <a:latin typeface="Arial"/>
                <a:cs typeface="Arial"/>
              </a:rPr>
              <a:t> ,</a:t>
            </a:r>
            <a:endParaRPr sz="1550">
              <a:latin typeface="Arial"/>
              <a:cs typeface="Arial"/>
            </a:endParaRPr>
          </a:p>
          <a:p>
            <a:pPr marL="123825">
              <a:lnSpc>
                <a:spcPts val="1814"/>
              </a:lnSpc>
            </a:pPr>
            <a:r>
              <a:rPr sz="1550" dirty="0">
                <a:latin typeface="Arial"/>
                <a:cs typeface="Arial"/>
              </a:rPr>
              <a:t>s1</a:t>
            </a:r>
            <a:r>
              <a:rPr sz="1550" spc="20" dirty="0">
                <a:latin typeface="Arial"/>
                <a:cs typeface="Arial"/>
              </a:rPr>
              <a:t> </a:t>
            </a:r>
            <a:r>
              <a:rPr sz="1550" dirty="0">
                <a:latin typeface="Arial"/>
                <a:cs typeface="Arial"/>
              </a:rPr>
              <a:t>=</a:t>
            </a:r>
            <a:r>
              <a:rPr sz="1550" spc="20" dirty="0">
                <a:latin typeface="Arial"/>
                <a:cs typeface="Arial"/>
              </a:rPr>
              <a:t> </a:t>
            </a:r>
            <a:r>
              <a:rPr sz="1550" dirty="0">
                <a:latin typeface="Arial"/>
                <a:cs typeface="Arial"/>
              </a:rPr>
              <a:t>2’b01</a:t>
            </a:r>
            <a:r>
              <a:rPr sz="1550" spc="20" dirty="0">
                <a:latin typeface="Arial"/>
                <a:cs typeface="Arial"/>
              </a:rPr>
              <a:t> </a:t>
            </a:r>
            <a:r>
              <a:rPr sz="1550" spc="-50" dirty="0">
                <a:latin typeface="Arial"/>
                <a:cs typeface="Arial"/>
              </a:rPr>
              <a:t>,</a:t>
            </a:r>
            <a:endParaRPr sz="1550">
              <a:latin typeface="Arial"/>
              <a:cs typeface="Arial"/>
            </a:endParaRPr>
          </a:p>
          <a:p>
            <a:pPr marL="123825" marR="2840990">
              <a:lnSpc>
                <a:spcPct val="101899"/>
              </a:lnSpc>
            </a:pPr>
            <a:r>
              <a:rPr sz="1550" dirty="0">
                <a:latin typeface="Arial"/>
                <a:cs typeface="Arial"/>
              </a:rPr>
              <a:t>s2</a:t>
            </a:r>
            <a:r>
              <a:rPr sz="1550" spc="10" dirty="0">
                <a:latin typeface="Arial"/>
                <a:cs typeface="Arial"/>
              </a:rPr>
              <a:t> </a:t>
            </a:r>
            <a:r>
              <a:rPr sz="1550" dirty="0">
                <a:latin typeface="Arial"/>
                <a:cs typeface="Arial"/>
              </a:rPr>
              <a:t>=</a:t>
            </a:r>
            <a:r>
              <a:rPr sz="1550" spc="15" dirty="0">
                <a:latin typeface="Arial"/>
                <a:cs typeface="Arial"/>
              </a:rPr>
              <a:t> </a:t>
            </a:r>
            <a:r>
              <a:rPr sz="1550" spc="-10" dirty="0">
                <a:latin typeface="Arial"/>
                <a:cs typeface="Arial"/>
              </a:rPr>
              <a:t>2’b10 </a:t>
            </a:r>
            <a:r>
              <a:rPr sz="1550" dirty="0">
                <a:latin typeface="Arial"/>
                <a:cs typeface="Arial"/>
              </a:rPr>
              <a:t>s3</a:t>
            </a:r>
            <a:r>
              <a:rPr sz="1550" spc="10" dirty="0">
                <a:latin typeface="Arial"/>
                <a:cs typeface="Arial"/>
              </a:rPr>
              <a:t> </a:t>
            </a:r>
            <a:r>
              <a:rPr sz="1550" dirty="0">
                <a:latin typeface="Arial"/>
                <a:cs typeface="Arial"/>
              </a:rPr>
              <a:t>=</a:t>
            </a:r>
            <a:r>
              <a:rPr sz="1550" spc="15" dirty="0">
                <a:latin typeface="Arial"/>
                <a:cs typeface="Arial"/>
              </a:rPr>
              <a:t> </a:t>
            </a:r>
            <a:r>
              <a:rPr sz="1550" spc="-10" dirty="0">
                <a:latin typeface="Arial"/>
                <a:cs typeface="Arial"/>
              </a:rPr>
              <a:t>2’b11;</a:t>
            </a:r>
            <a:endParaRPr sz="1550">
              <a:latin typeface="Arial"/>
              <a:cs typeface="Arial"/>
            </a:endParaRPr>
          </a:p>
        </p:txBody>
      </p:sp>
      <p:grpSp>
        <p:nvGrpSpPr>
          <p:cNvPr id="7" name="object 7"/>
          <p:cNvGrpSpPr/>
          <p:nvPr/>
        </p:nvGrpSpPr>
        <p:grpSpPr>
          <a:xfrm>
            <a:off x="4968887" y="1578863"/>
            <a:ext cx="5013960" cy="2276475"/>
            <a:chOff x="4968887" y="1578863"/>
            <a:chExt cx="5013960" cy="2276475"/>
          </a:xfrm>
        </p:grpSpPr>
        <p:sp>
          <p:nvSpPr>
            <p:cNvPr id="8" name="object 8"/>
            <p:cNvSpPr/>
            <p:nvPr/>
          </p:nvSpPr>
          <p:spPr>
            <a:xfrm>
              <a:off x="4972697" y="1583435"/>
              <a:ext cx="5006340" cy="2266950"/>
            </a:xfrm>
            <a:custGeom>
              <a:avLst/>
              <a:gdLst/>
              <a:ahLst/>
              <a:cxnLst/>
              <a:rect l="l" t="t" r="r" b="b"/>
              <a:pathLst>
                <a:path w="5006340" h="2266950">
                  <a:moveTo>
                    <a:pt x="5006340" y="2266950"/>
                  </a:moveTo>
                  <a:lnTo>
                    <a:pt x="5006340" y="0"/>
                  </a:lnTo>
                  <a:lnTo>
                    <a:pt x="0" y="0"/>
                  </a:lnTo>
                  <a:lnTo>
                    <a:pt x="0" y="2266950"/>
                  </a:lnTo>
                  <a:lnTo>
                    <a:pt x="5006340" y="2266950"/>
                  </a:lnTo>
                  <a:close/>
                </a:path>
              </a:pathLst>
            </a:custGeom>
            <a:solidFill>
              <a:srgbClr val="F9FABA"/>
            </a:solidFill>
          </p:spPr>
          <p:txBody>
            <a:bodyPr wrap="square" lIns="0" tIns="0" rIns="0" bIns="0" rtlCol="0"/>
            <a:lstStyle/>
            <a:p>
              <a:endParaRPr/>
            </a:p>
          </p:txBody>
        </p:sp>
        <p:sp>
          <p:nvSpPr>
            <p:cNvPr id="9" name="object 9"/>
            <p:cNvSpPr/>
            <p:nvPr/>
          </p:nvSpPr>
          <p:spPr>
            <a:xfrm>
              <a:off x="4968887" y="1578863"/>
              <a:ext cx="5013960" cy="2276475"/>
            </a:xfrm>
            <a:custGeom>
              <a:avLst/>
              <a:gdLst/>
              <a:ahLst/>
              <a:cxnLst/>
              <a:rect l="l" t="t" r="r" b="b"/>
              <a:pathLst>
                <a:path w="5013959" h="2276475">
                  <a:moveTo>
                    <a:pt x="5013960" y="2273808"/>
                  </a:moveTo>
                  <a:lnTo>
                    <a:pt x="5013960" y="2285"/>
                  </a:lnTo>
                  <a:lnTo>
                    <a:pt x="5012436" y="0"/>
                  </a:lnTo>
                  <a:lnTo>
                    <a:pt x="1523" y="0"/>
                  </a:lnTo>
                  <a:lnTo>
                    <a:pt x="0" y="2286"/>
                  </a:lnTo>
                  <a:lnTo>
                    <a:pt x="0" y="2273808"/>
                  </a:lnTo>
                  <a:lnTo>
                    <a:pt x="1524" y="2276094"/>
                  </a:lnTo>
                  <a:lnTo>
                    <a:pt x="3810" y="2276094"/>
                  </a:lnTo>
                  <a:lnTo>
                    <a:pt x="3810" y="8382"/>
                  </a:lnTo>
                  <a:lnTo>
                    <a:pt x="8381" y="4572"/>
                  </a:lnTo>
                  <a:lnTo>
                    <a:pt x="8381" y="8382"/>
                  </a:lnTo>
                  <a:lnTo>
                    <a:pt x="5005578" y="8381"/>
                  </a:lnTo>
                  <a:lnTo>
                    <a:pt x="5005578" y="4571"/>
                  </a:lnTo>
                  <a:lnTo>
                    <a:pt x="5010150" y="8381"/>
                  </a:lnTo>
                  <a:lnTo>
                    <a:pt x="5010150" y="2276094"/>
                  </a:lnTo>
                  <a:lnTo>
                    <a:pt x="5012436" y="2276094"/>
                  </a:lnTo>
                  <a:lnTo>
                    <a:pt x="5013960" y="2273808"/>
                  </a:lnTo>
                  <a:close/>
                </a:path>
                <a:path w="5013959" h="2276475">
                  <a:moveTo>
                    <a:pt x="8381" y="8382"/>
                  </a:moveTo>
                  <a:lnTo>
                    <a:pt x="8381" y="4572"/>
                  </a:lnTo>
                  <a:lnTo>
                    <a:pt x="3810" y="8382"/>
                  </a:lnTo>
                  <a:lnTo>
                    <a:pt x="8381" y="8382"/>
                  </a:lnTo>
                  <a:close/>
                </a:path>
                <a:path w="5013959" h="2276475">
                  <a:moveTo>
                    <a:pt x="8381" y="2267712"/>
                  </a:moveTo>
                  <a:lnTo>
                    <a:pt x="8381" y="8382"/>
                  </a:lnTo>
                  <a:lnTo>
                    <a:pt x="3810" y="8382"/>
                  </a:lnTo>
                  <a:lnTo>
                    <a:pt x="3810" y="2267712"/>
                  </a:lnTo>
                  <a:lnTo>
                    <a:pt x="8381" y="2267712"/>
                  </a:lnTo>
                  <a:close/>
                </a:path>
                <a:path w="5013959" h="2276475">
                  <a:moveTo>
                    <a:pt x="5010150" y="2267711"/>
                  </a:moveTo>
                  <a:lnTo>
                    <a:pt x="3810" y="2267712"/>
                  </a:lnTo>
                  <a:lnTo>
                    <a:pt x="8381" y="2271522"/>
                  </a:lnTo>
                  <a:lnTo>
                    <a:pt x="8381" y="2276094"/>
                  </a:lnTo>
                  <a:lnTo>
                    <a:pt x="5005578" y="2276094"/>
                  </a:lnTo>
                  <a:lnTo>
                    <a:pt x="5005578" y="2271522"/>
                  </a:lnTo>
                  <a:lnTo>
                    <a:pt x="5010150" y="2267711"/>
                  </a:lnTo>
                  <a:close/>
                </a:path>
                <a:path w="5013959" h="2276475">
                  <a:moveTo>
                    <a:pt x="8381" y="2276094"/>
                  </a:moveTo>
                  <a:lnTo>
                    <a:pt x="8381" y="2271522"/>
                  </a:lnTo>
                  <a:lnTo>
                    <a:pt x="3810" y="2267712"/>
                  </a:lnTo>
                  <a:lnTo>
                    <a:pt x="3810" y="2276094"/>
                  </a:lnTo>
                  <a:lnTo>
                    <a:pt x="8381" y="2276094"/>
                  </a:lnTo>
                  <a:close/>
                </a:path>
                <a:path w="5013959" h="2276475">
                  <a:moveTo>
                    <a:pt x="5010150" y="8381"/>
                  </a:moveTo>
                  <a:lnTo>
                    <a:pt x="5005578" y="4571"/>
                  </a:lnTo>
                  <a:lnTo>
                    <a:pt x="5005578" y="8381"/>
                  </a:lnTo>
                  <a:lnTo>
                    <a:pt x="5010150" y="8381"/>
                  </a:lnTo>
                  <a:close/>
                </a:path>
                <a:path w="5013959" h="2276475">
                  <a:moveTo>
                    <a:pt x="5010150" y="2267711"/>
                  </a:moveTo>
                  <a:lnTo>
                    <a:pt x="5010150" y="8381"/>
                  </a:lnTo>
                  <a:lnTo>
                    <a:pt x="5005578" y="8381"/>
                  </a:lnTo>
                  <a:lnTo>
                    <a:pt x="5005578" y="2267711"/>
                  </a:lnTo>
                  <a:lnTo>
                    <a:pt x="5010150" y="2267711"/>
                  </a:lnTo>
                  <a:close/>
                </a:path>
                <a:path w="5013959" h="2276475">
                  <a:moveTo>
                    <a:pt x="5010150" y="2276094"/>
                  </a:moveTo>
                  <a:lnTo>
                    <a:pt x="5010150" y="2267711"/>
                  </a:lnTo>
                  <a:lnTo>
                    <a:pt x="5005578" y="2271522"/>
                  </a:lnTo>
                  <a:lnTo>
                    <a:pt x="5005578" y="2276094"/>
                  </a:lnTo>
                  <a:lnTo>
                    <a:pt x="5010150" y="2276094"/>
                  </a:lnTo>
                  <a:close/>
                </a:path>
              </a:pathLst>
            </a:custGeom>
            <a:solidFill>
              <a:srgbClr val="FF0000"/>
            </a:solidFill>
          </p:spPr>
          <p:txBody>
            <a:bodyPr wrap="square" lIns="0" tIns="0" rIns="0" bIns="0" rtlCol="0"/>
            <a:lstStyle/>
            <a:p>
              <a:endParaRPr/>
            </a:p>
          </p:txBody>
        </p:sp>
      </p:grpSp>
      <p:sp>
        <p:nvSpPr>
          <p:cNvPr id="10" name="object 10"/>
          <p:cNvSpPr txBox="1"/>
          <p:nvPr/>
        </p:nvSpPr>
        <p:spPr>
          <a:xfrm>
            <a:off x="5151253" y="1592105"/>
            <a:ext cx="4178300" cy="1960880"/>
          </a:xfrm>
          <a:prstGeom prst="rect">
            <a:avLst/>
          </a:prstGeom>
        </p:spPr>
        <p:txBody>
          <a:bodyPr vert="horz" wrap="square" lIns="0" tIns="14604" rIns="0" bIns="0" rtlCol="0">
            <a:spAutoFit/>
          </a:bodyPr>
          <a:lstStyle/>
          <a:p>
            <a:pPr marL="12700">
              <a:lnSpc>
                <a:spcPct val="100000"/>
              </a:lnSpc>
              <a:spcBef>
                <a:spcPts val="114"/>
              </a:spcBef>
            </a:pPr>
            <a:r>
              <a:rPr sz="1550" b="1" dirty="0">
                <a:latin typeface="Arial"/>
                <a:cs typeface="Arial"/>
              </a:rPr>
              <a:t>reg</a:t>
            </a:r>
            <a:r>
              <a:rPr sz="1550" b="1" spc="490" dirty="0">
                <a:latin typeface="Arial"/>
                <a:cs typeface="Arial"/>
              </a:rPr>
              <a:t> </a:t>
            </a:r>
            <a:r>
              <a:rPr sz="1550" spc="15" dirty="0">
                <a:latin typeface="Arial"/>
                <a:cs typeface="Arial"/>
              </a:rPr>
              <a:t>[ </a:t>
            </a:r>
            <a:r>
              <a:rPr sz="1550" dirty="0">
                <a:latin typeface="Arial"/>
                <a:cs typeface="Arial"/>
              </a:rPr>
              <a:t>1:0</a:t>
            </a:r>
            <a:r>
              <a:rPr sz="1550" spc="175" dirty="0">
                <a:latin typeface="Arial"/>
                <a:cs typeface="Arial"/>
              </a:rPr>
              <a:t> ] </a:t>
            </a:r>
            <a:r>
              <a:rPr sz="1550" dirty="0">
                <a:latin typeface="Arial"/>
                <a:cs typeface="Arial"/>
              </a:rPr>
              <a:t>state_reg</a:t>
            </a:r>
            <a:r>
              <a:rPr sz="1550" spc="20" dirty="0">
                <a:latin typeface="Arial"/>
                <a:cs typeface="Arial"/>
              </a:rPr>
              <a:t> , </a:t>
            </a:r>
            <a:r>
              <a:rPr sz="1550" dirty="0">
                <a:latin typeface="Arial"/>
                <a:cs typeface="Arial"/>
              </a:rPr>
              <a:t>state_next</a:t>
            </a:r>
            <a:r>
              <a:rPr sz="1550" spc="20" dirty="0">
                <a:latin typeface="Arial"/>
                <a:cs typeface="Arial"/>
              </a:rPr>
              <a:t> ; </a:t>
            </a:r>
            <a:r>
              <a:rPr sz="1550" spc="160" dirty="0">
                <a:solidFill>
                  <a:srgbClr val="00B0EF"/>
                </a:solidFill>
                <a:latin typeface="Arial"/>
                <a:cs typeface="Arial"/>
              </a:rPr>
              <a:t>// </a:t>
            </a:r>
            <a:r>
              <a:rPr sz="1650" i="1" spc="-80" dirty="0">
                <a:solidFill>
                  <a:srgbClr val="00B0EF"/>
                </a:solidFill>
                <a:latin typeface="微软雅黑"/>
                <a:cs typeface="微软雅黑"/>
              </a:rPr>
              <a:t>状态声明</a:t>
            </a:r>
            <a:endParaRPr sz="1650">
              <a:latin typeface="微软雅黑"/>
              <a:cs typeface="微软雅黑"/>
            </a:endParaRPr>
          </a:p>
          <a:p>
            <a:pPr marL="123825">
              <a:lnSpc>
                <a:spcPct val="100000"/>
              </a:lnSpc>
              <a:spcBef>
                <a:spcPts val="10"/>
              </a:spcBef>
            </a:pPr>
            <a:r>
              <a:rPr sz="1550" spc="20" dirty="0">
                <a:solidFill>
                  <a:srgbClr val="00B0EF"/>
                </a:solidFill>
                <a:latin typeface="Arial"/>
                <a:cs typeface="Arial"/>
              </a:rPr>
              <a:t>// </a:t>
            </a:r>
            <a:r>
              <a:rPr sz="1550" spc="-15" dirty="0">
                <a:solidFill>
                  <a:srgbClr val="00B0EF"/>
                </a:solidFill>
                <a:latin typeface="微软雅黑"/>
                <a:cs typeface="微软雅黑"/>
              </a:rPr>
              <a:t>状态转移</a:t>
            </a:r>
            <a:endParaRPr sz="1550">
              <a:latin typeface="微软雅黑"/>
              <a:cs typeface="微软雅黑"/>
            </a:endParaRPr>
          </a:p>
          <a:p>
            <a:pPr marL="12700">
              <a:lnSpc>
                <a:spcPct val="100000"/>
              </a:lnSpc>
              <a:spcBef>
                <a:spcPts val="50"/>
              </a:spcBef>
            </a:pPr>
            <a:r>
              <a:rPr sz="1550" b="1" dirty="0">
                <a:latin typeface="Arial"/>
                <a:cs typeface="Arial"/>
              </a:rPr>
              <a:t>always</a:t>
            </a:r>
            <a:r>
              <a:rPr sz="1550" b="1" spc="35" dirty="0">
                <a:latin typeface="Arial"/>
                <a:cs typeface="Arial"/>
              </a:rPr>
              <a:t>  </a:t>
            </a:r>
            <a:r>
              <a:rPr sz="1550" dirty="0">
                <a:latin typeface="Arial"/>
                <a:cs typeface="Arial"/>
              </a:rPr>
              <a:t>@</a:t>
            </a:r>
            <a:r>
              <a:rPr sz="1550" spc="40" dirty="0">
                <a:latin typeface="Arial"/>
                <a:cs typeface="Arial"/>
              </a:rPr>
              <a:t> </a:t>
            </a:r>
            <a:r>
              <a:rPr sz="1550" dirty="0">
                <a:latin typeface="Arial"/>
                <a:cs typeface="Arial"/>
              </a:rPr>
              <a:t>(</a:t>
            </a:r>
            <a:r>
              <a:rPr sz="1550" b="1" dirty="0">
                <a:latin typeface="Arial"/>
                <a:cs typeface="Arial"/>
              </a:rPr>
              <a:t>posedge</a:t>
            </a:r>
            <a:r>
              <a:rPr sz="1550" b="1" spc="30" dirty="0">
                <a:latin typeface="Arial"/>
                <a:cs typeface="Arial"/>
              </a:rPr>
              <a:t> </a:t>
            </a:r>
            <a:r>
              <a:rPr sz="1550" dirty="0">
                <a:latin typeface="Arial"/>
                <a:cs typeface="Arial"/>
              </a:rPr>
              <a:t>clk</a:t>
            </a:r>
            <a:r>
              <a:rPr sz="1550" spc="30" dirty="0">
                <a:latin typeface="Arial"/>
                <a:cs typeface="Arial"/>
              </a:rPr>
              <a:t> </a:t>
            </a:r>
            <a:r>
              <a:rPr sz="1550" dirty="0">
                <a:latin typeface="Arial"/>
                <a:cs typeface="Arial"/>
              </a:rPr>
              <a:t>,</a:t>
            </a:r>
            <a:r>
              <a:rPr sz="1550" spc="40" dirty="0">
                <a:latin typeface="Arial"/>
                <a:cs typeface="Arial"/>
              </a:rPr>
              <a:t> </a:t>
            </a:r>
            <a:r>
              <a:rPr sz="1550" b="1" dirty="0">
                <a:latin typeface="Arial"/>
                <a:cs typeface="Arial"/>
              </a:rPr>
              <a:t>posdge</a:t>
            </a:r>
            <a:r>
              <a:rPr sz="1550" b="1" spc="490" dirty="0">
                <a:latin typeface="Arial"/>
                <a:cs typeface="Arial"/>
              </a:rPr>
              <a:t> </a:t>
            </a:r>
            <a:r>
              <a:rPr sz="1550" dirty="0">
                <a:latin typeface="Arial"/>
                <a:cs typeface="Arial"/>
              </a:rPr>
              <a:t>reset</a:t>
            </a:r>
            <a:r>
              <a:rPr sz="1550" spc="30" dirty="0">
                <a:latin typeface="Arial"/>
                <a:cs typeface="Arial"/>
              </a:rPr>
              <a:t> </a:t>
            </a:r>
            <a:r>
              <a:rPr sz="1550" spc="-50" dirty="0">
                <a:latin typeface="Arial"/>
                <a:cs typeface="Arial"/>
              </a:rPr>
              <a:t>)</a:t>
            </a:r>
            <a:endParaRPr sz="1550">
              <a:latin typeface="Arial"/>
              <a:cs typeface="Arial"/>
            </a:endParaRPr>
          </a:p>
          <a:p>
            <a:pPr marL="179070" marR="2487930" indent="-167005">
              <a:lnSpc>
                <a:spcPts val="1900"/>
              </a:lnSpc>
              <a:spcBef>
                <a:spcPts val="60"/>
              </a:spcBef>
            </a:pPr>
            <a:r>
              <a:rPr sz="1550" b="1" dirty="0">
                <a:latin typeface="Arial"/>
                <a:cs typeface="Arial"/>
              </a:rPr>
              <a:t>if</a:t>
            </a:r>
            <a:r>
              <a:rPr sz="1550" b="1" spc="484"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reset</a:t>
            </a:r>
            <a:r>
              <a:rPr sz="1550" spc="30" dirty="0">
                <a:latin typeface="Arial"/>
                <a:cs typeface="Arial"/>
              </a:rPr>
              <a:t> </a:t>
            </a:r>
            <a:r>
              <a:rPr sz="1550" spc="-50" dirty="0">
                <a:latin typeface="Arial"/>
                <a:cs typeface="Arial"/>
              </a:rPr>
              <a:t>) </a:t>
            </a:r>
            <a:r>
              <a:rPr sz="1550" dirty="0">
                <a:latin typeface="Arial"/>
                <a:cs typeface="Arial"/>
              </a:rPr>
              <a:t>state_reg</a:t>
            </a:r>
            <a:r>
              <a:rPr sz="1550" spc="65" dirty="0">
                <a:latin typeface="Arial"/>
                <a:cs typeface="Arial"/>
              </a:rPr>
              <a:t> </a:t>
            </a:r>
            <a:r>
              <a:rPr sz="1550" dirty="0">
                <a:latin typeface="Arial"/>
                <a:cs typeface="Arial"/>
              </a:rPr>
              <a:t>&lt;=</a:t>
            </a:r>
            <a:r>
              <a:rPr sz="1550" spc="60" dirty="0">
                <a:latin typeface="Arial"/>
                <a:cs typeface="Arial"/>
              </a:rPr>
              <a:t> </a:t>
            </a:r>
            <a:r>
              <a:rPr sz="1550" dirty="0">
                <a:latin typeface="Arial"/>
                <a:cs typeface="Arial"/>
              </a:rPr>
              <a:t>s0</a:t>
            </a:r>
            <a:r>
              <a:rPr sz="1550" spc="60" dirty="0">
                <a:latin typeface="Arial"/>
                <a:cs typeface="Arial"/>
              </a:rPr>
              <a:t> </a:t>
            </a:r>
            <a:r>
              <a:rPr sz="1550" spc="-50" dirty="0">
                <a:latin typeface="Arial"/>
                <a:cs typeface="Arial"/>
              </a:rPr>
              <a:t>;</a:t>
            </a:r>
            <a:endParaRPr sz="1550">
              <a:latin typeface="Arial"/>
              <a:cs typeface="Arial"/>
            </a:endParaRPr>
          </a:p>
          <a:p>
            <a:pPr marL="12700">
              <a:lnSpc>
                <a:spcPts val="1820"/>
              </a:lnSpc>
            </a:pPr>
            <a:r>
              <a:rPr sz="1550" b="1" spc="-20" dirty="0">
                <a:latin typeface="Arial"/>
                <a:cs typeface="Arial"/>
              </a:rPr>
              <a:t>else</a:t>
            </a:r>
            <a:endParaRPr sz="1550">
              <a:latin typeface="Arial"/>
              <a:cs typeface="Arial"/>
            </a:endParaRPr>
          </a:p>
          <a:p>
            <a:pPr marL="179070">
              <a:lnSpc>
                <a:spcPct val="100000"/>
              </a:lnSpc>
              <a:spcBef>
                <a:spcPts val="30"/>
              </a:spcBef>
            </a:pPr>
            <a:r>
              <a:rPr sz="1550" dirty="0">
                <a:latin typeface="Arial"/>
                <a:cs typeface="Arial"/>
              </a:rPr>
              <a:t>state_reg</a:t>
            </a:r>
            <a:r>
              <a:rPr sz="1550" spc="70" dirty="0">
                <a:latin typeface="Arial"/>
                <a:cs typeface="Arial"/>
              </a:rPr>
              <a:t> </a:t>
            </a:r>
            <a:r>
              <a:rPr sz="1550" dirty="0">
                <a:latin typeface="Arial"/>
                <a:cs typeface="Arial"/>
              </a:rPr>
              <a:t>&lt;=</a:t>
            </a:r>
            <a:r>
              <a:rPr sz="1550" spc="70" dirty="0">
                <a:latin typeface="Arial"/>
                <a:cs typeface="Arial"/>
              </a:rPr>
              <a:t>  </a:t>
            </a:r>
            <a:r>
              <a:rPr sz="1550" dirty="0">
                <a:latin typeface="Arial"/>
                <a:cs typeface="Arial"/>
              </a:rPr>
              <a:t>state_next</a:t>
            </a:r>
            <a:r>
              <a:rPr sz="1550" spc="70" dirty="0">
                <a:latin typeface="Arial"/>
                <a:cs typeface="Arial"/>
              </a:rPr>
              <a:t> </a:t>
            </a:r>
            <a:r>
              <a:rPr sz="1550" spc="-50" dirty="0">
                <a:latin typeface="Arial"/>
                <a:cs typeface="Arial"/>
              </a:rPr>
              <a:t>;</a:t>
            </a:r>
            <a:endParaRPr sz="1550">
              <a:latin typeface="Arial"/>
              <a:cs typeface="Arial"/>
            </a:endParaRPr>
          </a:p>
          <a:p>
            <a:pPr marL="12700">
              <a:lnSpc>
                <a:spcPct val="100000"/>
              </a:lnSpc>
              <a:spcBef>
                <a:spcPts val="25"/>
              </a:spcBef>
            </a:pPr>
            <a:r>
              <a:rPr sz="1550" b="1" dirty="0">
                <a:latin typeface="Arial"/>
                <a:cs typeface="Arial"/>
              </a:rPr>
              <a:t>assign</a:t>
            </a:r>
            <a:r>
              <a:rPr sz="1550" b="1" spc="65" dirty="0">
                <a:latin typeface="Arial"/>
                <a:cs typeface="Arial"/>
              </a:rPr>
              <a:t> </a:t>
            </a:r>
            <a:r>
              <a:rPr sz="1550" dirty="0">
                <a:latin typeface="Arial"/>
                <a:cs typeface="Arial"/>
              </a:rPr>
              <a:t>addr</a:t>
            </a:r>
            <a:r>
              <a:rPr sz="1550" spc="45" dirty="0">
                <a:latin typeface="Arial"/>
                <a:cs typeface="Arial"/>
              </a:rPr>
              <a:t> = </a:t>
            </a:r>
            <a:r>
              <a:rPr sz="1550" dirty="0">
                <a:latin typeface="Arial"/>
                <a:cs typeface="Arial"/>
              </a:rPr>
              <a:t>3’b001</a:t>
            </a:r>
            <a:r>
              <a:rPr sz="1550" spc="20" dirty="0">
                <a:latin typeface="Arial"/>
                <a:cs typeface="Arial"/>
              </a:rPr>
              <a:t> //</a:t>
            </a:r>
            <a:r>
              <a:rPr sz="1550" dirty="0">
                <a:latin typeface="微软雅黑"/>
                <a:cs typeface="微软雅黑"/>
              </a:rPr>
              <a:t>输入通道设定为通道</a:t>
            </a:r>
            <a:r>
              <a:rPr sz="1550" spc="-50" dirty="0">
                <a:latin typeface="Arial"/>
                <a:cs typeface="Arial"/>
              </a:rPr>
              <a:t>0</a:t>
            </a:r>
            <a:endParaRPr sz="1550">
              <a:latin typeface="Arial"/>
              <a:cs typeface="Arial"/>
            </a:endParaRPr>
          </a:p>
        </p:txBody>
      </p:sp>
      <p:sp>
        <p:nvSpPr>
          <p:cNvPr id="11" name="object 11"/>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12" name="object 12"/>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36</a:t>
            </a:fld>
            <a:endParaRPr spc="-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t>ADC采样控制电路</a:t>
            </a:r>
            <a:r>
              <a:rPr b="1" spc="-30" dirty="0">
                <a:latin typeface="宋体"/>
                <a:cs typeface="宋体"/>
              </a:rPr>
              <a:t>实现代码</a:t>
            </a:r>
            <a:r>
              <a:rPr b="1" spc="-50" dirty="0">
                <a:latin typeface="Calibri"/>
                <a:cs typeface="Calibri"/>
              </a:rPr>
              <a:t>2</a:t>
            </a:r>
          </a:p>
        </p:txBody>
      </p:sp>
      <p:grpSp>
        <p:nvGrpSpPr>
          <p:cNvPr id="3" name="object 3"/>
          <p:cNvGrpSpPr/>
          <p:nvPr/>
        </p:nvGrpSpPr>
        <p:grpSpPr>
          <a:xfrm>
            <a:off x="221627" y="1741170"/>
            <a:ext cx="4127500" cy="3733165"/>
            <a:chOff x="221627" y="1741170"/>
            <a:chExt cx="4127500" cy="3733165"/>
          </a:xfrm>
        </p:grpSpPr>
        <p:sp>
          <p:nvSpPr>
            <p:cNvPr id="4" name="object 4"/>
            <p:cNvSpPr/>
            <p:nvPr/>
          </p:nvSpPr>
          <p:spPr>
            <a:xfrm>
              <a:off x="226199" y="1744980"/>
              <a:ext cx="4118610" cy="3724910"/>
            </a:xfrm>
            <a:custGeom>
              <a:avLst/>
              <a:gdLst/>
              <a:ahLst/>
              <a:cxnLst/>
              <a:rect l="l" t="t" r="r" b="b"/>
              <a:pathLst>
                <a:path w="4118610" h="3724910">
                  <a:moveTo>
                    <a:pt x="4118609" y="3724655"/>
                  </a:moveTo>
                  <a:lnTo>
                    <a:pt x="4118609" y="0"/>
                  </a:lnTo>
                  <a:lnTo>
                    <a:pt x="0" y="0"/>
                  </a:lnTo>
                  <a:lnTo>
                    <a:pt x="0" y="3724655"/>
                  </a:lnTo>
                  <a:lnTo>
                    <a:pt x="4118609" y="3724655"/>
                  </a:lnTo>
                  <a:close/>
                </a:path>
              </a:pathLst>
            </a:custGeom>
            <a:solidFill>
              <a:srgbClr val="F9FABA"/>
            </a:solidFill>
          </p:spPr>
          <p:txBody>
            <a:bodyPr wrap="square" lIns="0" tIns="0" rIns="0" bIns="0" rtlCol="0"/>
            <a:lstStyle/>
            <a:p>
              <a:endParaRPr/>
            </a:p>
          </p:txBody>
        </p:sp>
        <p:sp>
          <p:nvSpPr>
            <p:cNvPr id="5" name="object 5"/>
            <p:cNvSpPr/>
            <p:nvPr/>
          </p:nvSpPr>
          <p:spPr>
            <a:xfrm>
              <a:off x="221627" y="1741170"/>
              <a:ext cx="4127500" cy="3733165"/>
            </a:xfrm>
            <a:custGeom>
              <a:avLst/>
              <a:gdLst/>
              <a:ahLst/>
              <a:cxnLst/>
              <a:rect l="l" t="t" r="r" b="b"/>
              <a:pathLst>
                <a:path w="4127500" h="3733165">
                  <a:moveTo>
                    <a:pt x="4126991" y="3730752"/>
                  </a:moveTo>
                  <a:lnTo>
                    <a:pt x="4126991" y="1523"/>
                  </a:lnTo>
                  <a:lnTo>
                    <a:pt x="4125467" y="0"/>
                  </a:lnTo>
                  <a:lnTo>
                    <a:pt x="1523" y="0"/>
                  </a:lnTo>
                  <a:lnTo>
                    <a:pt x="0" y="1524"/>
                  </a:lnTo>
                  <a:lnTo>
                    <a:pt x="0" y="3730752"/>
                  </a:lnTo>
                  <a:lnTo>
                    <a:pt x="1524" y="3733038"/>
                  </a:lnTo>
                  <a:lnTo>
                    <a:pt x="4572" y="3733038"/>
                  </a:lnTo>
                  <a:lnTo>
                    <a:pt x="4572" y="8382"/>
                  </a:lnTo>
                  <a:lnTo>
                    <a:pt x="8382" y="3810"/>
                  </a:lnTo>
                  <a:lnTo>
                    <a:pt x="8382" y="8382"/>
                  </a:lnTo>
                  <a:lnTo>
                    <a:pt x="4118610" y="8381"/>
                  </a:lnTo>
                  <a:lnTo>
                    <a:pt x="4118610" y="3809"/>
                  </a:lnTo>
                  <a:lnTo>
                    <a:pt x="4123182" y="8381"/>
                  </a:lnTo>
                  <a:lnTo>
                    <a:pt x="4123182" y="3733038"/>
                  </a:lnTo>
                  <a:lnTo>
                    <a:pt x="4125467" y="3733038"/>
                  </a:lnTo>
                  <a:lnTo>
                    <a:pt x="4126991" y="3730752"/>
                  </a:lnTo>
                  <a:close/>
                </a:path>
                <a:path w="4127500" h="3733165">
                  <a:moveTo>
                    <a:pt x="8382" y="8382"/>
                  </a:moveTo>
                  <a:lnTo>
                    <a:pt x="8382" y="3810"/>
                  </a:lnTo>
                  <a:lnTo>
                    <a:pt x="4572" y="8382"/>
                  </a:lnTo>
                  <a:lnTo>
                    <a:pt x="8382" y="8382"/>
                  </a:lnTo>
                  <a:close/>
                </a:path>
                <a:path w="4127500" h="3733165">
                  <a:moveTo>
                    <a:pt x="8382" y="3724656"/>
                  </a:moveTo>
                  <a:lnTo>
                    <a:pt x="8382" y="8382"/>
                  </a:lnTo>
                  <a:lnTo>
                    <a:pt x="4572" y="8382"/>
                  </a:lnTo>
                  <a:lnTo>
                    <a:pt x="4572" y="3724656"/>
                  </a:lnTo>
                  <a:lnTo>
                    <a:pt x="8382" y="3724656"/>
                  </a:lnTo>
                  <a:close/>
                </a:path>
                <a:path w="4127500" h="3733165">
                  <a:moveTo>
                    <a:pt x="4123182" y="3724656"/>
                  </a:moveTo>
                  <a:lnTo>
                    <a:pt x="4572" y="3724656"/>
                  </a:lnTo>
                  <a:lnTo>
                    <a:pt x="8382" y="3728466"/>
                  </a:lnTo>
                  <a:lnTo>
                    <a:pt x="8382" y="3733038"/>
                  </a:lnTo>
                  <a:lnTo>
                    <a:pt x="4118610" y="3733038"/>
                  </a:lnTo>
                  <a:lnTo>
                    <a:pt x="4118610" y="3728466"/>
                  </a:lnTo>
                  <a:lnTo>
                    <a:pt x="4123182" y="3724656"/>
                  </a:lnTo>
                  <a:close/>
                </a:path>
                <a:path w="4127500" h="3733165">
                  <a:moveTo>
                    <a:pt x="8382" y="3733038"/>
                  </a:moveTo>
                  <a:lnTo>
                    <a:pt x="8382" y="3728466"/>
                  </a:lnTo>
                  <a:lnTo>
                    <a:pt x="4572" y="3724656"/>
                  </a:lnTo>
                  <a:lnTo>
                    <a:pt x="4572" y="3733038"/>
                  </a:lnTo>
                  <a:lnTo>
                    <a:pt x="8382" y="3733038"/>
                  </a:lnTo>
                  <a:close/>
                </a:path>
                <a:path w="4127500" h="3733165">
                  <a:moveTo>
                    <a:pt x="4123182" y="8381"/>
                  </a:moveTo>
                  <a:lnTo>
                    <a:pt x="4118610" y="3809"/>
                  </a:lnTo>
                  <a:lnTo>
                    <a:pt x="4118610" y="8381"/>
                  </a:lnTo>
                  <a:lnTo>
                    <a:pt x="4123182" y="8381"/>
                  </a:lnTo>
                  <a:close/>
                </a:path>
                <a:path w="4127500" h="3733165">
                  <a:moveTo>
                    <a:pt x="4123182" y="3724656"/>
                  </a:moveTo>
                  <a:lnTo>
                    <a:pt x="4123182" y="8381"/>
                  </a:lnTo>
                  <a:lnTo>
                    <a:pt x="4118610" y="8381"/>
                  </a:lnTo>
                  <a:lnTo>
                    <a:pt x="4118610" y="3724656"/>
                  </a:lnTo>
                  <a:lnTo>
                    <a:pt x="4123182" y="3724656"/>
                  </a:lnTo>
                  <a:close/>
                </a:path>
                <a:path w="4127500" h="3733165">
                  <a:moveTo>
                    <a:pt x="4123182" y="3733038"/>
                  </a:moveTo>
                  <a:lnTo>
                    <a:pt x="4123182" y="3724656"/>
                  </a:lnTo>
                  <a:lnTo>
                    <a:pt x="4118610" y="3728466"/>
                  </a:lnTo>
                  <a:lnTo>
                    <a:pt x="4118610" y="3733038"/>
                  </a:lnTo>
                  <a:lnTo>
                    <a:pt x="4123182" y="3733038"/>
                  </a:lnTo>
                  <a:close/>
                </a:path>
              </a:pathLst>
            </a:custGeom>
            <a:solidFill>
              <a:srgbClr val="FF0000"/>
            </a:solidFill>
          </p:spPr>
          <p:txBody>
            <a:bodyPr wrap="square" lIns="0" tIns="0" rIns="0" bIns="0" rtlCol="0"/>
            <a:lstStyle/>
            <a:p>
              <a:endParaRPr/>
            </a:p>
          </p:txBody>
        </p:sp>
      </p:grpSp>
      <p:sp>
        <p:nvSpPr>
          <p:cNvPr id="6" name="object 6"/>
          <p:cNvSpPr txBox="1"/>
          <p:nvPr/>
        </p:nvSpPr>
        <p:spPr>
          <a:xfrm>
            <a:off x="292741" y="1753649"/>
            <a:ext cx="2870835" cy="3404870"/>
          </a:xfrm>
          <a:prstGeom prst="rect">
            <a:avLst/>
          </a:prstGeom>
        </p:spPr>
        <p:txBody>
          <a:bodyPr vert="horz" wrap="square" lIns="0" tIns="14604" rIns="0" bIns="0" rtlCol="0">
            <a:spAutoFit/>
          </a:bodyPr>
          <a:lstStyle/>
          <a:p>
            <a:pPr marL="12700">
              <a:lnSpc>
                <a:spcPct val="100000"/>
              </a:lnSpc>
              <a:spcBef>
                <a:spcPts val="114"/>
              </a:spcBef>
            </a:pPr>
            <a:r>
              <a:rPr sz="1550" spc="20" dirty="0">
                <a:solidFill>
                  <a:srgbClr val="00B0EF"/>
                </a:solidFill>
                <a:latin typeface="Arial"/>
                <a:cs typeface="Arial"/>
              </a:rPr>
              <a:t>//  </a:t>
            </a:r>
            <a:r>
              <a:rPr sz="1650" i="1" spc="-90" dirty="0">
                <a:solidFill>
                  <a:srgbClr val="00B0EF"/>
                </a:solidFill>
                <a:latin typeface="微软雅黑"/>
                <a:cs typeface="微软雅黑"/>
              </a:rPr>
              <a:t>次态逻辑和输出逻辑</a:t>
            </a:r>
            <a:endParaRPr sz="1650">
              <a:latin typeface="微软雅黑"/>
              <a:cs typeface="微软雅黑"/>
            </a:endParaRPr>
          </a:p>
          <a:p>
            <a:pPr marL="123825">
              <a:lnSpc>
                <a:spcPct val="100000"/>
              </a:lnSpc>
              <a:spcBef>
                <a:spcPts val="25"/>
              </a:spcBef>
            </a:pPr>
            <a:r>
              <a:rPr sz="1550" b="1" dirty="0">
                <a:latin typeface="Arial"/>
                <a:cs typeface="Arial"/>
              </a:rPr>
              <a:t>always</a:t>
            </a:r>
            <a:r>
              <a:rPr sz="1550" b="1" spc="465" dirty="0">
                <a:latin typeface="Arial"/>
                <a:cs typeface="Arial"/>
              </a:rPr>
              <a:t> </a:t>
            </a:r>
            <a:r>
              <a:rPr sz="1550" spc="-25" dirty="0">
                <a:latin typeface="Arial"/>
                <a:cs typeface="Arial"/>
              </a:rPr>
              <a:t>@*</a:t>
            </a:r>
            <a:endParaRPr sz="1550">
              <a:latin typeface="Arial"/>
              <a:cs typeface="Arial"/>
            </a:endParaRPr>
          </a:p>
          <a:p>
            <a:pPr marL="290830">
              <a:lnSpc>
                <a:spcPct val="100000"/>
              </a:lnSpc>
              <a:spcBef>
                <a:spcPts val="35"/>
              </a:spcBef>
            </a:pPr>
            <a:r>
              <a:rPr sz="1550" b="1" spc="-10" dirty="0">
                <a:latin typeface="Arial"/>
                <a:cs typeface="Arial"/>
              </a:rPr>
              <a:t>begin</a:t>
            </a:r>
            <a:endParaRPr sz="1550">
              <a:latin typeface="Arial"/>
              <a:cs typeface="Arial"/>
            </a:endParaRPr>
          </a:p>
          <a:p>
            <a:pPr marL="457200" marR="935355" indent="-55880">
              <a:lnSpc>
                <a:spcPts val="1900"/>
              </a:lnSpc>
              <a:spcBef>
                <a:spcPts val="60"/>
              </a:spcBef>
            </a:pPr>
            <a:r>
              <a:rPr sz="1550" b="1" dirty="0">
                <a:latin typeface="Arial"/>
                <a:cs typeface="Arial"/>
              </a:rPr>
              <a:t>case</a:t>
            </a:r>
            <a:r>
              <a:rPr sz="1550" dirty="0">
                <a:latin typeface="Arial"/>
                <a:cs typeface="Arial"/>
              </a:rPr>
              <a:t>(</a:t>
            </a:r>
            <a:r>
              <a:rPr sz="1550" spc="65" dirty="0">
                <a:latin typeface="Arial"/>
                <a:cs typeface="Arial"/>
              </a:rPr>
              <a:t> </a:t>
            </a:r>
            <a:r>
              <a:rPr sz="1550" dirty="0">
                <a:latin typeface="Arial"/>
                <a:cs typeface="Arial"/>
              </a:rPr>
              <a:t>state_reg</a:t>
            </a:r>
            <a:r>
              <a:rPr sz="1550" spc="50" dirty="0">
                <a:latin typeface="Arial"/>
                <a:cs typeface="Arial"/>
              </a:rPr>
              <a:t> </a:t>
            </a:r>
            <a:r>
              <a:rPr sz="1550" spc="-50" dirty="0">
                <a:latin typeface="Arial"/>
                <a:cs typeface="Arial"/>
              </a:rPr>
              <a:t>) </a:t>
            </a:r>
            <a:r>
              <a:rPr sz="1550" dirty="0">
                <a:latin typeface="Arial"/>
                <a:cs typeface="Arial"/>
              </a:rPr>
              <a:t>s0</a:t>
            </a:r>
            <a:r>
              <a:rPr sz="1550" spc="20" dirty="0">
                <a:latin typeface="Arial"/>
                <a:cs typeface="Arial"/>
              </a:rPr>
              <a:t> </a:t>
            </a:r>
            <a:r>
              <a:rPr sz="1550" spc="-50" dirty="0">
                <a:latin typeface="Arial"/>
                <a:cs typeface="Arial"/>
              </a:rPr>
              <a:t>:</a:t>
            </a:r>
            <a:endParaRPr sz="1550">
              <a:latin typeface="Arial"/>
              <a:cs typeface="Arial"/>
            </a:endParaRPr>
          </a:p>
          <a:p>
            <a:pPr marL="569595">
              <a:lnSpc>
                <a:spcPts val="1820"/>
              </a:lnSpc>
            </a:pPr>
            <a:r>
              <a:rPr sz="1550" b="1" spc="-10" dirty="0">
                <a:latin typeface="Arial"/>
                <a:cs typeface="Arial"/>
              </a:rPr>
              <a:t>begin</a:t>
            </a:r>
            <a:endParaRPr sz="1550">
              <a:latin typeface="Arial"/>
              <a:cs typeface="Arial"/>
            </a:endParaRPr>
          </a:p>
          <a:p>
            <a:pPr marL="680720" marR="60325">
              <a:lnSpc>
                <a:spcPts val="1900"/>
              </a:lnSpc>
              <a:spcBef>
                <a:spcPts val="60"/>
              </a:spcBef>
            </a:pPr>
            <a:r>
              <a:rPr sz="1550" dirty="0">
                <a:latin typeface="Arial"/>
                <a:cs typeface="Arial"/>
              </a:rPr>
              <a:t>ale</a:t>
            </a:r>
            <a:r>
              <a:rPr sz="1550" spc="25"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0;</a:t>
            </a:r>
            <a:r>
              <a:rPr sz="1550" spc="30" dirty="0">
                <a:latin typeface="Arial"/>
                <a:cs typeface="Arial"/>
              </a:rPr>
              <a:t> </a:t>
            </a:r>
            <a:r>
              <a:rPr sz="1550" dirty="0">
                <a:latin typeface="Arial"/>
                <a:cs typeface="Arial"/>
              </a:rPr>
              <a:t>start</a:t>
            </a:r>
            <a:r>
              <a:rPr sz="1550" spc="25"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0;oe</a:t>
            </a:r>
            <a:r>
              <a:rPr sz="1550" spc="30" dirty="0">
                <a:latin typeface="Arial"/>
                <a:cs typeface="Arial"/>
              </a:rPr>
              <a:t> </a:t>
            </a:r>
            <a:r>
              <a:rPr sz="1550" dirty="0">
                <a:latin typeface="Arial"/>
                <a:cs typeface="Arial"/>
              </a:rPr>
              <a:t>=</a:t>
            </a:r>
            <a:r>
              <a:rPr sz="1550" spc="30" dirty="0">
                <a:latin typeface="Arial"/>
                <a:cs typeface="Arial"/>
              </a:rPr>
              <a:t> </a:t>
            </a:r>
            <a:r>
              <a:rPr sz="1550" spc="-25" dirty="0">
                <a:latin typeface="Arial"/>
                <a:cs typeface="Arial"/>
              </a:rPr>
              <a:t>0; </a:t>
            </a:r>
            <a:r>
              <a:rPr sz="1550" dirty="0">
                <a:latin typeface="Arial"/>
                <a:cs typeface="Arial"/>
              </a:rPr>
              <a:t>next_state</a:t>
            </a:r>
            <a:r>
              <a:rPr sz="1550" spc="50" dirty="0">
                <a:latin typeface="Arial"/>
                <a:cs typeface="Arial"/>
              </a:rPr>
              <a:t> </a:t>
            </a:r>
            <a:r>
              <a:rPr sz="1550" dirty="0">
                <a:latin typeface="Arial"/>
                <a:cs typeface="Arial"/>
              </a:rPr>
              <a:t>=</a:t>
            </a:r>
            <a:r>
              <a:rPr sz="1550" spc="70" dirty="0">
                <a:latin typeface="Arial"/>
                <a:cs typeface="Arial"/>
              </a:rPr>
              <a:t> </a:t>
            </a:r>
            <a:r>
              <a:rPr sz="1550" spc="-25" dirty="0">
                <a:latin typeface="Arial"/>
                <a:cs typeface="Arial"/>
              </a:rPr>
              <a:t>s1;</a:t>
            </a:r>
            <a:endParaRPr sz="1550">
              <a:latin typeface="Arial"/>
              <a:cs typeface="Arial"/>
            </a:endParaRPr>
          </a:p>
          <a:p>
            <a:pPr marL="513715">
              <a:lnSpc>
                <a:spcPts val="1814"/>
              </a:lnSpc>
            </a:pPr>
            <a:r>
              <a:rPr sz="1550" b="1" spc="-25" dirty="0">
                <a:latin typeface="Arial"/>
                <a:cs typeface="Arial"/>
              </a:rPr>
              <a:t>end</a:t>
            </a:r>
            <a:endParaRPr sz="1550">
              <a:latin typeface="Arial"/>
              <a:cs typeface="Arial"/>
            </a:endParaRPr>
          </a:p>
          <a:p>
            <a:pPr marL="401955">
              <a:lnSpc>
                <a:spcPct val="100000"/>
              </a:lnSpc>
              <a:spcBef>
                <a:spcPts val="35"/>
              </a:spcBef>
            </a:pPr>
            <a:r>
              <a:rPr sz="1550" dirty="0">
                <a:latin typeface="Arial"/>
                <a:cs typeface="Arial"/>
              </a:rPr>
              <a:t>s1</a:t>
            </a:r>
            <a:r>
              <a:rPr sz="1550" spc="20" dirty="0">
                <a:latin typeface="Arial"/>
                <a:cs typeface="Arial"/>
              </a:rPr>
              <a:t> </a:t>
            </a:r>
            <a:r>
              <a:rPr sz="1550" spc="-50" dirty="0">
                <a:latin typeface="Arial"/>
                <a:cs typeface="Arial"/>
              </a:rPr>
              <a:t>:</a:t>
            </a:r>
            <a:endParaRPr sz="1550">
              <a:latin typeface="Arial"/>
              <a:cs typeface="Arial"/>
            </a:endParaRPr>
          </a:p>
          <a:p>
            <a:pPr marL="569595">
              <a:lnSpc>
                <a:spcPct val="100000"/>
              </a:lnSpc>
              <a:spcBef>
                <a:spcPts val="35"/>
              </a:spcBef>
            </a:pPr>
            <a:r>
              <a:rPr sz="1550" b="1" spc="-10" dirty="0">
                <a:latin typeface="Arial"/>
                <a:cs typeface="Arial"/>
              </a:rPr>
              <a:t>begin</a:t>
            </a:r>
            <a:endParaRPr sz="1550">
              <a:latin typeface="Arial"/>
              <a:cs typeface="Arial"/>
            </a:endParaRPr>
          </a:p>
          <a:p>
            <a:pPr marL="735965" marR="5080">
              <a:lnSpc>
                <a:spcPts val="1900"/>
              </a:lnSpc>
              <a:spcBef>
                <a:spcPts val="60"/>
              </a:spcBef>
            </a:pPr>
            <a:r>
              <a:rPr sz="1550" dirty="0">
                <a:latin typeface="Arial"/>
                <a:cs typeface="Arial"/>
              </a:rPr>
              <a:t>ale</a:t>
            </a:r>
            <a:r>
              <a:rPr sz="1550" spc="25"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1;</a:t>
            </a:r>
            <a:r>
              <a:rPr sz="1550" spc="30" dirty="0">
                <a:latin typeface="Arial"/>
                <a:cs typeface="Arial"/>
              </a:rPr>
              <a:t> </a:t>
            </a:r>
            <a:r>
              <a:rPr sz="1550" dirty="0">
                <a:latin typeface="Arial"/>
                <a:cs typeface="Arial"/>
              </a:rPr>
              <a:t>start</a:t>
            </a:r>
            <a:r>
              <a:rPr sz="1550" spc="25"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1;oe</a:t>
            </a:r>
            <a:r>
              <a:rPr sz="1550" spc="30" dirty="0">
                <a:latin typeface="Arial"/>
                <a:cs typeface="Arial"/>
              </a:rPr>
              <a:t> </a:t>
            </a:r>
            <a:r>
              <a:rPr sz="1550" dirty="0">
                <a:latin typeface="Arial"/>
                <a:cs typeface="Arial"/>
              </a:rPr>
              <a:t>=</a:t>
            </a:r>
            <a:r>
              <a:rPr sz="1550" spc="30" dirty="0">
                <a:latin typeface="Arial"/>
                <a:cs typeface="Arial"/>
              </a:rPr>
              <a:t> </a:t>
            </a:r>
            <a:r>
              <a:rPr sz="1550" spc="-25" dirty="0">
                <a:latin typeface="Arial"/>
                <a:cs typeface="Arial"/>
              </a:rPr>
              <a:t>0; </a:t>
            </a:r>
            <a:r>
              <a:rPr sz="1550" dirty="0">
                <a:latin typeface="Arial"/>
                <a:cs typeface="Arial"/>
              </a:rPr>
              <a:t>next_state</a:t>
            </a:r>
            <a:r>
              <a:rPr sz="1550" spc="60" dirty="0">
                <a:latin typeface="Arial"/>
                <a:cs typeface="Arial"/>
              </a:rPr>
              <a:t> </a:t>
            </a:r>
            <a:r>
              <a:rPr sz="1550" dirty="0">
                <a:latin typeface="Arial"/>
                <a:cs typeface="Arial"/>
              </a:rPr>
              <a:t>=</a:t>
            </a:r>
            <a:r>
              <a:rPr sz="1550" spc="60" dirty="0">
                <a:latin typeface="Arial"/>
                <a:cs typeface="Arial"/>
              </a:rPr>
              <a:t> </a:t>
            </a:r>
            <a:r>
              <a:rPr sz="1550" spc="-25" dirty="0">
                <a:latin typeface="Arial"/>
                <a:cs typeface="Arial"/>
              </a:rPr>
              <a:t>s2;</a:t>
            </a:r>
            <a:endParaRPr sz="1550">
              <a:latin typeface="Arial"/>
              <a:cs typeface="Arial"/>
            </a:endParaRPr>
          </a:p>
          <a:p>
            <a:pPr marL="569595">
              <a:lnSpc>
                <a:spcPts val="1814"/>
              </a:lnSpc>
            </a:pPr>
            <a:r>
              <a:rPr sz="1550" b="1" spc="-25" dirty="0">
                <a:latin typeface="Arial"/>
                <a:cs typeface="Arial"/>
              </a:rPr>
              <a:t>end</a:t>
            </a:r>
            <a:endParaRPr sz="1550">
              <a:latin typeface="Arial"/>
              <a:cs typeface="Arial"/>
            </a:endParaRPr>
          </a:p>
        </p:txBody>
      </p:sp>
      <p:grpSp>
        <p:nvGrpSpPr>
          <p:cNvPr id="7" name="object 7"/>
          <p:cNvGrpSpPr/>
          <p:nvPr/>
        </p:nvGrpSpPr>
        <p:grpSpPr>
          <a:xfrm>
            <a:off x="4938407" y="1741170"/>
            <a:ext cx="5013960" cy="3489960"/>
            <a:chOff x="4938407" y="1741170"/>
            <a:chExt cx="5013960" cy="3489960"/>
          </a:xfrm>
        </p:grpSpPr>
        <p:sp>
          <p:nvSpPr>
            <p:cNvPr id="8" name="object 8"/>
            <p:cNvSpPr/>
            <p:nvPr/>
          </p:nvSpPr>
          <p:spPr>
            <a:xfrm>
              <a:off x="4942217" y="1744980"/>
              <a:ext cx="5006340" cy="3482340"/>
            </a:xfrm>
            <a:custGeom>
              <a:avLst/>
              <a:gdLst/>
              <a:ahLst/>
              <a:cxnLst/>
              <a:rect l="l" t="t" r="r" b="b"/>
              <a:pathLst>
                <a:path w="5006340" h="3482340">
                  <a:moveTo>
                    <a:pt x="5006340" y="3482340"/>
                  </a:moveTo>
                  <a:lnTo>
                    <a:pt x="5006340" y="0"/>
                  </a:lnTo>
                  <a:lnTo>
                    <a:pt x="0" y="0"/>
                  </a:lnTo>
                  <a:lnTo>
                    <a:pt x="0" y="3482340"/>
                  </a:lnTo>
                  <a:lnTo>
                    <a:pt x="5006340" y="3482340"/>
                  </a:lnTo>
                  <a:close/>
                </a:path>
              </a:pathLst>
            </a:custGeom>
            <a:solidFill>
              <a:srgbClr val="F9FABA"/>
            </a:solidFill>
          </p:spPr>
          <p:txBody>
            <a:bodyPr wrap="square" lIns="0" tIns="0" rIns="0" bIns="0" rtlCol="0"/>
            <a:lstStyle/>
            <a:p>
              <a:endParaRPr/>
            </a:p>
          </p:txBody>
        </p:sp>
        <p:sp>
          <p:nvSpPr>
            <p:cNvPr id="9" name="object 9"/>
            <p:cNvSpPr/>
            <p:nvPr/>
          </p:nvSpPr>
          <p:spPr>
            <a:xfrm>
              <a:off x="4938407" y="1741170"/>
              <a:ext cx="5013960" cy="3489960"/>
            </a:xfrm>
            <a:custGeom>
              <a:avLst/>
              <a:gdLst/>
              <a:ahLst/>
              <a:cxnLst/>
              <a:rect l="l" t="t" r="r" b="b"/>
              <a:pathLst>
                <a:path w="5013959" h="3489960">
                  <a:moveTo>
                    <a:pt x="5013960" y="3488436"/>
                  </a:moveTo>
                  <a:lnTo>
                    <a:pt x="5013960" y="1523"/>
                  </a:lnTo>
                  <a:lnTo>
                    <a:pt x="5012436" y="0"/>
                  </a:lnTo>
                  <a:lnTo>
                    <a:pt x="1523" y="0"/>
                  </a:lnTo>
                  <a:lnTo>
                    <a:pt x="0" y="1524"/>
                  </a:lnTo>
                  <a:lnTo>
                    <a:pt x="0" y="3488436"/>
                  </a:lnTo>
                  <a:lnTo>
                    <a:pt x="1524" y="3489960"/>
                  </a:lnTo>
                  <a:lnTo>
                    <a:pt x="3809" y="3489960"/>
                  </a:lnTo>
                  <a:lnTo>
                    <a:pt x="3810" y="8382"/>
                  </a:lnTo>
                  <a:lnTo>
                    <a:pt x="8382" y="3810"/>
                  </a:lnTo>
                  <a:lnTo>
                    <a:pt x="8381" y="8382"/>
                  </a:lnTo>
                  <a:lnTo>
                    <a:pt x="5005577" y="8381"/>
                  </a:lnTo>
                  <a:lnTo>
                    <a:pt x="5005577" y="3809"/>
                  </a:lnTo>
                  <a:lnTo>
                    <a:pt x="5010150" y="8381"/>
                  </a:lnTo>
                  <a:lnTo>
                    <a:pt x="5010150" y="3489960"/>
                  </a:lnTo>
                  <a:lnTo>
                    <a:pt x="5012436" y="3489960"/>
                  </a:lnTo>
                  <a:lnTo>
                    <a:pt x="5013960" y="3488436"/>
                  </a:lnTo>
                  <a:close/>
                </a:path>
                <a:path w="5013959" h="3489960">
                  <a:moveTo>
                    <a:pt x="8382" y="8382"/>
                  </a:moveTo>
                  <a:lnTo>
                    <a:pt x="8382" y="3810"/>
                  </a:lnTo>
                  <a:lnTo>
                    <a:pt x="3810" y="8382"/>
                  </a:lnTo>
                  <a:lnTo>
                    <a:pt x="8382" y="8382"/>
                  </a:lnTo>
                  <a:close/>
                </a:path>
                <a:path w="5013959" h="3489960">
                  <a:moveTo>
                    <a:pt x="8382" y="3481578"/>
                  </a:moveTo>
                  <a:lnTo>
                    <a:pt x="8382" y="8382"/>
                  </a:lnTo>
                  <a:lnTo>
                    <a:pt x="3810" y="8382"/>
                  </a:lnTo>
                  <a:lnTo>
                    <a:pt x="3810" y="3481578"/>
                  </a:lnTo>
                  <a:lnTo>
                    <a:pt x="8382" y="3481578"/>
                  </a:lnTo>
                  <a:close/>
                </a:path>
                <a:path w="5013959" h="3489960">
                  <a:moveTo>
                    <a:pt x="5010150" y="3481578"/>
                  </a:moveTo>
                  <a:lnTo>
                    <a:pt x="3810" y="3481578"/>
                  </a:lnTo>
                  <a:lnTo>
                    <a:pt x="8382" y="3486150"/>
                  </a:lnTo>
                  <a:lnTo>
                    <a:pt x="8382" y="3489960"/>
                  </a:lnTo>
                  <a:lnTo>
                    <a:pt x="5005577" y="3489960"/>
                  </a:lnTo>
                  <a:lnTo>
                    <a:pt x="5005577" y="3486150"/>
                  </a:lnTo>
                  <a:lnTo>
                    <a:pt x="5010150" y="3481578"/>
                  </a:lnTo>
                  <a:close/>
                </a:path>
                <a:path w="5013959" h="3489960">
                  <a:moveTo>
                    <a:pt x="8382" y="3489960"/>
                  </a:moveTo>
                  <a:lnTo>
                    <a:pt x="8382" y="3486150"/>
                  </a:lnTo>
                  <a:lnTo>
                    <a:pt x="3810" y="3481578"/>
                  </a:lnTo>
                  <a:lnTo>
                    <a:pt x="3809" y="3489960"/>
                  </a:lnTo>
                  <a:lnTo>
                    <a:pt x="8382" y="3489960"/>
                  </a:lnTo>
                  <a:close/>
                </a:path>
                <a:path w="5013959" h="3489960">
                  <a:moveTo>
                    <a:pt x="5010150" y="8381"/>
                  </a:moveTo>
                  <a:lnTo>
                    <a:pt x="5005577" y="3809"/>
                  </a:lnTo>
                  <a:lnTo>
                    <a:pt x="5005577" y="8381"/>
                  </a:lnTo>
                  <a:lnTo>
                    <a:pt x="5010150" y="8381"/>
                  </a:lnTo>
                  <a:close/>
                </a:path>
                <a:path w="5013959" h="3489960">
                  <a:moveTo>
                    <a:pt x="5010150" y="3481578"/>
                  </a:moveTo>
                  <a:lnTo>
                    <a:pt x="5010150" y="8381"/>
                  </a:lnTo>
                  <a:lnTo>
                    <a:pt x="5005577" y="8381"/>
                  </a:lnTo>
                  <a:lnTo>
                    <a:pt x="5005577" y="3481578"/>
                  </a:lnTo>
                  <a:lnTo>
                    <a:pt x="5010150" y="3481578"/>
                  </a:lnTo>
                  <a:close/>
                </a:path>
                <a:path w="5013959" h="3489960">
                  <a:moveTo>
                    <a:pt x="5010150" y="3489960"/>
                  </a:moveTo>
                  <a:lnTo>
                    <a:pt x="5010150" y="3481578"/>
                  </a:lnTo>
                  <a:lnTo>
                    <a:pt x="5005577" y="3486150"/>
                  </a:lnTo>
                  <a:lnTo>
                    <a:pt x="5005577" y="3489960"/>
                  </a:lnTo>
                  <a:lnTo>
                    <a:pt x="5010150" y="3489960"/>
                  </a:lnTo>
                  <a:close/>
                </a:path>
              </a:pathLst>
            </a:custGeom>
            <a:solidFill>
              <a:srgbClr val="FF0000"/>
            </a:solidFill>
          </p:spPr>
          <p:txBody>
            <a:bodyPr wrap="square" lIns="0" tIns="0" rIns="0" bIns="0" rtlCol="0"/>
            <a:lstStyle/>
            <a:p>
              <a:endParaRPr/>
            </a:p>
          </p:txBody>
        </p:sp>
      </p:grpSp>
      <p:sp>
        <p:nvSpPr>
          <p:cNvPr id="10" name="object 10"/>
          <p:cNvSpPr txBox="1">
            <a:spLocks noGrp="1"/>
          </p:cNvSpPr>
          <p:nvPr>
            <p:ph type="body" idx="1"/>
          </p:nvPr>
        </p:nvSpPr>
        <p:spPr>
          <a:prstGeom prst="rect">
            <a:avLst/>
          </a:prstGeom>
        </p:spPr>
        <p:txBody>
          <a:bodyPr vert="horz" wrap="square" lIns="0" tIns="15875" rIns="0" bIns="0" rtlCol="0">
            <a:spAutoFit/>
          </a:bodyPr>
          <a:lstStyle/>
          <a:p>
            <a:pPr marL="290830">
              <a:lnSpc>
                <a:spcPct val="100000"/>
              </a:lnSpc>
              <a:spcBef>
                <a:spcPts val="125"/>
              </a:spcBef>
            </a:pPr>
            <a:r>
              <a:rPr dirty="0"/>
              <a:t>s2</a:t>
            </a:r>
            <a:r>
              <a:rPr spc="20" dirty="0"/>
              <a:t> </a:t>
            </a:r>
            <a:r>
              <a:rPr spc="-50" dirty="0"/>
              <a:t>:</a:t>
            </a:r>
          </a:p>
          <a:p>
            <a:pPr marL="401955">
              <a:lnSpc>
                <a:spcPct val="100000"/>
              </a:lnSpc>
              <a:spcBef>
                <a:spcPts val="30"/>
              </a:spcBef>
            </a:pPr>
            <a:r>
              <a:rPr b="1" dirty="0">
                <a:latin typeface="Arial"/>
                <a:cs typeface="Arial"/>
              </a:rPr>
              <a:t>begin</a:t>
            </a:r>
            <a:r>
              <a:rPr b="1" spc="30" dirty="0">
                <a:latin typeface="Arial"/>
                <a:cs typeface="Arial"/>
              </a:rPr>
              <a:t> </a:t>
            </a:r>
            <a:r>
              <a:rPr dirty="0"/>
              <a:t>ale</a:t>
            </a:r>
            <a:r>
              <a:rPr spc="35" dirty="0"/>
              <a:t> </a:t>
            </a:r>
            <a:r>
              <a:rPr dirty="0"/>
              <a:t>=</a:t>
            </a:r>
            <a:r>
              <a:rPr spc="25" dirty="0"/>
              <a:t> </a:t>
            </a:r>
            <a:r>
              <a:rPr dirty="0"/>
              <a:t>0;</a:t>
            </a:r>
            <a:r>
              <a:rPr spc="25" dirty="0"/>
              <a:t> </a:t>
            </a:r>
            <a:r>
              <a:rPr dirty="0"/>
              <a:t>start</a:t>
            </a:r>
            <a:r>
              <a:rPr spc="25" dirty="0"/>
              <a:t> </a:t>
            </a:r>
            <a:r>
              <a:rPr dirty="0"/>
              <a:t>=</a:t>
            </a:r>
            <a:r>
              <a:rPr spc="30" dirty="0"/>
              <a:t> </a:t>
            </a:r>
            <a:r>
              <a:rPr dirty="0"/>
              <a:t>0;oe</a:t>
            </a:r>
            <a:r>
              <a:rPr spc="35" dirty="0"/>
              <a:t> </a:t>
            </a:r>
            <a:r>
              <a:rPr dirty="0"/>
              <a:t>=</a:t>
            </a:r>
            <a:r>
              <a:rPr spc="25" dirty="0"/>
              <a:t> </a:t>
            </a:r>
            <a:r>
              <a:rPr spc="-25" dirty="0"/>
              <a:t>0;</a:t>
            </a:r>
          </a:p>
          <a:p>
            <a:pPr marL="736600">
              <a:lnSpc>
                <a:spcPct val="100000"/>
              </a:lnSpc>
              <a:spcBef>
                <a:spcPts val="25"/>
              </a:spcBef>
            </a:pPr>
            <a:r>
              <a:rPr b="1" dirty="0">
                <a:latin typeface="Arial"/>
                <a:cs typeface="Arial"/>
              </a:rPr>
              <a:t>if</a:t>
            </a:r>
            <a:r>
              <a:rPr b="1" spc="50" dirty="0">
                <a:latin typeface="Arial"/>
                <a:cs typeface="Arial"/>
              </a:rPr>
              <a:t> </a:t>
            </a:r>
            <a:r>
              <a:rPr dirty="0"/>
              <a:t>(eoc</a:t>
            </a:r>
            <a:r>
              <a:rPr spc="20" dirty="0"/>
              <a:t> == </a:t>
            </a:r>
            <a:r>
              <a:rPr dirty="0"/>
              <a:t>1’b1)</a:t>
            </a:r>
            <a:r>
              <a:rPr spc="55" dirty="0"/>
              <a:t> </a:t>
            </a:r>
            <a:r>
              <a:rPr dirty="0"/>
              <a:t>next_state</a:t>
            </a:r>
            <a:r>
              <a:rPr spc="35" dirty="0"/>
              <a:t> = </a:t>
            </a:r>
            <a:r>
              <a:rPr dirty="0"/>
              <a:t>s3;</a:t>
            </a:r>
            <a:r>
              <a:rPr spc="45" dirty="0"/>
              <a:t> </a:t>
            </a:r>
            <a:r>
              <a:rPr dirty="0">
                <a:solidFill>
                  <a:srgbClr val="00B0EF"/>
                </a:solidFill>
              </a:rPr>
              <a:t>//</a:t>
            </a:r>
            <a:r>
              <a:rPr spc="-15" dirty="0">
                <a:solidFill>
                  <a:srgbClr val="00B0EF"/>
                </a:solidFill>
                <a:latin typeface="微软雅黑"/>
                <a:cs typeface="微软雅黑"/>
              </a:rPr>
              <a:t>转换结束</a:t>
            </a:r>
          </a:p>
          <a:p>
            <a:pPr marL="736600">
              <a:lnSpc>
                <a:spcPct val="100000"/>
              </a:lnSpc>
              <a:spcBef>
                <a:spcPts val="30"/>
              </a:spcBef>
            </a:pPr>
            <a:r>
              <a:rPr b="1" dirty="0">
                <a:latin typeface="Arial"/>
                <a:cs typeface="Arial"/>
              </a:rPr>
              <a:t>else</a:t>
            </a:r>
            <a:r>
              <a:rPr b="1" spc="65" dirty="0">
                <a:latin typeface="Arial"/>
                <a:cs typeface="Arial"/>
              </a:rPr>
              <a:t> </a:t>
            </a:r>
            <a:r>
              <a:rPr dirty="0"/>
              <a:t>next_state</a:t>
            </a:r>
            <a:r>
              <a:rPr spc="45" dirty="0"/>
              <a:t> = </a:t>
            </a:r>
            <a:r>
              <a:rPr dirty="0"/>
              <a:t>s2</a:t>
            </a:r>
            <a:r>
              <a:rPr spc="45" dirty="0"/>
              <a:t>;  </a:t>
            </a:r>
            <a:r>
              <a:rPr dirty="0">
                <a:solidFill>
                  <a:srgbClr val="00B0EF"/>
                </a:solidFill>
              </a:rPr>
              <a:t>//</a:t>
            </a:r>
            <a:r>
              <a:rPr spc="-5" dirty="0">
                <a:solidFill>
                  <a:srgbClr val="00B0EF"/>
                </a:solidFill>
                <a:latin typeface="微软雅黑"/>
                <a:cs typeface="微软雅黑"/>
              </a:rPr>
              <a:t>转换未结束，继续等待</a:t>
            </a:r>
          </a:p>
          <a:p>
            <a:pPr marL="457200">
              <a:lnSpc>
                <a:spcPct val="100000"/>
              </a:lnSpc>
              <a:spcBef>
                <a:spcPts val="50"/>
              </a:spcBef>
            </a:pPr>
            <a:r>
              <a:rPr b="1" spc="-25" dirty="0">
                <a:latin typeface="Arial"/>
                <a:cs typeface="Arial"/>
              </a:rPr>
              <a:t>end</a:t>
            </a:r>
          </a:p>
          <a:p>
            <a:pPr marL="290195">
              <a:lnSpc>
                <a:spcPct val="100000"/>
              </a:lnSpc>
              <a:spcBef>
                <a:spcPts val="35"/>
              </a:spcBef>
            </a:pPr>
            <a:r>
              <a:rPr dirty="0"/>
              <a:t>s3</a:t>
            </a:r>
            <a:r>
              <a:rPr spc="20" dirty="0"/>
              <a:t> </a:t>
            </a:r>
            <a:r>
              <a:rPr spc="-50" dirty="0"/>
              <a:t>:</a:t>
            </a:r>
          </a:p>
          <a:p>
            <a:pPr marL="457200">
              <a:lnSpc>
                <a:spcPct val="100000"/>
              </a:lnSpc>
              <a:spcBef>
                <a:spcPts val="30"/>
              </a:spcBef>
            </a:pPr>
            <a:r>
              <a:rPr b="1" dirty="0">
                <a:latin typeface="Arial"/>
                <a:cs typeface="Arial"/>
              </a:rPr>
              <a:t>begin</a:t>
            </a:r>
            <a:r>
              <a:rPr b="1" spc="30" dirty="0">
                <a:latin typeface="Arial"/>
                <a:cs typeface="Arial"/>
              </a:rPr>
              <a:t> </a:t>
            </a:r>
            <a:r>
              <a:rPr dirty="0"/>
              <a:t>ale</a:t>
            </a:r>
            <a:r>
              <a:rPr spc="35" dirty="0"/>
              <a:t> </a:t>
            </a:r>
            <a:r>
              <a:rPr dirty="0"/>
              <a:t>=</a:t>
            </a:r>
            <a:r>
              <a:rPr spc="35" dirty="0"/>
              <a:t> </a:t>
            </a:r>
            <a:r>
              <a:rPr dirty="0"/>
              <a:t>0;</a:t>
            </a:r>
            <a:r>
              <a:rPr spc="35" dirty="0"/>
              <a:t> </a:t>
            </a:r>
            <a:r>
              <a:rPr dirty="0"/>
              <a:t>start</a:t>
            </a:r>
            <a:r>
              <a:rPr spc="30" dirty="0"/>
              <a:t> </a:t>
            </a:r>
            <a:r>
              <a:rPr dirty="0"/>
              <a:t>=</a:t>
            </a:r>
            <a:r>
              <a:rPr spc="35" dirty="0"/>
              <a:t> </a:t>
            </a:r>
            <a:r>
              <a:rPr spc="-25" dirty="0"/>
              <a:t>0;</a:t>
            </a:r>
          </a:p>
          <a:p>
            <a:pPr marL="680720" marR="1763395">
              <a:lnSpc>
                <a:spcPts val="1900"/>
              </a:lnSpc>
              <a:spcBef>
                <a:spcPts val="55"/>
              </a:spcBef>
            </a:pPr>
            <a:r>
              <a:rPr dirty="0"/>
              <a:t>oe</a:t>
            </a:r>
            <a:r>
              <a:rPr spc="35" dirty="0"/>
              <a:t> = </a:t>
            </a:r>
            <a:r>
              <a:rPr dirty="0"/>
              <a:t>1;</a:t>
            </a:r>
            <a:r>
              <a:rPr spc="75" dirty="0"/>
              <a:t> </a:t>
            </a:r>
            <a:r>
              <a:rPr dirty="0">
                <a:solidFill>
                  <a:srgbClr val="00B0EF"/>
                </a:solidFill>
              </a:rPr>
              <a:t>//</a:t>
            </a:r>
            <a:r>
              <a:rPr spc="-10" dirty="0">
                <a:solidFill>
                  <a:srgbClr val="00B0EF"/>
                </a:solidFill>
                <a:latin typeface="微软雅黑"/>
                <a:cs typeface="微软雅黑"/>
              </a:rPr>
              <a:t>使能转换数据输出</a:t>
            </a:r>
            <a:r>
              <a:rPr spc="-50" dirty="0">
                <a:solidFill>
                  <a:srgbClr val="00B0EF"/>
                </a:solidFill>
                <a:latin typeface="微软雅黑"/>
                <a:cs typeface="微软雅黑"/>
              </a:rPr>
              <a:t> </a:t>
            </a:r>
            <a:r>
              <a:rPr dirty="0"/>
              <a:t>next_state</a:t>
            </a:r>
            <a:r>
              <a:rPr spc="35" dirty="0"/>
              <a:t> = </a:t>
            </a:r>
            <a:r>
              <a:rPr spc="-25" dirty="0"/>
              <a:t>s0;</a:t>
            </a:r>
          </a:p>
          <a:p>
            <a:pPr marL="457200">
              <a:lnSpc>
                <a:spcPts val="1830"/>
              </a:lnSpc>
            </a:pPr>
            <a:r>
              <a:rPr b="1" spc="-25" dirty="0">
                <a:latin typeface="Arial"/>
                <a:cs typeface="Arial"/>
              </a:rPr>
              <a:t>end</a:t>
            </a:r>
          </a:p>
          <a:p>
            <a:pPr marL="179070" marR="3740150" indent="111125">
              <a:lnSpc>
                <a:spcPct val="101600"/>
              </a:lnSpc>
              <a:spcBef>
                <a:spcPts val="5"/>
              </a:spcBef>
            </a:pPr>
            <a:r>
              <a:rPr b="1" spc="-10" dirty="0">
                <a:latin typeface="Arial"/>
                <a:cs typeface="Arial"/>
              </a:rPr>
              <a:t>endcase </a:t>
            </a:r>
            <a:r>
              <a:rPr b="1" spc="-25" dirty="0">
                <a:latin typeface="Arial"/>
                <a:cs typeface="Arial"/>
              </a:rPr>
              <a:t>end</a:t>
            </a:r>
          </a:p>
          <a:p>
            <a:pPr marL="12700">
              <a:lnSpc>
                <a:spcPct val="100000"/>
              </a:lnSpc>
              <a:spcBef>
                <a:spcPts val="35"/>
              </a:spcBef>
            </a:pPr>
            <a:r>
              <a:rPr b="1" spc="-10" dirty="0">
                <a:latin typeface="Arial"/>
                <a:cs typeface="Arial"/>
              </a:rPr>
              <a:t>endmodule</a:t>
            </a:r>
          </a:p>
        </p:txBody>
      </p:sp>
      <p:sp>
        <p:nvSpPr>
          <p:cNvPr id="11" name="object 11"/>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12" name="object 12"/>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37</a:t>
            </a:fld>
            <a:endParaRPr spc="-2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t>ADC</a:t>
            </a:r>
            <a:r>
              <a:rPr spc="-15" dirty="0"/>
              <a:t>采样控制电路两个组合过程实现代码</a:t>
            </a:r>
          </a:p>
        </p:txBody>
      </p:sp>
      <p:grpSp>
        <p:nvGrpSpPr>
          <p:cNvPr id="3" name="object 3"/>
          <p:cNvGrpSpPr/>
          <p:nvPr/>
        </p:nvGrpSpPr>
        <p:grpSpPr>
          <a:xfrm>
            <a:off x="221627" y="1741170"/>
            <a:ext cx="4725670" cy="3976370"/>
            <a:chOff x="221627" y="1741170"/>
            <a:chExt cx="4725670" cy="3976370"/>
          </a:xfrm>
        </p:grpSpPr>
        <p:sp>
          <p:nvSpPr>
            <p:cNvPr id="4" name="object 4"/>
            <p:cNvSpPr/>
            <p:nvPr/>
          </p:nvSpPr>
          <p:spPr>
            <a:xfrm>
              <a:off x="226199" y="1744980"/>
              <a:ext cx="4716145" cy="3968115"/>
            </a:xfrm>
            <a:custGeom>
              <a:avLst/>
              <a:gdLst/>
              <a:ahLst/>
              <a:cxnLst/>
              <a:rect l="l" t="t" r="r" b="b"/>
              <a:pathLst>
                <a:path w="4716145" h="3968115">
                  <a:moveTo>
                    <a:pt x="4716017" y="3967734"/>
                  </a:moveTo>
                  <a:lnTo>
                    <a:pt x="4716017" y="0"/>
                  </a:lnTo>
                  <a:lnTo>
                    <a:pt x="0" y="0"/>
                  </a:lnTo>
                  <a:lnTo>
                    <a:pt x="0" y="3967734"/>
                  </a:lnTo>
                  <a:lnTo>
                    <a:pt x="4716017" y="3967734"/>
                  </a:lnTo>
                  <a:close/>
                </a:path>
              </a:pathLst>
            </a:custGeom>
            <a:solidFill>
              <a:srgbClr val="F9FABA"/>
            </a:solidFill>
          </p:spPr>
          <p:txBody>
            <a:bodyPr wrap="square" lIns="0" tIns="0" rIns="0" bIns="0" rtlCol="0"/>
            <a:lstStyle/>
            <a:p>
              <a:endParaRPr/>
            </a:p>
          </p:txBody>
        </p:sp>
        <p:sp>
          <p:nvSpPr>
            <p:cNvPr id="5" name="object 5"/>
            <p:cNvSpPr/>
            <p:nvPr/>
          </p:nvSpPr>
          <p:spPr>
            <a:xfrm>
              <a:off x="221627" y="1741170"/>
              <a:ext cx="4725670" cy="3976370"/>
            </a:xfrm>
            <a:custGeom>
              <a:avLst/>
              <a:gdLst/>
              <a:ahLst/>
              <a:cxnLst/>
              <a:rect l="l" t="t" r="r" b="b"/>
              <a:pathLst>
                <a:path w="4725670" h="3976370">
                  <a:moveTo>
                    <a:pt x="4725162" y="3973830"/>
                  </a:moveTo>
                  <a:lnTo>
                    <a:pt x="4725162" y="1523"/>
                  </a:lnTo>
                  <a:lnTo>
                    <a:pt x="4723638" y="0"/>
                  </a:lnTo>
                  <a:lnTo>
                    <a:pt x="1523" y="0"/>
                  </a:lnTo>
                  <a:lnTo>
                    <a:pt x="0" y="1524"/>
                  </a:lnTo>
                  <a:lnTo>
                    <a:pt x="0" y="3973830"/>
                  </a:lnTo>
                  <a:lnTo>
                    <a:pt x="1524" y="3976116"/>
                  </a:lnTo>
                  <a:lnTo>
                    <a:pt x="4571" y="3976116"/>
                  </a:lnTo>
                  <a:lnTo>
                    <a:pt x="4572" y="8382"/>
                  </a:lnTo>
                  <a:lnTo>
                    <a:pt x="8382" y="3810"/>
                  </a:lnTo>
                  <a:lnTo>
                    <a:pt x="8382" y="8382"/>
                  </a:lnTo>
                  <a:lnTo>
                    <a:pt x="4716780" y="8381"/>
                  </a:lnTo>
                  <a:lnTo>
                    <a:pt x="4716780" y="3809"/>
                  </a:lnTo>
                  <a:lnTo>
                    <a:pt x="4720590" y="8381"/>
                  </a:lnTo>
                  <a:lnTo>
                    <a:pt x="4720590" y="3976116"/>
                  </a:lnTo>
                  <a:lnTo>
                    <a:pt x="4723638" y="3976116"/>
                  </a:lnTo>
                  <a:lnTo>
                    <a:pt x="4725162" y="3973830"/>
                  </a:lnTo>
                  <a:close/>
                </a:path>
                <a:path w="4725670" h="3976370">
                  <a:moveTo>
                    <a:pt x="8382" y="8382"/>
                  </a:moveTo>
                  <a:lnTo>
                    <a:pt x="8382" y="3810"/>
                  </a:lnTo>
                  <a:lnTo>
                    <a:pt x="4572" y="8382"/>
                  </a:lnTo>
                  <a:lnTo>
                    <a:pt x="8382" y="8382"/>
                  </a:lnTo>
                  <a:close/>
                </a:path>
                <a:path w="4725670" h="3976370">
                  <a:moveTo>
                    <a:pt x="8382" y="3967734"/>
                  </a:moveTo>
                  <a:lnTo>
                    <a:pt x="8382" y="8382"/>
                  </a:lnTo>
                  <a:lnTo>
                    <a:pt x="4572" y="8382"/>
                  </a:lnTo>
                  <a:lnTo>
                    <a:pt x="4572" y="3967734"/>
                  </a:lnTo>
                  <a:lnTo>
                    <a:pt x="8382" y="3967734"/>
                  </a:lnTo>
                  <a:close/>
                </a:path>
                <a:path w="4725670" h="3976370">
                  <a:moveTo>
                    <a:pt x="4720590" y="3967734"/>
                  </a:moveTo>
                  <a:lnTo>
                    <a:pt x="4572" y="3967734"/>
                  </a:lnTo>
                  <a:lnTo>
                    <a:pt x="8382" y="3971544"/>
                  </a:lnTo>
                  <a:lnTo>
                    <a:pt x="8381" y="3976116"/>
                  </a:lnTo>
                  <a:lnTo>
                    <a:pt x="4716780" y="3976116"/>
                  </a:lnTo>
                  <a:lnTo>
                    <a:pt x="4716780" y="3971544"/>
                  </a:lnTo>
                  <a:lnTo>
                    <a:pt x="4720590" y="3967734"/>
                  </a:lnTo>
                  <a:close/>
                </a:path>
                <a:path w="4725670" h="3976370">
                  <a:moveTo>
                    <a:pt x="8381" y="3976116"/>
                  </a:moveTo>
                  <a:lnTo>
                    <a:pt x="8382" y="3971544"/>
                  </a:lnTo>
                  <a:lnTo>
                    <a:pt x="4572" y="3967734"/>
                  </a:lnTo>
                  <a:lnTo>
                    <a:pt x="4571" y="3976116"/>
                  </a:lnTo>
                  <a:lnTo>
                    <a:pt x="8381" y="3976116"/>
                  </a:lnTo>
                  <a:close/>
                </a:path>
                <a:path w="4725670" h="3976370">
                  <a:moveTo>
                    <a:pt x="4720590" y="8381"/>
                  </a:moveTo>
                  <a:lnTo>
                    <a:pt x="4716780" y="3809"/>
                  </a:lnTo>
                  <a:lnTo>
                    <a:pt x="4716780" y="8381"/>
                  </a:lnTo>
                  <a:lnTo>
                    <a:pt x="4720590" y="8381"/>
                  </a:lnTo>
                  <a:close/>
                </a:path>
                <a:path w="4725670" h="3976370">
                  <a:moveTo>
                    <a:pt x="4720590" y="3967734"/>
                  </a:moveTo>
                  <a:lnTo>
                    <a:pt x="4720590" y="8381"/>
                  </a:lnTo>
                  <a:lnTo>
                    <a:pt x="4716780" y="8381"/>
                  </a:lnTo>
                  <a:lnTo>
                    <a:pt x="4716780" y="3967734"/>
                  </a:lnTo>
                  <a:lnTo>
                    <a:pt x="4720590" y="3967734"/>
                  </a:lnTo>
                  <a:close/>
                </a:path>
                <a:path w="4725670" h="3976370">
                  <a:moveTo>
                    <a:pt x="4720590" y="3976116"/>
                  </a:moveTo>
                  <a:lnTo>
                    <a:pt x="4720590" y="3967734"/>
                  </a:lnTo>
                  <a:lnTo>
                    <a:pt x="4716780" y="3971544"/>
                  </a:lnTo>
                  <a:lnTo>
                    <a:pt x="4716780" y="3976116"/>
                  </a:lnTo>
                  <a:lnTo>
                    <a:pt x="4720590" y="3976116"/>
                  </a:lnTo>
                  <a:close/>
                </a:path>
              </a:pathLst>
            </a:custGeom>
            <a:solidFill>
              <a:srgbClr val="FF0000"/>
            </a:solidFill>
          </p:spPr>
          <p:txBody>
            <a:bodyPr wrap="square" lIns="0" tIns="0" rIns="0" bIns="0" rtlCol="0"/>
            <a:lstStyle/>
            <a:p>
              <a:endParaRPr/>
            </a:p>
          </p:txBody>
        </p:sp>
      </p:grpSp>
      <p:sp>
        <p:nvSpPr>
          <p:cNvPr id="6" name="object 6"/>
          <p:cNvSpPr txBox="1"/>
          <p:nvPr/>
        </p:nvSpPr>
        <p:spPr>
          <a:xfrm>
            <a:off x="292707" y="1766570"/>
            <a:ext cx="4562475" cy="3632835"/>
          </a:xfrm>
          <a:prstGeom prst="rect">
            <a:avLst/>
          </a:prstGeom>
        </p:spPr>
        <p:txBody>
          <a:bodyPr vert="horz" wrap="square" lIns="0" tIns="15875" rIns="0" bIns="0" rtlCol="0">
            <a:spAutoFit/>
          </a:bodyPr>
          <a:lstStyle/>
          <a:p>
            <a:pPr marL="123825">
              <a:lnSpc>
                <a:spcPct val="100000"/>
              </a:lnSpc>
              <a:spcBef>
                <a:spcPts val="125"/>
              </a:spcBef>
            </a:pPr>
            <a:r>
              <a:rPr sz="1550" b="1" dirty="0">
                <a:latin typeface="Arial"/>
                <a:cs typeface="Arial"/>
              </a:rPr>
              <a:t>always</a:t>
            </a:r>
            <a:r>
              <a:rPr sz="1550" b="1" spc="465" dirty="0">
                <a:latin typeface="Arial"/>
                <a:cs typeface="Arial"/>
              </a:rPr>
              <a:t> </a:t>
            </a:r>
            <a:r>
              <a:rPr sz="1550" spc="-25" dirty="0">
                <a:latin typeface="Arial"/>
                <a:cs typeface="Arial"/>
              </a:rPr>
              <a:t>@*</a:t>
            </a:r>
            <a:endParaRPr sz="1550" dirty="0">
              <a:latin typeface="Arial"/>
              <a:cs typeface="Arial"/>
            </a:endParaRPr>
          </a:p>
          <a:p>
            <a:pPr marL="234950">
              <a:lnSpc>
                <a:spcPct val="100000"/>
              </a:lnSpc>
              <a:spcBef>
                <a:spcPts val="30"/>
              </a:spcBef>
            </a:pPr>
            <a:r>
              <a:rPr sz="1550" b="1" spc="-10" dirty="0">
                <a:latin typeface="Arial"/>
                <a:cs typeface="Arial"/>
              </a:rPr>
              <a:t>begin</a:t>
            </a:r>
            <a:endParaRPr sz="1550" dirty="0">
              <a:latin typeface="Arial"/>
              <a:cs typeface="Arial"/>
            </a:endParaRPr>
          </a:p>
          <a:p>
            <a:pPr marL="513715" marR="2210435" indent="-167640">
              <a:lnSpc>
                <a:spcPct val="101800"/>
              </a:lnSpc>
              <a:spcBef>
                <a:spcPts val="5"/>
              </a:spcBef>
            </a:pPr>
            <a:r>
              <a:rPr sz="1550" b="1" dirty="0">
                <a:latin typeface="Arial"/>
                <a:cs typeface="Arial"/>
              </a:rPr>
              <a:t>case</a:t>
            </a:r>
            <a:r>
              <a:rPr sz="1550" dirty="0">
                <a:latin typeface="Arial"/>
                <a:cs typeface="Arial"/>
              </a:rPr>
              <a:t>(</a:t>
            </a:r>
            <a:r>
              <a:rPr sz="1550" spc="65" dirty="0">
                <a:latin typeface="Arial"/>
                <a:cs typeface="Arial"/>
              </a:rPr>
              <a:t> </a:t>
            </a:r>
            <a:r>
              <a:rPr sz="1550" dirty="0">
                <a:latin typeface="Arial"/>
                <a:cs typeface="Arial"/>
              </a:rPr>
              <a:t>state_reg</a:t>
            </a:r>
            <a:r>
              <a:rPr sz="1550" spc="50" dirty="0">
                <a:latin typeface="Arial"/>
                <a:cs typeface="Arial"/>
              </a:rPr>
              <a:t> </a:t>
            </a:r>
            <a:r>
              <a:rPr sz="1550" spc="-50" dirty="0">
                <a:latin typeface="Arial"/>
                <a:cs typeface="Arial"/>
              </a:rPr>
              <a:t>) </a:t>
            </a:r>
            <a:endParaRPr lang="en-US" sz="1550" spc="-50" dirty="0">
              <a:latin typeface="Arial"/>
              <a:cs typeface="Arial"/>
            </a:endParaRPr>
          </a:p>
          <a:p>
            <a:pPr marL="513715" marR="2210435" indent="-167640">
              <a:lnSpc>
                <a:spcPct val="101800"/>
              </a:lnSpc>
              <a:spcBef>
                <a:spcPts val="5"/>
              </a:spcBef>
            </a:pPr>
            <a:r>
              <a:rPr sz="1550" dirty="0">
                <a:latin typeface="Arial"/>
                <a:cs typeface="Arial"/>
              </a:rPr>
              <a:t>s0</a:t>
            </a:r>
            <a:r>
              <a:rPr sz="1550" dirty="0">
                <a:latin typeface="微软雅黑"/>
                <a:cs typeface="微软雅黑"/>
              </a:rPr>
              <a:t>：</a:t>
            </a:r>
            <a:r>
              <a:rPr sz="1550" dirty="0">
                <a:latin typeface="Arial"/>
                <a:cs typeface="Arial"/>
              </a:rPr>
              <a:t>next_state</a:t>
            </a:r>
            <a:r>
              <a:rPr sz="1550" spc="65" dirty="0">
                <a:latin typeface="Arial"/>
                <a:cs typeface="Arial"/>
              </a:rPr>
              <a:t> </a:t>
            </a:r>
            <a:r>
              <a:rPr sz="1550" dirty="0">
                <a:latin typeface="Arial"/>
                <a:cs typeface="Arial"/>
              </a:rPr>
              <a:t>=</a:t>
            </a:r>
            <a:r>
              <a:rPr sz="1550" spc="70" dirty="0">
                <a:latin typeface="Arial"/>
                <a:cs typeface="Arial"/>
              </a:rPr>
              <a:t> </a:t>
            </a:r>
            <a:r>
              <a:rPr sz="1550" spc="-25" dirty="0">
                <a:latin typeface="Arial"/>
                <a:cs typeface="Arial"/>
              </a:rPr>
              <a:t>s1;</a:t>
            </a:r>
            <a:r>
              <a:rPr lang="zh-CN" altLang="en-US" sz="1550" spc="-25" dirty="0">
                <a:latin typeface="Arial"/>
                <a:cs typeface="Arial"/>
              </a:rPr>
              <a:t> </a:t>
            </a:r>
            <a:r>
              <a:rPr sz="1550" dirty="0">
                <a:latin typeface="Arial"/>
                <a:cs typeface="Arial"/>
              </a:rPr>
              <a:t>s1</a:t>
            </a:r>
            <a:r>
              <a:rPr sz="1550" spc="40" dirty="0">
                <a:latin typeface="Arial"/>
                <a:cs typeface="Arial"/>
              </a:rPr>
              <a:t> </a:t>
            </a:r>
            <a:r>
              <a:rPr sz="1550" dirty="0">
                <a:latin typeface="Arial"/>
                <a:cs typeface="Arial"/>
              </a:rPr>
              <a:t>:</a:t>
            </a:r>
            <a:r>
              <a:rPr sz="1550" spc="35" dirty="0">
                <a:latin typeface="Arial"/>
                <a:cs typeface="Arial"/>
              </a:rPr>
              <a:t> </a:t>
            </a:r>
            <a:r>
              <a:rPr sz="1550" dirty="0">
                <a:latin typeface="Arial"/>
                <a:cs typeface="Arial"/>
              </a:rPr>
              <a:t>next_state</a:t>
            </a:r>
            <a:r>
              <a:rPr sz="1550" spc="40" dirty="0">
                <a:latin typeface="Arial"/>
                <a:cs typeface="Arial"/>
              </a:rPr>
              <a:t> </a:t>
            </a:r>
            <a:r>
              <a:rPr sz="1550" dirty="0">
                <a:latin typeface="Arial"/>
                <a:cs typeface="Arial"/>
              </a:rPr>
              <a:t>=</a:t>
            </a:r>
            <a:r>
              <a:rPr sz="1550" spc="40" dirty="0">
                <a:latin typeface="Arial"/>
                <a:cs typeface="Arial"/>
              </a:rPr>
              <a:t> </a:t>
            </a:r>
            <a:r>
              <a:rPr sz="1550" spc="-25" dirty="0">
                <a:latin typeface="Arial"/>
                <a:cs typeface="Arial"/>
              </a:rPr>
              <a:t>s2; </a:t>
            </a:r>
            <a:r>
              <a:rPr sz="1550" dirty="0">
                <a:latin typeface="Arial"/>
                <a:cs typeface="Arial"/>
              </a:rPr>
              <a:t>s2</a:t>
            </a:r>
            <a:r>
              <a:rPr sz="1550" spc="15" dirty="0">
                <a:latin typeface="Arial"/>
                <a:cs typeface="Arial"/>
              </a:rPr>
              <a:t> </a:t>
            </a:r>
            <a:r>
              <a:rPr sz="1550" spc="-50" dirty="0">
                <a:latin typeface="Arial"/>
                <a:cs typeface="Arial"/>
              </a:rPr>
              <a:t>:</a:t>
            </a:r>
            <a:endParaRPr sz="1550" dirty="0">
              <a:latin typeface="Arial"/>
              <a:cs typeface="Arial"/>
            </a:endParaRPr>
          </a:p>
          <a:p>
            <a:pPr marL="680720">
              <a:lnSpc>
                <a:spcPct val="100000"/>
              </a:lnSpc>
              <a:spcBef>
                <a:spcPts val="30"/>
              </a:spcBef>
            </a:pPr>
            <a:r>
              <a:rPr sz="1550" b="1" dirty="0">
                <a:latin typeface="Arial"/>
                <a:cs typeface="Arial"/>
              </a:rPr>
              <a:t>if</a:t>
            </a:r>
            <a:r>
              <a:rPr sz="1550" b="1" spc="25" dirty="0">
                <a:latin typeface="Arial"/>
                <a:cs typeface="Arial"/>
              </a:rPr>
              <a:t> </a:t>
            </a:r>
            <a:r>
              <a:rPr sz="1550" dirty="0">
                <a:latin typeface="Arial"/>
                <a:cs typeface="Arial"/>
              </a:rPr>
              <a:t>(eoc</a:t>
            </a:r>
            <a:r>
              <a:rPr sz="1550" spc="35" dirty="0">
                <a:latin typeface="Arial"/>
                <a:cs typeface="Arial"/>
              </a:rPr>
              <a:t> </a:t>
            </a:r>
            <a:r>
              <a:rPr sz="1550" dirty="0">
                <a:latin typeface="Arial"/>
                <a:cs typeface="Arial"/>
              </a:rPr>
              <a:t>==</a:t>
            </a:r>
            <a:r>
              <a:rPr sz="1550" spc="25" dirty="0">
                <a:latin typeface="Arial"/>
                <a:cs typeface="Arial"/>
              </a:rPr>
              <a:t> </a:t>
            </a:r>
            <a:r>
              <a:rPr sz="1550" spc="-10" dirty="0">
                <a:latin typeface="Arial"/>
                <a:cs typeface="Arial"/>
              </a:rPr>
              <a:t>1’b1)</a:t>
            </a:r>
            <a:endParaRPr sz="1550" dirty="0">
              <a:latin typeface="Arial"/>
              <a:cs typeface="Arial"/>
            </a:endParaRPr>
          </a:p>
          <a:p>
            <a:pPr marL="902969">
              <a:lnSpc>
                <a:spcPct val="100000"/>
              </a:lnSpc>
              <a:spcBef>
                <a:spcPts val="25"/>
              </a:spcBef>
            </a:pPr>
            <a:r>
              <a:rPr sz="1550" dirty="0">
                <a:latin typeface="Arial"/>
                <a:cs typeface="Arial"/>
              </a:rPr>
              <a:t>next_state</a:t>
            </a:r>
            <a:r>
              <a:rPr sz="1550" spc="45" dirty="0">
                <a:latin typeface="Arial"/>
                <a:cs typeface="Arial"/>
              </a:rPr>
              <a:t> = </a:t>
            </a:r>
            <a:r>
              <a:rPr sz="1550" dirty="0">
                <a:latin typeface="Arial"/>
                <a:cs typeface="Arial"/>
              </a:rPr>
              <a:t>s3</a:t>
            </a:r>
            <a:r>
              <a:rPr sz="1550" spc="40" dirty="0">
                <a:latin typeface="Arial"/>
                <a:cs typeface="Arial"/>
              </a:rPr>
              <a:t>; </a:t>
            </a:r>
            <a:r>
              <a:rPr sz="1550" dirty="0">
                <a:solidFill>
                  <a:srgbClr val="00B0EF"/>
                </a:solidFill>
                <a:latin typeface="Arial"/>
                <a:cs typeface="Arial"/>
              </a:rPr>
              <a:t>//</a:t>
            </a:r>
            <a:r>
              <a:rPr sz="1550" spc="-15" dirty="0">
                <a:solidFill>
                  <a:srgbClr val="00B0EF"/>
                </a:solidFill>
                <a:latin typeface="微软雅黑"/>
                <a:cs typeface="微软雅黑"/>
              </a:rPr>
              <a:t>转换结束</a:t>
            </a:r>
            <a:endParaRPr sz="1550" dirty="0">
              <a:latin typeface="微软雅黑"/>
              <a:cs typeface="微软雅黑"/>
            </a:endParaRPr>
          </a:p>
          <a:p>
            <a:pPr marL="680720">
              <a:lnSpc>
                <a:spcPct val="100000"/>
              </a:lnSpc>
              <a:spcBef>
                <a:spcPts val="40"/>
              </a:spcBef>
            </a:pPr>
            <a:r>
              <a:rPr sz="1550" b="1" spc="-20" dirty="0">
                <a:latin typeface="Arial"/>
                <a:cs typeface="Arial"/>
              </a:rPr>
              <a:t>else</a:t>
            </a:r>
            <a:endParaRPr sz="1550" dirty="0">
              <a:latin typeface="Arial"/>
              <a:cs typeface="Arial"/>
            </a:endParaRPr>
          </a:p>
          <a:p>
            <a:pPr marL="902969">
              <a:lnSpc>
                <a:spcPct val="100000"/>
              </a:lnSpc>
              <a:spcBef>
                <a:spcPts val="25"/>
              </a:spcBef>
            </a:pPr>
            <a:r>
              <a:rPr sz="1550" dirty="0">
                <a:latin typeface="Arial"/>
                <a:cs typeface="Arial"/>
              </a:rPr>
              <a:t>next_state</a:t>
            </a:r>
            <a:r>
              <a:rPr sz="1550" spc="50" dirty="0">
                <a:latin typeface="Arial"/>
                <a:cs typeface="Arial"/>
              </a:rPr>
              <a:t> = </a:t>
            </a:r>
            <a:r>
              <a:rPr sz="1550" dirty="0">
                <a:latin typeface="Arial"/>
                <a:cs typeface="Arial"/>
              </a:rPr>
              <a:t>s2</a:t>
            </a:r>
            <a:r>
              <a:rPr sz="1550" spc="50" dirty="0">
                <a:latin typeface="Arial"/>
                <a:cs typeface="Arial"/>
              </a:rPr>
              <a:t>;  </a:t>
            </a:r>
            <a:r>
              <a:rPr sz="1550" dirty="0">
                <a:solidFill>
                  <a:srgbClr val="00B0EF"/>
                </a:solidFill>
                <a:latin typeface="Arial"/>
                <a:cs typeface="Arial"/>
              </a:rPr>
              <a:t>//</a:t>
            </a:r>
            <a:r>
              <a:rPr sz="1550" spc="-5" dirty="0">
                <a:solidFill>
                  <a:srgbClr val="00B0EF"/>
                </a:solidFill>
                <a:latin typeface="微软雅黑"/>
                <a:cs typeface="微软雅黑"/>
              </a:rPr>
              <a:t>转换未结束，继续等待</a:t>
            </a:r>
            <a:endParaRPr sz="1550" dirty="0">
              <a:latin typeface="微软雅黑"/>
              <a:cs typeface="微软雅黑"/>
            </a:endParaRPr>
          </a:p>
          <a:p>
            <a:pPr marL="513715">
              <a:lnSpc>
                <a:spcPct val="100000"/>
              </a:lnSpc>
              <a:spcBef>
                <a:spcPts val="45"/>
              </a:spcBef>
            </a:pPr>
            <a:r>
              <a:rPr sz="1550" dirty="0">
                <a:latin typeface="Arial"/>
                <a:cs typeface="Arial"/>
              </a:rPr>
              <a:t>s3</a:t>
            </a:r>
            <a:r>
              <a:rPr sz="1550" spc="15" dirty="0">
                <a:latin typeface="Arial"/>
                <a:cs typeface="Arial"/>
              </a:rPr>
              <a:t> </a:t>
            </a:r>
            <a:r>
              <a:rPr sz="1550" spc="-50" dirty="0">
                <a:latin typeface="Arial"/>
                <a:cs typeface="Arial"/>
              </a:rPr>
              <a:t>:</a:t>
            </a:r>
            <a:endParaRPr sz="1550" dirty="0">
              <a:latin typeface="Arial"/>
              <a:cs typeface="Arial"/>
            </a:endParaRPr>
          </a:p>
          <a:p>
            <a:pPr marL="680720">
              <a:lnSpc>
                <a:spcPct val="100000"/>
              </a:lnSpc>
              <a:spcBef>
                <a:spcPts val="30"/>
              </a:spcBef>
            </a:pPr>
            <a:r>
              <a:rPr sz="1550" dirty="0">
                <a:latin typeface="Arial"/>
                <a:cs typeface="Arial"/>
              </a:rPr>
              <a:t>next_state</a:t>
            </a:r>
            <a:r>
              <a:rPr sz="1550" spc="50" dirty="0">
                <a:latin typeface="Arial"/>
                <a:cs typeface="Arial"/>
              </a:rPr>
              <a:t> </a:t>
            </a:r>
            <a:r>
              <a:rPr sz="1550" dirty="0">
                <a:latin typeface="Arial"/>
                <a:cs typeface="Arial"/>
              </a:rPr>
              <a:t>=</a:t>
            </a:r>
            <a:r>
              <a:rPr sz="1550" spc="70" dirty="0">
                <a:latin typeface="Arial"/>
                <a:cs typeface="Arial"/>
              </a:rPr>
              <a:t> </a:t>
            </a:r>
            <a:r>
              <a:rPr sz="1550" spc="-25" dirty="0">
                <a:latin typeface="Arial"/>
                <a:cs typeface="Arial"/>
              </a:rPr>
              <a:t>s0;</a:t>
            </a:r>
            <a:endParaRPr sz="1550" dirty="0">
              <a:latin typeface="Arial"/>
              <a:cs typeface="Arial"/>
            </a:endParaRPr>
          </a:p>
          <a:p>
            <a:pPr marL="179070" marR="3573145" indent="166370">
              <a:lnSpc>
                <a:spcPct val="101600"/>
              </a:lnSpc>
              <a:spcBef>
                <a:spcPts val="10"/>
              </a:spcBef>
            </a:pPr>
            <a:r>
              <a:rPr sz="1550" b="1" spc="-25" dirty="0">
                <a:latin typeface="Arial"/>
                <a:cs typeface="Arial"/>
              </a:rPr>
              <a:t>end </a:t>
            </a:r>
            <a:r>
              <a:rPr sz="1550" b="1" spc="-10" dirty="0">
                <a:latin typeface="Arial"/>
                <a:cs typeface="Arial"/>
              </a:rPr>
              <a:t>endcase</a:t>
            </a:r>
            <a:endParaRPr sz="1550" dirty="0">
              <a:latin typeface="Arial"/>
              <a:cs typeface="Arial"/>
            </a:endParaRPr>
          </a:p>
          <a:p>
            <a:pPr marL="12700">
              <a:lnSpc>
                <a:spcPct val="100000"/>
              </a:lnSpc>
              <a:spcBef>
                <a:spcPts val="35"/>
              </a:spcBef>
            </a:pPr>
            <a:r>
              <a:rPr sz="1550" b="1" spc="-25" dirty="0">
                <a:latin typeface="Arial"/>
                <a:cs typeface="Arial"/>
              </a:rPr>
              <a:t>end</a:t>
            </a:r>
            <a:endParaRPr sz="1550" dirty="0">
              <a:latin typeface="Arial"/>
              <a:cs typeface="Arial"/>
            </a:endParaRPr>
          </a:p>
        </p:txBody>
      </p:sp>
      <p:grpSp>
        <p:nvGrpSpPr>
          <p:cNvPr id="7" name="object 7"/>
          <p:cNvGrpSpPr/>
          <p:nvPr/>
        </p:nvGrpSpPr>
        <p:grpSpPr>
          <a:xfrm>
            <a:off x="5234063" y="1717548"/>
            <a:ext cx="5015230" cy="3733165"/>
            <a:chOff x="5234063" y="1717548"/>
            <a:chExt cx="5015230" cy="3733165"/>
          </a:xfrm>
        </p:grpSpPr>
        <p:sp>
          <p:nvSpPr>
            <p:cNvPr id="8" name="object 8"/>
            <p:cNvSpPr/>
            <p:nvPr/>
          </p:nvSpPr>
          <p:spPr>
            <a:xfrm>
              <a:off x="5238635" y="1721358"/>
              <a:ext cx="5005705" cy="3724910"/>
            </a:xfrm>
            <a:custGeom>
              <a:avLst/>
              <a:gdLst/>
              <a:ahLst/>
              <a:cxnLst/>
              <a:rect l="l" t="t" r="r" b="b"/>
              <a:pathLst>
                <a:path w="5005705" h="3724910">
                  <a:moveTo>
                    <a:pt x="5005578" y="3724655"/>
                  </a:moveTo>
                  <a:lnTo>
                    <a:pt x="5005578" y="0"/>
                  </a:lnTo>
                  <a:lnTo>
                    <a:pt x="0" y="0"/>
                  </a:lnTo>
                  <a:lnTo>
                    <a:pt x="0" y="3724655"/>
                  </a:lnTo>
                  <a:lnTo>
                    <a:pt x="5005578" y="3724655"/>
                  </a:lnTo>
                  <a:close/>
                </a:path>
              </a:pathLst>
            </a:custGeom>
            <a:solidFill>
              <a:srgbClr val="F9FABA"/>
            </a:solidFill>
          </p:spPr>
          <p:txBody>
            <a:bodyPr wrap="square" lIns="0" tIns="0" rIns="0" bIns="0" rtlCol="0"/>
            <a:lstStyle/>
            <a:p>
              <a:endParaRPr/>
            </a:p>
          </p:txBody>
        </p:sp>
        <p:sp>
          <p:nvSpPr>
            <p:cNvPr id="9" name="object 9"/>
            <p:cNvSpPr/>
            <p:nvPr/>
          </p:nvSpPr>
          <p:spPr>
            <a:xfrm>
              <a:off x="5234063" y="1717548"/>
              <a:ext cx="5015230" cy="3733165"/>
            </a:xfrm>
            <a:custGeom>
              <a:avLst/>
              <a:gdLst/>
              <a:ahLst/>
              <a:cxnLst/>
              <a:rect l="l" t="t" r="r" b="b"/>
              <a:pathLst>
                <a:path w="5015230" h="3733165">
                  <a:moveTo>
                    <a:pt x="5014722" y="3730752"/>
                  </a:moveTo>
                  <a:lnTo>
                    <a:pt x="5014722" y="1523"/>
                  </a:lnTo>
                  <a:lnTo>
                    <a:pt x="5012436" y="0"/>
                  </a:lnTo>
                  <a:lnTo>
                    <a:pt x="2285" y="0"/>
                  </a:lnTo>
                  <a:lnTo>
                    <a:pt x="0" y="1524"/>
                  </a:lnTo>
                  <a:lnTo>
                    <a:pt x="0" y="3730752"/>
                  </a:lnTo>
                  <a:lnTo>
                    <a:pt x="2286" y="3733038"/>
                  </a:lnTo>
                  <a:lnTo>
                    <a:pt x="4571" y="3733038"/>
                  </a:lnTo>
                  <a:lnTo>
                    <a:pt x="4572" y="8382"/>
                  </a:lnTo>
                  <a:lnTo>
                    <a:pt x="8381" y="3810"/>
                  </a:lnTo>
                  <a:lnTo>
                    <a:pt x="8381" y="8382"/>
                  </a:lnTo>
                  <a:lnTo>
                    <a:pt x="5006340" y="8381"/>
                  </a:lnTo>
                  <a:lnTo>
                    <a:pt x="5006340" y="3809"/>
                  </a:lnTo>
                  <a:lnTo>
                    <a:pt x="5010150" y="8381"/>
                  </a:lnTo>
                  <a:lnTo>
                    <a:pt x="5010150" y="3733038"/>
                  </a:lnTo>
                  <a:lnTo>
                    <a:pt x="5012436" y="3733038"/>
                  </a:lnTo>
                  <a:lnTo>
                    <a:pt x="5014722" y="3730752"/>
                  </a:lnTo>
                  <a:close/>
                </a:path>
                <a:path w="5015230" h="3733165">
                  <a:moveTo>
                    <a:pt x="8381" y="8382"/>
                  </a:moveTo>
                  <a:lnTo>
                    <a:pt x="8381" y="3810"/>
                  </a:lnTo>
                  <a:lnTo>
                    <a:pt x="4572" y="8382"/>
                  </a:lnTo>
                  <a:lnTo>
                    <a:pt x="8381" y="8382"/>
                  </a:lnTo>
                  <a:close/>
                </a:path>
                <a:path w="5015230" h="3733165">
                  <a:moveTo>
                    <a:pt x="8381" y="3724656"/>
                  </a:moveTo>
                  <a:lnTo>
                    <a:pt x="8381" y="8382"/>
                  </a:lnTo>
                  <a:lnTo>
                    <a:pt x="4572" y="8382"/>
                  </a:lnTo>
                  <a:lnTo>
                    <a:pt x="4572" y="3724656"/>
                  </a:lnTo>
                  <a:lnTo>
                    <a:pt x="8381" y="3724656"/>
                  </a:lnTo>
                  <a:close/>
                </a:path>
                <a:path w="5015230" h="3733165">
                  <a:moveTo>
                    <a:pt x="5010150" y="3724656"/>
                  </a:moveTo>
                  <a:lnTo>
                    <a:pt x="4572" y="3724656"/>
                  </a:lnTo>
                  <a:lnTo>
                    <a:pt x="8381" y="3728465"/>
                  </a:lnTo>
                  <a:lnTo>
                    <a:pt x="8381" y="3733038"/>
                  </a:lnTo>
                  <a:lnTo>
                    <a:pt x="5006340" y="3733038"/>
                  </a:lnTo>
                  <a:lnTo>
                    <a:pt x="5006340" y="3728466"/>
                  </a:lnTo>
                  <a:lnTo>
                    <a:pt x="5010150" y="3724656"/>
                  </a:lnTo>
                  <a:close/>
                </a:path>
                <a:path w="5015230" h="3733165">
                  <a:moveTo>
                    <a:pt x="8381" y="3733038"/>
                  </a:moveTo>
                  <a:lnTo>
                    <a:pt x="8381" y="3728465"/>
                  </a:lnTo>
                  <a:lnTo>
                    <a:pt x="4572" y="3724656"/>
                  </a:lnTo>
                  <a:lnTo>
                    <a:pt x="4571" y="3733038"/>
                  </a:lnTo>
                  <a:lnTo>
                    <a:pt x="8381" y="3733038"/>
                  </a:lnTo>
                  <a:close/>
                </a:path>
                <a:path w="5015230" h="3733165">
                  <a:moveTo>
                    <a:pt x="5010150" y="8381"/>
                  </a:moveTo>
                  <a:lnTo>
                    <a:pt x="5006340" y="3809"/>
                  </a:lnTo>
                  <a:lnTo>
                    <a:pt x="5006340" y="8381"/>
                  </a:lnTo>
                  <a:lnTo>
                    <a:pt x="5010150" y="8381"/>
                  </a:lnTo>
                  <a:close/>
                </a:path>
                <a:path w="5015230" h="3733165">
                  <a:moveTo>
                    <a:pt x="5010150" y="3724656"/>
                  </a:moveTo>
                  <a:lnTo>
                    <a:pt x="5010150" y="8381"/>
                  </a:lnTo>
                  <a:lnTo>
                    <a:pt x="5006340" y="8381"/>
                  </a:lnTo>
                  <a:lnTo>
                    <a:pt x="5006340" y="3724656"/>
                  </a:lnTo>
                  <a:lnTo>
                    <a:pt x="5010150" y="3724656"/>
                  </a:lnTo>
                  <a:close/>
                </a:path>
                <a:path w="5015230" h="3733165">
                  <a:moveTo>
                    <a:pt x="5010150" y="3733038"/>
                  </a:moveTo>
                  <a:lnTo>
                    <a:pt x="5010150" y="3724656"/>
                  </a:lnTo>
                  <a:lnTo>
                    <a:pt x="5006340" y="3728466"/>
                  </a:lnTo>
                  <a:lnTo>
                    <a:pt x="5006340" y="3733038"/>
                  </a:lnTo>
                  <a:lnTo>
                    <a:pt x="5010150" y="3733038"/>
                  </a:lnTo>
                  <a:close/>
                </a:path>
              </a:pathLst>
            </a:custGeom>
            <a:solidFill>
              <a:srgbClr val="FF0000"/>
            </a:solidFill>
          </p:spPr>
          <p:txBody>
            <a:bodyPr wrap="square" lIns="0" tIns="0" rIns="0" bIns="0" rtlCol="0"/>
            <a:lstStyle/>
            <a:p>
              <a:endParaRPr/>
            </a:p>
          </p:txBody>
        </p:sp>
      </p:grpSp>
      <p:sp>
        <p:nvSpPr>
          <p:cNvPr id="10" name="object 10"/>
          <p:cNvSpPr txBox="1"/>
          <p:nvPr/>
        </p:nvSpPr>
        <p:spPr>
          <a:xfrm>
            <a:off x="5305966" y="1742947"/>
            <a:ext cx="3816985" cy="3627120"/>
          </a:xfrm>
          <a:prstGeom prst="rect">
            <a:avLst/>
          </a:prstGeom>
        </p:spPr>
        <p:txBody>
          <a:bodyPr vert="horz" wrap="square" lIns="0" tIns="15875" rIns="0" bIns="0" rtlCol="0">
            <a:spAutoFit/>
          </a:bodyPr>
          <a:lstStyle/>
          <a:p>
            <a:pPr marL="123825">
              <a:lnSpc>
                <a:spcPct val="100000"/>
              </a:lnSpc>
              <a:spcBef>
                <a:spcPts val="125"/>
              </a:spcBef>
            </a:pPr>
            <a:r>
              <a:rPr sz="1550" b="1" dirty="0">
                <a:latin typeface="Arial"/>
                <a:cs typeface="Arial"/>
              </a:rPr>
              <a:t>always</a:t>
            </a:r>
            <a:r>
              <a:rPr sz="1550" b="1" spc="465" dirty="0">
                <a:latin typeface="Arial"/>
                <a:cs typeface="Arial"/>
              </a:rPr>
              <a:t> </a:t>
            </a:r>
            <a:r>
              <a:rPr sz="1550" spc="-25" dirty="0">
                <a:latin typeface="Arial"/>
                <a:cs typeface="Arial"/>
              </a:rPr>
              <a:t>@*</a:t>
            </a:r>
            <a:endParaRPr sz="1550">
              <a:latin typeface="Arial"/>
              <a:cs typeface="Arial"/>
            </a:endParaRPr>
          </a:p>
          <a:p>
            <a:pPr marL="290195">
              <a:lnSpc>
                <a:spcPct val="100000"/>
              </a:lnSpc>
              <a:spcBef>
                <a:spcPts val="30"/>
              </a:spcBef>
            </a:pPr>
            <a:r>
              <a:rPr sz="1550" b="1" spc="-10" dirty="0">
                <a:latin typeface="Arial"/>
                <a:cs typeface="Arial"/>
              </a:rPr>
              <a:t>begin</a:t>
            </a:r>
            <a:endParaRPr sz="1550">
              <a:latin typeface="Arial"/>
              <a:cs typeface="Arial"/>
            </a:endParaRPr>
          </a:p>
          <a:p>
            <a:pPr marL="569595" marR="1882139" indent="-167640">
              <a:lnSpc>
                <a:spcPct val="101600"/>
              </a:lnSpc>
              <a:spcBef>
                <a:spcPts val="10"/>
              </a:spcBef>
            </a:pPr>
            <a:r>
              <a:rPr sz="1550" b="1" dirty="0">
                <a:latin typeface="Arial"/>
                <a:cs typeface="Arial"/>
              </a:rPr>
              <a:t>case</a:t>
            </a:r>
            <a:r>
              <a:rPr sz="1550" dirty="0">
                <a:latin typeface="Arial"/>
                <a:cs typeface="Arial"/>
              </a:rPr>
              <a:t>(</a:t>
            </a:r>
            <a:r>
              <a:rPr sz="1550" spc="65" dirty="0">
                <a:latin typeface="Arial"/>
                <a:cs typeface="Arial"/>
              </a:rPr>
              <a:t> </a:t>
            </a:r>
            <a:r>
              <a:rPr sz="1550" dirty="0">
                <a:latin typeface="Arial"/>
                <a:cs typeface="Arial"/>
              </a:rPr>
              <a:t>state_reg</a:t>
            </a:r>
            <a:r>
              <a:rPr sz="1550" spc="50" dirty="0">
                <a:latin typeface="Arial"/>
                <a:cs typeface="Arial"/>
              </a:rPr>
              <a:t> </a:t>
            </a:r>
            <a:r>
              <a:rPr sz="1550" spc="-50" dirty="0">
                <a:latin typeface="Arial"/>
                <a:cs typeface="Arial"/>
              </a:rPr>
              <a:t>) </a:t>
            </a:r>
            <a:r>
              <a:rPr sz="1550" dirty="0">
                <a:latin typeface="Arial"/>
                <a:cs typeface="Arial"/>
              </a:rPr>
              <a:t>s0</a:t>
            </a:r>
            <a:r>
              <a:rPr sz="1550" spc="15" dirty="0">
                <a:latin typeface="Arial"/>
                <a:cs typeface="Arial"/>
              </a:rPr>
              <a:t> </a:t>
            </a:r>
            <a:r>
              <a:rPr sz="1550" spc="-50" dirty="0">
                <a:latin typeface="Arial"/>
                <a:cs typeface="Arial"/>
              </a:rPr>
              <a:t>:</a:t>
            </a:r>
            <a:endParaRPr sz="1550">
              <a:latin typeface="Arial"/>
              <a:cs typeface="Arial"/>
            </a:endParaRPr>
          </a:p>
          <a:p>
            <a:pPr marL="680720">
              <a:lnSpc>
                <a:spcPct val="100000"/>
              </a:lnSpc>
              <a:spcBef>
                <a:spcPts val="35"/>
              </a:spcBef>
            </a:pPr>
            <a:r>
              <a:rPr sz="1550" b="1" spc="-10" dirty="0">
                <a:latin typeface="Arial"/>
                <a:cs typeface="Arial"/>
              </a:rPr>
              <a:t>begin</a:t>
            </a:r>
            <a:endParaRPr sz="1550">
              <a:latin typeface="Arial"/>
              <a:cs typeface="Arial"/>
            </a:endParaRPr>
          </a:p>
          <a:p>
            <a:pPr marL="902969">
              <a:lnSpc>
                <a:spcPct val="100000"/>
              </a:lnSpc>
              <a:spcBef>
                <a:spcPts val="35"/>
              </a:spcBef>
            </a:pPr>
            <a:r>
              <a:rPr sz="1550" dirty="0">
                <a:latin typeface="Arial"/>
                <a:cs typeface="Arial"/>
              </a:rPr>
              <a:t>ale</a:t>
            </a:r>
            <a:r>
              <a:rPr sz="1550" spc="30"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0;</a:t>
            </a:r>
            <a:r>
              <a:rPr sz="1550" spc="25" dirty="0">
                <a:latin typeface="Arial"/>
                <a:cs typeface="Arial"/>
              </a:rPr>
              <a:t> </a:t>
            </a:r>
            <a:r>
              <a:rPr sz="1550" dirty="0">
                <a:latin typeface="Arial"/>
                <a:cs typeface="Arial"/>
              </a:rPr>
              <a:t>start</a:t>
            </a:r>
            <a:r>
              <a:rPr sz="1550" spc="20"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0;oe</a:t>
            </a:r>
            <a:r>
              <a:rPr sz="1550" spc="35" dirty="0">
                <a:latin typeface="Arial"/>
                <a:cs typeface="Arial"/>
              </a:rPr>
              <a:t> </a:t>
            </a:r>
            <a:r>
              <a:rPr sz="1550" dirty="0">
                <a:latin typeface="Arial"/>
                <a:cs typeface="Arial"/>
              </a:rPr>
              <a:t>=</a:t>
            </a:r>
            <a:r>
              <a:rPr sz="1550" spc="25" dirty="0">
                <a:latin typeface="Arial"/>
                <a:cs typeface="Arial"/>
              </a:rPr>
              <a:t> </a:t>
            </a:r>
            <a:r>
              <a:rPr sz="1550" spc="-25" dirty="0">
                <a:latin typeface="Arial"/>
                <a:cs typeface="Arial"/>
              </a:rPr>
              <a:t>0;</a:t>
            </a:r>
            <a:endParaRPr sz="1550">
              <a:latin typeface="Arial"/>
              <a:cs typeface="Arial"/>
            </a:endParaRPr>
          </a:p>
          <a:p>
            <a:pPr marL="680720">
              <a:lnSpc>
                <a:spcPct val="100000"/>
              </a:lnSpc>
              <a:spcBef>
                <a:spcPts val="30"/>
              </a:spcBef>
            </a:pPr>
            <a:r>
              <a:rPr sz="1550" b="1" spc="-25" dirty="0">
                <a:latin typeface="Arial"/>
                <a:cs typeface="Arial"/>
              </a:rPr>
              <a:t>end</a:t>
            </a:r>
            <a:endParaRPr sz="1550">
              <a:latin typeface="Arial"/>
              <a:cs typeface="Arial"/>
            </a:endParaRPr>
          </a:p>
          <a:p>
            <a:pPr marL="569595">
              <a:lnSpc>
                <a:spcPct val="100000"/>
              </a:lnSpc>
              <a:spcBef>
                <a:spcPts val="35"/>
              </a:spcBef>
            </a:pPr>
            <a:r>
              <a:rPr sz="1550" dirty="0">
                <a:latin typeface="Arial"/>
                <a:cs typeface="Arial"/>
              </a:rPr>
              <a:t>s1</a:t>
            </a:r>
            <a:r>
              <a:rPr sz="1550" spc="15" dirty="0">
                <a:latin typeface="Arial"/>
                <a:cs typeface="Arial"/>
              </a:rPr>
              <a:t> </a:t>
            </a:r>
            <a:r>
              <a:rPr sz="1550" spc="-50" dirty="0">
                <a:latin typeface="Arial"/>
                <a:cs typeface="Arial"/>
              </a:rPr>
              <a:t>:</a:t>
            </a:r>
            <a:endParaRPr sz="1550">
              <a:latin typeface="Arial"/>
              <a:cs typeface="Arial"/>
            </a:endParaRPr>
          </a:p>
          <a:p>
            <a:pPr marL="680720">
              <a:lnSpc>
                <a:spcPct val="100000"/>
              </a:lnSpc>
              <a:spcBef>
                <a:spcPts val="30"/>
              </a:spcBef>
            </a:pPr>
            <a:r>
              <a:rPr sz="1550" b="1" dirty="0">
                <a:latin typeface="Arial"/>
                <a:cs typeface="Arial"/>
              </a:rPr>
              <a:t>begin</a:t>
            </a:r>
            <a:r>
              <a:rPr sz="1550" b="1" spc="25" dirty="0">
                <a:latin typeface="Arial"/>
                <a:cs typeface="Arial"/>
              </a:rPr>
              <a:t> </a:t>
            </a:r>
            <a:r>
              <a:rPr sz="1550" dirty="0">
                <a:latin typeface="Arial"/>
                <a:cs typeface="Arial"/>
              </a:rPr>
              <a:t>ale</a:t>
            </a:r>
            <a:r>
              <a:rPr sz="1550" spc="35"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1;</a:t>
            </a:r>
            <a:r>
              <a:rPr sz="1550" spc="25" dirty="0">
                <a:latin typeface="Arial"/>
                <a:cs typeface="Arial"/>
              </a:rPr>
              <a:t> </a:t>
            </a:r>
            <a:r>
              <a:rPr sz="1550" dirty="0">
                <a:latin typeface="Arial"/>
                <a:cs typeface="Arial"/>
              </a:rPr>
              <a:t>start</a:t>
            </a:r>
            <a:r>
              <a:rPr sz="1550" spc="25"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1;oe</a:t>
            </a:r>
            <a:r>
              <a:rPr sz="1550" spc="40"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0;</a:t>
            </a:r>
            <a:r>
              <a:rPr sz="1550" spc="30" dirty="0">
                <a:latin typeface="Arial"/>
                <a:cs typeface="Arial"/>
              </a:rPr>
              <a:t> </a:t>
            </a:r>
            <a:r>
              <a:rPr sz="1550" b="1" spc="-25" dirty="0">
                <a:latin typeface="Arial"/>
                <a:cs typeface="Arial"/>
              </a:rPr>
              <a:t>end</a:t>
            </a:r>
            <a:endParaRPr sz="1550">
              <a:latin typeface="Arial"/>
              <a:cs typeface="Arial"/>
            </a:endParaRPr>
          </a:p>
          <a:p>
            <a:pPr marL="569595">
              <a:lnSpc>
                <a:spcPct val="100000"/>
              </a:lnSpc>
              <a:spcBef>
                <a:spcPts val="35"/>
              </a:spcBef>
            </a:pPr>
            <a:r>
              <a:rPr sz="1550" dirty="0">
                <a:latin typeface="Arial"/>
                <a:cs typeface="Arial"/>
              </a:rPr>
              <a:t>s2</a:t>
            </a:r>
            <a:r>
              <a:rPr sz="1550" spc="15" dirty="0">
                <a:latin typeface="Arial"/>
                <a:cs typeface="Arial"/>
              </a:rPr>
              <a:t> </a:t>
            </a:r>
            <a:r>
              <a:rPr sz="1550" spc="-50" dirty="0">
                <a:latin typeface="Arial"/>
                <a:cs typeface="Arial"/>
              </a:rPr>
              <a:t>:</a:t>
            </a:r>
            <a:endParaRPr sz="1550">
              <a:latin typeface="Arial"/>
              <a:cs typeface="Arial"/>
            </a:endParaRPr>
          </a:p>
          <a:p>
            <a:pPr marL="624840">
              <a:lnSpc>
                <a:spcPct val="100000"/>
              </a:lnSpc>
              <a:spcBef>
                <a:spcPts val="35"/>
              </a:spcBef>
            </a:pPr>
            <a:r>
              <a:rPr sz="1550" b="1" dirty="0">
                <a:latin typeface="Arial"/>
                <a:cs typeface="Arial"/>
              </a:rPr>
              <a:t>begin</a:t>
            </a:r>
            <a:r>
              <a:rPr sz="1550" b="1" spc="25" dirty="0">
                <a:latin typeface="Arial"/>
                <a:cs typeface="Arial"/>
              </a:rPr>
              <a:t> </a:t>
            </a:r>
            <a:r>
              <a:rPr sz="1550" dirty="0">
                <a:latin typeface="Arial"/>
                <a:cs typeface="Arial"/>
              </a:rPr>
              <a:t>ale</a:t>
            </a:r>
            <a:r>
              <a:rPr sz="1550" spc="35"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0;</a:t>
            </a:r>
            <a:r>
              <a:rPr sz="1550" spc="25" dirty="0">
                <a:latin typeface="Arial"/>
                <a:cs typeface="Arial"/>
              </a:rPr>
              <a:t> </a:t>
            </a:r>
            <a:r>
              <a:rPr sz="1550" dirty="0">
                <a:latin typeface="Arial"/>
                <a:cs typeface="Arial"/>
              </a:rPr>
              <a:t>start</a:t>
            </a:r>
            <a:r>
              <a:rPr sz="1550" spc="25"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0;oe</a:t>
            </a:r>
            <a:r>
              <a:rPr sz="1550" spc="35"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0;</a:t>
            </a:r>
            <a:r>
              <a:rPr sz="1550" spc="25" dirty="0">
                <a:latin typeface="Arial"/>
                <a:cs typeface="Arial"/>
              </a:rPr>
              <a:t> </a:t>
            </a:r>
            <a:r>
              <a:rPr sz="1550" b="1" spc="-25" dirty="0">
                <a:latin typeface="Arial"/>
                <a:cs typeface="Arial"/>
              </a:rPr>
              <a:t>end</a:t>
            </a:r>
            <a:endParaRPr sz="1550">
              <a:latin typeface="Arial"/>
              <a:cs typeface="Arial"/>
            </a:endParaRPr>
          </a:p>
          <a:p>
            <a:pPr marL="569595">
              <a:lnSpc>
                <a:spcPct val="100000"/>
              </a:lnSpc>
              <a:spcBef>
                <a:spcPts val="30"/>
              </a:spcBef>
            </a:pPr>
            <a:r>
              <a:rPr sz="1550" dirty="0">
                <a:latin typeface="Arial"/>
                <a:cs typeface="Arial"/>
              </a:rPr>
              <a:t>s3</a:t>
            </a:r>
            <a:r>
              <a:rPr sz="1550" spc="15" dirty="0">
                <a:latin typeface="Arial"/>
                <a:cs typeface="Arial"/>
              </a:rPr>
              <a:t> </a:t>
            </a:r>
            <a:r>
              <a:rPr sz="1550" spc="-50" dirty="0">
                <a:latin typeface="Arial"/>
                <a:cs typeface="Arial"/>
              </a:rPr>
              <a:t>:</a:t>
            </a:r>
            <a:endParaRPr sz="1550">
              <a:latin typeface="Arial"/>
              <a:cs typeface="Arial"/>
            </a:endParaRPr>
          </a:p>
          <a:p>
            <a:pPr marL="234950" marR="60960" indent="389890">
              <a:lnSpc>
                <a:spcPct val="101600"/>
              </a:lnSpc>
              <a:spcBef>
                <a:spcPts val="10"/>
              </a:spcBef>
            </a:pPr>
            <a:r>
              <a:rPr sz="1550" b="1" dirty="0">
                <a:latin typeface="Arial"/>
                <a:cs typeface="Arial"/>
              </a:rPr>
              <a:t>begin</a:t>
            </a:r>
            <a:r>
              <a:rPr sz="1550" b="1" spc="25" dirty="0">
                <a:latin typeface="Arial"/>
                <a:cs typeface="Arial"/>
              </a:rPr>
              <a:t> </a:t>
            </a:r>
            <a:r>
              <a:rPr sz="1550" dirty="0">
                <a:latin typeface="Arial"/>
                <a:cs typeface="Arial"/>
              </a:rPr>
              <a:t>ale</a:t>
            </a:r>
            <a:r>
              <a:rPr sz="1550" spc="35"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0;</a:t>
            </a:r>
            <a:r>
              <a:rPr sz="1550" spc="25" dirty="0">
                <a:latin typeface="Arial"/>
                <a:cs typeface="Arial"/>
              </a:rPr>
              <a:t> </a:t>
            </a:r>
            <a:r>
              <a:rPr sz="1550" dirty="0">
                <a:latin typeface="Arial"/>
                <a:cs typeface="Arial"/>
              </a:rPr>
              <a:t>start</a:t>
            </a:r>
            <a:r>
              <a:rPr sz="1550" spc="25"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0;oe</a:t>
            </a:r>
            <a:r>
              <a:rPr sz="1550" spc="35"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1;</a:t>
            </a:r>
            <a:r>
              <a:rPr sz="1550" spc="25" dirty="0">
                <a:latin typeface="Arial"/>
                <a:cs typeface="Arial"/>
              </a:rPr>
              <a:t> </a:t>
            </a:r>
            <a:r>
              <a:rPr sz="1550" b="1" spc="-25" dirty="0">
                <a:latin typeface="Arial"/>
                <a:cs typeface="Arial"/>
              </a:rPr>
              <a:t>end </a:t>
            </a:r>
            <a:r>
              <a:rPr sz="1550" b="1" spc="-10" dirty="0">
                <a:latin typeface="Arial"/>
                <a:cs typeface="Arial"/>
              </a:rPr>
              <a:t>endcase</a:t>
            </a:r>
            <a:endParaRPr sz="1550">
              <a:latin typeface="Arial"/>
              <a:cs typeface="Arial"/>
            </a:endParaRPr>
          </a:p>
          <a:p>
            <a:pPr marL="12700">
              <a:lnSpc>
                <a:spcPts val="1855"/>
              </a:lnSpc>
            </a:pPr>
            <a:r>
              <a:rPr sz="1550" b="1" spc="-25" dirty="0">
                <a:latin typeface="Arial"/>
                <a:cs typeface="Arial"/>
              </a:rPr>
              <a:t>end</a:t>
            </a:r>
            <a:endParaRPr sz="1550">
              <a:latin typeface="Arial"/>
              <a:cs typeface="Arial"/>
            </a:endParaRPr>
          </a:p>
        </p:txBody>
      </p:sp>
      <p:sp>
        <p:nvSpPr>
          <p:cNvPr id="11" name="object 11"/>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12" name="object 12"/>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38</a:t>
            </a:fld>
            <a:endParaRPr spc="-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9085" y="1230122"/>
            <a:ext cx="3245485" cy="453390"/>
          </a:xfrm>
          <a:prstGeom prst="rect">
            <a:avLst/>
          </a:prstGeom>
        </p:spPr>
        <p:txBody>
          <a:bodyPr vert="horz" wrap="square" lIns="0" tIns="13335" rIns="0" bIns="0" rtlCol="0">
            <a:spAutoFit/>
          </a:bodyPr>
          <a:lstStyle/>
          <a:p>
            <a:pPr marL="12700">
              <a:lnSpc>
                <a:spcPct val="100000"/>
              </a:lnSpc>
              <a:spcBef>
                <a:spcPts val="105"/>
              </a:spcBef>
            </a:pPr>
            <a:r>
              <a:rPr spc="-10" dirty="0"/>
              <a:t>按键消抖电路设计</a:t>
            </a:r>
            <a:r>
              <a:rPr spc="-25" dirty="0"/>
              <a:t>_1</a:t>
            </a:r>
          </a:p>
        </p:txBody>
      </p:sp>
      <p:pic>
        <p:nvPicPr>
          <p:cNvPr id="3" name="object 3"/>
          <p:cNvPicPr/>
          <p:nvPr/>
        </p:nvPicPr>
        <p:blipFill>
          <a:blip r:embed="rId2" cstate="print"/>
          <a:stretch>
            <a:fillRect/>
          </a:stretch>
        </p:blipFill>
        <p:spPr>
          <a:xfrm>
            <a:off x="2511615" y="2031156"/>
            <a:ext cx="4364675" cy="1717035"/>
          </a:xfrm>
          <a:prstGeom prst="rect">
            <a:avLst/>
          </a:prstGeom>
        </p:spPr>
      </p:pic>
      <p:sp>
        <p:nvSpPr>
          <p:cNvPr id="4" name="object 4"/>
          <p:cNvSpPr txBox="1"/>
          <p:nvPr/>
        </p:nvSpPr>
        <p:spPr>
          <a:xfrm>
            <a:off x="1338967" y="4230568"/>
            <a:ext cx="8043545" cy="1108075"/>
          </a:xfrm>
          <a:prstGeom prst="rect">
            <a:avLst/>
          </a:prstGeom>
        </p:spPr>
        <p:txBody>
          <a:bodyPr vert="horz" wrap="square" lIns="0" tIns="12065" rIns="0" bIns="0" rtlCol="0">
            <a:spAutoFit/>
          </a:bodyPr>
          <a:lstStyle/>
          <a:p>
            <a:pPr marL="12700" marR="104139">
              <a:lnSpc>
                <a:spcPct val="152600"/>
              </a:lnSpc>
              <a:spcBef>
                <a:spcPts val="95"/>
              </a:spcBef>
            </a:pPr>
            <a:r>
              <a:rPr sz="1550" dirty="0">
                <a:latin typeface="宋体"/>
                <a:cs typeface="宋体"/>
              </a:rPr>
              <a:t>基于FSM设计消抖电路，利用一个10ms的非同步定时器和有限状态机，计时器每10ms</a:t>
            </a:r>
            <a:r>
              <a:rPr sz="1550" spc="-25" dirty="0">
                <a:latin typeface="宋体"/>
                <a:cs typeface="宋体"/>
              </a:rPr>
              <a:t>产生</a:t>
            </a:r>
            <a:r>
              <a:rPr sz="1550" spc="-5" dirty="0">
                <a:latin typeface="宋体"/>
                <a:cs typeface="宋体"/>
              </a:rPr>
              <a:t>一个滴答使能周期信号，有限状态机利用此信号来确定输入信号是否稳定。</a:t>
            </a:r>
            <a:endParaRPr sz="1550" dirty="0">
              <a:latin typeface="宋体"/>
              <a:cs typeface="宋体"/>
            </a:endParaRPr>
          </a:p>
          <a:p>
            <a:pPr marL="12700">
              <a:lnSpc>
                <a:spcPct val="100000"/>
              </a:lnSpc>
              <a:spcBef>
                <a:spcPts val="980"/>
              </a:spcBef>
            </a:pPr>
            <a:r>
              <a:rPr sz="1550" dirty="0">
                <a:latin typeface="宋体"/>
                <a:cs typeface="宋体"/>
              </a:rPr>
              <a:t>有限状态机将消除时间较短的抖动，当输入信号稳定20ms</a:t>
            </a:r>
            <a:r>
              <a:rPr sz="1550" spc="-5" dirty="0">
                <a:latin typeface="宋体"/>
                <a:cs typeface="宋体"/>
              </a:rPr>
              <a:t>以后才改变去抖动以后的输出值。</a:t>
            </a:r>
            <a:endParaRPr sz="1550" dirty="0">
              <a:latin typeface="宋体"/>
              <a:cs typeface="宋体"/>
            </a:endParaRPr>
          </a:p>
        </p:txBody>
      </p:sp>
      <p:sp>
        <p:nvSpPr>
          <p:cNvPr id="5" name="object 5"/>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6" name="object 6"/>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39</a:t>
            </a:fld>
            <a:endParaRPr spc="-2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8323" y="2243582"/>
            <a:ext cx="5034280" cy="2742565"/>
          </a:xfrm>
          <a:prstGeom prst="rect">
            <a:avLst/>
          </a:prstGeom>
        </p:spPr>
        <p:txBody>
          <a:bodyPr vert="horz" wrap="square" lIns="0" tIns="13335" rIns="0" bIns="0" rtlCol="0">
            <a:spAutoFit/>
          </a:bodyPr>
          <a:lstStyle/>
          <a:p>
            <a:pPr marL="246379">
              <a:lnSpc>
                <a:spcPct val="100000"/>
              </a:lnSpc>
              <a:spcBef>
                <a:spcPts val="105"/>
              </a:spcBef>
            </a:pPr>
            <a:r>
              <a:rPr sz="2100" spc="-10" dirty="0">
                <a:latin typeface="宋体"/>
                <a:cs typeface="宋体"/>
              </a:rPr>
              <a:t>设计分析：</a:t>
            </a:r>
            <a:endParaRPr sz="2100">
              <a:latin typeface="宋体"/>
              <a:cs typeface="宋体"/>
            </a:endParaRPr>
          </a:p>
          <a:p>
            <a:pPr marL="311785" marR="206375" indent="-299720">
              <a:lnSpc>
                <a:spcPct val="152600"/>
              </a:lnSpc>
              <a:spcBef>
                <a:spcPts val="1820"/>
              </a:spcBef>
              <a:buAutoNum type="arabicPeriod"/>
              <a:tabLst>
                <a:tab pos="313055" algn="l"/>
              </a:tabLst>
            </a:pPr>
            <a:r>
              <a:rPr sz="1550" spc="85" dirty="0">
                <a:latin typeface="宋体"/>
                <a:cs typeface="宋体"/>
              </a:rPr>
              <a:t>假定系统的起始态是</a:t>
            </a:r>
            <a:r>
              <a:rPr sz="1550" dirty="0">
                <a:latin typeface="宋体"/>
                <a:cs typeface="宋体"/>
              </a:rPr>
              <a:t>zero</a:t>
            </a:r>
            <a:r>
              <a:rPr sz="1550" spc="85" dirty="0">
                <a:latin typeface="宋体"/>
                <a:cs typeface="宋体"/>
              </a:rPr>
              <a:t>态，当</a:t>
            </a:r>
            <a:r>
              <a:rPr sz="1550" dirty="0">
                <a:latin typeface="宋体"/>
                <a:cs typeface="宋体"/>
              </a:rPr>
              <a:t>sw</a:t>
            </a:r>
            <a:r>
              <a:rPr sz="1550" spc="85" dirty="0">
                <a:latin typeface="宋体"/>
                <a:cs typeface="宋体"/>
              </a:rPr>
              <a:t>变为</a:t>
            </a:r>
            <a:r>
              <a:rPr sz="1550" spc="75" dirty="0">
                <a:latin typeface="宋体"/>
                <a:cs typeface="宋体"/>
              </a:rPr>
              <a:t>1</a:t>
            </a:r>
            <a:r>
              <a:rPr sz="1550" spc="70" dirty="0">
                <a:latin typeface="宋体"/>
                <a:cs typeface="宋体"/>
              </a:rPr>
              <a:t>时，系统	</a:t>
            </a:r>
            <a:r>
              <a:rPr sz="1550" dirty="0">
                <a:latin typeface="宋体"/>
                <a:cs typeface="宋体"/>
              </a:rPr>
              <a:t>转换为wait1_1</a:t>
            </a:r>
            <a:r>
              <a:rPr sz="1550" spc="-25" dirty="0">
                <a:latin typeface="宋体"/>
                <a:cs typeface="宋体"/>
              </a:rPr>
              <a:t>态。</a:t>
            </a:r>
            <a:endParaRPr sz="1550">
              <a:latin typeface="宋体"/>
              <a:cs typeface="宋体"/>
            </a:endParaRPr>
          </a:p>
          <a:p>
            <a:pPr marL="311785" marR="301625" indent="-299720">
              <a:lnSpc>
                <a:spcPct val="152700"/>
              </a:lnSpc>
              <a:spcBef>
                <a:spcPts val="5"/>
              </a:spcBef>
              <a:buAutoNum type="arabicPeriod"/>
              <a:tabLst>
                <a:tab pos="313055" algn="l"/>
              </a:tabLst>
            </a:pPr>
            <a:r>
              <a:rPr sz="1550" dirty="0">
                <a:latin typeface="宋体"/>
                <a:cs typeface="宋体"/>
              </a:rPr>
              <a:t>当处于wait1_1</a:t>
            </a:r>
            <a:r>
              <a:rPr sz="1550" spc="-5" dirty="0">
                <a:latin typeface="宋体"/>
                <a:cs typeface="宋体"/>
              </a:rPr>
              <a:t>态时，有限状态机处于等待状态并	</a:t>
            </a:r>
            <a:r>
              <a:rPr sz="1550" dirty="0">
                <a:latin typeface="宋体"/>
                <a:cs typeface="宋体"/>
              </a:rPr>
              <a:t>将m_tick置为有效电平态。若sw变为0则表示1</a:t>
            </a:r>
            <a:r>
              <a:rPr sz="1550" spc="-25" dirty="0">
                <a:latin typeface="宋体"/>
                <a:cs typeface="宋体"/>
              </a:rPr>
              <a:t>值所	</a:t>
            </a:r>
            <a:r>
              <a:rPr sz="1550" dirty="0">
                <a:latin typeface="宋体"/>
                <a:cs typeface="宋体"/>
              </a:rPr>
              <a:t>持续的时间过短有限状态机返回zero</a:t>
            </a:r>
            <a:r>
              <a:rPr sz="1550" spc="-25" dirty="0">
                <a:latin typeface="宋体"/>
                <a:cs typeface="宋体"/>
              </a:rPr>
              <a:t>态。</a:t>
            </a:r>
            <a:endParaRPr sz="1550">
              <a:latin typeface="宋体"/>
              <a:cs typeface="宋体"/>
            </a:endParaRPr>
          </a:p>
          <a:p>
            <a:pPr marL="323215" indent="-310515">
              <a:lnSpc>
                <a:spcPct val="100000"/>
              </a:lnSpc>
              <a:spcBef>
                <a:spcPts val="980"/>
              </a:spcBef>
              <a:buAutoNum type="arabicPeriod"/>
              <a:tabLst>
                <a:tab pos="323215" algn="l"/>
              </a:tabLst>
            </a:pPr>
            <a:r>
              <a:rPr sz="1550" spc="95" dirty="0">
                <a:latin typeface="宋体"/>
                <a:cs typeface="宋体"/>
              </a:rPr>
              <a:t>这个动作在</a:t>
            </a:r>
            <a:r>
              <a:rPr sz="1550" dirty="0">
                <a:latin typeface="宋体"/>
                <a:cs typeface="宋体"/>
              </a:rPr>
              <a:t>wait1_2</a:t>
            </a:r>
            <a:r>
              <a:rPr sz="1550" spc="95" dirty="0">
                <a:latin typeface="宋体"/>
                <a:cs typeface="宋体"/>
              </a:rPr>
              <a:t>态和</a:t>
            </a:r>
            <a:r>
              <a:rPr sz="1550" dirty="0">
                <a:latin typeface="宋体"/>
                <a:cs typeface="宋体"/>
              </a:rPr>
              <a:t>wait1_3</a:t>
            </a:r>
            <a:r>
              <a:rPr sz="1550" spc="95" dirty="0">
                <a:latin typeface="宋体"/>
                <a:cs typeface="宋体"/>
              </a:rPr>
              <a:t>态也将再重复</a:t>
            </a:r>
            <a:r>
              <a:rPr sz="1550" spc="85" dirty="0">
                <a:latin typeface="宋体"/>
                <a:cs typeface="宋体"/>
              </a:rPr>
              <a:t>2</a:t>
            </a:r>
            <a:r>
              <a:rPr sz="1550" spc="70" dirty="0">
                <a:latin typeface="宋体"/>
                <a:cs typeface="宋体"/>
              </a:rPr>
              <a:t>次。</a:t>
            </a:r>
            <a:endParaRPr sz="1550">
              <a:latin typeface="宋体"/>
              <a:cs typeface="宋体"/>
            </a:endParaRPr>
          </a:p>
        </p:txBody>
      </p:sp>
      <p:sp>
        <p:nvSpPr>
          <p:cNvPr id="3" name="object 3"/>
          <p:cNvSpPr txBox="1">
            <a:spLocks noGrp="1"/>
          </p:cNvSpPr>
          <p:nvPr>
            <p:ph type="title"/>
          </p:nvPr>
        </p:nvSpPr>
        <p:spPr>
          <a:xfrm>
            <a:off x="758323" y="1229360"/>
            <a:ext cx="3245485" cy="453390"/>
          </a:xfrm>
          <a:prstGeom prst="rect">
            <a:avLst/>
          </a:prstGeom>
        </p:spPr>
        <p:txBody>
          <a:bodyPr vert="horz" wrap="square" lIns="0" tIns="13335" rIns="0" bIns="0" rtlCol="0">
            <a:spAutoFit/>
          </a:bodyPr>
          <a:lstStyle/>
          <a:p>
            <a:pPr marL="12700">
              <a:lnSpc>
                <a:spcPct val="100000"/>
              </a:lnSpc>
              <a:spcBef>
                <a:spcPts val="105"/>
              </a:spcBef>
            </a:pPr>
            <a:r>
              <a:rPr spc="-10" dirty="0"/>
              <a:t>按键消抖电路设计</a:t>
            </a:r>
            <a:r>
              <a:rPr spc="-25" dirty="0"/>
              <a:t>_2</a:t>
            </a:r>
          </a:p>
        </p:txBody>
      </p:sp>
      <p:sp>
        <p:nvSpPr>
          <p:cNvPr id="4" name="object 4"/>
          <p:cNvSpPr/>
          <p:nvPr/>
        </p:nvSpPr>
        <p:spPr>
          <a:xfrm>
            <a:off x="7021715" y="3237738"/>
            <a:ext cx="2868930" cy="984885"/>
          </a:xfrm>
          <a:custGeom>
            <a:avLst/>
            <a:gdLst/>
            <a:ahLst/>
            <a:cxnLst/>
            <a:rect l="l" t="t" r="r" b="b"/>
            <a:pathLst>
              <a:path w="2868929" h="984885">
                <a:moveTo>
                  <a:pt x="2868930" y="982979"/>
                </a:moveTo>
                <a:lnTo>
                  <a:pt x="2868930" y="1523"/>
                </a:lnTo>
                <a:lnTo>
                  <a:pt x="2867406" y="0"/>
                </a:lnTo>
                <a:lnTo>
                  <a:pt x="1523" y="0"/>
                </a:lnTo>
                <a:lnTo>
                  <a:pt x="0" y="1524"/>
                </a:lnTo>
                <a:lnTo>
                  <a:pt x="0" y="982980"/>
                </a:lnTo>
                <a:lnTo>
                  <a:pt x="1524" y="984504"/>
                </a:lnTo>
                <a:lnTo>
                  <a:pt x="3810" y="984504"/>
                </a:lnTo>
                <a:lnTo>
                  <a:pt x="3810" y="8382"/>
                </a:lnTo>
                <a:lnTo>
                  <a:pt x="8381" y="3810"/>
                </a:lnTo>
                <a:lnTo>
                  <a:pt x="8381" y="8382"/>
                </a:lnTo>
                <a:lnTo>
                  <a:pt x="2860548" y="8381"/>
                </a:lnTo>
                <a:lnTo>
                  <a:pt x="2860548" y="3809"/>
                </a:lnTo>
                <a:lnTo>
                  <a:pt x="2865120" y="8381"/>
                </a:lnTo>
                <a:lnTo>
                  <a:pt x="2865120" y="984504"/>
                </a:lnTo>
                <a:lnTo>
                  <a:pt x="2867406" y="984504"/>
                </a:lnTo>
                <a:lnTo>
                  <a:pt x="2868930" y="982979"/>
                </a:lnTo>
                <a:close/>
              </a:path>
              <a:path w="2868929" h="984885">
                <a:moveTo>
                  <a:pt x="8381" y="8382"/>
                </a:moveTo>
                <a:lnTo>
                  <a:pt x="8381" y="3810"/>
                </a:lnTo>
                <a:lnTo>
                  <a:pt x="3810" y="8382"/>
                </a:lnTo>
                <a:lnTo>
                  <a:pt x="8381" y="8382"/>
                </a:lnTo>
                <a:close/>
              </a:path>
              <a:path w="2868929" h="984885">
                <a:moveTo>
                  <a:pt x="8381" y="976884"/>
                </a:moveTo>
                <a:lnTo>
                  <a:pt x="8381" y="8382"/>
                </a:lnTo>
                <a:lnTo>
                  <a:pt x="3810" y="8382"/>
                </a:lnTo>
                <a:lnTo>
                  <a:pt x="3810" y="976884"/>
                </a:lnTo>
                <a:lnTo>
                  <a:pt x="8381" y="976884"/>
                </a:lnTo>
                <a:close/>
              </a:path>
              <a:path w="2868929" h="984885">
                <a:moveTo>
                  <a:pt x="2865120" y="976884"/>
                </a:moveTo>
                <a:lnTo>
                  <a:pt x="3810" y="976884"/>
                </a:lnTo>
                <a:lnTo>
                  <a:pt x="8381" y="980693"/>
                </a:lnTo>
                <a:lnTo>
                  <a:pt x="8382" y="984504"/>
                </a:lnTo>
                <a:lnTo>
                  <a:pt x="2860548" y="984504"/>
                </a:lnTo>
                <a:lnTo>
                  <a:pt x="2860548" y="980694"/>
                </a:lnTo>
                <a:lnTo>
                  <a:pt x="2865120" y="976884"/>
                </a:lnTo>
                <a:close/>
              </a:path>
              <a:path w="2868929" h="984885">
                <a:moveTo>
                  <a:pt x="8382" y="984504"/>
                </a:moveTo>
                <a:lnTo>
                  <a:pt x="8381" y="980693"/>
                </a:lnTo>
                <a:lnTo>
                  <a:pt x="3810" y="976884"/>
                </a:lnTo>
                <a:lnTo>
                  <a:pt x="3810" y="984504"/>
                </a:lnTo>
                <a:lnTo>
                  <a:pt x="8382" y="984504"/>
                </a:lnTo>
                <a:close/>
              </a:path>
              <a:path w="2868929" h="984885">
                <a:moveTo>
                  <a:pt x="2865120" y="8381"/>
                </a:moveTo>
                <a:lnTo>
                  <a:pt x="2860548" y="3809"/>
                </a:lnTo>
                <a:lnTo>
                  <a:pt x="2860548" y="8381"/>
                </a:lnTo>
                <a:lnTo>
                  <a:pt x="2865120" y="8381"/>
                </a:lnTo>
                <a:close/>
              </a:path>
              <a:path w="2868929" h="984885">
                <a:moveTo>
                  <a:pt x="2865120" y="976884"/>
                </a:moveTo>
                <a:lnTo>
                  <a:pt x="2865120" y="8381"/>
                </a:lnTo>
                <a:lnTo>
                  <a:pt x="2860548" y="8381"/>
                </a:lnTo>
                <a:lnTo>
                  <a:pt x="2860548" y="976884"/>
                </a:lnTo>
                <a:lnTo>
                  <a:pt x="2865120" y="976884"/>
                </a:lnTo>
                <a:close/>
              </a:path>
              <a:path w="2868929" h="984885">
                <a:moveTo>
                  <a:pt x="2865120" y="984504"/>
                </a:moveTo>
                <a:lnTo>
                  <a:pt x="2865120" y="976884"/>
                </a:lnTo>
                <a:lnTo>
                  <a:pt x="2860548" y="980694"/>
                </a:lnTo>
                <a:lnTo>
                  <a:pt x="2860548" y="984504"/>
                </a:lnTo>
                <a:lnTo>
                  <a:pt x="2865120" y="984504"/>
                </a:lnTo>
                <a:close/>
              </a:path>
            </a:pathLst>
          </a:custGeom>
          <a:solidFill>
            <a:srgbClr val="008BA7"/>
          </a:solidFill>
        </p:spPr>
        <p:txBody>
          <a:bodyPr wrap="square" lIns="0" tIns="0" rIns="0" bIns="0" rtlCol="0"/>
          <a:lstStyle/>
          <a:p>
            <a:endParaRPr/>
          </a:p>
        </p:txBody>
      </p:sp>
      <p:sp>
        <p:nvSpPr>
          <p:cNvPr id="5" name="object 5"/>
          <p:cNvSpPr txBox="1"/>
          <p:nvPr/>
        </p:nvSpPr>
        <p:spPr>
          <a:xfrm>
            <a:off x="7092829" y="3200798"/>
            <a:ext cx="2700655" cy="988694"/>
          </a:xfrm>
          <a:prstGeom prst="rect">
            <a:avLst/>
          </a:prstGeom>
        </p:spPr>
        <p:txBody>
          <a:bodyPr vert="horz" wrap="square" lIns="0" tIns="12065" rIns="0" bIns="0" rtlCol="0">
            <a:spAutoFit/>
          </a:bodyPr>
          <a:lstStyle/>
          <a:p>
            <a:pPr marL="12700" marR="5080">
              <a:lnSpc>
                <a:spcPct val="150500"/>
              </a:lnSpc>
              <a:spcBef>
                <a:spcPts val="95"/>
              </a:spcBef>
            </a:pPr>
            <a:r>
              <a:rPr sz="2100" dirty="0">
                <a:latin typeface="宋体"/>
                <a:cs typeface="宋体"/>
              </a:rPr>
              <a:t>zero</a:t>
            </a:r>
            <a:r>
              <a:rPr sz="2100" spc="-10" dirty="0">
                <a:latin typeface="宋体"/>
                <a:cs typeface="宋体"/>
              </a:rPr>
              <a:t>态： </a:t>
            </a:r>
            <a:r>
              <a:rPr sz="2100" dirty="0">
                <a:latin typeface="宋体"/>
                <a:cs typeface="宋体"/>
              </a:rPr>
              <a:t>sw稳定在0</a:t>
            </a:r>
            <a:r>
              <a:rPr sz="2100" spc="-50" dirty="0">
                <a:latin typeface="宋体"/>
                <a:cs typeface="宋体"/>
              </a:rPr>
              <a:t>值 </a:t>
            </a:r>
            <a:r>
              <a:rPr sz="2100" spc="-10" dirty="0">
                <a:latin typeface="宋体"/>
                <a:cs typeface="宋体"/>
              </a:rPr>
              <a:t>one态：sw稳定在1</a:t>
            </a:r>
            <a:r>
              <a:rPr sz="2100" dirty="0">
                <a:latin typeface="宋体"/>
                <a:cs typeface="宋体"/>
              </a:rPr>
              <a:t>值</a:t>
            </a:r>
            <a:r>
              <a:rPr sz="1550" spc="-50" dirty="0">
                <a:latin typeface="宋体"/>
                <a:cs typeface="宋体"/>
              </a:rPr>
              <a:t>。</a:t>
            </a:r>
            <a:endParaRPr sz="1550">
              <a:latin typeface="宋体"/>
              <a:cs typeface="宋体"/>
            </a:endParaRPr>
          </a:p>
        </p:txBody>
      </p:sp>
      <p:sp>
        <p:nvSpPr>
          <p:cNvPr id="6" name="object 6"/>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7" name="object 7"/>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40</a:t>
            </a:fld>
            <a:endParaRPr spc="-2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19819" y="2022348"/>
            <a:ext cx="5346191" cy="4203191"/>
          </a:xfrm>
          <a:prstGeom prst="rect">
            <a:avLst/>
          </a:prstGeom>
        </p:spPr>
      </p:pic>
      <p:sp>
        <p:nvSpPr>
          <p:cNvPr id="3" name="object 3"/>
          <p:cNvSpPr txBox="1"/>
          <p:nvPr/>
        </p:nvSpPr>
        <p:spPr>
          <a:xfrm>
            <a:off x="759085" y="1230122"/>
            <a:ext cx="3245485" cy="453390"/>
          </a:xfrm>
          <a:prstGeom prst="rect">
            <a:avLst/>
          </a:prstGeom>
        </p:spPr>
        <p:txBody>
          <a:bodyPr vert="horz" wrap="square" lIns="0" tIns="13335" rIns="0" bIns="0" rtlCol="0">
            <a:spAutoFit/>
          </a:bodyPr>
          <a:lstStyle/>
          <a:p>
            <a:pPr marL="12700">
              <a:lnSpc>
                <a:spcPct val="100000"/>
              </a:lnSpc>
              <a:spcBef>
                <a:spcPts val="105"/>
              </a:spcBef>
            </a:pPr>
            <a:r>
              <a:rPr sz="2800" spc="-10" dirty="0">
                <a:latin typeface="微软雅黑"/>
                <a:cs typeface="微软雅黑"/>
              </a:rPr>
              <a:t>按键消抖电路设计</a:t>
            </a:r>
            <a:r>
              <a:rPr sz="2800" spc="-25" dirty="0">
                <a:latin typeface="微软雅黑"/>
                <a:cs typeface="微软雅黑"/>
              </a:rPr>
              <a:t>_2</a:t>
            </a:r>
            <a:endParaRPr sz="2800">
              <a:latin typeface="微软雅黑"/>
              <a:cs typeface="微软雅黑"/>
            </a:endParaRPr>
          </a:p>
        </p:txBody>
      </p:sp>
      <p:sp>
        <p:nvSpPr>
          <p:cNvPr id="5" name="object 5"/>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6" name="object 6"/>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41</a:t>
            </a:fld>
            <a:endParaRPr spc="-25" dirty="0"/>
          </a:p>
        </p:txBody>
      </p:sp>
      <p:sp>
        <p:nvSpPr>
          <p:cNvPr id="4" name="object 4"/>
          <p:cNvSpPr txBox="1"/>
          <p:nvPr/>
        </p:nvSpPr>
        <p:spPr>
          <a:xfrm>
            <a:off x="912247" y="2075941"/>
            <a:ext cx="1630680" cy="346710"/>
          </a:xfrm>
          <a:prstGeom prst="rect">
            <a:avLst/>
          </a:prstGeom>
        </p:spPr>
        <p:txBody>
          <a:bodyPr vert="horz" wrap="square" lIns="0" tIns="13335" rIns="0" bIns="0" rtlCol="0">
            <a:spAutoFit/>
          </a:bodyPr>
          <a:lstStyle/>
          <a:p>
            <a:pPr marL="12700">
              <a:lnSpc>
                <a:spcPct val="100000"/>
              </a:lnSpc>
              <a:spcBef>
                <a:spcPts val="105"/>
              </a:spcBef>
            </a:pPr>
            <a:r>
              <a:rPr sz="2100" spc="-10" dirty="0">
                <a:latin typeface="宋体"/>
                <a:cs typeface="宋体"/>
              </a:rPr>
              <a:t>状态转移图：</a:t>
            </a:r>
            <a:endParaRPr sz="2100">
              <a:latin typeface="宋体"/>
              <a:cs typeface="宋体"/>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t>消抖电路的有限状态机</a:t>
            </a:r>
            <a:r>
              <a:rPr spc="-40" dirty="0"/>
              <a:t>Verilog</a:t>
            </a:r>
            <a:r>
              <a:rPr spc="-10" dirty="0"/>
              <a:t>实现代码</a:t>
            </a:r>
            <a:r>
              <a:rPr spc="-50" dirty="0"/>
              <a:t>1</a:t>
            </a:r>
          </a:p>
        </p:txBody>
      </p:sp>
      <p:grpSp>
        <p:nvGrpSpPr>
          <p:cNvPr id="3" name="object 3"/>
          <p:cNvGrpSpPr/>
          <p:nvPr/>
        </p:nvGrpSpPr>
        <p:grpSpPr>
          <a:xfrm>
            <a:off x="221627" y="1741170"/>
            <a:ext cx="4127500" cy="4218940"/>
            <a:chOff x="221627" y="1741170"/>
            <a:chExt cx="4127500" cy="4218940"/>
          </a:xfrm>
        </p:grpSpPr>
        <p:sp>
          <p:nvSpPr>
            <p:cNvPr id="4" name="object 4"/>
            <p:cNvSpPr/>
            <p:nvPr/>
          </p:nvSpPr>
          <p:spPr>
            <a:xfrm>
              <a:off x="226199" y="1744980"/>
              <a:ext cx="4118610" cy="4211320"/>
            </a:xfrm>
            <a:custGeom>
              <a:avLst/>
              <a:gdLst/>
              <a:ahLst/>
              <a:cxnLst/>
              <a:rect l="l" t="t" r="r" b="b"/>
              <a:pathLst>
                <a:path w="4118610" h="4211320">
                  <a:moveTo>
                    <a:pt x="4118610" y="4210812"/>
                  </a:moveTo>
                  <a:lnTo>
                    <a:pt x="4118609" y="0"/>
                  </a:lnTo>
                  <a:lnTo>
                    <a:pt x="0" y="0"/>
                  </a:lnTo>
                  <a:lnTo>
                    <a:pt x="0" y="4210812"/>
                  </a:lnTo>
                  <a:lnTo>
                    <a:pt x="4118610" y="4210812"/>
                  </a:lnTo>
                  <a:close/>
                </a:path>
              </a:pathLst>
            </a:custGeom>
            <a:solidFill>
              <a:srgbClr val="F9FABA"/>
            </a:solidFill>
          </p:spPr>
          <p:txBody>
            <a:bodyPr wrap="square" lIns="0" tIns="0" rIns="0" bIns="0" rtlCol="0"/>
            <a:lstStyle/>
            <a:p>
              <a:endParaRPr/>
            </a:p>
          </p:txBody>
        </p:sp>
        <p:sp>
          <p:nvSpPr>
            <p:cNvPr id="5" name="object 5"/>
            <p:cNvSpPr/>
            <p:nvPr/>
          </p:nvSpPr>
          <p:spPr>
            <a:xfrm>
              <a:off x="221627" y="1741170"/>
              <a:ext cx="4127500" cy="4218940"/>
            </a:xfrm>
            <a:custGeom>
              <a:avLst/>
              <a:gdLst/>
              <a:ahLst/>
              <a:cxnLst/>
              <a:rect l="l" t="t" r="r" b="b"/>
              <a:pathLst>
                <a:path w="4127500" h="4218940">
                  <a:moveTo>
                    <a:pt x="4126991" y="4216908"/>
                  </a:moveTo>
                  <a:lnTo>
                    <a:pt x="4126991" y="1523"/>
                  </a:lnTo>
                  <a:lnTo>
                    <a:pt x="4125467" y="0"/>
                  </a:lnTo>
                  <a:lnTo>
                    <a:pt x="1523" y="0"/>
                  </a:lnTo>
                  <a:lnTo>
                    <a:pt x="0" y="1524"/>
                  </a:lnTo>
                  <a:lnTo>
                    <a:pt x="0" y="4216908"/>
                  </a:lnTo>
                  <a:lnTo>
                    <a:pt x="1524" y="4218432"/>
                  </a:lnTo>
                  <a:lnTo>
                    <a:pt x="4572" y="4218432"/>
                  </a:lnTo>
                  <a:lnTo>
                    <a:pt x="4572" y="8382"/>
                  </a:lnTo>
                  <a:lnTo>
                    <a:pt x="8382" y="3810"/>
                  </a:lnTo>
                  <a:lnTo>
                    <a:pt x="8382" y="8382"/>
                  </a:lnTo>
                  <a:lnTo>
                    <a:pt x="4118610" y="8381"/>
                  </a:lnTo>
                  <a:lnTo>
                    <a:pt x="4118610" y="3809"/>
                  </a:lnTo>
                  <a:lnTo>
                    <a:pt x="4123182" y="8381"/>
                  </a:lnTo>
                  <a:lnTo>
                    <a:pt x="4123182" y="4218432"/>
                  </a:lnTo>
                  <a:lnTo>
                    <a:pt x="4125467" y="4218432"/>
                  </a:lnTo>
                  <a:lnTo>
                    <a:pt x="4126991" y="4216908"/>
                  </a:lnTo>
                  <a:close/>
                </a:path>
                <a:path w="4127500" h="4218940">
                  <a:moveTo>
                    <a:pt x="8382" y="8382"/>
                  </a:moveTo>
                  <a:lnTo>
                    <a:pt x="8382" y="3810"/>
                  </a:lnTo>
                  <a:lnTo>
                    <a:pt x="4572" y="8382"/>
                  </a:lnTo>
                  <a:lnTo>
                    <a:pt x="8382" y="8382"/>
                  </a:lnTo>
                  <a:close/>
                </a:path>
                <a:path w="4127500" h="4218940">
                  <a:moveTo>
                    <a:pt x="8382" y="4210050"/>
                  </a:moveTo>
                  <a:lnTo>
                    <a:pt x="8382" y="8382"/>
                  </a:lnTo>
                  <a:lnTo>
                    <a:pt x="4572" y="8382"/>
                  </a:lnTo>
                  <a:lnTo>
                    <a:pt x="4572" y="4210050"/>
                  </a:lnTo>
                  <a:lnTo>
                    <a:pt x="8382" y="4210050"/>
                  </a:lnTo>
                  <a:close/>
                </a:path>
                <a:path w="4127500" h="4218940">
                  <a:moveTo>
                    <a:pt x="4123182" y="4210050"/>
                  </a:moveTo>
                  <a:lnTo>
                    <a:pt x="4572" y="4210050"/>
                  </a:lnTo>
                  <a:lnTo>
                    <a:pt x="8382" y="4214622"/>
                  </a:lnTo>
                  <a:lnTo>
                    <a:pt x="8382" y="4218432"/>
                  </a:lnTo>
                  <a:lnTo>
                    <a:pt x="4118610" y="4218432"/>
                  </a:lnTo>
                  <a:lnTo>
                    <a:pt x="4118610" y="4214622"/>
                  </a:lnTo>
                  <a:lnTo>
                    <a:pt x="4123182" y="4210050"/>
                  </a:lnTo>
                  <a:close/>
                </a:path>
                <a:path w="4127500" h="4218940">
                  <a:moveTo>
                    <a:pt x="8382" y="4218432"/>
                  </a:moveTo>
                  <a:lnTo>
                    <a:pt x="8382" y="4214622"/>
                  </a:lnTo>
                  <a:lnTo>
                    <a:pt x="4572" y="4210050"/>
                  </a:lnTo>
                  <a:lnTo>
                    <a:pt x="4572" y="4218432"/>
                  </a:lnTo>
                  <a:lnTo>
                    <a:pt x="8382" y="4218432"/>
                  </a:lnTo>
                  <a:close/>
                </a:path>
                <a:path w="4127500" h="4218940">
                  <a:moveTo>
                    <a:pt x="4123182" y="8381"/>
                  </a:moveTo>
                  <a:lnTo>
                    <a:pt x="4118610" y="3809"/>
                  </a:lnTo>
                  <a:lnTo>
                    <a:pt x="4118610" y="8381"/>
                  </a:lnTo>
                  <a:lnTo>
                    <a:pt x="4123182" y="8381"/>
                  </a:lnTo>
                  <a:close/>
                </a:path>
                <a:path w="4127500" h="4218940">
                  <a:moveTo>
                    <a:pt x="4123182" y="4210050"/>
                  </a:moveTo>
                  <a:lnTo>
                    <a:pt x="4123182" y="8381"/>
                  </a:lnTo>
                  <a:lnTo>
                    <a:pt x="4118610" y="8381"/>
                  </a:lnTo>
                  <a:lnTo>
                    <a:pt x="4118610" y="4210050"/>
                  </a:lnTo>
                  <a:lnTo>
                    <a:pt x="4123182" y="4210050"/>
                  </a:lnTo>
                  <a:close/>
                </a:path>
                <a:path w="4127500" h="4218940">
                  <a:moveTo>
                    <a:pt x="4123182" y="4218432"/>
                  </a:moveTo>
                  <a:lnTo>
                    <a:pt x="4123182" y="4210050"/>
                  </a:lnTo>
                  <a:lnTo>
                    <a:pt x="4118610" y="4214622"/>
                  </a:lnTo>
                  <a:lnTo>
                    <a:pt x="4118610" y="4218432"/>
                  </a:lnTo>
                  <a:lnTo>
                    <a:pt x="4123182" y="4218432"/>
                  </a:lnTo>
                  <a:close/>
                </a:path>
              </a:pathLst>
            </a:custGeom>
            <a:solidFill>
              <a:srgbClr val="FF0000"/>
            </a:solidFill>
          </p:spPr>
          <p:txBody>
            <a:bodyPr wrap="square" lIns="0" tIns="0" rIns="0" bIns="0" rtlCol="0"/>
            <a:lstStyle/>
            <a:p>
              <a:endParaRPr/>
            </a:p>
          </p:txBody>
        </p:sp>
      </p:grpSp>
      <p:sp>
        <p:nvSpPr>
          <p:cNvPr id="6" name="object 6"/>
          <p:cNvSpPr txBox="1"/>
          <p:nvPr/>
        </p:nvSpPr>
        <p:spPr>
          <a:xfrm>
            <a:off x="305441" y="1766570"/>
            <a:ext cx="1481455" cy="266065"/>
          </a:xfrm>
          <a:prstGeom prst="rect">
            <a:avLst/>
          </a:prstGeom>
        </p:spPr>
        <p:txBody>
          <a:bodyPr vert="horz" wrap="square" lIns="0" tIns="15875" rIns="0" bIns="0" rtlCol="0">
            <a:spAutoFit/>
          </a:bodyPr>
          <a:lstStyle/>
          <a:p>
            <a:pPr>
              <a:lnSpc>
                <a:spcPct val="100000"/>
              </a:lnSpc>
              <a:spcBef>
                <a:spcPts val="125"/>
              </a:spcBef>
            </a:pPr>
            <a:r>
              <a:rPr sz="1550" b="1" dirty="0">
                <a:latin typeface="Arial"/>
                <a:cs typeface="Arial"/>
              </a:rPr>
              <a:t>module</a:t>
            </a:r>
            <a:r>
              <a:rPr sz="1550" b="1" spc="490" dirty="0">
                <a:latin typeface="Arial"/>
                <a:cs typeface="Arial"/>
              </a:rPr>
              <a:t> </a:t>
            </a:r>
            <a:r>
              <a:rPr sz="1550" spc="-10" dirty="0">
                <a:latin typeface="Arial"/>
                <a:cs typeface="Arial"/>
              </a:rPr>
              <a:t>db_fsm</a:t>
            </a:r>
            <a:endParaRPr sz="1550">
              <a:latin typeface="Arial"/>
              <a:cs typeface="Arial"/>
            </a:endParaRPr>
          </a:p>
        </p:txBody>
      </p:sp>
      <p:sp>
        <p:nvSpPr>
          <p:cNvPr id="7" name="object 7"/>
          <p:cNvSpPr txBox="1"/>
          <p:nvPr/>
        </p:nvSpPr>
        <p:spPr>
          <a:xfrm>
            <a:off x="416706" y="2006596"/>
            <a:ext cx="67310" cy="266065"/>
          </a:xfrm>
          <a:prstGeom prst="rect">
            <a:avLst/>
          </a:prstGeom>
        </p:spPr>
        <p:txBody>
          <a:bodyPr vert="horz" wrap="square" lIns="0" tIns="15875" rIns="0" bIns="0" rtlCol="0">
            <a:spAutoFit/>
          </a:bodyPr>
          <a:lstStyle/>
          <a:p>
            <a:pPr>
              <a:lnSpc>
                <a:spcPct val="100000"/>
              </a:lnSpc>
              <a:spcBef>
                <a:spcPts val="125"/>
              </a:spcBef>
            </a:pPr>
            <a:r>
              <a:rPr sz="1550" spc="-50" dirty="0">
                <a:latin typeface="Arial"/>
                <a:cs typeface="Arial"/>
              </a:rPr>
              <a:t>(</a:t>
            </a:r>
            <a:endParaRPr sz="1550">
              <a:latin typeface="Arial"/>
              <a:cs typeface="Arial"/>
            </a:endParaRPr>
          </a:p>
        </p:txBody>
      </p:sp>
      <p:sp>
        <p:nvSpPr>
          <p:cNvPr id="8" name="object 8"/>
          <p:cNvSpPr txBox="1"/>
          <p:nvPr/>
        </p:nvSpPr>
        <p:spPr>
          <a:xfrm>
            <a:off x="515252" y="2247384"/>
            <a:ext cx="516255" cy="506095"/>
          </a:xfrm>
          <a:prstGeom prst="rect">
            <a:avLst/>
          </a:prstGeom>
        </p:spPr>
        <p:txBody>
          <a:bodyPr vert="horz" wrap="square" lIns="0" tIns="12065" rIns="0" bIns="0" rtlCol="0">
            <a:spAutoFit/>
          </a:bodyPr>
          <a:lstStyle/>
          <a:p>
            <a:pPr marL="12700" marR="5080">
              <a:lnSpc>
                <a:spcPct val="101600"/>
              </a:lnSpc>
              <a:spcBef>
                <a:spcPts val="95"/>
              </a:spcBef>
            </a:pPr>
            <a:r>
              <a:rPr sz="1550" b="1" spc="-10" dirty="0">
                <a:latin typeface="Arial"/>
                <a:cs typeface="Arial"/>
              </a:rPr>
              <a:t>input input</a:t>
            </a:r>
            <a:endParaRPr sz="1550">
              <a:latin typeface="Arial"/>
              <a:cs typeface="Arial"/>
            </a:endParaRPr>
          </a:p>
        </p:txBody>
      </p:sp>
      <p:sp>
        <p:nvSpPr>
          <p:cNvPr id="9" name="object 9"/>
          <p:cNvSpPr txBox="1"/>
          <p:nvPr/>
        </p:nvSpPr>
        <p:spPr>
          <a:xfrm>
            <a:off x="1172102" y="2247384"/>
            <a:ext cx="939800" cy="506095"/>
          </a:xfrm>
          <a:prstGeom prst="rect">
            <a:avLst/>
          </a:prstGeom>
        </p:spPr>
        <p:txBody>
          <a:bodyPr vert="horz" wrap="square" lIns="0" tIns="12065" rIns="0" bIns="0" rtlCol="0">
            <a:spAutoFit/>
          </a:bodyPr>
          <a:lstStyle/>
          <a:p>
            <a:pPr marL="12700" marR="5080">
              <a:lnSpc>
                <a:spcPct val="101600"/>
              </a:lnSpc>
              <a:spcBef>
                <a:spcPts val="95"/>
              </a:spcBef>
            </a:pPr>
            <a:r>
              <a:rPr sz="1550" dirty="0">
                <a:latin typeface="Arial"/>
                <a:cs typeface="Arial"/>
              </a:rPr>
              <a:t>clk</a:t>
            </a:r>
            <a:r>
              <a:rPr sz="1550" spc="25" dirty="0">
                <a:latin typeface="Arial"/>
                <a:cs typeface="Arial"/>
              </a:rPr>
              <a:t> </a:t>
            </a:r>
            <a:r>
              <a:rPr sz="1550" dirty="0">
                <a:latin typeface="Arial"/>
                <a:cs typeface="Arial"/>
              </a:rPr>
              <a:t>,</a:t>
            </a:r>
            <a:r>
              <a:rPr sz="1550" spc="20" dirty="0">
                <a:latin typeface="Arial"/>
                <a:cs typeface="Arial"/>
              </a:rPr>
              <a:t> </a:t>
            </a:r>
            <a:r>
              <a:rPr sz="1550" spc="-10" dirty="0">
                <a:latin typeface="Arial"/>
                <a:cs typeface="Arial"/>
              </a:rPr>
              <a:t>reset, </a:t>
            </a:r>
            <a:r>
              <a:rPr sz="1550" spc="-25" dirty="0">
                <a:latin typeface="Arial"/>
                <a:cs typeface="Arial"/>
              </a:rPr>
              <a:t>sw,</a:t>
            </a:r>
            <a:endParaRPr sz="1550">
              <a:latin typeface="Arial"/>
              <a:cs typeface="Arial"/>
            </a:endParaRPr>
          </a:p>
        </p:txBody>
      </p:sp>
      <p:sp>
        <p:nvSpPr>
          <p:cNvPr id="10" name="object 10"/>
          <p:cNvSpPr txBox="1"/>
          <p:nvPr/>
        </p:nvSpPr>
        <p:spPr>
          <a:xfrm>
            <a:off x="292761" y="2728198"/>
            <a:ext cx="1768475" cy="1949450"/>
          </a:xfrm>
          <a:prstGeom prst="rect">
            <a:avLst/>
          </a:prstGeom>
        </p:spPr>
        <p:txBody>
          <a:bodyPr vert="horz" wrap="square" lIns="0" tIns="15875" rIns="0" bIns="0" rtlCol="0">
            <a:spAutoFit/>
          </a:bodyPr>
          <a:lstStyle/>
          <a:p>
            <a:pPr marL="179070">
              <a:lnSpc>
                <a:spcPct val="100000"/>
              </a:lnSpc>
              <a:spcBef>
                <a:spcPts val="125"/>
              </a:spcBef>
            </a:pPr>
            <a:r>
              <a:rPr sz="1550" b="1" dirty="0">
                <a:latin typeface="Arial"/>
                <a:cs typeface="Arial"/>
              </a:rPr>
              <a:t>output</a:t>
            </a:r>
            <a:r>
              <a:rPr sz="1550" b="1" spc="30" dirty="0">
                <a:latin typeface="Arial"/>
                <a:cs typeface="Arial"/>
              </a:rPr>
              <a:t> </a:t>
            </a:r>
            <a:r>
              <a:rPr sz="1550" b="1" dirty="0">
                <a:latin typeface="Arial"/>
                <a:cs typeface="Arial"/>
              </a:rPr>
              <a:t>reg</a:t>
            </a:r>
            <a:r>
              <a:rPr sz="1550" b="1" spc="45" dirty="0">
                <a:latin typeface="Arial"/>
                <a:cs typeface="Arial"/>
              </a:rPr>
              <a:t> </a:t>
            </a:r>
            <a:r>
              <a:rPr sz="1550" spc="-25" dirty="0">
                <a:latin typeface="Arial"/>
                <a:cs typeface="Arial"/>
              </a:rPr>
              <a:t>db</a:t>
            </a:r>
            <a:endParaRPr sz="1550">
              <a:latin typeface="Arial"/>
              <a:cs typeface="Arial"/>
            </a:endParaRPr>
          </a:p>
          <a:p>
            <a:pPr marL="123825">
              <a:lnSpc>
                <a:spcPts val="1820"/>
              </a:lnSpc>
              <a:spcBef>
                <a:spcPts val="35"/>
              </a:spcBef>
            </a:pPr>
            <a:r>
              <a:rPr sz="1550" dirty="0">
                <a:latin typeface="Arial"/>
                <a:cs typeface="Arial"/>
              </a:rPr>
              <a:t>)</a:t>
            </a:r>
            <a:r>
              <a:rPr sz="1550" spc="20" dirty="0">
                <a:latin typeface="Arial"/>
                <a:cs typeface="Arial"/>
              </a:rPr>
              <a:t> </a:t>
            </a:r>
            <a:r>
              <a:rPr sz="1550" spc="-50" dirty="0">
                <a:latin typeface="Arial"/>
                <a:cs typeface="Arial"/>
              </a:rPr>
              <a:t>;</a:t>
            </a:r>
            <a:endParaRPr sz="1550">
              <a:latin typeface="Arial"/>
              <a:cs typeface="Arial"/>
            </a:endParaRPr>
          </a:p>
          <a:p>
            <a:pPr marL="12700">
              <a:lnSpc>
                <a:spcPts val="1939"/>
              </a:lnSpc>
            </a:pPr>
            <a:r>
              <a:rPr sz="1550" spc="155" dirty="0">
                <a:solidFill>
                  <a:srgbClr val="31DDFF"/>
                </a:solidFill>
                <a:latin typeface="Arial"/>
                <a:cs typeface="Arial"/>
              </a:rPr>
              <a:t>// </a:t>
            </a:r>
            <a:r>
              <a:rPr sz="1650" i="1" spc="-80" dirty="0">
                <a:solidFill>
                  <a:srgbClr val="31DDFF"/>
                </a:solidFill>
                <a:latin typeface="微软雅黑"/>
                <a:cs typeface="微软雅黑"/>
              </a:rPr>
              <a:t>状态声明</a:t>
            </a:r>
            <a:endParaRPr sz="1650">
              <a:latin typeface="微软雅黑"/>
              <a:cs typeface="微软雅黑"/>
            </a:endParaRPr>
          </a:p>
          <a:p>
            <a:pPr marL="123825" marR="77470">
              <a:lnSpc>
                <a:spcPts val="1889"/>
              </a:lnSpc>
              <a:spcBef>
                <a:spcPts val="70"/>
              </a:spcBef>
              <a:tabLst>
                <a:tab pos="680085" algn="l"/>
              </a:tabLst>
            </a:pPr>
            <a:r>
              <a:rPr sz="1550" b="1" dirty="0">
                <a:latin typeface="Arial"/>
                <a:cs typeface="Arial"/>
              </a:rPr>
              <a:t>localparam</a:t>
            </a:r>
            <a:r>
              <a:rPr sz="1550" dirty="0">
                <a:latin typeface="Arial"/>
                <a:cs typeface="Arial"/>
              </a:rPr>
              <a:t>[</a:t>
            </a:r>
            <a:r>
              <a:rPr sz="1550" spc="45" dirty="0">
                <a:latin typeface="Arial"/>
                <a:cs typeface="Arial"/>
              </a:rPr>
              <a:t> </a:t>
            </a:r>
            <a:r>
              <a:rPr sz="1550" dirty="0">
                <a:latin typeface="Arial"/>
                <a:cs typeface="Arial"/>
              </a:rPr>
              <a:t>2:0</a:t>
            </a:r>
            <a:r>
              <a:rPr sz="1550" spc="45" dirty="0">
                <a:latin typeface="Arial"/>
                <a:cs typeface="Arial"/>
              </a:rPr>
              <a:t> </a:t>
            </a:r>
            <a:r>
              <a:rPr sz="1550" spc="-50" dirty="0">
                <a:latin typeface="Arial"/>
                <a:cs typeface="Arial"/>
              </a:rPr>
              <a:t>] </a:t>
            </a:r>
            <a:r>
              <a:rPr sz="1550" spc="-20" dirty="0">
                <a:latin typeface="Arial"/>
                <a:cs typeface="Arial"/>
              </a:rPr>
              <a:t>zero</a:t>
            </a:r>
            <a:r>
              <a:rPr sz="1550" dirty="0">
                <a:latin typeface="Arial"/>
                <a:cs typeface="Arial"/>
              </a:rPr>
              <a:t>	=</a:t>
            </a:r>
            <a:r>
              <a:rPr sz="1550" spc="20" dirty="0">
                <a:latin typeface="Arial"/>
                <a:cs typeface="Arial"/>
              </a:rPr>
              <a:t> </a:t>
            </a:r>
            <a:r>
              <a:rPr sz="1550" dirty="0">
                <a:latin typeface="Arial"/>
                <a:cs typeface="Arial"/>
              </a:rPr>
              <a:t>3’b000</a:t>
            </a:r>
            <a:r>
              <a:rPr sz="1550" spc="25" dirty="0">
                <a:latin typeface="Arial"/>
                <a:cs typeface="Arial"/>
              </a:rPr>
              <a:t> </a:t>
            </a:r>
            <a:r>
              <a:rPr sz="1550" spc="-50" dirty="0">
                <a:latin typeface="Arial"/>
                <a:cs typeface="Arial"/>
              </a:rPr>
              <a:t>,</a:t>
            </a:r>
            <a:endParaRPr sz="1550">
              <a:latin typeface="Arial"/>
              <a:cs typeface="Arial"/>
            </a:endParaRPr>
          </a:p>
          <a:p>
            <a:pPr marL="123825">
              <a:lnSpc>
                <a:spcPts val="1830"/>
              </a:lnSpc>
            </a:pPr>
            <a:r>
              <a:rPr sz="1550" dirty="0">
                <a:latin typeface="Arial"/>
                <a:cs typeface="Arial"/>
              </a:rPr>
              <a:t>wait1_1</a:t>
            </a:r>
            <a:r>
              <a:rPr sz="1550" spc="30"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3’b001</a:t>
            </a:r>
            <a:r>
              <a:rPr sz="1550" spc="30" dirty="0">
                <a:latin typeface="Arial"/>
                <a:cs typeface="Arial"/>
              </a:rPr>
              <a:t> </a:t>
            </a:r>
            <a:r>
              <a:rPr sz="1550" spc="-50" dirty="0">
                <a:latin typeface="Arial"/>
                <a:cs typeface="Arial"/>
              </a:rPr>
              <a:t>,</a:t>
            </a:r>
            <a:endParaRPr sz="1550">
              <a:latin typeface="Arial"/>
              <a:cs typeface="Arial"/>
            </a:endParaRPr>
          </a:p>
          <a:p>
            <a:pPr marL="123825" marR="5080">
              <a:lnSpc>
                <a:spcPct val="101600"/>
              </a:lnSpc>
              <a:spcBef>
                <a:spcPts val="5"/>
              </a:spcBef>
            </a:pPr>
            <a:r>
              <a:rPr sz="1550" dirty="0">
                <a:latin typeface="Arial"/>
                <a:cs typeface="Arial"/>
              </a:rPr>
              <a:t>wait1_2</a:t>
            </a:r>
            <a:r>
              <a:rPr sz="1550" spc="30"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3’b010</a:t>
            </a:r>
            <a:r>
              <a:rPr sz="1550" spc="30" dirty="0">
                <a:latin typeface="Arial"/>
                <a:cs typeface="Arial"/>
              </a:rPr>
              <a:t> </a:t>
            </a:r>
            <a:r>
              <a:rPr sz="1550" spc="-50" dirty="0">
                <a:latin typeface="Arial"/>
                <a:cs typeface="Arial"/>
              </a:rPr>
              <a:t>, </a:t>
            </a:r>
            <a:r>
              <a:rPr sz="1550" dirty="0">
                <a:latin typeface="Arial"/>
                <a:cs typeface="Arial"/>
              </a:rPr>
              <a:t>wait1_3</a:t>
            </a:r>
            <a:r>
              <a:rPr sz="1550" spc="-10" dirty="0">
                <a:latin typeface="Arial"/>
                <a:cs typeface="Arial"/>
              </a:rPr>
              <a:t> </a:t>
            </a:r>
            <a:r>
              <a:rPr sz="1550" dirty="0">
                <a:latin typeface="Arial"/>
                <a:cs typeface="Arial"/>
              </a:rPr>
              <a:t>=</a:t>
            </a:r>
            <a:r>
              <a:rPr sz="1550" spc="-10" dirty="0">
                <a:latin typeface="Arial"/>
                <a:cs typeface="Arial"/>
              </a:rPr>
              <a:t> </a:t>
            </a:r>
            <a:r>
              <a:rPr sz="1550" dirty="0">
                <a:latin typeface="Arial"/>
                <a:cs typeface="Arial"/>
              </a:rPr>
              <a:t>3’b011</a:t>
            </a:r>
            <a:r>
              <a:rPr sz="1550" spc="-10" dirty="0">
                <a:latin typeface="Arial"/>
                <a:cs typeface="Arial"/>
              </a:rPr>
              <a:t> </a:t>
            </a:r>
            <a:r>
              <a:rPr sz="1550" spc="-50" dirty="0">
                <a:latin typeface="Arial"/>
                <a:cs typeface="Arial"/>
              </a:rPr>
              <a:t>,</a:t>
            </a:r>
            <a:endParaRPr sz="1550">
              <a:latin typeface="Arial"/>
              <a:cs typeface="Arial"/>
            </a:endParaRPr>
          </a:p>
        </p:txBody>
      </p:sp>
      <p:sp>
        <p:nvSpPr>
          <p:cNvPr id="11" name="object 11"/>
          <p:cNvSpPr txBox="1"/>
          <p:nvPr/>
        </p:nvSpPr>
        <p:spPr>
          <a:xfrm>
            <a:off x="403993" y="4652243"/>
            <a:ext cx="1657350" cy="988060"/>
          </a:xfrm>
          <a:prstGeom prst="rect">
            <a:avLst/>
          </a:prstGeom>
        </p:spPr>
        <p:txBody>
          <a:bodyPr vert="horz" wrap="square" lIns="0" tIns="12065" rIns="0" bIns="0" rtlCol="0">
            <a:spAutoFit/>
          </a:bodyPr>
          <a:lstStyle/>
          <a:p>
            <a:pPr marL="12700" marR="5080">
              <a:lnSpc>
                <a:spcPct val="101800"/>
              </a:lnSpc>
              <a:spcBef>
                <a:spcPts val="95"/>
              </a:spcBef>
              <a:tabLst>
                <a:tab pos="569595" algn="l"/>
              </a:tabLst>
            </a:pPr>
            <a:r>
              <a:rPr sz="1550" spc="-25" dirty="0">
                <a:latin typeface="Arial"/>
                <a:cs typeface="Arial"/>
              </a:rPr>
              <a:t>one</a:t>
            </a:r>
            <a:r>
              <a:rPr sz="1550" dirty="0">
                <a:latin typeface="Arial"/>
                <a:cs typeface="Arial"/>
              </a:rPr>
              <a:t>	=</a:t>
            </a:r>
            <a:r>
              <a:rPr sz="1550" spc="20" dirty="0">
                <a:latin typeface="Arial"/>
                <a:cs typeface="Arial"/>
              </a:rPr>
              <a:t> </a:t>
            </a:r>
            <a:r>
              <a:rPr sz="1550" dirty="0">
                <a:latin typeface="Arial"/>
                <a:cs typeface="Arial"/>
              </a:rPr>
              <a:t>3’b100</a:t>
            </a:r>
            <a:r>
              <a:rPr sz="1550" spc="25" dirty="0">
                <a:latin typeface="Arial"/>
                <a:cs typeface="Arial"/>
              </a:rPr>
              <a:t> </a:t>
            </a:r>
            <a:r>
              <a:rPr sz="1550" spc="-50" dirty="0">
                <a:latin typeface="Arial"/>
                <a:cs typeface="Arial"/>
              </a:rPr>
              <a:t>, </a:t>
            </a:r>
            <a:r>
              <a:rPr sz="1550" dirty="0">
                <a:latin typeface="Arial"/>
                <a:cs typeface="Arial"/>
              </a:rPr>
              <a:t>wait0_1</a:t>
            </a:r>
            <a:r>
              <a:rPr sz="1550" spc="30"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3’b101</a:t>
            </a:r>
            <a:r>
              <a:rPr sz="1550" spc="30" dirty="0">
                <a:latin typeface="Arial"/>
                <a:cs typeface="Arial"/>
              </a:rPr>
              <a:t> </a:t>
            </a:r>
            <a:r>
              <a:rPr sz="1550" spc="-50" dirty="0">
                <a:latin typeface="Arial"/>
                <a:cs typeface="Arial"/>
              </a:rPr>
              <a:t>, </a:t>
            </a:r>
            <a:r>
              <a:rPr sz="1550" dirty="0">
                <a:latin typeface="Arial"/>
                <a:cs typeface="Arial"/>
              </a:rPr>
              <a:t>wait0_2</a:t>
            </a:r>
            <a:r>
              <a:rPr sz="1550" spc="-10" dirty="0">
                <a:latin typeface="Arial"/>
                <a:cs typeface="Arial"/>
              </a:rPr>
              <a:t> </a:t>
            </a:r>
            <a:r>
              <a:rPr sz="1550" dirty="0">
                <a:latin typeface="Arial"/>
                <a:cs typeface="Arial"/>
              </a:rPr>
              <a:t>=</a:t>
            </a:r>
            <a:r>
              <a:rPr sz="1550" spc="-10" dirty="0">
                <a:latin typeface="Arial"/>
                <a:cs typeface="Arial"/>
              </a:rPr>
              <a:t> </a:t>
            </a:r>
            <a:r>
              <a:rPr sz="1550" dirty="0">
                <a:latin typeface="Arial"/>
                <a:cs typeface="Arial"/>
              </a:rPr>
              <a:t>3’b110</a:t>
            </a:r>
            <a:r>
              <a:rPr sz="1550" spc="-10" dirty="0">
                <a:latin typeface="Arial"/>
                <a:cs typeface="Arial"/>
              </a:rPr>
              <a:t> </a:t>
            </a:r>
            <a:r>
              <a:rPr sz="1550" spc="-50" dirty="0">
                <a:latin typeface="Arial"/>
                <a:cs typeface="Arial"/>
              </a:rPr>
              <a:t>, </a:t>
            </a:r>
            <a:r>
              <a:rPr sz="1550" dirty="0">
                <a:latin typeface="Arial"/>
                <a:cs typeface="Arial"/>
              </a:rPr>
              <a:t>wait0_3 = </a:t>
            </a:r>
            <a:r>
              <a:rPr sz="1550" spc="-25" dirty="0">
                <a:latin typeface="Arial"/>
                <a:cs typeface="Arial"/>
              </a:rPr>
              <a:t>3’b111</a:t>
            </a:r>
            <a:r>
              <a:rPr sz="1550" dirty="0">
                <a:latin typeface="Arial"/>
                <a:cs typeface="Arial"/>
              </a:rPr>
              <a:t> </a:t>
            </a:r>
            <a:r>
              <a:rPr sz="1550" spc="-50" dirty="0">
                <a:latin typeface="Arial"/>
                <a:cs typeface="Arial"/>
              </a:rPr>
              <a:t>;</a:t>
            </a:r>
            <a:endParaRPr sz="1550">
              <a:latin typeface="Arial"/>
              <a:cs typeface="Arial"/>
            </a:endParaRPr>
          </a:p>
        </p:txBody>
      </p:sp>
      <p:grpSp>
        <p:nvGrpSpPr>
          <p:cNvPr id="12" name="object 12"/>
          <p:cNvGrpSpPr/>
          <p:nvPr/>
        </p:nvGrpSpPr>
        <p:grpSpPr>
          <a:xfrm>
            <a:off x="4715903" y="1655064"/>
            <a:ext cx="5236845" cy="4462780"/>
            <a:chOff x="4715903" y="1655064"/>
            <a:chExt cx="5236845" cy="4462780"/>
          </a:xfrm>
        </p:grpSpPr>
        <p:sp>
          <p:nvSpPr>
            <p:cNvPr id="13" name="object 13"/>
            <p:cNvSpPr/>
            <p:nvPr/>
          </p:nvSpPr>
          <p:spPr>
            <a:xfrm>
              <a:off x="4720475" y="1659636"/>
              <a:ext cx="5228590" cy="4453255"/>
            </a:xfrm>
            <a:custGeom>
              <a:avLst/>
              <a:gdLst/>
              <a:ahLst/>
              <a:cxnLst/>
              <a:rect l="l" t="t" r="r" b="b"/>
              <a:pathLst>
                <a:path w="5228590" h="4453255">
                  <a:moveTo>
                    <a:pt x="5228082" y="4453128"/>
                  </a:moveTo>
                  <a:lnTo>
                    <a:pt x="5228082" y="0"/>
                  </a:lnTo>
                  <a:lnTo>
                    <a:pt x="0" y="0"/>
                  </a:lnTo>
                  <a:lnTo>
                    <a:pt x="0" y="4453128"/>
                  </a:lnTo>
                  <a:lnTo>
                    <a:pt x="5228082" y="4453128"/>
                  </a:lnTo>
                  <a:close/>
                </a:path>
              </a:pathLst>
            </a:custGeom>
            <a:solidFill>
              <a:srgbClr val="F9FABA"/>
            </a:solidFill>
          </p:spPr>
          <p:txBody>
            <a:bodyPr wrap="square" lIns="0" tIns="0" rIns="0" bIns="0" rtlCol="0"/>
            <a:lstStyle/>
            <a:p>
              <a:endParaRPr/>
            </a:p>
          </p:txBody>
        </p:sp>
        <p:sp>
          <p:nvSpPr>
            <p:cNvPr id="14" name="object 14"/>
            <p:cNvSpPr/>
            <p:nvPr/>
          </p:nvSpPr>
          <p:spPr>
            <a:xfrm>
              <a:off x="4715903" y="1655064"/>
              <a:ext cx="5236845" cy="4462780"/>
            </a:xfrm>
            <a:custGeom>
              <a:avLst/>
              <a:gdLst/>
              <a:ahLst/>
              <a:cxnLst/>
              <a:rect l="l" t="t" r="r" b="b"/>
              <a:pathLst>
                <a:path w="5236845" h="4462780">
                  <a:moveTo>
                    <a:pt x="5236464" y="4459986"/>
                  </a:moveTo>
                  <a:lnTo>
                    <a:pt x="5236464" y="2285"/>
                  </a:lnTo>
                  <a:lnTo>
                    <a:pt x="5234940" y="0"/>
                  </a:lnTo>
                  <a:lnTo>
                    <a:pt x="2285" y="0"/>
                  </a:lnTo>
                  <a:lnTo>
                    <a:pt x="0" y="2286"/>
                  </a:lnTo>
                  <a:lnTo>
                    <a:pt x="0" y="4459986"/>
                  </a:lnTo>
                  <a:lnTo>
                    <a:pt x="2286" y="4462272"/>
                  </a:lnTo>
                  <a:lnTo>
                    <a:pt x="4572" y="4462272"/>
                  </a:lnTo>
                  <a:lnTo>
                    <a:pt x="4572" y="8382"/>
                  </a:lnTo>
                  <a:lnTo>
                    <a:pt x="8382" y="4572"/>
                  </a:lnTo>
                  <a:lnTo>
                    <a:pt x="8382" y="8382"/>
                  </a:lnTo>
                  <a:lnTo>
                    <a:pt x="5228082" y="8381"/>
                  </a:lnTo>
                  <a:lnTo>
                    <a:pt x="5228082" y="4571"/>
                  </a:lnTo>
                  <a:lnTo>
                    <a:pt x="5232654" y="8381"/>
                  </a:lnTo>
                  <a:lnTo>
                    <a:pt x="5232654" y="4462272"/>
                  </a:lnTo>
                  <a:lnTo>
                    <a:pt x="5234940" y="4462272"/>
                  </a:lnTo>
                  <a:lnTo>
                    <a:pt x="5236464" y="4459986"/>
                  </a:lnTo>
                  <a:close/>
                </a:path>
                <a:path w="5236845" h="4462780">
                  <a:moveTo>
                    <a:pt x="8382" y="8382"/>
                  </a:moveTo>
                  <a:lnTo>
                    <a:pt x="8382" y="4572"/>
                  </a:lnTo>
                  <a:lnTo>
                    <a:pt x="4572" y="8382"/>
                  </a:lnTo>
                  <a:lnTo>
                    <a:pt x="8382" y="8382"/>
                  </a:lnTo>
                  <a:close/>
                </a:path>
                <a:path w="5236845" h="4462780">
                  <a:moveTo>
                    <a:pt x="8382" y="4453890"/>
                  </a:moveTo>
                  <a:lnTo>
                    <a:pt x="8382" y="8382"/>
                  </a:lnTo>
                  <a:lnTo>
                    <a:pt x="4572" y="8382"/>
                  </a:lnTo>
                  <a:lnTo>
                    <a:pt x="4572" y="4453890"/>
                  </a:lnTo>
                  <a:lnTo>
                    <a:pt x="8382" y="4453890"/>
                  </a:lnTo>
                  <a:close/>
                </a:path>
                <a:path w="5236845" h="4462780">
                  <a:moveTo>
                    <a:pt x="5232654" y="4453890"/>
                  </a:moveTo>
                  <a:lnTo>
                    <a:pt x="4572" y="4453890"/>
                  </a:lnTo>
                  <a:lnTo>
                    <a:pt x="8382" y="4457700"/>
                  </a:lnTo>
                  <a:lnTo>
                    <a:pt x="8382" y="4462272"/>
                  </a:lnTo>
                  <a:lnTo>
                    <a:pt x="5228082" y="4462272"/>
                  </a:lnTo>
                  <a:lnTo>
                    <a:pt x="5228082" y="4457700"/>
                  </a:lnTo>
                  <a:lnTo>
                    <a:pt x="5232654" y="4453890"/>
                  </a:lnTo>
                  <a:close/>
                </a:path>
                <a:path w="5236845" h="4462780">
                  <a:moveTo>
                    <a:pt x="8382" y="4462272"/>
                  </a:moveTo>
                  <a:lnTo>
                    <a:pt x="8382" y="4457700"/>
                  </a:lnTo>
                  <a:lnTo>
                    <a:pt x="4572" y="4453890"/>
                  </a:lnTo>
                  <a:lnTo>
                    <a:pt x="4572" y="4462272"/>
                  </a:lnTo>
                  <a:lnTo>
                    <a:pt x="8382" y="4462272"/>
                  </a:lnTo>
                  <a:close/>
                </a:path>
                <a:path w="5236845" h="4462780">
                  <a:moveTo>
                    <a:pt x="5232654" y="8381"/>
                  </a:moveTo>
                  <a:lnTo>
                    <a:pt x="5228082" y="4571"/>
                  </a:lnTo>
                  <a:lnTo>
                    <a:pt x="5228082" y="8381"/>
                  </a:lnTo>
                  <a:lnTo>
                    <a:pt x="5232654" y="8381"/>
                  </a:lnTo>
                  <a:close/>
                </a:path>
                <a:path w="5236845" h="4462780">
                  <a:moveTo>
                    <a:pt x="5232654" y="4453890"/>
                  </a:moveTo>
                  <a:lnTo>
                    <a:pt x="5232654" y="8381"/>
                  </a:lnTo>
                  <a:lnTo>
                    <a:pt x="5228082" y="8381"/>
                  </a:lnTo>
                  <a:lnTo>
                    <a:pt x="5228082" y="4453890"/>
                  </a:lnTo>
                  <a:lnTo>
                    <a:pt x="5232654" y="4453890"/>
                  </a:lnTo>
                  <a:close/>
                </a:path>
                <a:path w="5236845" h="4462780">
                  <a:moveTo>
                    <a:pt x="5232654" y="4462272"/>
                  </a:moveTo>
                  <a:lnTo>
                    <a:pt x="5232654" y="4453890"/>
                  </a:lnTo>
                  <a:lnTo>
                    <a:pt x="5228082" y="4457700"/>
                  </a:lnTo>
                  <a:lnTo>
                    <a:pt x="5228082" y="4462272"/>
                  </a:lnTo>
                  <a:lnTo>
                    <a:pt x="5232654" y="4462272"/>
                  </a:lnTo>
                  <a:close/>
                </a:path>
              </a:pathLst>
            </a:custGeom>
            <a:solidFill>
              <a:srgbClr val="FF0000"/>
            </a:solidFill>
          </p:spPr>
          <p:txBody>
            <a:bodyPr wrap="square" lIns="0" tIns="0" rIns="0" bIns="0" rtlCol="0"/>
            <a:lstStyle/>
            <a:p>
              <a:endParaRPr/>
            </a:p>
          </p:txBody>
        </p:sp>
      </p:grpSp>
      <p:sp>
        <p:nvSpPr>
          <p:cNvPr id="15" name="object 15"/>
          <p:cNvSpPr txBox="1"/>
          <p:nvPr/>
        </p:nvSpPr>
        <p:spPr>
          <a:xfrm>
            <a:off x="4842643" y="1668305"/>
            <a:ext cx="3911600" cy="280035"/>
          </a:xfrm>
          <a:prstGeom prst="rect">
            <a:avLst/>
          </a:prstGeom>
        </p:spPr>
        <p:txBody>
          <a:bodyPr vert="horz" wrap="square" lIns="0" tIns="14604" rIns="0" bIns="0" rtlCol="0">
            <a:spAutoFit/>
          </a:bodyPr>
          <a:lstStyle/>
          <a:p>
            <a:pPr marL="12700">
              <a:lnSpc>
                <a:spcPct val="100000"/>
              </a:lnSpc>
              <a:spcBef>
                <a:spcPts val="114"/>
              </a:spcBef>
            </a:pPr>
            <a:r>
              <a:rPr sz="1550" spc="155" dirty="0">
                <a:solidFill>
                  <a:srgbClr val="31DDFF"/>
                </a:solidFill>
                <a:latin typeface="Arial"/>
                <a:cs typeface="Arial"/>
              </a:rPr>
              <a:t>// </a:t>
            </a:r>
            <a:r>
              <a:rPr sz="1650" i="1" spc="-85" dirty="0">
                <a:solidFill>
                  <a:srgbClr val="31DDFF"/>
                </a:solidFill>
                <a:latin typeface="微软雅黑"/>
                <a:cs typeface="微软雅黑"/>
              </a:rPr>
              <a:t>定时器的位数 </a:t>
            </a:r>
            <a:r>
              <a:rPr sz="1550" i="1" spc="10" dirty="0">
                <a:solidFill>
                  <a:srgbClr val="31DDFF"/>
                </a:solidFill>
                <a:latin typeface="Arial"/>
                <a:cs typeface="Arial"/>
              </a:rPr>
              <a:t>( </a:t>
            </a:r>
            <a:r>
              <a:rPr sz="1550" i="1" dirty="0">
                <a:solidFill>
                  <a:srgbClr val="31DDFF"/>
                </a:solidFill>
                <a:latin typeface="Arial"/>
                <a:cs typeface="Arial"/>
              </a:rPr>
              <a:t>2^N</a:t>
            </a:r>
            <a:r>
              <a:rPr sz="1550" i="1" spc="20" dirty="0">
                <a:solidFill>
                  <a:srgbClr val="31DDFF"/>
                </a:solidFill>
                <a:latin typeface="Arial"/>
                <a:cs typeface="Arial"/>
              </a:rPr>
              <a:t> </a:t>
            </a:r>
            <a:r>
              <a:rPr sz="1550" i="1" dirty="0">
                <a:solidFill>
                  <a:srgbClr val="31DDFF"/>
                </a:solidFill>
                <a:latin typeface="Arial"/>
                <a:cs typeface="Arial"/>
              </a:rPr>
              <a:t>*</a:t>
            </a:r>
            <a:r>
              <a:rPr sz="1550" i="1" spc="25" dirty="0">
                <a:solidFill>
                  <a:srgbClr val="31DDFF"/>
                </a:solidFill>
                <a:latin typeface="Arial"/>
                <a:cs typeface="Arial"/>
              </a:rPr>
              <a:t> </a:t>
            </a:r>
            <a:r>
              <a:rPr sz="1550" i="1" dirty="0">
                <a:solidFill>
                  <a:srgbClr val="31DDFF"/>
                </a:solidFill>
                <a:latin typeface="Arial"/>
                <a:cs typeface="Arial"/>
              </a:rPr>
              <a:t>20</a:t>
            </a:r>
            <a:r>
              <a:rPr sz="1550" i="1" spc="20" dirty="0">
                <a:solidFill>
                  <a:srgbClr val="31DDFF"/>
                </a:solidFill>
                <a:latin typeface="Arial"/>
                <a:cs typeface="Arial"/>
              </a:rPr>
              <a:t> </a:t>
            </a:r>
            <a:r>
              <a:rPr sz="1550" i="1" dirty="0">
                <a:solidFill>
                  <a:srgbClr val="31DDFF"/>
                </a:solidFill>
                <a:latin typeface="Arial"/>
                <a:cs typeface="Arial"/>
              </a:rPr>
              <a:t>ns</a:t>
            </a:r>
            <a:r>
              <a:rPr sz="1550" i="1" spc="10" dirty="0">
                <a:solidFill>
                  <a:srgbClr val="31DDFF"/>
                </a:solidFill>
                <a:latin typeface="Arial"/>
                <a:cs typeface="Arial"/>
              </a:rPr>
              <a:t> = </a:t>
            </a:r>
            <a:r>
              <a:rPr sz="1550" i="1" dirty="0">
                <a:solidFill>
                  <a:srgbClr val="31DDFF"/>
                </a:solidFill>
                <a:latin typeface="Arial"/>
                <a:cs typeface="Arial"/>
              </a:rPr>
              <a:t>10</a:t>
            </a:r>
            <a:r>
              <a:rPr sz="1550" i="1" spc="20" dirty="0">
                <a:solidFill>
                  <a:srgbClr val="31DDFF"/>
                </a:solidFill>
                <a:latin typeface="Arial"/>
                <a:cs typeface="Arial"/>
              </a:rPr>
              <a:t> </a:t>
            </a:r>
            <a:r>
              <a:rPr sz="1550" i="1" dirty="0">
                <a:solidFill>
                  <a:srgbClr val="31DDFF"/>
                </a:solidFill>
                <a:latin typeface="Arial"/>
                <a:cs typeface="Arial"/>
              </a:rPr>
              <a:t>ms</a:t>
            </a:r>
            <a:r>
              <a:rPr sz="1550" i="1" spc="30" dirty="0">
                <a:solidFill>
                  <a:srgbClr val="31DDFF"/>
                </a:solidFill>
                <a:latin typeface="Arial"/>
                <a:cs typeface="Arial"/>
              </a:rPr>
              <a:t> </a:t>
            </a:r>
            <a:r>
              <a:rPr sz="1550" i="1" dirty="0">
                <a:solidFill>
                  <a:srgbClr val="31DDFF"/>
                </a:solidFill>
                <a:latin typeface="Arial"/>
                <a:cs typeface="Arial"/>
              </a:rPr>
              <a:t>tick</a:t>
            </a:r>
            <a:r>
              <a:rPr sz="1550" i="1" spc="-15" dirty="0">
                <a:solidFill>
                  <a:srgbClr val="31DDFF"/>
                </a:solidFill>
                <a:latin typeface="Arial"/>
                <a:cs typeface="Arial"/>
              </a:rPr>
              <a:t> )</a:t>
            </a:r>
            <a:endParaRPr sz="1550">
              <a:latin typeface="Arial"/>
              <a:cs typeface="Arial"/>
            </a:endParaRPr>
          </a:p>
        </p:txBody>
      </p:sp>
      <p:sp>
        <p:nvSpPr>
          <p:cNvPr id="17" name="object 17"/>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18" name="object 18"/>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42</a:t>
            </a:fld>
            <a:endParaRPr spc="-25" dirty="0"/>
          </a:p>
        </p:txBody>
      </p:sp>
      <p:sp>
        <p:nvSpPr>
          <p:cNvPr id="16" name="object 16"/>
          <p:cNvSpPr txBox="1"/>
          <p:nvPr/>
        </p:nvSpPr>
        <p:spPr>
          <a:xfrm>
            <a:off x="4786997" y="1921251"/>
            <a:ext cx="5086350" cy="3873500"/>
          </a:xfrm>
          <a:prstGeom prst="rect">
            <a:avLst/>
          </a:prstGeom>
        </p:spPr>
        <p:txBody>
          <a:bodyPr vert="horz" wrap="square" lIns="0" tIns="15875" rIns="0" bIns="0" rtlCol="0">
            <a:spAutoFit/>
          </a:bodyPr>
          <a:lstStyle/>
          <a:p>
            <a:pPr marL="123825">
              <a:lnSpc>
                <a:spcPct val="100000"/>
              </a:lnSpc>
              <a:spcBef>
                <a:spcPts val="125"/>
              </a:spcBef>
            </a:pPr>
            <a:r>
              <a:rPr sz="1550" b="1" dirty="0">
                <a:latin typeface="Arial"/>
                <a:cs typeface="Arial"/>
              </a:rPr>
              <a:t>localparam</a:t>
            </a:r>
            <a:r>
              <a:rPr sz="1550" b="1" spc="25" dirty="0">
                <a:latin typeface="Arial"/>
                <a:cs typeface="Arial"/>
              </a:rPr>
              <a:t> </a:t>
            </a:r>
            <a:r>
              <a:rPr sz="1550" dirty="0">
                <a:latin typeface="Arial"/>
                <a:cs typeface="Arial"/>
              </a:rPr>
              <a:t>N</a:t>
            </a:r>
            <a:r>
              <a:rPr sz="1550" spc="25"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19</a:t>
            </a:r>
            <a:r>
              <a:rPr sz="1550" spc="25" dirty="0">
                <a:latin typeface="Arial"/>
                <a:cs typeface="Arial"/>
              </a:rPr>
              <a:t> </a:t>
            </a:r>
            <a:r>
              <a:rPr sz="1550" spc="-50" dirty="0">
                <a:latin typeface="Arial"/>
                <a:cs typeface="Arial"/>
              </a:rPr>
              <a:t>;</a:t>
            </a:r>
            <a:endParaRPr sz="1550">
              <a:latin typeface="Arial"/>
              <a:cs typeface="Arial"/>
            </a:endParaRPr>
          </a:p>
          <a:p>
            <a:pPr marL="67945">
              <a:lnSpc>
                <a:spcPct val="100000"/>
              </a:lnSpc>
              <a:spcBef>
                <a:spcPts val="25"/>
              </a:spcBef>
            </a:pPr>
            <a:r>
              <a:rPr sz="1550" spc="20" dirty="0">
                <a:solidFill>
                  <a:srgbClr val="31DDFF"/>
                </a:solidFill>
                <a:latin typeface="Arial"/>
                <a:cs typeface="Arial"/>
              </a:rPr>
              <a:t>// </a:t>
            </a:r>
            <a:r>
              <a:rPr sz="1550" spc="-15" dirty="0">
                <a:solidFill>
                  <a:srgbClr val="31DDFF"/>
                </a:solidFill>
                <a:latin typeface="微软雅黑"/>
                <a:cs typeface="微软雅黑"/>
              </a:rPr>
              <a:t>信号声明</a:t>
            </a:r>
            <a:endParaRPr sz="1550">
              <a:latin typeface="微软雅黑"/>
              <a:cs typeface="微软雅黑"/>
            </a:endParaRPr>
          </a:p>
          <a:p>
            <a:pPr marL="123825" marR="3016885">
              <a:lnSpc>
                <a:spcPct val="101899"/>
              </a:lnSpc>
              <a:spcBef>
                <a:spcPts val="5"/>
              </a:spcBef>
            </a:pPr>
            <a:r>
              <a:rPr sz="1550" b="1" dirty="0">
                <a:latin typeface="Arial"/>
                <a:cs typeface="Arial"/>
              </a:rPr>
              <a:t>reg</a:t>
            </a:r>
            <a:r>
              <a:rPr sz="1550" dirty="0">
                <a:latin typeface="Arial"/>
                <a:cs typeface="Arial"/>
              </a:rPr>
              <a:t>[</a:t>
            </a:r>
            <a:r>
              <a:rPr sz="1550" spc="30" dirty="0">
                <a:latin typeface="Arial"/>
                <a:cs typeface="Arial"/>
              </a:rPr>
              <a:t> </a:t>
            </a:r>
            <a:r>
              <a:rPr sz="1550" dirty="0">
                <a:latin typeface="Arial"/>
                <a:cs typeface="Arial"/>
              </a:rPr>
              <a:t>N-1:0]</a:t>
            </a:r>
            <a:r>
              <a:rPr sz="1550" spc="484" dirty="0">
                <a:latin typeface="Arial"/>
                <a:cs typeface="Arial"/>
              </a:rPr>
              <a:t> </a:t>
            </a:r>
            <a:r>
              <a:rPr sz="1550" dirty="0">
                <a:latin typeface="Arial"/>
                <a:cs typeface="Arial"/>
              </a:rPr>
              <a:t>q_reg</a:t>
            </a:r>
            <a:r>
              <a:rPr sz="1550" spc="40" dirty="0">
                <a:latin typeface="Arial"/>
                <a:cs typeface="Arial"/>
              </a:rPr>
              <a:t> </a:t>
            </a:r>
            <a:r>
              <a:rPr sz="1550" spc="-50" dirty="0">
                <a:latin typeface="Arial"/>
                <a:cs typeface="Arial"/>
              </a:rPr>
              <a:t>; </a:t>
            </a:r>
            <a:r>
              <a:rPr sz="1550" b="1" dirty="0">
                <a:latin typeface="Arial"/>
                <a:cs typeface="Arial"/>
              </a:rPr>
              <a:t>wire</a:t>
            </a:r>
            <a:r>
              <a:rPr sz="1550" dirty="0">
                <a:latin typeface="Arial"/>
                <a:cs typeface="Arial"/>
              </a:rPr>
              <a:t>[</a:t>
            </a:r>
            <a:r>
              <a:rPr sz="1550" spc="25" dirty="0">
                <a:latin typeface="Arial"/>
                <a:cs typeface="Arial"/>
              </a:rPr>
              <a:t> </a:t>
            </a:r>
            <a:r>
              <a:rPr sz="1550" dirty="0">
                <a:latin typeface="Arial"/>
                <a:cs typeface="Arial"/>
              </a:rPr>
              <a:t>N-1:0</a:t>
            </a:r>
            <a:r>
              <a:rPr sz="1550" spc="25" dirty="0">
                <a:latin typeface="Arial"/>
                <a:cs typeface="Arial"/>
              </a:rPr>
              <a:t> </a:t>
            </a:r>
            <a:r>
              <a:rPr sz="1550" dirty="0">
                <a:latin typeface="Arial"/>
                <a:cs typeface="Arial"/>
              </a:rPr>
              <a:t>]</a:t>
            </a:r>
            <a:r>
              <a:rPr sz="1550" spc="480" dirty="0">
                <a:latin typeface="Arial"/>
                <a:cs typeface="Arial"/>
              </a:rPr>
              <a:t> </a:t>
            </a:r>
            <a:r>
              <a:rPr sz="1550" dirty="0">
                <a:latin typeface="Arial"/>
                <a:cs typeface="Arial"/>
              </a:rPr>
              <a:t>q_next</a:t>
            </a:r>
            <a:r>
              <a:rPr sz="1550" spc="30" dirty="0">
                <a:latin typeface="Arial"/>
                <a:cs typeface="Arial"/>
              </a:rPr>
              <a:t> </a:t>
            </a:r>
            <a:r>
              <a:rPr sz="1550" spc="-50" dirty="0">
                <a:latin typeface="Arial"/>
                <a:cs typeface="Arial"/>
              </a:rPr>
              <a:t>; </a:t>
            </a:r>
            <a:r>
              <a:rPr sz="1550" b="1" dirty="0">
                <a:latin typeface="Arial"/>
                <a:cs typeface="Arial"/>
              </a:rPr>
              <a:t>wire</a:t>
            </a:r>
            <a:r>
              <a:rPr sz="1550" b="1" spc="50" dirty="0">
                <a:latin typeface="Arial"/>
                <a:cs typeface="Arial"/>
              </a:rPr>
              <a:t> </a:t>
            </a:r>
            <a:r>
              <a:rPr sz="1550" dirty="0">
                <a:latin typeface="Arial"/>
                <a:cs typeface="Arial"/>
              </a:rPr>
              <a:t>m_tick</a:t>
            </a:r>
            <a:r>
              <a:rPr sz="1550" spc="55" dirty="0">
                <a:latin typeface="Arial"/>
                <a:cs typeface="Arial"/>
              </a:rPr>
              <a:t> </a:t>
            </a:r>
            <a:r>
              <a:rPr sz="1550" spc="-50" dirty="0">
                <a:latin typeface="Arial"/>
                <a:cs typeface="Arial"/>
              </a:rPr>
              <a:t>;</a:t>
            </a:r>
            <a:endParaRPr sz="1550">
              <a:latin typeface="Arial"/>
              <a:cs typeface="Arial"/>
            </a:endParaRPr>
          </a:p>
          <a:p>
            <a:pPr marL="123825">
              <a:lnSpc>
                <a:spcPts val="1820"/>
              </a:lnSpc>
              <a:spcBef>
                <a:spcPts val="30"/>
              </a:spcBef>
            </a:pPr>
            <a:r>
              <a:rPr sz="1550" b="1" dirty="0">
                <a:latin typeface="Arial"/>
                <a:cs typeface="Arial"/>
              </a:rPr>
              <a:t>reg</a:t>
            </a:r>
            <a:r>
              <a:rPr sz="1550" dirty="0">
                <a:latin typeface="Arial"/>
                <a:cs typeface="Arial"/>
              </a:rPr>
              <a:t>[</a:t>
            </a:r>
            <a:r>
              <a:rPr sz="1550" spc="50" dirty="0">
                <a:latin typeface="Arial"/>
                <a:cs typeface="Arial"/>
              </a:rPr>
              <a:t> </a:t>
            </a:r>
            <a:r>
              <a:rPr sz="1550" dirty="0">
                <a:latin typeface="Arial"/>
                <a:cs typeface="Arial"/>
              </a:rPr>
              <a:t>2:0</a:t>
            </a:r>
            <a:r>
              <a:rPr sz="1550" spc="50" dirty="0">
                <a:latin typeface="Arial"/>
                <a:cs typeface="Arial"/>
              </a:rPr>
              <a:t> </a:t>
            </a:r>
            <a:r>
              <a:rPr sz="1550" dirty="0">
                <a:latin typeface="Arial"/>
                <a:cs typeface="Arial"/>
              </a:rPr>
              <a:t>]</a:t>
            </a:r>
            <a:r>
              <a:rPr sz="1550" spc="50" dirty="0">
                <a:latin typeface="Arial"/>
                <a:cs typeface="Arial"/>
              </a:rPr>
              <a:t> </a:t>
            </a:r>
            <a:r>
              <a:rPr sz="1550" dirty="0">
                <a:latin typeface="Arial"/>
                <a:cs typeface="Arial"/>
              </a:rPr>
              <a:t>state_reg</a:t>
            </a:r>
            <a:r>
              <a:rPr sz="1550" spc="50" dirty="0">
                <a:latin typeface="Arial"/>
                <a:cs typeface="Arial"/>
              </a:rPr>
              <a:t> </a:t>
            </a:r>
            <a:r>
              <a:rPr sz="1550" dirty="0">
                <a:latin typeface="Arial"/>
                <a:cs typeface="Arial"/>
              </a:rPr>
              <a:t>,</a:t>
            </a:r>
            <a:r>
              <a:rPr sz="1550" spc="50" dirty="0">
                <a:latin typeface="Arial"/>
                <a:cs typeface="Arial"/>
              </a:rPr>
              <a:t> </a:t>
            </a:r>
            <a:r>
              <a:rPr sz="1550" dirty="0">
                <a:latin typeface="Arial"/>
                <a:cs typeface="Arial"/>
              </a:rPr>
              <a:t>state_next</a:t>
            </a:r>
            <a:r>
              <a:rPr sz="1550" spc="50" dirty="0">
                <a:latin typeface="Arial"/>
                <a:cs typeface="Arial"/>
              </a:rPr>
              <a:t> </a:t>
            </a:r>
            <a:r>
              <a:rPr sz="1550" spc="-50" dirty="0">
                <a:latin typeface="Arial"/>
                <a:cs typeface="Arial"/>
              </a:rPr>
              <a:t>;</a:t>
            </a:r>
            <a:endParaRPr sz="1550">
              <a:latin typeface="Arial"/>
              <a:cs typeface="Arial"/>
            </a:endParaRPr>
          </a:p>
          <a:p>
            <a:pPr marL="12700">
              <a:lnSpc>
                <a:spcPts val="1939"/>
              </a:lnSpc>
            </a:pPr>
            <a:r>
              <a:rPr sz="1550" spc="5" dirty="0">
                <a:solidFill>
                  <a:srgbClr val="31DDFF"/>
                </a:solidFill>
                <a:latin typeface="Arial"/>
                <a:cs typeface="Arial"/>
              </a:rPr>
              <a:t>// </a:t>
            </a:r>
            <a:r>
              <a:rPr sz="1550" i="1" dirty="0">
                <a:solidFill>
                  <a:srgbClr val="31DDFF"/>
                </a:solidFill>
                <a:latin typeface="Arial"/>
                <a:cs typeface="Arial"/>
              </a:rPr>
              <a:t>10</a:t>
            </a:r>
            <a:r>
              <a:rPr sz="1550" i="1" spc="30" dirty="0">
                <a:solidFill>
                  <a:srgbClr val="31DDFF"/>
                </a:solidFill>
                <a:latin typeface="Arial"/>
                <a:cs typeface="Arial"/>
              </a:rPr>
              <a:t> </a:t>
            </a:r>
            <a:r>
              <a:rPr sz="1550" i="1" dirty="0">
                <a:solidFill>
                  <a:srgbClr val="31DDFF"/>
                </a:solidFill>
                <a:latin typeface="Arial"/>
                <a:cs typeface="Arial"/>
              </a:rPr>
              <a:t>ms</a:t>
            </a:r>
            <a:r>
              <a:rPr sz="1550" i="1" spc="40" dirty="0">
                <a:solidFill>
                  <a:srgbClr val="31DDFF"/>
                </a:solidFill>
                <a:latin typeface="Arial"/>
                <a:cs typeface="Arial"/>
              </a:rPr>
              <a:t> </a:t>
            </a:r>
            <a:r>
              <a:rPr sz="1550" i="1" dirty="0">
                <a:solidFill>
                  <a:srgbClr val="31DDFF"/>
                </a:solidFill>
                <a:latin typeface="Arial"/>
                <a:cs typeface="Arial"/>
              </a:rPr>
              <a:t>tick</a:t>
            </a:r>
            <a:r>
              <a:rPr sz="1550" i="1" spc="30" dirty="0">
                <a:solidFill>
                  <a:srgbClr val="31DDFF"/>
                </a:solidFill>
                <a:latin typeface="Arial"/>
                <a:cs typeface="Arial"/>
              </a:rPr>
              <a:t> </a:t>
            </a:r>
            <a:r>
              <a:rPr sz="1650" i="1" spc="-85" dirty="0">
                <a:solidFill>
                  <a:srgbClr val="31DDFF"/>
                </a:solidFill>
                <a:latin typeface="微软雅黑"/>
                <a:cs typeface="微软雅黑"/>
              </a:rPr>
              <a:t>计数发生器</a:t>
            </a:r>
            <a:endParaRPr sz="1650">
              <a:latin typeface="微软雅黑"/>
              <a:cs typeface="微软雅黑"/>
            </a:endParaRPr>
          </a:p>
          <a:p>
            <a:pPr marL="346075" marR="2557780" indent="-222885">
              <a:lnSpc>
                <a:spcPts val="1900"/>
              </a:lnSpc>
              <a:spcBef>
                <a:spcPts val="55"/>
              </a:spcBef>
            </a:pPr>
            <a:r>
              <a:rPr sz="1550" b="1" dirty="0">
                <a:latin typeface="Arial"/>
                <a:cs typeface="Arial"/>
              </a:rPr>
              <a:t>always</a:t>
            </a:r>
            <a:r>
              <a:rPr sz="1550" b="1" spc="484"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a:t>
            </a:r>
            <a:r>
              <a:rPr sz="1550" spc="30" dirty="0">
                <a:latin typeface="Arial"/>
                <a:cs typeface="Arial"/>
              </a:rPr>
              <a:t> </a:t>
            </a:r>
            <a:r>
              <a:rPr sz="1550" b="1" dirty="0">
                <a:latin typeface="Arial"/>
                <a:cs typeface="Arial"/>
              </a:rPr>
              <a:t>posedge</a:t>
            </a:r>
            <a:r>
              <a:rPr sz="1550" b="1" spc="20" dirty="0">
                <a:latin typeface="Arial"/>
                <a:cs typeface="Arial"/>
              </a:rPr>
              <a:t> </a:t>
            </a:r>
            <a:r>
              <a:rPr sz="1550" dirty="0">
                <a:latin typeface="Arial"/>
                <a:cs typeface="Arial"/>
              </a:rPr>
              <a:t>clk</a:t>
            </a:r>
            <a:r>
              <a:rPr sz="1550" spc="20" dirty="0">
                <a:latin typeface="Arial"/>
                <a:cs typeface="Arial"/>
              </a:rPr>
              <a:t> </a:t>
            </a:r>
            <a:r>
              <a:rPr sz="1550" spc="-50" dirty="0">
                <a:latin typeface="Arial"/>
                <a:cs typeface="Arial"/>
              </a:rPr>
              <a:t>) </a:t>
            </a:r>
            <a:r>
              <a:rPr sz="1550" dirty="0">
                <a:latin typeface="Arial"/>
                <a:cs typeface="Arial"/>
              </a:rPr>
              <a:t>q_reg&lt;=</a:t>
            </a:r>
            <a:r>
              <a:rPr sz="1550" spc="80" dirty="0">
                <a:latin typeface="Arial"/>
                <a:cs typeface="Arial"/>
              </a:rPr>
              <a:t> </a:t>
            </a:r>
            <a:r>
              <a:rPr sz="1550" dirty="0">
                <a:latin typeface="Arial"/>
                <a:cs typeface="Arial"/>
              </a:rPr>
              <a:t>q_next</a:t>
            </a:r>
            <a:r>
              <a:rPr sz="1550" spc="85" dirty="0">
                <a:latin typeface="Arial"/>
                <a:cs typeface="Arial"/>
              </a:rPr>
              <a:t> </a:t>
            </a:r>
            <a:r>
              <a:rPr sz="1550" spc="-50" dirty="0">
                <a:latin typeface="Arial"/>
                <a:cs typeface="Arial"/>
              </a:rPr>
              <a:t>;</a:t>
            </a:r>
            <a:endParaRPr sz="1550">
              <a:latin typeface="Arial"/>
              <a:cs typeface="Arial"/>
            </a:endParaRPr>
          </a:p>
          <a:p>
            <a:pPr marL="123825">
              <a:lnSpc>
                <a:spcPts val="1785"/>
              </a:lnSpc>
            </a:pPr>
            <a:r>
              <a:rPr sz="1550" b="1" dirty="0">
                <a:latin typeface="Arial"/>
                <a:cs typeface="Arial"/>
              </a:rPr>
              <a:t>assign</a:t>
            </a:r>
            <a:r>
              <a:rPr sz="1550" b="1" spc="480" dirty="0">
                <a:latin typeface="Arial"/>
                <a:cs typeface="Arial"/>
              </a:rPr>
              <a:t> </a:t>
            </a:r>
            <a:r>
              <a:rPr sz="1550" dirty="0">
                <a:latin typeface="Arial"/>
                <a:cs typeface="Arial"/>
              </a:rPr>
              <a:t>q_next</a:t>
            </a:r>
            <a:r>
              <a:rPr sz="1550" spc="15" dirty="0">
                <a:latin typeface="Arial"/>
                <a:cs typeface="Arial"/>
              </a:rPr>
              <a:t> = </a:t>
            </a:r>
            <a:r>
              <a:rPr sz="1550" dirty="0">
                <a:latin typeface="Arial"/>
                <a:cs typeface="Arial"/>
              </a:rPr>
              <a:t>q_reg</a:t>
            </a:r>
            <a:r>
              <a:rPr sz="1550" spc="15" dirty="0">
                <a:latin typeface="Arial"/>
                <a:cs typeface="Arial"/>
              </a:rPr>
              <a:t> + </a:t>
            </a:r>
            <a:r>
              <a:rPr sz="1550" dirty="0">
                <a:latin typeface="Arial"/>
                <a:cs typeface="Arial"/>
              </a:rPr>
              <a:t>1</a:t>
            </a:r>
            <a:r>
              <a:rPr sz="1550" spc="15" dirty="0">
                <a:latin typeface="Arial"/>
                <a:cs typeface="Arial"/>
              </a:rPr>
              <a:t> ; </a:t>
            </a:r>
            <a:r>
              <a:rPr sz="1550" spc="10" dirty="0">
                <a:solidFill>
                  <a:srgbClr val="31DDFF"/>
                </a:solidFill>
                <a:latin typeface="Arial"/>
                <a:cs typeface="Arial"/>
              </a:rPr>
              <a:t>// </a:t>
            </a:r>
            <a:r>
              <a:rPr sz="1650" i="1" spc="-85" dirty="0">
                <a:solidFill>
                  <a:srgbClr val="31DDFF"/>
                </a:solidFill>
                <a:latin typeface="微软雅黑"/>
                <a:cs typeface="微软雅黑"/>
              </a:rPr>
              <a:t>下一状态逻辑</a:t>
            </a:r>
            <a:endParaRPr sz="1650">
              <a:latin typeface="微软雅黑"/>
              <a:cs typeface="微软雅黑"/>
            </a:endParaRPr>
          </a:p>
          <a:p>
            <a:pPr marL="123825">
              <a:lnSpc>
                <a:spcPts val="1935"/>
              </a:lnSpc>
            </a:pPr>
            <a:r>
              <a:rPr sz="1550" b="1" dirty="0">
                <a:latin typeface="Arial"/>
                <a:cs typeface="Arial"/>
              </a:rPr>
              <a:t>assign</a:t>
            </a:r>
            <a:r>
              <a:rPr sz="1550" b="1" spc="470" dirty="0">
                <a:latin typeface="Arial"/>
                <a:cs typeface="Arial"/>
              </a:rPr>
              <a:t> </a:t>
            </a:r>
            <a:r>
              <a:rPr sz="1550" dirty="0">
                <a:latin typeface="Arial"/>
                <a:cs typeface="Arial"/>
              </a:rPr>
              <a:t>m_tick</a:t>
            </a:r>
            <a:r>
              <a:rPr sz="1550" spc="10" dirty="0">
                <a:latin typeface="Arial"/>
                <a:cs typeface="Arial"/>
              </a:rPr>
              <a:t> = ( </a:t>
            </a:r>
            <a:r>
              <a:rPr sz="1550" dirty="0">
                <a:latin typeface="Arial"/>
                <a:cs typeface="Arial"/>
              </a:rPr>
              <a:t>q_reg</a:t>
            </a:r>
            <a:r>
              <a:rPr sz="1550" spc="10" dirty="0">
                <a:latin typeface="Arial"/>
                <a:cs typeface="Arial"/>
              </a:rPr>
              <a:t> == </a:t>
            </a:r>
            <a:r>
              <a:rPr sz="1550" dirty="0">
                <a:latin typeface="Arial"/>
                <a:cs typeface="Arial"/>
              </a:rPr>
              <a:t>0</a:t>
            </a:r>
            <a:r>
              <a:rPr sz="1550" spc="5" dirty="0">
                <a:latin typeface="Arial"/>
                <a:cs typeface="Arial"/>
              </a:rPr>
              <a:t> ) ? </a:t>
            </a:r>
            <a:r>
              <a:rPr sz="1550" dirty="0">
                <a:latin typeface="Arial"/>
                <a:cs typeface="Arial"/>
              </a:rPr>
              <a:t>1’b1</a:t>
            </a:r>
            <a:r>
              <a:rPr sz="1550" spc="10" dirty="0">
                <a:latin typeface="Arial"/>
                <a:cs typeface="Arial"/>
              </a:rPr>
              <a:t> : </a:t>
            </a:r>
            <a:r>
              <a:rPr sz="1550" dirty="0">
                <a:latin typeface="Arial"/>
                <a:cs typeface="Arial"/>
              </a:rPr>
              <a:t>1’b0</a:t>
            </a:r>
            <a:r>
              <a:rPr sz="1550" spc="10" dirty="0">
                <a:latin typeface="Arial"/>
                <a:cs typeface="Arial"/>
              </a:rPr>
              <a:t> ; </a:t>
            </a:r>
            <a:r>
              <a:rPr sz="1550" spc="5" dirty="0">
                <a:solidFill>
                  <a:srgbClr val="31DDFF"/>
                </a:solidFill>
                <a:latin typeface="Arial"/>
                <a:cs typeface="Arial"/>
              </a:rPr>
              <a:t>// </a:t>
            </a:r>
            <a:r>
              <a:rPr sz="1550" i="1" dirty="0">
                <a:solidFill>
                  <a:srgbClr val="31DDFF"/>
                </a:solidFill>
                <a:latin typeface="Arial"/>
                <a:cs typeface="Arial"/>
              </a:rPr>
              <a:t>tick</a:t>
            </a:r>
            <a:r>
              <a:rPr sz="1650" i="1" spc="-70" dirty="0">
                <a:solidFill>
                  <a:srgbClr val="31DDFF"/>
                </a:solidFill>
                <a:latin typeface="微软雅黑"/>
                <a:cs typeface="微软雅黑"/>
              </a:rPr>
              <a:t>输出</a:t>
            </a:r>
            <a:endParaRPr sz="1650">
              <a:latin typeface="微软雅黑"/>
              <a:cs typeface="微软雅黑"/>
            </a:endParaRPr>
          </a:p>
          <a:p>
            <a:pPr marL="123825">
              <a:lnSpc>
                <a:spcPct val="100000"/>
              </a:lnSpc>
              <a:spcBef>
                <a:spcPts val="25"/>
              </a:spcBef>
            </a:pPr>
            <a:r>
              <a:rPr sz="1550" b="1" dirty="0">
                <a:latin typeface="Arial"/>
                <a:cs typeface="Arial"/>
              </a:rPr>
              <a:t>always</a:t>
            </a:r>
            <a:r>
              <a:rPr sz="1550" dirty="0">
                <a:latin typeface="Arial"/>
                <a:cs typeface="Arial"/>
              </a:rPr>
              <a:t>@</a:t>
            </a:r>
            <a:r>
              <a:rPr sz="1550" spc="50" dirty="0">
                <a:latin typeface="Arial"/>
                <a:cs typeface="Arial"/>
              </a:rPr>
              <a:t> </a:t>
            </a:r>
            <a:r>
              <a:rPr sz="1550" dirty="0">
                <a:latin typeface="Arial"/>
                <a:cs typeface="Arial"/>
              </a:rPr>
              <a:t>(</a:t>
            </a:r>
            <a:r>
              <a:rPr sz="1550" b="1" dirty="0">
                <a:latin typeface="Arial"/>
                <a:cs typeface="Arial"/>
              </a:rPr>
              <a:t>posedge</a:t>
            </a:r>
            <a:r>
              <a:rPr sz="1550" b="1" spc="45" dirty="0">
                <a:latin typeface="Arial"/>
                <a:cs typeface="Arial"/>
              </a:rPr>
              <a:t> </a:t>
            </a:r>
            <a:r>
              <a:rPr sz="1550" dirty="0">
                <a:latin typeface="Arial"/>
                <a:cs typeface="Arial"/>
              </a:rPr>
              <a:t>clk</a:t>
            </a:r>
            <a:r>
              <a:rPr sz="1550" spc="45" dirty="0">
                <a:latin typeface="Arial"/>
                <a:cs typeface="Arial"/>
              </a:rPr>
              <a:t> </a:t>
            </a:r>
            <a:r>
              <a:rPr sz="1550" dirty="0">
                <a:latin typeface="Arial"/>
                <a:cs typeface="Arial"/>
              </a:rPr>
              <a:t>,</a:t>
            </a:r>
            <a:r>
              <a:rPr sz="1550" spc="55" dirty="0">
                <a:latin typeface="Arial"/>
                <a:cs typeface="Arial"/>
              </a:rPr>
              <a:t> </a:t>
            </a:r>
            <a:r>
              <a:rPr sz="1550" b="1" dirty="0">
                <a:latin typeface="Arial"/>
                <a:cs typeface="Arial"/>
              </a:rPr>
              <a:t>posedge</a:t>
            </a:r>
            <a:r>
              <a:rPr sz="1550" b="1" spc="50" dirty="0">
                <a:latin typeface="Arial"/>
                <a:cs typeface="Arial"/>
              </a:rPr>
              <a:t> </a:t>
            </a:r>
            <a:r>
              <a:rPr sz="1550" dirty="0">
                <a:latin typeface="Arial"/>
                <a:cs typeface="Arial"/>
              </a:rPr>
              <a:t>reset</a:t>
            </a:r>
            <a:r>
              <a:rPr sz="1550" spc="50" dirty="0">
                <a:latin typeface="Arial"/>
                <a:cs typeface="Arial"/>
              </a:rPr>
              <a:t> </a:t>
            </a:r>
            <a:r>
              <a:rPr sz="1550" spc="-50" dirty="0">
                <a:latin typeface="Arial"/>
                <a:cs typeface="Arial"/>
              </a:rPr>
              <a:t>)</a:t>
            </a:r>
            <a:endParaRPr sz="1550">
              <a:latin typeface="Arial"/>
              <a:cs typeface="Arial"/>
            </a:endParaRPr>
          </a:p>
          <a:p>
            <a:pPr marL="513715" marR="2938145" indent="-223520">
              <a:lnSpc>
                <a:spcPts val="1900"/>
              </a:lnSpc>
              <a:spcBef>
                <a:spcPts val="60"/>
              </a:spcBef>
            </a:pPr>
            <a:r>
              <a:rPr sz="1550" b="1" dirty="0">
                <a:latin typeface="Arial"/>
                <a:cs typeface="Arial"/>
              </a:rPr>
              <a:t>if</a:t>
            </a:r>
            <a:r>
              <a:rPr sz="1550" b="1" spc="484"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reset</a:t>
            </a:r>
            <a:r>
              <a:rPr sz="1550" spc="30" dirty="0">
                <a:latin typeface="Arial"/>
                <a:cs typeface="Arial"/>
              </a:rPr>
              <a:t> </a:t>
            </a:r>
            <a:r>
              <a:rPr sz="1550" spc="-50" dirty="0">
                <a:latin typeface="Arial"/>
                <a:cs typeface="Arial"/>
              </a:rPr>
              <a:t>) </a:t>
            </a:r>
            <a:r>
              <a:rPr sz="1550" dirty="0">
                <a:latin typeface="Arial"/>
                <a:cs typeface="Arial"/>
              </a:rPr>
              <a:t>state_reg&lt;=</a:t>
            </a:r>
            <a:r>
              <a:rPr sz="1550" spc="90" dirty="0">
                <a:latin typeface="Arial"/>
                <a:cs typeface="Arial"/>
              </a:rPr>
              <a:t> </a:t>
            </a:r>
            <a:r>
              <a:rPr sz="1550" dirty="0">
                <a:latin typeface="Arial"/>
                <a:cs typeface="Arial"/>
              </a:rPr>
              <a:t>zero</a:t>
            </a:r>
            <a:r>
              <a:rPr sz="1550" spc="105" dirty="0">
                <a:latin typeface="Arial"/>
                <a:cs typeface="Arial"/>
              </a:rPr>
              <a:t> </a:t>
            </a:r>
            <a:r>
              <a:rPr sz="1550" spc="-50" dirty="0">
                <a:latin typeface="Arial"/>
                <a:cs typeface="Arial"/>
              </a:rPr>
              <a:t>;</a:t>
            </a:r>
            <a:endParaRPr sz="1550">
              <a:latin typeface="Arial"/>
              <a:cs typeface="Arial"/>
            </a:endParaRPr>
          </a:p>
          <a:p>
            <a:pPr marL="234950">
              <a:lnSpc>
                <a:spcPts val="1820"/>
              </a:lnSpc>
            </a:pPr>
            <a:r>
              <a:rPr sz="1550" b="1" spc="-20" dirty="0">
                <a:latin typeface="Arial"/>
                <a:cs typeface="Arial"/>
              </a:rPr>
              <a:t>else</a:t>
            </a:r>
            <a:endParaRPr sz="1550">
              <a:latin typeface="Arial"/>
              <a:cs typeface="Arial"/>
            </a:endParaRPr>
          </a:p>
          <a:p>
            <a:pPr marL="457200">
              <a:lnSpc>
                <a:spcPct val="100000"/>
              </a:lnSpc>
              <a:spcBef>
                <a:spcPts val="30"/>
              </a:spcBef>
            </a:pPr>
            <a:r>
              <a:rPr sz="1550" dirty="0">
                <a:latin typeface="Arial"/>
                <a:cs typeface="Arial"/>
              </a:rPr>
              <a:t>state_reg&lt;=</a:t>
            </a:r>
            <a:r>
              <a:rPr sz="1550" spc="150" dirty="0">
                <a:latin typeface="Arial"/>
                <a:cs typeface="Arial"/>
              </a:rPr>
              <a:t> </a:t>
            </a:r>
            <a:r>
              <a:rPr sz="1550" dirty="0">
                <a:latin typeface="Arial"/>
                <a:cs typeface="Arial"/>
              </a:rPr>
              <a:t>state_next</a:t>
            </a:r>
            <a:r>
              <a:rPr sz="1550" spc="160" dirty="0">
                <a:latin typeface="Arial"/>
                <a:cs typeface="Arial"/>
              </a:rPr>
              <a:t> </a:t>
            </a:r>
            <a:r>
              <a:rPr sz="1550" spc="-50" dirty="0">
                <a:latin typeface="Arial"/>
                <a:cs typeface="Arial"/>
              </a:rPr>
              <a:t>;</a:t>
            </a:r>
            <a:endParaRPr sz="1550">
              <a:latin typeface="Arial"/>
              <a:cs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t>消抖电路的有限状态机</a:t>
            </a:r>
            <a:r>
              <a:rPr spc="-40" dirty="0"/>
              <a:t>Verilog</a:t>
            </a:r>
            <a:r>
              <a:rPr spc="-10" dirty="0"/>
              <a:t>实现代码</a:t>
            </a:r>
            <a:r>
              <a:rPr spc="-50" dirty="0"/>
              <a:t>2</a:t>
            </a:r>
          </a:p>
        </p:txBody>
      </p:sp>
      <p:grpSp>
        <p:nvGrpSpPr>
          <p:cNvPr id="3" name="object 3"/>
          <p:cNvGrpSpPr/>
          <p:nvPr/>
        </p:nvGrpSpPr>
        <p:grpSpPr>
          <a:xfrm>
            <a:off x="317639" y="1741170"/>
            <a:ext cx="4127500" cy="4704715"/>
            <a:chOff x="317639" y="1741170"/>
            <a:chExt cx="4127500" cy="4704715"/>
          </a:xfrm>
        </p:grpSpPr>
        <p:sp>
          <p:nvSpPr>
            <p:cNvPr id="4" name="object 4"/>
            <p:cNvSpPr/>
            <p:nvPr/>
          </p:nvSpPr>
          <p:spPr>
            <a:xfrm>
              <a:off x="321449" y="1744980"/>
              <a:ext cx="4118610" cy="4696460"/>
            </a:xfrm>
            <a:custGeom>
              <a:avLst/>
              <a:gdLst/>
              <a:ahLst/>
              <a:cxnLst/>
              <a:rect l="l" t="t" r="r" b="b"/>
              <a:pathLst>
                <a:path w="4118610" h="4696460">
                  <a:moveTo>
                    <a:pt x="4118610" y="4696206"/>
                  </a:moveTo>
                  <a:lnTo>
                    <a:pt x="4118609" y="0"/>
                  </a:lnTo>
                  <a:lnTo>
                    <a:pt x="0" y="0"/>
                  </a:lnTo>
                  <a:lnTo>
                    <a:pt x="0" y="4696206"/>
                  </a:lnTo>
                  <a:lnTo>
                    <a:pt x="4118610" y="4696206"/>
                  </a:lnTo>
                  <a:close/>
                </a:path>
              </a:pathLst>
            </a:custGeom>
            <a:solidFill>
              <a:srgbClr val="F9FABA"/>
            </a:solidFill>
          </p:spPr>
          <p:txBody>
            <a:bodyPr wrap="square" lIns="0" tIns="0" rIns="0" bIns="0" rtlCol="0"/>
            <a:lstStyle/>
            <a:p>
              <a:endParaRPr/>
            </a:p>
          </p:txBody>
        </p:sp>
        <p:sp>
          <p:nvSpPr>
            <p:cNvPr id="5" name="object 5"/>
            <p:cNvSpPr/>
            <p:nvPr/>
          </p:nvSpPr>
          <p:spPr>
            <a:xfrm>
              <a:off x="317639" y="1741170"/>
              <a:ext cx="4127500" cy="4704715"/>
            </a:xfrm>
            <a:custGeom>
              <a:avLst/>
              <a:gdLst/>
              <a:ahLst/>
              <a:cxnLst/>
              <a:rect l="l" t="t" r="r" b="b"/>
              <a:pathLst>
                <a:path w="4127500" h="4704715">
                  <a:moveTo>
                    <a:pt x="4126991" y="4702302"/>
                  </a:moveTo>
                  <a:lnTo>
                    <a:pt x="4126991" y="1523"/>
                  </a:lnTo>
                  <a:lnTo>
                    <a:pt x="4124705" y="0"/>
                  </a:lnTo>
                  <a:lnTo>
                    <a:pt x="1523" y="0"/>
                  </a:lnTo>
                  <a:lnTo>
                    <a:pt x="0" y="1524"/>
                  </a:lnTo>
                  <a:lnTo>
                    <a:pt x="0" y="4702302"/>
                  </a:lnTo>
                  <a:lnTo>
                    <a:pt x="1524" y="4704588"/>
                  </a:lnTo>
                  <a:lnTo>
                    <a:pt x="3810" y="4704588"/>
                  </a:lnTo>
                  <a:lnTo>
                    <a:pt x="3810" y="8382"/>
                  </a:lnTo>
                  <a:lnTo>
                    <a:pt x="8382" y="3810"/>
                  </a:lnTo>
                  <a:lnTo>
                    <a:pt x="8382" y="8382"/>
                  </a:lnTo>
                  <a:lnTo>
                    <a:pt x="4118610" y="8381"/>
                  </a:lnTo>
                  <a:lnTo>
                    <a:pt x="4118610" y="3809"/>
                  </a:lnTo>
                  <a:lnTo>
                    <a:pt x="4122420" y="8381"/>
                  </a:lnTo>
                  <a:lnTo>
                    <a:pt x="4122420" y="4704588"/>
                  </a:lnTo>
                  <a:lnTo>
                    <a:pt x="4124705" y="4704588"/>
                  </a:lnTo>
                  <a:lnTo>
                    <a:pt x="4126991" y="4702302"/>
                  </a:lnTo>
                  <a:close/>
                </a:path>
                <a:path w="4127500" h="4704715">
                  <a:moveTo>
                    <a:pt x="8382" y="8382"/>
                  </a:moveTo>
                  <a:lnTo>
                    <a:pt x="8382" y="3810"/>
                  </a:lnTo>
                  <a:lnTo>
                    <a:pt x="3810" y="8382"/>
                  </a:lnTo>
                  <a:lnTo>
                    <a:pt x="8382" y="8382"/>
                  </a:lnTo>
                  <a:close/>
                </a:path>
                <a:path w="4127500" h="4704715">
                  <a:moveTo>
                    <a:pt x="8382" y="4696206"/>
                  </a:moveTo>
                  <a:lnTo>
                    <a:pt x="8382" y="8382"/>
                  </a:lnTo>
                  <a:lnTo>
                    <a:pt x="3810" y="8382"/>
                  </a:lnTo>
                  <a:lnTo>
                    <a:pt x="3810" y="4696206"/>
                  </a:lnTo>
                  <a:lnTo>
                    <a:pt x="8382" y="4696206"/>
                  </a:lnTo>
                  <a:close/>
                </a:path>
                <a:path w="4127500" h="4704715">
                  <a:moveTo>
                    <a:pt x="4122420" y="4696206"/>
                  </a:moveTo>
                  <a:lnTo>
                    <a:pt x="3810" y="4696206"/>
                  </a:lnTo>
                  <a:lnTo>
                    <a:pt x="8382" y="4700016"/>
                  </a:lnTo>
                  <a:lnTo>
                    <a:pt x="8382" y="4704588"/>
                  </a:lnTo>
                  <a:lnTo>
                    <a:pt x="4118610" y="4704588"/>
                  </a:lnTo>
                  <a:lnTo>
                    <a:pt x="4118610" y="4700016"/>
                  </a:lnTo>
                  <a:lnTo>
                    <a:pt x="4122420" y="4696206"/>
                  </a:lnTo>
                  <a:close/>
                </a:path>
                <a:path w="4127500" h="4704715">
                  <a:moveTo>
                    <a:pt x="8382" y="4704588"/>
                  </a:moveTo>
                  <a:lnTo>
                    <a:pt x="8382" y="4700016"/>
                  </a:lnTo>
                  <a:lnTo>
                    <a:pt x="3810" y="4696206"/>
                  </a:lnTo>
                  <a:lnTo>
                    <a:pt x="3810" y="4704588"/>
                  </a:lnTo>
                  <a:lnTo>
                    <a:pt x="8382" y="4704588"/>
                  </a:lnTo>
                  <a:close/>
                </a:path>
                <a:path w="4127500" h="4704715">
                  <a:moveTo>
                    <a:pt x="4122420" y="8381"/>
                  </a:moveTo>
                  <a:lnTo>
                    <a:pt x="4118610" y="3809"/>
                  </a:lnTo>
                  <a:lnTo>
                    <a:pt x="4118610" y="8381"/>
                  </a:lnTo>
                  <a:lnTo>
                    <a:pt x="4122420" y="8381"/>
                  </a:lnTo>
                  <a:close/>
                </a:path>
                <a:path w="4127500" h="4704715">
                  <a:moveTo>
                    <a:pt x="4122420" y="4696206"/>
                  </a:moveTo>
                  <a:lnTo>
                    <a:pt x="4122420" y="8381"/>
                  </a:lnTo>
                  <a:lnTo>
                    <a:pt x="4118610" y="8381"/>
                  </a:lnTo>
                  <a:lnTo>
                    <a:pt x="4118610" y="4696206"/>
                  </a:lnTo>
                  <a:lnTo>
                    <a:pt x="4122420" y="4696206"/>
                  </a:lnTo>
                  <a:close/>
                </a:path>
                <a:path w="4127500" h="4704715">
                  <a:moveTo>
                    <a:pt x="4122420" y="4704588"/>
                  </a:moveTo>
                  <a:lnTo>
                    <a:pt x="4122420" y="4696206"/>
                  </a:lnTo>
                  <a:lnTo>
                    <a:pt x="4118610" y="4700016"/>
                  </a:lnTo>
                  <a:lnTo>
                    <a:pt x="4118610" y="4704588"/>
                  </a:lnTo>
                  <a:lnTo>
                    <a:pt x="4122420" y="4704588"/>
                  </a:lnTo>
                  <a:close/>
                </a:path>
              </a:pathLst>
            </a:custGeom>
            <a:solidFill>
              <a:srgbClr val="FF0000"/>
            </a:solidFill>
          </p:spPr>
          <p:txBody>
            <a:bodyPr wrap="square" lIns="0" tIns="0" rIns="0" bIns="0" rtlCol="0"/>
            <a:lstStyle/>
            <a:p>
              <a:endParaRPr/>
            </a:p>
          </p:txBody>
        </p:sp>
      </p:grpSp>
      <p:sp>
        <p:nvSpPr>
          <p:cNvPr id="6" name="object 6"/>
          <p:cNvSpPr txBox="1">
            <a:spLocks noGrp="1"/>
          </p:cNvSpPr>
          <p:nvPr>
            <p:ph sz="half" idx="2"/>
          </p:nvPr>
        </p:nvSpPr>
        <p:spPr>
          <a:prstGeom prst="rect">
            <a:avLst/>
          </a:prstGeom>
        </p:spPr>
        <p:txBody>
          <a:bodyPr vert="horz" wrap="square" lIns="0" tIns="15875" rIns="0" bIns="0" rtlCol="0">
            <a:spAutoFit/>
          </a:bodyPr>
          <a:lstStyle/>
          <a:p>
            <a:pPr marL="12700">
              <a:lnSpc>
                <a:spcPct val="100000"/>
              </a:lnSpc>
              <a:spcBef>
                <a:spcPts val="125"/>
              </a:spcBef>
            </a:pPr>
            <a:r>
              <a:rPr dirty="0"/>
              <a:t>always</a:t>
            </a:r>
            <a:r>
              <a:rPr spc="465" dirty="0"/>
              <a:t> </a:t>
            </a:r>
            <a:r>
              <a:rPr b="0" spc="-25" dirty="0">
                <a:latin typeface="Arial"/>
                <a:cs typeface="Arial"/>
              </a:rPr>
              <a:t>@*</a:t>
            </a:r>
          </a:p>
          <a:p>
            <a:pPr marL="123825">
              <a:lnSpc>
                <a:spcPct val="100000"/>
              </a:lnSpc>
              <a:spcBef>
                <a:spcPts val="30"/>
              </a:spcBef>
            </a:pPr>
            <a:r>
              <a:rPr spc="-10" dirty="0"/>
              <a:t>begin</a:t>
            </a:r>
          </a:p>
          <a:p>
            <a:pPr marL="234950" marR="416559">
              <a:lnSpc>
                <a:spcPct val="101600"/>
              </a:lnSpc>
              <a:spcBef>
                <a:spcPts val="10"/>
              </a:spcBef>
            </a:pPr>
            <a:r>
              <a:rPr b="0" dirty="0">
                <a:latin typeface="Arial"/>
                <a:cs typeface="Arial"/>
              </a:rPr>
              <a:t>state_next</a:t>
            </a:r>
            <a:r>
              <a:rPr b="0" spc="70" dirty="0">
                <a:latin typeface="Arial"/>
                <a:cs typeface="Arial"/>
              </a:rPr>
              <a:t> </a:t>
            </a:r>
            <a:r>
              <a:rPr b="0" dirty="0">
                <a:latin typeface="Arial"/>
                <a:cs typeface="Arial"/>
              </a:rPr>
              <a:t>=</a:t>
            </a:r>
            <a:r>
              <a:rPr b="0" spc="80" dirty="0">
                <a:latin typeface="Arial"/>
                <a:cs typeface="Arial"/>
              </a:rPr>
              <a:t> </a:t>
            </a:r>
            <a:r>
              <a:rPr b="0" dirty="0">
                <a:latin typeface="Arial"/>
                <a:cs typeface="Arial"/>
              </a:rPr>
              <a:t>state_reg</a:t>
            </a:r>
            <a:r>
              <a:rPr b="0" spc="60" dirty="0">
                <a:latin typeface="Arial"/>
                <a:cs typeface="Arial"/>
              </a:rPr>
              <a:t> </a:t>
            </a:r>
            <a:r>
              <a:rPr b="0" spc="-50" dirty="0">
                <a:latin typeface="Arial"/>
                <a:cs typeface="Arial"/>
              </a:rPr>
              <a:t>; </a:t>
            </a:r>
            <a:r>
              <a:rPr b="0" dirty="0">
                <a:latin typeface="Arial"/>
                <a:cs typeface="Arial"/>
              </a:rPr>
              <a:t>db</a:t>
            </a:r>
            <a:r>
              <a:rPr b="0" spc="25" dirty="0">
                <a:latin typeface="Arial"/>
                <a:cs typeface="Arial"/>
              </a:rPr>
              <a:t> </a:t>
            </a:r>
            <a:r>
              <a:rPr b="0" dirty="0">
                <a:latin typeface="Arial"/>
                <a:cs typeface="Arial"/>
              </a:rPr>
              <a:t>=</a:t>
            </a:r>
            <a:r>
              <a:rPr b="0" spc="15" dirty="0">
                <a:latin typeface="Arial"/>
                <a:cs typeface="Arial"/>
              </a:rPr>
              <a:t> </a:t>
            </a:r>
            <a:r>
              <a:rPr b="0" dirty="0">
                <a:latin typeface="Arial"/>
                <a:cs typeface="Arial"/>
              </a:rPr>
              <a:t>1’b0</a:t>
            </a:r>
            <a:r>
              <a:rPr b="0" spc="20" dirty="0">
                <a:latin typeface="Arial"/>
                <a:cs typeface="Arial"/>
              </a:rPr>
              <a:t> </a:t>
            </a:r>
            <a:r>
              <a:rPr b="0" spc="-50" dirty="0">
                <a:latin typeface="Arial"/>
                <a:cs typeface="Arial"/>
              </a:rPr>
              <a:t>;</a:t>
            </a:r>
          </a:p>
          <a:p>
            <a:pPr marL="402590" marR="934719" indent="-167640">
              <a:lnSpc>
                <a:spcPct val="101899"/>
              </a:lnSpc>
            </a:pPr>
            <a:r>
              <a:rPr dirty="0"/>
              <a:t>case</a:t>
            </a:r>
            <a:r>
              <a:rPr spc="45" dirty="0"/>
              <a:t>  </a:t>
            </a:r>
            <a:r>
              <a:rPr b="0" dirty="0">
                <a:latin typeface="Arial"/>
                <a:cs typeface="Arial"/>
              </a:rPr>
              <a:t>(state_reg</a:t>
            </a:r>
            <a:r>
              <a:rPr b="0" spc="30" dirty="0">
                <a:latin typeface="Arial"/>
                <a:cs typeface="Arial"/>
              </a:rPr>
              <a:t> </a:t>
            </a:r>
            <a:r>
              <a:rPr b="0" spc="-50" dirty="0">
                <a:latin typeface="Arial"/>
                <a:cs typeface="Arial"/>
              </a:rPr>
              <a:t>) </a:t>
            </a:r>
            <a:r>
              <a:rPr b="0" dirty="0">
                <a:latin typeface="Arial"/>
                <a:cs typeface="Arial"/>
              </a:rPr>
              <a:t>zero</a:t>
            </a:r>
            <a:r>
              <a:rPr b="0" spc="30" dirty="0">
                <a:latin typeface="Arial"/>
                <a:cs typeface="Arial"/>
              </a:rPr>
              <a:t> </a:t>
            </a:r>
            <a:r>
              <a:rPr b="0" spc="-50" dirty="0">
                <a:latin typeface="Arial"/>
                <a:cs typeface="Arial"/>
              </a:rPr>
              <a:t>:</a:t>
            </a:r>
          </a:p>
          <a:p>
            <a:pPr marL="569595">
              <a:lnSpc>
                <a:spcPct val="100000"/>
              </a:lnSpc>
              <a:spcBef>
                <a:spcPts val="30"/>
              </a:spcBef>
            </a:pPr>
            <a:r>
              <a:rPr dirty="0"/>
              <a:t>if</a:t>
            </a:r>
            <a:r>
              <a:rPr spc="465" dirty="0"/>
              <a:t> </a:t>
            </a:r>
            <a:r>
              <a:rPr b="0" dirty="0">
                <a:latin typeface="Arial"/>
                <a:cs typeface="Arial"/>
              </a:rPr>
              <a:t>(sw</a:t>
            </a:r>
            <a:r>
              <a:rPr b="0" spc="10" dirty="0">
                <a:latin typeface="Arial"/>
                <a:cs typeface="Arial"/>
              </a:rPr>
              <a:t> </a:t>
            </a:r>
            <a:r>
              <a:rPr b="0" spc="-50" dirty="0">
                <a:latin typeface="Arial"/>
                <a:cs typeface="Arial"/>
              </a:rPr>
              <a:t>)</a:t>
            </a:r>
          </a:p>
          <a:p>
            <a:pPr marL="402590" marR="60325" indent="333375">
              <a:lnSpc>
                <a:spcPct val="101600"/>
              </a:lnSpc>
              <a:spcBef>
                <a:spcPts val="5"/>
              </a:spcBef>
            </a:pPr>
            <a:r>
              <a:rPr b="0" dirty="0">
                <a:latin typeface="Arial"/>
                <a:cs typeface="Arial"/>
              </a:rPr>
              <a:t>state_next</a:t>
            </a:r>
            <a:r>
              <a:rPr b="0" spc="50" dirty="0">
                <a:latin typeface="Arial"/>
                <a:cs typeface="Arial"/>
              </a:rPr>
              <a:t> </a:t>
            </a:r>
            <a:r>
              <a:rPr b="0" dirty="0">
                <a:latin typeface="Arial"/>
                <a:cs typeface="Arial"/>
              </a:rPr>
              <a:t>=</a:t>
            </a:r>
            <a:r>
              <a:rPr b="0" spc="45" dirty="0">
                <a:latin typeface="Arial"/>
                <a:cs typeface="Arial"/>
              </a:rPr>
              <a:t> </a:t>
            </a:r>
            <a:r>
              <a:rPr b="0" dirty="0">
                <a:latin typeface="Arial"/>
                <a:cs typeface="Arial"/>
              </a:rPr>
              <a:t>wait1_1</a:t>
            </a:r>
            <a:r>
              <a:rPr b="0" spc="55" dirty="0">
                <a:latin typeface="Arial"/>
                <a:cs typeface="Arial"/>
              </a:rPr>
              <a:t> </a:t>
            </a:r>
            <a:r>
              <a:rPr b="0" spc="-50" dirty="0">
                <a:latin typeface="Arial"/>
                <a:cs typeface="Arial"/>
              </a:rPr>
              <a:t>; </a:t>
            </a:r>
            <a:r>
              <a:rPr b="0" dirty="0">
                <a:latin typeface="Arial"/>
                <a:cs typeface="Arial"/>
              </a:rPr>
              <a:t>wait1_1</a:t>
            </a:r>
            <a:r>
              <a:rPr b="0" spc="25" dirty="0">
                <a:latin typeface="Arial"/>
                <a:cs typeface="Arial"/>
              </a:rPr>
              <a:t> </a:t>
            </a:r>
            <a:r>
              <a:rPr b="0" spc="-60" dirty="0">
                <a:latin typeface="Arial"/>
                <a:cs typeface="Arial"/>
              </a:rPr>
              <a:t>:</a:t>
            </a:r>
          </a:p>
          <a:p>
            <a:pPr marL="569595">
              <a:lnSpc>
                <a:spcPct val="100000"/>
              </a:lnSpc>
              <a:spcBef>
                <a:spcPts val="35"/>
              </a:spcBef>
            </a:pPr>
            <a:r>
              <a:rPr dirty="0"/>
              <a:t>if</a:t>
            </a:r>
            <a:r>
              <a:rPr spc="465" dirty="0"/>
              <a:t> </a:t>
            </a:r>
            <a:r>
              <a:rPr b="0" dirty="0">
                <a:latin typeface="Arial"/>
                <a:cs typeface="Arial"/>
              </a:rPr>
              <a:t>(</a:t>
            </a:r>
            <a:r>
              <a:rPr b="0" spc="10" dirty="0">
                <a:latin typeface="Arial"/>
                <a:cs typeface="Arial"/>
              </a:rPr>
              <a:t> </a:t>
            </a:r>
            <a:r>
              <a:rPr b="0" dirty="0">
                <a:latin typeface="Arial"/>
                <a:cs typeface="Arial"/>
              </a:rPr>
              <a:t>~sw</a:t>
            </a:r>
            <a:r>
              <a:rPr b="0" spc="15" dirty="0">
                <a:latin typeface="Arial"/>
                <a:cs typeface="Arial"/>
              </a:rPr>
              <a:t> </a:t>
            </a:r>
            <a:r>
              <a:rPr b="0" spc="-50" dirty="0">
                <a:latin typeface="Arial"/>
                <a:cs typeface="Arial"/>
              </a:rPr>
              <a:t>)</a:t>
            </a:r>
          </a:p>
          <a:p>
            <a:pPr marL="791845">
              <a:lnSpc>
                <a:spcPct val="100000"/>
              </a:lnSpc>
              <a:spcBef>
                <a:spcPts val="35"/>
              </a:spcBef>
            </a:pPr>
            <a:r>
              <a:rPr b="0" dirty="0">
                <a:latin typeface="Arial"/>
                <a:cs typeface="Arial"/>
              </a:rPr>
              <a:t>state_next</a:t>
            </a:r>
            <a:r>
              <a:rPr b="0" spc="45" dirty="0">
                <a:latin typeface="Arial"/>
                <a:cs typeface="Arial"/>
              </a:rPr>
              <a:t> </a:t>
            </a:r>
            <a:r>
              <a:rPr b="0" dirty="0">
                <a:latin typeface="Arial"/>
                <a:cs typeface="Arial"/>
              </a:rPr>
              <a:t>=</a:t>
            </a:r>
            <a:r>
              <a:rPr b="0" spc="50" dirty="0">
                <a:latin typeface="Arial"/>
                <a:cs typeface="Arial"/>
              </a:rPr>
              <a:t> </a:t>
            </a:r>
            <a:r>
              <a:rPr b="0" dirty="0">
                <a:latin typeface="Arial"/>
                <a:cs typeface="Arial"/>
              </a:rPr>
              <a:t>zero</a:t>
            </a:r>
            <a:r>
              <a:rPr b="0" spc="45" dirty="0">
                <a:latin typeface="Arial"/>
                <a:cs typeface="Arial"/>
              </a:rPr>
              <a:t> </a:t>
            </a:r>
            <a:r>
              <a:rPr b="0" spc="-50" dirty="0">
                <a:latin typeface="Arial"/>
                <a:cs typeface="Arial"/>
              </a:rPr>
              <a:t>;</a:t>
            </a:r>
          </a:p>
          <a:p>
            <a:pPr marL="735965" marR="116205" indent="-222885">
              <a:lnSpc>
                <a:spcPts val="1900"/>
              </a:lnSpc>
              <a:spcBef>
                <a:spcPts val="60"/>
              </a:spcBef>
            </a:pPr>
            <a:r>
              <a:rPr dirty="0"/>
              <a:t>else</a:t>
            </a:r>
            <a:r>
              <a:rPr spc="20" dirty="0"/>
              <a:t> </a:t>
            </a:r>
            <a:r>
              <a:rPr dirty="0"/>
              <a:t>if</a:t>
            </a:r>
            <a:r>
              <a:rPr spc="475" dirty="0"/>
              <a:t> </a:t>
            </a:r>
            <a:r>
              <a:rPr b="0" dirty="0">
                <a:latin typeface="Arial"/>
                <a:cs typeface="Arial"/>
              </a:rPr>
              <a:t>(m_tick</a:t>
            </a:r>
            <a:r>
              <a:rPr b="0" spc="20" dirty="0">
                <a:latin typeface="Arial"/>
                <a:cs typeface="Arial"/>
              </a:rPr>
              <a:t> </a:t>
            </a:r>
            <a:r>
              <a:rPr b="0" spc="-50" dirty="0">
                <a:latin typeface="Arial"/>
                <a:cs typeface="Arial"/>
              </a:rPr>
              <a:t>) </a:t>
            </a:r>
            <a:r>
              <a:rPr b="0" dirty="0">
                <a:latin typeface="Arial"/>
                <a:cs typeface="Arial"/>
              </a:rPr>
              <a:t>state_next</a:t>
            </a:r>
            <a:r>
              <a:rPr b="0" spc="60" dirty="0">
                <a:latin typeface="Arial"/>
                <a:cs typeface="Arial"/>
              </a:rPr>
              <a:t> </a:t>
            </a:r>
            <a:r>
              <a:rPr b="0" dirty="0">
                <a:latin typeface="Arial"/>
                <a:cs typeface="Arial"/>
              </a:rPr>
              <a:t>=</a:t>
            </a:r>
            <a:r>
              <a:rPr b="0" spc="60" dirty="0">
                <a:latin typeface="Arial"/>
                <a:cs typeface="Arial"/>
              </a:rPr>
              <a:t> </a:t>
            </a:r>
            <a:r>
              <a:rPr b="0" spc="-10" dirty="0">
                <a:latin typeface="Arial"/>
                <a:cs typeface="Arial"/>
              </a:rPr>
              <a:t>wait1_2;</a:t>
            </a:r>
          </a:p>
          <a:p>
            <a:pPr marL="346075">
              <a:lnSpc>
                <a:spcPts val="1814"/>
              </a:lnSpc>
            </a:pPr>
            <a:r>
              <a:rPr b="0" dirty="0">
                <a:latin typeface="Arial"/>
                <a:cs typeface="Arial"/>
              </a:rPr>
              <a:t>wait1_2</a:t>
            </a:r>
            <a:r>
              <a:rPr b="0" spc="30" dirty="0">
                <a:latin typeface="Arial"/>
                <a:cs typeface="Arial"/>
              </a:rPr>
              <a:t> </a:t>
            </a:r>
            <a:r>
              <a:rPr b="0" spc="-50" dirty="0">
                <a:latin typeface="Arial"/>
                <a:cs typeface="Arial"/>
              </a:rPr>
              <a:t>:</a:t>
            </a:r>
          </a:p>
          <a:p>
            <a:pPr marL="569595">
              <a:lnSpc>
                <a:spcPct val="100000"/>
              </a:lnSpc>
              <a:spcBef>
                <a:spcPts val="35"/>
              </a:spcBef>
            </a:pPr>
            <a:r>
              <a:rPr dirty="0"/>
              <a:t>if</a:t>
            </a:r>
            <a:r>
              <a:rPr spc="465" dirty="0"/>
              <a:t> </a:t>
            </a:r>
            <a:r>
              <a:rPr b="0" dirty="0">
                <a:latin typeface="Arial"/>
                <a:cs typeface="Arial"/>
              </a:rPr>
              <a:t>(</a:t>
            </a:r>
            <a:r>
              <a:rPr b="0" spc="10" dirty="0">
                <a:latin typeface="Arial"/>
                <a:cs typeface="Arial"/>
              </a:rPr>
              <a:t> </a:t>
            </a:r>
            <a:r>
              <a:rPr b="0" dirty="0">
                <a:latin typeface="Arial"/>
                <a:cs typeface="Arial"/>
              </a:rPr>
              <a:t>~sw</a:t>
            </a:r>
            <a:r>
              <a:rPr b="0" spc="15" dirty="0">
                <a:latin typeface="Arial"/>
                <a:cs typeface="Arial"/>
              </a:rPr>
              <a:t> </a:t>
            </a:r>
            <a:r>
              <a:rPr b="0" spc="-50" dirty="0">
                <a:latin typeface="Arial"/>
                <a:cs typeface="Arial"/>
              </a:rPr>
              <a:t>)</a:t>
            </a:r>
          </a:p>
          <a:p>
            <a:pPr marL="791845">
              <a:lnSpc>
                <a:spcPct val="100000"/>
              </a:lnSpc>
              <a:spcBef>
                <a:spcPts val="40"/>
              </a:spcBef>
            </a:pPr>
            <a:r>
              <a:rPr b="0" dirty="0">
                <a:latin typeface="Arial"/>
                <a:cs typeface="Arial"/>
              </a:rPr>
              <a:t>state_next</a:t>
            </a:r>
            <a:r>
              <a:rPr b="0" spc="45" dirty="0">
                <a:latin typeface="Arial"/>
                <a:cs typeface="Arial"/>
              </a:rPr>
              <a:t> </a:t>
            </a:r>
            <a:r>
              <a:rPr b="0" dirty="0">
                <a:latin typeface="Arial"/>
                <a:cs typeface="Arial"/>
              </a:rPr>
              <a:t>=</a:t>
            </a:r>
            <a:r>
              <a:rPr b="0" spc="50" dirty="0">
                <a:latin typeface="Arial"/>
                <a:cs typeface="Arial"/>
              </a:rPr>
              <a:t> </a:t>
            </a:r>
            <a:r>
              <a:rPr b="0" dirty="0">
                <a:latin typeface="Arial"/>
                <a:cs typeface="Arial"/>
              </a:rPr>
              <a:t>zero</a:t>
            </a:r>
            <a:r>
              <a:rPr b="0" spc="45" dirty="0">
                <a:latin typeface="Arial"/>
                <a:cs typeface="Arial"/>
              </a:rPr>
              <a:t> </a:t>
            </a:r>
            <a:r>
              <a:rPr b="0" spc="-50" dirty="0">
                <a:latin typeface="Arial"/>
                <a:cs typeface="Arial"/>
              </a:rPr>
              <a:t>;</a:t>
            </a:r>
          </a:p>
          <a:p>
            <a:pPr marL="791845" marR="5715" indent="-278130">
              <a:lnSpc>
                <a:spcPts val="1900"/>
              </a:lnSpc>
              <a:spcBef>
                <a:spcPts val="60"/>
              </a:spcBef>
            </a:pPr>
            <a:r>
              <a:rPr dirty="0"/>
              <a:t>else</a:t>
            </a:r>
            <a:r>
              <a:rPr spc="20" dirty="0"/>
              <a:t> </a:t>
            </a:r>
            <a:r>
              <a:rPr dirty="0"/>
              <a:t>if</a:t>
            </a:r>
            <a:r>
              <a:rPr spc="475" dirty="0"/>
              <a:t> </a:t>
            </a:r>
            <a:r>
              <a:rPr b="0" dirty="0">
                <a:latin typeface="Arial"/>
                <a:cs typeface="Arial"/>
              </a:rPr>
              <a:t>(m_tick</a:t>
            </a:r>
            <a:r>
              <a:rPr b="0" spc="20" dirty="0">
                <a:latin typeface="Arial"/>
                <a:cs typeface="Arial"/>
              </a:rPr>
              <a:t> </a:t>
            </a:r>
            <a:r>
              <a:rPr b="0" spc="-50" dirty="0">
                <a:latin typeface="Arial"/>
                <a:cs typeface="Arial"/>
              </a:rPr>
              <a:t>) </a:t>
            </a:r>
            <a:r>
              <a:rPr b="0" dirty="0">
                <a:latin typeface="Arial"/>
                <a:cs typeface="Arial"/>
              </a:rPr>
              <a:t>state_next</a:t>
            </a:r>
            <a:r>
              <a:rPr b="0" spc="50" dirty="0">
                <a:latin typeface="Arial"/>
                <a:cs typeface="Arial"/>
              </a:rPr>
              <a:t> </a:t>
            </a:r>
            <a:r>
              <a:rPr b="0" dirty="0">
                <a:latin typeface="Arial"/>
                <a:cs typeface="Arial"/>
              </a:rPr>
              <a:t>=</a:t>
            </a:r>
            <a:r>
              <a:rPr b="0" spc="45" dirty="0">
                <a:latin typeface="Arial"/>
                <a:cs typeface="Arial"/>
              </a:rPr>
              <a:t> </a:t>
            </a:r>
            <a:r>
              <a:rPr b="0" dirty="0">
                <a:latin typeface="Arial"/>
                <a:cs typeface="Arial"/>
              </a:rPr>
              <a:t>wait1_3</a:t>
            </a:r>
            <a:r>
              <a:rPr b="0" spc="55" dirty="0">
                <a:latin typeface="Arial"/>
                <a:cs typeface="Arial"/>
              </a:rPr>
              <a:t> </a:t>
            </a:r>
            <a:r>
              <a:rPr b="0" spc="-50" dirty="0">
                <a:latin typeface="Arial"/>
                <a:cs typeface="Arial"/>
              </a:rPr>
              <a:t>;</a:t>
            </a:r>
          </a:p>
        </p:txBody>
      </p:sp>
      <p:grpSp>
        <p:nvGrpSpPr>
          <p:cNvPr id="7" name="object 7"/>
          <p:cNvGrpSpPr/>
          <p:nvPr/>
        </p:nvGrpSpPr>
        <p:grpSpPr>
          <a:xfrm>
            <a:off x="4938407" y="1655064"/>
            <a:ext cx="5013960" cy="4947920"/>
            <a:chOff x="4938407" y="1655064"/>
            <a:chExt cx="5013960" cy="4947920"/>
          </a:xfrm>
        </p:grpSpPr>
        <p:sp>
          <p:nvSpPr>
            <p:cNvPr id="8" name="object 8"/>
            <p:cNvSpPr/>
            <p:nvPr/>
          </p:nvSpPr>
          <p:spPr>
            <a:xfrm>
              <a:off x="4942217" y="1659636"/>
              <a:ext cx="5006340" cy="4939665"/>
            </a:xfrm>
            <a:custGeom>
              <a:avLst/>
              <a:gdLst/>
              <a:ahLst/>
              <a:cxnLst/>
              <a:rect l="l" t="t" r="r" b="b"/>
              <a:pathLst>
                <a:path w="5006340" h="4939665">
                  <a:moveTo>
                    <a:pt x="5006340" y="4939284"/>
                  </a:moveTo>
                  <a:lnTo>
                    <a:pt x="5006340" y="0"/>
                  </a:lnTo>
                  <a:lnTo>
                    <a:pt x="0" y="0"/>
                  </a:lnTo>
                  <a:lnTo>
                    <a:pt x="0" y="4939284"/>
                  </a:lnTo>
                  <a:lnTo>
                    <a:pt x="5006340" y="4939284"/>
                  </a:lnTo>
                  <a:close/>
                </a:path>
              </a:pathLst>
            </a:custGeom>
            <a:solidFill>
              <a:srgbClr val="F9FABA"/>
            </a:solidFill>
          </p:spPr>
          <p:txBody>
            <a:bodyPr wrap="square" lIns="0" tIns="0" rIns="0" bIns="0" rtlCol="0"/>
            <a:lstStyle/>
            <a:p>
              <a:endParaRPr/>
            </a:p>
          </p:txBody>
        </p:sp>
        <p:sp>
          <p:nvSpPr>
            <p:cNvPr id="9" name="object 9"/>
            <p:cNvSpPr/>
            <p:nvPr/>
          </p:nvSpPr>
          <p:spPr>
            <a:xfrm>
              <a:off x="4938407" y="1655064"/>
              <a:ext cx="5013960" cy="4947920"/>
            </a:xfrm>
            <a:custGeom>
              <a:avLst/>
              <a:gdLst/>
              <a:ahLst/>
              <a:cxnLst/>
              <a:rect l="l" t="t" r="r" b="b"/>
              <a:pathLst>
                <a:path w="5013959" h="4947920">
                  <a:moveTo>
                    <a:pt x="5013960" y="4946142"/>
                  </a:moveTo>
                  <a:lnTo>
                    <a:pt x="5013960" y="2285"/>
                  </a:lnTo>
                  <a:lnTo>
                    <a:pt x="5012436" y="0"/>
                  </a:lnTo>
                  <a:lnTo>
                    <a:pt x="1523" y="0"/>
                  </a:lnTo>
                  <a:lnTo>
                    <a:pt x="0" y="2286"/>
                  </a:lnTo>
                  <a:lnTo>
                    <a:pt x="0" y="4946142"/>
                  </a:lnTo>
                  <a:lnTo>
                    <a:pt x="1524" y="4947666"/>
                  </a:lnTo>
                  <a:lnTo>
                    <a:pt x="3810" y="4947666"/>
                  </a:lnTo>
                  <a:lnTo>
                    <a:pt x="3810" y="8382"/>
                  </a:lnTo>
                  <a:lnTo>
                    <a:pt x="8382" y="4572"/>
                  </a:lnTo>
                  <a:lnTo>
                    <a:pt x="8382" y="8382"/>
                  </a:lnTo>
                  <a:lnTo>
                    <a:pt x="5005578" y="8381"/>
                  </a:lnTo>
                  <a:lnTo>
                    <a:pt x="5005578" y="4571"/>
                  </a:lnTo>
                  <a:lnTo>
                    <a:pt x="5010150" y="8381"/>
                  </a:lnTo>
                  <a:lnTo>
                    <a:pt x="5010150" y="4947666"/>
                  </a:lnTo>
                  <a:lnTo>
                    <a:pt x="5012436" y="4947666"/>
                  </a:lnTo>
                  <a:lnTo>
                    <a:pt x="5013960" y="4946142"/>
                  </a:lnTo>
                  <a:close/>
                </a:path>
                <a:path w="5013959" h="4947920">
                  <a:moveTo>
                    <a:pt x="8382" y="8382"/>
                  </a:moveTo>
                  <a:lnTo>
                    <a:pt x="8382" y="4572"/>
                  </a:lnTo>
                  <a:lnTo>
                    <a:pt x="3810" y="8382"/>
                  </a:lnTo>
                  <a:lnTo>
                    <a:pt x="8382" y="8382"/>
                  </a:lnTo>
                  <a:close/>
                </a:path>
                <a:path w="5013959" h="4947920">
                  <a:moveTo>
                    <a:pt x="8382" y="4939284"/>
                  </a:moveTo>
                  <a:lnTo>
                    <a:pt x="8382" y="8382"/>
                  </a:lnTo>
                  <a:lnTo>
                    <a:pt x="3810" y="8382"/>
                  </a:lnTo>
                  <a:lnTo>
                    <a:pt x="3810" y="4939284"/>
                  </a:lnTo>
                  <a:lnTo>
                    <a:pt x="8382" y="4939284"/>
                  </a:lnTo>
                  <a:close/>
                </a:path>
                <a:path w="5013959" h="4947920">
                  <a:moveTo>
                    <a:pt x="5010150" y="4939284"/>
                  </a:moveTo>
                  <a:lnTo>
                    <a:pt x="3810" y="4939284"/>
                  </a:lnTo>
                  <a:lnTo>
                    <a:pt x="8382" y="4943856"/>
                  </a:lnTo>
                  <a:lnTo>
                    <a:pt x="8382" y="4947666"/>
                  </a:lnTo>
                  <a:lnTo>
                    <a:pt x="5005578" y="4947666"/>
                  </a:lnTo>
                  <a:lnTo>
                    <a:pt x="5005578" y="4943856"/>
                  </a:lnTo>
                  <a:lnTo>
                    <a:pt x="5010150" y="4939284"/>
                  </a:lnTo>
                  <a:close/>
                </a:path>
                <a:path w="5013959" h="4947920">
                  <a:moveTo>
                    <a:pt x="8382" y="4947666"/>
                  </a:moveTo>
                  <a:lnTo>
                    <a:pt x="8382" y="4943856"/>
                  </a:lnTo>
                  <a:lnTo>
                    <a:pt x="3810" y="4939284"/>
                  </a:lnTo>
                  <a:lnTo>
                    <a:pt x="3810" y="4947666"/>
                  </a:lnTo>
                  <a:lnTo>
                    <a:pt x="8382" y="4947666"/>
                  </a:lnTo>
                  <a:close/>
                </a:path>
                <a:path w="5013959" h="4947920">
                  <a:moveTo>
                    <a:pt x="5010150" y="8381"/>
                  </a:moveTo>
                  <a:lnTo>
                    <a:pt x="5005578" y="4571"/>
                  </a:lnTo>
                  <a:lnTo>
                    <a:pt x="5005578" y="8381"/>
                  </a:lnTo>
                  <a:lnTo>
                    <a:pt x="5010150" y="8381"/>
                  </a:lnTo>
                  <a:close/>
                </a:path>
                <a:path w="5013959" h="4947920">
                  <a:moveTo>
                    <a:pt x="5010150" y="4939284"/>
                  </a:moveTo>
                  <a:lnTo>
                    <a:pt x="5010150" y="8381"/>
                  </a:lnTo>
                  <a:lnTo>
                    <a:pt x="5005578" y="8381"/>
                  </a:lnTo>
                  <a:lnTo>
                    <a:pt x="5005578" y="4939284"/>
                  </a:lnTo>
                  <a:lnTo>
                    <a:pt x="5010150" y="4939284"/>
                  </a:lnTo>
                  <a:close/>
                </a:path>
                <a:path w="5013959" h="4947920">
                  <a:moveTo>
                    <a:pt x="5010150" y="4947666"/>
                  </a:moveTo>
                  <a:lnTo>
                    <a:pt x="5010150" y="4939284"/>
                  </a:lnTo>
                  <a:lnTo>
                    <a:pt x="5005578" y="4943856"/>
                  </a:lnTo>
                  <a:lnTo>
                    <a:pt x="5005578" y="4947666"/>
                  </a:lnTo>
                  <a:lnTo>
                    <a:pt x="5010150" y="4947666"/>
                  </a:lnTo>
                  <a:close/>
                </a:path>
              </a:pathLst>
            </a:custGeom>
            <a:solidFill>
              <a:srgbClr val="FF0000"/>
            </a:solidFill>
          </p:spPr>
          <p:txBody>
            <a:bodyPr wrap="square" lIns="0" tIns="0" rIns="0" bIns="0" rtlCol="0"/>
            <a:lstStyle/>
            <a:p>
              <a:endParaRPr/>
            </a:p>
          </p:txBody>
        </p:sp>
      </p:grpSp>
      <p:sp>
        <p:nvSpPr>
          <p:cNvPr id="10" name="object 10"/>
          <p:cNvSpPr txBox="1"/>
          <p:nvPr/>
        </p:nvSpPr>
        <p:spPr>
          <a:xfrm>
            <a:off x="5454529" y="1681226"/>
            <a:ext cx="827405" cy="266065"/>
          </a:xfrm>
          <a:prstGeom prst="rect">
            <a:avLst/>
          </a:prstGeom>
        </p:spPr>
        <p:txBody>
          <a:bodyPr vert="horz" wrap="square" lIns="0" tIns="15875" rIns="0" bIns="0" rtlCol="0">
            <a:spAutoFit/>
          </a:bodyPr>
          <a:lstStyle/>
          <a:p>
            <a:pPr marL="12700">
              <a:lnSpc>
                <a:spcPct val="100000"/>
              </a:lnSpc>
              <a:spcBef>
                <a:spcPts val="125"/>
              </a:spcBef>
            </a:pPr>
            <a:r>
              <a:rPr sz="1550" dirty="0">
                <a:latin typeface="Arial"/>
                <a:cs typeface="Arial"/>
              </a:rPr>
              <a:t>wait1_3</a:t>
            </a:r>
            <a:r>
              <a:rPr sz="1550" spc="30" dirty="0">
                <a:latin typeface="Arial"/>
                <a:cs typeface="Arial"/>
              </a:rPr>
              <a:t> </a:t>
            </a:r>
            <a:r>
              <a:rPr sz="1550" spc="-50" dirty="0">
                <a:latin typeface="Arial"/>
                <a:cs typeface="Arial"/>
              </a:rPr>
              <a:t>:</a:t>
            </a:r>
            <a:endParaRPr sz="1550">
              <a:latin typeface="Arial"/>
              <a:cs typeface="Arial"/>
            </a:endParaRPr>
          </a:p>
        </p:txBody>
      </p:sp>
      <p:sp>
        <p:nvSpPr>
          <p:cNvPr id="12" name="object 12"/>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13" name="object 13"/>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43</a:t>
            </a:fld>
            <a:endParaRPr spc="-25" dirty="0"/>
          </a:p>
        </p:txBody>
      </p:sp>
      <p:sp>
        <p:nvSpPr>
          <p:cNvPr id="11" name="object 11"/>
          <p:cNvSpPr txBox="1"/>
          <p:nvPr/>
        </p:nvSpPr>
        <p:spPr>
          <a:xfrm>
            <a:off x="5398916" y="1921252"/>
            <a:ext cx="2591435" cy="4354195"/>
          </a:xfrm>
          <a:prstGeom prst="rect">
            <a:avLst/>
          </a:prstGeom>
        </p:spPr>
        <p:txBody>
          <a:bodyPr vert="horz" wrap="square" lIns="0" tIns="15875" rIns="0" bIns="0" rtlCol="0">
            <a:spAutoFit/>
          </a:bodyPr>
          <a:lstStyle/>
          <a:p>
            <a:pPr marL="291465">
              <a:lnSpc>
                <a:spcPct val="100000"/>
              </a:lnSpc>
              <a:spcBef>
                <a:spcPts val="125"/>
              </a:spcBef>
            </a:pPr>
            <a:r>
              <a:rPr sz="1550" b="1" dirty="0">
                <a:latin typeface="Arial"/>
                <a:cs typeface="Arial"/>
              </a:rPr>
              <a:t>if</a:t>
            </a:r>
            <a:r>
              <a:rPr sz="1550" b="1" spc="465" dirty="0">
                <a:latin typeface="Arial"/>
                <a:cs typeface="Arial"/>
              </a:rPr>
              <a:t> </a:t>
            </a:r>
            <a:r>
              <a:rPr sz="1550" dirty="0">
                <a:latin typeface="Arial"/>
                <a:cs typeface="Arial"/>
              </a:rPr>
              <a:t>(</a:t>
            </a:r>
            <a:r>
              <a:rPr sz="1550" spc="10" dirty="0">
                <a:latin typeface="Arial"/>
                <a:cs typeface="Arial"/>
              </a:rPr>
              <a:t> </a:t>
            </a:r>
            <a:r>
              <a:rPr sz="1550" dirty="0">
                <a:latin typeface="Arial"/>
                <a:cs typeface="Arial"/>
              </a:rPr>
              <a:t>~sw</a:t>
            </a:r>
            <a:r>
              <a:rPr sz="1550" spc="15" dirty="0">
                <a:latin typeface="Arial"/>
                <a:cs typeface="Arial"/>
              </a:rPr>
              <a:t> </a:t>
            </a:r>
            <a:r>
              <a:rPr sz="1550" spc="-50" dirty="0">
                <a:latin typeface="Arial"/>
                <a:cs typeface="Arial"/>
              </a:rPr>
              <a:t>)</a:t>
            </a:r>
            <a:endParaRPr sz="1550">
              <a:latin typeface="Arial"/>
              <a:cs typeface="Arial"/>
            </a:endParaRPr>
          </a:p>
          <a:p>
            <a:pPr marL="513715">
              <a:lnSpc>
                <a:spcPct val="100000"/>
              </a:lnSpc>
              <a:spcBef>
                <a:spcPts val="35"/>
              </a:spcBef>
            </a:pPr>
            <a:r>
              <a:rPr sz="1550" dirty="0">
                <a:latin typeface="Arial"/>
                <a:cs typeface="Arial"/>
              </a:rPr>
              <a:t>state_next</a:t>
            </a:r>
            <a:r>
              <a:rPr sz="1550" spc="45" dirty="0">
                <a:latin typeface="Arial"/>
                <a:cs typeface="Arial"/>
              </a:rPr>
              <a:t> </a:t>
            </a:r>
            <a:r>
              <a:rPr sz="1550" dirty="0">
                <a:latin typeface="Arial"/>
                <a:cs typeface="Arial"/>
              </a:rPr>
              <a:t>=</a:t>
            </a:r>
            <a:r>
              <a:rPr sz="1550" spc="50" dirty="0">
                <a:latin typeface="Arial"/>
                <a:cs typeface="Arial"/>
              </a:rPr>
              <a:t> </a:t>
            </a:r>
            <a:r>
              <a:rPr sz="1550" dirty="0">
                <a:latin typeface="Arial"/>
                <a:cs typeface="Arial"/>
              </a:rPr>
              <a:t>zero</a:t>
            </a:r>
            <a:r>
              <a:rPr sz="1550" spc="45" dirty="0">
                <a:latin typeface="Arial"/>
                <a:cs typeface="Arial"/>
              </a:rPr>
              <a:t> </a:t>
            </a:r>
            <a:r>
              <a:rPr sz="1550" spc="-50" dirty="0">
                <a:latin typeface="Arial"/>
                <a:cs typeface="Arial"/>
              </a:rPr>
              <a:t>;</a:t>
            </a:r>
            <a:endParaRPr sz="1550">
              <a:latin typeface="Arial"/>
              <a:cs typeface="Arial"/>
            </a:endParaRPr>
          </a:p>
          <a:p>
            <a:pPr marL="513715" marR="471170" indent="-278130">
              <a:lnSpc>
                <a:spcPts val="1900"/>
              </a:lnSpc>
              <a:spcBef>
                <a:spcPts val="60"/>
              </a:spcBef>
            </a:pPr>
            <a:r>
              <a:rPr sz="1550" b="1" dirty="0">
                <a:latin typeface="Arial"/>
                <a:cs typeface="Arial"/>
              </a:rPr>
              <a:t>else</a:t>
            </a:r>
            <a:r>
              <a:rPr sz="1550" b="1" spc="20" dirty="0">
                <a:latin typeface="Arial"/>
                <a:cs typeface="Arial"/>
              </a:rPr>
              <a:t> </a:t>
            </a:r>
            <a:r>
              <a:rPr sz="1550" b="1" dirty="0">
                <a:latin typeface="Arial"/>
                <a:cs typeface="Arial"/>
              </a:rPr>
              <a:t>if</a:t>
            </a:r>
            <a:r>
              <a:rPr sz="1550" b="1" spc="475" dirty="0">
                <a:latin typeface="Arial"/>
                <a:cs typeface="Arial"/>
              </a:rPr>
              <a:t> </a:t>
            </a:r>
            <a:r>
              <a:rPr sz="1550" dirty="0">
                <a:latin typeface="Arial"/>
                <a:cs typeface="Arial"/>
              </a:rPr>
              <a:t>(m_tick</a:t>
            </a:r>
            <a:r>
              <a:rPr sz="1550" spc="20" dirty="0">
                <a:latin typeface="Arial"/>
                <a:cs typeface="Arial"/>
              </a:rPr>
              <a:t> </a:t>
            </a:r>
            <a:r>
              <a:rPr sz="1550" spc="-50" dirty="0">
                <a:latin typeface="Arial"/>
                <a:cs typeface="Arial"/>
              </a:rPr>
              <a:t>) </a:t>
            </a:r>
            <a:r>
              <a:rPr sz="1550" dirty="0">
                <a:latin typeface="Arial"/>
                <a:cs typeface="Arial"/>
              </a:rPr>
              <a:t>state_next</a:t>
            </a:r>
            <a:r>
              <a:rPr sz="1550" spc="45" dirty="0">
                <a:latin typeface="Arial"/>
                <a:cs typeface="Arial"/>
              </a:rPr>
              <a:t> </a:t>
            </a:r>
            <a:r>
              <a:rPr sz="1550" dirty="0">
                <a:latin typeface="Arial"/>
                <a:cs typeface="Arial"/>
              </a:rPr>
              <a:t>=</a:t>
            </a:r>
            <a:r>
              <a:rPr sz="1550" spc="45" dirty="0">
                <a:latin typeface="Arial"/>
                <a:cs typeface="Arial"/>
              </a:rPr>
              <a:t> </a:t>
            </a:r>
            <a:r>
              <a:rPr sz="1550" dirty="0">
                <a:latin typeface="Arial"/>
                <a:cs typeface="Arial"/>
              </a:rPr>
              <a:t>one</a:t>
            </a:r>
            <a:r>
              <a:rPr sz="1550" spc="55" dirty="0">
                <a:latin typeface="Arial"/>
                <a:cs typeface="Arial"/>
              </a:rPr>
              <a:t> </a:t>
            </a:r>
            <a:r>
              <a:rPr sz="1550" spc="-50" dirty="0">
                <a:latin typeface="Arial"/>
                <a:cs typeface="Arial"/>
              </a:rPr>
              <a:t>;</a:t>
            </a:r>
            <a:endParaRPr sz="1550">
              <a:latin typeface="Arial"/>
              <a:cs typeface="Arial"/>
            </a:endParaRPr>
          </a:p>
          <a:p>
            <a:pPr marL="12700">
              <a:lnSpc>
                <a:spcPts val="1820"/>
              </a:lnSpc>
            </a:pPr>
            <a:r>
              <a:rPr sz="1550" dirty="0">
                <a:latin typeface="Arial"/>
                <a:cs typeface="Arial"/>
              </a:rPr>
              <a:t>one</a:t>
            </a:r>
            <a:r>
              <a:rPr sz="1550" spc="25" dirty="0">
                <a:latin typeface="Arial"/>
                <a:cs typeface="Arial"/>
              </a:rPr>
              <a:t> </a:t>
            </a:r>
            <a:r>
              <a:rPr sz="1550" spc="-50" dirty="0">
                <a:latin typeface="Arial"/>
                <a:cs typeface="Arial"/>
              </a:rPr>
              <a:t>:</a:t>
            </a:r>
            <a:endParaRPr sz="1550">
              <a:latin typeface="Arial"/>
              <a:cs typeface="Arial"/>
            </a:endParaRPr>
          </a:p>
          <a:p>
            <a:pPr marL="179705">
              <a:lnSpc>
                <a:spcPct val="100000"/>
              </a:lnSpc>
              <a:spcBef>
                <a:spcPts val="30"/>
              </a:spcBef>
            </a:pPr>
            <a:r>
              <a:rPr sz="1550" b="1" spc="-10" dirty="0">
                <a:latin typeface="Arial"/>
                <a:cs typeface="Arial"/>
              </a:rPr>
              <a:t>begin</a:t>
            </a:r>
            <a:endParaRPr sz="1550">
              <a:latin typeface="Arial"/>
              <a:cs typeface="Arial"/>
            </a:endParaRPr>
          </a:p>
          <a:p>
            <a:pPr marL="346710">
              <a:lnSpc>
                <a:spcPct val="100000"/>
              </a:lnSpc>
              <a:spcBef>
                <a:spcPts val="40"/>
              </a:spcBef>
            </a:pPr>
            <a:r>
              <a:rPr sz="1550" dirty="0">
                <a:latin typeface="Arial"/>
                <a:cs typeface="Arial"/>
              </a:rPr>
              <a:t>db</a:t>
            </a:r>
            <a:r>
              <a:rPr sz="1550" spc="15" dirty="0">
                <a:latin typeface="Arial"/>
                <a:cs typeface="Arial"/>
              </a:rPr>
              <a:t> </a:t>
            </a:r>
            <a:r>
              <a:rPr sz="1550" dirty="0">
                <a:latin typeface="Arial"/>
                <a:cs typeface="Arial"/>
              </a:rPr>
              <a:t>=</a:t>
            </a:r>
            <a:r>
              <a:rPr sz="1550" spc="15" dirty="0">
                <a:latin typeface="Arial"/>
                <a:cs typeface="Arial"/>
              </a:rPr>
              <a:t> </a:t>
            </a:r>
            <a:r>
              <a:rPr sz="1550" dirty="0">
                <a:latin typeface="Arial"/>
                <a:cs typeface="Arial"/>
              </a:rPr>
              <a:t>1’b1</a:t>
            </a:r>
            <a:r>
              <a:rPr sz="1550" spc="25" dirty="0">
                <a:latin typeface="Arial"/>
                <a:cs typeface="Arial"/>
              </a:rPr>
              <a:t> </a:t>
            </a:r>
            <a:r>
              <a:rPr sz="1550" spc="-50" dirty="0">
                <a:latin typeface="Arial"/>
                <a:cs typeface="Arial"/>
              </a:rPr>
              <a:t>;</a:t>
            </a:r>
            <a:endParaRPr sz="1550">
              <a:latin typeface="Arial"/>
              <a:cs typeface="Arial"/>
            </a:endParaRPr>
          </a:p>
          <a:p>
            <a:pPr marL="346710">
              <a:lnSpc>
                <a:spcPct val="100000"/>
              </a:lnSpc>
              <a:spcBef>
                <a:spcPts val="30"/>
              </a:spcBef>
            </a:pPr>
            <a:r>
              <a:rPr sz="1550" b="1" dirty="0">
                <a:latin typeface="Arial"/>
                <a:cs typeface="Arial"/>
              </a:rPr>
              <a:t>if</a:t>
            </a:r>
            <a:r>
              <a:rPr sz="1550" b="1" spc="465" dirty="0">
                <a:latin typeface="Arial"/>
                <a:cs typeface="Arial"/>
              </a:rPr>
              <a:t> </a:t>
            </a:r>
            <a:r>
              <a:rPr sz="1550" dirty="0">
                <a:latin typeface="Arial"/>
                <a:cs typeface="Arial"/>
              </a:rPr>
              <a:t>(</a:t>
            </a:r>
            <a:r>
              <a:rPr sz="1550" spc="15" dirty="0">
                <a:latin typeface="Arial"/>
                <a:cs typeface="Arial"/>
              </a:rPr>
              <a:t> </a:t>
            </a:r>
            <a:r>
              <a:rPr sz="1550" dirty="0">
                <a:latin typeface="Arial"/>
                <a:cs typeface="Arial"/>
              </a:rPr>
              <a:t>~sw</a:t>
            </a:r>
            <a:r>
              <a:rPr sz="1550" spc="15" dirty="0">
                <a:latin typeface="Arial"/>
                <a:cs typeface="Arial"/>
              </a:rPr>
              <a:t> </a:t>
            </a:r>
            <a:r>
              <a:rPr sz="1550" spc="-50" dirty="0">
                <a:latin typeface="Arial"/>
                <a:cs typeface="Arial"/>
              </a:rPr>
              <a:t>)</a:t>
            </a:r>
            <a:endParaRPr sz="1550">
              <a:latin typeface="Arial"/>
              <a:cs typeface="Arial"/>
            </a:endParaRPr>
          </a:p>
          <a:p>
            <a:pPr marL="513715">
              <a:lnSpc>
                <a:spcPct val="100000"/>
              </a:lnSpc>
              <a:spcBef>
                <a:spcPts val="35"/>
              </a:spcBef>
            </a:pPr>
            <a:r>
              <a:rPr sz="1550" dirty="0">
                <a:latin typeface="Arial"/>
                <a:cs typeface="Arial"/>
              </a:rPr>
              <a:t>state_next</a:t>
            </a:r>
            <a:r>
              <a:rPr sz="1550" spc="50" dirty="0">
                <a:latin typeface="Arial"/>
                <a:cs typeface="Arial"/>
              </a:rPr>
              <a:t> </a:t>
            </a:r>
            <a:r>
              <a:rPr sz="1550" dirty="0">
                <a:latin typeface="Arial"/>
                <a:cs typeface="Arial"/>
              </a:rPr>
              <a:t>=</a:t>
            </a:r>
            <a:r>
              <a:rPr sz="1550" spc="45" dirty="0">
                <a:latin typeface="Arial"/>
                <a:cs typeface="Arial"/>
              </a:rPr>
              <a:t> </a:t>
            </a:r>
            <a:r>
              <a:rPr sz="1550" dirty="0">
                <a:latin typeface="Arial"/>
                <a:cs typeface="Arial"/>
              </a:rPr>
              <a:t>wait0_1</a:t>
            </a:r>
            <a:r>
              <a:rPr sz="1550" spc="55" dirty="0">
                <a:latin typeface="Arial"/>
                <a:cs typeface="Arial"/>
              </a:rPr>
              <a:t> </a:t>
            </a:r>
            <a:r>
              <a:rPr sz="1550" spc="-50" dirty="0">
                <a:latin typeface="Arial"/>
                <a:cs typeface="Arial"/>
              </a:rPr>
              <a:t>;</a:t>
            </a:r>
            <a:endParaRPr sz="1550">
              <a:latin typeface="Arial"/>
              <a:cs typeface="Arial"/>
            </a:endParaRPr>
          </a:p>
          <a:p>
            <a:pPr marL="179705">
              <a:lnSpc>
                <a:spcPct val="100000"/>
              </a:lnSpc>
              <a:spcBef>
                <a:spcPts val="35"/>
              </a:spcBef>
            </a:pPr>
            <a:r>
              <a:rPr sz="1550" b="1" spc="-25" dirty="0">
                <a:latin typeface="Arial"/>
                <a:cs typeface="Arial"/>
              </a:rPr>
              <a:t>end</a:t>
            </a:r>
            <a:endParaRPr sz="1550">
              <a:latin typeface="Arial"/>
              <a:cs typeface="Arial"/>
            </a:endParaRPr>
          </a:p>
          <a:p>
            <a:pPr marR="1768475" algn="r">
              <a:lnSpc>
                <a:spcPct val="100000"/>
              </a:lnSpc>
              <a:spcBef>
                <a:spcPts val="30"/>
              </a:spcBef>
            </a:pPr>
            <a:r>
              <a:rPr sz="1550" dirty="0">
                <a:latin typeface="Arial"/>
                <a:cs typeface="Arial"/>
              </a:rPr>
              <a:t>wait0_1</a:t>
            </a:r>
            <a:r>
              <a:rPr sz="1550" spc="30" dirty="0">
                <a:latin typeface="Arial"/>
                <a:cs typeface="Arial"/>
              </a:rPr>
              <a:t> </a:t>
            </a:r>
            <a:r>
              <a:rPr sz="1550" spc="-50" dirty="0">
                <a:latin typeface="Arial"/>
                <a:cs typeface="Arial"/>
              </a:rPr>
              <a:t>:</a:t>
            </a:r>
            <a:endParaRPr sz="1550">
              <a:latin typeface="Arial"/>
              <a:cs typeface="Arial"/>
            </a:endParaRPr>
          </a:p>
          <a:p>
            <a:pPr marR="1756410" algn="r">
              <a:lnSpc>
                <a:spcPct val="100000"/>
              </a:lnSpc>
              <a:spcBef>
                <a:spcPts val="35"/>
              </a:spcBef>
            </a:pPr>
            <a:r>
              <a:rPr sz="1550" b="1" spc="-10" dirty="0">
                <a:latin typeface="Arial"/>
                <a:cs typeface="Arial"/>
              </a:rPr>
              <a:t>begin</a:t>
            </a:r>
            <a:endParaRPr sz="1550">
              <a:latin typeface="Arial"/>
              <a:cs typeface="Arial"/>
            </a:endParaRPr>
          </a:p>
          <a:p>
            <a:pPr marL="457834">
              <a:lnSpc>
                <a:spcPct val="100000"/>
              </a:lnSpc>
              <a:spcBef>
                <a:spcPts val="30"/>
              </a:spcBef>
            </a:pPr>
            <a:r>
              <a:rPr sz="1550" dirty="0">
                <a:latin typeface="Arial"/>
                <a:cs typeface="Arial"/>
              </a:rPr>
              <a:t>db</a:t>
            </a:r>
            <a:r>
              <a:rPr sz="1550" spc="15" dirty="0">
                <a:latin typeface="Arial"/>
                <a:cs typeface="Arial"/>
              </a:rPr>
              <a:t> </a:t>
            </a:r>
            <a:r>
              <a:rPr sz="1550" dirty="0">
                <a:latin typeface="Arial"/>
                <a:cs typeface="Arial"/>
              </a:rPr>
              <a:t>=</a:t>
            </a:r>
            <a:r>
              <a:rPr sz="1550" spc="15" dirty="0">
                <a:latin typeface="Arial"/>
                <a:cs typeface="Arial"/>
              </a:rPr>
              <a:t> </a:t>
            </a:r>
            <a:r>
              <a:rPr sz="1550" dirty="0">
                <a:latin typeface="Arial"/>
                <a:cs typeface="Arial"/>
              </a:rPr>
              <a:t>1'b1</a:t>
            </a:r>
            <a:r>
              <a:rPr sz="1550" spc="15" dirty="0">
                <a:latin typeface="Arial"/>
                <a:cs typeface="Arial"/>
              </a:rPr>
              <a:t> </a:t>
            </a:r>
            <a:r>
              <a:rPr sz="1550" spc="-50" dirty="0">
                <a:latin typeface="Arial"/>
                <a:cs typeface="Arial"/>
              </a:rPr>
              <a:t>;</a:t>
            </a:r>
            <a:endParaRPr sz="1550">
              <a:latin typeface="Arial"/>
              <a:cs typeface="Arial"/>
            </a:endParaRPr>
          </a:p>
          <a:p>
            <a:pPr marL="457834">
              <a:lnSpc>
                <a:spcPct val="100000"/>
              </a:lnSpc>
              <a:spcBef>
                <a:spcPts val="35"/>
              </a:spcBef>
            </a:pPr>
            <a:r>
              <a:rPr sz="1550" b="1" spc="-10" dirty="0">
                <a:latin typeface="Arial"/>
                <a:cs typeface="Arial"/>
              </a:rPr>
              <a:t>if</a:t>
            </a:r>
            <a:r>
              <a:rPr sz="1550" spc="-10" dirty="0">
                <a:latin typeface="Arial"/>
                <a:cs typeface="Arial"/>
              </a:rPr>
              <a:t>(sw)</a:t>
            </a:r>
            <a:endParaRPr sz="1550">
              <a:latin typeface="Arial"/>
              <a:cs typeface="Arial"/>
            </a:endParaRPr>
          </a:p>
          <a:p>
            <a:pPr marL="680720">
              <a:lnSpc>
                <a:spcPct val="100000"/>
              </a:lnSpc>
              <a:spcBef>
                <a:spcPts val="40"/>
              </a:spcBef>
            </a:pPr>
            <a:r>
              <a:rPr sz="1550" dirty="0">
                <a:latin typeface="Arial"/>
                <a:cs typeface="Arial"/>
              </a:rPr>
              <a:t>state_next</a:t>
            </a:r>
            <a:r>
              <a:rPr sz="1550" spc="70" dirty="0">
                <a:latin typeface="Arial"/>
                <a:cs typeface="Arial"/>
              </a:rPr>
              <a:t> </a:t>
            </a:r>
            <a:r>
              <a:rPr sz="1550" dirty="0">
                <a:latin typeface="Arial"/>
                <a:cs typeface="Arial"/>
              </a:rPr>
              <a:t>=one</a:t>
            </a:r>
            <a:r>
              <a:rPr sz="1550" spc="70" dirty="0">
                <a:latin typeface="Arial"/>
                <a:cs typeface="Arial"/>
              </a:rPr>
              <a:t> </a:t>
            </a:r>
            <a:r>
              <a:rPr sz="1550" spc="-50" dirty="0">
                <a:latin typeface="Arial"/>
                <a:cs typeface="Arial"/>
              </a:rPr>
              <a:t>;</a:t>
            </a:r>
            <a:endParaRPr sz="1550">
              <a:latin typeface="Arial"/>
              <a:cs typeface="Arial"/>
            </a:endParaRPr>
          </a:p>
          <a:p>
            <a:pPr marL="680720" marR="5080" indent="-222885">
              <a:lnSpc>
                <a:spcPts val="1900"/>
              </a:lnSpc>
              <a:spcBef>
                <a:spcPts val="60"/>
              </a:spcBef>
            </a:pPr>
            <a:r>
              <a:rPr sz="1550" b="1" dirty="0">
                <a:latin typeface="Arial"/>
                <a:cs typeface="Arial"/>
              </a:rPr>
              <a:t>else</a:t>
            </a:r>
            <a:r>
              <a:rPr sz="1550" b="1" spc="40" dirty="0">
                <a:latin typeface="Arial"/>
                <a:cs typeface="Arial"/>
              </a:rPr>
              <a:t> </a:t>
            </a:r>
            <a:r>
              <a:rPr sz="1550" b="1" dirty="0">
                <a:latin typeface="Arial"/>
                <a:cs typeface="Arial"/>
              </a:rPr>
              <a:t>if</a:t>
            </a:r>
            <a:r>
              <a:rPr sz="1550" dirty="0">
                <a:latin typeface="Arial"/>
                <a:cs typeface="Arial"/>
              </a:rPr>
              <a:t>(m_tick</a:t>
            </a:r>
            <a:r>
              <a:rPr sz="1550" spc="50" dirty="0">
                <a:latin typeface="Arial"/>
                <a:cs typeface="Arial"/>
              </a:rPr>
              <a:t> </a:t>
            </a:r>
            <a:r>
              <a:rPr sz="1550" spc="-50" dirty="0">
                <a:latin typeface="Arial"/>
                <a:cs typeface="Arial"/>
              </a:rPr>
              <a:t>) </a:t>
            </a:r>
            <a:r>
              <a:rPr sz="1550" dirty="0">
                <a:latin typeface="Arial"/>
                <a:cs typeface="Arial"/>
              </a:rPr>
              <a:t>state_next</a:t>
            </a:r>
            <a:r>
              <a:rPr sz="1550" spc="60" dirty="0">
                <a:latin typeface="Arial"/>
                <a:cs typeface="Arial"/>
              </a:rPr>
              <a:t> </a:t>
            </a:r>
            <a:r>
              <a:rPr sz="1550" dirty="0">
                <a:latin typeface="Arial"/>
                <a:cs typeface="Arial"/>
              </a:rPr>
              <a:t>=</a:t>
            </a:r>
            <a:r>
              <a:rPr sz="1550" spc="60" dirty="0">
                <a:latin typeface="Arial"/>
                <a:cs typeface="Arial"/>
              </a:rPr>
              <a:t> </a:t>
            </a:r>
            <a:r>
              <a:rPr sz="1550" spc="-10" dirty="0">
                <a:latin typeface="Arial"/>
                <a:cs typeface="Arial"/>
              </a:rPr>
              <a:t>wait0_2;</a:t>
            </a:r>
            <a:endParaRPr sz="1550">
              <a:latin typeface="Arial"/>
              <a:cs typeface="Arial"/>
            </a:endParaRPr>
          </a:p>
          <a:p>
            <a:pPr marL="346710">
              <a:lnSpc>
                <a:spcPts val="1814"/>
              </a:lnSpc>
            </a:pPr>
            <a:r>
              <a:rPr sz="1550" b="1" spc="-25" dirty="0">
                <a:latin typeface="Arial"/>
                <a:cs typeface="Arial"/>
              </a:rPr>
              <a:t>end</a:t>
            </a:r>
            <a:endParaRPr sz="1550">
              <a:latin typeface="Arial"/>
              <a:cs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29327" y="6518400"/>
            <a:ext cx="2454910"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t>消抖电路的有限状态机</a:t>
            </a:r>
            <a:r>
              <a:rPr spc="-40" dirty="0"/>
              <a:t>Verilog</a:t>
            </a:r>
            <a:r>
              <a:rPr spc="-10" dirty="0"/>
              <a:t>实现代码</a:t>
            </a:r>
            <a:r>
              <a:rPr spc="-50" dirty="0"/>
              <a:t>3</a:t>
            </a:r>
          </a:p>
        </p:txBody>
      </p:sp>
      <p:sp>
        <p:nvSpPr>
          <p:cNvPr id="4" name="object 4"/>
          <p:cNvSpPr txBox="1"/>
          <p:nvPr/>
        </p:nvSpPr>
        <p:spPr>
          <a:xfrm>
            <a:off x="616337" y="6586028"/>
            <a:ext cx="99060" cy="99695"/>
          </a:xfrm>
          <a:prstGeom prst="rect">
            <a:avLst/>
          </a:prstGeom>
        </p:spPr>
        <p:txBody>
          <a:bodyPr vert="horz" wrap="square" lIns="0" tIns="0" rIns="0" bIns="0" rtlCol="0">
            <a:spAutoFit/>
          </a:bodyPr>
          <a:lstStyle/>
          <a:p>
            <a:pPr>
              <a:lnSpc>
                <a:spcPts val="775"/>
              </a:lnSpc>
            </a:pPr>
            <a:r>
              <a:rPr sz="700" spc="-25" dirty="0">
                <a:latin typeface="Arial"/>
                <a:cs typeface="Arial"/>
              </a:rPr>
              <a:t>44</a:t>
            </a:r>
            <a:endParaRPr sz="700">
              <a:latin typeface="Arial"/>
              <a:cs typeface="Arial"/>
            </a:endParaRPr>
          </a:p>
        </p:txBody>
      </p:sp>
      <p:grpSp>
        <p:nvGrpSpPr>
          <p:cNvPr id="5" name="object 5"/>
          <p:cNvGrpSpPr/>
          <p:nvPr/>
        </p:nvGrpSpPr>
        <p:grpSpPr>
          <a:xfrm>
            <a:off x="317639" y="1741170"/>
            <a:ext cx="4127500" cy="4947920"/>
            <a:chOff x="317639" y="1741170"/>
            <a:chExt cx="4127500" cy="4947920"/>
          </a:xfrm>
        </p:grpSpPr>
        <p:sp>
          <p:nvSpPr>
            <p:cNvPr id="6" name="object 6"/>
            <p:cNvSpPr/>
            <p:nvPr/>
          </p:nvSpPr>
          <p:spPr>
            <a:xfrm>
              <a:off x="321449" y="1744980"/>
              <a:ext cx="4118610" cy="4939665"/>
            </a:xfrm>
            <a:custGeom>
              <a:avLst/>
              <a:gdLst/>
              <a:ahLst/>
              <a:cxnLst/>
              <a:rect l="l" t="t" r="r" b="b"/>
              <a:pathLst>
                <a:path w="4118610" h="4939665">
                  <a:moveTo>
                    <a:pt x="4118610" y="4939284"/>
                  </a:moveTo>
                  <a:lnTo>
                    <a:pt x="4118609" y="0"/>
                  </a:lnTo>
                  <a:lnTo>
                    <a:pt x="0" y="0"/>
                  </a:lnTo>
                  <a:lnTo>
                    <a:pt x="0" y="4939284"/>
                  </a:lnTo>
                  <a:lnTo>
                    <a:pt x="4118610" y="4939284"/>
                  </a:lnTo>
                  <a:close/>
                </a:path>
              </a:pathLst>
            </a:custGeom>
            <a:solidFill>
              <a:srgbClr val="F9FABA"/>
            </a:solidFill>
          </p:spPr>
          <p:txBody>
            <a:bodyPr wrap="square" lIns="0" tIns="0" rIns="0" bIns="0" rtlCol="0"/>
            <a:lstStyle/>
            <a:p>
              <a:endParaRPr/>
            </a:p>
          </p:txBody>
        </p:sp>
        <p:sp>
          <p:nvSpPr>
            <p:cNvPr id="7" name="object 7"/>
            <p:cNvSpPr/>
            <p:nvPr/>
          </p:nvSpPr>
          <p:spPr>
            <a:xfrm>
              <a:off x="317639" y="1741170"/>
              <a:ext cx="4127500" cy="4947920"/>
            </a:xfrm>
            <a:custGeom>
              <a:avLst/>
              <a:gdLst/>
              <a:ahLst/>
              <a:cxnLst/>
              <a:rect l="l" t="t" r="r" b="b"/>
              <a:pathLst>
                <a:path w="4127500" h="4947920">
                  <a:moveTo>
                    <a:pt x="4126991" y="4945380"/>
                  </a:moveTo>
                  <a:lnTo>
                    <a:pt x="4126991" y="1523"/>
                  </a:lnTo>
                  <a:lnTo>
                    <a:pt x="4124705" y="0"/>
                  </a:lnTo>
                  <a:lnTo>
                    <a:pt x="1523" y="0"/>
                  </a:lnTo>
                  <a:lnTo>
                    <a:pt x="0" y="1524"/>
                  </a:lnTo>
                  <a:lnTo>
                    <a:pt x="0" y="4945380"/>
                  </a:lnTo>
                  <a:lnTo>
                    <a:pt x="1524" y="4947666"/>
                  </a:lnTo>
                  <a:lnTo>
                    <a:pt x="3810" y="4947666"/>
                  </a:lnTo>
                  <a:lnTo>
                    <a:pt x="3810" y="8382"/>
                  </a:lnTo>
                  <a:lnTo>
                    <a:pt x="8382" y="3810"/>
                  </a:lnTo>
                  <a:lnTo>
                    <a:pt x="8382" y="8382"/>
                  </a:lnTo>
                  <a:lnTo>
                    <a:pt x="4118610" y="8381"/>
                  </a:lnTo>
                  <a:lnTo>
                    <a:pt x="4118610" y="3809"/>
                  </a:lnTo>
                  <a:lnTo>
                    <a:pt x="4122420" y="8381"/>
                  </a:lnTo>
                  <a:lnTo>
                    <a:pt x="4122420" y="4947666"/>
                  </a:lnTo>
                  <a:lnTo>
                    <a:pt x="4124705" y="4947666"/>
                  </a:lnTo>
                  <a:lnTo>
                    <a:pt x="4126991" y="4945380"/>
                  </a:lnTo>
                  <a:close/>
                </a:path>
                <a:path w="4127500" h="4947920">
                  <a:moveTo>
                    <a:pt x="8382" y="8382"/>
                  </a:moveTo>
                  <a:lnTo>
                    <a:pt x="8382" y="3810"/>
                  </a:lnTo>
                  <a:lnTo>
                    <a:pt x="3810" y="8382"/>
                  </a:lnTo>
                  <a:lnTo>
                    <a:pt x="8382" y="8382"/>
                  </a:lnTo>
                  <a:close/>
                </a:path>
                <a:path w="4127500" h="4947920">
                  <a:moveTo>
                    <a:pt x="8382" y="4939284"/>
                  </a:moveTo>
                  <a:lnTo>
                    <a:pt x="8382" y="8382"/>
                  </a:lnTo>
                  <a:lnTo>
                    <a:pt x="3810" y="8382"/>
                  </a:lnTo>
                  <a:lnTo>
                    <a:pt x="3810" y="4939284"/>
                  </a:lnTo>
                  <a:lnTo>
                    <a:pt x="8382" y="4939284"/>
                  </a:lnTo>
                  <a:close/>
                </a:path>
                <a:path w="4127500" h="4947920">
                  <a:moveTo>
                    <a:pt x="4122420" y="4939284"/>
                  </a:moveTo>
                  <a:lnTo>
                    <a:pt x="3810" y="4939284"/>
                  </a:lnTo>
                  <a:lnTo>
                    <a:pt x="8382" y="4943094"/>
                  </a:lnTo>
                  <a:lnTo>
                    <a:pt x="8382" y="4947666"/>
                  </a:lnTo>
                  <a:lnTo>
                    <a:pt x="4118610" y="4947666"/>
                  </a:lnTo>
                  <a:lnTo>
                    <a:pt x="4118610" y="4943094"/>
                  </a:lnTo>
                  <a:lnTo>
                    <a:pt x="4122420" y="4939284"/>
                  </a:lnTo>
                  <a:close/>
                </a:path>
                <a:path w="4127500" h="4947920">
                  <a:moveTo>
                    <a:pt x="8382" y="4947666"/>
                  </a:moveTo>
                  <a:lnTo>
                    <a:pt x="8382" y="4943094"/>
                  </a:lnTo>
                  <a:lnTo>
                    <a:pt x="3810" y="4939284"/>
                  </a:lnTo>
                  <a:lnTo>
                    <a:pt x="3810" y="4947666"/>
                  </a:lnTo>
                  <a:lnTo>
                    <a:pt x="8382" y="4947666"/>
                  </a:lnTo>
                  <a:close/>
                </a:path>
                <a:path w="4127500" h="4947920">
                  <a:moveTo>
                    <a:pt x="4122420" y="8381"/>
                  </a:moveTo>
                  <a:lnTo>
                    <a:pt x="4118610" y="3809"/>
                  </a:lnTo>
                  <a:lnTo>
                    <a:pt x="4118610" y="8381"/>
                  </a:lnTo>
                  <a:lnTo>
                    <a:pt x="4122420" y="8381"/>
                  </a:lnTo>
                  <a:close/>
                </a:path>
                <a:path w="4127500" h="4947920">
                  <a:moveTo>
                    <a:pt x="4122420" y="4939284"/>
                  </a:moveTo>
                  <a:lnTo>
                    <a:pt x="4122420" y="8381"/>
                  </a:lnTo>
                  <a:lnTo>
                    <a:pt x="4118610" y="8381"/>
                  </a:lnTo>
                  <a:lnTo>
                    <a:pt x="4118610" y="4939284"/>
                  </a:lnTo>
                  <a:lnTo>
                    <a:pt x="4122420" y="4939284"/>
                  </a:lnTo>
                  <a:close/>
                </a:path>
                <a:path w="4127500" h="4947920">
                  <a:moveTo>
                    <a:pt x="4122420" y="4947666"/>
                  </a:moveTo>
                  <a:lnTo>
                    <a:pt x="4122420" y="4939284"/>
                  </a:lnTo>
                  <a:lnTo>
                    <a:pt x="4118610" y="4943094"/>
                  </a:lnTo>
                  <a:lnTo>
                    <a:pt x="4118610" y="4947666"/>
                  </a:lnTo>
                  <a:lnTo>
                    <a:pt x="4122420" y="4947666"/>
                  </a:lnTo>
                  <a:close/>
                </a:path>
              </a:pathLst>
            </a:custGeom>
            <a:solidFill>
              <a:srgbClr val="FF0000"/>
            </a:solidFill>
          </p:spPr>
          <p:txBody>
            <a:bodyPr wrap="square" lIns="0" tIns="0" rIns="0" bIns="0" rtlCol="0"/>
            <a:lstStyle/>
            <a:p>
              <a:endParaRPr/>
            </a:p>
          </p:txBody>
        </p:sp>
      </p:grpSp>
      <p:sp>
        <p:nvSpPr>
          <p:cNvPr id="8" name="object 8"/>
          <p:cNvSpPr txBox="1"/>
          <p:nvPr/>
        </p:nvSpPr>
        <p:spPr>
          <a:xfrm>
            <a:off x="388759" y="1766570"/>
            <a:ext cx="3092450" cy="4834890"/>
          </a:xfrm>
          <a:prstGeom prst="rect">
            <a:avLst/>
          </a:prstGeom>
        </p:spPr>
        <p:txBody>
          <a:bodyPr vert="horz" wrap="square" lIns="0" tIns="15875" rIns="0" bIns="0" rtlCol="0">
            <a:spAutoFit/>
          </a:bodyPr>
          <a:lstStyle/>
          <a:p>
            <a:pPr marR="1824989" algn="r">
              <a:lnSpc>
                <a:spcPct val="100000"/>
              </a:lnSpc>
              <a:spcBef>
                <a:spcPts val="125"/>
              </a:spcBef>
            </a:pPr>
            <a:r>
              <a:rPr sz="1550" dirty="0">
                <a:latin typeface="Arial"/>
                <a:cs typeface="Arial"/>
              </a:rPr>
              <a:t>wait0_2</a:t>
            </a:r>
            <a:r>
              <a:rPr sz="1550" spc="30" dirty="0">
                <a:latin typeface="Arial"/>
                <a:cs typeface="Arial"/>
              </a:rPr>
              <a:t> </a:t>
            </a:r>
            <a:r>
              <a:rPr sz="1550" spc="-50" dirty="0">
                <a:latin typeface="Arial"/>
                <a:cs typeface="Arial"/>
              </a:rPr>
              <a:t>:</a:t>
            </a:r>
            <a:endParaRPr sz="1550">
              <a:latin typeface="Arial"/>
              <a:cs typeface="Arial"/>
            </a:endParaRPr>
          </a:p>
          <a:p>
            <a:pPr marR="1812289" algn="r">
              <a:lnSpc>
                <a:spcPct val="100000"/>
              </a:lnSpc>
              <a:spcBef>
                <a:spcPts val="30"/>
              </a:spcBef>
            </a:pPr>
            <a:r>
              <a:rPr sz="1550" b="1" spc="-10" dirty="0">
                <a:latin typeface="Arial"/>
                <a:cs typeface="Arial"/>
              </a:rPr>
              <a:t>begin</a:t>
            </a:r>
            <a:endParaRPr sz="1550">
              <a:latin typeface="Arial"/>
              <a:cs typeface="Arial"/>
            </a:endParaRPr>
          </a:p>
          <a:p>
            <a:pPr marL="902969">
              <a:lnSpc>
                <a:spcPct val="100000"/>
              </a:lnSpc>
              <a:spcBef>
                <a:spcPts val="35"/>
              </a:spcBef>
            </a:pPr>
            <a:r>
              <a:rPr sz="1550" dirty="0">
                <a:latin typeface="Arial"/>
                <a:cs typeface="Arial"/>
              </a:rPr>
              <a:t>db</a:t>
            </a:r>
            <a:r>
              <a:rPr sz="1550" spc="15" dirty="0">
                <a:latin typeface="Arial"/>
                <a:cs typeface="Arial"/>
              </a:rPr>
              <a:t> </a:t>
            </a:r>
            <a:r>
              <a:rPr sz="1550" dirty="0">
                <a:latin typeface="Arial"/>
                <a:cs typeface="Arial"/>
              </a:rPr>
              <a:t>=</a:t>
            </a:r>
            <a:r>
              <a:rPr sz="1550" spc="15" dirty="0">
                <a:latin typeface="Arial"/>
                <a:cs typeface="Arial"/>
              </a:rPr>
              <a:t> </a:t>
            </a:r>
            <a:r>
              <a:rPr sz="1550" dirty="0">
                <a:latin typeface="Arial"/>
                <a:cs typeface="Arial"/>
              </a:rPr>
              <a:t>1'b1</a:t>
            </a:r>
            <a:r>
              <a:rPr sz="1550" spc="15" dirty="0">
                <a:latin typeface="Arial"/>
                <a:cs typeface="Arial"/>
              </a:rPr>
              <a:t> </a:t>
            </a:r>
            <a:r>
              <a:rPr sz="1550" spc="-50" dirty="0">
                <a:latin typeface="Arial"/>
                <a:cs typeface="Arial"/>
              </a:rPr>
              <a:t>;</a:t>
            </a:r>
            <a:endParaRPr sz="1550">
              <a:latin typeface="Arial"/>
              <a:cs typeface="Arial"/>
            </a:endParaRPr>
          </a:p>
          <a:p>
            <a:pPr marL="902969">
              <a:lnSpc>
                <a:spcPct val="100000"/>
              </a:lnSpc>
              <a:spcBef>
                <a:spcPts val="30"/>
              </a:spcBef>
            </a:pPr>
            <a:r>
              <a:rPr sz="1550" b="1" spc="-10" dirty="0">
                <a:latin typeface="Arial"/>
                <a:cs typeface="Arial"/>
              </a:rPr>
              <a:t>if</a:t>
            </a:r>
            <a:r>
              <a:rPr sz="1550" spc="-10" dirty="0">
                <a:latin typeface="Arial"/>
                <a:cs typeface="Arial"/>
              </a:rPr>
              <a:t>(sw)</a:t>
            </a:r>
            <a:endParaRPr sz="1550">
              <a:latin typeface="Arial"/>
              <a:cs typeface="Arial"/>
            </a:endParaRPr>
          </a:p>
          <a:p>
            <a:pPr marL="1125855">
              <a:lnSpc>
                <a:spcPct val="100000"/>
              </a:lnSpc>
              <a:spcBef>
                <a:spcPts val="40"/>
              </a:spcBef>
            </a:pPr>
            <a:r>
              <a:rPr sz="1550" dirty="0">
                <a:latin typeface="Arial"/>
                <a:cs typeface="Arial"/>
              </a:rPr>
              <a:t>state_next</a:t>
            </a:r>
            <a:r>
              <a:rPr sz="1550" spc="70" dirty="0">
                <a:latin typeface="Arial"/>
                <a:cs typeface="Arial"/>
              </a:rPr>
              <a:t> </a:t>
            </a:r>
            <a:r>
              <a:rPr sz="1550" dirty="0">
                <a:latin typeface="Arial"/>
                <a:cs typeface="Arial"/>
              </a:rPr>
              <a:t>=one</a:t>
            </a:r>
            <a:r>
              <a:rPr sz="1550" spc="70" dirty="0">
                <a:latin typeface="Arial"/>
                <a:cs typeface="Arial"/>
              </a:rPr>
              <a:t> </a:t>
            </a:r>
            <a:r>
              <a:rPr sz="1550" spc="-50" dirty="0">
                <a:latin typeface="Arial"/>
                <a:cs typeface="Arial"/>
              </a:rPr>
              <a:t>;</a:t>
            </a:r>
            <a:endParaRPr sz="1550">
              <a:latin typeface="Arial"/>
              <a:cs typeface="Arial"/>
            </a:endParaRPr>
          </a:p>
          <a:p>
            <a:pPr marL="1125855" marR="5080" indent="-278130">
              <a:lnSpc>
                <a:spcPct val="101600"/>
              </a:lnSpc>
              <a:spcBef>
                <a:spcPts val="5"/>
              </a:spcBef>
            </a:pPr>
            <a:r>
              <a:rPr sz="1550" b="1" dirty="0">
                <a:latin typeface="Arial"/>
                <a:cs typeface="Arial"/>
              </a:rPr>
              <a:t>else</a:t>
            </a:r>
            <a:r>
              <a:rPr sz="1550" b="1" spc="40" dirty="0">
                <a:latin typeface="Arial"/>
                <a:cs typeface="Arial"/>
              </a:rPr>
              <a:t> </a:t>
            </a:r>
            <a:r>
              <a:rPr sz="1550" b="1" dirty="0">
                <a:latin typeface="Arial"/>
                <a:cs typeface="Arial"/>
              </a:rPr>
              <a:t>if</a:t>
            </a:r>
            <a:r>
              <a:rPr sz="1550" dirty="0">
                <a:latin typeface="Arial"/>
                <a:cs typeface="Arial"/>
              </a:rPr>
              <a:t>(m_tick</a:t>
            </a:r>
            <a:r>
              <a:rPr sz="1550" spc="50" dirty="0">
                <a:latin typeface="Arial"/>
                <a:cs typeface="Arial"/>
              </a:rPr>
              <a:t> </a:t>
            </a:r>
            <a:r>
              <a:rPr sz="1550" spc="-50" dirty="0">
                <a:latin typeface="Arial"/>
                <a:cs typeface="Arial"/>
              </a:rPr>
              <a:t>) </a:t>
            </a:r>
            <a:r>
              <a:rPr sz="1550" dirty="0">
                <a:latin typeface="Arial"/>
                <a:cs typeface="Arial"/>
              </a:rPr>
              <a:t>state_next</a:t>
            </a:r>
            <a:r>
              <a:rPr sz="1550" spc="50" dirty="0">
                <a:latin typeface="Arial"/>
                <a:cs typeface="Arial"/>
              </a:rPr>
              <a:t> </a:t>
            </a:r>
            <a:r>
              <a:rPr sz="1550" dirty="0">
                <a:latin typeface="Arial"/>
                <a:cs typeface="Arial"/>
              </a:rPr>
              <a:t>=</a:t>
            </a:r>
            <a:r>
              <a:rPr sz="1550" spc="45" dirty="0">
                <a:latin typeface="Arial"/>
                <a:cs typeface="Arial"/>
              </a:rPr>
              <a:t> </a:t>
            </a:r>
            <a:r>
              <a:rPr sz="1550" dirty="0">
                <a:latin typeface="Arial"/>
                <a:cs typeface="Arial"/>
              </a:rPr>
              <a:t>wait0_3</a:t>
            </a:r>
            <a:r>
              <a:rPr sz="1550" spc="55" dirty="0">
                <a:latin typeface="Arial"/>
                <a:cs typeface="Arial"/>
              </a:rPr>
              <a:t> </a:t>
            </a:r>
            <a:r>
              <a:rPr sz="1550" spc="-50" dirty="0">
                <a:latin typeface="Arial"/>
                <a:cs typeface="Arial"/>
              </a:rPr>
              <a:t>;</a:t>
            </a:r>
            <a:endParaRPr sz="1550">
              <a:latin typeface="Arial"/>
              <a:cs typeface="Arial"/>
            </a:endParaRPr>
          </a:p>
          <a:p>
            <a:pPr marL="735965">
              <a:lnSpc>
                <a:spcPct val="100000"/>
              </a:lnSpc>
              <a:spcBef>
                <a:spcPts val="35"/>
              </a:spcBef>
            </a:pPr>
            <a:r>
              <a:rPr sz="1550" b="1" spc="-25" dirty="0">
                <a:latin typeface="Arial"/>
                <a:cs typeface="Arial"/>
              </a:rPr>
              <a:t>end</a:t>
            </a:r>
            <a:endParaRPr sz="1550">
              <a:latin typeface="Arial"/>
              <a:cs typeface="Arial"/>
            </a:endParaRPr>
          </a:p>
          <a:p>
            <a:pPr marL="457200">
              <a:lnSpc>
                <a:spcPct val="100000"/>
              </a:lnSpc>
              <a:spcBef>
                <a:spcPts val="30"/>
              </a:spcBef>
            </a:pPr>
            <a:r>
              <a:rPr sz="1550" dirty="0">
                <a:latin typeface="Arial"/>
                <a:cs typeface="Arial"/>
              </a:rPr>
              <a:t>wait0_3</a:t>
            </a:r>
            <a:r>
              <a:rPr sz="1550" spc="30" dirty="0">
                <a:latin typeface="Arial"/>
                <a:cs typeface="Arial"/>
              </a:rPr>
              <a:t> </a:t>
            </a:r>
            <a:r>
              <a:rPr sz="1550" spc="-50" dirty="0">
                <a:latin typeface="Arial"/>
                <a:cs typeface="Arial"/>
              </a:rPr>
              <a:t>:</a:t>
            </a:r>
            <a:endParaRPr sz="1550">
              <a:latin typeface="Arial"/>
              <a:cs typeface="Arial"/>
            </a:endParaRPr>
          </a:p>
          <a:p>
            <a:pPr marL="791845">
              <a:lnSpc>
                <a:spcPct val="100000"/>
              </a:lnSpc>
              <a:spcBef>
                <a:spcPts val="35"/>
              </a:spcBef>
            </a:pPr>
            <a:r>
              <a:rPr sz="1550" b="1" spc="-10" dirty="0">
                <a:latin typeface="Arial"/>
                <a:cs typeface="Arial"/>
              </a:rPr>
              <a:t>begin</a:t>
            </a:r>
            <a:endParaRPr sz="1550">
              <a:latin typeface="Arial"/>
              <a:cs typeface="Arial"/>
            </a:endParaRPr>
          </a:p>
          <a:p>
            <a:pPr marL="958850">
              <a:lnSpc>
                <a:spcPct val="100000"/>
              </a:lnSpc>
              <a:spcBef>
                <a:spcPts val="35"/>
              </a:spcBef>
            </a:pPr>
            <a:r>
              <a:rPr sz="1550" dirty="0">
                <a:latin typeface="Arial"/>
                <a:cs typeface="Arial"/>
              </a:rPr>
              <a:t>db</a:t>
            </a:r>
            <a:r>
              <a:rPr sz="1550" spc="15" dirty="0">
                <a:latin typeface="Arial"/>
                <a:cs typeface="Arial"/>
              </a:rPr>
              <a:t> </a:t>
            </a:r>
            <a:r>
              <a:rPr sz="1550" dirty="0">
                <a:latin typeface="Arial"/>
                <a:cs typeface="Arial"/>
              </a:rPr>
              <a:t>=</a:t>
            </a:r>
            <a:r>
              <a:rPr sz="1550" spc="15" dirty="0">
                <a:latin typeface="Arial"/>
                <a:cs typeface="Arial"/>
              </a:rPr>
              <a:t> </a:t>
            </a:r>
            <a:r>
              <a:rPr sz="1550" dirty="0">
                <a:latin typeface="Arial"/>
                <a:cs typeface="Arial"/>
              </a:rPr>
              <a:t>1'b1</a:t>
            </a:r>
            <a:r>
              <a:rPr sz="1550" spc="15" dirty="0">
                <a:latin typeface="Arial"/>
                <a:cs typeface="Arial"/>
              </a:rPr>
              <a:t> </a:t>
            </a:r>
            <a:r>
              <a:rPr sz="1550" spc="-50" dirty="0">
                <a:latin typeface="Arial"/>
                <a:cs typeface="Arial"/>
              </a:rPr>
              <a:t>;</a:t>
            </a:r>
            <a:endParaRPr sz="1550">
              <a:latin typeface="Arial"/>
              <a:cs typeface="Arial"/>
            </a:endParaRPr>
          </a:p>
          <a:p>
            <a:pPr marL="958850">
              <a:lnSpc>
                <a:spcPct val="100000"/>
              </a:lnSpc>
              <a:spcBef>
                <a:spcPts val="30"/>
              </a:spcBef>
            </a:pPr>
            <a:r>
              <a:rPr sz="1550" b="1" spc="-10" dirty="0">
                <a:latin typeface="Arial"/>
                <a:cs typeface="Arial"/>
              </a:rPr>
              <a:t>if</a:t>
            </a:r>
            <a:r>
              <a:rPr sz="1550" spc="-10" dirty="0">
                <a:latin typeface="Arial"/>
                <a:cs typeface="Arial"/>
              </a:rPr>
              <a:t>(sw)</a:t>
            </a:r>
            <a:endParaRPr sz="1550">
              <a:latin typeface="Arial"/>
              <a:cs typeface="Arial"/>
            </a:endParaRPr>
          </a:p>
          <a:p>
            <a:pPr marL="1125855">
              <a:lnSpc>
                <a:spcPct val="100000"/>
              </a:lnSpc>
              <a:spcBef>
                <a:spcPts val="40"/>
              </a:spcBef>
            </a:pPr>
            <a:r>
              <a:rPr sz="1550" dirty="0">
                <a:latin typeface="Arial"/>
                <a:cs typeface="Arial"/>
              </a:rPr>
              <a:t>state_next</a:t>
            </a:r>
            <a:r>
              <a:rPr sz="1550" spc="70" dirty="0">
                <a:latin typeface="Arial"/>
                <a:cs typeface="Arial"/>
              </a:rPr>
              <a:t> </a:t>
            </a:r>
            <a:r>
              <a:rPr sz="1550" dirty="0">
                <a:latin typeface="Arial"/>
                <a:cs typeface="Arial"/>
              </a:rPr>
              <a:t>=one</a:t>
            </a:r>
            <a:r>
              <a:rPr sz="1550" spc="70" dirty="0">
                <a:latin typeface="Arial"/>
                <a:cs typeface="Arial"/>
              </a:rPr>
              <a:t> </a:t>
            </a:r>
            <a:r>
              <a:rPr sz="1550" spc="-50" dirty="0">
                <a:latin typeface="Arial"/>
                <a:cs typeface="Arial"/>
              </a:rPr>
              <a:t>;</a:t>
            </a:r>
            <a:endParaRPr sz="1550">
              <a:latin typeface="Arial"/>
              <a:cs typeface="Arial"/>
            </a:endParaRPr>
          </a:p>
          <a:p>
            <a:pPr marL="1125855" marR="304800" indent="-167005">
              <a:lnSpc>
                <a:spcPts val="1900"/>
              </a:lnSpc>
              <a:spcBef>
                <a:spcPts val="60"/>
              </a:spcBef>
            </a:pPr>
            <a:r>
              <a:rPr sz="1550" b="1" dirty="0">
                <a:latin typeface="Arial"/>
                <a:cs typeface="Arial"/>
              </a:rPr>
              <a:t>else</a:t>
            </a:r>
            <a:r>
              <a:rPr sz="1550" b="1" spc="40" dirty="0">
                <a:latin typeface="Arial"/>
                <a:cs typeface="Arial"/>
              </a:rPr>
              <a:t> </a:t>
            </a:r>
            <a:r>
              <a:rPr sz="1550" b="1" dirty="0">
                <a:latin typeface="Arial"/>
                <a:cs typeface="Arial"/>
              </a:rPr>
              <a:t>if</a:t>
            </a:r>
            <a:r>
              <a:rPr sz="1550" dirty="0">
                <a:latin typeface="Arial"/>
                <a:cs typeface="Arial"/>
              </a:rPr>
              <a:t>(m_tick</a:t>
            </a:r>
            <a:r>
              <a:rPr sz="1550" spc="50" dirty="0">
                <a:latin typeface="Arial"/>
                <a:cs typeface="Arial"/>
              </a:rPr>
              <a:t> </a:t>
            </a:r>
            <a:r>
              <a:rPr sz="1550" spc="-50" dirty="0">
                <a:latin typeface="Arial"/>
                <a:cs typeface="Arial"/>
              </a:rPr>
              <a:t>) </a:t>
            </a:r>
            <a:r>
              <a:rPr sz="1550" dirty="0">
                <a:latin typeface="Arial"/>
                <a:cs typeface="Arial"/>
              </a:rPr>
              <a:t>state_next</a:t>
            </a:r>
            <a:r>
              <a:rPr sz="1550" spc="45" dirty="0">
                <a:latin typeface="Arial"/>
                <a:cs typeface="Arial"/>
              </a:rPr>
              <a:t> </a:t>
            </a:r>
            <a:r>
              <a:rPr sz="1550" dirty="0">
                <a:latin typeface="Arial"/>
                <a:cs typeface="Arial"/>
              </a:rPr>
              <a:t>=</a:t>
            </a:r>
            <a:r>
              <a:rPr sz="1550" spc="50" dirty="0">
                <a:latin typeface="Arial"/>
                <a:cs typeface="Arial"/>
              </a:rPr>
              <a:t> </a:t>
            </a:r>
            <a:r>
              <a:rPr sz="1550" dirty="0">
                <a:latin typeface="Arial"/>
                <a:cs typeface="Arial"/>
              </a:rPr>
              <a:t>zero</a:t>
            </a:r>
            <a:r>
              <a:rPr sz="1550" spc="45" dirty="0">
                <a:latin typeface="Arial"/>
                <a:cs typeface="Arial"/>
              </a:rPr>
              <a:t> </a:t>
            </a:r>
            <a:r>
              <a:rPr sz="1550" spc="-50" dirty="0">
                <a:latin typeface="Arial"/>
                <a:cs typeface="Arial"/>
              </a:rPr>
              <a:t>;</a:t>
            </a:r>
            <a:endParaRPr sz="1550">
              <a:latin typeface="Arial"/>
              <a:cs typeface="Arial"/>
            </a:endParaRPr>
          </a:p>
          <a:p>
            <a:pPr marL="958850">
              <a:lnSpc>
                <a:spcPts val="1820"/>
              </a:lnSpc>
            </a:pPr>
            <a:r>
              <a:rPr sz="1550" b="1" spc="-25" dirty="0">
                <a:latin typeface="Arial"/>
                <a:cs typeface="Arial"/>
              </a:rPr>
              <a:t>end</a:t>
            </a:r>
            <a:endParaRPr sz="1550">
              <a:latin typeface="Arial"/>
              <a:cs typeface="Arial"/>
            </a:endParaRPr>
          </a:p>
          <a:p>
            <a:pPr marL="457200">
              <a:lnSpc>
                <a:spcPct val="100000"/>
              </a:lnSpc>
              <a:spcBef>
                <a:spcPts val="30"/>
              </a:spcBef>
            </a:pPr>
            <a:r>
              <a:rPr sz="1550" b="1" dirty="0">
                <a:latin typeface="Arial"/>
                <a:cs typeface="Arial"/>
              </a:rPr>
              <a:t>default</a:t>
            </a:r>
            <a:r>
              <a:rPr sz="1550" b="1" spc="55" dirty="0">
                <a:latin typeface="Arial"/>
                <a:cs typeface="Arial"/>
              </a:rPr>
              <a:t> </a:t>
            </a:r>
            <a:r>
              <a:rPr sz="1550" dirty="0">
                <a:latin typeface="Arial"/>
                <a:cs typeface="Arial"/>
              </a:rPr>
              <a:t>:state_next</a:t>
            </a:r>
            <a:r>
              <a:rPr sz="1550" spc="45" dirty="0">
                <a:latin typeface="Arial"/>
                <a:cs typeface="Arial"/>
              </a:rPr>
              <a:t> </a:t>
            </a:r>
            <a:r>
              <a:rPr sz="1550" dirty="0">
                <a:latin typeface="Arial"/>
                <a:cs typeface="Arial"/>
              </a:rPr>
              <a:t>=</a:t>
            </a:r>
            <a:r>
              <a:rPr sz="1550" spc="50" dirty="0">
                <a:latin typeface="Arial"/>
                <a:cs typeface="Arial"/>
              </a:rPr>
              <a:t> </a:t>
            </a:r>
            <a:r>
              <a:rPr sz="1550" dirty="0">
                <a:latin typeface="Arial"/>
                <a:cs typeface="Arial"/>
              </a:rPr>
              <a:t>zero</a:t>
            </a:r>
            <a:r>
              <a:rPr sz="1550" spc="50" dirty="0">
                <a:latin typeface="Arial"/>
                <a:cs typeface="Arial"/>
              </a:rPr>
              <a:t> </a:t>
            </a:r>
            <a:r>
              <a:rPr sz="1550" spc="-50" dirty="0">
                <a:latin typeface="Arial"/>
                <a:cs typeface="Arial"/>
              </a:rPr>
              <a:t>;</a:t>
            </a:r>
            <a:endParaRPr sz="1550">
              <a:latin typeface="Arial"/>
              <a:cs typeface="Arial"/>
            </a:endParaRPr>
          </a:p>
          <a:p>
            <a:pPr marL="179070" marR="1991995" indent="111125">
              <a:lnSpc>
                <a:spcPct val="101600"/>
              </a:lnSpc>
              <a:spcBef>
                <a:spcPts val="5"/>
              </a:spcBef>
            </a:pPr>
            <a:r>
              <a:rPr sz="1550" b="1" spc="-10" dirty="0">
                <a:latin typeface="Arial"/>
                <a:cs typeface="Arial"/>
              </a:rPr>
              <a:t>endcase </a:t>
            </a:r>
            <a:r>
              <a:rPr sz="1550" b="1" spc="-25" dirty="0">
                <a:latin typeface="Arial"/>
                <a:cs typeface="Arial"/>
              </a:rPr>
              <a:t>end</a:t>
            </a:r>
            <a:endParaRPr sz="1550">
              <a:latin typeface="Arial"/>
              <a:cs typeface="Arial"/>
            </a:endParaRPr>
          </a:p>
          <a:p>
            <a:pPr marL="12700">
              <a:lnSpc>
                <a:spcPct val="100000"/>
              </a:lnSpc>
              <a:spcBef>
                <a:spcPts val="35"/>
              </a:spcBef>
            </a:pPr>
            <a:r>
              <a:rPr sz="1550" b="1" spc="-10" dirty="0">
                <a:latin typeface="Arial"/>
                <a:cs typeface="Arial"/>
              </a:rPr>
              <a:t>endmodule</a:t>
            </a:r>
            <a:endParaRPr sz="1550">
              <a:latin typeface="Arial"/>
              <a:cs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9817" y="1272032"/>
            <a:ext cx="1228090" cy="506730"/>
          </a:xfrm>
          <a:prstGeom prst="rect">
            <a:avLst/>
          </a:prstGeom>
        </p:spPr>
        <p:txBody>
          <a:bodyPr vert="horz" wrap="square" lIns="0" tIns="13335" rIns="0" bIns="0" rtlCol="0">
            <a:spAutoFit/>
          </a:bodyPr>
          <a:lstStyle/>
          <a:p>
            <a:pPr marL="12700">
              <a:lnSpc>
                <a:spcPct val="100000"/>
              </a:lnSpc>
              <a:spcBef>
                <a:spcPts val="105"/>
              </a:spcBef>
            </a:pPr>
            <a:r>
              <a:rPr sz="3150" b="1" spc="-20" dirty="0">
                <a:latin typeface="微软雅黑"/>
                <a:cs typeface="微软雅黑"/>
              </a:rPr>
              <a:t>练习题</a:t>
            </a:r>
            <a:endParaRPr sz="3150">
              <a:latin typeface="微软雅黑"/>
              <a:cs typeface="微软雅黑"/>
            </a:endParaRPr>
          </a:p>
        </p:txBody>
      </p:sp>
      <p:sp>
        <p:nvSpPr>
          <p:cNvPr id="4" name="object 4"/>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38735">
              <a:lnSpc>
                <a:spcPct val="100000"/>
              </a:lnSpc>
              <a:spcBef>
                <a:spcPts val="40"/>
              </a:spcBef>
            </a:pPr>
            <a:fld id="{81D60167-4931-47E6-BA6A-407CBD079E47}" type="slidenum">
              <a:rPr spc="-25" dirty="0"/>
              <a:t>45</a:t>
            </a:fld>
            <a:endParaRPr spc="-25" dirty="0"/>
          </a:p>
        </p:txBody>
      </p:sp>
      <p:sp>
        <p:nvSpPr>
          <p:cNvPr id="3" name="object 3"/>
          <p:cNvSpPr txBox="1"/>
          <p:nvPr/>
        </p:nvSpPr>
        <p:spPr>
          <a:xfrm>
            <a:off x="757561" y="2149855"/>
            <a:ext cx="3063240" cy="2417445"/>
          </a:xfrm>
          <a:prstGeom prst="rect">
            <a:avLst/>
          </a:prstGeom>
        </p:spPr>
        <p:txBody>
          <a:bodyPr vert="horz" wrap="square" lIns="0" tIns="13335" rIns="0" bIns="0" rtlCol="0">
            <a:spAutoFit/>
          </a:bodyPr>
          <a:lstStyle/>
          <a:p>
            <a:pPr marL="244475" indent="-234950">
              <a:lnSpc>
                <a:spcPct val="100000"/>
              </a:lnSpc>
              <a:spcBef>
                <a:spcPts val="105"/>
              </a:spcBef>
              <a:buSzPct val="95918"/>
              <a:buFont typeface="Wingdings"/>
              <a:buChar char=""/>
              <a:tabLst>
                <a:tab pos="244475" algn="l"/>
              </a:tabLst>
            </a:pPr>
            <a:r>
              <a:rPr sz="2450" spc="-10" dirty="0">
                <a:latin typeface="微软雅黑"/>
                <a:cs typeface="微软雅黑"/>
              </a:rPr>
              <a:t>序列检测器进阶</a:t>
            </a:r>
            <a:endParaRPr sz="2450">
              <a:latin typeface="微软雅黑"/>
              <a:cs typeface="微软雅黑"/>
            </a:endParaRPr>
          </a:p>
          <a:p>
            <a:pPr marL="244475" indent="-234950">
              <a:lnSpc>
                <a:spcPct val="100000"/>
              </a:lnSpc>
              <a:spcBef>
                <a:spcPts val="2355"/>
              </a:spcBef>
              <a:buSzPct val="95918"/>
              <a:buFont typeface="Wingdings"/>
              <a:buChar char=""/>
              <a:tabLst>
                <a:tab pos="244475" algn="l"/>
              </a:tabLst>
            </a:pPr>
            <a:r>
              <a:rPr sz="2450" spc="-10" dirty="0">
                <a:latin typeface="微软雅黑"/>
                <a:cs typeface="微软雅黑"/>
              </a:rPr>
              <a:t>消抖电路的替换方案</a:t>
            </a:r>
            <a:endParaRPr sz="2450">
              <a:latin typeface="微软雅黑"/>
              <a:cs typeface="微软雅黑"/>
            </a:endParaRPr>
          </a:p>
          <a:p>
            <a:pPr marL="244475" indent="-234950">
              <a:lnSpc>
                <a:spcPct val="100000"/>
              </a:lnSpc>
              <a:spcBef>
                <a:spcPts val="2350"/>
              </a:spcBef>
              <a:buSzPct val="95918"/>
              <a:buFont typeface="Wingdings"/>
              <a:buChar char=""/>
              <a:tabLst>
                <a:tab pos="244475" algn="l"/>
              </a:tabLst>
            </a:pPr>
            <a:r>
              <a:rPr sz="2450" spc="-10" dirty="0">
                <a:latin typeface="微软雅黑"/>
                <a:cs typeface="微软雅黑"/>
              </a:rPr>
              <a:t>停车场计数器</a:t>
            </a:r>
            <a:endParaRPr sz="2450">
              <a:latin typeface="微软雅黑"/>
              <a:cs typeface="微软雅黑"/>
            </a:endParaRPr>
          </a:p>
          <a:p>
            <a:pPr marL="244475" indent="-234950">
              <a:lnSpc>
                <a:spcPct val="100000"/>
              </a:lnSpc>
              <a:spcBef>
                <a:spcPts val="2360"/>
              </a:spcBef>
              <a:buSzPct val="95918"/>
              <a:buFont typeface="Wingdings"/>
              <a:buChar char=""/>
              <a:tabLst>
                <a:tab pos="244475" algn="l"/>
              </a:tabLst>
            </a:pPr>
            <a:r>
              <a:rPr sz="2450" spc="-10" dirty="0">
                <a:latin typeface="微软雅黑"/>
                <a:cs typeface="微软雅黑"/>
              </a:rPr>
              <a:t>验证停车场计数器</a:t>
            </a:r>
            <a:endParaRPr sz="2450">
              <a:latin typeface="微软雅黑"/>
              <a:cs typeface="微软雅黑"/>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8323" y="1229360"/>
            <a:ext cx="2522220" cy="453390"/>
          </a:xfrm>
          <a:prstGeom prst="rect">
            <a:avLst/>
          </a:prstGeom>
        </p:spPr>
        <p:txBody>
          <a:bodyPr vert="horz" wrap="square" lIns="0" tIns="13335" rIns="0" bIns="0" rtlCol="0">
            <a:spAutoFit/>
          </a:bodyPr>
          <a:lstStyle/>
          <a:p>
            <a:pPr marL="12700">
              <a:lnSpc>
                <a:spcPct val="100000"/>
              </a:lnSpc>
              <a:spcBef>
                <a:spcPts val="105"/>
              </a:spcBef>
            </a:pPr>
            <a:r>
              <a:rPr spc="-10" dirty="0"/>
              <a:t>序列检测器进阶</a:t>
            </a:r>
          </a:p>
        </p:txBody>
      </p:sp>
      <p:sp>
        <p:nvSpPr>
          <p:cNvPr id="4" name="object 4"/>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38735">
              <a:lnSpc>
                <a:spcPct val="100000"/>
              </a:lnSpc>
              <a:spcBef>
                <a:spcPts val="40"/>
              </a:spcBef>
            </a:pPr>
            <a:fld id="{81D60167-4931-47E6-BA6A-407CBD079E47}" type="slidenum">
              <a:rPr spc="-25" dirty="0"/>
              <a:t>46</a:t>
            </a:fld>
            <a:endParaRPr spc="-25" dirty="0"/>
          </a:p>
        </p:txBody>
      </p:sp>
      <p:sp>
        <p:nvSpPr>
          <p:cNvPr id="3" name="object 3"/>
          <p:cNvSpPr txBox="1"/>
          <p:nvPr/>
        </p:nvSpPr>
        <p:spPr>
          <a:xfrm>
            <a:off x="1228477" y="2167526"/>
            <a:ext cx="6570345" cy="2912110"/>
          </a:xfrm>
          <a:prstGeom prst="rect">
            <a:avLst/>
          </a:prstGeom>
        </p:spPr>
        <p:txBody>
          <a:bodyPr vert="horz" wrap="square" lIns="0" tIns="12065" rIns="0" bIns="0" rtlCol="0">
            <a:spAutoFit/>
          </a:bodyPr>
          <a:lstStyle/>
          <a:p>
            <a:pPr marL="12700" marR="5080">
              <a:lnSpc>
                <a:spcPct val="150500"/>
              </a:lnSpc>
              <a:spcBef>
                <a:spcPts val="95"/>
              </a:spcBef>
            </a:pPr>
            <a:r>
              <a:rPr sz="2100" spc="-10" dirty="0">
                <a:latin typeface="宋体"/>
                <a:cs typeface="宋体"/>
              </a:rPr>
              <a:t>在序列检测器的基础上，当收到的脉冲序列数据为0</a:t>
            </a:r>
            <a:r>
              <a:rPr sz="2100" spc="-30" dirty="0">
                <a:latin typeface="宋体"/>
                <a:cs typeface="宋体"/>
              </a:rPr>
              <a:t>时，</a:t>
            </a:r>
            <a:r>
              <a:rPr sz="2100" spc="-5" dirty="0">
                <a:latin typeface="宋体"/>
                <a:cs typeface="宋体"/>
              </a:rPr>
              <a:t>则记录下后八位数据。</a:t>
            </a:r>
            <a:endParaRPr sz="2100">
              <a:latin typeface="宋体"/>
              <a:cs typeface="宋体"/>
            </a:endParaRPr>
          </a:p>
          <a:p>
            <a:pPr marL="412115" indent="-399415">
              <a:lnSpc>
                <a:spcPct val="100000"/>
              </a:lnSpc>
              <a:spcBef>
                <a:spcPts val="1270"/>
              </a:spcBef>
              <a:buAutoNum type="arabicPeriod"/>
              <a:tabLst>
                <a:tab pos="412115" algn="l"/>
              </a:tabLst>
            </a:pPr>
            <a:r>
              <a:rPr sz="2100" spc="-10" dirty="0">
                <a:latin typeface="宋体"/>
                <a:cs typeface="宋体"/>
              </a:rPr>
              <a:t>设计一个基于Moore型的电路并画出状态图和ASM</a:t>
            </a:r>
            <a:r>
              <a:rPr sz="2100" spc="-30" dirty="0">
                <a:latin typeface="宋体"/>
                <a:cs typeface="宋体"/>
              </a:rPr>
              <a:t>图。</a:t>
            </a:r>
            <a:endParaRPr sz="2100">
              <a:latin typeface="宋体"/>
              <a:cs typeface="宋体"/>
            </a:endParaRPr>
          </a:p>
          <a:p>
            <a:pPr marL="412750" indent="-400050">
              <a:lnSpc>
                <a:spcPct val="100000"/>
              </a:lnSpc>
              <a:spcBef>
                <a:spcPts val="1265"/>
              </a:spcBef>
              <a:buAutoNum type="arabicPeriod"/>
              <a:tabLst>
                <a:tab pos="412750" algn="l"/>
              </a:tabLst>
            </a:pPr>
            <a:r>
              <a:rPr sz="2100" spc="-10" dirty="0">
                <a:latin typeface="宋体"/>
                <a:cs typeface="宋体"/>
              </a:rPr>
              <a:t>依据状态图和ASM图写出HDL</a:t>
            </a:r>
            <a:r>
              <a:rPr sz="2100" spc="-25" dirty="0">
                <a:latin typeface="宋体"/>
                <a:cs typeface="宋体"/>
              </a:rPr>
              <a:t>代码。</a:t>
            </a:r>
            <a:endParaRPr sz="2100">
              <a:latin typeface="宋体"/>
              <a:cs typeface="宋体"/>
            </a:endParaRPr>
          </a:p>
          <a:p>
            <a:pPr marL="411480" indent="-398780">
              <a:lnSpc>
                <a:spcPct val="100000"/>
              </a:lnSpc>
              <a:spcBef>
                <a:spcPts val="1265"/>
              </a:spcBef>
              <a:buAutoNum type="arabicPeriod"/>
              <a:tabLst>
                <a:tab pos="411480" algn="l"/>
              </a:tabLst>
            </a:pPr>
            <a:r>
              <a:rPr sz="2100" spc="-10" dirty="0">
                <a:latin typeface="宋体"/>
                <a:cs typeface="宋体"/>
              </a:rPr>
              <a:t>写出testbench</a:t>
            </a:r>
            <a:r>
              <a:rPr sz="2100" spc="-15" dirty="0">
                <a:latin typeface="宋体"/>
                <a:cs typeface="宋体"/>
              </a:rPr>
              <a:t>并且对代码进行仿真验证。</a:t>
            </a:r>
            <a:endParaRPr sz="2100">
              <a:latin typeface="宋体"/>
              <a:cs typeface="宋体"/>
            </a:endParaRPr>
          </a:p>
          <a:p>
            <a:pPr marL="412750" indent="-400050">
              <a:lnSpc>
                <a:spcPct val="100000"/>
              </a:lnSpc>
              <a:spcBef>
                <a:spcPts val="1265"/>
              </a:spcBef>
              <a:buAutoNum type="arabicPeriod"/>
              <a:tabLst>
                <a:tab pos="412750" algn="l"/>
              </a:tabLst>
            </a:pPr>
            <a:r>
              <a:rPr sz="2100" spc="-10" dirty="0">
                <a:latin typeface="宋体"/>
                <a:cs typeface="宋体"/>
              </a:rPr>
              <a:t>设计一个基于Mealy</a:t>
            </a:r>
            <a:r>
              <a:rPr sz="2100" spc="-15" dirty="0">
                <a:latin typeface="宋体"/>
                <a:cs typeface="宋体"/>
              </a:rPr>
              <a:t>型，重复第一第四步。</a:t>
            </a:r>
            <a:endParaRPr sz="2100">
              <a:latin typeface="宋体"/>
              <a:cs typeface="宋体"/>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8323" y="1229360"/>
            <a:ext cx="3234055" cy="453390"/>
          </a:xfrm>
          <a:prstGeom prst="rect">
            <a:avLst/>
          </a:prstGeom>
        </p:spPr>
        <p:txBody>
          <a:bodyPr vert="horz" wrap="square" lIns="0" tIns="13335" rIns="0" bIns="0" rtlCol="0">
            <a:spAutoFit/>
          </a:bodyPr>
          <a:lstStyle/>
          <a:p>
            <a:pPr marL="12700">
              <a:lnSpc>
                <a:spcPct val="100000"/>
              </a:lnSpc>
              <a:spcBef>
                <a:spcPts val="105"/>
              </a:spcBef>
            </a:pPr>
            <a:r>
              <a:rPr spc="-15" dirty="0"/>
              <a:t>消抖电路的替换方案</a:t>
            </a:r>
          </a:p>
        </p:txBody>
      </p:sp>
      <p:sp>
        <p:nvSpPr>
          <p:cNvPr id="4" name="object 4"/>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38735">
              <a:lnSpc>
                <a:spcPct val="100000"/>
              </a:lnSpc>
              <a:spcBef>
                <a:spcPts val="40"/>
              </a:spcBef>
            </a:pPr>
            <a:fld id="{81D60167-4931-47E6-BA6A-407CBD079E47}" type="slidenum">
              <a:rPr spc="-25" dirty="0"/>
              <a:t>47</a:t>
            </a:fld>
            <a:endParaRPr spc="-25" dirty="0"/>
          </a:p>
        </p:txBody>
      </p:sp>
      <p:sp>
        <p:nvSpPr>
          <p:cNvPr id="3" name="object 3"/>
          <p:cNvSpPr txBox="1"/>
          <p:nvPr/>
        </p:nvSpPr>
        <p:spPr>
          <a:xfrm>
            <a:off x="1129417" y="1862117"/>
            <a:ext cx="8768080" cy="4034154"/>
          </a:xfrm>
          <a:prstGeom prst="rect">
            <a:avLst/>
          </a:prstGeom>
        </p:spPr>
        <p:txBody>
          <a:bodyPr vert="horz" wrap="square" lIns="0" tIns="12700" rIns="0" bIns="0" rtlCol="0">
            <a:spAutoFit/>
          </a:bodyPr>
          <a:lstStyle/>
          <a:p>
            <a:pPr marL="12700" marR="5080" algn="just">
              <a:lnSpc>
                <a:spcPct val="150300"/>
              </a:lnSpc>
              <a:spcBef>
                <a:spcPts val="100"/>
              </a:spcBef>
            </a:pPr>
            <a:r>
              <a:rPr sz="1750" spc="-5" dirty="0">
                <a:latin typeface="宋体"/>
                <a:cs typeface="宋体"/>
              </a:rPr>
              <a:t>案例中设计的消抖有一个缺陷，当开关转换状态的时候会有一个反应延迟的问题。替代方</a:t>
            </a:r>
            <a:r>
              <a:rPr sz="1750" dirty="0">
                <a:latin typeface="宋体"/>
                <a:cs typeface="宋体"/>
              </a:rPr>
              <a:t>案要实现在转换的第一个边沿即作出反应，在等待一个很小的时间段后（至少20ms）</a:t>
            </a:r>
            <a:r>
              <a:rPr sz="1750" spc="-25" dirty="0">
                <a:latin typeface="宋体"/>
                <a:cs typeface="宋体"/>
              </a:rPr>
              <a:t>和输</a:t>
            </a:r>
            <a:r>
              <a:rPr sz="1750" dirty="0">
                <a:latin typeface="宋体"/>
                <a:cs typeface="宋体"/>
              </a:rPr>
              <a:t>入信号进行计算。替换方案要求当输入信号由0变为1</a:t>
            </a:r>
            <a:r>
              <a:rPr sz="1750" spc="-5" dirty="0">
                <a:latin typeface="宋体"/>
                <a:cs typeface="宋体"/>
              </a:rPr>
              <a:t>时，有限状态机立即作出反应并根据</a:t>
            </a:r>
            <a:r>
              <a:rPr sz="1750" spc="-50" dirty="0">
                <a:latin typeface="宋体"/>
                <a:cs typeface="宋体"/>
              </a:rPr>
              <a:t> </a:t>
            </a:r>
            <a:r>
              <a:rPr sz="1750" dirty="0">
                <a:latin typeface="宋体"/>
                <a:cs typeface="宋体"/>
              </a:rPr>
              <a:t>20ms</a:t>
            </a:r>
            <a:r>
              <a:rPr sz="1750" spc="-5" dirty="0">
                <a:latin typeface="宋体"/>
                <a:cs typeface="宋体"/>
              </a:rPr>
              <a:t>时间内的输入消除抖动，在这个过程之后系统开始检查输入信号的下降沿。根据案例中的设计步骤设计一个替代方案。</a:t>
            </a:r>
            <a:endParaRPr sz="1750">
              <a:latin typeface="宋体"/>
              <a:cs typeface="宋体"/>
            </a:endParaRPr>
          </a:p>
          <a:p>
            <a:pPr marL="346075" indent="-333375" algn="just">
              <a:lnSpc>
                <a:spcPct val="100000"/>
              </a:lnSpc>
              <a:spcBef>
                <a:spcPts val="1055"/>
              </a:spcBef>
              <a:buAutoNum type="arabicPeriod"/>
              <a:tabLst>
                <a:tab pos="346075" algn="l"/>
              </a:tabLst>
            </a:pPr>
            <a:r>
              <a:rPr sz="1750" dirty="0">
                <a:latin typeface="宋体"/>
                <a:cs typeface="宋体"/>
              </a:rPr>
              <a:t>根据电路画出状态图和ASM</a:t>
            </a:r>
            <a:r>
              <a:rPr sz="1750" spc="-25" dirty="0">
                <a:latin typeface="宋体"/>
                <a:cs typeface="宋体"/>
              </a:rPr>
              <a:t>图。</a:t>
            </a:r>
            <a:endParaRPr sz="1750">
              <a:latin typeface="宋体"/>
              <a:cs typeface="宋体"/>
            </a:endParaRPr>
          </a:p>
          <a:p>
            <a:pPr marL="346075" indent="-333375" algn="just">
              <a:lnSpc>
                <a:spcPct val="100000"/>
              </a:lnSpc>
              <a:spcBef>
                <a:spcPts val="1055"/>
              </a:spcBef>
              <a:buAutoNum type="arabicPeriod"/>
              <a:tabLst>
                <a:tab pos="346075" algn="l"/>
              </a:tabLst>
            </a:pPr>
            <a:r>
              <a:rPr sz="1750" dirty="0">
                <a:latin typeface="宋体"/>
                <a:cs typeface="宋体"/>
              </a:rPr>
              <a:t>写出HDL</a:t>
            </a:r>
            <a:r>
              <a:rPr sz="1750" spc="-20" dirty="0">
                <a:latin typeface="宋体"/>
                <a:cs typeface="宋体"/>
              </a:rPr>
              <a:t>代码。</a:t>
            </a:r>
            <a:endParaRPr sz="1750">
              <a:latin typeface="宋体"/>
              <a:cs typeface="宋体"/>
            </a:endParaRPr>
          </a:p>
          <a:p>
            <a:pPr marL="346075" indent="-333375">
              <a:lnSpc>
                <a:spcPct val="100000"/>
              </a:lnSpc>
              <a:spcBef>
                <a:spcPts val="1055"/>
              </a:spcBef>
              <a:buAutoNum type="arabicPeriod"/>
              <a:tabLst>
                <a:tab pos="346075" algn="l"/>
              </a:tabLst>
            </a:pPr>
            <a:r>
              <a:rPr sz="1750" dirty="0">
                <a:latin typeface="宋体"/>
                <a:cs typeface="宋体"/>
              </a:rPr>
              <a:t>依据状态图和ASM图写出HDL</a:t>
            </a:r>
            <a:r>
              <a:rPr sz="1750" spc="-20" dirty="0">
                <a:latin typeface="宋体"/>
                <a:cs typeface="宋体"/>
              </a:rPr>
              <a:t>代码。</a:t>
            </a:r>
            <a:endParaRPr sz="1750">
              <a:latin typeface="宋体"/>
              <a:cs typeface="宋体"/>
            </a:endParaRPr>
          </a:p>
          <a:p>
            <a:pPr marL="346075" indent="-333375">
              <a:lnSpc>
                <a:spcPct val="100000"/>
              </a:lnSpc>
              <a:spcBef>
                <a:spcPts val="1055"/>
              </a:spcBef>
              <a:buAutoNum type="arabicPeriod"/>
              <a:tabLst>
                <a:tab pos="346075" algn="l"/>
              </a:tabLst>
            </a:pPr>
            <a:r>
              <a:rPr sz="1750" dirty="0">
                <a:latin typeface="宋体"/>
                <a:cs typeface="宋体"/>
              </a:rPr>
              <a:t>写出testbench</a:t>
            </a:r>
            <a:r>
              <a:rPr sz="1750" spc="-10" dirty="0">
                <a:latin typeface="宋体"/>
                <a:cs typeface="宋体"/>
              </a:rPr>
              <a:t>并对代码仿真验证。</a:t>
            </a:r>
            <a:endParaRPr sz="1750">
              <a:latin typeface="宋体"/>
              <a:cs typeface="宋体"/>
            </a:endParaRPr>
          </a:p>
          <a:p>
            <a:pPr marL="346075" indent="-333375">
              <a:lnSpc>
                <a:spcPct val="100000"/>
              </a:lnSpc>
              <a:spcBef>
                <a:spcPts val="1060"/>
              </a:spcBef>
              <a:buAutoNum type="arabicPeriod"/>
              <a:tabLst>
                <a:tab pos="346075" algn="l"/>
              </a:tabLst>
            </a:pPr>
            <a:r>
              <a:rPr sz="1750" spc="-5" dirty="0">
                <a:latin typeface="宋体"/>
                <a:cs typeface="宋体"/>
              </a:rPr>
              <a:t>将代替方案替换原来的消抖电路并验证。</a:t>
            </a:r>
            <a:endParaRPr sz="1750">
              <a:latin typeface="宋体"/>
              <a:cs typeface="宋体"/>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51623" y="1968188"/>
            <a:ext cx="9373235" cy="3777615"/>
          </a:xfrm>
          <a:prstGeom prst="rect">
            <a:avLst/>
          </a:prstGeom>
        </p:spPr>
        <p:txBody>
          <a:bodyPr vert="horz" wrap="square" lIns="0" tIns="12065" rIns="0" bIns="0" rtlCol="0">
            <a:spAutoFit/>
          </a:bodyPr>
          <a:lstStyle/>
          <a:p>
            <a:pPr marL="12700" marR="5080" algn="just">
              <a:lnSpc>
                <a:spcPct val="122100"/>
              </a:lnSpc>
              <a:spcBef>
                <a:spcPts val="95"/>
              </a:spcBef>
            </a:pPr>
            <a:r>
              <a:rPr sz="1550" spc="45" dirty="0">
                <a:latin typeface="宋体"/>
                <a:cs typeface="宋体"/>
              </a:rPr>
              <a:t>假设停车场只有一个入口和一个出口，利用两对光电传感器检测车辆的进出情况，如图</a:t>
            </a:r>
            <a:r>
              <a:rPr sz="1550" spc="10" dirty="0">
                <a:latin typeface="Calibri"/>
                <a:cs typeface="Calibri"/>
              </a:rPr>
              <a:t>5.11</a:t>
            </a:r>
            <a:r>
              <a:rPr sz="1550" spc="45" dirty="0">
                <a:latin typeface="宋体"/>
                <a:cs typeface="宋体"/>
              </a:rPr>
              <a:t>所示。当有车</a:t>
            </a:r>
            <a:r>
              <a:rPr sz="1550" spc="10" dirty="0">
                <a:latin typeface="宋体"/>
                <a:cs typeface="宋体"/>
              </a:rPr>
              <a:t>辆处在接收器与发射器中间时，红外光线被遮挡，相应的输出置为有效即置</a:t>
            </a:r>
            <a:r>
              <a:rPr sz="1550" dirty="0">
                <a:latin typeface="Calibri"/>
                <a:cs typeface="Calibri"/>
              </a:rPr>
              <a:t>1</a:t>
            </a:r>
            <a:r>
              <a:rPr sz="1550" spc="15" dirty="0">
                <a:latin typeface="宋体"/>
                <a:cs typeface="宋体"/>
              </a:rPr>
              <a:t>。通过检查光电传感器可以确定是否有车辆进出活动或者只是行人穿过。例如，车辆进入会发生如下事件：</a:t>
            </a:r>
            <a:endParaRPr sz="1550">
              <a:latin typeface="宋体"/>
              <a:cs typeface="宋体"/>
            </a:endParaRPr>
          </a:p>
          <a:p>
            <a:pPr marL="255270" indent="-152400">
              <a:lnSpc>
                <a:spcPct val="100000"/>
              </a:lnSpc>
              <a:spcBef>
                <a:spcPts val="415"/>
              </a:spcBef>
              <a:buSzPct val="93548"/>
              <a:buFont typeface="Calibri"/>
              <a:buAutoNum type="arabicPeriod"/>
              <a:tabLst>
                <a:tab pos="255270" algn="l"/>
              </a:tabLst>
            </a:pPr>
            <a:r>
              <a:rPr sz="1550" dirty="0">
                <a:latin typeface="宋体"/>
                <a:cs typeface="宋体"/>
              </a:rPr>
              <a:t>最开始两个传感器都未被遮挡（</a:t>
            </a:r>
            <a:r>
              <a:rPr sz="1550" dirty="0">
                <a:latin typeface="Calibri"/>
                <a:cs typeface="Calibri"/>
              </a:rPr>
              <a:t>ab</a:t>
            </a:r>
            <a:r>
              <a:rPr sz="1550" dirty="0">
                <a:latin typeface="宋体"/>
                <a:cs typeface="宋体"/>
              </a:rPr>
              <a:t>值为</a:t>
            </a:r>
            <a:r>
              <a:rPr sz="1550" spc="-10" dirty="0">
                <a:latin typeface="Calibri"/>
                <a:cs typeface="Calibri"/>
              </a:rPr>
              <a:t>”00”</a:t>
            </a:r>
            <a:r>
              <a:rPr sz="1550" spc="-10" dirty="0">
                <a:latin typeface="宋体"/>
                <a:cs typeface="宋体"/>
              </a:rPr>
              <a:t>）</a:t>
            </a:r>
            <a:endParaRPr sz="1550">
              <a:latin typeface="宋体"/>
              <a:cs typeface="宋体"/>
            </a:endParaRPr>
          </a:p>
          <a:p>
            <a:pPr marL="255270" indent="-152400">
              <a:lnSpc>
                <a:spcPct val="100000"/>
              </a:lnSpc>
              <a:spcBef>
                <a:spcPts val="415"/>
              </a:spcBef>
              <a:buSzPct val="93548"/>
              <a:buFont typeface="Calibri"/>
              <a:buAutoNum type="arabicPeriod"/>
              <a:tabLst>
                <a:tab pos="255270" algn="l"/>
              </a:tabLst>
            </a:pPr>
            <a:r>
              <a:rPr sz="1550" dirty="0">
                <a:latin typeface="宋体"/>
                <a:cs typeface="宋体"/>
              </a:rPr>
              <a:t>传感器</a:t>
            </a:r>
            <a:r>
              <a:rPr sz="1550" dirty="0">
                <a:latin typeface="Calibri"/>
                <a:cs typeface="Calibri"/>
              </a:rPr>
              <a:t>a</a:t>
            </a:r>
            <a:r>
              <a:rPr sz="1550" dirty="0">
                <a:latin typeface="宋体"/>
                <a:cs typeface="宋体"/>
              </a:rPr>
              <a:t>被遮挡（</a:t>
            </a:r>
            <a:r>
              <a:rPr sz="1550" dirty="0">
                <a:latin typeface="Calibri"/>
                <a:cs typeface="Calibri"/>
              </a:rPr>
              <a:t>ab</a:t>
            </a:r>
            <a:r>
              <a:rPr sz="1550" dirty="0">
                <a:latin typeface="宋体"/>
                <a:cs typeface="宋体"/>
              </a:rPr>
              <a:t>值为</a:t>
            </a:r>
            <a:r>
              <a:rPr sz="1550" spc="-10" dirty="0">
                <a:latin typeface="Calibri"/>
                <a:cs typeface="Calibri"/>
              </a:rPr>
              <a:t>”10”</a:t>
            </a:r>
            <a:r>
              <a:rPr sz="1550" spc="-10" dirty="0">
                <a:latin typeface="宋体"/>
                <a:cs typeface="宋体"/>
              </a:rPr>
              <a:t>）</a:t>
            </a:r>
            <a:endParaRPr sz="1550">
              <a:latin typeface="宋体"/>
              <a:cs typeface="宋体"/>
            </a:endParaRPr>
          </a:p>
          <a:p>
            <a:pPr marL="255270" indent="-152400">
              <a:lnSpc>
                <a:spcPct val="100000"/>
              </a:lnSpc>
              <a:spcBef>
                <a:spcPts val="414"/>
              </a:spcBef>
              <a:buSzPct val="93548"/>
              <a:buFont typeface="Calibri"/>
              <a:buAutoNum type="arabicPeriod"/>
              <a:tabLst>
                <a:tab pos="255270" algn="l"/>
              </a:tabLst>
            </a:pPr>
            <a:r>
              <a:rPr sz="1550" dirty="0">
                <a:latin typeface="宋体"/>
                <a:cs typeface="宋体"/>
              </a:rPr>
              <a:t>两个传感器都被遮挡（</a:t>
            </a:r>
            <a:r>
              <a:rPr sz="1550" dirty="0">
                <a:latin typeface="Calibri"/>
                <a:cs typeface="Calibri"/>
              </a:rPr>
              <a:t>ab</a:t>
            </a:r>
            <a:r>
              <a:rPr sz="1550" dirty="0">
                <a:latin typeface="宋体"/>
                <a:cs typeface="宋体"/>
              </a:rPr>
              <a:t>值为</a:t>
            </a:r>
            <a:r>
              <a:rPr sz="1550" spc="-10" dirty="0">
                <a:latin typeface="Calibri"/>
                <a:cs typeface="Calibri"/>
              </a:rPr>
              <a:t>”11”</a:t>
            </a:r>
            <a:r>
              <a:rPr sz="1550" spc="-10" dirty="0">
                <a:latin typeface="宋体"/>
                <a:cs typeface="宋体"/>
              </a:rPr>
              <a:t>）</a:t>
            </a:r>
            <a:endParaRPr sz="1550">
              <a:latin typeface="宋体"/>
              <a:cs typeface="宋体"/>
            </a:endParaRPr>
          </a:p>
          <a:p>
            <a:pPr marL="255270" indent="-152400">
              <a:lnSpc>
                <a:spcPct val="100000"/>
              </a:lnSpc>
              <a:spcBef>
                <a:spcPts val="405"/>
              </a:spcBef>
              <a:buSzPct val="93548"/>
              <a:buFont typeface="Calibri"/>
              <a:buAutoNum type="arabicPeriod"/>
              <a:tabLst>
                <a:tab pos="255270" algn="l"/>
              </a:tabLst>
            </a:pPr>
            <a:r>
              <a:rPr sz="1550" dirty="0">
                <a:latin typeface="宋体"/>
                <a:cs typeface="宋体"/>
              </a:rPr>
              <a:t>传感器</a:t>
            </a:r>
            <a:r>
              <a:rPr sz="1550" dirty="0">
                <a:latin typeface="Calibri"/>
                <a:cs typeface="Calibri"/>
              </a:rPr>
              <a:t>a</a:t>
            </a:r>
            <a:r>
              <a:rPr sz="1550" dirty="0">
                <a:latin typeface="宋体"/>
                <a:cs typeface="宋体"/>
              </a:rPr>
              <a:t>未被遮挡（</a:t>
            </a:r>
            <a:r>
              <a:rPr sz="1550" dirty="0">
                <a:latin typeface="Calibri"/>
                <a:cs typeface="Calibri"/>
              </a:rPr>
              <a:t>ab</a:t>
            </a:r>
            <a:r>
              <a:rPr sz="1550" dirty="0">
                <a:latin typeface="宋体"/>
                <a:cs typeface="宋体"/>
              </a:rPr>
              <a:t>值为</a:t>
            </a:r>
            <a:r>
              <a:rPr sz="1550" spc="-20" dirty="0">
                <a:latin typeface="Calibri"/>
                <a:cs typeface="Calibri"/>
              </a:rPr>
              <a:t>”01”</a:t>
            </a:r>
            <a:r>
              <a:rPr sz="1550" spc="-20" dirty="0">
                <a:latin typeface="宋体"/>
                <a:cs typeface="宋体"/>
              </a:rPr>
              <a:t>）</a:t>
            </a:r>
            <a:endParaRPr sz="1550">
              <a:latin typeface="宋体"/>
              <a:cs typeface="宋体"/>
            </a:endParaRPr>
          </a:p>
          <a:p>
            <a:pPr marL="255270" indent="-152400">
              <a:lnSpc>
                <a:spcPct val="100000"/>
              </a:lnSpc>
              <a:spcBef>
                <a:spcPts val="415"/>
              </a:spcBef>
              <a:buSzPct val="93548"/>
              <a:buFont typeface="Calibri"/>
              <a:buAutoNum type="arabicPeriod"/>
              <a:tabLst>
                <a:tab pos="255270" algn="l"/>
              </a:tabLst>
            </a:pPr>
            <a:r>
              <a:rPr sz="1550" dirty="0">
                <a:latin typeface="宋体"/>
                <a:cs typeface="宋体"/>
              </a:rPr>
              <a:t>两个传感器都未被遮挡（</a:t>
            </a:r>
            <a:r>
              <a:rPr sz="1550" dirty="0">
                <a:latin typeface="Calibri"/>
                <a:cs typeface="Calibri"/>
              </a:rPr>
              <a:t>ab</a:t>
            </a:r>
            <a:r>
              <a:rPr sz="1550" dirty="0">
                <a:latin typeface="宋体"/>
                <a:cs typeface="宋体"/>
              </a:rPr>
              <a:t>值为</a:t>
            </a:r>
            <a:r>
              <a:rPr sz="1550" spc="-10" dirty="0">
                <a:latin typeface="Calibri"/>
                <a:cs typeface="Calibri"/>
              </a:rPr>
              <a:t>”00”</a:t>
            </a:r>
            <a:r>
              <a:rPr sz="1550" spc="-10" dirty="0">
                <a:latin typeface="宋体"/>
                <a:cs typeface="宋体"/>
              </a:rPr>
              <a:t>）</a:t>
            </a:r>
            <a:endParaRPr sz="1550">
              <a:latin typeface="宋体"/>
              <a:cs typeface="宋体"/>
            </a:endParaRPr>
          </a:p>
          <a:p>
            <a:pPr marL="12700">
              <a:lnSpc>
                <a:spcPct val="100000"/>
              </a:lnSpc>
              <a:spcBef>
                <a:spcPts val="415"/>
              </a:spcBef>
            </a:pPr>
            <a:r>
              <a:rPr sz="1550" spc="-5" dirty="0">
                <a:latin typeface="宋体"/>
                <a:cs typeface="宋体"/>
              </a:rPr>
              <a:t>因此，可以按一下步骤设计一个停车场计时器：</a:t>
            </a:r>
            <a:endParaRPr sz="1550">
              <a:latin typeface="宋体"/>
              <a:cs typeface="宋体"/>
            </a:endParaRPr>
          </a:p>
          <a:p>
            <a:pPr marL="246379" marR="6350" lvl="1" indent="243840">
              <a:lnSpc>
                <a:spcPct val="121900"/>
              </a:lnSpc>
              <a:spcBef>
                <a:spcPts val="5"/>
              </a:spcBef>
              <a:buSzPct val="93548"/>
              <a:buFont typeface="Calibri"/>
              <a:buAutoNum type="arabicPeriod"/>
              <a:tabLst>
                <a:tab pos="490220" algn="l"/>
              </a:tabLst>
            </a:pPr>
            <a:r>
              <a:rPr sz="1550" dirty="0">
                <a:latin typeface="宋体"/>
                <a:cs typeface="宋体"/>
              </a:rPr>
              <a:t>设计一个带有输</a:t>
            </a:r>
            <a:r>
              <a:rPr sz="1550" dirty="0">
                <a:latin typeface="Calibri"/>
                <a:cs typeface="Calibri"/>
              </a:rPr>
              <a:t>2</a:t>
            </a:r>
            <a:r>
              <a:rPr sz="1550" dirty="0">
                <a:latin typeface="宋体"/>
                <a:cs typeface="宋体"/>
              </a:rPr>
              <a:t>输入</a:t>
            </a:r>
            <a:r>
              <a:rPr sz="1550" dirty="0">
                <a:latin typeface="Calibri"/>
                <a:cs typeface="Calibri"/>
              </a:rPr>
              <a:t>(a</a:t>
            </a:r>
            <a:r>
              <a:rPr sz="1550" dirty="0">
                <a:latin typeface="宋体"/>
                <a:cs typeface="宋体"/>
              </a:rPr>
              <a:t>、</a:t>
            </a:r>
            <a:r>
              <a:rPr sz="1550" dirty="0">
                <a:latin typeface="Calibri"/>
                <a:cs typeface="Calibri"/>
              </a:rPr>
              <a:t>b)</a:t>
            </a:r>
            <a:r>
              <a:rPr sz="1550" dirty="0">
                <a:latin typeface="宋体"/>
                <a:cs typeface="宋体"/>
              </a:rPr>
              <a:t>、</a:t>
            </a:r>
            <a:r>
              <a:rPr sz="1550" dirty="0">
                <a:latin typeface="Calibri"/>
                <a:cs typeface="Calibri"/>
              </a:rPr>
              <a:t>2</a:t>
            </a:r>
            <a:r>
              <a:rPr sz="1550" dirty="0">
                <a:latin typeface="宋体"/>
                <a:cs typeface="宋体"/>
              </a:rPr>
              <a:t>输出</a:t>
            </a:r>
            <a:r>
              <a:rPr sz="1550" dirty="0">
                <a:latin typeface="Calibri"/>
                <a:cs typeface="Calibri"/>
              </a:rPr>
              <a:t>(enter</a:t>
            </a:r>
            <a:r>
              <a:rPr sz="1550" dirty="0">
                <a:latin typeface="宋体"/>
                <a:cs typeface="宋体"/>
              </a:rPr>
              <a:t>、</a:t>
            </a:r>
            <a:r>
              <a:rPr sz="1550" dirty="0">
                <a:latin typeface="Calibri"/>
                <a:cs typeface="Calibri"/>
              </a:rPr>
              <a:t>exit)</a:t>
            </a:r>
            <a:r>
              <a:rPr sz="1550" spc="-5" dirty="0">
                <a:latin typeface="宋体"/>
                <a:cs typeface="宋体"/>
              </a:rPr>
              <a:t>的有限状态机。当车辆进入、开出停车场时，分别将</a:t>
            </a:r>
            <a:r>
              <a:rPr sz="1550" spc="-50" dirty="0">
                <a:latin typeface="宋体"/>
                <a:cs typeface="宋体"/>
              </a:rPr>
              <a:t> </a:t>
            </a:r>
            <a:r>
              <a:rPr sz="1550" spc="-10" dirty="0">
                <a:latin typeface="Calibri"/>
                <a:cs typeface="Calibri"/>
              </a:rPr>
              <a:t>enter</a:t>
            </a:r>
            <a:r>
              <a:rPr sz="1550" dirty="0">
                <a:latin typeface="宋体"/>
                <a:cs typeface="宋体"/>
              </a:rPr>
              <a:t>、</a:t>
            </a:r>
            <a:r>
              <a:rPr sz="1550" spc="-10" dirty="0">
                <a:latin typeface="Calibri"/>
                <a:cs typeface="Calibri"/>
              </a:rPr>
              <a:t>exit</a:t>
            </a:r>
            <a:r>
              <a:rPr sz="1550" spc="-5" dirty="0">
                <a:latin typeface="宋体"/>
                <a:cs typeface="宋体"/>
              </a:rPr>
              <a:t>置一个周期的有效电平。</a:t>
            </a:r>
            <a:endParaRPr sz="1550">
              <a:latin typeface="宋体"/>
              <a:cs typeface="宋体"/>
            </a:endParaRPr>
          </a:p>
          <a:p>
            <a:pPr marL="488950" lvl="1" indent="-152400">
              <a:lnSpc>
                <a:spcPct val="100000"/>
              </a:lnSpc>
              <a:spcBef>
                <a:spcPts val="415"/>
              </a:spcBef>
              <a:buSzPct val="93548"/>
              <a:buFont typeface="Calibri"/>
              <a:buAutoNum type="arabicPeriod"/>
              <a:tabLst>
                <a:tab pos="488950" algn="l"/>
              </a:tabLst>
            </a:pPr>
            <a:r>
              <a:rPr sz="1550" dirty="0">
                <a:latin typeface="宋体"/>
                <a:cs typeface="宋体"/>
              </a:rPr>
              <a:t>根据有限状态机写出</a:t>
            </a:r>
            <a:r>
              <a:rPr sz="1550" dirty="0">
                <a:latin typeface="Calibri"/>
                <a:cs typeface="Calibri"/>
              </a:rPr>
              <a:t>HDL</a:t>
            </a:r>
            <a:r>
              <a:rPr sz="1550" spc="-20" dirty="0">
                <a:latin typeface="宋体"/>
                <a:cs typeface="宋体"/>
              </a:rPr>
              <a:t>代码。</a:t>
            </a:r>
            <a:endParaRPr sz="1550">
              <a:latin typeface="宋体"/>
              <a:cs typeface="宋体"/>
            </a:endParaRPr>
          </a:p>
          <a:p>
            <a:pPr marL="488950" lvl="1" indent="-152400">
              <a:lnSpc>
                <a:spcPct val="100000"/>
              </a:lnSpc>
              <a:spcBef>
                <a:spcPts val="415"/>
              </a:spcBef>
              <a:buSzPct val="93548"/>
              <a:buFont typeface="Calibri"/>
              <a:buAutoNum type="arabicPeriod"/>
              <a:tabLst>
                <a:tab pos="488950" algn="l"/>
              </a:tabLst>
            </a:pPr>
            <a:r>
              <a:rPr sz="1550" dirty="0">
                <a:latin typeface="宋体"/>
                <a:cs typeface="宋体"/>
              </a:rPr>
              <a:t>设计一个带有两个控制信号</a:t>
            </a:r>
            <a:r>
              <a:rPr sz="1550" dirty="0">
                <a:latin typeface="Calibri"/>
                <a:cs typeface="Calibri"/>
              </a:rPr>
              <a:t>(inc</a:t>
            </a:r>
            <a:r>
              <a:rPr sz="1550" dirty="0">
                <a:latin typeface="宋体"/>
                <a:cs typeface="宋体"/>
              </a:rPr>
              <a:t>、</a:t>
            </a:r>
            <a:r>
              <a:rPr sz="1550" dirty="0">
                <a:latin typeface="Calibri"/>
                <a:cs typeface="Calibri"/>
              </a:rPr>
              <a:t>dec)</a:t>
            </a:r>
            <a:r>
              <a:rPr sz="1550" dirty="0">
                <a:latin typeface="宋体"/>
                <a:cs typeface="宋体"/>
              </a:rPr>
              <a:t>的计数器，当信号有效时加</a:t>
            </a:r>
            <a:r>
              <a:rPr sz="1550" dirty="0">
                <a:latin typeface="Calibri"/>
                <a:cs typeface="Calibri"/>
              </a:rPr>
              <a:t>1</a:t>
            </a:r>
            <a:r>
              <a:rPr sz="1550" dirty="0">
                <a:latin typeface="宋体"/>
                <a:cs typeface="宋体"/>
              </a:rPr>
              <a:t>或减</a:t>
            </a:r>
            <a:r>
              <a:rPr sz="1550" dirty="0">
                <a:latin typeface="Calibri"/>
                <a:cs typeface="Calibri"/>
              </a:rPr>
              <a:t>1</a:t>
            </a:r>
            <a:r>
              <a:rPr sz="1550" dirty="0">
                <a:latin typeface="宋体"/>
                <a:cs typeface="宋体"/>
              </a:rPr>
              <a:t>。写出</a:t>
            </a:r>
            <a:r>
              <a:rPr sz="1550" dirty="0">
                <a:latin typeface="Calibri"/>
                <a:cs typeface="Calibri"/>
              </a:rPr>
              <a:t>HDL</a:t>
            </a:r>
            <a:r>
              <a:rPr sz="1550" spc="-25" dirty="0">
                <a:latin typeface="宋体"/>
                <a:cs typeface="宋体"/>
              </a:rPr>
              <a:t>代码</a:t>
            </a:r>
            <a:endParaRPr sz="1550">
              <a:latin typeface="宋体"/>
              <a:cs typeface="宋体"/>
            </a:endParaRPr>
          </a:p>
        </p:txBody>
      </p:sp>
      <p:sp>
        <p:nvSpPr>
          <p:cNvPr id="4" name="object 4"/>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38735">
              <a:lnSpc>
                <a:spcPct val="100000"/>
              </a:lnSpc>
              <a:spcBef>
                <a:spcPts val="40"/>
              </a:spcBef>
            </a:pPr>
            <a:fld id="{81D60167-4931-47E6-BA6A-407CBD079E47}" type="slidenum">
              <a:rPr spc="-25" dirty="0"/>
              <a:t>48</a:t>
            </a:fld>
            <a:endParaRPr spc="-25" dirty="0"/>
          </a:p>
        </p:txBody>
      </p:sp>
      <p:sp>
        <p:nvSpPr>
          <p:cNvPr id="3" name="object 3"/>
          <p:cNvSpPr txBox="1">
            <a:spLocks noGrp="1"/>
          </p:cNvSpPr>
          <p:nvPr>
            <p:ph type="title"/>
          </p:nvPr>
        </p:nvSpPr>
        <p:spPr>
          <a:xfrm>
            <a:off x="758323" y="1229360"/>
            <a:ext cx="2165350" cy="453390"/>
          </a:xfrm>
          <a:prstGeom prst="rect">
            <a:avLst/>
          </a:prstGeom>
        </p:spPr>
        <p:txBody>
          <a:bodyPr vert="horz" wrap="square" lIns="0" tIns="13335" rIns="0" bIns="0" rtlCol="0">
            <a:spAutoFit/>
          </a:bodyPr>
          <a:lstStyle/>
          <a:p>
            <a:pPr marL="12700">
              <a:lnSpc>
                <a:spcPct val="100000"/>
              </a:lnSpc>
              <a:spcBef>
                <a:spcPts val="105"/>
              </a:spcBef>
            </a:pPr>
            <a:r>
              <a:rPr spc="-10" dirty="0"/>
              <a:t>停车场计数器</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pc="-10" dirty="0"/>
              <a:t>停车场计数器</a:t>
            </a:r>
          </a:p>
        </p:txBody>
      </p:sp>
      <p:sp>
        <p:nvSpPr>
          <p:cNvPr id="3" name="object 3"/>
          <p:cNvSpPr txBox="1"/>
          <p:nvPr/>
        </p:nvSpPr>
        <p:spPr>
          <a:xfrm>
            <a:off x="1116464" y="2044844"/>
            <a:ext cx="7486015" cy="988694"/>
          </a:xfrm>
          <a:prstGeom prst="rect">
            <a:avLst/>
          </a:prstGeom>
        </p:spPr>
        <p:txBody>
          <a:bodyPr vert="horz" wrap="square" lIns="0" tIns="12065" rIns="0" bIns="0" rtlCol="0">
            <a:spAutoFit/>
          </a:bodyPr>
          <a:lstStyle/>
          <a:p>
            <a:pPr marL="12700" marR="5080">
              <a:lnSpc>
                <a:spcPct val="150500"/>
              </a:lnSpc>
              <a:spcBef>
                <a:spcPts val="95"/>
              </a:spcBef>
            </a:pPr>
            <a:r>
              <a:rPr sz="2100" dirty="0">
                <a:latin typeface="宋体"/>
                <a:cs typeface="宋体"/>
              </a:rPr>
              <a:t>结合计数器、有限状态机和LED</a:t>
            </a:r>
            <a:r>
              <a:rPr sz="2100" spc="-5" dirty="0">
                <a:latin typeface="宋体"/>
                <a:cs typeface="宋体"/>
              </a:rPr>
              <a:t>复用显示电路，用两个带去抖电</a:t>
            </a:r>
            <a:r>
              <a:rPr sz="2100" spc="-15" dirty="0">
                <a:latin typeface="宋体"/>
                <a:cs typeface="宋体"/>
              </a:rPr>
              <a:t>路的按键代替光电传感器的输入，验证停车场计数器的功能</a:t>
            </a:r>
            <a:endParaRPr sz="2100">
              <a:latin typeface="宋体"/>
              <a:cs typeface="宋体"/>
            </a:endParaRPr>
          </a:p>
        </p:txBody>
      </p:sp>
      <p:sp>
        <p:nvSpPr>
          <p:cNvPr id="4" name="object 4"/>
          <p:cNvSpPr txBox="1"/>
          <p:nvPr/>
        </p:nvSpPr>
        <p:spPr>
          <a:xfrm>
            <a:off x="6177667" y="5402834"/>
            <a:ext cx="86995" cy="165735"/>
          </a:xfrm>
          <a:prstGeom prst="rect">
            <a:avLst/>
          </a:prstGeom>
        </p:spPr>
        <p:txBody>
          <a:bodyPr vert="horz" wrap="square" lIns="0" tIns="14604" rIns="0" bIns="0" rtlCol="0">
            <a:spAutoFit/>
          </a:bodyPr>
          <a:lstStyle/>
          <a:p>
            <a:pPr marL="12700">
              <a:lnSpc>
                <a:spcPct val="100000"/>
              </a:lnSpc>
              <a:spcBef>
                <a:spcPts val="114"/>
              </a:spcBef>
            </a:pPr>
            <a:r>
              <a:rPr sz="900" spc="-50" dirty="0">
                <a:latin typeface="Calibri"/>
                <a:cs typeface="Calibri"/>
              </a:rPr>
              <a:t>b</a:t>
            </a:r>
            <a:endParaRPr sz="900">
              <a:latin typeface="Calibri"/>
              <a:cs typeface="Calibri"/>
            </a:endParaRPr>
          </a:p>
        </p:txBody>
      </p:sp>
      <p:sp>
        <p:nvSpPr>
          <p:cNvPr id="5" name="object 5"/>
          <p:cNvSpPr txBox="1"/>
          <p:nvPr/>
        </p:nvSpPr>
        <p:spPr>
          <a:xfrm>
            <a:off x="6132709" y="4712461"/>
            <a:ext cx="81280" cy="165735"/>
          </a:xfrm>
          <a:prstGeom prst="rect">
            <a:avLst/>
          </a:prstGeom>
        </p:spPr>
        <p:txBody>
          <a:bodyPr vert="horz" wrap="square" lIns="0" tIns="14604" rIns="0" bIns="0" rtlCol="0">
            <a:spAutoFit/>
          </a:bodyPr>
          <a:lstStyle/>
          <a:p>
            <a:pPr marL="12700">
              <a:lnSpc>
                <a:spcPct val="100000"/>
              </a:lnSpc>
              <a:spcBef>
                <a:spcPts val="114"/>
              </a:spcBef>
            </a:pPr>
            <a:r>
              <a:rPr sz="900" spc="-50" dirty="0">
                <a:latin typeface="Calibri"/>
                <a:cs typeface="Calibri"/>
              </a:rPr>
              <a:t>a</a:t>
            </a:r>
            <a:endParaRPr sz="900">
              <a:latin typeface="Calibri"/>
              <a:cs typeface="Calibri"/>
            </a:endParaRPr>
          </a:p>
        </p:txBody>
      </p:sp>
      <p:grpSp>
        <p:nvGrpSpPr>
          <p:cNvPr id="6" name="object 6"/>
          <p:cNvGrpSpPr/>
          <p:nvPr/>
        </p:nvGrpSpPr>
        <p:grpSpPr>
          <a:xfrm>
            <a:off x="5013083" y="3683508"/>
            <a:ext cx="448309" cy="1005840"/>
            <a:chOff x="5013083" y="3683508"/>
            <a:chExt cx="448309" cy="1005840"/>
          </a:xfrm>
        </p:grpSpPr>
        <p:sp>
          <p:nvSpPr>
            <p:cNvPr id="7" name="object 7"/>
            <p:cNvSpPr/>
            <p:nvPr/>
          </p:nvSpPr>
          <p:spPr>
            <a:xfrm>
              <a:off x="5013083" y="3683508"/>
              <a:ext cx="448309" cy="1003300"/>
            </a:xfrm>
            <a:custGeom>
              <a:avLst/>
              <a:gdLst/>
              <a:ahLst/>
              <a:cxnLst/>
              <a:rect l="l" t="t" r="r" b="b"/>
              <a:pathLst>
                <a:path w="448310" h="1003300">
                  <a:moveTo>
                    <a:pt x="448056" y="925068"/>
                  </a:moveTo>
                  <a:lnTo>
                    <a:pt x="448056" y="76962"/>
                  </a:lnTo>
                  <a:lnTo>
                    <a:pt x="437309" y="38306"/>
                  </a:lnTo>
                  <a:lnTo>
                    <a:pt x="402162" y="6763"/>
                  </a:lnTo>
                  <a:lnTo>
                    <a:pt x="377952" y="0"/>
                  </a:lnTo>
                  <a:lnTo>
                    <a:pt x="76962" y="0"/>
                  </a:lnTo>
                  <a:lnTo>
                    <a:pt x="53015" y="3640"/>
                  </a:lnTo>
                  <a:lnTo>
                    <a:pt x="52302" y="3749"/>
                  </a:lnTo>
                  <a:lnTo>
                    <a:pt x="31227" y="14792"/>
                  </a:lnTo>
                  <a:lnTo>
                    <a:pt x="14541" y="31964"/>
                  </a:lnTo>
                  <a:lnTo>
                    <a:pt x="3047" y="54102"/>
                  </a:lnTo>
                  <a:lnTo>
                    <a:pt x="0" y="69342"/>
                  </a:lnTo>
                  <a:lnTo>
                    <a:pt x="0" y="933450"/>
                  </a:lnTo>
                  <a:lnTo>
                    <a:pt x="3048" y="948690"/>
                  </a:lnTo>
                  <a:lnTo>
                    <a:pt x="6096" y="955548"/>
                  </a:lnTo>
                  <a:lnTo>
                    <a:pt x="8382" y="960403"/>
                  </a:lnTo>
                  <a:lnTo>
                    <a:pt x="8382" y="70104"/>
                  </a:lnTo>
                  <a:lnTo>
                    <a:pt x="9143" y="63246"/>
                  </a:lnTo>
                  <a:lnTo>
                    <a:pt x="33527" y="23622"/>
                  </a:lnTo>
                  <a:lnTo>
                    <a:pt x="377952" y="8382"/>
                  </a:lnTo>
                  <a:lnTo>
                    <a:pt x="384810" y="9906"/>
                  </a:lnTo>
                  <a:lnTo>
                    <a:pt x="421786" y="31151"/>
                  </a:lnTo>
                  <a:lnTo>
                    <a:pt x="438912" y="70104"/>
                  </a:lnTo>
                  <a:lnTo>
                    <a:pt x="439674" y="958821"/>
                  </a:lnTo>
                  <a:lnTo>
                    <a:pt x="441037" y="956714"/>
                  </a:lnTo>
                  <a:lnTo>
                    <a:pt x="447294" y="932688"/>
                  </a:lnTo>
                  <a:lnTo>
                    <a:pt x="448056" y="925068"/>
                  </a:lnTo>
                  <a:close/>
                </a:path>
                <a:path w="448310" h="1003300">
                  <a:moveTo>
                    <a:pt x="439674" y="958821"/>
                  </a:moveTo>
                  <a:lnTo>
                    <a:pt x="439674" y="925068"/>
                  </a:lnTo>
                  <a:lnTo>
                    <a:pt x="438912" y="932688"/>
                  </a:lnTo>
                  <a:lnTo>
                    <a:pt x="438150" y="939546"/>
                  </a:lnTo>
                  <a:lnTo>
                    <a:pt x="416375" y="976493"/>
                  </a:lnTo>
                  <a:lnTo>
                    <a:pt x="377190" y="993648"/>
                  </a:lnTo>
                  <a:lnTo>
                    <a:pt x="370332" y="994410"/>
                  </a:lnTo>
                  <a:lnTo>
                    <a:pt x="76962" y="994410"/>
                  </a:lnTo>
                  <a:lnTo>
                    <a:pt x="35961" y="980841"/>
                  </a:lnTo>
                  <a:lnTo>
                    <a:pt x="11430" y="945642"/>
                  </a:lnTo>
                  <a:lnTo>
                    <a:pt x="8382" y="931926"/>
                  </a:lnTo>
                  <a:lnTo>
                    <a:pt x="8382" y="960403"/>
                  </a:lnTo>
                  <a:lnTo>
                    <a:pt x="34290" y="989076"/>
                  </a:lnTo>
                  <a:lnTo>
                    <a:pt x="40386" y="993648"/>
                  </a:lnTo>
                  <a:lnTo>
                    <a:pt x="49812" y="997650"/>
                  </a:lnTo>
                  <a:lnTo>
                    <a:pt x="58188" y="1000282"/>
                  </a:lnTo>
                  <a:lnTo>
                    <a:pt x="66807" y="1001882"/>
                  </a:lnTo>
                  <a:lnTo>
                    <a:pt x="76962" y="1002792"/>
                  </a:lnTo>
                  <a:lnTo>
                    <a:pt x="370332" y="1002792"/>
                  </a:lnTo>
                  <a:lnTo>
                    <a:pt x="377190" y="1002168"/>
                  </a:lnTo>
                  <a:lnTo>
                    <a:pt x="386334" y="1001268"/>
                  </a:lnTo>
                  <a:lnTo>
                    <a:pt x="409449" y="991950"/>
                  </a:lnTo>
                  <a:lnTo>
                    <a:pt x="428053" y="976783"/>
                  </a:lnTo>
                  <a:lnTo>
                    <a:pt x="439674" y="958821"/>
                  </a:lnTo>
                  <a:close/>
                </a:path>
              </a:pathLst>
            </a:custGeom>
            <a:solidFill>
              <a:srgbClr val="000000"/>
            </a:solidFill>
          </p:spPr>
          <p:txBody>
            <a:bodyPr wrap="square" lIns="0" tIns="0" rIns="0" bIns="0" rtlCol="0"/>
            <a:lstStyle/>
            <a:p>
              <a:endParaRPr/>
            </a:p>
          </p:txBody>
        </p:sp>
        <p:sp>
          <p:nvSpPr>
            <p:cNvPr id="8" name="object 8"/>
            <p:cNvSpPr/>
            <p:nvPr/>
          </p:nvSpPr>
          <p:spPr>
            <a:xfrm>
              <a:off x="5081663" y="3912108"/>
              <a:ext cx="298450" cy="462280"/>
            </a:xfrm>
            <a:custGeom>
              <a:avLst/>
              <a:gdLst/>
              <a:ahLst/>
              <a:cxnLst/>
              <a:rect l="l" t="t" r="r" b="b"/>
              <a:pathLst>
                <a:path w="298450" h="462279">
                  <a:moveTo>
                    <a:pt x="297942" y="412241"/>
                  </a:moveTo>
                  <a:lnTo>
                    <a:pt x="297942" y="49529"/>
                  </a:lnTo>
                  <a:lnTo>
                    <a:pt x="294060" y="30218"/>
                  </a:lnTo>
                  <a:lnTo>
                    <a:pt x="283464" y="14477"/>
                  </a:lnTo>
                  <a:lnTo>
                    <a:pt x="267723" y="3881"/>
                  </a:lnTo>
                  <a:lnTo>
                    <a:pt x="248411" y="0"/>
                  </a:lnTo>
                  <a:lnTo>
                    <a:pt x="49529" y="0"/>
                  </a:lnTo>
                  <a:lnTo>
                    <a:pt x="30218" y="3881"/>
                  </a:lnTo>
                  <a:lnTo>
                    <a:pt x="14477" y="14477"/>
                  </a:lnTo>
                  <a:lnTo>
                    <a:pt x="3881" y="30218"/>
                  </a:lnTo>
                  <a:lnTo>
                    <a:pt x="0" y="49529"/>
                  </a:lnTo>
                  <a:lnTo>
                    <a:pt x="0" y="412241"/>
                  </a:lnTo>
                  <a:lnTo>
                    <a:pt x="3881" y="431553"/>
                  </a:lnTo>
                  <a:lnTo>
                    <a:pt x="14478" y="447293"/>
                  </a:lnTo>
                  <a:lnTo>
                    <a:pt x="30218" y="457890"/>
                  </a:lnTo>
                  <a:lnTo>
                    <a:pt x="49530" y="461771"/>
                  </a:lnTo>
                  <a:lnTo>
                    <a:pt x="248412" y="461771"/>
                  </a:lnTo>
                  <a:lnTo>
                    <a:pt x="267723" y="457890"/>
                  </a:lnTo>
                  <a:lnTo>
                    <a:pt x="283464" y="447293"/>
                  </a:lnTo>
                  <a:lnTo>
                    <a:pt x="294060" y="431553"/>
                  </a:lnTo>
                  <a:lnTo>
                    <a:pt x="297942" y="412241"/>
                  </a:lnTo>
                  <a:close/>
                </a:path>
              </a:pathLst>
            </a:custGeom>
            <a:solidFill>
              <a:srgbClr val="FFFFFF"/>
            </a:solidFill>
          </p:spPr>
          <p:txBody>
            <a:bodyPr wrap="square" lIns="0" tIns="0" rIns="0" bIns="0" rtlCol="0"/>
            <a:lstStyle/>
            <a:p>
              <a:endParaRPr/>
            </a:p>
          </p:txBody>
        </p:sp>
        <p:sp>
          <p:nvSpPr>
            <p:cNvPr id="9" name="object 9"/>
            <p:cNvSpPr/>
            <p:nvPr/>
          </p:nvSpPr>
          <p:spPr>
            <a:xfrm>
              <a:off x="5078615" y="3909060"/>
              <a:ext cx="304165" cy="467995"/>
            </a:xfrm>
            <a:custGeom>
              <a:avLst/>
              <a:gdLst/>
              <a:ahLst/>
              <a:cxnLst/>
              <a:rect l="l" t="t" r="r" b="b"/>
              <a:pathLst>
                <a:path w="304164" h="467995">
                  <a:moveTo>
                    <a:pt x="304038" y="420623"/>
                  </a:moveTo>
                  <a:lnTo>
                    <a:pt x="304038" y="47243"/>
                  </a:lnTo>
                  <a:lnTo>
                    <a:pt x="302514" y="41909"/>
                  </a:lnTo>
                  <a:lnTo>
                    <a:pt x="272917" y="4846"/>
                  </a:lnTo>
                  <a:lnTo>
                    <a:pt x="251460" y="0"/>
                  </a:lnTo>
                  <a:lnTo>
                    <a:pt x="52577" y="0"/>
                  </a:lnTo>
                  <a:lnTo>
                    <a:pt x="10233" y="22061"/>
                  </a:lnTo>
                  <a:lnTo>
                    <a:pt x="0" y="52577"/>
                  </a:lnTo>
                  <a:lnTo>
                    <a:pt x="0" y="415289"/>
                  </a:lnTo>
                  <a:lnTo>
                    <a:pt x="1524" y="425957"/>
                  </a:lnTo>
                  <a:lnTo>
                    <a:pt x="3048" y="431291"/>
                  </a:lnTo>
                  <a:lnTo>
                    <a:pt x="4572" y="435863"/>
                  </a:lnTo>
                  <a:lnTo>
                    <a:pt x="6096" y="439087"/>
                  </a:lnTo>
                  <a:lnTo>
                    <a:pt x="6096" y="48005"/>
                  </a:lnTo>
                  <a:lnTo>
                    <a:pt x="6858" y="43433"/>
                  </a:lnTo>
                  <a:lnTo>
                    <a:pt x="22859" y="16763"/>
                  </a:lnTo>
                  <a:lnTo>
                    <a:pt x="26670" y="13715"/>
                  </a:lnTo>
                  <a:lnTo>
                    <a:pt x="30480" y="11429"/>
                  </a:lnTo>
                  <a:lnTo>
                    <a:pt x="36918" y="7327"/>
                  </a:lnTo>
                  <a:lnTo>
                    <a:pt x="45846" y="5740"/>
                  </a:lnTo>
                  <a:lnTo>
                    <a:pt x="52577" y="6059"/>
                  </a:lnTo>
                  <a:lnTo>
                    <a:pt x="256794" y="6095"/>
                  </a:lnTo>
                  <a:lnTo>
                    <a:pt x="261365" y="6857"/>
                  </a:lnTo>
                  <a:lnTo>
                    <a:pt x="294405" y="33709"/>
                  </a:lnTo>
                  <a:lnTo>
                    <a:pt x="298704" y="438045"/>
                  </a:lnTo>
                  <a:lnTo>
                    <a:pt x="299675" y="436577"/>
                  </a:lnTo>
                  <a:lnTo>
                    <a:pt x="304038" y="420623"/>
                  </a:lnTo>
                  <a:close/>
                </a:path>
                <a:path w="304164" h="467995">
                  <a:moveTo>
                    <a:pt x="298704" y="438045"/>
                  </a:moveTo>
                  <a:lnTo>
                    <a:pt x="298704" y="415289"/>
                  </a:lnTo>
                  <a:lnTo>
                    <a:pt x="297942" y="420623"/>
                  </a:lnTo>
                  <a:lnTo>
                    <a:pt x="297180" y="425195"/>
                  </a:lnTo>
                  <a:lnTo>
                    <a:pt x="270203" y="458298"/>
                  </a:lnTo>
                  <a:lnTo>
                    <a:pt x="251460" y="462533"/>
                  </a:lnTo>
                  <a:lnTo>
                    <a:pt x="52578" y="462533"/>
                  </a:lnTo>
                  <a:lnTo>
                    <a:pt x="14685" y="442393"/>
                  </a:lnTo>
                  <a:lnTo>
                    <a:pt x="6096" y="419861"/>
                  </a:lnTo>
                  <a:lnTo>
                    <a:pt x="6096" y="439087"/>
                  </a:lnTo>
                  <a:lnTo>
                    <a:pt x="9321" y="445909"/>
                  </a:lnTo>
                  <a:lnTo>
                    <a:pt x="10680" y="448640"/>
                  </a:lnTo>
                  <a:lnTo>
                    <a:pt x="19812" y="455675"/>
                  </a:lnTo>
                  <a:lnTo>
                    <a:pt x="23622" y="458723"/>
                  </a:lnTo>
                  <a:lnTo>
                    <a:pt x="28194" y="461771"/>
                  </a:lnTo>
                  <a:lnTo>
                    <a:pt x="32766" y="464057"/>
                  </a:lnTo>
                  <a:lnTo>
                    <a:pt x="37338" y="465581"/>
                  </a:lnTo>
                  <a:lnTo>
                    <a:pt x="42672" y="466343"/>
                  </a:lnTo>
                  <a:lnTo>
                    <a:pt x="47244" y="467867"/>
                  </a:lnTo>
                  <a:lnTo>
                    <a:pt x="251460" y="467867"/>
                  </a:lnTo>
                  <a:lnTo>
                    <a:pt x="261366" y="466452"/>
                  </a:lnTo>
                  <a:lnTo>
                    <a:pt x="262128" y="466343"/>
                  </a:lnTo>
                  <a:lnTo>
                    <a:pt x="277648" y="460770"/>
                  </a:lnTo>
                  <a:lnTo>
                    <a:pt x="290522" y="450403"/>
                  </a:lnTo>
                  <a:lnTo>
                    <a:pt x="298704" y="438045"/>
                  </a:lnTo>
                  <a:close/>
                </a:path>
              </a:pathLst>
            </a:custGeom>
            <a:solidFill>
              <a:srgbClr val="000000"/>
            </a:solidFill>
          </p:spPr>
          <p:txBody>
            <a:bodyPr wrap="square" lIns="0" tIns="0" rIns="0" bIns="0" rtlCol="0"/>
            <a:lstStyle/>
            <a:p>
              <a:endParaRPr/>
            </a:p>
          </p:txBody>
        </p:sp>
        <p:sp>
          <p:nvSpPr>
            <p:cNvPr id="10" name="object 10"/>
            <p:cNvSpPr/>
            <p:nvPr/>
          </p:nvSpPr>
          <p:spPr>
            <a:xfrm>
              <a:off x="5154815" y="3995166"/>
              <a:ext cx="161290" cy="302260"/>
            </a:xfrm>
            <a:custGeom>
              <a:avLst/>
              <a:gdLst/>
              <a:ahLst/>
              <a:cxnLst/>
              <a:rect l="l" t="t" r="r" b="b"/>
              <a:pathLst>
                <a:path w="161289" h="302260">
                  <a:moveTo>
                    <a:pt x="160782" y="275082"/>
                  </a:moveTo>
                  <a:lnTo>
                    <a:pt x="160782" y="26670"/>
                  </a:lnTo>
                  <a:lnTo>
                    <a:pt x="134112" y="0"/>
                  </a:lnTo>
                  <a:lnTo>
                    <a:pt x="27432" y="0"/>
                  </a:lnTo>
                  <a:lnTo>
                    <a:pt x="16716" y="2131"/>
                  </a:lnTo>
                  <a:lnTo>
                    <a:pt x="8000" y="7905"/>
                  </a:lnTo>
                  <a:lnTo>
                    <a:pt x="2143" y="16394"/>
                  </a:lnTo>
                  <a:lnTo>
                    <a:pt x="0" y="26670"/>
                  </a:lnTo>
                  <a:lnTo>
                    <a:pt x="0" y="275082"/>
                  </a:lnTo>
                  <a:lnTo>
                    <a:pt x="2143" y="285357"/>
                  </a:lnTo>
                  <a:lnTo>
                    <a:pt x="8001" y="293846"/>
                  </a:lnTo>
                  <a:lnTo>
                    <a:pt x="16716" y="299620"/>
                  </a:lnTo>
                  <a:lnTo>
                    <a:pt x="27432" y="301752"/>
                  </a:lnTo>
                  <a:lnTo>
                    <a:pt x="134112" y="301752"/>
                  </a:lnTo>
                  <a:lnTo>
                    <a:pt x="144387" y="299620"/>
                  </a:lnTo>
                  <a:lnTo>
                    <a:pt x="152876" y="293846"/>
                  </a:lnTo>
                  <a:lnTo>
                    <a:pt x="158650" y="285357"/>
                  </a:lnTo>
                  <a:lnTo>
                    <a:pt x="160782" y="275082"/>
                  </a:lnTo>
                  <a:close/>
                </a:path>
              </a:pathLst>
            </a:custGeom>
            <a:solidFill>
              <a:srgbClr val="FFFFFF"/>
            </a:solidFill>
          </p:spPr>
          <p:txBody>
            <a:bodyPr wrap="square" lIns="0" tIns="0" rIns="0" bIns="0" rtlCol="0"/>
            <a:lstStyle/>
            <a:p>
              <a:endParaRPr/>
            </a:p>
          </p:txBody>
        </p:sp>
        <p:sp>
          <p:nvSpPr>
            <p:cNvPr id="11" name="object 11"/>
            <p:cNvSpPr/>
            <p:nvPr/>
          </p:nvSpPr>
          <p:spPr>
            <a:xfrm>
              <a:off x="5152529" y="3992880"/>
              <a:ext cx="166370" cy="307340"/>
            </a:xfrm>
            <a:custGeom>
              <a:avLst/>
              <a:gdLst/>
              <a:ahLst/>
              <a:cxnLst/>
              <a:rect l="l" t="t" r="r" b="b"/>
              <a:pathLst>
                <a:path w="166370" h="307339">
                  <a:moveTo>
                    <a:pt x="762" y="282701"/>
                  </a:moveTo>
                  <a:lnTo>
                    <a:pt x="761" y="23621"/>
                  </a:lnTo>
                  <a:lnTo>
                    <a:pt x="0" y="29717"/>
                  </a:lnTo>
                  <a:lnTo>
                    <a:pt x="0" y="277367"/>
                  </a:lnTo>
                  <a:lnTo>
                    <a:pt x="762" y="282701"/>
                  </a:lnTo>
                  <a:close/>
                </a:path>
                <a:path w="166370" h="307339">
                  <a:moveTo>
                    <a:pt x="153162" y="12953"/>
                  </a:moveTo>
                  <a:lnTo>
                    <a:pt x="153162" y="4571"/>
                  </a:lnTo>
                  <a:lnTo>
                    <a:pt x="152400" y="4571"/>
                  </a:lnTo>
                  <a:lnTo>
                    <a:pt x="147828" y="2285"/>
                  </a:lnTo>
                  <a:lnTo>
                    <a:pt x="142494" y="761"/>
                  </a:lnTo>
                  <a:lnTo>
                    <a:pt x="142494" y="0"/>
                  </a:lnTo>
                  <a:lnTo>
                    <a:pt x="23621" y="0"/>
                  </a:lnTo>
                  <a:lnTo>
                    <a:pt x="23621" y="761"/>
                  </a:lnTo>
                  <a:lnTo>
                    <a:pt x="22859" y="761"/>
                  </a:lnTo>
                  <a:lnTo>
                    <a:pt x="18287" y="2285"/>
                  </a:lnTo>
                  <a:lnTo>
                    <a:pt x="17525" y="2285"/>
                  </a:lnTo>
                  <a:lnTo>
                    <a:pt x="12953" y="4571"/>
                  </a:lnTo>
                  <a:lnTo>
                    <a:pt x="12953" y="5333"/>
                  </a:lnTo>
                  <a:lnTo>
                    <a:pt x="8381" y="8381"/>
                  </a:lnTo>
                  <a:lnTo>
                    <a:pt x="5333" y="12953"/>
                  </a:lnTo>
                  <a:lnTo>
                    <a:pt x="4571" y="12953"/>
                  </a:lnTo>
                  <a:lnTo>
                    <a:pt x="2285" y="17525"/>
                  </a:lnTo>
                  <a:lnTo>
                    <a:pt x="2285" y="18287"/>
                  </a:lnTo>
                  <a:lnTo>
                    <a:pt x="761" y="22859"/>
                  </a:lnTo>
                  <a:lnTo>
                    <a:pt x="762" y="283463"/>
                  </a:lnTo>
                  <a:lnTo>
                    <a:pt x="2286" y="288797"/>
                  </a:lnTo>
                  <a:lnTo>
                    <a:pt x="4572" y="293369"/>
                  </a:lnTo>
                  <a:lnTo>
                    <a:pt x="4572" y="294131"/>
                  </a:lnTo>
                  <a:lnTo>
                    <a:pt x="5334" y="294131"/>
                  </a:lnTo>
                  <a:lnTo>
                    <a:pt x="5334" y="29717"/>
                  </a:lnTo>
                  <a:lnTo>
                    <a:pt x="5878" y="25907"/>
                  </a:lnTo>
                  <a:lnTo>
                    <a:pt x="6858" y="22478"/>
                  </a:lnTo>
                  <a:lnTo>
                    <a:pt x="6858" y="20573"/>
                  </a:lnTo>
                  <a:lnTo>
                    <a:pt x="9143" y="17144"/>
                  </a:lnTo>
                  <a:lnTo>
                    <a:pt x="9143" y="16001"/>
                  </a:lnTo>
                  <a:lnTo>
                    <a:pt x="16002" y="9143"/>
                  </a:lnTo>
                  <a:lnTo>
                    <a:pt x="16002" y="9905"/>
                  </a:lnTo>
                  <a:lnTo>
                    <a:pt x="20574" y="6857"/>
                  </a:lnTo>
                  <a:lnTo>
                    <a:pt x="20574" y="7402"/>
                  </a:lnTo>
                  <a:lnTo>
                    <a:pt x="24383" y="6313"/>
                  </a:lnTo>
                  <a:lnTo>
                    <a:pt x="24383" y="6095"/>
                  </a:lnTo>
                  <a:lnTo>
                    <a:pt x="29718" y="5333"/>
                  </a:lnTo>
                  <a:lnTo>
                    <a:pt x="136398" y="5333"/>
                  </a:lnTo>
                  <a:lnTo>
                    <a:pt x="140398" y="5905"/>
                  </a:lnTo>
                  <a:lnTo>
                    <a:pt x="140970" y="6095"/>
                  </a:lnTo>
                  <a:lnTo>
                    <a:pt x="141732" y="6095"/>
                  </a:lnTo>
                  <a:lnTo>
                    <a:pt x="141732" y="6349"/>
                  </a:lnTo>
                  <a:lnTo>
                    <a:pt x="145542" y="7619"/>
                  </a:lnTo>
                  <a:lnTo>
                    <a:pt x="145542" y="6857"/>
                  </a:lnTo>
                  <a:lnTo>
                    <a:pt x="149352" y="9397"/>
                  </a:lnTo>
                  <a:lnTo>
                    <a:pt x="149352" y="9143"/>
                  </a:lnTo>
                  <a:lnTo>
                    <a:pt x="153162" y="12953"/>
                  </a:lnTo>
                  <a:close/>
                </a:path>
                <a:path w="166370" h="307339">
                  <a:moveTo>
                    <a:pt x="7620" y="287273"/>
                  </a:moveTo>
                  <a:lnTo>
                    <a:pt x="5878" y="281177"/>
                  </a:lnTo>
                  <a:lnTo>
                    <a:pt x="5334" y="277367"/>
                  </a:lnTo>
                  <a:lnTo>
                    <a:pt x="5334" y="294131"/>
                  </a:lnTo>
                  <a:lnTo>
                    <a:pt x="6858" y="296036"/>
                  </a:lnTo>
                  <a:lnTo>
                    <a:pt x="6858" y="286511"/>
                  </a:lnTo>
                  <a:lnTo>
                    <a:pt x="7620" y="287273"/>
                  </a:lnTo>
                  <a:close/>
                </a:path>
                <a:path w="166370" h="307339">
                  <a:moveTo>
                    <a:pt x="7620" y="19811"/>
                  </a:moveTo>
                  <a:lnTo>
                    <a:pt x="6858" y="20573"/>
                  </a:lnTo>
                  <a:lnTo>
                    <a:pt x="6858" y="22478"/>
                  </a:lnTo>
                  <a:lnTo>
                    <a:pt x="7620" y="19811"/>
                  </a:lnTo>
                  <a:close/>
                </a:path>
                <a:path w="166370" h="307339">
                  <a:moveTo>
                    <a:pt x="9906" y="291083"/>
                  </a:moveTo>
                  <a:lnTo>
                    <a:pt x="6858" y="286511"/>
                  </a:lnTo>
                  <a:lnTo>
                    <a:pt x="6858" y="296036"/>
                  </a:lnTo>
                  <a:lnTo>
                    <a:pt x="8382" y="297941"/>
                  </a:lnTo>
                  <a:lnTo>
                    <a:pt x="8382" y="298703"/>
                  </a:lnTo>
                  <a:lnTo>
                    <a:pt x="9144" y="299211"/>
                  </a:lnTo>
                  <a:lnTo>
                    <a:pt x="9144" y="290321"/>
                  </a:lnTo>
                  <a:lnTo>
                    <a:pt x="9906" y="291083"/>
                  </a:lnTo>
                  <a:close/>
                </a:path>
                <a:path w="166370" h="307339">
                  <a:moveTo>
                    <a:pt x="9905" y="16001"/>
                  </a:moveTo>
                  <a:lnTo>
                    <a:pt x="9143" y="16001"/>
                  </a:lnTo>
                  <a:lnTo>
                    <a:pt x="9143" y="17144"/>
                  </a:lnTo>
                  <a:lnTo>
                    <a:pt x="9905" y="16001"/>
                  </a:lnTo>
                  <a:close/>
                </a:path>
                <a:path w="166370" h="307339">
                  <a:moveTo>
                    <a:pt x="12954" y="294131"/>
                  </a:moveTo>
                  <a:lnTo>
                    <a:pt x="9144" y="290321"/>
                  </a:lnTo>
                  <a:lnTo>
                    <a:pt x="9144" y="299211"/>
                  </a:lnTo>
                  <a:lnTo>
                    <a:pt x="12192" y="301243"/>
                  </a:lnTo>
                  <a:lnTo>
                    <a:pt x="12192" y="294131"/>
                  </a:lnTo>
                  <a:lnTo>
                    <a:pt x="12954" y="294131"/>
                  </a:lnTo>
                  <a:close/>
                </a:path>
                <a:path w="166370" h="307339">
                  <a:moveTo>
                    <a:pt x="20574" y="299465"/>
                  </a:moveTo>
                  <a:lnTo>
                    <a:pt x="16002" y="297179"/>
                  </a:lnTo>
                  <a:lnTo>
                    <a:pt x="12192" y="294131"/>
                  </a:lnTo>
                  <a:lnTo>
                    <a:pt x="12192" y="301243"/>
                  </a:lnTo>
                  <a:lnTo>
                    <a:pt x="17526" y="304799"/>
                  </a:lnTo>
                  <a:lnTo>
                    <a:pt x="18288" y="304799"/>
                  </a:lnTo>
                  <a:lnTo>
                    <a:pt x="19812" y="305307"/>
                  </a:lnTo>
                  <a:lnTo>
                    <a:pt x="19812" y="299465"/>
                  </a:lnTo>
                  <a:lnTo>
                    <a:pt x="20574" y="299465"/>
                  </a:lnTo>
                  <a:close/>
                </a:path>
                <a:path w="166370" h="307339">
                  <a:moveTo>
                    <a:pt x="20574" y="7402"/>
                  </a:moveTo>
                  <a:lnTo>
                    <a:pt x="20574" y="6857"/>
                  </a:lnTo>
                  <a:lnTo>
                    <a:pt x="19812" y="7619"/>
                  </a:lnTo>
                  <a:lnTo>
                    <a:pt x="20574" y="7402"/>
                  </a:lnTo>
                  <a:close/>
                </a:path>
                <a:path w="166370" h="307339">
                  <a:moveTo>
                    <a:pt x="141732" y="306323"/>
                  </a:moveTo>
                  <a:lnTo>
                    <a:pt x="141732" y="300989"/>
                  </a:lnTo>
                  <a:lnTo>
                    <a:pt x="24384" y="300989"/>
                  </a:lnTo>
                  <a:lnTo>
                    <a:pt x="24384" y="300772"/>
                  </a:lnTo>
                  <a:lnTo>
                    <a:pt x="19812" y="299465"/>
                  </a:lnTo>
                  <a:lnTo>
                    <a:pt x="19812" y="305307"/>
                  </a:lnTo>
                  <a:lnTo>
                    <a:pt x="22860" y="306323"/>
                  </a:lnTo>
                  <a:lnTo>
                    <a:pt x="24384" y="306419"/>
                  </a:lnTo>
                  <a:lnTo>
                    <a:pt x="24384" y="300989"/>
                  </a:lnTo>
                  <a:lnTo>
                    <a:pt x="25130" y="300989"/>
                  </a:lnTo>
                  <a:lnTo>
                    <a:pt x="25130" y="306512"/>
                  </a:lnTo>
                  <a:lnTo>
                    <a:pt x="29718" y="307085"/>
                  </a:lnTo>
                  <a:lnTo>
                    <a:pt x="136398" y="307085"/>
                  </a:lnTo>
                  <a:lnTo>
                    <a:pt x="140398" y="306514"/>
                  </a:lnTo>
                  <a:lnTo>
                    <a:pt x="140970" y="306432"/>
                  </a:lnTo>
                  <a:lnTo>
                    <a:pt x="141732" y="306323"/>
                  </a:lnTo>
                  <a:close/>
                </a:path>
                <a:path w="166370" h="307339">
                  <a:moveTo>
                    <a:pt x="25130" y="6100"/>
                  </a:moveTo>
                  <a:lnTo>
                    <a:pt x="24383" y="6095"/>
                  </a:lnTo>
                  <a:lnTo>
                    <a:pt x="24383" y="6313"/>
                  </a:lnTo>
                  <a:lnTo>
                    <a:pt x="25130" y="6100"/>
                  </a:lnTo>
                  <a:close/>
                </a:path>
                <a:path w="166370" h="307339">
                  <a:moveTo>
                    <a:pt x="141732" y="6349"/>
                  </a:moveTo>
                  <a:lnTo>
                    <a:pt x="141732" y="6095"/>
                  </a:lnTo>
                  <a:lnTo>
                    <a:pt x="140970" y="5987"/>
                  </a:lnTo>
                  <a:lnTo>
                    <a:pt x="141732" y="6349"/>
                  </a:lnTo>
                  <a:close/>
                </a:path>
                <a:path w="166370" h="307339">
                  <a:moveTo>
                    <a:pt x="150114" y="303275"/>
                  </a:moveTo>
                  <a:lnTo>
                    <a:pt x="150114" y="297179"/>
                  </a:lnTo>
                  <a:lnTo>
                    <a:pt x="145542" y="299465"/>
                  </a:lnTo>
                  <a:lnTo>
                    <a:pt x="140970" y="300989"/>
                  </a:lnTo>
                  <a:lnTo>
                    <a:pt x="141732" y="300989"/>
                  </a:lnTo>
                  <a:lnTo>
                    <a:pt x="141732" y="306323"/>
                  </a:lnTo>
                  <a:lnTo>
                    <a:pt x="142494" y="306323"/>
                  </a:lnTo>
                  <a:lnTo>
                    <a:pt x="147828" y="304799"/>
                  </a:lnTo>
                  <a:lnTo>
                    <a:pt x="150114" y="303275"/>
                  </a:lnTo>
                  <a:close/>
                </a:path>
                <a:path w="166370" h="307339">
                  <a:moveTo>
                    <a:pt x="150113" y="9905"/>
                  </a:moveTo>
                  <a:lnTo>
                    <a:pt x="149352" y="9143"/>
                  </a:lnTo>
                  <a:lnTo>
                    <a:pt x="149352" y="9397"/>
                  </a:lnTo>
                  <a:lnTo>
                    <a:pt x="150113" y="9905"/>
                  </a:lnTo>
                  <a:close/>
                </a:path>
                <a:path w="166370" h="307339">
                  <a:moveTo>
                    <a:pt x="160020" y="295084"/>
                  </a:moveTo>
                  <a:lnTo>
                    <a:pt x="160020" y="281939"/>
                  </a:lnTo>
                  <a:lnTo>
                    <a:pt x="158496" y="287273"/>
                  </a:lnTo>
                  <a:lnTo>
                    <a:pt x="158496" y="286511"/>
                  </a:lnTo>
                  <a:lnTo>
                    <a:pt x="156210" y="291083"/>
                  </a:lnTo>
                  <a:lnTo>
                    <a:pt x="156210" y="290321"/>
                  </a:lnTo>
                  <a:lnTo>
                    <a:pt x="153162" y="294893"/>
                  </a:lnTo>
                  <a:lnTo>
                    <a:pt x="153162" y="294131"/>
                  </a:lnTo>
                  <a:lnTo>
                    <a:pt x="149352" y="297179"/>
                  </a:lnTo>
                  <a:lnTo>
                    <a:pt x="150114" y="297179"/>
                  </a:lnTo>
                  <a:lnTo>
                    <a:pt x="150114" y="303275"/>
                  </a:lnTo>
                  <a:lnTo>
                    <a:pt x="152400" y="301751"/>
                  </a:lnTo>
                  <a:lnTo>
                    <a:pt x="153162" y="301751"/>
                  </a:lnTo>
                  <a:lnTo>
                    <a:pt x="156972" y="298703"/>
                  </a:lnTo>
                  <a:lnTo>
                    <a:pt x="156972" y="297941"/>
                  </a:lnTo>
                  <a:lnTo>
                    <a:pt x="157734" y="297941"/>
                  </a:lnTo>
                  <a:lnTo>
                    <a:pt x="160020" y="295084"/>
                  </a:lnTo>
                  <a:close/>
                </a:path>
                <a:path w="166370" h="307339">
                  <a:moveTo>
                    <a:pt x="165354" y="283463"/>
                  </a:moveTo>
                  <a:lnTo>
                    <a:pt x="165354" y="22859"/>
                  </a:lnTo>
                  <a:lnTo>
                    <a:pt x="163830" y="18287"/>
                  </a:lnTo>
                  <a:lnTo>
                    <a:pt x="163830" y="17525"/>
                  </a:lnTo>
                  <a:lnTo>
                    <a:pt x="163068" y="17525"/>
                  </a:lnTo>
                  <a:lnTo>
                    <a:pt x="160782" y="12953"/>
                  </a:lnTo>
                  <a:lnTo>
                    <a:pt x="157734" y="8381"/>
                  </a:lnTo>
                  <a:lnTo>
                    <a:pt x="156972" y="8381"/>
                  </a:lnTo>
                  <a:lnTo>
                    <a:pt x="153162" y="5333"/>
                  </a:lnTo>
                  <a:lnTo>
                    <a:pt x="153162" y="12191"/>
                  </a:lnTo>
                  <a:lnTo>
                    <a:pt x="156210" y="16001"/>
                  </a:lnTo>
                  <a:lnTo>
                    <a:pt x="158496" y="20573"/>
                  </a:lnTo>
                  <a:lnTo>
                    <a:pt x="158496" y="19811"/>
                  </a:lnTo>
                  <a:lnTo>
                    <a:pt x="160020" y="25145"/>
                  </a:lnTo>
                  <a:lnTo>
                    <a:pt x="160020" y="295084"/>
                  </a:lnTo>
                  <a:lnTo>
                    <a:pt x="160782" y="294131"/>
                  </a:lnTo>
                  <a:lnTo>
                    <a:pt x="160782" y="293369"/>
                  </a:lnTo>
                  <a:lnTo>
                    <a:pt x="163068" y="288797"/>
                  </a:lnTo>
                  <a:lnTo>
                    <a:pt x="163830" y="288797"/>
                  </a:lnTo>
                  <a:lnTo>
                    <a:pt x="165354" y="283463"/>
                  </a:lnTo>
                  <a:close/>
                </a:path>
                <a:path w="166370" h="307339">
                  <a:moveTo>
                    <a:pt x="166116" y="277367"/>
                  </a:moveTo>
                  <a:lnTo>
                    <a:pt x="166116" y="28955"/>
                  </a:lnTo>
                  <a:lnTo>
                    <a:pt x="165354" y="23621"/>
                  </a:lnTo>
                  <a:lnTo>
                    <a:pt x="165354" y="282701"/>
                  </a:lnTo>
                  <a:lnTo>
                    <a:pt x="166116" y="277367"/>
                  </a:lnTo>
                  <a:close/>
                </a:path>
              </a:pathLst>
            </a:custGeom>
            <a:solidFill>
              <a:srgbClr val="000000"/>
            </a:solidFill>
          </p:spPr>
          <p:txBody>
            <a:bodyPr wrap="square" lIns="0" tIns="0" rIns="0" bIns="0" rtlCol="0"/>
            <a:lstStyle/>
            <a:p>
              <a:endParaRPr/>
            </a:p>
          </p:txBody>
        </p:sp>
        <p:sp>
          <p:nvSpPr>
            <p:cNvPr id="12" name="object 12"/>
            <p:cNvSpPr/>
            <p:nvPr/>
          </p:nvSpPr>
          <p:spPr>
            <a:xfrm>
              <a:off x="5090807" y="3687318"/>
              <a:ext cx="288925" cy="180340"/>
            </a:xfrm>
            <a:custGeom>
              <a:avLst/>
              <a:gdLst/>
              <a:ahLst/>
              <a:cxnLst/>
              <a:rect l="l" t="t" r="r" b="b"/>
              <a:pathLst>
                <a:path w="288925" h="180339">
                  <a:moveTo>
                    <a:pt x="288798" y="179832"/>
                  </a:moveTo>
                  <a:lnTo>
                    <a:pt x="288798" y="0"/>
                  </a:lnTo>
                  <a:lnTo>
                    <a:pt x="0" y="0"/>
                  </a:lnTo>
                  <a:lnTo>
                    <a:pt x="0" y="179832"/>
                  </a:lnTo>
                  <a:lnTo>
                    <a:pt x="288798" y="179832"/>
                  </a:lnTo>
                  <a:close/>
                </a:path>
              </a:pathLst>
            </a:custGeom>
            <a:solidFill>
              <a:srgbClr val="FFFFFF"/>
            </a:solidFill>
          </p:spPr>
          <p:txBody>
            <a:bodyPr wrap="square" lIns="0" tIns="0" rIns="0" bIns="0" rtlCol="0"/>
            <a:lstStyle/>
            <a:p>
              <a:endParaRPr/>
            </a:p>
          </p:txBody>
        </p:sp>
        <p:sp>
          <p:nvSpPr>
            <p:cNvPr id="13" name="object 13"/>
            <p:cNvSpPr/>
            <p:nvPr/>
          </p:nvSpPr>
          <p:spPr>
            <a:xfrm>
              <a:off x="5013845" y="3685044"/>
              <a:ext cx="443230" cy="1004569"/>
            </a:xfrm>
            <a:custGeom>
              <a:avLst/>
              <a:gdLst/>
              <a:ahLst/>
              <a:cxnLst/>
              <a:rect l="l" t="t" r="r" b="b"/>
              <a:pathLst>
                <a:path w="443229" h="1004570">
                  <a:moveTo>
                    <a:pt x="83820" y="664464"/>
                  </a:moveTo>
                  <a:lnTo>
                    <a:pt x="9906" y="664464"/>
                  </a:lnTo>
                  <a:lnTo>
                    <a:pt x="9906" y="675132"/>
                  </a:lnTo>
                  <a:lnTo>
                    <a:pt x="83820" y="675132"/>
                  </a:lnTo>
                  <a:lnTo>
                    <a:pt x="83820" y="664464"/>
                  </a:lnTo>
                  <a:close/>
                </a:path>
                <a:path w="443229" h="1004570">
                  <a:moveTo>
                    <a:pt x="141732" y="452628"/>
                  </a:moveTo>
                  <a:lnTo>
                    <a:pt x="68580" y="449580"/>
                  </a:lnTo>
                  <a:lnTo>
                    <a:pt x="68440" y="452628"/>
                  </a:lnTo>
                  <a:lnTo>
                    <a:pt x="3048" y="452628"/>
                  </a:lnTo>
                  <a:lnTo>
                    <a:pt x="3048" y="463296"/>
                  </a:lnTo>
                  <a:lnTo>
                    <a:pt x="67945" y="463296"/>
                  </a:lnTo>
                  <a:lnTo>
                    <a:pt x="67818" y="466344"/>
                  </a:lnTo>
                  <a:lnTo>
                    <a:pt x="140970" y="469392"/>
                  </a:lnTo>
                  <a:lnTo>
                    <a:pt x="141732" y="452628"/>
                  </a:lnTo>
                  <a:close/>
                </a:path>
                <a:path w="443229" h="1004570">
                  <a:moveTo>
                    <a:pt x="164592" y="363474"/>
                  </a:moveTo>
                  <a:lnTo>
                    <a:pt x="160020" y="357314"/>
                  </a:lnTo>
                  <a:lnTo>
                    <a:pt x="160020" y="352806"/>
                  </a:lnTo>
                  <a:lnTo>
                    <a:pt x="156679" y="352806"/>
                  </a:lnTo>
                  <a:lnTo>
                    <a:pt x="91160" y="264414"/>
                  </a:lnTo>
                  <a:lnTo>
                    <a:pt x="96774" y="264414"/>
                  </a:lnTo>
                  <a:lnTo>
                    <a:pt x="96774" y="253746"/>
                  </a:lnTo>
                  <a:lnTo>
                    <a:pt x="0" y="253746"/>
                  </a:lnTo>
                  <a:lnTo>
                    <a:pt x="0" y="264414"/>
                  </a:lnTo>
                  <a:lnTo>
                    <a:pt x="70866" y="264414"/>
                  </a:lnTo>
                  <a:lnTo>
                    <a:pt x="143256" y="363004"/>
                  </a:lnTo>
                  <a:lnTo>
                    <a:pt x="143256" y="545998"/>
                  </a:lnTo>
                  <a:lnTo>
                    <a:pt x="140208" y="544830"/>
                  </a:lnTo>
                  <a:lnTo>
                    <a:pt x="90106" y="683171"/>
                  </a:lnTo>
                  <a:lnTo>
                    <a:pt x="89154" y="675132"/>
                  </a:lnTo>
                  <a:lnTo>
                    <a:pt x="77724" y="676656"/>
                  </a:lnTo>
                  <a:lnTo>
                    <a:pt x="116586" y="1003554"/>
                  </a:lnTo>
                  <a:lnTo>
                    <a:pt x="128016" y="1002792"/>
                  </a:lnTo>
                  <a:lnTo>
                    <a:pt x="90474" y="686308"/>
                  </a:lnTo>
                  <a:lnTo>
                    <a:pt x="105156" y="691896"/>
                  </a:lnTo>
                  <a:lnTo>
                    <a:pt x="156210" y="550926"/>
                  </a:lnTo>
                  <a:lnTo>
                    <a:pt x="148209" y="547878"/>
                  </a:lnTo>
                  <a:lnTo>
                    <a:pt x="160020" y="547878"/>
                  </a:lnTo>
                  <a:lnTo>
                    <a:pt x="160020" y="366776"/>
                  </a:lnTo>
                  <a:lnTo>
                    <a:pt x="164592" y="363474"/>
                  </a:lnTo>
                  <a:close/>
                </a:path>
                <a:path w="443229" h="1004570">
                  <a:moveTo>
                    <a:pt x="368808" y="0"/>
                  </a:moveTo>
                  <a:lnTo>
                    <a:pt x="363474" y="0"/>
                  </a:lnTo>
                  <a:lnTo>
                    <a:pt x="363474" y="5334"/>
                  </a:lnTo>
                  <a:lnTo>
                    <a:pt x="363474" y="179070"/>
                  </a:lnTo>
                  <a:lnTo>
                    <a:pt x="80010" y="179070"/>
                  </a:lnTo>
                  <a:lnTo>
                    <a:pt x="80010" y="5334"/>
                  </a:lnTo>
                  <a:lnTo>
                    <a:pt x="363474" y="5334"/>
                  </a:lnTo>
                  <a:lnTo>
                    <a:pt x="363474" y="0"/>
                  </a:lnTo>
                  <a:lnTo>
                    <a:pt x="74676" y="0"/>
                  </a:lnTo>
                  <a:lnTo>
                    <a:pt x="74676" y="185166"/>
                  </a:lnTo>
                  <a:lnTo>
                    <a:pt x="76962" y="185166"/>
                  </a:lnTo>
                  <a:lnTo>
                    <a:pt x="80010" y="185166"/>
                  </a:lnTo>
                  <a:lnTo>
                    <a:pt x="363474" y="185166"/>
                  </a:lnTo>
                  <a:lnTo>
                    <a:pt x="365760" y="185166"/>
                  </a:lnTo>
                  <a:lnTo>
                    <a:pt x="368808" y="185166"/>
                  </a:lnTo>
                  <a:lnTo>
                    <a:pt x="368808" y="0"/>
                  </a:lnTo>
                  <a:close/>
                </a:path>
                <a:path w="443229" h="1004570">
                  <a:moveTo>
                    <a:pt x="442722" y="452628"/>
                  </a:moveTo>
                  <a:lnTo>
                    <a:pt x="365887" y="452628"/>
                  </a:lnTo>
                  <a:lnTo>
                    <a:pt x="365760" y="449580"/>
                  </a:lnTo>
                  <a:lnTo>
                    <a:pt x="304038" y="452247"/>
                  </a:lnTo>
                  <a:lnTo>
                    <a:pt x="304038" y="352806"/>
                  </a:lnTo>
                  <a:lnTo>
                    <a:pt x="302298" y="352806"/>
                  </a:lnTo>
                  <a:lnTo>
                    <a:pt x="359664" y="263652"/>
                  </a:lnTo>
                  <a:lnTo>
                    <a:pt x="345948" y="254508"/>
                  </a:lnTo>
                  <a:lnTo>
                    <a:pt x="275844" y="363474"/>
                  </a:lnTo>
                  <a:lnTo>
                    <a:pt x="287274" y="371094"/>
                  </a:lnTo>
                  <a:lnTo>
                    <a:pt x="287274" y="547878"/>
                  </a:lnTo>
                  <a:lnTo>
                    <a:pt x="294805" y="547878"/>
                  </a:lnTo>
                  <a:lnTo>
                    <a:pt x="288036" y="550926"/>
                  </a:lnTo>
                  <a:lnTo>
                    <a:pt x="345186" y="679704"/>
                  </a:lnTo>
                  <a:lnTo>
                    <a:pt x="353288" y="676059"/>
                  </a:lnTo>
                  <a:lnTo>
                    <a:pt x="302514" y="1002792"/>
                  </a:lnTo>
                  <a:lnTo>
                    <a:pt x="313944" y="1004316"/>
                  </a:lnTo>
                  <a:lnTo>
                    <a:pt x="365760" y="666483"/>
                  </a:lnTo>
                  <a:lnTo>
                    <a:pt x="365760" y="675132"/>
                  </a:lnTo>
                  <a:lnTo>
                    <a:pt x="442722" y="675132"/>
                  </a:lnTo>
                  <a:lnTo>
                    <a:pt x="442722" y="664464"/>
                  </a:lnTo>
                  <a:lnTo>
                    <a:pt x="366064" y="664464"/>
                  </a:lnTo>
                  <a:lnTo>
                    <a:pt x="371094" y="631698"/>
                  </a:lnTo>
                  <a:lnTo>
                    <a:pt x="360426" y="630174"/>
                  </a:lnTo>
                  <a:lnTo>
                    <a:pt x="355511" y="661784"/>
                  </a:lnTo>
                  <a:lnTo>
                    <a:pt x="304038" y="545795"/>
                  </a:lnTo>
                  <a:lnTo>
                    <a:pt x="304038" y="469036"/>
                  </a:lnTo>
                  <a:lnTo>
                    <a:pt x="366522" y="466344"/>
                  </a:lnTo>
                  <a:lnTo>
                    <a:pt x="366382" y="463296"/>
                  </a:lnTo>
                  <a:lnTo>
                    <a:pt x="442722" y="463296"/>
                  </a:lnTo>
                  <a:lnTo>
                    <a:pt x="442722" y="452628"/>
                  </a:lnTo>
                  <a:close/>
                </a:path>
                <a:path w="443229" h="1004570">
                  <a:moveTo>
                    <a:pt x="442722" y="253746"/>
                  </a:moveTo>
                  <a:lnTo>
                    <a:pt x="359664" y="253746"/>
                  </a:lnTo>
                  <a:lnTo>
                    <a:pt x="359664" y="263652"/>
                  </a:lnTo>
                  <a:lnTo>
                    <a:pt x="359664" y="264414"/>
                  </a:lnTo>
                  <a:lnTo>
                    <a:pt x="442722" y="264414"/>
                  </a:lnTo>
                  <a:lnTo>
                    <a:pt x="442722" y="253746"/>
                  </a:lnTo>
                  <a:close/>
                </a:path>
              </a:pathLst>
            </a:custGeom>
            <a:solidFill>
              <a:srgbClr val="000000"/>
            </a:solidFill>
          </p:spPr>
          <p:txBody>
            <a:bodyPr wrap="square" lIns="0" tIns="0" rIns="0" bIns="0" rtlCol="0"/>
            <a:lstStyle/>
            <a:p>
              <a:endParaRPr/>
            </a:p>
          </p:txBody>
        </p:sp>
      </p:grpSp>
      <p:grpSp>
        <p:nvGrpSpPr>
          <p:cNvPr id="14" name="object 14"/>
          <p:cNvGrpSpPr/>
          <p:nvPr/>
        </p:nvGrpSpPr>
        <p:grpSpPr>
          <a:xfrm>
            <a:off x="4561217" y="4694682"/>
            <a:ext cx="116839" cy="384810"/>
            <a:chOff x="4561217" y="4694682"/>
            <a:chExt cx="116839" cy="384810"/>
          </a:xfrm>
        </p:grpSpPr>
        <p:sp>
          <p:nvSpPr>
            <p:cNvPr id="15" name="object 15"/>
            <p:cNvSpPr/>
            <p:nvPr/>
          </p:nvSpPr>
          <p:spPr>
            <a:xfrm>
              <a:off x="4618367" y="4694682"/>
              <a:ext cx="8890" cy="384810"/>
            </a:xfrm>
            <a:custGeom>
              <a:avLst/>
              <a:gdLst/>
              <a:ahLst/>
              <a:cxnLst/>
              <a:rect l="l" t="t" r="r" b="b"/>
              <a:pathLst>
                <a:path w="8889" h="384810">
                  <a:moveTo>
                    <a:pt x="8382" y="384810"/>
                  </a:moveTo>
                  <a:lnTo>
                    <a:pt x="8382" y="0"/>
                  </a:lnTo>
                  <a:lnTo>
                    <a:pt x="0" y="0"/>
                  </a:lnTo>
                  <a:lnTo>
                    <a:pt x="0" y="384810"/>
                  </a:lnTo>
                  <a:lnTo>
                    <a:pt x="8382" y="384810"/>
                  </a:lnTo>
                  <a:close/>
                </a:path>
              </a:pathLst>
            </a:custGeom>
            <a:solidFill>
              <a:srgbClr val="000000"/>
            </a:solidFill>
          </p:spPr>
          <p:txBody>
            <a:bodyPr wrap="square" lIns="0" tIns="0" rIns="0" bIns="0" rtlCol="0"/>
            <a:lstStyle/>
            <a:p>
              <a:endParaRPr/>
            </a:p>
          </p:txBody>
        </p:sp>
        <p:pic>
          <p:nvPicPr>
            <p:cNvPr id="16" name="object 16"/>
            <p:cNvPicPr/>
            <p:nvPr/>
          </p:nvPicPr>
          <p:blipFill>
            <a:blip r:embed="rId2" cstate="print"/>
            <a:stretch>
              <a:fillRect/>
            </a:stretch>
          </p:blipFill>
          <p:spPr>
            <a:xfrm>
              <a:off x="4561217" y="4801362"/>
              <a:ext cx="116586" cy="164592"/>
            </a:xfrm>
            <a:prstGeom prst="rect">
              <a:avLst/>
            </a:prstGeom>
          </p:spPr>
        </p:pic>
      </p:grpSp>
      <p:pic>
        <p:nvPicPr>
          <p:cNvPr id="17" name="object 17"/>
          <p:cNvPicPr/>
          <p:nvPr/>
        </p:nvPicPr>
        <p:blipFill>
          <a:blip r:embed="rId3" cstate="print"/>
          <a:stretch>
            <a:fillRect/>
          </a:stretch>
        </p:blipFill>
        <p:spPr>
          <a:xfrm>
            <a:off x="4763909" y="4814315"/>
            <a:ext cx="153924" cy="187451"/>
          </a:xfrm>
          <a:prstGeom prst="rect">
            <a:avLst/>
          </a:prstGeom>
        </p:spPr>
      </p:pic>
      <p:grpSp>
        <p:nvGrpSpPr>
          <p:cNvPr id="18" name="object 18"/>
          <p:cNvGrpSpPr/>
          <p:nvPr/>
        </p:nvGrpSpPr>
        <p:grpSpPr>
          <a:xfrm>
            <a:off x="4551311" y="5417058"/>
            <a:ext cx="116839" cy="384810"/>
            <a:chOff x="4551311" y="5417058"/>
            <a:chExt cx="116839" cy="384810"/>
          </a:xfrm>
        </p:grpSpPr>
        <p:sp>
          <p:nvSpPr>
            <p:cNvPr id="19" name="object 19"/>
            <p:cNvSpPr/>
            <p:nvPr/>
          </p:nvSpPr>
          <p:spPr>
            <a:xfrm>
              <a:off x="4609223" y="5417058"/>
              <a:ext cx="8890" cy="384810"/>
            </a:xfrm>
            <a:custGeom>
              <a:avLst/>
              <a:gdLst/>
              <a:ahLst/>
              <a:cxnLst/>
              <a:rect l="l" t="t" r="r" b="b"/>
              <a:pathLst>
                <a:path w="8889" h="384810">
                  <a:moveTo>
                    <a:pt x="8381" y="384810"/>
                  </a:moveTo>
                  <a:lnTo>
                    <a:pt x="8381" y="0"/>
                  </a:lnTo>
                  <a:lnTo>
                    <a:pt x="0" y="0"/>
                  </a:lnTo>
                  <a:lnTo>
                    <a:pt x="0" y="384810"/>
                  </a:lnTo>
                  <a:lnTo>
                    <a:pt x="8381" y="384810"/>
                  </a:lnTo>
                  <a:close/>
                </a:path>
              </a:pathLst>
            </a:custGeom>
            <a:solidFill>
              <a:srgbClr val="000000"/>
            </a:solidFill>
          </p:spPr>
          <p:txBody>
            <a:bodyPr wrap="square" lIns="0" tIns="0" rIns="0" bIns="0" rtlCol="0"/>
            <a:lstStyle/>
            <a:p>
              <a:endParaRPr/>
            </a:p>
          </p:txBody>
        </p:sp>
        <p:pic>
          <p:nvPicPr>
            <p:cNvPr id="20" name="object 20"/>
            <p:cNvPicPr/>
            <p:nvPr/>
          </p:nvPicPr>
          <p:blipFill>
            <a:blip r:embed="rId4" cstate="print"/>
            <a:stretch>
              <a:fillRect/>
            </a:stretch>
          </p:blipFill>
          <p:spPr>
            <a:xfrm>
              <a:off x="4551311" y="5523738"/>
              <a:ext cx="116586" cy="164592"/>
            </a:xfrm>
            <a:prstGeom prst="rect">
              <a:avLst/>
            </a:prstGeom>
          </p:spPr>
        </p:pic>
      </p:grpSp>
      <p:pic>
        <p:nvPicPr>
          <p:cNvPr id="21" name="object 21"/>
          <p:cNvPicPr/>
          <p:nvPr/>
        </p:nvPicPr>
        <p:blipFill>
          <a:blip r:embed="rId5" cstate="print"/>
          <a:stretch>
            <a:fillRect/>
          </a:stretch>
        </p:blipFill>
        <p:spPr>
          <a:xfrm>
            <a:off x="4754003" y="5536691"/>
            <a:ext cx="153924" cy="186690"/>
          </a:xfrm>
          <a:prstGeom prst="rect">
            <a:avLst/>
          </a:prstGeom>
        </p:spPr>
      </p:pic>
      <p:grpSp>
        <p:nvGrpSpPr>
          <p:cNvPr id="22" name="object 22"/>
          <p:cNvGrpSpPr/>
          <p:nvPr/>
        </p:nvGrpSpPr>
        <p:grpSpPr>
          <a:xfrm>
            <a:off x="5811659" y="4675632"/>
            <a:ext cx="350520" cy="494030"/>
            <a:chOff x="5811659" y="4675632"/>
            <a:chExt cx="350520" cy="494030"/>
          </a:xfrm>
        </p:grpSpPr>
        <p:pic>
          <p:nvPicPr>
            <p:cNvPr id="23" name="object 23"/>
            <p:cNvPicPr/>
            <p:nvPr/>
          </p:nvPicPr>
          <p:blipFill>
            <a:blip r:embed="rId6" cstate="print"/>
            <a:stretch>
              <a:fillRect/>
            </a:stretch>
          </p:blipFill>
          <p:spPr>
            <a:xfrm>
              <a:off x="5811659" y="4675632"/>
              <a:ext cx="128016" cy="493775"/>
            </a:xfrm>
            <a:prstGeom prst="rect">
              <a:avLst/>
            </a:prstGeom>
          </p:spPr>
        </p:pic>
        <p:sp>
          <p:nvSpPr>
            <p:cNvPr id="24" name="object 24"/>
            <p:cNvSpPr/>
            <p:nvPr/>
          </p:nvSpPr>
          <p:spPr>
            <a:xfrm>
              <a:off x="5931293" y="4760976"/>
              <a:ext cx="231140" cy="8890"/>
            </a:xfrm>
            <a:custGeom>
              <a:avLst/>
              <a:gdLst/>
              <a:ahLst/>
              <a:cxnLst/>
              <a:rect l="l" t="t" r="r" b="b"/>
              <a:pathLst>
                <a:path w="231139" h="8889">
                  <a:moveTo>
                    <a:pt x="230886" y="8382"/>
                  </a:moveTo>
                  <a:lnTo>
                    <a:pt x="230886" y="0"/>
                  </a:lnTo>
                  <a:lnTo>
                    <a:pt x="0" y="0"/>
                  </a:lnTo>
                  <a:lnTo>
                    <a:pt x="0" y="8382"/>
                  </a:lnTo>
                  <a:lnTo>
                    <a:pt x="230886" y="8382"/>
                  </a:lnTo>
                  <a:close/>
                </a:path>
              </a:pathLst>
            </a:custGeom>
            <a:solidFill>
              <a:srgbClr val="000000"/>
            </a:solidFill>
          </p:spPr>
          <p:txBody>
            <a:bodyPr wrap="square" lIns="0" tIns="0" rIns="0" bIns="0" rtlCol="0"/>
            <a:lstStyle/>
            <a:p>
              <a:endParaRPr/>
            </a:p>
          </p:txBody>
        </p:sp>
      </p:grpSp>
      <p:grpSp>
        <p:nvGrpSpPr>
          <p:cNvPr id="25" name="object 25"/>
          <p:cNvGrpSpPr/>
          <p:nvPr/>
        </p:nvGrpSpPr>
        <p:grpSpPr>
          <a:xfrm>
            <a:off x="5553341" y="4818126"/>
            <a:ext cx="192405" cy="203200"/>
            <a:chOff x="5553341" y="4818126"/>
            <a:chExt cx="192405" cy="203200"/>
          </a:xfrm>
        </p:grpSpPr>
        <p:pic>
          <p:nvPicPr>
            <p:cNvPr id="26" name="object 26"/>
            <p:cNvPicPr/>
            <p:nvPr/>
          </p:nvPicPr>
          <p:blipFill>
            <a:blip r:embed="rId7" cstate="print"/>
            <a:stretch>
              <a:fillRect/>
            </a:stretch>
          </p:blipFill>
          <p:spPr>
            <a:xfrm>
              <a:off x="5553341" y="4818126"/>
              <a:ext cx="192024" cy="86868"/>
            </a:xfrm>
            <a:prstGeom prst="rect">
              <a:avLst/>
            </a:prstGeom>
          </p:spPr>
        </p:pic>
        <p:pic>
          <p:nvPicPr>
            <p:cNvPr id="27" name="object 27"/>
            <p:cNvPicPr/>
            <p:nvPr/>
          </p:nvPicPr>
          <p:blipFill>
            <a:blip r:embed="rId8" cstate="print"/>
            <a:stretch>
              <a:fillRect/>
            </a:stretch>
          </p:blipFill>
          <p:spPr>
            <a:xfrm>
              <a:off x="5553341" y="4933188"/>
              <a:ext cx="192024" cy="87629"/>
            </a:xfrm>
            <a:prstGeom prst="rect">
              <a:avLst/>
            </a:prstGeom>
          </p:spPr>
        </p:pic>
      </p:grpSp>
      <p:grpSp>
        <p:nvGrpSpPr>
          <p:cNvPr id="28" name="object 28"/>
          <p:cNvGrpSpPr/>
          <p:nvPr/>
        </p:nvGrpSpPr>
        <p:grpSpPr>
          <a:xfrm>
            <a:off x="5810135" y="5366003"/>
            <a:ext cx="352425" cy="494030"/>
            <a:chOff x="5810135" y="5366003"/>
            <a:chExt cx="352425" cy="494030"/>
          </a:xfrm>
        </p:grpSpPr>
        <p:pic>
          <p:nvPicPr>
            <p:cNvPr id="29" name="object 29"/>
            <p:cNvPicPr/>
            <p:nvPr/>
          </p:nvPicPr>
          <p:blipFill>
            <a:blip r:embed="rId9" cstate="print"/>
            <a:stretch>
              <a:fillRect/>
            </a:stretch>
          </p:blipFill>
          <p:spPr>
            <a:xfrm>
              <a:off x="5810135" y="5366003"/>
              <a:ext cx="126492" cy="493776"/>
            </a:xfrm>
            <a:prstGeom prst="rect">
              <a:avLst/>
            </a:prstGeom>
          </p:spPr>
        </p:pic>
        <p:sp>
          <p:nvSpPr>
            <p:cNvPr id="30" name="object 30"/>
            <p:cNvSpPr/>
            <p:nvPr/>
          </p:nvSpPr>
          <p:spPr>
            <a:xfrm>
              <a:off x="5937389" y="5447537"/>
              <a:ext cx="224790" cy="8890"/>
            </a:xfrm>
            <a:custGeom>
              <a:avLst/>
              <a:gdLst/>
              <a:ahLst/>
              <a:cxnLst/>
              <a:rect l="l" t="t" r="r" b="b"/>
              <a:pathLst>
                <a:path w="224789" h="8889">
                  <a:moveTo>
                    <a:pt x="224789" y="8381"/>
                  </a:moveTo>
                  <a:lnTo>
                    <a:pt x="224789" y="0"/>
                  </a:lnTo>
                  <a:lnTo>
                    <a:pt x="0" y="0"/>
                  </a:lnTo>
                  <a:lnTo>
                    <a:pt x="0" y="8381"/>
                  </a:lnTo>
                  <a:lnTo>
                    <a:pt x="224789" y="8381"/>
                  </a:lnTo>
                  <a:close/>
                </a:path>
              </a:pathLst>
            </a:custGeom>
            <a:solidFill>
              <a:srgbClr val="000000"/>
            </a:solidFill>
          </p:spPr>
          <p:txBody>
            <a:bodyPr wrap="square" lIns="0" tIns="0" rIns="0" bIns="0" rtlCol="0"/>
            <a:lstStyle/>
            <a:p>
              <a:endParaRPr/>
            </a:p>
          </p:txBody>
        </p:sp>
      </p:grpSp>
      <p:grpSp>
        <p:nvGrpSpPr>
          <p:cNvPr id="31" name="object 31"/>
          <p:cNvGrpSpPr/>
          <p:nvPr/>
        </p:nvGrpSpPr>
        <p:grpSpPr>
          <a:xfrm>
            <a:off x="5551055" y="5507735"/>
            <a:ext cx="192405" cy="203835"/>
            <a:chOff x="5551055" y="5507735"/>
            <a:chExt cx="192405" cy="203835"/>
          </a:xfrm>
        </p:grpSpPr>
        <p:pic>
          <p:nvPicPr>
            <p:cNvPr id="32" name="object 32"/>
            <p:cNvPicPr/>
            <p:nvPr/>
          </p:nvPicPr>
          <p:blipFill>
            <a:blip r:embed="rId10" cstate="print"/>
            <a:stretch>
              <a:fillRect/>
            </a:stretch>
          </p:blipFill>
          <p:spPr>
            <a:xfrm>
              <a:off x="5551055" y="5507735"/>
              <a:ext cx="192024" cy="87629"/>
            </a:xfrm>
            <a:prstGeom prst="rect">
              <a:avLst/>
            </a:prstGeom>
          </p:spPr>
        </p:pic>
        <p:pic>
          <p:nvPicPr>
            <p:cNvPr id="33" name="object 33"/>
            <p:cNvPicPr/>
            <p:nvPr/>
          </p:nvPicPr>
          <p:blipFill>
            <a:blip r:embed="rId11" cstate="print"/>
            <a:stretch>
              <a:fillRect/>
            </a:stretch>
          </p:blipFill>
          <p:spPr>
            <a:xfrm>
              <a:off x="5551055" y="5623559"/>
              <a:ext cx="192024" cy="87629"/>
            </a:xfrm>
            <a:prstGeom prst="rect">
              <a:avLst/>
            </a:prstGeom>
          </p:spPr>
        </p:pic>
      </p:grpSp>
      <p:sp>
        <p:nvSpPr>
          <p:cNvPr id="34" name="object 34"/>
          <p:cNvSpPr/>
          <p:nvPr/>
        </p:nvSpPr>
        <p:spPr>
          <a:xfrm>
            <a:off x="5205107" y="4765547"/>
            <a:ext cx="67310" cy="314325"/>
          </a:xfrm>
          <a:custGeom>
            <a:avLst/>
            <a:gdLst/>
            <a:ahLst/>
            <a:cxnLst/>
            <a:rect l="l" t="t" r="r" b="b"/>
            <a:pathLst>
              <a:path w="67310" h="314325">
                <a:moveTo>
                  <a:pt x="67055" y="246887"/>
                </a:moveTo>
                <a:lnTo>
                  <a:pt x="0" y="246887"/>
                </a:lnTo>
                <a:lnTo>
                  <a:pt x="28955" y="304799"/>
                </a:lnTo>
                <a:lnTo>
                  <a:pt x="28955" y="258317"/>
                </a:lnTo>
                <a:lnTo>
                  <a:pt x="37337" y="258317"/>
                </a:lnTo>
                <a:lnTo>
                  <a:pt x="37337" y="306323"/>
                </a:lnTo>
                <a:lnTo>
                  <a:pt x="67055" y="246887"/>
                </a:lnTo>
                <a:close/>
              </a:path>
              <a:path w="67310" h="314325">
                <a:moveTo>
                  <a:pt x="37337" y="246887"/>
                </a:moveTo>
                <a:lnTo>
                  <a:pt x="37337" y="0"/>
                </a:lnTo>
                <a:lnTo>
                  <a:pt x="28955" y="0"/>
                </a:lnTo>
                <a:lnTo>
                  <a:pt x="28955" y="246887"/>
                </a:lnTo>
                <a:lnTo>
                  <a:pt x="37337" y="246887"/>
                </a:lnTo>
                <a:close/>
              </a:path>
              <a:path w="67310" h="314325">
                <a:moveTo>
                  <a:pt x="37337" y="306323"/>
                </a:moveTo>
                <a:lnTo>
                  <a:pt x="37337" y="258317"/>
                </a:lnTo>
                <a:lnTo>
                  <a:pt x="28955" y="258317"/>
                </a:lnTo>
                <a:lnTo>
                  <a:pt x="28955" y="304799"/>
                </a:lnTo>
                <a:lnTo>
                  <a:pt x="33527" y="313943"/>
                </a:lnTo>
                <a:lnTo>
                  <a:pt x="37337" y="306323"/>
                </a:lnTo>
                <a:close/>
              </a:path>
            </a:pathLst>
          </a:custGeom>
          <a:solidFill>
            <a:srgbClr val="000000"/>
          </a:solidFill>
        </p:spPr>
        <p:txBody>
          <a:bodyPr wrap="square" lIns="0" tIns="0" rIns="0" bIns="0" rtlCol="0"/>
          <a:lstStyle/>
          <a:p>
            <a:endParaRPr/>
          </a:p>
        </p:txBody>
      </p:sp>
      <p:sp>
        <p:nvSpPr>
          <p:cNvPr id="35" name="object 35"/>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36" name="object 36"/>
          <p:cNvSpPr txBox="1">
            <a:spLocks noGrp="1"/>
          </p:cNvSpPr>
          <p:nvPr>
            <p:ph type="sldNum" sz="quarter" idx="7"/>
          </p:nvPr>
        </p:nvSpPr>
        <p:spPr>
          <a:prstGeom prst="rect">
            <a:avLst/>
          </a:prstGeom>
        </p:spPr>
        <p:txBody>
          <a:bodyPr vert="horz" wrap="square" lIns="0" tIns="5080" rIns="0" bIns="0" rtlCol="0">
            <a:spAutoFit/>
          </a:bodyPr>
          <a:lstStyle/>
          <a:p>
            <a:pPr marL="38735">
              <a:lnSpc>
                <a:spcPct val="100000"/>
              </a:lnSpc>
              <a:spcBef>
                <a:spcPts val="40"/>
              </a:spcBef>
            </a:pPr>
            <a:fld id="{81D60167-4931-47E6-BA6A-407CBD079E47}" type="slidenum">
              <a:rPr spc="-25" dirty="0"/>
              <a:t>49</a:t>
            </a:fld>
            <a:endParaRPr spc="-2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491619" y="2999719"/>
            <a:ext cx="3326181" cy="1562926"/>
          </a:xfrm>
          <a:prstGeom prst="rect">
            <a:avLst/>
          </a:prstGeom>
        </p:spPr>
      </p:pic>
      <p:sp>
        <p:nvSpPr>
          <p:cNvPr id="3" name="object 3"/>
          <p:cNvSpPr txBox="1"/>
          <p:nvPr/>
        </p:nvSpPr>
        <p:spPr>
          <a:xfrm>
            <a:off x="6317875" y="4695697"/>
            <a:ext cx="1723389" cy="292735"/>
          </a:xfrm>
          <a:prstGeom prst="rect">
            <a:avLst/>
          </a:prstGeom>
        </p:spPr>
        <p:txBody>
          <a:bodyPr vert="horz" wrap="square" lIns="0" tIns="12700" rIns="0" bIns="0" rtlCol="0">
            <a:spAutoFit/>
          </a:bodyPr>
          <a:lstStyle/>
          <a:p>
            <a:pPr marL="12700">
              <a:lnSpc>
                <a:spcPct val="100000"/>
              </a:lnSpc>
              <a:spcBef>
                <a:spcPts val="100"/>
              </a:spcBef>
            </a:pPr>
            <a:r>
              <a:rPr sz="1750" b="1" spc="-10" dirty="0">
                <a:latin typeface="Arial"/>
                <a:cs typeface="Arial"/>
                <a:hlinkClick r:id="rId3"/>
              </a:rPr>
              <a:t>xup@xilinx.com</a:t>
            </a:r>
            <a:endParaRPr sz="1750">
              <a:latin typeface="Arial"/>
              <a:cs typeface="Arial"/>
            </a:endParaRPr>
          </a:p>
        </p:txBody>
      </p:sp>
      <p:pic>
        <p:nvPicPr>
          <p:cNvPr id="4" name="object 4"/>
          <p:cNvPicPr/>
          <p:nvPr/>
        </p:nvPicPr>
        <p:blipFill>
          <a:blip r:embed="rId4" cstate="print"/>
          <a:stretch>
            <a:fillRect/>
          </a:stretch>
        </p:blipFill>
        <p:spPr>
          <a:xfrm>
            <a:off x="1775345" y="2769870"/>
            <a:ext cx="1887473" cy="1900427"/>
          </a:xfrm>
          <a:prstGeom prst="rect">
            <a:avLst/>
          </a:prstGeom>
        </p:spPr>
      </p:pic>
      <p:sp>
        <p:nvSpPr>
          <p:cNvPr id="5" name="object 5"/>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38735">
              <a:lnSpc>
                <a:spcPct val="100000"/>
              </a:lnSpc>
              <a:spcBef>
                <a:spcPts val="40"/>
              </a:spcBef>
            </a:pPr>
            <a:fld id="{81D60167-4931-47E6-BA6A-407CBD079E47}" type="slidenum">
              <a:rPr spc="-25" dirty="0"/>
              <a:t>50</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362</TotalTime>
  <Words>3102</Words>
  <Application>Microsoft Office PowerPoint</Application>
  <PresentationFormat>自定义</PresentationFormat>
  <Paragraphs>570</Paragraphs>
  <Slides>50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50</vt:i4>
      </vt:variant>
    </vt:vector>
  </HeadingPairs>
  <TitlesOfParts>
    <vt:vector size="57" baseType="lpstr">
      <vt:lpstr>宋体</vt:lpstr>
      <vt:lpstr>微软雅黑</vt:lpstr>
      <vt:lpstr>Arial</vt:lpstr>
      <vt:lpstr>Calibri</vt:lpstr>
      <vt:lpstr>Times New Roman</vt:lpstr>
      <vt:lpstr>Wingdings</vt:lpstr>
      <vt:lpstr>Office Theme</vt:lpstr>
      <vt:lpstr>搭建你的数字积木</vt:lpstr>
      <vt:lpstr>有限状态机设计基础</vt:lpstr>
      <vt:lpstr>本章学习导言</vt:lpstr>
      <vt:lpstr>主要内容</vt:lpstr>
      <vt:lpstr>状态机定义</vt:lpstr>
      <vt:lpstr>状态机优点</vt:lpstr>
      <vt:lpstr>状态机优点（续）</vt:lpstr>
      <vt:lpstr>有限状态机（FSM）</vt:lpstr>
      <vt:lpstr>状态机分类</vt:lpstr>
      <vt:lpstr>PowerPoint 演示文稿</vt:lpstr>
      <vt:lpstr>PowerPoint 演示文稿</vt:lpstr>
      <vt:lpstr>有限状态机的表示方法</vt:lpstr>
      <vt:lpstr>状态转移图</vt:lpstr>
      <vt:lpstr>状态转移图（续）</vt:lpstr>
      <vt:lpstr>算法状态机（ASM）图</vt:lpstr>
      <vt:lpstr>PowerPoint 演示文稿</vt:lpstr>
      <vt:lpstr>有限状态机代码实现</vt:lpstr>
      <vt:lpstr>有限状态机代码实现实例</vt:lpstr>
      <vt:lpstr>有限状态机代码实现代码</vt:lpstr>
      <vt:lpstr>有限状态机代码实现</vt:lpstr>
      <vt:lpstr>有限状态机代码另外一种实现</vt:lpstr>
      <vt:lpstr>有限状态机代码另外一种实现(续)</vt:lpstr>
      <vt:lpstr>状态机设计实例</vt:lpstr>
      <vt:lpstr>序列检测器设计</vt:lpstr>
      <vt:lpstr>Moore状态机序列检测器设计_1</vt:lpstr>
      <vt:lpstr>Moore状态机序列检测器设计_2</vt:lpstr>
      <vt:lpstr>Moore状态机序列检测器实现代码1</vt:lpstr>
      <vt:lpstr>Moore状态机序列检测器实现代码2</vt:lpstr>
      <vt:lpstr>Mealy状态机序列检测器设计1</vt:lpstr>
      <vt:lpstr>Mealy状态机序列检测器实现代码1</vt:lpstr>
      <vt:lpstr>Mealy状态机序列检测器实现代码2</vt:lpstr>
      <vt:lpstr>Moore状态机和Mealy状态机序列检测器仿真结果比较</vt:lpstr>
      <vt:lpstr>ADC采样控制电路设计1</vt:lpstr>
      <vt:lpstr>ADC采样控制电路设计2</vt:lpstr>
      <vt:lpstr>ADC采样控制电路</vt:lpstr>
      <vt:lpstr>ADC采样控制电路实现代码1</vt:lpstr>
      <vt:lpstr>ADC采样控制电路实现代码2</vt:lpstr>
      <vt:lpstr>ADC采样控制电路两个组合过程实现代码</vt:lpstr>
      <vt:lpstr>按键消抖电路设计_1</vt:lpstr>
      <vt:lpstr>按键消抖电路设计_2</vt:lpstr>
      <vt:lpstr>PowerPoint 演示文稿</vt:lpstr>
      <vt:lpstr>消抖电路的有限状态机Verilog实现代码1</vt:lpstr>
      <vt:lpstr>消抖电路的有限状态机Verilog实现代码2</vt:lpstr>
      <vt:lpstr>消抖电路的有限状态机Verilog实现代码3</vt:lpstr>
      <vt:lpstr>练习题</vt:lpstr>
      <vt:lpstr>序列检测器进阶</vt:lpstr>
      <vt:lpstr>消抖电路的替换方案</vt:lpstr>
      <vt:lpstr>停车场计数器</vt:lpstr>
      <vt:lpstr>停车场计数器</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&lt;4D6963726F736F667420506F776572506F696E74202D20342ED3D0CFDED7B4CCACBBFAC9E8BCC6BBF9B4A12E70707478&gt;</dc:title>
  <dc:creator>zhang</dc:creator>
  <cp:lastModifiedBy>Tianyi Chen</cp:lastModifiedBy>
  <cp:revision>12</cp:revision>
  <dcterms:created xsi:type="dcterms:W3CDTF">2024-08-19T07:26:54Z</dcterms:created>
  <dcterms:modified xsi:type="dcterms:W3CDTF">2026-08-27T07:03:08Z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2024-06-28T00:00:00Z</vt:filetime>
  </property>
  <property fmtid="{D5CDD505-2E9C-101B-9397-08002B2CF9AE}" pid="3" name="Creator">
    <vt:lpwstr>PScript5.dll Version 5.2.2</vt:lpwstr>
  </property>
  <property fmtid="{D5CDD505-2E9C-101B-9397-08002B2CF9AE}" pid="4" name="LastSaved">
    <vt:filetime>2024-08-19T00:00:00Z</vt:filetime>
  </property>
  <property fmtid="{D5CDD505-2E9C-101B-9397-08002B2CF9AE}" pid="5" name="Producer">
    <vt:lpwstr>Acrobat Distiller 23.0 (Windows)</vt:lpwstr>
  </property>
</Properties>
</file>
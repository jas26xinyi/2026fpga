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6"/>
  </p:notesMasterIdLst>
  <p:sldIdLst>
    <p:sldId id="256" r:id="rId2"/>
    <p:sldId id="257" r:id="rId3"/>
    <p:sldId id="258" r:id="rId4"/>
    <p:sldId id="259" r:id="rId5"/>
    <p:sldId id="529" r:id="rId6"/>
    <p:sldId id="530" r:id="rId7"/>
    <p:sldId id="531" r:id="rId8"/>
    <p:sldId id="532" r:id="rId9"/>
    <p:sldId id="538" r:id="rId10"/>
    <p:sldId id="537" r:id="rId11"/>
    <p:sldId id="533" r:id="rId12"/>
    <p:sldId id="263" r:id="rId13"/>
    <p:sldId id="472" r:id="rId14"/>
    <p:sldId id="474" r:id="rId15"/>
    <p:sldId id="504" r:id="rId16"/>
    <p:sldId id="534" r:id="rId17"/>
    <p:sldId id="535" r:id="rId18"/>
    <p:sldId id="267" r:id="rId19"/>
    <p:sldId id="268" r:id="rId20"/>
    <p:sldId id="269" r:id="rId21"/>
    <p:sldId id="536"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Lst>
  <p:sldSz cx="10693400" cy="7562850"/>
  <p:notesSz cx="10693400" cy="756285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8030" autoAdjust="0"/>
  </p:normalViewPr>
  <p:slideViewPr>
    <p:cSldViewPr>
      <p:cViewPr varScale="1">
        <p:scale>
          <a:sx n="76" d="100"/>
          <a:sy n="76" d="100"/>
        </p:scale>
        <p:origin x="1520" y="6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4633913" cy="37941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6057900" y="0"/>
            <a:ext cx="4632325" cy="379413"/>
          </a:xfrm>
          <a:prstGeom prst="rect">
            <a:avLst/>
          </a:prstGeom>
        </p:spPr>
        <p:txBody>
          <a:bodyPr vert="horz" lIns="91440" tIns="45720" rIns="91440" bIns="45720" rtlCol="0"/>
          <a:lstStyle>
            <a:lvl1pPr algn="r">
              <a:defRPr sz="1200"/>
            </a:lvl1pPr>
          </a:lstStyle>
          <a:p>
            <a:fld id="{98C24714-8F6D-4BA1-AC32-DD9D86A6EB24}" type="datetimeFigureOut">
              <a:rPr lang="zh-CN" altLang="en-US" smtClean="0"/>
              <a:t>2026/8/7</a:t>
            </a:fld>
            <a:endParaRPr lang="zh-CN" altLang="en-US"/>
          </a:p>
        </p:txBody>
      </p:sp>
      <p:sp>
        <p:nvSpPr>
          <p:cNvPr id="4" name="幻灯片图像占位符 3"/>
          <p:cNvSpPr>
            <a:spLocks noGrp="1" noRot="1" noChangeAspect="1"/>
          </p:cNvSpPr>
          <p:nvPr>
            <p:ph type="sldImg" idx="2"/>
          </p:nvPr>
        </p:nvSpPr>
        <p:spPr>
          <a:xfrm>
            <a:off x="3543300" y="946150"/>
            <a:ext cx="3606800" cy="2551113"/>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1069975" y="3640138"/>
            <a:ext cx="8553450" cy="29781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7183438"/>
            <a:ext cx="4633913" cy="379412"/>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6057900" y="7183438"/>
            <a:ext cx="4632325" cy="379412"/>
          </a:xfrm>
          <a:prstGeom prst="rect">
            <a:avLst/>
          </a:prstGeom>
        </p:spPr>
        <p:txBody>
          <a:bodyPr vert="horz" lIns="91440" tIns="45720" rIns="91440" bIns="45720" rtlCol="0" anchor="b"/>
          <a:lstStyle>
            <a:lvl1pPr algn="r">
              <a:defRPr sz="1200"/>
            </a:lvl1pPr>
          </a:lstStyle>
          <a:p>
            <a:fld id="{FFBE9C2A-2113-4F08-9D30-07527D8AEB59}" type="slidenum">
              <a:rPr lang="zh-CN" altLang="en-US" smtClean="0"/>
              <a:t>‹#›</a:t>
            </a:fld>
            <a:endParaRPr lang="zh-CN" altLang="en-US"/>
          </a:p>
        </p:txBody>
      </p:sp>
    </p:spTree>
    <p:extLst>
      <p:ext uri="{BB962C8B-B14F-4D97-AF65-F5344CB8AC3E}">
        <p14:creationId xmlns:p14="http://schemas.microsoft.com/office/powerpoint/2010/main" val="28219900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我们前面讲到了模块是</a:t>
            </a:r>
            <a:r>
              <a:rPr lang="en-US" altLang="zh-CN" dirty="0"/>
              <a:t>verilog</a:t>
            </a:r>
            <a:r>
              <a:rPr lang="zh-CN" altLang="en-US" dirty="0"/>
              <a:t>编程中的核心概念，是按层次建模搭建起来的数字系统的基本组成单元，</a:t>
            </a:r>
            <a:r>
              <a:rPr lang="en-US" altLang="zh-CN" dirty="0"/>
              <a:t>verilog</a:t>
            </a:r>
            <a:r>
              <a:rPr lang="zh-CN" altLang="en-US" dirty="0"/>
              <a:t>语言基础的第一个部分，我们就首先来看看在</a:t>
            </a:r>
            <a:r>
              <a:rPr lang="en-US" altLang="zh-CN" dirty="0"/>
              <a:t>verilog</a:t>
            </a:r>
            <a:r>
              <a:rPr lang="zh-CN" altLang="en-US" dirty="0"/>
              <a:t>程序里模块是怎么构成的。这里我们的例子是一个四选一多路器模块，左边的代码一开始看着可能比较复杂，我们这里带着大家拆解一下，看看一个模块基本的构成是什么样的</a:t>
            </a:r>
          </a:p>
        </p:txBody>
      </p:sp>
      <p:sp>
        <p:nvSpPr>
          <p:cNvPr id="4" name="灯片编号占位符 3"/>
          <p:cNvSpPr>
            <a:spLocks noGrp="1"/>
          </p:cNvSpPr>
          <p:nvPr>
            <p:ph type="sldNum" sz="quarter" idx="5"/>
          </p:nvPr>
        </p:nvSpPr>
        <p:spPr/>
        <p:txBody>
          <a:bodyPr/>
          <a:lstStyle/>
          <a:p>
            <a:fld id="{FFBE9C2A-2113-4F08-9D30-07527D8AEB59}" type="slidenum">
              <a:rPr lang="zh-CN" altLang="en-US" smtClean="0"/>
              <a:t>4</a:t>
            </a:fld>
            <a:endParaRPr lang="zh-CN" altLang="en-US"/>
          </a:p>
        </p:txBody>
      </p:sp>
    </p:spTree>
    <p:extLst>
      <p:ext uri="{BB962C8B-B14F-4D97-AF65-F5344CB8AC3E}">
        <p14:creationId xmlns:p14="http://schemas.microsoft.com/office/powerpoint/2010/main" val="38793191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1DDEFD4F-7A1F-4673-BBD8-327B8E723133}" type="slidenum">
              <a:rPr lang="en-US" altLang="zh-CN" smtClean="0"/>
              <a:pPr>
                <a:defRPr/>
              </a:pPr>
              <a:t>5</a:t>
            </a:fld>
            <a:endParaRPr lang="en-US" altLang="zh-CN"/>
          </a:p>
        </p:txBody>
      </p:sp>
    </p:spTree>
    <p:extLst>
      <p:ext uri="{BB962C8B-B14F-4D97-AF65-F5344CB8AC3E}">
        <p14:creationId xmlns:p14="http://schemas.microsoft.com/office/powerpoint/2010/main" val="7457568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整个模块的定义中</a:t>
            </a:r>
            <a:r>
              <a:rPr lang="en-US" altLang="zh-CN" dirty="0"/>
              <a:t>module, </a:t>
            </a:r>
            <a:r>
              <a:rPr lang="zh-CN" altLang="en-US" dirty="0"/>
              <a:t>模块名，</a:t>
            </a:r>
            <a:r>
              <a:rPr lang="en-US" altLang="zh-CN" dirty="0"/>
              <a:t>endmodule</a:t>
            </a:r>
            <a:r>
              <a:rPr lang="zh-CN" altLang="en-US" dirty="0"/>
              <a:t>结构是固定的，具体怎么写程序去实现想要的功能，也就是模块内容这部分，我们后面再详细来讲；端口作为模块和外部交互的接口，这边还有一些内容需要注意一下，我们再多展开讲一下</a:t>
            </a:r>
          </a:p>
        </p:txBody>
      </p:sp>
      <p:sp>
        <p:nvSpPr>
          <p:cNvPr id="4" name="灯片编号占位符 3"/>
          <p:cNvSpPr>
            <a:spLocks noGrp="1"/>
          </p:cNvSpPr>
          <p:nvPr>
            <p:ph type="sldNum" sz="quarter" idx="10"/>
          </p:nvPr>
        </p:nvSpPr>
        <p:spPr/>
        <p:txBody>
          <a:bodyPr/>
          <a:lstStyle/>
          <a:p>
            <a:pPr>
              <a:defRPr/>
            </a:pPr>
            <a:fld id="{1DDEFD4F-7A1F-4673-BBD8-327B8E723133}" type="slidenum">
              <a:rPr lang="en-US" altLang="zh-CN" smtClean="0"/>
              <a:pPr>
                <a:defRPr/>
              </a:pPr>
              <a:t>6</a:t>
            </a:fld>
            <a:endParaRPr lang="en-US" altLang="zh-CN"/>
          </a:p>
        </p:txBody>
      </p:sp>
    </p:spTree>
    <p:extLst>
      <p:ext uri="{BB962C8B-B14F-4D97-AF65-F5344CB8AC3E}">
        <p14:creationId xmlns:p14="http://schemas.microsoft.com/office/powerpoint/2010/main" val="33599449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首先</a:t>
            </a:r>
            <a:r>
              <a:rPr lang="en-US" altLang="zh-CN" dirty="0"/>
              <a:t>…</a:t>
            </a:r>
          </a:p>
          <a:p>
            <a:r>
              <a:rPr lang="zh-CN" altLang="en-US" dirty="0"/>
              <a:t>大家可以对照着看一看右边这个四位全加器的例子。我们看到模块名</a:t>
            </a:r>
            <a:r>
              <a:rPr lang="en-US" altLang="zh-CN" dirty="0"/>
              <a:t>fulladder</a:t>
            </a:r>
            <a:r>
              <a:rPr lang="zh-CN" altLang="en-US" dirty="0"/>
              <a:t>后面的端口列表中列出了所需的所有五个端口，包括加数、被加数、从前一级来的进位，然后和以及到下一级的进位，一个全加器需要的所有端口都列出来了，然后我们对每个端口的输入输出类型和数据类型作了声明，比如</a:t>
            </a:r>
            <a:r>
              <a:rPr lang="en-US" altLang="zh-CN" dirty="0"/>
              <a:t>… </a:t>
            </a:r>
            <a:r>
              <a:rPr lang="zh-CN" altLang="en-US" dirty="0"/>
              <a:t>模块具体的功能定义这里就省掉了。</a:t>
            </a:r>
          </a:p>
        </p:txBody>
      </p:sp>
      <p:sp>
        <p:nvSpPr>
          <p:cNvPr id="4" name="灯片编号占位符 3"/>
          <p:cNvSpPr>
            <a:spLocks noGrp="1"/>
          </p:cNvSpPr>
          <p:nvPr>
            <p:ph type="sldNum" sz="quarter" idx="10"/>
          </p:nvPr>
        </p:nvSpPr>
        <p:spPr/>
        <p:txBody>
          <a:bodyPr/>
          <a:lstStyle/>
          <a:p>
            <a:pPr>
              <a:defRPr/>
            </a:pPr>
            <a:fld id="{1DDEFD4F-7A1F-4673-BBD8-327B8E723133}" type="slidenum">
              <a:rPr lang="en-US" altLang="zh-CN" smtClean="0"/>
              <a:pPr>
                <a:defRPr/>
              </a:pPr>
              <a:t>7</a:t>
            </a:fld>
            <a:endParaRPr lang="en-US" altLang="zh-CN"/>
          </a:p>
        </p:txBody>
      </p:sp>
    </p:spTree>
    <p:extLst>
      <p:ext uri="{BB962C8B-B14F-4D97-AF65-F5344CB8AC3E}">
        <p14:creationId xmlns:p14="http://schemas.microsoft.com/office/powerpoint/2010/main" val="7144864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15FF27-68F7-51CA-263A-4A3DEF35750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A17C755-D5E9-D993-5952-BC55AB79CFC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D26B80A-267E-3FFF-9107-5375D611830E}"/>
              </a:ext>
            </a:extLst>
          </p:cNvPr>
          <p:cNvSpPr>
            <a:spLocks noGrp="1"/>
          </p:cNvSpPr>
          <p:nvPr>
            <p:ph type="body" idx="1"/>
          </p:nvPr>
        </p:nvSpPr>
        <p:spPr/>
        <p:txBody>
          <a:bodyPr/>
          <a:lstStyle/>
          <a:p>
            <a:r>
              <a:rPr lang="zh-CN" altLang="en-US" dirty="0"/>
              <a:t>我们前面讲的这些都是关于如何声明一个模块，也就是你如何根据所想要实现的功能，去定义一个模块；好了，我现在已经定义好了一个模块了，那我想在</a:t>
            </a:r>
            <a:r>
              <a:rPr lang="en-US" altLang="zh-CN" dirty="0"/>
              <a:t>verilog</a:t>
            </a:r>
            <a:r>
              <a:rPr lang="zh-CN" altLang="en-US" dirty="0"/>
              <a:t>中真正把这个模块用起来，还需要对所定义的模块进行实例化；模块声明</a:t>
            </a:r>
            <a:r>
              <a:rPr lang="en-US" altLang="zh-CN" dirty="0"/>
              <a:t>——</a:t>
            </a:r>
            <a:r>
              <a:rPr lang="zh-CN" altLang="en-US" dirty="0"/>
              <a:t>声明的是一个模板，实例化</a:t>
            </a:r>
            <a:r>
              <a:rPr lang="en-US" altLang="zh-CN" dirty="0"/>
              <a:t>——</a:t>
            </a:r>
            <a:r>
              <a:rPr lang="zh-CN" altLang="en-US" dirty="0"/>
              <a:t>根据定义好的模板创建实际的模块对象</a:t>
            </a:r>
          </a:p>
        </p:txBody>
      </p:sp>
      <p:sp>
        <p:nvSpPr>
          <p:cNvPr id="4" name="灯片编号占位符 3">
            <a:extLst>
              <a:ext uri="{FF2B5EF4-FFF2-40B4-BE49-F238E27FC236}">
                <a16:creationId xmlns:a16="http://schemas.microsoft.com/office/drawing/2014/main" id="{4CCFB7B3-ADE4-D4C4-9156-44F4C97FAF93}"/>
              </a:ext>
            </a:extLst>
          </p:cNvPr>
          <p:cNvSpPr>
            <a:spLocks noGrp="1"/>
          </p:cNvSpPr>
          <p:nvPr>
            <p:ph type="sldNum" sz="quarter" idx="10"/>
          </p:nvPr>
        </p:nvSpPr>
        <p:spPr/>
        <p:txBody>
          <a:bodyPr/>
          <a:lstStyle/>
          <a:p>
            <a:pPr>
              <a:defRPr/>
            </a:pPr>
            <a:fld id="{1DDEFD4F-7A1F-4673-BBD8-327B8E723133}" type="slidenum">
              <a:rPr lang="en-US" altLang="zh-CN" smtClean="0"/>
              <a:pPr>
                <a:defRPr/>
              </a:pPr>
              <a:t>10</a:t>
            </a:fld>
            <a:endParaRPr lang="en-US" altLang="zh-CN"/>
          </a:p>
        </p:txBody>
      </p:sp>
    </p:spTree>
    <p:extLst>
      <p:ext uri="{BB962C8B-B14F-4D97-AF65-F5344CB8AC3E}">
        <p14:creationId xmlns:p14="http://schemas.microsoft.com/office/powerpoint/2010/main" val="37960406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BC9331-CCBD-FA4D-6D3D-AB601741A3B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595F352-D217-88D9-EB54-9369412D521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99A0364-54E6-6773-D857-89710115DF5D}"/>
              </a:ext>
            </a:extLst>
          </p:cNvPr>
          <p:cNvSpPr>
            <a:spLocks noGrp="1"/>
          </p:cNvSpPr>
          <p:nvPr>
            <p:ph type="body" idx="1"/>
          </p:nvPr>
        </p:nvSpPr>
        <p:spPr/>
        <p:txBody>
          <a:bodyPr/>
          <a:lstStyle/>
          <a:p>
            <a:r>
              <a:rPr lang="zh-CN" altLang="en-US" dirty="0"/>
              <a:t>我们刚才在讲模块的声明中遇到了很多</a:t>
            </a:r>
            <a:r>
              <a:rPr lang="en-US" altLang="zh-CN" dirty="0"/>
              <a:t>verilog</a:t>
            </a:r>
            <a:r>
              <a:rPr lang="zh-CN" altLang="en-US" dirty="0"/>
              <a:t>语言中的要素，像关键字，数据类型等等，下面我们就具体介绍一下</a:t>
            </a:r>
            <a:r>
              <a:rPr lang="en-US" altLang="zh-CN" dirty="0"/>
              <a:t>verilog</a:t>
            </a:r>
            <a:r>
              <a:rPr lang="zh-CN" altLang="en-US" dirty="0"/>
              <a:t>中的基本语法结构和约定，这部分可能比较枯燥，我们先带着大家过一遍，有个大概的印象，更快的上手的话，还是要后面大家自己编程的时候多摸索尝试一下</a:t>
            </a:r>
          </a:p>
        </p:txBody>
      </p:sp>
      <p:sp>
        <p:nvSpPr>
          <p:cNvPr id="4" name="灯片编号占位符 3">
            <a:extLst>
              <a:ext uri="{FF2B5EF4-FFF2-40B4-BE49-F238E27FC236}">
                <a16:creationId xmlns:a16="http://schemas.microsoft.com/office/drawing/2014/main" id="{8D1EA418-8709-7F1E-7D44-6E59B36EC30F}"/>
              </a:ext>
            </a:extLst>
          </p:cNvPr>
          <p:cNvSpPr>
            <a:spLocks noGrp="1"/>
          </p:cNvSpPr>
          <p:nvPr>
            <p:ph type="sldNum" sz="quarter" idx="10"/>
          </p:nvPr>
        </p:nvSpPr>
        <p:spPr/>
        <p:txBody>
          <a:bodyPr/>
          <a:lstStyle/>
          <a:p>
            <a:pPr>
              <a:defRPr/>
            </a:pPr>
            <a:fld id="{1DDEFD4F-7A1F-4673-BBD8-327B8E723133}" type="slidenum">
              <a:rPr lang="en-US" altLang="zh-CN" smtClean="0"/>
              <a:pPr>
                <a:defRPr/>
              </a:pPr>
              <a:t>11</a:t>
            </a:fld>
            <a:endParaRPr lang="en-US" altLang="zh-CN"/>
          </a:p>
        </p:txBody>
      </p:sp>
    </p:spTree>
    <p:extLst>
      <p:ext uri="{BB962C8B-B14F-4D97-AF65-F5344CB8AC3E}">
        <p14:creationId xmlns:p14="http://schemas.microsoft.com/office/powerpoint/2010/main" val="40481039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Verilog</a:t>
            </a:r>
            <a:r>
              <a:rPr lang="zh-CN" altLang="en-US" dirty="0"/>
              <a:t>提供了很多种类的数据类型来应对数字系统设计中不同信号的存储和处理</a:t>
            </a:r>
            <a:r>
              <a:rPr lang="en-US" altLang="zh-CN" dirty="0"/>
              <a:t>(</a:t>
            </a:r>
            <a:r>
              <a:rPr lang="zh-CN" altLang="en-US" dirty="0"/>
              <a:t>或者说对信号的硬件特性进行建模</a:t>
            </a:r>
            <a:r>
              <a:rPr lang="en-US" altLang="zh-CN" dirty="0"/>
              <a:t>)</a:t>
            </a:r>
            <a:r>
              <a:rPr lang="zh-CN" altLang="en-US" dirty="0"/>
              <a:t>，其中最常用的有这么几种，一个是线网型数据类型中用</a:t>
            </a:r>
            <a:r>
              <a:rPr lang="en-US" altLang="zh-CN" dirty="0"/>
              <a:t>wire</a:t>
            </a:r>
            <a:r>
              <a:rPr lang="zh-CN" altLang="en-US" dirty="0"/>
              <a:t>关键字定义的数据类型</a:t>
            </a:r>
            <a:r>
              <a:rPr lang="en-US" altLang="zh-CN" dirty="0"/>
              <a:t>(</a:t>
            </a:r>
            <a:r>
              <a:rPr lang="zh-CN" altLang="en-US" dirty="0"/>
              <a:t>线网型数据类型这个大类中还有很多其他关键字定义的数据类型，</a:t>
            </a:r>
            <a:r>
              <a:rPr lang="en-US" altLang="zh-CN" dirty="0"/>
              <a:t>wire</a:t>
            </a:r>
            <a:r>
              <a:rPr lang="zh-CN" altLang="en-US" dirty="0"/>
              <a:t>是最常用的</a:t>
            </a:r>
            <a:r>
              <a:rPr lang="en-US" altLang="zh-CN" dirty="0"/>
              <a:t>)</a:t>
            </a:r>
            <a:r>
              <a:rPr lang="zh-CN" altLang="en-US" dirty="0"/>
              <a:t>，然后就是寄存器型数据类型这个大类中，有两种是用的很多的，一个是</a:t>
            </a:r>
            <a:r>
              <a:rPr lang="en-US" altLang="zh-CN" dirty="0"/>
              <a:t>reg</a:t>
            </a:r>
            <a:r>
              <a:rPr lang="zh-CN" altLang="en-US" dirty="0"/>
              <a:t>关键字定义的，最通用的寄存器数据类型，还有一个是</a:t>
            </a:r>
            <a:r>
              <a:rPr lang="en-US" altLang="zh-CN" dirty="0"/>
              <a:t>integer</a:t>
            </a:r>
            <a:r>
              <a:rPr lang="zh-CN" altLang="en-US" dirty="0"/>
              <a:t>关键字定义的，为了更方便的描述整数的整数型数据类型（比如很适合计数场景的），最后还有一个是对应于常量的用关键词</a:t>
            </a:r>
            <a:r>
              <a:rPr lang="en-US" altLang="zh-CN" dirty="0"/>
              <a:t>parameter</a:t>
            </a:r>
            <a:r>
              <a:rPr lang="zh-CN" altLang="en-US" dirty="0"/>
              <a:t>定义的参数数据类型</a:t>
            </a:r>
          </a:p>
        </p:txBody>
      </p:sp>
      <p:sp>
        <p:nvSpPr>
          <p:cNvPr id="4" name="灯片编号占位符 3"/>
          <p:cNvSpPr>
            <a:spLocks noGrp="1"/>
          </p:cNvSpPr>
          <p:nvPr>
            <p:ph type="sldNum" sz="quarter" idx="5"/>
          </p:nvPr>
        </p:nvSpPr>
        <p:spPr/>
        <p:txBody>
          <a:bodyPr/>
          <a:lstStyle/>
          <a:p>
            <a:fld id="{FFBE9C2A-2113-4F08-9D30-07527D8AEB59}" type="slidenum">
              <a:rPr lang="zh-CN" altLang="en-US" smtClean="0"/>
              <a:t>12</a:t>
            </a:fld>
            <a:endParaRPr lang="zh-CN" altLang="en-US"/>
          </a:p>
        </p:txBody>
      </p:sp>
    </p:spTree>
    <p:extLst>
      <p:ext uri="{BB962C8B-B14F-4D97-AF65-F5344CB8AC3E}">
        <p14:creationId xmlns:p14="http://schemas.microsoft.com/office/powerpoint/2010/main" val="381327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幻灯片图像占位符 1"/>
          <p:cNvSpPr>
            <a:spLocks noGrp="1" noRot="1" noChangeAspect="1" noTextEdit="1"/>
          </p:cNvSpPr>
          <p:nvPr>
            <p:ph type="sldImg"/>
          </p:nvPr>
        </p:nvSpPr>
        <p:spPr/>
      </p:sp>
      <p:sp>
        <p:nvSpPr>
          <p:cNvPr id="83970" name="备注占位符 2"/>
          <p:cNvSpPr>
            <a:spLocks noGrp="1"/>
          </p:cNvSpPr>
          <p:nvPr>
            <p:ph type="body"/>
          </p:nvPr>
        </p:nvSpPr>
        <p:spPr>
          <a:xfrm>
            <a:off x="666750" y="4716463"/>
            <a:ext cx="5337175" cy="4468812"/>
          </a:xfrm>
        </p:spPr>
        <p:txBody>
          <a:bodyPr wrap="square" lIns="91440" tIns="45720" rIns="91440" bIns="45720" anchor="t"/>
          <a:lstStyle/>
          <a:p>
            <a:pPr lvl="0"/>
            <a:endParaRPr lang="zh-CN" altLang="en-US" dirty="0"/>
          </a:p>
        </p:txBody>
      </p:sp>
      <p:sp>
        <p:nvSpPr>
          <p:cNvPr id="83971" name="灯片编号占位符 3"/>
          <p:cNvSpPr>
            <a:spLocks noGrp="1"/>
          </p:cNvSpPr>
          <p:nvPr>
            <p:ph type="sldNum" sz="quarter"/>
          </p:nvPr>
        </p:nvSpPr>
        <p:spPr>
          <a:xfrm>
            <a:off x="3778250" y="9431338"/>
            <a:ext cx="2890838" cy="496887"/>
          </a:xfrm>
          <a:prstGeom prst="rect">
            <a:avLst/>
          </a:prstGeom>
          <a:noFill/>
          <a:ln w="9525">
            <a:noFill/>
          </a:ln>
        </p:spPr>
        <p:txBody>
          <a:bodyPr vert="horz" wrap="square" lIns="91440" tIns="45720" rIns="91440" bIns="45720" anchor="b"/>
          <a:lstStyle/>
          <a:p>
            <a:pPr lvl="0"/>
            <a:fld id="{9A0DB2DC-4C9A-4742-B13C-FB6460FD3503}" type="slidenum">
              <a:rPr lang="zh-CN" altLang="en-US" sz="1800">
                <a:latin typeface="Tahoma" panose="020B0604030504040204" pitchFamily="34" charset="0"/>
                <a:ea typeface="宋体" panose="02010600030101010101" pitchFamily="2" charset="-122"/>
              </a:rPr>
              <a:t>13</a:t>
            </a:fld>
            <a:endParaRPr lang="zh-CN" altLang="en-US" sz="1800">
              <a:latin typeface="Tahoma" panose="020B0604030504040204" pitchFamily="34" charset="0"/>
              <a:ea typeface="宋体" panose="02010600030101010101" pitchFamily="2"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幻灯片图像占位符 1"/>
          <p:cNvSpPr>
            <a:spLocks noGrp="1" noRot="1" noChangeAspect="1" noTextEdit="1"/>
          </p:cNvSpPr>
          <p:nvPr>
            <p:ph type="sldImg"/>
          </p:nvPr>
        </p:nvSpPr>
        <p:spPr/>
      </p:sp>
      <p:sp>
        <p:nvSpPr>
          <p:cNvPr id="86018" name="备注占位符 2"/>
          <p:cNvSpPr>
            <a:spLocks noGrp="1"/>
          </p:cNvSpPr>
          <p:nvPr>
            <p:ph type="body"/>
          </p:nvPr>
        </p:nvSpPr>
        <p:spPr>
          <a:xfrm>
            <a:off x="666750" y="4716463"/>
            <a:ext cx="5337175" cy="4468812"/>
          </a:xfrm>
        </p:spPr>
        <p:txBody>
          <a:bodyPr wrap="square" lIns="91440" tIns="45720" rIns="91440" bIns="45720" anchor="t"/>
          <a:lstStyle/>
          <a:p>
            <a:pPr lvl="0"/>
            <a:endParaRPr lang="zh-CN" altLang="en-US" dirty="0"/>
          </a:p>
        </p:txBody>
      </p:sp>
      <p:sp>
        <p:nvSpPr>
          <p:cNvPr id="86019" name="灯片编号占位符 3"/>
          <p:cNvSpPr>
            <a:spLocks noGrp="1"/>
          </p:cNvSpPr>
          <p:nvPr>
            <p:ph type="sldNum" sz="quarter"/>
          </p:nvPr>
        </p:nvSpPr>
        <p:spPr>
          <a:xfrm>
            <a:off x="3778250" y="9431338"/>
            <a:ext cx="2890838" cy="496887"/>
          </a:xfrm>
          <a:prstGeom prst="rect">
            <a:avLst/>
          </a:prstGeom>
          <a:noFill/>
          <a:ln w="9525">
            <a:noFill/>
          </a:ln>
        </p:spPr>
        <p:txBody>
          <a:bodyPr vert="horz" wrap="square" lIns="91440" tIns="45720" rIns="91440" bIns="45720" anchor="b"/>
          <a:lstStyle/>
          <a:p>
            <a:pPr lvl="0"/>
            <a:fld id="{9A0DB2DC-4C9A-4742-B13C-FB6460FD3503}" type="slidenum">
              <a:rPr lang="zh-CN" altLang="en-US" sz="1800">
                <a:latin typeface="Tahoma" panose="020B0604030504040204" pitchFamily="34" charset="0"/>
                <a:ea typeface="宋体" panose="02010600030101010101" pitchFamily="2" charset="-122"/>
              </a:rPr>
              <a:t>14</a:t>
            </a:fld>
            <a:endParaRPr lang="zh-CN" altLang="en-US" sz="1800">
              <a:latin typeface="Tahoma" panose="020B0604030504040204" pitchFamily="34" charset="0"/>
              <a:ea typeface="宋体" panose="02010600030101010101"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幻灯片图像占位符 1"/>
          <p:cNvSpPr>
            <a:spLocks noGrp="1" noRot="1" noChangeAspect="1" noTextEdit="1"/>
          </p:cNvSpPr>
          <p:nvPr>
            <p:ph type="sldImg"/>
          </p:nvPr>
        </p:nvSpPr>
        <p:spPr/>
      </p:sp>
      <p:sp>
        <p:nvSpPr>
          <p:cNvPr id="88066" name="备注占位符 2"/>
          <p:cNvSpPr>
            <a:spLocks noGrp="1"/>
          </p:cNvSpPr>
          <p:nvPr>
            <p:ph type="body"/>
          </p:nvPr>
        </p:nvSpPr>
        <p:spPr>
          <a:xfrm>
            <a:off x="666750" y="4716463"/>
            <a:ext cx="5337175" cy="4468812"/>
          </a:xfrm>
        </p:spPr>
        <p:txBody>
          <a:bodyPr wrap="square" lIns="91440" tIns="45720" rIns="91440" bIns="45720" anchor="t"/>
          <a:lstStyle/>
          <a:p>
            <a:pPr lvl="0"/>
            <a:endParaRPr lang="zh-CN" altLang="en-US" dirty="0"/>
          </a:p>
        </p:txBody>
      </p:sp>
      <p:sp>
        <p:nvSpPr>
          <p:cNvPr id="88067" name="灯片编号占位符 3"/>
          <p:cNvSpPr>
            <a:spLocks noGrp="1"/>
          </p:cNvSpPr>
          <p:nvPr>
            <p:ph type="sldNum" sz="quarter"/>
          </p:nvPr>
        </p:nvSpPr>
        <p:spPr>
          <a:xfrm>
            <a:off x="3778250" y="9431338"/>
            <a:ext cx="2890838" cy="496887"/>
          </a:xfrm>
          <a:prstGeom prst="rect">
            <a:avLst/>
          </a:prstGeom>
          <a:noFill/>
          <a:ln w="9525">
            <a:noFill/>
          </a:ln>
        </p:spPr>
        <p:txBody>
          <a:bodyPr vert="horz" wrap="square" lIns="91440" tIns="45720" rIns="91440" bIns="45720" anchor="b"/>
          <a:lstStyle/>
          <a:p>
            <a:pPr lvl="0"/>
            <a:fld id="{9A0DB2DC-4C9A-4742-B13C-FB6460FD3503}" type="slidenum">
              <a:rPr lang="zh-CN" altLang="en-US" sz="1800">
                <a:latin typeface="Tahoma" panose="020B0604030504040204" pitchFamily="34" charset="0"/>
                <a:ea typeface="宋体" panose="02010600030101010101" pitchFamily="2" charset="-122"/>
              </a:rPr>
              <a:t>15</a:t>
            </a:fld>
            <a:endParaRPr lang="zh-CN" altLang="en-US" sz="1800">
              <a:latin typeface="Tahoma" panose="020B0604030504040204" pitchFamily="34" charset="0"/>
              <a:ea typeface="宋体" panose="02010600030101010101" pitchFamily="2"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E64FDC-5DB7-411B-3DD9-21E387764648}"/>
            </a:ext>
          </a:extLst>
        </p:cNvPr>
        <p:cNvGrpSpPr/>
        <p:nvPr/>
      </p:nvGrpSpPr>
      <p:grpSpPr>
        <a:xfrm>
          <a:off x="0" y="0"/>
          <a:ext cx="0" cy="0"/>
          <a:chOff x="0" y="0"/>
          <a:chExt cx="0" cy="0"/>
        </a:xfrm>
      </p:grpSpPr>
      <p:sp>
        <p:nvSpPr>
          <p:cNvPr id="83969" name="幻灯片图像占位符 1">
            <a:extLst>
              <a:ext uri="{FF2B5EF4-FFF2-40B4-BE49-F238E27FC236}">
                <a16:creationId xmlns:a16="http://schemas.microsoft.com/office/drawing/2014/main" id="{985ACA23-3D50-5CC4-ECC6-9B54F037690C}"/>
              </a:ext>
            </a:extLst>
          </p:cNvPr>
          <p:cNvSpPr>
            <a:spLocks noGrp="1" noRot="1" noChangeAspect="1" noTextEdit="1"/>
          </p:cNvSpPr>
          <p:nvPr>
            <p:ph type="sldImg"/>
          </p:nvPr>
        </p:nvSpPr>
        <p:spPr/>
      </p:sp>
      <p:sp>
        <p:nvSpPr>
          <p:cNvPr id="83970" name="备注占位符 2">
            <a:extLst>
              <a:ext uri="{FF2B5EF4-FFF2-40B4-BE49-F238E27FC236}">
                <a16:creationId xmlns:a16="http://schemas.microsoft.com/office/drawing/2014/main" id="{0BA773B7-4089-12E7-BC9F-BF7A81EB2A1B}"/>
              </a:ext>
            </a:extLst>
          </p:cNvPr>
          <p:cNvSpPr>
            <a:spLocks noGrp="1"/>
          </p:cNvSpPr>
          <p:nvPr>
            <p:ph type="body"/>
          </p:nvPr>
        </p:nvSpPr>
        <p:spPr>
          <a:xfrm>
            <a:off x="666750" y="4716463"/>
            <a:ext cx="5337175" cy="4468812"/>
          </a:xfrm>
        </p:spPr>
        <p:txBody>
          <a:bodyPr wrap="square" lIns="91440" tIns="45720" rIns="91440" bIns="45720" anchor="t"/>
          <a:lstStyle/>
          <a:p>
            <a:pPr lvl="0"/>
            <a:endParaRPr lang="zh-CN" altLang="en-US" dirty="0"/>
          </a:p>
        </p:txBody>
      </p:sp>
      <p:sp>
        <p:nvSpPr>
          <p:cNvPr id="83971" name="灯片编号占位符 3">
            <a:extLst>
              <a:ext uri="{FF2B5EF4-FFF2-40B4-BE49-F238E27FC236}">
                <a16:creationId xmlns:a16="http://schemas.microsoft.com/office/drawing/2014/main" id="{5BC1E919-3609-23CE-2BA4-C61DE744EC3B}"/>
              </a:ext>
            </a:extLst>
          </p:cNvPr>
          <p:cNvSpPr>
            <a:spLocks noGrp="1"/>
          </p:cNvSpPr>
          <p:nvPr>
            <p:ph type="sldNum" sz="quarter"/>
          </p:nvPr>
        </p:nvSpPr>
        <p:spPr>
          <a:xfrm>
            <a:off x="3778250" y="9431338"/>
            <a:ext cx="2890838" cy="496887"/>
          </a:xfrm>
          <a:prstGeom prst="rect">
            <a:avLst/>
          </a:prstGeom>
          <a:noFill/>
          <a:ln w="9525">
            <a:noFill/>
          </a:ln>
        </p:spPr>
        <p:txBody>
          <a:bodyPr vert="horz" wrap="square" lIns="91440" tIns="45720" rIns="91440" bIns="45720" anchor="b"/>
          <a:lstStyle/>
          <a:p>
            <a:pPr lvl="0"/>
            <a:fld id="{9A0DB2DC-4C9A-4742-B13C-FB6460FD3503}" type="slidenum">
              <a:rPr lang="zh-CN" altLang="en-US" sz="1800">
                <a:latin typeface="Tahoma" panose="020B0604030504040204" pitchFamily="34" charset="0"/>
                <a:ea typeface="宋体" panose="02010600030101010101" pitchFamily="2" charset="-122"/>
              </a:rPr>
              <a:t>17</a:t>
            </a:fld>
            <a:endParaRPr lang="zh-CN" altLang="en-US" sz="1800">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97392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标识符</a:t>
            </a:r>
            <a:r>
              <a:rPr lang="en-US" altLang="zh-CN" dirty="0"/>
              <a:t>——</a:t>
            </a:r>
            <a:r>
              <a:rPr lang="zh-CN" altLang="en-US" dirty="0"/>
              <a:t>自定义对象的名字，比如前面在声明一个模块的时候，自己定义的模块的名字，模块输入输出端口的名字，模块内部你自己准备用到的内部信号的名字</a:t>
            </a:r>
          </a:p>
        </p:txBody>
      </p:sp>
      <p:sp>
        <p:nvSpPr>
          <p:cNvPr id="4" name="灯片编号占位符 3"/>
          <p:cNvSpPr>
            <a:spLocks noGrp="1"/>
          </p:cNvSpPr>
          <p:nvPr>
            <p:ph type="sldNum" sz="quarter" idx="5"/>
          </p:nvPr>
        </p:nvSpPr>
        <p:spPr/>
        <p:txBody>
          <a:bodyPr/>
          <a:lstStyle/>
          <a:p>
            <a:fld id="{FFBE9C2A-2113-4F08-9D30-07527D8AEB59}" type="slidenum">
              <a:rPr lang="zh-CN" altLang="en-US" smtClean="0"/>
              <a:t>21</a:t>
            </a:fld>
            <a:endParaRPr lang="zh-CN" altLang="en-US"/>
          </a:p>
        </p:txBody>
      </p:sp>
    </p:spTree>
    <p:extLst>
      <p:ext uri="{BB962C8B-B14F-4D97-AF65-F5344CB8AC3E}">
        <p14:creationId xmlns:p14="http://schemas.microsoft.com/office/powerpoint/2010/main" val="38594571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1" dirty="0">
                <a:solidFill>
                  <a:srgbClr val="C00000"/>
                </a:solidFill>
              </a:rPr>
              <a:t>不能被综合的操作符的意义和用法是什么呢？</a:t>
            </a:r>
          </a:p>
        </p:txBody>
      </p:sp>
      <p:sp>
        <p:nvSpPr>
          <p:cNvPr id="4" name="灯片编号占位符 3"/>
          <p:cNvSpPr>
            <a:spLocks noGrp="1"/>
          </p:cNvSpPr>
          <p:nvPr>
            <p:ph type="sldNum" sz="quarter" idx="5"/>
          </p:nvPr>
        </p:nvSpPr>
        <p:spPr/>
        <p:txBody>
          <a:bodyPr/>
          <a:lstStyle/>
          <a:p>
            <a:fld id="{FFBE9C2A-2113-4F08-9D30-07527D8AEB59}" type="slidenum">
              <a:rPr lang="zh-CN" altLang="en-US" smtClean="0"/>
              <a:t>24</a:t>
            </a:fld>
            <a:endParaRPr lang="zh-CN" altLang="en-US"/>
          </a:p>
        </p:txBody>
      </p:sp>
    </p:spTree>
    <p:extLst>
      <p:ext uri="{BB962C8B-B14F-4D97-AF65-F5344CB8AC3E}">
        <p14:creationId xmlns:p14="http://schemas.microsoft.com/office/powerpoint/2010/main" val="25711256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FBE9C2A-2113-4F08-9D30-07527D8AEB59}" type="slidenum">
              <a:rPr lang="zh-CN" altLang="en-US" smtClean="0"/>
              <a:t>30</a:t>
            </a:fld>
            <a:endParaRPr lang="zh-CN" altLang="en-US"/>
          </a:p>
        </p:txBody>
      </p:sp>
    </p:spTree>
    <p:extLst>
      <p:ext uri="{BB962C8B-B14F-4D97-AF65-F5344CB8AC3E}">
        <p14:creationId xmlns:p14="http://schemas.microsoft.com/office/powerpoint/2010/main" val="39876110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903609" y="1219454"/>
            <a:ext cx="5864225" cy="453389"/>
          </a:xfrm>
          <a:prstGeom prst="rect">
            <a:avLst/>
          </a:prstGeom>
        </p:spPr>
        <p:txBody>
          <a:bodyPr wrap="square" lIns="0" tIns="0" rIns="0" bIns="0">
            <a:spAutoFit/>
          </a:bodyPr>
          <a:lstStyle>
            <a:lvl1pPr>
              <a:defRPr sz="2800" b="0" i="0">
                <a:solidFill>
                  <a:srgbClr val="3F3F3F"/>
                </a:solidFill>
                <a:latin typeface="Calibri"/>
                <a:cs typeface="Calibri"/>
              </a:defRPr>
            </a:lvl1pPr>
          </a:lstStyle>
          <a:p>
            <a:endParaRPr/>
          </a:p>
        </p:txBody>
      </p:sp>
      <p:sp>
        <p:nvSpPr>
          <p:cNvPr id="3" name="Holder 3"/>
          <p:cNvSpPr>
            <a:spLocks noGrp="1"/>
          </p:cNvSpPr>
          <p:nvPr>
            <p:ph type="subTitle" idx="4"/>
          </p:nvPr>
        </p:nvSpPr>
        <p:spPr>
          <a:xfrm>
            <a:off x="1604010" y="4235196"/>
            <a:ext cx="7485380" cy="1890712"/>
          </a:xfrm>
          <a:prstGeom prst="rect">
            <a:avLst/>
          </a:prstGeom>
        </p:spPr>
        <p:txBody>
          <a:bodyPr wrap="square" lIns="0" tIns="0" rIns="0" bIns="0">
            <a:spAutoFit/>
          </a:bodyPr>
          <a:lstStyle>
            <a:lvl1pPr>
              <a:defRPr sz="2100" b="0" i="0">
                <a:solidFill>
                  <a:schemeClr val="tx1"/>
                </a:solidFill>
                <a:latin typeface="宋体"/>
                <a:cs typeface="宋体"/>
              </a:defRPr>
            </a:lvl1pPr>
          </a:lstStyle>
          <a:p>
            <a:endParaRPr/>
          </a:p>
        </p:txBody>
      </p:sp>
      <p:sp>
        <p:nvSpPr>
          <p:cNvPr id="4" name="Holder 4"/>
          <p:cNvSpPr>
            <a:spLocks noGrp="1"/>
          </p:cNvSpPr>
          <p:nvPr>
            <p:ph type="ftr" sz="quarter" idx="5"/>
          </p:nvPr>
        </p:nvSpPr>
        <p:spPr/>
        <p:txBody>
          <a:bodyPr lIns="0" tIns="0" rIns="0" bIns="0"/>
          <a:lstStyle>
            <a:lvl1pPr>
              <a:defRPr sz="1400" b="1" i="0">
                <a:solidFill>
                  <a:srgbClr val="3F3F3F"/>
                </a:solidFill>
                <a:latin typeface="微软雅黑"/>
                <a:cs typeface="微软雅黑"/>
              </a:defRPr>
            </a:lvl1pPr>
          </a:lstStyle>
          <a:p>
            <a:pPr marL="13335">
              <a:lnSpc>
                <a:spcPct val="100000"/>
              </a:lnSpc>
              <a:spcBef>
                <a:spcPts val="185"/>
              </a:spcBef>
            </a:pPr>
            <a:r>
              <a:rPr dirty="0"/>
              <a:t>Xilinx</a:t>
            </a:r>
            <a:r>
              <a:rPr spc="-5" dirty="0"/>
              <a:t> 大学合作部 </a:t>
            </a:r>
            <a:r>
              <a:rPr dirty="0"/>
              <a:t>&amp;</a:t>
            </a:r>
            <a:r>
              <a:rPr spc="-10" dirty="0"/>
              <a:t> 东南大学</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8/7/2026</a:t>
            </a:fld>
            <a:endParaRPr lang="en-US"/>
          </a:p>
        </p:txBody>
      </p:sp>
      <p:sp>
        <p:nvSpPr>
          <p:cNvPr id="6" name="Holder 6"/>
          <p:cNvSpPr>
            <a:spLocks noGrp="1"/>
          </p:cNvSpPr>
          <p:nvPr>
            <p:ph type="sldNum" sz="quarter" idx="7"/>
          </p:nvPr>
        </p:nvSpPr>
        <p:spPr/>
        <p:txBody>
          <a:bodyPr lIns="0" tIns="0" rIns="0" bIns="0"/>
          <a:lstStyle>
            <a:lvl1pPr>
              <a:defRPr sz="700" b="0" i="0">
                <a:solidFill>
                  <a:schemeClr val="tx1"/>
                </a:solidFill>
                <a:latin typeface="Arial"/>
                <a:cs typeface="Arial"/>
              </a:defRPr>
            </a:lvl1pPr>
          </a:lstStyle>
          <a:p>
            <a:pPr marL="38735">
              <a:lnSpc>
                <a:spcPct val="100000"/>
              </a:lnSpc>
              <a:spcBef>
                <a:spcPts val="35"/>
              </a:spcBef>
            </a:pPr>
            <a:fld id="{81D60167-4931-47E6-BA6A-407CBD079E47}" type="slidenum">
              <a:rPr spc="-50" dirty="0"/>
              <a:t>‹#›</a:t>
            </a:fld>
            <a:endParaRPr spc="-5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0" i="0">
                <a:solidFill>
                  <a:srgbClr val="3F3F3F"/>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2100" b="0" i="0">
                <a:solidFill>
                  <a:schemeClr val="tx1"/>
                </a:solidFill>
                <a:latin typeface="宋体"/>
                <a:cs typeface="宋体"/>
              </a:defRPr>
            </a:lvl1pPr>
          </a:lstStyle>
          <a:p>
            <a:endParaRPr/>
          </a:p>
        </p:txBody>
      </p:sp>
      <p:sp>
        <p:nvSpPr>
          <p:cNvPr id="4" name="Holder 4"/>
          <p:cNvSpPr>
            <a:spLocks noGrp="1"/>
          </p:cNvSpPr>
          <p:nvPr>
            <p:ph type="ftr" sz="quarter" idx="5"/>
          </p:nvPr>
        </p:nvSpPr>
        <p:spPr/>
        <p:txBody>
          <a:bodyPr lIns="0" tIns="0" rIns="0" bIns="0"/>
          <a:lstStyle>
            <a:lvl1pPr>
              <a:defRPr sz="1400" b="1" i="0">
                <a:solidFill>
                  <a:srgbClr val="3F3F3F"/>
                </a:solidFill>
                <a:latin typeface="微软雅黑"/>
                <a:cs typeface="微软雅黑"/>
              </a:defRPr>
            </a:lvl1pPr>
          </a:lstStyle>
          <a:p>
            <a:pPr marL="13335">
              <a:lnSpc>
                <a:spcPct val="100000"/>
              </a:lnSpc>
              <a:spcBef>
                <a:spcPts val="185"/>
              </a:spcBef>
            </a:pPr>
            <a:r>
              <a:rPr dirty="0"/>
              <a:t>Xilinx</a:t>
            </a:r>
            <a:r>
              <a:rPr spc="-5" dirty="0"/>
              <a:t> 大学合作部 </a:t>
            </a:r>
            <a:r>
              <a:rPr dirty="0"/>
              <a:t>&amp;</a:t>
            </a:r>
            <a:r>
              <a:rPr spc="-10" dirty="0"/>
              <a:t> 东南大学</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8/7/2026</a:t>
            </a:fld>
            <a:endParaRPr lang="en-US"/>
          </a:p>
        </p:txBody>
      </p:sp>
      <p:sp>
        <p:nvSpPr>
          <p:cNvPr id="6" name="Holder 6"/>
          <p:cNvSpPr>
            <a:spLocks noGrp="1"/>
          </p:cNvSpPr>
          <p:nvPr>
            <p:ph type="sldNum" sz="quarter" idx="7"/>
          </p:nvPr>
        </p:nvSpPr>
        <p:spPr/>
        <p:txBody>
          <a:bodyPr lIns="0" tIns="0" rIns="0" bIns="0"/>
          <a:lstStyle>
            <a:lvl1pPr>
              <a:defRPr sz="700" b="0" i="0">
                <a:solidFill>
                  <a:schemeClr val="tx1"/>
                </a:solidFill>
                <a:latin typeface="Arial"/>
                <a:cs typeface="Arial"/>
              </a:defRPr>
            </a:lvl1pPr>
          </a:lstStyle>
          <a:p>
            <a:pPr marL="38735">
              <a:lnSpc>
                <a:spcPct val="100000"/>
              </a:lnSpc>
              <a:spcBef>
                <a:spcPts val="35"/>
              </a:spcBef>
            </a:pPr>
            <a:fld id="{81D60167-4931-47E6-BA6A-407CBD079E47}" type="slidenum">
              <a:rPr spc="-50" dirty="0"/>
              <a:t>‹#›</a:t>
            </a:fld>
            <a:endParaRPr spc="-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0" i="0">
                <a:solidFill>
                  <a:srgbClr val="3F3F3F"/>
                </a:solidFill>
                <a:latin typeface="Calibri"/>
                <a:cs typeface="Calibri"/>
              </a:defRPr>
            </a:lvl1pPr>
          </a:lstStyle>
          <a:p>
            <a:endParaRPr/>
          </a:p>
        </p:txBody>
      </p:sp>
      <p:sp>
        <p:nvSpPr>
          <p:cNvPr id="3" name="Holder 3"/>
          <p:cNvSpPr>
            <a:spLocks noGrp="1"/>
          </p:cNvSpPr>
          <p:nvPr>
            <p:ph sz="half" idx="2"/>
          </p:nvPr>
        </p:nvSpPr>
        <p:spPr>
          <a:xfrm>
            <a:off x="493909" y="1618891"/>
            <a:ext cx="4050665" cy="4614545"/>
          </a:xfrm>
          <a:prstGeom prst="rect">
            <a:avLst/>
          </a:prstGeom>
        </p:spPr>
        <p:txBody>
          <a:bodyPr wrap="square" lIns="0" tIns="0" rIns="0" bIns="0">
            <a:spAutoFit/>
          </a:bodyPr>
          <a:lstStyle>
            <a:lvl1pPr>
              <a:defRPr sz="2100" b="1" i="0">
                <a:solidFill>
                  <a:srgbClr val="3E3E3E"/>
                </a:solidFill>
                <a:latin typeface="宋体"/>
                <a:cs typeface="宋体"/>
              </a:defRPr>
            </a:lvl1pPr>
          </a:lstStyle>
          <a:p>
            <a:endParaRPr/>
          </a:p>
        </p:txBody>
      </p:sp>
      <p:sp>
        <p:nvSpPr>
          <p:cNvPr id="4" name="Holder 4"/>
          <p:cNvSpPr>
            <a:spLocks noGrp="1"/>
          </p:cNvSpPr>
          <p:nvPr>
            <p:ph sz="half" idx="3"/>
          </p:nvPr>
        </p:nvSpPr>
        <p:spPr>
          <a:xfrm>
            <a:off x="5415667" y="1584708"/>
            <a:ext cx="4594859" cy="4086860"/>
          </a:xfrm>
          <a:prstGeom prst="rect">
            <a:avLst/>
          </a:prstGeom>
        </p:spPr>
        <p:txBody>
          <a:bodyPr wrap="square" lIns="0" tIns="0" rIns="0" bIns="0">
            <a:spAutoFit/>
          </a:bodyPr>
          <a:lstStyle>
            <a:lvl1pPr>
              <a:defRPr sz="2450" b="1" i="0">
                <a:solidFill>
                  <a:srgbClr val="3E3E3E"/>
                </a:solidFill>
                <a:latin typeface="微软雅黑"/>
                <a:cs typeface="微软雅黑"/>
              </a:defRPr>
            </a:lvl1pPr>
          </a:lstStyle>
          <a:p>
            <a:endParaRPr/>
          </a:p>
        </p:txBody>
      </p:sp>
      <p:sp>
        <p:nvSpPr>
          <p:cNvPr id="5" name="Holder 5"/>
          <p:cNvSpPr>
            <a:spLocks noGrp="1"/>
          </p:cNvSpPr>
          <p:nvPr>
            <p:ph type="ftr" sz="quarter" idx="5"/>
          </p:nvPr>
        </p:nvSpPr>
        <p:spPr/>
        <p:txBody>
          <a:bodyPr lIns="0" tIns="0" rIns="0" bIns="0"/>
          <a:lstStyle>
            <a:lvl1pPr>
              <a:defRPr sz="1400" b="1" i="0">
                <a:solidFill>
                  <a:srgbClr val="3F3F3F"/>
                </a:solidFill>
                <a:latin typeface="微软雅黑"/>
                <a:cs typeface="微软雅黑"/>
              </a:defRPr>
            </a:lvl1pPr>
          </a:lstStyle>
          <a:p>
            <a:pPr marL="13335">
              <a:lnSpc>
                <a:spcPct val="100000"/>
              </a:lnSpc>
              <a:spcBef>
                <a:spcPts val="185"/>
              </a:spcBef>
            </a:pPr>
            <a:r>
              <a:rPr dirty="0"/>
              <a:t>Xilinx</a:t>
            </a:r>
            <a:r>
              <a:rPr spc="-5" dirty="0"/>
              <a:t> 大学合作部 </a:t>
            </a:r>
            <a:r>
              <a:rPr dirty="0"/>
              <a:t>&amp;</a:t>
            </a:r>
            <a:r>
              <a:rPr spc="-10" dirty="0"/>
              <a:t> 东南大学</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8/7/2026</a:t>
            </a:fld>
            <a:endParaRPr lang="en-US"/>
          </a:p>
        </p:txBody>
      </p:sp>
      <p:sp>
        <p:nvSpPr>
          <p:cNvPr id="7" name="Holder 7"/>
          <p:cNvSpPr>
            <a:spLocks noGrp="1"/>
          </p:cNvSpPr>
          <p:nvPr>
            <p:ph type="sldNum" sz="quarter" idx="7"/>
          </p:nvPr>
        </p:nvSpPr>
        <p:spPr/>
        <p:txBody>
          <a:bodyPr lIns="0" tIns="0" rIns="0" bIns="0"/>
          <a:lstStyle>
            <a:lvl1pPr>
              <a:defRPr sz="700" b="0" i="0">
                <a:solidFill>
                  <a:schemeClr val="tx1"/>
                </a:solidFill>
                <a:latin typeface="Arial"/>
                <a:cs typeface="Arial"/>
              </a:defRPr>
            </a:lvl1pPr>
          </a:lstStyle>
          <a:p>
            <a:pPr marL="38735">
              <a:lnSpc>
                <a:spcPct val="100000"/>
              </a:lnSpc>
              <a:spcBef>
                <a:spcPts val="35"/>
              </a:spcBef>
            </a:pPr>
            <a:fld id="{81D60167-4931-47E6-BA6A-407CBD079E47}" type="slidenum">
              <a:rPr spc="-50" dirty="0"/>
              <a:t>‹#›</a:t>
            </a:fld>
            <a:endParaRPr spc="-5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0" i="0">
                <a:solidFill>
                  <a:srgbClr val="3F3F3F"/>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defRPr sz="1400" b="1" i="0">
                <a:solidFill>
                  <a:srgbClr val="3F3F3F"/>
                </a:solidFill>
                <a:latin typeface="微软雅黑"/>
                <a:cs typeface="微软雅黑"/>
              </a:defRPr>
            </a:lvl1pPr>
          </a:lstStyle>
          <a:p>
            <a:pPr marL="13335">
              <a:lnSpc>
                <a:spcPct val="100000"/>
              </a:lnSpc>
              <a:spcBef>
                <a:spcPts val="185"/>
              </a:spcBef>
            </a:pPr>
            <a:r>
              <a:rPr dirty="0"/>
              <a:t>Xilinx</a:t>
            </a:r>
            <a:r>
              <a:rPr spc="-5" dirty="0"/>
              <a:t> 大学合作部 </a:t>
            </a:r>
            <a:r>
              <a:rPr dirty="0"/>
              <a:t>&amp;</a:t>
            </a:r>
            <a:r>
              <a:rPr spc="-10" dirty="0"/>
              <a:t> 东南大学</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8/7/2026</a:t>
            </a:fld>
            <a:endParaRPr lang="en-US"/>
          </a:p>
        </p:txBody>
      </p:sp>
      <p:sp>
        <p:nvSpPr>
          <p:cNvPr id="5" name="Holder 5"/>
          <p:cNvSpPr>
            <a:spLocks noGrp="1"/>
          </p:cNvSpPr>
          <p:nvPr>
            <p:ph type="sldNum" sz="quarter" idx="7"/>
          </p:nvPr>
        </p:nvSpPr>
        <p:spPr/>
        <p:txBody>
          <a:bodyPr lIns="0" tIns="0" rIns="0" bIns="0"/>
          <a:lstStyle>
            <a:lvl1pPr>
              <a:defRPr sz="700" b="0" i="0">
                <a:solidFill>
                  <a:schemeClr val="tx1"/>
                </a:solidFill>
                <a:latin typeface="Arial"/>
                <a:cs typeface="Arial"/>
              </a:defRPr>
            </a:lvl1pPr>
          </a:lstStyle>
          <a:p>
            <a:pPr marL="38735">
              <a:lnSpc>
                <a:spcPct val="100000"/>
              </a:lnSpc>
              <a:spcBef>
                <a:spcPts val="35"/>
              </a:spcBef>
            </a:pPr>
            <a:fld id="{81D60167-4931-47E6-BA6A-407CBD079E47}" type="slidenum">
              <a:rPr spc="-50" dirty="0"/>
              <a:t>‹#›</a:t>
            </a:fld>
            <a:endParaRPr spc="-5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400" b="1" i="0">
                <a:solidFill>
                  <a:srgbClr val="3F3F3F"/>
                </a:solidFill>
                <a:latin typeface="微软雅黑"/>
                <a:cs typeface="微软雅黑"/>
              </a:defRPr>
            </a:lvl1pPr>
          </a:lstStyle>
          <a:p>
            <a:pPr marL="13335">
              <a:lnSpc>
                <a:spcPct val="100000"/>
              </a:lnSpc>
              <a:spcBef>
                <a:spcPts val="185"/>
              </a:spcBef>
            </a:pPr>
            <a:r>
              <a:rPr dirty="0"/>
              <a:t>Xilinx</a:t>
            </a:r>
            <a:r>
              <a:rPr spc="-5" dirty="0"/>
              <a:t> 大学合作部 </a:t>
            </a:r>
            <a:r>
              <a:rPr dirty="0"/>
              <a:t>&amp;</a:t>
            </a:r>
            <a:r>
              <a:rPr spc="-10" dirty="0"/>
              <a:t> 东南大学</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8/7/2026</a:t>
            </a:fld>
            <a:endParaRPr lang="en-US"/>
          </a:p>
        </p:txBody>
      </p:sp>
      <p:sp>
        <p:nvSpPr>
          <p:cNvPr id="4" name="Holder 4"/>
          <p:cNvSpPr>
            <a:spLocks noGrp="1"/>
          </p:cNvSpPr>
          <p:nvPr>
            <p:ph type="sldNum" sz="quarter" idx="7"/>
          </p:nvPr>
        </p:nvSpPr>
        <p:spPr/>
        <p:txBody>
          <a:bodyPr lIns="0" tIns="0" rIns="0" bIns="0"/>
          <a:lstStyle>
            <a:lvl1pPr>
              <a:defRPr sz="700" b="0" i="0">
                <a:solidFill>
                  <a:schemeClr val="tx1"/>
                </a:solidFill>
                <a:latin typeface="Arial"/>
                <a:cs typeface="Arial"/>
              </a:defRPr>
            </a:lvl1pPr>
          </a:lstStyle>
          <a:p>
            <a:pPr marL="38735">
              <a:lnSpc>
                <a:spcPct val="100000"/>
              </a:lnSpc>
              <a:spcBef>
                <a:spcPts val="35"/>
              </a:spcBef>
            </a:pPr>
            <a:fld id="{81D60167-4931-47E6-BA6A-407CBD079E47}" type="slidenum">
              <a:rPr spc="-50" dirty="0"/>
              <a:t>‹#›</a:t>
            </a:fld>
            <a:endParaRPr spc="-5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564527" y="771905"/>
            <a:ext cx="10128885" cy="134620"/>
          </a:xfrm>
          <a:custGeom>
            <a:avLst/>
            <a:gdLst/>
            <a:ahLst/>
            <a:cxnLst/>
            <a:rect l="l" t="t" r="r" b="b"/>
            <a:pathLst>
              <a:path w="10128885" h="134619">
                <a:moveTo>
                  <a:pt x="10128631" y="134111"/>
                </a:moveTo>
                <a:lnTo>
                  <a:pt x="10128631" y="0"/>
                </a:lnTo>
                <a:lnTo>
                  <a:pt x="0" y="0"/>
                </a:lnTo>
                <a:lnTo>
                  <a:pt x="0" y="134112"/>
                </a:lnTo>
                <a:lnTo>
                  <a:pt x="10128631" y="134111"/>
                </a:lnTo>
                <a:close/>
              </a:path>
            </a:pathLst>
          </a:custGeom>
          <a:solidFill>
            <a:srgbClr val="585858"/>
          </a:solidFill>
        </p:spPr>
        <p:txBody>
          <a:bodyPr wrap="square" lIns="0" tIns="0" rIns="0" bIns="0" rtlCol="0"/>
          <a:lstStyle/>
          <a:p>
            <a:endParaRPr/>
          </a:p>
        </p:txBody>
      </p:sp>
      <p:sp>
        <p:nvSpPr>
          <p:cNvPr id="17" name="bg object 17"/>
          <p:cNvSpPr/>
          <p:nvPr/>
        </p:nvSpPr>
        <p:spPr>
          <a:xfrm>
            <a:off x="1403" y="771905"/>
            <a:ext cx="563245" cy="134620"/>
          </a:xfrm>
          <a:custGeom>
            <a:avLst/>
            <a:gdLst/>
            <a:ahLst/>
            <a:cxnLst/>
            <a:rect l="l" t="t" r="r" b="b"/>
            <a:pathLst>
              <a:path w="563245" h="134619">
                <a:moveTo>
                  <a:pt x="563118" y="134112"/>
                </a:moveTo>
                <a:lnTo>
                  <a:pt x="563118" y="0"/>
                </a:lnTo>
                <a:lnTo>
                  <a:pt x="0" y="0"/>
                </a:lnTo>
                <a:lnTo>
                  <a:pt x="0" y="134112"/>
                </a:lnTo>
                <a:lnTo>
                  <a:pt x="563118" y="134112"/>
                </a:lnTo>
                <a:close/>
              </a:path>
            </a:pathLst>
          </a:custGeom>
          <a:solidFill>
            <a:srgbClr val="FF0000"/>
          </a:solidFill>
        </p:spPr>
        <p:txBody>
          <a:bodyPr wrap="square" lIns="0" tIns="0" rIns="0" bIns="0" rtlCol="0"/>
          <a:lstStyle/>
          <a:p>
            <a:endParaRPr/>
          </a:p>
        </p:txBody>
      </p:sp>
      <p:sp>
        <p:nvSpPr>
          <p:cNvPr id="2" name="Holder 2"/>
          <p:cNvSpPr>
            <a:spLocks noGrp="1"/>
          </p:cNvSpPr>
          <p:nvPr>
            <p:ph type="title"/>
          </p:nvPr>
        </p:nvSpPr>
        <p:spPr>
          <a:xfrm>
            <a:off x="604399" y="1060957"/>
            <a:ext cx="3270885" cy="453390"/>
          </a:xfrm>
          <a:prstGeom prst="rect">
            <a:avLst/>
          </a:prstGeom>
        </p:spPr>
        <p:txBody>
          <a:bodyPr wrap="square" lIns="0" tIns="0" rIns="0" bIns="0">
            <a:spAutoFit/>
          </a:bodyPr>
          <a:lstStyle>
            <a:lvl1pPr>
              <a:defRPr sz="2800" b="0" i="0">
                <a:solidFill>
                  <a:srgbClr val="3F3F3F"/>
                </a:solidFill>
                <a:latin typeface="Calibri"/>
                <a:cs typeface="Calibri"/>
              </a:defRPr>
            </a:lvl1pPr>
          </a:lstStyle>
          <a:p>
            <a:endParaRPr/>
          </a:p>
        </p:txBody>
      </p:sp>
      <p:sp>
        <p:nvSpPr>
          <p:cNvPr id="3" name="Holder 3"/>
          <p:cNvSpPr>
            <a:spLocks noGrp="1"/>
          </p:cNvSpPr>
          <p:nvPr>
            <p:ph type="body" idx="1"/>
          </p:nvPr>
        </p:nvSpPr>
        <p:spPr>
          <a:xfrm>
            <a:off x="4217036" y="1199024"/>
            <a:ext cx="5197475" cy="2431415"/>
          </a:xfrm>
          <a:prstGeom prst="rect">
            <a:avLst/>
          </a:prstGeom>
        </p:spPr>
        <p:txBody>
          <a:bodyPr wrap="square" lIns="0" tIns="0" rIns="0" bIns="0">
            <a:spAutoFit/>
          </a:bodyPr>
          <a:lstStyle>
            <a:lvl1pPr>
              <a:defRPr sz="2100" b="0" i="0">
                <a:solidFill>
                  <a:schemeClr val="tx1"/>
                </a:solidFill>
                <a:latin typeface="宋体"/>
                <a:cs typeface="宋体"/>
              </a:defRPr>
            </a:lvl1pPr>
          </a:lstStyle>
          <a:p>
            <a:endParaRPr/>
          </a:p>
        </p:txBody>
      </p:sp>
      <p:sp>
        <p:nvSpPr>
          <p:cNvPr id="4" name="Holder 4"/>
          <p:cNvSpPr>
            <a:spLocks noGrp="1"/>
          </p:cNvSpPr>
          <p:nvPr>
            <p:ph type="ftr" sz="quarter" idx="5"/>
          </p:nvPr>
        </p:nvSpPr>
        <p:spPr>
          <a:xfrm>
            <a:off x="8029327" y="6508039"/>
            <a:ext cx="2455671" cy="261748"/>
          </a:xfrm>
          <a:prstGeom prst="rect">
            <a:avLst/>
          </a:prstGeom>
        </p:spPr>
        <p:txBody>
          <a:bodyPr wrap="square" lIns="0" tIns="0" rIns="0" bIns="0">
            <a:spAutoFit/>
          </a:bodyPr>
          <a:lstStyle>
            <a:lvl1pPr>
              <a:defRPr sz="1400" b="1" i="0">
                <a:solidFill>
                  <a:srgbClr val="3F3F3F"/>
                </a:solidFill>
                <a:latin typeface="微软雅黑"/>
                <a:cs typeface="微软雅黑"/>
              </a:defRPr>
            </a:lvl1pPr>
          </a:lstStyle>
          <a:p>
            <a:pPr marL="13335">
              <a:lnSpc>
                <a:spcPct val="100000"/>
              </a:lnSpc>
              <a:spcBef>
                <a:spcPts val="185"/>
              </a:spcBef>
            </a:pPr>
            <a:r>
              <a:rPr dirty="0"/>
              <a:t>Xilinx</a:t>
            </a:r>
            <a:r>
              <a:rPr spc="-5" dirty="0"/>
              <a:t> 大学合作部 </a:t>
            </a:r>
            <a:r>
              <a:rPr dirty="0"/>
              <a:t>&amp;</a:t>
            </a:r>
            <a:r>
              <a:rPr spc="-10" dirty="0"/>
              <a:t> 东南大学</a:t>
            </a:r>
          </a:p>
        </p:txBody>
      </p:sp>
      <p:sp>
        <p:nvSpPr>
          <p:cNvPr id="5" name="Holder 5"/>
          <p:cNvSpPr>
            <a:spLocks noGrp="1"/>
          </p:cNvSpPr>
          <p:nvPr>
            <p:ph type="dt" sz="half" idx="6"/>
          </p:nvPr>
        </p:nvSpPr>
        <p:spPr>
          <a:xfrm>
            <a:off x="534670" y="7033450"/>
            <a:ext cx="2459482" cy="378142"/>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8/7/2026</a:t>
            </a:fld>
            <a:endParaRPr lang="en-US"/>
          </a:p>
        </p:txBody>
      </p:sp>
      <p:sp>
        <p:nvSpPr>
          <p:cNvPr id="6" name="Holder 6"/>
          <p:cNvSpPr>
            <a:spLocks noGrp="1"/>
          </p:cNvSpPr>
          <p:nvPr>
            <p:ph type="sldNum" sz="quarter" idx="7"/>
          </p:nvPr>
        </p:nvSpPr>
        <p:spPr>
          <a:xfrm>
            <a:off x="578237" y="6573328"/>
            <a:ext cx="189229" cy="126365"/>
          </a:xfrm>
          <a:prstGeom prst="rect">
            <a:avLst/>
          </a:prstGeom>
        </p:spPr>
        <p:txBody>
          <a:bodyPr wrap="square" lIns="0" tIns="0" rIns="0" bIns="0">
            <a:spAutoFit/>
          </a:bodyPr>
          <a:lstStyle>
            <a:lvl1pPr>
              <a:defRPr sz="700" b="0" i="0">
                <a:solidFill>
                  <a:schemeClr val="tx1"/>
                </a:solidFill>
                <a:latin typeface="Arial"/>
                <a:cs typeface="Arial"/>
              </a:defRPr>
            </a:lvl1pPr>
          </a:lstStyle>
          <a:p>
            <a:pPr marL="38735">
              <a:lnSpc>
                <a:spcPct val="100000"/>
              </a:lnSpc>
              <a:spcBef>
                <a:spcPts val="35"/>
              </a:spcBef>
            </a:pPr>
            <a:fld id="{81D60167-4931-47E6-BA6A-407CBD079E47}" type="slidenum">
              <a:rPr spc="-50" dirty="0"/>
              <a:t>‹#›</a:t>
            </a:fld>
            <a:endParaRPr spc="-50"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3.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4.xml"/><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5.xml"/><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3.xml"/><Relationship Id="rId5" Type="http://schemas.openxmlformats.org/officeDocument/2006/relationships/image" Target="../media/image39.png"/><Relationship Id="rId4" Type="http://schemas.openxmlformats.org/officeDocument/2006/relationships/image" Target="../media/image38.png"/></Relationships>
</file>

<file path=ppt/slides/_rels/slide34.xml.rels><?xml version="1.0" encoding="UTF-8" standalone="yes"?>
<Relationships xmlns="http://schemas.openxmlformats.org/package/2006/relationships"><Relationship Id="rId3" Type="http://schemas.openxmlformats.org/officeDocument/2006/relationships/hyperlink" Target="mailto:xup@xilinx.com" TargetMode="External"/><Relationship Id="rId2" Type="http://schemas.openxmlformats.org/officeDocument/2006/relationships/image" Target="../media/image40.jpg"/><Relationship Id="rId1" Type="http://schemas.openxmlformats.org/officeDocument/2006/relationships/slideLayout" Target="../slideLayouts/slideLayout5.xml"/><Relationship Id="rId4" Type="http://schemas.openxmlformats.org/officeDocument/2006/relationships/image" Target="../media/image41.jp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89843" y="1819910"/>
            <a:ext cx="4302760" cy="667385"/>
          </a:xfrm>
          <a:prstGeom prst="rect">
            <a:avLst/>
          </a:prstGeom>
        </p:spPr>
        <p:txBody>
          <a:bodyPr vert="horz" wrap="square" lIns="0" tIns="13970" rIns="0" bIns="0" rtlCol="0">
            <a:spAutoFit/>
          </a:bodyPr>
          <a:lstStyle/>
          <a:p>
            <a:pPr marL="12700">
              <a:lnSpc>
                <a:spcPct val="100000"/>
              </a:lnSpc>
              <a:spcBef>
                <a:spcPts val="110"/>
              </a:spcBef>
            </a:pPr>
            <a:r>
              <a:rPr sz="4200" b="1" spc="-20" dirty="0">
                <a:solidFill>
                  <a:srgbClr val="6F2FA0"/>
                </a:solidFill>
                <a:latin typeface="微软雅黑"/>
                <a:cs typeface="微软雅黑"/>
              </a:rPr>
              <a:t>搭建你的数字积木</a:t>
            </a:r>
            <a:endParaRPr sz="4200" dirty="0">
              <a:latin typeface="微软雅黑"/>
              <a:cs typeface="微软雅黑"/>
            </a:endParaRPr>
          </a:p>
        </p:txBody>
      </p:sp>
      <p:sp>
        <p:nvSpPr>
          <p:cNvPr id="3" name="object 3"/>
          <p:cNvSpPr txBox="1"/>
          <p:nvPr/>
        </p:nvSpPr>
        <p:spPr>
          <a:xfrm>
            <a:off x="1261243" y="2466086"/>
            <a:ext cx="4531995" cy="2155825"/>
          </a:xfrm>
          <a:prstGeom prst="rect">
            <a:avLst/>
          </a:prstGeom>
        </p:spPr>
        <p:txBody>
          <a:bodyPr vert="horz" wrap="square" lIns="0" tIns="16510" rIns="0" bIns="0" rtlCol="0">
            <a:spAutoFit/>
          </a:bodyPr>
          <a:lstStyle/>
          <a:p>
            <a:pPr marL="256540">
              <a:lnSpc>
                <a:spcPct val="100000"/>
              </a:lnSpc>
              <a:spcBef>
                <a:spcPts val="130"/>
              </a:spcBef>
            </a:pPr>
            <a:r>
              <a:rPr sz="3300" b="1" spc="-15" dirty="0">
                <a:solidFill>
                  <a:srgbClr val="6F2FA0"/>
                </a:solidFill>
                <a:latin typeface="微软雅黑"/>
                <a:cs typeface="微软雅黑"/>
              </a:rPr>
              <a:t>—数字电路与逻辑设计</a:t>
            </a:r>
            <a:endParaRPr sz="3300">
              <a:latin typeface="微软雅黑"/>
              <a:cs typeface="微软雅黑"/>
            </a:endParaRPr>
          </a:p>
          <a:p>
            <a:pPr marL="12700">
              <a:lnSpc>
                <a:spcPct val="100000"/>
              </a:lnSpc>
              <a:spcBef>
                <a:spcPts val="35"/>
              </a:spcBef>
            </a:pPr>
            <a:r>
              <a:rPr sz="2800" b="1" spc="-10" dirty="0">
                <a:latin typeface="微软雅黑"/>
                <a:cs typeface="微软雅黑"/>
              </a:rPr>
              <a:t>（</a:t>
            </a:r>
            <a:r>
              <a:rPr sz="2800" b="1" spc="-10" dirty="0">
                <a:latin typeface="Arial"/>
                <a:cs typeface="Arial"/>
              </a:rPr>
              <a:t>Verilog</a:t>
            </a:r>
            <a:r>
              <a:rPr sz="2800" b="1" spc="-110" dirty="0">
                <a:latin typeface="Arial"/>
                <a:cs typeface="Arial"/>
              </a:rPr>
              <a:t> </a:t>
            </a:r>
            <a:r>
              <a:rPr sz="2800" b="1" spc="-10" dirty="0">
                <a:latin typeface="Arial"/>
                <a:cs typeface="Arial"/>
              </a:rPr>
              <a:t>HDL&amp;Vivado</a:t>
            </a:r>
            <a:r>
              <a:rPr sz="2800" b="1" spc="-10" dirty="0">
                <a:latin typeface="微软雅黑"/>
                <a:cs typeface="微软雅黑"/>
              </a:rPr>
              <a:t>版</a:t>
            </a:r>
            <a:r>
              <a:rPr sz="2800" b="1" spc="-50" dirty="0">
                <a:latin typeface="微软雅黑"/>
                <a:cs typeface="微软雅黑"/>
              </a:rPr>
              <a:t>）</a:t>
            </a:r>
            <a:endParaRPr sz="2800">
              <a:latin typeface="微软雅黑"/>
              <a:cs typeface="微软雅黑"/>
            </a:endParaRPr>
          </a:p>
          <a:p>
            <a:pPr marL="1909445">
              <a:lnSpc>
                <a:spcPct val="100000"/>
              </a:lnSpc>
            </a:pPr>
            <a:r>
              <a:rPr sz="2800" b="1" spc="-10" dirty="0">
                <a:solidFill>
                  <a:srgbClr val="C00000"/>
                </a:solidFill>
                <a:latin typeface="微软雅黑"/>
                <a:cs typeface="微软雅黑"/>
              </a:rPr>
              <a:t>— 参考课件</a:t>
            </a:r>
            <a:r>
              <a:rPr sz="2800" b="1" spc="-25" dirty="0">
                <a:solidFill>
                  <a:srgbClr val="C00000"/>
                </a:solidFill>
                <a:latin typeface="微软雅黑"/>
                <a:cs typeface="微软雅黑"/>
              </a:rPr>
              <a:t>PPT</a:t>
            </a:r>
            <a:endParaRPr sz="2800">
              <a:latin typeface="微软雅黑"/>
              <a:cs typeface="微软雅黑"/>
            </a:endParaRPr>
          </a:p>
          <a:p>
            <a:pPr marL="342265">
              <a:lnSpc>
                <a:spcPct val="100000"/>
              </a:lnSpc>
              <a:spcBef>
                <a:spcPts val="3085"/>
              </a:spcBef>
            </a:pPr>
            <a:r>
              <a:rPr sz="2450" b="1" spc="-5" dirty="0">
                <a:solidFill>
                  <a:srgbClr val="7E7E7E"/>
                </a:solidFill>
                <a:latin typeface="微软雅黑"/>
                <a:cs typeface="微软雅黑"/>
              </a:rPr>
              <a:t>东南大学 </a:t>
            </a:r>
            <a:r>
              <a:rPr sz="2450" b="1" dirty="0">
                <a:solidFill>
                  <a:srgbClr val="7E7E7E"/>
                </a:solidFill>
                <a:latin typeface="微软雅黑"/>
                <a:cs typeface="微软雅黑"/>
              </a:rPr>
              <a:t>&amp;</a:t>
            </a:r>
            <a:r>
              <a:rPr sz="2450" b="1" spc="-10" dirty="0">
                <a:solidFill>
                  <a:srgbClr val="7E7E7E"/>
                </a:solidFill>
                <a:latin typeface="微软雅黑"/>
                <a:cs typeface="微软雅黑"/>
              </a:rPr>
              <a:t> </a:t>
            </a:r>
            <a:r>
              <a:rPr sz="2450" b="1" dirty="0">
                <a:solidFill>
                  <a:srgbClr val="7E7E7E"/>
                </a:solidFill>
                <a:latin typeface="微软雅黑"/>
                <a:cs typeface="微软雅黑"/>
              </a:rPr>
              <a:t>Xilinx</a:t>
            </a:r>
            <a:r>
              <a:rPr sz="2450" b="1" spc="-10" dirty="0">
                <a:solidFill>
                  <a:srgbClr val="7E7E7E"/>
                </a:solidFill>
                <a:latin typeface="微软雅黑"/>
                <a:cs typeface="微软雅黑"/>
              </a:rPr>
              <a:t>大学计划部</a:t>
            </a:r>
            <a:endParaRPr sz="2450">
              <a:latin typeface="微软雅黑"/>
              <a:cs typeface="微软雅黑"/>
            </a:endParaRPr>
          </a:p>
        </p:txBody>
      </p:sp>
      <p:sp>
        <p:nvSpPr>
          <p:cNvPr id="4" name="object 4"/>
          <p:cNvSpPr txBox="1"/>
          <p:nvPr/>
        </p:nvSpPr>
        <p:spPr>
          <a:xfrm>
            <a:off x="9796405" y="6405624"/>
            <a:ext cx="93345" cy="185420"/>
          </a:xfrm>
          <a:prstGeom prst="rect">
            <a:avLst/>
          </a:prstGeom>
        </p:spPr>
        <p:txBody>
          <a:bodyPr vert="horz" wrap="square" lIns="0" tIns="12700" rIns="0" bIns="0" rtlCol="0">
            <a:spAutoFit/>
          </a:bodyPr>
          <a:lstStyle/>
          <a:p>
            <a:pPr marL="12700">
              <a:lnSpc>
                <a:spcPct val="100000"/>
              </a:lnSpc>
              <a:spcBef>
                <a:spcPts val="100"/>
              </a:spcBef>
            </a:pPr>
            <a:r>
              <a:rPr sz="1050" spc="-50" dirty="0">
                <a:solidFill>
                  <a:srgbClr val="898989"/>
                </a:solidFill>
                <a:latin typeface="Calibri"/>
                <a:cs typeface="Calibri"/>
              </a:rPr>
              <a:t>1</a:t>
            </a:r>
            <a:endParaRPr sz="1050">
              <a:latin typeface="Calibri"/>
              <a:cs typeface="Calibri"/>
            </a:endParaRPr>
          </a:p>
        </p:txBody>
      </p:sp>
      <p:pic>
        <p:nvPicPr>
          <p:cNvPr id="5" name="object 5"/>
          <p:cNvPicPr/>
          <p:nvPr/>
        </p:nvPicPr>
        <p:blipFill>
          <a:blip r:embed="rId2" cstate="print"/>
          <a:stretch>
            <a:fillRect/>
          </a:stretch>
        </p:blipFill>
        <p:spPr>
          <a:xfrm>
            <a:off x="6302893" y="1630679"/>
            <a:ext cx="2993379" cy="4238244"/>
          </a:xfrm>
          <a:prstGeom prst="rect">
            <a:avLst/>
          </a:prstGeom>
        </p:spPr>
      </p:pic>
      <p:pic>
        <p:nvPicPr>
          <p:cNvPr id="6" name="object 6"/>
          <p:cNvPicPr/>
          <p:nvPr/>
        </p:nvPicPr>
        <p:blipFill>
          <a:blip r:embed="rId3" cstate="print"/>
          <a:stretch>
            <a:fillRect/>
          </a:stretch>
        </p:blipFill>
        <p:spPr>
          <a:xfrm>
            <a:off x="1426349" y="4620005"/>
            <a:ext cx="2112264" cy="902969"/>
          </a:xfrm>
          <a:prstGeom prst="rect">
            <a:avLst/>
          </a:prstGeom>
        </p:spPr>
      </p:pic>
      <p:pic>
        <p:nvPicPr>
          <p:cNvPr id="7" name="object 7"/>
          <p:cNvPicPr/>
          <p:nvPr/>
        </p:nvPicPr>
        <p:blipFill>
          <a:blip r:embed="rId4" cstate="print"/>
          <a:stretch>
            <a:fillRect/>
          </a:stretch>
        </p:blipFill>
        <p:spPr>
          <a:xfrm>
            <a:off x="3664289" y="4854702"/>
            <a:ext cx="2197662" cy="42915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761" y="2786633"/>
            <a:ext cx="10692765" cy="1800225"/>
            <a:chOff x="761" y="2786633"/>
            <a:chExt cx="10692765" cy="1800225"/>
          </a:xfrm>
        </p:grpSpPr>
        <p:pic>
          <p:nvPicPr>
            <p:cNvPr id="3" name="object 3"/>
            <p:cNvPicPr/>
            <p:nvPr/>
          </p:nvPicPr>
          <p:blipFill>
            <a:blip r:embed="rId2" cstate="print"/>
            <a:stretch>
              <a:fillRect/>
            </a:stretch>
          </p:blipFill>
          <p:spPr>
            <a:xfrm>
              <a:off x="1403" y="2786633"/>
              <a:ext cx="10691622" cy="1799844"/>
            </a:xfrm>
            <a:prstGeom prst="rect">
              <a:avLst/>
            </a:prstGeom>
          </p:spPr>
        </p:pic>
        <p:sp>
          <p:nvSpPr>
            <p:cNvPr id="4" name="object 4"/>
            <p:cNvSpPr/>
            <p:nvPr/>
          </p:nvSpPr>
          <p:spPr>
            <a:xfrm>
              <a:off x="761" y="2786633"/>
              <a:ext cx="118110" cy="1800225"/>
            </a:xfrm>
            <a:custGeom>
              <a:avLst/>
              <a:gdLst/>
              <a:ahLst/>
              <a:cxnLst/>
              <a:rect l="l" t="t" r="r" b="b"/>
              <a:pathLst>
                <a:path w="118110" h="1800225">
                  <a:moveTo>
                    <a:pt x="117990" y="1799844"/>
                  </a:moveTo>
                  <a:lnTo>
                    <a:pt x="117990" y="0"/>
                  </a:lnTo>
                  <a:lnTo>
                    <a:pt x="0" y="0"/>
                  </a:lnTo>
                  <a:lnTo>
                    <a:pt x="0" y="1799844"/>
                  </a:lnTo>
                  <a:lnTo>
                    <a:pt x="117990" y="1799844"/>
                  </a:lnTo>
                  <a:close/>
                </a:path>
              </a:pathLst>
            </a:custGeom>
            <a:solidFill>
              <a:srgbClr val="FF0000"/>
            </a:solidFill>
          </p:spPr>
          <p:txBody>
            <a:bodyPr wrap="square" lIns="0" tIns="0" rIns="0" bIns="0" rtlCol="0"/>
            <a:lstStyle/>
            <a:p>
              <a:endParaRPr/>
            </a:p>
          </p:txBody>
        </p:sp>
      </p:grpSp>
      <p:sp>
        <p:nvSpPr>
          <p:cNvPr id="5" name="object 5"/>
          <p:cNvSpPr txBox="1"/>
          <p:nvPr/>
        </p:nvSpPr>
        <p:spPr>
          <a:xfrm>
            <a:off x="8029327" y="6518400"/>
            <a:ext cx="2454910" cy="239395"/>
          </a:xfrm>
          <a:prstGeom prst="rect">
            <a:avLst/>
          </a:prstGeom>
        </p:spPr>
        <p:txBody>
          <a:bodyPr vert="horz" wrap="square" lIns="0" tIns="12700" rIns="0" bIns="0" rtlCol="0">
            <a:spAutoFit/>
          </a:bodyPr>
          <a:lstStyle/>
          <a:p>
            <a:pPr marL="12700">
              <a:lnSpc>
                <a:spcPct val="100000"/>
              </a:lnSpc>
              <a:spcBef>
                <a:spcPts val="100"/>
              </a:spcBef>
            </a:pPr>
            <a:r>
              <a:rPr sz="1400" b="1" dirty="0">
                <a:solidFill>
                  <a:srgbClr val="3F3F3F"/>
                </a:solidFill>
                <a:latin typeface="微软雅黑"/>
                <a:cs typeface="微软雅黑"/>
              </a:rPr>
              <a:t>Xilinx</a:t>
            </a:r>
            <a:r>
              <a:rPr sz="1400" b="1" spc="-5" dirty="0">
                <a:solidFill>
                  <a:srgbClr val="3F3F3F"/>
                </a:solidFill>
                <a:latin typeface="微软雅黑"/>
                <a:cs typeface="微软雅黑"/>
              </a:rPr>
              <a:t> 大学合作部 </a:t>
            </a:r>
            <a:r>
              <a:rPr sz="1400" b="1" dirty="0">
                <a:solidFill>
                  <a:srgbClr val="3F3F3F"/>
                </a:solidFill>
                <a:latin typeface="微软雅黑"/>
                <a:cs typeface="微软雅黑"/>
              </a:rPr>
              <a:t>&amp;</a:t>
            </a:r>
            <a:r>
              <a:rPr sz="1400" b="1" spc="-10" dirty="0">
                <a:solidFill>
                  <a:srgbClr val="3F3F3F"/>
                </a:solidFill>
                <a:latin typeface="微软雅黑"/>
                <a:cs typeface="微软雅黑"/>
              </a:rPr>
              <a:t> 东南大学</a:t>
            </a:r>
            <a:endParaRPr sz="1400">
              <a:latin typeface="微软雅黑"/>
              <a:cs typeface="微软雅黑"/>
            </a:endParaRPr>
          </a:p>
        </p:txBody>
      </p:sp>
      <p:sp>
        <p:nvSpPr>
          <p:cNvPr id="6" name="object 6"/>
          <p:cNvSpPr txBox="1">
            <a:spLocks noGrp="1"/>
          </p:cNvSpPr>
          <p:nvPr>
            <p:ph type="title"/>
          </p:nvPr>
        </p:nvSpPr>
        <p:spPr>
          <a:xfrm>
            <a:off x="523627" y="3391153"/>
            <a:ext cx="3269615" cy="506730"/>
          </a:xfrm>
          <a:prstGeom prst="rect">
            <a:avLst/>
          </a:prstGeom>
        </p:spPr>
        <p:txBody>
          <a:bodyPr vert="horz" wrap="square" lIns="0" tIns="13335" rIns="0" bIns="0" rtlCol="0">
            <a:spAutoFit/>
          </a:bodyPr>
          <a:lstStyle/>
          <a:p>
            <a:pPr marL="12700">
              <a:lnSpc>
                <a:spcPct val="100000"/>
              </a:lnSpc>
              <a:spcBef>
                <a:spcPts val="105"/>
              </a:spcBef>
            </a:pPr>
            <a:r>
              <a:rPr sz="3150" b="1" dirty="0">
                <a:solidFill>
                  <a:srgbClr val="FFFFFF"/>
                </a:solidFill>
                <a:latin typeface="微软雅黑"/>
                <a:cs typeface="微软雅黑"/>
              </a:rPr>
              <a:t>Verilog</a:t>
            </a:r>
            <a:r>
              <a:rPr sz="3150" b="1" spc="-15" dirty="0">
                <a:solidFill>
                  <a:srgbClr val="FFFFFF"/>
                </a:solidFill>
                <a:latin typeface="微软雅黑"/>
                <a:cs typeface="微软雅黑"/>
              </a:rPr>
              <a:t> </a:t>
            </a:r>
            <a:r>
              <a:rPr sz="3150" b="1" dirty="0">
                <a:solidFill>
                  <a:srgbClr val="FFFFFF"/>
                </a:solidFill>
                <a:latin typeface="微软雅黑"/>
                <a:cs typeface="微软雅黑"/>
              </a:rPr>
              <a:t>HDL</a:t>
            </a:r>
            <a:r>
              <a:rPr sz="3150" b="1" spc="-25" dirty="0">
                <a:solidFill>
                  <a:srgbClr val="FFFFFF"/>
                </a:solidFill>
                <a:latin typeface="微软雅黑"/>
                <a:cs typeface="微软雅黑"/>
              </a:rPr>
              <a:t>基础</a:t>
            </a:r>
            <a:endParaRPr sz="3150" dirty="0">
              <a:latin typeface="微软雅黑"/>
              <a:cs typeface="微软雅黑"/>
            </a:endParaRPr>
          </a:p>
        </p:txBody>
      </p:sp>
      <p:sp>
        <p:nvSpPr>
          <p:cNvPr id="7" name="object 7"/>
          <p:cNvSpPr txBox="1"/>
          <p:nvPr/>
        </p:nvSpPr>
        <p:spPr>
          <a:xfrm>
            <a:off x="603637" y="6564883"/>
            <a:ext cx="75565" cy="132715"/>
          </a:xfrm>
          <a:prstGeom prst="rect">
            <a:avLst/>
          </a:prstGeom>
        </p:spPr>
        <p:txBody>
          <a:bodyPr vert="horz" wrap="square" lIns="0" tIns="12700" rIns="0" bIns="0" rtlCol="0">
            <a:spAutoFit/>
          </a:bodyPr>
          <a:lstStyle/>
          <a:p>
            <a:pPr marL="12700">
              <a:lnSpc>
                <a:spcPct val="100000"/>
              </a:lnSpc>
              <a:spcBef>
                <a:spcPts val="100"/>
              </a:spcBef>
            </a:pPr>
            <a:r>
              <a:rPr sz="700" spc="-50" dirty="0">
                <a:latin typeface="Arial"/>
                <a:cs typeface="Arial"/>
              </a:rPr>
              <a:t>2</a:t>
            </a:r>
            <a:endParaRPr sz="700">
              <a:latin typeface="Arial"/>
              <a:cs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030089" y="6519164"/>
            <a:ext cx="2454910" cy="239395"/>
          </a:xfrm>
          <a:prstGeom prst="rect">
            <a:avLst/>
          </a:prstGeom>
        </p:spPr>
        <p:txBody>
          <a:bodyPr vert="horz" wrap="square" lIns="0" tIns="12700" rIns="0" bIns="0" rtlCol="0">
            <a:spAutoFit/>
          </a:bodyPr>
          <a:lstStyle/>
          <a:p>
            <a:pPr marL="12700">
              <a:lnSpc>
                <a:spcPct val="100000"/>
              </a:lnSpc>
              <a:spcBef>
                <a:spcPts val="100"/>
              </a:spcBef>
            </a:pPr>
            <a:r>
              <a:rPr sz="1400" b="1" dirty="0">
                <a:solidFill>
                  <a:srgbClr val="3F3F3F"/>
                </a:solidFill>
                <a:latin typeface="微软雅黑"/>
                <a:cs typeface="微软雅黑"/>
              </a:rPr>
              <a:t>Xilinx</a:t>
            </a:r>
            <a:r>
              <a:rPr sz="1400" b="1" spc="-5" dirty="0">
                <a:solidFill>
                  <a:srgbClr val="3F3F3F"/>
                </a:solidFill>
                <a:latin typeface="微软雅黑"/>
                <a:cs typeface="微软雅黑"/>
              </a:rPr>
              <a:t> 大学合作部 </a:t>
            </a:r>
            <a:r>
              <a:rPr sz="1400" b="1" dirty="0">
                <a:solidFill>
                  <a:srgbClr val="3F3F3F"/>
                </a:solidFill>
                <a:latin typeface="微软雅黑"/>
                <a:cs typeface="微软雅黑"/>
              </a:rPr>
              <a:t>&amp;</a:t>
            </a:r>
            <a:r>
              <a:rPr sz="1400" b="1" spc="-10" dirty="0">
                <a:solidFill>
                  <a:srgbClr val="3F3F3F"/>
                </a:solidFill>
                <a:latin typeface="微软雅黑"/>
                <a:cs typeface="微软雅黑"/>
              </a:rPr>
              <a:t> 东南大学</a:t>
            </a:r>
            <a:endParaRPr sz="1400">
              <a:latin typeface="微软雅黑"/>
              <a:cs typeface="微软雅黑"/>
            </a:endParaRPr>
          </a:p>
        </p:txBody>
      </p:sp>
      <p:pic>
        <p:nvPicPr>
          <p:cNvPr id="3" name="object 3"/>
          <p:cNvPicPr/>
          <p:nvPr/>
        </p:nvPicPr>
        <p:blipFill>
          <a:blip r:embed="rId2" cstate="print"/>
          <a:stretch>
            <a:fillRect/>
          </a:stretch>
        </p:blipFill>
        <p:spPr>
          <a:xfrm>
            <a:off x="1007213" y="1951844"/>
            <a:ext cx="162741" cy="162741"/>
          </a:xfrm>
          <a:prstGeom prst="rect">
            <a:avLst/>
          </a:prstGeom>
        </p:spPr>
      </p:pic>
      <p:sp>
        <p:nvSpPr>
          <p:cNvPr id="4" name="object 4"/>
          <p:cNvSpPr txBox="1"/>
          <p:nvPr/>
        </p:nvSpPr>
        <p:spPr>
          <a:xfrm>
            <a:off x="1319155" y="1835150"/>
            <a:ext cx="2537460" cy="346710"/>
          </a:xfrm>
          <a:prstGeom prst="rect">
            <a:avLst/>
          </a:prstGeom>
        </p:spPr>
        <p:txBody>
          <a:bodyPr vert="horz" wrap="square" lIns="0" tIns="13335" rIns="0" bIns="0" rtlCol="0">
            <a:spAutoFit/>
          </a:bodyPr>
          <a:lstStyle/>
          <a:p>
            <a:pPr marL="12700">
              <a:lnSpc>
                <a:spcPct val="100000"/>
              </a:lnSpc>
              <a:spcBef>
                <a:spcPts val="105"/>
              </a:spcBef>
            </a:pPr>
            <a:r>
              <a:rPr sz="2100" dirty="0">
                <a:latin typeface="Arial"/>
                <a:cs typeface="Arial"/>
              </a:rPr>
              <a:t>Verilog</a:t>
            </a:r>
            <a:r>
              <a:rPr sz="2100" spc="-5" dirty="0">
                <a:latin typeface="Arial"/>
                <a:cs typeface="Arial"/>
              </a:rPr>
              <a:t> </a:t>
            </a:r>
            <a:r>
              <a:rPr sz="2100" spc="-10" dirty="0">
                <a:latin typeface="Arial"/>
                <a:cs typeface="Arial"/>
              </a:rPr>
              <a:t>HDL</a:t>
            </a:r>
            <a:r>
              <a:rPr sz="2100" spc="-15" dirty="0">
                <a:latin typeface="宋体"/>
                <a:cs typeface="宋体"/>
              </a:rPr>
              <a:t>语言基础</a:t>
            </a:r>
            <a:endParaRPr sz="2100" dirty="0">
              <a:latin typeface="宋体"/>
              <a:cs typeface="宋体"/>
            </a:endParaRPr>
          </a:p>
        </p:txBody>
      </p:sp>
      <p:sp>
        <p:nvSpPr>
          <p:cNvPr id="5" name="object 5"/>
          <p:cNvSpPr txBox="1">
            <a:spLocks noGrp="1"/>
          </p:cNvSpPr>
          <p:nvPr>
            <p:ph type="title"/>
          </p:nvPr>
        </p:nvSpPr>
        <p:spPr>
          <a:xfrm>
            <a:off x="523627" y="1071625"/>
            <a:ext cx="1452245" cy="453390"/>
          </a:xfrm>
          <a:prstGeom prst="rect">
            <a:avLst/>
          </a:prstGeom>
        </p:spPr>
        <p:txBody>
          <a:bodyPr vert="horz" wrap="square" lIns="0" tIns="13335" rIns="0" bIns="0" rtlCol="0">
            <a:spAutoFit/>
          </a:bodyPr>
          <a:lstStyle/>
          <a:p>
            <a:pPr marL="12700">
              <a:lnSpc>
                <a:spcPct val="100000"/>
              </a:lnSpc>
              <a:spcBef>
                <a:spcPts val="105"/>
              </a:spcBef>
            </a:pPr>
            <a:r>
              <a:rPr b="1" spc="-15" dirty="0">
                <a:latin typeface="微软雅黑"/>
                <a:cs typeface="微软雅黑"/>
              </a:rPr>
              <a:t>主要内容</a:t>
            </a:r>
          </a:p>
        </p:txBody>
      </p:sp>
      <p:sp>
        <p:nvSpPr>
          <p:cNvPr id="6" name="object 6"/>
          <p:cNvSpPr txBox="1"/>
          <p:nvPr/>
        </p:nvSpPr>
        <p:spPr>
          <a:xfrm>
            <a:off x="604399" y="6565644"/>
            <a:ext cx="310515" cy="132715"/>
          </a:xfrm>
          <a:prstGeom prst="rect">
            <a:avLst/>
          </a:prstGeom>
        </p:spPr>
        <p:txBody>
          <a:bodyPr vert="horz" wrap="square" lIns="0" tIns="12700" rIns="0" bIns="0" rtlCol="0">
            <a:spAutoFit/>
          </a:bodyPr>
          <a:lstStyle/>
          <a:p>
            <a:pPr marL="12700">
              <a:lnSpc>
                <a:spcPct val="100000"/>
              </a:lnSpc>
              <a:spcBef>
                <a:spcPts val="100"/>
              </a:spcBef>
            </a:pPr>
            <a:r>
              <a:rPr sz="700" dirty="0">
                <a:latin typeface="Arial"/>
                <a:cs typeface="Arial"/>
              </a:rPr>
              <a:t>Page</a:t>
            </a:r>
            <a:r>
              <a:rPr sz="700" spc="5" dirty="0">
                <a:latin typeface="Arial"/>
                <a:cs typeface="Arial"/>
              </a:rPr>
              <a:t> </a:t>
            </a:r>
            <a:r>
              <a:rPr sz="700" spc="-50" dirty="0">
                <a:latin typeface="Arial"/>
                <a:cs typeface="Arial"/>
              </a:rPr>
              <a:t>3</a:t>
            </a:r>
            <a:endParaRPr sz="700">
              <a:latin typeface="Arial"/>
              <a:cs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030089" y="6519164"/>
            <a:ext cx="2454910" cy="239395"/>
          </a:xfrm>
          <a:prstGeom prst="rect">
            <a:avLst/>
          </a:prstGeom>
        </p:spPr>
        <p:txBody>
          <a:bodyPr vert="horz" wrap="square" lIns="0" tIns="12700" rIns="0" bIns="0" rtlCol="0">
            <a:spAutoFit/>
          </a:bodyPr>
          <a:lstStyle/>
          <a:p>
            <a:pPr marL="12700">
              <a:lnSpc>
                <a:spcPct val="100000"/>
              </a:lnSpc>
              <a:spcBef>
                <a:spcPts val="100"/>
              </a:spcBef>
            </a:pPr>
            <a:r>
              <a:rPr sz="1400" b="1" dirty="0">
                <a:solidFill>
                  <a:srgbClr val="3F3F3F"/>
                </a:solidFill>
                <a:latin typeface="微软雅黑"/>
                <a:cs typeface="微软雅黑"/>
              </a:rPr>
              <a:t>Xilinx</a:t>
            </a:r>
            <a:r>
              <a:rPr sz="1400" b="1" spc="-5" dirty="0">
                <a:solidFill>
                  <a:srgbClr val="3F3F3F"/>
                </a:solidFill>
                <a:latin typeface="微软雅黑"/>
                <a:cs typeface="微软雅黑"/>
              </a:rPr>
              <a:t> 大学合作部 </a:t>
            </a:r>
            <a:r>
              <a:rPr sz="1400" b="1" dirty="0">
                <a:solidFill>
                  <a:srgbClr val="3F3F3F"/>
                </a:solidFill>
                <a:latin typeface="微软雅黑"/>
                <a:cs typeface="微软雅黑"/>
              </a:rPr>
              <a:t>&amp;</a:t>
            </a:r>
            <a:r>
              <a:rPr sz="1400" b="1" spc="-10" dirty="0">
                <a:solidFill>
                  <a:srgbClr val="3F3F3F"/>
                </a:solidFill>
                <a:latin typeface="微软雅黑"/>
                <a:cs typeface="微软雅黑"/>
              </a:rPr>
              <a:t> 东南大学</a:t>
            </a:r>
            <a:endParaRPr sz="1400" dirty="0">
              <a:latin typeface="微软雅黑"/>
              <a:cs typeface="微软雅黑"/>
            </a:endParaRPr>
          </a:p>
        </p:txBody>
      </p:sp>
      <p:sp>
        <p:nvSpPr>
          <p:cNvPr id="3" name="object 3"/>
          <p:cNvSpPr txBox="1">
            <a:spLocks noGrp="1"/>
          </p:cNvSpPr>
          <p:nvPr>
            <p:ph type="title"/>
          </p:nvPr>
        </p:nvSpPr>
        <p:spPr>
          <a:xfrm>
            <a:off x="241300" y="200025"/>
            <a:ext cx="7288905" cy="524503"/>
          </a:xfrm>
          <a:prstGeom prst="rect">
            <a:avLst/>
          </a:prstGeom>
        </p:spPr>
        <p:txBody>
          <a:bodyPr vert="horz" wrap="square" lIns="0" tIns="16510" rIns="0" bIns="0" rtlCol="0">
            <a:spAutoFit/>
          </a:bodyPr>
          <a:lstStyle/>
          <a:p>
            <a:pPr marL="12700">
              <a:lnSpc>
                <a:spcPct val="100000"/>
              </a:lnSpc>
              <a:spcBef>
                <a:spcPts val="130"/>
              </a:spcBef>
            </a:pPr>
            <a:r>
              <a:rPr sz="3300" b="1" spc="-35" dirty="0">
                <a:solidFill>
                  <a:srgbClr val="000000"/>
                </a:solidFill>
                <a:latin typeface="Arial"/>
                <a:cs typeface="Arial"/>
              </a:rPr>
              <a:t>Verilog</a:t>
            </a:r>
            <a:r>
              <a:rPr lang="zh-CN" altLang="en-US" sz="3300" b="1" spc="-15" dirty="0">
                <a:solidFill>
                  <a:srgbClr val="000000"/>
                </a:solidFill>
                <a:latin typeface="宋体"/>
                <a:cs typeface="宋体"/>
              </a:rPr>
              <a:t>的基本设计单元</a:t>
            </a:r>
            <a:r>
              <a:rPr lang="en-US" altLang="zh-CN" sz="3300" b="1" spc="-15" dirty="0">
                <a:solidFill>
                  <a:srgbClr val="000000"/>
                </a:solidFill>
                <a:latin typeface="宋体"/>
                <a:cs typeface="宋体"/>
              </a:rPr>
              <a:t>——</a:t>
            </a:r>
            <a:r>
              <a:rPr lang="zh-CN" altLang="en-US" sz="3300" b="1" spc="-15" dirty="0">
                <a:solidFill>
                  <a:srgbClr val="000000"/>
                </a:solidFill>
                <a:latin typeface="宋体"/>
                <a:cs typeface="宋体"/>
              </a:rPr>
              <a:t>模块</a:t>
            </a:r>
            <a:endParaRPr sz="3300" dirty="0">
              <a:latin typeface="宋体"/>
              <a:cs typeface="宋体"/>
            </a:endParaRPr>
          </a:p>
        </p:txBody>
      </p:sp>
      <p:pic>
        <p:nvPicPr>
          <p:cNvPr id="4" name="object 4"/>
          <p:cNvPicPr/>
          <p:nvPr/>
        </p:nvPicPr>
        <p:blipFill>
          <a:blip r:embed="rId3" cstate="print"/>
          <a:stretch>
            <a:fillRect/>
          </a:stretch>
        </p:blipFill>
        <p:spPr>
          <a:xfrm>
            <a:off x="292493" y="1947672"/>
            <a:ext cx="6740652" cy="4220717"/>
          </a:xfrm>
          <a:prstGeom prst="rect">
            <a:avLst/>
          </a:prstGeom>
        </p:spPr>
      </p:pic>
      <p:pic>
        <p:nvPicPr>
          <p:cNvPr id="5" name="object 5"/>
          <p:cNvPicPr/>
          <p:nvPr/>
        </p:nvPicPr>
        <p:blipFill>
          <a:blip r:embed="rId4" cstate="print"/>
          <a:stretch>
            <a:fillRect/>
          </a:stretch>
        </p:blipFill>
        <p:spPr>
          <a:xfrm>
            <a:off x="7711313" y="2837524"/>
            <a:ext cx="2777947" cy="2024576"/>
          </a:xfrm>
          <a:prstGeom prst="rect">
            <a:avLst/>
          </a:prstGeom>
        </p:spPr>
      </p:pic>
      <p:sp>
        <p:nvSpPr>
          <p:cNvPr id="6" name="object 3">
            <a:extLst>
              <a:ext uri="{FF2B5EF4-FFF2-40B4-BE49-F238E27FC236}">
                <a16:creationId xmlns:a16="http://schemas.microsoft.com/office/drawing/2014/main" id="{08DF3929-93DF-A593-37AA-7FB243EB8E8C}"/>
              </a:ext>
            </a:extLst>
          </p:cNvPr>
          <p:cNvSpPr txBox="1">
            <a:spLocks/>
          </p:cNvSpPr>
          <p:nvPr/>
        </p:nvSpPr>
        <p:spPr>
          <a:xfrm>
            <a:off x="292493" y="1170682"/>
            <a:ext cx="3127375" cy="447558"/>
          </a:xfrm>
          <a:prstGeom prst="rect">
            <a:avLst/>
          </a:prstGeom>
        </p:spPr>
        <p:txBody>
          <a:bodyPr vert="horz" wrap="square" lIns="0" tIns="16510" rIns="0" bIns="0" rtlCol="0">
            <a:spAutoFit/>
          </a:bodyPr>
          <a:lstStyle>
            <a:lvl1pPr>
              <a:defRPr sz="2800" b="0" i="0">
                <a:solidFill>
                  <a:srgbClr val="3F3F3F"/>
                </a:solidFill>
                <a:latin typeface="Calibri"/>
                <a:ea typeface="+mj-ea"/>
                <a:cs typeface="Calibri"/>
              </a:defRPr>
            </a:lvl1pPr>
          </a:lstStyle>
          <a:p>
            <a:pPr marL="12700">
              <a:spcBef>
                <a:spcPts val="130"/>
              </a:spcBef>
            </a:pPr>
            <a:r>
              <a:rPr lang="zh-CN" altLang="en-US" b="1" dirty="0">
                <a:latin typeface="微软雅黑"/>
              </a:rPr>
              <a:t>模块结构示例</a:t>
            </a:r>
          </a:p>
        </p:txBody>
      </p:sp>
      <p:sp>
        <p:nvSpPr>
          <p:cNvPr id="7" name="矩形 6">
            <a:extLst>
              <a:ext uri="{FF2B5EF4-FFF2-40B4-BE49-F238E27FC236}">
                <a16:creationId xmlns:a16="http://schemas.microsoft.com/office/drawing/2014/main" id="{DEFADD0D-49F7-2826-0DCD-D5B600A7B446}"/>
              </a:ext>
            </a:extLst>
          </p:cNvPr>
          <p:cNvSpPr/>
          <p:nvPr/>
        </p:nvSpPr>
        <p:spPr>
          <a:xfrm>
            <a:off x="292493" y="1948304"/>
            <a:ext cx="796248" cy="232922"/>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6CE8183A-0694-99BF-0CCF-A67A6A03364F}"/>
              </a:ext>
            </a:extLst>
          </p:cNvPr>
          <p:cNvSpPr/>
          <p:nvPr/>
        </p:nvSpPr>
        <p:spPr>
          <a:xfrm>
            <a:off x="292493" y="5951233"/>
            <a:ext cx="1168008" cy="232922"/>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 name="直接箭头连接符 10">
            <a:extLst>
              <a:ext uri="{FF2B5EF4-FFF2-40B4-BE49-F238E27FC236}">
                <a16:creationId xmlns:a16="http://schemas.microsoft.com/office/drawing/2014/main" id="{545BFB77-3359-3437-8687-AF0E094AB3C4}"/>
              </a:ext>
            </a:extLst>
          </p:cNvPr>
          <p:cNvCxnSpPr>
            <a:cxnSpLocks/>
          </p:cNvCxnSpPr>
          <p:nvPr/>
        </p:nvCxnSpPr>
        <p:spPr>
          <a:xfrm flipH="1">
            <a:off x="469900" y="2181226"/>
            <a:ext cx="152400" cy="1943047"/>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a:extLst>
              <a:ext uri="{FF2B5EF4-FFF2-40B4-BE49-F238E27FC236}">
                <a16:creationId xmlns:a16="http://schemas.microsoft.com/office/drawing/2014/main" id="{E425B32F-6852-A4FC-A56A-BDC7AEF9724F}"/>
              </a:ext>
            </a:extLst>
          </p:cNvPr>
          <p:cNvCxnSpPr>
            <a:cxnSpLocks/>
          </p:cNvCxnSpPr>
          <p:nvPr/>
        </p:nvCxnSpPr>
        <p:spPr>
          <a:xfrm flipH="1" flipV="1">
            <a:off x="469900" y="4520676"/>
            <a:ext cx="152400" cy="1430557"/>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7" name="文本框 16">
            <a:extLst>
              <a:ext uri="{FF2B5EF4-FFF2-40B4-BE49-F238E27FC236}">
                <a16:creationId xmlns:a16="http://schemas.microsoft.com/office/drawing/2014/main" id="{41996FCB-F559-D22F-EEFD-6E24B9A6565F}"/>
              </a:ext>
            </a:extLst>
          </p:cNvPr>
          <p:cNvSpPr txBox="1"/>
          <p:nvPr/>
        </p:nvSpPr>
        <p:spPr>
          <a:xfrm>
            <a:off x="-23750" y="4140039"/>
            <a:ext cx="1800493" cy="369332"/>
          </a:xfrm>
          <a:prstGeom prst="rect">
            <a:avLst/>
          </a:prstGeom>
          <a:noFill/>
        </p:spPr>
        <p:txBody>
          <a:bodyPr wrap="none" rtlCol="0">
            <a:spAutoFit/>
          </a:bodyPr>
          <a:lstStyle/>
          <a:p>
            <a:r>
              <a:rPr lang="zh-CN" altLang="en-US" b="1" dirty="0">
                <a:solidFill>
                  <a:srgbClr val="C00000"/>
                </a:solidFill>
              </a:rPr>
              <a:t>模块定义关键字</a:t>
            </a:r>
          </a:p>
        </p:txBody>
      </p:sp>
      <p:cxnSp>
        <p:nvCxnSpPr>
          <p:cNvPr id="21" name="直接连接符 20">
            <a:extLst>
              <a:ext uri="{FF2B5EF4-FFF2-40B4-BE49-F238E27FC236}">
                <a16:creationId xmlns:a16="http://schemas.microsoft.com/office/drawing/2014/main" id="{470D4905-9F66-AD44-CE0D-0F83102DA766}"/>
              </a:ext>
            </a:extLst>
          </p:cNvPr>
          <p:cNvCxnSpPr>
            <a:cxnSpLocks/>
          </p:cNvCxnSpPr>
          <p:nvPr/>
        </p:nvCxnSpPr>
        <p:spPr>
          <a:xfrm>
            <a:off x="1088741" y="2181226"/>
            <a:ext cx="828959" cy="0"/>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sp>
        <p:nvSpPr>
          <p:cNvPr id="25" name="文本框 24">
            <a:extLst>
              <a:ext uri="{FF2B5EF4-FFF2-40B4-BE49-F238E27FC236}">
                <a16:creationId xmlns:a16="http://schemas.microsoft.com/office/drawing/2014/main" id="{3ED8DF51-D664-6D1D-680F-5A89289892DA}"/>
              </a:ext>
            </a:extLst>
          </p:cNvPr>
          <p:cNvSpPr txBox="1"/>
          <p:nvPr/>
        </p:nvSpPr>
        <p:spPr>
          <a:xfrm>
            <a:off x="1231900" y="1639978"/>
            <a:ext cx="877163" cy="369332"/>
          </a:xfrm>
          <a:prstGeom prst="rect">
            <a:avLst/>
          </a:prstGeom>
          <a:noFill/>
        </p:spPr>
        <p:txBody>
          <a:bodyPr wrap="none" rtlCol="0">
            <a:spAutoFit/>
          </a:bodyPr>
          <a:lstStyle/>
          <a:p>
            <a:r>
              <a:rPr lang="zh-CN" altLang="en-US" b="1" dirty="0">
                <a:solidFill>
                  <a:srgbClr val="00B050"/>
                </a:solidFill>
              </a:rPr>
              <a:t>模块名</a:t>
            </a:r>
          </a:p>
        </p:txBody>
      </p:sp>
      <p:sp>
        <p:nvSpPr>
          <p:cNvPr id="26" name="椭圆 25">
            <a:extLst>
              <a:ext uri="{FF2B5EF4-FFF2-40B4-BE49-F238E27FC236}">
                <a16:creationId xmlns:a16="http://schemas.microsoft.com/office/drawing/2014/main" id="{FC904B21-C43A-FC87-D7CA-FF2A86592EEC}"/>
              </a:ext>
            </a:extLst>
          </p:cNvPr>
          <p:cNvSpPr/>
          <p:nvPr/>
        </p:nvSpPr>
        <p:spPr>
          <a:xfrm>
            <a:off x="1993576" y="1898649"/>
            <a:ext cx="1718352" cy="331490"/>
          </a:xfrm>
          <a:prstGeom prst="ellipse">
            <a:avLst/>
          </a:prstGeom>
          <a:no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文本框 26">
            <a:extLst>
              <a:ext uri="{FF2B5EF4-FFF2-40B4-BE49-F238E27FC236}">
                <a16:creationId xmlns:a16="http://schemas.microsoft.com/office/drawing/2014/main" id="{EFAFD24C-6C40-4587-C24E-BD3E2761D1FA}"/>
              </a:ext>
            </a:extLst>
          </p:cNvPr>
          <p:cNvSpPr txBox="1"/>
          <p:nvPr/>
        </p:nvSpPr>
        <p:spPr>
          <a:xfrm>
            <a:off x="3277216" y="1573779"/>
            <a:ext cx="1612284" cy="369332"/>
          </a:xfrm>
          <a:prstGeom prst="rect">
            <a:avLst/>
          </a:prstGeom>
          <a:noFill/>
        </p:spPr>
        <p:txBody>
          <a:bodyPr wrap="square" rtlCol="0">
            <a:spAutoFit/>
          </a:bodyPr>
          <a:lstStyle/>
          <a:p>
            <a:r>
              <a:rPr lang="zh-CN" altLang="en-US" b="1" dirty="0">
                <a:solidFill>
                  <a:srgbClr val="0070C0"/>
                </a:solidFill>
              </a:rPr>
              <a:t>端口列表</a:t>
            </a:r>
          </a:p>
        </p:txBody>
      </p:sp>
      <p:sp>
        <p:nvSpPr>
          <p:cNvPr id="28" name="文本框 27">
            <a:extLst>
              <a:ext uri="{FF2B5EF4-FFF2-40B4-BE49-F238E27FC236}">
                <a16:creationId xmlns:a16="http://schemas.microsoft.com/office/drawing/2014/main" id="{EA620587-0951-BE64-B314-23C6477A0639}"/>
              </a:ext>
            </a:extLst>
          </p:cNvPr>
          <p:cNvSpPr txBox="1"/>
          <p:nvPr/>
        </p:nvSpPr>
        <p:spPr>
          <a:xfrm>
            <a:off x="3792621" y="2181226"/>
            <a:ext cx="1173079" cy="738664"/>
          </a:xfrm>
          <a:prstGeom prst="rect">
            <a:avLst/>
          </a:prstGeom>
          <a:solidFill>
            <a:schemeClr val="bg1"/>
          </a:solidFill>
        </p:spPr>
        <p:txBody>
          <a:bodyPr wrap="square" rtlCol="0">
            <a:spAutoFit/>
          </a:bodyPr>
          <a:lstStyle/>
          <a:p>
            <a:pPr algn="just"/>
            <a:r>
              <a:rPr lang="zh-CN" altLang="en-US" sz="1400" dirty="0">
                <a:solidFill>
                  <a:srgbClr val="002060"/>
                </a:solidFill>
              </a:rPr>
              <a:t>电路模块端口输入</a:t>
            </a:r>
            <a:r>
              <a:rPr lang="en-US" altLang="zh-CN" sz="1400" dirty="0">
                <a:solidFill>
                  <a:srgbClr val="002060"/>
                </a:solidFill>
              </a:rPr>
              <a:t>/</a:t>
            </a:r>
            <a:r>
              <a:rPr lang="zh-CN" altLang="en-US" sz="1400" dirty="0">
                <a:solidFill>
                  <a:srgbClr val="002060"/>
                </a:solidFill>
              </a:rPr>
              <a:t>输出类型说明段</a:t>
            </a:r>
          </a:p>
        </p:txBody>
      </p:sp>
      <p:sp>
        <p:nvSpPr>
          <p:cNvPr id="29" name="文本框 28">
            <a:extLst>
              <a:ext uri="{FF2B5EF4-FFF2-40B4-BE49-F238E27FC236}">
                <a16:creationId xmlns:a16="http://schemas.microsoft.com/office/drawing/2014/main" id="{17249A8D-E4E8-A591-89F9-6D6C12E3EC77}"/>
              </a:ext>
            </a:extLst>
          </p:cNvPr>
          <p:cNvSpPr txBox="1"/>
          <p:nvPr/>
        </p:nvSpPr>
        <p:spPr>
          <a:xfrm>
            <a:off x="3792621" y="2904645"/>
            <a:ext cx="1096879" cy="523220"/>
          </a:xfrm>
          <a:prstGeom prst="rect">
            <a:avLst/>
          </a:prstGeom>
          <a:solidFill>
            <a:schemeClr val="bg1"/>
          </a:solidFill>
        </p:spPr>
        <p:txBody>
          <a:bodyPr wrap="square" rtlCol="0">
            <a:spAutoFit/>
          </a:bodyPr>
          <a:lstStyle/>
          <a:p>
            <a:pPr algn="l"/>
            <a:r>
              <a:rPr lang="zh-CN" altLang="en-US" sz="1400" dirty="0">
                <a:solidFill>
                  <a:srgbClr val="002060"/>
                </a:solidFill>
              </a:rPr>
              <a:t>端口数据类型说明段</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DC9EE635-DAA3-8663-D2A0-DB7401F17051}"/>
              </a:ext>
            </a:extLst>
          </p:cNvPr>
          <p:cNvPicPr>
            <a:picLocks noChangeAspect="1"/>
          </p:cNvPicPr>
          <p:nvPr/>
        </p:nvPicPr>
        <p:blipFill>
          <a:blip r:embed="rId3"/>
          <a:stretch>
            <a:fillRect/>
          </a:stretch>
        </p:blipFill>
        <p:spPr>
          <a:xfrm>
            <a:off x="4279900" y="1876425"/>
            <a:ext cx="6035828" cy="4588883"/>
          </a:xfrm>
          <a:prstGeom prst="rect">
            <a:avLst/>
          </a:prstGeom>
        </p:spPr>
      </p:pic>
      <p:sp>
        <p:nvSpPr>
          <p:cNvPr id="3" name="Rectangle 3" descr="Rectangle: Click to edit Master text styles&#10;Second level&#10;Third level&#10;Fourth level&#10;Fifth level">
            <a:extLst>
              <a:ext uri="{FF2B5EF4-FFF2-40B4-BE49-F238E27FC236}">
                <a16:creationId xmlns:a16="http://schemas.microsoft.com/office/drawing/2014/main" id="{4FA894C6-1941-8FBA-F44F-84801947145A}"/>
              </a:ext>
            </a:extLst>
          </p:cNvPr>
          <p:cNvSpPr>
            <a:spLocks noGrp="1"/>
          </p:cNvSpPr>
          <p:nvPr>
            <p:ph idx="1"/>
          </p:nvPr>
        </p:nvSpPr>
        <p:spPr>
          <a:xfrm>
            <a:off x="586602" y="1770913"/>
            <a:ext cx="6749750" cy="3584828"/>
          </a:xfrm>
        </p:spPr>
        <p:txBody>
          <a:bodyPr vert="horz" wrap="square" lIns="100838" tIns="50419" rIns="100838" bIns="50419" anchor="t" anchorCtr="0">
            <a:spAutoFit/>
          </a:bodyPr>
          <a:lstStyle/>
          <a:p>
            <a:pPr marL="457200" indent="-457200">
              <a:spcBef>
                <a:spcPts val="662"/>
              </a:spcBef>
              <a:spcAft>
                <a:spcPts val="662"/>
              </a:spcAft>
              <a:buFont typeface="Wingdings" panose="05000000000000000000" pitchFamily="2" charset="2"/>
              <a:buChar char="Ø"/>
            </a:pPr>
            <a:r>
              <a:rPr kumimoji="1" lang="zh-CN" altLang="en-US" sz="2800" b="1" dirty="0">
                <a:solidFill>
                  <a:srgbClr val="C00000"/>
                </a:solidFill>
                <a:latin typeface="+mn-ea"/>
              </a:rPr>
              <a:t>模块名</a:t>
            </a:r>
            <a:endParaRPr kumimoji="1" lang="en-US" altLang="zh-CN" sz="2800" b="1" dirty="0">
              <a:solidFill>
                <a:srgbClr val="C00000"/>
              </a:solidFill>
              <a:latin typeface="+mn-ea"/>
            </a:endParaRPr>
          </a:p>
          <a:p>
            <a:pPr marL="457200" indent="-457200">
              <a:spcBef>
                <a:spcPts val="662"/>
              </a:spcBef>
              <a:spcAft>
                <a:spcPts val="662"/>
              </a:spcAft>
              <a:buFont typeface="Wingdings" panose="05000000000000000000" pitchFamily="2" charset="2"/>
              <a:buChar char="Ø"/>
            </a:pPr>
            <a:r>
              <a:rPr kumimoji="1" lang="zh-CN" altLang="en-US" sz="2800" b="1" dirty="0">
                <a:latin typeface="+mn-ea"/>
                <a:cs typeface="Times New Roman" panose="02020603050405020304" pitchFamily="18" charset="0"/>
              </a:rPr>
              <a:t>端口列表</a:t>
            </a:r>
            <a:endParaRPr kumimoji="1" lang="en-US" altLang="zh-CN" sz="2800" b="1" dirty="0">
              <a:latin typeface="+mn-ea"/>
              <a:cs typeface="Times New Roman" panose="02020603050405020304" pitchFamily="18" charset="0"/>
            </a:endParaRPr>
          </a:p>
          <a:p>
            <a:pPr marL="457200" indent="-457200">
              <a:spcBef>
                <a:spcPts val="662"/>
              </a:spcBef>
              <a:spcAft>
                <a:spcPts val="662"/>
              </a:spcAft>
              <a:buFont typeface="Wingdings" panose="05000000000000000000" pitchFamily="2" charset="2"/>
              <a:buChar char="Ø"/>
            </a:pPr>
            <a:r>
              <a:rPr kumimoji="1" lang="zh-CN" altLang="en-US" sz="2800" b="1" dirty="0">
                <a:latin typeface="+mn-ea"/>
                <a:cs typeface="Times New Roman" panose="02020603050405020304" pitchFamily="18" charset="0"/>
              </a:rPr>
              <a:t>端口声明</a:t>
            </a:r>
            <a:endParaRPr kumimoji="1" lang="en-US" altLang="zh-CN" sz="2800" b="1" dirty="0">
              <a:latin typeface="+mn-ea"/>
              <a:cs typeface="Times New Roman" panose="02020603050405020304" pitchFamily="18" charset="0"/>
            </a:endParaRPr>
          </a:p>
          <a:p>
            <a:pPr marL="457200" indent="-457200">
              <a:spcBef>
                <a:spcPts val="662"/>
              </a:spcBef>
              <a:spcAft>
                <a:spcPts val="662"/>
              </a:spcAft>
              <a:buFont typeface="Wingdings" panose="05000000000000000000" pitchFamily="2" charset="2"/>
              <a:buChar char="Ø"/>
            </a:pPr>
            <a:r>
              <a:rPr kumimoji="1" lang="zh-CN" altLang="en-US" sz="2800" b="1" dirty="0">
                <a:latin typeface="+mn-ea"/>
                <a:cs typeface="Times New Roman" panose="02020603050405020304" pitchFamily="18" charset="0"/>
              </a:rPr>
              <a:t>参数声明</a:t>
            </a:r>
            <a:endParaRPr kumimoji="1" lang="en-US" altLang="zh-CN" sz="2800" b="1" dirty="0">
              <a:latin typeface="+mn-ea"/>
              <a:cs typeface="Times New Roman" panose="02020603050405020304" pitchFamily="18" charset="0"/>
            </a:endParaRPr>
          </a:p>
          <a:p>
            <a:pPr marL="457200" indent="-457200">
              <a:spcBef>
                <a:spcPts val="662"/>
              </a:spcBef>
              <a:spcAft>
                <a:spcPts val="662"/>
              </a:spcAft>
              <a:buFont typeface="Wingdings" panose="05000000000000000000" pitchFamily="2" charset="2"/>
              <a:buChar char="Ø"/>
            </a:pPr>
            <a:r>
              <a:rPr kumimoji="1" lang="zh-CN" altLang="en-US" sz="2800" b="1" dirty="0">
                <a:latin typeface="+mn-ea"/>
                <a:cs typeface="Times New Roman" panose="02020603050405020304" pitchFamily="18" charset="0"/>
              </a:rPr>
              <a:t>变量声明</a:t>
            </a:r>
            <a:endParaRPr kumimoji="1" lang="en-US" altLang="zh-CN" sz="2800" b="1" dirty="0">
              <a:latin typeface="+mn-ea"/>
              <a:cs typeface="Times New Roman" panose="02020603050405020304" pitchFamily="18" charset="0"/>
            </a:endParaRPr>
          </a:p>
          <a:p>
            <a:pPr marL="457200" indent="-457200">
              <a:spcBef>
                <a:spcPts val="662"/>
              </a:spcBef>
              <a:spcAft>
                <a:spcPts val="662"/>
              </a:spcAft>
              <a:buFont typeface="Wingdings" panose="05000000000000000000" pitchFamily="2" charset="2"/>
              <a:buChar char="Ø"/>
            </a:pPr>
            <a:r>
              <a:rPr kumimoji="1" lang="zh-CN" altLang="en-US" sz="2800" b="1" dirty="0">
                <a:solidFill>
                  <a:srgbClr val="0070C0"/>
                </a:solidFill>
                <a:latin typeface="+mn-ea"/>
                <a:cs typeface="Times New Roman" panose="02020603050405020304" pitchFamily="18" charset="0"/>
              </a:rPr>
              <a:t>模块功能定义</a:t>
            </a:r>
            <a:endParaRPr kumimoji="1" lang="en-US" altLang="zh-CN" sz="2800" b="1" dirty="0">
              <a:solidFill>
                <a:srgbClr val="0070C0"/>
              </a:solidFill>
              <a:latin typeface="+mn-ea"/>
              <a:cs typeface="Times New Roman" panose="02020603050405020304" pitchFamily="18" charset="0"/>
            </a:endParaRPr>
          </a:p>
        </p:txBody>
      </p:sp>
      <p:sp>
        <p:nvSpPr>
          <p:cNvPr id="5" name="Rectangle 3" descr="Rectangle: Click to edit Master text styles&#10;Second level&#10;Third level&#10;Fourth level&#10;Fifth level">
            <a:extLst>
              <a:ext uri="{FF2B5EF4-FFF2-40B4-BE49-F238E27FC236}">
                <a16:creationId xmlns:a16="http://schemas.microsoft.com/office/drawing/2014/main" id="{E804DA6F-9893-0824-06AB-E24D069E278B}"/>
              </a:ext>
            </a:extLst>
          </p:cNvPr>
          <p:cNvSpPr txBox="1">
            <a:spLocks/>
          </p:cNvSpPr>
          <p:nvPr/>
        </p:nvSpPr>
        <p:spPr bwMode="auto">
          <a:xfrm>
            <a:off x="317500" y="1063111"/>
            <a:ext cx="9687876" cy="5702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00838" tIns="50419" rIns="100838" bIns="50419" numCol="1" anchor="t" anchorCtr="0" compatLnSpc="1">
            <a:prstTxWarp prst="textNoShape">
              <a:avLst/>
            </a:prstTxWarp>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9pPr>
          </a:lstStyle>
          <a:p>
            <a:pPr marL="0" indent="0" eaLnBrk="1" hangingPunct="1">
              <a:spcBef>
                <a:spcPts val="662"/>
              </a:spcBef>
              <a:spcAft>
                <a:spcPts val="662"/>
              </a:spcAft>
              <a:buNone/>
            </a:pPr>
            <a:r>
              <a:rPr kumimoji="1" lang="zh-CN" altLang="en-US" sz="2800" b="1" dirty="0">
                <a:latin typeface="+mn-ea"/>
              </a:rPr>
              <a:t>以关键字</a:t>
            </a:r>
            <a:r>
              <a:rPr kumimoji="1" lang="en-US" altLang="zh-CN" sz="2800" b="1" dirty="0">
                <a:solidFill>
                  <a:srgbClr val="C00000"/>
                </a:solidFill>
                <a:latin typeface="+mn-ea"/>
                <a:cs typeface="Times New Roman" panose="02020603050405020304" pitchFamily="18" charset="0"/>
              </a:rPr>
              <a:t>module</a:t>
            </a:r>
            <a:r>
              <a:rPr kumimoji="1" lang="zh-CN" altLang="en-US" sz="2800" b="1" dirty="0">
                <a:latin typeface="+mn-ea"/>
              </a:rPr>
              <a:t>开始</a:t>
            </a:r>
            <a:r>
              <a:rPr kumimoji="1" lang="zh-CN" altLang="en-US" sz="2800" b="1" dirty="0">
                <a:solidFill>
                  <a:srgbClr val="4B51A5"/>
                </a:solidFill>
                <a:latin typeface="+mn-ea"/>
              </a:rPr>
              <a:t>，</a:t>
            </a:r>
            <a:r>
              <a:rPr kumimoji="1" lang="en-US" altLang="zh-CN" sz="2800" b="1" dirty="0">
                <a:solidFill>
                  <a:srgbClr val="C00000"/>
                </a:solidFill>
                <a:latin typeface="+mn-ea"/>
                <a:cs typeface="Times New Roman" panose="02020603050405020304" pitchFamily="18" charset="0"/>
              </a:rPr>
              <a:t>endmodule</a:t>
            </a:r>
            <a:r>
              <a:rPr kumimoji="1" lang="zh-CN" altLang="en-US" sz="2800" b="1" dirty="0">
                <a:latin typeface="+mn-ea"/>
              </a:rPr>
              <a:t>结束</a:t>
            </a:r>
            <a:endParaRPr kumimoji="1" lang="en-US" altLang="zh-CN" sz="2800" b="1" dirty="0">
              <a:latin typeface="+mn-ea"/>
            </a:endParaRPr>
          </a:p>
        </p:txBody>
      </p:sp>
      <p:sp>
        <p:nvSpPr>
          <p:cNvPr id="6" name="object 3">
            <a:extLst>
              <a:ext uri="{FF2B5EF4-FFF2-40B4-BE49-F238E27FC236}">
                <a16:creationId xmlns:a16="http://schemas.microsoft.com/office/drawing/2014/main" id="{A43C91DE-0CDA-CB1B-A661-640F27134C0A}"/>
              </a:ext>
            </a:extLst>
          </p:cNvPr>
          <p:cNvSpPr txBox="1">
            <a:spLocks/>
          </p:cNvSpPr>
          <p:nvPr/>
        </p:nvSpPr>
        <p:spPr>
          <a:xfrm>
            <a:off x="241300" y="200025"/>
            <a:ext cx="7288905" cy="524503"/>
          </a:xfrm>
          <a:prstGeom prst="rect">
            <a:avLst/>
          </a:prstGeom>
        </p:spPr>
        <p:txBody>
          <a:bodyPr vert="horz" wrap="square" lIns="0" tIns="16510" rIns="0" bIns="0" rtlCol="0">
            <a:spAutoFit/>
          </a:bodyPr>
          <a:lstStyle>
            <a:lvl1pPr>
              <a:defRPr sz="2800" b="0" i="0">
                <a:solidFill>
                  <a:srgbClr val="3F3F3F"/>
                </a:solidFill>
                <a:latin typeface="Calibri"/>
                <a:ea typeface="+mj-ea"/>
                <a:cs typeface="Calibri"/>
              </a:defRPr>
            </a:lvl1pPr>
          </a:lstStyle>
          <a:p>
            <a:pPr marL="12700">
              <a:spcBef>
                <a:spcPts val="130"/>
              </a:spcBef>
            </a:pPr>
            <a:r>
              <a:rPr lang="en-US" altLang="zh-CN" sz="3300" b="1" spc="-35" dirty="0">
                <a:solidFill>
                  <a:srgbClr val="000000"/>
                </a:solidFill>
                <a:latin typeface="Arial"/>
                <a:cs typeface="Arial"/>
              </a:rPr>
              <a:t>Verilog</a:t>
            </a:r>
            <a:r>
              <a:rPr lang="zh-CN" altLang="en-US" sz="3300" b="1" spc="-15" dirty="0">
                <a:solidFill>
                  <a:srgbClr val="000000"/>
                </a:solidFill>
                <a:latin typeface="宋体"/>
                <a:cs typeface="宋体"/>
              </a:rPr>
              <a:t>模块的基本要素</a:t>
            </a:r>
            <a:endParaRPr lang="zh-CN" altLang="en-US" sz="3300" dirty="0">
              <a:latin typeface="宋体"/>
              <a:cs typeface="宋体"/>
            </a:endParaRPr>
          </a:p>
        </p:txBody>
      </p:sp>
      <p:cxnSp>
        <p:nvCxnSpPr>
          <p:cNvPr id="9" name="直接箭头连接符 8">
            <a:extLst>
              <a:ext uri="{FF2B5EF4-FFF2-40B4-BE49-F238E27FC236}">
                <a16:creationId xmlns:a16="http://schemas.microsoft.com/office/drawing/2014/main" id="{3F967EBE-5E75-FCF9-B47E-797952498ACE}"/>
              </a:ext>
            </a:extLst>
          </p:cNvPr>
          <p:cNvCxnSpPr>
            <a:cxnSpLocks/>
          </p:cNvCxnSpPr>
          <p:nvPr/>
        </p:nvCxnSpPr>
        <p:spPr>
          <a:xfrm flipH="1">
            <a:off x="3365500" y="4848225"/>
            <a:ext cx="1219200" cy="228600"/>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12" name="文本框 11">
            <a:extLst>
              <a:ext uri="{FF2B5EF4-FFF2-40B4-BE49-F238E27FC236}">
                <a16:creationId xmlns:a16="http://schemas.microsoft.com/office/drawing/2014/main" id="{081B9C63-7BC4-0F12-DC6B-7FD8B07BC920}"/>
              </a:ext>
            </a:extLst>
          </p:cNvPr>
          <p:cNvSpPr txBox="1"/>
          <p:nvPr/>
        </p:nvSpPr>
        <p:spPr>
          <a:xfrm>
            <a:off x="754819" y="5355741"/>
            <a:ext cx="3206658" cy="1806264"/>
          </a:xfrm>
          <a:prstGeom prst="rect">
            <a:avLst/>
          </a:prstGeom>
          <a:noFill/>
        </p:spPr>
        <p:txBody>
          <a:bodyPr wrap="square" rtlCol="0">
            <a:spAutoFit/>
          </a:bodyPr>
          <a:lstStyle/>
          <a:p>
            <a:pPr marL="742950" marR="0" lvl="1" indent="-285750" algn="just" defTabSz="914400" rtl="0" eaLnBrk="0" fontAlgn="base" latinLnBrk="0" hangingPunct="0">
              <a:lnSpc>
                <a:spcPct val="120000"/>
              </a:lnSpc>
              <a:spcBef>
                <a:spcPct val="0"/>
              </a:spcBef>
              <a:spcAft>
                <a:spcPct val="0"/>
              </a:spcAft>
              <a:buClr>
                <a:srgbClr val="C00000"/>
              </a:buClr>
              <a:buSzPct val="60000"/>
              <a:buFont typeface="Wingdings" panose="05000000000000000000" pitchFamily="2" charset="2"/>
              <a:buChar char="n"/>
            </a:pPr>
            <a:r>
              <a:rPr kumimoji="1" lang="zh-CN" altLang="en-US" sz="2400" noProof="1">
                <a:solidFill>
                  <a:srgbClr val="0070C0"/>
                </a:solidFill>
                <a:latin typeface="+mn-ea"/>
                <a:ea typeface="+mn-ea"/>
                <a:cs typeface="+mn-ea"/>
              </a:rPr>
              <a:t>结构方式</a:t>
            </a:r>
          </a:p>
          <a:p>
            <a:pPr marL="742950" marR="0" lvl="1" indent="-285750" algn="just" defTabSz="914400" rtl="0" eaLnBrk="0" fontAlgn="base" latinLnBrk="0" hangingPunct="0">
              <a:lnSpc>
                <a:spcPct val="120000"/>
              </a:lnSpc>
              <a:spcBef>
                <a:spcPct val="0"/>
              </a:spcBef>
              <a:spcAft>
                <a:spcPct val="0"/>
              </a:spcAft>
              <a:buClr>
                <a:srgbClr val="C00000"/>
              </a:buClr>
              <a:buSzPct val="60000"/>
              <a:buFont typeface="Wingdings" panose="05000000000000000000" pitchFamily="2" charset="2"/>
              <a:buChar char="n"/>
            </a:pPr>
            <a:r>
              <a:rPr kumimoji="1" lang="zh-CN" altLang="en-US" sz="2400" noProof="1">
                <a:solidFill>
                  <a:srgbClr val="0070C0"/>
                </a:solidFill>
                <a:latin typeface="+mn-ea"/>
                <a:ea typeface="+mn-ea"/>
                <a:cs typeface="+mn-ea"/>
              </a:rPr>
              <a:t>数据流方式</a:t>
            </a:r>
          </a:p>
          <a:p>
            <a:pPr marL="742950" marR="0" lvl="1" indent="-285750" algn="just" defTabSz="914400" rtl="0" eaLnBrk="0" fontAlgn="base" latinLnBrk="0" hangingPunct="0">
              <a:lnSpc>
                <a:spcPct val="120000"/>
              </a:lnSpc>
              <a:spcBef>
                <a:spcPct val="0"/>
              </a:spcBef>
              <a:spcAft>
                <a:spcPct val="0"/>
              </a:spcAft>
              <a:buClr>
                <a:srgbClr val="C00000"/>
              </a:buClr>
              <a:buSzPct val="60000"/>
              <a:buFont typeface="Wingdings" panose="05000000000000000000" pitchFamily="2" charset="2"/>
              <a:buChar char="n"/>
            </a:pPr>
            <a:r>
              <a:rPr kumimoji="1" lang="zh-CN" altLang="en-US" sz="2400" noProof="1">
                <a:solidFill>
                  <a:srgbClr val="0070C0"/>
                </a:solidFill>
                <a:latin typeface="+mn-ea"/>
                <a:ea typeface="+mn-ea"/>
                <a:cs typeface="+mn-ea"/>
              </a:rPr>
              <a:t>行为方式</a:t>
            </a:r>
          </a:p>
          <a:p>
            <a:pPr marL="742950" marR="0" lvl="1" indent="-285750" algn="just" defTabSz="914400" rtl="0" eaLnBrk="0" fontAlgn="base" latinLnBrk="0" hangingPunct="0">
              <a:lnSpc>
                <a:spcPct val="120000"/>
              </a:lnSpc>
              <a:spcBef>
                <a:spcPct val="0"/>
              </a:spcBef>
              <a:spcAft>
                <a:spcPct val="0"/>
              </a:spcAft>
              <a:buClr>
                <a:srgbClr val="C00000"/>
              </a:buClr>
              <a:buSzPct val="60000"/>
              <a:buFont typeface="Wingdings" panose="05000000000000000000" pitchFamily="2" charset="2"/>
              <a:buChar char="n"/>
            </a:pPr>
            <a:r>
              <a:rPr kumimoji="1" lang="zh-CN" altLang="en-US" sz="2400" noProof="1">
                <a:solidFill>
                  <a:srgbClr val="0070C0"/>
                </a:solidFill>
                <a:latin typeface="+mn-ea"/>
                <a:ea typeface="+mn-ea"/>
                <a:cs typeface="+mn-ea"/>
              </a:rPr>
              <a:t>上述方式的混合</a:t>
            </a:r>
            <a:endParaRPr kumimoji="1" lang="zh-CN" altLang="en-US" sz="2200" noProof="1">
              <a:solidFill>
                <a:srgbClr val="0070C0"/>
              </a:solidFill>
              <a:latin typeface="+mn-ea"/>
              <a:ea typeface="+mn-ea"/>
              <a:cs typeface="+mn-ea"/>
            </a:endParaRPr>
          </a:p>
        </p:txBody>
      </p:sp>
      <p:sp>
        <p:nvSpPr>
          <p:cNvPr id="14" name="object 2">
            <a:extLst>
              <a:ext uri="{FF2B5EF4-FFF2-40B4-BE49-F238E27FC236}">
                <a16:creationId xmlns:a16="http://schemas.microsoft.com/office/drawing/2014/main" id="{AA0B7B33-12F5-AF00-6CDE-4FB5FF8F2F02}"/>
              </a:ext>
            </a:extLst>
          </p:cNvPr>
          <p:cNvSpPr txBox="1"/>
          <p:nvPr/>
        </p:nvSpPr>
        <p:spPr>
          <a:xfrm>
            <a:off x="8030089" y="6519164"/>
            <a:ext cx="2454910" cy="239395"/>
          </a:xfrm>
          <a:prstGeom prst="rect">
            <a:avLst/>
          </a:prstGeom>
        </p:spPr>
        <p:txBody>
          <a:bodyPr vert="horz" wrap="square" lIns="0" tIns="12700" rIns="0" bIns="0" rtlCol="0">
            <a:spAutoFit/>
          </a:bodyPr>
          <a:lstStyle/>
          <a:p>
            <a:pPr marL="12700">
              <a:lnSpc>
                <a:spcPct val="100000"/>
              </a:lnSpc>
              <a:spcBef>
                <a:spcPts val="100"/>
              </a:spcBef>
            </a:pPr>
            <a:r>
              <a:rPr sz="1400" b="1" dirty="0">
                <a:solidFill>
                  <a:srgbClr val="3F3F3F"/>
                </a:solidFill>
                <a:latin typeface="微软雅黑"/>
                <a:cs typeface="微软雅黑"/>
              </a:rPr>
              <a:t>Xilinx</a:t>
            </a:r>
            <a:r>
              <a:rPr sz="1400" b="1" spc="-5" dirty="0">
                <a:solidFill>
                  <a:srgbClr val="3F3F3F"/>
                </a:solidFill>
                <a:latin typeface="微软雅黑"/>
                <a:cs typeface="微软雅黑"/>
              </a:rPr>
              <a:t> 大学合作部 </a:t>
            </a:r>
            <a:r>
              <a:rPr sz="1400" b="1" dirty="0">
                <a:solidFill>
                  <a:srgbClr val="3F3F3F"/>
                </a:solidFill>
                <a:latin typeface="微软雅黑"/>
                <a:cs typeface="微软雅黑"/>
              </a:rPr>
              <a:t>&amp;</a:t>
            </a:r>
            <a:r>
              <a:rPr sz="1400" b="1" spc="-10" dirty="0">
                <a:solidFill>
                  <a:srgbClr val="3F3F3F"/>
                </a:solidFill>
                <a:latin typeface="微软雅黑"/>
                <a:cs typeface="微软雅黑"/>
              </a:rPr>
              <a:t> 东南大学</a:t>
            </a:r>
            <a:endParaRPr sz="1400" dirty="0">
              <a:latin typeface="微软雅黑"/>
              <a:cs typeface="微软雅黑"/>
            </a:endParaRPr>
          </a:p>
        </p:txBody>
      </p:sp>
      <p:sp>
        <p:nvSpPr>
          <p:cNvPr id="15" name="L 形 14">
            <a:extLst>
              <a:ext uri="{FF2B5EF4-FFF2-40B4-BE49-F238E27FC236}">
                <a16:creationId xmlns:a16="http://schemas.microsoft.com/office/drawing/2014/main" id="{B7068668-CBED-F778-B839-4A5B09133B47}"/>
              </a:ext>
            </a:extLst>
          </p:cNvPr>
          <p:cNvSpPr/>
          <p:nvPr/>
        </p:nvSpPr>
        <p:spPr>
          <a:xfrm flipH="1">
            <a:off x="4584700" y="2943225"/>
            <a:ext cx="5530550" cy="2895600"/>
          </a:xfrm>
          <a:prstGeom prst="corner">
            <a:avLst>
              <a:gd name="adj1" fmla="val 59800"/>
              <a:gd name="adj2" fmla="val 95617"/>
            </a:avLst>
          </a:prstGeom>
          <a:noFill/>
          <a:ln w="41275">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1111382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descr="Rectangle: Click to edit Master text styles&#10;Second level&#10;Third level&#10;Fourth level&#10;Fifth level">
            <a:extLst>
              <a:ext uri="{FF2B5EF4-FFF2-40B4-BE49-F238E27FC236}">
                <a16:creationId xmlns:a16="http://schemas.microsoft.com/office/drawing/2014/main" id="{E804DA6F-9893-0824-06AB-E24D069E278B}"/>
              </a:ext>
            </a:extLst>
          </p:cNvPr>
          <p:cNvSpPr txBox="1">
            <a:spLocks/>
          </p:cNvSpPr>
          <p:nvPr/>
        </p:nvSpPr>
        <p:spPr bwMode="auto">
          <a:xfrm>
            <a:off x="165100" y="1952625"/>
            <a:ext cx="6444138" cy="52409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00838" tIns="50419" rIns="100838" bIns="50419" numCol="1" anchor="t" anchorCtr="0" compatLnSpc="1">
            <a:prstTxWarp prst="textNoShape">
              <a:avLst/>
            </a:prstTxWarp>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9pPr>
          </a:lstStyle>
          <a:p>
            <a:pPr marL="0" indent="0" eaLnBrk="1" hangingPunct="1">
              <a:spcBef>
                <a:spcPts val="662"/>
              </a:spcBef>
              <a:spcAft>
                <a:spcPts val="662"/>
              </a:spcAft>
              <a:buNone/>
            </a:pPr>
            <a:r>
              <a:rPr kumimoji="1" lang="en-US" altLang="zh-CN" sz="2800" b="1" dirty="0">
                <a:solidFill>
                  <a:srgbClr val="C00000"/>
                </a:solidFill>
                <a:latin typeface="黑体" panose="02010609060101010101" pitchFamily="49" charset="-122"/>
                <a:ea typeface="黑体" panose="02010609060101010101" pitchFamily="49" charset="-122"/>
              </a:rPr>
              <a:t>module</a:t>
            </a:r>
            <a:r>
              <a:rPr kumimoji="1" lang="en-US" altLang="zh-CN" sz="2800" b="1" dirty="0">
                <a:solidFill>
                  <a:srgbClr val="4B51A5"/>
                </a:solidFill>
                <a:latin typeface="黑体" panose="02010609060101010101" pitchFamily="49" charset="-122"/>
                <a:ea typeface="黑体" panose="02010609060101010101" pitchFamily="49" charset="-122"/>
              </a:rPr>
              <a:t> </a:t>
            </a:r>
            <a:r>
              <a:rPr kumimoji="1" lang="en-US" altLang="zh-CN" sz="2800" b="1" dirty="0">
                <a:solidFill>
                  <a:srgbClr val="002060"/>
                </a:solidFill>
                <a:latin typeface="黑体" panose="02010609060101010101" pitchFamily="49" charset="-122"/>
                <a:ea typeface="黑体" panose="02010609060101010101" pitchFamily="49" charset="-122"/>
              </a:rPr>
              <a:t>&lt;</a:t>
            </a:r>
            <a:r>
              <a:rPr kumimoji="1" lang="zh-CN" altLang="en-US" sz="2800" b="1" dirty="0">
                <a:solidFill>
                  <a:srgbClr val="002060"/>
                </a:solidFill>
                <a:latin typeface="黑体" panose="02010609060101010101" pitchFamily="49" charset="-122"/>
                <a:ea typeface="黑体" panose="02010609060101010101" pitchFamily="49" charset="-122"/>
              </a:rPr>
              <a:t>模块名</a:t>
            </a:r>
            <a:r>
              <a:rPr kumimoji="1" lang="en-US" altLang="zh-CN" sz="2800" b="1" dirty="0">
                <a:solidFill>
                  <a:srgbClr val="002060"/>
                </a:solidFill>
                <a:latin typeface="黑体" panose="02010609060101010101" pitchFamily="49" charset="-122"/>
                <a:ea typeface="黑体" panose="02010609060101010101" pitchFamily="49" charset="-122"/>
              </a:rPr>
              <a:t>&gt; </a:t>
            </a:r>
            <a:r>
              <a:rPr kumimoji="1" lang="zh-CN" altLang="en-US" sz="2800" b="1" dirty="0">
                <a:solidFill>
                  <a:srgbClr val="002060"/>
                </a:solidFill>
                <a:latin typeface="黑体" panose="02010609060101010101" pitchFamily="49" charset="-122"/>
                <a:ea typeface="黑体" panose="02010609060101010101" pitchFamily="49" charset="-122"/>
              </a:rPr>
              <a:t>（模块端口列表）</a:t>
            </a:r>
            <a:r>
              <a:rPr kumimoji="1" lang="zh-CN" altLang="en-US" sz="2800" b="1" dirty="0">
                <a:solidFill>
                  <a:srgbClr val="C00000"/>
                </a:solidFill>
                <a:latin typeface="黑体" panose="02010609060101010101" pitchFamily="49" charset="-122"/>
                <a:ea typeface="黑体" panose="02010609060101010101" pitchFamily="49" charset="-122"/>
              </a:rPr>
              <a:t>；</a:t>
            </a:r>
            <a:endParaRPr kumimoji="1" lang="en-US" altLang="zh-CN" sz="2800" b="1" dirty="0">
              <a:solidFill>
                <a:srgbClr val="C00000"/>
              </a:solidFill>
              <a:latin typeface="黑体" panose="02010609060101010101" pitchFamily="49" charset="-122"/>
              <a:ea typeface="黑体" panose="02010609060101010101" pitchFamily="49" charset="-122"/>
            </a:endParaRPr>
          </a:p>
          <a:p>
            <a:pPr marL="0" indent="0" eaLnBrk="1" hangingPunct="1">
              <a:spcBef>
                <a:spcPts val="662"/>
              </a:spcBef>
              <a:spcAft>
                <a:spcPts val="662"/>
              </a:spcAft>
              <a:buNone/>
            </a:pPr>
            <a:r>
              <a:rPr kumimoji="1" lang="en-US" altLang="zh-CN" sz="2800" b="1" dirty="0">
                <a:solidFill>
                  <a:srgbClr val="002060"/>
                </a:solidFill>
                <a:latin typeface="黑体" panose="02010609060101010101" pitchFamily="49" charset="-122"/>
                <a:ea typeface="黑体" panose="02010609060101010101" pitchFamily="49" charset="-122"/>
              </a:rPr>
              <a:t>	&lt;</a:t>
            </a:r>
            <a:r>
              <a:rPr kumimoji="1" lang="zh-CN" altLang="en-US" sz="2800" b="1" dirty="0">
                <a:solidFill>
                  <a:srgbClr val="002060"/>
                </a:solidFill>
                <a:latin typeface="黑体" panose="02010609060101010101" pitchFamily="49" charset="-122"/>
                <a:ea typeface="黑体" panose="02010609060101010101" pitchFamily="49" charset="-122"/>
              </a:rPr>
              <a:t>端口声明</a:t>
            </a:r>
            <a:r>
              <a:rPr kumimoji="1" lang="en-US" altLang="zh-CN" sz="2800" b="1" dirty="0">
                <a:solidFill>
                  <a:srgbClr val="002060"/>
                </a:solidFill>
                <a:latin typeface="黑体" panose="02010609060101010101" pitchFamily="49" charset="-122"/>
                <a:ea typeface="黑体" panose="02010609060101010101" pitchFamily="49" charset="-122"/>
              </a:rPr>
              <a:t>&gt;</a:t>
            </a:r>
          </a:p>
          <a:p>
            <a:pPr marL="0" indent="0" eaLnBrk="1" hangingPunct="1">
              <a:spcBef>
                <a:spcPts val="662"/>
              </a:spcBef>
              <a:spcAft>
                <a:spcPts val="662"/>
              </a:spcAft>
              <a:buNone/>
            </a:pPr>
            <a:r>
              <a:rPr kumimoji="1" lang="en-US" altLang="zh-CN" sz="2800" b="1" dirty="0">
                <a:solidFill>
                  <a:srgbClr val="4B51A5"/>
                </a:solidFill>
                <a:latin typeface="黑体" panose="02010609060101010101" pitchFamily="49" charset="-122"/>
                <a:ea typeface="黑体" panose="02010609060101010101" pitchFamily="49" charset="-122"/>
              </a:rPr>
              <a:t>	</a:t>
            </a:r>
            <a:r>
              <a:rPr kumimoji="1" lang="en-US" altLang="zh-CN" sz="2800" b="1" dirty="0">
                <a:solidFill>
                  <a:srgbClr val="002060"/>
                </a:solidFill>
                <a:latin typeface="黑体" panose="02010609060101010101" pitchFamily="49" charset="-122"/>
                <a:ea typeface="黑体" panose="02010609060101010101" pitchFamily="49" charset="-122"/>
              </a:rPr>
              <a:t>&lt;</a:t>
            </a:r>
            <a:r>
              <a:rPr kumimoji="1" lang="en-US" altLang="zh-CN" sz="2800" b="1" dirty="0">
                <a:solidFill>
                  <a:srgbClr val="C00000"/>
                </a:solidFill>
                <a:latin typeface="黑体" panose="02010609060101010101" pitchFamily="49" charset="-122"/>
                <a:ea typeface="黑体" panose="02010609060101010101" pitchFamily="49" charset="-122"/>
              </a:rPr>
              <a:t>parameter</a:t>
            </a:r>
            <a:r>
              <a:rPr kumimoji="1" lang="zh-CN" altLang="en-US" sz="2800" b="1" dirty="0">
                <a:solidFill>
                  <a:srgbClr val="002060"/>
                </a:solidFill>
                <a:latin typeface="黑体" panose="02010609060101010101" pitchFamily="49" charset="-122"/>
                <a:ea typeface="黑体" panose="02010609060101010101" pitchFamily="49" charset="-122"/>
              </a:rPr>
              <a:t>声明</a:t>
            </a:r>
            <a:r>
              <a:rPr kumimoji="1" lang="en-US" altLang="zh-CN" sz="2800" b="1" dirty="0">
                <a:solidFill>
                  <a:srgbClr val="002060"/>
                </a:solidFill>
                <a:latin typeface="黑体" panose="02010609060101010101" pitchFamily="49" charset="-122"/>
                <a:ea typeface="黑体" panose="02010609060101010101" pitchFamily="49" charset="-122"/>
              </a:rPr>
              <a:t>&gt;</a:t>
            </a:r>
          </a:p>
          <a:p>
            <a:pPr marL="0" indent="0" eaLnBrk="1" hangingPunct="1">
              <a:spcBef>
                <a:spcPts val="662"/>
              </a:spcBef>
              <a:spcAft>
                <a:spcPts val="662"/>
              </a:spcAft>
              <a:buNone/>
            </a:pPr>
            <a:r>
              <a:rPr kumimoji="1" lang="en-US" altLang="zh-CN" sz="2800" b="1" dirty="0">
                <a:solidFill>
                  <a:srgbClr val="4B51A5"/>
                </a:solidFill>
                <a:latin typeface="黑体" panose="02010609060101010101" pitchFamily="49" charset="-122"/>
                <a:ea typeface="黑体" panose="02010609060101010101" pitchFamily="49" charset="-122"/>
              </a:rPr>
              <a:t>	</a:t>
            </a:r>
            <a:r>
              <a:rPr kumimoji="1" lang="en-US" altLang="zh-CN" sz="2800" b="1" dirty="0">
                <a:solidFill>
                  <a:srgbClr val="002060"/>
                </a:solidFill>
                <a:latin typeface="黑体" panose="02010609060101010101" pitchFamily="49" charset="-122"/>
                <a:ea typeface="黑体" panose="02010609060101010101" pitchFamily="49" charset="-122"/>
              </a:rPr>
              <a:t>&lt;</a:t>
            </a:r>
            <a:r>
              <a:rPr kumimoji="1" lang="en-US" altLang="zh-CN" sz="2800" b="1" dirty="0">
                <a:solidFill>
                  <a:srgbClr val="C00000"/>
                </a:solidFill>
                <a:latin typeface="黑体" panose="02010609060101010101" pitchFamily="49" charset="-122"/>
                <a:ea typeface="黑体" panose="02010609060101010101" pitchFamily="49" charset="-122"/>
              </a:rPr>
              <a:t>wire</a:t>
            </a:r>
            <a:r>
              <a:rPr kumimoji="1" lang="en-US" altLang="zh-CN" sz="2800" b="1" dirty="0">
                <a:solidFill>
                  <a:srgbClr val="002060"/>
                </a:solidFill>
                <a:latin typeface="黑体" panose="02010609060101010101" pitchFamily="49" charset="-122"/>
                <a:ea typeface="黑体" panose="02010609060101010101" pitchFamily="49" charset="-122"/>
              </a:rPr>
              <a:t>,</a:t>
            </a:r>
            <a:r>
              <a:rPr kumimoji="1" lang="en-US" altLang="zh-CN" sz="2800" b="1" dirty="0">
                <a:solidFill>
                  <a:srgbClr val="4B51A5"/>
                </a:solidFill>
                <a:latin typeface="黑体" panose="02010609060101010101" pitchFamily="49" charset="-122"/>
                <a:ea typeface="黑体" panose="02010609060101010101" pitchFamily="49" charset="-122"/>
              </a:rPr>
              <a:t> </a:t>
            </a:r>
            <a:r>
              <a:rPr kumimoji="1" lang="en-US" altLang="zh-CN" sz="2800" b="1" dirty="0">
                <a:solidFill>
                  <a:srgbClr val="C00000"/>
                </a:solidFill>
                <a:latin typeface="黑体" panose="02010609060101010101" pitchFamily="49" charset="-122"/>
                <a:ea typeface="黑体" panose="02010609060101010101" pitchFamily="49" charset="-122"/>
              </a:rPr>
              <a:t>reg</a:t>
            </a:r>
            <a:r>
              <a:rPr kumimoji="1" lang="zh-CN" altLang="en-US" sz="2800" b="1" dirty="0">
                <a:solidFill>
                  <a:srgbClr val="002060"/>
                </a:solidFill>
                <a:latin typeface="黑体" panose="02010609060101010101" pitchFamily="49" charset="-122"/>
                <a:ea typeface="黑体" panose="02010609060101010101" pitchFamily="49" charset="-122"/>
              </a:rPr>
              <a:t>和其他类型变量声明</a:t>
            </a:r>
            <a:r>
              <a:rPr kumimoji="1" lang="en-US" altLang="zh-CN" sz="2800" b="1" dirty="0">
                <a:solidFill>
                  <a:srgbClr val="002060"/>
                </a:solidFill>
                <a:latin typeface="黑体" panose="02010609060101010101" pitchFamily="49" charset="-122"/>
                <a:ea typeface="黑体" panose="02010609060101010101" pitchFamily="49" charset="-122"/>
              </a:rPr>
              <a:t>&gt;</a:t>
            </a:r>
          </a:p>
          <a:p>
            <a:pPr marL="0" indent="0" eaLnBrk="1" hangingPunct="1">
              <a:spcBef>
                <a:spcPts val="662"/>
              </a:spcBef>
              <a:spcAft>
                <a:spcPts val="662"/>
              </a:spcAft>
              <a:buNone/>
            </a:pPr>
            <a:r>
              <a:rPr kumimoji="1" lang="en-US" altLang="zh-CN" sz="2800" b="1" dirty="0">
                <a:solidFill>
                  <a:srgbClr val="002060"/>
                </a:solidFill>
                <a:latin typeface="黑体" panose="02010609060101010101" pitchFamily="49" charset="-122"/>
                <a:ea typeface="黑体" panose="02010609060101010101" pitchFamily="49" charset="-122"/>
              </a:rPr>
              <a:t>	&lt;</a:t>
            </a:r>
            <a:r>
              <a:rPr kumimoji="1" lang="zh-CN" altLang="en-US" sz="2800" b="1" dirty="0">
                <a:solidFill>
                  <a:srgbClr val="002060"/>
                </a:solidFill>
                <a:latin typeface="黑体" panose="02010609060101010101" pitchFamily="49" charset="-122"/>
                <a:ea typeface="黑体" panose="02010609060101010101" pitchFamily="49" charset="-122"/>
              </a:rPr>
              <a:t>模块内容</a:t>
            </a:r>
            <a:r>
              <a:rPr kumimoji="1" lang="en-US" altLang="zh-CN" sz="2800" b="1" dirty="0">
                <a:solidFill>
                  <a:srgbClr val="002060"/>
                </a:solidFill>
                <a:latin typeface="黑体" panose="02010609060101010101" pitchFamily="49" charset="-122"/>
                <a:ea typeface="黑体" panose="02010609060101010101" pitchFamily="49" charset="-122"/>
              </a:rPr>
              <a:t>&gt;</a:t>
            </a:r>
          </a:p>
          <a:p>
            <a:pPr marL="0" indent="0" eaLnBrk="1" hangingPunct="1">
              <a:spcBef>
                <a:spcPts val="662"/>
              </a:spcBef>
              <a:spcAft>
                <a:spcPts val="662"/>
              </a:spcAft>
              <a:buNone/>
            </a:pPr>
            <a:r>
              <a:rPr kumimoji="1" lang="en-US" altLang="zh-CN" sz="2800" b="1" dirty="0">
                <a:solidFill>
                  <a:srgbClr val="C00000"/>
                </a:solidFill>
                <a:latin typeface="黑体" panose="02010609060101010101" pitchFamily="49" charset="-122"/>
                <a:ea typeface="黑体" panose="02010609060101010101" pitchFamily="49" charset="-122"/>
              </a:rPr>
              <a:t>endmodule</a:t>
            </a:r>
          </a:p>
          <a:p>
            <a:pPr marL="0" indent="0" eaLnBrk="1" hangingPunct="1">
              <a:spcBef>
                <a:spcPts val="662"/>
              </a:spcBef>
              <a:spcAft>
                <a:spcPts val="662"/>
              </a:spcAft>
              <a:buNone/>
            </a:pPr>
            <a:endParaRPr kumimoji="1" lang="en-US" altLang="zh-CN" sz="3970" b="1" dirty="0">
              <a:solidFill>
                <a:srgbClr val="4B51A5"/>
              </a:solidFill>
              <a:latin typeface="黑体" panose="02010609060101010101" pitchFamily="49" charset="-122"/>
              <a:ea typeface="黑体" panose="02010609060101010101" pitchFamily="49" charset="-122"/>
            </a:endParaRPr>
          </a:p>
        </p:txBody>
      </p:sp>
      <p:sp>
        <p:nvSpPr>
          <p:cNvPr id="3" name="object 3">
            <a:extLst>
              <a:ext uri="{FF2B5EF4-FFF2-40B4-BE49-F238E27FC236}">
                <a16:creationId xmlns:a16="http://schemas.microsoft.com/office/drawing/2014/main" id="{FB889941-28FC-F72E-5D39-8B2E31E5B6E2}"/>
              </a:ext>
            </a:extLst>
          </p:cNvPr>
          <p:cNvSpPr txBox="1">
            <a:spLocks/>
          </p:cNvSpPr>
          <p:nvPr/>
        </p:nvSpPr>
        <p:spPr>
          <a:xfrm>
            <a:off x="241300" y="200025"/>
            <a:ext cx="7288905" cy="524503"/>
          </a:xfrm>
          <a:prstGeom prst="rect">
            <a:avLst/>
          </a:prstGeom>
        </p:spPr>
        <p:txBody>
          <a:bodyPr vert="horz" wrap="square" lIns="0" tIns="16510" rIns="0" bIns="0" rtlCol="0">
            <a:spAutoFit/>
          </a:bodyPr>
          <a:lstStyle>
            <a:lvl1pPr>
              <a:defRPr sz="2800" b="0" i="0">
                <a:solidFill>
                  <a:srgbClr val="3F3F3F"/>
                </a:solidFill>
                <a:latin typeface="Calibri"/>
                <a:ea typeface="+mj-ea"/>
                <a:cs typeface="Calibri"/>
              </a:defRPr>
            </a:lvl1pPr>
          </a:lstStyle>
          <a:p>
            <a:pPr marL="12700">
              <a:spcBef>
                <a:spcPts val="130"/>
              </a:spcBef>
            </a:pPr>
            <a:r>
              <a:rPr lang="en-US" altLang="zh-CN" sz="3300" b="1" spc="-35" dirty="0">
                <a:solidFill>
                  <a:srgbClr val="000000"/>
                </a:solidFill>
                <a:latin typeface="Arial"/>
                <a:cs typeface="Arial"/>
              </a:rPr>
              <a:t>Verilog</a:t>
            </a:r>
            <a:r>
              <a:rPr lang="zh-CN" altLang="en-US" sz="3300" b="1" spc="-15" dirty="0">
                <a:solidFill>
                  <a:srgbClr val="000000"/>
                </a:solidFill>
                <a:latin typeface="宋体"/>
                <a:cs typeface="宋体"/>
              </a:rPr>
              <a:t>模块定义的模板</a:t>
            </a:r>
            <a:endParaRPr lang="zh-CN" altLang="en-US" sz="3300" dirty="0">
              <a:latin typeface="宋体"/>
              <a:cs typeface="宋体"/>
            </a:endParaRPr>
          </a:p>
        </p:txBody>
      </p:sp>
      <p:sp>
        <p:nvSpPr>
          <p:cNvPr id="7" name="object 2">
            <a:extLst>
              <a:ext uri="{FF2B5EF4-FFF2-40B4-BE49-F238E27FC236}">
                <a16:creationId xmlns:a16="http://schemas.microsoft.com/office/drawing/2014/main" id="{55AC2042-CCB6-63CA-768D-42CCDE713A93}"/>
              </a:ext>
            </a:extLst>
          </p:cNvPr>
          <p:cNvSpPr txBox="1"/>
          <p:nvPr/>
        </p:nvSpPr>
        <p:spPr>
          <a:xfrm>
            <a:off x="8030089" y="6519164"/>
            <a:ext cx="2454910" cy="239395"/>
          </a:xfrm>
          <a:prstGeom prst="rect">
            <a:avLst/>
          </a:prstGeom>
        </p:spPr>
        <p:txBody>
          <a:bodyPr vert="horz" wrap="square" lIns="0" tIns="12700" rIns="0" bIns="0" rtlCol="0">
            <a:spAutoFit/>
          </a:bodyPr>
          <a:lstStyle/>
          <a:p>
            <a:pPr marL="12700">
              <a:lnSpc>
                <a:spcPct val="100000"/>
              </a:lnSpc>
              <a:spcBef>
                <a:spcPts val="100"/>
              </a:spcBef>
            </a:pPr>
            <a:r>
              <a:rPr sz="1400" b="1" dirty="0">
                <a:solidFill>
                  <a:srgbClr val="3F3F3F"/>
                </a:solidFill>
                <a:latin typeface="微软雅黑"/>
                <a:cs typeface="微软雅黑"/>
              </a:rPr>
              <a:t>Xilinx</a:t>
            </a:r>
            <a:r>
              <a:rPr sz="1400" b="1" spc="-5" dirty="0">
                <a:solidFill>
                  <a:srgbClr val="3F3F3F"/>
                </a:solidFill>
                <a:latin typeface="微软雅黑"/>
                <a:cs typeface="微软雅黑"/>
              </a:rPr>
              <a:t> 大学合作部 </a:t>
            </a:r>
            <a:r>
              <a:rPr sz="1400" b="1" dirty="0">
                <a:solidFill>
                  <a:srgbClr val="3F3F3F"/>
                </a:solidFill>
                <a:latin typeface="微软雅黑"/>
                <a:cs typeface="微软雅黑"/>
              </a:rPr>
              <a:t>&amp;</a:t>
            </a:r>
            <a:r>
              <a:rPr sz="1400" b="1" spc="-10" dirty="0">
                <a:solidFill>
                  <a:srgbClr val="3F3F3F"/>
                </a:solidFill>
                <a:latin typeface="微软雅黑"/>
                <a:cs typeface="微软雅黑"/>
              </a:rPr>
              <a:t> 东南大学</a:t>
            </a:r>
            <a:endParaRPr sz="1400" dirty="0">
              <a:latin typeface="微软雅黑"/>
              <a:cs typeface="微软雅黑"/>
            </a:endParaRPr>
          </a:p>
        </p:txBody>
      </p:sp>
      <p:pic>
        <p:nvPicPr>
          <p:cNvPr id="8" name="object 3">
            <a:extLst>
              <a:ext uri="{FF2B5EF4-FFF2-40B4-BE49-F238E27FC236}">
                <a16:creationId xmlns:a16="http://schemas.microsoft.com/office/drawing/2014/main" id="{3A302711-8979-CB1E-08F5-3F66FDBD9BE4}"/>
              </a:ext>
            </a:extLst>
          </p:cNvPr>
          <p:cNvPicPr/>
          <p:nvPr/>
        </p:nvPicPr>
        <p:blipFill>
          <a:blip r:embed="rId3" cstate="print"/>
          <a:stretch>
            <a:fillRect/>
          </a:stretch>
        </p:blipFill>
        <p:spPr>
          <a:xfrm>
            <a:off x="6951138" y="2406994"/>
            <a:ext cx="166914" cy="162741"/>
          </a:xfrm>
          <a:prstGeom prst="rect">
            <a:avLst/>
          </a:prstGeom>
        </p:spPr>
      </p:pic>
      <p:sp>
        <p:nvSpPr>
          <p:cNvPr id="15" name="object 10">
            <a:extLst>
              <a:ext uri="{FF2B5EF4-FFF2-40B4-BE49-F238E27FC236}">
                <a16:creationId xmlns:a16="http://schemas.microsoft.com/office/drawing/2014/main" id="{555A7432-B684-6634-3171-43C8C2746C95}"/>
              </a:ext>
            </a:extLst>
          </p:cNvPr>
          <p:cNvSpPr txBox="1"/>
          <p:nvPr/>
        </p:nvSpPr>
        <p:spPr>
          <a:xfrm>
            <a:off x="7034595" y="1647825"/>
            <a:ext cx="3501150" cy="3756862"/>
          </a:xfrm>
          <a:prstGeom prst="rect">
            <a:avLst/>
          </a:prstGeom>
        </p:spPr>
        <p:txBody>
          <a:bodyPr vert="horz" wrap="square" lIns="0" tIns="133985" rIns="0" bIns="0" rtlCol="0">
            <a:spAutoFit/>
          </a:bodyPr>
          <a:lstStyle/>
          <a:p>
            <a:pPr marL="12700">
              <a:lnSpc>
                <a:spcPct val="100000"/>
              </a:lnSpc>
              <a:spcBef>
                <a:spcPts val="1055"/>
              </a:spcBef>
            </a:pPr>
            <a:r>
              <a:rPr sz="2400" b="1" spc="-35" dirty="0">
                <a:solidFill>
                  <a:srgbClr val="3E3E3E"/>
                </a:solidFill>
                <a:latin typeface="宋体"/>
                <a:cs typeface="宋体"/>
              </a:rPr>
              <a:t>注意点：</a:t>
            </a:r>
            <a:endParaRPr sz="2400" dirty="0">
              <a:latin typeface="宋体"/>
              <a:cs typeface="宋体"/>
            </a:endParaRPr>
          </a:p>
          <a:p>
            <a:pPr marL="212725">
              <a:lnSpc>
                <a:spcPct val="150000"/>
              </a:lnSpc>
            </a:pPr>
            <a:r>
              <a:rPr sz="2400" b="1" spc="-30" dirty="0">
                <a:solidFill>
                  <a:srgbClr val="3E3E3E"/>
                </a:solidFill>
                <a:latin typeface="宋体"/>
                <a:cs typeface="宋体"/>
              </a:rPr>
              <a:t>大小写敏感</a:t>
            </a:r>
            <a:endParaRPr sz="2400" dirty="0">
              <a:latin typeface="宋体"/>
              <a:cs typeface="宋体"/>
            </a:endParaRPr>
          </a:p>
          <a:p>
            <a:pPr marL="212725" marR="5080">
              <a:lnSpc>
                <a:spcPct val="150000"/>
              </a:lnSpc>
            </a:pPr>
            <a:r>
              <a:rPr sz="2400" b="1" spc="-30" dirty="0" err="1">
                <a:solidFill>
                  <a:srgbClr val="3E3E3E"/>
                </a:solidFill>
                <a:latin typeface="宋体"/>
                <a:cs typeface="宋体"/>
              </a:rPr>
              <a:t>所有关键词须小写</a:t>
            </a:r>
            <a:endParaRPr lang="en-US" sz="2400" b="1" spc="-50" dirty="0">
              <a:solidFill>
                <a:srgbClr val="3E3E3E"/>
              </a:solidFill>
              <a:latin typeface="宋体"/>
              <a:cs typeface="宋体"/>
            </a:endParaRPr>
          </a:p>
          <a:p>
            <a:pPr marL="212725" marR="5080">
              <a:lnSpc>
                <a:spcPct val="150000"/>
              </a:lnSpc>
            </a:pPr>
            <a:r>
              <a:rPr sz="2400" b="1" spc="-30" dirty="0" err="1">
                <a:solidFill>
                  <a:srgbClr val="3E3E3E"/>
                </a:solidFill>
                <a:latin typeface="宋体"/>
                <a:cs typeface="宋体"/>
              </a:rPr>
              <a:t>空格用于增加可读性</a:t>
            </a:r>
            <a:endParaRPr lang="en-US" sz="2400" b="1" spc="-30" dirty="0">
              <a:solidFill>
                <a:srgbClr val="3E3E3E"/>
              </a:solidFill>
              <a:latin typeface="宋体"/>
              <a:cs typeface="宋体"/>
            </a:endParaRPr>
          </a:p>
          <a:p>
            <a:pPr marL="212725" marR="5080">
              <a:lnSpc>
                <a:spcPct val="150000"/>
              </a:lnSpc>
            </a:pPr>
            <a:r>
              <a:rPr sz="2400" b="1" spc="-30" dirty="0" err="1">
                <a:solidFill>
                  <a:srgbClr val="3E3E3E"/>
                </a:solidFill>
                <a:latin typeface="宋体"/>
                <a:cs typeface="宋体"/>
              </a:rPr>
              <a:t>分号是语句终结符</a:t>
            </a:r>
            <a:endParaRPr lang="en-US" sz="2400" b="1" spc="-30" dirty="0">
              <a:solidFill>
                <a:srgbClr val="3E3E3E"/>
              </a:solidFill>
              <a:latin typeface="宋体"/>
              <a:cs typeface="宋体"/>
            </a:endParaRPr>
          </a:p>
          <a:p>
            <a:pPr marL="212725" marR="5080">
              <a:lnSpc>
                <a:spcPct val="150000"/>
              </a:lnSpc>
            </a:pPr>
            <a:r>
              <a:rPr lang="zh-CN" altLang="en-US" sz="2400" b="1" spc="-30" dirty="0">
                <a:solidFill>
                  <a:srgbClr val="3E3E3E"/>
                </a:solidFill>
                <a:latin typeface="宋体"/>
                <a:cs typeface="宋体"/>
              </a:rPr>
              <a:t>单</a:t>
            </a:r>
            <a:r>
              <a:rPr sz="2400" b="1" spc="-25" dirty="0" err="1">
                <a:solidFill>
                  <a:srgbClr val="3E3E3E"/>
                </a:solidFill>
                <a:latin typeface="宋体"/>
                <a:cs typeface="宋体"/>
              </a:rPr>
              <a:t>行注释</a:t>
            </a:r>
            <a:r>
              <a:rPr sz="2400" b="1" spc="-25" dirty="0">
                <a:solidFill>
                  <a:srgbClr val="3E3E3E"/>
                </a:solidFill>
                <a:latin typeface="宋体"/>
                <a:cs typeface="宋体"/>
              </a:rPr>
              <a:t>：</a:t>
            </a:r>
            <a:r>
              <a:rPr sz="2400" b="1" spc="-25" dirty="0">
                <a:solidFill>
                  <a:srgbClr val="3E3E3E"/>
                </a:solidFill>
                <a:latin typeface="Arial"/>
                <a:cs typeface="Arial"/>
              </a:rPr>
              <a:t>//</a:t>
            </a:r>
            <a:endParaRPr sz="2400" dirty="0">
              <a:latin typeface="Arial"/>
              <a:cs typeface="Arial"/>
            </a:endParaRPr>
          </a:p>
          <a:p>
            <a:pPr marL="212725">
              <a:lnSpc>
                <a:spcPct val="150000"/>
              </a:lnSpc>
              <a:tabLst>
                <a:tab pos="1955800" algn="l"/>
              </a:tabLst>
            </a:pPr>
            <a:r>
              <a:rPr sz="2400" b="1" spc="-25" dirty="0">
                <a:solidFill>
                  <a:srgbClr val="3E3E3E"/>
                </a:solidFill>
                <a:latin typeface="宋体"/>
                <a:cs typeface="宋体"/>
              </a:rPr>
              <a:t>多行注释：</a:t>
            </a:r>
            <a:r>
              <a:rPr sz="2400" b="1" spc="-25" dirty="0">
                <a:solidFill>
                  <a:srgbClr val="3E3E3E"/>
                </a:solidFill>
                <a:latin typeface="Arial"/>
                <a:cs typeface="Arial"/>
              </a:rPr>
              <a:t>/*</a:t>
            </a:r>
            <a:r>
              <a:rPr sz="2400" b="1" dirty="0">
                <a:solidFill>
                  <a:srgbClr val="3E3E3E"/>
                </a:solidFill>
                <a:latin typeface="Arial"/>
                <a:cs typeface="Arial"/>
              </a:rPr>
              <a:t>	</a:t>
            </a:r>
            <a:r>
              <a:rPr sz="2400" b="1" spc="-25" dirty="0">
                <a:solidFill>
                  <a:srgbClr val="3E3E3E"/>
                </a:solidFill>
                <a:latin typeface="Arial"/>
                <a:cs typeface="Arial"/>
              </a:rPr>
              <a:t>*/</a:t>
            </a:r>
            <a:endParaRPr sz="2400" dirty="0">
              <a:latin typeface="Arial"/>
              <a:cs typeface="Arial"/>
            </a:endParaRPr>
          </a:p>
        </p:txBody>
      </p:sp>
      <p:pic>
        <p:nvPicPr>
          <p:cNvPr id="16" name="object 3">
            <a:extLst>
              <a:ext uri="{FF2B5EF4-FFF2-40B4-BE49-F238E27FC236}">
                <a16:creationId xmlns:a16="http://schemas.microsoft.com/office/drawing/2014/main" id="{7A3748B8-6E1A-C0E7-4C89-CCDCE16CC5DE}"/>
              </a:ext>
            </a:extLst>
          </p:cNvPr>
          <p:cNvPicPr/>
          <p:nvPr/>
        </p:nvPicPr>
        <p:blipFill>
          <a:blip r:embed="rId3" cstate="print"/>
          <a:stretch>
            <a:fillRect/>
          </a:stretch>
        </p:blipFill>
        <p:spPr>
          <a:xfrm>
            <a:off x="6951138" y="2953566"/>
            <a:ext cx="166914" cy="162741"/>
          </a:xfrm>
          <a:prstGeom prst="rect">
            <a:avLst/>
          </a:prstGeom>
        </p:spPr>
      </p:pic>
      <p:pic>
        <p:nvPicPr>
          <p:cNvPr id="17" name="object 3">
            <a:extLst>
              <a:ext uri="{FF2B5EF4-FFF2-40B4-BE49-F238E27FC236}">
                <a16:creationId xmlns:a16="http://schemas.microsoft.com/office/drawing/2014/main" id="{5D1CC0D7-831B-2CD5-7938-AA7DBC8B65C5}"/>
              </a:ext>
            </a:extLst>
          </p:cNvPr>
          <p:cNvPicPr/>
          <p:nvPr/>
        </p:nvPicPr>
        <p:blipFill>
          <a:blip r:embed="rId3" cstate="print"/>
          <a:stretch>
            <a:fillRect/>
          </a:stretch>
        </p:blipFill>
        <p:spPr>
          <a:xfrm>
            <a:off x="6951138" y="3500138"/>
            <a:ext cx="166914" cy="162741"/>
          </a:xfrm>
          <a:prstGeom prst="rect">
            <a:avLst/>
          </a:prstGeom>
        </p:spPr>
      </p:pic>
      <p:pic>
        <p:nvPicPr>
          <p:cNvPr id="18" name="object 3">
            <a:extLst>
              <a:ext uri="{FF2B5EF4-FFF2-40B4-BE49-F238E27FC236}">
                <a16:creationId xmlns:a16="http://schemas.microsoft.com/office/drawing/2014/main" id="{0735E97A-A8C6-DCBA-52EB-EFCD5DD31EE1}"/>
              </a:ext>
            </a:extLst>
          </p:cNvPr>
          <p:cNvPicPr/>
          <p:nvPr/>
        </p:nvPicPr>
        <p:blipFill>
          <a:blip r:embed="rId3" cstate="print"/>
          <a:stretch>
            <a:fillRect/>
          </a:stretch>
        </p:blipFill>
        <p:spPr>
          <a:xfrm>
            <a:off x="6951138" y="4046710"/>
            <a:ext cx="166914" cy="162741"/>
          </a:xfrm>
          <a:prstGeom prst="rect">
            <a:avLst/>
          </a:prstGeom>
        </p:spPr>
      </p:pic>
      <p:pic>
        <p:nvPicPr>
          <p:cNvPr id="19" name="object 3">
            <a:extLst>
              <a:ext uri="{FF2B5EF4-FFF2-40B4-BE49-F238E27FC236}">
                <a16:creationId xmlns:a16="http://schemas.microsoft.com/office/drawing/2014/main" id="{CAA87C56-8044-08C9-1A29-FD326B057644}"/>
              </a:ext>
            </a:extLst>
          </p:cNvPr>
          <p:cNvPicPr/>
          <p:nvPr/>
        </p:nvPicPr>
        <p:blipFill>
          <a:blip r:embed="rId3" cstate="print"/>
          <a:stretch>
            <a:fillRect/>
          </a:stretch>
        </p:blipFill>
        <p:spPr>
          <a:xfrm>
            <a:off x="6951138" y="5139854"/>
            <a:ext cx="166914" cy="162741"/>
          </a:xfrm>
          <a:prstGeom prst="rect">
            <a:avLst/>
          </a:prstGeom>
        </p:spPr>
      </p:pic>
      <p:pic>
        <p:nvPicPr>
          <p:cNvPr id="22" name="object 3">
            <a:extLst>
              <a:ext uri="{FF2B5EF4-FFF2-40B4-BE49-F238E27FC236}">
                <a16:creationId xmlns:a16="http://schemas.microsoft.com/office/drawing/2014/main" id="{6C919837-9468-9A1B-F858-01805E91771A}"/>
              </a:ext>
            </a:extLst>
          </p:cNvPr>
          <p:cNvPicPr/>
          <p:nvPr/>
        </p:nvPicPr>
        <p:blipFill>
          <a:blip r:embed="rId3" cstate="print"/>
          <a:stretch>
            <a:fillRect/>
          </a:stretch>
        </p:blipFill>
        <p:spPr>
          <a:xfrm>
            <a:off x="6951138" y="4593282"/>
            <a:ext cx="166914" cy="162741"/>
          </a:xfrm>
          <a:prstGeom prst="rect">
            <a:avLst/>
          </a:prstGeom>
        </p:spPr>
      </p:pic>
    </p:spTree>
    <p:extLst>
      <p:ext uri="{BB962C8B-B14F-4D97-AF65-F5344CB8AC3E}">
        <p14:creationId xmlns:p14="http://schemas.microsoft.com/office/powerpoint/2010/main" val="19438174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B95A5BA4-CF8A-0CA1-9985-A02DCF4A20F8}"/>
              </a:ext>
            </a:extLst>
          </p:cNvPr>
          <p:cNvSpPr/>
          <p:nvPr/>
        </p:nvSpPr>
        <p:spPr>
          <a:xfrm>
            <a:off x="5695139" y="2810889"/>
            <a:ext cx="2438400" cy="2189736"/>
          </a:xfrm>
          <a:prstGeom prst="rect">
            <a:avLst/>
          </a:prstGeom>
          <a:noFill/>
          <a:ln w="444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object 3">
            <a:extLst>
              <a:ext uri="{FF2B5EF4-FFF2-40B4-BE49-F238E27FC236}">
                <a16:creationId xmlns:a16="http://schemas.microsoft.com/office/drawing/2014/main" id="{5C656A11-0461-8091-6D24-A946776545F5}"/>
              </a:ext>
            </a:extLst>
          </p:cNvPr>
          <p:cNvSpPr txBox="1">
            <a:spLocks/>
          </p:cNvSpPr>
          <p:nvPr/>
        </p:nvSpPr>
        <p:spPr>
          <a:xfrm>
            <a:off x="241300" y="200025"/>
            <a:ext cx="7288905" cy="524503"/>
          </a:xfrm>
          <a:prstGeom prst="rect">
            <a:avLst/>
          </a:prstGeom>
        </p:spPr>
        <p:txBody>
          <a:bodyPr vert="horz" wrap="square" lIns="0" tIns="16510" rIns="0" bIns="0" rtlCol="0">
            <a:spAutoFit/>
          </a:bodyPr>
          <a:lstStyle>
            <a:lvl1pPr>
              <a:defRPr sz="2800" b="0" i="0">
                <a:solidFill>
                  <a:srgbClr val="3F3F3F"/>
                </a:solidFill>
                <a:latin typeface="Calibri"/>
                <a:ea typeface="+mj-ea"/>
                <a:cs typeface="Calibri"/>
              </a:defRPr>
            </a:lvl1pPr>
          </a:lstStyle>
          <a:p>
            <a:pPr marL="12700">
              <a:spcBef>
                <a:spcPts val="130"/>
              </a:spcBef>
            </a:pPr>
            <a:r>
              <a:rPr lang="zh-CN" altLang="en-US" sz="3300" b="1" spc="-15" dirty="0">
                <a:solidFill>
                  <a:srgbClr val="000000"/>
                </a:solidFill>
                <a:latin typeface="宋体"/>
                <a:cs typeface="宋体"/>
              </a:rPr>
              <a:t>端口列表与端口声明注意事项</a:t>
            </a:r>
            <a:endParaRPr lang="zh-CN" altLang="en-US" sz="3300" dirty="0">
              <a:latin typeface="宋体"/>
              <a:cs typeface="宋体"/>
            </a:endParaRPr>
          </a:p>
        </p:txBody>
      </p:sp>
      <p:sp>
        <p:nvSpPr>
          <p:cNvPr id="9" name="Rectangle 3" descr="Rectangle: Click to edit Master text styles&#10;Second level&#10;Third level&#10;Fourth level&#10;Fifth level">
            <a:extLst>
              <a:ext uri="{FF2B5EF4-FFF2-40B4-BE49-F238E27FC236}">
                <a16:creationId xmlns:a16="http://schemas.microsoft.com/office/drawing/2014/main" id="{DCA38740-49FB-6CDF-4379-89168F63450F}"/>
              </a:ext>
            </a:extLst>
          </p:cNvPr>
          <p:cNvSpPr txBox="1">
            <a:spLocks/>
          </p:cNvSpPr>
          <p:nvPr/>
        </p:nvSpPr>
        <p:spPr bwMode="auto">
          <a:xfrm>
            <a:off x="317500" y="1037197"/>
            <a:ext cx="4938588" cy="11156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9pPr>
          </a:lstStyle>
          <a:p>
            <a:pPr marL="0" indent="0" eaLnBrk="1" hangingPunct="1">
              <a:spcBef>
                <a:spcPts val="600"/>
              </a:spcBef>
              <a:spcAft>
                <a:spcPts val="600"/>
              </a:spcAft>
              <a:buClr>
                <a:schemeClr val="tx1"/>
              </a:buClr>
              <a:buNone/>
            </a:pPr>
            <a:r>
              <a:rPr kumimoji="1" lang="zh-CN" altLang="en-US" sz="2800" b="1" kern="0" dirty="0">
                <a:solidFill>
                  <a:srgbClr val="002060"/>
                </a:solidFill>
                <a:latin typeface="+mn-ea"/>
              </a:rPr>
              <a:t>端口列表</a:t>
            </a:r>
            <a:r>
              <a:rPr kumimoji="1" lang="en-US" altLang="zh-CN" sz="2800" b="1" kern="0" dirty="0">
                <a:solidFill>
                  <a:srgbClr val="002060"/>
                </a:solidFill>
                <a:latin typeface="+mn-ea"/>
              </a:rPr>
              <a:t>:</a:t>
            </a:r>
          </a:p>
          <a:p>
            <a:pPr eaLnBrk="1" hangingPunct="1">
              <a:spcBef>
                <a:spcPts val="600"/>
              </a:spcBef>
              <a:spcAft>
                <a:spcPts val="600"/>
              </a:spcAft>
              <a:buClr>
                <a:srgbClr val="002060"/>
              </a:buClr>
            </a:pPr>
            <a:r>
              <a:rPr kumimoji="1" lang="zh-CN" altLang="en-US" sz="2800" b="1" kern="0" dirty="0">
                <a:solidFill>
                  <a:srgbClr val="002060"/>
                </a:solidFill>
                <a:latin typeface="+mn-ea"/>
              </a:rPr>
              <a:t>需要列出</a:t>
            </a:r>
            <a:r>
              <a:rPr kumimoji="1" lang="zh-CN" altLang="en-US" sz="2800" b="1" kern="0" dirty="0">
                <a:solidFill>
                  <a:srgbClr val="C00000"/>
                </a:solidFill>
                <a:latin typeface="+mn-ea"/>
              </a:rPr>
              <a:t>所有端口名称</a:t>
            </a:r>
            <a:endParaRPr kumimoji="1" lang="en-US" altLang="zh-CN" sz="2800" b="1" kern="0" dirty="0">
              <a:solidFill>
                <a:srgbClr val="4B51A5"/>
              </a:solidFill>
              <a:latin typeface="黑体" panose="02010609060101010101" pitchFamily="49" charset="-122"/>
              <a:ea typeface="黑体" panose="02010609060101010101" pitchFamily="49" charset="-122"/>
            </a:endParaRPr>
          </a:p>
        </p:txBody>
      </p:sp>
      <p:grpSp>
        <p:nvGrpSpPr>
          <p:cNvPr id="3" name="组合 2">
            <a:extLst>
              <a:ext uri="{FF2B5EF4-FFF2-40B4-BE49-F238E27FC236}">
                <a16:creationId xmlns:a16="http://schemas.microsoft.com/office/drawing/2014/main" id="{F13D0AFB-9B56-FF4D-2E3E-0CDDAAABC154}"/>
              </a:ext>
            </a:extLst>
          </p:cNvPr>
          <p:cNvGrpSpPr/>
          <p:nvPr/>
        </p:nvGrpSpPr>
        <p:grpSpPr>
          <a:xfrm>
            <a:off x="5203096" y="1833928"/>
            <a:ext cx="6359443" cy="4482161"/>
            <a:chOff x="5203096" y="1833928"/>
            <a:chExt cx="6359443" cy="4482161"/>
          </a:xfrm>
        </p:grpSpPr>
        <p:sp>
          <p:nvSpPr>
            <p:cNvPr id="5" name="Rectangle 3" descr="Rectangle: Click to edit Master text styles&#10;Second level&#10;Third level&#10;Fourth level&#10;Fifth level">
              <a:extLst>
                <a:ext uri="{FF2B5EF4-FFF2-40B4-BE49-F238E27FC236}">
                  <a16:creationId xmlns:a16="http://schemas.microsoft.com/office/drawing/2014/main" id="{E804DA6F-9893-0824-06AB-E24D069E278B}"/>
                </a:ext>
              </a:extLst>
            </p:cNvPr>
            <p:cNvSpPr txBox="1">
              <a:spLocks/>
            </p:cNvSpPr>
            <p:nvPr/>
          </p:nvSpPr>
          <p:spPr bwMode="auto">
            <a:xfrm>
              <a:off x="5283636" y="2333625"/>
              <a:ext cx="6278903" cy="39824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00838" tIns="50419" rIns="100838" bIns="50419" numCol="1" anchor="t" anchorCtr="0" compatLnSpc="1">
              <a:prstTxWarp prst="textNoShape">
                <a:avLst/>
              </a:prstTxWarp>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9pPr>
            </a:lstStyle>
            <a:p>
              <a:pPr marL="360000" indent="-360000">
                <a:spcBef>
                  <a:spcPts val="0"/>
                </a:spcBef>
                <a:spcAft>
                  <a:spcPts val="0"/>
                </a:spcAft>
                <a:buClr>
                  <a:schemeClr val="hlink"/>
                </a:buClr>
                <a:buSzPct val="110000"/>
                <a:buNone/>
              </a:pPr>
              <a:r>
                <a:rPr kumimoji="1" lang="en-US" altLang="zh-CN" sz="2400" b="1" dirty="0">
                  <a:solidFill>
                    <a:srgbClr val="C00000"/>
                  </a:solidFill>
                  <a:latin typeface="黑体" panose="02010609060101010101" pitchFamily="49" charset="-122"/>
                  <a:ea typeface="黑体" panose="02010609060101010101" pitchFamily="49" charset="-122"/>
                  <a:sym typeface="+mn-ea"/>
                </a:rPr>
                <a:t>module</a:t>
              </a:r>
              <a:r>
                <a:rPr kumimoji="1" lang="en-US" altLang="zh-CN" sz="2400" dirty="0">
                  <a:solidFill>
                    <a:srgbClr val="FF0000"/>
                  </a:solidFill>
                  <a:latin typeface="+mj-lt"/>
                  <a:ea typeface="微软雅黑" panose="020B0503020204020204" charset="-122"/>
                  <a:sym typeface="+mn-ea"/>
                </a:rPr>
                <a:t> </a:t>
              </a:r>
              <a:r>
                <a:rPr kumimoji="1" lang="en-US" altLang="zh-CN" sz="2400" b="1"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sym typeface="+mn-ea"/>
                </a:rPr>
                <a:t>fulladder</a:t>
              </a:r>
              <a:r>
                <a:rPr kumimoji="1" lang="en-US" altLang="zh-CN" sz="2400" dirty="0">
                  <a:solidFill>
                    <a:srgbClr val="002060"/>
                  </a:solidFill>
                  <a:latin typeface="+mj-lt"/>
                  <a:ea typeface="微软雅黑" panose="020B0503020204020204" charset="-122"/>
                  <a:sym typeface="+mn-ea"/>
                </a:rPr>
                <a:t> (</a:t>
              </a:r>
              <a:r>
                <a:rPr kumimoji="1" lang="en-US" altLang="zh-CN" sz="2400" b="1"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sym typeface="+mn-ea"/>
                </a:rPr>
                <a:t>sum, c_out, a, b, c_in</a:t>
              </a:r>
              <a:r>
                <a:rPr kumimoji="1" lang="en-US" altLang="zh-CN" sz="2400" dirty="0">
                  <a:solidFill>
                    <a:srgbClr val="002060"/>
                  </a:solidFill>
                  <a:latin typeface="+mj-lt"/>
                  <a:ea typeface="微软雅黑" panose="020B0503020204020204" charset="-122"/>
                  <a:sym typeface="+mn-ea"/>
                </a:rPr>
                <a:t>)</a:t>
              </a:r>
              <a:r>
                <a:rPr kumimoji="1" lang="zh-CN" altLang="en-US" sz="2400" dirty="0">
                  <a:solidFill>
                    <a:srgbClr val="C00000"/>
                  </a:solidFill>
                  <a:latin typeface="+mj-lt"/>
                  <a:ea typeface="微软雅黑" panose="020B0503020204020204" charset="-122"/>
                  <a:sym typeface="+mn-ea"/>
                </a:rPr>
                <a:t>；</a:t>
              </a:r>
              <a:r>
                <a:rPr kumimoji="1" lang="en-US" altLang="zh-CN" sz="2400" b="1" dirty="0">
                  <a:solidFill>
                    <a:srgbClr val="C00000"/>
                  </a:solidFill>
                  <a:latin typeface="黑体" panose="02010609060101010101" pitchFamily="49" charset="-122"/>
                  <a:ea typeface="黑体" panose="02010609060101010101" pitchFamily="49" charset="-122"/>
                  <a:sym typeface="+mn-ea"/>
                </a:rPr>
                <a:t>output</a:t>
              </a:r>
              <a:r>
                <a:rPr kumimoji="1" lang="en-US" altLang="zh-CN" sz="2400" dirty="0">
                  <a:solidFill>
                    <a:srgbClr val="FF0000"/>
                  </a:solidFill>
                  <a:latin typeface="+mj-lt"/>
                  <a:ea typeface="微软雅黑" panose="020B0503020204020204" charset="-122"/>
                  <a:sym typeface="+mn-ea"/>
                </a:rPr>
                <a:t> </a:t>
              </a:r>
              <a:r>
                <a:rPr kumimoji="1" lang="en-US" altLang="zh-CN" sz="2400" b="1"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sym typeface="+mn-ea"/>
                </a:rPr>
                <a:t>[3:0] sum</a:t>
              </a:r>
              <a:r>
                <a:rPr kumimoji="1" lang="en-US" altLang="zh-CN" sz="2400" dirty="0">
                  <a:solidFill>
                    <a:srgbClr val="002060"/>
                  </a:solidFill>
                  <a:latin typeface="+mj-lt"/>
                  <a:ea typeface="微软雅黑" panose="020B0503020204020204" charset="-122"/>
                  <a:sym typeface="+mn-ea"/>
                </a:rPr>
                <a:t>;</a:t>
              </a:r>
            </a:p>
            <a:p>
              <a:pPr marL="360000" indent="0">
                <a:spcBef>
                  <a:spcPts val="0"/>
                </a:spcBef>
                <a:spcAft>
                  <a:spcPts val="0"/>
                </a:spcAft>
                <a:buClr>
                  <a:schemeClr val="hlink"/>
                </a:buClr>
                <a:buSzPct val="110000"/>
                <a:buNone/>
              </a:pPr>
              <a:r>
                <a:rPr kumimoji="1" lang="en-US" altLang="zh-CN" sz="2400" b="1" dirty="0">
                  <a:solidFill>
                    <a:srgbClr val="C00000"/>
                  </a:solidFill>
                  <a:latin typeface="黑体" panose="02010609060101010101" pitchFamily="49" charset="-122"/>
                  <a:ea typeface="黑体" panose="02010609060101010101" pitchFamily="49" charset="-122"/>
                  <a:sym typeface="+mn-ea"/>
                </a:rPr>
                <a:t>output</a:t>
              </a:r>
              <a:r>
                <a:rPr kumimoji="1" lang="en-US" altLang="zh-CN" sz="2400" dirty="0">
                  <a:solidFill>
                    <a:srgbClr val="FF0000"/>
                  </a:solidFill>
                  <a:latin typeface="+mj-lt"/>
                  <a:ea typeface="微软雅黑" panose="020B0503020204020204" charset="-122"/>
                  <a:sym typeface="+mn-ea"/>
                </a:rPr>
                <a:t> </a:t>
              </a:r>
              <a:r>
                <a:rPr kumimoji="1" lang="en-US" altLang="zh-CN" sz="2400" b="1"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sym typeface="+mn-ea"/>
                </a:rPr>
                <a:t>c_out</a:t>
              </a:r>
              <a:r>
                <a:rPr kumimoji="1" lang="en-US" altLang="zh-CN" sz="2400" dirty="0">
                  <a:solidFill>
                    <a:srgbClr val="002060"/>
                  </a:solidFill>
                  <a:latin typeface="+mj-lt"/>
                  <a:ea typeface="微软雅黑" panose="020B0503020204020204" charset="-122"/>
                  <a:sym typeface="+mn-ea"/>
                </a:rPr>
                <a:t>;</a:t>
              </a:r>
            </a:p>
            <a:p>
              <a:pPr marL="360000" indent="0" defTabSz="1008400">
                <a:spcBef>
                  <a:spcPts val="0"/>
                </a:spcBef>
                <a:spcAft>
                  <a:spcPts val="0"/>
                </a:spcAft>
                <a:buClr>
                  <a:schemeClr val="hlink"/>
                </a:buClr>
                <a:buSzPct val="110000"/>
                <a:buNone/>
              </a:pPr>
              <a:r>
                <a:rPr kumimoji="1" lang="en-US" altLang="zh-CN" sz="2400" b="1" dirty="0">
                  <a:solidFill>
                    <a:srgbClr val="C00000"/>
                  </a:solidFill>
                  <a:latin typeface="黑体" panose="02010609060101010101" pitchFamily="49" charset="-122"/>
                  <a:ea typeface="黑体" panose="02010609060101010101" pitchFamily="49" charset="-122"/>
                  <a:sym typeface="+mn-ea"/>
                </a:rPr>
                <a:t>input</a:t>
              </a:r>
              <a:r>
                <a:rPr kumimoji="1" lang="en-US" altLang="zh-CN" sz="2400" dirty="0">
                  <a:solidFill>
                    <a:srgbClr val="FF0000"/>
                  </a:solidFill>
                  <a:ea typeface="微软雅黑" panose="020B0503020204020204" charset="-122"/>
                  <a:sym typeface="+mn-ea"/>
                </a:rPr>
                <a:t> </a:t>
              </a:r>
              <a:r>
                <a:rPr kumimoji="1" lang="en-US" altLang="zh-CN" sz="2400" b="1"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sym typeface="+mn-ea"/>
                </a:rPr>
                <a:t>[3:0] a, b;</a:t>
              </a:r>
              <a:endParaRPr kumimoji="1" lang="en-US" altLang="zh-CN" sz="2400" b="1" noProof="1">
                <a:solidFill>
                  <a:srgbClr val="002060"/>
                </a:solidFill>
                <a:latin typeface="Times New Roman" panose="02020603050405020304" pitchFamily="18" charset="0"/>
                <a:ea typeface="黑体" panose="02010609060101010101" pitchFamily="49" charset="-122"/>
                <a:cs typeface="Times New Roman" panose="02020603050405020304" pitchFamily="18" charset="0"/>
              </a:endParaRPr>
            </a:p>
            <a:p>
              <a:pPr marL="360000" indent="0">
                <a:spcBef>
                  <a:spcPts val="0"/>
                </a:spcBef>
                <a:spcAft>
                  <a:spcPts val="0"/>
                </a:spcAft>
                <a:buClr>
                  <a:schemeClr val="hlink"/>
                </a:buClr>
                <a:buSzPct val="110000"/>
                <a:buNone/>
              </a:pPr>
              <a:r>
                <a:rPr kumimoji="1" lang="en-US" altLang="zh-CN" sz="2400" b="1" dirty="0">
                  <a:solidFill>
                    <a:srgbClr val="C00000"/>
                  </a:solidFill>
                  <a:latin typeface="黑体" panose="02010609060101010101" pitchFamily="49" charset="-122"/>
                  <a:ea typeface="黑体" panose="02010609060101010101" pitchFamily="49" charset="-122"/>
                  <a:sym typeface="+mn-ea"/>
                </a:rPr>
                <a:t>input</a:t>
              </a:r>
              <a:r>
                <a:rPr kumimoji="1" lang="en-US" altLang="zh-CN" sz="2400" dirty="0">
                  <a:solidFill>
                    <a:srgbClr val="FF0000"/>
                  </a:solidFill>
                  <a:ea typeface="微软雅黑" panose="020B0503020204020204" charset="-122"/>
                  <a:sym typeface="+mn-ea"/>
                </a:rPr>
                <a:t> </a:t>
              </a:r>
              <a:r>
                <a:rPr kumimoji="1" lang="en-US" altLang="zh-CN" sz="2400" b="1"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sym typeface="+mn-ea"/>
                </a:rPr>
                <a:t>c_in;</a:t>
              </a:r>
            </a:p>
            <a:p>
              <a:pPr marL="360000" indent="0">
                <a:spcBef>
                  <a:spcPts val="0"/>
                </a:spcBef>
                <a:spcAft>
                  <a:spcPts val="0"/>
                </a:spcAft>
                <a:buClr>
                  <a:schemeClr val="hlink"/>
                </a:buClr>
                <a:buSzPct val="110000"/>
                <a:buNone/>
              </a:pPr>
              <a:r>
                <a:rPr kumimoji="1" lang="en-US" altLang="en-US" sz="2400" b="1" dirty="0">
                  <a:solidFill>
                    <a:srgbClr val="C00000"/>
                  </a:solidFill>
                  <a:latin typeface="黑体" panose="02010609060101010101" pitchFamily="49" charset="-122"/>
                  <a:ea typeface="黑体" panose="02010609060101010101" pitchFamily="49" charset="-122"/>
                  <a:sym typeface="+mn-ea"/>
                </a:rPr>
                <a:t>reg</a:t>
              </a:r>
              <a:r>
                <a:rPr kumimoji="1" lang="en-US" altLang="en-US" sz="2400" dirty="0">
                  <a:solidFill>
                    <a:srgbClr val="FF0000"/>
                  </a:solidFill>
                  <a:ea typeface="微软雅黑" panose="020B0503020204020204" charset="-122"/>
                  <a:sym typeface="+mn-ea"/>
                </a:rPr>
                <a:t> </a:t>
              </a:r>
              <a:r>
                <a:rPr kumimoji="1" lang="en-US" altLang="zh-CN" sz="2400" b="1"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sym typeface="+mn-ea"/>
                </a:rPr>
                <a:t>[3:0] sum;</a:t>
              </a:r>
              <a:endParaRPr kumimoji="1" lang="en-US" altLang="zh-CN" sz="2400" dirty="0">
                <a:solidFill>
                  <a:srgbClr val="002060"/>
                </a:solidFill>
                <a:ea typeface="微软雅黑" panose="020B0503020204020204" charset="-122"/>
                <a:sym typeface="+mn-ea"/>
              </a:endParaRPr>
            </a:p>
            <a:p>
              <a:pPr marL="360000" indent="0">
                <a:spcBef>
                  <a:spcPts val="0"/>
                </a:spcBef>
                <a:spcAft>
                  <a:spcPts val="0"/>
                </a:spcAft>
                <a:buClr>
                  <a:schemeClr val="hlink"/>
                </a:buClr>
                <a:buSzPct val="110000"/>
                <a:buNone/>
              </a:pPr>
              <a:r>
                <a:rPr kumimoji="1" lang="en-US" altLang="en-US" sz="2400" b="1" dirty="0">
                  <a:solidFill>
                    <a:srgbClr val="C00000"/>
                  </a:solidFill>
                  <a:latin typeface="黑体" panose="02010609060101010101" pitchFamily="49" charset="-122"/>
                  <a:ea typeface="黑体" panose="02010609060101010101" pitchFamily="49" charset="-122"/>
                  <a:sym typeface="+mn-ea"/>
                </a:rPr>
                <a:t>reg</a:t>
              </a:r>
              <a:r>
                <a:rPr kumimoji="1" lang="en-US" altLang="en-US" sz="2400" dirty="0">
                  <a:solidFill>
                    <a:srgbClr val="FF0000"/>
                  </a:solidFill>
                  <a:latin typeface="+mj-lt"/>
                  <a:ea typeface="微软雅黑" panose="020B0503020204020204" charset="-122"/>
                  <a:sym typeface="+mn-ea"/>
                </a:rPr>
                <a:t> </a:t>
              </a:r>
              <a:r>
                <a:rPr kumimoji="1" lang="en-US" altLang="zh-CN" sz="2400" b="1"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sym typeface="+mn-ea"/>
                </a:rPr>
                <a:t>c_out;</a:t>
              </a:r>
              <a:endParaRPr kumimoji="1" lang="en-US" altLang="zh-CN" sz="2400" dirty="0">
                <a:solidFill>
                  <a:srgbClr val="002060"/>
                </a:solidFill>
                <a:latin typeface="+mj-lt"/>
                <a:ea typeface="微软雅黑" panose="020B0503020204020204" charset="-122"/>
                <a:sym typeface="+mn-ea"/>
              </a:endParaRPr>
            </a:p>
            <a:p>
              <a:pPr marL="360000" indent="0" defTabSz="1008400">
                <a:spcBef>
                  <a:spcPts val="0"/>
                </a:spcBef>
                <a:spcAft>
                  <a:spcPts val="0"/>
                </a:spcAft>
                <a:buClr>
                  <a:schemeClr val="hlink"/>
                </a:buClr>
                <a:buSzPct val="110000"/>
                <a:buNone/>
              </a:pPr>
              <a:r>
                <a:rPr kumimoji="1" lang="en-US" altLang="zh-CN" sz="2400" b="1" dirty="0">
                  <a:solidFill>
                    <a:srgbClr val="002060"/>
                  </a:solidFill>
                  <a:latin typeface="黑体" panose="02010609060101010101" pitchFamily="49" charset="-122"/>
                  <a:ea typeface="黑体" panose="02010609060101010101" pitchFamily="49" charset="-122"/>
                  <a:sym typeface="+mn-ea"/>
                </a:rPr>
                <a:t>&lt;</a:t>
              </a:r>
              <a:r>
                <a:rPr kumimoji="1" lang="zh-CN" altLang="en-US" sz="2400" b="1" dirty="0">
                  <a:solidFill>
                    <a:srgbClr val="002060"/>
                  </a:solidFill>
                  <a:latin typeface="黑体" panose="02010609060101010101" pitchFamily="49" charset="-122"/>
                  <a:ea typeface="黑体" panose="02010609060101010101" pitchFamily="49" charset="-122"/>
                  <a:sym typeface="+mn-ea"/>
                </a:rPr>
                <a:t>模块功能定义</a:t>
              </a:r>
              <a:r>
                <a:rPr kumimoji="1" lang="en-US" altLang="zh-CN" sz="2400" b="1" dirty="0">
                  <a:solidFill>
                    <a:srgbClr val="002060"/>
                  </a:solidFill>
                  <a:latin typeface="黑体" panose="02010609060101010101" pitchFamily="49" charset="-122"/>
                  <a:ea typeface="黑体" panose="02010609060101010101" pitchFamily="49" charset="-122"/>
                  <a:sym typeface="+mn-ea"/>
                </a:rPr>
                <a:t>&gt;</a:t>
              </a:r>
            </a:p>
            <a:p>
              <a:pPr marL="0" indent="0" defTabSz="1008400">
                <a:spcBef>
                  <a:spcPts val="0"/>
                </a:spcBef>
                <a:spcAft>
                  <a:spcPts val="0"/>
                </a:spcAft>
                <a:buClr>
                  <a:schemeClr val="hlink"/>
                </a:buClr>
                <a:buSzPct val="110000"/>
                <a:buNone/>
              </a:pPr>
              <a:r>
                <a:rPr kumimoji="1" lang="en-US" altLang="zh-CN" sz="2400" b="1" dirty="0">
                  <a:solidFill>
                    <a:srgbClr val="C00000"/>
                  </a:solidFill>
                  <a:latin typeface="黑体" panose="02010609060101010101" pitchFamily="49" charset="-122"/>
                  <a:ea typeface="黑体" panose="02010609060101010101" pitchFamily="49" charset="-122"/>
                  <a:sym typeface="+mn-ea"/>
                </a:rPr>
                <a:t>endmodule</a:t>
              </a:r>
              <a:endParaRPr kumimoji="1" lang="en-US" altLang="zh-CN" sz="2800" b="1" dirty="0">
                <a:solidFill>
                  <a:srgbClr val="4B51A5"/>
                </a:solidFill>
                <a:latin typeface="黑体" panose="02010609060101010101" pitchFamily="49" charset="-122"/>
                <a:ea typeface="黑体" panose="02010609060101010101" pitchFamily="49" charset="-122"/>
              </a:endParaRPr>
            </a:p>
          </p:txBody>
        </p:sp>
        <p:sp>
          <p:nvSpPr>
            <p:cNvPr id="10" name="object 8">
              <a:extLst>
                <a:ext uri="{FF2B5EF4-FFF2-40B4-BE49-F238E27FC236}">
                  <a16:creationId xmlns:a16="http://schemas.microsoft.com/office/drawing/2014/main" id="{9EA59A51-03D7-1C28-960A-A392C718D8C9}"/>
                </a:ext>
              </a:extLst>
            </p:cNvPr>
            <p:cNvSpPr txBox="1">
              <a:spLocks/>
            </p:cNvSpPr>
            <p:nvPr/>
          </p:nvSpPr>
          <p:spPr>
            <a:xfrm>
              <a:off x="5203096" y="1833928"/>
              <a:ext cx="4594859" cy="531556"/>
            </a:xfrm>
            <a:prstGeom prst="rect">
              <a:avLst/>
            </a:prstGeom>
          </p:spPr>
          <p:txBody>
            <a:bodyPr vert="horz" wrap="square" lIns="0" tIns="160655" rIns="0" bIns="0" rtlCol="0">
              <a:sp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12700">
                <a:spcBef>
                  <a:spcPts val="1265"/>
                </a:spcBef>
              </a:pPr>
              <a:r>
                <a:rPr lang="zh-CN" altLang="en-US" sz="2400" b="1" spc="-25" dirty="0"/>
                <a:t>例：</a:t>
              </a:r>
              <a:endParaRPr lang="en-US" sz="2800" b="1" dirty="0">
                <a:latin typeface="Arial"/>
                <a:cs typeface="Arial"/>
              </a:endParaRPr>
            </a:p>
          </p:txBody>
        </p:sp>
      </p:grpSp>
      <p:sp>
        <p:nvSpPr>
          <p:cNvPr id="11" name="Rectangle 3" descr="Rectangle: Click to edit Master text styles&#10;Second level&#10;Third level&#10;Fourth level&#10;Fifth level">
            <a:extLst>
              <a:ext uri="{FF2B5EF4-FFF2-40B4-BE49-F238E27FC236}">
                <a16:creationId xmlns:a16="http://schemas.microsoft.com/office/drawing/2014/main" id="{4B784984-D892-9395-2AE2-2C475F0E1176}"/>
              </a:ext>
            </a:extLst>
          </p:cNvPr>
          <p:cNvSpPr txBox="1">
            <a:spLocks/>
          </p:cNvSpPr>
          <p:nvPr/>
        </p:nvSpPr>
        <p:spPr bwMode="auto">
          <a:xfrm>
            <a:off x="317500" y="2287314"/>
            <a:ext cx="4938588" cy="46462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9pPr>
          </a:lstStyle>
          <a:p>
            <a:pPr marL="0" indent="0" eaLnBrk="1" hangingPunct="1">
              <a:spcBef>
                <a:spcPts val="600"/>
              </a:spcBef>
              <a:spcAft>
                <a:spcPts val="600"/>
              </a:spcAft>
              <a:buClr>
                <a:schemeClr val="tx1"/>
              </a:buClr>
              <a:buNone/>
            </a:pPr>
            <a:r>
              <a:rPr kumimoji="1" lang="zh-CN" altLang="en-US" sz="2800" b="1" kern="0" dirty="0">
                <a:solidFill>
                  <a:srgbClr val="002060"/>
                </a:solidFill>
                <a:latin typeface="+mn-ea"/>
              </a:rPr>
              <a:t>端口声明</a:t>
            </a:r>
            <a:r>
              <a:rPr kumimoji="1" lang="en-US" altLang="zh-CN" sz="2800" b="1" kern="0" dirty="0">
                <a:solidFill>
                  <a:srgbClr val="002060"/>
                </a:solidFill>
                <a:latin typeface="+mn-ea"/>
              </a:rPr>
              <a:t>:</a:t>
            </a:r>
          </a:p>
          <a:p>
            <a:pPr eaLnBrk="1" hangingPunct="1">
              <a:spcBef>
                <a:spcPts val="600"/>
              </a:spcBef>
              <a:spcAft>
                <a:spcPts val="600"/>
              </a:spcAft>
              <a:buClr>
                <a:schemeClr val="tx1"/>
              </a:buClr>
            </a:pPr>
            <a:r>
              <a:rPr kumimoji="1" lang="zh-CN" altLang="en-US" sz="2800" b="1" dirty="0">
                <a:solidFill>
                  <a:srgbClr val="002060"/>
                </a:solidFill>
                <a:latin typeface="+mn-ea"/>
              </a:rPr>
              <a:t>需要声明</a:t>
            </a:r>
            <a:r>
              <a:rPr kumimoji="1" lang="zh-CN" altLang="en-US" sz="2800" b="1" dirty="0">
                <a:solidFill>
                  <a:srgbClr val="C00000"/>
                </a:solidFill>
                <a:latin typeface="+mn-ea"/>
              </a:rPr>
              <a:t>端口</a:t>
            </a:r>
            <a:r>
              <a:rPr kumimoji="1" lang="zh-CN" altLang="en-US" sz="2800" b="1" kern="0" dirty="0">
                <a:solidFill>
                  <a:srgbClr val="C00000"/>
                </a:solidFill>
                <a:latin typeface="+mn-ea"/>
              </a:rPr>
              <a:t>输入输出类型</a:t>
            </a:r>
            <a:r>
              <a:rPr kumimoji="1" lang="en-US" altLang="zh-CN" sz="2800" b="1" kern="0" dirty="0">
                <a:solidFill>
                  <a:srgbClr val="002060"/>
                </a:solidFill>
                <a:latin typeface="+mn-ea"/>
              </a:rPr>
              <a:t>:</a:t>
            </a:r>
          </a:p>
          <a:p>
            <a:pPr marL="0" indent="0" eaLnBrk="1" hangingPunct="1">
              <a:spcBef>
                <a:spcPts val="600"/>
              </a:spcBef>
              <a:spcAft>
                <a:spcPts val="600"/>
              </a:spcAft>
              <a:buNone/>
            </a:pPr>
            <a:r>
              <a:rPr kumimoji="1" lang="en-US" altLang="zh-CN" sz="2800" b="1" kern="0" dirty="0">
                <a:solidFill>
                  <a:srgbClr val="4B51A5"/>
                </a:solidFill>
                <a:latin typeface="黑体" panose="02010609060101010101" pitchFamily="49" charset="-122"/>
                <a:ea typeface="黑体" panose="02010609060101010101" pitchFamily="49" charset="-122"/>
              </a:rPr>
              <a:t>	</a:t>
            </a:r>
            <a:r>
              <a:rPr kumimoji="1" lang="en-US" altLang="zh-CN" sz="2800" b="1" kern="0" dirty="0">
                <a:latin typeface="+mn-ea"/>
              </a:rPr>
              <a:t>input  output  </a:t>
            </a:r>
            <a:r>
              <a:rPr kumimoji="1" lang="en-US" altLang="zh-CN" sz="2800" b="1" kern="0" dirty="0">
                <a:solidFill>
                  <a:schemeClr val="bg1">
                    <a:lumMod val="65000"/>
                  </a:schemeClr>
                </a:solidFill>
                <a:latin typeface="+mn-ea"/>
              </a:rPr>
              <a:t>inout</a:t>
            </a:r>
          </a:p>
          <a:p>
            <a:pPr eaLnBrk="1" hangingPunct="1">
              <a:spcBef>
                <a:spcPts val="600"/>
              </a:spcBef>
              <a:spcAft>
                <a:spcPts val="600"/>
              </a:spcAft>
              <a:buClr>
                <a:schemeClr val="tx1"/>
              </a:buClr>
            </a:pPr>
            <a:r>
              <a:rPr kumimoji="1" lang="zh-CN" altLang="en-US" sz="2800" b="1" dirty="0">
                <a:solidFill>
                  <a:srgbClr val="002060"/>
                </a:solidFill>
                <a:latin typeface="+mn-ea"/>
                <a:sym typeface="+mn-ea"/>
              </a:rPr>
              <a:t>需要对端口</a:t>
            </a:r>
            <a:r>
              <a:rPr kumimoji="1" lang="zh-CN" altLang="en-US" sz="2800" b="1" dirty="0">
                <a:solidFill>
                  <a:srgbClr val="C00000"/>
                </a:solidFill>
                <a:latin typeface="+mn-ea"/>
                <a:sym typeface="+mn-ea"/>
              </a:rPr>
              <a:t>数据类型</a:t>
            </a:r>
            <a:r>
              <a:rPr kumimoji="1" lang="zh-CN" altLang="en-US" sz="2800" b="1" dirty="0">
                <a:solidFill>
                  <a:srgbClr val="002060"/>
                </a:solidFill>
                <a:latin typeface="+mn-ea"/>
                <a:sym typeface="+mn-ea"/>
              </a:rPr>
              <a:t>进行声明</a:t>
            </a:r>
            <a:endParaRPr kumimoji="1" lang="en-US" altLang="zh-CN" sz="2800" b="1" dirty="0">
              <a:solidFill>
                <a:srgbClr val="002060"/>
              </a:solidFill>
              <a:latin typeface="+mn-ea"/>
              <a:sym typeface="+mn-ea"/>
            </a:endParaRPr>
          </a:p>
          <a:p>
            <a:pPr marL="0" indent="0" eaLnBrk="1" hangingPunct="1">
              <a:spcBef>
                <a:spcPts val="600"/>
              </a:spcBef>
              <a:spcAft>
                <a:spcPts val="600"/>
              </a:spcAft>
              <a:buNone/>
            </a:pPr>
            <a:r>
              <a:rPr kumimoji="1" lang="en-US" altLang="zh-CN" sz="2800" b="1" kern="0" dirty="0">
                <a:solidFill>
                  <a:srgbClr val="4B51A5"/>
                </a:solidFill>
                <a:latin typeface="+mn-ea"/>
                <a:cs typeface="Times New Roman" panose="02020603050405020304" pitchFamily="18" charset="0"/>
                <a:sym typeface="+mn-ea"/>
              </a:rPr>
              <a:t>	</a:t>
            </a:r>
            <a:r>
              <a:rPr kumimoji="1" lang="zh-CN" altLang="en-US" sz="2800" b="1" kern="0" dirty="0">
                <a:solidFill>
                  <a:srgbClr val="002060"/>
                </a:solidFill>
                <a:latin typeface="+mn-ea"/>
                <a:cs typeface="Times New Roman" panose="02020603050405020304" pitchFamily="18" charset="0"/>
                <a:sym typeface="+mn-ea"/>
              </a:rPr>
              <a:t>默认为</a:t>
            </a:r>
            <a:r>
              <a:rPr kumimoji="1" lang="en-US" altLang="zh-CN" sz="2800" b="1" kern="0" dirty="0">
                <a:solidFill>
                  <a:srgbClr val="C00000"/>
                </a:solidFill>
                <a:latin typeface="+mn-ea"/>
                <a:cs typeface="Times New Roman" panose="02020603050405020304" pitchFamily="18" charset="0"/>
                <a:sym typeface="+mn-ea"/>
              </a:rPr>
              <a:t>wire</a:t>
            </a:r>
            <a:r>
              <a:rPr kumimoji="1" lang="zh-CN" altLang="en-US" sz="2800" b="1" kern="0" dirty="0">
                <a:solidFill>
                  <a:srgbClr val="002060"/>
                </a:solidFill>
                <a:latin typeface="+mn-ea"/>
                <a:cs typeface="Times New Roman" panose="02020603050405020304" pitchFamily="18" charset="0"/>
                <a:sym typeface="+mn-ea"/>
              </a:rPr>
              <a:t>类型</a:t>
            </a:r>
            <a:endParaRPr kumimoji="1" lang="en-US" altLang="zh-CN" sz="2800" b="1" kern="0" dirty="0">
              <a:solidFill>
                <a:srgbClr val="002060"/>
              </a:solidFill>
              <a:latin typeface="+mn-ea"/>
              <a:cs typeface="Times New Roman" panose="02020603050405020304" pitchFamily="18" charset="0"/>
              <a:sym typeface="+mn-ea"/>
            </a:endParaRPr>
          </a:p>
          <a:p>
            <a:pPr marL="0" indent="0" eaLnBrk="1" hangingPunct="1">
              <a:spcBef>
                <a:spcPts val="600"/>
              </a:spcBef>
              <a:spcAft>
                <a:spcPts val="600"/>
              </a:spcAft>
              <a:buNone/>
            </a:pPr>
            <a:r>
              <a:rPr kumimoji="1" lang="en-US" altLang="zh-CN" sz="2800" b="1" kern="0" dirty="0">
                <a:solidFill>
                  <a:srgbClr val="002060"/>
                </a:solidFill>
                <a:latin typeface="+mn-ea"/>
                <a:cs typeface="Times New Roman" panose="02020603050405020304" pitchFamily="18" charset="0"/>
                <a:sym typeface="+mn-ea"/>
              </a:rPr>
              <a:t>	</a:t>
            </a:r>
            <a:r>
              <a:rPr kumimoji="1" lang="en-US" altLang="zh-CN" sz="2800" b="1" kern="0" dirty="0">
                <a:solidFill>
                  <a:srgbClr val="C00000"/>
                </a:solidFill>
                <a:latin typeface="+mn-ea"/>
                <a:cs typeface="Times New Roman" panose="02020603050405020304" pitchFamily="18" charset="0"/>
                <a:sym typeface="+mn-ea"/>
              </a:rPr>
              <a:t>reg</a:t>
            </a:r>
            <a:r>
              <a:rPr kumimoji="1" lang="zh-CN" altLang="en-US" sz="2800" b="1" kern="0" dirty="0">
                <a:solidFill>
                  <a:srgbClr val="002060"/>
                </a:solidFill>
                <a:latin typeface="+mn-ea"/>
                <a:cs typeface="Times New Roman" panose="02020603050405020304" pitchFamily="18" charset="0"/>
                <a:sym typeface="+mn-ea"/>
              </a:rPr>
              <a:t>类型需要显式声明</a:t>
            </a:r>
            <a:endParaRPr kumimoji="1" lang="en-US" altLang="zh-CN" sz="2800" b="1" kern="0" dirty="0">
              <a:solidFill>
                <a:srgbClr val="002060"/>
              </a:solidFill>
              <a:latin typeface="+mn-ea"/>
            </a:endParaRPr>
          </a:p>
          <a:p>
            <a:pPr eaLnBrk="1" hangingPunct="1">
              <a:spcBef>
                <a:spcPts val="600"/>
              </a:spcBef>
              <a:spcAft>
                <a:spcPts val="600"/>
              </a:spcAft>
              <a:buClr>
                <a:schemeClr val="tx1"/>
              </a:buClr>
            </a:pPr>
            <a:r>
              <a:rPr kumimoji="1" lang="zh-CN" altLang="en-US" sz="2800" b="1" dirty="0">
                <a:solidFill>
                  <a:srgbClr val="002060"/>
                </a:solidFill>
                <a:latin typeface="+mn-ea"/>
              </a:rPr>
              <a:t>端口可以声明为</a:t>
            </a:r>
            <a:r>
              <a:rPr kumimoji="1" lang="zh-CN" altLang="en-US" sz="2800" b="1" dirty="0">
                <a:solidFill>
                  <a:srgbClr val="C00000"/>
                </a:solidFill>
                <a:latin typeface="+mn-ea"/>
              </a:rPr>
              <a:t>向量</a:t>
            </a:r>
            <a:endParaRPr kumimoji="1" lang="en-US" altLang="zh-CN" sz="2800" b="1" dirty="0">
              <a:solidFill>
                <a:srgbClr val="C00000"/>
              </a:solidFill>
              <a:latin typeface="+mn-ea"/>
            </a:endParaRPr>
          </a:p>
          <a:p>
            <a:pPr marL="0" indent="0" eaLnBrk="1" hangingPunct="1">
              <a:spcBef>
                <a:spcPts val="600"/>
              </a:spcBef>
              <a:spcAft>
                <a:spcPts val="600"/>
              </a:spcAft>
              <a:buNone/>
            </a:pPr>
            <a:r>
              <a:rPr kumimoji="1" lang="en-US" altLang="zh-CN" sz="2800" b="1" dirty="0">
                <a:solidFill>
                  <a:srgbClr val="4B51A5"/>
                </a:solidFill>
                <a:latin typeface="+mn-ea"/>
              </a:rPr>
              <a:t>	</a:t>
            </a:r>
            <a:r>
              <a:rPr kumimoji="1" lang="en-US" altLang="zh-CN" sz="2800" b="1" dirty="0">
                <a:latin typeface="+mn-ea"/>
                <a:sym typeface="+mn-ea"/>
              </a:rPr>
              <a:t>output</a:t>
            </a:r>
            <a:r>
              <a:rPr kumimoji="1" lang="en-US" altLang="zh-CN" sz="2800" dirty="0">
                <a:latin typeface="+mn-ea"/>
                <a:sym typeface="+mn-ea"/>
              </a:rPr>
              <a:t> </a:t>
            </a:r>
            <a:r>
              <a:rPr kumimoji="1" lang="en-US" altLang="zh-CN" sz="2800" b="1" dirty="0">
                <a:latin typeface="+mn-ea"/>
                <a:cs typeface="Times New Roman" panose="02020603050405020304" pitchFamily="18" charset="0"/>
                <a:sym typeface="+mn-ea"/>
              </a:rPr>
              <a:t>[3:0] sum;</a:t>
            </a:r>
          </a:p>
        </p:txBody>
      </p:sp>
    </p:spTree>
    <p:extLst>
      <p:ext uri="{BB962C8B-B14F-4D97-AF65-F5344CB8AC3E}">
        <p14:creationId xmlns:p14="http://schemas.microsoft.com/office/powerpoint/2010/main" val="27036297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F6C232-AE40-16CF-0363-758AAD70FFBA}"/>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A01323B4-A859-DF6F-C2F1-CAE8506AD97E}"/>
              </a:ext>
            </a:extLst>
          </p:cNvPr>
          <p:cNvSpPr txBox="1"/>
          <p:nvPr/>
        </p:nvSpPr>
        <p:spPr>
          <a:xfrm>
            <a:off x="540005" y="1163448"/>
            <a:ext cx="4114800" cy="444352"/>
          </a:xfrm>
          <a:prstGeom prst="rect">
            <a:avLst/>
          </a:prstGeom>
        </p:spPr>
        <p:txBody>
          <a:bodyPr vert="horz" wrap="square" lIns="0" tIns="13335" rIns="0" bIns="0" rtlCol="0">
            <a:spAutoFit/>
          </a:bodyPr>
          <a:lstStyle/>
          <a:p>
            <a:pPr marL="12700">
              <a:lnSpc>
                <a:spcPct val="100000"/>
              </a:lnSpc>
              <a:spcBef>
                <a:spcPts val="105"/>
              </a:spcBef>
            </a:pPr>
            <a:r>
              <a:rPr sz="2800" b="1" spc="-30" dirty="0" err="1">
                <a:solidFill>
                  <a:srgbClr val="00AF4F"/>
                </a:solidFill>
                <a:latin typeface="宋体"/>
                <a:cs typeface="宋体"/>
              </a:rPr>
              <a:t>端口</a:t>
            </a:r>
            <a:r>
              <a:rPr lang="zh-CN" altLang="en-US" sz="2800" b="1" spc="-30" dirty="0">
                <a:solidFill>
                  <a:srgbClr val="00AF4F"/>
                </a:solidFill>
                <a:latin typeface="宋体"/>
                <a:cs typeface="宋体"/>
              </a:rPr>
              <a:t>声明</a:t>
            </a:r>
            <a:r>
              <a:rPr sz="2800" b="1" spc="-30" dirty="0" err="1">
                <a:solidFill>
                  <a:srgbClr val="00AF4F"/>
                </a:solidFill>
                <a:latin typeface="宋体"/>
                <a:cs typeface="宋体"/>
              </a:rPr>
              <a:t>语句的一般格式</a:t>
            </a:r>
            <a:endParaRPr sz="2800" dirty="0">
              <a:latin typeface="宋体"/>
              <a:cs typeface="宋体"/>
            </a:endParaRPr>
          </a:p>
        </p:txBody>
      </p:sp>
      <p:pic>
        <p:nvPicPr>
          <p:cNvPr id="5" name="object 5">
            <a:extLst>
              <a:ext uri="{FF2B5EF4-FFF2-40B4-BE49-F238E27FC236}">
                <a16:creationId xmlns:a16="http://schemas.microsoft.com/office/drawing/2014/main" id="{F6721A1A-A4EE-DA6C-B141-CC306ACA63AD}"/>
              </a:ext>
            </a:extLst>
          </p:cNvPr>
          <p:cNvPicPr/>
          <p:nvPr/>
        </p:nvPicPr>
        <p:blipFill>
          <a:blip r:embed="rId2" cstate="print"/>
          <a:stretch>
            <a:fillRect/>
          </a:stretch>
        </p:blipFill>
        <p:spPr>
          <a:xfrm>
            <a:off x="7327900" y="2486025"/>
            <a:ext cx="2977895" cy="1754885"/>
          </a:xfrm>
          <a:prstGeom prst="rect">
            <a:avLst/>
          </a:prstGeom>
        </p:spPr>
      </p:pic>
      <p:sp>
        <p:nvSpPr>
          <p:cNvPr id="6" name="object 6">
            <a:extLst>
              <a:ext uri="{FF2B5EF4-FFF2-40B4-BE49-F238E27FC236}">
                <a16:creationId xmlns:a16="http://schemas.microsoft.com/office/drawing/2014/main" id="{3940F727-E120-2D95-1839-2FF141609BA6}"/>
              </a:ext>
            </a:extLst>
          </p:cNvPr>
          <p:cNvSpPr txBox="1"/>
          <p:nvPr/>
        </p:nvSpPr>
        <p:spPr>
          <a:xfrm>
            <a:off x="8029327" y="6508039"/>
            <a:ext cx="2454910" cy="260985"/>
          </a:xfrm>
          <a:prstGeom prst="rect">
            <a:avLst/>
          </a:prstGeom>
        </p:spPr>
        <p:txBody>
          <a:bodyPr vert="horz" wrap="square" lIns="0" tIns="23495" rIns="0" bIns="0" rtlCol="0">
            <a:spAutoFit/>
          </a:bodyPr>
          <a:lstStyle/>
          <a:p>
            <a:pPr marL="12700">
              <a:lnSpc>
                <a:spcPct val="100000"/>
              </a:lnSpc>
              <a:spcBef>
                <a:spcPts val="185"/>
              </a:spcBef>
            </a:pPr>
            <a:r>
              <a:rPr sz="1400" b="1" dirty="0">
                <a:solidFill>
                  <a:srgbClr val="3F3F3F"/>
                </a:solidFill>
                <a:latin typeface="微软雅黑"/>
                <a:cs typeface="微软雅黑"/>
              </a:rPr>
              <a:t>Xilinx</a:t>
            </a:r>
            <a:r>
              <a:rPr sz="1400" b="1" spc="-5" dirty="0">
                <a:solidFill>
                  <a:srgbClr val="3F3F3F"/>
                </a:solidFill>
                <a:latin typeface="微软雅黑"/>
                <a:cs typeface="微软雅黑"/>
              </a:rPr>
              <a:t> 大学合作部 </a:t>
            </a:r>
            <a:r>
              <a:rPr sz="1400" b="1" dirty="0">
                <a:solidFill>
                  <a:srgbClr val="3F3F3F"/>
                </a:solidFill>
                <a:latin typeface="微软雅黑"/>
                <a:cs typeface="微软雅黑"/>
              </a:rPr>
              <a:t>&amp;</a:t>
            </a:r>
            <a:r>
              <a:rPr sz="1400" b="1" spc="-10" dirty="0">
                <a:solidFill>
                  <a:srgbClr val="3F3F3F"/>
                </a:solidFill>
                <a:latin typeface="微软雅黑"/>
                <a:cs typeface="微软雅黑"/>
              </a:rPr>
              <a:t> 东南大学</a:t>
            </a:r>
            <a:endParaRPr sz="1400">
              <a:latin typeface="微软雅黑"/>
              <a:cs typeface="微软雅黑"/>
            </a:endParaRPr>
          </a:p>
        </p:txBody>
      </p:sp>
      <p:sp>
        <p:nvSpPr>
          <p:cNvPr id="7" name="object 3">
            <a:extLst>
              <a:ext uri="{FF2B5EF4-FFF2-40B4-BE49-F238E27FC236}">
                <a16:creationId xmlns:a16="http://schemas.microsoft.com/office/drawing/2014/main" id="{4EEBFF79-DD06-AD38-E520-53516AD88D3D}"/>
              </a:ext>
            </a:extLst>
          </p:cNvPr>
          <p:cNvSpPr txBox="1">
            <a:spLocks/>
          </p:cNvSpPr>
          <p:nvPr/>
        </p:nvSpPr>
        <p:spPr>
          <a:xfrm>
            <a:off x="241300" y="200025"/>
            <a:ext cx="7288905" cy="524503"/>
          </a:xfrm>
          <a:prstGeom prst="rect">
            <a:avLst/>
          </a:prstGeom>
        </p:spPr>
        <p:txBody>
          <a:bodyPr vert="horz" wrap="square" lIns="0" tIns="16510" rIns="0" bIns="0" rtlCol="0">
            <a:spAutoFit/>
          </a:bodyPr>
          <a:lstStyle>
            <a:lvl1pPr>
              <a:defRPr sz="2800" b="0" i="0">
                <a:solidFill>
                  <a:srgbClr val="3F3F3F"/>
                </a:solidFill>
                <a:latin typeface="Calibri"/>
                <a:ea typeface="+mj-ea"/>
                <a:cs typeface="Calibri"/>
              </a:defRPr>
            </a:lvl1pPr>
          </a:lstStyle>
          <a:p>
            <a:pPr marL="12700">
              <a:spcBef>
                <a:spcPts val="130"/>
              </a:spcBef>
            </a:pPr>
            <a:r>
              <a:rPr lang="en-US" altLang="zh-CN" sz="3300" b="1" spc="-15" dirty="0">
                <a:solidFill>
                  <a:srgbClr val="000000"/>
                </a:solidFill>
                <a:latin typeface="宋体"/>
                <a:cs typeface="宋体"/>
              </a:rPr>
              <a:t>Verilog</a:t>
            </a:r>
            <a:r>
              <a:rPr lang="zh-CN" altLang="en-US" sz="3300" b="1" spc="-15" dirty="0">
                <a:solidFill>
                  <a:srgbClr val="000000"/>
                </a:solidFill>
                <a:latin typeface="宋体"/>
                <a:cs typeface="宋体"/>
              </a:rPr>
              <a:t>模块的端口信号名和端口模式</a:t>
            </a:r>
            <a:endParaRPr lang="zh-CN" altLang="en-US" sz="3300" dirty="0">
              <a:latin typeface="宋体"/>
              <a:cs typeface="宋体"/>
            </a:endParaRPr>
          </a:p>
        </p:txBody>
      </p:sp>
      <p:sp>
        <p:nvSpPr>
          <p:cNvPr id="2" name="Rectangle 3" descr="Rectangle: Click to edit Master text styles&#10;Second level&#10;Third level&#10;Fourth level&#10;Fifth level">
            <a:extLst>
              <a:ext uri="{FF2B5EF4-FFF2-40B4-BE49-F238E27FC236}">
                <a16:creationId xmlns:a16="http://schemas.microsoft.com/office/drawing/2014/main" id="{ED48F975-9435-73A4-7388-A4DFBEBBA369}"/>
              </a:ext>
            </a:extLst>
          </p:cNvPr>
          <p:cNvSpPr txBox="1">
            <a:spLocks/>
          </p:cNvSpPr>
          <p:nvPr/>
        </p:nvSpPr>
        <p:spPr bwMode="auto">
          <a:xfrm>
            <a:off x="927100" y="1838325"/>
            <a:ext cx="8686800" cy="388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00838" tIns="50419" rIns="100838" bIns="50419" numCol="1" anchor="t" anchorCtr="0" compatLnSpc="1">
            <a:prstTxWarp prst="textNoShape">
              <a:avLst/>
            </a:prstTxWarp>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9pPr>
          </a:lstStyle>
          <a:p>
            <a:pPr marL="0" indent="0" eaLnBrk="1" hangingPunct="1">
              <a:spcBef>
                <a:spcPts val="662"/>
              </a:spcBef>
              <a:spcAft>
                <a:spcPts val="662"/>
              </a:spcAft>
              <a:buNone/>
            </a:pPr>
            <a:r>
              <a:rPr kumimoji="1" lang="en-US" altLang="zh-CN" sz="2400" b="1" dirty="0">
                <a:solidFill>
                  <a:srgbClr val="C00000"/>
                </a:solidFill>
                <a:latin typeface="黑体" panose="02010609060101010101" pitchFamily="49" charset="-122"/>
                <a:ea typeface="黑体" panose="02010609060101010101" pitchFamily="49" charset="-122"/>
              </a:rPr>
              <a:t>input</a:t>
            </a:r>
            <a:r>
              <a:rPr kumimoji="1" lang="en-US" altLang="zh-CN" sz="2400" b="1" dirty="0">
                <a:solidFill>
                  <a:srgbClr val="4B51A5"/>
                </a:solidFill>
                <a:latin typeface="黑体" panose="02010609060101010101" pitchFamily="49" charset="-122"/>
                <a:ea typeface="黑体" panose="02010609060101010101" pitchFamily="49" charset="-122"/>
              </a:rPr>
              <a:t> </a:t>
            </a:r>
            <a:r>
              <a:rPr kumimoji="1" lang="zh-CN" altLang="en-US" sz="2400" b="1" dirty="0">
                <a:latin typeface="黑体" panose="02010609060101010101" pitchFamily="49" charset="-122"/>
                <a:ea typeface="黑体" panose="02010609060101010101" pitchFamily="49" charset="-122"/>
              </a:rPr>
              <a:t>端口名</a:t>
            </a:r>
            <a:r>
              <a:rPr kumimoji="1" lang="en-US" altLang="zh-CN" sz="2400" b="1" dirty="0">
                <a:latin typeface="黑体" panose="02010609060101010101" pitchFamily="49" charset="-122"/>
                <a:ea typeface="黑体" panose="02010609060101010101" pitchFamily="49" charset="-122"/>
              </a:rPr>
              <a:t>1</a:t>
            </a:r>
            <a:r>
              <a:rPr kumimoji="1" lang="zh-CN" altLang="en-US" sz="2400" b="1" dirty="0">
                <a:latin typeface="黑体" panose="02010609060101010101" pitchFamily="49" charset="-122"/>
                <a:ea typeface="黑体" panose="02010609060101010101" pitchFamily="49" charset="-122"/>
              </a:rPr>
              <a:t>，端口名</a:t>
            </a:r>
            <a:r>
              <a:rPr kumimoji="1" lang="en-US" altLang="zh-CN" sz="2400" b="1" dirty="0">
                <a:latin typeface="黑体" panose="02010609060101010101" pitchFamily="49" charset="-122"/>
                <a:ea typeface="黑体" panose="02010609060101010101" pitchFamily="49" charset="-122"/>
              </a:rPr>
              <a:t>2</a:t>
            </a:r>
            <a:r>
              <a:rPr kumimoji="1" lang="zh-CN" altLang="en-US" sz="2400" b="1" dirty="0">
                <a:latin typeface="黑体" panose="02010609060101010101" pitchFamily="49" charset="-122"/>
                <a:ea typeface="黑体" panose="02010609060101010101" pitchFamily="49" charset="-122"/>
              </a:rPr>
              <a:t>，</a:t>
            </a:r>
            <a:r>
              <a:rPr kumimoji="1" lang="en-US" altLang="zh-CN" sz="2400" b="1" dirty="0">
                <a:latin typeface="黑体" panose="02010609060101010101" pitchFamily="49" charset="-122"/>
                <a:ea typeface="黑体" panose="02010609060101010101" pitchFamily="49" charset="-122"/>
              </a:rPr>
              <a:t>...;</a:t>
            </a:r>
          </a:p>
          <a:p>
            <a:pPr marL="0" indent="0" eaLnBrk="1" hangingPunct="1">
              <a:spcBef>
                <a:spcPts val="662"/>
              </a:spcBef>
              <a:spcAft>
                <a:spcPts val="662"/>
              </a:spcAft>
              <a:buNone/>
            </a:pPr>
            <a:r>
              <a:rPr kumimoji="1" lang="en-US" altLang="zh-CN" sz="2400" b="1" dirty="0">
                <a:solidFill>
                  <a:srgbClr val="C00000"/>
                </a:solidFill>
                <a:latin typeface="黑体" panose="02010609060101010101" pitchFamily="49" charset="-122"/>
                <a:ea typeface="黑体" panose="02010609060101010101" pitchFamily="49" charset="-122"/>
              </a:rPr>
              <a:t>output</a:t>
            </a:r>
            <a:r>
              <a:rPr kumimoji="1" lang="en-US" altLang="zh-CN" sz="2400" b="1" dirty="0">
                <a:solidFill>
                  <a:srgbClr val="4B51A5"/>
                </a:solidFill>
                <a:latin typeface="黑体" panose="02010609060101010101" pitchFamily="49" charset="-122"/>
                <a:ea typeface="黑体" panose="02010609060101010101" pitchFamily="49" charset="-122"/>
              </a:rPr>
              <a:t> </a:t>
            </a:r>
            <a:r>
              <a:rPr kumimoji="1" lang="zh-CN" altLang="en-US" sz="2400" b="1" dirty="0">
                <a:latin typeface="黑体" panose="02010609060101010101" pitchFamily="49" charset="-122"/>
                <a:ea typeface="黑体" panose="02010609060101010101" pitchFamily="49" charset="-122"/>
              </a:rPr>
              <a:t>端口名</a:t>
            </a:r>
            <a:r>
              <a:rPr kumimoji="1" lang="en-US" altLang="zh-CN" sz="2400" b="1" dirty="0">
                <a:latin typeface="黑体" panose="02010609060101010101" pitchFamily="49" charset="-122"/>
                <a:ea typeface="黑体" panose="02010609060101010101" pitchFamily="49" charset="-122"/>
              </a:rPr>
              <a:t>1</a:t>
            </a:r>
            <a:r>
              <a:rPr kumimoji="1" lang="zh-CN" altLang="en-US" sz="2400" b="1" dirty="0">
                <a:latin typeface="黑体" panose="02010609060101010101" pitchFamily="49" charset="-122"/>
                <a:ea typeface="黑体" panose="02010609060101010101" pitchFamily="49" charset="-122"/>
              </a:rPr>
              <a:t>，端口名</a:t>
            </a:r>
            <a:r>
              <a:rPr kumimoji="1" lang="en-US" altLang="zh-CN" sz="2400" b="1" dirty="0">
                <a:latin typeface="黑体" panose="02010609060101010101" pitchFamily="49" charset="-122"/>
                <a:ea typeface="黑体" panose="02010609060101010101" pitchFamily="49" charset="-122"/>
              </a:rPr>
              <a:t>2</a:t>
            </a:r>
            <a:r>
              <a:rPr kumimoji="1" lang="zh-CN" altLang="en-US" sz="2400" b="1" dirty="0">
                <a:latin typeface="黑体" panose="02010609060101010101" pitchFamily="49" charset="-122"/>
                <a:ea typeface="黑体" panose="02010609060101010101" pitchFamily="49" charset="-122"/>
              </a:rPr>
              <a:t>，</a:t>
            </a:r>
            <a:r>
              <a:rPr kumimoji="1" lang="en-US" altLang="zh-CN" sz="2400" b="1" dirty="0">
                <a:latin typeface="黑体" panose="02010609060101010101" pitchFamily="49" charset="-122"/>
                <a:ea typeface="黑体" panose="02010609060101010101" pitchFamily="49" charset="-122"/>
              </a:rPr>
              <a:t>...;</a:t>
            </a:r>
          </a:p>
          <a:p>
            <a:pPr marL="0" indent="0" eaLnBrk="1" hangingPunct="1">
              <a:spcBef>
                <a:spcPts val="662"/>
              </a:spcBef>
              <a:spcAft>
                <a:spcPts val="662"/>
              </a:spcAft>
              <a:buNone/>
            </a:pPr>
            <a:r>
              <a:rPr kumimoji="1" lang="en-US" altLang="zh-CN" sz="2400" b="1" dirty="0">
                <a:solidFill>
                  <a:schemeClr val="accent2">
                    <a:lumMod val="60000"/>
                    <a:lumOff val="40000"/>
                  </a:schemeClr>
                </a:solidFill>
                <a:latin typeface="黑体" panose="02010609060101010101" pitchFamily="49" charset="-122"/>
                <a:ea typeface="黑体" panose="02010609060101010101" pitchFamily="49" charset="-122"/>
              </a:rPr>
              <a:t>inout</a:t>
            </a:r>
            <a:r>
              <a:rPr kumimoji="1" lang="en-US" altLang="zh-CN" sz="2400" b="1" dirty="0">
                <a:solidFill>
                  <a:schemeClr val="bg1">
                    <a:lumMod val="75000"/>
                  </a:schemeClr>
                </a:solidFill>
                <a:latin typeface="黑体" panose="02010609060101010101" pitchFamily="49" charset="-122"/>
                <a:ea typeface="黑体" panose="02010609060101010101" pitchFamily="49" charset="-122"/>
              </a:rPr>
              <a:t> </a:t>
            </a:r>
            <a:r>
              <a:rPr kumimoji="1" lang="zh-CN" altLang="en-US" sz="2400" b="1" dirty="0">
                <a:solidFill>
                  <a:schemeClr val="bg1">
                    <a:lumMod val="75000"/>
                  </a:schemeClr>
                </a:solidFill>
                <a:latin typeface="黑体" panose="02010609060101010101" pitchFamily="49" charset="-122"/>
                <a:ea typeface="黑体" panose="02010609060101010101" pitchFamily="49" charset="-122"/>
              </a:rPr>
              <a:t>端口名</a:t>
            </a:r>
            <a:r>
              <a:rPr kumimoji="1" lang="en-US" altLang="zh-CN" sz="2400" b="1" dirty="0">
                <a:solidFill>
                  <a:schemeClr val="bg1">
                    <a:lumMod val="75000"/>
                  </a:schemeClr>
                </a:solidFill>
                <a:latin typeface="黑体" panose="02010609060101010101" pitchFamily="49" charset="-122"/>
                <a:ea typeface="黑体" panose="02010609060101010101" pitchFamily="49" charset="-122"/>
              </a:rPr>
              <a:t>1</a:t>
            </a:r>
            <a:r>
              <a:rPr kumimoji="1" lang="zh-CN" altLang="en-US" sz="2400" b="1" dirty="0">
                <a:solidFill>
                  <a:schemeClr val="bg1">
                    <a:lumMod val="75000"/>
                  </a:schemeClr>
                </a:solidFill>
                <a:latin typeface="黑体" panose="02010609060101010101" pitchFamily="49" charset="-122"/>
                <a:ea typeface="黑体" panose="02010609060101010101" pitchFamily="49" charset="-122"/>
              </a:rPr>
              <a:t>，端口名</a:t>
            </a:r>
            <a:r>
              <a:rPr kumimoji="1" lang="en-US" altLang="zh-CN" sz="2400" b="1" dirty="0">
                <a:solidFill>
                  <a:schemeClr val="bg1">
                    <a:lumMod val="75000"/>
                  </a:schemeClr>
                </a:solidFill>
                <a:latin typeface="黑体" panose="02010609060101010101" pitchFamily="49" charset="-122"/>
                <a:ea typeface="黑体" panose="02010609060101010101" pitchFamily="49" charset="-122"/>
              </a:rPr>
              <a:t>2</a:t>
            </a:r>
            <a:r>
              <a:rPr kumimoji="1" lang="zh-CN" altLang="en-US" sz="2400" b="1" dirty="0">
                <a:solidFill>
                  <a:schemeClr val="bg1">
                    <a:lumMod val="75000"/>
                  </a:schemeClr>
                </a:solidFill>
                <a:latin typeface="黑体" panose="02010609060101010101" pitchFamily="49" charset="-122"/>
                <a:ea typeface="黑体" panose="02010609060101010101" pitchFamily="49" charset="-122"/>
              </a:rPr>
              <a:t>，</a:t>
            </a:r>
            <a:r>
              <a:rPr kumimoji="1" lang="en-US" altLang="zh-CN" sz="2400" b="1" dirty="0">
                <a:solidFill>
                  <a:schemeClr val="bg1">
                    <a:lumMod val="75000"/>
                  </a:schemeClr>
                </a:solidFill>
                <a:latin typeface="黑体" panose="02010609060101010101" pitchFamily="49" charset="-122"/>
                <a:ea typeface="黑体" panose="02010609060101010101" pitchFamily="49" charset="-122"/>
              </a:rPr>
              <a:t>...;</a:t>
            </a:r>
          </a:p>
          <a:p>
            <a:pPr marL="0" indent="0" eaLnBrk="1" hangingPunct="1">
              <a:spcBef>
                <a:spcPts val="662"/>
              </a:spcBef>
              <a:spcAft>
                <a:spcPts val="662"/>
              </a:spcAft>
              <a:buNone/>
            </a:pPr>
            <a:r>
              <a:rPr kumimoji="1" lang="en-US" altLang="zh-CN" sz="2400" b="1" dirty="0">
                <a:solidFill>
                  <a:srgbClr val="C00000"/>
                </a:solidFill>
                <a:latin typeface="黑体" panose="02010609060101010101" pitchFamily="49" charset="-122"/>
                <a:ea typeface="黑体" panose="02010609060101010101" pitchFamily="49" charset="-122"/>
              </a:rPr>
              <a:t>input [msb:lsb]</a:t>
            </a:r>
            <a:r>
              <a:rPr kumimoji="1" lang="en-US" altLang="zh-CN" sz="2400" b="1" dirty="0">
                <a:solidFill>
                  <a:srgbClr val="4B51A5"/>
                </a:solidFill>
                <a:latin typeface="黑体" panose="02010609060101010101" pitchFamily="49" charset="-122"/>
                <a:ea typeface="黑体" panose="02010609060101010101" pitchFamily="49" charset="-122"/>
              </a:rPr>
              <a:t> </a:t>
            </a:r>
            <a:r>
              <a:rPr kumimoji="1" lang="zh-CN" altLang="en-US" sz="2400" b="1" dirty="0">
                <a:latin typeface="黑体" panose="02010609060101010101" pitchFamily="49" charset="-122"/>
                <a:ea typeface="黑体" panose="02010609060101010101" pitchFamily="49" charset="-122"/>
              </a:rPr>
              <a:t>端口名</a:t>
            </a:r>
            <a:r>
              <a:rPr kumimoji="1" lang="en-US" altLang="zh-CN" sz="2400" b="1" dirty="0">
                <a:latin typeface="黑体" panose="02010609060101010101" pitchFamily="49" charset="-122"/>
                <a:ea typeface="黑体" panose="02010609060101010101" pitchFamily="49" charset="-122"/>
              </a:rPr>
              <a:t>1</a:t>
            </a:r>
            <a:r>
              <a:rPr kumimoji="1" lang="zh-CN" altLang="en-US" sz="2400" b="1" dirty="0">
                <a:latin typeface="黑体" panose="02010609060101010101" pitchFamily="49" charset="-122"/>
                <a:ea typeface="黑体" panose="02010609060101010101" pitchFamily="49" charset="-122"/>
              </a:rPr>
              <a:t>，端口名</a:t>
            </a:r>
            <a:r>
              <a:rPr kumimoji="1" lang="en-US" altLang="zh-CN" sz="2400" b="1" dirty="0">
                <a:latin typeface="黑体" panose="02010609060101010101" pitchFamily="49" charset="-122"/>
                <a:ea typeface="黑体" panose="02010609060101010101" pitchFamily="49" charset="-122"/>
              </a:rPr>
              <a:t>2</a:t>
            </a:r>
            <a:r>
              <a:rPr kumimoji="1" lang="zh-CN" altLang="en-US" sz="2400" b="1" dirty="0">
                <a:latin typeface="黑体" panose="02010609060101010101" pitchFamily="49" charset="-122"/>
                <a:ea typeface="黑体" panose="02010609060101010101" pitchFamily="49" charset="-122"/>
              </a:rPr>
              <a:t>，</a:t>
            </a:r>
            <a:r>
              <a:rPr kumimoji="1" lang="en-US" altLang="zh-CN" sz="2400" b="1" dirty="0">
                <a:latin typeface="黑体" panose="02010609060101010101" pitchFamily="49" charset="-122"/>
                <a:ea typeface="黑体" panose="02010609060101010101" pitchFamily="49" charset="-122"/>
              </a:rPr>
              <a:t>...;</a:t>
            </a:r>
          </a:p>
          <a:p>
            <a:pPr marL="0" indent="0" eaLnBrk="1" hangingPunct="1">
              <a:spcBef>
                <a:spcPts val="662"/>
              </a:spcBef>
              <a:spcAft>
                <a:spcPts val="662"/>
              </a:spcAft>
              <a:buNone/>
            </a:pPr>
            <a:r>
              <a:rPr kumimoji="1" lang="en-US" altLang="zh-CN" sz="2400" b="1" dirty="0">
                <a:solidFill>
                  <a:srgbClr val="C00000"/>
                </a:solidFill>
                <a:latin typeface="黑体" panose="02010609060101010101" pitchFamily="49" charset="-122"/>
                <a:ea typeface="黑体" panose="02010609060101010101" pitchFamily="49" charset="-122"/>
              </a:rPr>
              <a:t>reg</a:t>
            </a:r>
            <a:r>
              <a:rPr kumimoji="1" lang="en-US" altLang="zh-CN" sz="2400" b="1" dirty="0">
                <a:latin typeface="黑体" panose="02010609060101010101" pitchFamily="49" charset="-122"/>
                <a:ea typeface="黑体" panose="02010609060101010101" pitchFamily="49" charset="-122"/>
              </a:rPr>
              <a:t> </a:t>
            </a:r>
            <a:r>
              <a:rPr kumimoji="1" lang="zh-CN" altLang="en-US" sz="2400" b="1" dirty="0">
                <a:latin typeface="黑体" panose="02010609060101010101" pitchFamily="49" charset="-122"/>
                <a:ea typeface="黑体" panose="02010609060101010101" pitchFamily="49" charset="-122"/>
              </a:rPr>
              <a:t>端口名</a:t>
            </a:r>
            <a:r>
              <a:rPr kumimoji="1" lang="en-US" altLang="zh-CN" sz="2400" b="1" dirty="0">
                <a:latin typeface="黑体" panose="02010609060101010101" pitchFamily="49" charset="-122"/>
                <a:ea typeface="黑体" panose="02010609060101010101" pitchFamily="49" charset="-122"/>
              </a:rPr>
              <a:t>1</a:t>
            </a:r>
            <a:r>
              <a:rPr kumimoji="1" lang="zh-CN" altLang="en-US" sz="2400" b="1" dirty="0">
                <a:latin typeface="黑体" panose="02010609060101010101" pitchFamily="49" charset="-122"/>
                <a:ea typeface="黑体" panose="02010609060101010101" pitchFamily="49" charset="-122"/>
              </a:rPr>
              <a:t>，端口名</a:t>
            </a:r>
            <a:r>
              <a:rPr kumimoji="1" lang="en-US" altLang="zh-CN" sz="2400" b="1" dirty="0">
                <a:latin typeface="黑体" panose="02010609060101010101" pitchFamily="49" charset="-122"/>
                <a:ea typeface="黑体" panose="02010609060101010101" pitchFamily="49" charset="-122"/>
              </a:rPr>
              <a:t>2</a:t>
            </a:r>
            <a:r>
              <a:rPr kumimoji="1" lang="zh-CN" altLang="en-US" sz="2400" b="1" dirty="0">
                <a:latin typeface="黑体" panose="02010609060101010101" pitchFamily="49" charset="-122"/>
                <a:ea typeface="黑体" panose="02010609060101010101" pitchFamily="49" charset="-122"/>
              </a:rPr>
              <a:t>，</a:t>
            </a:r>
            <a:r>
              <a:rPr kumimoji="1" lang="en-US" altLang="zh-CN" sz="2400" b="1" dirty="0">
                <a:latin typeface="黑体" panose="02010609060101010101" pitchFamily="49" charset="-122"/>
                <a:ea typeface="黑体" panose="02010609060101010101" pitchFamily="49" charset="-122"/>
              </a:rPr>
              <a:t>...;</a:t>
            </a:r>
          </a:p>
          <a:p>
            <a:pPr marL="0" indent="0" eaLnBrk="1" hangingPunct="1">
              <a:spcBef>
                <a:spcPts val="662"/>
              </a:spcBef>
              <a:spcAft>
                <a:spcPts val="662"/>
              </a:spcAft>
              <a:buNone/>
            </a:pPr>
            <a:r>
              <a:rPr kumimoji="1" lang="en-US" altLang="zh-CN" sz="2400" b="1" dirty="0">
                <a:solidFill>
                  <a:srgbClr val="C00000"/>
                </a:solidFill>
                <a:latin typeface="黑体" panose="02010609060101010101" pitchFamily="49" charset="-122"/>
                <a:ea typeface="黑体" panose="02010609060101010101" pitchFamily="49" charset="-122"/>
              </a:rPr>
              <a:t>reg [msb:lsb]</a:t>
            </a:r>
            <a:r>
              <a:rPr kumimoji="1" lang="en-US" altLang="zh-CN" sz="2400" b="1" dirty="0">
                <a:latin typeface="黑体" panose="02010609060101010101" pitchFamily="49" charset="-122"/>
                <a:ea typeface="黑体" panose="02010609060101010101" pitchFamily="49" charset="-122"/>
              </a:rPr>
              <a:t> </a:t>
            </a:r>
            <a:r>
              <a:rPr kumimoji="1" lang="zh-CN" altLang="en-US" sz="2400" b="1" dirty="0">
                <a:latin typeface="黑体" panose="02010609060101010101" pitchFamily="49" charset="-122"/>
                <a:ea typeface="黑体" panose="02010609060101010101" pitchFamily="49" charset="-122"/>
              </a:rPr>
              <a:t>端口名</a:t>
            </a:r>
            <a:r>
              <a:rPr kumimoji="1" lang="en-US" altLang="zh-CN" sz="2400" b="1" dirty="0">
                <a:latin typeface="黑体" panose="02010609060101010101" pitchFamily="49" charset="-122"/>
                <a:ea typeface="黑体" panose="02010609060101010101" pitchFamily="49" charset="-122"/>
              </a:rPr>
              <a:t>1</a:t>
            </a:r>
            <a:r>
              <a:rPr kumimoji="1" lang="zh-CN" altLang="en-US" sz="2400" b="1" dirty="0">
                <a:latin typeface="黑体" panose="02010609060101010101" pitchFamily="49" charset="-122"/>
                <a:ea typeface="黑体" panose="02010609060101010101" pitchFamily="49" charset="-122"/>
              </a:rPr>
              <a:t>，端口名</a:t>
            </a:r>
            <a:r>
              <a:rPr kumimoji="1" lang="en-US" altLang="zh-CN" sz="2400" b="1" dirty="0">
                <a:latin typeface="黑体" panose="02010609060101010101" pitchFamily="49" charset="-122"/>
                <a:ea typeface="黑体" panose="02010609060101010101" pitchFamily="49" charset="-122"/>
              </a:rPr>
              <a:t>2</a:t>
            </a:r>
            <a:r>
              <a:rPr kumimoji="1" lang="zh-CN" altLang="en-US" sz="2400" b="1" dirty="0">
                <a:latin typeface="黑体" panose="02010609060101010101" pitchFamily="49" charset="-122"/>
                <a:ea typeface="黑体" panose="02010609060101010101" pitchFamily="49" charset="-122"/>
              </a:rPr>
              <a:t>，</a:t>
            </a:r>
            <a:r>
              <a:rPr kumimoji="1" lang="en-US" altLang="zh-CN" sz="2400" b="1" dirty="0">
                <a:latin typeface="黑体" panose="02010609060101010101" pitchFamily="49" charset="-122"/>
                <a:ea typeface="黑体" panose="02010609060101010101" pitchFamily="49" charset="-122"/>
              </a:rPr>
              <a:t>...;</a:t>
            </a:r>
          </a:p>
          <a:p>
            <a:pPr marL="0" indent="0" eaLnBrk="1" hangingPunct="1">
              <a:spcBef>
                <a:spcPts val="662"/>
              </a:spcBef>
              <a:spcAft>
                <a:spcPts val="662"/>
              </a:spcAft>
              <a:buNone/>
            </a:pPr>
            <a:endParaRPr kumimoji="1" lang="en-US" altLang="zh-CN" sz="2400" b="1" dirty="0">
              <a:latin typeface="黑体" panose="02010609060101010101" pitchFamily="49" charset="-122"/>
              <a:ea typeface="黑体" panose="02010609060101010101" pitchFamily="49" charset="-122"/>
            </a:endParaRPr>
          </a:p>
          <a:p>
            <a:pPr marL="0" indent="0" eaLnBrk="1" hangingPunct="1">
              <a:spcBef>
                <a:spcPts val="662"/>
              </a:spcBef>
              <a:spcAft>
                <a:spcPts val="662"/>
              </a:spcAft>
              <a:buNone/>
            </a:pPr>
            <a:r>
              <a:rPr kumimoji="1" lang="en-US" altLang="zh-CN" sz="2400" b="1" dirty="0">
                <a:solidFill>
                  <a:srgbClr val="C00000"/>
                </a:solidFill>
                <a:latin typeface="黑体" panose="02010609060101010101" pitchFamily="49" charset="-122"/>
                <a:ea typeface="黑体" panose="02010609060101010101" pitchFamily="49" charset="-122"/>
              </a:rPr>
              <a:t>output reg [msb:lsb] </a:t>
            </a:r>
            <a:r>
              <a:rPr kumimoji="1" lang="zh-CN" altLang="en-US" sz="2400" b="1" dirty="0">
                <a:latin typeface="黑体" panose="02010609060101010101" pitchFamily="49" charset="-122"/>
                <a:ea typeface="黑体" panose="02010609060101010101" pitchFamily="49" charset="-122"/>
              </a:rPr>
              <a:t>端口名</a:t>
            </a:r>
            <a:r>
              <a:rPr kumimoji="1" lang="en-US" altLang="zh-CN" sz="2400" b="1" dirty="0">
                <a:latin typeface="黑体" panose="02010609060101010101" pitchFamily="49" charset="-122"/>
                <a:ea typeface="黑体" panose="02010609060101010101" pitchFamily="49" charset="-122"/>
              </a:rPr>
              <a:t>1</a:t>
            </a:r>
            <a:r>
              <a:rPr kumimoji="1" lang="zh-CN" altLang="en-US" sz="2400" b="1" dirty="0">
                <a:latin typeface="黑体" panose="02010609060101010101" pitchFamily="49" charset="-122"/>
                <a:ea typeface="黑体" panose="02010609060101010101" pitchFamily="49" charset="-122"/>
              </a:rPr>
              <a:t>，端口名</a:t>
            </a:r>
            <a:r>
              <a:rPr kumimoji="1" lang="en-US" altLang="zh-CN" sz="2400" b="1" dirty="0">
                <a:latin typeface="黑体" panose="02010609060101010101" pitchFamily="49" charset="-122"/>
                <a:ea typeface="黑体" panose="02010609060101010101" pitchFamily="49" charset="-122"/>
              </a:rPr>
              <a:t>2</a:t>
            </a:r>
            <a:r>
              <a:rPr kumimoji="1" lang="zh-CN" altLang="en-US" sz="2400" b="1" dirty="0">
                <a:latin typeface="黑体" panose="02010609060101010101" pitchFamily="49" charset="-122"/>
                <a:ea typeface="黑体" panose="02010609060101010101" pitchFamily="49" charset="-122"/>
              </a:rPr>
              <a:t>，</a:t>
            </a:r>
            <a:r>
              <a:rPr kumimoji="1" lang="en-US" altLang="zh-CN" sz="2400" b="1" dirty="0">
                <a:latin typeface="黑体" panose="02010609060101010101" pitchFamily="49" charset="-122"/>
                <a:ea typeface="黑体" panose="02010609060101010101" pitchFamily="49" charset="-122"/>
              </a:rPr>
              <a:t>...;</a:t>
            </a:r>
          </a:p>
          <a:p>
            <a:pPr marL="0" indent="0" eaLnBrk="1" hangingPunct="1">
              <a:spcBef>
                <a:spcPts val="662"/>
              </a:spcBef>
              <a:spcAft>
                <a:spcPts val="662"/>
              </a:spcAft>
              <a:buNone/>
            </a:pPr>
            <a:endParaRPr kumimoji="1" lang="en-US" altLang="zh-CN" sz="3600" b="1" dirty="0">
              <a:solidFill>
                <a:srgbClr val="4B51A5"/>
              </a:solidFill>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17046687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9EC8A3-96D7-8AE7-C69D-008F2DFC4FA1}"/>
            </a:ext>
          </a:extLst>
        </p:cNvPr>
        <p:cNvGrpSpPr/>
        <p:nvPr/>
      </p:nvGrpSpPr>
      <p:grpSpPr>
        <a:xfrm>
          <a:off x="0" y="0"/>
          <a:ext cx="0" cy="0"/>
          <a:chOff x="0" y="0"/>
          <a:chExt cx="0" cy="0"/>
        </a:xfrm>
      </p:grpSpPr>
      <p:grpSp>
        <p:nvGrpSpPr>
          <p:cNvPr id="18" name="组合 17">
            <a:extLst>
              <a:ext uri="{FF2B5EF4-FFF2-40B4-BE49-F238E27FC236}">
                <a16:creationId xmlns:a16="http://schemas.microsoft.com/office/drawing/2014/main" id="{94340ACB-28DB-A2A3-4D92-45F4A772CE4D}"/>
              </a:ext>
            </a:extLst>
          </p:cNvPr>
          <p:cNvGrpSpPr/>
          <p:nvPr/>
        </p:nvGrpSpPr>
        <p:grpSpPr>
          <a:xfrm>
            <a:off x="5930702" y="2638425"/>
            <a:ext cx="4762698" cy="2590800"/>
            <a:chOff x="5746651" y="1495425"/>
            <a:chExt cx="4762698" cy="2590800"/>
          </a:xfrm>
        </p:grpSpPr>
        <p:pic>
          <p:nvPicPr>
            <p:cNvPr id="5" name="object 5">
              <a:extLst>
                <a:ext uri="{FF2B5EF4-FFF2-40B4-BE49-F238E27FC236}">
                  <a16:creationId xmlns:a16="http://schemas.microsoft.com/office/drawing/2014/main" id="{AD0FDFA6-F5A5-3441-C74B-7642171EC5E7}"/>
                </a:ext>
              </a:extLst>
            </p:cNvPr>
            <p:cNvPicPr/>
            <p:nvPr/>
          </p:nvPicPr>
          <p:blipFill>
            <a:blip r:embed="rId2" cstate="print"/>
            <a:stretch>
              <a:fillRect/>
            </a:stretch>
          </p:blipFill>
          <p:spPr>
            <a:xfrm>
              <a:off x="5746651" y="1495425"/>
              <a:ext cx="4396374" cy="2590800"/>
            </a:xfrm>
            <a:prstGeom prst="rect">
              <a:avLst/>
            </a:prstGeom>
          </p:spPr>
        </p:pic>
        <p:sp>
          <p:nvSpPr>
            <p:cNvPr id="3" name="文本框 2">
              <a:extLst>
                <a:ext uri="{FF2B5EF4-FFF2-40B4-BE49-F238E27FC236}">
                  <a16:creationId xmlns:a16="http://schemas.microsoft.com/office/drawing/2014/main" id="{05250CF3-C8C4-EEAB-1385-A638EF6A82F9}"/>
                </a:ext>
              </a:extLst>
            </p:cNvPr>
            <p:cNvSpPr txBox="1"/>
            <p:nvPr/>
          </p:nvSpPr>
          <p:spPr>
            <a:xfrm>
              <a:off x="6925689" y="2812367"/>
              <a:ext cx="762000" cy="369332"/>
            </a:xfrm>
            <a:prstGeom prst="rect">
              <a:avLst/>
            </a:prstGeom>
            <a:noFill/>
          </p:spPr>
          <p:txBody>
            <a:bodyPr wrap="square" rtlCol="0">
              <a:spAutoFit/>
            </a:bodyPr>
            <a:lstStyle/>
            <a:p>
              <a:r>
                <a:rPr lang="en-US" altLang="zh-CN" b="1" dirty="0">
                  <a:solidFill>
                    <a:srgbClr val="C00000"/>
                  </a:solidFill>
                </a:rPr>
                <a:t>wire</a:t>
              </a:r>
              <a:endParaRPr lang="zh-CN" altLang="en-US" b="1" dirty="0">
                <a:solidFill>
                  <a:srgbClr val="C00000"/>
                </a:solidFill>
              </a:endParaRPr>
            </a:p>
          </p:txBody>
        </p:sp>
        <p:sp>
          <p:nvSpPr>
            <p:cNvPr id="9" name="文本框 8">
              <a:extLst>
                <a:ext uri="{FF2B5EF4-FFF2-40B4-BE49-F238E27FC236}">
                  <a16:creationId xmlns:a16="http://schemas.microsoft.com/office/drawing/2014/main" id="{C524D429-A445-2FFD-FB30-D997EF23A4E8}"/>
                </a:ext>
              </a:extLst>
            </p:cNvPr>
            <p:cNvSpPr txBox="1"/>
            <p:nvPr/>
          </p:nvSpPr>
          <p:spPr>
            <a:xfrm>
              <a:off x="6082834" y="2201423"/>
              <a:ext cx="982211" cy="646331"/>
            </a:xfrm>
            <a:prstGeom prst="rect">
              <a:avLst/>
            </a:prstGeom>
            <a:noFill/>
          </p:spPr>
          <p:txBody>
            <a:bodyPr wrap="square" rtlCol="0">
              <a:spAutoFit/>
            </a:bodyPr>
            <a:lstStyle/>
            <a:p>
              <a:pPr algn="ctr"/>
              <a:r>
                <a:rPr lang="en-US" altLang="zh-CN" b="1" dirty="0">
                  <a:solidFill>
                    <a:srgbClr val="C00000"/>
                  </a:solidFill>
                </a:rPr>
                <a:t>wire/</a:t>
              </a:r>
            </a:p>
            <a:p>
              <a:pPr algn="ctr"/>
              <a:r>
                <a:rPr lang="en-US" altLang="zh-CN" b="1" dirty="0">
                  <a:solidFill>
                    <a:srgbClr val="C00000"/>
                  </a:solidFill>
                </a:rPr>
                <a:t>reg</a:t>
              </a:r>
              <a:endParaRPr lang="zh-CN" altLang="en-US" b="1" dirty="0">
                <a:solidFill>
                  <a:srgbClr val="C00000"/>
                </a:solidFill>
              </a:endParaRPr>
            </a:p>
          </p:txBody>
        </p:sp>
        <p:sp>
          <p:nvSpPr>
            <p:cNvPr id="11" name="文本框 10">
              <a:extLst>
                <a:ext uri="{FF2B5EF4-FFF2-40B4-BE49-F238E27FC236}">
                  <a16:creationId xmlns:a16="http://schemas.microsoft.com/office/drawing/2014/main" id="{1DDD38BF-7C44-916D-5FBA-BF3A6BBCFB6C}"/>
                </a:ext>
              </a:extLst>
            </p:cNvPr>
            <p:cNvSpPr txBox="1"/>
            <p:nvPr/>
          </p:nvSpPr>
          <p:spPr>
            <a:xfrm>
              <a:off x="8065082" y="2565747"/>
              <a:ext cx="982211" cy="646331"/>
            </a:xfrm>
            <a:prstGeom prst="rect">
              <a:avLst/>
            </a:prstGeom>
            <a:noFill/>
          </p:spPr>
          <p:txBody>
            <a:bodyPr wrap="square" rtlCol="0">
              <a:spAutoFit/>
            </a:bodyPr>
            <a:lstStyle/>
            <a:p>
              <a:pPr algn="ctr"/>
              <a:r>
                <a:rPr lang="en-US" altLang="zh-CN" b="1" dirty="0">
                  <a:solidFill>
                    <a:srgbClr val="C00000"/>
                  </a:solidFill>
                </a:rPr>
                <a:t>wire/</a:t>
              </a:r>
            </a:p>
            <a:p>
              <a:pPr algn="ctr"/>
              <a:r>
                <a:rPr lang="en-US" altLang="zh-CN" b="1" dirty="0">
                  <a:solidFill>
                    <a:srgbClr val="C00000"/>
                  </a:solidFill>
                </a:rPr>
                <a:t>reg</a:t>
              </a:r>
              <a:endParaRPr lang="zh-CN" altLang="en-US" b="1" dirty="0">
                <a:solidFill>
                  <a:srgbClr val="C00000"/>
                </a:solidFill>
              </a:endParaRPr>
            </a:p>
          </p:txBody>
        </p:sp>
        <p:sp>
          <p:nvSpPr>
            <p:cNvPr id="13" name="文本框 12">
              <a:extLst>
                <a:ext uri="{FF2B5EF4-FFF2-40B4-BE49-F238E27FC236}">
                  <a16:creationId xmlns:a16="http://schemas.microsoft.com/office/drawing/2014/main" id="{A6E8A9C6-1FAB-E6C3-16A6-0CE913F3EFE5}"/>
                </a:ext>
              </a:extLst>
            </p:cNvPr>
            <p:cNvSpPr txBox="1"/>
            <p:nvPr/>
          </p:nvSpPr>
          <p:spPr>
            <a:xfrm>
              <a:off x="9747349" y="2404715"/>
              <a:ext cx="762000" cy="369332"/>
            </a:xfrm>
            <a:prstGeom prst="rect">
              <a:avLst/>
            </a:prstGeom>
            <a:noFill/>
          </p:spPr>
          <p:txBody>
            <a:bodyPr wrap="square" rtlCol="0">
              <a:spAutoFit/>
            </a:bodyPr>
            <a:lstStyle/>
            <a:p>
              <a:r>
                <a:rPr lang="en-US" altLang="zh-CN" b="1" dirty="0">
                  <a:solidFill>
                    <a:srgbClr val="C00000"/>
                  </a:solidFill>
                </a:rPr>
                <a:t>wire</a:t>
              </a:r>
              <a:endParaRPr lang="zh-CN" altLang="en-US" b="1" dirty="0">
                <a:solidFill>
                  <a:srgbClr val="C00000"/>
                </a:solidFill>
              </a:endParaRPr>
            </a:p>
          </p:txBody>
        </p:sp>
        <p:sp>
          <p:nvSpPr>
            <p:cNvPr id="15" name="文本框 14">
              <a:extLst>
                <a:ext uri="{FF2B5EF4-FFF2-40B4-BE49-F238E27FC236}">
                  <a16:creationId xmlns:a16="http://schemas.microsoft.com/office/drawing/2014/main" id="{4671EFEE-13A5-505C-2F55-615AFDC678E7}"/>
                </a:ext>
              </a:extLst>
            </p:cNvPr>
            <p:cNvSpPr txBox="1"/>
            <p:nvPr/>
          </p:nvSpPr>
          <p:spPr>
            <a:xfrm>
              <a:off x="8283291" y="3670970"/>
              <a:ext cx="762000" cy="369332"/>
            </a:xfrm>
            <a:prstGeom prst="rect">
              <a:avLst/>
            </a:prstGeom>
            <a:noFill/>
          </p:spPr>
          <p:txBody>
            <a:bodyPr wrap="square" rtlCol="0">
              <a:spAutoFit/>
            </a:bodyPr>
            <a:lstStyle/>
            <a:p>
              <a:r>
                <a:rPr lang="en-US" altLang="zh-CN" b="1" dirty="0">
                  <a:solidFill>
                    <a:srgbClr val="C00000"/>
                  </a:solidFill>
                </a:rPr>
                <a:t>wire</a:t>
              </a:r>
              <a:endParaRPr lang="zh-CN" altLang="en-US" b="1" dirty="0">
                <a:solidFill>
                  <a:srgbClr val="C00000"/>
                </a:solidFill>
              </a:endParaRPr>
            </a:p>
          </p:txBody>
        </p:sp>
        <p:sp>
          <p:nvSpPr>
            <p:cNvPr id="17" name="文本框 16">
              <a:extLst>
                <a:ext uri="{FF2B5EF4-FFF2-40B4-BE49-F238E27FC236}">
                  <a16:creationId xmlns:a16="http://schemas.microsoft.com/office/drawing/2014/main" id="{F0A8BAEF-4535-E214-6E6A-74684FEB8809}"/>
                </a:ext>
              </a:extLst>
            </p:cNvPr>
            <p:cNvSpPr txBox="1"/>
            <p:nvPr/>
          </p:nvSpPr>
          <p:spPr>
            <a:xfrm>
              <a:off x="9732585" y="3451458"/>
              <a:ext cx="762000" cy="369332"/>
            </a:xfrm>
            <a:prstGeom prst="rect">
              <a:avLst/>
            </a:prstGeom>
            <a:noFill/>
          </p:spPr>
          <p:txBody>
            <a:bodyPr wrap="square" rtlCol="0">
              <a:spAutoFit/>
            </a:bodyPr>
            <a:lstStyle/>
            <a:p>
              <a:r>
                <a:rPr lang="en-US" altLang="zh-CN" b="1" dirty="0">
                  <a:solidFill>
                    <a:srgbClr val="C00000"/>
                  </a:solidFill>
                </a:rPr>
                <a:t>wire</a:t>
              </a:r>
              <a:endParaRPr lang="zh-CN" altLang="en-US" b="1" dirty="0">
                <a:solidFill>
                  <a:srgbClr val="C00000"/>
                </a:solidFill>
              </a:endParaRPr>
            </a:p>
          </p:txBody>
        </p:sp>
      </p:grpSp>
      <p:sp>
        <p:nvSpPr>
          <p:cNvPr id="4" name="object 4">
            <a:extLst>
              <a:ext uri="{FF2B5EF4-FFF2-40B4-BE49-F238E27FC236}">
                <a16:creationId xmlns:a16="http://schemas.microsoft.com/office/drawing/2014/main" id="{1C67BC1F-C5AB-F973-61AA-179411758232}"/>
              </a:ext>
            </a:extLst>
          </p:cNvPr>
          <p:cNvSpPr txBox="1"/>
          <p:nvPr/>
        </p:nvSpPr>
        <p:spPr>
          <a:xfrm>
            <a:off x="540005" y="1163448"/>
            <a:ext cx="4114800" cy="444352"/>
          </a:xfrm>
          <a:prstGeom prst="rect">
            <a:avLst/>
          </a:prstGeom>
        </p:spPr>
        <p:txBody>
          <a:bodyPr vert="horz" wrap="square" lIns="0" tIns="13335" rIns="0" bIns="0" rtlCol="0">
            <a:spAutoFit/>
          </a:bodyPr>
          <a:lstStyle/>
          <a:p>
            <a:pPr marL="12700">
              <a:lnSpc>
                <a:spcPct val="100000"/>
              </a:lnSpc>
              <a:spcBef>
                <a:spcPts val="105"/>
              </a:spcBef>
            </a:pPr>
            <a:r>
              <a:rPr sz="2800" b="1" spc="-30" dirty="0" err="1">
                <a:solidFill>
                  <a:srgbClr val="00AF4F"/>
                </a:solidFill>
                <a:latin typeface="宋体"/>
                <a:cs typeface="宋体"/>
              </a:rPr>
              <a:t>端口</a:t>
            </a:r>
            <a:r>
              <a:rPr lang="zh-CN" altLang="en-US" sz="2800" b="1" spc="-30" dirty="0">
                <a:solidFill>
                  <a:srgbClr val="00AF4F"/>
                </a:solidFill>
                <a:latin typeface="宋体"/>
                <a:cs typeface="宋体"/>
              </a:rPr>
              <a:t>声明</a:t>
            </a:r>
            <a:endParaRPr sz="2800" dirty="0">
              <a:latin typeface="宋体"/>
              <a:cs typeface="宋体"/>
            </a:endParaRPr>
          </a:p>
        </p:txBody>
      </p:sp>
      <p:sp>
        <p:nvSpPr>
          <p:cNvPr id="6" name="object 6">
            <a:extLst>
              <a:ext uri="{FF2B5EF4-FFF2-40B4-BE49-F238E27FC236}">
                <a16:creationId xmlns:a16="http://schemas.microsoft.com/office/drawing/2014/main" id="{8A867AD2-F152-6BF4-7AA9-A8BF50E7D1DA}"/>
              </a:ext>
            </a:extLst>
          </p:cNvPr>
          <p:cNvSpPr txBox="1"/>
          <p:nvPr/>
        </p:nvSpPr>
        <p:spPr>
          <a:xfrm>
            <a:off x="8029327" y="6508039"/>
            <a:ext cx="2454910" cy="260985"/>
          </a:xfrm>
          <a:prstGeom prst="rect">
            <a:avLst/>
          </a:prstGeom>
        </p:spPr>
        <p:txBody>
          <a:bodyPr vert="horz" wrap="square" lIns="0" tIns="23495" rIns="0" bIns="0" rtlCol="0">
            <a:spAutoFit/>
          </a:bodyPr>
          <a:lstStyle/>
          <a:p>
            <a:pPr marL="12700">
              <a:lnSpc>
                <a:spcPct val="100000"/>
              </a:lnSpc>
              <a:spcBef>
                <a:spcPts val="185"/>
              </a:spcBef>
            </a:pPr>
            <a:r>
              <a:rPr sz="1400" b="1" dirty="0">
                <a:solidFill>
                  <a:srgbClr val="3F3F3F"/>
                </a:solidFill>
                <a:latin typeface="微软雅黑"/>
                <a:cs typeface="微软雅黑"/>
              </a:rPr>
              <a:t>Xilinx</a:t>
            </a:r>
            <a:r>
              <a:rPr sz="1400" b="1" spc="-5" dirty="0">
                <a:solidFill>
                  <a:srgbClr val="3F3F3F"/>
                </a:solidFill>
                <a:latin typeface="微软雅黑"/>
                <a:cs typeface="微软雅黑"/>
              </a:rPr>
              <a:t> 大学合作部 </a:t>
            </a:r>
            <a:r>
              <a:rPr sz="1400" b="1" dirty="0">
                <a:solidFill>
                  <a:srgbClr val="3F3F3F"/>
                </a:solidFill>
                <a:latin typeface="微软雅黑"/>
                <a:cs typeface="微软雅黑"/>
              </a:rPr>
              <a:t>&amp;</a:t>
            </a:r>
            <a:r>
              <a:rPr sz="1400" b="1" spc="-10" dirty="0">
                <a:solidFill>
                  <a:srgbClr val="3F3F3F"/>
                </a:solidFill>
                <a:latin typeface="微软雅黑"/>
                <a:cs typeface="微软雅黑"/>
              </a:rPr>
              <a:t> 东南大学</a:t>
            </a:r>
            <a:endParaRPr sz="1400">
              <a:latin typeface="微软雅黑"/>
              <a:cs typeface="微软雅黑"/>
            </a:endParaRPr>
          </a:p>
        </p:txBody>
      </p:sp>
      <p:sp>
        <p:nvSpPr>
          <p:cNvPr id="7" name="object 3">
            <a:extLst>
              <a:ext uri="{FF2B5EF4-FFF2-40B4-BE49-F238E27FC236}">
                <a16:creationId xmlns:a16="http://schemas.microsoft.com/office/drawing/2014/main" id="{2244EFA0-B08B-1C61-40DA-B1D3EF5EE905}"/>
              </a:ext>
            </a:extLst>
          </p:cNvPr>
          <p:cNvSpPr txBox="1">
            <a:spLocks/>
          </p:cNvSpPr>
          <p:nvPr/>
        </p:nvSpPr>
        <p:spPr>
          <a:xfrm>
            <a:off x="241300" y="200025"/>
            <a:ext cx="9220200" cy="524503"/>
          </a:xfrm>
          <a:prstGeom prst="rect">
            <a:avLst/>
          </a:prstGeom>
        </p:spPr>
        <p:txBody>
          <a:bodyPr vert="horz" wrap="square" lIns="0" tIns="16510" rIns="0" bIns="0" rtlCol="0">
            <a:spAutoFit/>
          </a:bodyPr>
          <a:lstStyle>
            <a:lvl1pPr>
              <a:defRPr sz="2800" b="0" i="0">
                <a:solidFill>
                  <a:srgbClr val="3F3F3F"/>
                </a:solidFill>
                <a:latin typeface="Calibri"/>
                <a:ea typeface="+mj-ea"/>
                <a:cs typeface="Calibri"/>
              </a:defRPr>
            </a:lvl1pPr>
          </a:lstStyle>
          <a:p>
            <a:pPr marL="12700">
              <a:spcBef>
                <a:spcPts val="130"/>
              </a:spcBef>
            </a:pPr>
            <a:r>
              <a:rPr lang="en-US" altLang="zh-CN" sz="3300" b="1" spc="-15" dirty="0">
                <a:solidFill>
                  <a:srgbClr val="000000"/>
                </a:solidFill>
                <a:latin typeface="宋体"/>
                <a:cs typeface="宋体"/>
              </a:rPr>
              <a:t>Verilog</a:t>
            </a:r>
            <a:r>
              <a:rPr lang="zh-CN" altLang="en-US" sz="3300" b="1" spc="-15" dirty="0">
                <a:solidFill>
                  <a:srgbClr val="000000"/>
                </a:solidFill>
                <a:latin typeface="宋体"/>
                <a:cs typeface="宋体"/>
              </a:rPr>
              <a:t>模块的端口声明与连接规则注意事项</a:t>
            </a:r>
            <a:endParaRPr lang="zh-CN" altLang="en-US" sz="3300" dirty="0">
              <a:latin typeface="宋体"/>
              <a:cs typeface="宋体"/>
            </a:endParaRPr>
          </a:p>
        </p:txBody>
      </p:sp>
      <p:sp>
        <p:nvSpPr>
          <p:cNvPr id="2" name="Rectangle 3" descr="Rectangle: Click to edit Master text styles&#10;Second level&#10;Third level&#10;Fourth level&#10;Fifth level">
            <a:extLst>
              <a:ext uri="{FF2B5EF4-FFF2-40B4-BE49-F238E27FC236}">
                <a16:creationId xmlns:a16="http://schemas.microsoft.com/office/drawing/2014/main" id="{9F868391-5F41-A4B1-E81A-C1510EEA9529}"/>
              </a:ext>
            </a:extLst>
          </p:cNvPr>
          <p:cNvSpPr txBox="1">
            <a:spLocks/>
          </p:cNvSpPr>
          <p:nvPr/>
        </p:nvSpPr>
        <p:spPr bwMode="auto">
          <a:xfrm>
            <a:off x="359307" y="1727871"/>
            <a:ext cx="8686800" cy="2262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00838" tIns="50419" rIns="100838" bIns="50419" numCol="1" anchor="t" anchorCtr="0" compatLnSpc="1">
            <a:prstTxWarp prst="textNoShape">
              <a:avLst/>
            </a:prstTxWarp>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9pPr>
          </a:lstStyle>
          <a:p>
            <a:pPr eaLnBrk="1" hangingPunct="1">
              <a:spcBef>
                <a:spcPts val="662"/>
              </a:spcBef>
              <a:spcAft>
                <a:spcPts val="662"/>
              </a:spcAft>
              <a:buClr>
                <a:schemeClr val="accent1"/>
              </a:buClr>
            </a:pPr>
            <a:r>
              <a:rPr kumimoji="1" lang="zh-CN" altLang="en-US" sz="2400" b="1" dirty="0">
                <a:latin typeface="黑体" panose="02010609060101010101" pitchFamily="49" charset="-122"/>
                <a:ea typeface="黑体" panose="02010609060101010101" pitchFamily="49" charset="-122"/>
              </a:rPr>
              <a:t>声明为</a:t>
            </a:r>
            <a:r>
              <a:rPr kumimoji="1" lang="en-US" altLang="zh-CN" sz="2400" b="1" dirty="0">
                <a:solidFill>
                  <a:srgbClr val="C00000"/>
                </a:solidFill>
                <a:latin typeface="黑体" panose="02010609060101010101" pitchFamily="49" charset="-122"/>
                <a:ea typeface="黑体" panose="02010609060101010101" pitchFamily="49" charset="-122"/>
              </a:rPr>
              <a:t>input</a:t>
            </a:r>
            <a:r>
              <a:rPr kumimoji="1" lang="zh-CN" altLang="en-US" sz="2400" b="1" dirty="0">
                <a:latin typeface="黑体" panose="02010609060101010101" pitchFamily="49" charset="-122"/>
                <a:ea typeface="黑体" panose="02010609060101010101" pitchFamily="49" charset="-122"/>
              </a:rPr>
              <a:t>的端口只能是线网类型的</a:t>
            </a:r>
            <a:r>
              <a:rPr kumimoji="1" lang="en-US" altLang="zh-CN" sz="2400" b="1" dirty="0">
                <a:latin typeface="黑体" panose="02010609060101010101" pitchFamily="49" charset="-122"/>
                <a:ea typeface="黑体" panose="02010609060101010101" pitchFamily="49" charset="-122"/>
              </a:rPr>
              <a:t>(wire)</a:t>
            </a:r>
          </a:p>
          <a:p>
            <a:pPr eaLnBrk="1" hangingPunct="1">
              <a:spcBef>
                <a:spcPts val="662"/>
              </a:spcBef>
              <a:spcAft>
                <a:spcPts val="662"/>
              </a:spcAft>
              <a:buClr>
                <a:schemeClr val="accent1"/>
              </a:buClr>
            </a:pPr>
            <a:r>
              <a:rPr kumimoji="1" lang="zh-CN" altLang="en-US" sz="2400" b="1" dirty="0">
                <a:latin typeface="黑体" panose="02010609060101010101" pitchFamily="49" charset="-122"/>
                <a:ea typeface="黑体" panose="02010609060101010101" pitchFamily="49" charset="-122"/>
              </a:rPr>
              <a:t>声明为</a:t>
            </a:r>
            <a:r>
              <a:rPr kumimoji="1" lang="en-US" altLang="zh-CN" sz="2400" b="1" dirty="0">
                <a:solidFill>
                  <a:srgbClr val="C00000"/>
                </a:solidFill>
                <a:latin typeface="黑体" panose="02010609060101010101" pitchFamily="49" charset="-122"/>
                <a:ea typeface="黑体" panose="02010609060101010101" pitchFamily="49" charset="-122"/>
              </a:rPr>
              <a:t>output</a:t>
            </a:r>
            <a:r>
              <a:rPr kumimoji="1" lang="zh-CN" altLang="en-US" sz="2400" b="1" dirty="0">
                <a:latin typeface="黑体" panose="02010609060101010101" pitchFamily="49" charset="-122"/>
                <a:ea typeface="黑体" panose="02010609060101010101" pitchFamily="49" charset="-122"/>
              </a:rPr>
              <a:t>的端口可以是线网</a:t>
            </a:r>
            <a:r>
              <a:rPr kumimoji="1" lang="en-US" altLang="zh-CN" sz="2400" b="1" dirty="0">
                <a:latin typeface="黑体" panose="02010609060101010101" pitchFamily="49" charset="-122"/>
                <a:ea typeface="黑体" panose="02010609060101010101" pitchFamily="49" charset="-122"/>
              </a:rPr>
              <a:t>/</a:t>
            </a:r>
            <a:r>
              <a:rPr kumimoji="1" lang="zh-CN" altLang="en-US" sz="2400" b="1" dirty="0">
                <a:latin typeface="黑体" panose="02010609060101010101" pitchFamily="49" charset="-122"/>
                <a:ea typeface="黑体" panose="02010609060101010101" pitchFamily="49" charset="-122"/>
              </a:rPr>
              <a:t>寄存器类型</a:t>
            </a:r>
            <a:endParaRPr kumimoji="1" lang="en-US" altLang="zh-CN" sz="2400" b="1" dirty="0">
              <a:latin typeface="黑体" panose="02010609060101010101" pitchFamily="49" charset="-122"/>
              <a:ea typeface="黑体" panose="02010609060101010101" pitchFamily="49" charset="-122"/>
            </a:endParaRPr>
          </a:p>
          <a:p>
            <a:pPr marL="0" indent="342000" eaLnBrk="1" hangingPunct="1">
              <a:spcBef>
                <a:spcPts val="662"/>
              </a:spcBef>
              <a:spcAft>
                <a:spcPts val="662"/>
              </a:spcAft>
              <a:buClr>
                <a:schemeClr val="accent1"/>
              </a:buClr>
              <a:buNone/>
            </a:pPr>
            <a:r>
              <a:rPr kumimoji="1" lang="en-US" altLang="zh-CN" sz="2400" b="1" dirty="0">
                <a:latin typeface="黑体" panose="02010609060101010101" pitchFamily="49" charset="-122"/>
                <a:ea typeface="黑体" panose="02010609060101010101" pitchFamily="49" charset="-122"/>
              </a:rPr>
              <a:t>(wire/reg)</a:t>
            </a:r>
          </a:p>
          <a:p>
            <a:pPr eaLnBrk="1" hangingPunct="1">
              <a:spcBef>
                <a:spcPts val="662"/>
              </a:spcBef>
              <a:spcAft>
                <a:spcPts val="662"/>
              </a:spcAft>
              <a:buClr>
                <a:schemeClr val="accent1"/>
              </a:buClr>
            </a:pPr>
            <a:r>
              <a:rPr kumimoji="1" lang="en-US" altLang="zh-CN" sz="2400" b="1" dirty="0">
                <a:solidFill>
                  <a:schemeClr val="accent2">
                    <a:lumMod val="60000"/>
                    <a:lumOff val="40000"/>
                  </a:schemeClr>
                </a:solidFill>
                <a:latin typeface="黑体" panose="02010609060101010101" pitchFamily="49" charset="-122"/>
                <a:ea typeface="黑体" panose="02010609060101010101" pitchFamily="49" charset="-122"/>
              </a:rPr>
              <a:t>inout</a:t>
            </a:r>
            <a:r>
              <a:rPr kumimoji="1" lang="zh-CN" altLang="en-US" sz="2400" b="1" dirty="0">
                <a:solidFill>
                  <a:schemeClr val="bg1">
                    <a:lumMod val="75000"/>
                  </a:schemeClr>
                </a:solidFill>
                <a:latin typeface="黑体" panose="02010609060101010101" pitchFamily="49" charset="-122"/>
                <a:ea typeface="黑体" panose="02010609060101010101" pitchFamily="49" charset="-122"/>
              </a:rPr>
              <a:t>端口只能是线网类型的</a:t>
            </a:r>
            <a:r>
              <a:rPr kumimoji="1" lang="en-US" altLang="zh-CN" sz="2400" b="1" dirty="0">
                <a:solidFill>
                  <a:schemeClr val="bg1">
                    <a:lumMod val="75000"/>
                  </a:schemeClr>
                </a:solidFill>
                <a:latin typeface="黑体" panose="02010609060101010101" pitchFamily="49" charset="-122"/>
                <a:ea typeface="黑体" panose="02010609060101010101" pitchFamily="49" charset="-122"/>
              </a:rPr>
              <a:t>(wire)</a:t>
            </a:r>
          </a:p>
          <a:p>
            <a:pPr marL="0" indent="0" eaLnBrk="1" hangingPunct="1">
              <a:spcBef>
                <a:spcPts val="662"/>
              </a:spcBef>
              <a:spcAft>
                <a:spcPts val="662"/>
              </a:spcAft>
              <a:buClr>
                <a:schemeClr val="accent1"/>
              </a:buClr>
              <a:buNone/>
            </a:pPr>
            <a:endParaRPr kumimoji="1" lang="en-US" altLang="zh-CN" sz="2400" b="1" dirty="0">
              <a:latin typeface="黑体" panose="02010609060101010101" pitchFamily="49" charset="-122"/>
              <a:ea typeface="黑体" panose="02010609060101010101" pitchFamily="49" charset="-122"/>
            </a:endParaRPr>
          </a:p>
        </p:txBody>
      </p:sp>
      <p:sp>
        <p:nvSpPr>
          <p:cNvPr id="20" name="object 4">
            <a:extLst>
              <a:ext uri="{FF2B5EF4-FFF2-40B4-BE49-F238E27FC236}">
                <a16:creationId xmlns:a16="http://schemas.microsoft.com/office/drawing/2014/main" id="{5ADBDADA-BB21-B859-FCD4-172F179DEBCC}"/>
              </a:ext>
            </a:extLst>
          </p:cNvPr>
          <p:cNvSpPr txBox="1"/>
          <p:nvPr/>
        </p:nvSpPr>
        <p:spPr>
          <a:xfrm>
            <a:off x="540005" y="3942913"/>
            <a:ext cx="4114800" cy="444352"/>
          </a:xfrm>
          <a:prstGeom prst="rect">
            <a:avLst/>
          </a:prstGeom>
        </p:spPr>
        <p:txBody>
          <a:bodyPr vert="horz" wrap="square" lIns="0" tIns="13335" rIns="0" bIns="0" rtlCol="0">
            <a:spAutoFit/>
          </a:bodyPr>
          <a:lstStyle/>
          <a:p>
            <a:pPr marL="12700">
              <a:lnSpc>
                <a:spcPct val="100000"/>
              </a:lnSpc>
              <a:spcBef>
                <a:spcPts val="105"/>
              </a:spcBef>
            </a:pPr>
            <a:r>
              <a:rPr sz="2800" b="1" spc="-30" dirty="0" err="1">
                <a:solidFill>
                  <a:srgbClr val="00AF4F"/>
                </a:solidFill>
                <a:latin typeface="宋体"/>
                <a:cs typeface="宋体"/>
              </a:rPr>
              <a:t>端口</a:t>
            </a:r>
            <a:r>
              <a:rPr lang="zh-CN" altLang="en-US" sz="2800" b="1" spc="-30" dirty="0">
                <a:solidFill>
                  <a:srgbClr val="00AF4F"/>
                </a:solidFill>
                <a:latin typeface="宋体"/>
                <a:cs typeface="宋体"/>
              </a:rPr>
              <a:t>连接</a:t>
            </a:r>
            <a:endParaRPr sz="2800" dirty="0">
              <a:latin typeface="宋体"/>
              <a:cs typeface="宋体"/>
            </a:endParaRPr>
          </a:p>
        </p:txBody>
      </p:sp>
      <p:sp>
        <p:nvSpPr>
          <p:cNvPr id="22" name="Rectangle 3" descr="Rectangle: Click to edit Master text styles&#10;Second level&#10;Third level&#10;Fourth level&#10;Fifth level">
            <a:extLst>
              <a:ext uri="{FF2B5EF4-FFF2-40B4-BE49-F238E27FC236}">
                <a16:creationId xmlns:a16="http://schemas.microsoft.com/office/drawing/2014/main" id="{BC2B3109-266F-9755-109F-3B4F1AAF1A4C}"/>
              </a:ext>
            </a:extLst>
          </p:cNvPr>
          <p:cNvSpPr txBox="1">
            <a:spLocks/>
          </p:cNvSpPr>
          <p:nvPr/>
        </p:nvSpPr>
        <p:spPr bwMode="auto">
          <a:xfrm>
            <a:off x="359307" y="4564939"/>
            <a:ext cx="8686800" cy="2416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00838" tIns="50419" rIns="100838" bIns="50419" numCol="1" anchor="t" anchorCtr="0" compatLnSpc="1">
            <a:prstTxWarp prst="textNoShape">
              <a:avLst/>
            </a:prstTxWarp>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9pPr>
          </a:lstStyle>
          <a:p>
            <a:pPr eaLnBrk="1" hangingPunct="1">
              <a:spcBef>
                <a:spcPts val="662"/>
              </a:spcBef>
              <a:spcAft>
                <a:spcPts val="662"/>
              </a:spcAft>
              <a:buClr>
                <a:schemeClr val="accent1"/>
              </a:buClr>
            </a:pPr>
            <a:r>
              <a:rPr kumimoji="1" lang="zh-CN" altLang="en-US" sz="2400" b="1" dirty="0">
                <a:latin typeface="黑体" panose="02010609060101010101" pitchFamily="49" charset="-122"/>
                <a:ea typeface="黑体" panose="02010609060101010101" pitchFamily="49" charset="-122"/>
              </a:rPr>
              <a:t>输入端口可以连接到线网</a:t>
            </a:r>
            <a:r>
              <a:rPr kumimoji="1" lang="en-US" altLang="zh-CN" sz="2400" b="1" dirty="0">
                <a:latin typeface="黑体" panose="02010609060101010101" pitchFamily="49" charset="-122"/>
                <a:ea typeface="黑体" panose="02010609060101010101" pitchFamily="49" charset="-122"/>
              </a:rPr>
              <a:t>/</a:t>
            </a:r>
            <a:r>
              <a:rPr kumimoji="1" lang="zh-CN" altLang="en-US" sz="2400" b="1" dirty="0">
                <a:latin typeface="黑体" panose="02010609060101010101" pitchFamily="49" charset="-122"/>
                <a:ea typeface="黑体" panose="02010609060101010101" pitchFamily="49" charset="-122"/>
              </a:rPr>
              <a:t>寄存器类型</a:t>
            </a:r>
            <a:endParaRPr kumimoji="1" lang="en-US" altLang="zh-CN" sz="2400" b="1" dirty="0">
              <a:latin typeface="黑体" panose="02010609060101010101" pitchFamily="49" charset="-122"/>
              <a:ea typeface="黑体" panose="02010609060101010101" pitchFamily="49" charset="-122"/>
            </a:endParaRPr>
          </a:p>
          <a:p>
            <a:pPr marL="0" indent="342000" eaLnBrk="1" hangingPunct="1">
              <a:spcBef>
                <a:spcPts val="662"/>
              </a:spcBef>
              <a:spcAft>
                <a:spcPts val="662"/>
              </a:spcAft>
              <a:buClr>
                <a:schemeClr val="accent1"/>
              </a:buClr>
              <a:buNone/>
            </a:pPr>
            <a:r>
              <a:rPr kumimoji="1" lang="en-US" altLang="zh-CN" sz="2400" b="1" dirty="0">
                <a:latin typeface="黑体" panose="02010609060101010101" pitchFamily="49" charset="-122"/>
                <a:ea typeface="黑体" panose="02010609060101010101" pitchFamily="49" charset="-122"/>
              </a:rPr>
              <a:t>(wire/reg)</a:t>
            </a:r>
            <a:r>
              <a:rPr kumimoji="1" lang="zh-CN" altLang="en-US" sz="2400" b="1" dirty="0">
                <a:latin typeface="黑体" panose="02010609060101010101" pitchFamily="49" charset="-122"/>
                <a:ea typeface="黑体" panose="02010609060101010101" pitchFamily="49" charset="-122"/>
              </a:rPr>
              <a:t>的变量</a:t>
            </a:r>
            <a:endParaRPr kumimoji="1" lang="en-US" altLang="zh-CN" sz="2400" b="1" dirty="0">
              <a:latin typeface="黑体" panose="02010609060101010101" pitchFamily="49" charset="-122"/>
              <a:ea typeface="黑体" panose="02010609060101010101" pitchFamily="49" charset="-122"/>
            </a:endParaRPr>
          </a:p>
          <a:p>
            <a:pPr eaLnBrk="1" hangingPunct="1">
              <a:spcBef>
                <a:spcPts val="662"/>
              </a:spcBef>
              <a:spcAft>
                <a:spcPts val="662"/>
              </a:spcAft>
              <a:buClr>
                <a:schemeClr val="accent1"/>
              </a:buClr>
            </a:pPr>
            <a:r>
              <a:rPr kumimoji="1" lang="zh-CN" altLang="en-US" sz="2400" b="1" dirty="0">
                <a:latin typeface="黑体" panose="02010609060101010101" pitchFamily="49" charset="-122"/>
                <a:ea typeface="黑体" panose="02010609060101010101" pitchFamily="49" charset="-122"/>
              </a:rPr>
              <a:t>输出端口只能连接到线网</a:t>
            </a:r>
            <a:r>
              <a:rPr kumimoji="1" lang="en-US" altLang="zh-CN" sz="2400" b="1" dirty="0">
                <a:latin typeface="黑体" panose="02010609060101010101" pitchFamily="49" charset="-122"/>
                <a:ea typeface="黑体" panose="02010609060101010101" pitchFamily="49" charset="-122"/>
              </a:rPr>
              <a:t>(wire)</a:t>
            </a:r>
            <a:r>
              <a:rPr kumimoji="1" lang="zh-CN" altLang="en-US" sz="2400" b="1" dirty="0">
                <a:latin typeface="黑体" panose="02010609060101010101" pitchFamily="49" charset="-122"/>
                <a:ea typeface="黑体" panose="02010609060101010101" pitchFamily="49" charset="-122"/>
              </a:rPr>
              <a:t>类型的变量</a:t>
            </a:r>
            <a:endParaRPr kumimoji="1" lang="en-US" altLang="zh-CN" sz="2400" b="1" dirty="0">
              <a:latin typeface="黑体" panose="02010609060101010101" pitchFamily="49" charset="-122"/>
              <a:ea typeface="黑体" panose="02010609060101010101" pitchFamily="49" charset="-122"/>
            </a:endParaRPr>
          </a:p>
          <a:p>
            <a:pPr eaLnBrk="1" hangingPunct="1">
              <a:spcBef>
                <a:spcPts val="662"/>
              </a:spcBef>
              <a:spcAft>
                <a:spcPts val="662"/>
              </a:spcAft>
              <a:buClr>
                <a:schemeClr val="accent1"/>
              </a:buClr>
            </a:pPr>
            <a:r>
              <a:rPr kumimoji="1" lang="zh-CN" altLang="en-US" sz="2400" b="1" dirty="0">
                <a:solidFill>
                  <a:schemeClr val="bg1">
                    <a:lumMod val="75000"/>
                  </a:schemeClr>
                </a:solidFill>
                <a:latin typeface="黑体" panose="02010609060101010101" pitchFamily="49" charset="-122"/>
                <a:ea typeface="黑体" panose="02010609060101010101" pitchFamily="49" charset="-122"/>
              </a:rPr>
              <a:t>输入</a:t>
            </a:r>
            <a:r>
              <a:rPr kumimoji="1" lang="en-US" altLang="zh-CN" sz="2400" b="1" dirty="0">
                <a:solidFill>
                  <a:schemeClr val="bg1">
                    <a:lumMod val="75000"/>
                  </a:schemeClr>
                </a:solidFill>
                <a:latin typeface="黑体" panose="02010609060101010101" pitchFamily="49" charset="-122"/>
                <a:ea typeface="黑体" panose="02010609060101010101" pitchFamily="49" charset="-122"/>
              </a:rPr>
              <a:t>/</a:t>
            </a:r>
            <a:r>
              <a:rPr kumimoji="1" lang="zh-CN" altLang="en-US" sz="2400" b="1" dirty="0">
                <a:solidFill>
                  <a:schemeClr val="bg1">
                    <a:lumMod val="75000"/>
                  </a:schemeClr>
                </a:solidFill>
                <a:latin typeface="黑体" panose="02010609060101010101" pitchFamily="49" charset="-122"/>
                <a:ea typeface="黑体" panose="02010609060101010101" pitchFamily="49" charset="-122"/>
              </a:rPr>
              <a:t>输出端口只能连接到线网</a:t>
            </a:r>
            <a:r>
              <a:rPr kumimoji="1" lang="en-US" altLang="zh-CN" sz="2400" b="1" dirty="0">
                <a:solidFill>
                  <a:schemeClr val="bg1">
                    <a:lumMod val="75000"/>
                  </a:schemeClr>
                </a:solidFill>
                <a:latin typeface="黑体" panose="02010609060101010101" pitchFamily="49" charset="-122"/>
                <a:ea typeface="黑体" panose="02010609060101010101" pitchFamily="49" charset="-122"/>
              </a:rPr>
              <a:t>(wire)</a:t>
            </a:r>
            <a:r>
              <a:rPr kumimoji="1" lang="zh-CN" altLang="en-US" sz="2400" b="1" dirty="0">
                <a:solidFill>
                  <a:schemeClr val="bg1">
                    <a:lumMod val="75000"/>
                  </a:schemeClr>
                </a:solidFill>
                <a:latin typeface="黑体" panose="02010609060101010101" pitchFamily="49" charset="-122"/>
                <a:ea typeface="黑体" panose="02010609060101010101" pitchFamily="49" charset="-122"/>
              </a:rPr>
              <a:t>类型的变量</a:t>
            </a:r>
            <a:endParaRPr kumimoji="1" lang="en-US" altLang="zh-CN" sz="2400" b="1" dirty="0">
              <a:solidFill>
                <a:schemeClr val="bg1">
                  <a:lumMod val="75000"/>
                </a:schemeClr>
              </a:solidFill>
              <a:latin typeface="黑体" panose="02010609060101010101" pitchFamily="49" charset="-122"/>
              <a:ea typeface="黑体" panose="02010609060101010101" pitchFamily="49" charset="-122"/>
            </a:endParaRPr>
          </a:p>
          <a:p>
            <a:pPr marL="0" indent="0" eaLnBrk="1" hangingPunct="1">
              <a:spcBef>
                <a:spcPts val="662"/>
              </a:spcBef>
              <a:spcAft>
                <a:spcPts val="662"/>
              </a:spcAft>
              <a:buNone/>
            </a:pPr>
            <a:endParaRPr kumimoji="1" lang="en-US" altLang="zh-CN" sz="3600" b="1" dirty="0">
              <a:solidFill>
                <a:srgbClr val="4B51A5"/>
              </a:solidFill>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501896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307717-9180-54C2-3EC6-CB5E7C9A1218}"/>
            </a:ext>
          </a:extLst>
        </p:cNvPr>
        <p:cNvGrpSpPr/>
        <p:nvPr/>
      </p:nvGrpSpPr>
      <p:grpSpPr>
        <a:xfrm>
          <a:off x="0" y="0"/>
          <a:ext cx="0" cy="0"/>
          <a:chOff x="0" y="0"/>
          <a:chExt cx="0" cy="0"/>
        </a:xfrm>
      </p:grpSpPr>
      <p:sp>
        <p:nvSpPr>
          <p:cNvPr id="14" name="Rectangle 3" descr="Rectangle: Click to edit Master text styles&#10;Second level&#10;Third level&#10;Fourth level&#10;Fifth level">
            <a:extLst>
              <a:ext uri="{FF2B5EF4-FFF2-40B4-BE49-F238E27FC236}">
                <a16:creationId xmlns:a16="http://schemas.microsoft.com/office/drawing/2014/main" id="{2D4419E4-0928-B7A8-AEDF-FB996486D3FE}"/>
              </a:ext>
            </a:extLst>
          </p:cNvPr>
          <p:cNvSpPr txBox="1">
            <a:spLocks/>
          </p:cNvSpPr>
          <p:nvPr/>
        </p:nvSpPr>
        <p:spPr bwMode="auto">
          <a:xfrm>
            <a:off x="5214260" y="2909494"/>
            <a:ext cx="6278903" cy="39824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00838" tIns="50419" rIns="100838" bIns="50419" numCol="1" anchor="t" anchorCtr="0" compatLnSpc="1">
            <a:prstTxWarp prst="textNoShape">
              <a:avLst/>
            </a:prstTxWarp>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9pPr>
          </a:lstStyle>
          <a:p>
            <a:pPr marL="360000" indent="-360000">
              <a:spcBef>
                <a:spcPts val="0"/>
              </a:spcBef>
              <a:spcAft>
                <a:spcPts val="0"/>
              </a:spcAft>
              <a:buClr>
                <a:schemeClr val="hlink"/>
              </a:buClr>
              <a:buSzPct val="110000"/>
              <a:buNone/>
            </a:pPr>
            <a:r>
              <a:rPr kumimoji="1" lang="en-US" altLang="zh-CN" sz="2400" b="1" dirty="0">
                <a:solidFill>
                  <a:srgbClr val="C00000"/>
                </a:solidFill>
                <a:latin typeface="黑体" panose="02010609060101010101" pitchFamily="49" charset="-122"/>
                <a:ea typeface="黑体" panose="02010609060101010101" pitchFamily="49" charset="-122"/>
                <a:sym typeface="+mn-ea"/>
              </a:rPr>
              <a:t>module</a:t>
            </a:r>
            <a:r>
              <a:rPr kumimoji="1" lang="en-US" altLang="zh-CN" sz="2400" dirty="0">
                <a:solidFill>
                  <a:srgbClr val="FF0000"/>
                </a:solidFill>
                <a:latin typeface="+mj-lt"/>
                <a:ea typeface="微软雅黑" panose="020B0503020204020204" charset="-122"/>
                <a:sym typeface="+mn-ea"/>
              </a:rPr>
              <a:t> </a:t>
            </a:r>
            <a:r>
              <a:rPr kumimoji="1" lang="en-US" altLang="zh-CN" sz="2400" b="1"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sym typeface="+mn-ea"/>
              </a:rPr>
              <a:t>fulladder</a:t>
            </a:r>
            <a:r>
              <a:rPr kumimoji="1" lang="en-US" altLang="zh-CN" sz="2400" dirty="0">
                <a:solidFill>
                  <a:srgbClr val="002060"/>
                </a:solidFill>
                <a:latin typeface="+mj-lt"/>
                <a:ea typeface="微软雅黑" panose="020B0503020204020204" charset="-122"/>
                <a:sym typeface="+mn-ea"/>
              </a:rPr>
              <a:t> (</a:t>
            </a:r>
            <a:r>
              <a:rPr kumimoji="1" lang="en-US" altLang="zh-CN" sz="2400" b="1"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sym typeface="+mn-ea"/>
              </a:rPr>
              <a:t>sum, c_out, a, b, c_in</a:t>
            </a:r>
            <a:r>
              <a:rPr kumimoji="1" lang="en-US" altLang="zh-CN" sz="2400" dirty="0">
                <a:solidFill>
                  <a:srgbClr val="002060"/>
                </a:solidFill>
                <a:latin typeface="+mj-lt"/>
                <a:ea typeface="微软雅黑" panose="020B0503020204020204" charset="-122"/>
                <a:sym typeface="+mn-ea"/>
              </a:rPr>
              <a:t>)</a:t>
            </a:r>
            <a:r>
              <a:rPr kumimoji="1" lang="zh-CN" altLang="en-US" sz="2400" dirty="0">
                <a:solidFill>
                  <a:srgbClr val="C00000"/>
                </a:solidFill>
                <a:latin typeface="+mj-lt"/>
                <a:ea typeface="微软雅黑" panose="020B0503020204020204" charset="-122"/>
                <a:sym typeface="+mn-ea"/>
              </a:rPr>
              <a:t>；</a:t>
            </a:r>
            <a:r>
              <a:rPr kumimoji="1" lang="en-US" altLang="zh-CN" sz="2400" b="1" dirty="0">
                <a:solidFill>
                  <a:srgbClr val="C00000"/>
                </a:solidFill>
                <a:latin typeface="黑体" panose="02010609060101010101" pitchFamily="49" charset="-122"/>
                <a:ea typeface="黑体" panose="02010609060101010101" pitchFamily="49" charset="-122"/>
                <a:sym typeface="+mn-ea"/>
              </a:rPr>
              <a:t>output</a:t>
            </a:r>
            <a:r>
              <a:rPr kumimoji="1" lang="en-US" altLang="zh-CN" sz="2400" dirty="0">
                <a:solidFill>
                  <a:srgbClr val="FF0000"/>
                </a:solidFill>
                <a:latin typeface="+mj-lt"/>
                <a:ea typeface="微软雅黑" panose="020B0503020204020204" charset="-122"/>
                <a:sym typeface="+mn-ea"/>
              </a:rPr>
              <a:t> </a:t>
            </a:r>
            <a:r>
              <a:rPr kumimoji="1" lang="en-US" altLang="zh-CN" sz="2400" b="1"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sym typeface="+mn-ea"/>
              </a:rPr>
              <a:t>[3:0] sum</a:t>
            </a:r>
            <a:r>
              <a:rPr kumimoji="1" lang="en-US" altLang="zh-CN" sz="2400" dirty="0">
                <a:solidFill>
                  <a:srgbClr val="002060"/>
                </a:solidFill>
                <a:latin typeface="+mj-lt"/>
                <a:ea typeface="微软雅黑" panose="020B0503020204020204" charset="-122"/>
                <a:sym typeface="+mn-ea"/>
              </a:rPr>
              <a:t>;</a:t>
            </a:r>
          </a:p>
          <a:p>
            <a:pPr marL="360000" indent="0">
              <a:spcBef>
                <a:spcPts val="0"/>
              </a:spcBef>
              <a:spcAft>
                <a:spcPts val="0"/>
              </a:spcAft>
              <a:buClr>
                <a:schemeClr val="hlink"/>
              </a:buClr>
              <a:buSzPct val="110000"/>
              <a:buNone/>
            </a:pPr>
            <a:r>
              <a:rPr kumimoji="1" lang="en-US" altLang="zh-CN" sz="2400" b="1" dirty="0">
                <a:solidFill>
                  <a:srgbClr val="C00000"/>
                </a:solidFill>
                <a:latin typeface="黑体" panose="02010609060101010101" pitchFamily="49" charset="-122"/>
                <a:ea typeface="黑体" panose="02010609060101010101" pitchFamily="49" charset="-122"/>
                <a:sym typeface="+mn-ea"/>
              </a:rPr>
              <a:t>output</a:t>
            </a:r>
            <a:r>
              <a:rPr kumimoji="1" lang="en-US" altLang="zh-CN" sz="2400" dirty="0">
                <a:solidFill>
                  <a:srgbClr val="FF0000"/>
                </a:solidFill>
                <a:latin typeface="+mj-lt"/>
                <a:ea typeface="微软雅黑" panose="020B0503020204020204" charset="-122"/>
                <a:sym typeface="+mn-ea"/>
              </a:rPr>
              <a:t> </a:t>
            </a:r>
            <a:r>
              <a:rPr kumimoji="1" lang="en-US" altLang="zh-CN" sz="2400" b="1"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sym typeface="+mn-ea"/>
              </a:rPr>
              <a:t>c_out</a:t>
            </a:r>
            <a:r>
              <a:rPr kumimoji="1" lang="en-US" altLang="zh-CN" sz="2400" dirty="0">
                <a:solidFill>
                  <a:srgbClr val="002060"/>
                </a:solidFill>
                <a:latin typeface="+mj-lt"/>
                <a:ea typeface="微软雅黑" panose="020B0503020204020204" charset="-122"/>
                <a:sym typeface="+mn-ea"/>
              </a:rPr>
              <a:t>;</a:t>
            </a:r>
          </a:p>
          <a:p>
            <a:pPr marL="360000" indent="0" defTabSz="1008400">
              <a:spcBef>
                <a:spcPts val="0"/>
              </a:spcBef>
              <a:spcAft>
                <a:spcPts val="0"/>
              </a:spcAft>
              <a:buClr>
                <a:schemeClr val="hlink"/>
              </a:buClr>
              <a:buSzPct val="110000"/>
              <a:buNone/>
            </a:pPr>
            <a:r>
              <a:rPr kumimoji="1" lang="en-US" altLang="zh-CN" sz="2400" b="1" dirty="0">
                <a:solidFill>
                  <a:srgbClr val="C00000"/>
                </a:solidFill>
                <a:latin typeface="黑体" panose="02010609060101010101" pitchFamily="49" charset="-122"/>
                <a:ea typeface="黑体" panose="02010609060101010101" pitchFamily="49" charset="-122"/>
                <a:sym typeface="+mn-ea"/>
              </a:rPr>
              <a:t>input</a:t>
            </a:r>
            <a:r>
              <a:rPr kumimoji="1" lang="en-US" altLang="zh-CN" sz="2400" dirty="0">
                <a:solidFill>
                  <a:srgbClr val="FF0000"/>
                </a:solidFill>
                <a:ea typeface="微软雅黑" panose="020B0503020204020204" charset="-122"/>
                <a:sym typeface="+mn-ea"/>
              </a:rPr>
              <a:t> </a:t>
            </a:r>
            <a:r>
              <a:rPr kumimoji="1" lang="en-US" altLang="zh-CN" sz="2400" b="1"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sym typeface="+mn-ea"/>
              </a:rPr>
              <a:t>[3:0] a, b;</a:t>
            </a:r>
            <a:endParaRPr kumimoji="1" lang="en-US" altLang="zh-CN" sz="2400" b="1" noProof="1">
              <a:solidFill>
                <a:srgbClr val="002060"/>
              </a:solidFill>
              <a:latin typeface="Times New Roman" panose="02020603050405020304" pitchFamily="18" charset="0"/>
              <a:ea typeface="黑体" panose="02010609060101010101" pitchFamily="49" charset="-122"/>
              <a:cs typeface="Times New Roman" panose="02020603050405020304" pitchFamily="18" charset="0"/>
            </a:endParaRPr>
          </a:p>
          <a:p>
            <a:pPr marL="360000" indent="0">
              <a:spcBef>
                <a:spcPts val="0"/>
              </a:spcBef>
              <a:spcAft>
                <a:spcPts val="0"/>
              </a:spcAft>
              <a:buClr>
                <a:schemeClr val="hlink"/>
              </a:buClr>
              <a:buSzPct val="110000"/>
              <a:buNone/>
            </a:pPr>
            <a:r>
              <a:rPr kumimoji="1" lang="en-US" altLang="zh-CN" sz="2400" b="1" dirty="0">
                <a:solidFill>
                  <a:srgbClr val="C00000"/>
                </a:solidFill>
                <a:latin typeface="黑体" panose="02010609060101010101" pitchFamily="49" charset="-122"/>
                <a:ea typeface="黑体" panose="02010609060101010101" pitchFamily="49" charset="-122"/>
                <a:sym typeface="+mn-ea"/>
              </a:rPr>
              <a:t>input</a:t>
            </a:r>
            <a:r>
              <a:rPr kumimoji="1" lang="en-US" altLang="zh-CN" sz="2400" dirty="0">
                <a:solidFill>
                  <a:srgbClr val="FF0000"/>
                </a:solidFill>
                <a:ea typeface="微软雅黑" panose="020B0503020204020204" charset="-122"/>
                <a:sym typeface="+mn-ea"/>
              </a:rPr>
              <a:t> </a:t>
            </a:r>
            <a:r>
              <a:rPr kumimoji="1" lang="en-US" altLang="zh-CN" sz="2400" b="1"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sym typeface="+mn-ea"/>
              </a:rPr>
              <a:t>c_in;</a:t>
            </a:r>
          </a:p>
          <a:p>
            <a:pPr marL="360000" indent="0">
              <a:spcBef>
                <a:spcPts val="0"/>
              </a:spcBef>
              <a:spcAft>
                <a:spcPts val="0"/>
              </a:spcAft>
              <a:buClr>
                <a:schemeClr val="hlink"/>
              </a:buClr>
              <a:buSzPct val="110000"/>
              <a:buNone/>
            </a:pPr>
            <a:r>
              <a:rPr kumimoji="1" lang="en-US" altLang="en-US" sz="2400" b="1" dirty="0">
                <a:solidFill>
                  <a:srgbClr val="C00000"/>
                </a:solidFill>
                <a:latin typeface="黑体" panose="02010609060101010101" pitchFamily="49" charset="-122"/>
                <a:ea typeface="黑体" panose="02010609060101010101" pitchFamily="49" charset="-122"/>
                <a:sym typeface="+mn-ea"/>
              </a:rPr>
              <a:t>reg</a:t>
            </a:r>
            <a:r>
              <a:rPr kumimoji="1" lang="en-US" altLang="en-US" sz="2400" dirty="0">
                <a:solidFill>
                  <a:srgbClr val="FF0000"/>
                </a:solidFill>
                <a:ea typeface="微软雅黑" panose="020B0503020204020204" charset="-122"/>
                <a:sym typeface="+mn-ea"/>
              </a:rPr>
              <a:t> </a:t>
            </a:r>
            <a:r>
              <a:rPr kumimoji="1" lang="en-US" altLang="zh-CN" sz="2400" b="1"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sym typeface="+mn-ea"/>
              </a:rPr>
              <a:t>[3:0] sum;</a:t>
            </a:r>
            <a:endParaRPr kumimoji="1" lang="en-US" altLang="zh-CN" sz="2400" dirty="0">
              <a:solidFill>
                <a:srgbClr val="002060"/>
              </a:solidFill>
              <a:ea typeface="微软雅黑" panose="020B0503020204020204" charset="-122"/>
              <a:sym typeface="+mn-ea"/>
            </a:endParaRPr>
          </a:p>
          <a:p>
            <a:pPr marL="360000" indent="0">
              <a:spcBef>
                <a:spcPts val="0"/>
              </a:spcBef>
              <a:spcAft>
                <a:spcPts val="0"/>
              </a:spcAft>
              <a:buClr>
                <a:schemeClr val="hlink"/>
              </a:buClr>
              <a:buSzPct val="110000"/>
              <a:buNone/>
            </a:pPr>
            <a:r>
              <a:rPr kumimoji="1" lang="en-US" altLang="en-US" sz="2400" b="1" dirty="0">
                <a:solidFill>
                  <a:srgbClr val="C00000"/>
                </a:solidFill>
                <a:latin typeface="黑体" panose="02010609060101010101" pitchFamily="49" charset="-122"/>
                <a:ea typeface="黑体" panose="02010609060101010101" pitchFamily="49" charset="-122"/>
                <a:sym typeface="+mn-ea"/>
              </a:rPr>
              <a:t>reg</a:t>
            </a:r>
            <a:r>
              <a:rPr kumimoji="1" lang="en-US" altLang="en-US" sz="2400" dirty="0">
                <a:solidFill>
                  <a:srgbClr val="FF0000"/>
                </a:solidFill>
                <a:latin typeface="+mj-lt"/>
                <a:ea typeface="微软雅黑" panose="020B0503020204020204" charset="-122"/>
                <a:sym typeface="+mn-ea"/>
              </a:rPr>
              <a:t> </a:t>
            </a:r>
            <a:r>
              <a:rPr kumimoji="1" lang="en-US" altLang="zh-CN" sz="2400" b="1"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sym typeface="+mn-ea"/>
              </a:rPr>
              <a:t>c_out;</a:t>
            </a:r>
            <a:endParaRPr kumimoji="1" lang="en-US" altLang="zh-CN" sz="2400" dirty="0">
              <a:solidFill>
                <a:srgbClr val="002060"/>
              </a:solidFill>
              <a:latin typeface="+mj-lt"/>
              <a:ea typeface="微软雅黑" panose="020B0503020204020204" charset="-122"/>
              <a:sym typeface="+mn-ea"/>
            </a:endParaRPr>
          </a:p>
          <a:p>
            <a:pPr marL="360000" indent="0" defTabSz="1008400">
              <a:spcBef>
                <a:spcPts val="0"/>
              </a:spcBef>
              <a:spcAft>
                <a:spcPts val="0"/>
              </a:spcAft>
              <a:buClr>
                <a:schemeClr val="hlink"/>
              </a:buClr>
              <a:buSzPct val="110000"/>
              <a:buNone/>
            </a:pPr>
            <a:r>
              <a:rPr kumimoji="1" lang="en-US" altLang="zh-CN" sz="2400" b="1" dirty="0">
                <a:solidFill>
                  <a:srgbClr val="002060"/>
                </a:solidFill>
                <a:latin typeface="黑体" panose="02010609060101010101" pitchFamily="49" charset="-122"/>
                <a:ea typeface="黑体" panose="02010609060101010101" pitchFamily="49" charset="-122"/>
                <a:sym typeface="+mn-ea"/>
              </a:rPr>
              <a:t>&lt;</a:t>
            </a:r>
            <a:r>
              <a:rPr kumimoji="1" lang="zh-CN" altLang="en-US" sz="2400" b="1" dirty="0">
                <a:solidFill>
                  <a:srgbClr val="002060"/>
                </a:solidFill>
                <a:latin typeface="黑体" panose="02010609060101010101" pitchFamily="49" charset="-122"/>
                <a:ea typeface="黑体" panose="02010609060101010101" pitchFamily="49" charset="-122"/>
                <a:sym typeface="+mn-ea"/>
              </a:rPr>
              <a:t>模块功能定义</a:t>
            </a:r>
            <a:r>
              <a:rPr kumimoji="1" lang="en-US" altLang="zh-CN" sz="2400" b="1" dirty="0">
                <a:solidFill>
                  <a:srgbClr val="002060"/>
                </a:solidFill>
                <a:latin typeface="黑体" panose="02010609060101010101" pitchFamily="49" charset="-122"/>
                <a:ea typeface="黑体" panose="02010609060101010101" pitchFamily="49" charset="-122"/>
                <a:sym typeface="+mn-ea"/>
              </a:rPr>
              <a:t>&gt;</a:t>
            </a:r>
          </a:p>
          <a:p>
            <a:pPr marL="0" indent="0" defTabSz="1008400">
              <a:spcBef>
                <a:spcPts val="0"/>
              </a:spcBef>
              <a:spcAft>
                <a:spcPts val="0"/>
              </a:spcAft>
              <a:buClr>
                <a:schemeClr val="hlink"/>
              </a:buClr>
              <a:buSzPct val="110000"/>
              <a:buNone/>
            </a:pPr>
            <a:r>
              <a:rPr kumimoji="1" lang="en-US" altLang="zh-CN" sz="2400" b="1" dirty="0">
                <a:solidFill>
                  <a:srgbClr val="C00000"/>
                </a:solidFill>
                <a:latin typeface="黑体" panose="02010609060101010101" pitchFamily="49" charset="-122"/>
                <a:ea typeface="黑体" panose="02010609060101010101" pitchFamily="49" charset="-122"/>
                <a:sym typeface="+mn-ea"/>
              </a:rPr>
              <a:t>endmodule</a:t>
            </a:r>
            <a:endParaRPr kumimoji="1" lang="en-US" altLang="zh-CN" sz="2800" b="1" dirty="0">
              <a:solidFill>
                <a:srgbClr val="4B51A5"/>
              </a:solidFill>
              <a:latin typeface="黑体" panose="02010609060101010101" pitchFamily="49" charset="-122"/>
              <a:ea typeface="黑体" panose="02010609060101010101" pitchFamily="49" charset="-122"/>
            </a:endParaRPr>
          </a:p>
        </p:txBody>
      </p:sp>
      <p:sp>
        <p:nvSpPr>
          <p:cNvPr id="13" name="Rectangle 3" descr="Rectangle: Click to edit Master text styles&#10;Second level&#10;Third level&#10;Fourth level&#10;Fifth level">
            <a:extLst>
              <a:ext uri="{FF2B5EF4-FFF2-40B4-BE49-F238E27FC236}">
                <a16:creationId xmlns:a16="http://schemas.microsoft.com/office/drawing/2014/main" id="{C15634D0-CA09-AEB1-6068-78263ABA8A75}"/>
              </a:ext>
            </a:extLst>
          </p:cNvPr>
          <p:cNvSpPr txBox="1">
            <a:spLocks/>
          </p:cNvSpPr>
          <p:nvPr/>
        </p:nvSpPr>
        <p:spPr bwMode="auto">
          <a:xfrm>
            <a:off x="4889046" y="889726"/>
            <a:ext cx="4938588" cy="15599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9pPr>
          </a:lstStyle>
          <a:p>
            <a:pPr eaLnBrk="1" hangingPunct="1">
              <a:spcBef>
                <a:spcPts val="300"/>
              </a:spcBef>
              <a:spcAft>
                <a:spcPts val="300"/>
              </a:spcAft>
              <a:buClr>
                <a:schemeClr val="tx1"/>
              </a:buClr>
            </a:pPr>
            <a:r>
              <a:rPr kumimoji="1" lang="zh-CN" altLang="en-US" sz="2800" b="1" kern="0" dirty="0">
                <a:solidFill>
                  <a:srgbClr val="002060"/>
                </a:solidFill>
                <a:latin typeface="+mn-ea"/>
              </a:rPr>
              <a:t>涉及端口与外部信号的连接</a:t>
            </a:r>
            <a:endParaRPr kumimoji="1" lang="en-US" altLang="zh-CN" sz="2800" b="1" kern="0" dirty="0">
              <a:solidFill>
                <a:srgbClr val="002060"/>
              </a:solidFill>
              <a:latin typeface="+mn-ea"/>
            </a:endParaRPr>
          </a:p>
          <a:p>
            <a:pPr lvl="1" eaLnBrk="1" hangingPunct="1">
              <a:spcBef>
                <a:spcPts val="300"/>
              </a:spcBef>
              <a:spcAft>
                <a:spcPts val="300"/>
              </a:spcAft>
              <a:buClr>
                <a:schemeClr val="tx1"/>
              </a:buClr>
            </a:pPr>
            <a:r>
              <a:rPr kumimoji="1" lang="zh-CN" altLang="en-US" sz="2400" b="1" dirty="0">
                <a:solidFill>
                  <a:srgbClr val="002060"/>
                </a:solidFill>
                <a:latin typeface="+mn-ea"/>
              </a:rPr>
              <a:t>顺序端口连接</a:t>
            </a:r>
            <a:endParaRPr kumimoji="1" lang="en-US" altLang="zh-CN" sz="2400" b="1" dirty="0">
              <a:solidFill>
                <a:srgbClr val="002060"/>
              </a:solidFill>
              <a:latin typeface="+mn-ea"/>
            </a:endParaRPr>
          </a:p>
          <a:p>
            <a:pPr lvl="1" eaLnBrk="1" hangingPunct="1">
              <a:spcBef>
                <a:spcPts val="300"/>
              </a:spcBef>
              <a:spcAft>
                <a:spcPts val="300"/>
              </a:spcAft>
              <a:buClr>
                <a:schemeClr val="tx1"/>
              </a:buClr>
            </a:pPr>
            <a:r>
              <a:rPr kumimoji="1" lang="zh-CN" altLang="en-US" sz="2400" b="1" kern="0" dirty="0">
                <a:solidFill>
                  <a:srgbClr val="C00000"/>
                </a:solidFill>
                <a:latin typeface="+mn-ea"/>
              </a:rPr>
              <a:t>命名端口连接</a:t>
            </a:r>
            <a:endParaRPr kumimoji="1" lang="en-US" altLang="zh-CN" sz="2400" b="1" kern="0" dirty="0">
              <a:solidFill>
                <a:srgbClr val="C00000"/>
              </a:solidFill>
              <a:latin typeface="+mn-ea"/>
            </a:endParaRPr>
          </a:p>
        </p:txBody>
      </p:sp>
      <p:sp>
        <p:nvSpPr>
          <p:cNvPr id="4" name="object 3">
            <a:extLst>
              <a:ext uri="{FF2B5EF4-FFF2-40B4-BE49-F238E27FC236}">
                <a16:creationId xmlns:a16="http://schemas.microsoft.com/office/drawing/2014/main" id="{EBA42F2B-C274-B3BA-BB9D-B8B9099DEAD9}"/>
              </a:ext>
            </a:extLst>
          </p:cNvPr>
          <p:cNvSpPr txBox="1">
            <a:spLocks/>
          </p:cNvSpPr>
          <p:nvPr/>
        </p:nvSpPr>
        <p:spPr>
          <a:xfrm>
            <a:off x="241300" y="200025"/>
            <a:ext cx="7288905" cy="524503"/>
          </a:xfrm>
          <a:prstGeom prst="rect">
            <a:avLst/>
          </a:prstGeom>
        </p:spPr>
        <p:txBody>
          <a:bodyPr vert="horz" wrap="square" lIns="0" tIns="16510" rIns="0" bIns="0" rtlCol="0">
            <a:spAutoFit/>
          </a:bodyPr>
          <a:lstStyle>
            <a:lvl1pPr>
              <a:defRPr sz="2800" b="0" i="0">
                <a:solidFill>
                  <a:srgbClr val="3F3F3F"/>
                </a:solidFill>
                <a:latin typeface="Calibri"/>
                <a:ea typeface="+mj-ea"/>
                <a:cs typeface="Calibri"/>
              </a:defRPr>
            </a:lvl1pPr>
          </a:lstStyle>
          <a:p>
            <a:pPr marL="12700">
              <a:spcBef>
                <a:spcPts val="130"/>
              </a:spcBef>
            </a:pPr>
            <a:r>
              <a:rPr lang="zh-CN" altLang="en-US" sz="3300" b="1" spc="-15" dirty="0">
                <a:solidFill>
                  <a:srgbClr val="000000"/>
                </a:solidFill>
                <a:latin typeface="宋体"/>
                <a:cs typeface="宋体"/>
              </a:rPr>
              <a:t>模块声明与模块实例</a:t>
            </a:r>
            <a:endParaRPr lang="zh-CN" altLang="en-US" sz="3300" dirty="0">
              <a:latin typeface="宋体"/>
              <a:cs typeface="宋体"/>
            </a:endParaRPr>
          </a:p>
        </p:txBody>
      </p:sp>
      <p:sp>
        <p:nvSpPr>
          <p:cNvPr id="10" name="object 8">
            <a:extLst>
              <a:ext uri="{FF2B5EF4-FFF2-40B4-BE49-F238E27FC236}">
                <a16:creationId xmlns:a16="http://schemas.microsoft.com/office/drawing/2014/main" id="{B2EB7BB7-1F9E-36DF-A683-447990AE64C1}"/>
              </a:ext>
            </a:extLst>
          </p:cNvPr>
          <p:cNvSpPr txBox="1">
            <a:spLocks/>
          </p:cNvSpPr>
          <p:nvPr/>
        </p:nvSpPr>
        <p:spPr>
          <a:xfrm>
            <a:off x="5121454" y="2413806"/>
            <a:ext cx="4594859" cy="531556"/>
          </a:xfrm>
          <a:prstGeom prst="rect">
            <a:avLst/>
          </a:prstGeom>
        </p:spPr>
        <p:txBody>
          <a:bodyPr vert="horz" wrap="square" lIns="0" tIns="160655" rIns="0" bIns="0" rtlCol="0">
            <a:sp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12700">
              <a:spcBef>
                <a:spcPts val="1265"/>
              </a:spcBef>
            </a:pPr>
            <a:r>
              <a:rPr lang="zh-CN" altLang="en-US" sz="2400" b="1" spc="-25" dirty="0"/>
              <a:t>例：模块声明</a:t>
            </a:r>
            <a:endParaRPr lang="en-US" sz="2800" b="1" dirty="0">
              <a:latin typeface="Arial"/>
              <a:cs typeface="Arial"/>
            </a:endParaRPr>
          </a:p>
        </p:txBody>
      </p:sp>
      <p:sp>
        <p:nvSpPr>
          <p:cNvPr id="11" name="Rectangle 3" descr="Rectangle: Click to edit Master text styles&#10;Second level&#10;Third level&#10;Fourth level&#10;Fifth level">
            <a:extLst>
              <a:ext uri="{FF2B5EF4-FFF2-40B4-BE49-F238E27FC236}">
                <a16:creationId xmlns:a16="http://schemas.microsoft.com/office/drawing/2014/main" id="{E4D2A397-0CF9-98D5-56F7-0BCEFF8D3221}"/>
              </a:ext>
            </a:extLst>
          </p:cNvPr>
          <p:cNvSpPr txBox="1">
            <a:spLocks/>
          </p:cNvSpPr>
          <p:nvPr/>
        </p:nvSpPr>
        <p:spPr bwMode="auto">
          <a:xfrm>
            <a:off x="189740" y="947752"/>
            <a:ext cx="4938588" cy="26987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9pPr>
          </a:lstStyle>
          <a:p>
            <a:pPr marL="0" indent="0" eaLnBrk="1" hangingPunct="1">
              <a:spcBef>
                <a:spcPts val="300"/>
              </a:spcBef>
              <a:spcAft>
                <a:spcPts val="300"/>
              </a:spcAft>
              <a:buClr>
                <a:schemeClr val="tx1"/>
              </a:buClr>
              <a:buNone/>
            </a:pPr>
            <a:r>
              <a:rPr kumimoji="1" lang="zh-CN" altLang="en-US" sz="2800" b="1" kern="0" dirty="0">
                <a:solidFill>
                  <a:srgbClr val="002060"/>
                </a:solidFill>
                <a:latin typeface="+mn-ea"/>
              </a:rPr>
              <a:t>模块声明</a:t>
            </a:r>
            <a:r>
              <a:rPr kumimoji="1" lang="en-US" altLang="zh-CN" sz="2800" b="1" kern="0" dirty="0">
                <a:solidFill>
                  <a:srgbClr val="002060"/>
                </a:solidFill>
                <a:latin typeface="+mn-ea"/>
              </a:rPr>
              <a:t>:</a:t>
            </a:r>
          </a:p>
          <a:p>
            <a:pPr eaLnBrk="1" hangingPunct="1">
              <a:spcBef>
                <a:spcPts val="300"/>
              </a:spcBef>
              <a:spcAft>
                <a:spcPts val="300"/>
              </a:spcAft>
              <a:buClr>
                <a:schemeClr val="tx1"/>
              </a:buClr>
            </a:pPr>
            <a:r>
              <a:rPr kumimoji="1" lang="zh-CN" altLang="en-US" sz="2800" b="1" dirty="0">
                <a:solidFill>
                  <a:srgbClr val="002060"/>
                </a:solidFill>
                <a:latin typeface="+mn-ea"/>
              </a:rPr>
              <a:t>声明的是</a:t>
            </a:r>
            <a:r>
              <a:rPr kumimoji="1" lang="zh-CN" altLang="en-US" sz="2800" b="1" dirty="0">
                <a:solidFill>
                  <a:srgbClr val="C00000"/>
                </a:solidFill>
                <a:latin typeface="+mn-ea"/>
              </a:rPr>
              <a:t>一个模板</a:t>
            </a:r>
            <a:r>
              <a:rPr kumimoji="1" lang="en-US" altLang="zh-CN" sz="2800" b="1" kern="0" dirty="0">
                <a:solidFill>
                  <a:srgbClr val="002060"/>
                </a:solidFill>
                <a:latin typeface="+mn-ea"/>
              </a:rPr>
              <a:t>:</a:t>
            </a:r>
          </a:p>
          <a:p>
            <a:pPr marL="0" indent="0" eaLnBrk="1" hangingPunct="1">
              <a:spcBef>
                <a:spcPts val="300"/>
              </a:spcBef>
              <a:spcAft>
                <a:spcPts val="300"/>
              </a:spcAft>
              <a:buNone/>
            </a:pPr>
            <a:r>
              <a:rPr kumimoji="1" lang="zh-CN" altLang="en-US" sz="2800" b="1" dirty="0">
                <a:solidFill>
                  <a:srgbClr val="002060"/>
                </a:solidFill>
                <a:latin typeface="+mn-ea"/>
              </a:rPr>
              <a:t>模块实例</a:t>
            </a:r>
            <a:r>
              <a:rPr kumimoji="1" lang="en-US" altLang="zh-CN" sz="2800" b="1" dirty="0">
                <a:solidFill>
                  <a:srgbClr val="002060"/>
                </a:solidFill>
                <a:latin typeface="+mn-ea"/>
              </a:rPr>
              <a:t>:</a:t>
            </a:r>
            <a:endParaRPr kumimoji="1" lang="en-US" altLang="zh-CN" sz="2800" b="1" kern="0" dirty="0">
              <a:solidFill>
                <a:schemeClr val="bg1">
                  <a:lumMod val="65000"/>
                </a:schemeClr>
              </a:solidFill>
              <a:latin typeface="+mn-ea"/>
            </a:endParaRPr>
          </a:p>
          <a:p>
            <a:pPr eaLnBrk="1" hangingPunct="1">
              <a:spcBef>
                <a:spcPts val="300"/>
              </a:spcBef>
              <a:spcAft>
                <a:spcPts val="300"/>
              </a:spcAft>
              <a:buClr>
                <a:schemeClr val="tx1"/>
              </a:buClr>
            </a:pPr>
            <a:r>
              <a:rPr kumimoji="1" lang="zh-CN" altLang="en-US" sz="2800" b="1" dirty="0">
                <a:solidFill>
                  <a:srgbClr val="002060"/>
                </a:solidFill>
                <a:latin typeface="+mn-ea"/>
                <a:sym typeface="+mn-ea"/>
              </a:rPr>
              <a:t>根据这个模板创建的</a:t>
            </a:r>
            <a:r>
              <a:rPr kumimoji="1" lang="zh-CN" altLang="en-US" sz="2800" b="1" dirty="0">
                <a:solidFill>
                  <a:srgbClr val="C00000"/>
                </a:solidFill>
                <a:latin typeface="+mn-ea"/>
                <a:sym typeface="+mn-ea"/>
              </a:rPr>
              <a:t>实际的模块对象</a:t>
            </a:r>
            <a:endParaRPr kumimoji="1" lang="en-US" altLang="zh-CN" sz="2800" b="1" dirty="0">
              <a:solidFill>
                <a:srgbClr val="C00000"/>
              </a:solidFill>
              <a:latin typeface="+mn-ea"/>
              <a:sym typeface="+mn-ea"/>
            </a:endParaRPr>
          </a:p>
        </p:txBody>
      </p:sp>
      <p:sp>
        <p:nvSpPr>
          <p:cNvPr id="6" name="Rectangle 3" descr="Rectangle: Click to edit Master text styles&#10;Second level&#10;Third level&#10;Fourth level&#10;Fifth level">
            <a:extLst>
              <a:ext uri="{FF2B5EF4-FFF2-40B4-BE49-F238E27FC236}">
                <a16:creationId xmlns:a16="http://schemas.microsoft.com/office/drawing/2014/main" id="{D938210E-B31D-7880-3865-C1C656E642F2}"/>
              </a:ext>
            </a:extLst>
          </p:cNvPr>
          <p:cNvSpPr txBox="1">
            <a:spLocks/>
          </p:cNvSpPr>
          <p:nvPr/>
        </p:nvSpPr>
        <p:spPr bwMode="auto">
          <a:xfrm>
            <a:off x="426427" y="4488960"/>
            <a:ext cx="9840546" cy="39824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00838" tIns="50419" rIns="100838" bIns="50419" numCol="1" anchor="t" anchorCtr="0" compatLnSpc="1">
            <a:prstTxWarp prst="textNoShape">
              <a:avLst/>
            </a:prstTxWarp>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9pPr>
          </a:lstStyle>
          <a:p>
            <a:pPr marL="360000" indent="-360000">
              <a:spcBef>
                <a:spcPts val="0"/>
              </a:spcBef>
              <a:spcAft>
                <a:spcPts val="0"/>
              </a:spcAft>
              <a:buClr>
                <a:schemeClr val="hlink"/>
              </a:buClr>
              <a:buSzPct val="110000"/>
              <a:buNone/>
            </a:pPr>
            <a:r>
              <a:rPr kumimoji="1" lang="en-US" altLang="zh-CN" sz="2400" b="1" dirty="0">
                <a:solidFill>
                  <a:srgbClr val="C00000"/>
                </a:solidFill>
                <a:latin typeface="黑体" panose="02010609060101010101" pitchFamily="49" charset="-122"/>
                <a:ea typeface="黑体" panose="02010609060101010101" pitchFamily="49" charset="-122"/>
                <a:sym typeface="+mn-ea"/>
              </a:rPr>
              <a:t>module</a:t>
            </a:r>
            <a:r>
              <a:rPr kumimoji="1" lang="en-US" altLang="zh-CN" sz="2400" dirty="0">
                <a:solidFill>
                  <a:srgbClr val="FF0000"/>
                </a:solidFill>
                <a:latin typeface="+mj-lt"/>
                <a:ea typeface="微软雅黑" panose="020B0503020204020204" charset="-122"/>
                <a:sym typeface="+mn-ea"/>
              </a:rPr>
              <a:t> </a:t>
            </a:r>
            <a:r>
              <a:rPr kumimoji="1" lang="en-US" altLang="zh-CN" sz="2400" b="1"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sym typeface="+mn-ea"/>
              </a:rPr>
              <a:t>Top</a:t>
            </a:r>
            <a:r>
              <a:rPr kumimoji="1" lang="zh-CN" altLang="en-US" sz="2400" dirty="0">
                <a:solidFill>
                  <a:srgbClr val="C00000"/>
                </a:solidFill>
                <a:latin typeface="+mj-lt"/>
                <a:ea typeface="微软雅黑" panose="020B0503020204020204" charset="-122"/>
                <a:sym typeface="+mn-ea"/>
              </a:rPr>
              <a:t>；</a:t>
            </a:r>
            <a:endParaRPr kumimoji="1" lang="en-US" altLang="zh-CN" sz="2400" dirty="0">
              <a:solidFill>
                <a:srgbClr val="C00000"/>
              </a:solidFill>
              <a:latin typeface="+mj-lt"/>
              <a:ea typeface="微软雅黑" panose="020B0503020204020204" charset="-122"/>
              <a:sym typeface="+mn-ea"/>
            </a:endParaRPr>
          </a:p>
          <a:p>
            <a:pPr marL="360000" indent="-360000">
              <a:spcBef>
                <a:spcPts val="0"/>
              </a:spcBef>
              <a:spcAft>
                <a:spcPts val="0"/>
              </a:spcAft>
              <a:buClr>
                <a:schemeClr val="hlink"/>
              </a:buClr>
              <a:buSzPct val="110000"/>
              <a:buNone/>
            </a:pPr>
            <a:r>
              <a:rPr kumimoji="1" lang="en-US" altLang="zh-CN" sz="2400" b="1" dirty="0">
                <a:solidFill>
                  <a:srgbClr val="C00000"/>
                </a:solidFill>
                <a:latin typeface="黑体" panose="02010609060101010101" pitchFamily="49" charset="-122"/>
                <a:ea typeface="黑体" panose="02010609060101010101" pitchFamily="49" charset="-122"/>
                <a:sym typeface="+mn-ea"/>
              </a:rPr>
              <a:t>	reg</a:t>
            </a:r>
            <a:r>
              <a:rPr kumimoji="1" lang="en-US" altLang="zh-CN" sz="2400" dirty="0">
                <a:solidFill>
                  <a:srgbClr val="FF0000"/>
                </a:solidFill>
                <a:latin typeface="+mj-lt"/>
                <a:ea typeface="微软雅黑" panose="020B0503020204020204" charset="-122"/>
                <a:sym typeface="+mn-ea"/>
              </a:rPr>
              <a:t> </a:t>
            </a:r>
            <a:r>
              <a:rPr kumimoji="1" lang="en-US" altLang="zh-CN" sz="2400" b="1"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sym typeface="+mn-ea"/>
              </a:rPr>
              <a:t>[3:0] A,B</a:t>
            </a:r>
            <a:r>
              <a:rPr kumimoji="1" lang="en-US" altLang="zh-CN" sz="2400" dirty="0">
                <a:solidFill>
                  <a:srgbClr val="002060"/>
                </a:solidFill>
                <a:latin typeface="+mj-lt"/>
                <a:ea typeface="微软雅黑" panose="020B0503020204020204" charset="-122"/>
                <a:sym typeface="+mn-ea"/>
              </a:rPr>
              <a:t>;</a:t>
            </a:r>
          </a:p>
          <a:p>
            <a:pPr marL="360000" indent="-360000">
              <a:spcBef>
                <a:spcPts val="0"/>
              </a:spcBef>
              <a:spcAft>
                <a:spcPts val="0"/>
              </a:spcAft>
              <a:buClr>
                <a:schemeClr val="hlink"/>
              </a:buClr>
              <a:buSzPct val="110000"/>
              <a:buNone/>
            </a:pPr>
            <a:r>
              <a:rPr kumimoji="1" lang="en-US" altLang="zh-CN" sz="2400" b="1" dirty="0">
                <a:solidFill>
                  <a:srgbClr val="C00000"/>
                </a:solidFill>
                <a:latin typeface="黑体" panose="02010609060101010101" pitchFamily="49" charset="-122"/>
                <a:ea typeface="黑体" panose="02010609060101010101" pitchFamily="49" charset="-122"/>
                <a:sym typeface="+mn-ea"/>
              </a:rPr>
              <a:t>	reg</a:t>
            </a:r>
            <a:r>
              <a:rPr kumimoji="1" lang="en-US" altLang="zh-CN" sz="2400" dirty="0">
                <a:solidFill>
                  <a:srgbClr val="FF0000"/>
                </a:solidFill>
                <a:latin typeface="+mj-lt"/>
                <a:ea typeface="微软雅黑" panose="020B0503020204020204" charset="-122"/>
                <a:sym typeface="+mn-ea"/>
              </a:rPr>
              <a:t> </a:t>
            </a:r>
            <a:r>
              <a:rPr kumimoji="1" lang="en-US" altLang="zh-CN" sz="2400" b="1"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sym typeface="+mn-ea"/>
              </a:rPr>
              <a:t>C_IN</a:t>
            </a:r>
            <a:r>
              <a:rPr kumimoji="1" lang="en-US" altLang="zh-CN" sz="2400" dirty="0">
                <a:solidFill>
                  <a:srgbClr val="002060"/>
                </a:solidFill>
                <a:latin typeface="+mj-lt"/>
                <a:ea typeface="微软雅黑" panose="020B0503020204020204" charset="-122"/>
                <a:sym typeface="+mn-ea"/>
              </a:rPr>
              <a:t>;</a:t>
            </a:r>
          </a:p>
          <a:p>
            <a:pPr marL="360000" indent="-360000">
              <a:spcBef>
                <a:spcPts val="0"/>
              </a:spcBef>
              <a:spcAft>
                <a:spcPts val="0"/>
              </a:spcAft>
              <a:buClr>
                <a:schemeClr val="hlink"/>
              </a:buClr>
              <a:buSzPct val="110000"/>
              <a:buNone/>
            </a:pPr>
            <a:r>
              <a:rPr kumimoji="1" lang="en-US" altLang="zh-CN" sz="2400" b="1" dirty="0">
                <a:solidFill>
                  <a:srgbClr val="C00000"/>
                </a:solidFill>
                <a:latin typeface="黑体" panose="02010609060101010101" pitchFamily="49" charset="-122"/>
                <a:ea typeface="黑体" panose="02010609060101010101" pitchFamily="49" charset="-122"/>
                <a:sym typeface="+mn-ea"/>
              </a:rPr>
              <a:t>	wire</a:t>
            </a:r>
            <a:r>
              <a:rPr kumimoji="1" lang="en-US" altLang="zh-CN" sz="2400" dirty="0">
                <a:solidFill>
                  <a:srgbClr val="FF0000"/>
                </a:solidFill>
                <a:ea typeface="微软雅黑" panose="020B0503020204020204" charset="-122"/>
                <a:sym typeface="+mn-ea"/>
              </a:rPr>
              <a:t> </a:t>
            </a:r>
            <a:r>
              <a:rPr kumimoji="1" lang="en-US" altLang="zh-CN" sz="2400" b="1"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sym typeface="+mn-ea"/>
              </a:rPr>
              <a:t>[3:0] SUM;</a:t>
            </a:r>
          </a:p>
          <a:p>
            <a:pPr marL="360000" indent="-360000">
              <a:spcBef>
                <a:spcPts val="0"/>
              </a:spcBef>
              <a:spcAft>
                <a:spcPts val="0"/>
              </a:spcAft>
              <a:buClr>
                <a:schemeClr val="hlink"/>
              </a:buClr>
              <a:buSzPct val="110000"/>
              <a:buNone/>
            </a:pPr>
            <a:r>
              <a:rPr kumimoji="1" lang="en-US" altLang="zh-CN" sz="2400" b="1" dirty="0">
                <a:solidFill>
                  <a:srgbClr val="C00000"/>
                </a:solidFill>
                <a:latin typeface="黑体" panose="02010609060101010101" pitchFamily="49" charset="-122"/>
                <a:ea typeface="黑体" panose="02010609060101010101" pitchFamily="49" charset="-122"/>
                <a:sym typeface="+mn-ea"/>
              </a:rPr>
              <a:t>	wire</a:t>
            </a:r>
            <a:r>
              <a:rPr kumimoji="1" lang="en-US" altLang="zh-CN" sz="2400" dirty="0">
                <a:solidFill>
                  <a:srgbClr val="FF0000"/>
                </a:solidFill>
                <a:ea typeface="微软雅黑" panose="020B0503020204020204" charset="-122"/>
                <a:sym typeface="+mn-ea"/>
              </a:rPr>
              <a:t> </a:t>
            </a:r>
            <a:r>
              <a:rPr kumimoji="1" lang="en-US" altLang="zh-CN" sz="2400" b="1"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sym typeface="+mn-ea"/>
              </a:rPr>
              <a:t>C_OUT;</a:t>
            </a:r>
          </a:p>
          <a:p>
            <a:pPr marL="360000" indent="-360000">
              <a:spcBef>
                <a:spcPts val="0"/>
              </a:spcBef>
              <a:spcAft>
                <a:spcPts val="0"/>
              </a:spcAft>
              <a:buClr>
                <a:schemeClr val="hlink"/>
              </a:buClr>
              <a:buSzPct val="110000"/>
              <a:buNone/>
            </a:pPr>
            <a:r>
              <a:rPr kumimoji="1" lang="en-US" altLang="zh-CN" sz="2400" b="1"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sym typeface="+mn-ea"/>
              </a:rPr>
              <a:t>	fulladder fa1(SUM,C_OUT,A,B,C_IN);</a:t>
            </a:r>
          </a:p>
          <a:p>
            <a:pPr marL="360000" indent="-360000">
              <a:spcBef>
                <a:spcPts val="0"/>
              </a:spcBef>
              <a:spcAft>
                <a:spcPts val="0"/>
              </a:spcAft>
              <a:buClr>
                <a:schemeClr val="hlink"/>
              </a:buClr>
              <a:buSzPct val="110000"/>
              <a:buNone/>
            </a:pPr>
            <a:r>
              <a:rPr kumimoji="1" lang="en-US" altLang="zh-CN" sz="2400" b="1"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sym typeface="+mn-ea"/>
              </a:rPr>
              <a:t>	fulladder fa2(.c_out(C_OUT), .sum(SUM), .b(B), .c_in(C_IN), .a(A));</a:t>
            </a:r>
          </a:p>
          <a:p>
            <a:pPr marL="0" indent="0" defTabSz="1008400">
              <a:spcBef>
                <a:spcPts val="0"/>
              </a:spcBef>
              <a:spcAft>
                <a:spcPts val="0"/>
              </a:spcAft>
              <a:buClr>
                <a:schemeClr val="hlink"/>
              </a:buClr>
              <a:buSzPct val="110000"/>
              <a:buNone/>
            </a:pPr>
            <a:r>
              <a:rPr kumimoji="1" lang="en-US" altLang="zh-CN" sz="2400" b="1" dirty="0">
                <a:solidFill>
                  <a:srgbClr val="C00000"/>
                </a:solidFill>
                <a:latin typeface="黑体" panose="02010609060101010101" pitchFamily="49" charset="-122"/>
                <a:ea typeface="黑体" panose="02010609060101010101" pitchFamily="49" charset="-122"/>
                <a:sym typeface="+mn-ea"/>
              </a:rPr>
              <a:t>endmodule</a:t>
            </a:r>
            <a:endParaRPr kumimoji="1" lang="en-US" altLang="zh-CN" sz="2800" b="1" dirty="0">
              <a:solidFill>
                <a:srgbClr val="4B51A5"/>
              </a:solidFill>
              <a:latin typeface="黑体" panose="02010609060101010101" pitchFamily="49" charset="-122"/>
              <a:ea typeface="黑体" panose="02010609060101010101" pitchFamily="49" charset="-122"/>
            </a:endParaRPr>
          </a:p>
        </p:txBody>
      </p:sp>
      <p:sp>
        <p:nvSpPr>
          <p:cNvPr id="15" name="object 8">
            <a:extLst>
              <a:ext uri="{FF2B5EF4-FFF2-40B4-BE49-F238E27FC236}">
                <a16:creationId xmlns:a16="http://schemas.microsoft.com/office/drawing/2014/main" id="{88D4D988-5D6D-5701-87DE-9A339E457B5D}"/>
              </a:ext>
            </a:extLst>
          </p:cNvPr>
          <p:cNvSpPr txBox="1">
            <a:spLocks/>
          </p:cNvSpPr>
          <p:nvPr/>
        </p:nvSpPr>
        <p:spPr>
          <a:xfrm>
            <a:off x="170282" y="3704546"/>
            <a:ext cx="4594859" cy="900888"/>
          </a:xfrm>
          <a:prstGeom prst="rect">
            <a:avLst/>
          </a:prstGeom>
        </p:spPr>
        <p:txBody>
          <a:bodyPr vert="horz" wrap="square" lIns="0" tIns="160655" rIns="0" bIns="0" rtlCol="0">
            <a:sp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12700">
              <a:spcBef>
                <a:spcPts val="1265"/>
              </a:spcBef>
            </a:pPr>
            <a:r>
              <a:rPr lang="zh-CN" altLang="en-US" sz="2400" b="1" spc="-25" dirty="0"/>
              <a:t>例：在更高一级的模块中调用已声明好的模块</a:t>
            </a:r>
            <a:endParaRPr lang="en-US" sz="2800" b="1" dirty="0">
              <a:latin typeface="Arial"/>
              <a:cs typeface="Arial"/>
            </a:endParaRPr>
          </a:p>
        </p:txBody>
      </p:sp>
      <p:sp>
        <p:nvSpPr>
          <p:cNvPr id="16" name="矩形 15">
            <a:extLst>
              <a:ext uri="{FF2B5EF4-FFF2-40B4-BE49-F238E27FC236}">
                <a16:creationId xmlns:a16="http://schemas.microsoft.com/office/drawing/2014/main" id="{49E9287B-B56D-3769-835F-DCC92B1ABD69}"/>
              </a:ext>
            </a:extLst>
          </p:cNvPr>
          <p:cNvSpPr/>
          <p:nvPr/>
        </p:nvSpPr>
        <p:spPr>
          <a:xfrm>
            <a:off x="5041900" y="2562225"/>
            <a:ext cx="5651500" cy="3733800"/>
          </a:xfrm>
          <a:prstGeom prst="rect">
            <a:avLst/>
          </a:prstGeom>
          <a:noFill/>
          <a:ln w="3810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1901348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BD72C-7F26-0B2A-56B8-2BEDA758E8A9}"/>
            </a:ext>
          </a:extLst>
        </p:cNvPr>
        <p:cNvGrpSpPr/>
        <p:nvPr/>
      </p:nvGrpSpPr>
      <p:grpSpPr>
        <a:xfrm>
          <a:off x="0" y="0"/>
          <a:ext cx="0" cy="0"/>
          <a:chOff x="0" y="0"/>
          <a:chExt cx="0" cy="0"/>
        </a:xfrm>
      </p:grpSpPr>
      <p:sp>
        <p:nvSpPr>
          <p:cNvPr id="4" name="object 3">
            <a:extLst>
              <a:ext uri="{FF2B5EF4-FFF2-40B4-BE49-F238E27FC236}">
                <a16:creationId xmlns:a16="http://schemas.microsoft.com/office/drawing/2014/main" id="{1A5C4041-FF83-47AD-1B5F-6DAFA94E0156}"/>
              </a:ext>
            </a:extLst>
          </p:cNvPr>
          <p:cNvSpPr txBox="1">
            <a:spLocks/>
          </p:cNvSpPr>
          <p:nvPr/>
        </p:nvSpPr>
        <p:spPr>
          <a:xfrm>
            <a:off x="241300" y="200025"/>
            <a:ext cx="7288905" cy="524503"/>
          </a:xfrm>
          <a:prstGeom prst="rect">
            <a:avLst/>
          </a:prstGeom>
        </p:spPr>
        <p:txBody>
          <a:bodyPr vert="horz" wrap="square" lIns="0" tIns="16510" rIns="0" bIns="0" rtlCol="0">
            <a:spAutoFit/>
          </a:bodyPr>
          <a:lstStyle>
            <a:lvl1pPr>
              <a:defRPr sz="2800" b="0" i="0">
                <a:solidFill>
                  <a:srgbClr val="3F3F3F"/>
                </a:solidFill>
                <a:latin typeface="Calibri"/>
                <a:ea typeface="+mj-ea"/>
                <a:cs typeface="Calibri"/>
              </a:defRPr>
            </a:lvl1pPr>
          </a:lstStyle>
          <a:p>
            <a:pPr marL="12700">
              <a:spcBef>
                <a:spcPts val="130"/>
              </a:spcBef>
            </a:pPr>
            <a:r>
              <a:rPr lang="en-US" altLang="zh-CN" sz="3300" b="1" spc="-15" dirty="0">
                <a:solidFill>
                  <a:srgbClr val="000000"/>
                </a:solidFill>
                <a:latin typeface="宋体"/>
                <a:cs typeface="宋体"/>
              </a:rPr>
              <a:t>Verilog</a:t>
            </a:r>
            <a:r>
              <a:rPr lang="zh-CN" altLang="en-US" sz="3300" b="1" spc="-15" dirty="0">
                <a:solidFill>
                  <a:srgbClr val="000000"/>
                </a:solidFill>
                <a:latin typeface="宋体"/>
                <a:cs typeface="宋体"/>
              </a:rPr>
              <a:t>基本语法结构和约定</a:t>
            </a:r>
            <a:endParaRPr lang="zh-CN" altLang="en-US" sz="3300" dirty="0">
              <a:latin typeface="宋体"/>
              <a:cs typeface="宋体"/>
            </a:endParaRPr>
          </a:p>
        </p:txBody>
      </p:sp>
      <p:sp>
        <p:nvSpPr>
          <p:cNvPr id="11" name="Rectangle 3" descr="Rectangle: Click to edit Master text styles&#10;Second level&#10;Third level&#10;Fourth level&#10;Fifth level">
            <a:extLst>
              <a:ext uri="{FF2B5EF4-FFF2-40B4-BE49-F238E27FC236}">
                <a16:creationId xmlns:a16="http://schemas.microsoft.com/office/drawing/2014/main" id="{B5AD95C2-ED68-3C08-9DA6-98CF9ADEC68C}"/>
              </a:ext>
            </a:extLst>
          </p:cNvPr>
          <p:cNvSpPr txBox="1">
            <a:spLocks/>
          </p:cNvSpPr>
          <p:nvPr/>
        </p:nvSpPr>
        <p:spPr bwMode="auto">
          <a:xfrm>
            <a:off x="927100" y="1458292"/>
            <a:ext cx="4938588" cy="46462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9pPr>
          </a:lstStyle>
          <a:p>
            <a:pPr eaLnBrk="1" hangingPunct="1">
              <a:lnSpc>
                <a:spcPct val="150000"/>
              </a:lnSpc>
              <a:spcBef>
                <a:spcPts val="600"/>
              </a:spcBef>
              <a:spcAft>
                <a:spcPts val="600"/>
              </a:spcAft>
              <a:buClr>
                <a:schemeClr val="tx1"/>
              </a:buClr>
            </a:pPr>
            <a:r>
              <a:rPr kumimoji="1" lang="zh-CN" altLang="en-US" sz="2800" b="1" dirty="0">
                <a:solidFill>
                  <a:srgbClr val="002060"/>
                </a:solidFill>
                <a:latin typeface="+mn-ea"/>
              </a:rPr>
              <a:t>数据类型</a:t>
            </a:r>
            <a:endParaRPr kumimoji="1" lang="en-US" altLang="zh-CN" sz="2800" b="1" dirty="0">
              <a:solidFill>
                <a:srgbClr val="002060"/>
              </a:solidFill>
              <a:latin typeface="+mn-ea"/>
            </a:endParaRPr>
          </a:p>
          <a:p>
            <a:pPr eaLnBrk="1" hangingPunct="1">
              <a:lnSpc>
                <a:spcPct val="150000"/>
              </a:lnSpc>
              <a:spcBef>
                <a:spcPts val="600"/>
              </a:spcBef>
              <a:spcAft>
                <a:spcPts val="600"/>
              </a:spcAft>
              <a:buClr>
                <a:schemeClr val="tx1"/>
              </a:buClr>
            </a:pPr>
            <a:r>
              <a:rPr kumimoji="1" lang="zh-CN" altLang="en-US" sz="2800" b="1" dirty="0">
                <a:solidFill>
                  <a:srgbClr val="002060"/>
                </a:solidFill>
                <a:latin typeface="+mn-ea"/>
              </a:rPr>
              <a:t>数字声明</a:t>
            </a:r>
            <a:endParaRPr kumimoji="1" lang="en-US" altLang="zh-CN" sz="2800" b="1" dirty="0">
              <a:solidFill>
                <a:srgbClr val="002060"/>
              </a:solidFill>
              <a:latin typeface="+mn-ea"/>
            </a:endParaRPr>
          </a:p>
          <a:p>
            <a:pPr eaLnBrk="1" hangingPunct="1">
              <a:lnSpc>
                <a:spcPct val="150000"/>
              </a:lnSpc>
              <a:spcBef>
                <a:spcPts val="600"/>
              </a:spcBef>
              <a:spcAft>
                <a:spcPts val="600"/>
              </a:spcAft>
              <a:buClr>
                <a:schemeClr val="tx1"/>
              </a:buClr>
            </a:pPr>
            <a:r>
              <a:rPr kumimoji="1" lang="zh-CN" altLang="en-US" sz="2800" b="1" kern="0" dirty="0">
                <a:solidFill>
                  <a:srgbClr val="002060"/>
                </a:solidFill>
                <a:latin typeface="+mn-ea"/>
              </a:rPr>
              <a:t>字符串</a:t>
            </a:r>
            <a:endParaRPr kumimoji="1" lang="en-US" altLang="zh-CN" sz="2800" b="1" kern="0" dirty="0">
              <a:solidFill>
                <a:srgbClr val="002060"/>
              </a:solidFill>
              <a:latin typeface="+mn-ea"/>
            </a:endParaRPr>
          </a:p>
          <a:p>
            <a:pPr eaLnBrk="1" hangingPunct="1">
              <a:lnSpc>
                <a:spcPct val="150000"/>
              </a:lnSpc>
              <a:spcBef>
                <a:spcPts val="600"/>
              </a:spcBef>
              <a:spcAft>
                <a:spcPts val="600"/>
              </a:spcAft>
              <a:buClr>
                <a:schemeClr val="tx1"/>
              </a:buClr>
            </a:pPr>
            <a:r>
              <a:rPr kumimoji="1" lang="zh-CN" altLang="en-US" sz="2800" b="1" dirty="0">
                <a:solidFill>
                  <a:srgbClr val="002060"/>
                </a:solidFill>
                <a:latin typeface="+mn-ea"/>
              </a:rPr>
              <a:t>标识符和关键字</a:t>
            </a:r>
            <a:endParaRPr kumimoji="1" lang="en-US" altLang="zh-CN" sz="2800" b="1" dirty="0">
              <a:solidFill>
                <a:srgbClr val="002060"/>
              </a:solidFill>
              <a:latin typeface="+mn-ea"/>
            </a:endParaRPr>
          </a:p>
          <a:p>
            <a:pPr eaLnBrk="1" hangingPunct="1">
              <a:lnSpc>
                <a:spcPct val="150000"/>
              </a:lnSpc>
              <a:spcBef>
                <a:spcPts val="600"/>
              </a:spcBef>
              <a:spcAft>
                <a:spcPts val="600"/>
              </a:spcAft>
              <a:buClr>
                <a:schemeClr val="tx1"/>
              </a:buClr>
            </a:pPr>
            <a:r>
              <a:rPr kumimoji="1" lang="zh-CN" altLang="en-US" sz="2800" b="1" kern="0" dirty="0">
                <a:solidFill>
                  <a:srgbClr val="002060"/>
                </a:solidFill>
                <a:latin typeface="+mn-ea"/>
              </a:rPr>
              <a:t>操作符</a:t>
            </a:r>
            <a:endParaRPr kumimoji="1" lang="en-US" altLang="zh-CN" sz="2800" b="1" dirty="0">
              <a:latin typeface="+mn-ea"/>
              <a:cs typeface="Times New Roman" panose="02020603050405020304" pitchFamily="18" charset="0"/>
              <a:sym typeface="+mn-ea"/>
            </a:endParaRPr>
          </a:p>
        </p:txBody>
      </p:sp>
    </p:spTree>
    <p:extLst>
      <p:ext uri="{BB962C8B-B14F-4D97-AF65-F5344CB8AC3E}">
        <p14:creationId xmlns:p14="http://schemas.microsoft.com/office/powerpoint/2010/main" val="16280040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descr="Rectangle: Click to edit Master text styles&#10;Second level&#10;Third level&#10;Fourth level&#10;Fifth level">
            <a:extLst>
              <a:ext uri="{FF2B5EF4-FFF2-40B4-BE49-F238E27FC236}">
                <a16:creationId xmlns:a16="http://schemas.microsoft.com/office/drawing/2014/main" id="{F3C13B47-C269-7422-6346-75C37BDDA951}"/>
              </a:ext>
            </a:extLst>
          </p:cNvPr>
          <p:cNvSpPr txBox="1">
            <a:spLocks/>
          </p:cNvSpPr>
          <p:nvPr/>
        </p:nvSpPr>
        <p:spPr>
          <a:xfrm>
            <a:off x="1468437" y="1647825"/>
            <a:ext cx="8374063" cy="3806170"/>
          </a:xfrm>
          <a:prstGeom prst="rect">
            <a:avLst/>
          </a:prstGeom>
        </p:spPr>
        <p:txBody>
          <a:bodyPr wrap="square" lIns="0" tIns="0" rIns="0" bIns="0" anchor="t">
            <a:spAutoFit/>
          </a:bodyPr>
          <a:lstStyle>
            <a:lvl1pPr marL="0">
              <a:defRPr sz="2100" b="0" i="0">
                <a:solidFill>
                  <a:schemeClr val="tx1"/>
                </a:solidFill>
                <a:latin typeface="宋体"/>
                <a:ea typeface="+mn-ea"/>
                <a:cs typeface="宋体"/>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l" rtl="0" fontAlgn="base">
              <a:spcBef>
                <a:spcPts val="200"/>
              </a:spcBef>
              <a:spcAft>
                <a:spcPts val="200"/>
              </a:spcAft>
              <a:buClr>
                <a:schemeClr val="tx1"/>
              </a:buClr>
              <a:buSzPct val="75000"/>
            </a:pPr>
            <a:r>
              <a:rPr kumimoji="1" lang="zh-CN" altLang="en-US" sz="2800" b="1" noProof="1">
                <a:solidFill>
                  <a:srgbClr val="002060"/>
                </a:solidFill>
                <a:latin typeface="+mn-ea"/>
                <a:cs typeface="+mn-cs"/>
              </a:rPr>
              <a:t>变量</a:t>
            </a:r>
            <a:endParaRPr kumimoji="1" lang="en-US" altLang="zh-CN" sz="2800" b="1" noProof="1">
              <a:solidFill>
                <a:srgbClr val="002060"/>
              </a:solidFill>
              <a:latin typeface="+mn-ea"/>
              <a:cs typeface="+mn-cs"/>
            </a:endParaRPr>
          </a:p>
          <a:p>
            <a:pPr marL="720000" indent="-342900" algn="l" rtl="0" fontAlgn="base">
              <a:spcBef>
                <a:spcPts val="200"/>
              </a:spcBef>
              <a:spcAft>
                <a:spcPts val="200"/>
              </a:spcAft>
              <a:buClr>
                <a:schemeClr val="tx1"/>
              </a:buClr>
              <a:buSzPct val="75000"/>
              <a:buFont typeface="Wingdings" panose="05000000000000000000" pitchFamily="2" charset="2"/>
              <a:buChar char="n"/>
            </a:pPr>
            <a:r>
              <a:rPr kumimoji="1" lang="zh-CN" altLang="en-US" sz="2800" b="1" noProof="1">
                <a:solidFill>
                  <a:srgbClr val="002060"/>
                </a:solidFill>
                <a:latin typeface="+mn-ea"/>
                <a:cs typeface="+mn-cs"/>
              </a:rPr>
              <a:t>线网型</a:t>
            </a:r>
            <a:r>
              <a:rPr kumimoji="1" lang="en-US" altLang="zh-CN" sz="2800" b="1" noProof="1">
                <a:solidFill>
                  <a:srgbClr val="002060"/>
                </a:solidFill>
                <a:latin typeface="+mn-ea"/>
                <a:cs typeface="+mn-cs"/>
              </a:rPr>
              <a:t>(nets type)</a:t>
            </a:r>
          </a:p>
          <a:p>
            <a:pPr marL="1177200" lvl="1" indent="-342900" algn="l" rtl="0" fontAlgn="base">
              <a:spcBef>
                <a:spcPts val="200"/>
              </a:spcBef>
              <a:spcAft>
                <a:spcPts val="200"/>
              </a:spcAft>
              <a:buClr>
                <a:schemeClr val="tx1"/>
              </a:buClr>
              <a:buSzPct val="75000"/>
              <a:buFont typeface="Wingdings" panose="05000000000000000000" pitchFamily="2" charset="2"/>
              <a:buChar char="l"/>
            </a:pPr>
            <a:r>
              <a:rPr kumimoji="1" lang="en-US" altLang="zh-CN" sz="2800" b="1" noProof="1">
                <a:solidFill>
                  <a:srgbClr val="C00000"/>
                </a:solidFill>
                <a:latin typeface="+mn-ea"/>
              </a:rPr>
              <a:t>wire</a:t>
            </a:r>
            <a:r>
              <a:rPr kumimoji="1" lang="zh-CN" altLang="en-US" sz="2800" b="1" noProof="1">
                <a:solidFill>
                  <a:srgbClr val="002060"/>
                </a:solidFill>
                <a:latin typeface="+mn-ea"/>
              </a:rPr>
              <a:t>型最常用</a:t>
            </a:r>
          </a:p>
          <a:p>
            <a:pPr marL="720000" indent="-342900" algn="l" rtl="0" fontAlgn="base">
              <a:spcBef>
                <a:spcPts val="200"/>
              </a:spcBef>
              <a:spcAft>
                <a:spcPts val="200"/>
              </a:spcAft>
              <a:buClr>
                <a:schemeClr val="tx1"/>
              </a:buClr>
              <a:buSzPct val="75000"/>
              <a:buFont typeface="Wingdings" panose="05000000000000000000" pitchFamily="2" charset="2"/>
              <a:buChar char="n"/>
            </a:pPr>
            <a:r>
              <a:rPr kumimoji="1" lang="zh-CN" altLang="en-US" sz="2800" b="1" noProof="1">
                <a:solidFill>
                  <a:srgbClr val="002060"/>
                </a:solidFill>
                <a:latin typeface="+mn-ea"/>
                <a:cs typeface="+mn-cs"/>
              </a:rPr>
              <a:t>寄存器型</a:t>
            </a:r>
            <a:r>
              <a:rPr kumimoji="1" lang="en-US" altLang="zh-CN" sz="2800" b="1" noProof="1">
                <a:solidFill>
                  <a:srgbClr val="002060"/>
                </a:solidFill>
                <a:latin typeface="+mn-ea"/>
                <a:cs typeface="+mn-cs"/>
              </a:rPr>
              <a:t>(register</a:t>
            </a:r>
            <a:r>
              <a:rPr kumimoji="1" lang="zh-CN" altLang="en-US" sz="2800" b="1" noProof="1">
                <a:solidFill>
                  <a:srgbClr val="002060"/>
                </a:solidFill>
                <a:latin typeface="+mn-ea"/>
                <a:cs typeface="+mn-cs"/>
              </a:rPr>
              <a:t> </a:t>
            </a:r>
            <a:r>
              <a:rPr kumimoji="1" lang="en-US" altLang="zh-CN" sz="2800" b="1" noProof="1">
                <a:solidFill>
                  <a:srgbClr val="002060"/>
                </a:solidFill>
                <a:latin typeface="+mn-ea"/>
                <a:cs typeface="+mn-cs"/>
              </a:rPr>
              <a:t>type)</a:t>
            </a:r>
          </a:p>
          <a:p>
            <a:pPr marL="1177200" lvl="1" indent="-342900" algn="l" rtl="0" fontAlgn="base">
              <a:spcBef>
                <a:spcPts val="200"/>
              </a:spcBef>
              <a:spcAft>
                <a:spcPts val="200"/>
              </a:spcAft>
              <a:buClr>
                <a:schemeClr val="tx1"/>
              </a:buClr>
              <a:buSzPct val="75000"/>
              <a:buFont typeface="Wingdings" panose="05000000000000000000" pitchFamily="2" charset="2"/>
              <a:buChar char="l"/>
            </a:pPr>
            <a:r>
              <a:rPr kumimoji="1" lang="en-US" altLang="zh-CN" sz="2800" b="1" noProof="1">
                <a:solidFill>
                  <a:srgbClr val="C00000"/>
                </a:solidFill>
                <a:latin typeface="+mn-ea"/>
              </a:rPr>
              <a:t>reg</a:t>
            </a:r>
            <a:r>
              <a:rPr kumimoji="1" lang="zh-CN" altLang="en-US" sz="2800" b="1" noProof="1">
                <a:solidFill>
                  <a:srgbClr val="002060"/>
                </a:solidFill>
                <a:latin typeface="+mn-ea"/>
              </a:rPr>
              <a:t>型</a:t>
            </a:r>
            <a:endParaRPr kumimoji="1" lang="en-US" altLang="zh-CN" sz="2800" b="1" noProof="1">
              <a:solidFill>
                <a:srgbClr val="002060"/>
              </a:solidFill>
              <a:latin typeface="+mn-ea"/>
            </a:endParaRPr>
          </a:p>
          <a:p>
            <a:pPr marL="1177200" lvl="1" indent="-342900" algn="l" rtl="0" fontAlgn="base">
              <a:spcBef>
                <a:spcPts val="200"/>
              </a:spcBef>
              <a:spcAft>
                <a:spcPts val="200"/>
              </a:spcAft>
              <a:buClr>
                <a:schemeClr val="tx1"/>
              </a:buClr>
              <a:buSzPct val="75000"/>
              <a:buFont typeface="Wingdings" panose="05000000000000000000" pitchFamily="2" charset="2"/>
              <a:buChar char="l"/>
            </a:pPr>
            <a:r>
              <a:rPr kumimoji="1" lang="en-US" altLang="zh-CN" sz="2800" b="1" noProof="1">
                <a:solidFill>
                  <a:srgbClr val="C00000"/>
                </a:solidFill>
                <a:latin typeface="+mn-ea"/>
              </a:rPr>
              <a:t>integer</a:t>
            </a:r>
            <a:r>
              <a:rPr kumimoji="1" lang="zh-CN" altLang="en-US" sz="2800" b="1" noProof="1">
                <a:solidFill>
                  <a:srgbClr val="002060"/>
                </a:solidFill>
                <a:latin typeface="+mn-ea"/>
              </a:rPr>
              <a:t>型：更方便地描述整数</a:t>
            </a:r>
          </a:p>
          <a:p>
            <a:pPr algn="l" rtl="0" fontAlgn="base">
              <a:spcBef>
                <a:spcPts val="200"/>
              </a:spcBef>
              <a:spcAft>
                <a:spcPts val="200"/>
              </a:spcAft>
              <a:buClr>
                <a:schemeClr val="tx1"/>
              </a:buClr>
              <a:buSzPct val="75000"/>
            </a:pPr>
            <a:r>
              <a:rPr kumimoji="1" lang="zh-CN" altLang="en-US" sz="2800" b="1" noProof="1">
                <a:solidFill>
                  <a:srgbClr val="002060"/>
                </a:solidFill>
                <a:latin typeface="+mn-ea"/>
                <a:cs typeface="+mn-cs"/>
              </a:rPr>
              <a:t>常量</a:t>
            </a:r>
            <a:endParaRPr kumimoji="1" lang="en-US" altLang="zh-CN" sz="2800" b="1" noProof="1">
              <a:solidFill>
                <a:srgbClr val="002060"/>
              </a:solidFill>
              <a:latin typeface="+mn-ea"/>
              <a:cs typeface="+mn-cs"/>
            </a:endParaRPr>
          </a:p>
          <a:p>
            <a:pPr marL="720000" indent="-342900" algn="l" rtl="0" fontAlgn="base">
              <a:spcBef>
                <a:spcPts val="200"/>
              </a:spcBef>
              <a:spcAft>
                <a:spcPts val="200"/>
              </a:spcAft>
              <a:buClr>
                <a:schemeClr val="tx1"/>
              </a:buClr>
              <a:buSzPct val="75000"/>
              <a:buFont typeface="Wingdings" panose="05000000000000000000" pitchFamily="2" charset="2"/>
              <a:buChar char="n"/>
            </a:pPr>
            <a:r>
              <a:rPr kumimoji="1" lang="zh-CN" altLang="en-US" sz="2800" b="1" noProof="1">
                <a:solidFill>
                  <a:srgbClr val="002060"/>
                </a:solidFill>
                <a:latin typeface="+mn-ea"/>
                <a:cs typeface="+mn-cs"/>
              </a:rPr>
              <a:t>参数</a:t>
            </a:r>
            <a:r>
              <a:rPr kumimoji="1" lang="en-US" altLang="zh-CN" sz="2800" b="1" noProof="1">
                <a:solidFill>
                  <a:srgbClr val="C00000"/>
                </a:solidFill>
                <a:latin typeface="+mn-ea"/>
                <a:cs typeface="+mn-cs"/>
              </a:rPr>
              <a:t>parameter</a:t>
            </a:r>
            <a:endParaRPr kumimoji="1" lang="zh-CN" altLang="en-US" sz="2800" noProof="1">
              <a:solidFill>
                <a:srgbClr val="4B51A5"/>
              </a:solidFill>
              <a:latin typeface="Tahoma" panose="020B0604030504040204" pitchFamily="34" charset="0"/>
              <a:ea typeface="微软雅黑" panose="020B0503020204020204" charset="-122"/>
              <a:cs typeface="+mn-cs"/>
            </a:endParaRPr>
          </a:p>
        </p:txBody>
      </p:sp>
      <p:pic>
        <p:nvPicPr>
          <p:cNvPr id="3" name="object 3"/>
          <p:cNvPicPr/>
          <p:nvPr/>
        </p:nvPicPr>
        <p:blipFill>
          <a:blip r:embed="rId3" cstate="print"/>
          <a:stretch>
            <a:fillRect/>
          </a:stretch>
        </p:blipFill>
        <p:spPr>
          <a:xfrm>
            <a:off x="1157260" y="1791562"/>
            <a:ext cx="195544" cy="192055"/>
          </a:xfrm>
          <a:prstGeom prst="rect">
            <a:avLst/>
          </a:prstGeom>
        </p:spPr>
      </p:pic>
      <p:pic>
        <p:nvPicPr>
          <p:cNvPr id="4" name="object 4"/>
          <p:cNvPicPr/>
          <p:nvPr/>
        </p:nvPicPr>
        <p:blipFill>
          <a:blip r:embed="rId4" cstate="print"/>
          <a:stretch>
            <a:fillRect/>
          </a:stretch>
        </p:blipFill>
        <p:spPr>
          <a:xfrm>
            <a:off x="1157260" y="4667395"/>
            <a:ext cx="195544" cy="192055"/>
          </a:xfrm>
          <a:prstGeom prst="rect">
            <a:avLst/>
          </a:prstGeom>
        </p:spPr>
      </p:pic>
      <p:sp>
        <p:nvSpPr>
          <p:cNvPr id="6" name="object 6"/>
          <p:cNvSpPr txBox="1">
            <a:spLocks noGrp="1"/>
          </p:cNvSpPr>
          <p:nvPr>
            <p:ph type="ftr" sz="quarter" idx="5"/>
          </p:nvPr>
        </p:nvSpPr>
        <p:spPr>
          <a:prstGeom prst="rect">
            <a:avLst/>
          </a:prstGeom>
        </p:spPr>
        <p:txBody>
          <a:bodyPr vert="horz" wrap="square" lIns="0" tIns="23495" rIns="0" bIns="0" rtlCol="0">
            <a:spAutoFit/>
          </a:bodyPr>
          <a:lstStyle/>
          <a:p>
            <a:pPr marL="13335">
              <a:lnSpc>
                <a:spcPct val="100000"/>
              </a:lnSpc>
              <a:spcBef>
                <a:spcPts val="185"/>
              </a:spcBef>
            </a:pPr>
            <a:r>
              <a:rPr dirty="0"/>
              <a:t>Xilinx</a:t>
            </a:r>
            <a:r>
              <a:rPr spc="-5" dirty="0"/>
              <a:t> 大学合作部 </a:t>
            </a:r>
            <a:r>
              <a:rPr dirty="0"/>
              <a:t>&amp;</a:t>
            </a:r>
            <a:r>
              <a:rPr spc="-10" dirty="0"/>
              <a:t> 东南大学</a:t>
            </a:r>
          </a:p>
        </p:txBody>
      </p:sp>
      <p:sp>
        <p:nvSpPr>
          <p:cNvPr id="7" name="object 7"/>
          <p:cNvSpPr txBox="1">
            <a:spLocks noGrp="1"/>
          </p:cNvSpPr>
          <p:nvPr>
            <p:ph type="sldNum" sz="quarter" idx="7"/>
          </p:nvPr>
        </p:nvSpPr>
        <p:spPr>
          <a:prstGeom prst="rect">
            <a:avLst/>
          </a:prstGeom>
        </p:spPr>
        <p:txBody>
          <a:bodyPr vert="horz" wrap="square" lIns="0" tIns="4445" rIns="0" bIns="0" rtlCol="0">
            <a:spAutoFit/>
          </a:bodyPr>
          <a:lstStyle/>
          <a:p>
            <a:pPr marL="38735">
              <a:lnSpc>
                <a:spcPct val="100000"/>
              </a:lnSpc>
              <a:spcBef>
                <a:spcPts val="35"/>
              </a:spcBef>
            </a:pPr>
            <a:fld id="{81D60167-4931-47E6-BA6A-407CBD079E47}" type="slidenum">
              <a:rPr spc="-25" dirty="0"/>
              <a:t>12</a:t>
            </a:fld>
            <a:endParaRPr spc="-25" dirty="0"/>
          </a:p>
        </p:txBody>
      </p:sp>
      <p:sp>
        <p:nvSpPr>
          <p:cNvPr id="8" name="object 3">
            <a:extLst>
              <a:ext uri="{FF2B5EF4-FFF2-40B4-BE49-F238E27FC236}">
                <a16:creationId xmlns:a16="http://schemas.microsoft.com/office/drawing/2014/main" id="{34EABDD7-4D33-1A75-1C99-4FABB60CFA72}"/>
              </a:ext>
            </a:extLst>
          </p:cNvPr>
          <p:cNvSpPr txBox="1">
            <a:spLocks/>
          </p:cNvSpPr>
          <p:nvPr/>
        </p:nvSpPr>
        <p:spPr>
          <a:xfrm>
            <a:off x="241300" y="200025"/>
            <a:ext cx="7288905" cy="524503"/>
          </a:xfrm>
          <a:prstGeom prst="rect">
            <a:avLst/>
          </a:prstGeom>
        </p:spPr>
        <p:txBody>
          <a:bodyPr vert="horz" wrap="square" lIns="0" tIns="16510" rIns="0" bIns="0" rtlCol="0">
            <a:spAutoFit/>
          </a:bodyPr>
          <a:lstStyle>
            <a:lvl1pPr>
              <a:defRPr sz="2800" b="0" i="0">
                <a:solidFill>
                  <a:srgbClr val="3F3F3F"/>
                </a:solidFill>
                <a:latin typeface="Calibri"/>
                <a:ea typeface="+mj-ea"/>
                <a:cs typeface="Calibri"/>
              </a:defRPr>
            </a:lvl1pPr>
          </a:lstStyle>
          <a:p>
            <a:pPr marL="12700">
              <a:spcBef>
                <a:spcPts val="130"/>
              </a:spcBef>
            </a:pPr>
            <a:r>
              <a:rPr lang="zh-CN" altLang="en-US" sz="3300" b="1" spc="-15" dirty="0">
                <a:solidFill>
                  <a:srgbClr val="000000"/>
                </a:solidFill>
                <a:latin typeface="宋体"/>
                <a:cs typeface="宋体"/>
              </a:rPr>
              <a:t>数据类型</a:t>
            </a:r>
            <a:r>
              <a:rPr lang="en-US" altLang="zh-CN" sz="3300" b="1" spc="-15" dirty="0">
                <a:solidFill>
                  <a:srgbClr val="000000"/>
                </a:solidFill>
                <a:latin typeface="宋体"/>
                <a:cs typeface="宋体"/>
              </a:rPr>
              <a:t>(Data Types)</a:t>
            </a:r>
            <a:endParaRPr lang="zh-CN" altLang="en-US" sz="3300" dirty="0">
              <a:latin typeface="宋体"/>
              <a:cs typeface="宋体"/>
            </a:endParaRPr>
          </a:p>
        </p:txBody>
      </p:sp>
      <p:sp>
        <p:nvSpPr>
          <p:cNvPr id="9" name="Rectangle 3" descr="Rectangle: Click to edit Master text styles&#10;Second level&#10;Third level&#10;Fourth level&#10;Fifth level">
            <a:extLst>
              <a:ext uri="{FF2B5EF4-FFF2-40B4-BE49-F238E27FC236}">
                <a16:creationId xmlns:a16="http://schemas.microsoft.com/office/drawing/2014/main" id="{EBBD229F-CED6-65B4-A21A-7CF4BB8E9009}"/>
              </a:ext>
            </a:extLst>
          </p:cNvPr>
          <p:cNvSpPr txBox="1">
            <a:spLocks/>
          </p:cNvSpPr>
          <p:nvPr/>
        </p:nvSpPr>
        <p:spPr>
          <a:xfrm>
            <a:off x="578237" y="952963"/>
            <a:ext cx="8374063" cy="556306"/>
          </a:xfrm>
          <a:prstGeom prst="rect">
            <a:avLst/>
          </a:prstGeom>
        </p:spPr>
        <p:txBody>
          <a:bodyPr wrap="square" lIns="0" tIns="0" rIns="0" bIns="0" anchor="t">
            <a:spAutoFit/>
          </a:bodyPr>
          <a:lstStyle>
            <a:lvl1pPr marL="0">
              <a:defRPr sz="2100" b="0" i="0">
                <a:solidFill>
                  <a:schemeClr val="tx1"/>
                </a:solidFill>
                <a:latin typeface="宋体"/>
                <a:ea typeface="+mn-ea"/>
                <a:cs typeface="宋体"/>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l" rtl="0" fontAlgn="base">
              <a:lnSpc>
                <a:spcPct val="150000"/>
              </a:lnSpc>
              <a:buClr>
                <a:schemeClr val="tx1"/>
              </a:buClr>
              <a:buSzPct val="75000"/>
            </a:pPr>
            <a:r>
              <a:rPr kumimoji="1" lang="zh-CN" altLang="en-US" sz="2800" b="1" noProof="1">
                <a:solidFill>
                  <a:srgbClr val="002060"/>
                </a:solidFill>
                <a:latin typeface="+mn-ea"/>
                <a:cs typeface="+mn-cs"/>
              </a:rPr>
              <a:t>常用的基础数据类型主要是以下四种：</a:t>
            </a:r>
            <a:endParaRPr kumimoji="1" lang="zh-CN" altLang="en-US" sz="2800" noProof="1">
              <a:solidFill>
                <a:srgbClr val="4B51A5"/>
              </a:solidFill>
              <a:latin typeface="Tahoma" panose="020B0604030504040204" pitchFamily="34" charset="0"/>
              <a:ea typeface="微软雅黑" panose="020B0503020204020204" charset="-122"/>
              <a:cs typeface="+mn-cs"/>
            </a:endParaRPr>
          </a:p>
        </p:txBody>
      </p:sp>
      <p:sp>
        <p:nvSpPr>
          <p:cNvPr id="5" name="Rectangle 3" descr="Rectangle: Click to edit Master text styles&#10;Second level&#10;Third level&#10;Fourth level&#10;Fifth level">
            <a:extLst>
              <a:ext uri="{FF2B5EF4-FFF2-40B4-BE49-F238E27FC236}">
                <a16:creationId xmlns:a16="http://schemas.microsoft.com/office/drawing/2014/main" id="{4807B539-D248-5023-F7D5-A889423CCE39}"/>
              </a:ext>
            </a:extLst>
          </p:cNvPr>
          <p:cNvSpPr txBox="1">
            <a:spLocks/>
          </p:cNvSpPr>
          <p:nvPr/>
        </p:nvSpPr>
        <p:spPr>
          <a:xfrm>
            <a:off x="578237" y="5511119"/>
            <a:ext cx="8374063" cy="556306"/>
          </a:xfrm>
          <a:prstGeom prst="rect">
            <a:avLst/>
          </a:prstGeom>
        </p:spPr>
        <p:txBody>
          <a:bodyPr wrap="square" lIns="0" tIns="0" rIns="0" bIns="0" anchor="t">
            <a:spAutoFit/>
          </a:bodyPr>
          <a:lstStyle>
            <a:lvl1pPr marL="0">
              <a:defRPr sz="2100" b="0" i="0">
                <a:solidFill>
                  <a:schemeClr val="tx1"/>
                </a:solidFill>
                <a:latin typeface="宋体"/>
                <a:ea typeface="+mn-ea"/>
                <a:cs typeface="宋体"/>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l" rtl="0" fontAlgn="base">
              <a:lnSpc>
                <a:spcPct val="150000"/>
              </a:lnSpc>
              <a:buClr>
                <a:schemeClr val="tx1"/>
              </a:buClr>
              <a:buSzPct val="75000"/>
            </a:pPr>
            <a:r>
              <a:rPr kumimoji="1" lang="zh-CN" altLang="en-US" sz="2800" b="1" noProof="1">
                <a:solidFill>
                  <a:srgbClr val="002060"/>
                </a:solidFill>
                <a:latin typeface="+mn-ea"/>
                <a:cs typeface="+mn-cs"/>
              </a:rPr>
              <a:t>在此基础上，还可以扩展位宽和维度定义：</a:t>
            </a:r>
            <a:endParaRPr kumimoji="1" lang="zh-CN" altLang="en-US" sz="2800" noProof="1">
              <a:solidFill>
                <a:srgbClr val="4B51A5"/>
              </a:solidFill>
              <a:latin typeface="Tahoma" panose="020B0604030504040204" pitchFamily="34" charset="0"/>
              <a:ea typeface="微软雅黑" panose="020B0503020204020204" charset="-122"/>
              <a:cs typeface="+mn-cs"/>
            </a:endParaRPr>
          </a:p>
        </p:txBody>
      </p:sp>
      <p:sp>
        <p:nvSpPr>
          <p:cNvPr id="10" name="Rectangle 3" descr="Rectangle: Click to edit Master text styles&#10;Second level&#10;Third level&#10;Fourth level&#10;Fifth level">
            <a:extLst>
              <a:ext uri="{FF2B5EF4-FFF2-40B4-BE49-F238E27FC236}">
                <a16:creationId xmlns:a16="http://schemas.microsoft.com/office/drawing/2014/main" id="{3805ADD7-B75D-3912-C511-DB90D56240A7}"/>
              </a:ext>
            </a:extLst>
          </p:cNvPr>
          <p:cNvSpPr txBox="1">
            <a:spLocks/>
          </p:cNvSpPr>
          <p:nvPr/>
        </p:nvSpPr>
        <p:spPr>
          <a:xfrm>
            <a:off x="1468436" y="6246138"/>
            <a:ext cx="8374063" cy="430887"/>
          </a:xfrm>
          <a:prstGeom prst="rect">
            <a:avLst/>
          </a:prstGeom>
        </p:spPr>
        <p:txBody>
          <a:bodyPr wrap="square" lIns="0" tIns="0" rIns="0" bIns="0" anchor="t">
            <a:spAutoFit/>
          </a:bodyPr>
          <a:lstStyle>
            <a:lvl1pPr marL="0">
              <a:defRPr sz="2100" b="0" i="0">
                <a:solidFill>
                  <a:schemeClr val="tx1"/>
                </a:solidFill>
                <a:latin typeface="宋体"/>
                <a:ea typeface="+mn-ea"/>
                <a:cs typeface="宋体"/>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720000" indent="-342900" algn="l" rtl="0" fontAlgn="base">
              <a:spcBef>
                <a:spcPts val="200"/>
              </a:spcBef>
              <a:spcAft>
                <a:spcPts val="200"/>
              </a:spcAft>
              <a:buClr>
                <a:schemeClr val="tx1"/>
              </a:buClr>
              <a:buSzPct val="75000"/>
              <a:buFont typeface="Wingdings" panose="05000000000000000000" pitchFamily="2" charset="2"/>
              <a:buChar char="n"/>
            </a:pPr>
            <a:r>
              <a:rPr kumimoji="1" lang="zh-CN" altLang="en-US" sz="2800" b="1" noProof="1">
                <a:solidFill>
                  <a:srgbClr val="002060"/>
                </a:solidFill>
                <a:latin typeface="+mn-ea"/>
                <a:cs typeface="+mn-cs"/>
              </a:rPr>
              <a:t>向量、数组、存储器</a:t>
            </a:r>
            <a:endParaRPr kumimoji="1" lang="zh-CN" altLang="en-US" sz="2800" b="1" noProof="1">
              <a:solidFill>
                <a:srgbClr val="002060"/>
              </a:solidFill>
              <a:latin typeface="+mn-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3" descr="Rectangle: Click to edit Master text styles&#10;Second level&#10;Third level&#10;Fourth level&#10;Fifth level"/>
          <p:cNvSpPr>
            <a:spLocks noGrp="1"/>
          </p:cNvSpPr>
          <p:nvPr>
            <p:ph idx="1"/>
          </p:nvPr>
        </p:nvSpPr>
        <p:spPr>
          <a:xfrm>
            <a:off x="774700" y="1190625"/>
            <a:ext cx="9546348" cy="7206075"/>
          </a:xfrm>
        </p:spPr>
        <p:txBody>
          <a:bodyPr anchor="t"/>
          <a:lstStyle/>
          <a:p>
            <a:pPr marL="0" lvl="1" algn="l" defTabSz="1008400" rtl="0" eaLnBrk="0" fontAlgn="base" hangingPunct="0">
              <a:lnSpc>
                <a:spcPct val="150000"/>
              </a:lnSpc>
              <a:buClr>
                <a:schemeClr val="tx1"/>
              </a:buClr>
              <a:buSzPct val="75000"/>
            </a:pPr>
            <a:r>
              <a:rPr kumimoji="1" lang="zh-CN" altLang="en-US" sz="2800" b="1" noProof="1">
                <a:solidFill>
                  <a:srgbClr val="002060"/>
                </a:solidFill>
                <a:latin typeface="+mn-ea"/>
              </a:rPr>
              <a:t>用于描述模块中可能是连线的情况；输入输出端口默认为</a:t>
            </a:r>
            <a:r>
              <a:rPr kumimoji="1" lang="en-US" altLang="zh-CN" sz="2800" b="1" noProof="1">
                <a:solidFill>
                  <a:srgbClr val="002060"/>
                </a:solidFill>
                <a:latin typeface="+mn-ea"/>
              </a:rPr>
              <a:t>wire</a:t>
            </a:r>
            <a:r>
              <a:rPr kumimoji="1" lang="zh-CN" altLang="en-US" sz="2800" b="1" noProof="1">
                <a:solidFill>
                  <a:srgbClr val="002060"/>
                </a:solidFill>
                <a:latin typeface="+mn-ea"/>
              </a:rPr>
              <a:t>型；</a:t>
            </a:r>
            <a:r>
              <a:rPr kumimoji="1" lang="zh-CN" altLang="en-US" sz="2800" b="1" dirty="0">
                <a:solidFill>
                  <a:srgbClr val="002060"/>
                </a:solidFill>
                <a:latin typeface="+mn-ea"/>
                <a:sym typeface="+mn-ea"/>
              </a:rPr>
              <a:t>相当于硬件电路里的物理连接，特点是输出值紧跟输入值变化</a:t>
            </a:r>
            <a:endParaRPr kumimoji="1" lang="zh-CN" altLang="en-US" sz="2800" b="1" noProof="1">
              <a:solidFill>
                <a:srgbClr val="002060"/>
              </a:solidFill>
              <a:latin typeface="+mn-ea"/>
            </a:endParaRPr>
          </a:p>
          <a:p>
            <a:pPr algn="l" defTabSz="1008400" rtl="0" eaLnBrk="0" fontAlgn="base" hangingPunct="0">
              <a:lnSpc>
                <a:spcPct val="150000"/>
              </a:lnSpc>
              <a:spcBef>
                <a:spcPts val="1800"/>
              </a:spcBef>
              <a:spcAft>
                <a:spcPct val="0"/>
              </a:spcAft>
              <a:buClr>
                <a:schemeClr val="hlink"/>
              </a:buClr>
              <a:buSzPct val="110000"/>
            </a:pPr>
            <a:r>
              <a:rPr kumimoji="1" lang="zh-CN" altLang="en-US" sz="2800" b="1" noProof="1">
                <a:solidFill>
                  <a:srgbClr val="002060"/>
                </a:solidFill>
                <a:latin typeface="+mn-ea"/>
                <a:cs typeface="+mn-cs"/>
              </a:rPr>
              <a:t>格式：</a:t>
            </a:r>
            <a:endParaRPr kumimoji="1" lang="en-US" altLang="zh-CN" sz="2800" b="1" noProof="1">
              <a:solidFill>
                <a:srgbClr val="002060"/>
              </a:solidFill>
              <a:latin typeface="+mn-ea"/>
              <a:cs typeface="+mn-cs"/>
            </a:endParaRPr>
          </a:p>
          <a:p>
            <a:pPr algn="l" defTabSz="1008400" rtl="0" eaLnBrk="0" fontAlgn="base" hangingPunct="0">
              <a:lnSpc>
                <a:spcPct val="90000"/>
              </a:lnSpc>
              <a:spcBef>
                <a:spcPct val="20000"/>
              </a:spcBef>
              <a:spcAft>
                <a:spcPct val="0"/>
              </a:spcAft>
              <a:buClr>
                <a:schemeClr val="hlink"/>
              </a:buClr>
              <a:buSzPct val="110000"/>
            </a:pPr>
            <a:r>
              <a:rPr kumimoji="1" lang="en-US" altLang="zh-CN" sz="2500" b="1" noProof="1">
                <a:latin typeface="+mn-ea"/>
                <a:cs typeface="+mn-cs"/>
                <a:sym typeface="+mn-ea"/>
              </a:rPr>
              <a:t>	</a:t>
            </a:r>
            <a:r>
              <a:rPr kumimoji="1" lang="en-US" altLang="zh-CN" sz="2800" b="1" noProof="1">
                <a:solidFill>
                  <a:srgbClr val="C00000"/>
                </a:solidFill>
                <a:latin typeface="黑体" panose="02010609060101010101" pitchFamily="49" charset="-122"/>
                <a:ea typeface="黑体" panose="02010609060101010101" pitchFamily="49" charset="-122"/>
                <a:cs typeface="+mn-cs"/>
                <a:sym typeface="+mn-ea"/>
              </a:rPr>
              <a:t>wire</a:t>
            </a:r>
            <a:r>
              <a:rPr kumimoji="1" lang="en-US" altLang="zh-CN" sz="2800" b="1" noProof="1">
                <a:latin typeface="黑体" panose="02010609060101010101" pitchFamily="49" charset="-122"/>
                <a:ea typeface="黑体" panose="02010609060101010101" pitchFamily="49" charset="-122"/>
                <a:cs typeface="+mn-cs"/>
                <a:sym typeface="+mn-ea"/>
              </a:rPr>
              <a:t> [</a:t>
            </a:r>
            <a:r>
              <a:rPr kumimoji="1" lang="zh-CN" altLang="en-US" sz="2800" b="1" noProof="1">
                <a:latin typeface="黑体" panose="02010609060101010101" pitchFamily="49" charset="-122"/>
                <a:ea typeface="黑体" panose="02010609060101010101" pitchFamily="49" charset="-122"/>
                <a:cs typeface="+mn-cs"/>
                <a:sym typeface="+mn-ea"/>
              </a:rPr>
              <a:t>宽度声明</a:t>
            </a:r>
            <a:r>
              <a:rPr kumimoji="1" lang="en-US" altLang="zh-CN" sz="2800" b="1" noProof="1">
                <a:latin typeface="黑体" panose="02010609060101010101" pitchFamily="49" charset="-122"/>
                <a:ea typeface="黑体" panose="02010609060101010101" pitchFamily="49" charset="-122"/>
                <a:cs typeface="+mn-cs"/>
                <a:sym typeface="+mn-ea"/>
              </a:rPr>
              <a:t>] </a:t>
            </a:r>
            <a:r>
              <a:rPr kumimoji="1" lang="zh-CN" altLang="en-US" sz="2800" b="1" noProof="1">
                <a:latin typeface="黑体" panose="02010609060101010101" pitchFamily="49" charset="-122"/>
                <a:ea typeface="黑体" panose="02010609060101010101" pitchFamily="49" charset="-122"/>
                <a:cs typeface="+mn-cs"/>
                <a:sym typeface="+mn-ea"/>
              </a:rPr>
              <a:t>线网名</a:t>
            </a:r>
            <a:r>
              <a:rPr kumimoji="1" lang="en-US" altLang="zh-CN" sz="2800" b="1" noProof="1">
                <a:latin typeface="黑体" panose="02010609060101010101" pitchFamily="49" charset="-122"/>
                <a:ea typeface="黑体" panose="02010609060101010101" pitchFamily="49" charset="-122"/>
                <a:cs typeface="+mn-cs"/>
                <a:sym typeface="+mn-ea"/>
              </a:rPr>
              <a:t>1</a:t>
            </a:r>
            <a:r>
              <a:rPr kumimoji="1" lang="zh-CN" altLang="en-US" sz="2800" b="1" noProof="1">
                <a:latin typeface="黑体" panose="02010609060101010101" pitchFamily="49" charset="-122"/>
                <a:ea typeface="黑体" panose="02010609060101010101" pitchFamily="49" charset="-122"/>
                <a:cs typeface="+mn-cs"/>
                <a:sym typeface="+mn-ea"/>
              </a:rPr>
              <a:t>，线网名</a:t>
            </a:r>
            <a:r>
              <a:rPr kumimoji="1" lang="en-US" altLang="zh-CN" sz="2800" b="1" noProof="1">
                <a:latin typeface="黑体" panose="02010609060101010101" pitchFamily="49" charset="-122"/>
                <a:ea typeface="黑体" panose="02010609060101010101" pitchFamily="49" charset="-122"/>
                <a:cs typeface="+mn-cs"/>
                <a:sym typeface="+mn-ea"/>
              </a:rPr>
              <a:t>2</a:t>
            </a:r>
            <a:r>
              <a:rPr kumimoji="1" lang="zh-CN" altLang="en-US" sz="2800" b="1" noProof="1">
                <a:latin typeface="黑体" panose="02010609060101010101" pitchFamily="49" charset="-122"/>
                <a:ea typeface="黑体" panose="02010609060101010101" pitchFamily="49" charset="-122"/>
                <a:cs typeface="+mn-cs"/>
                <a:sym typeface="+mn-ea"/>
              </a:rPr>
              <a:t>；</a:t>
            </a:r>
            <a:endParaRPr kumimoji="1" lang="zh-CN" altLang="en-US" sz="2800" b="1" noProof="1">
              <a:latin typeface="黑体" panose="02010609060101010101" pitchFamily="49" charset="-122"/>
              <a:ea typeface="黑体" panose="02010609060101010101" pitchFamily="49" charset="-122"/>
              <a:cs typeface="+mn-cs"/>
            </a:endParaRPr>
          </a:p>
          <a:p>
            <a:pPr algn="l" defTabSz="1008400" rtl="0" eaLnBrk="0" fontAlgn="base" hangingPunct="0">
              <a:lnSpc>
                <a:spcPct val="90000"/>
              </a:lnSpc>
              <a:spcBef>
                <a:spcPct val="20000"/>
              </a:spcBef>
              <a:spcAft>
                <a:spcPct val="0"/>
              </a:spcAft>
              <a:buClr>
                <a:schemeClr val="hlink"/>
              </a:buClr>
              <a:buSzPct val="110000"/>
            </a:pPr>
            <a:r>
              <a:rPr kumimoji="1" lang="en-US" altLang="zh-CN" sz="2800" b="1" noProof="1">
                <a:latin typeface="黑体" panose="02010609060101010101" pitchFamily="49" charset="-122"/>
                <a:ea typeface="黑体" panose="02010609060101010101" pitchFamily="49" charset="-122"/>
                <a:cs typeface="+mn-cs"/>
                <a:sym typeface="+mn-ea"/>
              </a:rPr>
              <a:t>	</a:t>
            </a:r>
            <a:r>
              <a:rPr kumimoji="1" lang="en-US" altLang="zh-CN" sz="2800" b="1" noProof="1">
                <a:solidFill>
                  <a:srgbClr val="C00000"/>
                </a:solidFill>
                <a:latin typeface="黑体" panose="02010609060101010101" pitchFamily="49" charset="-122"/>
                <a:ea typeface="黑体" panose="02010609060101010101" pitchFamily="49" charset="-122"/>
                <a:cs typeface="+mn-cs"/>
                <a:sym typeface="+mn-ea"/>
              </a:rPr>
              <a:t>wire</a:t>
            </a:r>
            <a:r>
              <a:rPr kumimoji="1" lang="en-US" altLang="zh-CN" sz="2800" b="1" noProof="1">
                <a:latin typeface="黑体" panose="02010609060101010101" pitchFamily="49" charset="-122"/>
                <a:ea typeface="黑体" panose="02010609060101010101" pitchFamily="49" charset="-122"/>
                <a:cs typeface="+mn-cs"/>
                <a:sym typeface="+mn-ea"/>
              </a:rPr>
              <a:t> x</a:t>
            </a:r>
            <a:r>
              <a:rPr kumimoji="1" lang="zh-CN" altLang="en-US" sz="2800" b="1" noProof="1">
                <a:latin typeface="黑体" panose="02010609060101010101" pitchFamily="49" charset="-122"/>
                <a:ea typeface="黑体" panose="02010609060101010101" pitchFamily="49" charset="-122"/>
                <a:cs typeface="+mn-cs"/>
                <a:sym typeface="+mn-ea"/>
              </a:rPr>
              <a:t>；</a:t>
            </a:r>
            <a:endParaRPr kumimoji="1" lang="zh-CN" altLang="en-US" sz="2800" b="1" noProof="1">
              <a:latin typeface="黑体" panose="02010609060101010101" pitchFamily="49" charset="-122"/>
              <a:ea typeface="黑体" panose="02010609060101010101" pitchFamily="49" charset="-122"/>
              <a:cs typeface="+mn-cs"/>
            </a:endParaRPr>
          </a:p>
          <a:p>
            <a:pPr algn="l" defTabSz="1008400" rtl="0" eaLnBrk="0" fontAlgn="base" hangingPunct="0">
              <a:lnSpc>
                <a:spcPct val="90000"/>
              </a:lnSpc>
              <a:spcBef>
                <a:spcPct val="20000"/>
              </a:spcBef>
              <a:spcAft>
                <a:spcPct val="0"/>
              </a:spcAft>
              <a:buClr>
                <a:schemeClr val="hlink"/>
              </a:buClr>
              <a:buSzPct val="110000"/>
            </a:pPr>
            <a:r>
              <a:rPr kumimoji="1" lang="en-US" altLang="zh-CN" sz="2800" b="1" noProof="1">
                <a:latin typeface="黑体" panose="02010609060101010101" pitchFamily="49" charset="-122"/>
                <a:ea typeface="黑体" panose="02010609060101010101" pitchFamily="49" charset="-122"/>
                <a:cs typeface="+mn-cs"/>
                <a:sym typeface="+mn-ea"/>
              </a:rPr>
              <a:t>	</a:t>
            </a:r>
            <a:r>
              <a:rPr kumimoji="1" lang="en-US" altLang="zh-CN" sz="2800" b="1" noProof="1">
                <a:solidFill>
                  <a:srgbClr val="C00000"/>
                </a:solidFill>
                <a:latin typeface="黑体" panose="02010609060101010101" pitchFamily="49" charset="-122"/>
                <a:ea typeface="黑体" panose="02010609060101010101" pitchFamily="49" charset="-122"/>
                <a:cs typeface="+mn-cs"/>
                <a:sym typeface="+mn-ea"/>
              </a:rPr>
              <a:t>wire</a:t>
            </a:r>
            <a:r>
              <a:rPr kumimoji="1" lang="en-US" altLang="zh-CN" sz="2800" b="1" noProof="1">
                <a:latin typeface="黑体" panose="02010609060101010101" pitchFamily="49" charset="-122"/>
                <a:ea typeface="黑体" panose="02010609060101010101" pitchFamily="49" charset="-122"/>
                <a:cs typeface="+mn-cs"/>
                <a:sym typeface="+mn-ea"/>
              </a:rPr>
              <a:t> [3:0] y,m</a:t>
            </a:r>
            <a:r>
              <a:rPr kumimoji="1" lang="zh-CN" altLang="en-US" sz="2800" b="1" noProof="1">
                <a:latin typeface="黑体" panose="02010609060101010101" pitchFamily="49" charset="-122"/>
                <a:ea typeface="黑体" panose="02010609060101010101" pitchFamily="49" charset="-122"/>
                <a:cs typeface="+mn-cs"/>
                <a:sym typeface="+mn-ea"/>
              </a:rPr>
              <a:t>；</a:t>
            </a:r>
          </a:p>
          <a:p>
            <a:pPr algn="l" defTabSz="1008400" rtl="0" eaLnBrk="0" fontAlgn="base" hangingPunct="0">
              <a:lnSpc>
                <a:spcPct val="150000"/>
              </a:lnSpc>
              <a:spcBef>
                <a:spcPts val="1800"/>
              </a:spcBef>
              <a:spcAft>
                <a:spcPct val="0"/>
              </a:spcAft>
              <a:buClr>
                <a:schemeClr val="hlink"/>
              </a:buClr>
              <a:buSzPct val="110000"/>
            </a:pPr>
            <a:r>
              <a:rPr kumimoji="1" lang="zh-CN" altLang="en-US" sz="2800" b="1" noProof="1">
                <a:solidFill>
                  <a:srgbClr val="002060"/>
                </a:solidFill>
                <a:latin typeface="+mn-ea"/>
                <a:cs typeface="+mn-cs"/>
              </a:rPr>
              <a:t>注意：</a:t>
            </a:r>
          </a:p>
          <a:p>
            <a:pPr algn="l" defTabSz="1008400" rtl="0" eaLnBrk="0" fontAlgn="base" hangingPunct="0">
              <a:lnSpc>
                <a:spcPct val="90000"/>
              </a:lnSpc>
              <a:spcBef>
                <a:spcPct val="20000"/>
              </a:spcBef>
              <a:spcAft>
                <a:spcPct val="0"/>
              </a:spcAft>
              <a:buClr>
                <a:schemeClr val="hlink"/>
              </a:buClr>
              <a:buSzPct val="110000"/>
            </a:pPr>
            <a:r>
              <a:rPr kumimoji="1" lang="zh-CN" altLang="en-US" sz="2647" noProof="1">
                <a:solidFill>
                  <a:srgbClr val="4B51A5"/>
                </a:solidFill>
                <a:latin typeface="Tahoma" panose="020B0604030504040204" pitchFamily="34" charset="0"/>
                <a:ea typeface="微软雅黑" panose="020B0503020204020204" charset="-122"/>
                <a:cs typeface="+mn-cs"/>
              </a:rPr>
              <a:t>    </a:t>
            </a:r>
            <a:r>
              <a:rPr kumimoji="1" lang="zh-CN" altLang="en-US" sz="2800" b="1" noProof="1">
                <a:solidFill>
                  <a:srgbClr val="002060"/>
                </a:solidFill>
                <a:latin typeface="+mn-ea"/>
                <a:cs typeface="+mn-cs"/>
              </a:rPr>
              <a:t>宽度声明部分，建议使用</a:t>
            </a:r>
            <a:r>
              <a:rPr kumimoji="1" lang="en-US" altLang="zh-CN" sz="2800" b="1" noProof="1">
                <a:solidFill>
                  <a:srgbClr val="002060"/>
                </a:solidFill>
                <a:latin typeface="+mn-ea"/>
                <a:cs typeface="+mn-cs"/>
              </a:rPr>
              <a:t>[n-1:0]</a:t>
            </a:r>
            <a:r>
              <a:rPr kumimoji="1" lang="zh-CN" altLang="en-US" sz="2800" b="1" noProof="1">
                <a:solidFill>
                  <a:srgbClr val="002060"/>
                </a:solidFill>
                <a:latin typeface="+mn-ea"/>
                <a:cs typeface="+mn-cs"/>
              </a:rPr>
              <a:t>的范围来定义宽度；</a:t>
            </a:r>
          </a:p>
          <a:p>
            <a:pPr algn="l" defTabSz="1008400" rtl="0" eaLnBrk="0" fontAlgn="base" hangingPunct="0">
              <a:lnSpc>
                <a:spcPct val="90000"/>
              </a:lnSpc>
              <a:spcBef>
                <a:spcPct val="20000"/>
              </a:spcBef>
              <a:spcAft>
                <a:spcPct val="0"/>
              </a:spcAft>
              <a:buClr>
                <a:schemeClr val="hlink"/>
              </a:buClr>
              <a:buSzPct val="110000"/>
            </a:pPr>
            <a:r>
              <a:rPr kumimoji="1" lang="zh-CN" altLang="en-US" sz="3088" noProof="1">
                <a:solidFill>
                  <a:srgbClr val="4B51A5"/>
                </a:solidFill>
                <a:latin typeface="Tahoma" panose="020B0604030504040204" pitchFamily="34" charset="0"/>
                <a:ea typeface="微软雅黑" panose="020B0503020204020204" charset="-122"/>
                <a:cs typeface="+mn-cs"/>
              </a:rPr>
              <a:t>   </a:t>
            </a:r>
          </a:p>
          <a:p>
            <a:pPr algn="l" defTabSz="1008400" rtl="0" eaLnBrk="0" fontAlgn="base" hangingPunct="0">
              <a:lnSpc>
                <a:spcPct val="90000"/>
              </a:lnSpc>
              <a:spcBef>
                <a:spcPct val="20000"/>
              </a:spcBef>
              <a:spcAft>
                <a:spcPct val="0"/>
              </a:spcAft>
              <a:buClr>
                <a:schemeClr val="hlink"/>
              </a:buClr>
              <a:buSzPct val="110000"/>
            </a:pPr>
            <a:endParaRPr kumimoji="1" lang="zh-CN" altLang="en-US" sz="3088" noProof="1">
              <a:solidFill>
                <a:srgbClr val="4B51A5"/>
              </a:solidFill>
              <a:latin typeface="Tahoma" panose="020B0604030504040204" pitchFamily="34" charset="0"/>
              <a:ea typeface="微软雅黑" panose="020B0503020204020204" charset="-122"/>
              <a:cs typeface="+mn-cs"/>
            </a:endParaRPr>
          </a:p>
          <a:p>
            <a:pPr algn="l" defTabSz="1008400" rtl="0" eaLnBrk="0" fontAlgn="base" hangingPunct="0">
              <a:lnSpc>
                <a:spcPct val="90000"/>
              </a:lnSpc>
              <a:spcBef>
                <a:spcPct val="20000"/>
              </a:spcBef>
              <a:spcAft>
                <a:spcPct val="0"/>
              </a:spcAft>
              <a:buClr>
                <a:schemeClr val="hlink"/>
              </a:buClr>
              <a:buSzPct val="110000"/>
            </a:pPr>
            <a:endParaRPr kumimoji="1" lang="zh-CN" altLang="en-US" sz="3088" noProof="1">
              <a:solidFill>
                <a:srgbClr val="4B51A5"/>
              </a:solidFill>
              <a:latin typeface="Tahoma" panose="020B0604030504040204" pitchFamily="34" charset="0"/>
              <a:ea typeface="微软雅黑" panose="020B0503020204020204" charset="-122"/>
              <a:cs typeface="+mn-cs"/>
            </a:endParaRPr>
          </a:p>
        </p:txBody>
      </p:sp>
      <p:sp>
        <p:nvSpPr>
          <p:cNvPr id="2" name="object 3">
            <a:extLst>
              <a:ext uri="{FF2B5EF4-FFF2-40B4-BE49-F238E27FC236}">
                <a16:creationId xmlns:a16="http://schemas.microsoft.com/office/drawing/2014/main" id="{1D66590F-7807-68EB-91EC-64617E98074E}"/>
              </a:ext>
            </a:extLst>
          </p:cNvPr>
          <p:cNvSpPr txBox="1">
            <a:spLocks/>
          </p:cNvSpPr>
          <p:nvPr/>
        </p:nvSpPr>
        <p:spPr>
          <a:xfrm>
            <a:off x="241300" y="200025"/>
            <a:ext cx="7288905" cy="524503"/>
          </a:xfrm>
          <a:prstGeom prst="rect">
            <a:avLst/>
          </a:prstGeom>
        </p:spPr>
        <p:txBody>
          <a:bodyPr vert="horz" wrap="square" lIns="0" tIns="16510" rIns="0" bIns="0" rtlCol="0">
            <a:spAutoFit/>
          </a:bodyPr>
          <a:lstStyle>
            <a:lvl1pPr>
              <a:defRPr sz="2800" b="0" i="0">
                <a:solidFill>
                  <a:srgbClr val="3F3F3F"/>
                </a:solidFill>
                <a:latin typeface="Calibri"/>
                <a:ea typeface="+mj-ea"/>
                <a:cs typeface="Calibri"/>
              </a:defRPr>
            </a:lvl1pPr>
          </a:lstStyle>
          <a:p>
            <a:pPr marL="12700">
              <a:spcBef>
                <a:spcPts val="130"/>
              </a:spcBef>
            </a:pPr>
            <a:r>
              <a:rPr lang="en-US" altLang="zh-CN" sz="3300" b="1" spc="-15" dirty="0">
                <a:solidFill>
                  <a:srgbClr val="C00000"/>
                </a:solidFill>
                <a:latin typeface="宋体"/>
                <a:cs typeface="宋体"/>
              </a:rPr>
              <a:t>wire</a:t>
            </a:r>
            <a:r>
              <a:rPr lang="zh-CN" altLang="en-US" sz="3300" b="1" spc="-15" dirty="0">
                <a:solidFill>
                  <a:srgbClr val="000000"/>
                </a:solidFill>
                <a:latin typeface="宋体"/>
                <a:cs typeface="宋体"/>
              </a:rPr>
              <a:t>型数据类型</a:t>
            </a:r>
            <a:endParaRPr lang="zh-CN" altLang="en-US" sz="3300" dirty="0">
              <a:latin typeface="宋体"/>
              <a:cs typeface="宋体"/>
            </a:endParaRPr>
          </a:p>
        </p:txBody>
      </p:sp>
      <p:pic>
        <p:nvPicPr>
          <p:cNvPr id="5" name="object 3">
            <a:extLst>
              <a:ext uri="{FF2B5EF4-FFF2-40B4-BE49-F238E27FC236}">
                <a16:creationId xmlns:a16="http://schemas.microsoft.com/office/drawing/2014/main" id="{13CD70E2-F4DB-2ECA-ADE7-72FB425A1EAC}"/>
              </a:ext>
            </a:extLst>
          </p:cNvPr>
          <p:cNvPicPr/>
          <p:nvPr/>
        </p:nvPicPr>
        <p:blipFill>
          <a:blip r:embed="rId3" cstate="print"/>
          <a:stretch>
            <a:fillRect/>
          </a:stretch>
        </p:blipFill>
        <p:spPr>
          <a:xfrm>
            <a:off x="477789" y="1444392"/>
            <a:ext cx="195544" cy="192055"/>
          </a:xfrm>
          <a:prstGeom prst="rect">
            <a:avLst/>
          </a:prstGeom>
        </p:spPr>
      </p:pic>
      <p:pic>
        <p:nvPicPr>
          <p:cNvPr id="6" name="object 3">
            <a:extLst>
              <a:ext uri="{FF2B5EF4-FFF2-40B4-BE49-F238E27FC236}">
                <a16:creationId xmlns:a16="http://schemas.microsoft.com/office/drawing/2014/main" id="{5BA4447C-18E3-9BC5-9CAE-C91AFAA93347}"/>
              </a:ext>
            </a:extLst>
          </p:cNvPr>
          <p:cNvPicPr/>
          <p:nvPr/>
        </p:nvPicPr>
        <p:blipFill>
          <a:blip r:embed="rId3" cstate="print"/>
          <a:stretch>
            <a:fillRect/>
          </a:stretch>
        </p:blipFill>
        <p:spPr>
          <a:xfrm>
            <a:off x="477789" y="3589370"/>
            <a:ext cx="195544" cy="192055"/>
          </a:xfrm>
          <a:prstGeom prst="rect">
            <a:avLst/>
          </a:prstGeom>
        </p:spPr>
      </p:pic>
      <p:pic>
        <p:nvPicPr>
          <p:cNvPr id="7" name="object 3">
            <a:extLst>
              <a:ext uri="{FF2B5EF4-FFF2-40B4-BE49-F238E27FC236}">
                <a16:creationId xmlns:a16="http://schemas.microsoft.com/office/drawing/2014/main" id="{C1EC2CB9-C4B3-6C9A-C2B7-C9D21B474137}"/>
              </a:ext>
            </a:extLst>
          </p:cNvPr>
          <p:cNvPicPr/>
          <p:nvPr/>
        </p:nvPicPr>
        <p:blipFill>
          <a:blip r:embed="rId3" cstate="print"/>
          <a:stretch>
            <a:fillRect/>
          </a:stretch>
        </p:blipFill>
        <p:spPr>
          <a:xfrm>
            <a:off x="477789" y="5897548"/>
            <a:ext cx="195544" cy="192055"/>
          </a:xfrm>
          <a:prstGeom prst="rect">
            <a:avLst/>
          </a:prstGeom>
        </p:spPr>
      </p:pic>
      <p:pic>
        <p:nvPicPr>
          <p:cNvPr id="8" name="object 8">
            <a:extLst>
              <a:ext uri="{FF2B5EF4-FFF2-40B4-BE49-F238E27FC236}">
                <a16:creationId xmlns:a16="http://schemas.microsoft.com/office/drawing/2014/main" id="{AF70F36A-16DC-A430-9113-0EA65915AA59}"/>
              </a:ext>
            </a:extLst>
          </p:cNvPr>
          <p:cNvPicPr/>
          <p:nvPr/>
        </p:nvPicPr>
        <p:blipFill>
          <a:blip r:embed="rId4" cstate="print"/>
          <a:stretch>
            <a:fillRect/>
          </a:stretch>
        </p:blipFill>
        <p:spPr>
          <a:xfrm>
            <a:off x="4660900" y="2668244"/>
            <a:ext cx="4724400" cy="1113181"/>
          </a:xfrm>
          <a:prstGeom prst="rect">
            <a:avLst/>
          </a:prstGeom>
        </p:spPr>
      </p:pic>
    </p:spTree>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3">
            <a:extLst>
              <a:ext uri="{FF2B5EF4-FFF2-40B4-BE49-F238E27FC236}">
                <a16:creationId xmlns:a16="http://schemas.microsoft.com/office/drawing/2014/main" id="{15576826-A24D-B191-5C6F-39C0E63AD8A6}"/>
              </a:ext>
            </a:extLst>
          </p:cNvPr>
          <p:cNvSpPr txBox="1">
            <a:spLocks/>
          </p:cNvSpPr>
          <p:nvPr/>
        </p:nvSpPr>
        <p:spPr>
          <a:xfrm>
            <a:off x="241300" y="200025"/>
            <a:ext cx="7288905" cy="524503"/>
          </a:xfrm>
          <a:prstGeom prst="rect">
            <a:avLst/>
          </a:prstGeom>
        </p:spPr>
        <p:txBody>
          <a:bodyPr vert="horz" wrap="square" lIns="0" tIns="16510" rIns="0" bIns="0" rtlCol="0">
            <a:spAutoFit/>
          </a:bodyPr>
          <a:lstStyle>
            <a:lvl1pPr>
              <a:defRPr sz="2800" b="0" i="0">
                <a:solidFill>
                  <a:srgbClr val="3F3F3F"/>
                </a:solidFill>
                <a:latin typeface="Calibri"/>
                <a:ea typeface="+mj-ea"/>
                <a:cs typeface="Calibri"/>
              </a:defRPr>
            </a:lvl1pPr>
          </a:lstStyle>
          <a:p>
            <a:pPr marL="12700">
              <a:spcBef>
                <a:spcPts val="130"/>
              </a:spcBef>
            </a:pPr>
            <a:r>
              <a:rPr lang="en-US" altLang="zh-CN" sz="3300" b="1" spc="-15" dirty="0">
                <a:solidFill>
                  <a:srgbClr val="C00000"/>
                </a:solidFill>
                <a:latin typeface="宋体"/>
                <a:cs typeface="宋体"/>
              </a:rPr>
              <a:t>reg</a:t>
            </a:r>
            <a:r>
              <a:rPr lang="zh-CN" altLang="en-US" sz="3300" b="1" spc="-15" dirty="0">
                <a:solidFill>
                  <a:srgbClr val="000000"/>
                </a:solidFill>
                <a:latin typeface="宋体"/>
                <a:cs typeface="宋体"/>
              </a:rPr>
              <a:t>型数据类型</a:t>
            </a:r>
            <a:endParaRPr lang="zh-CN" altLang="en-US" sz="3300" dirty="0">
              <a:latin typeface="宋体"/>
              <a:cs typeface="宋体"/>
            </a:endParaRPr>
          </a:p>
        </p:txBody>
      </p:sp>
      <p:sp>
        <p:nvSpPr>
          <p:cNvPr id="5" name="Rectangle 3" descr="Rectangle: Click to edit Master text styles&#10;Second level&#10;Third level&#10;Fourth level&#10;Fifth level">
            <a:extLst>
              <a:ext uri="{FF2B5EF4-FFF2-40B4-BE49-F238E27FC236}">
                <a16:creationId xmlns:a16="http://schemas.microsoft.com/office/drawing/2014/main" id="{EDFCBFCD-6D1C-EFD3-A166-9AC9FCF9A725}"/>
              </a:ext>
            </a:extLst>
          </p:cNvPr>
          <p:cNvSpPr txBox="1">
            <a:spLocks/>
          </p:cNvSpPr>
          <p:nvPr/>
        </p:nvSpPr>
        <p:spPr>
          <a:xfrm>
            <a:off x="774700" y="1266825"/>
            <a:ext cx="9546348" cy="6063198"/>
          </a:xfrm>
          <a:prstGeom prst="rect">
            <a:avLst/>
          </a:prstGeom>
        </p:spPr>
        <p:txBody>
          <a:bodyPr wrap="square" lIns="0" tIns="0" rIns="0" bIns="0" anchor="t">
            <a:spAutoFit/>
          </a:bodyPr>
          <a:lstStyle>
            <a:lvl1pPr marL="0">
              <a:defRPr sz="2100" b="0" i="0">
                <a:solidFill>
                  <a:schemeClr val="tx1"/>
                </a:solidFill>
                <a:latin typeface="宋体"/>
                <a:ea typeface="+mn-ea"/>
                <a:cs typeface="宋体"/>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lvl="1" algn="l" defTabSz="1008400" rtl="0" eaLnBrk="0" fontAlgn="base" hangingPunct="0">
              <a:lnSpc>
                <a:spcPct val="150000"/>
              </a:lnSpc>
              <a:buClr>
                <a:schemeClr val="tx1"/>
              </a:buClr>
              <a:buSzPct val="75000"/>
            </a:pPr>
            <a:r>
              <a:rPr kumimoji="1" lang="zh-CN" altLang="en-US" sz="2800" b="1" dirty="0">
                <a:solidFill>
                  <a:srgbClr val="002060"/>
                </a:solidFill>
                <a:latin typeface="+mn-ea"/>
                <a:sym typeface="+mn-ea"/>
              </a:rPr>
              <a:t>用于描述存储元件；主要用在</a:t>
            </a:r>
            <a:r>
              <a:rPr kumimoji="1" lang="en-US" altLang="zh-CN" sz="2800" b="1" dirty="0">
                <a:solidFill>
                  <a:srgbClr val="002060"/>
                </a:solidFill>
                <a:latin typeface="+mn-ea"/>
                <a:sym typeface="+mn-ea"/>
              </a:rPr>
              <a:t>verilog</a:t>
            </a:r>
            <a:r>
              <a:rPr kumimoji="1" lang="zh-CN" altLang="en-US" sz="2800" b="1" dirty="0">
                <a:solidFill>
                  <a:srgbClr val="002060"/>
                </a:solidFill>
                <a:latin typeface="+mn-ea"/>
                <a:sym typeface="+mn-ea"/>
              </a:rPr>
              <a:t>的行为级建模中</a:t>
            </a:r>
            <a:r>
              <a:rPr kumimoji="1" lang="en-US" altLang="zh-CN" sz="2800" b="1" dirty="0">
                <a:solidFill>
                  <a:srgbClr val="002060"/>
                </a:solidFill>
                <a:latin typeface="+mn-ea"/>
                <a:sym typeface="+mn-ea"/>
              </a:rPr>
              <a:t>——</a:t>
            </a:r>
            <a:r>
              <a:rPr kumimoji="1" lang="zh-CN" altLang="en-US" sz="2800" b="1" dirty="0">
                <a:solidFill>
                  <a:srgbClr val="002060"/>
                </a:solidFill>
                <a:latin typeface="+mn-ea"/>
                <a:sym typeface="+mn-ea"/>
              </a:rPr>
              <a:t>在过程语句</a:t>
            </a:r>
            <a:r>
              <a:rPr kumimoji="1" lang="en-US" altLang="zh-CN" sz="2800" b="1" dirty="0">
                <a:solidFill>
                  <a:srgbClr val="002060"/>
                </a:solidFill>
                <a:latin typeface="+mn-ea"/>
                <a:sym typeface="+mn-ea"/>
              </a:rPr>
              <a:t>(</a:t>
            </a:r>
            <a:r>
              <a:rPr kumimoji="1" lang="en-US" altLang="zh-CN" sz="2800" b="1" dirty="0">
                <a:solidFill>
                  <a:srgbClr val="C00000"/>
                </a:solidFill>
                <a:latin typeface="+mn-ea"/>
                <a:sym typeface="+mn-ea"/>
              </a:rPr>
              <a:t>always</a:t>
            </a:r>
            <a:r>
              <a:rPr kumimoji="1" lang="en-US" altLang="zh-CN" sz="2800" b="1" dirty="0">
                <a:solidFill>
                  <a:srgbClr val="002060"/>
                </a:solidFill>
                <a:latin typeface="+mn-ea"/>
                <a:sym typeface="+mn-ea"/>
              </a:rPr>
              <a:t>, </a:t>
            </a:r>
            <a:r>
              <a:rPr kumimoji="1" lang="en-US" altLang="zh-CN" sz="2800" b="1" dirty="0">
                <a:solidFill>
                  <a:srgbClr val="C00000"/>
                </a:solidFill>
                <a:latin typeface="+mn-ea"/>
                <a:sym typeface="+mn-ea"/>
              </a:rPr>
              <a:t>initial</a:t>
            </a:r>
            <a:r>
              <a:rPr kumimoji="1" lang="zh-CN" altLang="en-US" sz="2800" b="1" dirty="0">
                <a:solidFill>
                  <a:srgbClr val="002060"/>
                </a:solidFill>
                <a:latin typeface="+mn-ea"/>
                <a:sym typeface="+mn-ea"/>
              </a:rPr>
              <a:t>中赋值</a:t>
            </a:r>
            <a:r>
              <a:rPr kumimoji="1" lang="en-US" altLang="zh-CN" sz="2800" b="1" dirty="0">
                <a:solidFill>
                  <a:srgbClr val="002060"/>
                </a:solidFill>
                <a:latin typeface="+mn-ea"/>
                <a:sym typeface="+mn-ea"/>
              </a:rPr>
              <a:t>)</a:t>
            </a:r>
            <a:r>
              <a:rPr kumimoji="1" lang="zh-CN" altLang="en-US" sz="2800" b="1" dirty="0">
                <a:solidFill>
                  <a:srgbClr val="002060"/>
                </a:solidFill>
                <a:latin typeface="+mn-ea"/>
                <a:sym typeface="+mn-ea"/>
              </a:rPr>
              <a:t>；具有保持作用，保持原有数值直到被改写；</a:t>
            </a:r>
          </a:p>
          <a:p>
            <a:pPr algn="l" defTabSz="1008400" rtl="0" eaLnBrk="0" fontAlgn="base" hangingPunct="0">
              <a:lnSpc>
                <a:spcPct val="150000"/>
              </a:lnSpc>
              <a:spcBef>
                <a:spcPts val="1800"/>
              </a:spcBef>
              <a:spcAft>
                <a:spcPct val="0"/>
              </a:spcAft>
              <a:buClr>
                <a:schemeClr val="hlink"/>
              </a:buClr>
              <a:buSzPct val="110000"/>
            </a:pPr>
            <a:r>
              <a:rPr kumimoji="1" lang="zh-CN" altLang="en-US" sz="2800" b="1" noProof="1">
                <a:solidFill>
                  <a:srgbClr val="002060"/>
                </a:solidFill>
                <a:latin typeface="+mn-ea"/>
                <a:cs typeface="+mn-cs"/>
              </a:rPr>
              <a:t>格式：</a:t>
            </a:r>
            <a:endParaRPr kumimoji="1" lang="en-US" altLang="zh-CN" sz="2800" b="1" noProof="1">
              <a:solidFill>
                <a:srgbClr val="002060"/>
              </a:solidFill>
              <a:latin typeface="+mn-ea"/>
              <a:cs typeface="+mn-cs"/>
            </a:endParaRPr>
          </a:p>
          <a:p>
            <a:pPr algn="l" defTabSz="1008400" rtl="0" eaLnBrk="0" fontAlgn="base" hangingPunct="0">
              <a:lnSpc>
                <a:spcPct val="90000"/>
              </a:lnSpc>
              <a:spcBef>
                <a:spcPct val="20000"/>
              </a:spcBef>
              <a:spcAft>
                <a:spcPct val="0"/>
              </a:spcAft>
              <a:buClr>
                <a:schemeClr val="hlink"/>
              </a:buClr>
              <a:buSzPct val="110000"/>
            </a:pPr>
            <a:r>
              <a:rPr kumimoji="1" lang="en-US" altLang="zh-CN" sz="2500" b="1" noProof="1">
                <a:latin typeface="+mn-ea"/>
                <a:cs typeface="+mn-cs"/>
                <a:sym typeface="+mn-ea"/>
              </a:rPr>
              <a:t>	</a:t>
            </a:r>
            <a:r>
              <a:rPr kumimoji="1" lang="en-US" altLang="zh-CN" sz="2800" b="1" noProof="1">
                <a:solidFill>
                  <a:srgbClr val="C00000"/>
                </a:solidFill>
                <a:latin typeface="黑体" panose="02010609060101010101" pitchFamily="49" charset="-122"/>
                <a:ea typeface="黑体" panose="02010609060101010101" pitchFamily="49" charset="-122"/>
                <a:cs typeface="+mn-cs"/>
                <a:sym typeface="+mn-ea"/>
              </a:rPr>
              <a:t>reg</a:t>
            </a:r>
            <a:r>
              <a:rPr kumimoji="1" lang="en-US" altLang="zh-CN" sz="2800" b="1" noProof="1">
                <a:latin typeface="黑体" panose="02010609060101010101" pitchFamily="49" charset="-122"/>
                <a:ea typeface="黑体" panose="02010609060101010101" pitchFamily="49" charset="-122"/>
                <a:cs typeface="+mn-cs"/>
                <a:sym typeface="+mn-ea"/>
              </a:rPr>
              <a:t> [</a:t>
            </a:r>
            <a:r>
              <a:rPr kumimoji="1" lang="zh-CN" altLang="en-US" sz="2800" b="1" noProof="1">
                <a:latin typeface="黑体" panose="02010609060101010101" pitchFamily="49" charset="-122"/>
                <a:ea typeface="黑体" panose="02010609060101010101" pitchFamily="49" charset="-122"/>
                <a:cs typeface="+mn-cs"/>
                <a:sym typeface="+mn-ea"/>
              </a:rPr>
              <a:t>宽度声明</a:t>
            </a:r>
            <a:r>
              <a:rPr kumimoji="1" lang="en-US" altLang="zh-CN" sz="2800" b="1" noProof="1">
                <a:latin typeface="黑体" panose="02010609060101010101" pitchFamily="49" charset="-122"/>
                <a:ea typeface="黑体" panose="02010609060101010101" pitchFamily="49" charset="-122"/>
                <a:cs typeface="+mn-cs"/>
                <a:sym typeface="+mn-ea"/>
              </a:rPr>
              <a:t>] </a:t>
            </a:r>
            <a:r>
              <a:rPr kumimoji="1" lang="zh-CN" altLang="en-US" sz="2800" b="1" noProof="1">
                <a:latin typeface="黑体" panose="02010609060101010101" pitchFamily="49" charset="-122"/>
                <a:ea typeface="黑体" panose="02010609060101010101" pitchFamily="49" charset="-122"/>
                <a:cs typeface="+mn-cs"/>
                <a:sym typeface="+mn-ea"/>
              </a:rPr>
              <a:t>寄存器名</a:t>
            </a:r>
            <a:r>
              <a:rPr kumimoji="1" lang="en-US" altLang="zh-CN" sz="2800" b="1" noProof="1">
                <a:latin typeface="黑体" panose="02010609060101010101" pitchFamily="49" charset="-122"/>
                <a:ea typeface="黑体" panose="02010609060101010101" pitchFamily="49" charset="-122"/>
                <a:cs typeface="+mn-cs"/>
                <a:sym typeface="+mn-ea"/>
              </a:rPr>
              <a:t>1</a:t>
            </a:r>
            <a:r>
              <a:rPr kumimoji="1" lang="zh-CN" altLang="en-US" sz="2800" b="1" noProof="1">
                <a:latin typeface="黑体" panose="02010609060101010101" pitchFamily="49" charset="-122"/>
                <a:ea typeface="黑体" panose="02010609060101010101" pitchFamily="49" charset="-122"/>
                <a:cs typeface="+mn-cs"/>
                <a:sym typeface="+mn-ea"/>
              </a:rPr>
              <a:t>，</a:t>
            </a:r>
            <a:r>
              <a:rPr kumimoji="1" lang="zh-CN" altLang="en-US" sz="2800" b="1" noProof="1">
                <a:latin typeface="黑体" panose="02010609060101010101" pitchFamily="49" charset="-122"/>
                <a:ea typeface="黑体" panose="02010609060101010101" pitchFamily="49" charset="-122"/>
                <a:sym typeface="+mn-ea"/>
              </a:rPr>
              <a:t>寄存器</a:t>
            </a:r>
            <a:r>
              <a:rPr kumimoji="1" lang="zh-CN" altLang="en-US" sz="2800" b="1" noProof="1">
                <a:latin typeface="黑体" panose="02010609060101010101" pitchFamily="49" charset="-122"/>
                <a:ea typeface="黑体" panose="02010609060101010101" pitchFamily="49" charset="-122"/>
                <a:cs typeface="+mn-cs"/>
                <a:sym typeface="+mn-ea"/>
              </a:rPr>
              <a:t>名</a:t>
            </a:r>
            <a:r>
              <a:rPr kumimoji="1" lang="en-US" altLang="zh-CN" sz="2800" b="1" noProof="1">
                <a:latin typeface="黑体" panose="02010609060101010101" pitchFamily="49" charset="-122"/>
                <a:ea typeface="黑体" panose="02010609060101010101" pitchFamily="49" charset="-122"/>
                <a:cs typeface="+mn-cs"/>
                <a:sym typeface="+mn-ea"/>
              </a:rPr>
              <a:t>2</a:t>
            </a:r>
            <a:r>
              <a:rPr kumimoji="1" lang="zh-CN" altLang="en-US" sz="2800" b="1" noProof="1">
                <a:latin typeface="黑体" panose="02010609060101010101" pitchFamily="49" charset="-122"/>
                <a:ea typeface="黑体" panose="02010609060101010101" pitchFamily="49" charset="-122"/>
                <a:cs typeface="+mn-cs"/>
                <a:sym typeface="+mn-ea"/>
              </a:rPr>
              <a:t>；</a:t>
            </a:r>
            <a:endParaRPr kumimoji="1" lang="zh-CN" altLang="en-US" sz="2800" b="1" noProof="1">
              <a:latin typeface="黑体" panose="02010609060101010101" pitchFamily="49" charset="-122"/>
              <a:ea typeface="黑体" panose="02010609060101010101" pitchFamily="49" charset="-122"/>
              <a:cs typeface="+mn-cs"/>
            </a:endParaRPr>
          </a:p>
          <a:p>
            <a:pPr algn="l" defTabSz="1008400" rtl="0" eaLnBrk="0" fontAlgn="base" hangingPunct="0">
              <a:lnSpc>
                <a:spcPct val="90000"/>
              </a:lnSpc>
              <a:spcBef>
                <a:spcPct val="20000"/>
              </a:spcBef>
              <a:spcAft>
                <a:spcPct val="0"/>
              </a:spcAft>
              <a:buClr>
                <a:schemeClr val="hlink"/>
              </a:buClr>
              <a:buSzPct val="110000"/>
            </a:pPr>
            <a:r>
              <a:rPr kumimoji="1" lang="en-US" altLang="zh-CN" sz="2800" b="1" noProof="1">
                <a:latin typeface="黑体" panose="02010609060101010101" pitchFamily="49" charset="-122"/>
                <a:ea typeface="黑体" panose="02010609060101010101" pitchFamily="49" charset="-122"/>
                <a:cs typeface="+mn-cs"/>
                <a:sym typeface="+mn-ea"/>
              </a:rPr>
              <a:t>	</a:t>
            </a:r>
            <a:r>
              <a:rPr kumimoji="1" lang="en-US" altLang="zh-CN" sz="2800" b="1" noProof="1">
                <a:solidFill>
                  <a:srgbClr val="C00000"/>
                </a:solidFill>
                <a:latin typeface="黑体" panose="02010609060101010101" pitchFamily="49" charset="-122"/>
                <a:ea typeface="黑体" panose="02010609060101010101" pitchFamily="49" charset="-122"/>
                <a:cs typeface="+mn-cs"/>
                <a:sym typeface="+mn-ea"/>
              </a:rPr>
              <a:t>reg</a:t>
            </a:r>
            <a:r>
              <a:rPr kumimoji="1" lang="en-US" altLang="zh-CN" sz="2800" b="1" noProof="1">
                <a:latin typeface="黑体" panose="02010609060101010101" pitchFamily="49" charset="-122"/>
                <a:ea typeface="黑体" panose="02010609060101010101" pitchFamily="49" charset="-122"/>
                <a:cs typeface="+mn-cs"/>
                <a:sym typeface="+mn-ea"/>
              </a:rPr>
              <a:t> x</a:t>
            </a:r>
            <a:r>
              <a:rPr kumimoji="1" lang="zh-CN" altLang="en-US" sz="2800" b="1" noProof="1">
                <a:latin typeface="黑体" panose="02010609060101010101" pitchFamily="49" charset="-122"/>
                <a:ea typeface="黑体" panose="02010609060101010101" pitchFamily="49" charset="-122"/>
                <a:cs typeface="+mn-cs"/>
                <a:sym typeface="+mn-ea"/>
              </a:rPr>
              <a:t>；</a:t>
            </a:r>
            <a:endParaRPr kumimoji="1" lang="zh-CN" altLang="en-US" sz="2800" b="1" noProof="1">
              <a:latin typeface="黑体" panose="02010609060101010101" pitchFamily="49" charset="-122"/>
              <a:ea typeface="黑体" panose="02010609060101010101" pitchFamily="49" charset="-122"/>
              <a:cs typeface="+mn-cs"/>
            </a:endParaRPr>
          </a:p>
          <a:p>
            <a:pPr algn="l" defTabSz="1008400" rtl="0" eaLnBrk="0" fontAlgn="base" hangingPunct="0">
              <a:lnSpc>
                <a:spcPct val="90000"/>
              </a:lnSpc>
              <a:spcBef>
                <a:spcPct val="20000"/>
              </a:spcBef>
              <a:spcAft>
                <a:spcPct val="0"/>
              </a:spcAft>
              <a:buClr>
                <a:schemeClr val="hlink"/>
              </a:buClr>
              <a:buSzPct val="110000"/>
            </a:pPr>
            <a:r>
              <a:rPr kumimoji="1" lang="en-US" altLang="zh-CN" sz="2800" b="1" noProof="1">
                <a:latin typeface="黑体" panose="02010609060101010101" pitchFamily="49" charset="-122"/>
                <a:ea typeface="黑体" panose="02010609060101010101" pitchFamily="49" charset="-122"/>
                <a:cs typeface="+mn-cs"/>
                <a:sym typeface="+mn-ea"/>
              </a:rPr>
              <a:t>	</a:t>
            </a:r>
            <a:r>
              <a:rPr kumimoji="1" lang="en-US" altLang="zh-CN" sz="2800" b="1" noProof="1">
                <a:solidFill>
                  <a:srgbClr val="C00000"/>
                </a:solidFill>
                <a:latin typeface="黑体" panose="02010609060101010101" pitchFamily="49" charset="-122"/>
                <a:ea typeface="黑体" panose="02010609060101010101" pitchFamily="49" charset="-122"/>
                <a:cs typeface="+mn-cs"/>
                <a:sym typeface="+mn-ea"/>
              </a:rPr>
              <a:t>reg</a:t>
            </a:r>
            <a:r>
              <a:rPr kumimoji="1" lang="en-US" altLang="zh-CN" sz="2800" b="1" noProof="1">
                <a:latin typeface="黑体" panose="02010609060101010101" pitchFamily="49" charset="-122"/>
                <a:ea typeface="黑体" panose="02010609060101010101" pitchFamily="49" charset="-122"/>
                <a:cs typeface="+mn-cs"/>
                <a:sym typeface="+mn-ea"/>
              </a:rPr>
              <a:t> [3:0] y,m</a:t>
            </a:r>
            <a:r>
              <a:rPr kumimoji="1" lang="zh-CN" altLang="en-US" sz="2800" b="1" noProof="1">
                <a:latin typeface="黑体" panose="02010609060101010101" pitchFamily="49" charset="-122"/>
                <a:ea typeface="黑体" panose="02010609060101010101" pitchFamily="49" charset="-122"/>
                <a:cs typeface="+mn-cs"/>
                <a:sym typeface="+mn-ea"/>
              </a:rPr>
              <a:t>；</a:t>
            </a:r>
          </a:p>
          <a:p>
            <a:pPr algn="l" defTabSz="1008400" rtl="0" eaLnBrk="0" fontAlgn="base" hangingPunct="0">
              <a:lnSpc>
                <a:spcPct val="150000"/>
              </a:lnSpc>
              <a:spcBef>
                <a:spcPts val="1800"/>
              </a:spcBef>
              <a:spcAft>
                <a:spcPct val="0"/>
              </a:spcAft>
              <a:buClr>
                <a:schemeClr val="hlink"/>
              </a:buClr>
              <a:buSzPct val="110000"/>
            </a:pPr>
            <a:r>
              <a:rPr kumimoji="1" lang="zh-CN" altLang="en-US" sz="2800" b="1" noProof="1">
                <a:solidFill>
                  <a:srgbClr val="002060"/>
                </a:solidFill>
                <a:latin typeface="+mn-ea"/>
                <a:cs typeface="+mn-cs"/>
              </a:rPr>
              <a:t>注意：</a:t>
            </a:r>
          </a:p>
          <a:p>
            <a:pPr algn="l" defTabSz="1008400" rtl="0" eaLnBrk="0" fontAlgn="base" hangingPunct="0">
              <a:lnSpc>
                <a:spcPct val="90000"/>
              </a:lnSpc>
              <a:spcBef>
                <a:spcPct val="20000"/>
              </a:spcBef>
              <a:spcAft>
                <a:spcPct val="0"/>
              </a:spcAft>
              <a:buClr>
                <a:schemeClr val="hlink"/>
              </a:buClr>
              <a:buSzPct val="110000"/>
            </a:pPr>
            <a:r>
              <a:rPr kumimoji="1" lang="zh-CN" altLang="en-US" sz="2647" noProof="1">
                <a:solidFill>
                  <a:srgbClr val="4B51A5"/>
                </a:solidFill>
                <a:latin typeface="Tahoma" panose="020B0604030504040204" pitchFamily="34" charset="0"/>
                <a:ea typeface="微软雅黑" panose="020B0503020204020204" charset="-122"/>
                <a:cs typeface="+mn-cs"/>
              </a:rPr>
              <a:t>    </a:t>
            </a:r>
            <a:r>
              <a:rPr kumimoji="1" lang="zh-CN" altLang="en-US" sz="2800" b="1" noProof="1">
                <a:solidFill>
                  <a:srgbClr val="002060"/>
                </a:solidFill>
                <a:latin typeface="+mn-ea"/>
                <a:cs typeface="+mn-cs"/>
              </a:rPr>
              <a:t>不表示必将综合成物理（硬件）寄存器！</a:t>
            </a:r>
          </a:p>
          <a:p>
            <a:pPr algn="l" defTabSz="1008400" rtl="0" eaLnBrk="0" fontAlgn="base" hangingPunct="0">
              <a:lnSpc>
                <a:spcPct val="90000"/>
              </a:lnSpc>
              <a:spcBef>
                <a:spcPct val="20000"/>
              </a:spcBef>
              <a:spcAft>
                <a:spcPct val="0"/>
              </a:spcAft>
              <a:buClr>
                <a:schemeClr val="hlink"/>
              </a:buClr>
              <a:buSzPct val="110000"/>
            </a:pPr>
            <a:endParaRPr kumimoji="1" lang="zh-CN" altLang="en-US" sz="2800" b="1" noProof="1">
              <a:solidFill>
                <a:srgbClr val="002060"/>
              </a:solidFill>
              <a:latin typeface="+mn-ea"/>
              <a:cs typeface="+mn-cs"/>
            </a:endParaRPr>
          </a:p>
        </p:txBody>
      </p:sp>
      <p:pic>
        <p:nvPicPr>
          <p:cNvPr id="8" name="object 9">
            <a:extLst>
              <a:ext uri="{FF2B5EF4-FFF2-40B4-BE49-F238E27FC236}">
                <a16:creationId xmlns:a16="http://schemas.microsoft.com/office/drawing/2014/main" id="{CF76DDD7-440F-A4D7-C61D-3815176922B7}"/>
              </a:ext>
            </a:extLst>
          </p:cNvPr>
          <p:cNvPicPr/>
          <p:nvPr/>
        </p:nvPicPr>
        <p:blipFill>
          <a:blip r:embed="rId3" cstate="print"/>
          <a:stretch>
            <a:fillRect/>
          </a:stretch>
        </p:blipFill>
        <p:spPr>
          <a:xfrm>
            <a:off x="6794500" y="2714625"/>
            <a:ext cx="2819400" cy="1292007"/>
          </a:xfrm>
          <a:prstGeom prst="rect">
            <a:avLst/>
          </a:prstGeom>
        </p:spPr>
      </p:pic>
      <p:pic>
        <p:nvPicPr>
          <p:cNvPr id="9" name="object 3">
            <a:extLst>
              <a:ext uri="{FF2B5EF4-FFF2-40B4-BE49-F238E27FC236}">
                <a16:creationId xmlns:a16="http://schemas.microsoft.com/office/drawing/2014/main" id="{C191AC5C-D8AA-13B1-CEB1-6D3DB955DDF0}"/>
              </a:ext>
            </a:extLst>
          </p:cNvPr>
          <p:cNvPicPr/>
          <p:nvPr/>
        </p:nvPicPr>
        <p:blipFill>
          <a:blip r:embed="rId4" cstate="print"/>
          <a:stretch>
            <a:fillRect/>
          </a:stretch>
        </p:blipFill>
        <p:spPr>
          <a:xfrm>
            <a:off x="469900" y="1538069"/>
            <a:ext cx="195544" cy="192055"/>
          </a:xfrm>
          <a:prstGeom prst="rect">
            <a:avLst/>
          </a:prstGeom>
        </p:spPr>
      </p:pic>
      <p:pic>
        <p:nvPicPr>
          <p:cNvPr id="10" name="object 3">
            <a:extLst>
              <a:ext uri="{FF2B5EF4-FFF2-40B4-BE49-F238E27FC236}">
                <a16:creationId xmlns:a16="http://schemas.microsoft.com/office/drawing/2014/main" id="{A58DF842-7709-2472-7220-B3104B3CA635}"/>
              </a:ext>
            </a:extLst>
          </p:cNvPr>
          <p:cNvPicPr/>
          <p:nvPr/>
        </p:nvPicPr>
        <p:blipFill>
          <a:blip r:embed="rId4" cstate="print"/>
          <a:stretch>
            <a:fillRect/>
          </a:stretch>
        </p:blipFill>
        <p:spPr>
          <a:xfrm>
            <a:off x="469900" y="3683047"/>
            <a:ext cx="195544" cy="192055"/>
          </a:xfrm>
          <a:prstGeom prst="rect">
            <a:avLst/>
          </a:prstGeom>
        </p:spPr>
      </p:pic>
      <p:pic>
        <p:nvPicPr>
          <p:cNvPr id="11" name="object 3">
            <a:extLst>
              <a:ext uri="{FF2B5EF4-FFF2-40B4-BE49-F238E27FC236}">
                <a16:creationId xmlns:a16="http://schemas.microsoft.com/office/drawing/2014/main" id="{C609E6FE-29BB-7085-1ED2-7192C3C636BC}"/>
              </a:ext>
            </a:extLst>
          </p:cNvPr>
          <p:cNvPicPr/>
          <p:nvPr/>
        </p:nvPicPr>
        <p:blipFill>
          <a:blip r:embed="rId4" cstate="print"/>
          <a:stretch>
            <a:fillRect/>
          </a:stretch>
        </p:blipFill>
        <p:spPr>
          <a:xfrm>
            <a:off x="469900" y="5966058"/>
            <a:ext cx="195544" cy="192055"/>
          </a:xfrm>
          <a:prstGeom prst="rect">
            <a:avLst/>
          </a:prstGeom>
        </p:spPr>
      </p:pic>
    </p:spTree>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descr="Rectangle: Click to edit Master text styles&#10;Second level&#10;Third level&#10;Fourth level&#10;Fifth level">
            <a:extLst>
              <a:ext uri="{FF2B5EF4-FFF2-40B4-BE49-F238E27FC236}">
                <a16:creationId xmlns:a16="http://schemas.microsoft.com/office/drawing/2014/main" id="{19A5D027-DC6E-5C5A-60BA-E7E62D4E7B19}"/>
              </a:ext>
            </a:extLst>
          </p:cNvPr>
          <p:cNvSpPr txBox="1">
            <a:spLocks/>
          </p:cNvSpPr>
          <p:nvPr/>
        </p:nvSpPr>
        <p:spPr>
          <a:xfrm>
            <a:off x="774700" y="1266825"/>
            <a:ext cx="9546348" cy="5330690"/>
          </a:xfrm>
          <a:prstGeom prst="rect">
            <a:avLst/>
          </a:prstGeom>
        </p:spPr>
        <p:txBody>
          <a:bodyPr wrap="square" lIns="0" tIns="0" rIns="0" bIns="0" anchor="t">
            <a:spAutoFit/>
          </a:bodyPr>
          <a:lstStyle>
            <a:lvl1pPr marL="0">
              <a:defRPr sz="2100" b="0" i="0">
                <a:solidFill>
                  <a:schemeClr val="tx1"/>
                </a:solidFill>
                <a:latin typeface="宋体"/>
                <a:ea typeface="+mn-ea"/>
                <a:cs typeface="宋体"/>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lvl="1" algn="l" defTabSz="1008400" rtl="0" eaLnBrk="0" fontAlgn="base" hangingPunct="0">
              <a:lnSpc>
                <a:spcPct val="150000"/>
              </a:lnSpc>
              <a:buClr>
                <a:schemeClr val="tx1"/>
              </a:buClr>
              <a:buSzPct val="75000"/>
            </a:pPr>
            <a:r>
              <a:rPr kumimoji="1" lang="zh-CN" altLang="en-US" sz="2800" b="1" dirty="0">
                <a:solidFill>
                  <a:srgbClr val="002060"/>
                </a:solidFill>
                <a:latin typeface="+mn-ea"/>
                <a:sym typeface="+mn-ea"/>
              </a:rPr>
              <a:t>一种特殊的寄存器数据类型，用于更方便的对数量</a:t>
            </a:r>
            <a:r>
              <a:rPr kumimoji="1" lang="en-US" altLang="zh-CN" sz="2800" b="1" dirty="0">
                <a:solidFill>
                  <a:srgbClr val="002060"/>
                </a:solidFill>
                <a:latin typeface="+mn-ea"/>
                <a:sym typeface="+mn-ea"/>
              </a:rPr>
              <a:t>(</a:t>
            </a:r>
            <a:r>
              <a:rPr kumimoji="1" lang="zh-CN" altLang="en-US" sz="2800" b="1" dirty="0">
                <a:solidFill>
                  <a:srgbClr val="002060"/>
                </a:solidFill>
                <a:latin typeface="+mn-ea"/>
                <a:sym typeface="+mn-ea"/>
              </a:rPr>
              <a:t>整数</a:t>
            </a:r>
            <a:r>
              <a:rPr kumimoji="1" lang="en-US" altLang="zh-CN" sz="2800" b="1" dirty="0">
                <a:solidFill>
                  <a:srgbClr val="002060"/>
                </a:solidFill>
                <a:latin typeface="+mn-ea"/>
                <a:sym typeface="+mn-ea"/>
              </a:rPr>
              <a:t>)</a:t>
            </a:r>
            <a:r>
              <a:rPr kumimoji="1" lang="zh-CN" altLang="en-US" sz="2800" b="1" dirty="0">
                <a:solidFill>
                  <a:srgbClr val="002060"/>
                </a:solidFill>
                <a:latin typeface="+mn-ea"/>
                <a:sym typeface="+mn-ea"/>
              </a:rPr>
              <a:t>进行操作；</a:t>
            </a:r>
          </a:p>
          <a:p>
            <a:pPr algn="l" defTabSz="1008400" rtl="0" eaLnBrk="0" fontAlgn="base" hangingPunct="0">
              <a:lnSpc>
                <a:spcPct val="150000"/>
              </a:lnSpc>
              <a:spcBef>
                <a:spcPts val="1800"/>
              </a:spcBef>
              <a:spcAft>
                <a:spcPct val="0"/>
              </a:spcAft>
              <a:buClr>
                <a:schemeClr val="hlink"/>
              </a:buClr>
              <a:buSzPct val="110000"/>
            </a:pPr>
            <a:r>
              <a:rPr kumimoji="1" lang="zh-CN" altLang="en-US" sz="2800" b="1" noProof="1">
                <a:solidFill>
                  <a:srgbClr val="002060"/>
                </a:solidFill>
                <a:latin typeface="+mn-ea"/>
                <a:cs typeface="+mn-cs"/>
              </a:rPr>
              <a:t>格式：</a:t>
            </a:r>
            <a:endParaRPr kumimoji="1" lang="en-US" altLang="zh-CN" sz="2800" b="1" noProof="1">
              <a:solidFill>
                <a:srgbClr val="002060"/>
              </a:solidFill>
              <a:latin typeface="+mn-ea"/>
              <a:cs typeface="+mn-cs"/>
            </a:endParaRPr>
          </a:p>
          <a:p>
            <a:pPr algn="l" defTabSz="1008400" rtl="0" eaLnBrk="0" fontAlgn="base" hangingPunct="0">
              <a:lnSpc>
                <a:spcPct val="90000"/>
              </a:lnSpc>
              <a:spcBef>
                <a:spcPct val="20000"/>
              </a:spcBef>
              <a:spcAft>
                <a:spcPct val="0"/>
              </a:spcAft>
              <a:buClr>
                <a:schemeClr val="hlink"/>
              </a:buClr>
              <a:buSzPct val="110000"/>
            </a:pPr>
            <a:r>
              <a:rPr kumimoji="1" lang="en-US" altLang="zh-CN" sz="2500" b="1" noProof="1">
                <a:latin typeface="+mn-ea"/>
                <a:cs typeface="+mn-cs"/>
                <a:sym typeface="+mn-ea"/>
              </a:rPr>
              <a:t>	</a:t>
            </a:r>
            <a:r>
              <a:rPr kumimoji="1" lang="en-US" altLang="zh-CN" sz="2800" b="1" noProof="1">
                <a:solidFill>
                  <a:srgbClr val="C00000"/>
                </a:solidFill>
                <a:latin typeface="黑体" panose="02010609060101010101" pitchFamily="49" charset="-122"/>
                <a:ea typeface="黑体" panose="02010609060101010101" pitchFamily="49" charset="-122"/>
                <a:cs typeface="+mn-cs"/>
                <a:sym typeface="+mn-ea"/>
              </a:rPr>
              <a:t>integer</a:t>
            </a:r>
            <a:r>
              <a:rPr kumimoji="1" lang="en-US" altLang="zh-CN" sz="2800" b="1" noProof="1">
                <a:latin typeface="黑体" panose="02010609060101010101" pitchFamily="49" charset="-122"/>
                <a:ea typeface="黑体" panose="02010609060101010101" pitchFamily="49" charset="-122"/>
                <a:cs typeface="+mn-cs"/>
                <a:sym typeface="+mn-ea"/>
              </a:rPr>
              <a:t> </a:t>
            </a:r>
            <a:r>
              <a:rPr kumimoji="1" lang="zh-CN" altLang="en-US" sz="2800" b="1" noProof="1">
                <a:latin typeface="黑体" panose="02010609060101010101" pitchFamily="49" charset="-122"/>
                <a:ea typeface="黑体" panose="02010609060101010101" pitchFamily="49" charset="-122"/>
                <a:cs typeface="+mn-cs"/>
                <a:sym typeface="+mn-ea"/>
              </a:rPr>
              <a:t>整数名</a:t>
            </a:r>
            <a:r>
              <a:rPr kumimoji="1" lang="en-US" altLang="zh-CN" sz="2800" b="1" noProof="1">
                <a:latin typeface="黑体" panose="02010609060101010101" pitchFamily="49" charset="-122"/>
                <a:ea typeface="黑体" panose="02010609060101010101" pitchFamily="49" charset="-122"/>
                <a:cs typeface="+mn-cs"/>
                <a:sym typeface="+mn-ea"/>
              </a:rPr>
              <a:t>1</a:t>
            </a:r>
            <a:r>
              <a:rPr kumimoji="1" lang="zh-CN" altLang="en-US" sz="2800" b="1" noProof="1">
                <a:latin typeface="黑体" panose="02010609060101010101" pitchFamily="49" charset="-122"/>
                <a:ea typeface="黑体" panose="02010609060101010101" pitchFamily="49" charset="-122"/>
                <a:cs typeface="+mn-cs"/>
                <a:sym typeface="+mn-ea"/>
              </a:rPr>
              <a:t>，</a:t>
            </a:r>
            <a:r>
              <a:rPr kumimoji="1" lang="zh-CN" altLang="en-US" sz="2800" b="1" noProof="1">
                <a:latin typeface="黑体" panose="02010609060101010101" pitchFamily="49" charset="-122"/>
                <a:ea typeface="黑体" panose="02010609060101010101" pitchFamily="49" charset="-122"/>
                <a:sym typeface="+mn-ea"/>
              </a:rPr>
              <a:t>整数名</a:t>
            </a:r>
            <a:r>
              <a:rPr kumimoji="1" lang="en-US" altLang="zh-CN" sz="2800" b="1" noProof="1">
                <a:latin typeface="黑体" panose="02010609060101010101" pitchFamily="49" charset="-122"/>
                <a:ea typeface="黑体" panose="02010609060101010101" pitchFamily="49" charset="-122"/>
                <a:cs typeface="+mn-cs"/>
                <a:sym typeface="+mn-ea"/>
              </a:rPr>
              <a:t>2</a:t>
            </a:r>
            <a:r>
              <a:rPr kumimoji="1" lang="zh-CN" altLang="en-US" sz="2800" b="1" noProof="1">
                <a:latin typeface="黑体" panose="02010609060101010101" pitchFamily="49" charset="-122"/>
                <a:ea typeface="黑体" panose="02010609060101010101" pitchFamily="49" charset="-122"/>
                <a:cs typeface="+mn-cs"/>
                <a:sym typeface="+mn-ea"/>
              </a:rPr>
              <a:t>；</a:t>
            </a:r>
            <a:endParaRPr kumimoji="1" lang="zh-CN" altLang="en-US" sz="2800" b="1" noProof="1">
              <a:latin typeface="黑体" panose="02010609060101010101" pitchFamily="49" charset="-122"/>
              <a:ea typeface="黑体" panose="02010609060101010101" pitchFamily="49" charset="-122"/>
              <a:cs typeface="+mn-cs"/>
            </a:endParaRPr>
          </a:p>
          <a:p>
            <a:pPr algn="l" defTabSz="1008400" rtl="0" eaLnBrk="0" fontAlgn="base" hangingPunct="0">
              <a:lnSpc>
                <a:spcPct val="90000"/>
              </a:lnSpc>
              <a:spcBef>
                <a:spcPct val="20000"/>
              </a:spcBef>
              <a:spcAft>
                <a:spcPct val="0"/>
              </a:spcAft>
              <a:buClr>
                <a:schemeClr val="hlink"/>
              </a:buClr>
              <a:buSzPct val="110000"/>
            </a:pPr>
            <a:r>
              <a:rPr kumimoji="1" lang="en-US" altLang="zh-CN" sz="2800" b="1" noProof="1">
                <a:latin typeface="黑体" panose="02010609060101010101" pitchFamily="49" charset="-122"/>
                <a:ea typeface="黑体" panose="02010609060101010101" pitchFamily="49" charset="-122"/>
                <a:cs typeface="+mn-cs"/>
                <a:sym typeface="+mn-ea"/>
              </a:rPr>
              <a:t>	</a:t>
            </a:r>
            <a:r>
              <a:rPr kumimoji="1" lang="en-US" altLang="zh-CN" sz="2800" b="1" noProof="1">
                <a:solidFill>
                  <a:srgbClr val="C00000"/>
                </a:solidFill>
                <a:latin typeface="黑体" panose="02010609060101010101" pitchFamily="49" charset="-122"/>
                <a:ea typeface="黑体" panose="02010609060101010101" pitchFamily="49" charset="-122"/>
                <a:cs typeface="+mn-cs"/>
                <a:sym typeface="+mn-ea"/>
              </a:rPr>
              <a:t>interger</a:t>
            </a:r>
            <a:r>
              <a:rPr kumimoji="1" lang="en-US" altLang="zh-CN" sz="2800" b="1" noProof="1">
                <a:latin typeface="黑体" panose="02010609060101010101" pitchFamily="49" charset="-122"/>
                <a:ea typeface="黑体" panose="02010609060101010101" pitchFamily="49" charset="-122"/>
                <a:cs typeface="+mn-cs"/>
                <a:sym typeface="+mn-ea"/>
              </a:rPr>
              <a:t> i</a:t>
            </a:r>
            <a:r>
              <a:rPr kumimoji="1" lang="zh-CN" altLang="en-US" sz="2800" b="1" noProof="1">
                <a:latin typeface="黑体" panose="02010609060101010101" pitchFamily="49" charset="-122"/>
                <a:ea typeface="黑体" panose="02010609060101010101" pitchFamily="49" charset="-122"/>
                <a:cs typeface="+mn-cs"/>
                <a:sym typeface="+mn-ea"/>
              </a:rPr>
              <a:t>；</a:t>
            </a:r>
          </a:p>
          <a:p>
            <a:pPr algn="l" defTabSz="1008400" rtl="0" eaLnBrk="0" fontAlgn="base" hangingPunct="0">
              <a:lnSpc>
                <a:spcPct val="150000"/>
              </a:lnSpc>
              <a:spcBef>
                <a:spcPts val="1800"/>
              </a:spcBef>
              <a:spcAft>
                <a:spcPct val="0"/>
              </a:spcAft>
              <a:buClr>
                <a:schemeClr val="hlink"/>
              </a:buClr>
              <a:buSzPct val="110000"/>
            </a:pPr>
            <a:r>
              <a:rPr kumimoji="1" lang="zh-CN" altLang="en-US" sz="2800" b="1" noProof="1">
                <a:solidFill>
                  <a:srgbClr val="002060"/>
                </a:solidFill>
                <a:latin typeface="+mn-ea"/>
                <a:cs typeface="+mn-cs"/>
              </a:rPr>
              <a:t>注意：</a:t>
            </a:r>
          </a:p>
          <a:p>
            <a:pPr marL="432000" algn="l" defTabSz="1008400" rtl="0" eaLnBrk="0" fontAlgn="base" hangingPunct="0">
              <a:lnSpc>
                <a:spcPct val="90000"/>
              </a:lnSpc>
              <a:spcBef>
                <a:spcPct val="20000"/>
              </a:spcBef>
              <a:spcAft>
                <a:spcPct val="0"/>
              </a:spcAft>
              <a:buClr>
                <a:schemeClr val="hlink"/>
              </a:buClr>
              <a:buSzPct val="110000"/>
            </a:pPr>
            <a:r>
              <a:rPr kumimoji="1" lang="zh-CN" altLang="en-US" sz="2800" b="1" noProof="1">
                <a:solidFill>
                  <a:srgbClr val="002060"/>
                </a:solidFill>
                <a:latin typeface="+mn-ea"/>
                <a:cs typeface="+mn-cs"/>
              </a:rPr>
              <a:t>区别于</a:t>
            </a:r>
            <a:r>
              <a:rPr kumimoji="1" lang="en-US" altLang="zh-CN" sz="2800" b="1" noProof="1">
                <a:solidFill>
                  <a:srgbClr val="002060"/>
                </a:solidFill>
                <a:latin typeface="+mn-ea"/>
                <a:cs typeface="+mn-cs"/>
              </a:rPr>
              <a:t>reg</a:t>
            </a:r>
            <a:r>
              <a:rPr kumimoji="1" lang="zh-CN" altLang="en-US" sz="2800" b="1" noProof="1">
                <a:solidFill>
                  <a:srgbClr val="002060"/>
                </a:solidFill>
                <a:latin typeface="+mn-ea"/>
                <a:cs typeface="+mn-cs"/>
              </a:rPr>
              <a:t>型：</a:t>
            </a:r>
            <a:r>
              <a:rPr kumimoji="1" lang="en-US" altLang="zh-CN" sz="2800" b="1" noProof="1">
                <a:solidFill>
                  <a:srgbClr val="002060"/>
                </a:solidFill>
                <a:latin typeface="+mn-ea"/>
                <a:cs typeface="+mn-cs"/>
              </a:rPr>
              <a:t>reg</a:t>
            </a:r>
            <a:r>
              <a:rPr kumimoji="1" lang="zh-CN" altLang="en-US" sz="2800" b="1" noProof="1">
                <a:solidFill>
                  <a:srgbClr val="002060"/>
                </a:solidFill>
                <a:latin typeface="+mn-ea"/>
                <a:cs typeface="+mn-cs"/>
              </a:rPr>
              <a:t>中存储的数据为无符号数，</a:t>
            </a:r>
            <a:r>
              <a:rPr kumimoji="1" lang="en-US" altLang="zh-CN" sz="2800" b="1" noProof="1">
                <a:solidFill>
                  <a:srgbClr val="002060"/>
                </a:solidFill>
                <a:latin typeface="+mn-ea"/>
                <a:cs typeface="+mn-cs"/>
              </a:rPr>
              <a:t>integer</a:t>
            </a:r>
            <a:r>
              <a:rPr kumimoji="1" lang="zh-CN" altLang="en-US" sz="2800" b="1" noProof="1">
                <a:solidFill>
                  <a:srgbClr val="002060"/>
                </a:solidFill>
                <a:latin typeface="+mn-ea"/>
                <a:cs typeface="+mn-cs"/>
              </a:rPr>
              <a:t>中存储的数据是有符号数；其宽度一般默认为</a:t>
            </a:r>
            <a:r>
              <a:rPr kumimoji="1" lang="en-US" altLang="zh-CN" sz="2800" b="1" noProof="1">
                <a:solidFill>
                  <a:srgbClr val="002060"/>
                </a:solidFill>
                <a:latin typeface="+mn-ea"/>
                <a:cs typeface="+mn-cs"/>
              </a:rPr>
              <a:t>32</a:t>
            </a:r>
            <a:r>
              <a:rPr kumimoji="1" lang="zh-CN" altLang="en-US" sz="2800" b="1" noProof="1">
                <a:solidFill>
                  <a:srgbClr val="002060"/>
                </a:solidFill>
                <a:latin typeface="+mn-ea"/>
                <a:cs typeface="+mn-cs"/>
              </a:rPr>
              <a:t>位；</a:t>
            </a:r>
          </a:p>
          <a:p>
            <a:pPr algn="l" defTabSz="1008400" rtl="0" eaLnBrk="0" fontAlgn="base" hangingPunct="0">
              <a:lnSpc>
                <a:spcPct val="90000"/>
              </a:lnSpc>
              <a:spcBef>
                <a:spcPct val="20000"/>
              </a:spcBef>
              <a:spcAft>
                <a:spcPct val="0"/>
              </a:spcAft>
              <a:buClr>
                <a:schemeClr val="hlink"/>
              </a:buClr>
              <a:buSzPct val="110000"/>
            </a:pPr>
            <a:endParaRPr kumimoji="1" lang="zh-CN" altLang="en-US" sz="2800" b="1" noProof="1">
              <a:solidFill>
                <a:srgbClr val="002060"/>
              </a:solidFill>
              <a:latin typeface="+mn-ea"/>
              <a:cs typeface="+mn-cs"/>
            </a:endParaRPr>
          </a:p>
        </p:txBody>
      </p:sp>
      <p:sp>
        <p:nvSpPr>
          <p:cNvPr id="2" name="object 3">
            <a:extLst>
              <a:ext uri="{FF2B5EF4-FFF2-40B4-BE49-F238E27FC236}">
                <a16:creationId xmlns:a16="http://schemas.microsoft.com/office/drawing/2014/main" id="{30568545-E94F-04C6-DF09-7B50464AA080}"/>
              </a:ext>
            </a:extLst>
          </p:cNvPr>
          <p:cNvSpPr txBox="1">
            <a:spLocks/>
          </p:cNvSpPr>
          <p:nvPr/>
        </p:nvSpPr>
        <p:spPr>
          <a:xfrm>
            <a:off x="241300" y="200025"/>
            <a:ext cx="7288905" cy="524503"/>
          </a:xfrm>
          <a:prstGeom prst="rect">
            <a:avLst/>
          </a:prstGeom>
        </p:spPr>
        <p:txBody>
          <a:bodyPr vert="horz" wrap="square" lIns="0" tIns="16510" rIns="0" bIns="0" rtlCol="0">
            <a:spAutoFit/>
          </a:bodyPr>
          <a:lstStyle>
            <a:lvl1pPr>
              <a:defRPr sz="2800" b="0" i="0">
                <a:solidFill>
                  <a:srgbClr val="3F3F3F"/>
                </a:solidFill>
                <a:latin typeface="Calibri"/>
                <a:ea typeface="+mj-ea"/>
                <a:cs typeface="Calibri"/>
              </a:defRPr>
            </a:lvl1pPr>
          </a:lstStyle>
          <a:p>
            <a:pPr marL="12700">
              <a:spcBef>
                <a:spcPts val="130"/>
              </a:spcBef>
            </a:pPr>
            <a:r>
              <a:rPr lang="en-US" altLang="zh-CN" sz="3300" b="1" spc="-15" dirty="0">
                <a:solidFill>
                  <a:srgbClr val="C00000"/>
                </a:solidFill>
                <a:latin typeface="宋体"/>
                <a:cs typeface="宋体"/>
              </a:rPr>
              <a:t>integer</a:t>
            </a:r>
            <a:r>
              <a:rPr lang="zh-CN" altLang="en-US" sz="3300" b="1" spc="-15" dirty="0">
                <a:solidFill>
                  <a:srgbClr val="000000"/>
                </a:solidFill>
                <a:latin typeface="宋体"/>
                <a:cs typeface="宋体"/>
              </a:rPr>
              <a:t>型数据类型</a:t>
            </a:r>
            <a:endParaRPr lang="zh-CN" altLang="en-US" sz="3300" dirty="0">
              <a:latin typeface="宋体"/>
              <a:cs typeface="宋体"/>
            </a:endParaRPr>
          </a:p>
        </p:txBody>
      </p:sp>
      <p:pic>
        <p:nvPicPr>
          <p:cNvPr id="8" name="object 3">
            <a:extLst>
              <a:ext uri="{FF2B5EF4-FFF2-40B4-BE49-F238E27FC236}">
                <a16:creationId xmlns:a16="http://schemas.microsoft.com/office/drawing/2014/main" id="{8E978549-8C47-B90B-25B1-40642DA70665}"/>
              </a:ext>
            </a:extLst>
          </p:cNvPr>
          <p:cNvPicPr/>
          <p:nvPr/>
        </p:nvPicPr>
        <p:blipFill>
          <a:blip r:embed="rId3" cstate="print"/>
          <a:stretch>
            <a:fillRect/>
          </a:stretch>
        </p:blipFill>
        <p:spPr>
          <a:xfrm>
            <a:off x="469900" y="1538069"/>
            <a:ext cx="195544" cy="192055"/>
          </a:xfrm>
          <a:prstGeom prst="rect">
            <a:avLst/>
          </a:prstGeom>
        </p:spPr>
      </p:pic>
      <p:pic>
        <p:nvPicPr>
          <p:cNvPr id="9" name="object 3">
            <a:extLst>
              <a:ext uri="{FF2B5EF4-FFF2-40B4-BE49-F238E27FC236}">
                <a16:creationId xmlns:a16="http://schemas.microsoft.com/office/drawing/2014/main" id="{6709664A-C0CE-8700-5031-E994C6637A76}"/>
              </a:ext>
            </a:extLst>
          </p:cNvPr>
          <p:cNvPicPr/>
          <p:nvPr/>
        </p:nvPicPr>
        <p:blipFill>
          <a:blip r:embed="rId3" cstate="print"/>
          <a:stretch>
            <a:fillRect/>
          </a:stretch>
        </p:blipFill>
        <p:spPr>
          <a:xfrm>
            <a:off x="469900" y="3034927"/>
            <a:ext cx="195544" cy="192055"/>
          </a:xfrm>
          <a:prstGeom prst="rect">
            <a:avLst/>
          </a:prstGeom>
        </p:spPr>
      </p:pic>
      <p:pic>
        <p:nvPicPr>
          <p:cNvPr id="10" name="object 3">
            <a:extLst>
              <a:ext uri="{FF2B5EF4-FFF2-40B4-BE49-F238E27FC236}">
                <a16:creationId xmlns:a16="http://schemas.microsoft.com/office/drawing/2014/main" id="{E3902B08-3686-447A-C942-631391B2209F}"/>
              </a:ext>
            </a:extLst>
          </p:cNvPr>
          <p:cNvPicPr/>
          <p:nvPr/>
        </p:nvPicPr>
        <p:blipFill>
          <a:blip r:embed="rId3" cstate="print"/>
          <a:stretch>
            <a:fillRect/>
          </a:stretch>
        </p:blipFill>
        <p:spPr>
          <a:xfrm>
            <a:off x="469900" y="4856614"/>
            <a:ext cx="195544" cy="192055"/>
          </a:xfrm>
          <a:prstGeom prst="rect">
            <a:avLst/>
          </a:prstGeom>
        </p:spPr>
      </p:pic>
    </p:spTree>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FD231C-FF37-3FA8-6BD6-DBBDF1C60178}"/>
            </a:ext>
          </a:extLst>
        </p:cNvPr>
        <p:cNvGrpSpPr/>
        <p:nvPr/>
      </p:nvGrpSpPr>
      <p:grpSpPr>
        <a:xfrm>
          <a:off x="0" y="0"/>
          <a:ext cx="0" cy="0"/>
          <a:chOff x="0" y="0"/>
          <a:chExt cx="0" cy="0"/>
        </a:xfrm>
      </p:grpSpPr>
      <p:sp>
        <p:nvSpPr>
          <p:cNvPr id="12" name="Rectangle 3" descr="Rectangle: Click to edit Master text styles&#10;Second level&#10;Third level&#10;Fourth level&#10;Fifth level">
            <a:extLst>
              <a:ext uri="{FF2B5EF4-FFF2-40B4-BE49-F238E27FC236}">
                <a16:creationId xmlns:a16="http://schemas.microsoft.com/office/drawing/2014/main" id="{969D1B2B-450C-2B39-ED60-4311AC88162F}"/>
              </a:ext>
            </a:extLst>
          </p:cNvPr>
          <p:cNvSpPr txBox="1">
            <a:spLocks/>
          </p:cNvSpPr>
          <p:nvPr/>
        </p:nvSpPr>
        <p:spPr>
          <a:xfrm>
            <a:off x="767466" y="1114425"/>
            <a:ext cx="9546348" cy="6337119"/>
          </a:xfrm>
          <a:prstGeom prst="rect">
            <a:avLst/>
          </a:prstGeom>
        </p:spPr>
        <p:txBody>
          <a:bodyPr wrap="square" lIns="0" tIns="0" rIns="0" bIns="0" anchor="t">
            <a:spAutoFit/>
          </a:bodyPr>
          <a:lstStyle>
            <a:lvl1pPr marL="0">
              <a:defRPr sz="2100" b="0" i="0">
                <a:solidFill>
                  <a:schemeClr val="tx1"/>
                </a:solidFill>
                <a:latin typeface="宋体"/>
                <a:ea typeface="+mn-ea"/>
                <a:cs typeface="宋体"/>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lvl="1" algn="l" defTabSz="1008400" rtl="0" eaLnBrk="0" fontAlgn="base" hangingPunct="0">
              <a:lnSpc>
                <a:spcPct val="150000"/>
              </a:lnSpc>
              <a:buClr>
                <a:schemeClr val="tx1"/>
              </a:buClr>
              <a:buSzPct val="75000"/>
            </a:pPr>
            <a:r>
              <a:rPr kumimoji="1" lang="zh-CN" altLang="en-US" sz="2800" b="1" dirty="0">
                <a:solidFill>
                  <a:srgbClr val="002060"/>
                </a:solidFill>
                <a:latin typeface="+mn-ea"/>
                <a:sym typeface="+mn-ea"/>
              </a:rPr>
              <a:t>可以声明</a:t>
            </a:r>
            <a:r>
              <a:rPr kumimoji="1" lang="en-US" altLang="zh-CN" sz="2800" b="1" dirty="0">
                <a:solidFill>
                  <a:srgbClr val="002060"/>
                </a:solidFill>
                <a:latin typeface="+mn-ea"/>
                <a:sym typeface="+mn-ea"/>
              </a:rPr>
              <a:t>wire,reg,interger</a:t>
            </a:r>
            <a:r>
              <a:rPr kumimoji="1" lang="zh-CN" altLang="en-US" sz="2800" b="1" dirty="0">
                <a:solidFill>
                  <a:srgbClr val="002060"/>
                </a:solidFill>
                <a:latin typeface="+mn-ea"/>
                <a:sym typeface="+mn-ea"/>
              </a:rPr>
              <a:t>数据类型</a:t>
            </a:r>
            <a:r>
              <a:rPr kumimoji="1" lang="en-US" altLang="zh-CN" sz="2800" b="1" dirty="0">
                <a:solidFill>
                  <a:srgbClr val="002060"/>
                </a:solidFill>
                <a:latin typeface="+mn-ea"/>
                <a:sym typeface="+mn-ea"/>
              </a:rPr>
              <a:t>(</a:t>
            </a:r>
            <a:r>
              <a:rPr kumimoji="1" lang="zh-CN" altLang="en-US" sz="2800" b="1" dirty="0">
                <a:solidFill>
                  <a:srgbClr val="002060"/>
                </a:solidFill>
                <a:latin typeface="+mn-ea"/>
                <a:sym typeface="+mn-ea"/>
              </a:rPr>
              <a:t>标量和向量</a:t>
            </a:r>
            <a:r>
              <a:rPr kumimoji="1" lang="en-US" altLang="zh-CN" sz="2800" b="1" dirty="0">
                <a:solidFill>
                  <a:srgbClr val="002060"/>
                </a:solidFill>
                <a:latin typeface="+mn-ea"/>
                <a:sym typeface="+mn-ea"/>
              </a:rPr>
              <a:t>)</a:t>
            </a:r>
            <a:r>
              <a:rPr kumimoji="1" lang="zh-CN" altLang="en-US" sz="2800" b="1" dirty="0">
                <a:solidFill>
                  <a:srgbClr val="002060"/>
                </a:solidFill>
                <a:latin typeface="+mn-ea"/>
                <a:sym typeface="+mn-ea"/>
              </a:rPr>
              <a:t>的数组</a:t>
            </a:r>
          </a:p>
          <a:p>
            <a:pPr algn="l" defTabSz="1008400" rtl="0" eaLnBrk="0" fontAlgn="base" hangingPunct="0">
              <a:lnSpc>
                <a:spcPct val="150000"/>
              </a:lnSpc>
              <a:spcBef>
                <a:spcPts val="1800"/>
              </a:spcBef>
              <a:spcAft>
                <a:spcPct val="0"/>
              </a:spcAft>
              <a:buClr>
                <a:schemeClr val="hlink"/>
              </a:buClr>
              <a:buSzPct val="110000"/>
            </a:pPr>
            <a:r>
              <a:rPr kumimoji="1" lang="zh-CN" altLang="en-US" sz="2800" b="1" noProof="1">
                <a:solidFill>
                  <a:srgbClr val="002060"/>
                </a:solidFill>
                <a:latin typeface="+mn-ea"/>
                <a:cs typeface="+mn-cs"/>
              </a:rPr>
              <a:t>格式示例：</a:t>
            </a:r>
            <a:endParaRPr kumimoji="1" lang="en-US" altLang="zh-CN" sz="2800" b="1" noProof="1">
              <a:solidFill>
                <a:srgbClr val="002060"/>
              </a:solidFill>
              <a:latin typeface="+mn-ea"/>
              <a:cs typeface="+mn-cs"/>
            </a:endParaRPr>
          </a:p>
          <a:p>
            <a:pPr algn="l" defTabSz="1008400" rtl="0" eaLnBrk="0" fontAlgn="base" hangingPunct="0">
              <a:lnSpc>
                <a:spcPct val="90000"/>
              </a:lnSpc>
              <a:spcBef>
                <a:spcPct val="20000"/>
              </a:spcBef>
              <a:spcAft>
                <a:spcPct val="0"/>
              </a:spcAft>
              <a:buClr>
                <a:schemeClr val="hlink"/>
              </a:buClr>
              <a:buSzPct val="110000"/>
            </a:pPr>
            <a:r>
              <a:rPr kumimoji="1" lang="en-US" altLang="zh-CN" sz="2500" b="1" noProof="1">
                <a:latin typeface="+mn-ea"/>
                <a:cs typeface="+mn-cs"/>
                <a:sym typeface="+mn-ea"/>
              </a:rPr>
              <a:t>	</a:t>
            </a:r>
            <a:r>
              <a:rPr kumimoji="1" lang="en-US" altLang="zh-CN" sz="2800" b="1" noProof="1">
                <a:solidFill>
                  <a:srgbClr val="C00000"/>
                </a:solidFill>
                <a:latin typeface="黑体" panose="02010609060101010101" pitchFamily="49" charset="-122"/>
                <a:ea typeface="黑体" panose="02010609060101010101" pitchFamily="49" charset="-122"/>
                <a:cs typeface="+mn-cs"/>
                <a:sym typeface="+mn-ea"/>
              </a:rPr>
              <a:t>wire</a:t>
            </a:r>
            <a:r>
              <a:rPr kumimoji="1" lang="en-US" altLang="zh-CN" sz="2800" b="1" noProof="1">
                <a:latin typeface="黑体" panose="02010609060101010101" pitchFamily="49" charset="-122"/>
                <a:ea typeface="黑体" panose="02010609060101010101" pitchFamily="49" charset="-122"/>
                <a:cs typeface="+mn-cs"/>
                <a:sym typeface="+mn-ea"/>
              </a:rPr>
              <a:t> w_array [0:7]</a:t>
            </a:r>
            <a:r>
              <a:rPr kumimoji="1" lang="zh-CN" altLang="en-US" sz="2800" b="1" noProof="1">
                <a:latin typeface="黑体" panose="02010609060101010101" pitchFamily="49" charset="-122"/>
                <a:ea typeface="黑体" panose="02010609060101010101" pitchFamily="49" charset="-122"/>
                <a:cs typeface="+mn-cs"/>
                <a:sym typeface="+mn-ea"/>
              </a:rPr>
              <a:t>；</a:t>
            </a:r>
            <a:endParaRPr kumimoji="1" lang="zh-CN" altLang="en-US" sz="2800" b="1" noProof="1">
              <a:latin typeface="黑体" panose="02010609060101010101" pitchFamily="49" charset="-122"/>
              <a:ea typeface="黑体" panose="02010609060101010101" pitchFamily="49" charset="-122"/>
              <a:cs typeface="+mn-cs"/>
            </a:endParaRPr>
          </a:p>
          <a:p>
            <a:pPr algn="l" defTabSz="1008400" rtl="0" eaLnBrk="0" fontAlgn="base" hangingPunct="0">
              <a:lnSpc>
                <a:spcPct val="90000"/>
              </a:lnSpc>
              <a:spcBef>
                <a:spcPct val="20000"/>
              </a:spcBef>
              <a:spcAft>
                <a:spcPct val="0"/>
              </a:spcAft>
              <a:buClr>
                <a:schemeClr val="hlink"/>
              </a:buClr>
              <a:buSzPct val="110000"/>
            </a:pPr>
            <a:r>
              <a:rPr kumimoji="1" lang="en-US" altLang="zh-CN" sz="2800" b="1" noProof="1">
                <a:latin typeface="黑体" panose="02010609060101010101" pitchFamily="49" charset="-122"/>
                <a:ea typeface="黑体" panose="02010609060101010101" pitchFamily="49" charset="-122"/>
                <a:cs typeface="+mn-cs"/>
                <a:sym typeface="+mn-ea"/>
              </a:rPr>
              <a:t>	</a:t>
            </a:r>
            <a:r>
              <a:rPr kumimoji="1" lang="en-US" altLang="zh-CN" sz="2800" b="1" noProof="1">
                <a:solidFill>
                  <a:srgbClr val="C00000"/>
                </a:solidFill>
                <a:latin typeface="黑体" panose="02010609060101010101" pitchFamily="49" charset="-122"/>
                <a:ea typeface="黑体" panose="02010609060101010101" pitchFamily="49" charset="-122"/>
                <a:cs typeface="+mn-cs"/>
                <a:sym typeface="+mn-ea"/>
              </a:rPr>
              <a:t>reg</a:t>
            </a:r>
            <a:r>
              <a:rPr kumimoji="1" lang="en-US" altLang="zh-CN" sz="2800" b="1" noProof="1">
                <a:latin typeface="黑体" panose="02010609060101010101" pitchFamily="49" charset="-122"/>
                <a:ea typeface="黑体" panose="02010609060101010101" pitchFamily="49" charset="-122"/>
                <a:cs typeface="+mn-cs"/>
                <a:sym typeface="+mn-ea"/>
              </a:rPr>
              <a:t> bool [0:31]</a:t>
            </a:r>
            <a:r>
              <a:rPr kumimoji="1" lang="zh-CN" altLang="en-US" sz="2800" b="1" noProof="1">
                <a:latin typeface="黑体" panose="02010609060101010101" pitchFamily="49" charset="-122"/>
                <a:ea typeface="黑体" panose="02010609060101010101" pitchFamily="49" charset="-122"/>
                <a:cs typeface="+mn-cs"/>
                <a:sym typeface="+mn-ea"/>
              </a:rPr>
              <a:t>；</a:t>
            </a:r>
            <a:endParaRPr kumimoji="1" lang="zh-CN" altLang="en-US" sz="2800" b="1" noProof="1">
              <a:latin typeface="黑体" panose="02010609060101010101" pitchFamily="49" charset="-122"/>
              <a:ea typeface="黑体" panose="02010609060101010101" pitchFamily="49" charset="-122"/>
            </a:endParaRPr>
          </a:p>
          <a:p>
            <a:pPr algn="l" defTabSz="1008400" rtl="0" eaLnBrk="0" fontAlgn="base" hangingPunct="0">
              <a:lnSpc>
                <a:spcPct val="90000"/>
              </a:lnSpc>
              <a:spcBef>
                <a:spcPct val="20000"/>
              </a:spcBef>
              <a:spcAft>
                <a:spcPct val="0"/>
              </a:spcAft>
              <a:buClr>
                <a:schemeClr val="hlink"/>
              </a:buClr>
              <a:buSzPct val="110000"/>
            </a:pPr>
            <a:r>
              <a:rPr kumimoji="1" lang="en-US" altLang="zh-CN" sz="2800" b="1" noProof="1">
                <a:latin typeface="黑体" panose="02010609060101010101" pitchFamily="49" charset="-122"/>
                <a:ea typeface="黑体" panose="02010609060101010101" pitchFamily="49" charset="-122"/>
                <a:sym typeface="+mn-ea"/>
              </a:rPr>
              <a:t>	</a:t>
            </a:r>
            <a:r>
              <a:rPr kumimoji="1" lang="en-US" altLang="zh-CN" sz="2800" b="1" noProof="1">
                <a:solidFill>
                  <a:srgbClr val="C00000"/>
                </a:solidFill>
                <a:latin typeface="黑体" panose="02010609060101010101" pitchFamily="49" charset="-122"/>
                <a:ea typeface="黑体" panose="02010609060101010101" pitchFamily="49" charset="-122"/>
                <a:sym typeface="+mn-ea"/>
              </a:rPr>
              <a:t>reg</a:t>
            </a:r>
            <a:r>
              <a:rPr kumimoji="1" lang="en-US" altLang="zh-CN" sz="2800" b="1" noProof="1">
                <a:latin typeface="黑体" panose="02010609060101010101" pitchFamily="49" charset="-122"/>
                <a:ea typeface="黑体" panose="02010609060101010101" pitchFamily="49" charset="-122"/>
                <a:sym typeface="+mn-ea"/>
              </a:rPr>
              <a:t> [7:0] port_id [0:3]</a:t>
            </a:r>
            <a:r>
              <a:rPr kumimoji="1" lang="zh-CN" altLang="en-US" sz="2800" b="1" noProof="1">
                <a:latin typeface="黑体" panose="02010609060101010101" pitchFamily="49" charset="-122"/>
                <a:ea typeface="黑体" panose="02010609060101010101" pitchFamily="49" charset="-122"/>
                <a:sym typeface="+mn-ea"/>
              </a:rPr>
              <a:t>；</a:t>
            </a:r>
            <a:endParaRPr kumimoji="1" lang="zh-CN" altLang="en-US" sz="2800" b="1" noProof="1">
              <a:latin typeface="黑体" panose="02010609060101010101" pitchFamily="49" charset="-122"/>
              <a:ea typeface="黑体" panose="02010609060101010101" pitchFamily="49" charset="-122"/>
            </a:endParaRPr>
          </a:p>
          <a:p>
            <a:pPr algn="l" defTabSz="1008400" rtl="0" eaLnBrk="0" fontAlgn="base" hangingPunct="0">
              <a:lnSpc>
                <a:spcPct val="90000"/>
              </a:lnSpc>
              <a:spcBef>
                <a:spcPct val="20000"/>
              </a:spcBef>
              <a:spcAft>
                <a:spcPct val="0"/>
              </a:spcAft>
              <a:buClr>
                <a:schemeClr val="hlink"/>
              </a:buClr>
              <a:buSzPct val="110000"/>
            </a:pPr>
            <a:r>
              <a:rPr kumimoji="1" lang="en-US" altLang="zh-CN" sz="2800" b="1" noProof="1">
                <a:latin typeface="黑体" panose="02010609060101010101" pitchFamily="49" charset="-122"/>
                <a:ea typeface="黑体" panose="02010609060101010101" pitchFamily="49" charset="-122"/>
                <a:sym typeface="+mn-ea"/>
              </a:rPr>
              <a:t>	</a:t>
            </a:r>
            <a:r>
              <a:rPr kumimoji="1" lang="en-US" altLang="zh-CN" sz="2800" b="1" noProof="1">
                <a:solidFill>
                  <a:srgbClr val="C00000"/>
                </a:solidFill>
                <a:latin typeface="黑体" panose="02010609060101010101" pitchFamily="49" charset="-122"/>
                <a:ea typeface="黑体" panose="02010609060101010101" pitchFamily="49" charset="-122"/>
                <a:sym typeface="+mn-ea"/>
              </a:rPr>
              <a:t>interger</a:t>
            </a:r>
            <a:r>
              <a:rPr kumimoji="1" lang="en-US" altLang="zh-CN" sz="2800" b="1" noProof="1">
                <a:latin typeface="黑体" panose="02010609060101010101" pitchFamily="49" charset="-122"/>
                <a:ea typeface="黑体" panose="02010609060101010101" pitchFamily="49" charset="-122"/>
                <a:sym typeface="+mn-ea"/>
              </a:rPr>
              <a:t> count [0:7]</a:t>
            </a:r>
            <a:r>
              <a:rPr kumimoji="1" lang="zh-CN" altLang="en-US" sz="2800" b="1" noProof="1">
                <a:latin typeface="黑体" panose="02010609060101010101" pitchFamily="49" charset="-122"/>
                <a:ea typeface="黑体" panose="02010609060101010101" pitchFamily="49" charset="-122"/>
                <a:sym typeface="+mn-ea"/>
              </a:rPr>
              <a:t>；</a:t>
            </a:r>
            <a:endParaRPr kumimoji="1" lang="zh-CN" altLang="en-US" sz="2800" b="1" noProof="1">
              <a:latin typeface="黑体" panose="02010609060101010101" pitchFamily="49" charset="-122"/>
              <a:ea typeface="黑体" panose="02010609060101010101" pitchFamily="49" charset="-122"/>
              <a:cs typeface="+mn-cs"/>
              <a:sym typeface="+mn-ea"/>
            </a:endParaRPr>
          </a:p>
          <a:p>
            <a:pPr algn="l" defTabSz="1008400" rtl="0" eaLnBrk="0" fontAlgn="base" hangingPunct="0">
              <a:lnSpc>
                <a:spcPct val="150000"/>
              </a:lnSpc>
              <a:spcBef>
                <a:spcPts val="1800"/>
              </a:spcBef>
              <a:spcAft>
                <a:spcPct val="0"/>
              </a:spcAft>
              <a:buClr>
                <a:schemeClr val="hlink"/>
              </a:buClr>
              <a:buSzPct val="110000"/>
            </a:pPr>
            <a:r>
              <a:rPr kumimoji="1" lang="zh-CN" altLang="en-US" sz="2800" b="1" noProof="1">
                <a:solidFill>
                  <a:srgbClr val="002060"/>
                </a:solidFill>
                <a:latin typeface="+mn-ea"/>
                <a:cs typeface="+mn-cs"/>
              </a:rPr>
              <a:t>存储器：一维</a:t>
            </a:r>
            <a:r>
              <a:rPr kumimoji="1" lang="zh-CN" altLang="en-US" sz="2800" b="1" noProof="1">
                <a:solidFill>
                  <a:srgbClr val="C00000"/>
                </a:solidFill>
                <a:latin typeface="+mn-ea"/>
                <a:cs typeface="+mn-cs"/>
              </a:rPr>
              <a:t>寄存器</a:t>
            </a:r>
            <a:r>
              <a:rPr kumimoji="1" lang="zh-CN" altLang="en-US" sz="2800" b="1" noProof="1">
                <a:solidFill>
                  <a:srgbClr val="002060"/>
                </a:solidFill>
                <a:latin typeface="+mn-ea"/>
                <a:cs typeface="+mn-cs"/>
              </a:rPr>
              <a:t>数组</a:t>
            </a:r>
            <a:r>
              <a:rPr kumimoji="1" lang="en-US" altLang="zh-CN" sz="2800" b="1" noProof="1">
                <a:solidFill>
                  <a:srgbClr val="002060"/>
                </a:solidFill>
                <a:latin typeface="+mn-ea"/>
                <a:cs typeface="+mn-cs"/>
              </a:rPr>
              <a:t>(</a:t>
            </a:r>
            <a:r>
              <a:rPr lang="zh-CN" altLang="en-US" sz="2800" b="1" spc="-25" dirty="0">
                <a:solidFill>
                  <a:srgbClr val="3E3E3E"/>
                </a:solidFill>
              </a:rPr>
              <a:t>不能是线网型数组</a:t>
            </a:r>
            <a:r>
              <a:rPr kumimoji="1" lang="en-US" altLang="zh-CN" sz="2800" b="1" noProof="1">
                <a:solidFill>
                  <a:srgbClr val="002060"/>
                </a:solidFill>
                <a:latin typeface="+mn-ea"/>
                <a:cs typeface="+mn-cs"/>
              </a:rPr>
              <a:t>)</a:t>
            </a:r>
            <a:endParaRPr kumimoji="1" lang="en-US" altLang="zh-CN" sz="2800" b="1" noProof="1">
              <a:solidFill>
                <a:srgbClr val="002060"/>
              </a:solidFill>
              <a:latin typeface="+mn-ea"/>
            </a:endParaRPr>
          </a:p>
          <a:p>
            <a:pPr algn="l" defTabSz="1008400" rtl="0" eaLnBrk="0" fontAlgn="base" hangingPunct="0">
              <a:lnSpc>
                <a:spcPct val="90000"/>
              </a:lnSpc>
              <a:spcBef>
                <a:spcPct val="20000"/>
              </a:spcBef>
              <a:spcAft>
                <a:spcPct val="0"/>
              </a:spcAft>
              <a:buClr>
                <a:schemeClr val="hlink"/>
              </a:buClr>
              <a:buSzPct val="110000"/>
            </a:pPr>
            <a:r>
              <a:rPr kumimoji="1" lang="en-US" altLang="zh-CN" sz="2500" b="1" noProof="1">
                <a:latin typeface="+mn-ea"/>
                <a:sym typeface="+mn-ea"/>
              </a:rPr>
              <a:t>	</a:t>
            </a:r>
            <a:r>
              <a:rPr kumimoji="1" lang="en-US" altLang="zh-CN" sz="2800" b="1" noProof="1">
                <a:solidFill>
                  <a:srgbClr val="C00000"/>
                </a:solidFill>
                <a:latin typeface="黑体" panose="02010609060101010101" pitchFamily="49" charset="-122"/>
                <a:ea typeface="黑体" panose="02010609060101010101" pitchFamily="49" charset="-122"/>
                <a:sym typeface="+mn-ea"/>
              </a:rPr>
              <a:t>reg</a:t>
            </a:r>
            <a:r>
              <a:rPr kumimoji="1" lang="en-US" altLang="zh-CN" sz="2800" b="1" noProof="1">
                <a:latin typeface="黑体" panose="02010609060101010101" pitchFamily="49" charset="-122"/>
                <a:ea typeface="黑体" panose="02010609060101010101" pitchFamily="49" charset="-122"/>
                <a:sym typeface="+mn-ea"/>
              </a:rPr>
              <a:t> mem1bit [0:1023]</a:t>
            </a:r>
            <a:r>
              <a:rPr kumimoji="1" lang="zh-CN" altLang="en-US" sz="2800" b="1" noProof="1">
                <a:latin typeface="黑体" panose="02010609060101010101" pitchFamily="49" charset="-122"/>
                <a:ea typeface="黑体" panose="02010609060101010101" pitchFamily="49" charset="-122"/>
                <a:sym typeface="+mn-ea"/>
              </a:rPr>
              <a:t>；</a:t>
            </a:r>
            <a:r>
              <a:rPr kumimoji="1" lang="en-US" altLang="zh-CN" sz="2800" b="1" noProof="1">
                <a:latin typeface="黑体" panose="02010609060101010101" pitchFamily="49" charset="-122"/>
                <a:ea typeface="黑体" panose="02010609060101010101" pitchFamily="49" charset="-122"/>
                <a:sym typeface="+mn-ea"/>
              </a:rPr>
              <a:t>//1K</a:t>
            </a:r>
            <a:r>
              <a:rPr kumimoji="1" lang="zh-CN" altLang="en-US" sz="2800" b="1" noProof="1">
                <a:latin typeface="黑体" panose="02010609060101010101" pitchFamily="49" charset="-122"/>
                <a:ea typeface="黑体" panose="02010609060101010101" pitchFamily="49" charset="-122"/>
                <a:sym typeface="+mn-ea"/>
              </a:rPr>
              <a:t>的</a:t>
            </a:r>
            <a:r>
              <a:rPr kumimoji="1" lang="en-US" altLang="zh-CN" sz="2800" b="1" noProof="1">
                <a:latin typeface="黑体" panose="02010609060101010101" pitchFamily="49" charset="-122"/>
                <a:ea typeface="黑体" panose="02010609060101010101" pitchFamily="49" charset="-122"/>
                <a:sym typeface="+mn-ea"/>
              </a:rPr>
              <a:t>1</a:t>
            </a:r>
            <a:r>
              <a:rPr kumimoji="1" lang="zh-CN" altLang="en-US" sz="2800" b="1" noProof="1">
                <a:latin typeface="黑体" panose="02010609060101010101" pitchFamily="49" charset="-122"/>
                <a:ea typeface="黑体" panose="02010609060101010101" pitchFamily="49" charset="-122"/>
                <a:sym typeface="+mn-ea"/>
              </a:rPr>
              <a:t>位存储器</a:t>
            </a:r>
            <a:endParaRPr kumimoji="1" lang="en-US" altLang="zh-CN" sz="2800" b="1" noProof="1">
              <a:solidFill>
                <a:srgbClr val="002060"/>
              </a:solidFill>
              <a:latin typeface="+mn-ea"/>
            </a:endParaRPr>
          </a:p>
          <a:p>
            <a:pPr algn="l" defTabSz="1008400" rtl="0" eaLnBrk="0" fontAlgn="base" hangingPunct="0">
              <a:lnSpc>
                <a:spcPct val="90000"/>
              </a:lnSpc>
              <a:spcBef>
                <a:spcPct val="20000"/>
              </a:spcBef>
              <a:spcAft>
                <a:spcPct val="0"/>
              </a:spcAft>
              <a:buClr>
                <a:schemeClr val="hlink"/>
              </a:buClr>
              <a:buSzPct val="110000"/>
            </a:pPr>
            <a:r>
              <a:rPr kumimoji="1" lang="en-US" altLang="zh-CN" sz="2500" b="1" noProof="1">
                <a:latin typeface="+mn-ea"/>
                <a:sym typeface="+mn-ea"/>
              </a:rPr>
              <a:t>	</a:t>
            </a:r>
            <a:r>
              <a:rPr kumimoji="1" lang="en-US" altLang="zh-CN" sz="2800" b="1" noProof="1">
                <a:solidFill>
                  <a:srgbClr val="C00000"/>
                </a:solidFill>
                <a:latin typeface="黑体" panose="02010609060101010101" pitchFamily="49" charset="-122"/>
                <a:ea typeface="黑体" panose="02010609060101010101" pitchFamily="49" charset="-122"/>
                <a:sym typeface="+mn-ea"/>
              </a:rPr>
              <a:t>reg</a:t>
            </a:r>
            <a:r>
              <a:rPr kumimoji="1" lang="en-US" altLang="zh-CN" sz="2800" b="1" noProof="1">
                <a:latin typeface="黑体" panose="02010609060101010101" pitchFamily="49" charset="-122"/>
                <a:ea typeface="黑体" panose="02010609060101010101" pitchFamily="49" charset="-122"/>
                <a:sym typeface="+mn-ea"/>
              </a:rPr>
              <a:t> [7:0] membyte [0:1023]</a:t>
            </a:r>
            <a:r>
              <a:rPr kumimoji="1" lang="zh-CN" altLang="en-US" sz="2800" b="1" noProof="1">
                <a:latin typeface="黑体" panose="02010609060101010101" pitchFamily="49" charset="-122"/>
                <a:ea typeface="黑体" panose="02010609060101010101" pitchFamily="49" charset="-122"/>
                <a:sym typeface="+mn-ea"/>
              </a:rPr>
              <a:t>；</a:t>
            </a:r>
            <a:r>
              <a:rPr kumimoji="1" lang="en-US" altLang="zh-CN" sz="2800" b="1" noProof="1">
                <a:latin typeface="黑体" panose="02010609060101010101" pitchFamily="49" charset="-122"/>
                <a:ea typeface="黑体" panose="02010609060101010101" pitchFamily="49" charset="-122"/>
                <a:sym typeface="+mn-ea"/>
              </a:rPr>
              <a:t> //1K</a:t>
            </a:r>
            <a:r>
              <a:rPr kumimoji="1" lang="zh-CN" altLang="en-US" sz="2800" b="1" noProof="1">
                <a:latin typeface="黑体" panose="02010609060101010101" pitchFamily="49" charset="-122"/>
                <a:ea typeface="黑体" panose="02010609060101010101" pitchFamily="49" charset="-122"/>
                <a:sym typeface="+mn-ea"/>
              </a:rPr>
              <a:t>的字节存储器</a:t>
            </a:r>
          </a:p>
          <a:p>
            <a:pPr algn="l" defTabSz="1008400" rtl="0" eaLnBrk="0" fontAlgn="base" hangingPunct="0">
              <a:spcBef>
                <a:spcPts val="1800"/>
              </a:spcBef>
              <a:spcAft>
                <a:spcPct val="0"/>
              </a:spcAft>
              <a:buClr>
                <a:schemeClr val="hlink"/>
              </a:buClr>
              <a:buSzPct val="110000"/>
            </a:pPr>
            <a:r>
              <a:rPr kumimoji="1" lang="zh-CN" altLang="en-US" sz="2800" b="1" noProof="1">
                <a:solidFill>
                  <a:srgbClr val="002060"/>
                </a:solidFill>
                <a:latin typeface="+mn-ea"/>
              </a:rPr>
              <a:t>注意：如果定义的是存储器，需要对每个存储单元进行初始化，不能整体赋值；</a:t>
            </a:r>
            <a:endParaRPr kumimoji="1" lang="zh-CN" altLang="en-US" sz="2800" b="1" noProof="1">
              <a:solidFill>
                <a:srgbClr val="002060"/>
              </a:solidFill>
              <a:latin typeface="+mn-ea"/>
              <a:cs typeface="+mn-cs"/>
            </a:endParaRPr>
          </a:p>
        </p:txBody>
      </p:sp>
      <p:sp>
        <p:nvSpPr>
          <p:cNvPr id="7" name="object 7">
            <a:extLst>
              <a:ext uri="{FF2B5EF4-FFF2-40B4-BE49-F238E27FC236}">
                <a16:creationId xmlns:a16="http://schemas.microsoft.com/office/drawing/2014/main" id="{B4E7C42C-DB21-C071-2E57-2B73F80D42BE}"/>
              </a:ext>
            </a:extLst>
          </p:cNvPr>
          <p:cNvSpPr txBox="1">
            <a:spLocks noGrp="1"/>
          </p:cNvSpPr>
          <p:nvPr>
            <p:ph type="ftr" sz="quarter" idx="5"/>
          </p:nvPr>
        </p:nvSpPr>
        <p:spPr>
          <a:prstGeom prst="rect">
            <a:avLst/>
          </a:prstGeom>
        </p:spPr>
        <p:txBody>
          <a:bodyPr vert="horz" wrap="square" lIns="0" tIns="23495" rIns="0" bIns="0" rtlCol="0">
            <a:spAutoFit/>
          </a:bodyPr>
          <a:lstStyle/>
          <a:p>
            <a:pPr marL="13335">
              <a:lnSpc>
                <a:spcPct val="100000"/>
              </a:lnSpc>
              <a:spcBef>
                <a:spcPts val="185"/>
              </a:spcBef>
            </a:pPr>
            <a:r>
              <a:rPr dirty="0"/>
              <a:t>Xilinx</a:t>
            </a:r>
            <a:r>
              <a:rPr spc="-5" dirty="0"/>
              <a:t> 大学合作部 </a:t>
            </a:r>
            <a:r>
              <a:rPr dirty="0"/>
              <a:t>&amp;</a:t>
            </a:r>
            <a:r>
              <a:rPr spc="-10" dirty="0"/>
              <a:t> 东南大学</a:t>
            </a:r>
          </a:p>
        </p:txBody>
      </p:sp>
      <p:sp>
        <p:nvSpPr>
          <p:cNvPr id="8" name="object 8">
            <a:extLst>
              <a:ext uri="{FF2B5EF4-FFF2-40B4-BE49-F238E27FC236}">
                <a16:creationId xmlns:a16="http://schemas.microsoft.com/office/drawing/2014/main" id="{93D8E0F8-E629-7EB0-5027-63E5757FFE6B}"/>
              </a:ext>
            </a:extLst>
          </p:cNvPr>
          <p:cNvSpPr txBox="1">
            <a:spLocks noGrp="1"/>
          </p:cNvSpPr>
          <p:nvPr>
            <p:ph type="sldNum" sz="quarter" idx="7"/>
          </p:nvPr>
        </p:nvSpPr>
        <p:spPr>
          <a:prstGeom prst="rect">
            <a:avLst/>
          </a:prstGeom>
        </p:spPr>
        <p:txBody>
          <a:bodyPr vert="horz" wrap="square" lIns="0" tIns="4445" rIns="0" bIns="0" rtlCol="0">
            <a:spAutoFit/>
          </a:bodyPr>
          <a:lstStyle/>
          <a:p>
            <a:pPr marL="38735">
              <a:lnSpc>
                <a:spcPct val="100000"/>
              </a:lnSpc>
              <a:spcBef>
                <a:spcPts val="35"/>
              </a:spcBef>
            </a:pPr>
            <a:fld id="{81D60167-4931-47E6-BA6A-407CBD079E47}" type="slidenum">
              <a:rPr spc="-25" dirty="0"/>
              <a:t>16</a:t>
            </a:fld>
            <a:endParaRPr spc="-25" dirty="0"/>
          </a:p>
        </p:txBody>
      </p:sp>
      <p:sp>
        <p:nvSpPr>
          <p:cNvPr id="9" name="object 3">
            <a:extLst>
              <a:ext uri="{FF2B5EF4-FFF2-40B4-BE49-F238E27FC236}">
                <a16:creationId xmlns:a16="http://schemas.microsoft.com/office/drawing/2014/main" id="{61223367-4966-676F-8ECD-FE978DB994A1}"/>
              </a:ext>
            </a:extLst>
          </p:cNvPr>
          <p:cNvSpPr txBox="1">
            <a:spLocks/>
          </p:cNvSpPr>
          <p:nvPr/>
        </p:nvSpPr>
        <p:spPr>
          <a:xfrm>
            <a:off x="241300" y="200025"/>
            <a:ext cx="7288905" cy="524503"/>
          </a:xfrm>
          <a:prstGeom prst="rect">
            <a:avLst/>
          </a:prstGeom>
        </p:spPr>
        <p:txBody>
          <a:bodyPr vert="horz" wrap="square" lIns="0" tIns="16510" rIns="0" bIns="0" rtlCol="0">
            <a:spAutoFit/>
          </a:bodyPr>
          <a:lstStyle>
            <a:lvl1pPr>
              <a:defRPr sz="2800" b="0" i="0">
                <a:solidFill>
                  <a:srgbClr val="3F3F3F"/>
                </a:solidFill>
                <a:latin typeface="Calibri"/>
                <a:ea typeface="+mj-ea"/>
                <a:cs typeface="Calibri"/>
              </a:defRPr>
            </a:lvl1pPr>
          </a:lstStyle>
          <a:p>
            <a:pPr marL="12700">
              <a:spcBef>
                <a:spcPts val="130"/>
              </a:spcBef>
            </a:pPr>
            <a:r>
              <a:rPr lang="zh-CN" altLang="en-US" sz="3300" b="1" spc="-15" dirty="0">
                <a:solidFill>
                  <a:srgbClr val="000000"/>
                </a:solidFill>
                <a:latin typeface="宋体"/>
                <a:cs typeface="宋体"/>
              </a:rPr>
              <a:t>数组和存储器</a:t>
            </a:r>
            <a:endParaRPr lang="zh-CN" altLang="en-US" sz="3300" dirty="0">
              <a:latin typeface="宋体"/>
              <a:cs typeface="宋体"/>
            </a:endParaRPr>
          </a:p>
        </p:txBody>
      </p:sp>
      <p:pic>
        <p:nvPicPr>
          <p:cNvPr id="13" name="object 3">
            <a:extLst>
              <a:ext uri="{FF2B5EF4-FFF2-40B4-BE49-F238E27FC236}">
                <a16:creationId xmlns:a16="http://schemas.microsoft.com/office/drawing/2014/main" id="{F8FE0A0B-D378-0544-67AD-B6E471D7B3DA}"/>
              </a:ext>
            </a:extLst>
          </p:cNvPr>
          <p:cNvPicPr/>
          <p:nvPr/>
        </p:nvPicPr>
        <p:blipFill>
          <a:blip r:embed="rId2" cstate="print"/>
          <a:stretch>
            <a:fillRect/>
          </a:stretch>
        </p:blipFill>
        <p:spPr>
          <a:xfrm>
            <a:off x="477308" y="1370167"/>
            <a:ext cx="195544" cy="192055"/>
          </a:xfrm>
          <a:prstGeom prst="rect">
            <a:avLst/>
          </a:prstGeom>
        </p:spPr>
      </p:pic>
      <p:pic>
        <p:nvPicPr>
          <p:cNvPr id="14" name="object 3">
            <a:extLst>
              <a:ext uri="{FF2B5EF4-FFF2-40B4-BE49-F238E27FC236}">
                <a16:creationId xmlns:a16="http://schemas.microsoft.com/office/drawing/2014/main" id="{D71A75BB-986A-CF14-87AF-D70FF835AC19}"/>
              </a:ext>
            </a:extLst>
          </p:cNvPr>
          <p:cNvPicPr/>
          <p:nvPr/>
        </p:nvPicPr>
        <p:blipFill>
          <a:blip r:embed="rId2" cstate="print"/>
          <a:stretch>
            <a:fillRect/>
          </a:stretch>
        </p:blipFill>
        <p:spPr>
          <a:xfrm>
            <a:off x="477308" y="2255881"/>
            <a:ext cx="195544" cy="192055"/>
          </a:xfrm>
          <a:prstGeom prst="rect">
            <a:avLst/>
          </a:prstGeom>
        </p:spPr>
      </p:pic>
      <p:pic>
        <p:nvPicPr>
          <p:cNvPr id="15" name="object 3">
            <a:extLst>
              <a:ext uri="{FF2B5EF4-FFF2-40B4-BE49-F238E27FC236}">
                <a16:creationId xmlns:a16="http://schemas.microsoft.com/office/drawing/2014/main" id="{5B872DFB-CD12-4CF0-3715-F375A0ECB21E}"/>
              </a:ext>
            </a:extLst>
          </p:cNvPr>
          <p:cNvPicPr/>
          <p:nvPr/>
        </p:nvPicPr>
        <p:blipFill>
          <a:blip r:embed="rId2" cstate="print"/>
          <a:stretch>
            <a:fillRect/>
          </a:stretch>
        </p:blipFill>
        <p:spPr>
          <a:xfrm>
            <a:off x="477307" y="5018887"/>
            <a:ext cx="195544" cy="192055"/>
          </a:xfrm>
          <a:prstGeom prst="rect">
            <a:avLst/>
          </a:prstGeom>
        </p:spPr>
      </p:pic>
      <p:pic>
        <p:nvPicPr>
          <p:cNvPr id="16" name="object 3">
            <a:extLst>
              <a:ext uri="{FF2B5EF4-FFF2-40B4-BE49-F238E27FC236}">
                <a16:creationId xmlns:a16="http://schemas.microsoft.com/office/drawing/2014/main" id="{BAC4131A-227E-D6F2-0F16-F2C533BF3885}"/>
              </a:ext>
            </a:extLst>
          </p:cNvPr>
          <p:cNvPicPr/>
          <p:nvPr/>
        </p:nvPicPr>
        <p:blipFill>
          <a:blip r:embed="rId2" cstate="print"/>
          <a:stretch>
            <a:fillRect/>
          </a:stretch>
        </p:blipFill>
        <p:spPr>
          <a:xfrm>
            <a:off x="477307" y="6677025"/>
            <a:ext cx="195544" cy="192055"/>
          </a:xfrm>
          <a:prstGeom prst="rect">
            <a:avLst/>
          </a:prstGeom>
        </p:spPr>
      </p:pic>
    </p:spTree>
    <p:extLst>
      <p:ext uri="{BB962C8B-B14F-4D97-AF65-F5344CB8AC3E}">
        <p14:creationId xmlns:p14="http://schemas.microsoft.com/office/powerpoint/2010/main" val="17048165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4F96B7-52A0-103B-144A-01C80EC0196B}"/>
            </a:ext>
          </a:extLst>
        </p:cNvPr>
        <p:cNvGrpSpPr/>
        <p:nvPr/>
      </p:nvGrpSpPr>
      <p:grpSpPr>
        <a:xfrm>
          <a:off x="0" y="0"/>
          <a:ext cx="0" cy="0"/>
          <a:chOff x="0" y="0"/>
          <a:chExt cx="0" cy="0"/>
        </a:xfrm>
      </p:grpSpPr>
      <p:sp>
        <p:nvSpPr>
          <p:cNvPr id="102402" name="Rectangle 3" descr="Rectangle: Click to edit Master text styles&#10;Second level&#10;Third level&#10;Fourth level&#10;Fifth level">
            <a:extLst>
              <a:ext uri="{FF2B5EF4-FFF2-40B4-BE49-F238E27FC236}">
                <a16:creationId xmlns:a16="http://schemas.microsoft.com/office/drawing/2014/main" id="{92AA3BF4-F92C-D501-A122-3792BE318761}"/>
              </a:ext>
            </a:extLst>
          </p:cNvPr>
          <p:cNvSpPr>
            <a:spLocks noGrp="1"/>
          </p:cNvSpPr>
          <p:nvPr>
            <p:ph idx="1"/>
          </p:nvPr>
        </p:nvSpPr>
        <p:spPr>
          <a:xfrm>
            <a:off x="774700" y="1038225"/>
            <a:ext cx="9546348" cy="6278642"/>
          </a:xfrm>
        </p:spPr>
        <p:txBody>
          <a:bodyPr anchor="t"/>
          <a:lstStyle/>
          <a:p>
            <a:pPr marL="0" lvl="1" algn="l" defTabSz="1008400" rtl="0" eaLnBrk="0" fontAlgn="base" hangingPunct="0">
              <a:lnSpc>
                <a:spcPct val="150000"/>
              </a:lnSpc>
              <a:buClr>
                <a:schemeClr val="tx1"/>
              </a:buClr>
              <a:buSzPct val="75000"/>
            </a:pPr>
            <a:r>
              <a:rPr kumimoji="1" lang="zh-CN" altLang="en-US" sz="2800" b="1" noProof="1">
                <a:solidFill>
                  <a:srgbClr val="002060"/>
                </a:solidFill>
                <a:latin typeface="+mn-ea"/>
              </a:rPr>
              <a:t>用来定义常量</a:t>
            </a:r>
            <a:r>
              <a:rPr kumimoji="1" lang="en-US" altLang="zh-CN" sz="2800" b="1" noProof="1">
                <a:solidFill>
                  <a:srgbClr val="002060"/>
                </a:solidFill>
                <a:latin typeface="+mn-ea"/>
              </a:rPr>
              <a:t>;</a:t>
            </a:r>
            <a:r>
              <a:rPr kumimoji="1" lang="zh-CN" altLang="en-US" sz="2800" b="1" noProof="1">
                <a:solidFill>
                  <a:srgbClr val="002060"/>
                </a:solidFill>
                <a:latin typeface="+mn-ea"/>
              </a:rPr>
              <a:t>一般定义在模块内，位置和端口声明所处级别相同；</a:t>
            </a:r>
          </a:p>
          <a:p>
            <a:pPr algn="l" defTabSz="1008400" rtl="0" eaLnBrk="0" fontAlgn="base" hangingPunct="0">
              <a:lnSpc>
                <a:spcPct val="150000"/>
              </a:lnSpc>
              <a:spcBef>
                <a:spcPts val="1800"/>
              </a:spcBef>
              <a:spcAft>
                <a:spcPct val="0"/>
              </a:spcAft>
              <a:buClr>
                <a:schemeClr val="hlink"/>
              </a:buClr>
              <a:buSzPct val="110000"/>
            </a:pPr>
            <a:r>
              <a:rPr kumimoji="1" lang="zh-CN" altLang="en-US" sz="2800" b="1" noProof="1">
                <a:solidFill>
                  <a:srgbClr val="002060"/>
                </a:solidFill>
                <a:latin typeface="+mn-ea"/>
                <a:cs typeface="+mn-cs"/>
              </a:rPr>
              <a:t>格式：</a:t>
            </a:r>
            <a:endParaRPr kumimoji="1" lang="en-US" altLang="zh-CN" sz="2800" b="1" noProof="1">
              <a:solidFill>
                <a:srgbClr val="002060"/>
              </a:solidFill>
              <a:latin typeface="+mn-ea"/>
              <a:cs typeface="+mn-cs"/>
            </a:endParaRPr>
          </a:p>
          <a:p>
            <a:pPr algn="l" defTabSz="1008400" rtl="0" eaLnBrk="0" fontAlgn="base" hangingPunct="0">
              <a:lnSpc>
                <a:spcPct val="90000"/>
              </a:lnSpc>
              <a:spcBef>
                <a:spcPct val="20000"/>
              </a:spcBef>
              <a:spcAft>
                <a:spcPct val="0"/>
              </a:spcAft>
              <a:buClr>
                <a:schemeClr val="hlink"/>
              </a:buClr>
              <a:buSzPct val="110000"/>
            </a:pPr>
            <a:r>
              <a:rPr kumimoji="1" lang="en-US" altLang="zh-CN" sz="2500" b="1" noProof="1">
                <a:latin typeface="+mn-ea"/>
                <a:cs typeface="+mn-cs"/>
                <a:sym typeface="+mn-ea"/>
              </a:rPr>
              <a:t>	</a:t>
            </a:r>
            <a:r>
              <a:rPr kumimoji="1" lang="en-US" altLang="zh-CN" sz="2800" b="1" noProof="1">
                <a:solidFill>
                  <a:srgbClr val="C00000"/>
                </a:solidFill>
                <a:latin typeface="黑体" panose="02010609060101010101" pitchFamily="49" charset="-122"/>
                <a:ea typeface="黑体" panose="02010609060101010101" pitchFamily="49" charset="-122"/>
                <a:cs typeface="+mn-cs"/>
                <a:sym typeface="+mn-ea"/>
              </a:rPr>
              <a:t>parameter</a:t>
            </a:r>
            <a:r>
              <a:rPr kumimoji="1" lang="en-US" altLang="zh-CN" sz="2800" b="1" noProof="1">
                <a:latin typeface="黑体" panose="02010609060101010101" pitchFamily="49" charset="-122"/>
                <a:ea typeface="黑体" panose="02010609060101010101" pitchFamily="49" charset="-122"/>
                <a:cs typeface="+mn-cs"/>
                <a:sym typeface="+mn-ea"/>
              </a:rPr>
              <a:t> [</a:t>
            </a:r>
            <a:r>
              <a:rPr kumimoji="1" lang="zh-CN" altLang="en-US" sz="2800" b="1" noProof="1">
                <a:latin typeface="黑体" panose="02010609060101010101" pitchFamily="49" charset="-122"/>
                <a:ea typeface="黑体" panose="02010609060101010101" pitchFamily="49" charset="-122"/>
                <a:cs typeface="+mn-cs"/>
                <a:sym typeface="+mn-ea"/>
              </a:rPr>
              <a:t>宽度声明</a:t>
            </a:r>
            <a:r>
              <a:rPr kumimoji="1" lang="en-US" altLang="zh-CN" sz="2800" b="1" noProof="1">
                <a:latin typeface="黑体" panose="02010609060101010101" pitchFamily="49" charset="-122"/>
                <a:ea typeface="黑体" panose="02010609060101010101" pitchFamily="49" charset="-122"/>
                <a:cs typeface="+mn-cs"/>
                <a:sym typeface="+mn-ea"/>
              </a:rPr>
              <a:t>] </a:t>
            </a:r>
            <a:r>
              <a:rPr kumimoji="1" lang="zh-CN" altLang="en-US" sz="2800" b="1" noProof="1">
                <a:latin typeface="黑体" panose="02010609060101010101" pitchFamily="49" charset="-122"/>
                <a:ea typeface="黑体" panose="02010609060101010101" pitchFamily="49" charset="-122"/>
                <a:cs typeface="+mn-cs"/>
                <a:sym typeface="+mn-ea"/>
              </a:rPr>
              <a:t>参数名</a:t>
            </a:r>
            <a:r>
              <a:rPr kumimoji="1" lang="en-US" altLang="zh-CN" sz="2800" b="1" noProof="1">
                <a:latin typeface="黑体" panose="02010609060101010101" pitchFamily="49" charset="-122"/>
                <a:ea typeface="黑体" panose="02010609060101010101" pitchFamily="49" charset="-122"/>
                <a:cs typeface="+mn-cs"/>
                <a:sym typeface="+mn-ea"/>
              </a:rPr>
              <a:t>1=</a:t>
            </a:r>
            <a:r>
              <a:rPr kumimoji="1" lang="zh-CN" altLang="en-US" sz="2800" b="1" noProof="1">
                <a:latin typeface="黑体" panose="02010609060101010101" pitchFamily="49" charset="-122"/>
                <a:ea typeface="黑体" panose="02010609060101010101" pitchFamily="49" charset="-122"/>
                <a:cs typeface="+mn-cs"/>
                <a:sym typeface="+mn-ea"/>
              </a:rPr>
              <a:t>表达式</a:t>
            </a:r>
            <a:r>
              <a:rPr kumimoji="1" lang="en-US" altLang="zh-CN" sz="2800" b="1" noProof="1">
                <a:latin typeface="黑体" panose="02010609060101010101" pitchFamily="49" charset="-122"/>
                <a:ea typeface="黑体" panose="02010609060101010101" pitchFamily="49" charset="-122"/>
                <a:cs typeface="+mn-cs"/>
                <a:sym typeface="+mn-ea"/>
              </a:rPr>
              <a:t>1</a:t>
            </a:r>
            <a:r>
              <a:rPr kumimoji="1" lang="zh-CN" altLang="en-US" sz="2800" b="1" noProof="1">
                <a:latin typeface="黑体" panose="02010609060101010101" pitchFamily="49" charset="-122"/>
                <a:ea typeface="黑体" panose="02010609060101010101" pitchFamily="49" charset="-122"/>
                <a:cs typeface="+mn-cs"/>
                <a:sym typeface="+mn-ea"/>
              </a:rPr>
              <a:t>；</a:t>
            </a:r>
            <a:endParaRPr kumimoji="1" lang="zh-CN" altLang="en-US" sz="2800" b="1" noProof="1">
              <a:latin typeface="黑体" panose="02010609060101010101" pitchFamily="49" charset="-122"/>
              <a:ea typeface="黑体" panose="02010609060101010101" pitchFamily="49" charset="-122"/>
              <a:cs typeface="+mn-cs"/>
            </a:endParaRPr>
          </a:p>
          <a:p>
            <a:pPr algn="l" defTabSz="1008400" rtl="0" eaLnBrk="0" fontAlgn="base" hangingPunct="0">
              <a:lnSpc>
                <a:spcPct val="90000"/>
              </a:lnSpc>
              <a:spcBef>
                <a:spcPct val="20000"/>
              </a:spcBef>
              <a:spcAft>
                <a:spcPct val="0"/>
              </a:spcAft>
              <a:buClr>
                <a:schemeClr val="hlink"/>
              </a:buClr>
              <a:buSzPct val="110000"/>
            </a:pPr>
            <a:r>
              <a:rPr kumimoji="1" lang="en-US" altLang="zh-CN" sz="2800" b="1" noProof="1">
                <a:latin typeface="黑体" panose="02010609060101010101" pitchFamily="49" charset="-122"/>
                <a:ea typeface="黑体" panose="02010609060101010101" pitchFamily="49" charset="-122"/>
                <a:cs typeface="+mn-cs"/>
                <a:sym typeface="+mn-ea"/>
              </a:rPr>
              <a:t>	</a:t>
            </a:r>
            <a:r>
              <a:rPr kumimoji="1" lang="en-US" altLang="zh-CN" sz="2800" b="1" noProof="1">
                <a:solidFill>
                  <a:srgbClr val="C00000"/>
                </a:solidFill>
                <a:latin typeface="黑体" panose="02010609060101010101" pitchFamily="49" charset="-122"/>
                <a:ea typeface="黑体" panose="02010609060101010101" pitchFamily="49" charset="-122"/>
                <a:sym typeface="+mn-ea"/>
              </a:rPr>
              <a:t>parameter</a:t>
            </a:r>
            <a:r>
              <a:rPr kumimoji="1" lang="en-US" altLang="zh-CN" sz="2800" b="1" noProof="1">
                <a:latin typeface="黑体" panose="02010609060101010101" pitchFamily="49" charset="-122"/>
                <a:ea typeface="黑体" panose="02010609060101010101" pitchFamily="49" charset="-122"/>
                <a:cs typeface="+mn-cs"/>
                <a:sym typeface="+mn-ea"/>
              </a:rPr>
              <a:t> size=8</a:t>
            </a:r>
            <a:r>
              <a:rPr kumimoji="1" lang="zh-CN" altLang="en-US" sz="2800" b="1" noProof="1">
                <a:latin typeface="黑体" panose="02010609060101010101" pitchFamily="49" charset="-122"/>
                <a:ea typeface="黑体" panose="02010609060101010101" pitchFamily="49" charset="-122"/>
                <a:cs typeface="+mn-cs"/>
                <a:sym typeface="+mn-ea"/>
              </a:rPr>
              <a:t>；</a:t>
            </a:r>
            <a:endParaRPr kumimoji="1" lang="zh-CN" altLang="en-US" sz="2800" b="1" noProof="1">
              <a:latin typeface="黑体" panose="02010609060101010101" pitchFamily="49" charset="-122"/>
              <a:ea typeface="黑体" panose="02010609060101010101" pitchFamily="49" charset="-122"/>
              <a:cs typeface="+mn-cs"/>
            </a:endParaRPr>
          </a:p>
          <a:p>
            <a:pPr algn="l" defTabSz="1008400" rtl="0" eaLnBrk="0" fontAlgn="base" hangingPunct="0">
              <a:lnSpc>
                <a:spcPct val="90000"/>
              </a:lnSpc>
              <a:spcBef>
                <a:spcPct val="20000"/>
              </a:spcBef>
              <a:spcAft>
                <a:spcPct val="0"/>
              </a:spcAft>
              <a:buClr>
                <a:schemeClr val="hlink"/>
              </a:buClr>
              <a:buSzPct val="110000"/>
            </a:pPr>
            <a:r>
              <a:rPr kumimoji="1" lang="en-US" altLang="zh-CN" sz="2800" b="1" noProof="1">
                <a:latin typeface="黑体" panose="02010609060101010101" pitchFamily="49" charset="-122"/>
                <a:ea typeface="黑体" panose="02010609060101010101" pitchFamily="49" charset="-122"/>
                <a:cs typeface="+mn-cs"/>
                <a:sym typeface="+mn-ea"/>
              </a:rPr>
              <a:t>	</a:t>
            </a:r>
            <a:r>
              <a:rPr kumimoji="1" lang="en-US" altLang="zh-CN" sz="2800" b="1" noProof="1">
                <a:solidFill>
                  <a:srgbClr val="C00000"/>
                </a:solidFill>
                <a:latin typeface="黑体" panose="02010609060101010101" pitchFamily="49" charset="-122"/>
                <a:ea typeface="黑体" panose="02010609060101010101" pitchFamily="49" charset="-122"/>
                <a:cs typeface="+mn-cs"/>
                <a:sym typeface="+mn-ea"/>
              </a:rPr>
              <a:t>parameter</a:t>
            </a:r>
            <a:r>
              <a:rPr kumimoji="1" lang="en-US" altLang="zh-CN" sz="2800" b="1" noProof="1">
                <a:latin typeface="黑体" panose="02010609060101010101" pitchFamily="49" charset="-122"/>
                <a:ea typeface="黑体" panose="02010609060101010101" pitchFamily="49" charset="-122"/>
                <a:cs typeface="+mn-cs"/>
                <a:sym typeface="+mn-ea"/>
              </a:rPr>
              <a:t> width=size-1</a:t>
            </a:r>
            <a:r>
              <a:rPr kumimoji="1" lang="zh-CN" altLang="en-US" sz="2800" b="1" noProof="1">
                <a:latin typeface="黑体" panose="02010609060101010101" pitchFamily="49" charset="-122"/>
                <a:ea typeface="黑体" panose="02010609060101010101" pitchFamily="49" charset="-122"/>
                <a:cs typeface="+mn-cs"/>
                <a:sym typeface="+mn-ea"/>
              </a:rPr>
              <a:t>；</a:t>
            </a:r>
          </a:p>
          <a:p>
            <a:pPr algn="l" defTabSz="1008400" rtl="0" eaLnBrk="0" fontAlgn="base" hangingPunct="0">
              <a:lnSpc>
                <a:spcPct val="150000"/>
              </a:lnSpc>
              <a:spcBef>
                <a:spcPts val="1800"/>
              </a:spcBef>
              <a:spcAft>
                <a:spcPct val="0"/>
              </a:spcAft>
              <a:buClr>
                <a:schemeClr val="hlink"/>
              </a:buClr>
              <a:buSzPct val="110000"/>
            </a:pPr>
            <a:r>
              <a:rPr kumimoji="1" lang="zh-CN" altLang="en-US" sz="2800" b="1" noProof="1">
                <a:solidFill>
                  <a:srgbClr val="002060"/>
                </a:solidFill>
                <a:latin typeface="+mn-ea"/>
                <a:cs typeface="+mn-cs"/>
              </a:rPr>
              <a:t>注意：</a:t>
            </a:r>
          </a:p>
          <a:p>
            <a:pPr marL="432000" algn="l" defTabSz="1008400" rtl="0" eaLnBrk="0" fontAlgn="base" hangingPunct="0">
              <a:lnSpc>
                <a:spcPct val="90000"/>
              </a:lnSpc>
              <a:spcBef>
                <a:spcPct val="20000"/>
              </a:spcBef>
              <a:spcAft>
                <a:spcPct val="0"/>
              </a:spcAft>
              <a:buClr>
                <a:schemeClr val="hlink"/>
              </a:buClr>
              <a:buSzPct val="110000"/>
            </a:pPr>
            <a:r>
              <a:rPr kumimoji="1" lang="zh-CN" altLang="en-US" sz="2800" b="1" noProof="1">
                <a:solidFill>
                  <a:srgbClr val="002060"/>
                </a:solidFill>
                <a:latin typeface="+mn-ea"/>
                <a:cs typeface="+mn-cs"/>
              </a:rPr>
              <a:t>作用范围仅在此模块内以及实例化之后的本模块；</a:t>
            </a:r>
            <a:endParaRPr kumimoji="1" lang="en-US" altLang="zh-CN" sz="2800" b="1" noProof="1">
              <a:solidFill>
                <a:srgbClr val="002060"/>
              </a:solidFill>
              <a:latin typeface="+mn-ea"/>
              <a:cs typeface="+mn-cs"/>
            </a:endParaRPr>
          </a:p>
          <a:p>
            <a:pPr marL="432000" algn="l" defTabSz="1008400" rtl="0" eaLnBrk="0" fontAlgn="base" hangingPunct="0">
              <a:lnSpc>
                <a:spcPct val="90000"/>
              </a:lnSpc>
              <a:spcBef>
                <a:spcPct val="20000"/>
              </a:spcBef>
              <a:spcAft>
                <a:spcPct val="0"/>
              </a:spcAft>
              <a:buClr>
                <a:schemeClr val="hlink"/>
              </a:buClr>
              <a:buSzPct val="110000"/>
            </a:pPr>
            <a:r>
              <a:rPr kumimoji="1" lang="zh-CN" altLang="en-US" sz="2800" b="1" noProof="1">
                <a:solidFill>
                  <a:srgbClr val="002060"/>
                </a:solidFill>
                <a:latin typeface="+mn-ea"/>
                <a:cs typeface="+mn-cs"/>
              </a:rPr>
              <a:t>在模块实例化的过程中可以对参数进行改写</a:t>
            </a:r>
            <a:r>
              <a:rPr kumimoji="1" lang="en-US" altLang="zh-CN" sz="2800" b="1" noProof="1">
                <a:solidFill>
                  <a:srgbClr val="002060"/>
                </a:solidFill>
                <a:latin typeface="+mn-ea"/>
                <a:cs typeface="+mn-cs"/>
              </a:rPr>
              <a:t>(</a:t>
            </a:r>
            <a:r>
              <a:rPr kumimoji="1" lang="zh-CN" altLang="en-US" sz="2800" b="1" noProof="1">
                <a:solidFill>
                  <a:srgbClr val="002060"/>
                </a:solidFill>
                <a:latin typeface="+mn-ea"/>
                <a:cs typeface="+mn-cs"/>
              </a:rPr>
              <a:t>覆盖</a:t>
            </a:r>
            <a:r>
              <a:rPr kumimoji="1" lang="en-US" altLang="zh-CN" sz="2800" b="1" noProof="1">
                <a:solidFill>
                  <a:srgbClr val="002060"/>
                </a:solidFill>
                <a:latin typeface="+mn-ea"/>
                <a:cs typeface="+mn-cs"/>
              </a:rPr>
              <a:t>/</a:t>
            </a:r>
            <a:r>
              <a:rPr kumimoji="1" lang="zh-CN" altLang="en-US" sz="2800" b="1" noProof="1">
                <a:solidFill>
                  <a:srgbClr val="C00000"/>
                </a:solidFill>
                <a:latin typeface="+mn-ea"/>
                <a:cs typeface="+mn-cs"/>
              </a:rPr>
              <a:t>重载</a:t>
            </a:r>
            <a:r>
              <a:rPr kumimoji="1" lang="en-US" altLang="zh-CN" sz="2800" b="1" noProof="1">
                <a:solidFill>
                  <a:srgbClr val="002060"/>
                </a:solidFill>
                <a:latin typeface="+mn-ea"/>
                <a:cs typeface="+mn-cs"/>
              </a:rPr>
              <a:t>)</a:t>
            </a:r>
            <a:r>
              <a:rPr kumimoji="1" lang="zh-CN" altLang="en-US" sz="2800" b="1" noProof="1">
                <a:solidFill>
                  <a:srgbClr val="002060"/>
                </a:solidFill>
                <a:latin typeface="+mn-ea"/>
                <a:cs typeface="+mn-cs"/>
              </a:rPr>
              <a:t>，实现参数化的模块设计；</a:t>
            </a:r>
            <a:endParaRPr kumimoji="1" lang="en-US" altLang="zh-CN" sz="2800" b="1" noProof="1">
              <a:solidFill>
                <a:srgbClr val="002060"/>
              </a:solidFill>
              <a:latin typeface="+mn-ea"/>
              <a:cs typeface="+mn-cs"/>
            </a:endParaRPr>
          </a:p>
          <a:p>
            <a:pPr marL="432000" algn="l" defTabSz="1008400" rtl="0" eaLnBrk="0" fontAlgn="base" hangingPunct="0">
              <a:lnSpc>
                <a:spcPct val="90000"/>
              </a:lnSpc>
              <a:spcBef>
                <a:spcPct val="20000"/>
              </a:spcBef>
              <a:spcAft>
                <a:spcPct val="0"/>
              </a:spcAft>
              <a:buClr>
                <a:schemeClr val="hlink"/>
              </a:buClr>
              <a:buSzPct val="110000"/>
            </a:pPr>
            <a:r>
              <a:rPr kumimoji="1" lang="zh-CN" altLang="en-US" sz="2800" b="1" noProof="1">
                <a:solidFill>
                  <a:srgbClr val="002060"/>
                </a:solidFill>
                <a:latin typeface="+mn-ea"/>
                <a:cs typeface="+mn-cs"/>
              </a:rPr>
              <a:t>常量的合理正确使用在高级编程和大型程序设计中很重要</a:t>
            </a:r>
            <a:endParaRPr kumimoji="1" lang="zh-CN" altLang="en-US" sz="3088" noProof="1">
              <a:solidFill>
                <a:srgbClr val="4B51A5"/>
              </a:solidFill>
              <a:latin typeface="Tahoma" panose="020B0604030504040204" pitchFamily="34" charset="0"/>
              <a:ea typeface="微软雅黑" panose="020B0503020204020204" charset="-122"/>
              <a:cs typeface="+mn-cs"/>
            </a:endParaRPr>
          </a:p>
        </p:txBody>
      </p:sp>
      <p:sp>
        <p:nvSpPr>
          <p:cNvPr id="2" name="object 3">
            <a:extLst>
              <a:ext uri="{FF2B5EF4-FFF2-40B4-BE49-F238E27FC236}">
                <a16:creationId xmlns:a16="http://schemas.microsoft.com/office/drawing/2014/main" id="{50C3E9FA-7B8D-A373-B7FD-4FE0DD4A73FC}"/>
              </a:ext>
            </a:extLst>
          </p:cNvPr>
          <p:cNvSpPr txBox="1">
            <a:spLocks/>
          </p:cNvSpPr>
          <p:nvPr/>
        </p:nvSpPr>
        <p:spPr>
          <a:xfrm>
            <a:off x="241300" y="200025"/>
            <a:ext cx="7288905" cy="524503"/>
          </a:xfrm>
          <a:prstGeom prst="rect">
            <a:avLst/>
          </a:prstGeom>
        </p:spPr>
        <p:txBody>
          <a:bodyPr vert="horz" wrap="square" lIns="0" tIns="16510" rIns="0" bIns="0" rtlCol="0">
            <a:spAutoFit/>
          </a:bodyPr>
          <a:lstStyle>
            <a:lvl1pPr>
              <a:defRPr sz="2800" b="0" i="0">
                <a:solidFill>
                  <a:srgbClr val="3F3F3F"/>
                </a:solidFill>
                <a:latin typeface="Calibri"/>
                <a:ea typeface="+mj-ea"/>
                <a:cs typeface="Calibri"/>
              </a:defRPr>
            </a:lvl1pPr>
          </a:lstStyle>
          <a:p>
            <a:pPr marL="12700">
              <a:spcBef>
                <a:spcPts val="130"/>
              </a:spcBef>
            </a:pPr>
            <a:r>
              <a:rPr lang="zh-CN" altLang="en-US" sz="3300" b="1" spc="-15" dirty="0">
                <a:solidFill>
                  <a:srgbClr val="000000"/>
                </a:solidFill>
                <a:latin typeface="宋体"/>
                <a:cs typeface="宋体"/>
              </a:rPr>
              <a:t>参数</a:t>
            </a:r>
            <a:r>
              <a:rPr lang="en-US" altLang="zh-CN" sz="3300" b="1" spc="-15" dirty="0">
                <a:solidFill>
                  <a:srgbClr val="C00000"/>
                </a:solidFill>
                <a:latin typeface="宋体"/>
                <a:cs typeface="宋体"/>
              </a:rPr>
              <a:t>parameter</a:t>
            </a:r>
            <a:endParaRPr lang="zh-CN" altLang="en-US" sz="3300" dirty="0">
              <a:latin typeface="宋体"/>
              <a:cs typeface="宋体"/>
            </a:endParaRPr>
          </a:p>
        </p:txBody>
      </p:sp>
      <p:pic>
        <p:nvPicPr>
          <p:cNvPr id="5" name="object 3">
            <a:extLst>
              <a:ext uri="{FF2B5EF4-FFF2-40B4-BE49-F238E27FC236}">
                <a16:creationId xmlns:a16="http://schemas.microsoft.com/office/drawing/2014/main" id="{90BEA8C1-14CB-D646-61E9-70CC537A52B2}"/>
              </a:ext>
            </a:extLst>
          </p:cNvPr>
          <p:cNvPicPr/>
          <p:nvPr/>
        </p:nvPicPr>
        <p:blipFill>
          <a:blip r:embed="rId3" cstate="print"/>
          <a:stretch>
            <a:fillRect/>
          </a:stretch>
        </p:blipFill>
        <p:spPr>
          <a:xfrm>
            <a:off x="477789" y="1291992"/>
            <a:ext cx="195544" cy="192055"/>
          </a:xfrm>
          <a:prstGeom prst="rect">
            <a:avLst/>
          </a:prstGeom>
        </p:spPr>
      </p:pic>
      <p:pic>
        <p:nvPicPr>
          <p:cNvPr id="6" name="object 3">
            <a:extLst>
              <a:ext uri="{FF2B5EF4-FFF2-40B4-BE49-F238E27FC236}">
                <a16:creationId xmlns:a16="http://schemas.microsoft.com/office/drawing/2014/main" id="{8968890E-8C4E-A686-AF2E-A1907BE7C55C}"/>
              </a:ext>
            </a:extLst>
          </p:cNvPr>
          <p:cNvPicPr/>
          <p:nvPr/>
        </p:nvPicPr>
        <p:blipFill>
          <a:blip r:embed="rId3" cstate="print"/>
          <a:stretch>
            <a:fillRect/>
          </a:stretch>
        </p:blipFill>
        <p:spPr>
          <a:xfrm>
            <a:off x="477789" y="2799214"/>
            <a:ext cx="195544" cy="192055"/>
          </a:xfrm>
          <a:prstGeom prst="rect">
            <a:avLst/>
          </a:prstGeom>
        </p:spPr>
      </p:pic>
      <p:pic>
        <p:nvPicPr>
          <p:cNvPr id="7" name="object 3">
            <a:extLst>
              <a:ext uri="{FF2B5EF4-FFF2-40B4-BE49-F238E27FC236}">
                <a16:creationId xmlns:a16="http://schemas.microsoft.com/office/drawing/2014/main" id="{E3EFEA4B-E78C-F34D-81A7-FA7E3058A6E2}"/>
              </a:ext>
            </a:extLst>
          </p:cNvPr>
          <p:cNvPicPr/>
          <p:nvPr/>
        </p:nvPicPr>
        <p:blipFill>
          <a:blip r:embed="rId3" cstate="print"/>
          <a:stretch>
            <a:fillRect/>
          </a:stretch>
        </p:blipFill>
        <p:spPr>
          <a:xfrm>
            <a:off x="477789" y="5076825"/>
            <a:ext cx="195544" cy="192055"/>
          </a:xfrm>
          <a:prstGeom prst="rect">
            <a:avLst/>
          </a:prstGeom>
        </p:spPr>
      </p:pic>
    </p:spTree>
    <p:extLst>
      <p:ext uri="{BB962C8B-B14F-4D97-AF65-F5344CB8AC3E}">
        <p14:creationId xmlns:p14="http://schemas.microsoft.com/office/powerpoint/2010/main" val="4081983426"/>
      </p:ext>
    </p:extLst>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17500" y="1134966"/>
            <a:ext cx="9601200" cy="875240"/>
          </a:xfrm>
          <a:prstGeom prst="rect">
            <a:avLst/>
          </a:prstGeom>
        </p:spPr>
        <p:txBody>
          <a:bodyPr vert="horz" wrap="square" lIns="0" tIns="13335" rIns="0" bIns="0" rtlCol="0">
            <a:spAutoFit/>
          </a:bodyPr>
          <a:lstStyle/>
          <a:p>
            <a:pPr marL="12700">
              <a:spcBef>
                <a:spcPts val="105"/>
              </a:spcBef>
            </a:pPr>
            <a:r>
              <a:rPr lang="zh-CN" altLang="en-US" b="1" spc="-260" dirty="0">
                <a:latin typeface="宋体"/>
                <a:cs typeface="宋体"/>
              </a:rPr>
              <a:t>整数型常量</a:t>
            </a:r>
            <a:r>
              <a:rPr lang="en-US" altLang="zh-CN" b="1" spc="-260" dirty="0">
                <a:latin typeface="宋体"/>
                <a:cs typeface="宋体"/>
              </a:rPr>
              <a:t>——</a:t>
            </a:r>
            <a:r>
              <a:rPr lang="zh-CN" altLang="en-US" b="1" spc="-260" dirty="0">
                <a:latin typeface="宋体"/>
                <a:cs typeface="宋体"/>
              </a:rPr>
              <a:t>指定位宽的基数格式</a:t>
            </a:r>
            <a:r>
              <a:rPr lang="en-US" altLang="zh-CN" b="1" spc="-20" dirty="0">
                <a:solidFill>
                  <a:srgbClr val="3E3E3E"/>
                </a:solidFill>
                <a:latin typeface="Arial"/>
                <a:cs typeface="Arial"/>
              </a:rPr>
              <a:t>: </a:t>
            </a:r>
            <a:r>
              <a:rPr lang="en-US" altLang="zh-CN" b="1" spc="-20" dirty="0">
                <a:solidFill>
                  <a:srgbClr val="FF0000"/>
                </a:solidFill>
                <a:latin typeface="Arial"/>
                <a:cs typeface="Arial"/>
              </a:rPr>
              <a:t>&lt;</a:t>
            </a:r>
            <a:r>
              <a:rPr lang="zh-CN" altLang="en-US" b="1" spc="-20" dirty="0">
                <a:solidFill>
                  <a:srgbClr val="FF0000"/>
                </a:solidFill>
                <a:latin typeface="宋体"/>
                <a:cs typeface="宋体"/>
              </a:rPr>
              <a:t>位宽</a:t>
            </a:r>
            <a:r>
              <a:rPr lang="en-US" altLang="zh-CN" b="1" spc="-10" dirty="0">
                <a:solidFill>
                  <a:srgbClr val="FF0000"/>
                </a:solidFill>
                <a:latin typeface="Arial"/>
                <a:cs typeface="Arial"/>
              </a:rPr>
              <a:t>&gt;’&lt;</a:t>
            </a:r>
            <a:r>
              <a:rPr lang="zh-CN" altLang="en-US" b="1" spc="-20" dirty="0">
                <a:solidFill>
                  <a:srgbClr val="FF0000"/>
                </a:solidFill>
                <a:latin typeface="宋体"/>
                <a:cs typeface="宋体"/>
              </a:rPr>
              <a:t>进制</a:t>
            </a:r>
            <a:r>
              <a:rPr lang="en-US" altLang="zh-CN" b="1" spc="-20" dirty="0">
                <a:solidFill>
                  <a:srgbClr val="FF0000"/>
                </a:solidFill>
                <a:latin typeface="Arial"/>
                <a:cs typeface="Arial"/>
              </a:rPr>
              <a:t>&gt;&lt;</a:t>
            </a:r>
            <a:r>
              <a:rPr lang="zh-CN" altLang="en-US" b="1" spc="-20" dirty="0">
                <a:solidFill>
                  <a:srgbClr val="FF0000"/>
                </a:solidFill>
                <a:latin typeface="宋体"/>
                <a:cs typeface="宋体"/>
              </a:rPr>
              <a:t>数字</a:t>
            </a:r>
            <a:r>
              <a:rPr lang="en-US" altLang="zh-CN" b="1" spc="-50" dirty="0">
                <a:solidFill>
                  <a:srgbClr val="FF0000"/>
                </a:solidFill>
                <a:latin typeface="Arial"/>
                <a:cs typeface="Arial"/>
              </a:rPr>
              <a:t>&gt;</a:t>
            </a:r>
            <a:br>
              <a:rPr lang="zh-CN" altLang="en-US" dirty="0">
                <a:latin typeface="Arial"/>
                <a:cs typeface="Arial"/>
              </a:rPr>
            </a:br>
            <a:endParaRPr b="1" spc="-10" dirty="0"/>
          </a:p>
        </p:txBody>
      </p:sp>
      <p:pic>
        <p:nvPicPr>
          <p:cNvPr id="3" name="object 3"/>
          <p:cNvPicPr/>
          <p:nvPr/>
        </p:nvPicPr>
        <p:blipFill>
          <a:blip r:embed="rId2" cstate="print"/>
          <a:stretch>
            <a:fillRect/>
          </a:stretch>
        </p:blipFill>
        <p:spPr>
          <a:xfrm>
            <a:off x="695529" y="1960234"/>
            <a:ext cx="137283" cy="137943"/>
          </a:xfrm>
          <a:prstGeom prst="rect">
            <a:avLst/>
          </a:prstGeom>
        </p:spPr>
      </p:pic>
      <p:sp>
        <p:nvSpPr>
          <p:cNvPr id="4" name="object 4"/>
          <p:cNvSpPr txBox="1"/>
          <p:nvPr/>
        </p:nvSpPr>
        <p:spPr>
          <a:xfrm>
            <a:off x="881005" y="1776877"/>
            <a:ext cx="3978275" cy="3388360"/>
          </a:xfrm>
          <a:prstGeom prst="rect">
            <a:avLst/>
          </a:prstGeom>
        </p:spPr>
        <p:txBody>
          <a:bodyPr vert="horz" wrap="square" lIns="0" tIns="95885" rIns="0" bIns="0" rtlCol="0">
            <a:spAutoFit/>
          </a:bodyPr>
          <a:lstStyle/>
          <a:p>
            <a:pPr marL="12700">
              <a:lnSpc>
                <a:spcPct val="100000"/>
              </a:lnSpc>
              <a:spcBef>
                <a:spcPts val="755"/>
              </a:spcBef>
            </a:pPr>
            <a:r>
              <a:rPr sz="1750" b="1" dirty="0">
                <a:solidFill>
                  <a:srgbClr val="3E3E3E"/>
                </a:solidFill>
                <a:latin typeface="Arial"/>
                <a:cs typeface="Arial"/>
              </a:rPr>
              <a:t>sized</a:t>
            </a:r>
            <a:r>
              <a:rPr sz="1750" b="1" spc="-30" dirty="0">
                <a:solidFill>
                  <a:srgbClr val="3E3E3E"/>
                </a:solidFill>
                <a:latin typeface="Arial"/>
                <a:cs typeface="Arial"/>
              </a:rPr>
              <a:t>, </a:t>
            </a:r>
            <a:r>
              <a:rPr sz="1750" b="1" dirty="0">
                <a:solidFill>
                  <a:srgbClr val="3E3E3E"/>
                </a:solidFill>
                <a:latin typeface="Arial"/>
                <a:cs typeface="Arial"/>
              </a:rPr>
              <a:t>unsized</a:t>
            </a:r>
            <a:r>
              <a:rPr sz="1750" b="1" spc="-20" dirty="0">
                <a:solidFill>
                  <a:srgbClr val="3E3E3E"/>
                </a:solidFill>
                <a:latin typeface="Arial"/>
                <a:cs typeface="Arial"/>
              </a:rPr>
              <a:t>: </a:t>
            </a:r>
            <a:endParaRPr lang="zh-CN" altLang="en-US" sz="1750" dirty="0">
              <a:latin typeface="Arial"/>
              <a:cs typeface="Arial"/>
            </a:endParaRPr>
          </a:p>
          <a:p>
            <a:pPr marL="311150" indent="-198120">
              <a:lnSpc>
                <a:spcPct val="100000"/>
              </a:lnSpc>
              <a:spcBef>
                <a:spcPts val="620"/>
              </a:spcBef>
              <a:buChar char="–"/>
              <a:tabLst>
                <a:tab pos="311150" algn="l"/>
              </a:tabLst>
            </a:pPr>
            <a:r>
              <a:rPr lang="en-US" altLang="zh-CN" sz="1550" dirty="0">
                <a:latin typeface="Arial"/>
                <a:cs typeface="Arial"/>
              </a:rPr>
              <a:t>sized</a:t>
            </a:r>
            <a:r>
              <a:rPr lang="en-US" altLang="zh-CN" sz="1550" spc="35" dirty="0">
                <a:latin typeface="Arial"/>
                <a:cs typeface="Arial"/>
              </a:rPr>
              <a:t>: </a:t>
            </a:r>
            <a:r>
              <a:rPr lang="en-US" altLang="zh-CN" sz="1550" dirty="0">
                <a:latin typeface="Arial"/>
                <a:cs typeface="Arial"/>
              </a:rPr>
              <a:t>3’b010</a:t>
            </a:r>
            <a:r>
              <a:rPr lang="zh-CN" altLang="en-US" sz="1550" spc="30" dirty="0">
                <a:latin typeface="Arial"/>
                <a:cs typeface="Arial"/>
              </a:rPr>
              <a:t> </a:t>
            </a:r>
            <a:r>
              <a:rPr lang="en-US" altLang="zh-CN" sz="1550" spc="30" dirty="0">
                <a:latin typeface="Arial"/>
                <a:cs typeface="Arial"/>
              </a:rPr>
              <a:t>// </a:t>
            </a:r>
            <a:r>
              <a:rPr lang="en-US" altLang="zh-CN" sz="1550" dirty="0">
                <a:latin typeface="Arial"/>
                <a:cs typeface="Arial"/>
              </a:rPr>
              <a:t>3</a:t>
            </a:r>
            <a:r>
              <a:rPr lang="zh-CN" altLang="en-US" sz="1550" dirty="0">
                <a:latin typeface="宋体"/>
                <a:cs typeface="宋体"/>
              </a:rPr>
              <a:t>位二进制数字，值为</a:t>
            </a:r>
            <a:r>
              <a:rPr lang="en-US" altLang="zh-CN" sz="1550" spc="-25" dirty="0">
                <a:latin typeface="Arial"/>
                <a:cs typeface="Arial"/>
              </a:rPr>
              <a:t>010</a:t>
            </a:r>
            <a:endParaRPr lang="zh-CN" altLang="en-US" sz="1550" dirty="0">
              <a:latin typeface="Arial"/>
              <a:cs typeface="Arial"/>
            </a:endParaRPr>
          </a:p>
          <a:p>
            <a:pPr marL="311150" indent="-198120">
              <a:lnSpc>
                <a:spcPct val="100000"/>
              </a:lnSpc>
              <a:spcBef>
                <a:spcPts val="610"/>
              </a:spcBef>
              <a:buChar char="–"/>
              <a:tabLst>
                <a:tab pos="311150" algn="l"/>
              </a:tabLst>
            </a:pPr>
            <a:r>
              <a:rPr sz="1550" spc="-10" dirty="0">
                <a:latin typeface="Arial"/>
                <a:cs typeface="Arial"/>
              </a:rPr>
              <a:t>unsized:</a:t>
            </a:r>
            <a:endParaRPr sz="1550" dirty="0">
              <a:latin typeface="Arial"/>
              <a:cs typeface="Arial"/>
            </a:endParaRPr>
          </a:p>
          <a:p>
            <a:pPr marL="612775" lvl="1" indent="-199390">
              <a:lnSpc>
                <a:spcPct val="100000"/>
              </a:lnSpc>
              <a:spcBef>
                <a:spcPts val="530"/>
              </a:spcBef>
              <a:buChar char="•"/>
              <a:tabLst>
                <a:tab pos="612775" algn="l"/>
              </a:tabLst>
            </a:pPr>
            <a:r>
              <a:rPr sz="1400" dirty="0">
                <a:latin typeface="Arial"/>
                <a:cs typeface="Arial"/>
              </a:rPr>
              <a:t>&lt;</a:t>
            </a:r>
            <a:r>
              <a:rPr sz="1400" dirty="0">
                <a:latin typeface="宋体"/>
                <a:cs typeface="宋体"/>
              </a:rPr>
              <a:t>进制</a:t>
            </a:r>
            <a:r>
              <a:rPr sz="1400" dirty="0">
                <a:latin typeface="Arial"/>
                <a:cs typeface="Arial"/>
              </a:rPr>
              <a:t>&gt;</a:t>
            </a:r>
            <a:r>
              <a:rPr sz="1400" dirty="0">
                <a:latin typeface="宋体"/>
                <a:cs typeface="宋体"/>
              </a:rPr>
              <a:t>默认为十进制</a:t>
            </a:r>
            <a:r>
              <a:rPr sz="1400" spc="-50" dirty="0">
                <a:latin typeface="Arial"/>
                <a:cs typeface="Arial"/>
              </a:rPr>
              <a:t>;</a:t>
            </a:r>
            <a:endParaRPr sz="1400" dirty="0">
              <a:latin typeface="Arial"/>
              <a:cs typeface="Arial"/>
            </a:endParaRPr>
          </a:p>
          <a:p>
            <a:pPr marL="612775" lvl="1" indent="-199390">
              <a:lnSpc>
                <a:spcPct val="100000"/>
              </a:lnSpc>
              <a:spcBef>
                <a:spcPts val="509"/>
              </a:spcBef>
              <a:buChar char="•"/>
              <a:tabLst>
                <a:tab pos="612775" algn="l"/>
              </a:tabLst>
            </a:pPr>
            <a:r>
              <a:rPr sz="1400" dirty="0">
                <a:latin typeface="Arial"/>
                <a:cs typeface="Arial"/>
              </a:rPr>
              <a:t>&lt;</a:t>
            </a:r>
            <a:r>
              <a:rPr sz="1400" dirty="0">
                <a:latin typeface="宋体"/>
                <a:cs typeface="宋体"/>
              </a:rPr>
              <a:t>位宽</a:t>
            </a:r>
            <a:r>
              <a:rPr sz="1400" dirty="0">
                <a:latin typeface="Arial"/>
                <a:cs typeface="Arial"/>
              </a:rPr>
              <a:t>&gt;</a:t>
            </a:r>
            <a:r>
              <a:rPr sz="1400" dirty="0">
                <a:latin typeface="宋体"/>
                <a:cs typeface="宋体"/>
              </a:rPr>
              <a:t>默认为</a:t>
            </a:r>
            <a:r>
              <a:rPr sz="1400" dirty="0">
                <a:latin typeface="Arial"/>
                <a:cs typeface="Arial"/>
              </a:rPr>
              <a:t>32-</a:t>
            </a:r>
            <a:r>
              <a:rPr sz="1400" spc="-20" dirty="0">
                <a:latin typeface="Arial"/>
                <a:cs typeface="Arial"/>
              </a:rPr>
              <a:t>bit.</a:t>
            </a:r>
            <a:endParaRPr sz="1400" dirty="0">
              <a:latin typeface="Arial"/>
              <a:cs typeface="Arial"/>
            </a:endParaRPr>
          </a:p>
          <a:p>
            <a:pPr marL="12700">
              <a:lnSpc>
                <a:spcPct val="100000"/>
              </a:lnSpc>
              <a:spcBef>
                <a:spcPts val="870"/>
              </a:spcBef>
            </a:pPr>
            <a:r>
              <a:rPr sz="2100" b="1" spc="-40" dirty="0">
                <a:solidFill>
                  <a:srgbClr val="3E3E3E"/>
                </a:solidFill>
                <a:latin typeface="宋体"/>
                <a:cs typeface="宋体"/>
              </a:rPr>
              <a:t>进制</a:t>
            </a:r>
            <a:endParaRPr sz="2100" dirty="0">
              <a:latin typeface="宋体"/>
              <a:cs typeface="宋体"/>
            </a:endParaRPr>
          </a:p>
          <a:p>
            <a:pPr marL="313055" indent="-200025">
              <a:lnSpc>
                <a:spcPct val="100000"/>
              </a:lnSpc>
              <a:spcBef>
                <a:spcPts val="680"/>
              </a:spcBef>
              <a:buFont typeface="Arial"/>
              <a:buChar char="–"/>
              <a:tabLst>
                <a:tab pos="313055" algn="l"/>
              </a:tabLst>
            </a:pPr>
            <a:r>
              <a:rPr sz="1750" spc="-100" dirty="0">
                <a:latin typeface="宋体"/>
                <a:cs typeface="宋体"/>
              </a:rPr>
              <a:t>十进制 </a:t>
            </a:r>
            <a:r>
              <a:rPr sz="1750" dirty="0">
                <a:latin typeface="Arial"/>
                <a:cs typeface="Arial"/>
              </a:rPr>
              <a:t>('d</a:t>
            </a:r>
            <a:r>
              <a:rPr sz="1750" spc="-30" dirty="0">
                <a:latin typeface="Arial"/>
                <a:cs typeface="Arial"/>
              </a:rPr>
              <a:t> </a:t>
            </a:r>
            <a:r>
              <a:rPr sz="1750" spc="-195" dirty="0">
                <a:latin typeface="宋体"/>
                <a:cs typeface="宋体"/>
              </a:rPr>
              <a:t>或 </a:t>
            </a:r>
            <a:r>
              <a:rPr sz="1750" spc="-25" dirty="0">
                <a:latin typeface="Arial"/>
                <a:cs typeface="Arial"/>
              </a:rPr>
              <a:t>‘D)</a:t>
            </a:r>
            <a:endParaRPr sz="1750" dirty="0">
              <a:latin typeface="Arial"/>
              <a:cs typeface="Arial"/>
            </a:endParaRPr>
          </a:p>
          <a:p>
            <a:pPr marL="313055" indent="-200025">
              <a:lnSpc>
                <a:spcPct val="100000"/>
              </a:lnSpc>
              <a:spcBef>
                <a:spcPts val="635"/>
              </a:spcBef>
              <a:buFont typeface="Arial"/>
              <a:buChar char="–"/>
              <a:tabLst>
                <a:tab pos="313055" algn="l"/>
              </a:tabLst>
            </a:pPr>
            <a:r>
              <a:rPr sz="1750" spc="-80" dirty="0">
                <a:latin typeface="宋体"/>
                <a:cs typeface="宋体"/>
              </a:rPr>
              <a:t>十六进制 </a:t>
            </a:r>
            <a:r>
              <a:rPr sz="1750" dirty="0">
                <a:latin typeface="Arial"/>
                <a:cs typeface="Arial"/>
              </a:rPr>
              <a:t>(‘h</a:t>
            </a:r>
            <a:r>
              <a:rPr sz="1750" spc="-25" dirty="0">
                <a:latin typeface="Arial"/>
                <a:cs typeface="Arial"/>
              </a:rPr>
              <a:t> </a:t>
            </a:r>
            <a:r>
              <a:rPr sz="1750" spc="-200" dirty="0">
                <a:latin typeface="宋体"/>
                <a:cs typeface="宋体"/>
              </a:rPr>
              <a:t>或 </a:t>
            </a:r>
            <a:r>
              <a:rPr sz="1750" spc="-25" dirty="0">
                <a:latin typeface="Arial"/>
                <a:cs typeface="Arial"/>
              </a:rPr>
              <a:t>‘H)</a:t>
            </a:r>
            <a:endParaRPr sz="1750" dirty="0">
              <a:latin typeface="Arial"/>
              <a:cs typeface="Arial"/>
            </a:endParaRPr>
          </a:p>
          <a:p>
            <a:pPr marL="313055" indent="-200025">
              <a:lnSpc>
                <a:spcPct val="100000"/>
              </a:lnSpc>
              <a:spcBef>
                <a:spcPts val="635"/>
              </a:spcBef>
              <a:buFont typeface="Arial"/>
              <a:buChar char="–"/>
              <a:tabLst>
                <a:tab pos="313055" algn="l"/>
              </a:tabLst>
            </a:pPr>
            <a:r>
              <a:rPr sz="1750" dirty="0">
                <a:latin typeface="宋体"/>
                <a:cs typeface="宋体"/>
              </a:rPr>
              <a:t>二进制</a:t>
            </a:r>
            <a:r>
              <a:rPr sz="1750" dirty="0">
                <a:latin typeface="Arial"/>
                <a:cs typeface="Arial"/>
              </a:rPr>
              <a:t>(‘b</a:t>
            </a:r>
            <a:r>
              <a:rPr sz="1750" spc="-25" dirty="0">
                <a:latin typeface="Arial"/>
                <a:cs typeface="Arial"/>
              </a:rPr>
              <a:t> </a:t>
            </a:r>
            <a:r>
              <a:rPr sz="1750" spc="-195" dirty="0">
                <a:latin typeface="宋体"/>
                <a:cs typeface="宋体"/>
              </a:rPr>
              <a:t>或 </a:t>
            </a:r>
            <a:r>
              <a:rPr sz="1750" spc="-25" dirty="0">
                <a:latin typeface="Arial"/>
                <a:cs typeface="Arial"/>
              </a:rPr>
              <a:t>’B)</a:t>
            </a:r>
            <a:endParaRPr sz="1750" dirty="0">
              <a:latin typeface="Arial"/>
              <a:cs typeface="Arial"/>
            </a:endParaRPr>
          </a:p>
          <a:p>
            <a:pPr marL="313055" indent="-200025">
              <a:lnSpc>
                <a:spcPct val="100000"/>
              </a:lnSpc>
              <a:spcBef>
                <a:spcPts val="630"/>
              </a:spcBef>
              <a:buFont typeface="Arial"/>
              <a:buChar char="–"/>
              <a:tabLst>
                <a:tab pos="313055" algn="l"/>
              </a:tabLst>
            </a:pPr>
            <a:r>
              <a:rPr sz="1750" spc="-100" dirty="0">
                <a:latin typeface="宋体"/>
                <a:cs typeface="宋体"/>
              </a:rPr>
              <a:t>八进制 </a:t>
            </a:r>
            <a:r>
              <a:rPr sz="1750" dirty="0">
                <a:latin typeface="Arial"/>
                <a:cs typeface="Arial"/>
              </a:rPr>
              <a:t>(‘o</a:t>
            </a:r>
            <a:r>
              <a:rPr sz="1750" spc="-30" dirty="0">
                <a:latin typeface="Arial"/>
                <a:cs typeface="Arial"/>
              </a:rPr>
              <a:t> </a:t>
            </a:r>
            <a:r>
              <a:rPr sz="1750" spc="-195" dirty="0">
                <a:latin typeface="宋体"/>
                <a:cs typeface="宋体"/>
              </a:rPr>
              <a:t>或 </a:t>
            </a:r>
            <a:r>
              <a:rPr sz="1750" spc="-25" dirty="0">
                <a:latin typeface="Arial"/>
                <a:cs typeface="Arial"/>
              </a:rPr>
              <a:t>’O)</a:t>
            </a:r>
            <a:endParaRPr sz="1750" dirty="0">
              <a:latin typeface="Arial"/>
              <a:cs typeface="Arial"/>
            </a:endParaRPr>
          </a:p>
        </p:txBody>
      </p:sp>
      <p:pic>
        <p:nvPicPr>
          <p:cNvPr id="5" name="object 5"/>
          <p:cNvPicPr/>
          <p:nvPr/>
        </p:nvPicPr>
        <p:blipFill>
          <a:blip r:embed="rId3" cstate="print"/>
          <a:stretch>
            <a:fillRect/>
          </a:stretch>
        </p:blipFill>
        <p:spPr>
          <a:xfrm>
            <a:off x="695538" y="3544025"/>
            <a:ext cx="162412" cy="162741"/>
          </a:xfrm>
          <a:prstGeom prst="rect">
            <a:avLst/>
          </a:prstGeom>
        </p:spPr>
      </p:pic>
      <p:pic>
        <p:nvPicPr>
          <p:cNvPr id="6" name="object 6"/>
          <p:cNvPicPr/>
          <p:nvPr/>
        </p:nvPicPr>
        <p:blipFill>
          <a:blip r:embed="rId4" cstate="print"/>
          <a:stretch>
            <a:fillRect/>
          </a:stretch>
        </p:blipFill>
        <p:spPr>
          <a:xfrm>
            <a:off x="5504174" y="1976999"/>
            <a:ext cx="166914" cy="163086"/>
          </a:xfrm>
          <a:prstGeom prst="rect">
            <a:avLst/>
          </a:prstGeom>
        </p:spPr>
      </p:pic>
      <p:sp>
        <p:nvSpPr>
          <p:cNvPr id="7" name="object 7"/>
          <p:cNvSpPr txBox="1"/>
          <p:nvPr/>
        </p:nvSpPr>
        <p:spPr>
          <a:xfrm>
            <a:off x="5693035" y="1756213"/>
            <a:ext cx="4021454" cy="3423285"/>
          </a:xfrm>
          <a:prstGeom prst="rect">
            <a:avLst/>
          </a:prstGeom>
        </p:spPr>
        <p:txBody>
          <a:bodyPr vert="horz" wrap="square" lIns="0" tIns="116840" rIns="0" bIns="0" rtlCol="0">
            <a:spAutoFit/>
          </a:bodyPr>
          <a:lstStyle/>
          <a:p>
            <a:pPr marL="12700">
              <a:lnSpc>
                <a:spcPct val="100000"/>
              </a:lnSpc>
              <a:spcBef>
                <a:spcPts val="920"/>
              </a:spcBef>
            </a:pPr>
            <a:r>
              <a:rPr sz="2100" b="1" spc="-25" dirty="0">
                <a:solidFill>
                  <a:srgbClr val="3E3E3E"/>
                </a:solidFill>
                <a:latin typeface="宋体"/>
                <a:cs typeface="宋体"/>
              </a:rPr>
              <a:t>负数</a:t>
            </a:r>
            <a:r>
              <a:rPr sz="2100" b="1" dirty="0">
                <a:solidFill>
                  <a:srgbClr val="3E3E3E"/>
                </a:solidFill>
                <a:latin typeface="Arial"/>
                <a:cs typeface="Arial"/>
              </a:rPr>
              <a:t>——</a:t>
            </a:r>
            <a:r>
              <a:rPr sz="2100" b="1" spc="-25" dirty="0">
                <a:solidFill>
                  <a:srgbClr val="3E3E3E"/>
                </a:solidFill>
                <a:latin typeface="宋体"/>
                <a:cs typeface="宋体"/>
              </a:rPr>
              <a:t>在</a:t>
            </a:r>
            <a:r>
              <a:rPr sz="2100" b="1" dirty="0">
                <a:solidFill>
                  <a:srgbClr val="3E3E3E"/>
                </a:solidFill>
                <a:latin typeface="Arial"/>
                <a:cs typeface="Arial"/>
              </a:rPr>
              <a:t>&lt;</a:t>
            </a:r>
            <a:r>
              <a:rPr sz="2100" b="1" spc="-25" dirty="0">
                <a:solidFill>
                  <a:srgbClr val="3E3E3E"/>
                </a:solidFill>
                <a:latin typeface="宋体"/>
                <a:cs typeface="宋体"/>
              </a:rPr>
              <a:t>位宽</a:t>
            </a:r>
            <a:r>
              <a:rPr sz="2100" b="1" dirty="0">
                <a:solidFill>
                  <a:srgbClr val="3E3E3E"/>
                </a:solidFill>
                <a:latin typeface="Arial"/>
                <a:cs typeface="Arial"/>
              </a:rPr>
              <a:t>&gt;</a:t>
            </a:r>
            <a:r>
              <a:rPr sz="2100" b="1" spc="-35" dirty="0">
                <a:solidFill>
                  <a:srgbClr val="3E3E3E"/>
                </a:solidFill>
                <a:latin typeface="宋体"/>
                <a:cs typeface="宋体"/>
              </a:rPr>
              <a:t>前加负号</a:t>
            </a:r>
            <a:endParaRPr sz="2100">
              <a:latin typeface="宋体"/>
              <a:cs typeface="宋体"/>
            </a:endParaRPr>
          </a:p>
          <a:p>
            <a:pPr marL="113030">
              <a:lnSpc>
                <a:spcPct val="100000"/>
              </a:lnSpc>
              <a:spcBef>
                <a:spcPts val="680"/>
              </a:spcBef>
            </a:pPr>
            <a:r>
              <a:rPr sz="1750" spc="55" dirty="0">
                <a:latin typeface="Arial"/>
                <a:cs typeface="Arial"/>
              </a:rPr>
              <a:t>– </a:t>
            </a:r>
            <a:r>
              <a:rPr sz="1750" spc="-130" dirty="0">
                <a:latin typeface="宋体"/>
                <a:cs typeface="宋体"/>
              </a:rPr>
              <a:t>例： </a:t>
            </a:r>
            <a:r>
              <a:rPr sz="1750" spc="-20" dirty="0">
                <a:latin typeface="Arial"/>
                <a:cs typeface="Arial"/>
              </a:rPr>
              <a:t>-8’d3</a:t>
            </a:r>
            <a:endParaRPr sz="1750">
              <a:latin typeface="Arial"/>
              <a:cs typeface="Arial"/>
            </a:endParaRPr>
          </a:p>
          <a:p>
            <a:pPr marL="12700">
              <a:lnSpc>
                <a:spcPct val="100000"/>
              </a:lnSpc>
              <a:spcBef>
                <a:spcPts val="915"/>
              </a:spcBef>
            </a:pPr>
            <a:r>
              <a:rPr sz="2100" b="1" spc="-35" dirty="0">
                <a:solidFill>
                  <a:srgbClr val="3E3E3E"/>
                </a:solidFill>
                <a:latin typeface="宋体"/>
                <a:cs typeface="宋体"/>
              </a:rPr>
              <a:t>特殊数符</a:t>
            </a:r>
            <a:endParaRPr sz="2100">
              <a:latin typeface="宋体"/>
              <a:cs typeface="宋体"/>
            </a:endParaRPr>
          </a:p>
          <a:p>
            <a:pPr marL="313055" indent="-200025">
              <a:lnSpc>
                <a:spcPct val="100000"/>
              </a:lnSpc>
              <a:spcBef>
                <a:spcPts val="680"/>
              </a:spcBef>
              <a:buFont typeface="Arial"/>
              <a:buChar char="–"/>
              <a:tabLst>
                <a:tab pos="313055" algn="l"/>
              </a:tabLst>
            </a:pPr>
            <a:r>
              <a:rPr sz="1750" spc="-10" dirty="0">
                <a:latin typeface="宋体"/>
                <a:cs typeface="宋体"/>
              </a:rPr>
              <a:t>‘</a:t>
            </a:r>
            <a:r>
              <a:rPr sz="1750" spc="-10" dirty="0">
                <a:latin typeface="Arial"/>
                <a:cs typeface="Arial"/>
              </a:rPr>
              <a:t>_</a:t>
            </a:r>
            <a:r>
              <a:rPr sz="1750" spc="-185" dirty="0">
                <a:latin typeface="宋体"/>
                <a:cs typeface="宋体"/>
              </a:rPr>
              <a:t>’ </a:t>
            </a:r>
            <a:r>
              <a:rPr sz="1750" spc="-20" dirty="0">
                <a:latin typeface="Arial"/>
                <a:cs typeface="Arial"/>
              </a:rPr>
              <a:t>(</a:t>
            </a:r>
            <a:r>
              <a:rPr sz="1750" dirty="0">
                <a:latin typeface="宋体"/>
                <a:cs typeface="宋体"/>
              </a:rPr>
              <a:t>下划线</a:t>
            </a:r>
            <a:r>
              <a:rPr sz="1750" spc="-10" dirty="0">
                <a:latin typeface="Arial"/>
                <a:cs typeface="Arial"/>
              </a:rPr>
              <a:t>)</a:t>
            </a:r>
            <a:r>
              <a:rPr sz="1750" spc="-15" dirty="0">
                <a:latin typeface="宋体"/>
                <a:cs typeface="宋体"/>
              </a:rPr>
              <a:t>：增加可读性</a:t>
            </a:r>
            <a:endParaRPr sz="1750">
              <a:latin typeface="宋体"/>
              <a:cs typeface="宋体"/>
            </a:endParaRPr>
          </a:p>
          <a:p>
            <a:pPr marL="313055" indent="-200025">
              <a:lnSpc>
                <a:spcPct val="100000"/>
              </a:lnSpc>
              <a:spcBef>
                <a:spcPts val="635"/>
              </a:spcBef>
              <a:buFont typeface="Arial"/>
              <a:buChar char="–"/>
              <a:tabLst>
                <a:tab pos="313055" algn="l"/>
              </a:tabLst>
            </a:pPr>
            <a:r>
              <a:rPr sz="1750" spc="-10" dirty="0">
                <a:latin typeface="宋体"/>
                <a:cs typeface="宋体"/>
              </a:rPr>
              <a:t>‘</a:t>
            </a:r>
            <a:r>
              <a:rPr sz="1750" spc="-10" dirty="0">
                <a:latin typeface="Arial"/>
                <a:cs typeface="Arial"/>
              </a:rPr>
              <a:t>x’</a:t>
            </a:r>
            <a:r>
              <a:rPr sz="1750" dirty="0">
                <a:latin typeface="宋体"/>
                <a:cs typeface="宋体"/>
              </a:rPr>
              <a:t>或’</a:t>
            </a:r>
            <a:r>
              <a:rPr sz="1750" dirty="0">
                <a:latin typeface="Arial"/>
                <a:cs typeface="Arial"/>
              </a:rPr>
              <a:t>X’</a:t>
            </a:r>
            <a:r>
              <a:rPr sz="1750" spc="10" dirty="0">
                <a:latin typeface="Arial"/>
                <a:cs typeface="Arial"/>
              </a:rPr>
              <a:t> (</a:t>
            </a:r>
            <a:r>
              <a:rPr sz="1750" dirty="0">
                <a:latin typeface="宋体"/>
                <a:cs typeface="宋体"/>
              </a:rPr>
              <a:t>未知数</a:t>
            </a:r>
            <a:r>
              <a:rPr sz="1750" spc="-50" dirty="0">
                <a:latin typeface="Arial"/>
                <a:cs typeface="Arial"/>
              </a:rPr>
              <a:t>)</a:t>
            </a:r>
            <a:endParaRPr sz="1750">
              <a:latin typeface="Arial"/>
              <a:cs typeface="Arial"/>
            </a:endParaRPr>
          </a:p>
          <a:p>
            <a:pPr marL="313055" indent="-200025">
              <a:lnSpc>
                <a:spcPct val="100000"/>
              </a:lnSpc>
              <a:spcBef>
                <a:spcPts val="635"/>
              </a:spcBef>
              <a:buFont typeface="Arial"/>
              <a:buChar char="–"/>
              <a:tabLst>
                <a:tab pos="313055" algn="l"/>
              </a:tabLst>
            </a:pPr>
            <a:r>
              <a:rPr sz="1750" dirty="0">
                <a:latin typeface="宋体"/>
                <a:cs typeface="宋体"/>
              </a:rPr>
              <a:t>‘</a:t>
            </a:r>
            <a:r>
              <a:rPr sz="1750" dirty="0">
                <a:latin typeface="Arial"/>
                <a:cs typeface="Arial"/>
              </a:rPr>
              <a:t>z</a:t>
            </a:r>
            <a:r>
              <a:rPr sz="1750" dirty="0">
                <a:latin typeface="宋体"/>
                <a:cs typeface="宋体"/>
              </a:rPr>
              <a:t>’或’</a:t>
            </a:r>
            <a:r>
              <a:rPr sz="1750" dirty="0">
                <a:latin typeface="Arial"/>
                <a:cs typeface="Arial"/>
              </a:rPr>
              <a:t>Z</a:t>
            </a:r>
            <a:r>
              <a:rPr sz="1750" spc="-10" dirty="0">
                <a:latin typeface="Arial"/>
                <a:cs typeface="Arial"/>
              </a:rPr>
              <a:t>’ (</a:t>
            </a:r>
            <a:r>
              <a:rPr sz="1750" dirty="0">
                <a:latin typeface="宋体"/>
                <a:cs typeface="宋体"/>
              </a:rPr>
              <a:t>高阻</a:t>
            </a:r>
            <a:r>
              <a:rPr sz="1750" spc="-50" dirty="0">
                <a:latin typeface="Arial"/>
                <a:cs typeface="Arial"/>
              </a:rPr>
              <a:t>)</a:t>
            </a:r>
            <a:endParaRPr sz="1750">
              <a:latin typeface="Arial"/>
              <a:cs typeface="Arial"/>
            </a:endParaRPr>
          </a:p>
          <a:p>
            <a:pPr marL="12700">
              <a:lnSpc>
                <a:spcPct val="100000"/>
              </a:lnSpc>
              <a:spcBef>
                <a:spcPts val="910"/>
              </a:spcBef>
            </a:pPr>
            <a:r>
              <a:rPr sz="2100" b="1" spc="-30" dirty="0">
                <a:solidFill>
                  <a:srgbClr val="3E3E3E"/>
                </a:solidFill>
                <a:latin typeface="宋体"/>
                <a:cs typeface="宋体"/>
              </a:rPr>
              <a:t>若定义的位宽比实际位数长</a:t>
            </a:r>
            <a:endParaRPr sz="2100">
              <a:latin typeface="宋体"/>
              <a:cs typeface="宋体"/>
            </a:endParaRPr>
          </a:p>
          <a:p>
            <a:pPr marL="313055" indent="-200025">
              <a:lnSpc>
                <a:spcPct val="100000"/>
              </a:lnSpc>
              <a:spcBef>
                <a:spcPts val="680"/>
              </a:spcBef>
              <a:buFont typeface="Arial"/>
              <a:buChar char="–"/>
              <a:tabLst>
                <a:tab pos="313055" algn="l"/>
              </a:tabLst>
            </a:pPr>
            <a:r>
              <a:rPr sz="1750" dirty="0">
                <a:latin typeface="宋体"/>
                <a:cs typeface="宋体"/>
              </a:rPr>
              <a:t>如果高位是</a:t>
            </a:r>
            <a:r>
              <a:rPr sz="1750" dirty="0">
                <a:latin typeface="Arial"/>
                <a:cs typeface="Arial"/>
              </a:rPr>
              <a:t>0</a:t>
            </a:r>
            <a:r>
              <a:rPr sz="1750" spc="-10" dirty="0">
                <a:latin typeface="Arial"/>
                <a:cs typeface="Arial"/>
              </a:rPr>
              <a:t>, </a:t>
            </a:r>
            <a:r>
              <a:rPr sz="1750" dirty="0">
                <a:latin typeface="Arial"/>
                <a:cs typeface="Arial"/>
              </a:rPr>
              <a:t>x</a:t>
            </a:r>
            <a:r>
              <a:rPr sz="1750" spc="-10" dirty="0">
                <a:latin typeface="Arial"/>
                <a:cs typeface="Arial"/>
              </a:rPr>
              <a:t>, </a:t>
            </a:r>
            <a:r>
              <a:rPr sz="1750" dirty="0">
                <a:latin typeface="Arial"/>
                <a:cs typeface="Arial"/>
              </a:rPr>
              <a:t>z</a:t>
            </a:r>
            <a:r>
              <a:rPr sz="1750" dirty="0">
                <a:latin typeface="宋体"/>
                <a:cs typeface="宋体"/>
              </a:rPr>
              <a:t>，高位分别补</a:t>
            </a:r>
            <a:r>
              <a:rPr sz="1750" dirty="0">
                <a:latin typeface="Arial"/>
                <a:cs typeface="Arial"/>
              </a:rPr>
              <a:t>0</a:t>
            </a:r>
            <a:r>
              <a:rPr sz="1750" spc="-5" dirty="0">
                <a:latin typeface="Arial"/>
                <a:cs typeface="Arial"/>
              </a:rPr>
              <a:t>, </a:t>
            </a:r>
            <a:r>
              <a:rPr sz="1750" dirty="0">
                <a:latin typeface="Arial"/>
                <a:cs typeface="Arial"/>
              </a:rPr>
              <a:t>x</a:t>
            </a:r>
            <a:r>
              <a:rPr sz="1750" spc="-10" dirty="0">
                <a:latin typeface="Arial"/>
                <a:cs typeface="Arial"/>
              </a:rPr>
              <a:t>, </a:t>
            </a:r>
            <a:r>
              <a:rPr sz="1750" spc="-25" dirty="0">
                <a:latin typeface="Arial"/>
                <a:cs typeface="Arial"/>
              </a:rPr>
              <a:t>z;</a:t>
            </a:r>
            <a:endParaRPr sz="1750">
              <a:latin typeface="Arial"/>
              <a:cs typeface="Arial"/>
            </a:endParaRPr>
          </a:p>
          <a:p>
            <a:pPr marL="313055" indent="-200025">
              <a:lnSpc>
                <a:spcPct val="100000"/>
              </a:lnSpc>
              <a:spcBef>
                <a:spcPts val="635"/>
              </a:spcBef>
              <a:buFont typeface="Arial"/>
              <a:buChar char="–"/>
              <a:tabLst>
                <a:tab pos="313055" algn="l"/>
              </a:tabLst>
            </a:pPr>
            <a:r>
              <a:rPr sz="1750" dirty="0">
                <a:latin typeface="宋体"/>
                <a:cs typeface="宋体"/>
              </a:rPr>
              <a:t>如果高位是</a:t>
            </a:r>
            <a:r>
              <a:rPr sz="1750" spc="-10" dirty="0">
                <a:latin typeface="Arial"/>
                <a:cs typeface="Arial"/>
              </a:rPr>
              <a:t>1</a:t>
            </a:r>
            <a:r>
              <a:rPr sz="1750" spc="-5" dirty="0">
                <a:latin typeface="宋体"/>
                <a:cs typeface="宋体"/>
              </a:rPr>
              <a:t>，左边补</a:t>
            </a:r>
            <a:r>
              <a:rPr sz="1750" spc="-25" dirty="0">
                <a:latin typeface="Arial"/>
                <a:cs typeface="Arial"/>
              </a:rPr>
              <a:t>0.</a:t>
            </a:r>
            <a:endParaRPr sz="1750">
              <a:latin typeface="Arial"/>
              <a:cs typeface="Arial"/>
            </a:endParaRPr>
          </a:p>
        </p:txBody>
      </p:sp>
      <p:pic>
        <p:nvPicPr>
          <p:cNvPr id="8" name="object 8"/>
          <p:cNvPicPr/>
          <p:nvPr/>
        </p:nvPicPr>
        <p:blipFill>
          <a:blip r:embed="rId5" cstate="print"/>
          <a:stretch>
            <a:fillRect/>
          </a:stretch>
        </p:blipFill>
        <p:spPr>
          <a:xfrm>
            <a:off x="5504174" y="2766431"/>
            <a:ext cx="166914" cy="163086"/>
          </a:xfrm>
          <a:prstGeom prst="rect">
            <a:avLst/>
          </a:prstGeom>
        </p:spPr>
      </p:pic>
      <p:pic>
        <p:nvPicPr>
          <p:cNvPr id="9" name="object 9"/>
          <p:cNvPicPr/>
          <p:nvPr/>
        </p:nvPicPr>
        <p:blipFill>
          <a:blip r:embed="rId6" cstate="print"/>
          <a:stretch>
            <a:fillRect/>
          </a:stretch>
        </p:blipFill>
        <p:spPr>
          <a:xfrm>
            <a:off x="5504174" y="4250788"/>
            <a:ext cx="166914" cy="162361"/>
          </a:xfrm>
          <a:prstGeom prst="rect">
            <a:avLst/>
          </a:prstGeom>
        </p:spPr>
      </p:pic>
      <p:sp>
        <p:nvSpPr>
          <p:cNvPr id="10" name="object 10"/>
          <p:cNvSpPr txBox="1">
            <a:spLocks noGrp="1"/>
          </p:cNvSpPr>
          <p:nvPr>
            <p:ph type="ftr" sz="quarter" idx="5"/>
          </p:nvPr>
        </p:nvSpPr>
        <p:spPr>
          <a:prstGeom prst="rect">
            <a:avLst/>
          </a:prstGeom>
        </p:spPr>
        <p:txBody>
          <a:bodyPr vert="horz" wrap="square" lIns="0" tIns="23495" rIns="0" bIns="0" rtlCol="0">
            <a:spAutoFit/>
          </a:bodyPr>
          <a:lstStyle/>
          <a:p>
            <a:pPr marL="13335">
              <a:lnSpc>
                <a:spcPct val="100000"/>
              </a:lnSpc>
              <a:spcBef>
                <a:spcPts val="185"/>
              </a:spcBef>
            </a:pPr>
            <a:r>
              <a:rPr dirty="0"/>
              <a:t>Xilinx</a:t>
            </a:r>
            <a:r>
              <a:rPr spc="-5" dirty="0"/>
              <a:t> 大学合作部 </a:t>
            </a:r>
            <a:r>
              <a:rPr dirty="0"/>
              <a:t>&amp;</a:t>
            </a:r>
            <a:r>
              <a:rPr spc="-10" dirty="0"/>
              <a:t> 东南大学</a:t>
            </a:r>
          </a:p>
        </p:txBody>
      </p:sp>
      <p:sp>
        <p:nvSpPr>
          <p:cNvPr id="11" name="object 11"/>
          <p:cNvSpPr txBox="1">
            <a:spLocks noGrp="1"/>
          </p:cNvSpPr>
          <p:nvPr>
            <p:ph type="sldNum" sz="quarter" idx="7"/>
          </p:nvPr>
        </p:nvSpPr>
        <p:spPr>
          <a:prstGeom prst="rect">
            <a:avLst/>
          </a:prstGeom>
        </p:spPr>
        <p:txBody>
          <a:bodyPr vert="horz" wrap="square" lIns="0" tIns="4445" rIns="0" bIns="0" rtlCol="0">
            <a:spAutoFit/>
          </a:bodyPr>
          <a:lstStyle/>
          <a:p>
            <a:pPr marL="38735">
              <a:lnSpc>
                <a:spcPct val="100000"/>
              </a:lnSpc>
              <a:spcBef>
                <a:spcPts val="35"/>
              </a:spcBef>
            </a:pPr>
            <a:fld id="{81D60167-4931-47E6-BA6A-407CBD079E47}" type="slidenum">
              <a:rPr spc="-25" dirty="0"/>
              <a:t>18</a:t>
            </a:fld>
            <a:endParaRPr spc="-25" dirty="0"/>
          </a:p>
        </p:txBody>
      </p:sp>
      <p:sp>
        <p:nvSpPr>
          <p:cNvPr id="12" name="object 3">
            <a:extLst>
              <a:ext uri="{FF2B5EF4-FFF2-40B4-BE49-F238E27FC236}">
                <a16:creationId xmlns:a16="http://schemas.microsoft.com/office/drawing/2014/main" id="{7D365411-89D1-5F83-90CA-2C1F76B17670}"/>
              </a:ext>
            </a:extLst>
          </p:cNvPr>
          <p:cNvSpPr txBox="1">
            <a:spLocks/>
          </p:cNvSpPr>
          <p:nvPr/>
        </p:nvSpPr>
        <p:spPr>
          <a:xfrm>
            <a:off x="241300" y="200025"/>
            <a:ext cx="7288905" cy="524503"/>
          </a:xfrm>
          <a:prstGeom prst="rect">
            <a:avLst/>
          </a:prstGeom>
        </p:spPr>
        <p:txBody>
          <a:bodyPr vert="horz" wrap="square" lIns="0" tIns="16510" rIns="0" bIns="0" rtlCol="0">
            <a:spAutoFit/>
          </a:bodyPr>
          <a:lstStyle>
            <a:lvl1pPr>
              <a:defRPr sz="2800" b="0" i="0">
                <a:solidFill>
                  <a:srgbClr val="3F3F3F"/>
                </a:solidFill>
                <a:latin typeface="Calibri"/>
                <a:ea typeface="+mj-ea"/>
                <a:cs typeface="Calibri"/>
              </a:defRPr>
            </a:lvl1pPr>
          </a:lstStyle>
          <a:p>
            <a:pPr marL="12700">
              <a:spcBef>
                <a:spcPts val="130"/>
              </a:spcBef>
            </a:pPr>
            <a:r>
              <a:rPr lang="zh-CN" altLang="en-US" sz="3300" b="1" spc="-15" dirty="0">
                <a:solidFill>
                  <a:srgbClr val="000000"/>
                </a:solidFill>
                <a:latin typeface="宋体"/>
                <a:cs typeface="宋体"/>
              </a:rPr>
              <a:t>数字声明</a:t>
            </a:r>
            <a:endParaRPr lang="zh-CN" altLang="en-US" sz="3300" dirty="0">
              <a:latin typeface="宋体"/>
              <a:cs typeface="宋体"/>
            </a:endParaRPr>
          </a:p>
        </p:txBody>
      </p:sp>
      <p:sp>
        <p:nvSpPr>
          <p:cNvPr id="13" name="object 2">
            <a:extLst>
              <a:ext uri="{FF2B5EF4-FFF2-40B4-BE49-F238E27FC236}">
                <a16:creationId xmlns:a16="http://schemas.microsoft.com/office/drawing/2014/main" id="{674E60D7-1FBF-D085-E7DD-D7E05BF9FA82}"/>
              </a:ext>
            </a:extLst>
          </p:cNvPr>
          <p:cNvSpPr txBox="1">
            <a:spLocks/>
          </p:cNvSpPr>
          <p:nvPr/>
        </p:nvSpPr>
        <p:spPr>
          <a:xfrm>
            <a:off x="317500" y="5386480"/>
            <a:ext cx="6781800" cy="444352"/>
          </a:xfrm>
          <a:prstGeom prst="rect">
            <a:avLst/>
          </a:prstGeom>
        </p:spPr>
        <p:txBody>
          <a:bodyPr vert="horz" wrap="square" lIns="0" tIns="13335" rIns="0" bIns="0" rtlCol="0">
            <a:spAutoFit/>
          </a:bodyPr>
          <a:lstStyle>
            <a:lvl1pPr>
              <a:defRPr sz="2800" b="0" i="0">
                <a:solidFill>
                  <a:srgbClr val="3F3F3F"/>
                </a:solidFill>
                <a:latin typeface="Calibri"/>
                <a:ea typeface="+mj-ea"/>
                <a:cs typeface="Calibri"/>
              </a:defRPr>
            </a:lvl1pPr>
          </a:lstStyle>
          <a:p>
            <a:pPr marL="12700">
              <a:spcBef>
                <a:spcPts val="105"/>
              </a:spcBef>
            </a:pPr>
            <a:r>
              <a:rPr lang="zh-CN" altLang="en-US" b="1" spc="-260" dirty="0">
                <a:latin typeface="宋体"/>
                <a:cs typeface="宋体"/>
              </a:rPr>
              <a:t>实数型常量</a:t>
            </a:r>
            <a:r>
              <a:rPr lang="en-US" altLang="zh-CN" b="1" spc="-260" dirty="0">
                <a:latin typeface="宋体"/>
                <a:cs typeface="宋体"/>
              </a:rPr>
              <a:t>——</a:t>
            </a:r>
            <a:r>
              <a:rPr lang="zh-CN" altLang="en-US" b="1" spc="-260" dirty="0">
                <a:latin typeface="宋体"/>
                <a:cs typeface="宋体"/>
              </a:rPr>
              <a:t>十进制或科学计数法表示</a:t>
            </a:r>
            <a:endParaRPr lang="zh-CN" altLang="en-US" b="1" spc="-10" dirty="0"/>
          </a:p>
        </p:txBody>
      </p:sp>
      <p:sp>
        <p:nvSpPr>
          <p:cNvPr id="14" name="Rectangle 3" descr="Rectangle: Click to edit Master text styles&#10;Second level&#10;Third level&#10;Fourth level&#10;Fifth level">
            <a:extLst>
              <a:ext uri="{FF2B5EF4-FFF2-40B4-BE49-F238E27FC236}">
                <a16:creationId xmlns:a16="http://schemas.microsoft.com/office/drawing/2014/main" id="{50FE5F88-9D3E-9308-D362-633FAEFFB0F3}"/>
              </a:ext>
            </a:extLst>
          </p:cNvPr>
          <p:cNvSpPr txBox="1">
            <a:spLocks/>
          </p:cNvSpPr>
          <p:nvPr/>
        </p:nvSpPr>
        <p:spPr>
          <a:xfrm>
            <a:off x="1384300" y="5830832"/>
            <a:ext cx="9546348" cy="467436"/>
          </a:xfrm>
          <a:prstGeom prst="rect">
            <a:avLst/>
          </a:prstGeom>
        </p:spPr>
        <p:txBody>
          <a:bodyPr wrap="square" lIns="0" tIns="0" rIns="0" bIns="0" anchor="t">
            <a:spAutoFit/>
          </a:bodyPr>
          <a:lstStyle>
            <a:lvl1pPr marL="0">
              <a:defRPr sz="2100" b="0" i="0">
                <a:solidFill>
                  <a:schemeClr val="tx1"/>
                </a:solidFill>
                <a:latin typeface="宋体"/>
                <a:ea typeface="+mn-ea"/>
                <a:cs typeface="宋体"/>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lvl="1" algn="l" defTabSz="1008400" rtl="0" eaLnBrk="0" fontAlgn="base" hangingPunct="0">
              <a:lnSpc>
                <a:spcPct val="150000"/>
              </a:lnSpc>
              <a:buClr>
                <a:schemeClr val="tx1"/>
              </a:buClr>
              <a:buSzPct val="75000"/>
            </a:pPr>
            <a:r>
              <a:rPr kumimoji="1" lang="zh-CN" altLang="en-US" sz="2400" b="1" dirty="0">
                <a:solidFill>
                  <a:srgbClr val="002060"/>
                </a:solidFill>
                <a:latin typeface="+mn-ea"/>
                <a:sym typeface="+mn-ea"/>
              </a:rPr>
              <a:t>存储在特殊的寄存器数据类型</a:t>
            </a:r>
            <a:r>
              <a:rPr kumimoji="1" lang="en-US" altLang="zh-CN" sz="2400" b="1" dirty="0">
                <a:solidFill>
                  <a:srgbClr val="C00000"/>
                </a:solidFill>
                <a:latin typeface="+mn-ea"/>
                <a:sym typeface="+mn-ea"/>
              </a:rPr>
              <a:t>real</a:t>
            </a:r>
            <a:r>
              <a:rPr kumimoji="1" lang="zh-CN" altLang="en-US" sz="2400" b="1" dirty="0">
                <a:solidFill>
                  <a:srgbClr val="002060"/>
                </a:solidFill>
                <a:latin typeface="+mn-ea"/>
                <a:sym typeface="+mn-ea"/>
              </a:rPr>
              <a:t>中</a:t>
            </a:r>
            <a:endParaRPr kumimoji="1" lang="zh-CN" altLang="en-US" sz="2400" b="1" noProof="1">
              <a:solidFill>
                <a:srgbClr val="002060"/>
              </a:solidFill>
              <a:latin typeface="+mn-ea"/>
              <a:cs typeface="+mn-cs"/>
            </a:endParaRPr>
          </a:p>
        </p:txBody>
      </p:sp>
      <p:pic>
        <p:nvPicPr>
          <p:cNvPr id="15" name="object 5">
            <a:extLst>
              <a:ext uri="{FF2B5EF4-FFF2-40B4-BE49-F238E27FC236}">
                <a16:creationId xmlns:a16="http://schemas.microsoft.com/office/drawing/2014/main" id="{D37165C3-5E8F-8041-0550-39F13AD9AD8B}"/>
              </a:ext>
            </a:extLst>
          </p:cNvPr>
          <p:cNvPicPr/>
          <p:nvPr/>
        </p:nvPicPr>
        <p:blipFill>
          <a:blip r:embed="rId3" cstate="print"/>
          <a:stretch>
            <a:fillRect/>
          </a:stretch>
        </p:blipFill>
        <p:spPr>
          <a:xfrm>
            <a:off x="1079500" y="6064550"/>
            <a:ext cx="162412" cy="162741"/>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bject 4"/>
          <p:cNvPicPr/>
          <p:nvPr/>
        </p:nvPicPr>
        <p:blipFill>
          <a:blip r:embed="rId2" cstate="print"/>
          <a:stretch>
            <a:fillRect/>
          </a:stretch>
        </p:blipFill>
        <p:spPr>
          <a:xfrm>
            <a:off x="2603500" y="1518555"/>
            <a:ext cx="4412741" cy="443483"/>
          </a:xfrm>
          <a:prstGeom prst="rect">
            <a:avLst/>
          </a:prstGeom>
        </p:spPr>
      </p:pic>
      <p:pic>
        <p:nvPicPr>
          <p:cNvPr id="5" name="object 5"/>
          <p:cNvPicPr/>
          <p:nvPr/>
        </p:nvPicPr>
        <p:blipFill>
          <a:blip r:embed="rId3" cstate="print"/>
          <a:stretch>
            <a:fillRect/>
          </a:stretch>
        </p:blipFill>
        <p:spPr>
          <a:xfrm>
            <a:off x="1005204" y="2155200"/>
            <a:ext cx="7609331" cy="2208276"/>
          </a:xfrm>
          <a:prstGeom prst="rect">
            <a:avLst/>
          </a:prstGeom>
        </p:spPr>
      </p:pic>
      <p:sp>
        <p:nvSpPr>
          <p:cNvPr id="6" name="object 6"/>
          <p:cNvSpPr txBox="1"/>
          <p:nvPr/>
        </p:nvSpPr>
        <p:spPr>
          <a:xfrm>
            <a:off x="8029327" y="6508039"/>
            <a:ext cx="2454910" cy="260985"/>
          </a:xfrm>
          <a:prstGeom prst="rect">
            <a:avLst/>
          </a:prstGeom>
        </p:spPr>
        <p:txBody>
          <a:bodyPr vert="horz" wrap="square" lIns="0" tIns="23495" rIns="0" bIns="0" rtlCol="0">
            <a:spAutoFit/>
          </a:bodyPr>
          <a:lstStyle/>
          <a:p>
            <a:pPr marL="12700">
              <a:lnSpc>
                <a:spcPct val="100000"/>
              </a:lnSpc>
              <a:spcBef>
                <a:spcPts val="185"/>
              </a:spcBef>
            </a:pPr>
            <a:r>
              <a:rPr sz="1400" b="1" dirty="0">
                <a:solidFill>
                  <a:srgbClr val="3F3F3F"/>
                </a:solidFill>
                <a:latin typeface="微软雅黑"/>
                <a:cs typeface="微软雅黑"/>
              </a:rPr>
              <a:t>Xilinx</a:t>
            </a:r>
            <a:r>
              <a:rPr sz="1400" b="1" spc="-5" dirty="0">
                <a:solidFill>
                  <a:srgbClr val="3F3F3F"/>
                </a:solidFill>
                <a:latin typeface="微软雅黑"/>
                <a:cs typeface="微软雅黑"/>
              </a:rPr>
              <a:t> 大学合作部 </a:t>
            </a:r>
            <a:r>
              <a:rPr sz="1400" b="1" dirty="0">
                <a:solidFill>
                  <a:srgbClr val="3F3F3F"/>
                </a:solidFill>
                <a:latin typeface="微软雅黑"/>
                <a:cs typeface="微软雅黑"/>
              </a:rPr>
              <a:t>&amp;</a:t>
            </a:r>
            <a:r>
              <a:rPr sz="1400" b="1" spc="-10" dirty="0">
                <a:solidFill>
                  <a:srgbClr val="3F3F3F"/>
                </a:solidFill>
                <a:latin typeface="微软雅黑"/>
                <a:cs typeface="微软雅黑"/>
              </a:rPr>
              <a:t> 东南大学</a:t>
            </a:r>
            <a:endParaRPr sz="1400">
              <a:latin typeface="微软雅黑"/>
              <a:cs typeface="微软雅黑"/>
            </a:endParaRPr>
          </a:p>
        </p:txBody>
      </p:sp>
      <p:sp>
        <p:nvSpPr>
          <p:cNvPr id="7" name="object 3">
            <a:extLst>
              <a:ext uri="{FF2B5EF4-FFF2-40B4-BE49-F238E27FC236}">
                <a16:creationId xmlns:a16="http://schemas.microsoft.com/office/drawing/2014/main" id="{9C65BDBF-A429-7139-71F2-784FD3B98938}"/>
              </a:ext>
            </a:extLst>
          </p:cNvPr>
          <p:cNvSpPr txBox="1">
            <a:spLocks/>
          </p:cNvSpPr>
          <p:nvPr/>
        </p:nvSpPr>
        <p:spPr>
          <a:xfrm>
            <a:off x="241300" y="200025"/>
            <a:ext cx="7288905" cy="524503"/>
          </a:xfrm>
          <a:prstGeom prst="rect">
            <a:avLst/>
          </a:prstGeom>
        </p:spPr>
        <p:txBody>
          <a:bodyPr vert="horz" wrap="square" lIns="0" tIns="16510" rIns="0" bIns="0" rtlCol="0">
            <a:spAutoFit/>
          </a:bodyPr>
          <a:lstStyle>
            <a:lvl1pPr>
              <a:defRPr sz="2800" b="0" i="0">
                <a:solidFill>
                  <a:srgbClr val="3F3F3F"/>
                </a:solidFill>
                <a:latin typeface="Calibri"/>
                <a:ea typeface="+mj-ea"/>
                <a:cs typeface="Calibri"/>
              </a:defRPr>
            </a:lvl1pPr>
          </a:lstStyle>
          <a:p>
            <a:pPr marL="12700">
              <a:spcBef>
                <a:spcPts val="130"/>
              </a:spcBef>
            </a:pPr>
            <a:r>
              <a:rPr lang="zh-CN" altLang="en-US" sz="3300" b="1" spc="-15" dirty="0">
                <a:solidFill>
                  <a:srgbClr val="000000"/>
                </a:solidFill>
                <a:latin typeface="宋体"/>
                <a:cs typeface="宋体"/>
              </a:rPr>
              <a:t>数字声明示例</a:t>
            </a:r>
            <a:endParaRPr lang="zh-CN" altLang="en-US" sz="3300" dirty="0">
              <a:latin typeface="宋体"/>
              <a:cs typeface="宋体"/>
            </a:endParaRPr>
          </a:p>
        </p:txBody>
      </p:sp>
      <p:sp>
        <p:nvSpPr>
          <p:cNvPr id="8" name="object 2">
            <a:extLst>
              <a:ext uri="{FF2B5EF4-FFF2-40B4-BE49-F238E27FC236}">
                <a16:creationId xmlns:a16="http://schemas.microsoft.com/office/drawing/2014/main" id="{DE0A1B3B-C3B4-D617-7CD8-4DEF39D9150A}"/>
              </a:ext>
            </a:extLst>
          </p:cNvPr>
          <p:cNvSpPr txBox="1"/>
          <p:nvPr/>
        </p:nvSpPr>
        <p:spPr>
          <a:xfrm>
            <a:off x="694199" y="4784873"/>
            <a:ext cx="1177925" cy="444352"/>
          </a:xfrm>
          <a:prstGeom prst="rect">
            <a:avLst/>
          </a:prstGeom>
        </p:spPr>
        <p:txBody>
          <a:bodyPr vert="horz" wrap="square" lIns="0" tIns="13335" rIns="0" bIns="0" rtlCol="0">
            <a:spAutoFit/>
          </a:bodyPr>
          <a:lstStyle/>
          <a:p>
            <a:pPr marL="12700">
              <a:lnSpc>
                <a:spcPct val="100000"/>
              </a:lnSpc>
            </a:pPr>
            <a:r>
              <a:rPr sz="2800" b="1" spc="-260" dirty="0">
                <a:solidFill>
                  <a:srgbClr val="3F3F3F"/>
                </a:solidFill>
                <a:latin typeface="宋体"/>
                <a:ea typeface="+mj-ea"/>
              </a:rPr>
              <a:t>2、实数</a:t>
            </a:r>
          </a:p>
        </p:txBody>
      </p:sp>
      <p:pic>
        <p:nvPicPr>
          <p:cNvPr id="9" name="object 3">
            <a:extLst>
              <a:ext uri="{FF2B5EF4-FFF2-40B4-BE49-F238E27FC236}">
                <a16:creationId xmlns:a16="http://schemas.microsoft.com/office/drawing/2014/main" id="{D3AD3D09-486B-EEDE-39AA-FBABFE85D940}"/>
              </a:ext>
            </a:extLst>
          </p:cNvPr>
          <p:cNvPicPr/>
          <p:nvPr/>
        </p:nvPicPr>
        <p:blipFill>
          <a:blip r:embed="rId4" cstate="print"/>
          <a:stretch>
            <a:fillRect/>
          </a:stretch>
        </p:blipFill>
        <p:spPr>
          <a:xfrm>
            <a:off x="1722245" y="5620649"/>
            <a:ext cx="6175247" cy="599694"/>
          </a:xfrm>
          <a:prstGeom prst="rect">
            <a:avLst/>
          </a:prstGeom>
        </p:spPr>
      </p:pic>
      <p:sp>
        <p:nvSpPr>
          <p:cNvPr id="12" name="object 2">
            <a:extLst>
              <a:ext uri="{FF2B5EF4-FFF2-40B4-BE49-F238E27FC236}">
                <a16:creationId xmlns:a16="http://schemas.microsoft.com/office/drawing/2014/main" id="{4F7D5138-C8BD-2F59-AD10-54F69A3EF3D8}"/>
              </a:ext>
            </a:extLst>
          </p:cNvPr>
          <p:cNvSpPr txBox="1"/>
          <p:nvPr/>
        </p:nvSpPr>
        <p:spPr>
          <a:xfrm>
            <a:off x="694200" y="1042657"/>
            <a:ext cx="1177925" cy="444352"/>
          </a:xfrm>
          <a:prstGeom prst="rect">
            <a:avLst/>
          </a:prstGeom>
        </p:spPr>
        <p:txBody>
          <a:bodyPr vert="horz" wrap="square" lIns="0" tIns="13335" rIns="0" bIns="0" rtlCol="0">
            <a:spAutoFit/>
          </a:bodyPr>
          <a:lstStyle/>
          <a:p>
            <a:pPr marL="12700">
              <a:lnSpc>
                <a:spcPct val="100000"/>
              </a:lnSpc>
            </a:pPr>
            <a:r>
              <a:rPr lang="en-US" sz="2800" b="1" spc="-260" dirty="0">
                <a:solidFill>
                  <a:srgbClr val="3F3F3F"/>
                </a:solidFill>
                <a:latin typeface="宋体"/>
                <a:ea typeface="+mj-ea"/>
              </a:rPr>
              <a:t>1</a:t>
            </a:r>
            <a:r>
              <a:rPr sz="2800" b="1" spc="-260" dirty="0">
                <a:solidFill>
                  <a:srgbClr val="3F3F3F"/>
                </a:solidFill>
                <a:latin typeface="宋体"/>
                <a:ea typeface="+mj-ea"/>
              </a:rPr>
              <a:t>、</a:t>
            </a:r>
            <a:r>
              <a:rPr lang="zh-CN" altLang="en-US" sz="2800" b="1" spc="-260" dirty="0">
                <a:solidFill>
                  <a:srgbClr val="3F3F3F"/>
                </a:solidFill>
                <a:latin typeface="宋体"/>
                <a:ea typeface="+mj-ea"/>
              </a:rPr>
              <a:t>整</a:t>
            </a:r>
            <a:r>
              <a:rPr sz="2800" b="1" spc="-260" dirty="0">
                <a:solidFill>
                  <a:srgbClr val="3F3F3F"/>
                </a:solidFill>
                <a:latin typeface="宋体"/>
                <a:ea typeface="+mj-ea"/>
              </a:rPr>
              <a:t>数</a:t>
            </a:r>
          </a:p>
        </p:txBody>
      </p:sp>
      <p:pic>
        <p:nvPicPr>
          <p:cNvPr id="3" name="object 5">
            <a:extLst>
              <a:ext uri="{FF2B5EF4-FFF2-40B4-BE49-F238E27FC236}">
                <a16:creationId xmlns:a16="http://schemas.microsoft.com/office/drawing/2014/main" id="{99EBBADF-B1AD-CEAE-4850-DF14F7A0B253}"/>
              </a:ext>
            </a:extLst>
          </p:cNvPr>
          <p:cNvPicPr/>
          <p:nvPr/>
        </p:nvPicPr>
        <p:blipFill>
          <a:blip r:embed="rId3" cstate="print"/>
          <a:srcRect t="68465" r="96996" b="19717"/>
          <a:stretch>
            <a:fillRect/>
          </a:stretch>
        </p:blipFill>
        <p:spPr>
          <a:xfrm>
            <a:off x="4474245" y="3659321"/>
            <a:ext cx="228600" cy="260985"/>
          </a:xfrm>
          <a:prstGeom prst="rect">
            <a:avLst/>
          </a:prstGeom>
        </p:spPr>
      </p:pic>
      <p:pic>
        <p:nvPicPr>
          <p:cNvPr id="11" name="object 5">
            <a:extLst>
              <a:ext uri="{FF2B5EF4-FFF2-40B4-BE49-F238E27FC236}">
                <a16:creationId xmlns:a16="http://schemas.microsoft.com/office/drawing/2014/main" id="{39B83609-C8A8-B125-FF41-B70B5765742B}"/>
              </a:ext>
            </a:extLst>
          </p:cNvPr>
          <p:cNvPicPr/>
          <p:nvPr/>
        </p:nvPicPr>
        <p:blipFill>
          <a:blip r:embed="rId3" cstate="print"/>
          <a:srcRect l="173" t="87573" r="96996" b="2076"/>
          <a:stretch>
            <a:fillRect/>
          </a:stretch>
        </p:blipFill>
        <p:spPr>
          <a:xfrm>
            <a:off x="4170144" y="4086225"/>
            <a:ext cx="215452" cy="228601"/>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object 5"/>
          <p:cNvPicPr/>
          <p:nvPr/>
        </p:nvPicPr>
        <p:blipFill>
          <a:blip r:embed="rId2" cstate="print"/>
          <a:stretch>
            <a:fillRect/>
          </a:stretch>
        </p:blipFill>
        <p:spPr>
          <a:xfrm>
            <a:off x="1536700" y="4900890"/>
            <a:ext cx="7467600" cy="328336"/>
          </a:xfrm>
          <a:prstGeom prst="rect">
            <a:avLst/>
          </a:prstGeom>
        </p:spPr>
      </p:pic>
      <p:pic>
        <p:nvPicPr>
          <p:cNvPr id="6" name="object 6"/>
          <p:cNvPicPr/>
          <p:nvPr/>
        </p:nvPicPr>
        <p:blipFill>
          <a:blip r:embed="rId3" cstate="print"/>
          <a:stretch>
            <a:fillRect/>
          </a:stretch>
        </p:blipFill>
        <p:spPr>
          <a:xfrm>
            <a:off x="1621288" y="5476672"/>
            <a:ext cx="6849611" cy="260985"/>
          </a:xfrm>
          <a:prstGeom prst="rect">
            <a:avLst/>
          </a:prstGeom>
        </p:spPr>
      </p:pic>
      <p:sp>
        <p:nvSpPr>
          <p:cNvPr id="7" name="object 7"/>
          <p:cNvSpPr txBox="1"/>
          <p:nvPr/>
        </p:nvSpPr>
        <p:spPr>
          <a:xfrm>
            <a:off x="8029327" y="6508039"/>
            <a:ext cx="2454910" cy="260985"/>
          </a:xfrm>
          <a:prstGeom prst="rect">
            <a:avLst/>
          </a:prstGeom>
        </p:spPr>
        <p:txBody>
          <a:bodyPr vert="horz" wrap="square" lIns="0" tIns="23495" rIns="0" bIns="0" rtlCol="0">
            <a:spAutoFit/>
          </a:bodyPr>
          <a:lstStyle/>
          <a:p>
            <a:pPr marL="12700">
              <a:lnSpc>
                <a:spcPct val="100000"/>
              </a:lnSpc>
              <a:spcBef>
                <a:spcPts val="185"/>
              </a:spcBef>
            </a:pPr>
            <a:r>
              <a:rPr sz="1400" b="1" dirty="0">
                <a:solidFill>
                  <a:srgbClr val="3F3F3F"/>
                </a:solidFill>
                <a:latin typeface="微软雅黑"/>
                <a:cs typeface="微软雅黑"/>
              </a:rPr>
              <a:t>Xilinx</a:t>
            </a:r>
            <a:r>
              <a:rPr sz="1400" b="1" spc="-5" dirty="0">
                <a:solidFill>
                  <a:srgbClr val="3F3F3F"/>
                </a:solidFill>
                <a:latin typeface="微软雅黑"/>
                <a:cs typeface="微软雅黑"/>
              </a:rPr>
              <a:t> 大学合作部 </a:t>
            </a:r>
            <a:r>
              <a:rPr sz="1400" b="1" dirty="0">
                <a:solidFill>
                  <a:srgbClr val="3F3F3F"/>
                </a:solidFill>
                <a:latin typeface="微软雅黑"/>
                <a:cs typeface="微软雅黑"/>
              </a:rPr>
              <a:t>&amp;</a:t>
            </a:r>
            <a:r>
              <a:rPr sz="1400" b="1" spc="-10" dirty="0">
                <a:solidFill>
                  <a:srgbClr val="3F3F3F"/>
                </a:solidFill>
                <a:latin typeface="微软雅黑"/>
                <a:cs typeface="微软雅黑"/>
              </a:rPr>
              <a:t> 东南大学</a:t>
            </a:r>
            <a:endParaRPr sz="1400">
              <a:latin typeface="微软雅黑"/>
              <a:cs typeface="微软雅黑"/>
            </a:endParaRPr>
          </a:p>
        </p:txBody>
      </p:sp>
      <p:sp>
        <p:nvSpPr>
          <p:cNvPr id="8" name="object 3">
            <a:extLst>
              <a:ext uri="{FF2B5EF4-FFF2-40B4-BE49-F238E27FC236}">
                <a16:creationId xmlns:a16="http://schemas.microsoft.com/office/drawing/2014/main" id="{9DDD1607-7A9D-1CFD-1D16-A19AC4013A61}"/>
              </a:ext>
            </a:extLst>
          </p:cNvPr>
          <p:cNvSpPr txBox="1">
            <a:spLocks/>
          </p:cNvSpPr>
          <p:nvPr/>
        </p:nvSpPr>
        <p:spPr>
          <a:xfrm>
            <a:off x="241300" y="200025"/>
            <a:ext cx="7288905" cy="524503"/>
          </a:xfrm>
          <a:prstGeom prst="rect">
            <a:avLst/>
          </a:prstGeom>
        </p:spPr>
        <p:txBody>
          <a:bodyPr vert="horz" wrap="square" lIns="0" tIns="16510" rIns="0" bIns="0" rtlCol="0">
            <a:spAutoFit/>
          </a:bodyPr>
          <a:lstStyle>
            <a:lvl1pPr>
              <a:defRPr sz="2800" b="0" i="0">
                <a:solidFill>
                  <a:srgbClr val="3F3F3F"/>
                </a:solidFill>
                <a:latin typeface="Calibri"/>
                <a:ea typeface="+mj-ea"/>
                <a:cs typeface="Calibri"/>
              </a:defRPr>
            </a:lvl1pPr>
          </a:lstStyle>
          <a:p>
            <a:pPr marL="12700">
              <a:spcBef>
                <a:spcPts val="130"/>
              </a:spcBef>
            </a:pPr>
            <a:r>
              <a:rPr lang="zh-CN" altLang="en-US" sz="3300" b="1" spc="-15" dirty="0">
                <a:solidFill>
                  <a:srgbClr val="000000"/>
                </a:solidFill>
                <a:latin typeface="宋体"/>
                <a:cs typeface="宋体"/>
              </a:rPr>
              <a:t>字符串</a:t>
            </a:r>
            <a:endParaRPr lang="zh-CN" altLang="en-US" sz="3300" dirty="0">
              <a:latin typeface="宋体"/>
              <a:cs typeface="宋体"/>
            </a:endParaRPr>
          </a:p>
        </p:txBody>
      </p:sp>
      <p:sp>
        <p:nvSpPr>
          <p:cNvPr id="9" name="Rectangle 3" descr="Rectangle: Click to edit Master text styles&#10;Second level&#10;Third level&#10;Fourth level&#10;Fifth level">
            <a:extLst>
              <a:ext uri="{FF2B5EF4-FFF2-40B4-BE49-F238E27FC236}">
                <a16:creationId xmlns:a16="http://schemas.microsoft.com/office/drawing/2014/main" id="{21692798-A65C-8176-9120-02E3641E811B}"/>
              </a:ext>
            </a:extLst>
          </p:cNvPr>
          <p:cNvSpPr txBox="1">
            <a:spLocks/>
          </p:cNvSpPr>
          <p:nvPr/>
        </p:nvSpPr>
        <p:spPr>
          <a:xfrm>
            <a:off x="774700" y="1038225"/>
            <a:ext cx="9546348" cy="2672461"/>
          </a:xfrm>
          <a:prstGeom prst="rect">
            <a:avLst/>
          </a:prstGeom>
        </p:spPr>
        <p:txBody>
          <a:bodyPr anchor="t"/>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lvl="1" algn="l" defTabSz="1008400" rtl="0" eaLnBrk="0" fontAlgn="base" hangingPunct="0">
              <a:lnSpc>
                <a:spcPct val="150000"/>
              </a:lnSpc>
              <a:buClr>
                <a:schemeClr val="tx1"/>
              </a:buClr>
              <a:buSzPct val="75000"/>
            </a:pPr>
            <a:r>
              <a:rPr kumimoji="1" lang="zh-CN" altLang="en-US" sz="2800" b="1" noProof="1">
                <a:solidFill>
                  <a:srgbClr val="002060"/>
                </a:solidFill>
                <a:latin typeface="+mn-ea"/>
              </a:rPr>
              <a:t>由双引号括起来的字符队列，必须在一行中书写完；</a:t>
            </a:r>
            <a:endParaRPr kumimoji="1" lang="en-US" altLang="zh-CN" sz="2800" b="1" noProof="1">
              <a:solidFill>
                <a:srgbClr val="002060"/>
              </a:solidFill>
              <a:latin typeface="+mn-ea"/>
            </a:endParaRPr>
          </a:p>
          <a:p>
            <a:pPr marL="0" lvl="1" algn="l" defTabSz="1008400" rtl="0" eaLnBrk="0" fontAlgn="base" hangingPunct="0">
              <a:lnSpc>
                <a:spcPct val="150000"/>
              </a:lnSpc>
              <a:buClr>
                <a:schemeClr val="tx1"/>
              </a:buClr>
              <a:buSzPct val="75000"/>
            </a:pPr>
            <a:r>
              <a:rPr kumimoji="1" lang="en-US" altLang="zh-CN" sz="2800" b="1" noProof="1">
                <a:solidFill>
                  <a:srgbClr val="002060"/>
                </a:solidFill>
                <a:latin typeface="+mn-ea"/>
              </a:rPr>
              <a:t>verilog</a:t>
            </a:r>
            <a:r>
              <a:rPr kumimoji="1" lang="zh-CN" altLang="en-US" sz="2800" b="1" noProof="1">
                <a:solidFill>
                  <a:srgbClr val="002060"/>
                </a:solidFill>
                <a:latin typeface="+mn-ea"/>
              </a:rPr>
              <a:t>将字符串当成单字节</a:t>
            </a:r>
            <a:r>
              <a:rPr kumimoji="1" lang="en-US" altLang="zh-CN" sz="2800" b="1" noProof="1">
                <a:solidFill>
                  <a:srgbClr val="002060"/>
                </a:solidFill>
                <a:latin typeface="+mn-ea"/>
              </a:rPr>
              <a:t>ASCII</a:t>
            </a:r>
            <a:r>
              <a:rPr kumimoji="1" lang="zh-CN" altLang="en-US" sz="2800" b="1" noProof="1">
                <a:solidFill>
                  <a:srgbClr val="002060"/>
                </a:solidFill>
                <a:latin typeface="+mn-ea"/>
              </a:rPr>
              <a:t>字符构成的队列，每个字符对应一个</a:t>
            </a:r>
            <a:r>
              <a:rPr kumimoji="1" lang="en-US" altLang="zh-CN" sz="2800" b="1" noProof="1">
                <a:solidFill>
                  <a:srgbClr val="002060"/>
                </a:solidFill>
                <a:latin typeface="+mn-ea"/>
              </a:rPr>
              <a:t>8</a:t>
            </a:r>
            <a:r>
              <a:rPr kumimoji="1" lang="zh-CN" altLang="en-US" sz="2800" b="1" noProof="1">
                <a:solidFill>
                  <a:srgbClr val="002060"/>
                </a:solidFill>
                <a:latin typeface="+mn-ea"/>
              </a:rPr>
              <a:t>位</a:t>
            </a:r>
            <a:r>
              <a:rPr kumimoji="1" lang="en-US" altLang="zh-CN" sz="2800" b="1" noProof="1">
                <a:solidFill>
                  <a:srgbClr val="002060"/>
                </a:solidFill>
                <a:latin typeface="+mn-ea"/>
              </a:rPr>
              <a:t>ASCII</a:t>
            </a:r>
            <a:r>
              <a:rPr kumimoji="1" lang="zh-CN" altLang="en-US" sz="2800" b="1" noProof="1">
                <a:solidFill>
                  <a:srgbClr val="002060"/>
                </a:solidFill>
                <a:latin typeface="+mn-ea"/>
              </a:rPr>
              <a:t>码；用</a:t>
            </a:r>
            <a:r>
              <a:rPr kumimoji="1" lang="en-US" altLang="zh-CN" sz="2800" b="1" noProof="1">
                <a:solidFill>
                  <a:srgbClr val="002060"/>
                </a:solidFill>
                <a:latin typeface="+mn-ea"/>
              </a:rPr>
              <a:t>reg</a:t>
            </a:r>
            <a:r>
              <a:rPr kumimoji="1" lang="zh-CN" altLang="en-US" sz="2800" b="1" noProof="1">
                <a:solidFill>
                  <a:srgbClr val="002060"/>
                </a:solidFill>
                <a:latin typeface="+mn-ea"/>
              </a:rPr>
              <a:t>类型变量保存字符串时需注意长度</a:t>
            </a:r>
          </a:p>
        </p:txBody>
      </p:sp>
      <p:sp>
        <p:nvSpPr>
          <p:cNvPr id="10" name="Rectangle 3" descr="Rectangle: Click to edit Master text styles&#10;Second level&#10;Third level&#10;Fourth level&#10;Fifth level">
            <a:extLst>
              <a:ext uri="{FF2B5EF4-FFF2-40B4-BE49-F238E27FC236}">
                <a16:creationId xmlns:a16="http://schemas.microsoft.com/office/drawing/2014/main" id="{1450443F-29E9-DCED-D8AC-EA1C26CEC1FB}"/>
              </a:ext>
            </a:extLst>
          </p:cNvPr>
          <p:cNvSpPr txBox="1">
            <a:spLocks/>
          </p:cNvSpPr>
          <p:nvPr/>
        </p:nvSpPr>
        <p:spPr>
          <a:xfrm>
            <a:off x="774700" y="3975770"/>
            <a:ext cx="9546348" cy="897017"/>
          </a:xfrm>
          <a:prstGeom prst="rect">
            <a:avLst/>
          </a:prstGeom>
        </p:spPr>
        <p:txBody>
          <a:bodyPr anchor="t"/>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l" defTabSz="1008400" rtl="0" eaLnBrk="0" fontAlgn="base" hangingPunct="0">
              <a:lnSpc>
                <a:spcPct val="150000"/>
              </a:lnSpc>
              <a:spcBef>
                <a:spcPts val="1800"/>
              </a:spcBef>
              <a:spcAft>
                <a:spcPct val="0"/>
              </a:spcAft>
              <a:buClr>
                <a:schemeClr val="hlink"/>
              </a:buClr>
              <a:buSzPct val="110000"/>
            </a:pPr>
            <a:r>
              <a:rPr kumimoji="1" lang="zh-CN" altLang="en-US" sz="2800" b="1" noProof="1">
                <a:solidFill>
                  <a:srgbClr val="002060"/>
                </a:solidFill>
                <a:latin typeface="+mn-ea"/>
              </a:rPr>
              <a:t>示例：</a:t>
            </a:r>
            <a:endParaRPr kumimoji="1" lang="en-US" altLang="zh-CN" sz="2800" b="1" noProof="1">
              <a:solidFill>
                <a:srgbClr val="002060"/>
              </a:solidFill>
              <a:latin typeface="+mn-ea"/>
            </a:endParaRPr>
          </a:p>
          <a:p>
            <a:pPr algn="l" defTabSz="1008400" rtl="0" eaLnBrk="0" fontAlgn="base" hangingPunct="0">
              <a:lnSpc>
                <a:spcPct val="90000"/>
              </a:lnSpc>
              <a:spcBef>
                <a:spcPct val="20000"/>
              </a:spcBef>
              <a:spcAft>
                <a:spcPct val="0"/>
              </a:spcAft>
              <a:buClr>
                <a:schemeClr val="hlink"/>
              </a:buClr>
              <a:buSzPct val="110000"/>
            </a:pPr>
            <a:r>
              <a:rPr kumimoji="1" lang="en-US" altLang="zh-CN" sz="2500" b="1" noProof="1">
                <a:latin typeface="+mn-ea"/>
                <a:sym typeface="+mn-ea"/>
              </a:rPr>
              <a:t>	</a:t>
            </a:r>
            <a:endParaRPr kumimoji="1" lang="zh-CN" altLang="en-US" sz="2800" b="1" noProof="1">
              <a:latin typeface="黑体" panose="02010609060101010101" pitchFamily="49" charset="-122"/>
              <a:ea typeface="黑体" panose="02010609060101010101" pitchFamily="49" charset="-122"/>
              <a:sym typeface="+mn-ea"/>
            </a:endParaRPr>
          </a:p>
        </p:txBody>
      </p:sp>
      <p:pic>
        <p:nvPicPr>
          <p:cNvPr id="11" name="object 3">
            <a:extLst>
              <a:ext uri="{FF2B5EF4-FFF2-40B4-BE49-F238E27FC236}">
                <a16:creationId xmlns:a16="http://schemas.microsoft.com/office/drawing/2014/main" id="{AADFB9E1-5594-0958-B221-025C98836FA0}"/>
              </a:ext>
            </a:extLst>
          </p:cNvPr>
          <p:cNvPicPr/>
          <p:nvPr/>
        </p:nvPicPr>
        <p:blipFill>
          <a:blip r:embed="rId4" cstate="print"/>
          <a:stretch>
            <a:fillRect/>
          </a:stretch>
        </p:blipFill>
        <p:spPr>
          <a:xfrm>
            <a:off x="469900" y="1332782"/>
            <a:ext cx="195544" cy="192055"/>
          </a:xfrm>
          <a:prstGeom prst="rect">
            <a:avLst/>
          </a:prstGeom>
        </p:spPr>
      </p:pic>
      <p:pic>
        <p:nvPicPr>
          <p:cNvPr id="12" name="object 3">
            <a:extLst>
              <a:ext uri="{FF2B5EF4-FFF2-40B4-BE49-F238E27FC236}">
                <a16:creationId xmlns:a16="http://schemas.microsoft.com/office/drawing/2014/main" id="{D0C77691-77E7-4FFA-2072-CC4A38A88E25}"/>
              </a:ext>
            </a:extLst>
          </p:cNvPr>
          <p:cNvPicPr/>
          <p:nvPr/>
        </p:nvPicPr>
        <p:blipFill>
          <a:blip r:embed="rId4" cstate="print"/>
          <a:stretch>
            <a:fillRect/>
          </a:stretch>
        </p:blipFill>
        <p:spPr>
          <a:xfrm>
            <a:off x="469900" y="2045603"/>
            <a:ext cx="195544" cy="192055"/>
          </a:xfrm>
          <a:prstGeom prst="rect">
            <a:avLst/>
          </a:prstGeom>
        </p:spPr>
      </p:pic>
      <p:pic>
        <p:nvPicPr>
          <p:cNvPr id="13" name="object 3">
            <a:extLst>
              <a:ext uri="{FF2B5EF4-FFF2-40B4-BE49-F238E27FC236}">
                <a16:creationId xmlns:a16="http://schemas.microsoft.com/office/drawing/2014/main" id="{BFB6BFF2-C6F7-644D-6F44-CB2C55859B08}"/>
              </a:ext>
            </a:extLst>
          </p:cNvPr>
          <p:cNvPicPr/>
          <p:nvPr/>
        </p:nvPicPr>
        <p:blipFill>
          <a:blip r:embed="rId4" cstate="print"/>
          <a:stretch>
            <a:fillRect/>
          </a:stretch>
        </p:blipFill>
        <p:spPr>
          <a:xfrm>
            <a:off x="469900" y="4271740"/>
            <a:ext cx="195544" cy="19205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2349F2-AA6B-ACAC-EA00-3BF7C3532A89}"/>
            </a:ext>
          </a:extLst>
        </p:cNvPr>
        <p:cNvGrpSpPr/>
        <p:nvPr/>
      </p:nvGrpSpPr>
      <p:grpSpPr>
        <a:xfrm>
          <a:off x="0" y="0"/>
          <a:ext cx="0" cy="0"/>
          <a:chOff x="0" y="0"/>
          <a:chExt cx="0" cy="0"/>
        </a:xfrm>
      </p:grpSpPr>
      <p:sp>
        <p:nvSpPr>
          <p:cNvPr id="7" name="object 7">
            <a:extLst>
              <a:ext uri="{FF2B5EF4-FFF2-40B4-BE49-F238E27FC236}">
                <a16:creationId xmlns:a16="http://schemas.microsoft.com/office/drawing/2014/main" id="{9F6EC7E4-EEB7-83CF-ED9D-5C6B311077AA}"/>
              </a:ext>
            </a:extLst>
          </p:cNvPr>
          <p:cNvSpPr txBox="1"/>
          <p:nvPr/>
        </p:nvSpPr>
        <p:spPr>
          <a:xfrm>
            <a:off x="8029327" y="6508039"/>
            <a:ext cx="2454910" cy="260985"/>
          </a:xfrm>
          <a:prstGeom prst="rect">
            <a:avLst/>
          </a:prstGeom>
        </p:spPr>
        <p:txBody>
          <a:bodyPr vert="horz" wrap="square" lIns="0" tIns="23495" rIns="0" bIns="0" rtlCol="0">
            <a:spAutoFit/>
          </a:bodyPr>
          <a:lstStyle/>
          <a:p>
            <a:pPr marL="12700">
              <a:lnSpc>
                <a:spcPct val="100000"/>
              </a:lnSpc>
              <a:spcBef>
                <a:spcPts val="185"/>
              </a:spcBef>
            </a:pPr>
            <a:r>
              <a:rPr sz="1400" b="1" dirty="0">
                <a:solidFill>
                  <a:srgbClr val="3F3F3F"/>
                </a:solidFill>
                <a:latin typeface="微软雅黑"/>
                <a:cs typeface="微软雅黑"/>
              </a:rPr>
              <a:t>Xilinx</a:t>
            </a:r>
            <a:r>
              <a:rPr sz="1400" b="1" spc="-5" dirty="0">
                <a:solidFill>
                  <a:srgbClr val="3F3F3F"/>
                </a:solidFill>
                <a:latin typeface="微软雅黑"/>
                <a:cs typeface="微软雅黑"/>
              </a:rPr>
              <a:t> 大学合作部 </a:t>
            </a:r>
            <a:r>
              <a:rPr sz="1400" b="1" dirty="0">
                <a:solidFill>
                  <a:srgbClr val="3F3F3F"/>
                </a:solidFill>
                <a:latin typeface="微软雅黑"/>
                <a:cs typeface="微软雅黑"/>
              </a:rPr>
              <a:t>&amp;</a:t>
            </a:r>
            <a:r>
              <a:rPr sz="1400" b="1" spc="-10" dirty="0">
                <a:solidFill>
                  <a:srgbClr val="3F3F3F"/>
                </a:solidFill>
                <a:latin typeface="微软雅黑"/>
                <a:cs typeface="微软雅黑"/>
              </a:rPr>
              <a:t> 东南大学</a:t>
            </a:r>
            <a:endParaRPr sz="1400">
              <a:latin typeface="微软雅黑"/>
              <a:cs typeface="微软雅黑"/>
            </a:endParaRPr>
          </a:p>
        </p:txBody>
      </p:sp>
      <p:sp>
        <p:nvSpPr>
          <p:cNvPr id="8" name="object 3">
            <a:extLst>
              <a:ext uri="{FF2B5EF4-FFF2-40B4-BE49-F238E27FC236}">
                <a16:creationId xmlns:a16="http://schemas.microsoft.com/office/drawing/2014/main" id="{654C00C9-E8FE-F561-6086-1C2728C75CB8}"/>
              </a:ext>
            </a:extLst>
          </p:cNvPr>
          <p:cNvSpPr txBox="1">
            <a:spLocks/>
          </p:cNvSpPr>
          <p:nvPr/>
        </p:nvSpPr>
        <p:spPr>
          <a:xfrm>
            <a:off x="241300" y="200025"/>
            <a:ext cx="7288905" cy="524503"/>
          </a:xfrm>
          <a:prstGeom prst="rect">
            <a:avLst/>
          </a:prstGeom>
        </p:spPr>
        <p:txBody>
          <a:bodyPr vert="horz" wrap="square" lIns="0" tIns="16510" rIns="0" bIns="0" rtlCol="0">
            <a:spAutoFit/>
          </a:bodyPr>
          <a:lstStyle>
            <a:lvl1pPr>
              <a:defRPr sz="2800" b="0" i="0">
                <a:solidFill>
                  <a:srgbClr val="3F3F3F"/>
                </a:solidFill>
                <a:latin typeface="Calibri"/>
                <a:ea typeface="+mj-ea"/>
                <a:cs typeface="Calibri"/>
              </a:defRPr>
            </a:lvl1pPr>
          </a:lstStyle>
          <a:p>
            <a:pPr marL="12700">
              <a:spcBef>
                <a:spcPts val="130"/>
              </a:spcBef>
            </a:pPr>
            <a:r>
              <a:rPr lang="zh-CN" altLang="en-US" sz="3300" b="1" spc="-15" dirty="0">
                <a:solidFill>
                  <a:srgbClr val="000000"/>
                </a:solidFill>
                <a:latin typeface="宋体"/>
                <a:cs typeface="宋体"/>
              </a:rPr>
              <a:t>标识符和关键字</a:t>
            </a:r>
            <a:endParaRPr lang="zh-CN" altLang="en-US" sz="3300" dirty="0">
              <a:latin typeface="宋体"/>
              <a:cs typeface="宋体"/>
            </a:endParaRPr>
          </a:p>
        </p:txBody>
      </p:sp>
      <p:pic>
        <p:nvPicPr>
          <p:cNvPr id="11" name="object 3">
            <a:extLst>
              <a:ext uri="{FF2B5EF4-FFF2-40B4-BE49-F238E27FC236}">
                <a16:creationId xmlns:a16="http://schemas.microsoft.com/office/drawing/2014/main" id="{0F88CF76-4799-8447-80F1-AFD0C05EB8FF}"/>
              </a:ext>
            </a:extLst>
          </p:cNvPr>
          <p:cNvPicPr/>
          <p:nvPr/>
        </p:nvPicPr>
        <p:blipFill>
          <a:blip r:embed="rId3" cstate="print"/>
          <a:stretch>
            <a:fillRect/>
          </a:stretch>
        </p:blipFill>
        <p:spPr>
          <a:xfrm>
            <a:off x="469900" y="1419225"/>
            <a:ext cx="195544" cy="192055"/>
          </a:xfrm>
          <a:prstGeom prst="rect">
            <a:avLst/>
          </a:prstGeom>
        </p:spPr>
      </p:pic>
      <p:pic>
        <p:nvPicPr>
          <p:cNvPr id="12" name="object 3">
            <a:extLst>
              <a:ext uri="{FF2B5EF4-FFF2-40B4-BE49-F238E27FC236}">
                <a16:creationId xmlns:a16="http://schemas.microsoft.com/office/drawing/2014/main" id="{A6FACD10-6FA5-C89D-3974-CCCF4398FB2A}"/>
              </a:ext>
            </a:extLst>
          </p:cNvPr>
          <p:cNvPicPr/>
          <p:nvPr/>
        </p:nvPicPr>
        <p:blipFill>
          <a:blip r:embed="rId3" cstate="print"/>
          <a:stretch>
            <a:fillRect/>
          </a:stretch>
        </p:blipFill>
        <p:spPr>
          <a:xfrm>
            <a:off x="469900" y="3146658"/>
            <a:ext cx="195544" cy="192055"/>
          </a:xfrm>
          <a:prstGeom prst="rect">
            <a:avLst/>
          </a:prstGeom>
        </p:spPr>
      </p:pic>
      <p:sp>
        <p:nvSpPr>
          <p:cNvPr id="2" name="Rectangle 3" descr="Rectangle: Click to edit Master text styles&#10;Second level&#10;Third level&#10;Fourth level&#10;Fifth level">
            <a:extLst>
              <a:ext uri="{FF2B5EF4-FFF2-40B4-BE49-F238E27FC236}">
                <a16:creationId xmlns:a16="http://schemas.microsoft.com/office/drawing/2014/main" id="{3C8F9F52-CFFF-81BD-1EF9-99A07178B70F}"/>
              </a:ext>
            </a:extLst>
          </p:cNvPr>
          <p:cNvSpPr txBox="1">
            <a:spLocks/>
          </p:cNvSpPr>
          <p:nvPr/>
        </p:nvSpPr>
        <p:spPr>
          <a:xfrm>
            <a:off x="774700" y="1104445"/>
            <a:ext cx="8784976" cy="5125623"/>
          </a:xfrm>
          <a:prstGeom prst="rect">
            <a:avLst/>
          </a:prstGeom>
        </p:spPr>
        <p:txBody>
          <a:bodyPr vert="horz" wrap="square" lIns="91440" tIns="45720" rIns="91440" bIns="45720" anchor="t" anchorCtr="0"/>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nSpc>
                <a:spcPct val="150000"/>
              </a:lnSpc>
              <a:spcBef>
                <a:spcPts val="600"/>
              </a:spcBef>
              <a:spcAft>
                <a:spcPts val="600"/>
              </a:spcAft>
            </a:pPr>
            <a:r>
              <a:rPr kumimoji="1" lang="zh-CN" altLang="en-US" sz="2800" b="1" dirty="0">
                <a:solidFill>
                  <a:srgbClr val="002060"/>
                </a:solidFill>
                <a:latin typeface="+mn-ea"/>
              </a:rPr>
              <a:t>关键字：</a:t>
            </a:r>
            <a:r>
              <a:rPr kumimoji="1" lang="en-US" altLang="zh-CN" sz="2800" b="1" dirty="0">
                <a:solidFill>
                  <a:srgbClr val="002060"/>
                </a:solidFill>
                <a:latin typeface="+mn-ea"/>
              </a:rPr>
              <a:t>verilog</a:t>
            </a:r>
            <a:r>
              <a:rPr kumimoji="1" lang="zh-CN" altLang="en-US" sz="2800" b="1" dirty="0">
                <a:solidFill>
                  <a:srgbClr val="002060"/>
                </a:solidFill>
                <a:latin typeface="+mn-ea"/>
              </a:rPr>
              <a:t>语言中预留的用于定义语言结构的特殊标识符；</a:t>
            </a:r>
            <a:r>
              <a:rPr kumimoji="1" lang="zh-CN" altLang="en-US" sz="2800" b="1" dirty="0">
                <a:solidFill>
                  <a:srgbClr val="C00000"/>
                </a:solidFill>
                <a:latin typeface="+mn-ea"/>
              </a:rPr>
              <a:t>全部小写！</a:t>
            </a:r>
          </a:p>
          <a:p>
            <a:pPr>
              <a:lnSpc>
                <a:spcPct val="150000"/>
              </a:lnSpc>
              <a:spcBef>
                <a:spcPts val="3000"/>
              </a:spcBef>
              <a:spcAft>
                <a:spcPts val="600"/>
              </a:spcAft>
            </a:pPr>
            <a:r>
              <a:rPr kumimoji="1" lang="zh-CN" altLang="en-US" sz="2800" b="1" dirty="0">
                <a:solidFill>
                  <a:srgbClr val="002060"/>
                </a:solidFill>
                <a:latin typeface="+mn-ea"/>
              </a:rPr>
              <a:t>标识符：自定义对象的名字</a:t>
            </a:r>
            <a:endParaRPr kumimoji="1" lang="en-US" altLang="zh-CN" sz="2800" b="1" dirty="0">
              <a:solidFill>
                <a:srgbClr val="002060"/>
              </a:solidFill>
              <a:latin typeface="+mn-ea"/>
            </a:endParaRPr>
          </a:p>
          <a:p>
            <a:pPr marL="720000" lvl="1" indent="-342900" algn="l" rtl="0" fontAlgn="base">
              <a:lnSpc>
                <a:spcPct val="150000"/>
              </a:lnSpc>
              <a:spcBef>
                <a:spcPts val="200"/>
              </a:spcBef>
              <a:spcAft>
                <a:spcPts val="200"/>
              </a:spcAft>
              <a:buClr>
                <a:schemeClr val="tx1"/>
              </a:buClr>
              <a:buSzPct val="75000"/>
              <a:buFont typeface="Wingdings" panose="05000000000000000000" pitchFamily="2" charset="2"/>
              <a:buChar char="n"/>
            </a:pPr>
            <a:r>
              <a:rPr kumimoji="1" lang="zh-CN" altLang="en-US" sz="2800" b="1" dirty="0">
                <a:solidFill>
                  <a:srgbClr val="002060"/>
                </a:solidFill>
                <a:latin typeface="+mn-ea"/>
              </a:rPr>
              <a:t>由字母、数字、下划线</a:t>
            </a:r>
            <a:r>
              <a:rPr kumimoji="1" lang="en-US" altLang="zh-CN" sz="2800" b="1" dirty="0">
                <a:solidFill>
                  <a:srgbClr val="002060"/>
                </a:solidFill>
                <a:latin typeface="+mn-ea"/>
              </a:rPr>
              <a:t>(_)</a:t>
            </a:r>
            <a:r>
              <a:rPr kumimoji="1" lang="zh-CN" altLang="en-US" sz="2800" b="1" dirty="0">
                <a:solidFill>
                  <a:srgbClr val="002060"/>
                </a:solidFill>
                <a:latin typeface="+mn-ea"/>
              </a:rPr>
              <a:t>和</a:t>
            </a:r>
            <a:r>
              <a:rPr kumimoji="1" lang="en-US" altLang="zh-CN" sz="2800" b="1" dirty="0">
                <a:solidFill>
                  <a:srgbClr val="002060"/>
                </a:solidFill>
                <a:latin typeface="+mn-ea"/>
              </a:rPr>
              <a:t>$</a:t>
            </a:r>
            <a:r>
              <a:rPr kumimoji="1" lang="zh-CN" altLang="en-US" sz="2800" b="1" dirty="0">
                <a:solidFill>
                  <a:srgbClr val="002060"/>
                </a:solidFill>
                <a:latin typeface="+mn-ea"/>
              </a:rPr>
              <a:t>组成</a:t>
            </a:r>
            <a:endParaRPr kumimoji="1" lang="en-US" altLang="zh-CN" sz="2800" b="1" dirty="0">
              <a:solidFill>
                <a:srgbClr val="002060"/>
              </a:solidFill>
              <a:latin typeface="+mn-ea"/>
            </a:endParaRPr>
          </a:p>
          <a:p>
            <a:pPr marL="720000" lvl="1" indent="-342900" algn="l" rtl="0" fontAlgn="base">
              <a:lnSpc>
                <a:spcPct val="150000"/>
              </a:lnSpc>
              <a:spcBef>
                <a:spcPts val="200"/>
              </a:spcBef>
              <a:spcAft>
                <a:spcPts val="200"/>
              </a:spcAft>
              <a:buClr>
                <a:schemeClr val="tx1"/>
              </a:buClr>
              <a:buSzPct val="75000"/>
              <a:buFont typeface="Wingdings" panose="05000000000000000000" pitchFamily="2" charset="2"/>
              <a:buChar char="n"/>
            </a:pPr>
            <a:r>
              <a:rPr kumimoji="1" lang="zh-CN" altLang="en-US" sz="2800" b="1" dirty="0">
                <a:solidFill>
                  <a:srgbClr val="002060"/>
                </a:solidFill>
                <a:latin typeface="+mn-ea"/>
              </a:rPr>
              <a:t>第一个字符不能是数字和</a:t>
            </a:r>
            <a:r>
              <a:rPr kumimoji="1" lang="en-US" altLang="zh-CN" sz="2800" b="1" dirty="0">
                <a:solidFill>
                  <a:srgbClr val="002060"/>
                </a:solidFill>
                <a:latin typeface="+mn-ea"/>
              </a:rPr>
              <a:t>$</a:t>
            </a:r>
          </a:p>
          <a:p>
            <a:pPr marL="720000" lvl="1" indent="-342900" algn="l" rtl="0" fontAlgn="base">
              <a:lnSpc>
                <a:spcPct val="150000"/>
              </a:lnSpc>
              <a:spcBef>
                <a:spcPts val="200"/>
              </a:spcBef>
              <a:spcAft>
                <a:spcPts val="200"/>
              </a:spcAft>
              <a:buClr>
                <a:schemeClr val="tx1"/>
              </a:buClr>
              <a:buSzPct val="75000"/>
              <a:buFont typeface="Wingdings" panose="05000000000000000000" pitchFamily="2" charset="2"/>
              <a:buChar char="n"/>
            </a:pPr>
            <a:r>
              <a:rPr kumimoji="1" lang="zh-CN" altLang="en-US" sz="2800" b="1" dirty="0">
                <a:solidFill>
                  <a:srgbClr val="002060"/>
                </a:solidFill>
                <a:latin typeface="+mn-ea"/>
              </a:rPr>
              <a:t>区分大小写</a:t>
            </a:r>
            <a:endParaRPr kumimoji="1" lang="en-US" altLang="zh-CN" sz="2800" b="1" dirty="0">
              <a:solidFill>
                <a:srgbClr val="002060"/>
              </a:solidFill>
              <a:latin typeface="+mn-ea"/>
            </a:endParaRPr>
          </a:p>
        </p:txBody>
      </p:sp>
    </p:spTree>
    <p:extLst>
      <p:ext uri="{BB962C8B-B14F-4D97-AF65-F5344CB8AC3E}">
        <p14:creationId xmlns:p14="http://schemas.microsoft.com/office/powerpoint/2010/main" val="32822459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1765300" y="2272248"/>
            <a:ext cx="7467600" cy="345061"/>
          </a:xfrm>
          <a:prstGeom prst="rect">
            <a:avLst/>
          </a:prstGeom>
        </p:spPr>
      </p:pic>
      <p:pic>
        <p:nvPicPr>
          <p:cNvPr id="4" name="object 4"/>
          <p:cNvPicPr/>
          <p:nvPr/>
        </p:nvPicPr>
        <p:blipFill>
          <a:blip r:embed="rId3" cstate="print"/>
          <a:stretch>
            <a:fillRect/>
          </a:stretch>
        </p:blipFill>
        <p:spPr>
          <a:xfrm>
            <a:off x="1723355" y="4116204"/>
            <a:ext cx="6227592" cy="2087154"/>
          </a:xfrm>
          <a:prstGeom prst="rect">
            <a:avLst/>
          </a:prstGeom>
        </p:spPr>
      </p:pic>
      <p:sp>
        <p:nvSpPr>
          <p:cNvPr id="5" name="object 5"/>
          <p:cNvSpPr txBox="1"/>
          <p:nvPr/>
        </p:nvSpPr>
        <p:spPr>
          <a:xfrm>
            <a:off x="935416" y="1359492"/>
            <a:ext cx="906084" cy="446917"/>
          </a:xfrm>
          <a:prstGeom prst="rect">
            <a:avLst/>
          </a:prstGeom>
        </p:spPr>
        <p:txBody>
          <a:bodyPr vert="horz" wrap="square" lIns="0" tIns="15875" rIns="0" bIns="0" rtlCol="0">
            <a:spAutoFit/>
          </a:bodyPr>
          <a:lstStyle/>
          <a:p>
            <a:pPr marL="12700">
              <a:lnSpc>
                <a:spcPct val="100000"/>
              </a:lnSpc>
              <a:spcBef>
                <a:spcPts val="125"/>
              </a:spcBef>
            </a:pPr>
            <a:r>
              <a:rPr sz="2800" b="1" spc="-25" dirty="0">
                <a:latin typeface="宋体"/>
                <a:cs typeface="宋体"/>
              </a:rPr>
              <a:t>合法</a:t>
            </a:r>
            <a:endParaRPr sz="2800" dirty="0">
              <a:latin typeface="宋体"/>
              <a:cs typeface="宋体"/>
            </a:endParaRPr>
          </a:p>
        </p:txBody>
      </p:sp>
      <p:sp>
        <p:nvSpPr>
          <p:cNvPr id="7" name="object 7"/>
          <p:cNvSpPr txBox="1"/>
          <p:nvPr/>
        </p:nvSpPr>
        <p:spPr>
          <a:xfrm>
            <a:off x="8029327" y="6508039"/>
            <a:ext cx="2454910" cy="260985"/>
          </a:xfrm>
          <a:prstGeom prst="rect">
            <a:avLst/>
          </a:prstGeom>
        </p:spPr>
        <p:txBody>
          <a:bodyPr vert="horz" wrap="square" lIns="0" tIns="23495" rIns="0" bIns="0" rtlCol="0">
            <a:spAutoFit/>
          </a:bodyPr>
          <a:lstStyle/>
          <a:p>
            <a:pPr marL="12700">
              <a:lnSpc>
                <a:spcPct val="100000"/>
              </a:lnSpc>
              <a:spcBef>
                <a:spcPts val="185"/>
              </a:spcBef>
            </a:pPr>
            <a:r>
              <a:rPr sz="1400" b="1" dirty="0">
                <a:solidFill>
                  <a:srgbClr val="3F3F3F"/>
                </a:solidFill>
                <a:latin typeface="微软雅黑"/>
                <a:cs typeface="微软雅黑"/>
              </a:rPr>
              <a:t>Xilinx</a:t>
            </a:r>
            <a:r>
              <a:rPr sz="1400" b="1" spc="-5" dirty="0">
                <a:solidFill>
                  <a:srgbClr val="3F3F3F"/>
                </a:solidFill>
                <a:latin typeface="微软雅黑"/>
                <a:cs typeface="微软雅黑"/>
              </a:rPr>
              <a:t> 大学合作部 </a:t>
            </a:r>
            <a:r>
              <a:rPr sz="1400" b="1" dirty="0">
                <a:solidFill>
                  <a:srgbClr val="3F3F3F"/>
                </a:solidFill>
                <a:latin typeface="微软雅黑"/>
                <a:cs typeface="微软雅黑"/>
              </a:rPr>
              <a:t>&amp;</a:t>
            </a:r>
            <a:r>
              <a:rPr sz="1400" b="1" spc="-10" dirty="0">
                <a:solidFill>
                  <a:srgbClr val="3F3F3F"/>
                </a:solidFill>
                <a:latin typeface="微软雅黑"/>
                <a:cs typeface="微软雅黑"/>
              </a:rPr>
              <a:t> 东南大学</a:t>
            </a:r>
            <a:endParaRPr sz="1400">
              <a:latin typeface="微软雅黑"/>
              <a:cs typeface="微软雅黑"/>
            </a:endParaRPr>
          </a:p>
        </p:txBody>
      </p:sp>
      <p:sp>
        <p:nvSpPr>
          <p:cNvPr id="6" name="object 6"/>
          <p:cNvSpPr txBox="1"/>
          <p:nvPr/>
        </p:nvSpPr>
        <p:spPr>
          <a:xfrm>
            <a:off x="935416" y="3203448"/>
            <a:ext cx="1317110" cy="446917"/>
          </a:xfrm>
          <a:prstGeom prst="rect">
            <a:avLst/>
          </a:prstGeom>
        </p:spPr>
        <p:txBody>
          <a:bodyPr vert="horz" wrap="square" lIns="0" tIns="15875" rIns="0" bIns="0" rtlCol="0">
            <a:spAutoFit/>
          </a:bodyPr>
          <a:lstStyle/>
          <a:p>
            <a:pPr marL="12700">
              <a:spcBef>
                <a:spcPts val="125"/>
              </a:spcBef>
            </a:pPr>
            <a:r>
              <a:rPr sz="2800" b="1" spc="-25" dirty="0">
                <a:latin typeface="宋体"/>
              </a:rPr>
              <a:t>不合法</a:t>
            </a:r>
          </a:p>
        </p:txBody>
      </p:sp>
      <p:sp>
        <p:nvSpPr>
          <p:cNvPr id="8" name="object 3">
            <a:extLst>
              <a:ext uri="{FF2B5EF4-FFF2-40B4-BE49-F238E27FC236}">
                <a16:creationId xmlns:a16="http://schemas.microsoft.com/office/drawing/2014/main" id="{E017E7B9-9983-D97B-D52A-C913306B937A}"/>
              </a:ext>
            </a:extLst>
          </p:cNvPr>
          <p:cNvSpPr txBox="1">
            <a:spLocks/>
          </p:cNvSpPr>
          <p:nvPr/>
        </p:nvSpPr>
        <p:spPr>
          <a:xfrm>
            <a:off x="241300" y="200025"/>
            <a:ext cx="7288905" cy="524503"/>
          </a:xfrm>
          <a:prstGeom prst="rect">
            <a:avLst/>
          </a:prstGeom>
        </p:spPr>
        <p:txBody>
          <a:bodyPr vert="horz" wrap="square" lIns="0" tIns="16510" rIns="0" bIns="0" rtlCol="0">
            <a:spAutoFit/>
          </a:bodyPr>
          <a:lstStyle>
            <a:lvl1pPr>
              <a:defRPr sz="2800" b="0" i="0">
                <a:solidFill>
                  <a:srgbClr val="3F3F3F"/>
                </a:solidFill>
                <a:latin typeface="Calibri"/>
                <a:ea typeface="+mj-ea"/>
                <a:cs typeface="Calibri"/>
              </a:defRPr>
            </a:lvl1pPr>
          </a:lstStyle>
          <a:p>
            <a:pPr marL="12700">
              <a:spcBef>
                <a:spcPts val="130"/>
              </a:spcBef>
            </a:pPr>
            <a:r>
              <a:rPr lang="zh-CN" altLang="en-US" sz="3300" b="1" spc="-15" dirty="0">
                <a:solidFill>
                  <a:srgbClr val="000000"/>
                </a:solidFill>
                <a:latin typeface="宋体"/>
                <a:cs typeface="宋体"/>
              </a:rPr>
              <a:t>标识符规则示例</a:t>
            </a:r>
            <a:endParaRPr lang="zh-CN" altLang="en-US" sz="3300" dirty="0">
              <a:latin typeface="宋体"/>
              <a:cs typeface="宋体"/>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3"/>
          <p:cNvGraphicFramePr>
            <a:graphicFrameLocks noGrp="1"/>
          </p:cNvGraphicFramePr>
          <p:nvPr>
            <p:extLst>
              <p:ext uri="{D42A27DB-BD31-4B8C-83A1-F6EECF244321}">
                <p14:modId xmlns:p14="http://schemas.microsoft.com/office/powerpoint/2010/main" val="740927790"/>
              </p:ext>
            </p:extLst>
          </p:nvPr>
        </p:nvGraphicFramePr>
        <p:xfrm>
          <a:off x="698500" y="1495425"/>
          <a:ext cx="4542789" cy="4137656"/>
        </p:xfrm>
        <a:graphic>
          <a:graphicData uri="http://schemas.openxmlformats.org/drawingml/2006/table">
            <a:tbl>
              <a:tblPr firstRow="1" bandRow="1">
                <a:tableStyleId>{2D5ABB26-0587-4C30-8999-92F81FD0307C}</a:tableStyleId>
              </a:tblPr>
              <a:tblGrid>
                <a:gridCol w="1090295">
                  <a:extLst>
                    <a:ext uri="{9D8B030D-6E8A-4147-A177-3AD203B41FA5}">
                      <a16:colId xmlns:a16="http://schemas.microsoft.com/office/drawing/2014/main" val="20000"/>
                    </a:ext>
                  </a:extLst>
                </a:gridCol>
                <a:gridCol w="1090930">
                  <a:extLst>
                    <a:ext uri="{9D8B030D-6E8A-4147-A177-3AD203B41FA5}">
                      <a16:colId xmlns:a16="http://schemas.microsoft.com/office/drawing/2014/main" val="20001"/>
                    </a:ext>
                  </a:extLst>
                </a:gridCol>
                <a:gridCol w="1403350">
                  <a:extLst>
                    <a:ext uri="{9D8B030D-6E8A-4147-A177-3AD203B41FA5}">
                      <a16:colId xmlns:a16="http://schemas.microsoft.com/office/drawing/2014/main" val="20002"/>
                    </a:ext>
                  </a:extLst>
                </a:gridCol>
                <a:gridCol w="958214">
                  <a:extLst>
                    <a:ext uri="{9D8B030D-6E8A-4147-A177-3AD203B41FA5}">
                      <a16:colId xmlns:a16="http://schemas.microsoft.com/office/drawing/2014/main" val="20003"/>
                    </a:ext>
                  </a:extLst>
                </a:gridCol>
              </a:tblGrid>
              <a:tr h="218440">
                <a:tc>
                  <a:txBody>
                    <a:bodyPr/>
                    <a:lstStyle/>
                    <a:p>
                      <a:pPr marL="43180" algn="ctr">
                        <a:lnSpc>
                          <a:spcPts val="1620"/>
                        </a:lnSpc>
                      </a:pPr>
                      <a:r>
                        <a:rPr sz="1400" spc="-25" dirty="0">
                          <a:latin typeface="宋体"/>
                          <a:cs typeface="宋体"/>
                        </a:rPr>
                        <a:t>算术</a:t>
                      </a:r>
                      <a:endParaRPr sz="1400">
                        <a:latin typeface="宋体"/>
                        <a:cs typeface="宋体"/>
                      </a:endParaRPr>
                    </a:p>
                  </a:txBody>
                  <a:tcPr marL="0" marR="0" marT="0" marB="0">
                    <a:lnT w="12700">
                      <a:solidFill>
                        <a:srgbClr val="000000"/>
                      </a:solidFill>
                      <a:prstDash val="solid"/>
                    </a:lnT>
                  </a:tcPr>
                </a:tc>
                <a:tc>
                  <a:txBody>
                    <a:bodyPr/>
                    <a:lstStyle/>
                    <a:p>
                      <a:pPr marL="133985" algn="ctr">
                        <a:lnSpc>
                          <a:spcPts val="1620"/>
                        </a:lnSpc>
                      </a:pPr>
                      <a:r>
                        <a:rPr sz="1400" spc="-50" dirty="0">
                          <a:latin typeface="宋体"/>
                          <a:cs typeface="宋体"/>
                        </a:rPr>
                        <a:t>＋</a:t>
                      </a:r>
                      <a:endParaRPr sz="1400" dirty="0">
                        <a:latin typeface="宋体"/>
                        <a:cs typeface="宋体"/>
                      </a:endParaRPr>
                    </a:p>
                  </a:txBody>
                  <a:tcPr marL="0" marR="0" marT="0" marB="0">
                    <a:lnT w="12700">
                      <a:solidFill>
                        <a:srgbClr val="000000"/>
                      </a:solidFill>
                      <a:prstDash val="solid"/>
                    </a:lnT>
                  </a:tcPr>
                </a:tc>
                <a:tc>
                  <a:txBody>
                    <a:bodyPr/>
                    <a:lstStyle/>
                    <a:p>
                      <a:pPr marR="7620" algn="ctr">
                        <a:lnSpc>
                          <a:spcPts val="1620"/>
                        </a:lnSpc>
                      </a:pPr>
                      <a:r>
                        <a:rPr sz="1400" spc="-50" dirty="0">
                          <a:latin typeface="宋体"/>
                          <a:cs typeface="宋体"/>
                        </a:rPr>
                        <a:t>加</a:t>
                      </a:r>
                      <a:endParaRPr sz="1400">
                        <a:latin typeface="宋体"/>
                        <a:cs typeface="宋体"/>
                      </a:endParaRPr>
                    </a:p>
                  </a:txBody>
                  <a:tcPr marL="0" marR="0" marT="0" marB="0">
                    <a:lnT w="12700">
                      <a:solidFill>
                        <a:srgbClr val="000000"/>
                      </a:solidFill>
                      <a:prstDash val="solid"/>
                    </a:lnT>
                  </a:tcPr>
                </a:tc>
                <a:tc>
                  <a:txBody>
                    <a:bodyPr/>
                    <a:lstStyle/>
                    <a:p>
                      <a:pPr marL="300355">
                        <a:lnSpc>
                          <a:spcPts val="1620"/>
                        </a:lnSpc>
                      </a:pPr>
                      <a:r>
                        <a:rPr sz="1400" spc="-50" dirty="0">
                          <a:latin typeface="宋体"/>
                          <a:cs typeface="宋体"/>
                        </a:rPr>
                        <a:t>２</a:t>
                      </a:r>
                      <a:endParaRPr sz="1400">
                        <a:latin typeface="宋体"/>
                        <a:cs typeface="宋体"/>
                      </a:endParaRPr>
                    </a:p>
                  </a:txBody>
                  <a:tcPr marL="0" marR="0" marT="0" marB="0">
                    <a:lnT w="12700">
                      <a:solidFill>
                        <a:srgbClr val="000000"/>
                      </a:solidFill>
                      <a:prstDash val="solid"/>
                    </a:lnT>
                  </a:tcPr>
                </a:tc>
                <a:extLst>
                  <a:ext uri="{0D108BD9-81ED-4DB2-BD59-A6C34878D82A}">
                    <a16:rowId xmlns:a16="http://schemas.microsoft.com/office/drawing/2014/main" val="10000"/>
                  </a:ext>
                </a:extLst>
              </a:tr>
              <a:tr h="226060">
                <a:tc>
                  <a:txBody>
                    <a:bodyPr/>
                    <a:lstStyle/>
                    <a:p>
                      <a:pPr>
                        <a:lnSpc>
                          <a:spcPct val="100000"/>
                        </a:lnSpc>
                      </a:pPr>
                      <a:endParaRPr sz="1300">
                        <a:latin typeface="Times New Roman"/>
                        <a:cs typeface="Times New Roman"/>
                      </a:endParaRPr>
                    </a:p>
                  </a:txBody>
                  <a:tcPr marL="0" marR="0" marT="0" marB="0"/>
                </a:tc>
                <a:tc>
                  <a:txBody>
                    <a:bodyPr/>
                    <a:lstStyle/>
                    <a:p>
                      <a:pPr marL="133985" algn="ctr">
                        <a:lnSpc>
                          <a:spcPts val="1675"/>
                        </a:lnSpc>
                      </a:pPr>
                      <a:r>
                        <a:rPr sz="1400" spc="-50" dirty="0">
                          <a:latin typeface="宋体"/>
                          <a:cs typeface="宋体"/>
                        </a:rPr>
                        <a:t>－</a:t>
                      </a:r>
                      <a:endParaRPr sz="1400">
                        <a:latin typeface="宋体"/>
                        <a:cs typeface="宋体"/>
                      </a:endParaRPr>
                    </a:p>
                  </a:txBody>
                  <a:tcPr marL="0" marR="0" marT="0" marB="0"/>
                </a:tc>
                <a:tc>
                  <a:txBody>
                    <a:bodyPr/>
                    <a:lstStyle/>
                    <a:p>
                      <a:pPr marR="7620" algn="ctr">
                        <a:lnSpc>
                          <a:spcPts val="1675"/>
                        </a:lnSpc>
                      </a:pPr>
                      <a:r>
                        <a:rPr sz="1400" spc="-50" dirty="0">
                          <a:latin typeface="宋体"/>
                          <a:cs typeface="宋体"/>
                        </a:rPr>
                        <a:t>减</a:t>
                      </a:r>
                      <a:endParaRPr sz="1400">
                        <a:latin typeface="宋体"/>
                        <a:cs typeface="宋体"/>
                      </a:endParaRPr>
                    </a:p>
                  </a:txBody>
                  <a:tcPr marL="0" marR="0" marT="0" marB="0"/>
                </a:tc>
                <a:tc>
                  <a:txBody>
                    <a:bodyPr/>
                    <a:lstStyle/>
                    <a:p>
                      <a:pPr marL="300355">
                        <a:lnSpc>
                          <a:spcPts val="1675"/>
                        </a:lnSpc>
                      </a:pPr>
                      <a:r>
                        <a:rPr sz="1400" spc="-50" dirty="0">
                          <a:latin typeface="宋体"/>
                          <a:cs typeface="宋体"/>
                        </a:rPr>
                        <a:t>２</a:t>
                      </a:r>
                      <a:endParaRPr sz="1400">
                        <a:latin typeface="宋体"/>
                        <a:cs typeface="宋体"/>
                      </a:endParaRPr>
                    </a:p>
                  </a:txBody>
                  <a:tcPr marL="0" marR="0" marT="0" marB="0"/>
                </a:tc>
                <a:extLst>
                  <a:ext uri="{0D108BD9-81ED-4DB2-BD59-A6C34878D82A}">
                    <a16:rowId xmlns:a16="http://schemas.microsoft.com/office/drawing/2014/main" val="10001"/>
                  </a:ext>
                </a:extLst>
              </a:tr>
              <a:tr h="233679">
                <a:tc>
                  <a:txBody>
                    <a:bodyPr/>
                    <a:lstStyle/>
                    <a:p>
                      <a:pPr>
                        <a:lnSpc>
                          <a:spcPct val="100000"/>
                        </a:lnSpc>
                      </a:pPr>
                      <a:endParaRPr sz="1400">
                        <a:latin typeface="Times New Roman"/>
                        <a:cs typeface="Times New Roman"/>
                      </a:endParaRPr>
                    </a:p>
                  </a:txBody>
                  <a:tcPr marL="0" marR="0" marT="0" marB="0"/>
                </a:tc>
                <a:tc>
                  <a:txBody>
                    <a:bodyPr/>
                    <a:lstStyle/>
                    <a:p>
                      <a:pPr marL="132715" algn="ctr">
                        <a:lnSpc>
                          <a:spcPts val="1650"/>
                        </a:lnSpc>
                      </a:pPr>
                      <a:r>
                        <a:rPr sz="1400" spc="-50" dirty="0">
                          <a:latin typeface="Calibri"/>
                          <a:cs typeface="Calibri"/>
                        </a:rPr>
                        <a:t>*</a:t>
                      </a:r>
                      <a:endParaRPr sz="1400">
                        <a:latin typeface="Calibri"/>
                        <a:cs typeface="Calibri"/>
                      </a:endParaRPr>
                    </a:p>
                  </a:txBody>
                  <a:tcPr marL="0" marR="0" marT="0" marB="0"/>
                </a:tc>
                <a:tc>
                  <a:txBody>
                    <a:bodyPr/>
                    <a:lstStyle/>
                    <a:p>
                      <a:pPr marR="7620" algn="ctr">
                        <a:lnSpc>
                          <a:spcPts val="1675"/>
                        </a:lnSpc>
                      </a:pPr>
                      <a:r>
                        <a:rPr sz="1400" spc="-50" dirty="0">
                          <a:latin typeface="宋体"/>
                          <a:cs typeface="宋体"/>
                        </a:rPr>
                        <a:t>乘</a:t>
                      </a:r>
                      <a:endParaRPr sz="1400">
                        <a:latin typeface="宋体"/>
                        <a:cs typeface="宋体"/>
                      </a:endParaRPr>
                    </a:p>
                  </a:txBody>
                  <a:tcPr marL="0" marR="0" marT="0" marB="0"/>
                </a:tc>
                <a:tc>
                  <a:txBody>
                    <a:bodyPr/>
                    <a:lstStyle/>
                    <a:p>
                      <a:pPr marL="300990">
                        <a:lnSpc>
                          <a:spcPts val="1675"/>
                        </a:lnSpc>
                      </a:pPr>
                      <a:r>
                        <a:rPr sz="1400" spc="-50" dirty="0">
                          <a:latin typeface="宋体"/>
                          <a:cs typeface="宋体"/>
                        </a:rPr>
                        <a:t>２</a:t>
                      </a:r>
                      <a:endParaRPr sz="1400">
                        <a:latin typeface="宋体"/>
                        <a:cs typeface="宋体"/>
                      </a:endParaRPr>
                    </a:p>
                  </a:txBody>
                  <a:tcPr marL="0" marR="0" marT="0" marB="0"/>
                </a:tc>
                <a:extLst>
                  <a:ext uri="{0D108BD9-81ED-4DB2-BD59-A6C34878D82A}">
                    <a16:rowId xmlns:a16="http://schemas.microsoft.com/office/drawing/2014/main" val="10002"/>
                  </a:ext>
                </a:extLst>
              </a:tr>
              <a:tr h="217170">
                <a:tc>
                  <a:txBody>
                    <a:bodyPr/>
                    <a:lstStyle/>
                    <a:p>
                      <a:pPr>
                        <a:lnSpc>
                          <a:spcPct val="100000"/>
                        </a:lnSpc>
                      </a:pPr>
                      <a:endParaRPr sz="1300">
                        <a:latin typeface="Times New Roman"/>
                        <a:cs typeface="Times New Roman"/>
                      </a:endParaRPr>
                    </a:p>
                  </a:txBody>
                  <a:tcPr marL="0" marR="0" marT="0" marB="0"/>
                </a:tc>
                <a:tc>
                  <a:txBody>
                    <a:bodyPr/>
                    <a:lstStyle/>
                    <a:p>
                      <a:pPr marL="133985" algn="ctr">
                        <a:lnSpc>
                          <a:spcPts val="1610"/>
                        </a:lnSpc>
                      </a:pPr>
                      <a:r>
                        <a:rPr sz="1400" spc="-50" dirty="0">
                          <a:latin typeface="宋体"/>
                          <a:cs typeface="宋体"/>
                        </a:rPr>
                        <a:t>／</a:t>
                      </a:r>
                      <a:endParaRPr sz="1400">
                        <a:latin typeface="宋体"/>
                        <a:cs typeface="宋体"/>
                      </a:endParaRPr>
                    </a:p>
                  </a:txBody>
                  <a:tcPr marL="0" marR="0" marT="0" marB="0"/>
                </a:tc>
                <a:tc>
                  <a:txBody>
                    <a:bodyPr/>
                    <a:lstStyle/>
                    <a:p>
                      <a:pPr marR="7620" algn="ctr">
                        <a:lnSpc>
                          <a:spcPts val="1610"/>
                        </a:lnSpc>
                      </a:pPr>
                      <a:r>
                        <a:rPr sz="1400" spc="-50" dirty="0">
                          <a:latin typeface="宋体"/>
                          <a:cs typeface="宋体"/>
                        </a:rPr>
                        <a:t>除</a:t>
                      </a:r>
                      <a:endParaRPr sz="1400">
                        <a:latin typeface="宋体"/>
                        <a:cs typeface="宋体"/>
                      </a:endParaRPr>
                    </a:p>
                  </a:txBody>
                  <a:tcPr marL="0" marR="0" marT="0" marB="0"/>
                </a:tc>
                <a:tc>
                  <a:txBody>
                    <a:bodyPr/>
                    <a:lstStyle/>
                    <a:p>
                      <a:pPr marL="300990">
                        <a:lnSpc>
                          <a:spcPts val="1610"/>
                        </a:lnSpc>
                      </a:pPr>
                      <a:r>
                        <a:rPr sz="1400" spc="-50" dirty="0">
                          <a:latin typeface="宋体"/>
                          <a:cs typeface="宋体"/>
                        </a:rPr>
                        <a:t>２</a:t>
                      </a:r>
                      <a:endParaRPr sz="1400">
                        <a:latin typeface="宋体"/>
                        <a:cs typeface="宋体"/>
                      </a:endParaRPr>
                    </a:p>
                  </a:txBody>
                  <a:tcPr marL="0" marR="0" marT="0" marB="0"/>
                </a:tc>
                <a:extLst>
                  <a:ext uri="{0D108BD9-81ED-4DB2-BD59-A6C34878D82A}">
                    <a16:rowId xmlns:a16="http://schemas.microsoft.com/office/drawing/2014/main" val="10003"/>
                  </a:ext>
                </a:extLst>
              </a:tr>
              <a:tr h="234315">
                <a:tc>
                  <a:txBody>
                    <a:bodyPr/>
                    <a:lstStyle/>
                    <a:p>
                      <a:pPr>
                        <a:lnSpc>
                          <a:spcPct val="100000"/>
                        </a:lnSpc>
                      </a:pPr>
                      <a:endParaRPr sz="1400">
                        <a:latin typeface="Times New Roman"/>
                        <a:cs typeface="Times New Roman"/>
                      </a:endParaRPr>
                    </a:p>
                  </a:txBody>
                  <a:tcPr marL="0" marR="0" marT="0" marB="0"/>
                </a:tc>
                <a:tc>
                  <a:txBody>
                    <a:bodyPr/>
                    <a:lstStyle/>
                    <a:p>
                      <a:pPr marL="133350" algn="ctr">
                        <a:lnSpc>
                          <a:spcPts val="1650"/>
                        </a:lnSpc>
                      </a:pPr>
                      <a:r>
                        <a:rPr sz="1400" spc="-50" dirty="0">
                          <a:latin typeface="Calibri"/>
                          <a:cs typeface="Calibri"/>
                        </a:rPr>
                        <a:t>%</a:t>
                      </a:r>
                      <a:endParaRPr sz="1400">
                        <a:latin typeface="Calibri"/>
                        <a:cs typeface="Calibri"/>
                      </a:endParaRPr>
                    </a:p>
                  </a:txBody>
                  <a:tcPr marL="0" marR="0" marT="0" marB="0"/>
                </a:tc>
                <a:tc>
                  <a:txBody>
                    <a:bodyPr/>
                    <a:lstStyle/>
                    <a:p>
                      <a:pPr marR="7620" algn="ctr">
                        <a:lnSpc>
                          <a:spcPts val="1675"/>
                        </a:lnSpc>
                      </a:pPr>
                      <a:r>
                        <a:rPr sz="1400" spc="-25" dirty="0">
                          <a:latin typeface="宋体"/>
                          <a:cs typeface="宋体"/>
                        </a:rPr>
                        <a:t>取模</a:t>
                      </a:r>
                      <a:endParaRPr sz="1400">
                        <a:latin typeface="宋体"/>
                        <a:cs typeface="宋体"/>
                      </a:endParaRPr>
                    </a:p>
                  </a:txBody>
                  <a:tcPr marL="0" marR="0" marT="0" marB="0"/>
                </a:tc>
                <a:tc>
                  <a:txBody>
                    <a:bodyPr/>
                    <a:lstStyle/>
                    <a:p>
                      <a:pPr marL="300990">
                        <a:lnSpc>
                          <a:spcPts val="1675"/>
                        </a:lnSpc>
                      </a:pPr>
                      <a:r>
                        <a:rPr sz="1400" spc="-50" dirty="0">
                          <a:latin typeface="宋体"/>
                          <a:cs typeface="宋体"/>
                        </a:rPr>
                        <a:t>２</a:t>
                      </a:r>
                      <a:endParaRPr sz="1400">
                        <a:latin typeface="宋体"/>
                        <a:cs typeface="宋体"/>
                      </a:endParaRPr>
                    </a:p>
                  </a:txBody>
                  <a:tcPr marL="0" marR="0" marT="0" marB="0"/>
                </a:tc>
                <a:extLst>
                  <a:ext uri="{0D108BD9-81ED-4DB2-BD59-A6C34878D82A}">
                    <a16:rowId xmlns:a16="http://schemas.microsoft.com/office/drawing/2014/main" val="10004"/>
                  </a:ext>
                </a:extLst>
              </a:tr>
              <a:tr h="224790">
                <a:tc>
                  <a:txBody>
                    <a:bodyPr/>
                    <a:lstStyle/>
                    <a:p>
                      <a:pPr>
                        <a:lnSpc>
                          <a:spcPct val="100000"/>
                        </a:lnSpc>
                      </a:pPr>
                      <a:endParaRPr sz="1300">
                        <a:latin typeface="Times New Roman"/>
                        <a:cs typeface="Times New Roman"/>
                      </a:endParaRPr>
                    </a:p>
                  </a:txBody>
                  <a:tcPr marL="0" marR="0" marT="0" marB="0">
                    <a:lnB w="12700">
                      <a:solidFill>
                        <a:srgbClr val="000000"/>
                      </a:solidFill>
                      <a:prstDash val="solid"/>
                    </a:lnB>
                  </a:tcPr>
                </a:tc>
                <a:tc>
                  <a:txBody>
                    <a:bodyPr/>
                    <a:lstStyle/>
                    <a:p>
                      <a:pPr marL="133985" algn="ctr">
                        <a:lnSpc>
                          <a:spcPts val="1585"/>
                        </a:lnSpc>
                      </a:pPr>
                      <a:r>
                        <a:rPr sz="1400" spc="-25" dirty="0">
                          <a:latin typeface="Calibri"/>
                          <a:cs typeface="Calibri"/>
                        </a:rPr>
                        <a:t>**</a:t>
                      </a:r>
                      <a:endParaRPr sz="1400">
                        <a:latin typeface="Calibri"/>
                        <a:cs typeface="Calibri"/>
                      </a:endParaRPr>
                    </a:p>
                  </a:txBody>
                  <a:tcPr marL="0" marR="0" marT="0" marB="0">
                    <a:lnB w="12700">
                      <a:solidFill>
                        <a:srgbClr val="000000"/>
                      </a:solidFill>
                      <a:prstDash val="solid"/>
                    </a:lnB>
                  </a:tcPr>
                </a:tc>
                <a:tc>
                  <a:txBody>
                    <a:bodyPr/>
                    <a:lstStyle/>
                    <a:p>
                      <a:pPr marR="7620" algn="ctr">
                        <a:lnSpc>
                          <a:spcPts val="1610"/>
                        </a:lnSpc>
                      </a:pPr>
                      <a:r>
                        <a:rPr sz="1400" spc="-50" dirty="0">
                          <a:latin typeface="宋体"/>
                          <a:cs typeface="宋体"/>
                        </a:rPr>
                        <a:t>幂</a:t>
                      </a:r>
                      <a:endParaRPr sz="1400">
                        <a:latin typeface="宋体"/>
                        <a:cs typeface="宋体"/>
                      </a:endParaRPr>
                    </a:p>
                  </a:txBody>
                  <a:tcPr marL="0" marR="0" marT="0" marB="0">
                    <a:lnB w="12700">
                      <a:solidFill>
                        <a:srgbClr val="000000"/>
                      </a:solidFill>
                      <a:prstDash val="solid"/>
                    </a:lnB>
                  </a:tcPr>
                </a:tc>
                <a:tc>
                  <a:txBody>
                    <a:bodyPr/>
                    <a:lstStyle/>
                    <a:p>
                      <a:pPr marL="300990">
                        <a:lnSpc>
                          <a:spcPts val="1610"/>
                        </a:lnSpc>
                      </a:pPr>
                      <a:r>
                        <a:rPr sz="1400" spc="-50" dirty="0">
                          <a:latin typeface="宋体"/>
                          <a:cs typeface="宋体"/>
                        </a:rPr>
                        <a:t>２</a:t>
                      </a:r>
                      <a:endParaRPr sz="1400">
                        <a:latin typeface="宋体"/>
                        <a:cs typeface="宋体"/>
                      </a:endParaRPr>
                    </a:p>
                  </a:txBody>
                  <a:tcPr marL="0" marR="0" marT="0" marB="0">
                    <a:lnB w="12700">
                      <a:solidFill>
                        <a:srgbClr val="000000"/>
                      </a:solidFill>
                      <a:prstDash val="solid"/>
                    </a:lnB>
                  </a:tcPr>
                </a:tc>
                <a:extLst>
                  <a:ext uri="{0D108BD9-81ED-4DB2-BD59-A6C34878D82A}">
                    <a16:rowId xmlns:a16="http://schemas.microsoft.com/office/drawing/2014/main" val="10005"/>
                  </a:ext>
                </a:extLst>
              </a:tr>
              <a:tr h="218440">
                <a:tc>
                  <a:txBody>
                    <a:bodyPr/>
                    <a:lstStyle/>
                    <a:p>
                      <a:pPr marL="43180" algn="ctr">
                        <a:lnSpc>
                          <a:spcPts val="1620"/>
                        </a:lnSpc>
                      </a:pPr>
                      <a:r>
                        <a:rPr sz="1400" spc="-25" dirty="0">
                          <a:latin typeface="宋体"/>
                          <a:cs typeface="宋体"/>
                        </a:rPr>
                        <a:t>移位</a:t>
                      </a:r>
                      <a:endParaRPr sz="1400">
                        <a:latin typeface="宋体"/>
                        <a:cs typeface="宋体"/>
                      </a:endParaRPr>
                    </a:p>
                  </a:txBody>
                  <a:tcPr marL="0" marR="0" marT="0" marB="0">
                    <a:lnT w="12700">
                      <a:solidFill>
                        <a:srgbClr val="000000"/>
                      </a:solidFill>
                      <a:prstDash val="solid"/>
                    </a:lnT>
                  </a:tcPr>
                </a:tc>
                <a:tc>
                  <a:txBody>
                    <a:bodyPr/>
                    <a:lstStyle/>
                    <a:p>
                      <a:pPr marL="133985" algn="ctr">
                        <a:lnSpc>
                          <a:spcPts val="1620"/>
                        </a:lnSpc>
                      </a:pPr>
                      <a:r>
                        <a:rPr sz="1400" spc="-25" dirty="0">
                          <a:latin typeface="宋体"/>
                          <a:cs typeface="宋体"/>
                        </a:rPr>
                        <a:t>＞＞</a:t>
                      </a:r>
                      <a:endParaRPr sz="1400">
                        <a:latin typeface="宋体"/>
                        <a:cs typeface="宋体"/>
                      </a:endParaRPr>
                    </a:p>
                  </a:txBody>
                  <a:tcPr marL="0" marR="0" marT="0" marB="0">
                    <a:lnT w="12700">
                      <a:solidFill>
                        <a:srgbClr val="000000"/>
                      </a:solidFill>
                      <a:prstDash val="solid"/>
                    </a:lnT>
                  </a:tcPr>
                </a:tc>
                <a:tc>
                  <a:txBody>
                    <a:bodyPr/>
                    <a:lstStyle/>
                    <a:p>
                      <a:pPr marR="81915" algn="ctr">
                        <a:lnSpc>
                          <a:spcPts val="1620"/>
                        </a:lnSpc>
                      </a:pPr>
                      <a:r>
                        <a:rPr sz="1400" spc="-15" dirty="0">
                          <a:latin typeface="宋体"/>
                          <a:cs typeface="宋体"/>
                        </a:rPr>
                        <a:t>逻辑右移</a:t>
                      </a:r>
                      <a:endParaRPr sz="1400">
                        <a:latin typeface="宋体"/>
                        <a:cs typeface="宋体"/>
                      </a:endParaRPr>
                    </a:p>
                  </a:txBody>
                  <a:tcPr marL="0" marR="0" marT="0" marB="0">
                    <a:lnT w="12700">
                      <a:solidFill>
                        <a:srgbClr val="000000"/>
                      </a:solidFill>
                      <a:prstDash val="solid"/>
                    </a:lnT>
                  </a:tcPr>
                </a:tc>
                <a:tc>
                  <a:txBody>
                    <a:bodyPr/>
                    <a:lstStyle/>
                    <a:p>
                      <a:pPr marL="300990">
                        <a:lnSpc>
                          <a:spcPts val="1620"/>
                        </a:lnSpc>
                      </a:pPr>
                      <a:r>
                        <a:rPr sz="1400" spc="-50" dirty="0">
                          <a:latin typeface="宋体"/>
                          <a:cs typeface="宋体"/>
                        </a:rPr>
                        <a:t>２</a:t>
                      </a:r>
                      <a:endParaRPr sz="1400">
                        <a:latin typeface="宋体"/>
                        <a:cs typeface="宋体"/>
                      </a:endParaRPr>
                    </a:p>
                  </a:txBody>
                  <a:tcPr marL="0" marR="0" marT="0" marB="0">
                    <a:lnT w="12700">
                      <a:solidFill>
                        <a:srgbClr val="000000"/>
                      </a:solidFill>
                      <a:prstDash val="solid"/>
                    </a:lnT>
                  </a:tcPr>
                </a:tc>
                <a:extLst>
                  <a:ext uri="{0D108BD9-81ED-4DB2-BD59-A6C34878D82A}">
                    <a16:rowId xmlns:a16="http://schemas.microsoft.com/office/drawing/2014/main" val="10006"/>
                  </a:ext>
                </a:extLst>
              </a:tr>
              <a:tr h="226060">
                <a:tc>
                  <a:txBody>
                    <a:bodyPr/>
                    <a:lstStyle/>
                    <a:p>
                      <a:pPr>
                        <a:lnSpc>
                          <a:spcPct val="100000"/>
                        </a:lnSpc>
                      </a:pPr>
                      <a:endParaRPr sz="1300">
                        <a:latin typeface="Times New Roman"/>
                        <a:cs typeface="Times New Roman"/>
                      </a:endParaRPr>
                    </a:p>
                  </a:txBody>
                  <a:tcPr marL="0" marR="0" marT="0" marB="0"/>
                </a:tc>
                <a:tc>
                  <a:txBody>
                    <a:bodyPr/>
                    <a:lstStyle/>
                    <a:p>
                      <a:pPr marL="133985" algn="ctr">
                        <a:lnSpc>
                          <a:spcPts val="1675"/>
                        </a:lnSpc>
                      </a:pPr>
                      <a:r>
                        <a:rPr sz="1400" spc="-25" dirty="0">
                          <a:latin typeface="宋体"/>
                          <a:cs typeface="宋体"/>
                        </a:rPr>
                        <a:t>＜＜</a:t>
                      </a:r>
                      <a:endParaRPr sz="1400">
                        <a:latin typeface="宋体"/>
                        <a:cs typeface="宋体"/>
                      </a:endParaRPr>
                    </a:p>
                  </a:txBody>
                  <a:tcPr marL="0" marR="0" marT="0" marB="0"/>
                </a:tc>
                <a:tc>
                  <a:txBody>
                    <a:bodyPr/>
                    <a:lstStyle/>
                    <a:p>
                      <a:pPr marR="81915" algn="ctr">
                        <a:lnSpc>
                          <a:spcPts val="1675"/>
                        </a:lnSpc>
                      </a:pPr>
                      <a:r>
                        <a:rPr sz="1400" spc="-15" dirty="0">
                          <a:latin typeface="宋体"/>
                          <a:cs typeface="宋体"/>
                        </a:rPr>
                        <a:t>逻辑左移</a:t>
                      </a:r>
                      <a:endParaRPr sz="1400">
                        <a:latin typeface="宋体"/>
                        <a:cs typeface="宋体"/>
                      </a:endParaRPr>
                    </a:p>
                  </a:txBody>
                  <a:tcPr marL="0" marR="0" marT="0" marB="0"/>
                </a:tc>
                <a:tc>
                  <a:txBody>
                    <a:bodyPr/>
                    <a:lstStyle/>
                    <a:p>
                      <a:pPr marL="300990">
                        <a:lnSpc>
                          <a:spcPts val="1675"/>
                        </a:lnSpc>
                      </a:pPr>
                      <a:r>
                        <a:rPr sz="1400" spc="-50" dirty="0">
                          <a:latin typeface="宋体"/>
                          <a:cs typeface="宋体"/>
                        </a:rPr>
                        <a:t>２</a:t>
                      </a:r>
                      <a:endParaRPr sz="1400">
                        <a:latin typeface="宋体"/>
                        <a:cs typeface="宋体"/>
                      </a:endParaRPr>
                    </a:p>
                  </a:txBody>
                  <a:tcPr marL="0" marR="0" marT="0" marB="0"/>
                </a:tc>
                <a:extLst>
                  <a:ext uri="{0D108BD9-81ED-4DB2-BD59-A6C34878D82A}">
                    <a16:rowId xmlns:a16="http://schemas.microsoft.com/office/drawing/2014/main" val="10007"/>
                  </a:ext>
                </a:extLst>
              </a:tr>
              <a:tr h="225425">
                <a:tc>
                  <a:txBody>
                    <a:bodyPr/>
                    <a:lstStyle/>
                    <a:p>
                      <a:pPr>
                        <a:lnSpc>
                          <a:spcPct val="100000"/>
                        </a:lnSpc>
                      </a:pPr>
                      <a:endParaRPr sz="1300">
                        <a:latin typeface="Times New Roman"/>
                        <a:cs typeface="Times New Roman"/>
                      </a:endParaRPr>
                    </a:p>
                  </a:txBody>
                  <a:tcPr marL="0" marR="0" marT="0" marB="0"/>
                </a:tc>
                <a:tc>
                  <a:txBody>
                    <a:bodyPr/>
                    <a:lstStyle/>
                    <a:p>
                      <a:pPr marL="133985" algn="ctr">
                        <a:lnSpc>
                          <a:spcPts val="1675"/>
                        </a:lnSpc>
                      </a:pPr>
                      <a:r>
                        <a:rPr sz="1400" spc="-25" dirty="0">
                          <a:latin typeface="宋体"/>
                          <a:cs typeface="宋体"/>
                        </a:rPr>
                        <a:t>＞＞＞</a:t>
                      </a:r>
                      <a:endParaRPr sz="1400">
                        <a:latin typeface="宋体"/>
                        <a:cs typeface="宋体"/>
                      </a:endParaRPr>
                    </a:p>
                  </a:txBody>
                  <a:tcPr marL="0" marR="0" marT="0" marB="0"/>
                </a:tc>
                <a:tc>
                  <a:txBody>
                    <a:bodyPr/>
                    <a:lstStyle/>
                    <a:p>
                      <a:pPr marR="81915" algn="ctr">
                        <a:lnSpc>
                          <a:spcPts val="1675"/>
                        </a:lnSpc>
                      </a:pPr>
                      <a:r>
                        <a:rPr sz="1400" spc="-15" dirty="0">
                          <a:latin typeface="宋体"/>
                          <a:cs typeface="宋体"/>
                        </a:rPr>
                        <a:t>算数右移</a:t>
                      </a:r>
                      <a:endParaRPr sz="1400">
                        <a:latin typeface="宋体"/>
                        <a:cs typeface="宋体"/>
                      </a:endParaRPr>
                    </a:p>
                  </a:txBody>
                  <a:tcPr marL="0" marR="0" marT="0" marB="0"/>
                </a:tc>
                <a:tc>
                  <a:txBody>
                    <a:bodyPr/>
                    <a:lstStyle/>
                    <a:p>
                      <a:pPr marL="300990">
                        <a:lnSpc>
                          <a:spcPts val="1675"/>
                        </a:lnSpc>
                      </a:pPr>
                      <a:r>
                        <a:rPr sz="1400" spc="-50" dirty="0">
                          <a:latin typeface="宋体"/>
                          <a:cs typeface="宋体"/>
                        </a:rPr>
                        <a:t>２</a:t>
                      </a:r>
                      <a:endParaRPr sz="1400">
                        <a:latin typeface="宋体"/>
                        <a:cs typeface="宋体"/>
                      </a:endParaRPr>
                    </a:p>
                  </a:txBody>
                  <a:tcPr marL="0" marR="0" marT="0" marB="0"/>
                </a:tc>
                <a:extLst>
                  <a:ext uri="{0D108BD9-81ED-4DB2-BD59-A6C34878D82A}">
                    <a16:rowId xmlns:a16="http://schemas.microsoft.com/office/drawing/2014/main" val="10008"/>
                  </a:ext>
                </a:extLst>
              </a:tr>
              <a:tr h="233679">
                <a:tc>
                  <a:txBody>
                    <a:bodyPr/>
                    <a:lstStyle/>
                    <a:p>
                      <a:pPr>
                        <a:lnSpc>
                          <a:spcPct val="100000"/>
                        </a:lnSpc>
                      </a:pPr>
                      <a:endParaRPr sz="1400">
                        <a:latin typeface="Times New Roman"/>
                        <a:cs typeface="Times New Roman"/>
                      </a:endParaRPr>
                    </a:p>
                  </a:txBody>
                  <a:tcPr marL="0" marR="0" marT="0" marB="0">
                    <a:lnB w="12700">
                      <a:solidFill>
                        <a:srgbClr val="000000"/>
                      </a:solidFill>
                      <a:prstDash val="solid"/>
                    </a:lnB>
                  </a:tcPr>
                </a:tc>
                <a:tc>
                  <a:txBody>
                    <a:bodyPr/>
                    <a:lstStyle/>
                    <a:p>
                      <a:pPr marL="133985" algn="ctr">
                        <a:lnSpc>
                          <a:spcPts val="1675"/>
                        </a:lnSpc>
                      </a:pPr>
                      <a:r>
                        <a:rPr sz="1400" spc="-25" dirty="0">
                          <a:latin typeface="宋体"/>
                          <a:cs typeface="宋体"/>
                        </a:rPr>
                        <a:t>＜＜＜</a:t>
                      </a:r>
                      <a:endParaRPr sz="1400">
                        <a:latin typeface="宋体"/>
                        <a:cs typeface="宋体"/>
                      </a:endParaRPr>
                    </a:p>
                  </a:txBody>
                  <a:tcPr marL="0" marR="0" marT="0" marB="0">
                    <a:lnB w="12700">
                      <a:solidFill>
                        <a:srgbClr val="000000"/>
                      </a:solidFill>
                      <a:prstDash val="solid"/>
                    </a:lnB>
                  </a:tcPr>
                </a:tc>
                <a:tc>
                  <a:txBody>
                    <a:bodyPr/>
                    <a:lstStyle/>
                    <a:p>
                      <a:pPr marR="81915" algn="ctr">
                        <a:lnSpc>
                          <a:spcPts val="1675"/>
                        </a:lnSpc>
                      </a:pPr>
                      <a:r>
                        <a:rPr sz="1400" spc="-15" dirty="0">
                          <a:latin typeface="宋体"/>
                          <a:cs typeface="宋体"/>
                        </a:rPr>
                        <a:t>算数左移</a:t>
                      </a:r>
                      <a:endParaRPr sz="1400">
                        <a:latin typeface="宋体"/>
                        <a:cs typeface="宋体"/>
                      </a:endParaRPr>
                    </a:p>
                  </a:txBody>
                  <a:tcPr marL="0" marR="0" marT="0" marB="0">
                    <a:lnB w="12700">
                      <a:solidFill>
                        <a:srgbClr val="000000"/>
                      </a:solidFill>
                      <a:prstDash val="solid"/>
                    </a:lnB>
                  </a:tcPr>
                </a:tc>
                <a:tc>
                  <a:txBody>
                    <a:bodyPr/>
                    <a:lstStyle/>
                    <a:p>
                      <a:pPr marL="300990">
                        <a:lnSpc>
                          <a:spcPts val="1675"/>
                        </a:lnSpc>
                      </a:pPr>
                      <a:r>
                        <a:rPr sz="1400" spc="-50" dirty="0">
                          <a:latin typeface="宋体"/>
                          <a:cs typeface="宋体"/>
                        </a:rPr>
                        <a:t>２</a:t>
                      </a:r>
                      <a:endParaRPr sz="1400">
                        <a:latin typeface="宋体"/>
                        <a:cs typeface="宋体"/>
                      </a:endParaRPr>
                    </a:p>
                  </a:txBody>
                  <a:tcPr marL="0" marR="0" marT="0" marB="0">
                    <a:lnB w="12700">
                      <a:solidFill>
                        <a:srgbClr val="000000"/>
                      </a:solidFill>
                      <a:prstDash val="solid"/>
                    </a:lnB>
                  </a:tcPr>
                </a:tc>
                <a:extLst>
                  <a:ext uri="{0D108BD9-81ED-4DB2-BD59-A6C34878D82A}">
                    <a16:rowId xmlns:a16="http://schemas.microsoft.com/office/drawing/2014/main" val="10009"/>
                  </a:ext>
                </a:extLst>
              </a:tr>
              <a:tr h="217804">
                <a:tc>
                  <a:txBody>
                    <a:bodyPr/>
                    <a:lstStyle/>
                    <a:p>
                      <a:pPr marL="43180" algn="ctr">
                        <a:lnSpc>
                          <a:spcPts val="1610"/>
                        </a:lnSpc>
                      </a:pPr>
                      <a:r>
                        <a:rPr sz="1400" spc="-25" dirty="0">
                          <a:latin typeface="宋体"/>
                          <a:cs typeface="宋体"/>
                        </a:rPr>
                        <a:t>关系</a:t>
                      </a:r>
                      <a:endParaRPr sz="1400">
                        <a:latin typeface="宋体"/>
                        <a:cs typeface="宋体"/>
                      </a:endParaRPr>
                    </a:p>
                  </a:txBody>
                  <a:tcPr marL="0" marR="0" marT="0" marB="0">
                    <a:lnT w="12700">
                      <a:solidFill>
                        <a:srgbClr val="000000"/>
                      </a:solidFill>
                      <a:prstDash val="solid"/>
                    </a:lnT>
                  </a:tcPr>
                </a:tc>
                <a:tc>
                  <a:txBody>
                    <a:bodyPr/>
                    <a:lstStyle/>
                    <a:p>
                      <a:pPr marL="133985" algn="ctr">
                        <a:lnSpc>
                          <a:spcPts val="1610"/>
                        </a:lnSpc>
                      </a:pPr>
                      <a:r>
                        <a:rPr sz="1400" spc="-50" dirty="0">
                          <a:latin typeface="宋体"/>
                          <a:cs typeface="宋体"/>
                        </a:rPr>
                        <a:t>＞</a:t>
                      </a:r>
                      <a:endParaRPr sz="1400">
                        <a:latin typeface="宋体"/>
                        <a:cs typeface="宋体"/>
                      </a:endParaRPr>
                    </a:p>
                  </a:txBody>
                  <a:tcPr marL="0" marR="0" marT="0" marB="0">
                    <a:lnT w="12700">
                      <a:solidFill>
                        <a:srgbClr val="000000"/>
                      </a:solidFill>
                      <a:prstDash val="solid"/>
                    </a:lnT>
                  </a:tcPr>
                </a:tc>
                <a:tc>
                  <a:txBody>
                    <a:bodyPr/>
                    <a:lstStyle/>
                    <a:p>
                      <a:pPr marR="81915" algn="ctr">
                        <a:lnSpc>
                          <a:spcPts val="1610"/>
                        </a:lnSpc>
                      </a:pPr>
                      <a:r>
                        <a:rPr sz="1400" spc="-25" dirty="0">
                          <a:latin typeface="宋体"/>
                          <a:cs typeface="宋体"/>
                        </a:rPr>
                        <a:t>大于</a:t>
                      </a:r>
                      <a:endParaRPr sz="1400">
                        <a:latin typeface="宋体"/>
                        <a:cs typeface="宋体"/>
                      </a:endParaRPr>
                    </a:p>
                  </a:txBody>
                  <a:tcPr marL="0" marR="0" marT="0" marB="0">
                    <a:lnT w="12700">
                      <a:solidFill>
                        <a:srgbClr val="000000"/>
                      </a:solidFill>
                      <a:prstDash val="solid"/>
                    </a:lnT>
                  </a:tcPr>
                </a:tc>
                <a:tc>
                  <a:txBody>
                    <a:bodyPr/>
                    <a:lstStyle/>
                    <a:p>
                      <a:pPr marL="300990">
                        <a:lnSpc>
                          <a:spcPts val="1610"/>
                        </a:lnSpc>
                      </a:pPr>
                      <a:r>
                        <a:rPr sz="1400" spc="-50" dirty="0">
                          <a:latin typeface="宋体"/>
                          <a:cs typeface="宋体"/>
                        </a:rPr>
                        <a:t>２</a:t>
                      </a:r>
                      <a:endParaRPr sz="1400">
                        <a:latin typeface="宋体"/>
                        <a:cs typeface="宋体"/>
                      </a:endParaRPr>
                    </a:p>
                  </a:txBody>
                  <a:tcPr marL="0" marR="0" marT="0" marB="0">
                    <a:lnT w="12700">
                      <a:solidFill>
                        <a:srgbClr val="000000"/>
                      </a:solidFill>
                      <a:prstDash val="solid"/>
                    </a:lnT>
                  </a:tcPr>
                </a:tc>
                <a:extLst>
                  <a:ext uri="{0D108BD9-81ED-4DB2-BD59-A6C34878D82A}">
                    <a16:rowId xmlns:a16="http://schemas.microsoft.com/office/drawing/2014/main" val="10010"/>
                  </a:ext>
                </a:extLst>
              </a:tr>
              <a:tr h="226060">
                <a:tc>
                  <a:txBody>
                    <a:bodyPr/>
                    <a:lstStyle/>
                    <a:p>
                      <a:pPr>
                        <a:lnSpc>
                          <a:spcPct val="100000"/>
                        </a:lnSpc>
                      </a:pPr>
                      <a:endParaRPr sz="1300">
                        <a:latin typeface="Times New Roman"/>
                        <a:cs typeface="Times New Roman"/>
                      </a:endParaRPr>
                    </a:p>
                  </a:txBody>
                  <a:tcPr marL="0" marR="0" marT="0" marB="0"/>
                </a:tc>
                <a:tc>
                  <a:txBody>
                    <a:bodyPr/>
                    <a:lstStyle/>
                    <a:p>
                      <a:pPr marL="133985" algn="ctr">
                        <a:lnSpc>
                          <a:spcPts val="1675"/>
                        </a:lnSpc>
                      </a:pPr>
                      <a:r>
                        <a:rPr sz="1400" spc="-50" dirty="0">
                          <a:latin typeface="宋体"/>
                          <a:cs typeface="宋体"/>
                        </a:rPr>
                        <a:t>＜</a:t>
                      </a:r>
                      <a:endParaRPr sz="1400">
                        <a:latin typeface="宋体"/>
                        <a:cs typeface="宋体"/>
                      </a:endParaRPr>
                    </a:p>
                  </a:txBody>
                  <a:tcPr marL="0" marR="0" marT="0" marB="0"/>
                </a:tc>
                <a:tc>
                  <a:txBody>
                    <a:bodyPr/>
                    <a:lstStyle/>
                    <a:p>
                      <a:pPr marR="81915" algn="ctr">
                        <a:lnSpc>
                          <a:spcPts val="1675"/>
                        </a:lnSpc>
                      </a:pPr>
                      <a:r>
                        <a:rPr sz="1400" spc="-25" dirty="0">
                          <a:latin typeface="宋体"/>
                          <a:cs typeface="宋体"/>
                        </a:rPr>
                        <a:t>小于</a:t>
                      </a:r>
                      <a:endParaRPr sz="1400">
                        <a:latin typeface="宋体"/>
                        <a:cs typeface="宋体"/>
                      </a:endParaRPr>
                    </a:p>
                  </a:txBody>
                  <a:tcPr marL="0" marR="0" marT="0" marB="0"/>
                </a:tc>
                <a:tc>
                  <a:txBody>
                    <a:bodyPr/>
                    <a:lstStyle/>
                    <a:p>
                      <a:pPr marL="300990">
                        <a:lnSpc>
                          <a:spcPts val="1675"/>
                        </a:lnSpc>
                      </a:pPr>
                      <a:r>
                        <a:rPr sz="1400" spc="-50" dirty="0">
                          <a:latin typeface="宋体"/>
                          <a:cs typeface="宋体"/>
                        </a:rPr>
                        <a:t>２</a:t>
                      </a:r>
                      <a:endParaRPr sz="1400">
                        <a:latin typeface="宋体"/>
                        <a:cs typeface="宋体"/>
                      </a:endParaRPr>
                    </a:p>
                  </a:txBody>
                  <a:tcPr marL="0" marR="0" marT="0" marB="0"/>
                </a:tc>
                <a:extLst>
                  <a:ext uri="{0D108BD9-81ED-4DB2-BD59-A6C34878D82A}">
                    <a16:rowId xmlns:a16="http://schemas.microsoft.com/office/drawing/2014/main" val="10011"/>
                  </a:ext>
                </a:extLst>
              </a:tr>
              <a:tr h="226060">
                <a:tc>
                  <a:txBody>
                    <a:bodyPr/>
                    <a:lstStyle/>
                    <a:p>
                      <a:pPr>
                        <a:lnSpc>
                          <a:spcPct val="100000"/>
                        </a:lnSpc>
                      </a:pPr>
                      <a:endParaRPr sz="1300">
                        <a:latin typeface="Times New Roman"/>
                        <a:cs typeface="Times New Roman"/>
                      </a:endParaRPr>
                    </a:p>
                  </a:txBody>
                  <a:tcPr marL="0" marR="0" marT="0" marB="0"/>
                </a:tc>
                <a:tc>
                  <a:txBody>
                    <a:bodyPr/>
                    <a:lstStyle/>
                    <a:p>
                      <a:pPr marL="133985" algn="ctr">
                        <a:lnSpc>
                          <a:spcPts val="1675"/>
                        </a:lnSpc>
                      </a:pPr>
                      <a:r>
                        <a:rPr sz="1400" spc="-25" dirty="0">
                          <a:latin typeface="宋体"/>
                          <a:cs typeface="宋体"/>
                        </a:rPr>
                        <a:t>＞＝</a:t>
                      </a:r>
                      <a:endParaRPr sz="1400">
                        <a:latin typeface="宋体"/>
                        <a:cs typeface="宋体"/>
                      </a:endParaRPr>
                    </a:p>
                  </a:txBody>
                  <a:tcPr marL="0" marR="0" marT="0" marB="0"/>
                </a:tc>
                <a:tc>
                  <a:txBody>
                    <a:bodyPr/>
                    <a:lstStyle/>
                    <a:p>
                      <a:pPr marR="81915" algn="ctr">
                        <a:lnSpc>
                          <a:spcPts val="1675"/>
                        </a:lnSpc>
                      </a:pPr>
                      <a:r>
                        <a:rPr sz="1400" spc="-15" dirty="0">
                          <a:latin typeface="宋体"/>
                          <a:cs typeface="宋体"/>
                        </a:rPr>
                        <a:t>大于等于</a:t>
                      </a:r>
                      <a:endParaRPr sz="1400">
                        <a:latin typeface="宋体"/>
                        <a:cs typeface="宋体"/>
                      </a:endParaRPr>
                    </a:p>
                  </a:txBody>
                  <a:tcPr marL="0" marR="0" marT="0" marB="0"/>
                </a:tc>
                <a:tc>
                  <a:txBody>
                    <a:bodyPr/>
                    <a:lstStyle/>
                    <a:p>
                      <a:pPr marL="300990">
                        <a:lnSpc>
                          <a:spcPts val="1675"/>
                        </a:lnSpc>
                      </a:pPr>
                      <a:r>
                        <a:rPr sz="1400" spc="-50" dirty="0">
                          <a:latin typeface="宋体"/>
                          <a:cs typeface="宋体"/>
                        </a:rPr>
                        <a:t>２</a:t>
                      </a:r>
                      <a:endParaRPr sz="1400">
                        <a:latin typeface="宋体"/>
                        <a:cs typeface="宋体"/>
                      </a:endParaRPr>
                    </a:p>
                  </a:txBody>
                  <a:tcPr marL="0" marR="0" marT="0" marB="0"/>
                </a:tc>
                <a:extLst>
                  <a:ext uri="{0D108BD9-81ED-4DB2-BD59-A6C34878D82A}">
                    <a16:rowId xmlns:a16="http://schemas.microsoft.com/office/drawing/2014/main" val="10012"/>
                  </a:ext>
                </a:extLst>
              </a:tr>
              <a:tr h="233045">
                <a:tc>
                  <a:txBody>
                    <a:bodyPr/>
                    <a:lstStyle/>
                    <a:p>
                      <a:pPr>
                        <a:lnSpc>
                          <a:spcPct val="100000"/>
                        </a:lnSpc>
                      </a:pPr>
                      <a:endParaRPr sz="1400">
                        <a:latin typeface="Times New Roman"/>
                        <a:cs typeface="Times New Roman"/>
                      </a:endParaRPr>
                    </a:p>
                  </a:txBody>
                  <a:tcPr marL="0" marR="0" marT="0" marB="0">
                    <a:lnB w="12700">
                      <a:solidFill>
                        <a:srgbClr val="000000"/>
                      </a:solidFill>
                      <a:prstDash val="solid"/>
                    </a:lnB>
                  </a:tcPr>
                </a:tc>
                <a:tc>
                  <a:txBody>
                    <a:bodyPr/>
                    <a:lstStyle/>
                    <a:p>
                      <a:pPr marL="133985" algn="ctr">
                        <a:lnSpc>
                          <a:spcPts val="1675"/>
                        </a:lnSpc>
                      </a:pPr>
                      <a:r>
                        <a:rPr sz="1400" spc="-25" dirty="0">
                          <a:latin typeface="宋体"/>
                          <a:cs typeface="宋体"/>
                        </a:rPr>
                        <a:t>＜＝</a:t>
                      </a:r>
                      <a:endParaRPr sz="1400">
                        <a:latin typeface="宋体"/>
                        <a:cs typeface="宋体"/>
                      </a:endParaRPr>
                    </a:p>
                  </a:txBody>
                  <a:tcPr marL="0" marR="0" marT="0" marB="0">
                    <a:lnB w="12700">
                      <a:solidFill>
                        <a:srgbClr val="000000"/>
                      </a:solidFill>
                      <a:prstDash val="solid"/>
                    </a:lnB>
                  </a:tcPr>
                </a:tc>
                <a:tc>
                  <a:txBody>
                    <a:bodyPr/>
                    <a:lstStyle/>
                    <a:p>
                      <a:pPr marR="81915" algn="ctr">
                        <a:lnSpc>
                          <a:spcPts val="1675"/>
                        </a:lnSpc>
                      </a:pPr>
                      <a:r>
                        <a:rPr sz="1400" spc="-15" dirty="0">
                          <a:latin typeface="宋体"/>
                          <a:cs typeface="宋体"/>
                        </a:rPr>
                        <a:t>小于等于</a:t>
                      </a:r>
                      <a:endParaRPr sz="1400">
                        <a:latin typeface="宋体"/>
                        <a:cs typeface="宋体"/>
                      </a:endParaRPr>
                    </a:p>
                  </a:txBody>
                  <a:tcPr marL="0" marR="0" marT="0" marB="0">
                    <a:lnB w="12700">
                      <a:solidFill>
                        <a:srgbClr val="000000"/>
                      </a:solidFill>
                      <a:prstDash val="solid"/>
                    </a:lnB>
                  </a:tcPr>
                </a:tc>
                <a:tc>
                  <a:txBody>
                    <a:bodyPr/>
                    <a:lstStyle/>
                    <a:p>
                      <a:pPr marL="300990">
                        <a:lnSpc>
                          <a:spcPts val="1675"/>
                        </a:lnSpc>
                      </a:pPr>
                      <a:r>
                        <a:rPr sz="1400" spc="-50" dirty="0">
                          <a:latin typeface="宋体"/>
                          <a:cs typeface="宋体"/>
                        </a:rPr>
                        <a:t>２</a:t>
                      </a:r>
                      <a:endParaRPr sz="1400">
                        <a:latin typeface="宋体"/>
                        <a:cs typeface="宋体"/>
                      </a:endParaRPr>
                    </a:p>
                  </a:txBody>
                  <a:tcPr marL="0" marR="0" marT="0" marB="0">
                    <a:lnB w="12700">
                      <a:solidFill>
                        <a:srgbClr val="000000"/>
                      </a:solidFill>
                      <a:prstDash val="solid"/>
                    </a:lnB>
                  </a:tcPr>
                </a:tc>
                <a:extLst>
                  <a:ext uri="{0D108BD9-81ED-4DB2-BD59-A6C34878D82A}">
                    <a16:rowId xmlns:a16="http://schemas.microsoft.com/office/drawing/2014/main" val="10013"/>
                  </a:ext>
                </a:extLst>
              </a:tr>
              <a:tr h="254635">
                <a:tc>
                  <a:txBody>
                    <a:bodyPr/>
                    <a:lstStyle/>
                    <a:p>
                      <a:pPr marL="43180" algn="ctr">
                        <a:lnSpc>
                          <a:spcPts val="1620"/>
                        </a:lnSpc>
                      </a:pPr>
                      <a:r>
                        <a:rPr sz="1400" spc="-25" dirty="0">
                          <a:latin typeface="宋体"/>
                          <a:cs typeface="宋体"/>
                        </a:rPr>
                        <a:t>相等</a:t>
                      </a:r>
                      <a:endParaRPr sz="1400">
                        <a:latin typeface="宋体"/>
                        <a:cs typeface="宋体"/>
                      </a:endParaRPr>
                    </a:p>
                  </a:txBody>
                  <a:tcPr marL="0" marR="0" marT="0" marB="0">
                    <a:lnT w="12700">
                      <a:solidFill>
                        <a:srgbClr val="000000"/>
                      </a:solidFill>
                      <a:prstDash val="solid"/>
                    </a:lnT>
                  </a:tcPr>
                </a:tc>
                <a:tc>
                  <a:txBody>
                    <a:bodyPr/>
                    <a:lstStyle/>
                    <a:p>
                      <a:pPr marL="133985" algn="ctr">
                        <a:lnSpc>
                          <a:spcPts val="1620"/>
                        </a:lnSpc>
                      </a:pPr>
                      <a:r>
                        <a:rPr sz="1400" spc="-25" dirty="0">
                          <a:latin typeface="宋体"/>
                          <a:cs typeface="宋体"/>
                        </a:rPr>
                        <a:t>＝＝</a:t>
                      </a:r>
                      <a:endParaRPr sz="1400">
                        <a:latin typeface="宋体"/>
                        <a:cs typeface="宋体"/>
                      </a:endParaRPr>
                    </a:p>
                  </a:txBody>
                  <a:tcPr marL="0" marR="0" marT="0" marB="0">
                    <a:lnT w="12700">
                      <a:solidFill>
                        <a:srgbClr val="000000"/>
                      </a:solidFill>
                      <a:prstDash val="solid"/>
                    </a:lnT>
                  </a:tcPr>
                </a:tc>
                <a:tc>
                  <a:txBody>
                    <a:bodyPr/>
                    <a:lstStyle/>
                    <a:p>
                      <a:pPr marR="81915" algn="ctr">
                        <a:lnSpc>
                          <a:spcPts val="1620"/>
                        </a:lnSpc>
                      </a:pPr>
                      <a:r>
                        <a:rPr sz="1400" spc="-25" dirty="0">
                          <a:latin typeface="宋体"/>
                          <a:cs typeface="宋体"/>
                        </a:rPr>
                        <a:t>相等</a:t>
                      </a:r>
                      <a:endParaRPr sz="1400">
                        <a:latin typeface="宋体"/>
                        <a:cs typeface="宋体"/>
                      </a:endParaRPr>
                    </a:p>
                  </a:txBody>
                  <a:tcPr marL="0" marR="0" marT="0" marB="0">
                    <a:lnT w="12700">
                      <a:solidFill>
                        <a:srgbClr val="000000"/>
                      </a:solidFill>
                      <a:prstDash val="solid"/>
                    </a:lnT>
                  </a:tcPr>
                </a:tc>
                <a:tc>
                  <a:txBody>
                    <a:bodyPr/>
                    <a:lstStyle/>
                    <a:p>
                      <a:pPr marL="300990">
                        <a:lnSpc>
                          <a:spcPts val="1620"/>
                        </a:lnSpc>
                      </a:pPr>
                      <a:r>
                        <a:rPr sz="1400" spc="-50" dirty="0">
                          <a:latin typeface="宋体"/>
                          <a:cs typeface="宋体"/>
                        </a:rPr>
                        <a:t>２</a:t>
                      </a:r>
                      <a:endParaRPr sz="1400">
                        <a:latin typeface="宋体"/>
                        <a:cs typeface="宋体"/>
                      </a:endParaRPr>
                    </a:p>
                  </a:txBody>
                  <a:tcPr marL="0" marR="0" marT="0" marB="0">
                    <a:lnT w="12700">
                      <a:solidFill>
                        <a:srgbClr val="000000"/>
                      </a:solidFill>
                      <a:prstDash val="solid"/>
                    </a:lnT>
                  </a:tcPr>
                </a:tc>
                <a:extLst>
                  <a:ext uri="{0D108BD9-81ED-4DB2-BD59-A6C34878D82A}">
                    <a16:rowId xmlns:a16="http://schemas.microsoft.com/office/drawing/2014/main" val="10014"/>
                  </a:ext>
                </a:extLst>
              </a:tr>
              <a:tr h="488315">
                <a:tc>
                  <a:txBody>
                    <a:bodyPr/>
                    <a:lstStyle/>
                    <a:p>
                      <a:pPr>
                        <a:lnSpc>
                          <a:spcPct val="100000"/>
                        </a:lnSpc>
                      </a:pPr>
                      <a:endParaRPr sz="1400">
                        <a:latin typeface="Times New Roman"/>
                        <a:cs typeface="Times New Roman"/>
                      </a:endParaRPr>
                    </a:p>
                  </a:txBody>
                  <a:tcPr marL="0" marR="0" marT="0" marB="0"/>
                </a:tc>
                <a:tc>
                  <a:txBody>
                    <a:bodyPr/>
                    <a:lstStyle/>
                    <a:p>
                      <a:pPr marL="132715" algn="ctr">
                        <a:lnSpc>
                          <a:spcPct val="100000"/>
                        </a:lnSpc>
                        <a:spcBef>
                          <a:spcPts val="280"/>
                        </a:spcBef>
                      </a:pPr>
                      <a:r>
                        <a:rPr sz="1400" spc="-25" dirty="0">
                          <a:latin typeface="宋体"/>
                          <a:cs typeface="宋体"/>
                        </a:rPr>
                        <a:t>！</a:t>
                      </a:r>
                      <a:r>
                        <a:rPr sz="1400" spc="-25" dirty="0">
                          <a:latin typeface="Calibri"/>
                          <a:cs typeface="Calibri"/>
                        </a:rPr>
                        <a:t>=</a:t>
                      </a:r>
                      <a:endParaRPr sz="1400">
                        <a:latin typeface="Calibri"/>
                        <a:cs typeface="Calibri"/>
                      </a:endParaRPr>
                    </a:p>
                    <a:p>
                      <a:pPr marL="133985" algn="ctr">
                        <a:lnSpc>
                          <a:spcPct val="100000"/>
                        </a:lnSpc>
                        <a:spcBef>
                          <a:spcPts val="100"/>
                        </a:spcBef>
                      </a:pPr>
                      <a:r>
                        <a:rPr sz="1400" spc="-25" dirty="0">
                          <a:latin typeface="宋体"/>
                          <a:cs typeface="宋体"/>
                        </a:rPr>
                        <a:t>＝＝＝</a:t>
                      </a:r>
                      <a:endParaRPr sz="1400">
                        <a:latin typeface="宋体"/>
                        <a:cs typeface="宋体"/>
                      </a:endParaRPr>
                    </a:p>
                  </a:txBody>
                  <a:tcPr marL="0" marR="0" marT="35560" marB="0"/>
                </a:tc>
                <a:tc>
                  <a:txBody>
                    <a:bodyPr/>
                    <a:lstStyle/>
                    <a:p>
                      <a:pPr marL="299720" marR="382270" indent="88900">
                        <a:lnSpc>
                          <a:spcPct val="106100"/>
                        </a:lnSpc>
                        <a:spcBef>
                          <a:spcPts val="175"/>
                        </a:spcBef>
                      </a:pPr>
                      <a:r>
                        <a:rPr sz="1400" spc="-20" dirty="0">
                          <a:latin typeface="宋体"/>
                          <a:cs typeface="宋体"/>
                        </a:rPr>
                        <a:t>不相等</a:t>
                      </a:r>
                      <a:r>
                        <a:rPr sz="1400" spc="-15" dirty="0">
                          <a:latin typeface="宋体"/>
                          <a:cs typeface="宋体"/>
                        </a:rPr>
                        <a:t>事件相等</a:t>
                      </a:r>
                      <a:endParaRPr sz="1400">
                        <a:latin typeface="宋体"/>
                        <a:cs typeface="宋体"/>
                      </a:endParaRPr>
                    </a:p>
                  </a:txBody>
                  <a:tcPr marL="0" marR="0" marT="22225" marB="0"/>
                </a:tc>
                <a:tc>
                  <a:txBody>
                    <a:bodyPr/>
                    <a:lstStyle/>
                    <a:p>
                      <a:pPr marL="300990" marR="471170">
                        <a:lnSpc>
                          <a:spcPct val="106100"/>
                        </a:lnSpc>
                        <a:spcBef>
                          <a:spcPts val="175"/>
                        </a:spcBef>
                      </a:pPr>
                      <a:r>
                        <a:rPr sz="1400" spc="-50" dirty="0">
                          <a:latin typeface="宋体"/>
                          <a:cs typeface="宋体"/>
                        </a:rPr>
                        <a:t>２ ２</a:t>
                      </a:r>
                      <a:endParaRPr sz="1400">
                        <a:latin typeface="宋体"/>
                        <a:cs typeface="宋体"/>
                      </a:endParaRPr>
                    </a:p>
                  </a:txBody>
                  <a:tcPr marL="0" marR="0" marT="22225" marB="0"/>
                </a:tc>
                <a:extLst>
                  <a:ext uri="{0D108BD9-81ED-4DB2-BD59-A6C34878D82A}">
                    <a16:rowId xmlns:a16="http://schemas.microsoft.com/office/drawing/2014/main" val="10015"/>
                  </a:ext>
                </a:extLst>
              </a:tr>
              <a:tr h="233679">
                <a:tc>
                  <a:txBody>
                    <a:bodyPr/>
                    <a:lstStyle/>
                    <a:p>
                      <a:pPr>
                        <a:lnSpc>
                          <a:spcPct val="100000"/>
                        </a:lnSpc>
                      </a:pPr>
                      <a:endParaRPr sz="1400">
                        <a:latin typeface="Times New Roman"/>
                        <a:cs typeface="Times New Roman"/>
                      </a:endParaRPr>
                    </a:p>
                  </a:txBody>
                  <a:tcPr marL="0" marR="0" marT="0" marB="0">
                    <a:lnB w="12700">
                      <a:solidFill>
                        <a:srgbClr val="000000"/>
                      </a:solidFill>
                      <a:prstDash val="solid"/>
                    </a:lnB>
                  </a:tcPr>
                </a:tc>
                <a:tc>
                  <a:txBody>
                    <a:bodyPr/>
                    <a:lstStyle/>
                    <a:p>
                      <a:pPr marL="133985" algn="ctr">
                        <a:lnSpc>
                          <a:spcPts val="1675"/>
                        </a:lnSpc>
                      </a:pPr>
                      <a:r>
                        <a:rPr sz="1400" spc="-25" dirty="0">
                          <a:latin typeface="宋体"/>
                          <a:cs typeface="宋体"/>
                        </a:rPr>
                        <a:t>！</a:t>
                      </a:r>
                      <a:r>
                        <a:rPr sz="1400" spc="-25" dirty="0">
                          <a:latin typeface="Calibri"/>
                          <a:cs typeface="Calibri"/>
                        </a:rPr>
                        <a:t>==</a:t>
                      </a:r>
                      <a:endParaRPr sz="1400">
                        <a:latin typeface="Calibri"/>
                        <a:cs typeface="Calibri"/>
                      </a:endParaRPr>
                    </a:p>
                  </a:txBody>
                  <a:tcPr marL="0" marR="0" marT="0" marB="0">
                    <a:lnB w="12700">
                      <a:solidFill>
                        <a:srgbClr val="000000"/>
                      </a:solidFill>
                      <a:prstDash val="solid"/>
                    </a:lnB>
                  </a:tcPr>
                </a:tc>
                <a:tc>
                  <a:txBody>
                    <a:bodyPr/>
                    <a:lstStyle/>
                    <a:p>
                      <a:pPr marR="81915" algn="ctr">
                        <a:lnSpc>
                          <a:spcPts val="1675"/>
                        </a:lnSpc>
                      </a:pPr>
                      <a:r>
                        <a:rPr sz="1400" spc="-10" dirty="0">
                          <a:latin typeface="宋体"/>
                          <a:cs typeface="宋体"/>
                        </a:rPr>
                        <a:t>事件不相等</a:t>
                      </a:r>
                      <a:endParaRPr sz="1400">
                        <a:latin typeface="宋体"/>
                        <a:cs typeface="宋体"/>
                      </a:endParaRPr>
                    </a:p>
                  </a:txBody>
                  <a:tcPr marL="0" marR="0" marT="0" marB="0">
                    <a:lnB w="12700">
                      <a:solidFill>
                        <a:srgbClr val="000000"/>
                      </a:solidFill>
                      <a:prstDash val="solid"/>
                    </a:lnB>
                  </a:tcPr>
                </a:tc>
                <a:tc>
                  <a:txBody>
                    <a:bodyPr/>
                    <a:lstStyle/>
                    <a:p>
                      <a:pPr marL="300990">
                        <a:lnSpc>
                          <a:spcPts val="1675"/>
                        </a:lnSpc>
                      </a:pPr>
                      <a:r>
                        <a:rPr sz="1400" spc="-50" dirty="0">
                          <a:latin typeface="宋体"/>
                          <a:cs typeface="宋体"/>
                        </a:rPr>
                        <a:t>２</a:t>
                      </a:r>
                      <a:endParaRPr sz="1400" dirty="0">
                        <a:latin typeface="宋体"/>
                        <a:cs typeface="宋体"/>
                      </a:endParaRPr>
                    </a:p>
                  </a:txBody>
                  <a:tcPr marL="0" marR="0" marT="0" marB="0">
                    <a:lnB w="12700">
                      <a:solidFill>
                        <a:srgbClr val="000000"/>
                      </a:solidFill>
                      <a:prstDash val="solid"/>
                    </a:lnB>
                  </a:tcPr>
                </a:tc>
                <a:extLst>
                  <a:ext uri="{0D108BD9-81ED-4DB2-BD59-A6C34878D82A}">
                    <a16:rowId xmlns:a16="http://schemas.microsoft.com/office/drawing/2014/main" val="10016"/>
                  </a:ext>
                </a:extLst>
              </a:tr>
            </a:tbl>
          </a:graphicData>
        </a:graphic>
      </p:graphicFrame>
      <p:sp>
        <p:nvSpPr>
          <p:cNvPr id="4" name="object 4"/>
          <p:cNvSpPr txBox="1"/>
          <p:nvPr/>
        </p:nvSpPr>
        <p:spPr>
          <a:xfrm>
            <a:off x="896107" y="1116965"/>
            <a:ext cx="4057650" cy="239395"/>
          </a:xfrm>
          <a:prstGeom prst="rect">
            <a:avLst/>
          </a:prstGeom>
        </p:spPr>
        <p:txBody>
          <a:bodyPr vert="horz" wrap="square" lIns="0" tIns="12700" rIns="0" bIns="0" rtlCol="0">
            <a:spAutoFit/>
          </a:bodyPr>
          <a:lstStyle/>
          <a:p>
            <a:pPr marL="12700">
              <a:lnSpc>
                <a:spcPct val="100000"/>
              </a:lnSpc>
              <a:spcBef>
                <a:spcPts val="100"/>
              </a:spcBef>
              <a:tabLst>
                <a:tab pos="1160780" algn="l"/>
                <a:tab pos="2461895" algn="l"/>
                <a:tab pos="3509010" algn="l"/>
              </a:tabLst>
            </a:pPr>
            <a:r>
              <a:rPr sz="1400" dirty="0">
                <a:latin typeface="宋体"/>
                <a:cs typeface="宋体"/>
              </a:rPr>
              <a:t>操作类</a:t>
            </a:r>
            <a:r>
              <a:rPr sz="1400" spc="-50" dirty="0">
                <a:latin typeface="宋体"/>
                <a:cs typeface="宋体"/>
              </a:rPr>
              <a:t>型</a:t>
            </a:r>
            <a:r>
              <a:rPr sz="1400" dirty="0">
                <a:latin typeface="宋体"/>
                <a:cs typeface="宋体"/>
              </a:rPr>
              <a:t>	运算</a:t>
            </a:r>
            <a:r>
              <a:rPr sz="1400" spc="-50" dirty="0">
                <a:latin typeface="宋体"/>
                <a:cs typeface="宋体"/>
              </a:rPr>
              <a:t>符</a:t>
            </a:r>
            <a:r>
              <a:rPr sz="1400" dirty="0">
                <a:latin typeface="宋体"/>
                <a:cs typeface="宋体"/>
              </a:rPr>
              <a:t>	描</a:t>
            </a:r>
            <a:r>
              <a:rPr sz="1400" spc="-50" dirty="0">
                <a:latin typeface="宋体"/>
                <a:cs typeface="宋体"/>
              </a:rPr>
              <a:t>述</a:t>
            </a:r>
            <a:r>
              <a:rPr sz="1400" dirty="0">
                <a:latin typeface="宋体"/>
                <a:cs typeface="宋体"/>
              </a:rPr>
              <a:t>	操作</a:t>
            </a:r>
            <a:r>
              <a:rPr sz="1400" spc="-50" dirty="0">
                <a:latin typeface="宋体"/>
                <a:cs typeface="宋体"/>
              </a:rPr>
              <a:t>数</a:t>
            </a:r>
            <a:endParaRPr sz="1400" dirty="0">
              <a:latin typeface="宋体"/>
              <a:cs typeface="宋体"/>
            </a:endParaRPr>
          </a:p>
        </p:txBody>
      </p:sp>
      <p:graphicFrame>
        <p:nvGraphicFramePr>
          <p:cNvPr id="5" name="object 5"/>
          <p:cNvGraphicFramePr>
            <a:graphicFrameLocks noGrp="1"/>
          </p:cNvGraphicFramePr>
          <p:nvPr>
            <p:extLst>
              <p:ext uri="{D42A27DB-BD31-4B8C-83A1-F6EECF244321}">
                <p14:modId xmlns:p14="http://schemas.microsoft.com/office/powerpoint/2010/main" val="3421426494"/>
              </p:ext>
            </p:extLst>
          </p:nvPr>
        </p:nvGraphicFramePr>
        <p:xfrm>
          <a:off x="5803900" y="1495425"/>
          <a:ext cx="3905882" cy="4775834"/>
        </p:xfrm>
        <a:graphic>
          <a:graphicData uri="http://schemas.openxmlformats.org/drawingml/2006/table">
            <a:tbl>
              <a:tblPr firstRow="1" bandRow="1">
                <a:tableStyleId>{2D5ABB26-0587-4C30-8999-92F81FD0307C}</a:tableStyleId>
              </a:tblPr>
              <a:tblGrid>
                <a:gridCol w="930910">
                  <a:extLst>
                    <a:ext uri="{9D8B030D-6E8A-4147-A177-3AD203B41FA5}">
                      <a16:colId xmlns:a16="http://schemas.microsoft.com/office/drawing/2014/main" val="20000"/>
                    </a:ext>
                  </a:extLst>
                </a:gridCol>
                <a:gridCol w="1021079">
                  <a:extLst>
                    <a:ext uri="{9D8B030D-6E8A-4147-A177-3AD203B41FA5}">
                      <a16:colId xmlns:a16="http://schemas.microsoft.com/office/drawing/2014/main" val="20001"/>
                    </a:ext>
                  </a:extLst>
                </a:gridCol>
                <a:gridCol w="1066164">
                  <a:extLst>
                    <a:ext uri="{9D8B030D-6E8A-4147-A177-3AD203B41FA5}">
                      <a16:colId xmlns:a16="http://schemas.microsoft.com/office/drawing/2014/main" val="20002"/>
                    </a:ext>
                  </a:extLst>
                </a:gridCol>
                <a:gridCol w="887729">
                  <a:extLst>
                    <a:ext uri="{9D8B030D-6E8A-4147-A177-3AD203B41FA5}">
                      <a16:colId xmlns:a16="http://schemas.microsoft.com/office/drawing/2014/main" val="20003"/>
                    </a:ext>
                  </a:extLst>
                </a:gridCol>
              </a:tblGrid>
              <a:tr h="212090">
                <a:tc>
                  <a:txBody>
                    <a:bodyPr/>
                    <a:lstStyle/>
                    <a:p>
                      <a:pPr marL="43815" algn="ctr">
                        <a:lnSpc>
                          <a:spcPts val="1570"/>
                        </a:lnSpc>
                      </a:pPr>
                      <a:r>
                        <a:rPr sz="1400" spc="-20" dirty="0">
                          <a:latin typeface="宋体"/>
                          <a:cs typeface="宋体"/>
                        </a:rPr>
                        <a:t>位操作</a:t>
                      </a:r>
                      <a:endParaRPr sz="1400">
                        <a:latin typeface="宋体"/>
                        <a:cs typeface="宋体"/>
                      </a:endParaRPr>
                    </a:p>
                  </a:txBody>
                  <a:tcPr marL="0" marR="0" marT="0" marB="0">
                    <a:lnT w="12700">
                      <a:solidFill>
                        <a:srgbClr val="000000"/>
                      </a:solidFill>
                      <a:prstDash val="solid"/>
                    </a:lnT>
                  </a:tcPr>
                </a:tc>
                <a:tc>
                  <a:txBody>
                    <a:bodyPr/>
                    <a:lstStyle/>
                    <a:p>
                      <a:pPr marL="43815" algn="ctr">
                        <a:lnSpc>
                          <a:spcPts val="1570"/>
                        </a:lnSpc>
                      </a:pPr>
                      <a:r>
                        <a:rPr sz="1400" spc="-50" dirty="0">
                          <a:latin typeface="宋体"/>
                          <a:cs typeface="宋体"/>
                        </a:rPr>
                        <a:t>～</a:t>
                      </a:r>
                      <a:endParaRPr sz="1400">
                        <a:latin typeface="宋体"/>
                        <a:cs typeface="宋体"/>
                      </a:endParaRPr>
                    </a:p>
                  </a:txBody>
                  <a:tcPr marL="0" marR="0" marT="0" marB="0">
                    <a:lnT w="12700">
                      <a:solidFill>
                        <a:srgbClr val="000000"/>
                      </a:solidFill>
                      <a:prstDash val="solid"/>
                    </a:lnT>
                  </a:tcPr>
                </a:tc>
                <a:tc>
                  <a:txBody>
                    <a:bodyPr/>
                    <a:lstStyle/>
                    <a:p>
                      <a:pPr marR="81280" algn="ctr">
                        <a:lnSpc>
                          <a:spcPts val="1570"/>
                        </a:lnSpc>
                      </a:pPr>
                      <a:r>
                        <a:rPr sz="1400" spc="-15" dirty="0">
                          <a:latin typeface="宋体"/>
                          <a:cs typeface="宋体"/>
                        </a:rPr>
                        <a:t>按位取反</a:t>
                      </a:r>
                      <a:endParaRPr sz="1400">
                        <a:latin typeface="宋体"/>
                        <a:cs typeface="宋体"/>
                      </a:endParaRPr>
                    </a:p>
                  </a:txBody>
                  <a:tcPr marL="0" marR="0" marT="0" marB="0">
                    <a:lnT w="12700">
                      <a:solidFill>
                        <a:srgbClr val="000000"/>
                      </a:solidFill>
                      <a:prstDash val="solid"/>
                    </a:lnT>
                  </a:tcPr>
                </a:tc>
                <a:tc>
                  <a:txBody>
                    <a:bodyPr/>
                    <a:lstStyle/>
                    <a:p>
                      <a:pPr marR="81280" algn="ctr">
                        <a:lnSpc>
                          <a:spcPts val="1570"/>
                        </a:lnSpc>
                      </a:pPr>
                      <a:r>
                        <a:rPr sz="1400" spc="-50" dirty="0">
                          <a:latin typeface="宋体"/>
                          <a:cs typeface="宋体"/>
                        </a:rPr>
                        <a:t>１</a:t>
                      </a:r>
                      <a:endParaRPr sz="1400">
                        <a:latin typeface="宋体"/>
                        <a:cs typeface="宋体"/>
                      </a:endParaRPr>
                    </a:p>
                  </a:txBody>
                  <a:tcPr marL="0" marR="0" marT="0" marB="0">
                    <a:lnT w="12700">
                      <a:solidFill>
                        <a:srgbClr val="000000"/>
                      </a:solidFill>
                      <a:prstDash val="solid"/>
                    </a:lnT>
                  </a:tcPr>
                </a:tc>
                <a:extLst>
                  <a:ext uri="{0D108BD9-81ED-4DB2-BD59-A6C34878D82A}">
                    <a16:rowId xmlns:a16="http://schemas.microsoft.com/office/drawing/2014/main" val="10000"/>
                  </a:ext>
                </a:extLst>
              </a:tr>
              <a:tr h="223520">
                <a:tc>
                  <a:txBody>
                    <a:bodyPr/>
                    <a:lstStyle/>
                    <a:p>
                      <a:pPr>
                        <a:lnSpc>
                          <a:spcPct val="100000"/>
                        </a:lnSpc>
                      </a:pPr>
                      <a:endParaRPr sz="1300">
                        <a:latin typeface="Times New Roman"/>
                        <a:cs typeface="Times New Roman"/>
                      </a:endParaRPr>
                    </a:p>
                  </a:txBody>
                  <a:tcPr marL="0" marR="0" marT="0" marB="0"/>
                </a:tc>
                <a:tc>
                  <a:txBody>
                    <a:bodyPr/>
                    <a:lstStyle/>
                    <a:p>
                      <a:pPr marL="43815" algn="ctr">
                        <a:lnSpc>
                          <a:spcPts val="1630"/>
                        </a:lnSpc>
                      </a:pPr>
                      <a:r>
                        <a:rPr sz="1400" spc="-50" dirty="0">
                          <a:latin typeface="宋体"/>
                          <a:cs typeface="宋体"/>
                        </a:rPr>
                        <a:t>＆</a:t>
                      </a:r>
                      <a:endParaRPr sz="1400">
                        <a:latin typeface="宋体"/>
                        <a:cs typeface="宋体"/>
                      </a:endParaRPr>
                    </a:p>
                  </a:txBody>
                  <a:tcPr marL="0" marR="0" marT="0" marB="0"/>
                </a:tc>
                <a:tc>
                  <a:txBody>
                    <a:bodyPr/>
                    <a:lstStyle/>
                    <a:p>
                      <a:pPr marR="81280" algn="ctr">
                        <a:lnSpc>
                          <a:spcPts val="1630"/>
                        </a:lnSpc>
                      </a:pPr>
                      <a:r>
                        <a:rPr sz="1400" spc="-20" dirty="0">
                          <a:latin typeface="宋体"/>
                          <a:cs typeface="宋体"/>
                        </a:rPr>
                        <a:t>按位与</a:t>
                      </a:r>
                      <a:endParaRPr sz="1400">
                        <a:latin typeface="宋体"/>
                        <a:cs typeface="宋体"/>
                      </a:endParaRPr>
                    </a:p>
                  </a:txBody>
                  <a:tcPr marL="0" marR="0" marT="0" marB="0"/>
                </a:tc>
                <a:tc>
                  <a:txBody>
                    <a:bodyPr/>
                    <a:lstStyle/>
                    <a:p>
                      <a:pPr marR="81280" algn="ctr">
                        <a:lnSpc>
                          <a:spcPts val="1630"/>
                        </a:lnSpc>
                      </a:pPr>
                      <a:r>
                        <a:rPr sz="1400" spc="-50" dirty="0">
                          <a:latin typeface="宋体"/>
                          <a:cs typeface="宋体"/>
                        </a:rPr>
                        <a:t>２</a:t>
                      </a:r>
                      <a:endParaRPr sz="1400">
                        <a:latin typeface="宋体"/>
                        <a:cs typeface="宋体"/>
                      </a:endParaRPr>
                    </a:p>
                  </a:txBody>
                  <a:tcPr marL="0" marR="0" marT="0" marB="0"/>
                </a:tc>
                <a:extLst>
                  <a:ext uri="{0D108BD9-81ED-4DB2-BD59-A6C34878D82A}">
                    <a16:rowId xmlns:a16="http://schemas.microsoft.com/office/drawing/2014/main" val="10001"/>
                  </a:ext>
                </a:extLst>
              </a:tr>
              <a:tr h="377190">
                <a:tc>
                  <a:txBody>
                    <a:bodyPr/>
                    <a:lstStyle/>
                    <a:p>
                      <a:pPr>
                        <a:lnSpc>
                          <a:spcPct val="100000"/>
                        </a:lnSpc>
                      </a:pPr>
                      <a:endParaRPr sz="1400">
                        <a:latin typeface="Times New Roman"/>
                        <a:cs typeface="Times New Roman"/>
                      </a:endParaRPr>
                    </a:p>
                  </a:txBody>
                  <a:tcPr marL="0" marR="0" marT="0" marB="0"/>
                </a:tc>
                <a:tc>
                  <a:txBody>
                    <a:bodyPr/>
                    <a:lstStyle/>
                    <a:p>
                      <a:pPr marL="43815" algn="ctr">
                        <a:lnSpc>
                          <a:spcPts val="1555"/>
                        </a:lnSpc>
                        <a:spcBef>
                          <a:spcPts val="1315"/>
                        </a:spcBef>
                      </a:pPr>
                      <a:r>
                        <a:rPr sz="1400" spc="-50" dirty="0">
                          <a:latin typeface="宋体"/>
                          <a:cs typeface="宋体"/>
                        </a:rPr>
                        <a:t>｜</a:t>
                      </a:r>
                      <a:endParaRPr sz="1400">
                        <a:latin typeface="宋体"/>
                        <a:cs typeface="宋体"/>
                      </a:endParaRPr>
                    </a:p>
                  </a:txBody>
                  <a:tcPr marL="0" marR="0" marT="167005" marB="0"/>
                </a:tc>
                <a:tc>
                  <a:txBody>
                    <a:bodyPr/>
                    <a:lstStyle/>
                    <a:p>
                      <a:pPr marR="81280" algn="ctr">
                        <a:lnSpc>
                          <a:spcPts val="1555"/>
                        </a:lnSpc>
                        <a:spcBef>
                          <a:spcPts val="1315"/>
                        </a:spcBef>
                      </a:pPr>
                      <a:r>
                        <a:rPr sz="1400" spc="-20" dirty="0">
                          <a:latin typeface="宋体"/>
                          <a:cs typeface="宋体"/>
                        </a:rPr>
                        <a:t>按位或</a:t>
                      </a:r>
                      <a:endParaRPr sz="1400">
                        <a:latin typeface="宋体"/>
                        <a:cs typeface="宋体"/>
                      </a:endParaRPr>
                    </a:p>
                  </a:txBody>
                  <a:tcPr marL="0" marR="0" marT="167005" marB="0"/>
                </a:tc>
                <a:tc>
                  <a:txBody>
                    <a:bodyPr/>
                    <a:lstStyle/>
                    <a:p>
                      <a:pPr marR="81280" algn="ctr">
                        <a:lnSpc>
                          <a:spcPts val="1555"/>
                        </a:lnSpc>
                        <a:spcBef>
                          <a:spcPts val="1315"/>
                        </a:spcBef>
                      </a:pPr>
                      <a:r>
                        <a:rPr sz="1400" spc="-50" dirty="0">
                          <a:latin typeface="宋体"/>
                          <a:cs typeface="宋体"/>
                        </a:rPr>
                        <a:t>２</a:t>
                      </a:r>
                      <a:endParaRPr sz="1400">
                        <a:latin typeface="宋体"/>
                        <a:cs typeface="宋体"/>
                      </a:endParaRPr>
                    </a:p>
                  </a:txBody>
                  <a:tcPr marL="0" marR="0" marT="167005" marB="0"/>
                </a:tc>
                <a:extLst>
                  <a:ext uri="{0D108BD9-81ED-4DB2-BD59-A6C34878D82A}">
                    <a16:rowId xmlns:a16="http://schemas.microsoft.com/office/drawing/2014/main" val="10002"/>
                  </a:ext>
                </a:extLst>
              </a:tr>
              <a:tr h="198120">
                <a:tc>
                  <a:txBody>
                    <a:bodyPr/>
                    <a:lstStyle/>
                    <a:p>
                      <a:pPr>
                        <a:lnSpc>
                          <a:spcPct val="100000"/>
                        </a:lnSpc>
                      </a:pPr>
                      <a:endParaRPr sz="1100">
                        <a:latin typeface="Times New Roman"/>
                        <a:cs typeface="Times New Roman"/>
                      </a:endParaRPr>
                    </a:p>
                  </a:txBody>
                  <a:tcPr marL="0" marR="0" marT="0" marB="0"/>
                </a:tc>
                <a:tc>
                  <a:txBody>
                    <a:bodyPr/>
                    <a:lstStyle/>
                    <a:p>
                      <a:pPr>
                        <a:lnSpc>
                          <a:spcPct val="100000"/>
                        </a:lnSpc>
                      </a:pPr>
                      <a:endParaRPr sz="1100">
                        <a:latin typeface="Times New Roman"/>
                        <a:cs typeface="Times New Roman"/>
                      </a:endParaRPr>
                    </a:p>
                  </a:txBody>
                  <a:tcPr marL="0" marR="0" marT="0" marB="0"/>
                </a:tc>
                <a:tc>
                  <a:txBody>
                    <a:bodyPr/>
                    <a:lstStyle/>
                    <a:p>
                      <a:pPr>
                        <a:lnSpc>
                          <a:spcPct val="100000"/>
                        </a:lnSpc>
                      </a:pPr>
                      <a:endParaRPr sz="1100">
                        <a:latin typeface="Times New Roman"/>
                        <a:cs typeface="Times New Roman"/>
                      </a:endParaRPr>
                    </a:p>
                  </a:txBody>
                  <a:tcPr marL="0" marR="0" marT="0" marB="0"/>
                </a:tc>
                <a:tc>
                  <a:txBody>
                    <a:bodyPr/>
                    <a:lstStyle/>
                    <a:p>
                      <a:pPr>
                        <a:lnSpc>
                          <a:spcPct val="100000"/>
                        </a:lnSpc>
                      </a:pPr>
                      <a:endParaRPr sz="1100">
                        <a:latin typeface="Times New Roman"/>
                        <a:cs typeface="Times New Roman"/>
                      </a:endParaRPr>
                    </a:p>
                  </a:txBody>
                  <a:tcPr marL="0" marR="0" marT="0" marB="0"/>
                </a:tc>
                <a:extLst>
                  <a:ext uri="{0D108BD9-81ED-4DB2-BD59-A6C34878D82A}">
                    <a16:rowId xmlns:a16="http://schemas.microsoft.com/office/drawing/2014/main" val="10003"/>
                  </a:ext>
                </a:extLst>
              </a:tr>
              <a:tr h="393700">
                <a:tc>
                  <a:txBody>
                    <a:bodyPr/>
                    <a:lstStyle/>
                    <a:p>
                      <a:pPr>
                        <a:lnSpc>
                          <a:spcPct val="100000"/>
                        </a:lnSpc>
                      </a:pPr>
                      <a:endParaRPr sz="1400">
                        <a:latin typeface="Times New Roman"/>
                        <a:cs typeface="Times New Roman"/>
                      </a:endParaRPr>
                    </a:p>
                  </a:txBody>
                  <a:tcPr marL="0" marR="0" marT="0" marB="0">
                    <a:lnB w="12700">
                      <a:solidFill>
                        <a:srgbClr val="000000"/>
                      </a:solidFill>
                      <a:prstDash val="solid"/>
                    </a:lnB>
                  </a:tcPr>
                </a:tc>
                <a:tc>
                  <a:txBody>
                    <a:bodyPr/>
                    <a:lstStyle/>
                    <a:p>
                      <a:pPr marL="43815" algn="ctr">
                        <a:lnSpc>
                          <a:spcPts val="1590"/>
                        </a:lnSpc>
                      </a:pPr>
                      <a:r>
                        <a:rPr sz="1400" spc="-50" dirty="0">
                          <a:latin typeface="宋体"/>
                          <a:cs typeface="宋体"/>
                        </a:rPr>
                        <a:t>＾</a:t>
                      </a:r>
                      <a:endParaRPr sz="1400">
                        <a:latin typeface="宋体"/>
                        <a:cs typeface="宋体"/>
                      </a:endParaRPr>
                    </a:p>
                  </a:txBody>
                  <a:tcPr marL="0" marR="0" marT="0" marB="0">
                    <a:lnB w="12700">
                      <a:solidFill>
                        <a:srgbClr val="000000"/>
                      </a:solidFill>
                      <a:prstDash val="solid"/>
                    </a:lnB>
                  </a:tcPr>
                </a:tc>
                <a:tc>
                  <a:txBody>
                    <a:bodyPr/>
                    <a:lstStyle/>
                    <a:p>
                      <a:pPr marR="81280" algn="ctr">
                        <a:lnSpc>
                          <a:spcPts val="1590"/>
                        </a:lnSpc>
                      </a:pPr>
                      <a:r>
                        <a:rPr sz="1400" spc="-15" dirty="0">
                          <a:latin typeface="宋体"/>
                          <a:cs typeface="宋体"/>
                        </a:rPr>
                        <a:t>按位异或</a:t>
                      </a:r>
                      <a:endParaRPr sz="1400">
                        <a:latin typeface="宋体"/>
                        <a:cs typeface="宋体"/>
                      </a:endParaRPr>
                    </a:p>
                  </a:txBody>
                  <a:tcPr marL="0" marR="0" marT="0" marB="0">
                    <a:lnB w="12700">
                      <a:solidFill>
                        <a:srgbClr val="000000"/>
                      </a:solidFill>
                      <a:prstDash val="solid"/>
                    </a:lnB>
                  </a:tcPr>
                </a:tc>
                <a:tc>
                  <a:txBody>
                    <a:bodyPr/>
                    <a:lstStyle/>
                    <a:p>
                      <a:pPr marR="81280" algn="ctr">
                        <a:lnSpc>
                          <a:spcPts val="1590"/>
                        </a:lnSpc>
                      </a:pPr>
                      <a:r>
                        <a:rPr sz="1400" spc="-50" dirty="0">
                          <a:latin typeface="宋体"/>
                          <a:cs typeface="宋体"/>
                        </a:rPr>
                        <a:t>２</a:t>
                      </a:r>
                      <a:endParaRPr sz="1400">
                        <a:latin typeface="宋体"/>
                        <a:cs typeface="宋体"/>
                      </a:endParaRPr>
                    </a:p>
                  </a:txBody>
                  <a:tcPr marL="0" marR="0" marT="0" marB="0">
                    <a:lnB w="12700">
                      <a:solidFill>
                        <a:srgbClr val="000000"/>
                      </a:solidFill>
                      <a:prstDash val="solid"/>
                    </a:lnB>
                  </a:tcPr>
                </a:tc>
                <a:extLst>
                  <a:ext uri="{0D108BD9-81ED-4DB2-BD59-A6C34878D82A}">
                    <a16:rowId xmlns:a16="http://schemas.microsoft.com/office/drawing/2014/main" val="10004"/>
                  </a:ext>
                </a:extLst>
              </a:tr>
              <a:tr h="304165">
                <a:tc>
                  <a:txBody>
                    <a:bodyPr/>
                    <a:lstStyle/>
                    <a:p>
                      <a:pPr marL="43815" algn="ctr">
                        <a:lnSpc>
                          <a:spcPts val="1620"/>
                        </a:lnSpc>
                      </a:pPr>
                      <a:r>
                        <a:rPr sz="1400" spc="-25" dirty="0">
                          <a:latin typeface="宋体"/>
                          <a:cs typeface="宋体"/>
                        </a:rPr>
                        <a:t>缩减</a:t>
                      </a:r>
                      <a:endParaRPr sz="1400">
                        <a:latin typeface="宋体"/>
                        <a:cs typeface="宋体"/>
                      </a:endParaRPr>
                    </a:p>
                  </a:txBody>
                  <a:tcPr marL="0" marR="0" marT="0" marB="0">
                    <a:lnT w="12700">
                      <a:solidFill>
                        <a:srgbClr val="000000"/>
                      </a:solidFill>
                      <a:prstDash val="solid"/>
                    </a:lnT>
                  </a:tcPr>
                </a:tc>
                <a:tc>
                  <a:txBody>
                    <a:bodyPr/>
                    <a:lstStyle/>
                    <a:p>
                      <a:pPr marL="43815" algn="ctr">
                        <a:lnSpc>
                          <a:spcPts val="1620"/>
                        </a:lnSpc>
                      </a:pPr>
                      <a:r>
                        <a:rPr sz="1400" spc="-50" dirty="0">
                          <a:latin typeface="宋体"/>
                          <a:cs typeface="宋体"/>
                        </a:rPr>
                        <a:t>＆</a:t>
                      </a:r>
                      <a:endParaRPr sz="1400">
                        <a:latin typeface="宋体"/>
                        <a:cs typeface="宋体"/>
                      </a:endParaRPr>
                    </a:p>
                  </a:txBody>
                  <a:tcPr marL="0" marR="0" marT="0" marB="0">
                    <a:lnT w="12700">
                      <a:solidFill>
                        <a:srgbClr val="000000"/>
                      </a:solidFill>
                      <a:prstDash val="solid"/>
                    </a:lnT>
                  </a:tcPr>
                </a:tc>
                <a:tc>
                  <a:txBody>
                    <a:bodyPr/>
                    <a:lstStyle/>
                    <a:p>
                      <a:pPr marR="81280" algn="ctr">
                        <a:lnSpc>
                          <a:spcPts val="1620"/>
                        </a:lnSpc>
                      </a:pPr>
                      <a:r>
                        <a:rPr sz="1400" spc="-20" dirty="0">
                          <a:latin typeface="宋体"/>
                          <a:cs typeface="宋体"/>
                        </a:rPr>
                        <a:t>与缩减</a:t>
                      </a:r>
                      <a:endParaRPr sz="1400">
                        <a:latin typeface="宋体"/>
                        <a:cs typeface="宋体"/>
                      </a:endParaRPr>
                    </a:p>
                  </a:txBody>
                  <a:tcPr marL="0" marR="0" marT="0" marB="0">
                    <a:lnT w="12700">
                      <a:solidFill>
                        <a:srgbClr val="000000"/>
                      </a:solidFill>
                      <a:prstDash val="solid"/>
                    </a:lnT>
                  </a:tcPr>
                </a:tc>
                <a:tc>
                  <a:txBody>
                    <a:bodyPr/>
                    <a:lstStyle/>
                    <a:p>
                      <a:pPr marR="81280" algn="ctr">
                        <a:lnSpc>
                          <a:spcPts val="1620"/>
                        </a:lnSpc>
                      </a:pPr>
                      <a:r>
                        <a:rPr sz="1400" spc="-50" dirty="0">
                          <a:latin typeface="宋体"/>
                          <a:cs typeface="宋体"/>
                        </a:rPr>
                        <a:t>１</a:t>
                      </a:r>
                      <a:endParaRPr sz="1400">
                        <a:latin typeface="宋体"/>
                        <a:cs typeface="宋体"/>
                      </a:endParaRPr>
                    </a:p>
                  </a:txBody>
                  <a:tcPr marL="0" marR="0" marT="0" marB="0">
                    <a:lnT w="12700">
                      <a:solidFill>
                        <a:srgbClr val="000000"/>
                      </a:solidFill>
                      <a:prstDash val="solid"/>
                    </a:lnT>
                  </a:tcPr>
                </a:tc>
                <a:extLst>
                  <a:ext uri="{0D108BD9-81ED-4DB2-BD59-A6C34878D82A}">
                    <a16:rowId xmlns:a16="http://schemas.microsoft.com/office/drawing/2014/main" val="10005"/>
                  </a:ext>
                </a:extLst>
              </a:tr>
              <a:tr h="396875">
                <a:tc>
                  <a:txBody>
                    <a:bodyPr/>
                    <a:lstStyle/>
                    <a:p>
                      <a:pPr>
                        <a:lnSpc>
                          <a:spcPct val="100000"/>
                        </a:lnSpc>
                      </a:pPr>
                      <a:endParaRPr sz="1400">
                        <a:latin typeface="Times New Roman"/>
                        <a:cs typeface="Times New Roman"/>
                      </a:endParaRPr>
                    </a:p>
                  </a:txBody>
                  <a:tcPr marL="0" marR="0" marT="0" marB="0"/>
                </a:tc>
                <a:tc>
                  <a:txBody>
                    <a:bodyPr/>
                    <a:lstStyle/>
                    <a:p>
                      <a:pPr marL="43815" algn="ctr">
                        <a:lnSpc>
                          <a:spcPct val="100000"/>
                        </a:lnSpc>
                        <a:spcBef>
                          <a:spcPts val="665"/>
                        </a:spcBef>
                      </a:pPr>
                      <a:r>
                        <a:rPr sz="1400" spc="-50" dirty="0">
                          <a:latin typeface="宋体"/>
                          <a:cs typeface="宋体"/>
                        </a:rPr>
                        <a:t>｜</a:t>
                      </a:r>
                      <a:endParaRPr sz="1400">
                        <a:latin typeface="宋体"/>
                        <a:cs typeface="宋体"/>
                      </a:endParaRPr>
                    </a:p>
                  </a:txBody>
                  <a:tcPr marL="0" marR="0" marT="84455" marB="0"/>
                </a:tc>
                <a:tc>
                  <a:txBody>
                    <a:bodyPr/>
                    <a:lstStyle/>
                    <a:p>
                      <a:pPr marR="81280" algn="ctr">
                        <a:lnSpc>
                          <a:spcPct val="100000"/>
                        </a:lnSpc>
                        <a:spcBef>
                          <a:spcPts val="665"/>
                        </a:spcBef>
                      </a:pPr>
                      <a:r>
                        <a:rPr sz="1400" spc="-20" dirty="0">
                          <a:latin typeface="宋体"/>
                          <a:cs typeface="宋体"/>
                        </a:rPr>
                        <a:t>或缩减</a:t>
                      </a:r>
                      <a:endParaRPr sz="1400">
                        <a:latin typeface="宋体"/>
                        <a:cs typeface="宋体"/>
                      </a:endParaRPr>
                    </a:p>
                  </a:txBody>
                  <a:tcPr marL="0" marR="0" marT="84455" marB="0"/>
                </a:tc>
                <a:tc>
                  <a:txBody>
                    <a:bodyPr/>
                    <a:lstStyle/>
                    <a:p>
                      <a:pPr marR="81280" algn="ctr">
                        <a:lnSpc>
                          <a:spcPct val="100000"/>
                        </a:lnSpc>
                        <a:spcBef>
                          <a:spcPts val="665"/>
                        </a:spcBef>
                      </a:pPr>
                      <a:r>
                        <a:rPr sz="1400" spc="-50" dirty="0">
                          <a:latin typeface="宋体"/>
                          <a:cs typeface="宋体"/>
                        </a:rPr>
                        <a:t>１</a:t>
                      </a:r>
                      <a:endParaRPr sz="1400">
                        <a:latin typeface="宋体"/>
                        <a:cs typeface="宋体"/>
                      </a:endParaRPr>
                    </a:p>
                  </a:txBody>
                  <a:tcPr marL="0" marR="0" marT="84455" marB="0"/>
                </a:tc>
                <a:extLst>
                  <a:ext uri="{0D108BD9-81ED-4DB2-BD59-A6C34878D82A}">
                    <a16:rowId xmlns:a16="http://schemas.microsoft.com/office/drawing/2014/main" val="10006"/>
                  </a:ext>
                </a:extLst>
              </a:tr>
              <a:tr h="490220">
                <a:tc>
                  <a:txBody>
                    <a:bodyPr/>
                    <a:lstStyle/>
                    <a:p>
                      <a:pPr>
                        <a:lnSpc>
                          <a:spcPct val="100000"/>
                        </a:lnSpc>
                      </a:pPr>
                      <a:endParaRPr sz="1400">
                        <a:latin typeface="Times New Roman"/>
                        <a:cs typeface="Times New Roman"/>
                      </a:endParaRPr>
                    </a:p>
                  </a:txBody>
                  <a:tcPr marL="0" marR="0" marT="0" marB="0">
                    <a:lnB w="12700">
                      <a:solidFill>
                        <a:srgbClr val="000000"/>
                      </a:solidFill>
                      <a:prstDash val="solid"/>
                    </a:lnB>
                  </a:tcPr>
                </a:tc>
                <a:tc>
                  <a:txBody>
                    <a:bodyPr/>
                    <a:lstStyle/>
                    <a:p>
                      <a:pPr marL="43815" algn="ctr">
                        <a:lnSpc>
                          <a:spcPct val="100000"/>
                        </a:lnSpc>
                        <a:spcBef>
                          <a:spcPts val="670"/>
                        </a:spcBef>
                      </a:pPr>
                      <a:r>
                        <a:rPr sz="1400" spc="-50" dirty="0">
                          <a:latin typeface="宋体"/>
                          <a:cs typeface="宋体"/>
                        </a:rPr>
                        <a:t>＾</a:t>
                      </a:r>
                      <a:endParaRPr sz="1400">
                        <a:latin typeface="宋体"/>
                        <a:cs typeface="宋体"/>
                      </a:endParaRPr>
                    </a:p>
                  </a:txBody>
                  <a:tcPr marL="0" marR="0" marT="85090" marB="0">
                    <a:lnB w="12700">
                      <a:solidFill>
                        <a:srgbClr val="000000"/>
                      </a:solidFill>
                      <a:prstDash val="solid"/>
                    </a:lnB>
                  </a:tcPr>
                </a:tc>
                <a:tc>
                  <a:txBody>
                    <a:bodyPr/>
                    <a:lstStyle/>
                    <a:p>
                      <a:pPr marR="81280" algn="ctr">
                        <a:lnSpc>
                          <a:spcPct val="100000"/>
                        </a:lnSpc>
                        <a:spcBef>
                          <a:spcPts val="670"/>
                        </a:spcBef>
                      </a:pPr>
                      <a:r>
                        <a:rPr sz="1400" spc="-15" dirty="0">
                          <a:latin typeface="宋体"/>
                          <a:cs typeface="宋体"/>
                        </a:rPr>
                        <a:t>异或缩减</a:t>
                      </a:r>
                      <a:endParaRPr sz="1400">
                        <a:latin typeface="宋体"/>
                        <a:cs typeface="宋体"/>
                      </a:endParaRPr>
                    </a:p>
                  </a:txBody>
                  <a:tcPr marL="0" marR="0" marT="85090" marB="0">
                    <a:lnB w="12700">
                      <a:solidFill>
                        <a:srgbClr val="000000"/>
                      </a:solidFill>
                      <a:prstDash val="solid"/>
                    </a:lnB>
                  </a:tcPr>
                </a:tc>
                <a:tc>
                  <a:txBody>
                    <a:bodyPr/>
                    <a:lstStyle/>
                    <a:p>
                      <a:pPr marR="81280" algn="ctr">
                        <a:lnSpc>
                          <a:spcPct val="100000"/>
                        </a:lnSpc>
                        <a:spcBef>
                          <a:spcPts val="670"/>
                        </a:spcBef>
                      </a:pPr>
                      <a:r>
                        <a:rPr sz="1400" spc="-50" dirty="0">
                          <a:latin typeface="宋体"/>
                          <a:cs typeface="宋体"/>
                        </a:rPr>
                        <a:t>１</a:t>
                      </a:r>
                      <a:endParaRPr sz="1400">
                        <a:latin typeface="宋体"/>
                        <a:cs typeface="宋体"/>
                      </a:endParaRPr>
                    </a:p>
                  </a:txBody>
                  <a:tcPr marL="0" marR="0" marT="85090" marB="0">
                    <a:lnB w="12700">
                      <a:solidFill>
                        <a:srgbClr val="000000"/>
                      </a:solidFill>
                      <a:prstDash val="solid"/>
                    </a:lnB>
                  </a:tcPr>
                </a:tc>
                <a:extLst>
                  <a:ext uri="{0D108BD9-81ED-4DB2-BD59-A6C34878D82A}">
                    <a16:rowId xmlns:a16="http://schemas.microsoft.com/office/drawing/2014/main" val="10007"/>
                  </a:ext>
                </a:extLst>
              </a:tr>
              <a:tr h="225425">
                <a:tc>
                  <a:txBody>
                    <a:bodyPr/>
                    <a:lstStyle/>
                    <a:p>
                      <a:pPr marL="43815" algn="ctr">
                        <a:lnSpc>
                          <a:spcPts val="1610"/>
                        </a:lnSpc>
                      </a:pPr>
                      <a:r>
                        <a:rPr sz="1400" spc="-25" dirty="0">
                          <a:latin typeface="宋体"/>
                          <a:cs typeface="宋体"/>
                        </a:rPr>
                        <a:t>逻辑</a:t>
                      </a:r>
                      <a:endParaRPr sz="1400">
                        <a:latin typeface="宋体"/>
                        <a:cs typeface="宋体"/>
                      </a:endParaRPr>
                    </a:p>
                  </a:txBody>
                  <a:tcPr marL="0" marR="0" marT="0" marB="0">
                    <a:lnT w="12700">
                      <a:solidFill>
                        <a:srgbClr val="000000"/>
                      </a:solidFill>
                      <a:prstDash val="solid"/>
                    </a:lnT>
                  </a:tcPr>
                </a:tc>
                <a:tc>
                  <a:txBody>
                    <a:bodyPr/>
                    <a:lstStyle/>
                    <a:p>
                      <a:pPr marL="43815" algn="ctr">
                        <a:lnSpc>
                          <a:spcPts val="1610"/>
                        </a:lnSpc>
                      </a:pPr>
                      <a:r>
                        <a:rPr sz="1400" spc="-50" dirty="0">
                          <a:latin typeface="宋体"/>
                          <a:cs typeface="宋体"/>
                        </a:rPr>
                        <a:t>！</a:t>
                      </a:r>
                      <a:endParaRPr sz="1400">
                        <a:latin typeface="宋体"/>
                        <a:cs typeface="宋体"/>
                      </a:endParaRPr>
                    </a:p>
                  </a:txBody>
                  <a:tcPr marL="0" marR="0" marT="0" marB="0">
                    <a:lnT w="12700">
                      <a:solidFill>
                        <a:srgbClr val="000000"/>
                      </a:solidFill>
                      <a:prstDash val="solid"/>
                    </a:lnT>
                  </a:tcPr>
                </a:tc>
                <a:tc>
                  <a:txBody>
                    <a:bodyPr/>
                    <a:lstStyle/>
                    <a:p>
                      <a:pPr marR="81280" algn="ctr">
                        <a:lnSpc>
                          <a:spcPts val="1610"/>
                        </a:lnSpc>
                      </a:pPr>
                      <a:r>
                        <a:rPr sz="1400" spc="-15" dirty="0">
                          <a:latin typeface="宋体"/>
                          <a:cs typeface="宋体"/>
                        </a:rPr>
                        <a:t>逻辑取反</a:t>
                      </a:r>
                      <a:endParaRPr sz="1400">
                        <a:latin typeface="宋体"/>
                        <a:cs typeface="宋体"/>
                      </a:endParaRPr>
                    </a:p>
                  </a:txBody>
                  <a:tcPr marL="0" marR="0" marT="0" marB="0">
                    <a:lnT w="12700">
                      <a:solidFill>
                        <a:srgbClr val="000000"/>
                      </a:solidFill>
                      <a:prstDash val="solid"/>
                    </a:lnT>
                  </a:tcPr>
                </a:tc>
                <a:tc>
                  <a:txBody>
                    <a:bodyPr/>
                    <a:lstStyle/>
                    <a:p>
                      <a:pPr marR="81280" algn="ctr">
                        <a:lnSpc>
                          <a:spcPts val="1610"/>
                        </a:lnSpc>
                      </a:pPr>
                      <a:r>
                        <a:rPr sz="1400" spc="-50" dirty="0">
                          <a:latin typeface="宋体"/>
                          <a:cs typeface="宋体"/>
                        </a:rPr>
                        <a:t>１</a:t>
                      </a:r>
                      <a:endParaRPr sz="1400">
                        <a:latin typeface="宋体"/>
                        <a:cs typeface="宋体"/>
                      </a:endParaRPr>
                    </a:p>
                  </a:txBody>
                  <a:tcPr marL="0" marR="0" marT="0" marB="0">
                    <a:lnT w="12700">
                      <a:solidFill>
                        <a:srgbClr val="000000"/>
                      </a:solidFill>
                      <a:prstDash val="solid"/>
                    </a:lnT>
                  </a:tcPr>
                </a:tc>
                <a:extLst>
                  <a:ext uri="{0D108BD9-81ED-4DB2-BD59-A6C34878D82A}">
                    <a16:rowId xmlns:a16="http://schemas.microsoft.com/office/drawing/2014/main" val="10008"/>
                  </a:ext>
                </a:extLst>
              </a:tr>
              <a:tr h="483234">
                <a:tc>
                  <a:txBody>
                    <a:bodyPr/>
                    <a:lstStyle/>
                    <a:p>
                      <a:pPr>
                        <a:lnSpc>
                          <a:spcPct val="100000"/>
                        </a:lnSpc>
                      </a:pPr>
                      <a:endParaRPr sz="1400">
                        <a:latin typeface="Times New Roman"/>
                        <a:cs typeface="Times New Roman"/>
                      </a:endParaRPr>
                    </a:p>
                  </a:txBody>
                  <a:tcPr marL="0" marR="0" marT="0" marB="0"/>
                </a:tc>
                <a:tc>
                  <a:txBody>
                    <a:bodyPr/>
                    <a:lstStyle/>
                    <a:p>
                      <a:pPr marL="43815" algn="ctr">
                        <a:lnSpc>
                          <a:spcPct val="100000"/>
                        </a:lnSpc>
                        <a:spcBef>
                          <a:spcPts val="1260"/>
                        </a:spcBef>
                      </a:pPr>
                      <a:r>
                        <a:rPr sz="1400" spc="-25" dirty="0">
                          <a:latin typeface="Calibri"/>
                          <a:cs typeface="Calibri"/>
                        </a:rPr>
                        <a:t>&amp;&amp;</a:t>
                      </a:r>
                      <a:endParaRPr sz="1400" dirty="0">
                        <a:latin typeface="Calibri"/>
                        <a:cs typeface="Calibri"/>
                      </a:endParaRPr>
                    </a:p>
                  </a:txBody>
                  <a:tcPr marL="0" marR="0" marT="160020" marB="0"/>
                </a:tc>
                <a:tc>
                  <a:txBody>
                    <a:bodyPr/>
                    <a:lstStyle/>
                    <a:p>
                      <a:pPr marR="81280" algn="ctr">
                        <a:lnSpc>
                          <a:spcPct val="100000"/>
                        </a:lnSpc>
                        <a:spcBef>
                          <a:spcPts val="1285"/>
                        </a:spcBef>
                      </a:pPr>
                      <a:r>
                        <a:rPr sz="1400" spc="-20" dirty="0">
                          <a:latin typeface="宋体"/>
                          <a:cs typeface="宋体"/>
                        </a:rPr>
                        <a:t>逻辑与</a:t>
                      </a:r>
                      <a:endParaRPr sz="1400">
                        <a:latin typeface="宋体"/>
                        <a:cs typeface="宋体"/>
                      </a:endParaRPr>
                    </a:p>
                  </a:txBody>
                  <a:tcPr marL="0" marR="0" marT="163195" marB="0"/>
                </a:tc>
                <a:tc>
                  <a:txBody>
                    <a:bodyPr/>
                    <a:lstStyle/>
                    <a:p>
                      <a:pPr marR="81280" algn="ctr">
                        <a:lnSpc>
                          <a:spcPct val="100000"/>
                        </a:lnSpc>
                        <a:spcBef>
                          <a:spcPts val="1285"/>
                        </a:spcBef>
                      </a:pPr>
                      <a:r>
                        <a:rPr sz="1400" spc="-50" dirty="0">
                          <a:latin typeface="宋体"/>
                          <a:cs typeface="宋体"/>
                        </a:rPr>
                        <a:t>２</a:t>
                      </a:r>
                      <a:endParaRPr sz="1400">
                        <a:latin typeface="宋体"/>
                        <a:cs typeface="宋体"/>
                      </a:endParaRPr>
                    </a:p>
                  </a:txBody>
                  <a:tcPr marL="0" marR="0" marT="163195" marB="0"/>
                </a:tc>
                <a:extLst>
                  <a:ext uri="{0D108BD9-81ED-4DB2-BD59-A6C34878D82A}">
                    <a16:rowId xmlns:a16="http://schemas.microsoft.com/office/drawing/2014/main" val="10009"/>
                  </a:ext>
                </a:extLst>
              </a:tr>
              <a:tr h="481965">
                <a:tc>
                  <a:txBody>
                    <a:bodyPr/>
                    <a:lstStyle/>
                    <a:p>
                      <a:pPr>
                        <a:lnSpc>
                          <a:spcPct val="100000"/>
                        </a:lnSpc>
                      </a:pPr>
                      <a:endParaRPr sz="1400">
                        <a:latin typeface="Times New Roman"/>
                        <a:cs typeface="Times New Roman"/>
                      </a:endParaRPr>
                    </a:p>
                  </a:txBody>
                  <a:tcPr marL="0" marR="0" marT="0" marB="0">
                    <a:lnB w="12700">
                      <a:solidFill>
                        <a:srgbClr val="000000"/>
                      </a:solidFill>
                      <a:prstDash val="solid"/>
                    </a:lnB>
                  </a:tcPr>
                </a:tc>
                <a:tc>
                  <a:txBody>
                    <a:bodyPr/>
                    <a:lstStyle/>
                    <a:p>
                      <a:pPr marL="43815" algn="ctr">
                        <a:lnSpc>
                          <a:spcPct val="100000"/>
                        </a:lnSpc>
                        <a:spcBef>
                          <a:spcPts val="575"/>
                        </a:spcBef>
                      </a:pPr>
                      <a:r>
                        <a:rPr sz="1400" spc="-25" dirty="0">
                          <a:latin typeface="Calibri"/>
                          <a:cs typeface="Calibri"/>
                        </a:rPr>
                        <a:t>||</a:t>
                      </a:r>
                      <a:endParaRPr sz="1400" dirty="0">
                        <a:latin typeface="Calibri"/>
                        <a:cs typeface="Calibri"/>
                      </a:endParaRPr>
                    </a:p>
                  </a:txBody>
                  <a:tcPr marL="0" marR="0" marT="73025" marB="0">
                    <a:lnB w="12700">
                      <a:solidFill>
                        <a:srgbClr val="000000"/>
                      </a:solidFill>
                      <a:prstDash val="solid"/>
                    </a:lnB>
                  </a:tcPr>
                </a:tc>
                <a:tc>
                  <a:txBody>
                    <a:bodyPr/>
                    <a:lstStyle/>
                    <a:p>
                      <a:pPr marR="81280" algn="ctr">
                        <a:lnSpc>
                          <a:spcPct val="100000"/>
                        </a:lnSpc>
                        <a:spcBef>
                          <a:spcPts val="600"/>
                        </a:spcBef>
                      </a:pPr>
                      <a:r>
                        <a:rPr sz="1400" spc="-20" dirty="0">
                          <a:latin typeface="宋体"/>
                          <a:cs typeface="宋体"/>
                        </a:rPr>
                        <a:t>逻辑或</a:t>
                      </a:r>
                      <a:endParaRPr sz="1400">
                        <a:latin typeface="宋体"/>
                        <a:cs typeface="宋体"/>
                      </a:endParaRPr>
                    </a:p>
                  </a:txBody>
                  <a:tcPr marL="0" marR="0" marT="76200" marB="0">
                    <a:lnB w="12700">
                      <a:solidFill>
                        <a:srgbClr val="000000"/>
                      </a:solidFill>
                      <a:prstDash val="solid"/>
                    </a:lnB>
                  </a:tcPr>
                </a:tc>
                <a:tc>
                  <a:txBody>
                    <a:bodyPr/>
                    <a:lstStyle/>
                    <a:p>
                      <a:pPr marR="81280" algn="ctr">
                        <a:lnSpc>
                          <a:spcPct val="100000"/>
                        </a:lnSpc>
                        <a:spcBef>
                          <a:spcPts val="600"/>
                        </a:spcBef>
                      </a:pPr>
                      <a:r>
                        <a:rPr sz="1400" spc="-50" dirty="0">
                          <a:latin typeface="宋体"/>
                          <a:cs typeface="宋体"/>
                        </a:rPr>
                        <a:t>２</a:t>
                      </a:r>
                      <a:endParaRPr sz="1400">
                        <a:latin typeface="宋体"/>
                        <a:cs typeface="宋体"/>
                      </a:endParaRPr>
                    </a:p>
                  </a:txBody>
                  <a:tcPr marL="0" marR="0" marT="76200" marB="0">
                    <a:lnB w="12700">
                      <a:solidFill>
                        <a:srgbClr val="000000"/>
                      </a:solidFill>
                      <a:prstDash val="solid"/>
                    </a:lnB>
                  </a:tcPr>
                </a:tc>
                <a:extLst>
                  <a:ext uri="{0D108BD9-81ED-4DB2-BD59-A6C34878D82A}">
                    <a16:rowId xmlns:a16="http://schemas.microsoft.com/office/drawing/2014/main" val="10010"/>
                  </a:ext>
                </a:extLst>
              </a:tr>
              <a:tr h="394335">
                <a:tc>
                  <a:txBody>
                    <a:bodyPr/>
                    <a:lstStyle/>
                    <a:p>
                      <a:pPr marL="43815" algn="ctr">
                        <a:lnSpc>
                          <a:spcPts val="1620"/>
                        </a:lnSpc>
                      </a:pPr>
                      <a:r>
                        <a:rPr sz="1400" spc="-20" dirty="0">
                          <a:latin typeface="宋体"/>
                          <a:cs typeface="宋体"/>
                        </a:rPr>
                        <a:t>位拼接</a:t>
                      </a:r>
                      <a:endParaRPr sz="1400">
                        <a:latin typeface="宋体"/>
                        <a:cs typeface="宋体"/>
                      </a:endParaRPr>
                    </a:p>
                  </a:txBody>
                  <a:tcPr marL="0" marR="0" marT="0" marB="0">
                    <a:lnT w="12700">
                      <a:solidFill>
                        <a:srgbClr val="000000"/>
                      </a:solidFill>
                      <a:prstDash val="solid"/>
                    </a:lnT>
                  </a:tcPr>
                </a:tc>
                <a:tc>
                  <a:txBody>
                    <a:bodyPr/>
                    <a:lstStyle/>
                    <a:p>
                      <a:pPr marL="43815" algn="ctr">
                        <a:lnSpc>
                          <a:spcPts val="1620"/>
                        </a:lnSpc>
                      </a:pPr>
                      <a:r>
                        <a:rPr sz="1400" spc="-25" dirty="0">
                          <a:latin typeface="宋体"/>
                          <a:cs typeface="宋体"/>
                        </a:rPr>
                        <a:t>｛｝</a:t>
                      </a:r>
                      <a:endParaRPr sz="1400">
                        <a:latin typeface="宋体"/>
                        <a:cs typeface="宋体"/>
                      </a:endParaRPr>
                    </a:p>
                  </a:txBody>
                  <a:tcPr marL="0" marR="0" marT="0" marB="0">
                    <a:lnT w="12700">
                      <a:solidFill>
                        <a:srgbClr val="000000"/>
                      </a:solidFill>
                      <a:prstDash val="solid"/>
                    </a:lnT>
                  </a:tcPr>
                </a:tc>
                <a:tc>
                  <a:txBody>
                    <a:bodyPr/>
                    <a:lstStyle/>
                    <a:p>
                      <a:pPr marR="81280" algn="ctr">
                        <a:lnSpc>
                          <a:spcPts val="1620"/>
                        </a:lnSpc>
                      </a:pPr>
                      <a:r>
                        <a:rPr sz="1400" spc="-20" dirty="0">
                          <a:latin typeface="宋体"/>
                          <a:cs typeface="宋体"/>
                        </a:rPr>
                        <a:t>位拼接</a:t>
                      </a:r>
                      <a:endParaRPr sz="1400">
                        <a:latin typeface="宋体"/>
                        <a:cs typeface="宋体"/>
                      </a:endParaRPr>
                    </a:p>
                  </a:txBody>
                  <a:tcPr marL="0" marR="0" marT="0" marB="0">
                    <a:lnT w="12700">
                      <a:solidFill>
                        <a:srgbClr val="000000"/>
                      </a:solidFill>
                      <a:prstDash val="solid"/>
                    </a:lnT>
                  </a:tcPr>
                </a:tc>
                <a:tc>
                  <a:txBody>
                    <a:bodyPr/>
                    <a:lstStyle/>
                    <a:p>
                      <a:pPr marR="81280" algn="ctr">
                        <a:lnSpc>
                          <a:spcPts val="1620"/>
                        </a:lnSpc>
                      </a:pPr>
                      <a:r>
                        <a:rPr sz="1400" spc="-25" dirty="0">
                          <a:latin typeface="宋体"/>
                          <a:cs typeface="宋体"/>
                        </a:rPr>
                        <a:t>任何</a:t>
                      </a:r>
                      <a:endParaRPr sz="1400">
                        <a:latin typeface="宋体"/>
                        <a:cs typeface="宋体"/>
                      </a:endParaRPr>
                    </a:p>
                  </a:txBody>
                  <a:tcPr marL="0" marR="0" marT="0" marB="0">
                    <a:lnT w="12700">
                      <a:solidFill>
                        <a:srgbClr val="000000"/>
                      </a:solidFill>
                      <a:prstDash val="solid"/>
                    </a:lnT>
                  </a:tcPr>
                </a:tc>
                <a:extLst>
                  <a:ext uri="{0D108BD9-81ED-4DB2-BD59-A6C34878D82A}">
                    <a16:rowId xmlns:a16="http://schemas.microsoft.com/office/drawing/2014/main" val="10011"/>
                  </a:ext>
                </a:extLst>
              </a:tr>
              <a:tr h="400050">
                <a:tc>
                  <a:txBody>
                    <a:bodyPr/>
                    <a:lstStyle/>
                    <a:p>
                      <a:pPr>
                        <a:lnSpc>
                          <a:spcPct val="100000"/>
                        </a:lnSpc>
                      </a:pPr>
                      <a:endParaRPr sz="1400">
                        <a:latin typeface="Times New Roman"/>
                        <a:cs typeface="Times New Roman"/>
                      </a:endParaRPr>
                    </a:p>
                  </a:txBody>
                  <a:tcPr marL="0" marR="0" marT="0" marB="0">
                    <a:lnB w="12700">
                      <a:solidFill>
                        <a:srgbClr val="000000"/>
                      </a:solidFill>
                      <a:prstDash val="solid"/>
                    </a:lnB>
                  </a:tcPr>
                </a:tc>
                <a:tc>
                  <a:txBody>
                    <a:bodyPr/>
                    <a:lstStyle/>
                    <a:p>
                      <a:pPr marL="43815" algn="ctr">
                        <a:lnSpc>
                          <a:spcPts val="1635"/>
                        </a:lnSpc>
                      </a:pPr>
                      <a:r>
                        <a:rPr sz="1400" spc="-20" dirty="0">
                          <a:latin typeface="宋体"/>
                          <a:cs typeface="宋体"/>
                        </a:rPr>
                        <a:t>｛｛｝｝</a:t>
                      </a:r>
                      <a:endParaRPr sz="1400">
                        <a:latin typeface="宋体"/>
                        <a:cs typeface="宋体"/>
                      </a:endParaRPr>
                    </a:p>
                  </a:txBody>
                  <a:tcPr marL="0" marR="0" marT="0" marB="0">
                    <a:lnB w="12700">
                      <a:solidFill>
                        <a:srgbClr val="000000"/>
                      </a:solidFill>
                      <a:prstDash val="solid"/>
                    </a:lnB>
                  </a:tcPr>
                </a:tc>
                <a:tc>
                  <a:txBody>
                    <a:bodyPr/>
                    <a:lstStyle/>
                    <a:p>
                      <a:pPr marR="81280" algn="ctr">
                        <a:lnSpc>
                          <a:spcPts val="1635"/>
                        </a:lnSpc>
                      </a:pPr>
                      <a:r>
                        <a:rPr sz="1400" spc="-25" dirty="0">
                          <a:latin typeface="宋体"/>
                          <a:cs typeface="宋体"/>
                        </a:rPr>
                        <a:t>复制</a:t>
                      </a:r>
                      <a:endParaRPr sz="1400">
                        <a:latin typeface="宋体"/>
                        <a:cs typeface="宋体"/>
                      </a:endParaRPr>
                    </a:p>
                  </a:txBody>
                  <a:tcPr marL="0" marR="0" marT="0" marB="0">
                    <a:lnB w="12700">
                      <a:solidFill>
                        <a:srgbClr val="000000"/>
                      </a:solidFill>
                      <a:prstDash val="solid"/>
                    </a:lnB>
                  </a:tcPr>
                </a:tc>
                <a:tc>
                  <a:txBody>
                    <a:bodyPr/>
                    <a:lstStyle/>
                    <a:p>
                      <a:pPr marR="81280" algn="ctr">
                        <a:lnSpc>
                          <a:spcPts val="1635"/>
                        </a:lnSpc>
                      </a:pPr>
                      <a:r>
                        <a:rPr sz="1400" spc="-25" dirty="0">
                          <a:latin typeface="宋体"/>
                          <a:cs typeface="宋体"/>
                        </a:rPr>
                        <a:t>任何</a:t>
                      </a:r>
                      <a:endParaRPr sz="1400">
                        <a:latin typeface="宋体"/>
                        <a:cs typeface="宋体"/>
                      </a:endParaRPr>
                    </a:p>
                  </a:txBody>
                  <a:tcPr marL="0" marR="0" marT="0" marB="0">
                    <a:lnB w="12700">
                      <a:solidFill>
                        <a:srgbClr val="000000"/>
                      </a:solidFill>
                      <a:prstDash val="solid"/>
                    </a:lnB>
                  </a:tcPr>
                </a:tc>
                <a:extLst>
                  <a:ext uri="{0D108BD9-81ED-4DB2-BD59-A6C34878D82A}">
                    <a16:rowId xmlns:a16="http://schemas.microsoft.com/office/drawing/2014/main" val="10012"/>
                  </a:ext>
                </a:extLst>
              </a:tr>
              <a:tr h="194945">
                <a:tc>
                  <a:txBody>
                    <a:bodyPr/>
                    <a:lstStyle/>
                    <a:p>
                      <a:pPr marL="43815" algn="ctr">
                        <a:lnSpc>
                          <a:spcPts val="1435"/>
                        </a:lnSpc>
                      </a:pPr>
                      <a:r>
                        <a:rPr sz="1400" spc="-25" dirty="0">
                          <a:latin typeface="宋体"/>
                          <a:cs typeface="宋体"/>
                        </a:rPr>
                        <a:t>条件</a:t>
                      </a:r>
                      <a:endParaRPr sz="1400">
                        <a:latin typeface="宋体"/>
                        <a:cs typeface="宋体"/>
                      </a:endParaRPr>
                    </a:p>
                  </a:txBody>
                  <a:tcPr marL="0" marR="0" marT="0" marB="0">
                    <a:lnT w="12700">
                      <a:solidFill>
                        <a:srgbClr val="000000"/>
                      </a:solidFill>
                      <a:prstDash val="solid"/>
                    </a:lnT>
                  </a:tcPr>
                </a:tc>
                <a:tc>
                  <a:txBody>
                    <a:bodyPr/>
                    <a:lstStyle/>
                    <a:p>
                      <a:pPr marL="43815" algn="ctr">
                        <a:lnSpc>
                          <a:spcPts val="1435"/>
                        </a:lnSpc>
                      </a:pPr>
                      <a:r>
                        <a:rPr sz="1400" spc="-25" dirty="0">
                          <a:latin typeface="宋体"/>
                          <a:cs typeface="宋体"/>
                        </a:rPr>
                        <a:t>？：</a:t>
                      </a:r>
                      <a:endParaRPr sz="1400">
                        <a:latin typeface="宋体"/>
                        <a:cs typeface="宋体"/>
                      </a:endParaRPr>
                    </a:p>
                  </a:txBody>
                  <a:tcPr marL="0" marR="0" marT="0" marB="0">
                    <a:lnT w="12700">
                      <a:solidFill>
                        <a:srgbClr val="000000"/>
                      </a:solidFill>
                      <a:prstDash val="solid"/>
                    </a:lnT>
                  </a:tcPr>
                </a:tc>
                <a:tc>
                  <a:txBody>
                    <a:bodyPr/>
                    <a:lstStyle/>
                    <a:p>
                      <a:pPr marR="81280" algn="ctr">
                        <a:lnSpc>
                          <a:spcPts val="1435"/>
                        </a:lnSpc>
                      </a:pPr>
                      <a:r>
                        <a:rPr sz="1400" spc="-25" dirty="0">
                          <a:latin typeface="宋体"/>
                          <a:cs typeface="宋体"/>
                        </a:rPr>
                        <a:t>条件</a:t>
                      </a:r>
                      <a:endParaRPr sz="1400">
                        <a:latin typeface="宋体"/>
                        <a:cs typeface="宋体"/>
                      </a:endParaRPr>
                    </a:p>
                  </a:txBody>
                  <a:tcPr marL="0" marR="0" marT="0" marB="0">
                    <a:lnT w="12700">
                      <a:solidFill>
                        <a:srgbClr val="000000"/>
                      </a:solidFill>
                      <a:prstDash val="solid"/>
                    </a:lnT>
                  </a:tcPr>
                </a:tc>
                <a:tc>
                  <a:txBody>
                    <a:bodyPr/>
                    <a:lstStyle/>
                    <a:p>
                      <a:pPr marR="81280" algn="ctr">
                        <a:lnSpc>
                          <a:spcPts val="1435"/>
                        </a:lnSpc>
                      </a:pPr>
                      <a:r>
                        <a:rPr sz="1400" spc="-50" dirty="0">
                          <a:latin typeface="宋体"/>
                          <a:cs typeface="宋体"/>
                        </a:rPr>
                        <a:t>３</a:t>
                      </a:r>
                      <a:endParaRPr sz="1400" dirty="0">
                        <a:latin typeface="宋体"/>
                        <a:cs typeface="宋体"/>
                      </a:endParaRPr>
                    </a:p>
                  </a:txBody>
                  <a:tcPr marL="0" marR="0" marT="0" marB="0">
                    <a:lnT w="12700">
                      <a:solidFill>
                        <a:srgbClr val="000000"/>
                      </a:solidFill>
                      <a:prstDash val="solid"/>
                    </a:lnT>
                  </a:tcPr>
                </a:tc>
                <a:extLst>
                  <a:ext uri="{0D108BD9-81ED-4DB2-BD59-A6C34878D82A}">
                    <a16:rowId xmlns:a16="http://schemas.microsoft.com/office/drawing/2014/main" val="10013"/>
                  </a:ext>
                </a:extLst>
              </a:tr>
            </a:tbl>
          </a:graphicData>
        </a:graphic>
      </p:graphicFrame>
      <p:sp>
        <p:nvSpPr>
          <p:cNvPr id="6" name="object 6"/>
          <p:cNvSpPr/>
          <p:nvPr/>
        </p:nvSpPr>
        <p:spPr>
          <a:xfrm>
            <a:off x="5803900" y="6278976"/>
            <a:ext cx="3906520" cy="0"/>
          </a:xfrm>
          <a:custGeom>
            <a:avLst/>
            <a:gdLst/>
            <a:ahLst/>
            <a:cxnLst/>
            <a:rect l="l" t="t" r="r" b="b"/>
            <a:pathLst>
              <a:path w="3906520">
                <a:moveTo>
                  <a:pt x="0" y="0"/>
                </a:moveTo>
                <a:lnTo>
                  <a:pt x="3906012" y="0"/>
                </a:lnTo>
              </a:path>
            </a:pathLst>
          </a:custGeom>
          <a:ln w="11137">
            <a:solidFill>
              <a:srgbClr val="000000"/>
            </a:solidFill>
          </a:ln>
        </p:spPr>
        <p:txBody>
          <a:bodyPr wrap="square" lIns="0" tIns="0" rIns="0" bIns="0" rtlCol="0"/>
          <a:lstStyle/>
          <a:p>
            <a:endParaRPr/>
          </a:p>
        </p:txBody>
      </p:sp>
      <p:sp>
        <p:nvSpPr>
          <p:cNvPr id="7" name="object 7"/>
          <p:cNvSpPr txBox="1">
            <a:spLocks noGrp="1"/>
          </p:cNvSpPr>
          <p:nvPr>
            <p:ph type="ftr" sz="quarter" idx="5"/>
          </p:nvPr>
        </p:nvSpPr>
        <p:spPr>
          <a:prstGeom prst="rect">
            <a:avLst/>
          </a:prstGeom>
        </p:spPr>
        <p:txBody>
          <a:bodyPr vert="horz" wrap="square" lIns="0" tIns="23495" rIns="0" bIns="0" rtlCol="0">
            <a:spAutoFit/>
          </a:bodyPr>
          <a:lstStyle/>
          <a:p>
            <a:pPr marL="13335">
              <a:lnSpc>
                <a:spcPct val="100000"/>
              </a:lnSpc>
              <a:spcBef>
                <a:spcPts val="185"/>
              </a:spcBef>
            </a:pPr>
            <a:r>
              <a:rPr dirty="0"/>
              <a:t>Xilinx</a:t>
            </a:r>
            <a:r>
              <a:rPr spc="-5" dirty="0"/>
              <a:t> 大学合作部 </a:t>
            </a:r>
            <a:r>
              <a:rPr dirty="0"/>
              <a:t>&amp;</a:t>
            </a:r>
            <a:r>
              <a:rPr spc="-10" dirty="0"/>
              <a:t> 东南大学</a:t>
            </a:r>
          </a:p>
        </p:txBody>
      </p:sp>
      <p:sp>
        <p:nvSpPr>
          <p:cNvPr id="8" name="object 8"/>
          <p:cNvSpPr txBox="1">
            <a:spLocks noGrp="1"/>
          </p:cNvSpPr>
          <p:nvPr>
            <p:ph type="sldNum" sz="quarter" idx="7"/>
          </p:nvPr>
        </p:nvSpPr>
        <p:spPr>
          <a:prstGeom prst="rect">
            <a:avLst/>
          </a:prstGeom>
        </p:spPr>
        <p:txBody>
          <a:bodyPr vert="horz" wrap="square" lIns="0" tIns="5080" rIns="0" bIns="0" rtlCol="0">
            <a:spAutoFit/>
          </a:bodyPr>
          <a:lstStyle/>
          <a:p>
            <a:pPr marL="38735">
              <a:lnSpc>
                <a:spcPct val="100000"/>
              </a:lnSpc>
              <a:spcBef>
                <a:spcPts val="40"/>
              </a:spcBef>
            </a:pPr>
            <a:fld id="{81D60167-4931-47E6-BA6A-407CBD079E47}" type="slidenum">
              <a:rPr spc="-25" dirty="0"/>
              <a:t>23</a:t>
            </a:fld>
            <a:endParaRPr spc="-25" dirty="0"/>
          </a:p>
        </p:txBody>
      </p:sp>
      <p:sp>
        <p:nvSpPr>
          <p:cNvPr id="9" name="object 3">
            <a:extLst>
              <a:ext uri="{FF2B5EF4-FFF2-40B4-BE49-F238E27FC236}">
                <a16:creationId xmlns:a16="http://schemas.microsoft.com/office/drawing/2014/main" id="{7856837A-7CF3-7A4E-E4C5-28B47D9C33F4}"/>
              </a:ext>
            </a:extLst>
          </p:cNvPr>
          <p:cNvSpPr txBox="1">
            <a:spLocks/>
          </p:cNvSpPr>
          <p:nvPr/>
        </p:nvSpPr>
        <p:spPr>
          <a:xfrm>
            <a:off x="241300" y="200025"/>
            <a:ext cx="7288905" cy="524503"/>
          </a:xfrm>
          <a:prstGeom prst="rect">
            <a:avLst/>
          </a:prstGeom>
        </p:spPr>
        <p:txBody>
          <a:bodyPr vert="horz" wrap="square" lIns="0" tIns="16510" rIns="0" bIns="0" rtlCol="0">
            <a:spAutoFit/>
          </a:bodyPr>
          <a:lstStyle>
            <a:lvl1pPr>
              <a:defRPr sz="2800" b="0" i="0">
                <a:solidFill>
                  <a:srgbClr val="3F3F3F"/>
                </a:solidFill>
                <a:latin typeface="Calibri"/>
                <a:ea typeface="+mj-ea"/>
                <a:cs typeface="Calibri"/>
              </a:defRPr>
            </a:lvl1pPr>
          </a:lstStyle>
          <a:p>
            <a:pPr marL="12700">
              <a:spcBef>
                <a:spcPts val="130"/>
              </a:spcBef>
            </a:pPr>
            <a:r>
              <a:rPr lang="en-US" altLang="zh-CN" sz="3300" b="1" spc="-15" dirty="0">
                <a:solidFill>
                  <a:srgbClr val="000000"/>
                </a:solidFill>
                <a:latin typeface="宋体"/>
                <a:cs typeface="宋体"/>
              </a:rPr>
              <a:t>verilog</a:t>
            </a:r>
            <a:r>
              <a:rPr lang="zh-CN" altLang="en-US" sz="3300" b="1" spc="-15" dirty="0">
                <a:solidFill>
                  <a:srgbClr val="000000"/>
                </a:solidFill>
                <a:latin typeface="宋体"/>
                <a:cs typeface="宋体"/>
              </a:rPr>
              <a:t>的操作符</a:t>
            </a:r>
            <a:endParaRPr lang="zh-CN" altLang="en-US" sz="3300" dirty="0">
              <a:latin typeface="宋体"/>
              <a:cs typeface="宋体"/>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730531" y="1457705"/>
            <a:ext cx="2938780" cy="4418965"/>
            <a:chOff x="809891" y="1836420"/>
            <a:chExt cx="2938780" cy="4418965"/>
          </a:xfrm>
        </p:grpSpPr>
        <p:sp>
          <p:nvSpPr>
            <p:cNvPr id="4" name="object 4"/>
            <p:cNvSpPr/>
            <p:nvPr/>
          </p:nvSpPr>
          <p:spPr>
            <a:xfrm>
              <a:off x="809891" y="1836420"/>
              <a:ext cx="2938780" cy="4418965"/>
            </a:xfrm>
            <a:custGeom>
              <a:avLst/>
              <a:gdLst/>
              <a:ahLst/>
              <a:cxnLst/>
              <a:rect l="l" t="t" r="r" b="b"/>
              <a:pathLst>
                <a:path w="2938779" h="4418965">
                  <a:moveTo>
                    <a:pt x="2938272" y="4418838"/>
                  </a:moveTo>
                  <a:lnTo>
                    <a:pt x="2938272" y="0"/>
                  </a:lnTo>
                  <a:lnTo>
                    <a:pt x="0" y="0"/>
                  </a:lnTo>
                  <a:lnTo>
                    <a:pt x="0" y="4418838"/>
                  </a:lnTo>
                  <a:lnTo>
                    <a:pt x="4572" y="4418838"/>
                  </a:lnTo>
                  <a:lnTo>
                    <a:pt x="4572" y="8381"/>
                  </a:lnTo>
                  <a:lnTo>
                    <a:pt x="8381" y="4572"/>
                  </a:lnTo>
                  <a:lnTo>
                    <a:pt x="8381" y="8381"/>
                  </a:lnTo>
                  <a:lnTo>
                    <a:pt x="2929890" y="8381"/>
                  </a:lnTo>
                  <a:lnTo>
                    <a:pt x="2929890" y="4571"/>
                  </a:lnTo>
                  <a:lnTo>
                    <a:pt x="2933700" y="8381"/>
                  </a:lnTo>
                  <a:lnTo>
                    <a:pt x="2933700" y="4418838"/>
                  </a:lnTo>
                  <a:lnTo>
                    <a:pt x="2938272" y="4418838"/>
                  </a:lnTo>
                  <a:close/>
                </a:path>
                <a:path w="2938779" h="4418965">
                  <a:moveTo>
                    <a:pt x="8381" y="8381"/>
                  </a:moveTo>
                  <a:lnTo>
                    <a:pt x="8381" y="4572"/>
                  </a:lnTo>
                  <a:lnTo>
                    <a:pt x="4572" y="8381"/>
                  </a:lnTo>
                  <a:lnTo>
                    <a:pt x="8381" y="8381"/>
                  </a:lnTo>
                  <a:close/>
                </a:path>
                <a:path w="2938779" h="4418965">
                  <a:moveTo>
                    <a:pt x="8382" y="4410456"/>
                  </a:moveTo>
                  <a:lnTo>
                    <a:pt x="8381" y="8381"/>
                  </a:lnTo>
                  <a:lnTo>
                    <a:pt x="4572" y="8381"/>
                  </a:lnTo>
                  <a:lnTo>
                    <a:pt x="4572" y="4410456"/>
                  </a:lnTo>
                  <a:lnTo>
                    <a:pt x="8382" y="4410456"/>
                  </a:lnTo>
                  <a:close/>
                </a:path>
                <a:path w="2938779" h="4418965">
                  <a:moveTo>
                    <a:pt x="2933700" y="4410456"/>
                  </a:moveTo>
                  <a:lnTo>
                    <a:pt x="4572" y="4410456"/>
                  </a:lnTo>
                  <a:lnTo>
                    <a:pt x="8382" y="4415028"/>
                  </a:lnTo>
                  <a:lnTo>
                    <a:pt x="8382" y="4418838"/>
                  </a:lnTo>
                  <a:lnTo>
                    <a:pt x="2929890" y="4418838"/>
                  </a:lnTo>
                  <a:lnTo>
                    <a:pt x="2929890" y="4415028"/>
                  </a:lnTo>
                  <a:lnTo>
                    <a:pt x="2933700" y="4410456"/>
                  </a:lnTo>
                  <a:close/>
                </a:path>
                <a:path w="2938779" h="4418965">
                  <a:moveTo>
                    <a:pt x="8382" y="4418838"/>
                  </a:moveTo>
                  <a:lnTo>
                    <a:pt x="8382" y="4415028"/>
                  </a:lnTo>
                  <a:lnTo>
                    <a:pt x="4572" y="4410456"/>
                  </a:lnTo>
                  <a:lnTo>
                    <a:pt x="4572" y="4418838"/>
                  </a:lnTo>
                  <a:lnTo>
                    <a:pt x="8382" y="4418838"/>
                  </a:lnTo>
                  <a:close/>
                </a:path>
                <a:path w="2938779" h="4418965">
                  <a:moveTo>
                    <a:pt x="2933700" y="8381"/>
                  </a:moveTo>
                  <a:lnTo>
                    <a:pt x="2929890" y="4571"/>
                  </a:lnTo>
                  <a:lnTo>
                    <a:pt x="2929890" y="8381"/>
                  </a:lnTo>
                  <a:lnTo>
                    <a:pt x="2933700" y="8381"/>
                  </a:lnTo>
                  <a:close/>
                </a:path>
                <a:path w="2938779" h="4418965">
                  <a:moveTo>
                    <a:pt x="2933700" y="4410456"/>
                  </a:moveTo>
                  <a:lnTo>
                    <a:pt x="2933700" y="8381"/>
                  </a:lnTo>
                  <a:lnTo>
                    <a:pt x="2929890" y="8381"/>
                  </a:lnTo>
                  <a:lnTo>
                    <a:pt x="2929890" y="4410456"/>
                  </a:lnTo>
                  <a:lnTo>
                    <a:pt x="2933700" y="4410456"/>
                  </a:lnTo>
                  <a:close/>
                </a:path>
                <a:path w="2938779" h="4418965">
                  <a:moveTo>
                    <a:pt x="2933700" y="4418838"/>
                  </a:moveTo>
                  <a:lnTo>
                    <a:pt x="2933700" y="4410456"/>
                  </a:lnTo>
                  <a:lnTo>
                    <a:pt x="2929890" y="4415028"/>
                  </a:lnTo>
                  <a:lnTo>
                    <a:pt x="2929890" y="4418838"/>
                  </a:lnTo>
                  <a:lnTo>
                    <a:pt x="2933700" y="4418838"/>
                  </a:lnTo>
                  <a:close/>
                </a:path>
              </a:pathLst>
            </a:custGeom>
            <a:solidFill>
              <a:srgbClr val="000000"/>
            </a:solidFill>
          </p:spPr>
          <p:txBody>
            <a:bodyPr wrap="square" lIns="0" tIns="0" rIns="0" bIns="0" rtlCol="0"/>
            <a:lstStyle/>
            <a:p>
              <a:endParaRPr/>
            </a:p>
          </p:txBody>
        </p:sp>
        <p:pic>
          <p:nvPicPr>
            <p:cNvPr id="5" name="object 5"/>
            <p:cNvPicPr/>
            <p:nvPr/>
          </p:nvPicPr>
          <p:blipFill>
            <a:blip r:embed="rId3" cstate="print"/>
            <a:stretch>
              <a:fillRect/>
            </a:stretch>
          </p:blipFill>
          <p:spPr>
            <a:xfrm>
              <a:off x="890663" y="1993392"/>
              <a:ext cx="208788" cy="200405"/>
            </a:xfrm>
            <a:prstGeom prst="rect">
              <a:avLst/>
            </a:prstGeom>
          </p:spPr>
        </p:pic>
      </p:grpSp>
      <p:sp>
        <p:nvSpPr>
          <p:cNvPr id="6" name="object 6"/>
          <p:cNvSpPr txBox="1"/>
          <p:nvPr/>
        </p:nvSpPr>
        <p:spPr>
          <a:xfrm>
            <a:off x="1006623" y="1486914"/>
            <a:ext cx="1934210" cy="390492"/>
          </a:xfrm>
          <a:prstGeom prst="rect">
            <a:avLst/>
          </a:prstGeom>
        </p:spPr>
        <p:txBody>
          <a:bodyPr vert="horz" wrap="square" lIns="0" tIns="13335" rIns="0" bIns="0" rtlCol="0">
            <a:spAutoFit/>
          </a:bodyPr>
          <a:lstStyle/>
          <a:p>
            <a:pPr marL="12700">
              <a:lnSpc>
                <a:spcPct val="100000"/>
              </a:lnSpc>
              <a:spcBef>
                <a:spcPts val="105"/>
              </a:spcBef>
            </a:pPr>
            <a:r>
              <a:rPr sz="2450" b="1" dirty="0">
                <a:solidFill>
                  <a:srgbClr val="3E3E3E"/>
                </a:solidFill>
                <a:latin typeface="Arial"/>
                <a:cs typeface="Arial"/>
              </a:rPr>
              <a:t>1.</a:t>
            </a:r>
            <a:r>
              <a:rPr sz="2450" b="1" spc="20" dirty="0">
                <a:solidFill>
                  <a:srgbClr val="3E3E3E"/>
                </a:solidFill>
                <a:latin typeface="Arial"/>
                <a:cs typeface="Arial"/>
              </a:rPr>
              <a:t> </a:t>
            </a:r>
            <a:r>
              <a:rPr sz="2450" b="1" spc="-30" dirty="0" err="1">
                <a:solidFill>
                  <a:srgbClr val="3E3E3E"/>
                </a:solidFill>
                <a:latin typeface="宋体"/>
                <a:cs typeface="宋体"/>
              </a:rPr>
              <a:t>算术</a:t>
            </a:r>
            <a:r>
              <a:rPr lang="zh-CN" altLang="en-US" sz="2450" b="1" spc="-30" dirty="0">
                <a:solidFill>
                  <a:srgbClr val="3E3E3E"/>
                </a:solidFill>
                <a:latin typeface="宋体"/>
                <a:cs typeface="宋体"/>
              </a:rPr>
              <a:t>操作</a:t>
            </a:r>
            <a:r>
              <a:rPr sz="2450" b="1" spc="-30" dirty="0">
                <a:solidFill>
                  <a:srgbClr val="3E3E3E"/>
                </a:solidFill>
                <a:latin typeface="宋体"/>
                <a:cs typeface="宋体"/>
              </a:rPr>
              <a:t>符</a:t>
            </a:r>
            <a:endParaRPr sz="2450" dirty="0">
              <a:latin typeface="宋体"/>
              <a:cs typeface="宋体"/>
            </a:endParaRPr>
          </a:p>
        </p:txBody>
      </p:sp>
      <p:sp>
        <p:nvSpPr>
          <p:cNvPr id="11" name="object 11"/>
          <p:cNvSpPr/>
          <p:nvPr/>
        </p:nvSpPr>
        <p:spPr>
          <a:xfrm>
            <a:off x="4610747" y="1457705"/>
            <a:ext cx="5742940" cy="4798060"/>
          </a:xfrm>
          <a:custGeom>
            <a:avLst/>
            <a:gdLst/>
            <a:ahLst/>
            <a:cxnLst/>
            <a:rect l="l" t="t" r="r" b="b"/>
            <a:pathLst>
              <a:path w="5742940" h="4798060">
                <a:moveTo>
                  <a:pt x="5742432" y="4797552"/>
                </a:moveTo>
                <a:lnTo>
                  <a:pt x="5742432" y="0"/>
                </a:lnTo>
                <a:lnTo>
                  <a:pt x="0" y="0"/>
                </a:lnTo>
                <a:lnTo>
                  <a:pt x="0" y="4797552"/>
                </a:lnTo>
                <a:lnTo>
                  <a:pt x="3810" y="4797552"/>
                </a:lnTo>
                <a:lnTo>
                  <a:pt x="3810" y="8381"/>
                </a:lnTo>
                <a:lnTo>
                  <a:pt x="8382" y="4571"/>
                </a:lnTo>
                <a:lnTo>
                  <a:pt x="8382" y="8381"/>
                </a:lnTo>
                <a:lnTo>
                  <a:pt x="5734049" y="8381"/>
                </a:lnTo>
                <a:lnTo>
                  <a:pt x="5734049" y="4571"/>
                </a:lnTo>
                <a:lnTo>
                  <a:pt x="5737860" y="8381"/>
                </a:lnTo>
                <a:lnTo>
                  <a:pt x="5737860" y="4797552"/>
                </a:lnTo>
                <a:lnTo>
                  <a:pt x="5742432" y="4797552"/>
                </a:lnTo>
                <a:close/>
              </a:path>
              <a:path w="5742940" h="4798060">
                <a:moveTo>
                  <a:pt x="8382" y="8381"/>
                </a:moveTo>
                <a:lnTo>
                  <a:pt x="8382" y="4571"/>
                </a:lnTo>
                <a:lnTo>
                  <a:pt x="3810" y="8381"/>
                </a:lnTo>
                <a:lnTo>
                  <a:pt x="8382" y="8381"/>
                </a:lnTo>
                <a:close/>
              </a:path>
              <a:path w="5742940" h="4798060">
                <a:moveTo>
                  <a:pt x="8382" y="4789170"/>
                </a:moveTo>
                <a:lnTo>
                  <a:pt x="8382" y="8381"/>
                </a:lnTo>
                <a:lnTo>
                  <a:pt x="3810" y="8381"/>
                </a:lnTo>
                <a:lnTo>
                  <a:pt x="3810" y="4789170"/>
                </a:lnTo>
                <a:lnTo>
                  <a:pt x="8382" y="4789170"/>
                </a:lnTo>
                <a:close/>
              </a:path>
              <a:path w="5742940" h="4798060">
                <a:moveTo>
                  <a:pt x="5737860" y="4789170"/>
                </a:moveTo>
                <a:lnTo>
                  <a:pt x="3810" y="4789170"/>
                </a:lnTo>
                <a:lnTo>
                  <a:pt x="8382" y="4793742"/>
                </a:lnTo>
                <a:lnTo>
                  <a:pt x="8382" y="4797552"/>
                </a:lnTo>
                <a:lnTo>
                  <a:pt x="5734049" y="4797552"/>
                </a:lnTo>
                <a:lnTo>
                  <a:pt x="5734049" y="4793742"/>
                </a:lnTo>
                <a:lnTo>
                  <a:pt x="5737860" y="4789170"/>
                </a:lnTo>
                <a:close/>
              </a:path>
              <a:path w="5742940" h="4798060">
                <a:moveTo>
                  <a:pt x="8382" y="4797552"/>
                </a:moveTo>
                <a:lnTo>
                  <a:pt x="8382" y="4793742"/>
                </a:lnTo>
                <a:lnTo>
                  <a:pt x="3810" y="4789170"/>
                </a:lnTo>
                <a:lnTo>
                  <a:pt x="3810" y="4797552"/>
                </a:lnTo>
                <a:lnTo>
                  <a:pt x="8382" y="4797552"/>
                </a:lnTo>
                <a:close/>
              </a:path>
              <a:path w="5742940" h="4798060">
                <a:moveTo>
                  <a:pt x="5737860" y="8381"/>
                </a:moveTo>
                <a:lnTo>
                  <a:pt x="5734049" y="4571"/>
                </a:lnTo>
                <a:lnTo>
                  <a:pt x="5734049" y="8381"/>
                </a:lnTo>
                <a:lnTo>
                  <a:pt x="5737860" y="8381"/>
                </a:lnTo>
                <a:close/>
              </a:path>
              <a:path w="5742940" h="4798060">
                <a:moveTo>
                  <a:pt x="5737860" y="4789170"/>
                </a:moveTo>
                <a:lnTo>
                  <a:pt x="5737860" y="8381"/>
                </a:lnTo>
                <a:lnTo>
                  <a:pt x="5734049" y="8381"/>
                </a:lnTo>
                <a:lnTo>
                  <a:pt x="5734049" y="4789170"/>
                </a:lnTo>
                <a:lnTo>
                  <a:pt x="5737860" y="4789170"/>
                </a:lnTo>
                <a:close/>
              </a:path>
              <a:path w="5742940" h="4798060">
                <a:moveTo>
                  <a:pt x="5737860" y="4797552"/>
                </a:moveTo>
                <a:lnTo>
                  <a:pt x="5737860" y="4789170"/>
                </a:lnTo>
                <a:lnTo>
                  <a:pt x="5734049" y="4793742"/>
                </a:lnTo>
                <a:lnTo>
                  <a:pt x="5734049" y="4797552"/>
                </a:lnTo>
                <a:lnTo>
                  <a:pt x="5737860" y="4797552"/>
                </a:lnTo>
                <a:close/>
              </a:path>
            </a:pathLst>
          </a:custGeom>
          <a:solidFill>
            <a:srgbClr val="FF0000"/>
          </a:solidFill>
        </p:spPr>
        <p:txBody>
          <a:bodyPr wrap="square" lIns="0" tIns="0" rIns="0" bIns="0" rtlCol="0"/>
          <a:lstStyle/>
          <a:p>
            <a:endParaRPr/>
          </a:p>
        </p:txBody>
      </p:sp>
      <p:sp>
        <p:nvSpPr>
          <p:cNvPr id="12" name="object 12"/>
          <p:cNvSpPr txBox="1"/>
          <p:nvPr/>
        </p:nvSpPr>
        <p:spPr>
          <a:xfrm>
            <a:off x="4682623" y="1568449"/>
            <a:ext cx="5477510" cy="292735"/>
          </a:xfrm>
          <a:prstGeom prst="rect">
            <a:avLst/>
          </a:prstGeom>
        </p:spPr>
        <p:txBody>
          <a:bodyPr vert="horz" wrap="square" lIns="0" tIns="12700" rIns="0" bIns="0" rtlCol="0">
            <a:spAutoFit/>
          </a:bodyPr>
          <a:lstStyle/>
          <a:p>
            <a:pPr marL="12700">
              <a:lnSpc>
                <a:spcPct val="100000"/>
              </a:lnSpc>
              <a:spcBef>
                <a:spcPts val="100"/>
              </a:spcBef>
              <a:tabLst>
                <a:tab pos="569595" algn="l"/>
              </a:tabLst>
            </a:pPr>
            <a:r>
              <a:rPr sz="1750" spc="-20" dirty="0">
                <a:solidFill>
                  <a:srgbClr val="3E3E3E"/>
                </a:solidFill>
                <a:latin typeface="宋体"/>
                <a:cs typeface="宋体"/>
              </a:rPr>
              <a:t>+ -</a:t>
            </a:r>
            <a:r>
              <a:rPr sz="1750" dirty="0">
                <a:solidFill>
                  <a:srgbClr val="3E3E3E"/>
                </a:solidFill>
                <a:latin typeface="宋体"/>
                <a:cs typeface="宋体"/>
              </a:rPr>
              <a:t>	表示加法器和减法器，由FPGA</a:t>
            </a:r>
            <a:r>
              <a:rPr sz="1750" spc="-10" dirty="0">
                <a:solidFill>
                  <a:srgbClr val="3E3E3E"/>
                </a:solidFill>
                <a:latin typeface="宋体"/>
                <a:cs typeface="宋体"/>
              </a:rPr>
              <a:t>逻辑单元进行综合。</a:t>
            </a:r>
            <a:endParaRPr sz="1750">
              <a:latin typeface="宋体"/>
              <a:cs typeface="宋体"/>
            </a:endParaRPr>
          </a:p>
        </p:txBody>
      </p:sp>
      <p:sp>
        <p:nvSpPr>
          <p:cNvPr id="15" name="object 15"/>
          <p:cNvSpPr txBox="1">
            <a:spLocks noGrp="1"/>
          </p:cNvSpPr>
          <p:nvPr>
            <p:ph type="ftr" sz="quarter" idx="5"/>
          </p:nvPr>
        </p:nvSpPr>
        <p:spPr>
          <a:prstGeom prst="rect">
            <a:avLst/>
          </a:prstGeom>
        </p:spPr>
        <p:txBody>
          <a:bodyPr vert="horz" wrap="square" lIns="0" tIns="23495" rIns="0" bIns="0" rtlCol="0">
            <a:spAutoFit/>
          </a:bodyPr>
          <a:lstStyle/>
          <a:p>
            <a:pPr marL="13335">
              <a:lnSpc>
                <a:spcPct val="100000"/>
              </a:lnSpc>
              <a:spcBef>
                <a:spcPts val="185"/>
              </a:spcBef>
            </a:pPr>
            <a:r>
              <a:rPr dirty="0"/>
              <a:t>Xilinx</a:t>
            </a:r>
            <a:r>
              <a:rPr spc="-5" dirty="0"/>
              <a:t> 大学合作部 </a:t>
            </a:r>
            <a:r>
              <a:rPr dirty="0"/>
              <a:t>&amp;</a:t>
            </a:r>
            <a:r>
              <a:rPr spc="-10" dirty="0"/>
              <a:t> 东南大学</a:t>
            </a:r>
          </a:p>
        </p:txBody>
      </p:sp>
      <p:sp>
        <p:nvSpPr>
          <p:cNvPr id="16" name="object 16"/>
          <p:cNvSpPr txBox="1">
            <a:spLocks noGrp="1"/>
          </p:cNvSpPr>
          <p:nvPr>
            <p:ph type="sldNum" sz="quarter" idx="7"/>
          </p:nvPr>
        </p:nvSpPr>
        <p:spPr>
          <a:prstGeom prst="rect">
            <a:avLst/>
          </a:prstGeom>
        </p:spPr>
        <p:txBody>
          <a:bodyPr vert="horz" wrap="square" lIns="0" tIns="5080" rIns="0" bIns="0" rtlCol="0">
            <a:spAutoFit/>
          </a:bodyPr>
          <a:lstStyle/>
          <a:p>
            <a:pPr marL="38735">
              <a:lnSpc>
                <a:spcPct val="100000"/>
              </a:lnSpc>
              <a:spcBef>
                <a:spcPts val="40"/>
              </a:spcBef>
            </a:pPr>
            <a:fld id="{81D60167-4931-47E6-BA6A-407CBD079E47}" type="slidenum">
              <a:rPr spc="-25" dirty="0"/>
              <a:t>24</a:t>
            </a:fld>
            <a:endParaRPr spc="-25" dirty="0"/>
          </a:p>
        </p:txBody>
      </p:sp>
      <p:sp>
        <p:nvSpPr>
          <p:cNvPr id="13" name="object 13"/>
          <p:cNvSpPr txBox="1"/>
          <p:nvPr/>
        </p:nvSpPr>
        <p:spPr>
          <a:xfrm>
            <a:off x="4682623" y="2413805"/>
            <a:ext cx="5566410" cy="2030095"/>
          </a:xfrm>
          <a:prstGeom prst="rect">
            <a:avLst/>
          </a:prstGeom>
        </p:spPr>
        <p:txBody>
          <a:bodyPr vert="horz" wrap="square" lIns="0" tIns="12700" rIns="0" bIns="0" rtlCol="0">
            <a:spAutoFit/>
          </a:bodyPr>
          <a:lstStyle/>
          <a:p>
            <a:pPr marL="212725" marR="5080" indent="-200660">
              <a:lnSpc>
                <a:spcPct val="150300"/>
              </a:lnSpc>
              <a:spcBef>
                <a:spcPts val="100"/>
              </a:spcBef>
              <a:buClr>
                <a:srgbClr val="EC891C"/>
              </a:buClr>
              <a:buSzPct val="88571"/>
              <a:buFont typeface="Arial"/>
              <a:buChar char="•"/>
              <a:tabLst>
                <a:tab pos="212725" algn="l"/>
              </a:tabLst>
            </a:pPr>
            <a:r>
              <a:rPr sz="1750" spc="-5" dirty="0">
                <a:solidFill>
                  <a:srgbClr val="3E3E3E"/>
                </a:solidFill>
                <a:latin typeface="宋体"/>
                <a:cs typeface="宋体"/>
              </a:rPr>
              <a:t>乘法是一个复杂的操作，乘法器的综合取决于综合软件</a:t>
            </a:r>
            <a:r>
              <a:rPr sz="1750" dirty="0">
                <a:solidFill>
                  <a:srgbClr val="3E3E3E"/>
                </a:solidFill>
                <a:latin typeface="宋体"/>
                <a:cs typeface="宋体"/>
              </a:rPr>
              <a:t>和目标器件，赛灵思Vivado</a:t>
            </a:r>
            <a:r>
              <a:rPr sz="1750" spc="-5" dirty="0">
                <a:solidFill>
                  <a:srgbClr val="3E3E3E"/>
                </a:solidFill>
                <a:latin typeface="宋体"/>
                <a:cs typeface="宋体"/>
              </a:rPr>
              <a:t>软件在综合时可以导出这些</a:t>
            </a:r>
            <a:r>
              <a:rPr sz="1750" dirty="0">
                <a:solidFill>
                  <a:srgbClr val="3E3E3E"/>
                </a:solidFill>
                <a:latin typeface="宋体"/>
                <a:cs typeface="宋体"/>
              </a:rPr>
              <a:t>模块，因此在HDL</a:t>
            </a:r>
            <a:r>
              <a:rPr sz="1750" spc="-5" dirty="0">
                <a:solidFill>
                  <a:srgbClr val="3E3E3E"/>
                </a:solidFill>
                <a:latin typeface="宋体"/>
                <a:cs typeface="宋体"/>
              </a:rPr>
              <a:t>代码中可以使用乘法操作。尽管支持乘法器的综合，但也要注意到这些模块数字和输入位宽的限制，使用时要谨慎。</a:t>
            </a:r>
            <a:endParaRPr sz="1750" dirty="0">
              <a:latin typeface="宋体"/>
              <a:cs typeface="宋体"/>
            </a:endParaRPr>
          </a:p>
        </p:txBody>
      </p:sp>
      <p:sp>
        <p:nvSpPr>
          <p:cNvPr id="14" name="object 14"/>
          <p:cNvSpPr txBox="1"/>
          <p:nvPr/>
        </p:nvSpPr>
        <p:spPr>
          <a:xfrm>
            <a:off x="4682619" y="5130824"/>
            <a:ext cx="3362960" cy="292735"/>
          </a:xfrm>
          <a:prstGeom prst="rect">
            <a:avLst/>
          </a:prstGeom>
        </p:spPr>
        <p:txBody>
          <a:bodyPr vert="horz" wrap="square" lIns="0" tIns="12700" rIns="0" bIns="0" rtlCol="0">
            <a:spAutoFit/>
          </a:bodyPr>
          <a:lstStyle/>
          <a:p>
            <a:pPr marL="12700">
              <a:lnSpc>
                <a:spcPct val="100000"/>
              </a:lnSpc>
              <a:spcBef>
                <a:spcPts val="100"/>
              </a:spcBef>
            </a:pPr>
            <a:r>
              <a:rPr sz="1750" spc="-5" dirty="0">
                <a:solidFill>
                  <a:srgbClr val="3E3E3E"/>
                </a:solidFill>
                <a:latin typeface="宋体"/>
                <a:cs typeface="宋体"/>
              </a:rPr>
              <a:t>／，％和＊＊通常不能自动综合。</a:t>
            </a:r>
            <a:endParaRPr sz="1750">
              <a:latin typeface="宋体"/>
              <a:cs typeface="宋体"/>
            </a:endParaRPr>
          </a:p>
        </p:txBody>
      </p:sp>
      <p:sp>
        <p:nvSpPr>
          <p:cNvPr id="17" name="object 3">
            <a:extLst>
              <a:ext uri="{FF2B5EF4-FFF2-40B4-BE49-F238E27FC236}">
                <a16:creationId xmlns:a16="http://schemas.microsoft.com/office/drawing/2014/main" id="{A7F5E85A-8EFC-60B6-A4A1-53533B1561E7}"/>
              </a:ext>
            </a:extLst>
          </p:cNvPr>
          <p:cNvSpPr txBox="1">
            <a:spLocks/>
          </p:cNvSpPr>
          <p:nvPr/>
        </p:nvSpPr>
        <p:spPr>
          <a:xfrm>
            <a:off x="241300" y="200025"/>
            <a:ext cx="7288905" cy="524503"/>
          </a:xfrm>
          <a:prstGeom prst="rect">
            <a:avLst/>
          </a:prstGeom>
        </p:spPr>
        <p:txBody>
          <a:bodyPr vert="horz" wrap="square" lIns="0" tIns="16510" rIns="0" bIns="0" rtlCol="0">
            <a:spAutoFit/>
          </a:bodyPr>
          <a:lstStyle>
            <a:lvl1pPr>
              <a:defRPr sz="2800" b="0" i="0">
                <a:solidFill>
                  <a:srgbClr val="3F3F3F"/>
                </a:solidFill>
                <a:latin typeface="Calibri"/>
                <a:ea typeface="+mj-ea"/>
                <a:cs typeface="Calibri"/>
              </a:defRPr>
            </a:lvl1pPr>
          </a:lstStyle>
          <a:p>
            <a:pPr marL="12700">
              <a:spcBef>
                <a:spcPts val="130"/>
              </a:spcBef>
            </a:pPr>
            <a:r>
              <a:rPr lang="zh-CN" altLang="en-US" sz="3300" b="1" spc="-15" dirty="0">
                <a:solidFill>
                  <a:srgbClr val="000000"/>
                </a:solidFill>
                <a:latin typeface="宋体"/>
                <a:cs typeface="宋体"/>
              </a:rPr>
              <a:t>算数操作符</a:t>
            </a:r>
            <a:endParaRPr lang="zh-CN" altLang="en-US" sz="3300" dirty="0">
              <a:latin typeface="宋体"/>
              <a:cs typeface="宋体"/>
            </a:endParaRPr>
          </a:p>
        </p:txBody>
      </p:sp>
      <p:sp>
        <p:nvSpPr>
          <p:cNvPr id="2" name="文本框 1">
            <a:extLst>
              <a:ext uri="{FF2B5EF4-FFF2-40B4-BE49-F238E27FC236}">
                <a16:creationId xmlns:a16="http://schemas.microsoft.com/office/drawing/2014/main" id="{EF5EBA98-33A9-6150-F180-9EA4715DAA68}"/>
              </a:ext>
            </a:extLst>
          </p:cNvPr>
          <p:cNvSpPr txBox="1"/>
          <p:nvPr/>
        </p:nvSpPr>
        <p:spPr>
          <a:xfrm>
            <a:off x="1291950" y="2263469"/>
            <a:ext cx="1815941" cy="3329758"/>
          </a:xfrm>
          <a:prstGeom prst="rect">
            <a:avLst/>
          </a:prstGeom>
          <a:noFill/>
        </p:spPr>
        <p:txBody>
          <a:bodyPr wrap="square" rtlCol="0">
            <a:spAutoFit/>
          </a:bodyPr>
          <a:lstStyle/>
          <a:p>
            <a:pPr>
              <a:lnSpc>
                <a:spcPct val="150000"/>
              </a:lnSpc>
            </a:pPr>
            <a:r>
              <a:rPr lang="en-US" altLang="zh-CN" sz="2400" b="1" dirty="0">
                <a:latin typeface="+mn-ea"/>
                <a:ea typeface="+mn-ea"/>
              </a:rPr>
              <a:t>+	</a:t>
            </a:r>
            <a:r>
              <a:rPr lang="zh-CN" altLang="en-US" sz="2400" b="1" dirty="0">
                <a:latin typeface="+mn-ea"/>
                <a:ea typeface="+mn-ea"/>
              </a:rPr>
              <a:t>加</a:t>
            </a:r>
            <a:endParaRPr lang="en-US" altLang="zh-CN" sz="2400" b="1" dirty="0">
              <a:latin typeface="+mn-ea"/>
              <a:ea typeface="+mn-ea"/>
            </a:endParaRPr>
          </a:p>
          <a:p>
            <a:pPr>
              <a:lnSpc>
                <a:spcPct val="150000"/>
              </a:lnSpc>
            </a:pPr>
            <a:r>
              <a:rPr lang="en-US" altLang="zh-CN" sz="2400" b="1" dirty="0">
                <a:latin typeface="+mn-ea"/>
                <a:ea typeface="+mn-ea"/>
              </a:rPr>
              <a:t>-	</a:t>
            </a:r>
            <a:r>
              <a:rPr lang="zh-CN" altLang="en-US" sz="2400" b="1" dirty="0">
                <a:latin typeface="+mn-ea"/>
                <a:ea typeface="+mn-ea"/>
              </a:rPr>
              <a:t>减</a:t>
            </a:r>
            <a:endParaRPr lang="en-US" altLang="zh-CN" sz="2400" b="1" dirty="0">
              <a:latin typeface="+mn-ea"/>
              <a:ea typeface="+mn-ea"/>
            </a:endParaRPr>
          </a:p>
          <a:p>
            <a:pPr>
              <a:lnSpc>
                <a:spcPct val="150000"/>
              </a:lnSpc>
            </a:pPr>
            <a:r>
              <a:rPr lang="en-US" altLang="zh-CN" sz="2400" b="1" dirty="0">
                <a:latin typeface="+mn-ea"/>
                <a:ea typeface="+mn-ea"/>
              </a:rPr>
              <a:t>*	</a:t>
            </a:r>
            <a:r>
              <a:rPr lang="zh-CN" altLang="en-US" sz="2400" b="1" dirty="0">
                <a:latin typeface="+mn-ea"/>
                <a:ea typeface="+mn-ea"/>
              </a:rPr>
              <a:t>乘</a:t>
            </a:r>
            <a:endParaRPr lang="en-US" altLang="zh-CN" sz="2400" b="1" dirty="0">
              <a:latin typeface="+mn-ea"/>
              <a:ea typeface="+mn-ea"/>
            </a:endParaRPr>
          </a:p>
          <a:p>
            <a:pPr>
              <a:lnSpc>
                <a:spcPct val="150000"/>
              </a:lnSpc>
            </a:pPr>
            <a:r>
              <a:rPr lang="en-US" altLang="zh-CN" sz="2400" b="1" dirty="0">
                <a:latin typeface="+mn-ea"/>
                <a:ea typeface="+mn-ea"/>
              </a:rPr>
              <a:t>/	</a:t>
            </a:r>
            <a:r>
              <a:rPr lang="zh-CN" altLang="en-US" sz="2400" b="1" dirty="0">
                <a:latin typeface="+mn-ea"/>
                <a:ea typeface="+mn-ea"/>
              </a:rPr>
              <a:t>除</a:t>
            </a:r>
            <a:endParaRPr lang="en-US" altLang="zh-CN" sz="2400" b="1" dirty="0">
              <a:latin typeface="+mn-ea"/>
              <a:ea typeface="+mn-ea"/>
            </a:endParaRPr>
          </a:p>
          <a:p>
            <a:pPr>
              <a:lnSpc>
                <a:spcPct val="150000"/>
              </a:lnSpc>
            </a:pPr>
            <a:r>
              <a:rPr lang="en-US" altLang="zh-CN" sz="2400" b="1" dirty="0">
                <a:latin typeface="+mn-ea"/>
                <a:ea typeface="+mn-ea"/>
              </a:rPr>
              <a:t>%	</a:t>
            </a:r>
            <a:r>
              <a:rPr lang="zh-CN" altLang="en-US" sz="2400" b="1" dirty="0">
                <a:latin typeface="+mn-ea"/>
                <a:ea typeface="+mn-ea"/>
              </a:rPr>
              <a:t>取模</a:t>
            </a:r>
            <a:endParaRPr lang="en-US" altLang="zh-CN" sz="2400" b="1" dirty="0">
              <a:latin typeface="+mn-ea"/>
              <a:ea typeface="+mn-ea"/>
            </a:endParaRPr>
          </a:p>
          <a:p>
            <a:pPr>
              <a:lnSpc>
                <a:spcPct val="150000"/>
              </a:lnSpc>
            </a:pPr>
            <a:r>
              <a:rPr lang="en-US" altLang="zh-CN" sz="2400" b="1" dirty="0">
                <a:latin typeface="+mn-ea"/>
                <a:ea typeface="+mn-ea"/>
              </a:rPr>
              <a:t>**	</a:t>
            </a:r>
            <a:r>
              <a:rPr lang="zh-CN" altLang="en-US" sz="2400" b="1" dirty="0">
                <a:latin typeface="+mn-ea"/>
                <a:ea typeface="+mn-ea"/>
              </a:rPr>
              <a:t>乘幂</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698500" y="1500776"/>
            <a:ext cx="3381375" cy="2948940"/>
            <a:chOff x="532523" y="1646682"/>
            <a:chExt cx="3381375" cy="2948940"/>
          </a:xfrm>
        </p:grpSpPr>
        <p:sp>
          <p:nvSpPr>
            <p:cNvPr id="4" name="object 4"/>
            <p:cNvSpPr/>
            <p:nvPr/>
          </p:nvSpPr>
          <p:spPr>
            <a:xfrm>
              <a:off x="532523" y="1646682"/>
              <a:ext cx="3381375" cy="2948940"/>
            </a:xfrm>
            <a:custGeom>
              <a:avLst/>
              <a:gdLst/>
              <a:ahLst/>
              <a:cxnLst/>
              <a:rect l="l" t="t" r="r" b="b"/>
              <a:pathLst>
                <a:path w="3381375" h="2948940">
                  <a:moveTo>
                    <a:pt x="3380994" y="2948940"/>
                  </a:moveTo>
                  <a:lnTo>
                    <a:pt x="3380994" y="0"/>
                  </a:lnTo>
                  <a:lnTo>
                    <a:pt x="0" y="0"/>
                  </a:lnTo>
                  <a:lnTo>
                    <a:pt x="0" y="2948940"/>
                  </a:lnTo>
                  <a:lnTo>
                    <a:pt x="3810" y="2948940"/>
                  </a:lnTo>
                  <a:lnTo>
                    <a:pt x="3810" y="8382"/>
                  </a:lnTo>
                  <a:lnTo>
                    <a:pt x="8382" y="3810"/>
                  </a:lnTo>
                  <a:lnTo>
                    <a:pt x="8382" y="8382"/>
                  </a:lnTo>
                  <a:lnTo>
                    <a:pt x="3372612" y="8381"/>
                  </a:lnTo>
                  <a:lnTo>
                    <a:pt x="3372612" y="3810"/>
                  </a:lnTo>
                  <a:lnTo>
                    <a:pt x="3377184" y="8381"/>
                  </a:lnTo>
                  <a:lnTo>
                    <a:pt x="3377184" y="2948940"/>
                  </a:lnTo>
                  <a:lnTo>
                    <a:pt x="3380994" y="2948940"/>
                  </a:lnTo>
                  <a:close/>
                </a:path>
                <a:path w="3381375" h="2948940">
                  <a:moveTo>
                    <a:pt x="8382" y="8382"/>
                  </a:moveTo>
                  <a:lnTo>
                    <a:pt x="8382" y="3810"/>
                  </a:lnTo>
                  <a:lnTo>
                    <a:pt x="3810" y="8382"/>
                  </a:lnTo>
                  <a:lnTo>
                    <a:pt x="8382" y="8382"/>
                  </a:lnTo>
                  <a:close/>
                </a:path>
                <a:path w="3381375" h="2948940">
                  <a:moveTo>
                    <a:pt x="8382" y="2940558"/>
                  </a:moveTo>
                  <a:lnTo>
                    <a:pt x="8382" y="8382"/>
                  </a:lnTo>
                  <a:lnTo>
                    <a:pt x="3810" y="8382"/>
                  </a:lnTo>
                  <a:lnTo>
                    <a:pt x="3810" y="2940558"/>
                  </a:lnTo>
                  <a:lnTo>
                    <a:pt x="8382" y="2940558"/>
                  </a:lnTo>
                  <a:close/>
                </a:path>
                <a:path w="3381375" h="2948940">
                  <a:moveTo>
                    <a:pt x="3377184" y="2940558"/>
                  </a:moveTo>
                  <a:lnTo>
                    <a:pt x="3810" y="2940558"/>
                  </a:lnTo>
                  <a:lnTo>
                    <a:pt x="8382" y="2944368"/>
                  </a:lnTo>
                  <a:lnTo>
                    <a:pt x="8382" y="2948940"/>
                  </a:lnTo>
                  <a:lnTo>
                    <a:pt x="3372612" y="2948940"/>
                  </a:lnTo>
                  <a:lnTo>
                    <a:pt x="3372612" y="2944368"/>
                  </a:lnTo>
                  <a:lnTo>
                    <a:pt x="3377184" y="2940558"/>
                  </a:lnTo>
                  <a:close/>
                </a:path>
                <a:path w="3381375" h="2948940">
                  <a:moveTo>
                    <a:pt x="8382" y="2948940"/>
                  </a:moveTo>
                  <a:lnTo>
                    <a:pt x="8382" y="2944368"/>
                  </a:lnTo>
                  <a:lnTo>
                    <a:pt x="3810" y="2940558"/>
                  </a:lnTo>
                  <a:lnTo>
                    <a:pt x="3810" y="2948940"/>
                  </a:lnTo>
                  <a:lnTo>
                    <a:pt x="8382" y="2948940"/>
                  </a:lnTo>
                  <a:close/>
                </a:path>
                <a:path w="3381375" h="2948940">
                  <a:moveTo>
                    <a:pt x="3377184" y="8381"/>
                  </a:moveTo>
                  <a:lnTo>
                    <a:pt x="3372612" y="3810"/>
                  </a:lnTo>
                  <a:lnTo>
                    <a:pt x="3372612" y="8381"/>
                  </a:lnTo>
                  <a:lnTo>
                    <a:pt x="3377184" y="8381"/>
                  </a:lnTo>
                  <a:close/>
                </a:path>
                <a:path w="3381375" h="2948940">
                  <a:moveTo>
                    <a:pt x="3377184" y="2940558"/>
                  </a:moveTo>
                  <a:lnTo>
                    <a:pt x="3377184" y="8381"/>
                  </a:lnTo>
                  <a:lnTo>
                    <a:pt x="3372612" y="8381"/>
                  </a:lnTo>
                  <a:lnTo>
                    <a:pt x="3372612" y="2940558"/>
                  </a:lnTo>
                  <a:lnTo>
                    <a:pt x="3377184" y="2940558"/>
                  </a:lnTo>
                  <a:close/>
                </a:path>
                <a:path w="3381375" h="2948940">
                  <a:moveTo>
                    <a:pt x="3377184" y="2948940"/>
                  </a:moveTo>
                  <a:lnTo>
                    <a:pt x="3377184" y="2940558"/>
                  </a:lnTo>
                  <a:lnTo>
                    <a:pt x="3372612" y="2944368"/>
                  </a:lnTo>
                  <a:lnTo>
                    <a:pt x="3372612" y="2948940"/>
                  </a:lnTo>
                  <a:lnTo>
                    <a:pt x="3377184" y="2948940"/>
                  </a:lnTo>
                  <a:close/>
                </a:path>
              </a:pathLst>
            </a:custGeom>
            <a:solidFill>
              <a:srgbClr val="000000"/>
            </a:solidFill>
          </p:spPr>
          <p:txBody>
            <a:bodyPr wrap="square" lIns="0" tIns="0" rIns="0" bIns="0" rtlCol="0"/>
            <a:lstStyle/>
            <a:p>
              <a:endParaRPr/>
            </a:p>
          </p:txBody>
        </p:sp>
        <p:pic>
          <p:nvPicPr>
            <p:cNvPr id="5" name="object 5"/>
            <p:cNvPicPr/>
            <p:nvPr/>
          </p:nvPicPr>
          <p:blipFill>
            <a:blip r:embed="rId2" cstate="print"/>
            <a:stretch>
              <a:fillRect/>
            </a:stretch>
          </p:blipFill>
          <p:spPr>
            <a:xfrm>
              <a:off x="611771" y="1802130"/>
              <a:ext cx="208788" cy="204977"/>
            </a:xfrm>
            <a:prstGeom prst="rect">
              <a:avLst/>
            </a:prstGeom>
          </p:spPr>
        </p:pic>
      </p:grpSp>
      <p:sp>
        <p:nvSpPr>
          <p:cNvPr id="6" name="object 6"/>
          <p:cNvSpPr txBox="1"/>
          <p:nvPr/>
        </p:nvSpPr>
        <p:spPr>
          <a:xfrm>
            <a:off x="974592" y="1529223"/>
            <a:ext cx="1934210" cy="390492"/>
          </a:xfrm>
          <a:prstGeom prst="rect">
            <a:avLst/>
          </a:prstGeom>
        </p:spPr>
        <p:txBody>
          <a:bodyPr vert="horz" wrap="square" lIns="0" tIns="13335" rIns="0" bIns="0" rtlCol="0">
            <a:spAutoFit/>
          </a:bodyPr>
          <a:lstStyle/>
          <a:p>
            <a:pPr marL="12700">
              <a:lnSpc>
                <a:spcPct val="100000"/>
              </a:lnSpc>
              <a:spcBef>
                <a:spcPts val="105"/>
              </a:spcBef>
            </a:pPr>
            <a:r>
              <a:rPr sz="2450" b="1" dirty="0">
                <a:solidFill>
                  <a:srgbClr val="3E3E3E"/>
                </a:solidFill>
                <a:latin typeface="Arial"/>
                <a:cs typeface="Arial"/>
              </a:rPr>
              <a:t>2.</a:t>
            </a:r>
            <a:r>
              <a:rPr sz="2450" b="1" spc="20" dirty="0">
                <a:solidFill>
                  <a:srgbClr val="3E3E3E"/>
                </a:solidFill>
                <a:latin typeface="Arial"/>
                <a:cs typeface="Arial"/>
              </a:rPr>
              <a:t> </a:t>
            </a:r>
            <a:r>
              <a:rPr sz="2450" b="1" spc="-30" dirty="0" err="1">
                <a:solidFill>
                  <a:srgbClr val="3E3E3E"/>
                </a:solidFill>
                <a:latin typeface="宋体"/>
                <a:cs typeface="宋体"/>
              </a:rPr>
              <a:t>移位</a:t>
            </a:r>
            <a:r>
              <a:rPr lang="zh-CN" altLang="en-US" sz="2450" b="1" spc="-30" dirty="0">
                <a:solidFill>
                  <a:srgbClr val="3E3E3E"/>
                </a:solidFill>
                <a:latin typeface="宋体"/>
                <a:cs typeface="宋体"/>
              </a:rPr>
              <a:t>操作</a:t>
            </a:r>
            <a:r>
              <a:rPr sz="2450" b="1" spc="-30" dirty="0">
                <a:solidFill>
                  <a:srgbClr val="3E3E3E"/>
                </a:solidFill>
                <a:latin typeface="宋体"/>
                <a:cs typeface="宋体"/>
              </a:rPr>
              <a:t>符</a:t>
            </a:r>
            <a:endParaRPr sz="2450" dirty="0">
              <a:latin typeface="宋体"/>
              <a:cs typeface="宋体"/>
            </a:endParaRPr>
          </a:p>
        </p:txBody>
      </p:sp>
      <p:sp>
        <p:nvSpPr>
          <p:cNvPr id="7" name="object 7"/>
          <p:cNvSpPr txBox="1"/>
          <p:nvPr/>
        </p:nvSpPr>
        <p:spPr>
          <a:xfrm>
            <a:off x="1071367" y="2409488"/>
            <a:ext cx="494665" cy="1692910"/>
          </a:xfrm>
          <a:prstGeom prst="rect">
            <a:avLst/>
          </a:prstGeom>
        </p:spPr>
        <p:txBody>
          <a:bodyPr vert="horz" wrap="square" lIns="0" tIns="109220" rIns="0" bIns="0" rtlCol="0">
            <a:spAutoFit/>
          </a:bodyPr>
          <a:lstStyle/>
          <a:p>
            <a:pPr marL="12700">
              <a:lnSpc>
                <a:spcPct val="100000"/>
              </a:lnSpc>
              <a:spcBef>
                <a:spcPts val="860"/>
              </a:spcBef>
            </a:pPr>
            <a:r>
              <a:rPr sz="2100" spc="-25" dirty="0">
                <a:latin typeface="Arial"/>
                <a:cs typeface="Arial"/>
              </a:rPr>
              <a:t>&gt;&gt;</a:t>
            </a:r>
            <a:endParaRPr sz="2100">
              <a:latin typeface="Arial"/>
              <a:cs typeface="Arial"/>
            </a:endParaRPr>
          </a:p>
          <a:p>
            <a:pPr marL="12700">
              <a:lnSpc>
                <a:spcPct val="100000"/>
              </a:lnSpc>
              <a:spcBef>
                <a:spcPts val="760"/>
              </a:spcBef>
            </a:pPr>
            <a:r>
              <a:rPr sz="2100" spc="-25" dirty="0">
                <a:latin typeface="Arial"/>
                <a:cs typeface="Arial"/>
              </a:rPr>
              <a:t>&lt;&lt;</a:t>
            </a:r>
            <a:endParaRPr sz="2100">
              <a:latin typeface="Arial"/>
              <a:cs typeface="Arial"/>
            </a:endParaRPr>
          </a:p>
          <a:p>
            <a:pPr marL="12700">
              <a:lnSpc>
                <a:spcPct val="100000"/>
              </a:lnSpc>
              <a:spcBef>
                <a:spcPts val="765"/>
              </a:spcBef>
            </a:pPr>
            <a:r>
              <a:rPr sz="2100" spc="-25" dirty="0">
                <a:latin typeface="Arial"/>
                <a:cs typeface="Arial"/>
              </a:rPr>
              <a:t>&gt;&gt;&gt;</a:t>
            </a:r>
            <a:endParaRPr sz="2100">
              <a:latin typeface="Arial"/>
              <a:cs typeface="Arial"/>
            </a:endParaRPr>
          </a:p>
          <a:p>
            <a:pPr marL="12700">
              <a:lnSpc>
                <a:spcPct val="100000"/>
              </a:lnSpc>
              <a:spcBef>
                <a:spcPts val="760"/>
              </a:spcBef>
            </a:pPr>
            <a:r>
              <a:rPr sz="2100" spc="-25" dirty="0">
                <a:latin typeface="Arial"/>
                <a:cs typeface="Arial"/>
              </a:rPr>
              <a:t>&lt;&lt;&lt;</a:t>
            </a:r>
            <a:endParaRPr sz="2100">
              <a:latin typeface="Arial"/>
              <a:cs typeface="Arial"/>
            </a:endParaRPr>
          </a:p>
        </p:txBody>
      </p:sp>
      <p:sp>
        <p:nvSpPr>
          <p:cNvPr id="8" name="object 8"/>
          <p:cNvSpPr txBox="1"/>
          <p:nvPr/>
        </p:nvSpPr>
        <p:spPr>
          <a:xfrm>
            <a:off x="2373613" y="2409488"/>
            <a:ext cx="1105535" cy="1692910"/>
          </a:xfrm>
          <a:prstGeom prst="rect">
            <a:avLst/>
          </a:prstGeom>
        </p:spPr>
        <p:txBody>
          <a:bodyPr vert="horz" wrap="square" lIns="0" tIns="12700" rIns="0" bIns="0" rtlCol="0">
            <a:spAutoFit/>
          </a:bodyPr>
          <a:lstStyle/>
          <a:p>
            <a:pPr marL="12700" marR="5080" algn="just">
              <a:lnSpc>
                <a:spcPct val="130200"/>
              </a:lnSpc>
              <a:spcBef>
                <a:spcPts val="100"/>
              </a:spcBef>
            </a:pPr>
            <a:r>
              <a:rPr sz="2100" spc="-15" dirty="0">
                <a:latin typeface="宋体"/>
                <a:cs typeface="宋体"/>
              </a:rPr>
              <a:t>逻辑右移逻辑左移算术右移算术左移</a:t>
            </a:r>
            <a:endParaRPr sz="2100" dirty="0">
              <a:latin typeface="宋体"/>
              <a:cs typeface="宋体"/>
            </a:endParaRPr>
          </a:p>
        </p:txBody>
      </p:sp>
      <p:graphicFrame>
        <p:nvGraphicFramePr>
          <p:cNvPr id="9" name="object 9"/>
          <p:cNvGraphicFramePr>
            <a:graphicFrameLocks noGrp="1"/>
          </p:cNvGraphicFramePr>
          <p:nvPr>
            <p:extLst>
              <p:ext uri="{D42A27DB-BD31-4B8C-83A1-F6EECF244321}">
                <p14:modId xmlns:p14="http://schemas.microsoft.com/office/powerpoint/2010/main" val="817419558"/>
              </p:ext>
            </p:extLst>
          </p:nvPr>
        </p:nvGraphicFramePr>
        <p:xfrm>
          <a:off x="1647825" y="4924425"/>
          <a:ext cx="7127875" cy="974725"/>
        </p:xfrm>
        <a:graphic>
          <a:graphicData uri="http://schemas.openxmlformats.org/drawingml/2006/table">
            <a:tbl>
              <a:tblPr firstRow="1" bandRow="1">
                <a:tableStyleId>{2D5ABB26-0587-4C30-8999-92F81FD0307C}</a:tableStyleId>
              </a:tblPr>
              <a:tblGrid>
                <a:gridCol w="1425575">
                  <a:extLst>
                    <a:ext uri="{9D8B030D-6E8A-4147-A177-3AD203B41FA5}">
                      <a16:colId xmlns:a16="http://schemas.microsoft.com/office/drawing/2014/main" val="20000"/>
                    </a:ext>
                  </a:extLst>
                </a:gridCol>
                <a:gridCol w="1425575">
                  <a:extLst>
                    <a:ext uri="{9D8B030D-6E8A-4147-A177-3AD203B41FA5}">
                      <a16:colId xmlns:a16="http://schemas.microsoft.com/office/drawing/2014/main" val="20001"/>
                    </a:ext>
                  </a:extLst>
                </a:gridCol>
                <a:gridCol w="1425575">
                  <a:extLst>
                    <a:ext uri="{9D8B030D-6E8A-4147-A177-3AD203B41FA5}">
                      <a16:colId xmlns:a16="http://schemas.microsoft.com/office/drawing/2014/main" val="20002"/>
                    </a:ext>
                  </a:extLst>
                </a:gridCol>
                <a:gridCol w="1425575">
                  <a:extLst>
                    <a:ext uri="{9D8B030D-6E8A-4147-A177-3AD203B41FA5}">
                      <a16:colId xmlns:a16="http://schemas.microsoft.com/office/drawing/2014/main" val="20003"/>
                    </a:ext>
                  </a:extLst>
                </a:gridCol>
                <a:gridCol w="1425575">
                  <a:extLst>
                    <a:ext uri="{9D8B030D-6E8A-4147-A177-3AD203B41FA5}">
                      <a16:colId xmlns:a16="http://schemas.microsoft.com/office/drawing/2014/main" val="20004"/>
                    </a:ext>
                  </a:extLst>
                </a:gridCol>
              </a:tblGrid>
              <a:tr h="324485">
                <a:tc>
                  <a:txBody>
                    <a:bodyPr/>
                    <a:lstStyle/>
                    <a:p>
                      <a:pPr marL="635" algn="ctr">
                        <a:lnSpc>
                          <a:spcPct val="100000"/>
                        </a:lnSpc>
                        <a:spcBef>
                          <a:spcPts val="300"/>
                        </a:spcBef>
                      </a:pPr>
                      <a:r>
                        <a:rPr sz="1550" b="1" spc="-50" dirty="0">
                          <a:solidFill>
                            <a:srgbClr val="FFFFFF"/>
                          </a:solidFill>
                          <a:latin typeface="Arial"/>
                          <a:cs typeface="Arial"/>
                        </a:rPr>
                        <a:t>a</a:t>
                      </a:r>
                      <a:endParaRPr sz="1550">
                        <a:latin typeface="Arial"/>
                        <a:cs typeface="Arial"/>
                      </a:endParaRP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8BA7"/>
                    </a:solidFill>
                  </a:tcPr>
                </a:tc>
                <a:tc>
                  <a:txBody>
                    <a:bodyPr/>
                    <a:lstStyle/>
                    <a:p>
                      <a:pPr marL="635" algn="ctr">
                        <a:lnSpc>
                          <a:spcPct val="100000"/>
                        </a:lnSpc>
                        <a:spcBef>
                          <a:spcPts val="300"/>
                        </a:spcBef>
                      </a:pPr>
                      <a:r>
                        <a:rPr sz="1550" b="1" spc="-20" dirty="0">
                          <a:solidFill>
                            <a:srgbClr val="FFFFFF"/>
                          </a:solidFill>
                          <a:latin typeface="Arial"/>
                          <a:cs typeface="Arial"/>
                        </a:rPr>
                        <a:t>a&gt;&gt;2</a:t>
                      </a:r>
                      <a:endParaRPr sz="1550">
                        <a:latin typeface="Arial"/>
                        <a:cs typeface="Arial"/>
                      </a:endParaRP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8BA7"/>
                    </a:solidFill>
                  </a:tcPr>
                </a:tc>
                <a:tc>
                  <a:txBody>
                    <a:bodyPr/>
                    <a:lstStyle/>
                    <a:p>
                      <a:pPr algn="ctr">
                        <a:lnSpc>
                          <a:spcPct val="100000"/>
                        </a:lnSpc>
                        <a:spcBef>
                          <a:spcPts val="300"/>
                        </a:spcBef>
                      </a:pPr>
                      <a:r>
                        <a:rPr sz="1550" b="1" spc="-10" dirty="0">
                          <a:solidFill>
                            <a:srgbClr val="FFFFFF"/>
                          </a:solidFill>
                          <a:latin typeface="Arial"/>
                          <a:cs typeface="Arial"/>
                        </a:rPr>
                        <a:t>a&gt;&gt;&gt;2</a:t>
                      </a:r>
                      <a:endParaRPr sz="1550">
                        <a:latin typeface="Arial"/>
                        <a:cs typeface="Arial"/>
                      </a:endParaRP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8BA7"/>
                    </a:solidFill>
                  </a:tcPr>
                </a:tc>
                <a:tc>
                  <a:txBody>
                    <a:bodyPr/>
                    <a:lstStyle/>
                    <a:p>
                      <a:pPr algn="ctr">
                        <a:lnSpc>
                          <a:spcPct val="100000"/>
                        </a:lnSpc>
                        <a:spcBef>
                          <a:spcPts val="300"/>
                        </a:spcBef>
                      </a:pPr>
                      <a:r>
                        <a:rPr sz="1550" b="1" spc="-20" dirty="0">
                          <a:solidFill>
                            <a:srgbClr val="FFFFFF"/>
                          </a:solidFill>
                          <a:latin typeface="Arial"/>
                          <a:cs typeface="Arial"/>
                        </a:rPr>
                        <a:t>a&lt;&lt;2</a:t>
                      </a:r>
                      <a:endParaRPr sz="1550">
                        <a:latin typeface="Arial"/>
                        <a:cs typeface="Arial"/>
                      </a:endParaRP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8BA7"/>
                    </a:solidFill>
                  </a:tcPr>
                </a:tc>
                <a:tc>
                  <a:txBody>
                    <a:bodyPr/>
                    <a:lstStyle/>
                    <a:p>
                      <a:pPr algn="ctr">
                        <a:lnSpc>
                          <a:spcPct val="100000"/>
                        </a:lnSpc>
                        <a:spcBef>
                          <a:spcPts val="300"/>
                        </a:spcBef>
                      </a:pPr>
                      <a:r>
                        <a:rPr sz="1550" b="1" spc="-10" dirty="0">
                          <a:solidFill>
                            <a:srgbClr val="FFFFFF"/>
                          </a:solidFill>
                          <a:latin typeface="Arial"/>
                          <a:cs typeface="Arial"/>
                        </a:rPr>
                        <a:t>a&lt;&lt;&lt;2</a:t>
                      </a:r>
                      <a:endParaRPr sz="1550">
                        <a:latin typeface="Arial"/>
                        <a:cs typeface="Arial"/>
                      </a:endParaRP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8BA7"/>
                    </a:solidFill>
                  </a:tcPr>
                </a:tc>
                <a:extLst>
                  <a:ext uri="{0D108BD9-81ED-4DB2-BD59-A6C34878D82A}">
                    <a16:rowId xmlns:a16="http://schemas.microsoft.com/office/drawing/2014/main" val="10000"/>
                  </a:ext>
                </a:extLst>
              </a:tr>
              <a:tr h="325120">
                <a:tc>
                  <a:txBody>
                    <a:bodyPr/>
                    <a:lstStyle/>
                    <a:p>
                      <a:pPr marR="6985" algn="ctr">
                        <a:lnSpc>
                          <a:spcPct val="100000"/>
                        </a:lnSpc>
                        <a:spcBef>
                          <a:spcPts val="305"/>
                        </a:spcBef>
                      </a:pPr>
                      <a:r>
                        <a:rPr sz="1550" spc="-10" dirty="0">
                          <a:latin typeface="Arial"/>
                          <a:cs typeface="Arial"/>
                        </a:rPr>
                        <a:t>0100_1111</a:t>
                      </a:r>
                      <a:endParaRPr sz="1550">
                        <a:latin typeface="Arial"/>
                        <a:cs typeface="Arial"/>
                      </a:endParaRPr>
                    </a:p>
                  </a:txBody>
                  <a:tcPr marL="0" marR="0" marT="3873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DAE0"/>
                    </a:solidFill>
                  </a:tcPr>
                </a:tc>
                <a:tc>
                  <a:txBody>
                    <a:bodyPr/>
                    <a:lstStyle/>
                    <a:p>
                      <a:pPr marL="635" algn="ctr">
                        <a:lnSpc>
                          <a:spcPct val="100000"/>
                        </a:lnSpc>
                        <a:spcBef>
                          <a:spcPts val="305"/>
                        </a:spcBef>
                      </a:pPr>
                      <a:r>
                        <a:rPr sz="1550" spc="-10" dirty="0">
                          <a:latin typeface="Arial"/>
                          <a:cs typeface="Arial"/>
                        </a:rPr>
                        <a:t>0001_0011</a:t>
                      </a:r>
                      <a:endParaRPr sz="1550">
                        <a:latin typeface="Arial"/>
                        <a:cs typeface="Arial"/>
                      </a:endParaRPr>
                    </a:p>
                  </a:txBody>
                  <a:tcPr marL="0" marR="0" marT="3873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DAE0"/>
                    </a:solidFill>
                  </a:tcPr>
                </a:tc>
                <a:tc>
                  <a:txBody>
                    <a:bodyPr/>
                    <a:lstStyle/>
                    <a:p>
                      <a:pPr algn="ctr">
                        <a:lnSpc>
                          <a:spcPct val="100000"/>
                        </a:lnSpc>
                        <a:spcBef>
                          <a:spcPts val="305"/>
                        </a:spcBef>
                      </a:pPr>
                      <a:r>
                        <a:rPr sz="1550" spc="-10" dirty="0">
                          <a:latin typeface="Arial"/>
                          <a:cs typeface="Arial"/>
                        </a:rPr>
                        <a:t>0001_0011</a:t>
                      </a:r>
                      <a:endParaRPr sz="1550">
                        <a:latin typeface="Arial"/>
                        <a:cs typeface="Arial"/>
                      </a:endParaRPr>
                    </a:p>
                  </a:txBody>
                  <a:tcPr marL="0" marR="0" marT="3873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DAE0"/>
                    </a:solidFill>
                  </a:tcPr>
                </a:tc>
                <a:tc>
                  <a:txBody>
                    <a:bodyPr/>
                    <a:lstStyle/>
                    <a:p>
                      <a:pPr algn="ctr">
                        <a:lnSpc>
                          <a:spcPct val="100000"/>
                        </a:lnSpc>
                        <a:spcBef>
                          <a:spcPts val="305"/>
                        </a:spcBef>
                      </a:pPr>
                      <a:r>
                        <a:rPr sz="1550" spc="-10" dirty="0">
                          <a:latin typeface="Arial"/>
                          <a:cs typeface="Arial"/>
                        </a:rPr>
                        <a:t>0011_1100</a:t>
                      </a:r>
                      <a:endParaRPr sz="1550">
                        <a:latin typeface="Arial"/>
                        <a:cs typeface="Arial"/>
                      </a:endParaRPr>
                    </a:p>
                  </a:txBody>
                  <a:tcPr marL="0" marR="0" marT="3873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DAE0"/>
                    </a:solidFill>
                  </a:tcPr>
                </a:tc>
                <a:tc>
                  <a:txBody>
                    <a:bodyPr/>
                    <a:lstStyle/>
                    <a:p>
                      <a:pPr algn="ctr">
                        <a:lnSpc>
                          <a:spcPct val="100000"/>
                        </a:lnSpc>
                        <a:spcBef>
                          <a:spcPts val="305"/>
                        </a:spcBef>
                      </a:pPr>
                      <a:r>
                        <a:rPr sz="1550" spc="-10" dirty="0">
                          <a:latin typeface="Arial"/>
                          <a:cs typeface="Arial"/>
                        </a:rPr>
                        <a:t>0011_1100</a:t>
                      </a:r>
                      <a:endParaRPr sz="1550">
                        <a:latin typeface="Arial"/>
                        <a:cs typeface="Arial"/>
                      </a:endParaRPr>
                    </a:p>
                  </a:txBody>
                  <a:tcPr marL="0" marR="0" marT="3873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DAE0"/>
                    </a:solidFill>
                  </a:tcPr>
                </a:tc>
                <a:extLst>
                  <a:ext uri="{0D108BD9-81ED-4DB2-BD59-A6C34878D82A}">
                    <a16:rowId xmlns:a16="http://schemas.microsoft.com/office/drawing/2014/main" val="10001"/>
                  </a:ext>
                </a:extLst>
              </a:tr>
              <a:tr h="325120">
                <a:tc>
                  <a:txBody>
                    <a:bodyPr/>
                    <a:lstStyle/>
                    <a:p>
                      <a:pPr marR="6985" algn="ctr">
                        <a:lnSpc>
                          <a:spcPct val="100000"/>
                        </a:lnSpc>
                        <a:spcBef>
                          <a:spcPts val="305"/>
                        </a:spcBef>
                      </a:pPr>
                      <a:r>
                        <a:rPr sz="1550" spc="-10" dirty="0">
                          <a:latin typeface="Arial"/>
                          <a:cs typeface="Arial"/>
                        </a:rPr>
                        <a:t>1100_1111</a:t>
                      </a:r>
                      <a:endParaRPr sz="1550">
                        <a:latin typeface="Arial"/>
                        <a:cs typeface="Arial"/>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6EDF0"/>
                    </a:solidFill>
                  </a:tcPr>
                </a:tc>
                <a:tc>
                  <a:txBody>
                    <a:bodyPr/>
                    <a:lstStyle/>
                    <a:p>
                      <a:pPr algn="ctr">
                        <a:lnSpc>
                          <a:spcPct val="100000"/>
                        </a:lnSpc>
                        <a:spcBef>
                          <a:spcPts val="305"/>
                        </a:spcBef>
                      </a:pPr>
                      <a:r>
                        <a:rPr sz="1550" spc="-10" dirty="0">
                          <a:latin typeface="Arial"/>
                          <a:cs typeface="Arial"/>
                        </a:rPr>
                        <a:t>0011_1100</a:t>
                      </a:r>
                      <a:endParaRPr sz="1550">
                        <a:latin typeface="Arial"/>
                        <a:cs typeface="Arial"/>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6EDF0"/>
                    </a:solidFill>
                  </a:tcPr>
                </a:tc>
                <a:tc>
                  <a:txBody>
                    <a:bodyPr/>
                    <a:lstStyle/>
                    <a:p>
                      <a:pPr algn="ctr">
                        <a:lnSpc>
                          <a:spcPct val="100000"/>
                        </a:lnSpc>
                        <a:spcBef>
                          <a:spcPts val="305"/>
                        </a:spcBef>
                      </a:pPr>
                      <a:r>
                        <a:rPr sz="1550" spc="-10" dirty="0">
                          <a:solidFill>
                            <a:srgbClr val="C00000"/>
                          </a:solidFill>
                          <a:latin typeface="Arial"/>
                          <a:cs typeface="Arial"/>
                        </a:rPr>
                        <a:t>1111_0011</a:t>
                      </a:r>
                      <a:endParaRPr sz="1550" dirty="0">
                        <a:solidFill>
                          <a:srgbClr val="C00000"/>
                        </a:solidFill>
                        <a:latin typeface="Arial"/>
                        <a:cs typeface="Arial"/>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6EDF0"/>
                    </a:solidFill>
                  </a:tcPr>
                </a:tc>
                <a:tc>
                  <a:txBody>
                    <a:bodyPr/>
                    <a:lstStyle/>
                    <a:p>
                      <a:pPr algn="ctr">
                        <a:lnSpc>
                          <a:spcPct val="100000"/>
                        </a:lnSpc>
                        <a:spcBef>
                          <a:spcPts val="305"/>
                        </a:spcBef>
                      </a:pPr>
                      <a:r>
                        <a:rPr sz="1550" spc="-10" dirty="0">
                          <a:latin typeface="Arial"/>
                          <a:cs typeface="Arial"/>
                        </a:rPr>
                        <a:t>0011_1100</a:t>
                      </a:r>
                      <a:endParaRPr sz="1550" dirty="0">
                        <a:latin typeface="Arial"/>
                        <a:cs typeface="Arial"/>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6EDF0"/>
                    </a:solidFill>
                  </a:tcPr>
                </a:tc>
                <a:tc>
                  <a:txBody>
                    <a:bodyPr/>
                    <a:lstStyle/>
                    <a:p>
                      <a:pPr algn="ctr">
                        <a:lnSpc>
                          <a:spcPct val="100000"/>
                        </a:lnSpc>
                        <a:spcBef>
                          <a:spcPts val="305"/>
                        </a:spcBef>
                      </a:pPr>
                      <a:r>
                        <a:rPr sz="1550" spc="-10" dirty="0">
                          <a:latin typeface="Arial"/>
                          <a:cs typeface="Arial"/>
                        </a:rPr>
                        <a:t>0011_1100</a:t>
                      </a:r>
                      <a:endParaRPr sz="1550" dirty="0">
                        <a:latin typeface="Arial"/>
                        <a:cs typeface="Arial"/>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6EDF0"/>
                    </a:solidFill>
                  </a:tcPr>
                </a:tc>
                <a:extLst>
                  <a:ext uri="{0D108BD9-81ED-4DB2-BD59-A6C34878D82A}">
                    <a16:rowId xmlns:a16="http://schemas.microsoft.com/office/drawing/2014/main" val="10002"/>
                  </a:ext>
                </a:extLst>
              </a:tr>
            </a:tbl>
          </a:graphicData>
        </a:graphic>
      </p:graphicFrame>
      <p:sp>
        <p:nvSpPr>
          <p:cNvPr id="10" name="object 10"/>
          <p:cNvSpPr/>
          <p:nvPr/>
        </p:nvSpPr>
        <p:spPr>
          <a:xfrm>
            <a:off x="4964315" y="1536191"/>
            <a:ext cx="5354320" cy="2456180"/>
          </a:xfrm>
          <a:custGeom>
            <a:avLst/>
            <a:gdLst/>
            <a:ahLst/>
            <a:cxnLst/>
            <a:rect l="l" t="t" r="r" b="b"/>
            <a:pathLst>
              <a:path w="5354320" h="2456179">
                <a:moveTo>
                  <a:pt x="5353812" y="2454402"/>
                </a:moveTo>
                <a:lnTo>
                  <a:pt x="5353812" y="2285"/>
                </a:lnTo>
                <a:lnTo>
                  <a:pt x="5352288" y="0"/>
                </a:lnTo>
                <a:lnTo>
                  <a:pt x="1523" y="0"/>
                </a:lnTo>
                <a:lnTo>
                  <a:pt x="0" y="2286"/>
                </a:lnTo>
                <a:lnTo>
                  <a:pt x="0" y="2454402"/>
                </a:lnTo>
                <a:lnTo>
                  <a:pt x="1524" y="2455926"/>
                </a:lnTo>
                <a:lnTo>
                  <a:pt x="3810" y="2455926"/>
                </a:lnTo>
                <a:lnTo>
                  <a:pt x="3810" y="8382"/>
                </a:lnTo>
                <a:lnTo>
                  <a:pt x="8382" y="4572"/>
                </a:lnTo>
                <a:lnTo>
                  <a:pt x="8382" y="8382"/>
                </a:lnTo>
                <a:lnTo>
                  <a:pt x="5345430" y="8381"/>
                </a:lnTo>
                <a:lnTo>
                  <a:pt x="5345430" y="4571"/>
                </a:lnTo>
                <a:lnTo>
                  <a:pt x="5350002" y="8381"/>
                </a:lnTo>
                <a:lnTo>
                  <a:pt x="5350002" y="2455926"/>
                </a:lnTo>
                <a:lnTo>
                  <a:pt x="5352288" y="2455926"/>
                </a:lnTo>
                <a:lnTo>
                  <a:pt x="5353812" y="2454402"/>
                </a:lnTo>
                <a:close/>
              </a:path>
              <a:path w="5354320" h="2456179">
                <a:moveTo>
                  <a:pt x="8382" y="8382"/>
                </a:moveTo>
                <a:lnTo>
                  <a:pt x="8382" y="4572"/>
                </a:lnTo>
                <a:lnTo>
                  <a:pt x="3810" y="8382"/>
                </a:lnTo>
                <a:lnTo>
                  <a:pt x="8382" y="8382"/>
                </a:lnTo>
                <a:close/>
              </a:path>
              <a:path w="5354320" h="2456179">
                <a:moveTo>
                  <a:pt x="8382" y="2447544"/>
                </a:moveTo>
                <a:lnTo>
                  <a:pt x="8382" y="8382"/>
                </a:lnTo>
                <a:lnTo>
                  <a:pt x="3810" y="8382"/>
                </a:lnTo>
                <a:lnTo>
                  <a:pt x="3810" y="2447544"/>
                </a:lnTo>
                <a:lnTo>
                  <a:pt x="8382" y="2447544"/>
                </a:lnTo>
                <a:close/>
              </a:path>
              <a:path w="5354320" h="2456179">
                <a:moveTo>
                  <a:pt x="5350002" y="2447544"/>
                </a:moveTo>
                <a:lnTo>
                  <a:pt x="3810" y="2447544"/>
                </a:lnTo>
                <a:lnTo>
                  <a:pt x="8382" y="2452116"/>
                </a:lnTo>
                <a:lnTo>
                  <a:pt x="8382" y="2455926"/>
                </a:lnTo>
                <a:lnTo>
                  <a:pt x="5345430" y="2455926"/>
                </a:lnTo>
                <a:lnTo>
                  <a:pt x="5345430" y="2452116"/>
                </a:lnTo>
                <a:lnTo>
                  <a:pt x="5350002" y="2447544"/>
                </a:lnTo>
                <a:close/>
              </a:path>
              <a:path w="5354320" h="2456179">
                <a:moveTo>
                  <a:pt x="8382" y="2455926"/>
                </a:moveTo>
                <a:lnTo>
                  <a:pt x="8382" y="2452116"/>
                </a:lnTo>
                <a:lnTo>
                  <a:pt x="3810" y="2447544"/>
                </a:lnTo>
                <a:lnTo>
                  <a:pt x="3810" y="2455926"/>
                </a:lnTo>
                <a:lnTo>
                  <a:pt x="8382" y="2455926"/>
                </a:lnTo>
                <a:close/>
              </a:path>
              <a:path w="5354320" h="2456179">
                <a:moveTo>
                  <a:pt x="5350002" y="8381"/>
                </a:moveTo>
                <a:lnTo>
                  <a:pt x="5345430" y="4571"/>
                </a:lnTo>
                <a:lnTo>
                  <a:pt x="5345430" y="8381"/>
                </a:lnTo>
                <a:lnTo>
                  <a:pt x="5350002" y="8381"/>
                </a:lnTo>
                <a:close/>
              </a:path>
              <a:path w="5354320" h="2456179">
                <a:moveTo>
                  <a:pt x="5350002" y="2447544"/>
                </a:moveTo>
                <a:lnTo>
                  <a:pt x="5350002" y="8381"/>
                </a:lnTo>
                <a:lnTo>
                  <a:pt x="5345430" y="8381"/>
                </a:lnTo>
                <a:lnTo>
                  <a:pt x="5345430" y="2447544"/>
                </a:lnTo>
                <a:lnTo>
                  <a:pt x="5350002" y="2447544"/>
                </a:lnTo>
                <a:close/>
              </a:path>
              <a:path w="5354320" h="2456179">
                <a:moveTo>
                  <a:pt x="5350002" y="2455926"/>
                </a:moveTo>
                <a:lnTo>
                  <a:pt x="5350002" y="2447544"/>
                </a:lnTo>
                <a:lnTo>
                  <a:pt x="5345430" y="2452116"/>
                </a:lnTo>
                <a:lnTo>
                  <a:pt x="5345430" y="2455926"/>
                </a:lnTo>
                <a:lnTo>
                  <a:pt x="5350002" y="2455926"/>
                </a:lnTo>
                <a:close/>
              </a:path>
            </a:pathLst>
          </a:custGeom>
          <a:solidFill>
            <a:srgbClr val="FF0000"/>
          </a:solidFill>
        </p:spPr>
        <p:txBody>
          <a:bodyPr wrap="square" lIns="0" tIns="0" rIns="0" bIns="0" rtlCol="0"/>
          <a:lstStyle/>
          <a:p>
            <a:endParaRPr/>
          </a:p>
        </p:txBody>
      </p:sp>
      <p:sp>
        <p:nvSpPr>
          <p:cNvPr id="11" name="object 11"/>
          <p:cNvSpPr txBox="1"/>
          <p:nvPr/>
        </p:nvSpPr>
        <p:spPr>
          <a:xfrm>
            <a:off x="5036191" y="1500776"/>
            <a:ext cx="5105400" cy="2431415"/>
          </a:xfrm>
          <a:prstGeom prst="rect">
            <a:avLst/>
          </a:prstGeom>
        </p:spPr>
        <p:txBody>
          <a:bodyPr vert="horz" wrap="square" lIns="0" tIns="173990" rIns="0" bIns="0" rtlCol="0">
            <a:spAutoFit/>
          </a:bodyPr>
          <a:lstStyle/>
          <a:p>
            <a:pPr marL="12700">
              <a:lnSpc>
                <a:spcPct val="100000"/>
              </a:lnSpc>
              <a:spcBef>
                <a:spcPts val="1370"/>
              </a:spcBef>
            </a:pPr>
            <a:r>
              <a:rPr sz="2100" spc="-10" dirty="0">
                <a:latin typeface="宋体"/>
                <a:cs typeface="宋体"/>
              </a:rPr>
              <a:t>在逻辑移位（即＞＞和＜＜）</a:t>
            </a:r>
            <a:r>
              <a:rPr sz="2100" spc="-20" dirty="0">
                <a:latin typeface="宋体"/>
                <a:cs typeface="宋体"/>
              </a:rPr>
              <a:t>时移入的是０</a:t>
            </a:r>
            <a:endParaRPr sz="2100">
              <a:latin typeface="宋体"/>
              <a:cs typeface="宋体"/>
            </a:endParaRPr>
          </a:p>
          <a:p>
            <a:pPr marL="12700" marR="5080">
              <a:lnSpc>
                <a:spcPct val="150200"/>
              </a:lnSpc>
              <a:spcBef>
                <a:spcPts val="5"/>
              </a:spcBef>
            </a:pPr>
            <a:r>
              <a:rPr sz="2100" dirty="0">
                <a:latin typeface="宋体"/>
                <a:cs typeface="宋体"/>
              </a:rPr>
              <a:t>，</a:t>
            </a:r>
            <a:r>
              <a:rPr sz="2100" spc="-10" dirty="0">
                <a:solidFill>
                  <a:srgbClr val="FF0000"/>
                </a:solidFill>
                <a:latin typeface="宋体"/>
                <a:cs typeface="宋体"/>
              </a:rPr>
              <a:t>在算术右移（即＞＞＞）</a:t>
            </a:r>
            <a:r>
              <a:rPr sz="2100" spc="-20" dirty="0">
                <a:solidFill>
                  <a:srgbClr val="FF0000"/>
                </a:solidFill>
                <a:latin typeface="宋体"/>
                <a:cs typeface="宋体"/>
              </a:rPr>
              <a:t>时移入的是标志</a:t>
            </a:r>
            <a:r>
              <a:rPr sz="2100" dirty="0">
                <a:solidFill>
                  <a:srgbClr val="FF0000"/>
                </a:solidFill>
                <a:latin typeface="宋体"/>
                <a:cs typeface="宋体"/>
              </a:rPr>
              <a:t>位（即最高位</a:t>
            </a:r>
            <a:r>
              <a:rPr sz="2100" spc="-10" dirty="0">
                <a:solidFill>
                  <a:srgbClr val="FF0000"/>
                </a:solidFill>
                <a:latin typeface="宋体"/>
                <a:cs typeface="宋体"/>
              </a:rPr>
              <a:t>）</a:t>
            </a:r>
            <a:r>
              <a:rPr sz="2100" spc="-10" dirty="0">
                <a:latin typeface="宋体"/>
                <a:cs typeface="宋体"/>
              </a:rPr>
              <a:t>，而在算术左移（</a:t>
            </a:r>
            <a:r>
              <a:rPr sz="2100" spc="-25" dirty="0">
                <a:latin typeface="宋体"/>
                <a:cs typeface="宋体"/>
              </a:rPr>
              <a:t>即＜＜＜</a:t>
            </a:r>
            <a:endParaRPr sz="2100">
              <a:latin typeface="宋体"/>
              <a:cs typeface="宋体"/>
            </a:endParaRPr>
          </a:p>
          <a:p>
            <a:pPr marL="12700" marR="5080">
              <a:lnSpc>
                <a:spcPct val="150200"/>
              </a:lnSpc>
            </a:pPr>
            <a:r>
              <a:rPr sz="2100" spc="-10" dirty="0">
                <a:latin typeface="宋体"/>
                <a:cs typeface="宋体"/>
              </a:rPr>
              <a:t>）</a:t>
            </a:r>
            <a:r>
              <a:rPr sz="2100" spc="-15" dirty="0">
                <a:latin typeface="宋体"/>
                <a:cs typeface="宋体"/>
              </a:rPr>
              <a:t>时移入的是０，注意逻辑左移和算数左移</a:t>
            </a:r>
            <a:r>
              <a:rPr sz="2100" spc="-10" dirty="0">
                <a:latin typeface="宋体"/>
                <a:cs typeface="宋体"/>
              </a:rPr>
              <a:t>没有区别。</a:t>
            </a:r>
            <a:endParaRPr sz="2100">
              <a:latin typeface="宋体"/>
              <a:cs typeface="宋体"/>
            </a:endParaRPr>
          </a:p>
        </p:txBody>
      </p:sp>
      <p:sp>
        <p:nvSpPr>
          <p:cNvPr id="12" name="object 12"/>
          <p:cNvSpPr txBox="1">
            <a:spLocks noGrp="1"/>
          </p:cNvSpPr>
          <p:nvPr>
            <p:ph type="ftr" sz="quarter" idx="5"/>
          </p:nvPr>
        </p:nvSpPr>
        <p:spPr>
          <a:prstGeom prst="rect">
            <a:avLst/>
          </a:prstGeom>
        </p:spPr>
        <p:txBody>
          <a:bodyPr vert="horz" wrap="square" lIns="0" tIns="23495" rIns="0" bIns="0" rtlCol="0">
            <a:spAutoFit/>
          </a:bodyPr>
          <a:lstStyle/>
          <a:p>
            <a:pPr marL="13335">
              <a:lnSpc>
                <a:spcPct val="100000"/>
              </a:lnSpc>
              <a:spcBef>
                <a:spcPts val="185"/>
              </a:spcBef>
            </a:pPr>
            <a:r>
              <a:rPr dirty="0"/>
              <a:t>Xilinx</a:t>
            </a:r>
            <a:r>
              <a:rPr spc="-5" dirty="0"/>
              <a:t> 大学合作部 </a:t>
            </a:r>
            <a:r>
              <a:rPr dirty="0"/>
              <a:t>&amp;</a:t>
            </a:r>
            <a:r>
              <a:rPr spc="-10" dirty="0"/>
              <a:t> 东南大学</a:t>
            </a:r>
          </a:p>
        </p:txBody>
      </p:sp>
      <p:sp>
        <p:nvSpPr>
          <p:cNvPr id="13" name="object 13"/>
          <p:cNvSpPr txBox="1">
            <a:spLocks noGrp="1"/>
          </p:cNvSpPr>
          <p:nvPr>
            <p:ph type="sldNum" sz="quarter" idx="7"/>
          </p:nvPr>
        </p:nvSpPr>
        <p:spPr>
          <a:prstGeom prst="rect">
            <a:avLst/>
          </a:prstGeom>
        </p:spPr>
        <p:txBody>
          <a:bodyPr vert="horz" wrap="square" lIns="0" tIns="5080" rIns="0" bIns="0" rtlCol="0">
            <a:spAutoFit/>
          </a:bodyPr>
          <a:lstStyle/>
          <a:p>
            <a:pPr marL="38735">
              <a:lnSpc>
                <a:spcPct val="100000"/>
              </a:lnSpc>
              <a:spcBef>
                <a:spcPts val="40"/>
              </a:spcBef>
            </a:pPr>
            <a:fld id="{81D60167-4931-47E6-BA6A-407CBD079E47}" type="slidenum">
              <a:rPr spc="-25" dirty="0"/>
              <a:t>25</a:t>
            </a:fld>
            <a:endParaRPr spc="-25" dirty="0"/>
          </a:p>
        </p:txBody>
      </p:sp>
      <p:sp>
        <p:nvSpPr>
          <p:cNvPr id="14" name="object 3">
            <a:extLst>
              <a:ext uri="{FF2B5EF4-FFF2-40B4-BE49-F238E27FC236}">
                <a16:creationId xmlns:a16="http://schemas.microsoft.com/office/drawing/2014/main" id="{EA4AF780-19A4-73CB-8D5C-4141B9334401}"/>
              </a:ext>
            </a:extLst>
          </p:cNvPr>
          <p:cNvSpPr txBox="1">
            <a:spLocks/>
          </p:cNvSpPr>
          <p:nvPr/>
        </p:nvSpPr>
        <p:spPr>
          <a:xfrm>
            <a:off x="241300" y="200025"/>
            <a:ext cx="7288905" cy="524503"/>
          </a:xfrm>
          <a:prstGeom prst="rect">
            <a:avLst/>
          </a:prstGeom>
        </p:spPr>
        <p:txBody>
          <a:bodyPr vert="horz" wrap="square" lIns="0" tIns="16510" rIns="0" bIns="0" rtlCol="0">
            <a:spAutoFit/>
          </a:bodyPr>
          <a:lstStyle>
            <a:lvl1pPr>
              <a:defRPr sz="2800" b="0" i="0">
                <a:solidFill>
                  <a:srgbClr val="3F3F3F"/>
                </a:solidFill>
                <a:latin typeface="Calibri"/>
                <a:ea typeface="+mj-ea"/>
                <a:cs typeface="Calibri"/>
              </a:defRPr>
            </a:lvl1pPr>
          </a:lstStyle>
          <a:p>
            <a:pPr marL="12700">
              <a:spcBef>
                <a:spcPts val="130"/>
              </a:spcBef>
            </a:pPr>
            <a:r>
              <a:rPr lang="zh-CN" altLang="en-US" sz="3300" b="1" spc="-15" dirty="0">
                <a:solidFill>
                  <a:srgbClr val="000000"/>
                </a:solidFill>
                <a:latin typeface="宋体"/>
                <a:cs typeface="宋体"/>
              </a:rPr>
              <a:t>移位操作符</a:t>
            </a:r>
            <a:endParaRPr lang="zh-CN" altLang="en-US" sz="3300" dirty="0">
              <a:latin typeface="宋体"/>
              <a:cs typeface="宋体"/>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393700" y="1150306"/>
            <a:ext cx="3882390" cy="4512310"/>
            <a:chOff x="245249" y="1784604"/>
            <a:chExt cx="3882390" cy="4512310"/>
          </a:xfrm>
        </p:grpSpPr>
        <p:sp>
          <p:nvSpPr>
            <p:cNvPr id="4" name="object 4"/>
            <p:cNvSpPr/>
            <p:nvPr/>
          </p:nvSpPr>
          <p:spPr>
            <a:xfrm>
              <a:off x="245249" y="1784604"/>
              <a:ext cx="3882390" cy="4512310"/>
            </a:xfrm>
            <a:custGeom>
              <a:avLst/>
              <a:gdLst/>
              <a:ahLst/>
              <a:cxnLst/>
              <a:rect l="l" t="t" r="r" b="b"/>
              <a:pathLst>
                <a:path w="3882390" h="4512310">
                  <a:moveTo>
                    <a:pt x="3882390" y="4511802"/>
                  </a:moveTo>
                  <a:lnTo>
                    <a:pt x="3882389" y="0"/>
                  </a:lnTo>
                  <a:lnTo>
                    <a:pt x="0" y="0"/>
                  </a:lnTo>
                  <a:lnTo>
                    <a:pt x="0" y="4511802"/>
                  </a:lnTo>
                  <a:lnTo>
                    <a:pt x="4572" y="4511802"/>
                  </a:lnTo>
                  <a:lnTo>
                    <a:pt x="4571" y="8382"/>
                  </a:lnTo>
                  <a:lnTo>
                    <a:pt x="8381" y="4572"/>
                  </a:lnTo>
                  <a:lnTo>
                    <a:pt x="8381" y="8382"/>
                  </a:lnTo>
                  <a:lnTo>
                    <a:pt x="3874007" y="8381"/>
                  </a:lnTo>
                  <a:lnTo>
                    <a:pt x="3874007" y="4571"/>
                  </a:lnTo>
                  <a:lnTo>
                    <a:pt x="3877818" y="8381"/>
                  </a:lnTo>
                  <a:lnTo>
                    <a:pt x="3877818" y="4511802"/>
                  </a:lnTo>
                  <a:lnTo>
                    <a:pt x="3882390" y="4511802"/>
                  </a:lnTo>
                  <a:close/>
                </a:path>
                <a:path w="3882390" h="4512310">
                  <a:moveTo>
                    <a:pt x="8381" y="8382"/>
                  </a:moveTo>
                  <a:lnTo>
                    <a:pt x="8381" y="4572"/>
                  </a:lnTo>
                  <a:lnTo>
                    <a:pt x="4571" y="8382"/>
                  </a:lnTo>
                  <a:lnTo>
                    <a:pt x="8381" y="8382"/>
                  </a:lnTo>
                  <a:close/>
                </a:path>
                <a:path w="3882390" h="4512310">
                  <a:moveTo>
                    <a:pt x="8381" y="4503420"/>
                  </a:moveTo>
                  <a:lnTo>
                    <a:pt x="8381" y="8382"/>
                  </a:lnTo>
                  <a:lnTo>
                    <a:pt x="4571" y="8382"/>
                  </a:lnTo>
                  <a:lnTo>
                    <a:pt x="4572" y="4503420"/>
                  </a:lnTo>
                  <a:lnTo>
                    <a:pt x="8381" y="4503420"/>
                  </a:lnTo>
                  <a:close/>
                </a:path>
                <a:path w="3882390" h="4512310">
                  <a:moveTo>
                    <a:pt x="3877818" y="4503420"/>
                  </a:moveTo>
                  <a:lnTo>
                    <a:pt x="4572" y="4503420"/>
                  </a:lnTo>
                  <a:lnTo>
                    <a:pt x="8381" y="4507230"/>
                  </a:lnTo>
                  <a:lnTo>
                    <a:pt x="8381" y="4511802"/>
                  </a:lnTo>
                  <a:lnTo>
                    <a:pt x="3874008" y="4511802"/>
                  </a:lnTo>
                  <a:lnTo>
                    <a:pt x="3874008" y="4507230"/>
                  </a:lnTo>
                  <a:lnTo>
                    <a:pt x="3877818" y="4503420"/>
                  </a:lnTo>
                  <a:close/>
                </a:path>
                <a:path w="3882390" h="4512310">
                  <a:moveTo>
                    <a:pt x="8381" y="4511802"/>
                  </a:moveTo>
                  <a:lnTo>
                    <a:pt x="8381" y="4507230"/>
                  </a:lnTo>
                  <a:lnTo>
                    <a:pt x="4572" y="4503420"/>
                  </a:lnTo>
                  <a:lnTo>
                    <a:pt x="4572" y="4511802"/>
                  </a:lnTo>
                  <a:lnTo>
                    <a:pt x="8381" y="4511802"/>
                  </a:lnTo>
                  <a:close/>
                </a:path>
                <a:path w="3882390" h="4512310">
                  <a:moveTo>
                    <a:pt x="3877818" y="8381"/>
                  </a:moveTo>
                  <a:lnTo>
                    <a:pt x="3874007" y="4571"/>
                  </a:lnTo>
                  <a:lnTo>
                    <a:pt x="3874007" y="8381"/>
                  </a:lnTo>
                  <a:lnTo>
                    <a:pt x="3877818" y="8381"/>
                  </a:lnTo>
                  <a:close/>
                </a:path>
                <a:path w="3882390" h="4512310">
                  <a:moveTo>
                    <a:pt x="3877818" y="4503420"/>
                  </a:moveTo>
                  <a:lnTo>
                    <a:pt x="3877818" y="8381"/>
                  </a:lnTo>
                  <a:lnTo>
                    <a:pt x="3874007" y="8381"/>
                  </a:lnTo>
                  <a:lnTo>
                    <a:pt x="3874008" y="4503420"/>
                  </a:lnTo>
                  <a:lnTo>
                    <a:pt x="3877818" y="4503420"/>
                  </a:lnTo>
                  <a:close/>
                </a:path>
                <a:path w="3882390" h="4512310">
                  <a:moveTo>
                    <a:pt x="3877818" y="4511802"/>
                  </a:moveTo>
                  <a:lnTo>
                    <a:pt x="3877818" y="4503420"/>
                  </a:lnTo>
                  <a:lnTo>
                    <a:pt x="3874008" y="4507230"/>
                  </a:lnTo>
                  <a:lnTo>
                    <a:pt x="3874008" y="4511802"/>
                  </a:lnTo>
                  <a:lnTo>
                    <a:pt x="3877818" y="4511802"/>
                  </a:lnTo>
                  <a:close/>
                </a:path>
              </a:pathLst>
            </a:custGeom>
            <a:solidFill>
              <a:srgbClr val="000000"/>
            </a:solidFill>
          </p:spPr>
          <p:txBody>
            <a:bodyPr wrap="square" lIns="0" tIns="0" rIns="0" bIns="0" rtlCol="0"/>
            <a:lstStyle/>
            <a:p>
              <a:endParaRPr/>
            </a:p>
          </p:txBody>
        </p:sp>
        <p:pic>
          <p:nvPicPr>
            <p:cNvPr id="5" name="object 5"/>
            <p:cNvPicPr/>
            <p:nvPr/>
          </p:nvPicPr>
          <p:blipFill>
            <a:blip r:embed="rId2" cstate="print"/>
            <a:stretch>
              <a:fillRect/>
            </a:stretch>
          </p:blipFill>
          <p:spPr>
            <a:xfrm>
              <a:off x="325259" y="1943862"/>
              <a:ext cx="208788" cy="200405"/>
            </a:xfrm>
            <a:prstGeom prst="rect">
              <a:avLst/>
            </a:prstGeom>
          </p:spPr>
        </p:pic>
      </p:grpSp>
      <p:sp>
        <p:nvSpPr>
          <p:cNvPr id="6" name="object 6"/>
          <p:cNvSpPr txBox="1"/>
          <p:nvPr/>
        </p:nvSpPr>
        <p:spPr>
          <a:xfrm>
            <a:off x="669792" y="1178753"/>
            <a:ext cx="3000508" cy="390492"/>
          </a:xfrm>
          <a:prstGeom prst="rect">
            <a:avLst/>
          </a:prstGeom>
        </p:spPr>
        <p:txBody>
          <a:bodyPr vert="horz" wrap="square" lIns="0" tIns="13335" rIns="0" bIns="0" rtlCol="0">
            <a:spAutoFit/>
          </a:bodyPr>
          <a:lstStyle/>
          <a:p>
            <a:pPr marL="12700">
              <a:lnSpc>
                <a:spcPct val="100000"/>
              </a:lnSpc>
              <a:spcBef>
                <a:spcPts val="105"/>
              </a:spcBef>
            </a:pPr>
            <a:r>
              <a:rPr sz="2450" b="1" spc="-10" dirty="0">
                <a:solidFill>
                  <a:srgbClr val="3E3E3E"/>
                </a:solidFill>
                <a:latin typeface="Arial"/>
                <a:cs typeface="Arial"/>
              </a:rPr>
              <a:t>3.</a:t>
            </a:r>
            <a:r>
              <a:rPr sz="2450" b="1" spc="-30" dirty="0">
                <a:solidFill>
                  <a:srgbClr val="3E3E3E"/>
                </a:solidFill>
                <a:latin typeface="宋体"/>
                <a:cs typeface="宋体"/>
              </a:rPr>
              <a:t>关系和</a:t>
            </a:r>
            <a:r>
              <a:rPr lang="zh-CN" altLang="en-US" sz="2450" b="1" spc="-30" dirty="0">
                <a:solidFill>
                  <a:srgbClr val="3E3E3E"/>
                </a:solidFill>
                <a:latin typeface="宋体"/>
                <a:cs typeface="宋体"/>
              </a:rPr>
              <a:t>等价操作符</a:t>
            </a:r>
            <a:endParaRPr sz="2450" dirty="0">
              <a:latin typeface="宋体"/>
              <a:cs typeface="宋体"/>
            </a:endParaRPr>
          </a:p>
        </p:txBody>
      </p:sp>
      <p:sp>
        <p:nvSpPr>
          <p:cNvPr id="7" name="object 7"/>
          <p:cNvSpPr txBox="1"/>
          <p:nvPr/>
        </p:nvSpPr>
        <p:spPr>
          <a:xfrm>
            <a:off x="678690" y="1552743"/>
            <a:ext cx="364490" cy="1026794"/>
          </a:xfrm>
          <a:prstGeom prst="rect">
            <a:avLst/>
          </a:prstGeom>
        </p:spPr>
        <p:txBody>
          <a:bodyPr vert="horz" wrap="square" lIns="0" tIns="139700" rIns="0" bIns="0" rtlCol="0">
            <a:spAutoFit/>
          </a:bodyPr>
          <a:lstStyle/>
          <a:p>
            <a:pPr marL="58419">
              <a:lnSpc>
                <a:spcPct val="100000"/>
              </a:lnSpc>
              <a:spcBef>
                <a:spcPts val="1100"/>
              </a:spcBef>
            </a:pPr>
            <a:r>
              <a:rPr sz="2450" b="1" spc="-50" dirty="0">
                <a:solidFill>
                  <a:srgbClr val="3E3E3E"/>
                </a:solidFill>
                <a:latin typeface="Arial"/>
                <a:cs typeface="Arial"/>
              </a:rPr>
              <a:t>&lt;</a:t>
            </a:r>
            <a:endParaRPr sz="2450">
              <a:latin typeface="Arial"/>
              <a:cs typeface="Arial"/>
            </a:endParaRPr>
          </a:p>
          <a:p>
            <a:pPr>
              <a:lnSpc>
                <a:spcPct val="100000"/>
              </a:lnSpc>
              <a:spcBef>
                <a:spcPts val="1000"/>
              </a:spcBef>
            </a:pPr>
            <a:r>
              <a:rPr sz="2450" b="1" spc="-25" dirty="0">
                <a:solidFill>
                  <a:srgbClr val="3E3E3E"/>
                </a:solidFill>
                <a:latin typeface="Arial"/>
                <a:cs typeface="Arial"/>
              </a:rPr>
              <a:t>&lt;=</a:t>
            </a:r>
            <a:endParaRPr sz="2450">
              <a:latin typeface="Arial"/>
              <a:cs typeface="Arial"/>
            </a:endParaRPr>
          </a:p>
        </p:txBody>
      </p:sp>
      <p:sp>
        <p:nvSpPr>
          <p:cNvPr id="8" name="object 8"/>
          <p:cNvSpPr txBox="1"/>
          <p:nvPr/>
        </p:nvSpPr>
        <p:spPr>
          <a:xfrm>
            <a:off x="678690" y="2680696"/>
            <a:ext cx="182245" cy="399415"/>
          </a:xfrm>
          <a:prstGeom prst="rect">
            <a:avLst/>
          </a:prstGeom>
        </p:spPr>
        <p:txBody>
          <a:bodyPr vert="horz" wrap="square" lIns="0" tIns="13335" rIns="0" bIns="0" rtlCol="0">
            <a:spAutoFit/>
          </a:bodyPr>
          <a:lstStyle/>
          <a:p>
            <a:pPr>
              <a:lnSpc>
                <a:spcPct val="100000"/>
              </a:lnSpc>
              <a:spcBef>
                <a:spcPts val="105"/>
              </a:spcBef>
            </a:pPr>
            <a:r>
              <a:rPr sz="2450" b="1" spc="-50" dirty="0">
                <a:solidFill>
                  <a:srgbClr val="3E3E3E"/>
                </a:solidFill>
                <a:latin typeface="Arial"/>
                <a:cs typeface="Arial"/>
              </a:rPr>
              <a:t>&gt;</a:t>
            </a:r>
            <a:endParaRPr sz="2450">
              <a:latin typeface="Arial"/>
              <a:cs typeface="Arial"/>
            </a:endParaRPr>
          </a:p>
        </p:txBody>
      </p:sp>
      <p:sp>
        <p:nvSpPr>
          <p:cNvPr id="9" name="object 9"/>
          <p:cNvSpPr txBox="1"/>
          <p:nvPr/>
        </p:nvSpPr>
        <p:spPr>
          <a:xfrm>
            <a:off x="661896" y="1552743"/>
            <a:ext cx="3448050" cy="2806065"/>
          </a:xfrm>
          <a:prstGeom prst="rect">
            <a:avLst/>
          </a:prstGeom>
        </p:spPr>
        <p:txBody>
          <a:bodyPr vert="horz" wrap="square" lIns="0" tIns="139700" rIns="0" bIns="0" rtlCol="0">
            <a:spAutoFit/>
          </a:bodyPr>
          <a:lstStyle/>
          <a:p>
            <a:pPr marL="1419225">
              <a:lnSpc>
                <a:spcPct val="100000"/>
              </a:lnSpc>
              <a:spcBef>
                <a:spcPts val="1100"/>
              </a:spcBef>
            </a:pPr>
            <a:r>
              <a:rPr sz="2450" b="1" spc="-40" dirty="0">
                <a:solidFill>
                  <a:srgbClr val="3E3E3E"/>
                </a:solidFill>
                <a:latin typeface="宋体"/>
                <a:cs typeface="宋体"/>
              </a:rPr>
              <a:t>小于</a:t>
            </a:r>
            <a:endParaRPr sz="2450" dirty="0">
              <a:latin typeface="宋体"/>
              <a:cs typeface="宋体"/>
            </a:endParaRPr>
          </a:p>
          <a:p>
            <a:pPr marL="1419225" marR="457834">
              <a:lnSpc>
                <a:spcPct val="134100"/>
              </a:lnSpc>
            </a:pPr>
            <a:r>
              <a:rPr sz="2450" b="1" spc="-30" dirty="0">
                <a:solidFill>
                  <a:srgbClr val="3E3E3E"/>
                </a:solidFill>
                <a:latin typeface="宋体"/>
                <a:cs typeface="宋体"/>
              </a:rPr>
              <a:t>小于或等于</a:t>
            </a:r>
            <a:r>
              <a:rPr sz="2450" b="1" spc="-40" dirty="0">
                <a:solidFill>
                  <a:srgbClr val="3E3E3E"/>
                </a:solidFill>
                <a:latin typeface="宋体"/>
                <a:cs typeface="宋体"/>
              </a:rPr>
              <a:t>大于</a:t>
            </a:r>
            <a:endParaRPr sz="2450" dirty="0">
              <a:latin typeface="宋体"/>
              <a:cs typeface="宋体"/>
            </a:endParaRPr>
          </a:p>
          <a:p>
            <a:pPr marL="16510">
              <a:lnSpc>
                <a:spcPct val="100000"/>
              </a:lnSpc>
              <a:spcBef>
                <a:spcPts val="1000"/>
              </a:spcBef>
              <a:tabLst>
                <a:tab pos="1419225" algn="l"/>
              </a:tabLst>
            </a:pPr>
            <a:r>
              <a:rPr sz="2450" b="1" spc="-25" dirty="0">
                <a:solidFill>
                  <a:srgbClr val="3E3E3E"/>
                </a:solidFill>
                <a:latin typeface="Arial"/>
                <a:cs typeface="Arial"/>
              </a:rPr>
              <a:t>&gt;=</a:t>
            </a:r>
            <a:r>
              <a:rPr sz="2450" b="1" dirty="0">
                <a:solidFill>
                  <a:srgbClr val="3E3E3E"/>
                </a:solidFill>
                <a:latin typeface="Arial"/>
                <a:cs typeface="Arial"/>
              </a:rPr>
              <a:t>	</a:t>
            </a:r>
            <a:r>
              <a:rPr sz="2450" b="1" spc="-30" dirty="0">
                <a:solidFill>
                  <a:srgbClr val="3E3E3E"/>
                </a:solidFill>
                <a:latin typeface="宋体"/>
                <a:cs typeface="宋体"/>
              </a:rPr>
              <a:t>大于或等于</a:t>
            </a:r>
            <a:endParaRPr sz="2450" dirty="0">
              <a:latin typeface="宋体"/>
              <a:cs typeface="宋体"/>
            </a:endParaRPr>
          </a:p>
          <a:p>
            <a:pPr>
              <a:lnSpc>
                <a:spcPct val="100000"/>
              </a:lnSpc>
              <a:spcBef>
                <a:spcPts val="1005"/>
              </a:spcBef>
              <a:tabLst>
                <a:tab pos="442595" algn="l"/>
                <a:tab pos="1469390" algn="l"/>
                <a:tab pos="2101215" algn="l"/>
              </a:tabLst>
            </a:pPr>
            <a:r>
              <a:rPr sz="1750" b="1" spc="-25" dirty="0">
                <a:solidFill>
                  <a:srgbClr val="3E3E3E"/>
                </a:solidFill>
                <a:latin typeface="Arial"/>
                <a:cs typeface="Arial"/>
              </a:rPr>
              <a:t>==</a:t>
            </a:r>
            <a:r>
              <a:rPr sz="1750" b="1" dirty="0">
                <a:solidFill>
                  <a:srgbClr val="3E3E3E"/>
                </a:solidFill>
                <a:latin typeface="Arial"/>
                <a:cs typeface="Arial"/>
              </a:rPr>
              <a:t>	</a:t>
            </a:r>
            <a:r>
              <a:rPr sz="1750" b="1" spc="-25" dirty="0">
                <a:solidFill>
                  <a:srgbClr val="3E3E3E"/>
                </a:solidFill>
                <a:latin typeface="宋体"/>
                <a:cs typeface="宋体"/>
              </a:rPr>
              <a:t>！</a:t>
            </a:r>
            <a:r>
              <a:rPr sz="1750" b="1" spc="-25" dirty="0">
                <a:solidFill>
                  <a:srgbClr val="3E3E3E"/>
                </a:solidFill>
                <a:latin typeface="Arial"/>
                <a:cs typeface="Arial"/>
              </a:rPr>
              <a:t>=</a:t>
            </a:r>
            <a:r>
              <a:rPr sz="1750" b="1" dirty="0">
                <a:solidFill>
                  <a:srgbClr val="3E3E3E"/>
                </a:solidFill>
                <a:latin typeface="Arial"/>
                <a:cs typeface="Arial"/>
              </a:rPr>
              <a:t>	</a:t>
            </a:r>
            <a:r>
              <a:rPr sz="1750" b="1" spc="-20" dirty="0">
                <a:solidFill>
                  <a:srgbClr val="3E3E3E"/>
                </a:solidFill>
                <a:latin typeface="宋体"/>
                <a:cs typeface="宋体"/>
              </a:rPr>
              <a:t>等</a:t>
            </a:r>
            <a:r>
              <a:rPr sz="1750" b="1" spc="-50" dirty="0">
                <a:solidFill>
                  <a:srgbClr val="3E3E3E"/>
                </a:solidFill>
                <a:latin typeface="宋体"/>
                <a:cs typeface="宋体"/>
              </a:rPr>
              <a:t>于</a:t>
            </a:r>
            <a:r>
              <a:rPr sz="1750" b="1" dirty="0">
                <a:solidFill>
                  <a:srgbClr val="3E3E3E"/>
                </a:solidFill>
                <a:latin typeface="宋体"/>
                <a:cs typeface="宋体"/>
              </a:rPr>
              <a:t>	</a:t>
            </a:r>
            <a:r>
              <a:rPr sz="1750" b="1" spc="-20" dirty="0">
                <a:solidFill>
                  <a:srgbClr val="3E3E3E"/>
                </a:solidFill>
                <a:latin typeface="宋体"/>
                <a:cs typeface="宋体"/>
              </a:rPr>
              <a:t>不等</a:t>
            </a:r>
            <a:r>
              <a:rPr sz="1750" b="1" spc="-50" dirty="0">
                <a:solidFill>
                  <a:srgbClr val="3E3E3E"/>
                </a:solidFill>
                <a:latin typeface="宋体"/>
                <a:cs typeface="宋体"/>
              </a:rPr>
              <a:t>于</a:t>
            </a:r>
            <a:endParaRPr sz="1750" dirty="0">
              <a:latin typeface="宋体"/>
              <a:cs typeface="宋体"/>
            </a:endParaRPr>
          </a:p>
          <a:p>
            <a:pPr>
              <a:lnSpc>
                <a:spcPct val="100000"/>
              </a:lnSpc>
              <a:spcBef>
                <a:spcPts val="919"/>
              </a:spcBef>
              <a:tabLst>
                <a:tab pos="572135" algn="l"/>
                <a:tab pos="1360805" algn="l"/>
              </a:tabLst>
            </a:pPr>
            <a:r>
              <a:rPr sz="1750" b="1" spc="-25" dirty="0">
                <a:solidFill>
                  <a:srgbClr val="3E3E3E"/>
                </a:solidFill>
                <a:latin typeface="Arial"/>
                <a:cs typeface="Arial"/>
              </a:rPr>
              <a:t>===</a:t>
            </a:r>
            <a:r>
              <a:rPr sz="1750" b="1" dirty="0">
                <a:solidFill>
                  <a:srgbClr val="3E3E3E"/>
                </a:solidFill>
                <a:latin typeface="Arial"/>
                <a:cs typeface="Arial"/>
              </a:rPr>
              <a:t>	</a:t>
            </a:r>
            <a:r>
              <a:rPr sz="1750" b="1" spc="-25" dirty="0">
                <a:solidFill>
                  <a:srgbClr val="3E3E3E"/>
                </a:solidFill>
                <a:latin typeface="宋体"/>
                <a:cs typeface="宋体"/>
              </a:rPr>
              <a:t>！</a:t>
            </a:r>
            <a:r>
              <a:rPr sz="1750" b="1" spc="-25" dirty="0">
                <a:solidFill>
                  <a:srgbClr val="3E3E3E"/>
                </a:solidFill>
                <a:latin typeface="Arial"/>
                <a:cs typeface="Arial"/>
              </a:rPr>
              <a:t>==</a:t>
            </a:r>
            <a:r>
              <a:rPr sz="1750" b="1" dirty="0">
                <a:solidFill>
                  <a:srgbClr val="3E3E3E"/>
                </a:solidFill>
                <a:latin typeface="Arial"/>
                <a:cs typeface="Arial"/>
              </a:rPr>
              <a:t>	</a:t>
            </a:r>
            <a:r>
              <a:rPr sz="1750" b="1" spc="-60" dirty="0">
                <a:solidFill>
                  <a:srgbClr val="3E3E3E"/>
                </a:solidFill>
                <a:latin typeface="宋体"/>
                <a:cs typeface="宋体"/>
              </a:rPr>
              <a:t>事件相等 事件不相等</a:t>
            </a:r>
            <a:endParaRPr sz="1750" dirty="0">
              <a:latin typeface="宋体"/>
              <a:cs typeface="宋体"/>
            </a:endParaRPr>
          </a:p>
        </p:txBody>
      </p:sp>
      <p:pic>
        <p:nvPicPr>
          <p:cNvPr id="10" name="object 10"/>
          <p:cNvPicPr/>
          <p:nvPr/>
        </p:nvPicPr>
        <p:blipFill>
          <a:blip r:embed="rId3" cstate="print"/>
          <a:stretch>
            <a:fillRect/>
          </a:stretch>
        </p:blipFill>
        <p:spPr>
          <a:xfrm>
            <a:off x="473710" y="4958781"/>
            <a:ext cx="208788" cy="200405"/>
          </a:xfrm>
          <a:prstGeom prst="rect">
            <a:avLst/>
          </a:prstGeom>
        </p:spPr>
      </p:pic>
      <p:sp>
        <p:nvSpPr>
          <p:cNvPr id="11" name="object 11"/>
          <p:cNvSpPr txBox="1"/>
          <p:nvPr/>
        </p:nvSpPr>
        <p:spPr>
          <a:xfrm>
            <a:off x="665958" y="4792765"/>
            <a:ext cx="3399790" cy="848360"/>
          </a:xfrm>
          <a:prstGeom prst="rect">
            <a:avLst/>
          </a:prstGeom>
        </p:spPr>
        <p:txBody>
          <a:bodyPr vert="horz" wrap="square" lIns="0" tIns="12700" rIns="0" bIns="0" rtlCol="0">
            <a:spAutoFit/>
          </a:bodyPr>
          <a:lstStyle/>
          <a:p>
            <a:pPr marL="12700" marR="5080" indent="3810">
              <a:lnSpc>
                <a:spcPct val="110200"/>
              </a:lnSpc>
              <a:spcBef>
                <a:spcPts val="100"/>
              </a:spcBef>
            </a:pPr>
            <a:r>
              <a:rPr sz="2450" b="1" spc="-25" dirty="0">
                <a:solidFill>
                  <a:srgbClr val="FF0000"/>
                </a:solidFill>
                <a:latin typeface="宋体"/>
                <a:cs typeface="宋体"/>
              </a:rPr>
              <a:t>注</a:t>
            </a:r>
            <a:r>
              <a:rPr sz="2450" b="1" spc="-10" dirty="0">
                <a:solidFill>
                  <a:srgbClr val="FF0000"/>
                </a:solidFill>
                <a:latin typeface="Arial"/>
                <a:cs typeface="Arial"/>
              </a:rPr>
              <a:t>: &lt;=</a:t>
            </a:r>
            <a:r>
              <a:rPr sz="2450" b="1" spc="-30" dirty="0">
                <a:solidFill>
                  <a:srgbClr val="FF0000"/>
                </a:solidFill>
                <a:latin typeface="宋体"/>
                <a:cs typeface="宋体"/>
              </a:rPr>
              <a:t>也用于表示一种赋</a:t>
            </a:r>
            <a:r>
              <a:rPr sz="2450" b="1" spc="-35" dirty="0">
                <a:solidFill>
                  <a:srgbClr val="FF0000"/>
                </a:solidFill>
                <a:latin typeface="宋体"/>
                <a:cs typeface="宋体"/>
              </a:rPr>
              <a:t>值操作</a:t>
            </a:r>
            <a:endParaRPr sz="2450">
              <a:latin typeface="宋体"/>
              <a:cs typeface="宋体"/>
            </a:endParaRPr>
          </a:p>
        </p:txBody>
      </p:sp>
      <p:sp>
        <p:nvSpPr>
          <p:cNvPr id="12" name="object 12"/>
          <p:cNvSpPr/>
          <p:nvPr/>
        </p:nvSpPr>
        <p:spPr>
          <a:xfrm>
            <a:off x="4584839" y="1131569"/>
            <a:ext cx="6000750" cy="5378450"/>
          </a:xfrm>
          <a:custGeom>
            <a:avLst/>
            <a:gdLst/>
            <a:ahLst/>
            <a:cxnLst/>
            <a:rect l="l" t="t" r="r" b="b"/>
            <a:pathLst>
              <a:path w="6000750" h="5378450">
                <a:moveTo>
                  <a:pt x="6000750" y="5376671"/>
                </a:moveTo>
                <a:lnTo>
                  <a:pt x="6000750" y="2285"/>
                </a:lnTo>
                <a:lnTo>
                  <a:pt x="5999226" y="0"/>
                </a:lnTo>
                <a:lnTo>
                  <a:pt x="1523" y="0"/>
                </a:lnTo>
                <a:lnTo>
                  <a:pt x="0" y="2286"/>
                </a:lnTo>
                <a:lnTo>
                  <a:pt x="0" y="5376672"/>
                </a:lnTo>
                <a:lnTo>
                  <a:pt x="1524" y="5378196"/>
                </a:lnTo>
                <a:lnTo>
                  <a:pt x="3810" y="5378196"/>
                </a:lnTo>
                <a:lnTo>
                  <a:pt x="3810" y="8382"/>
                </a:lnTo>
                <a:lnTo>
                  <a:pt x="8382" y="4572"/>
                </a:lnTo>
                <a:lnTo>
                  <a:pt x="8382" y="8382"/>
                </a:lnTo>
                <a:lnTo>
                  <a:pt x="5992368" y="8381"/>
                </a:lnTo>
                <a:lnTo>
                  <a:pt x="5992368" y="4571"/>
                </a:lnTo>
                <a:lnTo>
                  <a:pt x="5996940" y="8381"/>
                </a:lnTo>
                <a:lnTo>
                  <a:pt x="5996940" y="5378195"/>
                </a:lnTo>
                <a:lnTo>
                  <a:pt x="5999226" y="5378195"/>
                </a:lnTo>
                <a:lnTo>
                  <a:pt x="6000750" y="5376671"/>
                </a:lnTo>
                <a:close/>
              </a:path>
              <a:path w="6000750" h="5378450">
                <a:moveTo>
                  <a:pt x="8382" y="8382"/>
                </a:moveTo>
                <a:lnTo>
                  <a:pt x="8382" y="4572"/>
                </a:lnTo>
                <a:lnTo>
                  <a:pt x="3810" y="8382"/>
                </a:lnTo>
                <a:lnTo>
                  <a:pt x="8382" y="8382"/>
                </a:lnTo>
                <a:close/>
              </a:path>
              <a:path w="6000750" h="5378450">
                <a:moveTo>
                  <a:pt x="8382" y="5369814"/>
                </a:moveTo>
                <a:lnTo>
                  <a:pt x="8382" y="8382"/>
                </a:lnTo>
                <a:lnTo>
                  <a:pt x="3810" y="8382"/>
                </a:lnTo>
                <a:lnTo>
                  <a:pt x="3810" y="5369814"/>
                </a:lnTo>
                <a:lnTo>
                  <a:pt x="8382" y="5369814"/>
                </a:lnTo>
                <a:close/>
              </a:path>
              <a:path w="6000750" h="5378450">
                <a:moveTo>
                  <a:pt x="5996940" y="5369813"/>
                </a:moveTo>
                <a:lnTo>
                  <a:pt x="3810" y="5369814"/>
                </a:lnTo>
                <a:lnTo>
                  <a:pt x="8382" y="5374386"/>
                </a:lnTo>
                <a:lnTo>
                  <a:pt x="8382" y="5378196"/>
                </a:lnTo>
                <a:lnTo>
                  <a:pt x="5992368" y="5378195"/>
                </a:lnTo>
                <a:lnTo>
                  <a:pt x="5992368" y="5374385"/>
                </a:lnTo>
                <a:lnTo>
                  <a:pt x="5996940" y="5369813"/>
                </a:lnTo>
                <a:close/>
              </a:path>
              <a:path w="6000750" h="5378450">
                <a:moveTo>
                  <a:pt x="8382" y="5378196"/>
                </a:moveTo>
                <a:lnTo>
                  <a:pt x="8382" y="5374386"/>
                </a:lnTo>
                <a:lnTo>
                  <a:pt x="3810" y="5369814"/>
                </a:lnTo>
                <a:lnTo>
                  <a:pt x="3810" y="5378196"/>
                </a:lnTo>
                <a:lnTo>
                  <a:pt x="8382" y="5378196"/>
                </a:lnTo>
                <a:close/>
              </a:path>
              <a:path w="6000750" h="5378450">
                <a:moveTo>
                  <a:pt x="5996940" y="8381"/>
                </a:moveTo>
                <a:lnTo>
                  <a:pt x="5992368" y="4571"/>
                </a:lnTo>
                <a:lnTo>
                  <a:pt x="5992368" y="8381"/>
                </a:lnTo>
                <a:lnTo>
                  <a:pt x="5996940" y="8381"/>
                </a:lnTo>
                <a:close/>
              </a:path>
              <a:path w="6000750" h="5378450">
                <a:moveTo>
                  <a:pt x="5996940" y="5369813"/>
                </a:moveTo>
                <a:lnTo>
                  <a:pt x="5996940" y="8381"/>
                </a:lnTo>
                <a:lnTo>
                  <a:pt x="5992368" y="8381"/>
                </a:lnTo>
                <a:lnTo>
                  <a:pt x="5992368" y="5369813"/>
                </a:lnTo>
                <a:lnTo>
                  <a:pt x="5996940" y="5369813"/>
                </a:lnTo>
                <a:close/>
              </a:path>
              <a:path w="6000750" h="5378450">
                <a:moveTo>
                  <a:pt x="5996940" y="5378195"/>
                </a:moveTo>
                <a:lnTo>
                  <a:pt x="5996940" y="5369813"/>
                </a:lnTo>
                <a:lnTo>
                  <a:pt x="5992368" y="5374385"/>
                </a:lnTo>
                <a:lnTo>
                  <a:pt x="5992368" y="5378195"/>
                </a:lnTo>
                <a:lnTo>
                  <a:pt x="5996940" y="5378195"/>
                </a:lnTo>
                <a:close/>
              </a:path>
            </a:pathLst>
          </a:custGeom>
          <a:solidFill>
            <a:srgbClr val="FF0000"/>
          </a:solidFill>
        </p:spPr>
        <p:txBody>
          <a:bodyPr wrap="square" lIns="0" tIns="0" rIns="0" bIns="0" rtlCol="0"/>
          <a:lstStyle/>
          <a:p>
            <a:endParaRPr/>
          </a:p>
        </p:txBody>
      </p:sp>
      <p:sp>
        <p:nvSpPr>
          <p:cNvPr id="13" name="object 13"/>
          <p:cNvSpPr txBox="1"/>
          <p:nvPr/>
        </p:nvSpPr>
        <p:spPr>
          <a:xfrm>
            <a:off x="4656677" y="1096153"/>
            <a:ext cx="5866765" cy="5316855"/>
          </a:xfrm>
          <a:prstGeom prst="rect">
            <a:avLst/>
          </a:prstGeom>
        </p:spPr>
        <p:txBody>
          <a:bodyPr vert="horz" wrap="square" lIns="0" tIns="12700" rIns="0" bIns="0" rtlCol="0">
            <a:spAutoFit/>
          </a:bodyPr>
          <a:lstStyle/>
          <a:p>
            <a:pPr marL="12700" marR="5080" indent="299085" algn="just">
              <a:lnSpc>
                <a:spcPct val="150300"/>
              </a:lnSpc>
              <a:spcBef>
                <a:spcPts val="100"/>
              </a:spcBef>
            </a:pPr>
            <a:r>
              <a:rPr sz="2100" spc="70" dirty="0">
                <a:latin typeface="宋体"/>
                <a:cs typeface="宋体"/>
              </a:rPr>
              <a:t>有４种关系运算：＞，＜，＜＝和＞＝，</a:t>
            </a:r>
            <a:r>
              <a:rPr sz="2100" spc="40" dirty="0">
                <a:latin typeface="宋体"/>
                <a:cs typeface="宋体"/>
              </a:rPr>
              <a:t>这些</a:t>
            </a:r>
            <a:r>
              <a:rPr sz="2100" spc="75" dirty="0">
                <a:latin typeface="宋体"/>
                <a:cs typeface="宋体"/>
              </a:rPr>
              <a:t>运算比较两个操作数的大小并返回一个布尔型结</a:t>
            </a:r>
            <a:r>
              <a:rPr sz="2100" spc="80" dirty="0">
                <a:latin typeface="宋体"/>
                <a:cs typeface="宋体"/>
              </a:rPr>
              <a:t>果，为假（由１位的数值０表示）或为真（</a:t>
            </a:r>
            <a:r>
              <a:rPr sz="2100" spc="55" dirty="0">
                <a:latin typeface="宋体"/>
                <a:cs typeface="宋体"/>
              </a:rPr>
              <a:t>由１</a:t>
            </a:r>
            <a:r>
              <a:rPr sz="2100" dirty="0">
                <a:latin typeface="宋体"/>
                <a:cs typeface="宋体"/>
              </a:rPr>
              <a:t>位数值１表示</a:t>
            </a:r>
            <a:r>
              <a:rPr sz="2100" spc="-50" dirty="0">
                <a:latin typeface="宋体"/>
                <a:cs typeface="宋体"/>
              </a:rPr>
              <a:t>）</a:t>
            </a:r>
            <a:endParaRPr sz="2100">
              <a:latin typeface="宋体"/>
              <a:cs typeface="宋体"/>
            </a:endParaRPr>
          </a:p>
          <a:p>
            <a:pPr marR="12065" algn="r">
              <a:lnSpc>
                <a:spcPct val="100000"/>
              </a:lnSpc>
              <a:spcBef>
                <a:spcPts val="1270"/>
              </a:spcBef>
            </a:pPr>
            <a:r>
              <a:rPr sz="2100" dirty="0">
                <a:latin typeface="宋体"/>
                <a:cs typeface="宋体"/>
              </a:rPr>
              <a:t>有４种相等运算：＝＝，！＝，＝＝＝和</a:t>
            </a:r>
            <a:r>
              <a:rPr sz="2100" spc="-25" dirty="0">
                <a:latin typeface="宋体"/>
                <a:cs typeface="宋体"/>
              </a:rPr>
              <a:t>！＝</a:t>
            </a:r>
            <a:endParaRPr sz="2100">
              <a:latin typeface="宋体"/>
              <a:cs typeface="宋体"/>
            </a:endParaRPr>
          </a:p>
          <a:p>
            <a:pPr marR="5080" algn="r">
              <a:lnSpc>
                <a:spcPct val="100000"/>
              </a:lnSpc>
              <a:spcBef>
                <a:spcPts val="1265"/>
              </a:spcBef>
            </a:pPr>
            <a:r>
              <a:rPr sz="2100" spc="80" dirty="0">
                <a:latin typeface="宋体"/>
                <a:cs typeface="宋体"/>
              </a:rPr>
              <a:t>＝，同关系运算一样，结果返回假（１位０）</a:t>
            </a:r>
            <a:r>
              <a:rPr sz="2100" spc="30" dirty="0">
                <a:latin typeface="宋体"/>
                <a:cs typeface="宋体"/>
              </a:rPr>
              <a:t>或</a:t>
            </a:r>
            <a:endParaRPr sz="2100">
              <a:latin typeface="宋体"/>
              <a:cs typeface="宋体"/>
            </a:endParaRPr>
          </a:p>
          <a:p>
            <a:pPr marL="12700" marR="5080" algn="just">
              <a:lnSpc>
                <a:spcPct val="150200"/>
              </a:lnSpc>
              <a:spcBef>
                <a:spcPts val="5"/>
              </a:spcBef>
            </a:pPr>
            <a:r>
              <a:rPr sz="2100" spc="80" dirty="0">
                <a:latin typeface="宋体"/>
                <a:cs typeface="宋体"/>
              </a:rPr>
              <a:t>真（１位１）。</a:t>
            </a:r>
            <a:r>
              <a:rPr sz="2100" spc="80" dirty="0">
                <a:solidFill>
                  <a:srgbClr val="FF0000"/>
                </a:solidFill>
                <a:latin typeface="宋体"/>
                <a:cs typeface="宋体"/>
              </a:rPr>
              <a:t>＝＝＝和！＝＝</a:t>
            </a:r>
            <a:r>
              <a:rPr sz="2100" spc="70" dirty="0">
                <a:solidFill>
                  <a:srgbClr val="FF0000"/>
                </a:solidFill>
                <a:latin typeface="宋体"/>
                <a:cs typeface="宋体"/>
              </a:rPr>
              <a:t>运算，称为事件</a:t>
            </a:r>
            <a:r>
              <a:rPr sz="2100" spc="80" dirty="0">
                <a:solidFill>
                  <a:srgbClr val="FF0000"/>
                </a:solidFill>
                <a:latin typeface="宋体"/>
                <a:cs typeface="宋体"/>
              </a:rPr>
              <a:t>相等和不相等运算，对不确定值ｘ和高阻值ｚ</a:t>
            </a:r>
            <a:r>
              <a:rPr sz="2100" spc="30" dirty="0">
                <a:solidFill>
                  <a:srgbClr val="FF0000"/>
                </a:solidFill>
                <a:latin typeface="宋体"/>
                <a:cs typeface="宋体"/>
              </a:rPr>
              <a:t>也</a:t>
            </a:r>
            <a:r>
              <a:rPr sz="2100" spc="-5" dirty="0">
                <a:solidFill>
                  <a:srgbClr val="FF0000"/>
                </a:solidFill>
                <a:latin typeface="宋体"/>
                <a:cs typeface="宋体"/>
              </a:rPr>
              <a:t>进行比较，无法进行综合</a:t>
            </a:r>
            <a:r>
              <a:rPr sz="2100" spc="-50" dirty="0">
                <a:latin typeface="宋体"/>
                <a:cs typeface="宋体"/>
              </a:rPr>
              <a:t>。</a:t>
            </a:r>
            <a:endParaRPr sz="2100">
              <a:latin typeface="宋体"/>
              <a:cs typeface="宋体"/>
            </a:endParaRPr>
          </a:p>
          <a:p>
            <a:pPr marL="12700" marR="8255" indent="354330">
              <a:lnSpc>
                <a:spcPct val="150200"/>
              </a:lnSpc>
            </a:pPr>
            <a:r>
              <a:rPr sz="2100" spc="50" dirty="0">
                <a:latin typeface="宋体"/>
                <a:cs typeface="宋体"/>
              </a:rPr>
              <a:t>关系运算以及＝＝和！＝</a:t>
            </a:r>
            <a:r>
              <a:rPr sz="2100" spc="40" dirty="0">
                <a:latin typeface="宋体"/>
                <a:cs typeface="宋体"/>
              </a:rPr>
              <a:t>运算在综合时为比较</a:t>
            </a:r>
            <a:r>
              <a:rPr sz="2100" spc="-25" dirty="0">
                <a:latin typeface="宋体"/>
                <a:cs typeface="宋体"/>
              </a:rPr>
              <a:t>器。</a:t>
            </a:r>
            <a:endParaRPr sz="2100">
              <a:latin typeface="宋体"/>
              <a:cs typeface="宋体"/>
            </a:endParaRPr>
          </a:p>
        </p:txBody>
      </p:sp>
      <p:sp>
        <p:nvSpPr>
          <p:cNvPr id="14" name="object 14"/>
          <p:cNvSpPr txBox="1">
            <a:spLocks noGrp="1"/>
          </p:cNvSpPr>
          <p:nvPr>
            <p:ph type="ftr" sz="quarter" idx="5"/>
          </p:nvPr>
        </p:nvSpPr>
        <p:spPr>
          <a:prstGeom prst="rect">
            <a:avLst/>
          </a:prstGeom>
        </p:spPr>
        <p:txBody>
          <a:bodyPr vert="horz" wrap="square" lIns="0" tIns="23495" rIns="0" bIns="0" rtlCol="0">
            <a:spAutoFit/>
          </a:bodyPr>
          <a:lstStyle/>
          <a:p>
            <a:pPr marL="13335">
              <a:lnSpc>
                <a:spcPct val="100000"/>
              </a:lnSpc>
              <a:spcBef>
                <a:spcPts val="185"/>
              </a:spcBef>
            </a:pPr>
            <a:r>
              <a:rPr dirty="0"/>
              <a:t>Xilinx</a:t>
            </a:r>
            <a:r>
              <a:rPr spc="-5" dirty="0"/>
              <a:t> 大学合作部 </a:t>
            </a:r>
            <a:r>
              <a:rPr dirty="0"/>
              <a:t>&amp;</a:t>
            </a:r>
            <a:r>
              <a:rPr spc="-10" dirty="0"/>
              <a:t> 东南大学</a:t>
            </a:r>
          </a:p>
        </p:txBody>
      </p:sp>
      <p:sp>
        <p:nvSpPr>
          <p:cNvPr id="15" name="object 15"/>
          <p:cNvSpPr txBox="1">
            <a:spLocks noGrp="1"/>
          </p:cNvSpPr>
          <p:nvPr>
            <p:ph type="sldNum" sz="quarter" idx="7"/>
          </p:nvPr>
        </p:nvSpPr>
        <p:spPr>
          <a:prstGeom prst="rect">
            <a:avLst/>
          </a:prstGeom>
        </p:spPr>
        <p:txBody>
          <a:bodyPr vert="horz" wrap="square" lIns="0" tIns="5080" rIns="0" bIns="0" rtlCol="0">
            <a:spAutoFit/>
          </a:bodyPr>
          <a:lstStyle/>
          <a:p>
            <a:pPr marL="38735">
              <a:lnSpc>
                <a:spcPct val="100000"/>
              </a:lnSpc>
              <a:spcBef>
                <a:spcPts val="40"/>
              </a:spcBef>
            </a:pPr>
            <a:fld id="{81D60167-4931-47E6-BA6A-407CBD079E47}" type="slidenum">
              <a:rPr spc="-25" dirty="0"/>
              <a:t>26</a:t>
            </a:fld>
            <a:endParaRPr spc="-25" dirty="0"/>
          </a:p>
        </p:txBody>
      </p:sp>
      <p:sp>
        <p:nvSpPr>
          <p:cNvPr id="16" name="object 3">
            <a:extLst>
              <a:ext uri="{FF2B5EF4-FFF2-40B4-BE49-F238E27FC236}">
                <a16:creationId xmlns:a16="http://schemas.microsoft.com/office/drawing/2014/main" id="{E7C1256B-CADD-D83B-7A9C-BEBB2714363E}"/>
              </a:ext>
            </a:extLst>
          </p:cNvPr>
          <p:cNvSpPr txBox="1">
            <a:spLocks/>
          </p:cNvSpPr>
          <p:nvPr/>
        </p:nvSpPr>
        <p:spPr>
          <a:xfrm>
            <a:off x="241300" y="200025"/>
            <a:ext cx="7288905" cy="524503"/>
          </a:xfrm>
          <a:prstGeom prst="rect">
            <a:avLst/>
          </a:prstGeom>
        </p:spPr>
        <p:txBody>
          <a:bodyPr vert="horz" wrap="square" lIns="0" tIns="16510" rIns="0" bIns="0" rtlCol="0">
            <a:spAutoFit/>
          </a:bodyPr>
          <a:lstStyle>
            <a:lvl1pPr>
              <a:defRPr sz="2800" b="0" i="0">
                <a:solidFill>
                  <a:srgbClr val="3F3F3F"/>
                </a:solidFill>
                <a:latin typeface="Calibri"/>
                <a:ea typeface="+mj-ea"/>
                <a:cs typeface="Calibri"/>
              </a:defRPr>
            </a:lvl1pPr>
          </a:lstStyle>
          <a:p>
            <a:pPr marL="12700">
              <a:spcBef>
                <a:spcPts val="130"/>
              </a:spcBef>
            </a:pPr>
            <a:r>
              <a:rPr lang="zh-CN" altLang="en-US" sz="3300" b="1" spc="-15" dirty="0">
                <a:solidFill>
                  <a:srgbClr val="000000"/>
                </a:solidFill>
                <a:latin typeface="宋体"/>
                <a:cs typeface="宋体"/>
              </a:rPr>
              <a:t>关系操作符和等价操作符</a:t>
            </a:r>
            <a:endParaRPr lang="zh-CN" altLang="en-US" sz="3300" dirty="0">
              <a:latin typeface="宋体"/>
              <a:cs typeface="宋体"/>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030089" y="6519164"/>
            <a:ext cx="2454910" cy="239395"/>
          </a:xfrm>
          <a:prstGeom prst="rect">
            <a:avLst/>
          </a:prstGeom>
        </p:spPr>
        <p:txBody>
          <a:bodyPr vert="horz" wrap="square" lIns="0" tIns="12700" rIns="0" bIns="0" rtlCol="0">
            <a:spAutoFit/>
          </a:bodyPr>
          <a:lstStyle/>
          <a:p>
            <a:pPr marL="12700">
              <a:lnSpc>
                <a:spcPct val="100000"/>
              </a:lnSpc>
              <a:spcBef>
                <a:spcPts val="100"/>
              </a:spcBef>
            </a:pPr>
            <a:r>
              <a:rPr sz="1400" b="1" dirty="0">
                <a:solidFill>
                  <a:srgbClr val="3F3F3F"/>
                </a:solidFill>
                <a:latin typeface="微软雅黑"/>
                <a:cs typeface="微软雅黑"/>
              </a:rPr>
              <a:t>Xilinx</a:t>
            </a:r>
            <a:r>
              <a:rPr sz="1400" b="1" spc="-5" dirty="0">
                <a:solidFill>
                  <a:srgbClr val="3F3F3F"/>
                </a:solidFill>
                <a:latin typeface="微软雅黑"/>
                <a:cs typeface="微软雅黑"/>
              </a:rPr>
              <a:t> 大学合作部 </a:t>
            </a:r>
            <a:r>
              <a:rPr sz="1400" b="1" dirty="0">
                <a:solidFill>
                  <a:srgbClr val="3F3F3F"/>
                </a:solidFill>
                <a:latin typeface="微软雅黑"/>
                <a:cs typeface="微软雅黑"/>
              </a:rPr>
              <a:t>&amp;</a:t>
            </a:r>
            <a:r>
              <a:rPr sz="1400" b="1" spc="-10" dirty="0">
                <a:solidFill>
                  <a:srgbClr val="3F3F3F"/>
                </a:solidFill>
                <a:latin typeface="微软雅黑"/>
                <a:cs typeface="微软雅黑"/>
              </a:rPr>
              <a:t> 东南大学</a:t>
            </a:r>
            <a:endParaRPr sz="1400">
              <a:latin typeface="微软雅黑"/>
              <a:cs typeface="微软雅黑"/>
            </a:endParaRPr>
          </a:p>
        </p:txBody>
      </p:sp>
      <p:grpSp>
        <p:nvGrpSpPr>
          <p:cNvPr id="4" name="object 4"/>
          <p:cNvGrpSpPr/>
          <p:nvPr/>
        </p:nvGrpSpPr>
        <p:grpSpPr>
          <a:xfrm>
            <a:off x="546100" y="1106424"/>
            <a:ext cx="3121660" cy="3241675"/>
            <a:chOff x="618629" y="1880616"/>
            <a:chExt cx="3121660" cy="3241675"/>
          </a:xfrm>
        </p:grpSpPr>
        <p:sp>
          <p:nvSpPr>
            <p:cNvPr id="5" name="object 5"/>
            <p:cNvSpPr/>
            <p:nvPr/>
          </p:nvSpPr>
          <p:spPr>
            <a:xfrm>
              <a:off x="618629" y="1880616"/>
              <a:ext cx="3121660" cy="3241675"/>
            </a:xfrm>
            <a:custGeom>
              <a:avLst/>
              <a:gdLst/>
              <a:ahLst/>
              <a:cxnLst/>
              <a:rect l="l" t="t" r="r" b="b"/>
              <a:pathLst>
                <a:path w="3121660" h="3241675">
                  <a:moveTo>
                    <a:pt x="3121152" y="3241548"/>
                  </a:moveTo>
                  <a:lnTo>
                    <a:pt x="3121152" y="0"/>
                  </a:lnTo>
                  <a:lnTo>
                    <a:pt x="0" y="0"/>
                  </a:lnTo>
                  <a:lnTo>
                    <a:pt x="0" y="3241548"/>
                  </a:lnTo>
                  <a:lnTo>
                    <a:pt x="3810" y="3241548"/>
                  </a:lnTo>
                  <a:lnTo>
                    <a:pt x="3810" y="8382"/>
                  </a:lnTo>
                  <a:lnTo>
                    <a:pt x="8382" y="3810"/>
                  </a:lnTo>
                  <a:lnTo>
                    <a:pt x="8382" y="8382"/>
                  </a:lnTo>
                  <a:lnTo>
                    <a:pt x="3112769" y="8382"/>
                  </a:lnTo>
                  <a:lnTo>
                    <a:pt x="3112769" y="3810"/>
                  </a:lnTo>
                  <a:lnTo>
                    <a:pt x="3116579" y="8382"/>
                  </a:lnTo>
                  <a:lnTo>
                    <a:pt x="3116579" y="3241548"/>
                  </a:lnTo>
                  <a:lnTo>
                    <a:pt x="3121152" y="3241548"/>
                  </a:lnTo>
                  <a:close/>
                </a:path>
                <a:path w="3121660" h="3241675">
                  <a:moveTo>
                    <a:pt x="8382" y="8382"/>
                  </a:moveTo>
                  <a:lnTo>
                    <a:pt x="8382" y="3810"/>
                  </a:lnTo>
                  <a:lnTo>
                    <a:pt x="3810" y="8382"/>
                  </a:lnTo>
                  <a:lnTo>
                    <a:pt x="8382" y="8382"/>
                  </a:lnTo>
                  <a:close/>
                </a:path>
                <a:path w="3121660" h="3241675">
                  <a:moveTo>
                    <a:pt x="8382" y="3233166"/>
                  </a:moveTo>
                  <a:lnTo>
                    <a:pt x="8382" y="8382"/>
                  </a:lnTo>
                  <a:lnTo>
                    <a:pt x="3810" y="8382"/>
                  </a:lnTo>
                  <a:lnTo>
                    <a:pt x="3810" y="3233166"/>
                  </a:lnTo>
                  <a:lnTo>
                    <a:pt x="8382" y="3233166"/>
                  </a:lnTo>
                  <a:close/>
                </a:path>
                <a:path w="3121660" h="3241675">
                  <a:moveTo>
                    <a:pt x="3116579" y="3233166"/>
                  </a:moveTo>
                  <a:lnTo>
                    <a:pt x="3810" y="3233166"/>
                  </a:lnTo>
                  <a:lnTo>
                    <a:pt x="8382" y="3236976"/>
                  </a:lnTo>
                  <a:lnTo>
                    <a:pt x="8382" y="3241548"/>
                  </a:lnTo>
                  <a:lnTo>
                    <a:pt x="3112769" y="3241548"/>
                  </a:lnTo>
                  <a:lnTo>
                    <a:pt x="3112769" y="3236976"/>
                  </a:lnTo>
                  <a:lnTo>
                    <a:pt x="3116579" y="3233166"/>
                  </a:lnTo>
                  <a:close/>
                </a:path>
                <a:path w="3121660" h="3241675">
                  <a:moveTo>
                    <a:pt x="8382" y="3241548"/>
                  </a:moveTo>
                  <a:lnTo>
                    <a:pt x="8382" y="3236976"/>
                  </a:lnTo>
                  <a:lnTo>
                    <a:pt x="3810" y="3233166"/>
                  </a:lnTo>
                  <a:lnTo>
                    <a:pt x="3810" y="3241548"/>
                  </a:lnTo>
                  <a:lnTo>
                    <a:pt x="8382" y="3241548"/>
                  </a:lnTo>
                  <a:close/>
                </a:path>
                <a:path w="3121660" h="3241675">
                  <a:moveTo>
                    <a:pt x="3116579" y="8382"/>
                  </a:moveTo>
                  <a:lnTo>
                    <a:pt x="3112769" y="3810"/>
                  </a:lnTo>
                  <a:lnTo>
                    <a:pt x="3112769" y="8382"/>
                  </a:lnTo>
                  <a:lnTo>
                    <a:pt x="3116579" y="8382"/>
                  </a:lnTo>
                  <a:close/>
                </a:path>
                <a:path w="3121660" h="3241675">
                  <a:moveTo>
                    <a:pt x="3116579" y="3233166"/>
                  </a:moveTo>
                  <a:lnTo>
                    <a:pt x="3116579" y="8382"/>
                  </a:lnTo>
                  <a:lnTo>
                    <a:pt x="3112769" y="8382"/>
                  </a:lnTo>
                  <a:lnTo>
                    <a:pt x="3112769" y="3233166"/>
                  </a:lnTo>
                  <a:lnTo>
                    <a:pt x="3116579" y="3233166"/>
                  </a:lnTo>
                  <a:close/>
                </a:path>
                <a:path w="3121660" h="3241675">
                  <a:moveTo>
                    <a:pt x="3116579" y="3241548"/>
                  </a:moveTo>
                  <a:lnTo>
                    <a:pt x="3116579" y="3233166"/>
                  </a:lnTo>
                  <a:lnTo>
                    <a:pt x="3112769" y="3236976"/>
                  </a:lnTo>
                  <a:lnTo>
                    <a:pt x="3112769" y="3241548"/>
                  </a:lnTo>
                  <a:lnTo>
                    <a:pt x="3116579" y="3241548"/>
                  </a:lnTo>
                  <a:close/>
                </a:path>
              </a:pathLst>
            </a:custGeom>
            <a:solidFill>
              <a:srgbClr val="000000"/>
            </a:solidFill>
          </p:spPr>
          <p:txBody>
            <a:bodyPr wrap="square" lIns="0" tIns="0" rIns="0" bIns="0" rtlCol="0"/>
            <a:lstStyle/>
            <a:p>
              <a:endParaRPr/>
            </a:p>
          </p:txBody>
        </p:sp>
        <p:pic>
          <p:nvPicPr>
            <p:cNvPr id="6" name="object 6"/>
            <p:cNvPicPr/>
            <p:nvPr/>
          </p:nvPicPr>
          <p:blipFill>
            <a:blip r:embed="rId2" cstate="print"/>
            <a:stretch>
              <a:fillRect/>
            </a:stretch>
          </p:blipFill>
          <p:spPr>
            <a:xfrm>
              <a:off x="694829" y="2039112"/>
              <a:ext cx="213359" cy="200405"/>
            </a:xfrm>
            <a:prstGeom prst="rect">
              <a:avLst/>
            </a:prstGeom>
          </p:spPr>
        </p:pic>
      </p:grpSp>
      <p:sp>
        <p:nvSpPr>
          <p:cNvPr id="7" name="object 7"/>
          <p:cNvSpPr txBox="1"/>
          <p:nvPr/>
        </p:nvSpPr>
        <p:spPr>
          <a:xfrm>
            <a:off x="822192" y="1134871"/>
            <a:ext cx="2467108" cy="390492"/>
          </a:xfrm>
          <a:prstGeom prst="rect">
            <a:avLst/>
          </a:prstGeom>
        </p:spPr>
        <p:txBody>
          <a:bodyPr vert="horz" wrap="square" lIns="0" tIns="13335" rIns="0" bIns="0" rtlCol="0">
            <a:spAutoFit/>
          </a:bodyPr>
          <a:lstStyle/>
          <a:p>
            <a:pPr marL="12700">
              <a:lnSpc>
                <a:spcPct val="100000"/>
              </a:lnSpc>
              <a:spcBef>
                <a:spcPts val="105"/>
              </a:spcBef>
            </a:pPr>
            <a:r>
              <a:rPr sz="2450" b="1" spc="-10" dirty="0">
                <a:solidFill>
                  <a:srgbClr val="3E3E3E"/>
                </a:solidFill>
                <a:latin typeface="Arial"/>
                <a:cs typeface="Arial"/>
              </a:rPr>
              <a:t>4-</a:t>
            </a:r>
            <a:r>
              <a:rPr sz="2450" b="1" dirty="0">
                <a:solidFill>
                  <a:srgbClr val="3E3E3E"/>
                </a:solidFill>
                <a:latin typeface="Arial"/>
                <a:cs typeface="Arial"/>
              </a:rPr>
              <a:t>1</a:t>
            </a:r>
            <a:r>
              <a:rPr sz="2450" b="1" spc="10" dirty="0">
                <a:solidFill>
                  <a:srgbClr val="3E3E3E"/>
                </a:solidFill>
                <a:latin typeface="Arial"/>
                <a:cs typeface="Arial"/>
              </a:rPr>
              <a:t>. </a:t>
            </a:r>
            <a:r>
              <a:rPr lang="zh-CN" altLang="en-US" sz="2450" b="1" spc="-35" dirty="0">
                <a:solidFill>
                  <a:srgbClr val="3E3E3E"/>
                </a:solidFill>
                <a:latin typeface="宋体"/>
                <a:cs typeface="宋体"/>
              </a:rPr>
              <a:t>按位操作符</a:t>
            </a:r>
            <a:endParaRPr sz="2450" dirty="0">
              <a:latin typeface="宋体"/>
              <a:cs typeface="宋体"/>
            </a:endParaRPr>
          </a:p>
        </p:txBody>
      </p:sp>
      <p:sp>
        <p:nvSpPr>
          <p:cNvPr id="8" name="object 8"/>
          <p:cNvSpPr txBox="1"/>
          <p:nvPr/>
        </p:nvSpPr>
        <p:spPr>
          <a:xfrm>
            <a:off x="889744" y="1926883"/>
            <a:ext cx="182245" cy="399415"/>
          </a:xfrm>
          <a:prstGeom prst="rect">
            <a:avLst/>
          </a:prstGeom>
        </p:spPr>
        <p:txBody>
          <a:bodyPr vert="horz" wrap="square" lIns="0" tIns="13335" rIns="0" bIns="0" rtlCol="0">
            <a:spAutoFit/>
          </a:bodyPr>
          <a:lstStyle/>
          <a:p>
            <a:pPr>
              <a:lnSpc>
                <a:spcPct val="100000"/>
              </a:lnSpc>
              <a:spcBef>
                <a:spcPts val="105"/>
              </a:spcBef>
            </a:pPr>
            <a:r>
              <a:rPr sz="2450" b="1" spc="-50" dirty="0">
                <a:solidFill>
                  <a:srgbClr val="3E3E3E"/>
                </a:solidFill>
                <a:latin typeface="Arial"/>
                <a:cs typeface="Arial"/>
              </a:rPr>
              <a:t>~</a:t>
            </a:r>
            <a:endParaRPr sz="2450" dirty="0">
              <a:latin typeface="Arial"/>
              <a:cs typeface="Arial"/>
            </a:endParaRPr>
          </a:p>
        </p:txBody>
      </p:sp>
      <p:sp>
        <p:nvSpPr>
          <p:cNvPr id="9" name="object 9"/>
          <p:cNvSpPr txBox="1"/>
          <p:nvPr/>
        </p:nvSpPr>
        <p:spPr>
          <a:xfrm>
            <a:off x="831090" y="2300873"/>
            <a:ext cx="225425" cy="1527810"/>
          </a:xfrm>
          <a:prstGeom prst="rect">
            <a:avLst/>
          </a:prstGeom>
        </p:spPr>
        <p:txBody>
          <a:bodyPr vert="horz" wrap="square" lIns="0" tIns="139700" rIns="0" bIns="0" rtlCol="0">
            <a:spAutoFit/>
          </a:bodyPr>
          <a:lstStyle/>
          <a:p>
            <a:pPr>
              <a:lnSpc>
                <a:spcPct val="100000"/>
              </a:lnSpc>
              <a:spcBef>
                <a:spcPts val="1100"/>
              </a:spcBef>
            </a:pPr>
            <a:r>
              <a:rPr sz="2450" b="1" spc="-50" dirty="0">
                <a:solidFill>
                  <a:srgbClr val="3E3E3E"/>
                </a:solidFill>
                <a:latin typeface="Arial"/>
                <a:cs typeface="Arial"/>
              </a:rPr>
              <a:t>&amp;</a:t>
            </a:r>
            <a:endParaRPr sz="2450">
              <a:latin typeface="Arial"/>
              <a:cs typeface="Arial"/>
            </a:endParaRPr>
          </a:p>
          <a:p>
            <a:pPr>
              <a:lnSpc>
                <a:spcPct val="100000"/>
              </a:lnSpc>
              <a:spcBef>
                <a:spcPts val="1000"/>
              </a:spcBef>
            </a:pPr>
            <a:r>
              <a:rPr sz="2450" b="1" spc="-50" dirty="0">
                <a:solidFill>
                  <a:srgbClr val="3E3E3E"/>
                </a:solidFill>
                <a:latin typeface="Arial"/>
                <a:cs typeface="Arial"/>
              </a:rPr>
              <a:t>|</a:t>
            </a:r>
            <a:endParaRPr sz="2450">
              <a:latin typeface="Arial"/>
              <a:cs typeface="Arial"/>
            </a:endParaRPr>
          </a:p>
          <a:p>
            <a:pPr>
              <a:lnSpc>
                <a:spcPct val="100000"/>
              </a:lnSpc>
              <a:spcBef>
                <a:spcPts val="1005"/>
              </a:spcBef>
            </a:pPr>
            <a:r>
              <a:rPr sz="2450" b="1" spc="-50" dirty="0">
                <a:solidFill>
                  <a:srgbClr val="3E3E3E"/>
                </a:solidFill>
                <a:latin typeface="Arial"/>
                <a:cs typeface="Arial"/>
              </a:rPr>
              <a:t>^</a:t>
            </a:r>
            <a:endParaRPr sz="2450">
              <a:latin typeface="Arial"/>
              <a:cs typeface="Arial"/>
            </a:endParaRPr>
          </a:p>
        </p:txBody>
      </p:sp>
      <p:sp>
        <p:nvSpPr>
          <p:cNvPr id="10" name="object 10"/>
          <p:cNvSpPr txBox="1"/>
          <p:nvPr/>
        </p:nvSpPr>
        <p:spPr>
          <a:xfrm>
            <a:off x="2221225" y="1800225"/>
            <a:ext cx="1275080" cy="2028189"/>
          </a:xfrm>
          <a:prstGeom prst="rect">
            <a:avLst/>
          </a:prstGeom>
        </p:spPr>
        <p:txBody>
          <a:bodyPr vert="horz" wrap="square" lIns="0" tIns="12065" rIns="0" bIns="0" rtlCol="0">
            <a:spAutoFit/>
          </a:bodyPr>
          <a:lstStyle/>
          <a:p>
            <a:pPr marL="12700" marR="5080">
              <a:lnSpc>
                <a:spcPct val="134100"/>
              </a:lnSpc>
              <a:spcBef>
                <a:spcPts val="95"/>
              </a:spcBef>
            </a:pPr>
            <a:r>
              <a:rPr sz="2450" b="1" spc="-35" dirty="0" err="1">
                <a:solidFill>
                  <a:srgbClr val="3E3E3E"/>
                </a:solidFill>
                <a:latin typeface="宋体"/>
                <a:cs typeface="宋体"/>
              </a:rPr>
              <a:t>按位取反</a:t>
            </a:r>
            <a:endParaRPr lang="en-US" sz="2450" b="1" spc="-35" dirty="0">
              <a:solidFill>
                <a:srgbClr val="3E3E3E"/>
              </a:solidFill>
              <a:latin typeface="宋体"/>
              <a:cs typeface="宋体"/>
            </a:endParaRPr>
          </a:p>
          <a:p>
            <a:pPr marL="12700" marR="5080">
              <a:lnSpc>
                <a:spcPct val="134100"/>
              </a:lnSpc>
              <a:spcBef>
                <a:spcPts val="95"/>
              </a:spcBef>
            </a:pPr>
            <a:r>
              <a:rPr sz="2450" b="1" spc="-35" dirty="0" err="1">
                <a:solidFill>
                  <a:srgbClr val="3E3E3E"/>
                </a:solidFill>
                <a:latin typeface="宋体"/>
                <a:cs typeface="宋体"/>
              </a:rPr>
              <a:t>按位与</a:t>
            </a:r>
            <a:endParaRPr lang="en-US" sz="2450" b="1" spc="-35" dirty="0">
              <a:solidFill>
                <a:srgbClr val="3E3E3E"/>
              </a:solidFill>
              <a:latin typeface="宋体"/>
              <a:cs typeface="宋体"/>
            </a:endParaRPr>
          </a:p>
          <a:p>
            <a:pPr marL="12700" marR="5080">
              <a:lnSpc>
                <a:spcPct val="134100"/>
              </a:lnSpc>
              <a:spcBef>
                <a:spcPts val="95"/>
              </a:spcBef>
            </a:pPr>
            <a:r>
              <a:rPr sz="2450" b="1" spc="-35" dirty="0" err="1">
                <a:solidFill>
                  <a:srgbClr val="3E3E3E"/>
                </a:solidFill>
                <a:latin typeface="宋体"/>
                <a:cs typeface="宋体"/>
              </a:rPr>
              <a:t>按位或</a:t>
            </a:r>
            <a:endParaRPr lang="en-US" sz="2450" b="1" spc="-35" dirty="0">
              <a:solidFill>
                <a:srgbClr val="3E3E3E"/>
              </a:solidFill>
              <a:latin typeface="宋体"/>
              <a:cs typeface="宋体"/>
            </a:endParaRPr>
          </a:p>
          <a:p>
            <a:pPr marL="12700" marR="5080">
              <a:lnSpc>
                <a:spcPct val="134100"/>
              </a:lnSpc>
              <a:spcBef>
                <a:spcPts val="95"/>
              </a:spcBef>
            </a:pPr>
            <a:r>
              <a:rPr sz="2450" b="1" spc="-35" dirty="0" err="1">
                <a:solidFill>
                  <a:srgbClr val="3E3E3E"/>
                </a:solidFill>
                <a:latin typeface="宋体"/>
                <a:cs typeface="宋体"/>
              </a:rPr>
              <a:t>按位异或</a:t>
            </a:r>
            <a:endParaRPr sz="2450" dirty="0">
              <a:latin typeface="宋体"/>
              <a:cs typeface="宋体"/>
            </a:endParaRPr>
          </a:p>
        </p:txBody>
      </p:sp>
      <p:sp>
        <p:nvSpPr>
          <p:cNvPr id="11" name="object 11"/>
          <p:cNvSpPr txBox="1"/>
          <p:nvPr/>
        </p:nvSpPr>
        <p:spPr>
          <a:xfrm>
            <a:off x="604399" y="6565644"/>
            <a:ext cx="124460" cy="132715"/>
          </a:xfrm>
          <a:prstGeom prst="rect">
            <a:avLst/>
          </a:prstGeom>
        </p:spPr>
        <p:txBody>
          <a:bodyPr vert="horz" wrap="square" lIns="0" tIns="12700" rIns="0" bIns="0" rtlCol="0">
            <a:spAutoFit/>
          </a:bodyPr>
          <a:lstStyle/>
          <a:p>
            <a:pPr marL="12700">
              <a:lnSpc>
                <a:spcPct val="100000"/>
              </a:lnSpc>
              <a:spcBef>
                <a:spcPts val="100"/>
              </a:spcBef>
            </a:pPr>
            <a:r>
              <a:rPr sz="700" spc="-25" dirty="0">
                <a:latin typeface="Arial"/>
                <a:cs typeface="Arial"/>
              </a:rPr>
              <a:t>20</a:t>
            </a:r>
            <a:endParaRPr sz="700">
              <a:latin typeface="Arial"/>
              <a:cs typeface="Arial"/>
            </a:endParaRPr>
          </a:p>
        </p:txBody>
      </p:sp>
      <p:sp>
        <p:nvSpPr>
          <p:cNvPr id="12" name="object 12"/>
          <p:cNvSpPr/>
          <p:nvPr/>
        </p:nvSpPr>
        <p:spPr>
          <a:xfrm>
            <a:off x="4119257" y="1106424"/>
            <a:ext cx="5354320" cy="2456180"/>
          </a:xfrm>
          <a:custGeom>
            <a:avLst/>
            <a:gdLst/>
            <a:ahLst/>
            <a:cxnLst/>
            <a:rect l="l" t="t" r="r" b="b"/>
            <a:pathLst>
              <a:path w="5354320" h="2456179">
                <a:moveTo>
                  <a:pt x="5353812" y="2453640"/>
                </a:moveTo>
                <a:lnTo>
                  <a:pt x="5353812" y="2285"/>
                </a:lnTo>
                <a:lnTo>
                  <a:pt x="5352288" y="0"/>
                </a:lnTo>
                <a:lnTo>
                  <a:pt x="1523" y="0"/>
                </a:lnTo>
                <a:lnTo>
                  <a:pt x="0" y="2286"/>
                </a:lnTo>
                <a:lnTo>
                  <a:pt x="0" y="2453640"/>
                </a:lnTo>
                <a:lnTo>
                  <a:pt x="1524" y="2455926"/>
                </a:lnTo>
                <a:lnTo>
                  <a:pt x="3810" y="2455926"/>
                </a:lnTo>
                <a:lnTo>
                  <a:pt x="3810" y="8382"/>
                </a:lnTo>
                <a:lnTo>
                  <a:pt x="8382" y="4572"/>
                </a:lnTo>
                <a:lnTo>
                  <a:pt x="8382" y="8382"/>
                </a:lnTo>
                <a:lnTo>
                  <a:pt x="5345430" y="8381"/>
                </a:lnTo>
                <a:lnTo>
                  <a:pt x="5345430" y="4571"/>
                </a:lnTo>
                <a:lnTo>
                  <a:pt x="5350002" y="8381"/>
                </a:lnTo>
                <a:lnTo>
                  <a:pt x="5350002" y="2455926"/>
                </a:lnTo>
                <a:lnTo>
                  <a:pt x="5352288" y="2455926"/>
                </a:lnTo>
                <a:lnTo>
                  <a:pt x="5353812" y="2453640"/>
                </a:lnTo>
                <a:close/>
              </a:path>
              <a:path w="5354320" h="2456179">
                <a:moveTo>
                  <a:pt x="8382" y="8382"/>
                </a:moveTo>
                <a:lnTo>
                  <a:pt x="8382" y="4572"/>
                </a:lnTo>
                <a:lnTo>
                  <a:pt x="3810" y="8382"/>
                </a:lnTo>
                <a:lnTo>
                  <a:pt x="8382" y="8382"/>
                </a:lnTo>
                <a:close/>
              </a:path>
              <a:path w="5354320" h="2456179">
                <a:moveTo>
                  <a:pt x="8382" y="2447544"/>
                </a:moveTo>
                <a:lnTo>
                  <a:pt x="8382" y="8382"/>
                </a:lnTo>
                <a:lnTo>
                  <a:pt x="3810" y="8382"/>
                </a:lnTo>
                <a:lnTo>
                  <a:pt x="3810" y="2447544"/>
                </a:lnTo>
                <a:lnTo>
                  <a:pt x="8382" y="2447544"/>
                </a:lnTo>
                <a:close/>
              </a:path>
              <a:path w="5354320" h="2456179">
                <a:moveTo>
                  <a:pt x="5350002" y="2447544"/>
                </a:moveTo>
                <a:lnTo>
                  <a:pt x="3810" y="2447544"/>
                </a:lnTo>
                <a:lnTo>
                  <a:pt x="8382" y="2451354"/>
                </a:lnTo>
                <a:lnTo>
                  <a:pt x="8382" y="2455926"/>
                </a:lnTo>
                <a:lnTo>
                  <a:pt x="5345430" y="2455926"/>
                </a:lnTo>
                <a:lnTo>
                  <a:pt x="5345430" y="2451354"/>
                </a:lnTo>
                <a:lnTo>
                  <a:pt x="5350002" y="2447544"/>
                </a:lnTo>
                <a:close/>
              </a:path>
              <a:path w="5354320" h="2456179">
                <a:moveTo>
                  <a:pt x="8382" y="2455926"/>
                </a:moveTo>
                <a:lnTo>
                  <a:pt x="8382" y="2451354"/>
                </a:lnTo>
                <a:lnTo>
                  <a:pt x="3810" y="2447544"/>
                </a:lnTo>
                <a:lnTo>
                  <a:pt x="3810" y="2455926"/>
                </a:lnTo>
                <a:lnTo>
                  <a:pt x="8382" y="2455926"/>
                </a:lnTo>
                <a:close/>
              </a:path>
              <a:path w="5354320" h="2456179">
                <a:moveTo>
                  <a:pt x="5350002" y="8381"/>
                </a:moveTo>
                <a:lnTo>
                  <a:pt x="5345430" y="4571"/>
                </a:lnTo>
                <a:lnTo>
                  <a:pt x="5345430" y="8381"/>
                </a:lnTo>
                <a:lnTo>
                  <a:pt x="5350002" y="8381"/>
                </a:lnTo>
                <a:close/>
              </a:path>
              <a:path w="5354320" h="2456179">
                <a:moveTo>
                  <a:pt x="5350002" y="2447544"/>
                </a:moveTo>
                <a:lnTo>
                  <a:pt x="5350002" y="8381"/>
                </a:lnTo>
                <a:lnTo>
                  <a:pt x="5345430" y="8381"/>
                </a:lnTo>
                <a:lnTo>
                  <a:pt x="5345430" y="2447544"/>
                </a:lnTo>
                <a:lnTo>
                  <a:pt x="5350002" y="2447544"/>
                </a:lnTo>
                <a:close/>
              </a:path>
              <a:path w="5354320" h="2456179">
                <a:moveTo>
                  <a:pt x="5350002" y="2455926"/>
                </a:moveTo>
                <a:lnTo>
                  <a:pt x="5350002" y="2447544"/>
                </a:lnTo>
                <a:lnTo>
                  <a:pt x="5345430" y="2451354"/>
                </a:lnTo>
                <a:lnTo>
                  <a:pt x="5345430" y="2455926"/>
                </a:lnTo>
                <a:lnTo>
                  <a:pt x="5350002" y="2455926"/>
                </a:lnTo>
                <a:close/>
              </a:path>
            </a:pathLst>
          </a:custGeom>
          <a:solidFill>
            <a:srgbClr val="BF0000"/>
          </a:solidFill>
        </p:spPr>
        <p:txBody>
          <a:bodyPr wrap="square" lIns="0" tIns="0" rIns="0" bIns="0" rtlCol="0"/>
          <a:lstStyle/>
          <a:p>
            <a:endParaRPr/>
          </a:p>
        </p:txBody>
      </p:sp>
      <p:sp>
        <p:nvSpPr>
          <p:cNvPr id="13" name="object 13"/>
          <p:cNvSpPr txBox="1"/>
          <p:nvPr/>
        </p:nvSpPr>
        <p:spPr>
          <a:xfrm>
            <a:off x="4191133" y="1070246"/>
            <a:ext cx="5105400" cy="2431415"/>
          </a:xfrm>
          <a:prstGeom prst="rect">
            <a:avLst/>
          </a:prstGeom>
        </p:spPr>
        <p:txBody>
          <a:bodyPr vert="horz" wrap="square" lIns="0" tIns="173990" rIns="0" bIns="0" rtlCol="0">
            <a:spAutoFit/>
          </a:bodyPr>
          <a:lstStyle/>
          <a:p>
            <a:pPr marL="12700">
              <a:lnSpc>
                <a:spcPct val="100000"/>
              </a:lnSpc>
              <a:spcBef>
                <a:spcPts val="1370"/>
              </a:spcBef>
            </a:pPr>
            <a:r>
              <a:rPr sz="2100" spc="-10" dirty="0">
                <a:latin typeface="宋体"/>
                <a:cs typeface="宋体"/>
              </a:rPr>
              <a:t>有４种基本位运算：＆（与），｜（或</a:t>
            </a:r>
            <a:r>
              <a:rPr sz="2100" spc="-25" dirty="0">
                <a:latin typeface="宋体"/>
                <a:cs typeface="宋体"/>
              </a:rPr>
              <a:t>），</a:t>
            </a:r>
            <a:endParaRPr sz="2100">
              <a:latin typeface="宋体"/>
              <a:cs typeface="宋体"/>
            </a:endParaRPr>
          </a:p>
          <a:p>
            <a:pPr marL="12700" marR="5080">
              <a:lnSpc>
                <a:spcPct val="150200"/>
              </a:lnSpc>
              <a:spcBef>
                <a:spcPts val="5"/>
              </a:spcBef>
            </a:pPr>
            <a:r>
              <a:rPr sz="2100" spc="-10" dirty="0">
                <a:latin typeface="宋体"/>
                <a:cs typeface="宋体"/>
              </a:rPr>
              <a:t>＾（异或）和～（取反），</a:t>
            </a:r>
            <a:r>
              <a:rPr sz="2100" spc="-20" dirty="0">
                <a:latin typeface="宋体"/>
                <a:cs typeface="宋体"/>
              </a:rPr>
              <a:t>前三个需要两个</a:t>
            </a:r>
            <a:r>
              <a:rPr sz="2100" spc="-10" dirty="0">
                <a:latin typeface="宋体"/>
                <a:cs typeface="宋体"/>
              </a:rPr>
              <a:t>操作数，取反和异或可以结合，如：～＾</a:t>
            </a:r>
            <a:r>
              <a:rPr sz="2100" spc="-50" dirty="0">
                <a:latin typeface="宋体"/>
                <a:cs typeface="宋体"/>
              </a:rPr>
              <a:t>或</a:t>
            </a:r>
            <a:endParaRPr sz="2100">
              <a:latin typeface="宋体"/>
              <a:cs typeface="宋体"/>
            </a:endParaRPr>
          </a:p>
          <a:p>
            <a:pPr marL="12700" marR="5080">
              <a:lnSpc>
                <a:spcPct val="150200"/>
              </a:lnSpc>
            </a:pPr>
            <a:r>
              <a:rPr sz="2100" spc="-10" dirty="0">
                <a:latin typeface="宋体"/>
                <a:cs typeface="宋体"/>
              </a:rPr>
              <a:t>＾～，</a:t>
            </a:r>
            <a:r>
              <a:rPr sz="2100" spc="-15" dirty="0">
                <a:latin typeface="宋体"/>
                <a:cs typeface="宋体"/>
              </a:rPr>
              <a:t>构成同或运算。这些操作按位执行，</a:t>
            </a:r>
            <a:r>
              <a:rPr sz="2100" spc="-10" dirty="0">
                <a:latin typeface="宋体"/>
                <a:cs typeface="宋体"/>
              </a:rPr>
              <a:t>因此被称为位运算。</a:t>
            </a:r>
            <a:endParaRPr sz="2100">
              <a:latin typeface="宋体"/>
              <a:cs typeface="宋体"/>
            </a:endParaRPr>
          </a:p>
        </p:txBody>
      </p:sp>
      <p:sp>
        <p:nvSpPr>
          <p:cNvPr id="14" name="object 14"/>
          <p:cNvSpPr/>
          <p:nvPr/>
        </p:nvSpPr>
        <p:spPr>
          <a:xfrm>
            <a:off x="4119257" y="3754161"/>
            <a:ext cx="3543300" cy="2967355"/>
          </a:xfrm>
          <a:custGeom>
            <a:avLst/>
            <a:gdLst/>
            <a:ahLst/>
            <a:cxnLst/>
            <a:rect l="l" t="t" r="r" b="b"/>
            <a:pathLst>
              <a:path w="3543300" h="2967354">
                <a:moveTo>
                  <a:pt x="3543300" y="2964941"/>
                </a:moveTo>
                <a:lnTo>
                  <a:pt x="3543300" y="2285"/>
                </a:lnTo>
                <a:lnTo>
                  <a:pt x="3541776" y="0"/>
                </a:lnTo>
                <a:lnTo>
                  <a:pt x="2285" y="0"/>
                </a:lnTo>
                <a:lnTo>
                  <a:pt x="0" y="2286"/>
                </a:lnTo>
                <a:lnTo>
                  <a:pt x="0" y="2964942"/>
                </a:lnTo>
                <a:lnTo>
                  <a:pt x="2286" y="2967228"/>
                </a:lnTo>
                <a:lnTo>
                  <a:pt x="4572" y="2967228"/>
                </a:lnTo>
                <a:lnTo>
                  <a:pt x="4572" y="8382"/>
                </a:lnTo>
                <a:lnTo>
                  <a:pt x="8381" y="4572"/>
                </a:lnTo>
                <a:lnTo>
                  <a:pt x="8382" y="8382"/>
                </a:lnTo>
                <a:lnTo>
                  <a:pt x="3534917" y="8381"/>
                </a:lnTo>
                <a:lnTo>
                  <a:pt x="3534917" y="4571"/>
                </a:lnTo>
                <a:lnTo>
                  <a:pt x="3539490" y="8381"/>
                </a:lnTo>
                <a:lnTo>
                  <a:pt x="3539490" y="2967228"/>
                </a:lnTo>
                <a:lnTo>
                  <a:pt x="3541776" y="2967228"/>
                </a:lnTo>
                <a:lnTo>
                  <a:pt x="3543300" y="2964941"/>
                </a:lnTo>
                <a:close/>
              </a:path>
              <a:path w="3543300" h="2967354">
                <a:moveTo>
                  <a:pt x="8381" y="8382"/>
                </a:moveTo>
                <a:lnTo>
                  <a:pt x="8381" y="4572"/>
                </a:lnTo>
                <a:lnTo>
                  <a:pt x="4572" y="8382"/>
                </a:lnTo>
                <a:lnTo>
                  <a:pt x="8381" y="8382"/>
                </a:lnTo>
                <a:close/>
              </a:path>
              <a:path w="3543300" h="2967354">
                <a:moveTo>
                  <a:pt x="8382" y="2958846"/>
                </a:moveTo>
                <a:lnTo>
                  <a:pt x="8381" y="8382"/>
                </a:lnTo>
                <a:lnTo>
                  <a:pt x="4572" y="8382"/>
                </a:lnTo>
                <a:lnTo>
                  <a:pt x="4572" y="2958846"/>
                </a:lnTo>
                <a:lnTo>
                  <a:pt x="8382" y="2958846"/>
                </a:lnTo>
                <a:close/>
              </a:path>
              <a:path w="3543300" h="2967354">
                <a:moveTo>
                  <a:pt x="3539490" y="2958846"/>
                </a:moveTo>
                <a:lnTo>
                  <a:pt x="4572" y="2958846"/>
                </a:lnTo>
                <a:lnTo>
                  <a:pt x="8382" y="2962656"/>
                </a:lnTo>
                <a:lnTo>
                  <a:pt x="8382" y="2967228"/>
                </a:lnTo>
                <a:lnTo>
                  <a:pt x="3534917" y="2967228"/>
                </a:lnTo>
                <a:lnTo>
                  <a:pt x="3534917" y="2962655"/>
                </a:lnTo>
                <a:lnTo>
                  <a:pt x="3539490" y="2958846"/>
                </a:lnTo>
                <a:close/>
              </a:path>
              <a:path w="3543300" h="2967354">
                <a:moveTo>
                  <a:pt x="8382" y="2967228"/>
                </a:moveTo>
                <a:lnTo>
                  <a:pt x="8382" y="2962656"/>
                </a:lnTo>
                <a:lnTo>
                  <a:pt x="4572" y="2958846"/>
                </a:lnTo>
                <a:lnTo>
                  <a:pt x="4572" y="2967228"/>
                </a:lnTo>
                <a:lnTo>
                  <a:pt x="8382" y="2967228"/>
                </a:lnTo>
                <a:close/>
              </a:path>
              <a:path w="3543300" h="2967354">
                <a:moveTo>
                  <a:pt x="3539490" y="8381"/>
                </a:moveTo>
                <a:lnTo>
                  <a:pt x="3534917" y="4571"/>
                </a:lnTo>
                <a:lnTo>
                  <a:pt x="3534917" y="8381"/>
                </a:lnTo>
                <a:lnTo>
                  <a:pt x="3539490" y="8381"/>
                </a:lnTo>
                <a:close/>
              </a:path>
              <a:path w="3543300" h="2967354">
                <a:moveTo>
                  <a:pt x="3539490" y="2958846"/>
                </a:moveTo>
                <a:lnTo>
                  <a:pt x="3539490" y="8381"/>
                </a:lnTo>
                <a:lnTo>
                  <a:pt x="3534917" y="8381"/>
                </a:lnTo>
                <a:lnTo>
                  <a:pt x="3534917" y="2958846"/>
                </a:lnTo>
                <a:lnTo>
                  <a:pt x="3539490" y="2958846"/>
                </a:lnTo>
                <a:close/>
              </a:path>
              <a:path w="3543300" h="2967354">
                <a:moveTo>
                  <a:pt x="3539490" y="2967228"/>
                </a:moveTo>
                <a:lnTo>
                  <a:pt x="3539490" y="2958846"/>
                </a:lnTo>
                <a:lnTo>
                  <a:pt x="3534917" y="2962655"/>
                </a:lnTo>
                <a:lnTo>
                  <a:pt x="3534917" y="2967228"/>
                </a:lnTo>
                <a:lnTo>
                  <a:pt x="3539490" y="2967228"/>
                </a:lnTo>
                <a:close/>
              </a:path>
            </a:pathLst>
          </a:custGeom>
          <a:solidFill>
            <a:srgbClr val="BF0000"/>
          </a:solidFill>
        </p:spPr>
        <p:txBody>
          <a:bodyPr wrap="square" lIns="0" tIns="0" rIns="0" bIns="0" rtlCol="0"/>
          <a:lstStyle/>
          <a:p>
            <a:endParaRPr/>
          </a:p>
        </p:txBody>
      </p:sp>
      <p:sp>
        <p:nvSpPr>
          <p:cNvPr id="15" name="object 15"/>
          <p:cNvSpPr txBox="1"/>
          <p:nvPr/>
        </p:nvSpPr>
        <p:spPr>
          <a:xfrm>
            <a:off x="4425067" y="3736580"/>
            <a:ext cx="1767205" cy="1468120"/>
          </a:xfrm>
          <a:prstGeom prst="rect">
            <a:avLst/>
          </a:prstGeom>
        </p:spPr>
        <p:txBody>
          <a:bodyPr vert="horz" wrap="square" lIns="0" tIns="135890" rIns="0" bIns="0" rtlCol="0">
            <a:spAutoFit/>
          </a:bodyPr>
          <a:lstStyle/>
          <a:p>
            <a:pPr marL="13335">
              <a:lnSpc>
                <a:spcPct val="100000"/>
              </a:lnSpc>
              <a:spcBef>
                <a:spcPts val="1070"/>
              </a:spcBef>
            </a:pPr>
            <a:r>
              <a:rPr sz="1550" b="1" dirty="0">
                <a:latin typeface="Calibri"/>
                <a:cs typeface="Calibri"/>
              </a:rPr>
              <a:t>wire</a:t>
            </a:r>
            <a:r>
              <a:rPr sz="1550" b="1" spc="15" dirty="0">
                <a:latin typeface="Calibri"/>
                <a:cs typeface="Calibri"/>
              </a:rPr>
              <a:t> </a:t>
            </a:r>
            <a:r>
              <a:rPr sz="1550" dirty="0">
                <a:latin typeface="宋体"/>
                <a:cs typeface="宋体"/>
              </a:rPr>
              <a:t>［</a:t>
            </a:r>
            <a:r>
              <a:rPr sz="1550" dirty="0">
                <a:latin typeface="Calibri"/>
                <a:cs typeface="Calibri"/>
              </a:rPr>
              <a:t>3:0</a:t>
            </a:r>
            <a:r>
              <a:rPr sz="1550" dirty="0">
                <a:latin typeface="宋体"/>
                <a:cs typeface="宋体"/>
              </a:rPr>
              <a:t>］</a:t>
            </a:r>
            <a:r>
              <a:rPr sz="1550" dirty="0">
                <a:latin typeface="Calibri"/>
                <a:cs typeface="Calibri"/>
              </a:rPr>
              <a:t>a</a:t>
            </a:r>
            <a:r>
              <a:rPr sz="1550" spc="25" dirty="0">
                <a:latin typeface="Calibri"/>
                <a:cs typeface="Calibri"/>
              </a:rPr>
              <a:t> </a:t>
            </a:r>
            <a:r>
              <a:rPr sz="1550" dirty="0">
                <a:latin typeface="Calibri"/>
                <a:cs typeface="Calibri"/>
              </a:rPr>
              <a:t>,</a:t>
            </a:r>
            <a:r>
              <a:rPr sz="1550" spc="35" dirty="0">
                <a:latin typeface="Calibri"/>
                <a:cs typeface="Calibri"/>
              </a:rPr>
              <a:t> </a:t>
            </a:r>
            <a:r>
              <a:rPr sz="1550" dirty="0">
                <a:latin typeface="Calibri"/>
                <a:cs typeface="Calibri"/>
              </a:rPr>
              <a:t>b</a:t>
            </a:r>
            <a:r>
              <a:rPr sz="1550" spc="35" dirty="0">
                <a:latin typeface="Calibri"/>
                <a:cs typeface="Calibri"/>
              </a:rPr>
              <a:t> </a:t>
            </a:r>
            <a:r>
              <a:rPr sz="1550" dirty="0">
                <a:latin typeface="Calibri"/>
                <a:cs typeface="Calibri"/>
              </a:rPr>
              <a:t>,</a:t>
            </a:r>
            <a:r>
              <a:rPr sz="1550" spc="35" dirty="0">
                <a:latin typeface="Calibri"/>
                <a:cs typeface="Calibri"/>
              </a:rPr>
              <a:t> </a:t>
            </a:r>
            <a:r>
              <a:rPr sz="1550" dirty="0">
                <a:latin typeface="Calibri"/>
                <a:cs typeface="Calibri"/>
              </a:rPr>
              <a:t>c</a:t>
            </a:r>
            <a:r>
              <a:rPr sz="1550" spc="30" dirty="0">
                <a:latin typeface="Calibri"/>
                <a:cs typeface="Calibri"/>
              </a:rPr>
              <a:t> </a:t>
            </a:r>
            <a:r>
              <a:rPr sz="1550" spc="-50" dirty="0">
                <a:latin typeface="Calibri"/>
                <a:cs typeface="Calibri"/>
              </a:rPr>
              <a:t>;</a:t>
            </a:r>
            <a:endParaRPr sz="1550">
              <a:latin typeface="Calibri"/>
              <a:cs typeface="Calibri"/>
            </a:endParaRPr>
          </a:p>
          <a:p>
            <a:pPr marL="12700">
              <a:lnSpc>
                <a:spcPct val="100000"/>
              </a:lnSpc>
              <a:spcBef>
                <a:spcPts val="980"/>
              </a:spcBef>
            </a:pPr>
            <a:r>
              <a:rPr sz="1550" spc="-25" dirty="0">
                <a:latin typeface="宋体"/>
                <a:cs typeface="宋体"/>
              </a:rPr>
              <a:t>语句</a:t>
            </a:r>
            <a:endParaRPr sz="1550">
              <a:latin typeface="宋体"/>
              <a:cs typeface="宋体"/>
            </a:endParaRPr>
          </a:p>
          <a:p>
            <a:pPr marL="13335">
              <a:lnSpc>
                <a:spcPct val="100000"/>
              </a:lnSpc>
              <a:spcBef>
                <a:spcPts val="985"/>
              </a:spcBef>
            </a:pPr>
            <a:r>
              <a:rPr sz="1550" b="1" dirty="0">
                <a:latin typeface="Calibri"/>
                <a:cs typeface="Calibri"/>
              </a:rPr>
              <a:t>assign</a:t>
            </a:r>
            <a:r>
              <a:rPr sz="1550" b="1" spc="15" dirty="0">
                <a:latin typeface="Calibri"/>
                <a:cs typeface="Calibri"/>
              </a:rPr>
              <a:t> </a:t>
            </a:r>
            <a:r>
              <a:rPr sz="1550" dirty="0">
                <a:latin typeface="Calibri"/>
                <a:cs typeface="Calibri"/>
              </a:rPr>
              <a:t>c</a:t>
            </a:r>
            <a:r>
              <a:rPr sz="1550" spc="35" dirty="0">
                <a:latin typeface="Calibri"/>
                <a:cs typeface="Calibri"/>
              </a:rPr>
              <a:t> </a:t>
            </a:r>
            <a:r>
              <a:rPr sz="1550" dirty="0">
                <a:latin typeface="Arial"/>
                <a:cs typeface="Arial"/>
              </a:rPr>
              <a:t>=</a:t>
            </a:r>
            <a:r>
              <a:rPr sz="1550" spc="35" dirty="0">
                <a:latin typeface="Arial"/>
                <a:cs typeface="Arial"/>
              </a:rPr>
              <a:t> </a:t>
            </a:r>
            <a:r>
              <a:rPr sz="1550" dirty="0">
                <a:latin typeface="Calibri"/>
                <a:cs typeface="Calibri"/>
              </a:rPr>
              <a:t>a</a:t>
            </a:r>
            <a:r>
              <a:rPr sz="1550" spc="35" dirty="0">
                <a:latin typeface="Calibri"/>
                <a:cs typeface="Calibri"/>
              </a:rPr>
              <a:t> </a:t>
            </a:r>
            <a:r>
              <a:rPr sz="1550" dirty="0">
                <a:latin typeface="宋体"/>
                <a:cs typeface="宋体"/>
              </a:rPr>
              <a:t>｜</a:t>
            </a:r>
            <a:r>
              <a:rPr sz="1550" spc="-385" dirty="0">
                <a:latin typeface="宋体"/>
                <a:cs typeface="宋体"/>
              </a:rPr>
              <a:t> </a:t>
            </a:r>
            <a:r>
              <a:rPr sz="1550" dirty="0">
                <a:latin typeface="Calibri"/>
                <a:cs typeface="Calibri"/>
              </a:rPr>
              <a:t>b</a:t>
            </a:r>
            <a:r>
              <a:rPr sz="1550" spc="30" dirty="0">
                <a:latin typeface="Calibri"/>
                <a:cs typeface="Calibri"/>
              </a:rPr>
              <a:t> </a:t>
            </a:r>
            <a:r>
              <a:rPr sz="1550" spc="-50" dirty="0">
                <a:latin typeface="Calibri"/>
                <a:cs typeface="Calibri"/>
              </a:rPr>
              <a:t>; </a:t>
            </a:r>
            <a:endParaRPr sz="1550">
              <a:latin typeface="Calibri"/>
              <a:cs typeface="Calibri"/>
            </a:endParaRPr>
          </a:p>
          <a:p>
            <a:pPr marL="12700">
              <a:lnSpc>
                <a:spcPct val="100000"/>
              </a:lnSpc>
              <a:spcBef>
                <a:spcPts val="975"/>
              </a:spcBef>
            </a:pPr>
            <a:r>
              <a:rPr sz="1550" spc="-10" dirty="0">
                <a:latin typeface="宋体"/>
                <a:cs typeface="宋体"/>
              </a:rPr>
              <a:t>和以下语句相同：</a:t>
            </a:r>
            <a:endParaRPr sz="1550">
              <a:latin typeface="宋体"/>
              <a:cs typeface="宋体"/>
            </a:endParaRPr>
          </a:p>
        </p:txBody>
      </p:sp>
      <p:sp>
        <p:nvSpPr>
          <p:cNvPr id="16" name="object 16"/>
          <p:cNvSpPr txBox="1"/>
          <p:nvPr/>
        </p:nvSpPr>
        <p:spPr>
          <a:xfrm>
            <a:off x="4425829" y="5179824"/>
            <a:ext cx="1969135" cy="1468120"/>
          </a:xfrm>
          <a:prstGeom prst="rect">
            <a:avLst/>
          </a:prstGeom>
        </p:spPr>
        <p:txBody>
          <a:bodyPr vert="horz" wrap="square" lIns="0" tIns="135890" rIns="0" bIns="0" rtlCol="0">
            <a:spAutoFit/>
          </a:bodyPr>
          <a:lstStyle/>
          <a:p>
            <a:pPr marL="12700">
              <a:lnSpc>
                <a:spcPct val="100000"/>
              </a:lnSpc>
              <a:spcBef>
                <a:spcPts val="1070"/>
              </a:spcBef>
            </a:pPr>
            <a:r>
              <a:rPr sz="1550" b="1" dirty="0">
                <a:latin typeface="Calibri"/>
                <a:cs typeface="Calibri"/>
              </a:rPr>
              <a:t>assign</a:t>
            </a:r>
            <a:r>
              <a:rPr sz="1550" b="1" spc="15" dirty="0">
                <a:latin typeface="Calibri"/>
                <a:cs typeface="Calibri"/>
              </a:rPr>
              <a:t> </a:t>
            </a:r>
            <a:r>
              <a:rPr sz="1550" dirty="0">
                <a:latin typeface="Calibri"/>
                <a:cs typeface="Calibri"/>
              </a:rPr>
              <a:t>c[3]</a:t>
            </a:r>
            <a:r>
              <a:rPr sz="1550" spc="40" dirty="0">
                <a:latin typeface="Calibri"/>
                <a:cs typeface="Calibri"/>
              </a:rPr>
              <a:t> </a:t>
            </a:r>
            <a:r>
              <a:rPr sz="1550" dirty="0">
                <a:latin typeface="Calibri"/>
                <a:cs typeface="Calibri"/>
              </a:rPr>
              <a:t>=</a:t>
            </a:r>
            <a:r>
              <a:rPr sz="1550" spc="35" dirty="0">
                <a:latin typeface="Calibri"/>
                <a:cs typeface="Calibri"/>
              </a:rPr>
              <a:t> </a:t>
            </a:r>
            <a:r>
              <a:rPr sz="1550" dirty="0">
                <a:latin typeface="Calibri"/>
                <a:cs typeface="Calibri"/>
              </a:rPr>
              <a:t>a[3]</a:t>
            </a:r>
            <a:r>
              <a:rPr sz="1550" spc="40" dirty="0">
                <a:latin typeface="Calibri"/>
                <a:cs typeface="Calibri"/>
              </a:rPr>
              <a:t> </a:t>
            </a:r>
            <a:r>
              <a:rPr sz="1550" dirty="0">
                <a:latin typeface="Calibri"/>
                <a:cs typeface="Calibri"/>
              </a:rPr>
              <a:t>|</a:t>
            </a:r>
            <a:r>
              <a:rPr sz="1550" spc="35" dirty="0">
                <a:latin typeface="Calibri"/>
                <a:cs typeface="Calibri"/>
              </a:rPr>
              <a:t> </a:t>
            </a:r>
            <a:r>
              <a:rPr sz="1550" spc="-20" dirty="0">
                <a:latin typeface="Calibri"/>
                <a:cs typeface="Calibri"/>
              </a:rPr>
              <a:t>b[3];</a:t>
            </a:r>
            <a:endParaRPr sz="1550">
              <a:latin typeface="Calibri"/>
              <a:cs typeface="Calibri"/>
            </a:endParaRPr>
          </a:p>
          <a:p>
            <a:pPr marL="12700">
              <a:lnSpc>
                <a:spcPct val="100000"/>
              </a:lnSpc>
              <a:spcBef>
                <a:spcPts val="980"/>
              </a:spcBef>
            </a:pPr>
            <a:r>
              <a:rPr sz="1550" b="1" dirty="0">
                <a:latin typeface="Calibri"/>
                <a:cs typeface="Calibri"/>
              </a:rPr>
              <a:t>assign</a:t>
            </a:r>
            <a:r>
              <a:rPr sz="1550" b="1" spc="15" dirty="0">
                <a:latin typeface="Calibri"/>
                <a:cs typeface="Calibri"/>
              </a:rPr>
              <a:t> </a:t>
            </a:r>
            <a:r>
              <a:rPr sz="1550" dirty="0">
                <a:latin typeface="Calibri"/>
                <a:cs typeface="Calibri"/>
              </a:rPr>
              <a:t>c[2]</a:t>
            </a:r>
            <a:r>
              <a:rPr sz="1550" spc="40" dirty="0">
                <a:latin typeface="Calibri"/>
                <a:cs typeface="Calibri"/>
              </a:rPr>
              <a:t> </a:t>
            </a:r>
            <a:r>
              <a:rPr sz="1550" dirty="0">
                <a:latin typeface="Calibri"/>
                <a:cs typeface="Calibri"/>
              </a:rPr>
              <a:t>=</a:t>
            </a:r>
            <a:r>
              <a:rPr sz="1550" spc="35" dirty="0">
                <a:latin typeface="Calibri"/>
                <a:cs typeface="Calibri"/>
              </a:rPr>
              <a:t> </a:t>
            </a:r>
            <a:r>
              <a:rPr sz="1550" dirty="0">
                <a:latin typeface="Calibri"/>
                <a:cs typeface="Calibri"/>
              </a:rPr>
              <a:t>a[2]</a:t>
            </a:r>
            <a:r>
              <a:rPr sz="1550" spc="40" dirty="0">
                <a:latin typeface="Calibri"/>
                <a:cs typeface="Calibri"/>
              </a:rPr>
              <a:t> </a:t>
            </a:r>
            <a:r>
              <a:rPr sz="1550" dirty="0">
                <a:latin typeface="Calibri"/>
                <a:cs typeface="Calibri"/>
              </a:rPr>
              <a:t>|</a:t>
            </a:r>
            <a:r>
              <a:rPr sz="1550" spc="35" dirty="0">
                <a:latin typeface="Calibri"/>
                <a:cs typeface="Calibri"/>
              </a:rPr>
              <a:t> </a:t>
            </a:r>
            <a:r>
              <a:rPr sz="1550" spc="-20" dirty="0">
                <a:latin typeface="Calibri"/>
                <a:cs typeface="Calibri"/>
              </a:rPr>
              <a:t>b[2];</a:t>
            </a:r>
            <a:endParaRPr sz="1550">
              <a:latin typeface="Calibri"/>
              <a:cs typeface="Calibri"/>
            </a:endParaRPr>
          </a:p>
          <a:p>
            <a:pPr marL="12700">
              <a:lnSpc>
                <a:spcPct val="100000"/>
              </a:lnSpc>
              <a:spcBef>
                <a:spcPts val="975"/>
              </a:spcBef>
            </a:pPr>
            <a:r>
              <a:rPr sz="1550" b="1" dirty="0">
                <a:latin typeface="Calibri"/>
                <a:cs typeface="Calibri"/>
              </a:rPr>
              <a:t>assign</a:t>
            </a:r>
            <a:r>
              <a:rPr sz="1550" b="1" spc="15" dirty="0">
                <a:latin typeface="Calibri"/>
                <a:cs typeface="Calibri"/>
              </a:rPr>
              <a:t> </a:t>
            </a:r>
            <a:r>
              <a:rPr sz="1550" b="1" dirty="0">
                <a:latin typeface="Calibri"/>
                <a:cs typeface="Calibri"/>
              </a:rPr>
              <a:t>c</a:t>
            </a:r>
            <a:r>
              <a:rPr sz="1550" dirty="0">
                <a:latin typeface="Calibri"/>
                <a:cs typeface="Calibri"/>
              </a:rPr>
              <a:t>[1]</a:t>
            </a:r>
            <a:r>
              <a:rPr sz="1550" spc="30" dirty="0">
                <a:latin typeface="Calibri"/>
                <a:cs typeface="Calibri"/>
              </a:rPr>
              <a:t> </a:t>
            </a:r>
            <a:r>
              <a:rPr sz="1550" dirty="0">
                <a:latin typeface="Calibri"/>
                <a:cs typeface="Calibri"/>
              </a:rPr>
              <a:t>=</a:t>
            </a:r>
            <a:r>
              <a:rPr sz="1550" spc="45" dirty="0">
                <a:latin typeface="Calibri"/>
                <a:cs typeface="Calibri"/>
              </a:rPr>
              <a:t> </a:t>
            </a:r>
            <a:r>
              <a:rPr sz="1550" dirty="0">
                <a:latin typeface="Calibri"/>
                <a:cs typeface="Calibri"/>
              </a:rPr>
              <a:t>a[1]</a:t>
            </a:r>
            <a:r>
              <a:rPr sz="1550" spc="30" dirty="0">
                <a:latin typeface="Calibri"/>
                <a:cs typeface="Calibri"/>
              </a:rPr>
              <a:t> </a:t>
            </a:r>
            <a:r>
              <a:rPr sz="1550" dirty="0">
                <a:latin typeface="Calibri"/>
                <a:cs typeface="Calibri"/>
              </a:rPr>
              <a:t>|</a:t>
            </a:r>
            <a:r>
              <a:rPr sz="1550" spc="35" dirty="0">
                <a:latin typeface="Calibri"/>
                <a:cs typeface="Calibri"/>
              </a:rPr>
              <a:t> </a:t>
            </a:r>
            <a:r>
              <a:rPr sz="1550" spc="-10" dirty="0">
                <a:latin typeface="Calibri"/>
                <a:cs typeface="Calibri"/>
              </a:rPr>
              <a:t>b[1];</a:t>
            </a:r>
            <a:endParaRPr sz="1550">
              <a:latin typeface="Calibri"/>
              <a:cs typeface="Calibri"/>
            </a:endParaRPr>
          </a:p>
          <a:p>
            <a:pPr marL="12700">
              <a:lnSpc>
                <a:spcPct val="100000"/>
              </a:lnSpc>
              <a:spcBef>
                <a:spcPts val="985"/>
              </a:spcBef>
            </a:pPr>
            <a:r>
              <a:rPr sz="1550" b="1" dirty="0">
                <a:latin typeface="Calibri"/>
                <a:cs typeface="Calibri"/>
              </a:rPr>
              <a:t>assign</a:t>
            </a:r>
            <a:r>
              <a:rPr sz="1550" b="1" spc="15" dirty="0">
                <a:latin typeface="Calibri"/>
                <a:cs typeface="Calibri"/>
              </a:rPr>
              <a:t> </a:t>
            </a:r>
            <a:r>
              <a:rPr sz="1550" dirty="0">
                <a:latin typeface="Calibri"/>
                <a:cs typeface="Calibri"/>
              </a:rPr>
              <a:t>c[0]</a:t>
            </a:r>
            <a:r>
              <a:rPr sz="1550" spc="40" dirty="0">
                <a:latin typeface="Calibri"/>
                <a:cs typeface="Calibri"/>
              </a:rPr>
              <a:t> </a:t>
            </a:r>
            <a:r>
              <a:rPr sz="1550" dirty="0">
                <a:latin typeface="Calibri"/>
                <a:cs typeface="Calibri"/>
              </a:rPr>
              <a:t>=</a:t>
            </a:r>
            <a:r>
              <a:rPr sz="1550" spc="35" dirty="0">
                <a:latin typeface="Calibri"/>
                <a:cs typeface="Calibri"/>
              </a:rPr>
              <a:t> </a:t>
            </a:r>
            <a:r>
              <a:rPr sz="1550" dirty="0">
                <a:latin typeface="Calibri"/>
                <a:cs typeface="Calibri"/>
              </a:rPr>
              <a:t>a[0]</a:t>
            </a:r>
            <a:r>
              <a:rPr sz="1550" spc="40" dirty="0">
                <a:latin typeface="Calibri"/>
                <a:cs typeface="Calibri"/>
              </a:rPr>
              <a:t> </a:t>
            </a:r>
            <a:r>
              <a:rPr sz="1550" dirty="0">
                <a:latin typeface="Calibri"/>
                <a:cs typeface="Calibri"/>
              </a:rPr>
              <a:t>|</a:t>
            </a:r>
            <a:r>
              <a:rPr sz="1550" spc="35" dirty="0">
                <a:latin typeface="Calibri"/>
                <a:cs typeface="Calibri"/>
              </a:rPr>
              <a:t> </a:t>
            </a:r>
            <a:r>
              <a:rPr sz="1550" spc="-20" dirty="0">
                <a:latin typeface="Calibri"/>
                <a:cs typeface="Calibri"/>
              </a:rPr>
              <a:t>b[0];</a:t>
            </a:r>
            <a:endParaRPr sz="1550">
              <a:latin typeface="Calibri"/>
              <a:cs typeface="Calibri"/>
            </a:endParaRPr>
          </a:p>
        </p:txBody>
      </p:sp>
      <p:sp>
        <p:nvSpPr>
          <p:cNvPr id="17" name="object 3">
            <a:extLst>
              <a:ext uri="{FF2B5EF4-FFF2-40B4-BE49-F238E27FC236}">
                <a16:creationId xmlns:a16="http://schemas.microsoft.com/office/drawing/2014/main" id="{136FEFFD-2DB0-9382-4F94-629AA2CBDD39}"/>
              </a:ext>
            </a:extLst>
          </p:cNvPr>
          <p:cNvSpPr txBox="1">
            <a:spLocks/>
          </p:cNvSpPr>
          <p:nvPr/>
        </p:nvSpPr>
        <p:spPr>
          <a:xfrm>
            <a:off x="241300" y="200025"/>
            <a:ext cx="7288905" cy="524503"/>
          </a:xfrm>
          <a:prstGeom prst="rect">
            <a:avLst/>
          </a:prstGeom>
        </p:spPr>
        <p:txBody>
          <a:bodyPr vert="horz" wrap="square" lIns="0" tIns="16510" rIns="0" bIns="0" rtlCol="0">
            <a:spAutoFit/>
          </a:bodyPr>
          <a:lstStyle>
            <a:lvl1pPr>
              <a:defRPr sz="2800" b="0" i="0">
                <a:solidFill>
                  <a:srgbClr val="3F3F3F"/>
                </a:solidFill>
                <a:latin typeface="Calibri"/>
                <a:ea typeface="+mj-ea"/>
                <a:cs typeface="Calibri"/>
              </a:defRPr>
            </a:lvl1pPr>
          </a:lstStyle>
          <a:p>
            <a:pPr marL="12700">
              <a:spcBef>
                <a:spcPts val="130"/>
              </a:spcBef>
            </a:pPr>
            <a:r>
              <a:rPr lang="zh-CN" altLang="en-US" sz="3300" b="1" spc="-15" dirty="0">
                <a:solidFill>
                  <a:srgbClr val="000000"/>
                </a:solidFill>
                <a:latin typeface="宋体"/>
                <a:cs typeface="宋体"/>
              </a:rPr>
              <a:t>按位操作符</a:t>
            </a:r>
            <a:endParaRPr lang="zh-CN" altLang="en-US" sz="3300" dirty="0">
              <a:latin typeface="宋体"/>
              <a:cs typeface="宋体"/>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578237" y="1190625"/>
            <a:ext cx="2992120" cy="3086100"/>
            <a:chOff x="618629" y="1880616"/>
            <a:chExt cx="2992120" cy="3086100"/>
          </a:xfrm>
        </p:grpSpPr>
        <p:sp>
          <p:nvSpPr>
            <p:cNvPr id="4" name="object 4"/>
            <p:cNvSpPr/>
            <p:nvPr/>
          </p:nvSpPr>
          <p:spPr>
            <a:xfrm>
              <a:off x="618629" y="1880616"/>
              <a:ext cx="2992120" cy="3086100"/>
            </a:xfrm>
            <a:custGeom>
              <a:avLst/>
              <a:gdLst/>
              <a:ahLst/>
              <a:cxnLst/>
              <a:rect l="l" t="t" r="r" b="b"/>
              <a:pathLst>
                <a:path w="2992120" h="3086100">
                  <a:moveTo>
                    <a:pt x="2991612" y="3086100"/>
                  </a:moveTo>
                  <a:lnTo>
                    <a:pt x="2991612" y="0"/>
                  </a:lnTo>
                  <a:lnTo>
                    <a:pt x="0" y="0"/>
                  </a:lnTo>
                  <a:lnTo>
                    <a:pt x="0" y="3086100"/>
                  </a:lnTo>
                  <a:lnTo>
                    <a:pt x="3810" y="3086100"/>
                  </a:lnTo>
                  <a:lnTo>
                    <a:pt x="3810" y="8382"/>
                  </a:lnTo>
                  <a:lnTo>
                    <a:pt x="8382" y="3810"/>
                  </a:lnTo>
                  <a:lnTo>
                    <a:pt x="8382" y="8382"/>
                  </a:lnTo>
                  <a:lnTo>
                    <a:pt x="2983229" y="8382"/>
                  </a:lnTo>
                  <a:lnTo>
                    <a:pt x="2983229" y="3810"/>
                  </a:lnTo>
                  <a:lnTo>
                    <a:pt x="2987040" y="8382"/>
                  </a:lnTo>
                  <a:lnTo>
                    <a:pt x="2987040" y="3086100"/>
                  </a:lnTo>
                  <a:lnTo>
                    <a:pt x="2991612" y="3086100"/>
                  </a:lnTo>
                  <a:close/>
                </a:path>
                <a:path w="2992120" h="3086100">
                  <a:moveTo>
                    <a:pt x="8382" y="8382"/>
                  </a:moveTo>
                  <a:lnTo>
                    <a:pt x="8382" y="3810"/>
                  </a:lnTo>
                  <a:lnTo>
                    <a:pt x="3810" y="8382"/>
                  </a:lnTo>
                  <a:lnTo>
                    <a:pt x="8382" y="8382"/>
                  </a:lnTo>
                  <a:close/>
                </a:path>
                <a:path w="2992120" h="3086100">
                  <a:moveTo>
                    <a:pt x="8382" y="3077718"/>
                  </a:moveTo>
                  <a:lnTo>
                    <a:pt x="8382" y="8382"/>
                  </a:lnTo>
                  <a:lnTo>
                    <a:pt x="3810" y="8382"/>
                  </a:lnTo>
                  <a:lnTo>
                    <a:pt x="3810" y="3077718"/>
                  </a:lnTo>
                  <a:lnTo>
                    <a:pt x="8382" y="3077718"/>
                  </a:lnTo>
                  <a:close/>
                </a:path>
                <a:path w="2992120" h="3086100">
                  <a:moveTo>
                    <a:pt x="2987040" y="3077718"/>
                  </a:moveTo>
                  <a:lnTo>
                    <a:pt x="3810" y="3077718"/>
                  </a:lnTo>
                  <a:lnTo>
                    <a:pt x="8382" y="3082290"/>
                  </a:lnTo>
                  <a:lnTo>
                    <a:pt x="8382" y="3086100"/>
                  </a:lnTo>
                  <a:lnTo>
                    <a:pt x="2983229" y="3086100"/>
                  </a:lnTo>
                  <a:lnTo>
                    <a:pt x="2983229" y="3082290"/>
                  </a:lnTo>
                  <a:lnTo>
                    <a:pt x="2987040" y="3077718"/>
                  </a:lnTo>
                  <a:close/>
                </a:path>
                <a:path w="2992120" h="3086100">
                  <a:moveTo>
                    <a:pt x="8382" y="3086100"/>
                  </a:moveTo>
                  <a:lnTo>
                    <a:pt x="8382" y="3082290"/>
                  </a:lnTo>
                  <a:lnTo>
                    <a:pt x="3810" y="3077718"/>
                  </a:lnTo>
                  <a:lnTo>
                    <a:pt x="3810" y="3086100"/>
                  </a:lnTo>
                  <a:lnTo>
                    <a:pt x="8382" y="3086100"/>
                  </a:lnTo>
                  <a:close/>
                </a:path>
                <a:path w="2992120" h="3086100">
                  <a:moveTo>
                    <a:pt x="2987040" y="8382"/>
                  </a:moveTo>
                  <a:lnTo>
                    <a:pt x="2983229" y="3810"/>
                  </a:lnTo>
                  <a:lnTo>
                    <a:pt x="2983229" y="8382"/>
                  </a:lnTo>
                  <a:lnTo>
                    <a:pt x="2987040" y="8382"/>
                  </a:lnTo>
                  <a:close/>
                </a:path>
                <a:path w="2992120" h="3086100">
                  <a:moveTo>
                    <a:pt x="2987040" y="3077718"/>
                  </a:moveTo>
                  <a:lnTo>
                    <a:pt x="2987040" y="8382"/>
                  </a:lnTo>
                  <a:lnTo>
                    <a:pt x="2983229" y="8382"/>
                  </a:lnTo>
                  <a:lnTo>
                    <a:pt x="2983229" y="3077718"/>
                  </a:lnTo>
                  <a:lnTo>
                    <a:pt x="2987040" y="3077718"/>
                  </a:lnTo>
                  <a:close/>
                </a:path>
                <a:path w="2992120" h="3086100">
                  <a:moveTo>
                    <a:pt x="2987040" y="3086100"/>
                  </a:moveTo>
                  <a:lnTo>
                    <a:pt x="2987040" y="3077718"/>
                  </a:lnTo>
                  <a:lnTo>
                    <a:pt x="2983229" y="3082290"/>
                  </a:lnTo>
                  <a:lnTo>
                    <a:pt x="2983229" y="3086100"/>
                  </a:lnTo>
                  <a:lnTo>
                    <a:pt x="2987040" y="3086100"/>
                  </a:lnTo>
                  <a:close/>
                </a:path>
              </a:pathLst>
            </a:custGeom>
            <a:solidFill>
              <a:srgbClr val="000000"/>
            </a:solidFill>
          </p:spPr>
          <p:txBody>
            <a:bodyPr wrap="square" lIns="0" tIns="0" rIns="0" bIns="0" rtlCol="0"/>
            <a:lstStyle/>
            <a:p>
              <a:endParaRPr/>
            </a:p>
          </p:txBody>
        </p:sp>
        <p:pic>
          <p:nvPicPr>
            <p:cNvPr id="5" name="object 5"/>
            <p:cNvPicPr/>
            <p:nvPr/>
          </p:nvPicPr>
          <p:blipFill>
            <a:blip r:embed="rId2" cstate="print"/>
            <a:stretch>
              <a:fillRect/>
            </a:stretch>
          </p:blipFill>
          <p:spPr>
            <a:xfrm>
              <a:off x="694829" y="2039112"/>
              <a:ext cx="213359" cy="200405"/>
            </a:xfrm>
            <a:prstGeom prst="rect">
              <a:avLst/>
            </a:prstGeom>
          </p:spPr>
        </p:pic>
      </p:grpSp>
      <p:sp>
        <p:nvSpPr>
          <p:cNvPr id="6" name="object 6"/>
          <p:cNvSpPr txBox="1"/>
          <p:nvPr/>
        </p:nvSpPr>
        <p:spPr>
          <a:xfrm>
            <a:off x="854328" y="1219072"/>
            <a:ext cx="2394579" cy="390492"/>
          </a:xfrm>
          <a:prstGeom prst="rect">
            <a:avLst/>
          </a:prstGeom>
        </p:spPr>
        <p:txBody>
          <a:bodyPr vert="horz" wrap="square" lIns="0" tIns="13335" rIns="0" bIns="0" rtlCol="0">
            <a:spAutoFit/>
          </a:bodyPr>
          <a:lstStyle/>
          <a:p>
            <a:pPr marL="12700">
              <a:lnSpc>
                <a:spcPct val="100000"/>
              </a:lnSpc>
              <a:spcBef>
                <a:spcPts val="105"/>
              </a:spcBef>
            </a:pPr>
            <a:r>
              <a:rPr sz="2450" b="1" spc="-10" dirty="0">
                <a:solidFill>
                  <a:srgbClr val="3E3E3E"/>
                </a:solidFill>
                <a:latin typeface="Arial"/>
                <a:cs typeface="Arial"/>
              </a:rPr>
              <a:t>4-</a:t>
            </a:r>
            <a:r>
              <a:rPr sz="2450" b="1" dirty="0">
                <a:solidFill>
                  <a:srgbClr val="3E3E3E"/>
                </a:solidFill>
                <a:latin typeface="Arial"/>
                <a:cs typeface="Arial"/>
              </a:rPr>
              <a:t>2</a:t>
            </a:r>
            <a:r>
              <a:rPr sz="2450" b="1" spc="15" dirty="0">
                <a:solidFill>
                  <a:srgbClr val="3E3E3E"/>
                </a:solidFill>
                <a:latin typeface="Arial"/>
                <a:cs typeface="Arial"/>
              </a:rPr>
              <a:t>. </a:t>
            </a:r>
            <a:r>
              <a:rPr sz="2450" b="1" spc="-35" dirty="0" err="1">
                <a:solidFill>
                  <a:srgbClr val="3E3E3E"/>
                </a:solidFill>
                <a:latin typeface="宋体"/>
                <a:cs typeface="宋体"/>
              </a:rPr>
              <a:t>缩减</a:t>
            </a:r>
            <a:r>
              <a:rPr lang="zh-CN" altLang="en-US" sz="2450" b="1" spc="-35" dirty="0">
                <a:solidFill>
                  <a:srgbClr val="3E3E3E"/>
                </a:solidFill>
                <a:latin typeface="宋体"/>
                <a:cs typeface="宋体"/>
              </a:rPr>
              <a:t>操作符</a:t>
            </a:r>
            <a:endParaRPr sz="2450" dirty="0">
              <a:latin typeface="宋体"/>
              <a:cs typeface="宋体"/>
            </a:endParaRPr>
          </a:p>
        </p:txBody>
      </p:sp>
      <p:sp>
        <p:nvSpPr>
          <p:cNvPr id="7" name="object 7"/>
          <p:cNvSpPr txBox="1"/>
          <p:nvPr/>
        </p:nvSpPr>
        <p:spPr>
          <a:xfrm>
            <a:off x="1003300" y="1993960"/>
            <a:ext cx="250825" cy="1527810"/>
          </a:xfrm>
          <a:prstGeom prst="rect">
            <a:avLst/>
          </a:prstGeom>
        </p:spPr>
        <p:txBody>
          <a:bodyPr vert="horz" wrap="square" lIns="0" tIns="139700" rIns="0" bIns="0" rtlCol="0">
            <a:spAutoFit/>
          </a:bodyPr>
          <a:lstStyle/>
          <a:p>
            <a:pPr marL="12700">
              <a:lnSpc>
                <a:spcPct val="100000"/>
              </a:lnSpc>
              <a:spcBef>
                <a:spcPts val="1100"/>
              </a:spcBef>
            </a:pPr>
            <a:r>
              <a:rPr sz="2450" b="1" spc="-50" dirty="0">
                <a:solidFill>
                  <a:srgbClr val="3E3E3E"/>
                </a:solidFill>
                <a:latin typeface="Arial"/>
                <a:cs typeface="Arial"/>
              </a:rPr>
              <a:t>&amp;</a:t>
            </a:r>
            <a:endParaRPr sz="2450">
              <a:latin typeface="Arial"/>
              <a:cs typeface="Arial"/>
            </a:endParaRPr>
          </a:p>
          <a:p>
            <a:pPr marL="12700">
              <a:lnSpc>
                <a:spcPct val="100000"/>
              </a:lnSpc>
              <a:spcBef>
                <a:spcPts val="1000"/>
              </a:spcBef>
            </a:pPr>
            <a:r>
              <a:rPr sz="2450" b="1" spc="-50" dirty="0">
                <a:solidFill>
                  <a:srgbClr val="3E3E3E"/>
                </a:solidFill>
                <a:latin typeface="Arial"/>
                <a:cs typeface="Arial"/>
              </a:rPr>
              <a:t>|</a:t>
            </a:r>
            <a:endParaRPr sz="2450">
              <a:latin typeface="Arial"/>
              <a:cs typeface="Arial"/>
            </a:endParaRPr>
          </a:p>
          <a:p>
            <a:pPr marL="12700">
              <a:lnSpc>
                <a:spcPct val="100000"/>
              </a:lnSpc>
              <a:spcBef>
                <a:spcPts val="1005"/>
              </a:spcBef>
            </a:pPr>
            <a:r>
              <a:rPr sz="2450" b="1" spc="-50" dirty="0">
                <a:solidFill>
                  <a:srgbClr val="3E3E3E"/>
                </a:solidFill>
                <a:latin typeface="Arial"/>
                <a:cs typeface="Arial"/>
              </a:rPr>
              <a:t>^</a:t>
            </a:r>
            <a:endParaRPr sz="2450">
              <a:latin typeface="Arial"/>
              <a:cs typeface="Arial"/>
            </a:endParaRPr>
          </a:p>
        </p:txBody>
      </p:sp>
      <p:sp>
        <p:nvSpPr>
          <p:cNvPr id="8" name="object 8"/>
          <p:cNvSpPr/>
          <p:nvPr/>
        </p:nvSpPr>
        <p:spPr>
          <a:xfrm>
            <a:off x="4127500" y="1205645"/>
            <a:ext cx="5711572" cy="1969770"/>
          </a:xfrm>
          <a:custGeom>
            <a:avLst/>
            <a:gdLst/>
            <a:ahLst/>
            <a:cxnLst/>
            <a:rect l="l" t="t" r="r" b="b"/>
            <a:pathLst>
              <a:path w="5354320" h="1969770">
                <a:moveTo>
                  <a:pt x="5353812" y="1968245"/>
                </a:moveTo>
                <a:lnTo>
                  <a:pt x="5353812" y="2285"/>
                </a:lnTo>
                <a:lnTo>
                  <a:pt x="5352288" y="0"/>
                </a:lnTo>
                <a:lnTo>
                  <a:pt x="1523" y="0"/>
                </a:lnTo>
                <a:lnTo>
                  <a:pt x="0" y="2286"/>
                </a:lnTo>
                <a:lnTo>
                  <a:pt x="0" y="1968246"/>
                </a:lnTo>
                <a:lnTo>
                  <a:pt x="1524" y="1969770"/>
                </a:lnTo>
                <a:lnTo>
                  <a:pt x="3810" y="1969770"/>
                </a:lnTo>
                <a:lnTo>
                  <a:pt x="3810" y="8382"/>
                </a:lnTo>
                <a:lnTo>
                  <a:pt x="8382" y="4572"/>
                </a:lnTo>
                <a:lnTo>
                  <a:pt x="8382" y="8382"/>
                </a:lnTo>
                <a:lnTo>
                  <a:pt x="5345430" y="8381"/>
                </a:lnTo>
                <a:lnTo>
                  <a:pt x="5345430" y="4571"/>
                </a:lnTo>
                <a:lnTo>
                  <a:pt x="5350002" y="8381"/>
                </a:lnTo>
                <a:lnTo>
                  <a:pt x="5350002" y="1969770"/>
                </a:lnTo>
                <a:lnTo>
                  <a:pt x="5352288" y="1969770"/>
                </a:lnTo>
                <a:lnTo>
                  <a:pt x="5353812" y="1968245"/>
                </a:lnTo>
                <a:close/>
              </a:path>
              <a:path w="5354320" h="1969770">
                <a:moveTo>
                  <a:pt x="8382" y="8382"/>
                </a:moveTo>
                <a:lnTo>
                  <a:pt x="8382" y="4572"/>
                </a:lnTo>
                <a:lnTo>
                  <a:pt x="3810" y="8382"/>
                </a:lnTo>
                <a:lnTo>
                  <a:pt x="8382" y="8382"/>
                </a:lnTo>
                <a:close/>
              </a:path>
              <a:path w="5354320" h="1969770">
                <a:moveTo>
                  <a:pt x="8382" y="1961388"/>
                </a:moveTo>
                <a:lnTo>
                  <a:pt x="8382" y="8382"/>
                </a:lnTo>
                <a:lnTo>
                  <a:pt x="3810" y="8382"/>
                </a:lnTo>
                <a:lnTo>
                  <a:pt x="3810" y="1961388"/>
                </a:lnTo>
                <a:lnTo>
                  <a:pt x="8382" y="1961388"/>
                </a:lnTo>
                <a:close/>
              </a:path>
              <a:path w="5354320" h="1969770">
                <a:moveTo>
                  <a:pt x="5350002" y="1961388"/>
                </a:moveTo>
                <a:lnTo>
                  <a:pt x="3810" y="1961388"/>
                </a:lnTo>
                <a:lnTo>
                  <a:pt x="8382" y="1965960"/>
                </a:lnTo>
                <a:lnTo>
                  <a:pt x="8382" y="1969770"/>
                </a:lnTo>
                <a:lnTo>
                  <a:pt x="5345430" y="1969770"/>
                </a:lnTo>
                <a:lnTo>
                  <a:pt x="5345430" y="1965959"/>
                </a:lnTo>
                <a:lnTo>
                  <a:pt x="5350002" y="1961388"/>
                </a:lnTo>
                <a:close/>
              </a:path>
              <a:path w="5354320" h="1969770">
                <a:moveTo>
                  <a:pt x="8382" y="1969770"/>
                </a:moveTo>
                <a:lnTo>
                  <a:pt x="8382" y="1965960"/>
                </a:lnTo>
                <a:lnTo>
                  <a:pt x="3810" y="1961388"/>
                </a:lnTo>
                <a:lnTo>
                  <a:pt x="3810" y="1969770"/>
                </a:lnTo>
                <a:lnTo>
                  <a:pt x="8382" y="1969770"/>
                </a:lnTo>
                <a:close/>
              </a:path>
              <a:path w="5354320" h="1969770">
                <a:moveTo>
                  <a:pt x="5350002" y="8381"/>
                </a:moveTo>
                <a:lnTo>
                  <a:pt x="5345430" y="4571"/>
                </a:lnTo>
                <a:lnTo>
                  <a:pt x="5345430" y="8381"/>
                </a:lnTo>
                <a:lnTo>
                  <a:pt x="5350002" y="8381"/>
                </a:lnTo>
                <a:close/>
              </a:path>
              <a:path w="5354320" h="1969770">
                <a:moveTo>
                  <a:pt x="5350002" y="1961388"/>
                </a:moveTo>
                <a:lnTo>
                  <a:pt x="5350002" y="8381"/>
                </a:lnTo>
                <a:lnTo>
                  <a:pt x="5345430" y="8381"/>
                </a:lnTo>
                <a:lnTo>
                  <a:pt x="5345430" y="1961388"/>
                </a:lnTo>
                <a:lnTo>
                  <a:pt x="5350002" y="1961388"/>
                </a:lnTo>
                <a:close/>
              </a:path>
              <a:path w="5354320" h="1969770">
                <a:moveTo>
                  <a:pt x="5350002" y="1969770"/>
                </a:moveTo>
                <a:lnTo>
                  <a:pt x="5350002" y="1961388"/>
                </a:lnTo>
                <a:lnTo>
                  <a:pt x="5345430" y="1965959"/>
                </a:lnTo>
                <a:lnTo>
                  <a:pt x="5345430" y="1969770"/>
                </a:lnTo>
                <a:lnTo>
                  <a:pt x="5350002" y="1969770"/>
                </a:lnTo>
                <a:close/>
              </a:path>
            </a:pathLst>
          </a:custGeom>
          <a:solidFill>
            <a:srgbClr val="FF0000"/>
          </a:solidFill>
        </p:spPr>
        <p:txBody>
          <a:bodyPr wrap="square" lIns="0" tIns="0" rIns="0" bIns="0" rtlCol="0"/>
          <a:lstStyle/>
          <a:p>
            <a:endParaRPr/>
          </a:p>
        </p:txBody>
      </p:sp>
      <p:sp>
        <p:nvSpPr>
          <p:cNvPr id="9" name="object 9"/>
          <p:cNvSpPr txBox="1"/>
          <p:nvPr/>
        </p:nvSpPr>
        <p:spPr>
          <a:xfrm>
            <a:off x="4169445" y="1169467"/>
            <a:ext cx="5639703" cy="1881862"/>
          </a:xfrm>
          <a:prstGeom prst="rect">
            <a:avLst/>
          </a:prstGeom>
        </p:spPr>
        <p:txBody>
          <a:bodyPr vert="horz" wrap="square" lIns="0" tIns="12065" rIns="0" bIns="0" rtlCol="0">
            <a:spAutoFit/>
          </a:bodyPr>
          <a:lstStyle/>
          <a:p>
            <a:pPr marL="12700" marR="5080" indent="478155">
              <a:lnSpc>
                <a:spcPct val="150500"/>
              </a:lnSpc>
              <a:spcBef>
                <a:spcPts val="95"/>
              </a:spcBef>
            </a:pPr>
            <a:r>
              <a:rPr sz="2100" spc="-10" dirty="0">
                <a:latin typeface="宋体"/>
                <a:cs typeface="宋体"/>
              </a:rPr>
              <a:t>＆，｜和＾</a:t>
            </a:r>
            <a:r>
              <a:rPr sz="2100" spc="-15" dirty="0">
                <a:latin typeface="宋体"/>
                <a:cs typeface="宋体"/>
              </a:rPr>
              <a:t>可能</a:t>
            </a:r>
            <a:r>
              <a:rPr sz="2100" b="1" spc="-15" dirty="0">
                <a:solidFill>
                  <a:srgbClr val="C00000"/>
                </a:solidFill>
                <a:latin typeface="宋体"/>
                <a:cs typeface="宋体"/>
              </a:rPr>
              <a:t>只有一个操作数</a:t>
            </a:r>
            <a:r>
              <a:rPr sz="2100" spc="-15" dirty="0">
                <a:latin typeface="宋体"/>
                <a:cs typeface="宋体"/>
              </a:rPr>
              <a:t>，则称为缩减运算。单操作数通常是</a:t>
            </a:r>
            <a:r>
              <a:rPr lang="zh-CN" altLang="en-US" sz="2100" spc="-15" dirty="0">
                <a:latin typeface="宋体"/>
                <a:cs typeface="宋体"/>
              </a:rPr>
              <a:t>向量</a:t>
            </a:r>
            <a:r>
              <a:rPr sz="2100" spc="-15" dirty="0" err="1">
                <a:latin typeface="宋体"/>
                <a:cs typeface="宋体"/>
              </a:rPr>
              <a:t>数据类型，运算对</a:t>
            </a:r>
            <a:r>
              <a:rPr lang="zh-CN" altLang="en-US" sz="2100" spc="-15" dirty="0">
                <a:latin typeface="宋体"/>
                <a:cs typeface="宋体"/>
              </a:rPr>
              <a:t>向量操作数逐位地从左至右进行操作，</a:t>
            </a:r>
            <a:r>
              <a:rPr sz="2100" spc="-15" dirty="0" err="1">
                <a:latin typeface="宋体"/>
                <a:cs typeface="宋体"/>
              </a:rPr>
              <a:t>并返回</a:t>
            </a:r>
            <a:r>
              <a:rPr lang="zh-CN" altLang="en-US" sz="2100" spc="-15" dirty="0">
                <a:latin typeface="宋体"/>
                <a:cs typeface="宋体"/>
              </a:rPr>
              <a:t>一个</a:t>
            </a:r>
            <a:r>
              <a:rPr sz="2100" spc="-15" dirty="0">
                <a:latin typeface="宋体"/>
                <a:cs typeface="宋体"/>
              </a:rPr>
              <a:t>１位</a:t>
            </a:r>
            <a:r>
              <a:rPr lang="zh-CN" altLang="en-US" sz="2100" spc="-15" dirty="0">
                <a:latin typeface="宋体"/>
                <a:cs typeface="宋体"/>
              </a:rPr>
              <a:t>的</a:t>
            </a:r>
            <a:r>
              <a:rPr sz="2100" spc="-15" dirty="0" err="1">
                <a:latin typeface="宋体"/>
                <a:cs typeface="宋体"/>
              </a:rPr>
              <a:t>结果</a:t>
            </a:r>
            <a:r>
              <a:rPr sz="2100" spc="-15" dirty="0">
                <a:latin typeface="宋体"/>
                <a:cs typeface="宋体"/>
              </a:rPr>
              <a:t>。</a:t>
            </a:r>
            <a:endParaRPr sz="2100" dirty="0">
              <a:latin typeface="宋体"/>
              <a:cs typeface="宋体"/>
            </a:endParaRPr>
          </a:p>
        </p:txBody>
      </p:sp>
      <p:sp>
        <p:nvSpPr>
          <p:cNvPr id="10" name="object 10"/>
          <p:cNvSpPr/>
          <p:nvPr/>
        </p:nvSpPr>
        <p:spPr>
          <a:xfrm>
            <a:off x="4127500" y="3656532"/>
            <a:ext cx="3742690" cy="2313940"/>
          </a:xfrm>
          <a:custGeom>
            <a:avLst/>
            <a:gdLst/>
            <a:ahLst/>
            <a:cxnLst/>
            <a:rect l="l" t="t" r="r" b="b"/>
            <a:pathLst>
              <a:path w="3742690" h="2313940">
                <a:moveTo>
                  <a:pt x="3742182" y="2311908"/>
                </a:moveTo>
                <a:lnTo>
                  <a:pt x="3742182" y="2285"/>
                </a:lnTo>
                <a:lnTo>
                  <a:pt x="3739896" y="0"/>
                </a:lnTo>
                <a:lnTo>
                  <a:pt x="2285" y="0"/>
                </a:lnTo>
                <a:lnTo>
                  <a:pt x="0" y="2286"/>
                </a:lnTo>
                <a:lnTo>
                  <a:pt x="0" y="2311908"/>
                </a:lnTo>
                <a:lnTo>
                  <a:pt x="2286" y="2313432"/>
                </a:lnTo>
                <a:lnTo>
                  <a:pt x="4572" y="2313432"/>
                </a:lnTo>
                <a:lnTo>
                  <a:pt x="4572" y="8382"/>
                </a:lnTo>
                <a:lnTo>
                  <a:pt x="8382" y="4572"/>
                </a:lnTo>
                <a:lnTo>
                  <a:pt x="8382" y="8382"/>
                </a:lnTo>
                <a:lnTo>
                  <a:pt x="3733800" y="8381"/>
                </a:lnTo>
                <a:lnTo>
                  <a:pt x="3733800" y="4571"/>
                </a:lnTo>
                <a:lnTo>
                  <a:pt x="3737610" y="8381"/>
                </a:lnTo>
                <a:lnTo>
                  <a:pt x="3737610" y="2313432"/>
                </a:lnTo>
                <a:lnTo>
                  <a:pt x="3739896" y="2313432"/>
                </a:lnTo>
                <a:lnTo>
                  <a:pt x="3742182" y="2311908"/>
                </a:lnTo>
                <a:close/>
              </a:path>
              <a:path w="3742690" h="2313940">
                <a:moveTo>
                  <a:pt x="8382" y="8382"/>
                </a:moveTo>
                <a:lnTo>
                  <a:pt x="8382" y="4572"/>
                </a:lnTo>
                <a:lnTo>
                  <a:pt x="4572" y="8382"/>
                </a:lnTo>
                <a:lnTo>
                  <a:pt x="8382" y="8382"/>
                </a:lnTo>
                <a:close/>
              </a:path>
              <a:path w="3742690" h="2313940">
                <a:moveTo>
                  <a:pt x="8382" y="2305050"/>
                </a:moveTo>
                <a:lnTo>
                  <a:pt x="8382" y="8382"/>
                </a:lnTo>
                <a:lnTo>
                  <a:pt x="4572" y="8382"/>
                </a:lnTo>
                <a:lnTo>
                  <a:pt x="4572" y="2305050"/>
                </a:lnTo>
                <a:lnTo>
                  <a:pt x="8382" y="2305050"/>
                </a:lnTo>
                <a:close/>
              </a:path>
              <a:path w="3742690" h="2313940">
                <a:moveTo>
                  <a:pt x="3737610" y="2305049"/>
                </a:moveTo>
                <a:lnTo>
                  <a:pt x="4572" y="2305050"/>
                </a:lnTo>
                <a:lnTo>
                  <a:pt x="8382" y="2309622"/>
                </a:lnTo>
                <a:lnTo>
                  <a:pt x="8382" y="2313432"/>
                </a:lnTo>
                <a:lnTo>
                  <a:pt x="3733800" y="2313432"/>
                </a:lnTo>
                <a:lnTo>
                  <a:pt x="3733800" y="2309622"/>
                </a:lnTo>
                <a:lnTo>
                  <a:pt x="3737610" y="2305049"/>
                </a:lnTo>
                <a:close/>
              </a:path>
              <a:path w="3742690" h="2313940">
                <a:moveTo>
                  <a:pt x="8382" y="2313432"/>
                </a:moveTo>
                <a:lnTo>
                  <a:pt x="8382" y="2309622"/>
                </a:lnTo>
                <a:lnTo>
                  <a:pt x="4572" y="2305050"/>
                </a:lnTo>
                <a:lnTo>
                  <a:pt x="4572" y="2313432"/>
                </a:lnTo>
                <a:lnTo>
                  <a:pt x="8382" y="2313432"/>
                </a:lnTo>
                <a:close/>
              </a:path>
              <a:path w="3742690" h="2313940">
                <a:moveTo>
                  <a:pt x="3737610" y="8381"/>
                </a:moveTo>
                <a:lnTo>
                  <a:pt x="3733800" y="4571"/>
                </a:lnTo>
                <a:lnTo>
                  <a:pt x="3733800" y="8381"/>
                </a:lnTo>
                <a:lnTo>
                  <a:pt x="3737610" y="8381"/>
                </a:lnTo>
                <a:close/>
              </a:path>
              <a:path w="3742690" h="2313940">
                <a:moveTo>
                  <a:pt x="3737610" y="2305049"/>
                </a:moveTo>
                <a:lnTo>
                  <a:pt x="3737610" y="8381"/>
                </a:lnTo>
                <a:lnTo>
                  <a:pt x="3733800" y="8381"/>
                </a:lnTo>
                <a:lnTo>
                  <a:pt x="3733800" y="2305049"/>
                </a:lnTo>
                <a:lnTo>
                  <a:pt x="3737610" y="2305049"/>
                </a:lnTo>
                <a:close/>
              </a:path>
              <a:path w="3742690" h="2313940">
                <a:moveTo>
                  <a:pt x="3737610" y="2313432"/>
                </a:moveTo>
                <a:lnTo>
                  <a:pt x="3737610" y="2305049"/>
                </a:lnTo>
                <a:lnTo>
                  <a:pt x="3733800" y="2309622"/>
                </a:lnTo>
                <a:lnTo>
                  <a:pt x="3733800" y="2313432"/>
                </a:lnTo>
                <a:lnTo>
                  <a:pt x="3737610" y="2313432"/>
                </a:lnTo>
                <a:close/>
              </a:path>
            </a:pathLst>
          </a:custGeom>
          <a:solidFill>
            <a:srgbClr val="FF0000"/>
          </a:solidFill>
        </p:spPr>
        <p:txBody>
          <a:bodyPr wrap="square" lIns="0" tIns="0" rIns="0" bIns="0" rtlCol="0"/>
          <a:lstStyle/>
          <a:p>
            <a:endParaRPr/>
          </a:p>
        </p:txBody>
      </p:sp>
      <p:sp>
        <p:nvSpPr>
          <p:cNvPr id="11" name="object 11"/>
          <p:cNvSpPr txBox="1"/>
          <p:nvPr/>
        </p:nvSpPr>
        <p:spPr>
          <a:xfrm>
            <a:off x="4434072" y="3638951"/>
            <a:ext cx="1028065" cy="1108075"/>
          </a:xfrm>
          <a:prstGeom prst="rect">
            <a:avLst/>
          </a:prstGeom>
        </p:spPr>
        <p:txBody>
          <a:bodyPr vert="horz" wrap="square" lIns="0" tIns="11430" rIns="0" bIns="0" rtlCol="0">
            <a:spAutoFit/>
          </a:bodyPr>
          <a:lstStyle/>
          <a:p>
            <a:pPr marL="12700" marR="5080">
              <a:lnSpc>
                <a:spcPct val="152700"/>
              </a:lnSpc>
              <a:spcBef>
                <a:spcPts val="90"/>
              </a:spcBef>
            </a:pPr>
            <a:r>
              <a:rPr sz="1550" b="1" dirty="0">
                <a:latin typeface="Calibri"/>
                <a:cs typeface="Calibri"/>
              </a:rPr>
              <a:t>wire</a:t>
            </a:r>
            <a:r>
              <a:rPr sz="1550" b="1" spc="10" dirty="0">
                <a:latin typeface="Calibri"/>
                <a:cs typeface="Calibri"/>
              </a:rPr>
              <a:t> </a:t>
            </a:r>
            <a:r>
              <a:rPr sz="1550" b="1" dirty="0">
                <a:latin typeface="Calibri"/>
                <a:cs typeface="Calibri"/>
              </a:rPr>
              <a:t>[3:0]</a:t>
            </a:r>
            <a:r>
              <a:rPr sz="1550" b="1" spc="55" dirty="0">
                <a:latin typeface="Calibri"/>
                <a:cs typeface="Calibri"/>
              </a:rPr>
              <a:t> </a:t>
            </a:r>
            <a:r>
              <a:rPr sz="1550" b="1" spc="-25" dirty="0">
                <a:latin typeface="Calibri"/>
                <a:cs typeface="Calibri"/>
              </a:rPr>
              <a:t>a; </a:t>
            </a:r>
            <a:r>
              <a:rPr sz="1550" b="1" dirty="0">
                <a:latin typeface="Calibri"/>
                <a:cs typeface="Calibri"/>
              </a:rPr>
              <a:t>wire</a:t>
            </a:r>
            <a:r>
              <a:rPr sz="1550" b="1" spc="20" dirty="0">
                <a:latin typeface="Calibri"/>
                <a:cs typeface="Calibri"/>
              </a:rPr>
              <a:t> </a:t>
            </a:r>
            <a:r>
              <a:rPr sz="1550" b="1" spc="-25" dirty="0">
                <a:latin typeface="Calibri"/>
                <a:cs typeface="Calibri"/>
              </a:rPr>
              <a:t>y</a:t>
            </a:r>
            <a:r>
              <a:rPr sz="1550" b="1" spc="-25" dirty="0">
                <a:latin typeface="宋体"/>
                <a:cs typeface="宋体"/>
              </a:rPr>
              <a:t>；</a:t>
            </a:r>
            <a:r>
              <a:rPr sz="1550" b="1" spc="500" dirty="0">
                <a:latin typeface="宋体"/>
                <a:cs typeface="宋体"/>
              </a:rPr>
              <a:t> </a:t>
            </a:r>
            <a:r>
              <a:rPr sz="1550" b="1" spc="-25" dirty="0">
                <a:latin typeface="宋体"/>
                <a:cs typeface="宋体"/>
              </a:rPr>
              <a:t>语句</a:t>
            </a:r>
            <a:endParaRPr sz="1550">
              <a:latin typeface="宋体"/>
              <a:cs typeface="宋体"/>
            </a:endParaRPr>
          </a:p>
        </p:txBody>
      </p:sp>
      <p:sp>
        <p:nvSpPr>
          <p:cNvPr id="15" name="object 15"/>
          <p:cNvSpPr txBox="1">
            <a:spLocks noGrp="1"/>
          </p:cNvSpPr>
          <p:nvPr>
            <p:ph type="ftr" sz="quarter" idx="5"/>
          </p:nvPr>
        </p:nvSpPr>
        <p:spPr>
          <a:prstGeom prst="rect">
            <a:avLst/>
          </a:prstGeom>
        </p:spPr>
        <p:txBody>
          <a:bodyPr vert="horz" wrap="square" lIns="0" tIns="23495" rIns="0" bIns="0" rtlCol="0">
            <a:spAutoFit/>
          </a:bodyPr>
          <a:lstStyle/>
          <a:p>
            <a:pPr marL="13335">
              <a:lnSpc>
                <a:spcPct val="100000"/>
              </a:lnSpc>
              <a:spcBef>
                <a:spcPts val="185"/>
              </a:spcBef>
            </a:pPr>
            <a:r>
              <a:rPr dirty="0"/>
              <a:t>Xilinx</a:t>
            </a:r>
            <a:r>
              <a:rPr spc="-5" dirty="0"/>
              <a:t> 大学合作部 </a:t>
            </a:r>
            <a:r>
              <a:rPr dirty="0"/>
              <a:t>&amp;</a:t>
            </a:r>
            <a:r>
              <a:rPr spc="-10" dirty="0"/>
              <a:t> 东南大学</a:t>
            </a:r>
          </a:p>
        </p:txBody>
      </p:sp>
      <p:sp>
        <p:nvSpPr>
          <p:cNvPr id="16" name="object 16"/>
          <p:cNvSpPr txBox="1">
            <a:spLocks noGrp="1"/>
          </p:cNvSpPr>
          <p:nvPr>
            <p:ph type="sldNum" sz="quarter" idx="7"/>
          </p:nvPr>
        </p:nvSpPr>
        <p:spPr>
          <a:prstGeom prst="rect">
            <a:avLst/>
          </a:prstGeom>
        </p:spPr>
        <p:txBody>
          <a:bodyPr vert="horz" wrap="square" lIns="0" tIns="4445" rIns="0" bIns="0" rtlCol="0">
            <a:spAutoFit/>
          </a:bodyPr>
          <a:lstStyle/>
          <a:p>
            <a:pPr marL="38735">
              <a:lnSpc>
                <a:spcPct val="100000"/>
              </a:lnSpc>
              <a:spcBef>
                <a:spcPts val="35"/>
              </a:spcBef>
            </a:pPr>
            <a:fld id="{81D60167-4931-47E6-BA6A-407CBD079E47}" type="slidenum">
              <a:rPr spc="-25" dirty="0"/>
              <a:t>28</a:t>
            </a:fld>
            <a:endParaRPr spc="-25" dirty="0"/>
          </a:p>
        </p:txBody>
      </p:sp>
      <p:sp>
        <p:nvSpPr>
          <p:cNvPr id="12" name="object 12"/>
          <p:cNvSpPr txBox="1"/>
          <p:nvPr/>
        </p:nvSpPr>
        <p:spPr>
          <a:xfrm>
            <a:off x="5753084" y="4840947"/>
            <a:ext cx="1654175" cy="266065"/>
          </a:xfrm>
          <a:prstGeom prst="rect">
            <a:avLst/>
          </a:prstGeom>
        </p:spPr>
        <p:txBody>
          <a:bodyPr vert="horz" wrap="square" lIns="0" tIns="15875" rIns="0" bIns="0" rtlCol="0">
            <a:spAutoFit/>
          </a:bodyPr>
          <a:lstStyle/>
          <a:p>
            <a:pPr marL="12700">
              <a:lnSpc>
                <a:spcPct val="100000"/>
              </a:lnSpc>
              <a:spcBef>
                <a:spcPts val="125"/>
              </a:spcBef>
            </a:pPr>
            <a:r>
              <a:rPr sz="1550" b="1" dirty="0">
                <a:solidFill>
                  <a:srgbClr val="00B0EF"/>
                </a:solidFill>
                <a:latin typeface="Calibri"/>
                <a:cs typeface="Calibri"/>
              </a:rPr>
              <a:t>//only</a:t>
            </a:r>
            <a:r>
              <a:rPr sz="1550" b="1" spc="5" dirty="0">
                <a:solidFill>
                  <a:srgbClr val="00B0EF"/>
                </a:solidFill>
                <a:latin typeface="Calibri"/>
                <a:cs typeface="Calibri"/>
              </a:rPr>
              <a:t> </a:t>
            </a:r>
            <a:r>
              <a:rPr sz="1550" b="1" dirty="0">
                <a:solidFill>
                  <a:srgbClr val="00B0EF"/>
                </a:solidFill>
                <a:latin typeface="Calibri"/>
                <a:cs typeface="Calibri"/>
              </a:rPr>
              <a:t>one</a:t>
            </a:r>
            <a:r>
              <a:rPr sz="1550" b="1" spc="5" dirty="0">
                <a:solidFill>
                  <a:srgbClr val="00B0EF"/>
                </a:solidFill>
                <a:latin typeface="Calibri"/>
                <a:cs typeface="Calibri"/>
              </a:rPr>
              <a:t> </a:t>
            </a:r>
            <a:r>
              <a:rPr sz="1550" b="1" spc="-10" dirty="0">
                <a:solidFill>
                  <a:srgbClr val="00B0EF"/>
                </a:solidFill>
                <a:latin typeface="Calibri"/>
                <a:cs typeface="Calibri"/>
              </a:rPr>
              <a:t>operand</a:t>
            </a:r>
            <a:endParaRPr sz="1550">
              <a:latin typeface="Calibri"/>
              <a:cs typeface="Calibri"/>
            </a:endParaRPr>
          </a:p>
        </p:txBody>
      </p:sp>
      <p:sp>
        <p:nvSpPr>
          <p:cNvPr id="13" name="object 13"/>
          <p:cNvSpPr txBox="1"/>
          <p:nvPr/>
        </p:nvSpPr>
        <p:spPr>
          <a:xfrm>
            <a:off x="4434072" y="4720242"/>
            <a:ext cx="1207135" cy="748030"/>
          </a:xfrm>
          <a:prstGeom prst="rect">
            <a:avLst/>
          </a:prstGeom>
        </p:spPr>
        <p:txBody>
          <a:bodyPr vert="horz" wrap="square" lIns="0" tIns="136525" rIns="0" bIns="0" rtlCol="0">
            <a:spAutoFit/>
          </a:bodyPr>
          <a:lstStyle/>
          <a:p>
            <a:pPr marL="12700">
              <a:lnSpc>
                <a:spcPct val="100000"/>
              </a:lnSpc>
              <a:spcBef>
                <a:spcPts val="1075"/>
              </a:spcBef>
            </a:pPr>
            <a:r>
              <a:rPr sz="1550" b="1" dirty="0">
                <a:latin typeface="Calibri"/>
                <a:cs typeface="Calibri"/>
              </a:rPr>
              <a:t>assign</a:t>
            </a:r>
            <a:r>
              <a:rPr sz="1550" b="1" spc="390" dirty="0">
                <a:latin typeface="Calibri"/>
                <a:cs typeface="Calibri"/>
              </a:rPr>
              <a:t> </a:t>
            </a:r>
            <a:r>
              <a:rPr sz="1550" b="1" dirty="0">
                <a:latin typeface="Calibri"/>
                <a:cs typeface="Calibri"/>
              </a:rPr>
              <a:t>y</a:t>
            </a:r>
            <a:r>
              <a:rPr sz="1550" b="1" spc="30" dirty="0">
                <a:latin typeface="Calibri"/>
                <a:cs typeface="Calibri"/>
              </a:rPr>
              <a:t> </a:t>
            </a:r>
            <a:r>
              <a:rPr sz="1550" b="1" dirty="0">
                <a:latin typeface="Calibri"/>
                <a:cs typeface="Calibri"/>
              </a:rPr>
              <a:t>=</a:t>
            </a:r>
            <a:r>
              <a:rPr sz="1550" b="1" spc="25" dirty="0">
                <a:latin typeface="Calibri"/>
                <a:cs typeface="Calibri"/>
              </a:rPr>
              <a:t> </a:t>
            </a:r>
            <a:r>
              <a:rPr sz="1550" b="1" dirty="0">
                <a:latin typeface="Calibri"/>
                <a:cs typeface="Calibri"/>
              </a:rPr>
              <a:t>|</a:t>
            </a:r>
            <a:r>
              <a:rPr sz="1550" b="1" spc="25" dirty="0">
                <a:latin typeface="Calibri"/>
                <a:cs typeface="Calibri"/>
              </a:rPr>
              <a:t> </a:t>
            </a:r>
            <a:r>
              <a:rPr sz="1550" b="1" spc="-25" dirty="0">
                <a:latin typeface="Calibri"/>
                <a:cs typeface="Calibri"/>
              </a:rPr>
              <a:t>a;</a:t>
            </a:r>
            <a:endParaRPr sz="1550">
              <a:latin typeface="Calibri"/>
              <a:cs typeface="Calibri"/>
            </a:endParaRPr>
          </a:p>
          <a:p>
            <a:pPr marL="12700">
              <a:lnSpc>
                <a:spcPct val="100000"/>
              </a:lnSpc>
              <a:spcBef>
                <a:spcPts val="985"/>
              </a:spcBef>
            </a:pPr>
            <a:r>
              <a:rPr sz="1550" b="1" spc="-15" dirty="0">
                <a:latin typeface="宋体"/>
                <a:cs typeface="宋体"/>
              </a:rPr>
              <a:t>相当于：</a:t>
            </a:r>
            <a:endParaRPr sz="1550">
              <a:latin typeface="宋体"/>
              <a:cs typeface="宋体"/>
            </a:endParaRPr>
          </a:p>
        </p:txBody>
      </p:sp>
      <p:sp>
        <p:nvSpPr>
          <p:cNvPr id="14" name="object 14"/>
          <p:cNvSpPr txBox="1"/>
          <p:nvPr/>
        </p:nvSpPr>
        <p:spPr>
          <a:xfrm>
            <a:off x="4434072" y="5562568"/>
            <a:ext cx="2804795" cy="266065"/>
          </a:xfrm>
          <a:prstGeom prst="rect">
            <a:avLst/>
          </a:prstGeom>
        </p:spPr>
        <p:txBody>
          <a:bodyPr vert="horz" wrap="square" lIns="0" tIns="15875" rIns="0" bIns="0" rtlCol="0">
            <a:spAutoFit/>
          </a:bodyPr>
          <a:lstStyle/>
          <a:p>
            <a:pPr marL="12700">
              <a:lnSpc>
                <a:spcPct val="100000"/>
              </a:lnSpc>
              <a:spcBef>
                <a:spcPts val="125"/>
              </a:spcBef>
            </a:pPr>
            <a:r>
              <a:rPr sz="1550" b="1" dirty="0">
                <a:latin typeface="Calibri"/>
                <a:cs typeface="Calibri"/>
              </a:rPr>
              <a:t>assign</a:t>
            </a:r>
            <a:r>
              <a:rPr sz="1550" b="1" spc="390" dirty="0">
                <a:latin typeface="Calibri"/>
                <a:cs typeface="Calibri"/>
              </a:rPr>
              <a:t> </a:t>
            </a:r>
            <a:r>
              <a:rPr sz="1550" b="1" dirty="0">
                <a:latin typeface="Calibri"/>
                <a:cs typeface="Calibri"/>
              </a:rPr>
              <a:t>y</a:t>
            </a:r>
            <a:r>
              <a:rPr sz="1550" b="1" spc="35" dirty="0">
                <a:latin typeface="Calibri"/>
                <a:cs typeface="Calibri"/>
              </a:rPr>
              <a:t> </a:t>
            </a:r>
            <a:r>
              <a:rPr sz="1550" b="1" dirty="0">
                <a:latin typeface="Calibri"/>
                <a:cs typeface="Calibri"/>
              </a:rPr>
              <a:t>=</a:t>
            </a:r>
            <a:r>
              <a:rPr sz="1550" b="1" spc="30" dirty="0">
                <a:latin typeface="Calibri"/>
                <a:cs typeface="Calibri"/>
              </a:rPr>
              <a:t> </a:t>
            </a:r>
            <a:r>
              <a:rPr sz="1550" b="1" dirty="0">
                <a:latin typeface="Calibri"/>
                <a:cs typeface="Calibri"/>
              </a:rPr>
              <a:t>a[3]</a:t>
            </a:r>
            <a:r>
              <a:rPr sz="1550" b="1" spc="35" dirty="0">
                <a:latin typeface="Calibri"/>
                <a:cs typeface="Calibri"/>
              </a:rPr>
              <a:t> </a:t>
            </a:r>
            <a:r>
              <a:rPr sz="1550" b="1" dirty="0">
                <a:latin typeface="Calibri"/>
                <a:cs typeface="Calibri"/>
              </a:rPr>
              <a:t>|</a:t>
            </a:r>
            <a:r>
              <a:rPr sz="1550" b="1" spc="30" dirty="0">
                <a:latin typeface="Calibri"/>
                <a:cs typeface="Calibri"/>
              </a:rPr>
              <a:t> </a:t>
            </a:r>
            <a:r>
              <a:rPr sz="1550" b="1" dirty="0">
                <a:latin typeface="Calibri"/>
                <a:cs typeface="Calibri"/>
              </a:rPr>
              <a:t>a[2]</a:t>
            </a:r>
            <a:r>
              <a:rPr sz="1550" b="1" spc="40" dirty="0">
                <a:latin typeface="Calibri"/>
                <a:cs typeface="Calibri"/>
              </a:rPr>
              <a:t> </a:t>
            </a:r>
            <a:r>
              <a:rPr sz="1550" b="1" dirty="0">
                <a:latin typeface="Calibri"/>
                <a:cs typeface="Calibri"/>
              </a:rPr>
              <a:t>|</a:t>
            </a:r>
            <a:r>
              <a:rPr sz="1550" b="1" spc="20" dirty="0">
                <a:latin typeface="Calibri"/>
                <a:cs typeface="Calibri"/>
              </a:rPr>
              <a:t> </a:t>
            </a:r>
            <a:r>
              <a:rPr sz="1550" b="1" dirty="0">
                <a:latin typeface="Calibri"/>
                <a:cs typeface="Calibri"/>
              </a:rPr>
              <a:t>a[1]|</a:t>
            </a:r>
            <a:r>
              <a:rPr sz="1550" b="1" spc="40" dirty="0">
                <a:latin typeface="Calibri"/>
                <a:cs typeface="Calibri"/>
              </a:rPr>
              <a:t> </a:t>
            </a:r>
            <a:r>
              <a:rPr sz="1550" b="1" spc="-10" dirty="0">
                <a:latin typeface="Calibri"/>
                <a:cs typeface="Calibri"/>
              </a:rPr>
              <a:t>a[0];</a:t>
            </a:r>
            <a:endParaRPr sz="1550">
              <a:latin typeface="Calibri"/>
              <a:cs typeface="Calibri"/>
            </a:endParaRPr>
          </a:p>
        </p:txBody>
      </p:sp>
      <p:sp>
        <p:nvSpPr>
          <p:cNvPr id="17" name="object 3">
            <a:extLst>
              <a:ext uri="{FF2B5EF4-FFF2-40B4-BE49-F238E27FC236}">
                <a16:creationId xmlns:a16="http://schemas.microsoft.com/office/drawing/2014/main" id="{ED2CBA3D-6152-C4C0-9628-A71C240A4645}"/>
              </a:ext>
            </a:extLst>
          </p:cNvPr>
          <p:cNvSpPr txBox="1">
            <a:spLocks/>
          </p:cNvSpPr>
          <p:nvPr/>
        </p:nvSpPr>
        <p:spPr>
          <a:xfrm>
            <a:off x="241300" y="200025"/>
            <a:ext cx="7288905" cy="524503"/>
          </a:xfrm>
          <a:prstGeom prst="rect">
            <a:avLst/>
          </a:prstGeom>
        </p:spPr>
        <p:txBody>
          <a:bodyPr vert="horz" wrap="square" lIns="0" tIns="16510" rIns="0" bIns="0" rtlCol="0">
            <a:spAutoFit/>
          </a:bodyPr>
          <a:lstStyle>
            <a:lvl1pPr>
              <a:defRPr sz="2800" b="0" i="0">
                <a:solidFill>
                  <a:srgbClr val="3F3F3F"/>
                </a:solidFill>
                <a:latin typeface="Calibri"/>
                <a:ea typeface="+mj-ea"/>
                <a:cs typeface="Calibri"/>
              </a:defRPr>
            </a:lvl1pPr>
          </a:lstStyle>
          <a:p>
            <a:pPr marL="12700">
              <a:spcBef>
                <a:spcPts val="130"/>
              </a:spcBef>
            </a:pPr>
            <a:r>
              <a:rPr lang="zh-CN" altLang="en-US" sz="3300" b="1" spc="-15" dirty="0">
                <a:solidFill>
                  <a:srgbClr val="000000"/>
                </a:solidFill>
                <a:latin typeface="宋体"/>
                <a:cs typeface="宋体"/>
              </a:rPr>
              <a:t>缩减操作符</a:t>
            </a:r>
            <a:endParaRPr lang="zh-CN" altLang="en-US" sz="3300" dirty="0">
              <a:latin typeface="宋体"/>
              <a:cs typeface="宋体"/>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578237" y="1267822"/>
            <a:ext cx="2862580" cy="2638425"/>
            <a:chOff x="342785" y="1854707"/>
            <a:chExt cx="2862580" cy="2638425"/>
          </a:xfrm>
        </p:grpSpPr>
        <p:sp>
          <p:nvSpPr>
            <p:cNvPr id="4" name="object 4"/>
            <p:cNvSpPr/>
            <p:nvPr/>
          </p:nvSpPr>
          <p:spPr>
            <a:xfrm>
              <a:off x="342785" y="1854707"/>
              <a:ext cx="2862580" cy="2638425"/>
            </a:xfrm>
            <a:custGeom>
              <a:avLst/>
              <a:gdLst/>
              <a:ahLst/>
              <a:cxnLst/>
              <a:rect l="l" t="t" r="r" b="b"/>
              <a:pathLst>
                <a:path w="2862580" h="2638425">
                  <a:moveTo>
                    <a:pt x="2862072" y="2638044"/>
                  </a:moveTo>
                  <a:lnTo>
                    <a:pt x="2862072" y="0"/>
                  </a:lnTo>
                  <a:lnTo>
                    <a:pt x="0" y="0"/>
                  </a:lnTo>
                  <a:lnTo>
                    <a:pt x="0" y="2638044"/>
                  </a:lnTo>
                  <a:lnTo>
                    <a:pt x="3810" y="2638044"/>
                  </a:lnTo>
                  <a:lnTo>
                    <a:pt x="3810" y="8382"/>
                  </a:lnTo>
                  <a:lnTo>
                    <a:pt x="8382" y="3810"/>
                  </a:lnTo>
                  <a:lnTo>
                    <a:pt x="8382" y="8382"/>
                  </a:lnTo>
                  <a:lnTo>
                    <a:pt x="2853690" y="8381"/>
                  </a:lnTo>
                  <a:lnTo>
                    <a:pt x="2853690" y="3810"/>
                  </a:lnTo>
                  <a:lnTo>
                    <a:pt x="2858261" y="8381"/>
                  </a:lnTo>
                  <a:lnTo>
                    <a:pt x="2858262" y="2638044"/>
                  </a:lnTo>
                  <a:lnTo>
                    <a:pt x="2862072" y="2638044"/>
                  </a:lnTo>
                  <a:close/>
                </a:path>
                <a:path w="2862580" h="2638425">
                  <a:moveTo>
                    <a:pt x="8382" y="8382"/>
                  </a:moveTo>
                  <a:lnTo>
                    <a:pt x="8382" y="3810"/>
                  </a:lnTo>
                  <a:lnTo>
                    <a:pt x="3810" y="8382"/>
                  </a:lnTo>
                  <a:lnTo>
                    <a:pt x="8382" y="8382"/>
                  </a:lnTo>
                  <a:close/>
                </a:path>
                <a:path w="2862580" h="2638425">
                  <a:moveTo>
                    <a:pt x="8382" y="2629662"/>
                  </a:moveTo>
                  <a:lnTo>
                    <a:pt x="8382" y="8382"/>
                  </a:lnTo>
                  <a:lnTo>
                    <a:pt x="3810" y="8382"/>
                  </a:lnTo>
                  <a:lnTo>
                    <a:pt x="3810" y="2629662"/>
                  </a:lnTo>
                  <a:lnTo>
                    <a:pt x="8382" y="2629662"/>
                  </a:lnTo>
                  <a:close/>
                </a:path>
                <a:path w="2862580" h="2638425">
                  <a:moveTo>
                    <a:pt x="2858262" y="2629662"/>
                  </a:moveTo>
                  <a:lnTo>
                    <a:pt x="3810" y="2629662"/>
                  </a:lnTo>
                  <a:lnTo>
                    <a:pt x="8382" y="2633472"/>
                  </a:lnTo>
                  <a:lnTo>
                    <a:pt x="8382" y="2638044"/>
                  </a:lnTo>
                  <a:lnTo>
                    <a:pt x="2853690" y="2638044"/>
                  </a:lnTo>
                  <a:lnTo>
                    <a:pt x="2853690" y="2633472"/>
                  </a:lnTo>
                  <a:lnTo>
                    <a:pt x="2858262" y="2629662"/>
                  </a:lnTo>
                  <a:close/>
                </a:path>
                <a:path w="2862580" h="2638425">
                  <a:moveTo>
                    <a:pt x="8382" y="2638044"/>
                  </a:moveTo>
                  <a:lnTo>
                    <a:pt x="8382" y="2633472"/>
                  </a:lnTo>
                  <a:lnTo>
                    <a:pt x="3810" y="2629662"/>
                  </a:lnTo>
                  <a:lnTo>
                    <a:pt x="3810" y="2638044"/>
                  </a:lnTo>
                  <a:lnTo>
                    <a:pt x="8382" y="2638044"/>
                  </a:lnTo>
                  <a:close/>
                </a:path>
                <a:path w="2862580" h="2638425">
                  <a:moveTo>
                    <a:pt x="2858261" y="8381"/>
                  </a:moveTo>
                  <a:lnTo>
                    <a:pt x="2853690" y="3810"/>
                  </a:lnTo>
                  <a:lnTo>
                    <a:pt x="2853690" y="8381"/>
                  </a:lnTo>
                  <a:lnTo>
                    <a:pt x="2858261" y="8381"/>
                  </a:lnTo>
                  <a:close/>
                </a:path>
                <a:path w="2862580" h="2638425">
                  <a:moveTo>
                    <a:pt x="2858262" y="2629662"/>
                  </a:moveTo>
                  <a:lnTo>
                    <a:pt x="2858261" y="8381"/>
                  </a:lnTo>
                  <a:lnTo>
                    <a:pt x="2853690" y="8381"/>
                  </a:lnTo>
                  <a:lnTo>
                    <a:pt x="2853690" y="2629662"/>
                  </a:lnTo>
                  <a:lnTo>
                    <a:pt x="2858262" y="2629662"/>
                  </a:lnTo>
                  <a:close/>
                </a:path>
                <a:path w="2862580" h="2638425">
                  <a:moveTo>
                    <a:pt x="2858262" y="2638044"/>
                  </a:moveTo>
                  <a:lnTo>
                    <a:pt x="2858262" y="2629662"/>
                  </a:lnTo>
                  <a:lnTo>
                    <a:pt x="2853690" y="2633472"/>
                  </a:lnTo>
                  <a:lnTo>
                    <a:pt x="2853690" y="2638044"/>
                  </a:lnTo>
                  <a:lnTo>
                    <a:pt x="2858262" y="2638044"/>
                  </a:lnTo>
                  <a:close/>
                </a:path>
              </a:pathLst>
            </a:custGeom>
            <a:solidFill>
              <a:srgbClr val="000000"/>
            </a:solidFill>
          </p:spPr>
          <p:txBody>
            <a:bodyPr wrap="square" lIns="0" tIns="0" rIns="0" bIns="0" rtlCol="0"/>
            <a:lstStyle/>
            <a:p>
              <a:endParaRPr/>
            </a:p>
          </p:txBody>
        </p:sp>
        <p:pic>
          <p:nvPicPr>
            <p:cNvPr id="5" name="object 5"/>
            <p:cNvPicPr/>
            <p:nvPr/>
          </p:nvPicPr>
          <p:blipFill>
            <a:blip r:embed="rId2" cstate="print"/>
            <a:stretch>
              <a:fillRect/>
            </a:stretch>
          </p:blipFill>
          <p:spPr>
            <a:xfrm>
              <a:off x="420509" y="2010155"/>
              <a:ext cx="213359" cy="204215"/>
            </a:xfrm>
            <a:prstGeom prst="rect">
              <a:avLst/>
            </a:prstGeom>
          </p:spPr>
        </p:pic>
      </p:grpSp>
      <p:sp>
        <p:nvSpPr>
          <p:cNvPr id="6" name="object 6"/>
          <p:cNvSpPr txBox="1"/>
          <p:nvPr/>
        </p:nvSpPr>
        <p:spPr>
          <a:xfrm>
            <a:off x="854328" y="1296270"/>
            <a:ext cx="2289423" cy="390492"/>
          </a:xfrm>
          <a:prstGeom prst="rect">
            <a:avLst/>
          </a:prstGeom>
        </p:spPr>
        <p:txBody>
          <a:bodyPr vert="horz" wrap="square" lIns="0" tIns="13335" rIns="0" bIns="0" rtlCol="0">
            <a:spAutoFit/>
          </a:bodyPr>
          <a:lstStyle/>
          <a:p>
            <a:pPr marL="12700">
              <a:lnSpc>
                <a:spcPct val="100000"/>
              </a:lnSpc>
              <a:spcBef>
                <a:spcPts val="105"/>
              </a:spcBef>
            </a:pPr>
            <a:r>
              <a:rPr sz="2450" b="1" spc="-10" dirty="0">
                <a:solidFill>
                  <a:srgbClr val="3E3E3E"/>
                </a:solidFill>
                <a:latin typeface="Arial"/>
                <a:cs typeface="Arial"/>
              </a:rPr>
              <a:t>4-</a:t>
            </a:r>
            <a:r>
              <a:rPr sz="2450" b="1" dirty="0">
                <a:solidFill>
                  <a:srgbClr val="3E3E3E"/>
                </a:solidFill>
                <a:latin typeface="Arial"/>
                <a:cs typeface="Arial"/>
              </a:rPr>
              <a:t>3</a:t>
            </a:r>
            <a:r>
              <a:rPr sz="2450" b="1" spc="15" dirty="0">
                <a:solidFill>
                  <a:srgbClr val="3E3E3E"/>
                </a:solidFill>
                <a:latin typeface="Arial"/>
                <a:cs typeface="Arial"/>
              </a:rPr>
              <a:t>. </a:t>
            </a:r>
            <a:r>
              <a:rPr sz="2450" b="1" spc="-35" dirty="0" err="1">
                <a:solidFill>
                  <a:srgbClr val="3E3E3E"/>
                </a:solidFill>
                <a:latin typeface="宋体"/>
                <a:cs typeface="宋体"/>
              </a:rPr>
              <a:t>逻辑</a:t>
            </a:r>
            <a:r>
              <a:rPr lang="zh-CN" altLang="en-US" sz="2450" b="1" spc="-35" dirty="0">
                <a:solidFill>
                  <a:srgbClr val="3E3E3E"/>
                </a:solidFill>
                <a:latin typeface="宋体"/>
                <a:cs typeface="宋体"/>
              </a:rPr>
              <a:t>操作符</a:t>
            </a:r>
            <a:endParaRPr sz="2450" dirty="0">
              <a:latin typeface="宋体"/>
              <a:cs typeface="宋体"/>
            </a:endParaRPr>
          </a:p>
        </p:txBody>
      </p:sp>
      <p:sp>
        <p:nvSpPr>
          <p:cNvPr id="7" name="object 7"/>
          <p:cNvSpPr txBox="1"/>
          <p:nvPr/>
        </p:nvSpPr>
        <p:spPr>
          <a:xfrm>
            <a:off x="850495" y="1952625"/>
            <a:ext cx="1910080" cy="1527810"/>
          </a:xfrm>
          <a:prstGeom prst="rect">
            <a:avLst/>
          </a:prstGeom>
        </p:spPr>
        <p:txBody>
          <a:bodyPr vert="horz" wrap="square" lIns="0" tIns="139700" rIns="0" bIns="0" rtlCol="0">
            <a:spAutoFit/>
          </a:bodyPr>
          <a:lstStyle/>
          <a:p>
            <a:pPr marL="71120">
              <a:lnSpc>
                <a:spcPct val="100000"/>
              </a:lnSpc>
              <a:spcBef>
                <a:spcPts val="1100"/>
              </a:spcBef>
              <a:tabLst>
                <a:tab pos="872490" algn="l"/>
              </a:tabLst>
            </a:pPr>
            <a:r>
              <a:rPr sz="2450" b="1" spc="-25" dirty="0">
                <a:solidFill>
                  <a:srgbClr val="3E3E3E"/>
                </a:solidFill>
                <a:latin typeface="Arial"/>
                <a:cs typeface="Arial"/>
              </a:rPr>
              <a:t>&amp;&amp;</a:t>
            </a:r>
            <a:r>
              <a:rPr sz="2450" b="1" dirty="0">
                <a:solidFill>
                  <a:srgbClr val="3E3E3E"/>
                </a:solidFill>
                <a:latin typeface="Arial"/>
                <a:cs typeface="Arial"/>
              </a:rPr>
              <a:t>	</a:t>
            </a:r>
            <a:r>
              <a:rPr sz="2450" b="1" spc="-35" dirty="0">
                <a:solidFill>
                  <a:srgbClr val="3E3E3E"/>
                </a:solidFill>
                <a:latin typeface="宋体"/>
                <a:cs typeface="宋体"/>
              </a:rPr>
              <a:t>逻辑与</a:t>
            </a:r>
            <a:endParaRPr sz="2450">
              <a:latin typeface="宋体"/>
              <a:cs typeface="宋体"/>
            </a:endParaRPr>
          </a:p>
          <a:p>
            <a:pPr marL="12700">
              <a:lnSpc>
                <a:spcPct val="100000"/>
              </a:lnSpc>
              <a:spcBef>
                <a:spcPts val="1000"/>
              </a:spcBef>
              <a:tabLst>
                <a:tab pos="959485" algn="l"/>
              </a:tabLst>
            </a:pPr>
            <a:r>
              <a:rPr sz="2450" b="1" spc="-25" dirty="0">
                <a:solidFill>
                  <a:srgbClr val="3E3E3E"/>
                </a:solidFill>
                <a:latin typeface="Arial"/>
                <a:cs typeface="Arial"/>
              </a:rPr>
              <a:t>||</a:t>
            </a:r>
            <a:r>
              <a:rPr sz="2450" b="1" dirty="0">
                <a:solidFill>
                  <a:srgbClr val="3E3E3E"/>
                </a:solidFill>
                <a:latin typeface="Arial"/>
                <a:cs typeface="Arial"/>
              </a:rPr>
              <a:t>	</a:t>
            </a:r>
            <a:r>
              <a:rPr sz="2450" b="1" spc="-35" dirty="0">
                <a:solidFill>
                  <a:srgbClr val="3E3E3E"/>
                </a:solidFill>
                <a:latin typeface="宋体"/>
                <a:cs typeface="宋体"/>
              </a:rPr>
              <a:t>逻辑或</a:t>
            </a:r>
            <a:endParaRPr sz="2450">
              <a:latin typeface="宋体"/>
              <a:cs typeface="宋体"/>
            </a:endParaRPr>
          </a:p>
          <a:p>
            <a:pPr marL="12700">
              <a:lnSpc>
                <a:spcPct val="100000"/>
              </a:lnSpc>
              <a:spcBef>
                <a:spcPts val="1005"/>
              </a:spcBef>
              <a:tabLst>
                <a:tab pos="959485" algn="l"/>
              </a:tabLst>
            </a:pPr>
            <a:r>
              <a:rPr sz="2450" b="1" spc="-50" dirty="0">
                <a:solidFill>
                  <a:srgbClr val="3E3E3E"/>
                </a:solidFill>
                <a:latin typeface="宋体"/>
                <a:cs typeface="宋体"/>
              </a:rPr>
              <a:t>！</a:t>
            </a:r>
            <a:r>
              <a:rPr sz="2450" b="1" dirty="0">
                <a:solidFill>
                  <a:srgbClr val="3E3E3E"/>
                </a:solidFill>
                <a:latin typeface="宋体"/>
                <a:cs typeface="宋体"/>
              </a:rPr>
              <a:t>	</a:t>
            </a:r>
            <a:r>
              <a:rPr sz="2450" b="1" spc="-35" dirty="0">
                <a:solidFill>
                  <a:srgbClr val="3E3E3E"/>
                </a:solidFill>
                <a:latin typeface="宋体"/>
                <a:cs typeface="宋体"/>
              </a:rPr>
              <a:t>逻辑非</a:t>
            </a:r>
            <a:endParaRPr sz="2450">
              <a:latin typeface="宋体"/>
              <a:cs typeface="宋体"/>
            </a:endParaRPr>
          </a:p>
        </p:txBody>
      </p:sp>
      <p:sp>
        <p:nvSpPr>
          <p:cNvPr id="8" name="object 8"/>
          <p:cNvSpPr/>
          <p:nvPr/>
        </p:nvSpPr>
        <p:spPr>
          <a:xfrm>
            <a:off x="4404338" y="1265664"/>
            <a:ext cx="5105402" cy="2456180"/>
          </a:xfrm>
          <a:custGeom>
            <a:avLst/>
            <a:gdLst/>
            <a:ahLst/>
            <a:cxnLst/>
            <a:rect l="l" t="t" r="r" b="b"/>
            <a:pathLst>
              <a:path w="5389245" h="2456179">
                <a:moveTo>
                  <a:pt x="5388864" y="2453640"/>
                </a:moveTo>
                <a:lnTo>
                  <a:pt x="5388864" y="2285"/>
                </a:lnTo>
                <a:lnTo>
                  <a:pt x="5386578" y="0"/>
                </a:lnTo>
                <a:lnTo>
                  <a:pt x="1523" y="0"/>
                </a:lnTo>
                <a:lnTo>
                  <a:pt x="0" y="2286"/>
                </a:lnTo>
                <a:lnTo>
                  <a:pt x="0" y="2453640"/>
                </a:lnTo>
                <a:lnTo>
                  <a:pt x="1524" y="2455926"/>
                </a:lnTo>
                <a:lnTo>
                  <a:pt x="3810" y="2455926"/>
                </a:lnTo>
                <a:lnTo>
                  <a:pt x="3810" y="8382"/>
                </a:lnTo>
                <a:lnTo>
                  <a:pt x="8382" y="4572"/>
                </a:lnTo>
                <a:lnTo>
                  <a:pt x="8382" y="8382"/>
                </a:lnTo>
                <a:lnTo>
                  <a:pt x="5380482" y="8381"/>
                </a:lnTo>
                <a:lnTo>
                  <a:pt x="5380482" y="4571"/>
                </a:lnTo>
                <a:lnTo>
                  <a:pt x="5384292" y="8381"/>
                </a:lnTo>
                <a:lnTo>
                  <a:pt x="5384292" y="2455926"/>
                </a:lnTo>
                <a:lnTo>
                  <a:pt x="5386578" y="2455926"/>
                </a:lnTo>
                <a:lnTo>
                  <a:pt x="5388864" y="2453640"/>
                </a:lnTo>
                <a:close/>
              </a:path>
              <a:path w="5389245" h="2456179">
                <a:moveTo>
                  <a:pt x="8382" y="8382"/>
                </a:moveTo>
                <a:lnTo>
                  <a:pt x="8382" y="4572"/>
                </a:lnTo>
                <a:lnTo>
                  <a:pt x="3810" y="8382"/>
                </a:lnTo>
                <a:lnTo>
                  <a:pt x="8382" y="8382"/>
                </a:lnTo>
                <a:close/>
              </a:path>
              <a:path w="5389245" h="2456179">
                <a:moveTo>
                  <a:pt x="8382" y="2447544"/>
                </a:moveTo>
                <a:lnTo>
                  <a:pt x="8382" y="8382"/>
                </a:lnTo>
                <a:lnTo>
                  <a:pt x="3810" y="8382"/>
                </a:lnTo>
                <a:lnTo>
                  <a:pt x="3810" y="2447544"/>
                </a:lnTo>
                <a:lnTo>
                  <a:pt x="8382" y="2447544"/>
                </a:lnTo>
                <a:close/>
              </a:path>
              <a:path w="5389245" h="2456179">
                <a:moveTo>
                  <a:pt x="5384292" y="2447544"/>
                </a:moveTo>
                <a:lnTo>
                  <a:pt x="3810" y="2447544"/>
                </a:lnTo>
                <a:lnTo>
                  <a:pt x="8382" y="2451354"/>
                </a:lnTo>
                <a:lnTo>
                  <a:pt x="8382" y="2455926"/>
                </a:lnTo>
                <a:lnTo>
                  <a:pt x="5380482" y="2455926"/>
                </a:lnTo>
                <a:lnTo>
                  <a:pt x="5380482" y="2451354"/>
                </a:lnTo>
                <a:lnTo>
                  <a:pt x="5384292" y="2447544"/>
                </a:lnTo>
                <a:close/>
              </a:path>
              <a:path w="5389245" h="2456179">
                <a:moveTo>
                  <a:pt x="8382" y="2455926"/>
                </a:moveTo>
                <a:lnTo>
                  <a:pt x="8382" y="2451354"/>
                </a:lnTo>
                <a:lnTo>
                  <a:pt x="3810" y="2447544"/>
                </a:lnTo>
                <a:lnTo>
                  <a:pt x="3810" y="2455926"/>
                </a:lnTo>
                <a:lnTo>
                  <a:pt x="8382" y="2455926"/>
                </a:lnTo>
                <a:close/>
              </a:path>
              <a:path w="5389245" h="2456179">
                <a:moveTo>
                  <a:pt x="5384292" y="8381"/>
                </a:moveTo>
                <a:lnTo>
                  <a:pt x="5380482" y="4571"/>
                </a:lnTo>
                <a:lnTo>
                  <a:pt x="5380482" y="8381"/>
                </a:lnTo>
                <a:lnTo>
                  <a:pt x="5384292" y="8381"/>
                </a:lnTo>
                <a:close/>
              </a:path>
              <a:path w="5389245" h="2456179">
                <a:moveTo>
                  <a:pt x="5384292" y="2447544"/>
                </a:moveTo>
                <a:lnTo>
                  <a:pt x="5384292" y="8381"/>
                </a:lnTo>
                <a:lnTo>
                  <a:pt x="5380482" y="8381"/>
                </a:lnTo>
                <a:lnTo>
                  <a:pt x="5380482" y="2447544"/>
                </a:lnTo>
                <a:lnTo>
                  <a:pt x="5384292" y="2447544"/>
                </a:lnTo>
                <a:close/>
              </a:path>
              <a:path w="5389245" h="2456179">
                <a:moveTo>
                  <a:pt x="5384292" y="2455926"/>
                </a:moveTo>
                <a:lnTo>
                  <a:pt x="5384292" y="2447544"/>
                </a:lnTo>
                <a:lnTo>
                  <a:pt x="5380482" y="2451354"/>
                </a:lnTo>
                <a:lnTo>
                  <a:pt x="5380482" y="2455926"/>
                </a:lnTo>
                <a:lnTo>
                  <a:pt x="5384292" y="2455926"/>
                </a:lnTo>
                <a:close/>
              </a:path>
            </a:pathLst>
          </a:custGeom>
          <a:solidFill>
            <a:srgbClr val="FF0000"/>
          </a:solidFill>
        </p:spPr>
        <p:txBody>
          <a:bodyPr wrap="square" lIns="0" tIns="0" rIns="0" bIns="0" rtlCol="0"/>
          <a:lstStyle/>
          <a:p>
            <a:endParaRPr/>
          </a:p>
        </p:txBody>
      </p:sp>
      <p:sp>
        <p:nvSpPr>
          <p:cNvPr id="9" name="object 9"/>
          <p:cNvSpPr txBox="1">
            <a:spLocks noGrp="1"/>
          </p:cNvSpPr>
          <p:nvPr>
            <p:ph type="body" idx="1"/>
          </p:nvPr>
        </p:nvSpPr>
        <p:spPr>
          <a:xfrm>
            <a:off x="4430202" y="1263806"/>
            <a:ext cx="5054371" cy="2360839"/>
          </a:xfrm>
          <a:prstGeom prst="rect">
            <a:avLst/>
          </a:prstGeom>
        </p:spPr>
        <p:txBody>
          <a:bodyPr vert="horz" wrap="square" lIns="0" tIns="12700" rIns="0" bIns="0" rtlCol="0">
            <a:spAutoFit/>
          </a:bodyPr>
          <a:lstStyle/>
          <a:p>
            <a:pPr marL="12700" marR="5080" indent="358775" algn="just">
              <a:lnSpc>
                <a:spcPct val="150400"/>
              </a:lnSpc>
              <a:spcBef>
                <a:spcPts val="100"/>
              </a:spcBef>
            </a:pPr>
            <a:r>
              <a:rPr spc="-15" dirty="0"/>
              <a:t>逻辑操作和位操作不同，逻辑运算总是返回一个１位的值，当运算的所有位都是０时</a:t>
            </a:r>
            <a:r>
              <a:rPr dirty="0"/>
              <a:t>返回假</a:t>
            </a:r>
            <a:r>
              <a:rPr spc="-10" dirty="0"/>
              <a:t>（</a:t>
            </a:r>
            <a:r>
              <a:rPr spc="-10" dirty="0">
                <a:latin typeface="Calibri"/>
                <a:cs typeface="Calibri"/>
              </a:rPr>
              <a:t>0</a:t>
            </a:r>
            <a:r>
              <a:rPr spc="-10" dirty="0"/>
              <a:t>），至少有一位是１时返回真</a:t>
            </a:r>
            <a:r>
              <a:rPr spc="-25" dirty="0"/>
              <a:t>（</a:t>
            </a:r>
            <a:r>
              <a:rPr spc="-25" dirty="0">
                <a:latin typeface="Calibri"/>
                <a:cs typeface="Calibri"/>
              </a:rPr>
              <a:t>1</a:t>
            </a:r>
            <a:r>
              <a:rPr spc="-10" dirty="0"/>
              <a:t>）</a:t>
            </a:r>
            <a:r>
              <a:rPr spc="-15" dirty="0"/>
              <a:t>。所以逻辑运算应该用作布尔表达式的逻辑连接。</a:t>
            </a:r>
          </a:p>
        </p:txBody>
      </p:sp>
      <p:sp>
        <p:nvSpPr>
          <p:cNvPr id="12" name="object 12"/>
          <p:cNvSpPr txBox="1">
            <a:spLocks noGrp="1"/>
          </p:cNvSpPr>
          <p:nvPr>
            <p:ph type="ftr" sz="quarter" idx="5"/>
          </p:nvPr>
        </p:nvSpPr>
        <p:spPr>
          <a:prstGeom prst="rect">
            <a:avLst/>
          </a:prstGeom>
        </p:spPr>
        <p:txBody>
          <a:bodyPr vert="horz" wrap="square" lIns="0" tIns="23495" rIns="0" bIns="0" rtlCol="0">
            <a:spAutoFit/>
          </a:bodyPr>
          <a:lstStyle/>
          <a:p>
            <a:pPr marL="13335">
              <a:lnSpc>
                <a:spcPct val="100000"/>
              </a:lnSpc>
              <a:spcBef>
                <a:spcPts val="185"/>
              </a:spcBef>
            </a:pPr>
            <a:r>
              <a:rPr dirty="0"/>
              <a:t>Xilinx</a:t>
            </a:r>
            <a:r>
              <a:rPr spc="-5" dirty="0"/>
              <a:t> 大学合作部 </a:t>
            </a:r>
            <a:r>
              <a:rPr dirty="0"/>
              <a:t>&amp;</a:t>
            </a:r>
            <a:r>
              <a:rPr spc="-10" dirty="0"/>
              <a:t> 东南大学</a:t>
            </a:r>
          </a:p>
        </p:txBody>
      </p:sp>
      <p:sp>
        <p:nvSpPr>
          <p:cNvPr id="13" name="object 13"/>
          <p:cNvSpPr txBox="1">
            <a:spLocks noGrp="1"/>
          </p:cNvSpPr>
          <p:nvPr>
            <p:ph type="sldNum" sz="quarter" idx="7"/>
          </p:nvPr>
        </p:nvSpPr>
        <p:spPr>
          <a:prstGeom prst="rect">
            <a:avLst/>
          </a:prstGeom>
        </p:spPr>
        <p:txBody>
          <a:bodyPr vert="horz" wrap="square" lIns="0" tIns="4445" rIns="0" bIns="0" rtlCol="0">
            <a:spAutoFit/>
          </a:bodyPr>
          <a:lstStyle/>
          <a:p>
            <a:pPr marL="38735">
              <a:lnSpc>
                <a:spcPct val="100000"/>
              </a:lnSpc>
              <a:spcBef>
                <a:spcPts val="35"/>
              </a:spcBef>
            </a:pPr>
            <a:fld id="{81D60167-4931-47E6-BA6A-407CBD079E47}" type="slidenum">
              <a:rPr spc="-25" dirty="0"/>
              <a:t>29</a:t>
            </a:fld>
            <a:endParaRPr spc="-25" dirty="0"/>
          </a:p>
        </p:txBody>
      </p:sp>
      <p:sp>
        <p:nvSpPr>
          <p:cNvPr id="10" name="object 10"/>
          <p:cNvSpPr txBox="1"/>
          <p:nvPr/>
        </p:nvSpPr>
        <p:spPr>
          <a:xfrm>
            <a:off x="5155293" y="3868815"/>
            <a:ext cx="3696335" cy="266065"/>
          </a:xfrm>
          <a:prstGeom prst="rect">
            <a:avLst/>
          </a:prstGeom>
        </p:spPr>
        <p:txBody>
          <a:bodyPr vert="horz" wrap="square" lIns="0" tIns="15875" rIns="0" bIns="0" rtlCol="0">
            <a:spAutoFit/>
          </a:bodyPr>
          <a:lstStyle/>
          <a:p>
            <a:pPr marL="12700">
              <a:lnSpc>
                <a:spcPct val="100000"/>
              </a:lnSpc>
              <a:spcBef>
                <a:spcPts val="125"/>
              </a:spcBef>
            </a:pPr>
            <a:r>
              <a:rPr sz="1550" b="1" dirty="0">
                <a:latin typeface="Calibri"/>
                <a:cs typeface="Calibri"/>
              </a:rPr>
              <a:t>(state==idle)</a:t>
            </a:r>
            <a:r>
              <a:rPr sz="1550" b="1" spc="5" dirty="0">
                <a:latin typeface="Calibri"/>
                <a:cs typeface="Calibri"/>
              </a:rPr>
              <a:t> </a:t>
            </a:r>
            <a:r>
              <a:rPr sz="1550" b="1" dirty="0">
                <a:latin typeface="Calibri"/>
                <a:cs typeface="Calibri"/>
              </a:rPr>
              <a:t>||</a:t>
            </a:r>
            <a:r>
              <a:rPr sz="1550" b="1" spc="20" dirty="0">
                <a:latin typeface="Calibri"/>
                <a:cs typeface="Calibri"/>
              </a:rPr>
              <a:t> </a:t>
            </a:r>
            <a:r>
              <a:rPr sz="1550" b="1" dirty="0">
                <a:latin typeface="Calibri"/>
                <a:cs typeface="Calibri"/>
              </a:rPr>
              <a:t>((state==op))</a:t>
            </a:r>
            <a:r>
              <a:rPr sz="1550" b="1" spc="30" dirty="0">
                <a:latin typeface="Calibri"/>
                <a:cs typeface="Calibri"/>
              </a:rPr>
              <a:t> </a:t>
            </a:r>
            <a:r>
              <a:rPr sz="1550" b="1" dirty="0">
                <a:latin typeface="Calibri"/>
                <a:cs typeface="Calibri"/>
              </a:rPr>
              <a:t>&amp;&amp;</a:t>
            </a:r>
            <a:r>
              <a:rPr sz="1550" b="1" spc="15" dirty="0">
                <a:latin typeface="Calibri"/>
                <a:cs typeface="Calibri"/>
              </a:rPr>
              <a:t> </a:t>
            </a:r>
            <a:r>
              <a:rPr sz="1550" b="1" spc="-10" dirty="0">
                <a:latin typeface="Calibri"/>
                <a:cs typeface="Calibri"/>
              </a:rPr>
              <a:t>(count&gt;10)</a:t>
            </a:r>
            <a:endParaRPr sz="1550" dirty="0">
              <a:latin typeface="Calibri"/>
              <a:cs typeface="Calibri"/>
            </a:endParaRPr>
          </a:p>
        </p:txBody>
      </p:sp>
      <p:graphicFrame>
        <p:nvGraphicFramePr>
          <p:cNvPr id="11" name="object 11"/>
          <p:cNvGraphicFramePr>
            <a:graphicFrameLocks noGrp="1"/>
          </p:cNvGraphicFramePr>
          <p:nvPr>
            <p:extLst>
              <p:ext uri="{D42A27DB-BD31-4B8C-83A1-F6EECF244321}">
                <p14:modId xmlns:p14="http://schemas.microsoft.com/office/powerpoint/2010/main" val="3769251029"/>
              </p:ext>
            </p:extLst>
          </p:nvPr>
        </p:nvGraphicFramePr>
        <p:xfrm>
          <a:off x="1681523" y="4346923"/>
          <a:ext cx="7128508" cy="1574800"/>
        </p:xfrm>
        <a:graphic>
          <a:graphicData uri="http://schemas.openxmlformats.org/drawingml/2006/table">
            <a:tbl>
              <a:tblPr firstRow="1" bandRow="1">
                <a:tableStyleId>{2D5ABB26-0587-4C30-8999-92F81FD0307C}</a:tableStyleId>
              </a:tblPr>
              <a:tblGrid>
                <a:gridCol w="1188085">
                  <a:extLst>
                    <a:ext uri="{9D8B030D-6E8A-4147-A177-3AD203B41FA5}">
                      <a16:colId xmlns:a16="http://schemas.microsoft.com/office/drawing/2014/main" val="20000"/>
                    </a:ext>
                  </a:extLst>
                </a:gridCol>
                <a:gridCol w="1188085">
                  <a:extLst>
                    <a:ext uri="{9D8B030D-6E8A-4147-A177-3AD203B41FA5}">
                      <a16:colId xmlns:a16="http://schemas.microsoft.com/office/drawing/2014/main" val="20001"/>
                    </a:ext>
                  </a:extLst>
                </a:gridCol>
                <a:gridCol w="1188084">
                  <a:extLst>
                    <a:ext uri="{9D8B030D-6E8A-4147-A177-3AD203B41FA5}">
                      <a16:colId xmlns:a16="http://schemas.microsoft.com/office/drawing/2014/main" val="20002"/>
                    </a:ext>
                  </a:extLst>
                </a:gridCol>
                <a:gridCol w="1188085">
                  <a:extLst>
                    <a:ext uri="{9D8B030D-6E8A-4147-A177-3AD203B41FA5}">
                      <a16:colId xmlns:a16="http://schemas.microsoft.com/office/drawing/2014/main" val="20003"/>
                    </a:ext>
                  </a:extLst>
                </a:gridCol>
                <a:gridCol w="1188085">
                  <a:extLst>
                    <a:ext uri="{9D8B030D-6E8A-4147-A177-3AD203B41FA5}">
                      <a16:colId xmlns:a16="http://schemas.microsoft.com/office/drawing/2014/main" val="20004"/>
                    </a:ext>
                  </a:extLst>
                </a:gridCol>
                <a:gridCol w="1188084">
                  <a:extLst>
                    <a:ext uri="{9D8B030D-6E8A-4147-A177-3AD203B41FA5}">
                      <a16:colId xmlns:a16="http://schemas.microsoft.com/office/drawing/2014/main" val="20005"/>
                    </a:ext>
                  </a:extLst>
                </a:gridCol>
              </a:tblGrid>
              <a:tr h="325120">
                <a:tc>
                  <a:txBody>
                    <a:bodyPr/>
                    <a:lstStyle/>
                    <a:p>
                      <a:pPr marL="635" algn="ctr">
                        <a:lnSpc>
                          <a:spcPct val="100000"/>
                        </a:lnSpc>
                        <a:spcBef>
                          <a:spcPts val="300"/>
                        </a:spcBef>
                      </a:pPr>
                      <a:r>
                        <a:rPr sz="1550" b="1" spc="-50" dirty="0">
                          <a:solidFill>
                            <a:srgbClr val="FFFFFF"/>
                          </a:solidFill>
                          <a:latin typeface="Arial"/>
                          <a:cs typeface="Arial"/>
                        </a:rPr>
                        <a:t>a</a:t>
                      </a:r>
                      <a:endParaRPr sz="1550">
                        <a:latin typeface="Arial"/>
                        <a:cs typeface="Arial"/>
                      </a:endParaRP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8BA7"/>
                    </a:solidFill>
                  </a:tcPr>
                </a:tc>
                <a:tc>
                  <a:txBody>
                    <a:bodyPr/>
                    <a:lstStyle/>
                    <a:p>
                      <a:pPr algn="ctr">
                        <a:lnSpc>
                          <a:spcPct val="100000"/>
                        </a:lnSpc>
                        <a:spcBef>
                          <a:spcPts val="300"/>
                        </a:spcBef>
                      </a:pPr>
                      <a:r>
                        <a:rPr sz="1550" b="1" spc="-50" dirty="0">
                          <a:solidFill>
                            <a:srgbClr val="FFFFFF"/>
                          </a:solidFill>
                          <a:latin typeface="Arial"/>
                          <a:cs typeface="Arial"/>
                        </a:rPr>
                        <a:t>b</a:t>
                      </a:r>
                      <a:endParaRPr sz="1550">
                        <a:latin typeface="Arial"/>
                        <a:cs typeface="Arial"/>
                      </a:endParaRP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8BA7"/>
                    </a:solidFill>
                  </a:tcPr>
                </a:tc>
                <a:tc>
                  <a:txBody>
                    <a:bodyPr/>
                    <a:lstStyle/>
                    <a:p>
                      <a:pPr algn="ctr">
                        <a:lnSpc>
                          <a:spcPct val="100000"/>
                        </a:lnSpc>
                        <a:spcBef>
                          <a:spcPts val="300"/>
                        </a:spcBef>
                      </a:pPr>
                      <a:r>
                        <a:rPr sz="1550" b="1" spc="-25" dirty="0">
                          <a:solidFill>
                            <a:srgbClr val="FFFFFF"/>
                          </a:solidFill>
                          <a:latin typeface="Arial"/>
                          <a:cs typeface="Arial"/>
                        </a:rPr>
                        <a:t>a&amp;b</a:t>
                      </a:r>
                      <a:endParaRPr sz="1550">
                        <a:latin typeface="Arial"/>
                        <a:cs typeface="Arial"/>
                      </a:endParaRP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8BA7"/>
                    </a:solidFill>
                  </a:tcPr>
                </a:tc>
                <a:tc>
                  <a:txBody>
                    <a:bodyPr/>
                    <a:lstStyle/>
                    <a:p>
                      <a:pPr algn="ctr">
                        <a:lnSpc>
                          <a:spcPct val="100000"/>
                        </a:lnSpc>
                        <a:spcBef>
                          <a:spcPts val="300"/>
                        </a:spcBef>
                      </a:pPr>
                      <a:r>
                        <a:rPr sz="1550" b="1" spc="-25" dirty="0">
                          <a:solidFill>
                            <a:srgbClr val="FFFFFF"/>
                          </a:solidFill>
                          <a:latin typeface="Arial"/>
                          <a:cs typeface="Arial"/>
                        </a:rPr>
                        <a:t>a|b</a:t>
                      </a:r>
                      <a:endParaRPr sz="1550">
                        <a:latin typeface="Arial"/>
                        <a:cs typeface="Arial"/>
                      </a:endParaRP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8BA7"/>
                    </a:solidFill>
                  </a:tcPr>
                </a:tc>
                <a:tc>
                  <a:txBody>
                    <a:bodyPr/>
                    <a:lstStyle/>
                    <a:p>
                      <a:pPr marL="635" algn="ctr">
                        <a:lnSpc>
                          <a:spcPct val="100000"/>
                        </a:lnSpc>
                        <a:spcBef>
                          <a:spcPts val="300"/>
                        </a:spcBef>
                      </a:pPr>
                      <a:r>
                        <a:rPr sz="1550" b="1" spc="-20" dirty="0">
                          <a:solidFill>
                            <a:srgbClr val="FFFFFF"/>
                          </a:solidFill>
                          <a:latin typeface="Arial"/>
                          <a:cs typeface="Arial"/>
                        </a:rPr>
                        <a:t>a&amp;&amp;b</a:t>
                      </a:r>
                      <a:endParaRPr sz="1550">
                        <a:latin typeface="Arial"/>
                        <a:cs typeface="Arial"/>
                      </a:endParaRP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8BA7"/>
                    </a:solidFill>
                  </a:tcPr>
                </a:tc>
                <a:tc>
                  <a:txBody>
                    <a:bodyPr/>
                    <a:lstStyle/>
                    <a:p>
                      <a:pPr marL="1270" algn="ctr">
                        <a:lnSpc>
                          <a:spcPct val="100000"/>
                        </a:lnSpc>
                        <a:spcBef>
                          <a:spcPts val="300"/>
                        </a:spcBef>
                      </a:pPr>
                      <a:r>
                        <a:rPr sz="1550" b="1" spc="-20" dirty="0">
                          <a:solidFill>
                            <a:srgbClr val="FFFFFF"/>
                          </a:solidFill>
                          <a:latin typeface="Arial"/>
                          <a:cs typeface="Arial"/>
                        </a:rPr>
                        <a:t>a||b</a:t>
                      </a:r>
                      <a:endParaRPr sz="1550">
                        <a:latin typeface="Arial"/>
                        <a:cs typeface="Arial"/>
                      </a:endParaRP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8BA7"/>
                    </a:solidFill>
                  </a:tcPr>
                </a:tc>
                <a:extLst>
                  <a:ext uri="{0D108BD9-81ED-4DB2-BD59-A6C34878D82A}">
                    <a16:rowId xmlns:a16="http://schemas.microsoft.com/office/drawing/2014/main" val="10000"/>
                  </a:ext>
                </a:extLst>
              </a:tr>
              <a:tr h="325120">
                <a:tc>
                  <a:txBody>
                    <a:bodyPr/>
                    <a:lstStyle/>
                    <a:p>
                      <a:pPr marL="635" algn="ctr">
                        <a:lnSpc>
                          <a:spcPct val="100000"/>
                        </a:lnSpc>
                        <a:spcBef>
                          <a:spcPts val="305"/>
                        </a:spcBef>
                      </a:pPr>
                      <a:r>
                        <a:rPr sz="1550" spc="-50" dirty="0">
                          <a:latin typeface="Arial"/>
                          <a:cs typeface="Arial"/>
                        </a:rPr>
                        <a:t>0</a:t>
                      </a:r>
                      <a:endParaRPr sz="1550">
                        <a:latin typeface="Arial"/>
                        <a:cs typeface="Arial"/>
                      </a:endParaRPr>
                    </a:p>
                  </a:txBody>
                  <a:tcPr marL="0" marR="0" marT="3873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DAE0"/>
                    </a:solidFill>
                  </a:tcPr>
                </a:tc>
                <a:tc>
                  <a:txBody>
                    <a:bodyPr/>
                    <a:lstStyle/>
                    <a:p>
                      <a:pPr marL="635" algn="ctr">
                        <a:lnSpc>
                          <a:spcPct val="100000"/>
                        </a:lnSpc>
                        <a:spcBef>
                          <a:spcPts val="305"/>
                        </a:spcBef>
                      </a:pPr>
                      <a:r>
                        <a:rPr sz="1550" spc="-50" dirty="0">
                          <a:latin typeface="Arial"/>
                          <a:cs typeface="Arial"/>
                        </a:rPr>
                        <a:t>1</a:t>
                      </a:r>
                      <a:endParaRPr sz="1550">
                        <a:latin typeface="Arial"/>
                        <a:cs typeface="Arial"/>
                      </a:endParaRPr>
                    </a:p>
                  </a:txBody>
                  <a:tcPr marL="0" marR="0" marT="3873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DAE0"/>
                    </a:solidFill>
                  </a:tcPr>
                </a:tc>
                <a:tc>
                  <a:txBody>
                    <a:bodyPr/>
                    <a:lstStyle/>
                    <a:p>
                      <a:pPr marL="635" algn="ctr">
                        <a:lnSpc>
                          <a:spcPct val="100000"/>
                        </a:lnSpc>
                        <a:spcBef>
                          <a:spcPts val="305"/>
                        </a:spcBef>
                      </a:pPr>
                      <a:r>
                        <a:rPr sz="1550" spc="-50" dirty="0">
                          <a:latin typeface="Arial"/>
                          <a:cs typeface="Arial"/>
                        </a:rPr>
                        <a:t>0</a:t>
                      </a:r>
                      <a:endParaRPr sz="1550">
                        <a:latin typeface="Arial"/>
                        <a:cs typeface="Arial"/>
                      </a:endParaRPr>
                    </a:p>
                  </a:txBody>
                  <a:tcPr marL="0" marR="0" marT="3873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DAE0"/>
                    </a:solidFill>
                  </a:tcPr>
                </a:tc>
                <a:tc>
                  <a:txBody>
                    <a:bodyPr/>
                    <a:lstStyle/>
                    <a:p>
                      <a:pPr marL="635" algn="ctr">
                        <a:lnSpc>
                          <a:spcPct val="100000"/>
                        </a:lnSpc>
                        <a:spcBef>
                          <a:spcPts val="305"/>
                        </a:spcBef>
                      </a:pPr>
                      <a:r>
                        <a:rPr sz="1550" spc="-50" dirty="0">
                          <a:latin typeface="Arial"/>
                          <a:cs typeface="Arial"/>
                        </a:rPr>
                        <a:t>1</a:t>
                      </a:r>
                      <a:endParaRPr sz="1550">
                        <a:latin typeface="Arial"/>
                        <a:cs typeface="Arial"/>
                      </a:endParaRPr>
                    </a:p>
                  </a:txBody>
                  <a:tcPr marL="0" marR="0" marT="3873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DAE0"/>
                    </a:solidFill>
                  </a:tcPr>
                </a:tc>
                <a:tc>
                  <a:txBody>
                    <a:bodyPr/>
                    <a:lstStyle/>
                    <a:p>
                      <a:pPr algn="ctr">
                        <a:lnSpc>
                          <a:spcPct val="100000"/>
                        </a:lnSpc>
                        <a:spcBef>
                          <a:spcPts val="305"/>
                        </a:spcBef>
                      </a:pPr>
                      <a:r>
                        <a:rPr sz="1550" spc="-10" dirty="0">
                          <a:latin typeface="Arial"/>
                          <a:cs typeface="Arial"/>
                        </a:rPr>
                        <a:t>0(false)</a:t>
                      </a:r>
                      <a:endParaRPr sz="1550">
                        <a:latin typeface="Arial"/>
                        <a:cs typeface="Arial"/>
                      </a:endParaRPr>
                    </a:p>
                  </a:txBody>
                  <a:tcPr marL="0" marR="0" marT="3873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DAE0"/>
                    </a:solidFill>
                  </a:tcPr>
                </a:tc>
                <a:tc>
                  <a:txBody>
                    <a:bodyPr/>
                    <a:lstStyle/>
                    <a:p>
                      <a:pPr algn="ctr">
                        <a:lnSpc>
                          <a:spcPct val="100000"/>
                        </a:lnSpc>
                        <a:spcBef>
                          <a:spcPts val="305"/>
                        </a:spcBef>
                      </a:pPr>
                      <a:r>
                        <a:rPr sz="1550" spc="-10" dirty="0">
                          <a:latin typeface="Arial"/>
                          <a:cs typeface="Arial"/>
                        </a:rPr>
                        <a:t>1(true)</a:t>
                      </a:r>
                      <a:endParaRPr sz="1550">
                        <a:latin typeface="Arial"/>
                        <a:cs typeface="Arial"/>
                      </a:endParaRPr>
                    </a:p>
                  </a:txBody>
                  <a:tcPr marL="0" marR="0" marT="3873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DAE0"/>
                    </a:solidFill>
                  </a:tcPr>
                </a:tc>
                <a:extLst>
                  <a:ext uri="{0D108BD9-81ED-4DB2-BD59-A6C34878D82A}">
                    <a16:rowId xmlns:a16="http://schemas.microsoft.com/office/drawing/2014/main" val="10001"/>
                  </a:ext>
                </a:extLst>
              </a:tr>
              <a:tr h="324485">
                <a:tc>
                  <a:txBody>
                    <a:bodyPr/>
                    <a:lstStyle/>
                    <a:p>
                      <a:pPr marL="635" algn="ctr">
                        <a:lnSpc>
                          <a:spcPct val="100000"/>
                        </a:lnSpc>
                        <a:spcBef>
                          <a:spcPts val="305"/>
                        </a:spcBef>
                      </a:pPr>
                      <a:r>
                        <a:rPr sz="1550" spc="-25" dirty="0">
                          <a:latin typeface="Arial"/>
                          <a:cs typeface="Arial"/>
                        </a:rPr>
                        <a:t>000</a:t>
                      </a:r>
                      <a:endParaRPr sz="1550">
                        <a:latin typeface="Arial"/>
                        <a:cs typeface="Arial"/>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6EDF0"/>
                    </a:solidFill>
                  </a:tcPr>
                </a:tc>
                <a:tc>
                  <a:txBody>
                    <a:bodyPr/>
                    <a:lstStyle/>
                    <a:p>
                      <a:pPr marL="635" algn="ctr">
                        <a:lnSpc>
                          <a:spcPct val="100000"/>
                        </a:lnSpc>
                        <a:spcBef>
                          <a:spcPts val="305"/>
                        </a:spcBef>
                      </a:pPr>
                      <a:r>
                        <a:rPr sz="1550" spc="-25" dirty="0">
                          <a:latin typeface="Arial"/>
                          <a:cs typeface="Arial"/>
                        </a:rPr>
                        <a:t>000</a:t>
                      </a:r>
                      <a:endParaRPr sz="1550">
                        <a:latin typeface="Arial"/>
                        <a:cs typeface="Arial"/>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6EDF0"/>
                    </a:solidFill>
                  </a:tcPr>
                </a:tc>
                <a:tc>
                  <a:txBody>
                    <a:bodyPr/>
                    <a:lstStyle/>
                    <a:p>
                      <a:pPr marL="635" algn="ctr">
                        <a:lnSpc>
                          <a:spcPct val="100000"/>
                        </a:lnSpc>
                        <a:spcBef>
                          <a:spcPts val="305"/>
                        </a:spcBef>
                      </a:pPr>
                      <a:r>
                        <a:rPr sz="1550" spc="-25" dirty="0">
                          <a:latin typeface="Arial"/>
                          <a:cs typeface="Arial"/>
                        </a:rPr>
                        <a:t>000</a:t>
                      </a:r>
                      <a:endParaRPr sz="1550">
                        <a:latin typeface="Arial"/>
                        <a:cs typeface="Arial"/>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6EDF0"/>
                    </a:solidFill>
                  </a:tcPr>
                </a:tc>
                <a:tc>
                  <a:txBody>
                    <a:bodyPr/>
                    <a:lstStyle/>
                    <a:p>
                      <a:pPr marL="1270" algn="ctr">
                        <a:lnSpc>
                          <a:spcPct val="100000"/>
                        </a:lnSpc>
                        <a:spcBef>
                          <a:spcPts val="305"/>
                        </a:spcBef>
                      </a:pPr>
                      <a:r>
                        <a:rPr sz="1550" spc="-25" dirty="0">
                          <a:latin typeface="Arial"/>
                          <a:cs typeface="Arial"/>
                        </a:rPr>
                        <a:t>000</a:t>
                      </a:r>
                      <a:endParaRPr sz="1550">
                        <a:latin typeface="Arial"/>
                        <a:cs typeface="Arial"/>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6EDF0"/>
                    </a:solidFill>
                  </a:tcPr>
                </a:tc>
                <a:tc>
                  <a:txBody>
                    <a:bodyPr/>
                    <a:lstStyle/>
                    <a:p>
                      <a:pPr algn="ctr">
                        <a:lnSpc>
                          <a:spcPct val="100000"/>
                        </a:lnSpc>
                        <a:spcBef>
                          <a:spcPts val="305"/>
                        </a:spcBef>
                      </a:pPr>
                      <a:r>
                        <a:rPr sz="1550" spc="-10" dirty="0">
                          <a:latin typeface="Arial"/>
                          <a:cs typeface="Arial"/>
                        </a:rPr>
                        <a:t>0(false)</a:t>
                      </a:r>
                      <a:endParaRPr sz="1550">
                        <a:latin typeface="Arial"/>
                        <a:cs typeface="Arial"/>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6EDF0"/>
                    </a:solidFill>
                  </a:tcPr>
                </a:tc>
                <a:tc>
                  <a:txBody>
                    <a:bodyPr/>
                    <a:lstStyle/>
                    <a:p>
                      <a:pPr algn="ctr">
                        <a:lnSpc>
                          <a:spcPct val="100000"/>
                        </a:lnSpc>
                        <a:spcBef>
                          <a:spcPts val="305"/>
                        </a:spcBef>
                      </a:pPr>
                      <a:r>
                        <a:rPr sz="1550" spc="-10" dirty="0">
                          <a:latin typeface="Arial"/>
                          <a:cs typeface="Arial"/>
                        </a:rPr>
                        <a:t>0(false)</a:t>
                      </a:r>
                      <a:endParaRPr sz="1550">
                        <a:latin typeface="Arial"/>
                        <a:cs typeface="Arial"/>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6EDF0"/>
                    </a:solidFill>
                  </a:tcPr>
                </a:tc>
                <a:extLst>
                  <a:ext uri="{0D108BD9-81ED-4DB2-BD59-A6C34878D82A}">
                    <a16:rowId xmlns:a16="http://schemas.microsoft.com/office/drawing/2014/main" val="10002"/>
                  </a:ext>
                </a:extLst>
              </a:tr>
              <a:tr h="325120">
                <a:tc>
                  <a:txBody>
                    <a:bodyPr/>
                    <a:lstStyle/>
                    <a:p>
                      <a:pPr marL="635" algn="ctr">
                        <a:lnSpc>
                          <a:spcPct val="100000"/>
                        </a:lnSpc>
                        <a:spcBef>
                          <a:spcPts val="305"/>
                        </a:spcBef>
                      </a:pPr>
                      <a:r>
                        <a:rPr sz="1550" spc="-25" dirty="0">
                          <a:latin typeface="Arial"/>
                          <a:cs typeface="Arial"/>
                        </a:rPr>
                        <a:t>000</a:t>
                      </a:r>
                      <a:endParaRPr sz="1550">
                        <a:latin typeface="Arial"/>
                        <a:cs typeface="Arial"/>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AE0"/>
                    </a:solidFill>
                  </a:tcPr>
                </a:tc>
                <a:tc>
                  <a:txBody>
                    <a:bodyPr/>
                    <a:lstStyle/>
                    <a:p>
                      <a:pPr marL="635" algn="ctr">
                        <a:lnSpc>
                          <a:spcPct val="100000"/>
                        </a:lnSpc>
                        <a:spcBef>
                          <a:spcPts val="305"/>
                        </a:spcBef>
                      </a:pPr>
                      <a:r>
                        <a:rPr sz="1550" spc="-25" dirty="0">
                          <a:latin typeface="Arial"/>
                          <a:cs typeface="Arial"/>
                        </a:rPr>
                        <a:t>001</a:t>
                      </a:r>
                      <a:endParaRPr sz="1550">
                        <a:latin typeface="Arial"/>
                        <a:cs typeface="Arial"/>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AE0"/>
                    </a:solidFill>
                  </a:tcPr>
                </a:tc>
                <a:tc>
                  <a:txBody>
                    <a:bodyPr/>
                    <a:lstStyle/>
                    <a:p>
                      <a:pPr marL="635" algn="ctr">
                        <a:lnSpc>
                          <a:spcPct val="100000"/>
                        </a:lnSpc>
                        <a:spcBef>
                          <a:spcPts val="305"/>
                        </a:spcBef>
                      </a:pPr>
                      <a:r>
                        <a:rPr sz="1550" spc="-25" dirty="0">
                          <a:latin typeface="Arial"/>
                          <a:cs typeface="Arial"/>
                        </a:rPr>
                        <a:t>000</a:t>
                      </a:r>
                      <a:endParaRPr sz="1550">
                        <a:latin typeface="Arial"/>
                        <a:cs typeface="Arial"/>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AE0"/>
                    </a:solidFill>
                  </a:tcPr>
                </a:tc>
                <a:tc>
                  <a:txBody>
                    <a:bodyPr/>
                    <a:lstStyle/>
                    <a:p>
                      <a:pPr marL="1270" algn="ctr">
                        <a:lnSpc>
                          <a:spcPct val="100000"/>
                        </a:lnSpc>
                        <a:spcBef>
                          <a:spcPts val="305"/>
                        </a:spcBef>
                      </a:pPr>
                      <a:r>
                        <a:rPr sz="1550" spc="-25" dirty="0">
                          <a:latin typeface="Arial"/>
                          <a:cs typeface="Arial"/>
                        </a:rPr>
                        <a:t>001</a:t>
                      </a:r>
                      <a:endParaRPr sz="1550">
                        <a:latin typeface="Arial"/>
                        <a:cs typeface="Arial"/>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AE0"/>
                    </a:solidFill>
                  </a:tcPr>
                </a:tc>
                <a:tc>
                  <a:txBody>
                    <a:bodyPr/>
                    <a:lstStyle/>
                    <a:p>
                      <a:pPr algn="ctr">
                        <a:lnSpc>
                          <a:spcPct val="100000"/>
                        </a:lnSpc>
                        <a:spcBef>
                          <a:spcPts val="305"/>
                        </a:spcBef>
                      </a:pPr>
                      <a:r>
                        <a:rPr sz="1550" spc="-10" dirty="0">
                          <a:latin typeface="Arial"/>
                          <a:cs typeface="Arial"/>
                        </a:rPr>
                        <a:t>0(false)</a:t>
                      </a:r>
                      <a:endParaRPr sz="1550">
                        <a:latin typeface="Arial"/>
                        <a:cs typeface="Arial"/>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AE0"/>
                    </a:solidFill>
                  </a:tcPr>
                </a:tc>
                <a:tc>
                  <a:txBody>
                    <a:bodyPr/>
                    <a:lstStyle/>
                    <a:p>
                      <a:pPr algn="ctr">
                        <a:lnSpc>
                          <a:spcPct val="100000"/>
                        </a:lnSpc>
                        <a:spcBef>
                          <a:spcPts val="305"/>
                        </a:spcBef>
                      </a:pPr>
                      <a:r>
                        <a:rPr sz="1550" spc="-10" dirty="0">
                          <a:latin typeface="Arial"/>
                          <a:cs typeface="Arial"/>
                        </a:rPr>
                        <a:t>1(true)</a:t>
                      </a:r>
                      <a:endParaRPr sz="1550">
                        <a:latin typeface="Arial"/>
                        <a:cs typeface="Arial"/>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AE0"/>
                    </a:solidFill>
                  </a:tcPr>
                </a:tc>
                <a:extLst>
                  <a:ext uri="{0D108BD9-81ED-4DB2-BD59-A6C34878D82A}">
                    <a16:rowId xmlns:a16="http://schemas.microsoft.com/office/drawing/2014/main" val="10003"/>
                  </a:ext>
                </a:extLst>
              </a:tr>
              <a:tr h="249917">
                <a:tc>
                  <a:txBody>
                    <a:bodyPr/>
                    <a:lstStyle/>
                    <a:p>
                      <a:pPr marL="635" algn="ctr">
                        <a:lnSpc>
                          <a:spcPct val="100000"/>
                        </a:lnSpc>
                        <a:spcBef>
                          <a:spcPts val="305"/>
                        </a:spcBef>
                      </a:pPr>
                      <a:r>
                        <a:rPr sz="1550" spc="-25" dirty="0">
                          <a:latin typeface="Arial"/>
                          <a:cs typeface="Arial"/>
                        </a:rPr>
                        <a:t>011</a:t>
                      </a:r>
                      <a:endParaRPr sz="1550">
                        <a:latin typeface="Arial"/>
                        <a:cs typeface="Arial"/>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6EDF0"/>
                    </a:solidFill>
                  </a:tcPr>
                </a:tc>
                <a:tc>
                  <a:txBody>
                    <a:bodyPr/>
                    <a:lstStyle/>
                    <a:p>
                      <a:pPr marL="635" algn="ctr">
                        <a:lnSpc>
                          <a:spcPct val="100000"/>
                        </a:lnSpc>
                        <a:spcBef>
                          <a:spcPts val="305"/>
                        </a:spcBef>
                      </a:pPr>
                      <a:r>
                        <a:rPr sz="1550" spc="-25" dirty="0">
                          <a:latin typeface="Arial"/>
                          <a:cs typeface="Arial"/>
                        </a:rPr>
                        <a:t>001</a:t>
                      </a:r>
                      <a:endParaRPr sz="1550">
                        <a:latin typeface="Arial"/>
                        <a:cs typeface="Arial"/>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6EDF0"/>
                    </a:solidFill>
                  </a:tcPr>
                </a:tc>
                <a:tc>
                  <a:txBody>
                    <a:bodyPr/>
                    <a:lstStyle/>
                    <a:p>
                      <a:pPr marL="635" algn="ctr">
                        <a:lnSpc>
                          <a:spcPct val="100000"/>
                        </a:lnSpc>
                        <a:spcBef>
                          <a:spcPts val="305"/>
                        </a:spcBef>
                      </a:pPr>
                      <a:r>
                        <a:rPr sz="1550" spc="-25" dirty="0">
                          <a:latin typeface="Arial"/>
                          <a:cs typeface="Arial"/>
                        </a:rPr>
                        <a:t>001</a:t>
                      </a:r>
                      <a:endParaRPr sz="1550">
                        <a:latin typeface="Arial"/>
                        <a:cs typeface="Arial"/>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6EDF0"/>
                    </a:solidFill>
                  </a:tcPr>
                </a:tc>
                <a:tc>
                  <a:txBody>
                    <a:bodyPr/>
                    <a:lstStyle/>
                    <a:p>
                      <a:pPr marL="1270" algn="ctr">
                        <a:lnSpc>
                          <a:spcPct val="100000"/>
                        </a:lnSpc>
                        <a:spcBef>
                          <a:spcPts val="305"/>
                        </a:spcBef>
                      </a:pPr>
                      <a:r>
                        <a:rPr sz="1550" spc="-25" dirty="0">
                          <a:latin typeface="Arial"/>
                          <a:cs typeface="Arial"/>
                        </a:rPr>
                        <a:t>011</a:t>
                      </a:r>
                      <a:endParaRPr sz="1550">
                        <a:latin typeface="Arial"/>
                        <a:cs typeface="Arial"/>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6EDF0"/>
                    </a:solidFill>
                  </a:tcPr>
                </a:tc>
                <a:tc>
                  <a:txBody>
                    <a:bodyPr/>
                    <a:lstStyle/>
                    <a:p>
                      <a:pPr algn="ctr">
                        <a:lnSpc>
                          <a:spcPct val="100000"/>
                        </a:lnSpc>
                        <a:spcBef>
                          <a:spcPts val="305"/>
                        </a:spcBef>
                      </a:pPr>
                      <a:r>
                        <a:rPr sz="1550" spc="-10" dirty="0">
                          <a:latin typeface="Arial"/>
                          <a:cs typeface="Arial"/>
                        </a:rPr>
                        <a:t>1(true)</a:t>
                      </a:r>
                      <a:endParaRPr sz="1550">
                        <a:latin typeface="Arial"/>
                        <a:cs typeface="Arial"/>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6EDF0"/>
                    </a:solidFill>
                  </a:tcPr>
                </a:tc>
                <a:tc>
                  <a:txBody>
                    <a:bodyPr/>
                    <a:lstStyle/>
                    <a:p>
                      <a:pPr algn="ctr">
                        <a:lnSpc>
                          <a:spcPct val="100000"/>
                        </a:lnSpc>
                        <a:spcBef>
                          <a:spcPts val="305"/>
                        </a:spcBef>
                      </a:pPr>
                      <a:r>
                        <a:rPr sz="1550" spc="-10" dirty="0">
                          <a:latin typeface="Arial"/>
                          <a:cs typeface="Arial"/>
                        </a:rPr>
                        <a:t>1(true)</a:t>
                      </a:r>
                      <a:endParaRPr sz="1550" dirty="0">
                        <a:latin typeface="Arial"/>
                        <a:cs typeface="Arial"/>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6EDF0"/>
                    </a:solidFill>
                  </a:tcPr>
                </a:tc>
                <a:extLst>
                  <a:ext uri="{0D108BD9-81ED-4DB2-BD59-A6C34878D82A}">
                    <a16:rowId xmlns:a16="http://schemas.microsoft.com/office/drawing/2014/main" val="10004"/>
                  </a:ext>
                </a:extLst>
              </a:tr>
            </a:tbl>
          </a:graphicData>
        </a:graphic>
      </p:graphicFrame>
      <p:sp>
        <p:nvSpPr>
          <p:cNvPr id="14" name="object 3">
            <a:extLst>
              <a:ext uri="{FF2B5EF4-FFF2-40B4-BE49-F238E27FC236}">
                <a16:creationId xmlns:a16="http://schemas.microsoft.com/office/drawing/2014/main" id="{B78CCB70-58DE-45E0-F526-F43F079DA1FA}"/>
              </a:ext>
            </a:extLst>
          </p:cNvPr>
          <p:cNvSpPr txBox="1">
            <a:spLocks/>
          </p:cNvSpPr>
          <p:nvPr/>
        </p:nvSpPr>
        <p:spPr>
          <a:xfrm>
            <a:off x="241300" y="200025"/>
            <a:ext cx="7288905" cy="524503"/>
          </a:xfrm>
          <a:prstGeom prst="rect">
            <a:avLst/>
          </a:prstGeom>
        </p:spPr>
        <p:txBody>
          <a:bodyPr vert="horz" wrap="square" lIns="0" tIns="16510" rIns="0" bIns="0" rtlCol="0">
            <a:spAutoFit/>
          </a:bodyPr>
          <a:lstStyle>
            <a:lvl1pPr>
              <a:defRPr sz="2800" b="0" i="0">
                <a:solidFill>
                  <a:srgbClr val="3F3F3F"/>
                </a:solidFill>
                <a:latin typeface="Calibri"/>
                <a:ea typeface="+mj-ea"/>
                <a:cs typeface="Calibri"/>
              </a:defRPr>
            </a:lvl1pPr>
          </a:lstStyle>
          <a:p>
            <a:pPr marL="12700">
              <a:spcBef>
                <a:spcPts val="130"/>
              </a:spcBef>
            </a:pPr>
            <a:r>
              <a:rPr lang="zh-CN" altLang="en-US" sz="3300" b="1" spc="-15" dirty="0">
                <a:solidFill>
                  <a:srgbClr val="000000"/>
                </a:solidFill>
                <a:latin typeface="宋体"/>
                <a:cs typeface="宋体"/>
              </a:rPr>
              <a:t>逻辑操作符</a:t>
            </a:r>
            <a:endParaRPr lang="zh-CN" altLang="en-US" sz="3300" dirty="0">
              <a:latin typeface="宋体"/>
              <a:cs typeface="宋体"/>
            </a:endParaRPr>
          </a:p>
        </p:txBody>
      </p:sp>
      <p:sp>
        <p:nvSpPr>
          <p:cNvPr id="15" name="object 8">
            <a:extLst>
              <a:ext uri="{FF2B5EF4-FFF2-40B4-BE49-F238E27FC236}">
                <a16:creationId xmlns:a16="http://schemas.microsoft.com/office/drawing/2014/main" id="{2A3F8F1E-B882-AB8A-A175-9B713A1F65A6}"/>
              </a:ext>
            </a:extLst>
          </p:cNvPr>
          <p:cNvSpPr/>
          <p:nvPr/>
        </p:nvSpPr>
        <p:spPr>
          <a:xfrm>
            <a:off x="823347" y="6162221"/>
            <a:ext cx="8663892" cy="906595"/>
          </a:xfrm>
          <a:custGeom>
            <a:avLst/>
            <a:gdLst/>
            <a:ahLst/>
            <a:cxnLst/>
            <a:rect l="l" t="t" r="r" b="b"/>
            <a:pathLst>
              <a:path w="5389245" h="2456179">
                <a:moveTo>
                  <a:pt x="5388864" y="2453640"/>
                </a:moveTo>
                <a:lnTo>
                  <a:pt x="5388864" y="2285"/>
                </a:lnTo>
                <a:lnTo>
                  <a:pt x="5386578" y="0"/>
                </a:lnTo>
                <a:lnTo>
                  <a:pt x="1523" y="0"/>
                </a:lnTo>
                <a:lnTo>
                  <a:pt x="0" y="2286"/>
                </a:lnTo>
                <a:lnTo>
                  <a:pt x="0" y="2453640"/>
                </a:lnTo>
                <a:lnTo>
                  <a:pt x="1524" y="2455926"/>
                </a:lnTo>
                <a:lnTo>
                  <a:pt x="3810" y="2455926"/>
                </a:lnTo>
                <a:lnTo>
                  <a:pt x="3810" y="8382"/>
                </a:lnTo>
                <a:lnTo>
                  <a:pt x="8382" y="4572"/>
                </a:lnTo>
                <a:lnTo>
                  <a:pt x="8382" y="8382"/>
                </a:lnTo>
                <a:lnTo>
                  <a:pt x="5380482" y="8381"/>
                </a:lnTo>
                <a:lnTo>
                  <a:pt x="5380482" y="4571"/>
                </a:lnTo>
                <a:lnTo>
                  <a:pt x="5384292" y="8381"/>
                </a:lnTo>
                <a:lnTo>
                  <a:pt x="5384292" y="2455926"/>
                </a:lnTo>
                <a:lnTo>
                  <a:pt x="5386578" y="2455926"/>
                </a:lnTo>
                <a:lnTo>
                  <a:pt x="5388864" y="2453640"/>
                </a:lnTo>
                <a:close/>
              </a:path>
              <a:path w="5389245" h="2456179">
                <a:moveTo>
                  <a:pt x="8382" y="8382"/>
                </a:moveTo>
                <a:lnTo>
                  <a:pt x="8382" y="4572"/>
                </a:lnTo>
                <a:lnTo>
                  <a:pt x="3810" y="8382"/>
                </a:lnTo>
                <a:lnTo>
                  <a:pt x="8382" y="8382"/>
                </a:lnTo>
                <a:close/>
              </a:path>
              <a:path w="5389245" h="2456179">
                <a:moveTo>
                  <a:pt x="8382" y="2447544"/>
                </a:moveTo>
                <a:lnTo>
                  <a:pt x="8382" y="8382"/>
                </a:lnTo>
                <a:lnTo>
                  <a:pt x="3810" y="8382"/>
                </a:lnTo>
                <a:lnTo>
                  <a:pt x="3810" y="2447544"/>
                </a:lnTo>
                <a:lnTo>
                  <a:pt x="8382" y="2447544"/>
                </a:lnTo>
                <a:close/>
              </a:path>
              <a:path w="5389245" h="2456179">
                <a:moveTo>
                  <a:pt x="5384292" y="2447544"/>
                </a:moveTo>
                <a:lnTo>
                  <a:pt x="3810" y="2447544"/>
                </a:lnTo>
                <a:lnTo>
                  <a:pt x="8382" y="2451354"/>
                </a:lnTo>
                <a:lnTo>
                  <a:pt x="8382" y="2455926"/>
                </a:lnTo>
                <a:lnTo>
                  <a:pt x="5380482" y="2455926"/>
                </a:lnTo>
                <a:lnTo>
                  <a:pt x="5380482" y="2451354"/>
                </a:lnTo>
                <a:lnTo>
                  <a:pt x="5384292" y="2447544"/>
                </a:lnTo>
                <a:close/>
              </a:path>
              <a:path w="5389245" h="2456179">
                <a:moveTo>
                  <a:pt x="8382" y="2455926"/>
                </a:moveTo>
                <a:lnTo>
                  <a:pt x="8382" y="2451354"/>
                </a:lnTo>
                <a:lnTo>
                  <a:pt x="3810" y="2447544"/>
                </a:lnTo>
                <a:lnTo>
                  <a:pt x="3810" y="2455926"/>
                </a:lnTo>
                <a:lnTo>
                  <a:pt x="8382" y="2455926"/>
                </a:lnTo>
                <a:close/>
              </a:path>
              <a:path w="5389245" h="2456179">
                <a:moveTo>
                  <a:pt x="5384292" y="8381"/>
                </a:moveTo>
                <a:lnTo>
                  <a:pt x="5380482" y="4571"/>
                </a:lnTo>
                <a:lnTo>
                  <a:pt x="5380482" y="8381"/>
                </a:lnTo>
                <a:lnTo>
                  <a:pt x="5384292" y="8381"/>
                </a:lnTo>
                <a:close/>
              </a:path>
              <a:path w="5389245" h="2456179">
                <a:moveTo>
                  <a:pt x="5384292" y="2447544"/>
                </a:moveTo>
                <a:lnTo>
                  <a:pt x="5384292" y="8381"/>
                </a:lnTo>
                <a:lnTo>
                  <a:pt x="5380482" y="8381"/>
                </a:lnTo>
                <a:lnTo>
                  <a:pt x="5380482" y="2447544"/>
                </a:lnTo>
                <a:lnTo>
                  <a:pt x="5384292" y="2447544"/>
                </a:lnTo>
                <a:close/>
              </a:path>
              <a:path w="5389245" h="2456179">
                <a:moveTo>
                  <a:pt x="5384292" y="2455926"/>
                </a:moveTo>
                <a:lnTo>
                  <a:pt x="5384292" y="2447544"/>
                </a:lnTo>
                <a:lnTo>
                  <a:pt x="5380482" y="2451354"/>
                </a:lnTo>
                <a:lnTo>
                  <a:pt x="5380482" y="2455926"/>
                </a:lnTo>
                <a:lnTo>
                  <a:pt x="5384292" y="2455926"/>
                </a:lnTo>
                <a:close/>
              </a:path>
            </a:pathLst>
          </a:custGeom>
          <a:solidFill>
            <a:srgbClr val="FF0000"/>
          </a:solidFill>
        </p:spPr>
        <p:txBody>
          <a:bodyPr wrap="square" lIns="0" tIns="0" rIns="0" bIns="0" rtlCol="0"/>
          <a:lstStyle/>
          <a:p>
            <a:endParaRPr/>
          </a:p>
        </p:txBody>
      </p:sp>
      <p:sp>
        <p:nvSpPr>
          <p:cNvPr id="16" name="object 9">
            <a:extLst>
              <a:ext uri="{FF2B5EF4-FFF2-40B4-BE49-F238E27FC236}">
                <a16:creationId xmlns:a16="http://schemas.microsoft.com/office/drawing/2014/main" id="{A31A4E24-8422-A98D-B361-D361962311E8}"/>
              </a:ext>
            </a:extLst>
          </p:cNvPr>
          <p:cNvSpPr txBox="1">
            <a:spLocks/>
          </p:cNvSpPr>
          <p:nvPr/>
        </p:nvSpPr>
        <p:spPr>
          <a:xfrm>
            <a:off x="1004316" y="6135236"/>
            <a:ext cx="8482923" cy="906595"/>
          </a:xfrm>
          <a:prstGeom prst="rect">
            <a:avLst/>
          </a:prstGeom>
        </p:spPr>
        <p:txBody>
          <a:bodyPr vert="horz" wrap="square" lIns="0" tIns="12700" rIns="0" bIns="0" rtlCol="0">
            <a:spAutoFit/>
          </a:bodyPr>
          <a:lstStyle>
            <a:lvl1pPr marL="0">
              <a:defRPr sz="2100" b="0" i="0">
                <a:solidFill>
                  <a:schemeClr val="tx1"/>
                </a:solidFill>
                <a:latin typeface="宋体"/>
                <a:ea typeface="+mn-ea"/>
                <a:cs typeface="宋体"/>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R="5080">
              <a:lnSpc>
                <a:spcPct val="150400"/>
              </a:lnSpc>
              <a:spcBef>
                <a:spcPts val="100"/>
              </a:spcBef>
            </a:pPr>
            <a:r>
              <a:rPr lang="zh-CN" altLang="en-US" spc="-15" dirty="0"/>
              <a:t>操作符执行规则的另一种说明：操作数不为</a:t>
            </a:r>
            <a:r>
              <a:rPr lang="en-US" altLang="zh-CN" spc="-15" dirty="0"/>
              <a:t>0</a:t>
            </a:r>
            <a:r>
              <a:rPr lang="zh-CN" altLang="en-US" spc="-15" dirty="0"/>
              <a:t>，等价于逻辑</a:t>
            </a:r>
            <a:r>
              <a:rPr lang="en-US" altLang="zh-CN" spc="-15" dirty="0"/>
              <a:t>1(</a:t>
            </a:r>
            <a:r>
              <a:rPr lang="zh-CN" altLang="en-US" spc="-15" dirty="0"/>
              <a:t>真</a:t>
            </a:r>
            <a:r>
              <a:rPr lang="en-US" altLang="zh-CN" spc="-15" dirty="0"/>
              <a:t>)</a:t>
            </a:r>
            <a:r>
              <a:rPr lang="zh-CN" altLang="en-US" spc="-15" dirty="0"/>
              <a:t>；操作数等于</a:t>
            </a:r>
            <a:r>
              <a:rPr lang="en-US" altLang="zh-CN" spc="-15" dirty="0"/>
              <a:t>0</a:t>
            </a:r>
            <a:r>
              <a:rPr lang="zh-CN" altLang="en-US" spc="-15" dirty="0"/>
              <a:t>，等价于逻辑</a:t>
            </a:r>
            <a:r>
              <a:rPr lang="en-US" altLang="zh-CN" spc="-15" dirty="0"/>
              <a:t>0(</a:t>
            </a:r>
            <a:r>
              <a:rPr lang="zh-CN" altLang="en-US" spc="-15" dirty="0"/>
              <a:t>假</a:t>
            </a:r>
            <a:r>
              <a:rPr lang="en-US" altLang="zh-CN" spc="-15" dirty="0"/>
              <a:t>)</a:t>
            </a:r>
            <a:r>
              <a:rPr lang="zh-CN" altLang="en-US" spc="-15" dirty="0"/>
              <a:t>。再依此进行逻辑运算，返回一个１位的值</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409908" y="1172719"/>
            <a:ext cx="3873500" cy="4559935"/>
            <a:chOff x="444893" y="1984248"/>
            <a:chExt cx="3873500" cy="4559935"/>
          </a:xfrm>
        </p:grpSpPr>
        <p:sp>
          <p:nvSpPr>
            <p:cNvPr id="4" name="object 4"/>
            <p:cNvSpPr/>
            <p:nvPr/>
          </p:nvSpPr>
          <p:spPr>
            <a:xfrm>
              <a:off x="444893" y="1984248"/>
              <a:ext cx="3873500" cy="4559935"/>
            </a:xfrm>
            <a:custGeom>
              <a:avLst/>
              <a:gdLst/>
              <a:ahLst/>
              <a:cxnLst/>
              <a:rect l="l" t="t" r="r" b="b"/>
              <a:pathLst>
                <a:path w="3873500" h="4559934">
                  <a:moveTo>
                    <a:pt x="3873246" y="4559808"/>
                  </a:moveTo>
                  <a:lnTo>
                    <a:pt x="3873246" y="0"/>
                  </a:lnTo>
                  <a:lnTo>
                    <a:pt x="0" y="0"/>
                  </a:lnTo>
                  <a:lnTo>
                    <a:pt x="0" y="4559808"/>
                  </a:lnTo>
                  <a:lnTo>
                    <a:pt x="3810" y="4559808"/>
                  </a:lnTo>
                  <a:lnTo>
                    <a:pt x="3810" y="8382"/>
                  </a:lnTo>
                  <a:lnTo>
                    <a:pt x="8382" y="4572"/>
                  </a:lnTo>
                  <a:lnTo>
                    <a:pt x="8382" y="8382"/>
                  </a:lnTo>
                  <a:lnTo>
                    <a:pt x="3864864" y="8382"/>
                  </a:lnTo>
                  <a:lnTo>
                    <a:pt x="3864864" y="4572"/>
                  </a:lnTo>
                  <a:lnTo>
                    <a:pt x="3869436" y="8382"/>
                  </a:lnTo>
                  <a:lnTo>
                    <a:pt x="3869436" y="4559808"/>
                  </a:lnTo>
                  <a:lnTo>
                    <a:pt x="3873246" y="4559808"/>
                  </a:lnTo>
                  <a:close/>
                </a:path>
                <a:path w="3873500" h="4559934">
                  <a:moveTo>
                    <a:pt x="8382" y="8382"/>
                  </a:moveTo>
                  <a:lnTo>
                    <a:pt x="8382" y="4572"/>
                  </a:lnTo>
                  <a:lnTo>
                    <a:pt x="3810" y="8382"/>
                  </a:lnTo>
                  <a:lnTo>
                    <a:pt x="8382" y="8382"/>
                  </a:lnTo>
                  <a:close/>
                </a:path>
                <a:path w="3873500" h="4559934">
                  <a:moveTo>
                    <a:pt x="8382" y="4551426"/>
                  </a:moveTo>
                  <a:lnTo>
                    <a:pt x="8382" y="8382"/>
                  </a:lnTo>
                  <a:lnTo>
                    <a:pt x="3810" y="8382"/>
                  </a:lnTo>
                  <a:lnTo>
                    <a:pt x="3810" y="4551426"/>
                  </a:lnTo>
                  <a:lnTo>
                    <a:pt x="8382" y="4551426"/>
                  </a:lnTo>
                  <a:close/>
                </a:path>
                <a:path w="3873500" h="4559934">
                  <a:moveTo>
                    <a:pt x="3869436" y="4551426"/>
                  </a:moveTo>
                  <a:lnTo>
                    <a:pt x="3810" y="4551426"/>
                  </a:lnTo>
                  <a:lnTo>
                    <a:pt x="8382" y="4555998"/>
                  </a:lnTo>
                  <a:lnTo>
                    <a:pt x="8382" y="4559808"/>
                  </a:lnTo>
                  <a:lnTo>
                    <a:pt x="3864864" y="4559808"/>
                  </a:lnTo>
                  <a:lnTo>
                    <a:pt x="3864864" y="4555998"/>
                  </a:lnTo>
                  <a:lnTo>
                    <a:pt x="3869436" y="4551426"/>
                  </a:lnTo>
                  <a:close/>
                </a:path>
                <a:path w="3873500" h="4559934">
                  <a:moveTo>
                    <a:pt x="8382" y="4559808"/>
                  </a:moveTo>
                  <a:lnTo>
                    <a:pt x="8382" y="4555998"/>
                  </a:lnTo>
                  <a:lnTo>
                    <a:pt x="3810" y="4551426"/>
                  </a:lnTo>
                  <a:lnTo>
                    <a:pt x="3810" y="4559808"/>
                  </a:lnTo>
                  <a:lnTo>
                    <a:pt x="8382" y="4559808"/>
                  </a:lnTo>
                  <a:close/>
                </a:path>
                <a:path w="3873500" h="4559934">
                  <a:moveTo>
                    <a:pt x="3869436" y="8382"/>
                  </a:moveTo>
                  <a:lnTo>
                    <a:pt x="3864864" y="4572"/>
                  </a:lnTo>
                  <a:lnTo>
                    <a:pt x="3864864" y="8382"/>
                  </a:lnTo>
                  <a:lnTo>
                    <a:pt x="3869436" y="8382"/>
                  </a:lnTo>
                  <a:close/>
                </a:path>
                <a:path w="3873500" h="4559934">
                  <a:moveTo>
                    <a:pt x="3869436" y="4551426"/>
                  </a:moveTo>
                  <a:lnTo>
                    <a:pt x="3869436" y="8382"/>
                  </a:lnTo>
                  <a:lnTo>
                    <a:pt x="3864864" y="8382"/>
                  </a:lnTo>
                  <a:lnTo>
                    <a:pt x="3864864" y="4551426"/>
                  </a:lnTo>
                  <a:lnTo>
                    <a:pt x="3869436" y="4551426"/>
                  </a:lnTo>
                  <a:close/>
                </a:path>
                <a:path w="3873500" h="4559934">
                  <a:moveTo>
                    <a:pt x="3869436" y="4559808"/>
                  </a:moveTo>
                  <a:lnTo>
                    <a:pt x="3869436" y="4551426"/>
                  </a:lnTo>
                  <a:lnTo>
                    <a:pt x="3864864" y="4555998"/>
                  </a:lnTo>
                  <a:lnTo>
                    <a:pt x="3864864" y="4559808"/>
                  </a:lnTo>
                  <a:lnTo>
                    <a:pt x="3869436" y="4559808"/>
                  </a:lnTo>
                  <a:close/>
                </a:path>
              </a:pathLst>
            </a:custGeom>
            <a:solidFill>
              <a:srgbClr val="000000"/>
            </a:solidFill>
          </p:spPr>
          <p:txBody>
            <a:bodyPr wrap="square" lIns="0" tIns="0" rIns="0" bIns="0" rtlCol="0"/>
            <a:lstStyle/>
            <a:p>
              <a:endParaRPr/>
            </a:p>
          </p:txBody>
        </p:sp>
        <p:pic>
          <p:nvPicPr>
            <p:cNvPr id="5" name="object 5"/>
            <p:cNvPicPr/>
            <p:nvPr/>
          </p:nvPicPr>
          <p:blipFill>
            <a:blip r:embed="rId3" cstate="print"/>
            <a:stretch>
              <a:fillRect/>
            </a:stretch>
          </p:blipFill>
          <p:spPr>
            <a:xfrm>
              <a:off x="524903" y="2159508"/>
              <a:ext cx="229361" cy="229361"/>
            </a:xfrm>
            <a:prstGeom prst="rect">
              <a:avLst/>
            </a:prstGeom>
          </p:spPr>
        </p:pic>
      </p:grpSp>
      <p:sp>
        <p:nvSpPr>
          <p:cNvPr id="6" name="object 6"/>
          <p:cNvSpPr txBox="1"/>
          <p:nvPr/>
        </p:nvSpPr>
        <p:spPr>
          <a:xfrm>
            <a:off x="715717" y="1069789"/>
            <a:ext cx="3986397" cy="1136208"/>
          </a:xfrm>
          <a:prstGeom prst="rect">
            <a:avLst/>
          </a:prstGeom>
        </p:spPr>
        <p:txBody>
          <a:bodyPr vert="horz" wrap="square" lIns="0" tIns="144780" rIns="0" bIns="0" rtlCol="0">
            <a:spAutoFit/>
          </a:bodyPr>
          <a:lstStyle/>
          <a:p>
            <a:pPr marL="12700">
              <a:lnSpc>
                <a:spcPct val="100000"/>
              </a:lnSpc>
              <a:spcBef>
                <a:spcPts val="1140"/>
              </a:spcBef>
            </a:pPr>
            <a:r>
              <a:rPr sz="2800" b="1" dirty="0">
                <a:solidFill>
                  <a:srgbClr val="3E3E3E"/>
                </a:solidFill>
                <a:latin typeface="Arial"/>
                <a:cs typeface="Arial"/>
              </a:rPr>
              <a:t>5</a:t>
            </a:r>
            <a:r>
              <a:rPr sz="2800" b="1" spc="-5" dirty="0">
                <a:solidFill>
                  <a:srgbClr val="3E3E3E"/>
                </a:solidFill>
                <a:latin typeface="Arial"/>
                <a:cs typeface="Arial"/>
              </a:rPr>
              <a:t>. </a:t>
            </a:r>
            <a:r>
              <a:rPr sz="2800" b="1" spc="-10" dirty="0" err="1">
                <a:solidFill>
                  <a:srgbClr val="3E3E3E"/>
                </a:solidFill>
                <a:latin typeface="微软雅黑"/>
                <a:cs typeface="微软雅黑"/>
              </a:rPr>
              <a:t>拼接和</a:t>
            </a:r>
            <a:r>
              <a:rPr lang="zh-CN" altLang="en-US" sz="2800" b="1" spc="-10" dirty="0">
                <a:solidFill>
                  <a:srgbClr val="3E3E3E"/>
                </a:solidFill>
                <a:latin typeface="微软雅黑"/>
                <a:cs typeface="微软雅黑"/>
              </a:rPr>
              <a:t>重复操作符</a:t>
            </a:r>
            <a:endParaRPr lang="zh-CN" altLang="en-US" sz="2800" dirty="0">
              <a:latin typeface="微软雅黑"/>
              <a:cs typeface="微软雅黑"/>
            </a:endParaRPr>
          </a:p>
          <a:p>
            <a:pPr marL="396000">
              <a:lnSpc>
                <a:spcPct val="100000"/>
              </a:lnSpc>
              <a:spcBef>
                <a:spcPts val="1045"/>
              </a:spcBef>
            </a:pPr>
            <a:r>
              <a:rPr lang="en-US" altLang="zh-CN" sz="2800" b="1" dirty="0">
                <a:solidFill>
                  <a:srgbClr val="3E3E3E"/>
                </a:solidFill>
                <a:latin typeface="Arial"/>
                <a:cs typeface="Arial"/>
              </a:rPr>
              <a:t>{ </a:t>
            </a:r>
            <a:r>
              <a:rPr lang="en-US" altLang="zh-CN" sz="2800" b="1" spc="-50" dirty="0">
                <a:solidFill>
                  <a:srgbClr val="3E3E3E"/>
                </a:solidFill>
                <a:latin typeface="Arial"/>
                <a:cs typeface="Arial"/>
              </a:rPr>
              <a:t>}</a:t>
            </a:r>
            <a:endParaRPr lang="zh-CN" altLang="en-US" sz="2800" dirty="0">
              <a:latin typeface="Arial"/>
              <a:cs typeface="Arial"/>
            </a:endParaRPr>
          </a:p>
        </p:txBody>
      </p:sp>
      <p:sp>
        <p:nvSpPr>
          <p:cNvPr id="7" name="object 7"/>
          <p:cNvSpPr txBox="1"/>
          <p:nvPr/>
        </p:nvSpPr>
        <p:spPr>
          <a:xfrm>
            <a:off x="481785" y="2764334"/>
            <a:ext cx="3014345" cy="2707005"/>
          </a:xfrm>
          <a:prstGeom prst="rect">
            <a:avLst/>
          </a:prstGeom>
        </p:spPr>
        <p:txBody>
          <a:bodyPr vert="horz" wrap="square" lIns="0" tIns="128905" rIns="0" bIns="0" rtlCol="0">
            <a:spAutoFit/>
          </a:bodyPr>
          <a:lstStyle/>
          <a:p>
            <a:pPr marL="12700">
              <a:lnSpc>
                <a:spcPct val="100000"/>
              </a:lnSpc>
              <a:spcBef>
                <a:spcPts val="1015"/>
              </a:spcBef>
            </a:pPr>
            <a:r>
              <a:rPr sz="1750" dirty="0">
                <a:solidFill>
                  <a:srgbClr val="3E3E3E"/>
                </a:solidFill>
                <a:latin typeface="Arial"/>
                <a:cs typeface="Arial"/>
              </a:rPr>
              <a:t>wire</a:t>
            </a:r>
            <a:r>
              <a:rPr sz="1750" spc="430" dirty="0">
                <a:solidFill>
                  <a:srgbClr val="3E3E3E"/>
                </a:solidFill>
                <a:latin typeface="Arial"/>
                <a:cs typeface="Arial"/>
              </a:rPr>
              <a:t> </a:t>
            </a:r>
            <a:r>
              <a:rPr sz="1750" spc="-25" dirty="0">
                <a:solidFill>
                  <a:srgbClr val="3E3E3E"/>
                </a:solidFill>
                <a:latin typeface="Arial"/>
                <a:cs typeface="Arial"/>
              </a:rPr>
              <a:t>a1;</a:t>
            </a:r>
            <a:endParaRPr sz="1750">
              <a:latin typeface="Arial"/>
              <a:cs typeface="Arial"/>
            </a:endParaRPr>
          </a:p>
          <a:p>
            <a:pPr marL="12700">
              <a:lnSpc>
                <a:spcPct val="100000"/>
              </a:lnSpc>
              <a:spcBef>
                <a:spcPts val="919"/>
              </a:spcBef>
            </a:pPr>
            <a:r>
              <a:rPr sz="1750" dirty="0">
                <a:solidFill>
                  <a:srgbClr val="3E3E3E"/>
                </a:solidFill>
                <a:latin typeface="Arial"/>
                <a:cs typeface="Arial"/>
              </a:rPr>
              <a:t>wire</a:t>
            </a:r>
            <a:r>
              <a:rPr sz="1750" spc="405" dirty="0">
                <a:solidFill>
                  <a:srgbClr val="3E3E3E"/>
                </a:solidFill>
                <a:latin typeface="Arial"/>
                <a:cs typeface="Arial"/>
              </a:rPr>
              <a:t> </a:t>
            </a:r>
            <a:r>
              <a:rPr sz="1750" dirty="0">
                <a:solidFill>
                  <a:srgbClr val="3E3E3E"/>
                </a:solidFill>
                <a:latin typeface="Arial"/>
                <a:cs typeface="Arial"/>
              </a:rPr>
              <a:t>[3:0]</a:t>
            </a:r>
            <a:r>
              <a:rPr sz="1750" spc="-45" dirty="0">
                <a:solidFill>
                  <a:srgbClr val="3E3E3E"/>
                </a:solidFill>
                <a:latin typeface="Arial"/>
                <a:cs typeface="Arial"/>
              </a:rPr>
              <a:t> </a:t>
            </a:r>
            <a:r>
              <a:rPr sz="1750" spc="-25" dirty="0">
                <a:solidFill>
                  <a:srgbClr val="3E3E3E"/>
                </a:solidFill>
                <a:latin typeface="Arial"/>
                <a:cs typeface="Arial"/>
              </a:rPr>
              <a:t>a4;</a:t>
            </a:r>
            <a:endParaRPr sz="1750">
              <a:latin typeface="Arial"/>
              <a:cs typeface="Arial"/>
            </a:endParaRPr>
          </a:p>
          <a:p>
            <a:pPr marL="12700">
              <a:lnSpc>
                <a:spcPct val="100000"/>
              </a:lnSpc>
              <a:spcBef>
                <a:spcPts val="915"/>
              </a:spcBef>
            </a:pPr>
            <a:r>
              <a:rPr sz="1750" dirty="0">
                <a:solidFill>
                  <a:srgbClr val="3E3E3E"/>
                </a:solidFill>
                <a:latin typeface="Arial"/>
                <a:cs typeface="Arial"/>
              </a:rPr>
              <a:t>wire</a:t>
            </a:r>
            <a:r>
              <a:rPr sz="1750" spc="400" dirty="0">
                <a:solidFill>
                  <a:srgbClr val="3E3E3E"/>
                </a:solidFill>
                <a:latin typeface="Arial"/>
                <a:cs typeface="Arial"/>
              </a:rPr>
              <a:t> </a:t>
            </a:r>
            <a:r>
              <a:rPr sz="1750" dirty="0">
                <a:solidFill>
                  <a:srgbClr val="3E3E3E"/>
                </a:solidFill>
                <a:latin typeface="Arial"/>
                <a:cs typeface="Arial"/>
              </a:rPr>
              <a:t>[7:0]</a:t>
            </a:r>
            <a:r>
              <a:rPr sz="1750" spc="-50" dirty="0">
                <a:solidFill>
                  <a:srgbClr val="3E3E3E"/>
                </a:solidFill>
                <a:latin typeface="Arial"/>
                <a:cs typeface="Arial"/>
              </a:rPr>
              <a:t> </a:t>
            </a:r>
            <a:r>
              <a:rPr sz="1750" dirty="0">
                <a:solidFill>
                  <a:srgbClr val="3E3E3E"/>
                </a:solidFill>
                <a:latin typeface="Arial"/>
                <a:cs typeface="Arial"/>
              </a:rPr>
              <a:t>b8,</a:t>
            </a:r>
            <a:r>
              <a:rPr sz="1750" spc="-35" dirty="0">
                <a:solidFill>
                  <a:srgbClr val="3E3E3E"/>
                </a:solidFill>
                <a:latin typeface="Arial"/>
                <a:cs typeface="Arial"/>
              </a:rPr>
              <a:t> </a:t>
            </a:r>
            <a:r>
              <a:rPr sz="1750" dirty="0">
                <a:solidFill>
                  <a:srgbClr val="3E3E3E"/>
                </a:solidFill>
                <a:latin typeface="Arial"/>
                <a:cs typeface="Arial"/>
              </a:rPr>
              <a:t>c8,</a:t>
            </a:r>
            <a:r>
              <a:rPr sz="1750" spc="-40" dirty="0">
                <a:solidFill>
                  <a:srgbClr val="3E3E3E"/>
                </a:solidFill>
                <a:latin typeface="Arial"/>
                <a:cs typeface="Arial"/>
              </a:rPr>
              <a:t> </a:t>
            </a:r>
            <a:r>
              <a:rPr sz="1750" spc="-25" dirty="0">
                <a:solidFill>
                  <a:srgbClr val="3E3E3E"/>
                </a:solidFill>
                <a:latin typeface="Arial"/>
                <a:cs typeface="Arial"/>
              </a:rPr>
              <a:t>d8;</a:t>
            </a:r>
            <a:endParaRPr sz="1750">
              <a:latin typeface="Arial"/>
              <a:cs typeface="Arial"/>
            </a:endParaRPr>
          </a:p>
          <a:p>
            <a:pPr marL="12700">
              <a:lnSpc>
                <a:spcPct val="100000"/>
              </a:lnSpc>
              <a:spcBef>
                <a:spcPts val="915"/>
              </a:spcBef>
            </a:pPr>
            <a:r>
              <a:rPr sz="1750" spc="-25" dirty="0">
                <a:solidFill>
                  <a:srgbClr val="3E3E3E"/>
                </a:solidFill>
                <a:latin typeface="Arial"/>
                <a:cs typeface="Arial"/>
              </a:rPr>
              <a:t>...</a:t>
            </a:r>
            <a:endParaRPr sz="1750">
              <a:latin typeface="Arial"/>
              <a:cs typeface="Arial"/>
            </a:endParaRPr>
          </a:p>
          <a:p>
            <a:pPr marL="12700">
              <a:lnSpc>
                <a:spcPct val="100000"/>
              </a:lnSpc>
              <a:spcBef>
                <a:spcPts val="915"/>
              </a:spcBef>
            </a:pPr>
            <a:r>
              <a:rPr sz="1750" dirty="0">
                <a:solidFill>
                  <a:srgbClr val="3E3E3E"/>
                </a:solidFill>
                <a:latin typeface="Arial"/>
                <a:cs typeface="Arial"/>
              </a:rPr>
              <a:t>assign</a:t>
            </a:r>
            <a:r>
              <a:rPr sz="1750" spc="-30" dirty="0">
                <a:solidFill>
                  <a:srgbClr val="3E3E3E"/>
                </a:solidFill>
                <a:latin typeface="Arial"/>
                <a:cs typeface="Arial"/>
              </a:rPr>
              <a:t> </a:t>
            </a:r>
            <a:r>
              <a:rPr sz="1750" dirty="0">
                <a:solidFill>
                  <a:srgbClr val="3E3E3E"/>
                </a:solidFill>
                <a:latin typeface="Arial"/>
                <a:cs typeface="Arial"/>
              </a:rPr>
              <a:t>b8</a:t>
            </a:r>
            <a:r>
              <a:rPr sz="1750" spc="-40" dirty="0">
                <a:solidFill>
                  <a:srgbClr val="3E3E3E"/>
                </a:solidFill>
                <a:latin typeface="Arial"/>
                <a:cs typeface="Arial"/>
              </a:rPr>
              <a:t> </a:t>
            </a:r>
            <a:r>
              <a:rPr sz="1750" dirty="0">
                <a:solidFill>
                  <a:srgbClr val="3E3E3E"/>
                </a:solidFill>
                <a:latin typeface="Arial"/>
                <a:cs typeface="Arial"/>
              </a:rPr>
              <a:t>={a4,</a:t>
            </a:r>
            <a:r>
              <a:rPr sz="1750" spc="-50" dirty="0">
                <a:solidFill>
                  <a:srgbClr val="3E3E3E"/>
                </a:solidFill>
                <a:latin typeface="Arial"/>
                <a:cs typeface="Arial"/>
              </a:rPr>
              <a:t> </a:t>
            </a:r>
            <a:r>
              <a:rPr sz="1750" spc="-20" dirty="0">
                <a:solidFill>
                  <a:srgbClr val="3E3E3E"/>
                </a:solidFill>
                <a:latin typeface="Arial"/>
                <a:cs typeface="Arial"/>
              </a:rPr>
              <a:t>a4};</a:t>
            </a:r>
            <a:endParaRPr sz="1750">
              <a:latin typeface="Arial"/>
              <a:cs typeface="Arial"/>
            </a:endParaRPr>
          </a:p>
          <a:p>
            <a:pPr marL="12700" marR="5080">
              <a:lnSpc>
                <a:spcPct val="143400"/>
              </a:lnSpc>
              <a:spcBef>
                <a:spcPts val="10"/>
              </a:spcBef>
            </a:pPr>
            <a:r>
              <a:rPr sz="1750" dirty="0">
                <a:solidFill>
                  <a:srgbClr val="3E3E3E"/>
                </a:solidFill>
                <a:latin typeface="Arial"/>
                <a:cs typeface="Arial"/>
              </a:rPr>
              <a:t>assign</a:t>
            </a:r>
            <a:r>
              <a:rPr sz="1750" spc="-25" dirty="0">
                <a:solidFill>
                  <a:srgbClr val="3E3E3E"/>
                </a:solidFill>
                <a:latin typeface="Arial"/>
                <a:cs typeface="Arial"/>
              </a:rPr>
              <a:t> </a:t>
            </a:r>
            <a:r>
              <a:rPr sz="1750" dirty="0">
                <a:solidFill>
                  <a:srgbClr val="3E3E3E"/>
                </a:solidFill>
                <a:latin typeface="Arial"/>
                <a:cs typeface="Arial"/>
              </a:rPr>
              <a:t>c8</a:t>
            </a:r>
            <a:r>
              <a:rPr sz="1750" spc="-35" dirty="0">
                <a:solidFill>
                  <a:srgbClr val="3E3E3E"/>
                </a:solidFill>
                <a:latin typeface="Arial"/>
                <a:cs typeface="Arial"/>
              </a:rPr>
              <a:t> </a:t>
            </a:r>
            <a:r>
              <a:rPr sz="1750" dirty="0">
                <a:solidFill>
                  <a:srgbClr val="3E3E3E"/>
                </a:solidFill>
                <a:latin typeface="Arial"/>
                <a:cs typeface="Arial"/>
              </a:rPr>
              <a:t>={a1,</a:t>
            </a:r>
            <a:r>
              <a:rPr sz="1750" spc="-55" dirty="0">
                <a:solidFill>
                  <a:srgbClr val="3E3E3E"/>
                </a:solidFill>
                <a:latin typeface="Arial"/>
                <a:cs typeface="Arial"/>
              </a:rPr>
              <a:t> </a:t>
            </a:r>
            <a:r>
              <a:rPr sz="1750" dirty="0">
                <a:solidFill>
                  <a:srgbClr val="3E3E3E"/>
                </a:solidFill>
                <a:latin typeface="Arial"/>
                <a:cs typeface="Arial"/>
              </a:rPr>
              <a:t>a1,</a:t>
            </a:r>
            <a:r>
              <a:rPr sz="1750" spc="-35" dirty="0">
                <a:solidFill>
                  <a:srgbClr val="3E3E3E"/>
                </a:solidFill>
                <a:latin typeface="Arial"/>
                <a:cs typeface="Arial"/>
              </a:rPr>
              <a:t> </a:t>
            </a:r>
            <a:r>
              <a:rPr sz="1750" dirty="0">
                <a:solidFill>
                  <a:srgbClr val="3E3E3E"/>
                </a:solidFill>
                <a:latin typeface="Arial"/>
                <a:cs typeface="Arial"/>
              </a:rPr>
              <a:t>a4,</a:t>
            </a:r>
            <a:r>
              <a:rPr sz="1750" spc="-35" dirty="0">
                <a:solidFill>
                  <a:srgbClr val="3E3E3E"/>
                </a:solidFill>
                <a:latin typeface="Arial"/>
                <a:cs typeface="Arial"/>
              </a:rPr>
              <a:t> </a:t>
            </a:r>
            <a:r>
              <a:rPr sz="1750" spc="-10" dirty="0">
                <a:solidFill>
                  <a:srgbClr val="3E3E3E"/>
                </a:solidFill>
                <a:latin typeface="Arial"/>
                <a:cs typeface="Arial"/>
              </a:rPr>
              <a:t>2'b00}; </a:t>
            </a:r>
            <a:r>
              <a:rPr sz="1750" dirty="0">
                <a:solidFill>
                  <a:srgbClr val="3E3E3E"/>
                </a:solidFill>
                <a:latin typeface="Arial"/>
                <a:cs typeface="Arial"/>
              </a:rPr>
              <a:t>assign</a:t>
            </a:r>
            <a:r>
              <a:rPr sz="1750" spc="-15" dirty="0">
                <a:solidFill>
                  <a:srgbClr val="3E3E3E"/>
                </a:solidFill>
                <a:latin typeface="Arial"/>
                <a:cs typeface="Arial"/>
              </a:rPr>
              <a:t> </a:t>
            </a:r>
            <a:r>
              <a:rPr sz="1750" dirty="0">
                <a:solidFill>
                  <a:srgbClr val="3E3E3E"/>
                </a:solidFill>
                <a:latin typeface="Arial"/>
                <a:cs typeface="Arial"/>
              </a:rPr>
              <a:t>d8</a:t>
            </a:r>
            <a:r>
              <a:rPr sz="1750" spc="-30" dirty="0">
                <a:solidFill>
                  <a:srgbClr val="3E3E3E"/>
                </a:solidFill>
                <a:latin typeface="Arial"/>
                <a:cs typeface="Arial"/>
              </a:rPr>
              <a:t> </a:t>
            </a:r>
            <a:r>
              <a:rPr sz="1750" spc="-10" dirty="0">
                <a:solidFill>
                  <a:srgbClr val="3E3E3E"/>
                </a:solidFill>
                <a:latin typeface="Arial"/>
                <a:cs typeface="Arial"/>
              </a:rPr>
              <a:t>={b8[3:0],</a:t>
            </a:r>
            <a:r>
              <a:rPr sz="1750" spc="-40" dirty="0">
                <a:solidFill>
                  <a:srgbClr val="3E3E3E"/>
                </a:solidFill>
                <a:latin typeface="Arial"/>
                <a:cs typeface="Arial"/>
              </a:rPr>
              <a:t> </a:t>
            </a:r>
            <a:r>
              <a:rPr sz="1750" spc="-10" dirty="0">
                <a:solidFill>
                  <a:srgbClr val="3E3E3E"/>
                </a:solidFill>
                <a:latin typeface="Arial"/>
                <a:cs typeface="Arial"/>
              </a:rPr>
              <a:t>c8[3:0]};</a:t>
            </a:r>
            <a:endParaRPr sz="1750">
              <a:latin typeface="Arial"/>
              <a:cs typeface="Arial"/>
            </a:endParaRPr>
          </a:p>
        </p:txBody>
      </p:sp>
      <p:sp>
        <p:nvSpPr>
          <p:cNvPr id="8" name="object 8"/>
          <p:cNvSpPr/>
          <p:nvPr/>
        </p:nvSpPr>
        <p:spPr>
          <a:xfrm>
            <a:off x="4456805" y="1172720"/>
            <a:ext cx="6146800" cy="4559934"/>
          </a:xfrm>
          <a:custGeom>
            <a:avLst/>
            <a:gdLst/>
            <a:ahLst/>
            <a:cxnLst/>
            <a:rect l="l" t="t" r="r" b="b"/>
            <a:pathLst>
              <a:path w="6146800" h="5382895">
                <a:moveTo>
                  <a:pt x="6146292" y="5381244"/>
                </a:moveTo>
                <a:lnTo>
                  <a:pt x="6146292" y="1524"/>
                </a:lnTo>
                <a:lnTo>
                  <a:pt x="6144006" y="0"/>
                </a:lnTo>
                <a:lnTo>
                  <a:pt x="1523" y="0"/>
                </a:lnTo>
                <a:lnTo>
                  <a:pt x="0" y="1524"/>
                </a:lnTo>
                <a:lnTo>
                  <a:pt x="0" y="5381244"/>
                </a:lnTo>
                <a:lnTo>
                  <a:pt x="1524" y="5382768"/>
                </a:lnTo>
                <a:lnTo>
                  <a:pt x="3810" y="5382768"/>
                </a:lnTo>
                <a:lnTo>
                  <a:pt x="3810" y="7620"/>
                </a:lnTo>
                <a:lnTo>
                  <a:pt x="8382" y="3810"/>
                </a:lnTo>
                <a:lnTo>
                  <a:pt x="8381" y="7620"/>
                </a:lnTo>
                <a:lnTo>
                  <a:pt x="6137910" y="7620"/>
                </a:lnTo>
                <a:lnTo>
                  <a:pt x="6137910" y="3810"/>
                </a:lnTo>
                <a:lnTo>
                  <a:pt x="6141720" y="7620"/>
                </a:lnTo>
                <a:lnTo>
                  <a:pt x="6141720" y="5382768"/>
                </a:lnTo>
                <a:lnTo>
                  <a:pt x="6144006" y="5382768"/>
                </a:lnTo>
                <a:lnTo>
                  <a:pt x="6146292" y="5381244"/>
                </a:lnTo>
                <a:close/>
              </a:path>
              <a:path w="6146800" h="5382895">
                <a:moveTo>
                  <a:pt x="8382" y="7620"/>
                </a:moveTo>
                <a:lnTo>
                  <a:pt x="8382" y="3810"/>
                </a:lnTo>
                <a:lnTo>
                  <a:pt x="3810" y="7620"/>
                </a:lnTo>
                <a:lnTo>
                  <a:pt x="8382" y="7620"/>
                </a:lnTo>
                <a:close/>
              </a:path>
              <a:path w="6146800" h="5382895">
                <a:moveTo>
                  <a:pt x="8382" y="5374386"/>
                </a:moveTo>
                <a:lnTo>
                  <a:pt x="8382" y="7620"/>
                </a:lnTo>
                <a:lnTo>
                  <a:pt x="3810" y="7620"/>
                </a:lnTo>
                <a:lnTo>
                  <a:pt x="3810" y="5374386"/>
                </a:lnTo>
                <a:lnTo>
                  <a:pt x="8382" y="5374386"/>
                </a:lnTo>
                <a:close/>
              </a:path>
              <a:path w="6146800" h="5382895">
                <a:moveTo>
                  <a:pt x="6141720" y="5374386"/>
                </a:moveTo>
                <a:lnTo>
                  <a:pt x="3810" y="5374386"/>
                </a:lnTo>
                <a:lnTo>
                  <a:pt x="8382" y="5378958"/>
                </a:lnTo>
                <a:lnTo>
                  <a:pt x="8382" y="5382768"/>
                </a:lnTo>
                <a:lnTo>
                  <a:pt x="6137910" y="5382768"/>
                </a:lnTo>
                <a:lnTo>
                  <a:pt x="6137910" y="5378958"/>
                </a:lnTo>
                <a:lnTo>
                  <a:pt x="6141720" y="5374386"/>
                </a:lnTo>
                <a:close/>
              </a:path>
              <a:path w="6146800" h="5382895">
                <a:moveTo>
                  <a:pt x="8382" y="5382768"/>
                </a:moveTo>
                <a:lnTo>
                  <a:pt x="8382" y="5378958"/>
                </a:lnTo>
                <a:lnTo>
                  <a:pt x="3810" y="5374386"/>
                </a:lnTo>
                <a:lnTo>
                  <a:pt x="3810" y="5382768"/>
                </a:lnTo>
                <a:lnTo>
                  <a:pt x="8382" y="5382768"/>
                </a:lnTo>
                <a:close/>
              </a:path>
              <a:path w="6146800" h="5382895">
                <a:moveTo>
                  <a:pt x="6141720" y="7620"/>
                </a:moveTo>
                <a:lnTo>
                  <a:pt x="6137910" y="3810"/>
                </a:lnTo>
                <a:lnTo>
                  <a:pt x="6137910" y="7620"/>
                </a:lnTo>
                <a:lnTo>
                  <a:pt x="6141720" y="7620"/>
                </a:lnTo>
                <a:close/>
              </a:path>
              <a:path w="6146800" h="5382895">
                <a:moveTo>
                  <a:pt x="6141720" y="5374386"/>
                </a:moveTo>
                <a:lnTo>
                  <a:pt x="6141720" y="7620"/>
                </a:lnTo>
                <a:lnTo>
                  <a:pt x="6137910" y="7620"/>
                </a:lnTo>
                <a:lnTo>
                  <a:pt x="6137910" y="5374386"/>
                </a:lnTo>
                <a:lnTo>
                  <a:pt x="6141720" y="5374386"/>
                </a:lnTo>
                <a:close/>
              </a:path>
              <a:path w="6146800" h="5382895">
                <a:moveTo>
                  <a:pt x="6141720" y="5382768"/>
                </a:moveTo>
                <a:lnTo>
                  <a:pt x="6141720" y="5374386"/>
                </a:lnTo>
                <a:lnTo>
                  <a:pt x="6137910" y="5378958"/>
                </a:lnTo>
                <a:lnTo>
                  <a:pt x="6137910" y="5382768"/>
                </a:lnTo>
                <a:lnTo>
                  <a:pt x="6141720" y="5382768"/>
                </a:lnTo>
                <a:close/>
              </a:path>
            </a:pathLst>
          </a:custGeom>
          <a:solidFill>
            <a:srgbClr val="FF0000"/>
          </a:solidFill>
        </p:spPr>
        <p:txBody>
          <a:bodyPr wrap="square" lIns="0" tIns="0" rIns="0" bIns="0" rtlCol="0"/>
          <a:lstStyle/>
          <a:p>
            <a:endParaRPr/>
          </a:p>
        </p:txBody>
      </p:sp>
      <p:sp>
        <p:nvSpPr>
          <p:cNvPr id="9" name="object 9"/>
          <p:cNvSpPr txBox="1">
            <a:spLocks noGrp="1"/>
          </p:cNvSpPr>
          <p:nvPr>
            <p:ph type="title"/>
          </p:nvPr>
        </p:nvSpPr>
        <p:spPr>
          <a:xfrm>
            <a:off x="4495242" y="1136541"/>
            <a:ext cx="5906770" cy="911596"/>
          </a:xfrm>
          <a:prstGeom prst="rect">
            <a:avLst/>
          </a:prstGeom>
        </p:spPr>
        <p:txBody>
          <a:bodyPr vert="horz" wrap="square" lIns="0" tIns="12065" rIns="0" bIns="0" rtlCol="0">
            <a:spAutoFit/>
          </a:bodyPr>
          <a:lstStyle/>
          <a:p>
            <a:pPr marL="12700" marR="5080">
              <a:lnSpc>
                <a:spcPct val="150500"/>
              </a:lnSpc>
              <a:spcBef>
                <a:spcPts val="95"/>
              </a:spcBef>
            </a:pPr>
            <a:r>
              <a:rPr sz="2100" spc="-10" dirty="0" err="1">
                <a:solidFill>
                  <a:srgbClr val="000000"/>
                </a:solidFill>
                <a:latin typeface="宋体"/>
                <a:cs typeface="宋体"/>
              </a:rPr>
              <a:t>位拼接运算</a:t>
            </a:r>
            <a:r>
              <a:rPr sz="2100" spc="-10" dirty="0">
                <a:solidFill>
                  <a:srgbClr val="000000"/>
                </a:solidFill>
                <a:latin typeface="宋体"/>
                <a:cs typeface="宋体"/>
              </a:rPr>
              <a:t>｛｝，</a:t>
            </a:r>
            <a:r>
              <a:rPr lang="zh-CN" altLang="en-US" sz="2100" spc="-10" dirty="0">
                <a:solidFill>
                  <a:srgbClr val="000000"/>
                </a:solidFill>
                <a:latin typeface="宋体"/>
                <a:cs typeface="宋体"/>
              </a:rPr>
              <a:t>将多个</a:t>
            </a:r>
            <a:r>
              <a:rPr lang="zh-CN" altLang="en-US" sz="2100" spc="-10" dirty="0">
                <a:solidFill>
                  <a:srgbClr val="C00000"/>
                </a:solidFill>
                <a:latin typeface="宋体"/>
                <a:cs typeface="宋体"/>
              </a:rPr>
              <a:t>有确定位宽</a:t>
            </a:r>
            <a:r>
              <a:rPr lang="zh-CN" altLang="en-US" sz="2100" spc="-10" dirty="0">
                <a:solidFill>
                  <a:srgbClr val="000000"/>
                </a:solidFill>
                <a:latin typeface="宋体"/>
                <a:cs typeface="宋体"/>
              </a:rPr>
              <a:t>的操作数拼接在一起，组成一个操作数</a:t>
            </a:r>
            <a:endParaRPr sz="2100" dirty="0">
              <a:latin typeface="宋体"/>
              <a:cs typeface="宋体"/>
            </a:endParaRPr>
          </a:p>
        </p:txBody>
      </p:sp>
      <p:sp>
        <p:nvSpPr>
          <p:cNvPr id="13" name="object 13"/>
          <p:cNvSpPr txBox="1">
            <a:spLocks noGrp="1"/>
          </p:cNvSpPr>
          <p:nvPr>
            <p:ph type="ftr" sz="quarter" idx="5"/>
          </p:nvPr>
        </p:nvSpPr>
        <p:spPr>
          <a:prstGeom prst="rect">
            <a:avLst/>
          </a:prstGeom>
        </p:spPr>
        <p:txBody>
          <a:bodyPr vert="horz" wrap="square" lIns="0" tIns="23495" rIns="0" bIns="0" rtlCol="0">
            <a:spAutoFit/>
          </a:bodyPr>
          <a:lstStyle/>
          <a:p>
            <a:pPr marL="13335">
              <a:lnSpc>
                <a:spcPct val="100000"/>
              </a:lnSpc>
              <a:spcBef>
                <a:spcPts val="185"/>
              </a:spcBef>
            </a:pPr>
            <a:r>
              <a:rPr dirty="0"/>
              <a:t>Xilinx</a:t>
            </a:r>
            <a:r>
              <a:rPr spc="-5" dirty="0"/>
              <a:t> 大学合作部 </a:t>
            </a:r>
            <a:r>
              <a:rPr dirty="0"/>
              <a:t>&amp;</a:t>
            </a:r>
            <a:r>
              <a:rPr spc="-10" dirty="0"/>
              <a:t> 东南大学</a:t>
            </a:r>
          </a:p>
        </p:txBody>
      </p:sp>
      <p:sp>
        <p:nvSpPr>
          <p:cNvPr id="14" name="object 14"/>
          <p:cNvSpPr txBox="1">
            <a:spLocks noGrp="1"/>
          </p:cNvSpPr>
          <p:nvPr>
            <p:ph type="sldNum" sz="quarter" idx="7"/>
          </p:nvPr>
        </p:nvSpPr>
        <p:spPr>
          <a:prstGeom prst="rect">
            <a:avLst/>
          </a:prstGeom>
        </p:spPr>
        <p:txBody>
          <a:bodyPr vert="horz" wrap="square" lIns="0" tIns="4445" rIns="0" bIns="0" rtlCol="0">
            <a:spAutoFit/>
          </a:bodyPr>
          <a:lstStyle/>
          <a:p>
            <a:pPr marL="38735">
              <a:lnSpc>
                <a:spcPct val="100000"/>
              </a:lnSpc>
              <a:spcBef>
                <a:spcPts val="35"/>
              </a:spcBef>
            </a:pPr>
            <a:fld id="{81D60167-4931-47E6-BA6A-407CBD079E47}" type="slidenum">
              <a:rPr spc="-25" dirty="0"/>
              <a:t>30</a:t>
            </a:fld>
            <a:endParaRPr spc="-25" dirty="0"/>
          </a:p>
        </p:txBody>
      </p:sp>
      <p:sp>
        <p:nvSpPr>
          <p:cNvPr id="10" name="object 10"/>
          <p:cNvSpPr txBox="1"/>
          <p:nvPr/>
        </p:nvSpPr>
        <p:spPr>
          <a:xfrm>
            <a:off x="4495242" y="2295193"/>
            <a:ext cx="5906770" cy="987425"/>
          </a:xfrm>
          <a:prstGeom prst="rect">
            <a:avLst/>
          </a:prstGeom>
        </p:spPr>
        <p:txBody>
          <a:bodyPr vert="horz" wrap="square" lIns="0" tIns="12700" rIns="0" bIns="0" rtlCol="0">
            <a:spAutoFit/>
          </a:bodyPr>
          <a:lstStyle/>
          <a:p>
            <a:pPr marL="12700" marR="5080">
              <a:lnSpc>
                <a:spcPct val="150200"/>
              </a:lnSpc>
              <a:spcBef>
                <a:spcPts val="100"/>
              </a:spcBef>
            </a:pPr>
            <a:r>
              <a:rPr sz="2100" spc="-15" dirty="0">
                <a:latin typeface="宋体"/>
                <a:cs typeface="宋体"/>
              </a:rPr>
              <a:t>位拼接运算的实施涉及输入和输出信号的重新连接</a:t>
            </a:r>
            <a:r>
              <a:rPr sz="2100" spc="-5" dirty="0">
                <a:latin typeface="宋体"/>
                <a:cs typeface="宋体"/>
              </a:rPr>
              <a:t>并且只需要“连线”。</a:t>
            </a:r>
            <a:endParaRPr sz="2100" dirty="0">
              <a:latin typeface="宋体"/>
              <a:cs typeface="宋体"/>
            </a:endParaRPr>
          </a:p>
        </p:txBody>
      </p:sp>
      <p:sp>
        <p:nvSpPr>
          <p:cNvPr id="11" name="object 11"/>
          <p:cNvSpPr txBox="1"/>
          <p:nvPr/>
        </p:nvSpPr>
        <p:spPr>
          <a:xfrm>
            <a:off x="4495242" y="3529674"/>
            <a:ext cx="6001385" cy="1391343"/>
          </a:xfrm>
          <a:prstGeom prst="rect">
            <a:avLst/>
          </a:prstGeom>
        </p:spPr>
        <p:txBody>
          <a:bodyPr vert="horz" wrap="square" lIns="0" tIns="12700" rIns="0" bIns="0" rtlCol="0">
            <a:spAutoFit/>
          </a:bodyPr>
          <a:lstStyle/>
          <a:p>
            <a:pPr marL="12700" marR="5080">
              <a:lnSpc>
                <a:spcPct val="150200"/>
              </a:lnSpc>
              <a:spcBef>
                <a:spcPts val="100"/>
              </a:spcBef>
            </a:pPr>
            <a:r>
              <a:rPr sz="2100" dirty="0">
                <a:latin typeface="宋体"/>
                <a:cs typeface="宋体"/>
              </a:rPr>
              <a:t>位拼接运算</a:t>
            </a:r>
            <a:r>
              <a:rPr sz="2100" spc="-10" dirty="0">
                <a:latin typeface="Calibri"/>
                <a:cs typeface="Calibri"/>
              </a:rPr>
              <a:t>N{}</a:t>
            </a:r>
            <a:r>
              <a:rPr sz="2100" spc="-10" dirty="0">
                <a:latin typeface="宋体"/>
                <a:cs typeface="宋体"/>
              </a:rPr>
              <a:t>，复制封闭字符串，其中复制常数</a:t>
            </a:r>
            <a:r>
              <a:rPr sz="2100" spc="-50" dirty="0">
                <a:latin typeface="Calibri"/>
                <a:cs typeface="Calibri"/>
              </a:rPr>
              <a:t>N</a:t>
            </a:r>
            <a:r>
              <a:rPr sz="2100" spc="-5" dirty="0">
                <a:latin typeface="宋体"/>
                <a:cs typeface="宋体"/>
              </a:rPr>
              <a:t>指定复制的次数，例如，</a:t>
            </a:r>
            <a:r>
              <a:rPr sz="2100" spc="-10" dirty="0">
                <a:latin typeface="Calibri"/>
                <a:cs typeface="Calibri"/>
              </a:rPr>
              <a:t>{4{2’b01}}</a:t>
            </a:r>
            <a:r>
              <a:rPr sz="2100" dirty="0">
                <a:latin typeface="宋体"/>
                <a:cs typeface="宋体"/>
              </a:rPr>
              <a:t>返回</a:t>
            </a:r>
            <a:r>
              <a:rPr sz="2100" spc="-10" dirty="0">
                <a:latin typeface="Calibri"/>
                <a:cs typeface="Calibri"/>
              </a:rPr>
              <a:t>8’b010101</a:t>
            </a:r>
            <a:r>
              <a:rPr lang="zh-CN" altLang="en-US" sz="2100" spc="-10" dirty="0">
                <a:latin typeface="宋体"/>
                <a:cs typeface="宋体"/>
              </a:rPr>
              <a:t>。</a:t>
            </a:r>
            <a:r>
              <a:rPr sz="2100" spc="-15" dirty="0" err="1">
                <a:latin typeface="宋体"/>
                <a:cs typeface="宋体"/>
              </a:rPr>
              <a:t>之前的算术</a:t>
            </a:r>
            <a:r>
              <a:rPr lang="zh-CN" altLang="en-US" sz="2100" spc="-15" dirty="0">
                <a:latin typeface="宋体"/>
                <a:cs typeface="宋体"/>
              </a:rPr>
              <a:t>右移</a:t>
            </a:r>
            <a:r>
              <a:rPr sz="2100" spc="-15" dirty="0" err="1">
                <a:latin typeface="宋体"/>
                <a:cs typeface="宋体"/>
              </a:rPr>
              <a:t>运算可以简化为</a:t>
            </a:r>
            <a:r>
              <a:rPr sz="2100" spc="-15" dirty="0">
                <a:latin typeface="宋体"/>
                <a:cs typeface="宋体"/>
              </a:rPr>
              <a:t>：</a:t>
            </a:r>
            <a:endParaRPr sz="2100" dirty="0">
              <a:latin typeface="宋体"/>
              <a:cs typeface="宋体"/>
            </a:endParaRPr>
          </a:p>
        </p:txBody>
      </p:sp>
      <p:sp>
        <p:nvSpPr>
          <p:cNvPr id="12" name="object 12"/>
          <p:cNvSpPr txBox="1"/>
          <p:nvPr/>
        </p:nvSpPr>
        <p:spPr>
          <a:xfrm>
            <a:off x="4495242" y="5168072"/>
            <a:ext cx="3105785" cy="346710"/>
          </a:xfrm>
          <a:prstGeom prst="rect">
            <a:avLst/>
          </a:prstGeom>
        </p:spPr>
        <p:txBody>
          <a:bodyPr vert="horz" wrap="square" lIns="0" tIns="13335" rIns="0" bIns="0" rtlCol="0">
            <a:spAutoFit/>
          </a:bodyPr>
          <a:lstStyle/>
          <a:p>
            <a:pPr marL="12700">
              <a:lnSpc>
                <a:spcPct val="100000"/>
              </a:lnSpc>
              <a:spcBef>
                <a:spcPts val="105"/>
              </a:spcBef>
            </a:pPr>
            <a:r>
              <a:rPr sz="2100" dirty="0">
                <a:latin typeface="Calibri"/>
                <a:cs typeface="Calibri"/>
              </a:rPr>
              <a:t>assign</a:t>
            </a:r>
            <a:r>
              <a:rPr sz="2100" spc="-25" dirty="0">
                <a:latin typeface="Calibri"/>
                <a:cs typeface="Calibri"/>
              </a:rPr>
              <a:t> </a:t>
            </a:r>
            <a:r>
              <a:rPr sz="2100" dirty="0">
                <a:latin typeface="Calibri"/>
                <a:cs typeface="Calibri"/>
              </a:rPr>
              <a:t>sha</a:t>
            </a:r>
            <a:r>
              <a:rPr sz="2100" spc="-15" dirty="0">
                <a:latin typeface="Calibri"/>
                <a:cs typeface="Calibri"/>
              </a:rPr>
              <a:t> </a:t>
            </a:r>
            <a:r>
              <a:rPr sz="2100" dirty="0">
                <a:latin typeface="Calibri"/>
                <a:cs typeface="Calibri"/>
              </a:rPr>
              <a:t>=</a:t>
            </a:r>
            <a:r>
              <a:rPr sz="2100" spc="-15" dirty="0">
                <a:latin typeface="Calibri"/>
                <a:cs typeface="Calibri"/>
              </a:rPr>
              <a:t> </a:t>
            </a:r>
            <a:r>
              <a:rPr sz="2100" dirty="0">
                <a:latin typeface="Calibri"/>
                <a:cs typeface="Calibri"/>
              </a:rPr>
              <a:t>{3{a[8]},</a:t>
            </a:r>
            <a:r>
              <a:rPr sz="2100" spc="-40" dirty="0">
                <a:latin typeface="Calibri"/>
                <a:cs typeface="Calibri"/>
              </a:rPr>
              <a:t> </a:t>
            </a:r>
            <a:r>
              <a:rPr sz="2100" spc="-10" dirty="0">
                <a:latin typeface="Calibri"/>
                <a:cs typeface="Calibri"/>
              </a:rPr>
              <a:t>a[8:3]};</a:t>
            </a:r>
            <a:endParaRPr sz="2100" dirty="0">
              <a:latin typeface="Calibri"/>
              <a:cs typeface="Calibri"/>
            </a:endParaRPr>
          </a:p>
        </p:txBody>
      </p:sp>
      <p:sp>
        <p:nvSpPr>
          <p:cNvPr id="15" name="object 3">
            <a:extLst>
              <a:ext uri="{FF2B5EF4-FFF2-40B4-BE49-F238E27FC236}">
                <a16:creationId xmlns:a16="http://schemas.microsoft.com/office/drawing/2014/main" id="{4BC0902B-DF08-D4D1-C68D-5D0BBDD3CF20}"/>
              </a:ext>
            </a:extLst>
          </p:cNvPr>
          <p:cNvSpPr txBox="1">
            <a:spLocks/>
          </p:cNvSpPr>
          <p:nvPr/>
        </p:nvSpPr>
        <p:spPr>
          <a:xfrm>
            <a:off x="241300" y="200025"/>
            <a:ext cx="7288905" cy="524503"/>
          </a:xfrm>
          <a:prstGeom prst="rect">
            <a:avLst/>
          </a:prstGeom>
        </p:spPr>
        <p:txBody>
          <a:bodyPr vert="horz" wrap="square" lIns="0" tIns="16510" rIns="0" bIns="0" rtlCol="0">
            <a:spAutoFit/>
          </a:bodyPr>
          <a:lstStyle>
            <a:lvl1pPr>
              <a:defRPr sz="2800" b="0" i="0">
                <a:solidFill>
                  <a:srgbClr val="3F3F3F"/>
                </a:solidFill>
                <a:latin typeface="Calibri"/>
                <a:ea typeface="+mj-ea"/>
                <a:cs typeface="Calibri"/>
              </a:defRPr>
            </a:lvl1pPr>
          </a:lstStyle>
          <a:p>
            <a:pPr marL="12700">
              <a:spcBef>
                <a:spcPts val="130"/>
              </a:spcBef>
            </a:pPr>
            <a:r>
              <a:rPr lang="zh-CN" altLang="en-US" sz="3300" b="1" spc="-15" dirty="0">
                <a:solidFill>
                  <a:srgbClr val="000000"/>
                </a:solidFill>
                <a:latin typeface="宋体"/>
                <a:cs typeface="宋体"/>
              </a:rPr>
              <a:t>拼接操作符和重复操作符</a:t>
            </a:r>
            <a:endParaRPr lang="zh-CN" altLang="en-US" sz="3300" dirty="0">
              <a:latin typeface="宋体"/>
              <a:cs typeface="宋体"/>
            </a:endParaRPr>
          </a:p>
        </p:txBody>
      </p:sp>
      <p:sp>
        <p:nvSpPr>
          <p:cNvPr id="2" name="object 9">
            <a:extLst>
              <a:ext uri="{FF2B5EF4-FFF2-40B4-BE49-F238E27FC236}">
                <a16:creationId xmlns:a16="http://schemas.microsoft.com/office/drawing/2014/main" id="{630A9C8D-636E-10C7-0C36-1ACEFF4D2754}"/>
              </a:ext>
            </a:extLst>
          </p:cNvPr>
          <p:cNvSpPr txBox="1">
            <a:spLocks/>
          </p:cNvSpPr>
          <p:nvPr/>
        </p:nvSpPr>
        <p:spPr>
          <a:xfrm>
            <a:off x="932367" y="5927920"/>
            <a:ext cx="5906770" cy="924420"/>
          </a:xfrm>
          <a:prstGeom prst="rect">
            <a:avLst/>
          </a:prstGeom>
        </p:spPr>
        <p:txBody>
          <a:bodyPr vert="horz" wrap="square" lIns="0" tIns="12065" rIns="0" bIns="0" rtlCol="0">
            <a:spAutoFit/>
          </a:bodyPr>
          <a:lstStyle>
            <a:lvl1pPr>
              <a:defRPr sz="2800" b="0" i="0">
                <a:solidFill>
                  <a:srgbClr val="3F3F3F"/>
                </a:solidFill>
                <a:latin typeface="Calibri"/>
                <a:ea typeface="+mj-ea"/>
                <a:cs typeface="Calibri"/>
              </a:defRPr>
            </a:lvl1pPr>
          </a:lstStyle>
          <a:p>
            <a:pPr marL="12700" marR="5080">
              <a:lnSpc>
                <a:spcPct val="150500"/>
              </a:lnSpc>
              <a:spcBef>
                <a:spcPts val="95"/>
              </a:spcBef>
            </a:pPr>
            <a:r>
              <a:rPr lang="zh-CN" altLang="en-US" sz="2100" spc="-10" dirty="0">
                <a:solidFill>
                  <a:srgbClr val="C00000"/>
                </a:solidFill>
                <a:latin typeface="宋体"/>
                <a:cs typeface="宋体"/>
              </a:rPr>
              <a:t>有确定位宽</a:t>
            </a:r>
            <a:r>
              <a:rPr lang="zh-CN" altLang="en-US" sz="2100" spc="-10" dirty="0">
                <a:solidFill>
                  <a:srgbClr val="000000"/>
                </a:solidFill>
                <a:latin typeface="宋体"/>
                <a:cs typeface="宋体"/>
              </a:rPr>
              <a:t>的操作数：标量线网</a:t>
            </a:r>
            <a:r>
              <a:rPr lang="en-US" altLang="zh-CN" sz="2100" spc="-10" dirty="0">
                <a:solidFill>
                  <a:srgbClr val="000000"/>
                </a:solidFill>
                <a:latin typeface="宋体"/>
                <a:cs typeface="宋体"/>
              </a:rPr>
              <a:t>/</a:t>
            </a:r>
            <a:r>
              <a:rPr lang="zh-CN" altLang="en-US" sz="2100" spc="-10" dirty="0">
                <a:solidFill>
                  <a:srgbClr val="000000"/>
                </a:solidFill>
                <a:latin typeface="宋体"/>
                <a:cs typeface="宋体"/>
              </a:rPr>
              <a:t>寄存器；</a:t>
            </a:r>
            <a:endParaRPr lang="en-US" altLang="zh-CN" sz="2100" spc="-10" dirty="0">
              <a:solidFill>
                <a:srgbClr val="000000"/>
              </a:solidFill>
              <a:latin typeface="宋体"/>
              <a:cs typeface="宋体"/>
            </a:endParaRPr>
          </a:p>
          <a:p>
            <a:pPr marL="12700" marR="5080">
              <a:lnSpc>
                <a:spcPct val="150500"/>
              </a:lnSpc>
              <a:spcBef>
                <a:spcPts val="95"/>
              </a:spcBef>
            </a:pPr>
            <a:r>
              <a:rPr lang="zh-CN" altLang="en-US" sz="2100" spc="-10" dirty="0">
                <a:solidFill>
                  <a:srgbClr val="000000"/>
                </a:solidFill>
                <a:latin typeface="宋体"/>
                <a:cs typeface="宋体"/>
              </a:rPr>
              <a:t>向量线网</a:t>
            </a:r>
            <a:r>
              <a:rPr lang="en-US" altLang="zh-CN" sz="2100" spc="-10" dirty="0">
                <a:solidFill>
                  <a:srgbClr val="000000"/>
                </a:solidFill>
                <a:latin typeface="宋体"/>
                <a:cs typeface="宋体"/>
              </a:rPr>
              <a:t>/</a:t>
            </a:r>
            <a:r>
              <a:rPr lang="zh-CN" altLang="en-US" sz="2100" spc="-10" dirty="0">
                <a:solidFill>
                  <a:srgbClr val="000000"/>
                </a:solidFill>
                <a:latin typeface="宋体"/>
                <a:cs typeface="宋体"/>
              </a:rPr>
              <a:t>寄存器、位选、域选；指定位宽的常数</a:t>
            </a:r>
            <a:endParaRPr lang="zh-CN" altLang="en-US" sz="2100" dirty="0">
              <a:latin typeface="宋体"/>
              <a:cs typeface="宋体"/>
            </a:endParaRPr>
          </a:p>
        </p:txBody>
      </p:sp>
      <p:sp>
        <p:nvSpPr>
          <p:cNvPr id="16" name="object 8">
            <a:extLst>
              <a:ext uri="{FF2B5EF4-FFF2-40B4-BE49-F238E27FC236}">
                <a16:creationId xmlns:a16="http://schemas.microsoft.com/office/drawing/2014/main" id="{5B5E337C-995F-1717-3A85-506FCB527E4E}"/>
              </a:ext>
            </a:extLst>
          </p:cNvPr>
          <p:cNvSpPr/>
          <p:nvPr/>
        </p:nvSpPr>
        <p:spPr>
          <a:xfrm>
            <a:off x="850900" y="5884321"/>
            <a:ext cx="7088780" cy="1059813"/>
          </a:xfrm>
          <a:custGeom>
            <a:avLst/>
            <a:gdLst/>
            <a:ahLst/>
            <a:cxnLst/>
            <a:rect l="l" t="t" r="r" b="b"/>
            <a:pathLst>
              <a:path w="6146800" h="5382895">
                <a:moveTo>
                  <a:pt x="6146292" y="5381244"/>
                </a:moveTo>
                <a:lnTo>
                  <a:pt x="6146292" y="1524"/>
                </a:lnTo>
                <a:lnTo>
                  <a:pt x="6144006" y="0"/>
                </a:lnTo>
                <a:lnTo>
                  <a:pt x="1523" y="0"/>
                </a:lnTo>
                <a:lnTo>
                  <a:pt x="0" y="1524"/>
                </a:lnTo>
                <a:lnTo>
                  <a:pt x="0" y="5381244"/>
                </a:lnTo>
                <a:lnTo>
                  <a:pt x="1524" y="5382768"/>
                </a:lnTo>
                <a:lnTo>
                  <a:pt x="3810" y="5382768"/>
                </a:lnTo>
                <a:lnTo>
                  <a:pt x="3810" y="7620"/>
                </a:lnTo>
                <a:lnTo>
                  <a:pt x="8382" y="3810"/>
                </a:lnTo>
                <a:lnTo>
                  <a:pt x="8381" y="7620"/>
                </a:lnTo>
                <a:lnTo>
                  <a:pt x="6137910" y="7620"/>
                </a:lnTo>
                <a:lnTo>
                  <a:pt x="6137910" y="3810"/>
                </a:lnTo>
                <a:lnTo>
                  <a:pt x="6141720" y="7620"/>
                </a:lnTo>
                <a:lnTo>
                  <a:pt x="6141720" y="5382768"/>
                </a:lnTo>
                <a:lnTo>
                  <a:pt x="6144006" y="5382768"/>
                </a:lnTo>
                <a:lnTo>
                  <a:pt x="6146292" y="5381244"/>
                </a:lnTo>
                <a:close/>
              </a:path>
              <a:path w="6146800" h="5382895">
                <a:moveTo>
                  <a:pt x="8382" y="7620"/>
                </a:moveTo>
                <a:lnTo>
                  <a:pt x="8382" y="3810"/>
                </a:lnTo>
                <a:lnTo>
                  <a:pt x="3810" y="7620"/>
                </a:lnTo>
                <a:lnTo>
                  <a:pt x="8382" y="7620"/>
                </a:lnTo>
                <a:close/>
              </a:path>
              <a:path w="6146800" h="5382895">
                <a:moveTo>
                  <a:pt x="8382" y="5374386"/>
                </a:moveTo>
                <a:lnTo>
                  <a:pt x="8382" y="7620"/>
                </a:lnTo>
                <a:lnTo>
                  <a:pt x="3810" y="7620"/>
                </a:lnTo>
                <a:lnTo>
                  <a:pt x="3810" y="5374386"/>
                </a:lnTo>
                <a:lnTo>
                  <a:pt x="8382" y="5374386"/>
                </a:lnTo>
                <a:close/>
              </a:path>
              <a:path w="6146800" h="5382895">
                <a:moveTo>
                  <a:pt x="6141720" y="5374386"/>
                </a:moveTo>
                <a:lnTo>
                  <a:pt x="3810" y="5374386"/>
                </a:lnTo>
                <a:lnTo>
                  <a:pt x="8382" y="5378958"/>
                </a:lnTo>
                <a:lnTo>
                  <a:pt x="8382" y="5382768"/>
                </a:lnTo>
                <a:lnTo>
                  <a:pt x="6137910" y="5382768"/>
                </a:lnTo>
                <a:lnTo>
                  <a:pt x="6137910" y="5378958"/>
                </a:lnTo>
                <a:lnTo>
                  <a:pt x="6141720" y="5374386"/>
                </a:lnTo>
                <a:close/>
              </a:path>
              <a:path w="6146800" h="5382895">
                <a:moveTo>
                  <a:pt x="8382" y="5382768"/>
                </a:moveTo>
                <a:lnTo>
                  <a:pt x="8382" y="5378958"/>
                </a:lnTo>
                <a:lnTo>
                  <a:pt x="3810" y="5374386"/>
                </a:lnTo>
                <a:lnTo>
                  <a:pt x="3810" y="5382768"/>
                </a:lnTo>
                <a:lnTo>
                  <a:pt x="8382" y="5382768"/>
                </a:lnTo>
                <a:close/>
              </a:path>
              <a:path w="6146800" h="5382895">
                <a:moveTo>
                  <a:pt x="6141720" y="7620"/>
                </a:moveTo>
                <a:lnTo>
                  <a:pt x="6137910" y="3810"/>
                </a:lnTo>
                <a:lnTo>
                  <a:pt x="6137910" y="7620"/>
                </a:lnTo>
                <a:lnTo>
                  <a:pt x="6141720" y="7620"/>
                </a:lnTo>
                <a:close/>
              </a:path>
              <a:path w="6146800" h="5382895">
                <a:moveTo>
                  <a:pt x="6141720" y="5374386"/>
                </a:moveTo>
                <a:lnTo>
                  <a:pt x="6141720" y="7620"/>
                </a:lnTo>
                <a:lnTo>
                  <a:pt x="6137910" y="7620"/>
                </a:lnTo>
                <a:lnTo>
                  <a:pt x="6137910" y="5374386"/>
                </a:lnTo>
                <a:lnTo>
                  <a:pt x="6141720" y="5374386"/>
                </a:lnTo>
                <a:close/>
              </a:path>
              <a:path w="6146800" h="5382895">
                <a:moveTo>
                  <a:pt x="6141720" y="5382768"/>
                </a:moveTo>
                <a:lnTo>
                  <a:pt x="6141720" y="5374386"/>
                </a:lnTo>
                <a:lnTo>
                  <a:pt x="6137910" y="5378958"/>
                </a:lnTo>
                <a:lnTo>
                  <a:pt x="6137910" y="5382768"/>
                </a:lnTo>
                <a:lnTo>
                  <a:pt x="6141720" y="5382768"/>
                </a:lnTo>
                <a:close/>
              </a:path>
            </a:pathLst>
          </a:custGeom>
          <a:solidFill>
            <a:srgbClr val="FF0000"/>
          </a:solidFill>
        </p:spPr>
        <p:txBody>
          <a:bodyPr wrap="square" lIns="0" tIns="0" rIns="0" bIns="0" rtlCol="0"/>
          <a:lstStyle/>
          <a:p>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321824" y="1198685"/>
            <a:ext cx="4138929" cy="4418330"/>
            <a:chOff x="299351" y="2045207"/>
            <a:chExt cx="4138929" cy="4418330"/>
          </a:xfrm>
        </p:grpSpPr>
        <p:sp>
          <p:nvSpPr>
            <p:cNvPr id="4" name="object 4"/>
            <p:cNvSpPr/>
            <p:nvPr/>
          </p:nvSpPr>
          <p:spPr>
            <a:xfrm>
              <a:off x="299351" y="2045207"/>
              <a:ext cx="4138929" cy="4418330"/>
            </a:xfrm>
            <a:custGeom>
              <a:avLst/>
              <a:gdLst/>
              <a:ahLst/>
              <a:cxnLst/>
              <a:rect l="l" t="t" r="r" b="b"/>
              <a:pathLst>
                <a:path w="4138929" h="4418330">
                  <a:moveTo>
                    <a:pt x="4138422" y="4418076"/>
                  </a:moveTo>
                  <a:lnTo>
                    <a:pt x="4138422" y="0"/>
                  </a:lnTo>
                  <a:lnTo>
                    <a:pt x="0" y="0"/>
                  </a:lnTo>
                  <a:lnTo>
                    <a:pt x="0" y="4418076"/>
                  </a:lnTo>
                  <a:lnTo>
                    <a:pt x="4572" y="4418076"/>
                  </a:lnTo>
                  <a:lnTo>
                    <a:pt x="4571" y="7620"/>
                  </a:lnTo>
                  <a:lnTo>
                    <a:pt x="8381" y="3810"/>
                  </a:lnTo>
                  <a:lnTo>
                    <a:pt x="8381" y="7620"/>
                  </a:lnTo>
                  <a:lnTo>
                    <a:pt x="4130040" y="7619"/>
                  </a:lnTo>
                  <a:lnTo>
                    <a:pt x="4130040" y="3810"/>
                  </a:lnTo>
                  <a:lnTo>
                    <a:pt x="4134611" y="7619"/>
                  </a:lnTo>
                  <a:lnTo>
                    <a:pt x="4134612" y="4418076"/>
                  </a:lnTo>
                  <a:lnTo>
                    <a:pt x="4138422" y="4418076"/>
                  </a:lnTo>
                  <a:close/>
                </a:path>
                <a:path w="4138929" h="4418330">
                  <a:moveTo>
                    <a:pt x="8381" y="7620"/>
                  </a:moveTo>
                  <a:lnTo>
                    <a:pt x="8381" y="3810"/>
                  </a:lnTo>
                  <a:lnTo>
                    <a:pt x="4571" y="7620"/>
                  </a:lnTo>
                  <a:lnTo>
                    <a:pt x="8381" y="7620"/>
                  </a:lnTo>
                  <a:close/>
                </a:path>
                <a:path w="4138929" h="4418330">
                  <a:moveTo>
                    <a:pt x="8382" y="4409694"/>
                  </a:moveTo>
                  <a:lnTo>
                    <a:pt x="8381" y="7620"/>
                  </a:lnTo>
                  <a:lnTo>
                    <a:pt x="4571" y="7620"/>
                  </a:lnTo>
                  <a:lnTo>
                    <a:pt x="4572" y="4409694"/>
                  </a:lnTo>
                  <a:lnTo>
                    <a:pt x="8382" y="4409694"/>
                  </a:lnTo>
                  <a:close/>
                </a:path>
                <a:path w="4138929" h="4418330">
                  <a:moveTo>
                    <a:pt x="4134612" y="4409694"/>
                  </a:moveTo>
                  <a:lnTo>
                    <a:pt x="4572" y="4409694"/>
                  </a:lnTo>
                  <a:lnTo>
                    <a:pt x="8382" y="4414266"/>
                  </a:lnTo>
                  <a:lnTo>
                    <a:pt x="8382" y="4418076"/>
                  </a:lnTo>
                  <a:lnTo>
                    <a:pt x="4130040" y="4418076"/>
                  </a:lnTo>
                  <a:lnTo>
                    <a:pt x="4130040" y="4414266"/>
                  </a:lnTo>
                  <a:lnTo>
                    <a:pt x="4134612" y="4409694"/>
                  </a:lnTo>
                  <a:close/>
                </a:path>
                <a:path w="4138929" h="4418330">
                  <a:moveTo>
                    <a:pt x="8382" y="4418076"/>
                  </a:moveTo>
                  <a:lnTo>
                    <a:pt x="8382" y="4414266"/>
                  </a:lnTo>
                  <a:lnTo>
                    <a:pt x="4572" y="4409694"/>
                  </a:lnTo>
                  <a:lnTo>
                    <a:pt x="4572" y="4418076"/>
                  </a:lnTo>
                  <a:lnTo>
                    <a:pt x="8382" y="4418076"/>
                  </a:lnTo>
                  <a:close/>
                </a:path>
                <a:path w="4138929" h="4418330">
                  <a:moveTo>
                    <a:pt x="4134611" y="7619"/>
                  </a:moveTo>
                  <a:lnTo>
                    <a:pt x="4130040" y="3810"/>
                  </a:lnTo>
                  <a:lnTo>
                    <a:pt x="4130040" y="7619"/>
                  </a:lnTo>
                  <a:lnTo>
                    <a:pt x="4134611" y="7619"/>
                  </a:lnTo>
                  <a:close/>
                </a:path>
                <a:path w="4138929" h="4418330">
                  <a:moveTo>
                    <a:pt x="4134612" y="4409694"/>
                  </a:moveTo>
                  <a:lnTo>
                    <a:pt x="4134611" y="7619"/>
                  </a:lnTo>
                  <a:lnTo>
                    <a:pt x="4130040" y="7619"/>
                  </a:lnTo>
                  <a:lnTo>
                    <a:pt x="4130040" y="4409694"/>
                  </a:lnTo>
                  <a:lnTo>
                    <a:pt x="4134612" y="4409694"/>
                  </a:lnTo>
                  <a:close/>
                </a:path>
                <a:path w="4138929" h="4418330">
                  <a:moveTo>
                    <a:pt x="4134612" y="4418076"/>
                  </a:moveTo>
                  <a:lnTo>
                    <a:pt x="4134612" y="4409694"/>
                  </a:lnTo>
                  <a:lnTo>
                    <a:pt x="4130040" y="4414266"/>
                  </a:lnTo>
                  <a:lnTo>
                    <a:pt x="4130040" y="4418076"/>
                  </a:lnTo>
                  <a:lnTo>
                    <a:pt x="4134612" y="4418076"/>
                  </a:lnTo>
                  <a:close/>
                </a:path>
              </a:pathLst>
            </a:custGeom>
            <a:solidFill>
              <a:srgbClr val="000000"/>
            </a:solidFill>
          </p:spPr>
          <p:txBody>
            <a:bodyPr wrap="square" lIns="0" tIns="0" rIns="0" bIns="0" rtlCol="0"/>
            <a:lstStyle/>
            <a:p>
              <a:endParaRPr/>
            </a:p>
          </p:txBody>
        </p:sp>
        <p:pic>
          <p:nvPicPr>
            <p:cNvPr id="5" name="object 5"/>
            <p:cNvPicPr/>
            <p:nvPr/>
          </p:nvPicPr>
          <p:blipFill>
            <a:blip r:embed="rId2" cstate="print"/>
            <a:stretch>
              <a:fillRect/>
            </a:stretch>
          </p:blipFill>
          <p:spPr>
            <a:xfrm>
              <a:off x="379361" y="2218181"/>
              <a:ext cx="233172" cy="229361"/>
            </a:xfrm>
            <a:prstGeom prst="rect">
              <a:avLst/>
            </a:prstGeom>
          </p:spPr>
        </p:pic>
      </p:grpSp>
      <p:sp>
        <p:nvSpPr>
          <p:cNvPr id="6" name="object 6"/>
          <p:cNvSpPr txBox="1"/>
          <p:nvPr/>
        </p:nvSpPr>
        <p:spPr>
          <a:xfrm>
            <a:off x="393700" y="1094994"/>
            <a:ext cx="3824604" cy="3063240"/>
          </a:xfrm>
          <a:prstGeom prst="rect">
            <a:avLst/>
          </a:prstGeom>
        </p:spPr>
        <p:txBody>
          <a:bodyPr vert="horz" wrap="square" lIns="0" tIns="144780" rIns="0" bIns="0" rtlCol="0">
            <a:spAutoFit/>
          </a:bodyPr>
          <a:lstStyle/>
          <a:p>
            <a:pPr marL="246379">
              <a:lnSpc>
                <a:spcPct val="100000"/>
              </a:lnSpc>
              <a:spcBef>
                <a:spcPts val="1140"/>
              </a:spcBef>
            </a:pPr>
            <a:r>
              <a:rPr sz="2800" b="1" spc="-10" dirty="0">
                <a:solidFill>
                  <a:srgbClr val="3E3E3E"/>
                </a:solidFill>
                <a:latin typeface="Arial"/>
                <a:cs typeface="Arial"/>
              </a:rPr>
              <a:t>6.</a:t>
            </a:r>
            <a:r>
              <a:rPr sz="2800" b="1" spc="-35" dirty="0">
                <a:solidFill>
                  <a:srgbClr val="3E3E3E"/>
                </a:solidFill>
                <a:latin typeface="宋体"/>
                <a:cs typeface="宋体"/>
              </a:rPr>
              <a:t>条件</a:t>
            </a:r>
            <a:r>
              <a:rPr lang="zh-CN" altLang="en-US" sz="2800" b="1" spc="-35" dirty="0">
                <a:solidFill>
                  <a:srgbClr val="3E3E3E"/>
                </a:solidFill>
                <a:latin typeface="宋体"/>
                <a:cs typeface="宋体"/>
              </a:rPr>
              <a:t>操作符</a:t>
            </a:r>
            <a:endParaRPr sz="2800" dirty="0">
              <a:latin typeface="宋体"/>
              <a:cs typeface="宋体"/>
            </a:endParaRPr>
          </a:p>
          <a:p>
            <a:pPr marL="407670">
              <a:lnSpc>
                <a:spcPct val="100000"/>
              </a:lnSpc>
              <a:spcBef>
                <a:spcPts val="1045"/>
              </a:spcBef>
            </a:pPr>
            <a:r>
              <a:rPr sz="2800" b="1" spc="-25" dirty="0">
                <a:solidFill>
                  <a:srgbClr val="3E3E3E"/>
                </a:solidFill>
                <a:latin typeface="Arial"/>
                <a:cs typeface="Arial"/>
              </a:rPr>
              <a:t>?</a:t>
            </a:r>
            <a:r>
              <a:rPr lang="en-US" sz="2800" b="1" spc="-25" dirty="0">
                <a:solidFill>
                  <a:srgbClr val="3E3E3E"/>
                </a:solidFill>
                <a:latin typeface="Arial"/>
                <a:cs typeface="Arial"/>
              </a:rPr>
              <a:t> </a:t>
            </a:r>
            <a:r>
              <a:rPr sz="2800" b="1" spc="-25" dirty="0">
                <a:solidFill>
                  <a:srgbClr val="3E3E3E"/>
                </a:solidFill>
                <a:latin typeface="Arial"/>
                <a:cs typeface="Arial"/>
              </a:rPr>
              <a:t>:</a:t>
            </a:r>
            <a:endParaRPr sz="2800" dirty="0">
              <a:latin typeface="Arial"/>
              <a:cs typeface="Arial"/>
            </a:endParaRPr>
          </a:p>
          <a:p>
            <a:pPr marL="12700">
              <a:lnSpc>
                <a:spcPct val="100000"/>
              </a:lnSpc>
              <a:spcBef>
                <a:spcPts val="1045"/>
              </a:spcBef>
            </a:pPr>
            <a:r>
              <a:rPr sz="2450" dirty="0">
                <a:solidFill>
                  <a:srgbClr val="3E3E3E"/>
                </a:solidFill>
                <a:latin typeface="Arial"/>
                <a:cs typeface="Arial"/>
              </a:rPr>
              <a:t>[signal]</a:t>
            </a:r>
            <a:r>
              <a:rPr sz="2450" spc="15" dirty="0">
                <a:solidFill>
                  <a:srgbClr val="3E3E3E"/>
                </a:solidFill>
                <a:latin typeface="Arial"/>
                <a:cs typeface="Arial"/>
              </a:rPr>
              <a:t> </a:t>
            </a:r>
            <a:r>
              <a:rPr sz="2450" dirty="0">
                <a:solidFill>
                  <a:srgbClr val="3E3E3E"/>
                </a:solidFill>
                <a:latin typeface="Arial"/>
                <a:cs typeface="Arial"/>
              </a:rPr>
              <a:t>=</a:t>
            </a:r>
            <a:r>
              <a:rPr sz="2450" spc="-5" dirty="0">
                <a:solidFill>
                  <a:srgbClr val="3E3E3E"/>
                </a:solidFill>
                <a:latin typeface="Arial"/>
                <a:cs typeface="Arial"/>
              </a:rPr>
              <a:t> </a:t>
            </a:r>
            <a:r>
              <a:rPr sz="2450" dirty="0">
                <a:solidFill>
                  <a:srgbClr val="3E3E3E"/>
                </a:solidFill>
                <a:latin typeface="Arial"/>
                <a:cs typeface="Arial"/>
              </a:rPr>
              <a:t>[Boolean-</a:t>
            </a:r>
            <a:r>
              <a:rPr sz="2450" spc="-20" dirty="0">
                <a:solidFill>
                  <a:srgbClr val="3E3E3E"/>
                </a:solidFill>
                <a:latin typeface="Arial"/>
                <a:cs typeface="Arial"/>
              </a:rPr>
              <a:t>exp]</a:t>
            </a:r>
            <a:endParaRPr sz="2450" dirty="0">
              <a:latin typeface="Arial"/>
              <a:cs typeface="Arial"/>
            </a:endParaRPr>
          </a:p>
          <a:p>
            <a:pPr marL="12700">
              <a:lnSpc>
                <a:spcPct val="100000"/>
              </a:lnSpc>
              <a:spcBef>
                <a:spcPts val="300"/>
              </a:spcBef>
            </a:pPr>
            <a:r>
              <a:rPr sz="2450" dirty="0">
                <a:solidFill>
                  <a:srgbClr val="3E3E3E"/>
                </a:solidFill>
                <a:latin typeface="Arial"/>
                <a:cs typeface="Arial"/>
              </a:rPr>
              <a:t>?[true-exp]:[false-</a:t>
            </a:r>
            <a:r>
              <a:rPr sz="2450" spc="-20" dirty="0">
                <a:solidFill>
                  <a:srgbClr val="3E3E3E"/>
                </a:solidFill>
                <a:latin typeface="Arial"/>
                <a:cs typeface="Arial"/>
              </a:rPr>
              <a:t>exp]</a:t>
            </a:r>
            <a:endParaRPr sz="2450" dirty="0">
              <a:latin typeface="Arial"/>
              <a:cs typeface="Arial"/>
            </a:endParaRPr>
          </a:p>
          <a:p>
            <a:pPr>
              <a:lnSpc>
                <a:spcPct val="100000"/>
              </a:lnSpc>
              <a:spcBef>
                <a:spcPts val="2125"/>
              </a:spcBef>
            </a:pPr>
            <a:endParaRPr sz="2450" dirty="0">
              <a:latin typeface="Arial"/>
              <a:cs typeface="Arial"/>
            </a:endParaRPr>
          </a:p>
          <a:p>
            <a:pPr marL="12700">
              <a:lnSpc>
                <a:spcPct val="100000"/>
              </a:lnSpc>
              <a:spcBef>
                <a:spcPts val="5"/>
              </a:spcBef>
              <a:tabLst>
                <a:tab pos="1087755" algn="l"/>
              </a:tabLst>
            </a:pPr>
            <a:r>
              <a:rPr sz="2450" spc="-10" dirty="0">
                <a:solidFill>
                  <a:srgbClr val="3E3E3E"/>
                </a:solidFill>
                <a:latin typeface="Arial"/>
                <a:cs typeface="Arial"/>
              </a:rPr>
              <a:t>assign</a:t>
            </a:r>
            <a:r>
              <a:rPr sz="2450" dirty="0">
                <a:solidFill>
                  <a:srgbClr val="3E3E3E"/>
                </a:solidFill>
                <a:latin typeface="Arial"/>
                <a:cs typeface="Arial"/>
              </a:rPr>
              <a:t>	max</a:t>
            </a:r>
            <a:r>
              <a:rPr sz="2450" spc="-5" dirty="0">
                <a:solidFill>
                  <a:srgbClr val="3E3E3E"/>
                </a:solidFill>
                <a:latin typeface="Arial"/>
                <a:cs typeface="Arial"/>
              </a:rPr>
              <a:t> </a:t>
            </a:r>
            <a:r>
              <a:rPr sz="2450" dirty="0">
                <a:solidFill>
                  <a:srgbClr val="3E3E3E"/>
                </a:solidFill>
                <a:latin typeface="Arial"/>
                <a:cs typeface="Arial"/>
              </a:rPr>
              <a:t>=</a:t>
            </a:r>
            <a:r>
              <a:rPr sz="2450" spc="-5" dirty="0">
                <a:solidFill>
                  <a:srgbClr val="3E3E3E"/>
                </a:solidFill>
                <a:latin typeface="Arial"/>
                <a:cs typeface="Arial"/>
              </a:rPr>
              <a:t> </a:t>
            </a:r>
            <a:r>
              <a:rPr sz="2450" dirty="0">
                <a:solidFill>
                  <a:srgbClr val="3E3E3E"/>
                </a:solidFill>
                <a:latin typeface="Arial"/>
                <a:cs typeface="Arial"/>
              </a:rPr>
              <a:t>(a&gt;b)</a:t>
            </a:r>
            <a:r>
              <a:rPr sz="2450" spc="25" dirty="0">
                <a:solidFill>
                  <a:srgbClr val="3E3E3E"/>
                </a:solidFill>
                <a:latin typeface="Arial"/>
                <a:cs typeface="Arial"/>
              </a:rPr>
              <a:t> </a:t>
            </a:r>
            <a:r>
              <a:rPr sz="2450" dirty="0">
                <a:solidFill>
                  <a:srgbClr val="3E3E3E"/>
                </a:solidFill>
                <a:latin typeface="Arial"/>
                <a:cs typeface="Arial"/>
              </a:rPr>
              <a:t>?</a:t>
            </a:r>
            <a:r>
              <a:rPr sz="2450" spc="-10" dirty="0">
                <a:solidFill>
                  <a:srgbClr val="3E3E3E"/>
                </a:solidFill>
                <a:latin typeface="Arial"/>
                <a:cs typeface="Arial"/>
              </a:rPr>
              <a:t> </a:t>
            </a:r>
            <a:r>
              <a:rPr sz="2450" dirty="0">
                <a:solidFill>
                  <a:srgbClr val="3E3E3E"/>
                </a:solidFill>
                <a:latin typeface="Arial"/>
                <a:cs typeface="Arial"/>
              </a:rPr>
              <a:t>a :</a:t>
            </a:r>
            <a:r>
              <a:rPr sz="2450" spc="-5" dirty="0">
                <a:solidFill>
                  <a:srgbClr val="3E3E3E"/>
                </a:solidFill>
                <a:latin typeface="Arial"/>
                <a:cs typeface="Arial"/>
              </a:rPr>
              <a:t> </a:t>
            </a:r>
            <a:r>
              <a:rPr sz="2450" spc="-25" dirty="0">
                <a:solidFill>
                  <a:srgbClr val="3E3E3E"/>
                </a:solidFill>
                <a:latin typeface="Arial"/>
                <a:cs typeface="Arial"/>
              </a:rPr>
              <a:t>b;</a:t>
            </a:r>
            <a:endParaRPr sz="2450" dirty="0">
              <a:latin typeface="Arial"/>
              <a:cs typeface="Arial"/>
            </a:endParaRPr>
          </a:p>
        </p:txBody>
      </p:sp>
      <p:sp>
        <p:nvSpPr>
          <p:cNvPr id="7" name="object 7"/>
          <p:cNvSpPr/>
          <p:nvPr/>
        </p:nvSpPr>
        <p:spPr>
          <a:xfrm>
            <a:off x="4737100" y="1205154"/>
            <a:ext cx="5862955" cy="5302885"/>
          </a:xfrm>
          <a:custGeom>
            <a:avLst/>
            <a:gdLst/>
            <a:ahLst/>
            <a:cxnLst/>
            <a:rect l="l" t="t" r="r" b="b"/>
            <a:pathLst>
              <a:path w="5862955" h="5302885">
                <a:moveTo>
                  <a:pt x="5862828" y="5300472"/>
                </a:moveTo>
                <a:lnTo>
                  <a:pt x="5862828" y="2285"/>
                </a:lnTo>
                <a:lnTo>
                  <a:pt x="5861304" y="0"/>
                </a:lnTo>
                <a:lnTo>
                  <a:pt x="1523" y="0"/>
                </a:lnTo>
                <a:lnTo>
                  <a:pt x="0" y="2286"/>
                </a:lnTo>
                <a:lnTo>
                  <a:pt x="0" y="5300472"/>
                </a:lnTo>
                <a:lnTo>
                  <a:pt x="1524" y="5302758"/>
                </a:lnTo>
                <a:lnTo>
                  <a:pt x="3810" y="5302758"/>
                </a:lnTo>
                <a:lnTo>
                  <a:pt x="3810" y="8382"/>
                </a:lnTo>
                <a:lnTo>
                  <a:pt x="8382" y="4572"/>
                </a:lnTo>
                <a:lnTo>
                  <a:pt x="8382" y="8382"/>
                </a:lnTo>
                <a:lnTo>
                  <a:pt x="5854445" y="8381"/>
                </a:lnTo>
                <a:lnTo>
                  <a:pt x="5854445" y="4571"/>
                </a:lnTo>
                <a:lnTo>
                  <a:pt x="5859018" y="8381"/>
                </a:lnTo>
                <a:lnTo>
                  <a:pt x="5859018" y="5302758"/>
                </a:lnTo>
                <a:lnTo>
                  <a:pt x="5861304" y="5302758"/>
                </a:lnTo>
                <a:lnTo>
                  <a:pt x="5862828" y="5300472"/>
                </a:lnTo>
                <a:close/>
              </a:path>
              <a:path w="5862955" h="5302885">
                <a:moveTo>
                  <a:pt x="8382" y="8382"/>
                </a:moveTo>
                <a:lnTo>
                  <a:pt x="8382" y="4572"/>
                </a:lnTo>
                <a:lnTo>
                  <a:pt x="3810" y="8382"/>
                </a:lnTo>
                <a:lnTo>
                  <a:pt x="8382" y="8382"/>
                </a:lnTo>
                <a:close/>
              </a:path>
              <a:path w="5862955" h="5302885">
                <a:moveTo>
                  <a:pt x="8382" y="5294376"/>
                </a:moveTo>
                <a:lnTo>
                  <a:pt x="8382" y="8382"/>
                </a:lnTo>
                <a:lnTo>
                  <a:pt x="3810" y="8382"/>
                </a:lnTo>
                <a:lnTo>
                  <a:pt x="3810" y="5294376"/>
                </a:lnTo>
                <a:lnTo>
                  <a:pt x="8382" y="5294376"/>
                </a:lnTo>
                <a:close/>
              </a:path>
              <a:path w="5862955" h="5302885">
                <a:moveTo>
                  <a:pt x="5859018" y="5294376"/>
                </a:moveTo>
                <a:lnTo>
                  <a:pt x="3810" y="5294376"/>
                </a:lnTo>
                <a:lnTo>
                  <a:pt x="8382" y="5298186"/>
                </a:lnTo>
                <a:lnTo>
                  <a:pt x="8382" y="5302758"/>
                </a:lnTo>
                <a:lnTo>
                  <a:pt x="5854445" y="5302758"/>
                </a:lnTo>
                <a:lnTo>
                  <a:pt x="5854445" y="5298186"/>
                </a:lnTo>
                <a:lnTo>
                  <a:pt x="5859018" y="5294376"/>
                </a:lnTo>
                <a:close/>
              </a:path>
              <a:path w="5862955" h="5302885">
                <a:moveTo>
                  <a:pt x="8382" y="5302758"/>
                </a:moveTo>
                <a:lnTo>
                  <a:pt x="8382" y="5298186"/>
                </a:lnTo>
                <a:lnTo>
                  <a:pt x="3810" y="5294376"/>
                </a:lnTo>
                <a:lnTo>
                  <a:pt x="3810" y="5302758"/>
                </a:lnTo>
                <a:lnTo>
                  <a:pt x="8382" y="5302758"/>
                </a:lnTo>
                <a:close/>
              </a:path>
              <a:path w="5862955" h="5302885">
                <a:moveTo>
                  <a:pt x="5859018" y="8381"/>
                </a:moveTo>
                <a:lnTo>
                  <a:pt x="5854445" y="4571"/>
                </a:lnTo>
                <a:lnTo>
                  <a:pt x="5854445" y="8381"/>
                </a:lnTo>
                <a:lnTo>
                  <a:pt x="5859018" y="8381"/>
                </a:lnTo>
                <a:close/>
              </a:path>
              <a:path w="5862955" h="5302885">
                <a:moveTo>
                  <a:pt x="5859018" y="5294376"/>
                </a:moveTo>
                <a:lnTo>
                  <a:pt x="5859018" y="8381"/>
                </a:lnTo>
                <a:lnTo>
                  <a:pt x="5854445" y="8381"/>
                </a:lnTo>
                <a:lnTo>
                  <a:pt x="5854445" y="5294376"/>
                </a:lnTo>
                <a:lnTo>
                  <a:pt x="5859018" y="5294376"/>
                </a:lnTo>
                <a:close/>
              </a:path>
              <a:path w="5862955" h="5302885">
                <a:moveTo>
                  <a:pt x="5859018" y="5302758"/>
                </a:moveTo>
                <a:lnTo>
                  <a:pt x="5859018" y="5294376"/>
                </a:lnTo>
                <a:lnTo>
                  <a:pt x="5854445" y="5298186"/>
                </a:lnTo>
                <a:lnTo>
                  <a:pt x="5854445" y="5302758"/>
                </a:lnTo>
                <a:lnTo>
                  <a:pt x="5859018" y="5302758"/>
                </a:lnTo>
                <a:close/>
              </a:path>
            </a:pathLst>
          </a:custGeom>
          <a:solidFill>
            <a:srgbClr val="FF0000"/>
          </a:solidFill>
        </p:spPr>
        <p:txBody>
          <a:bodyPr wrap="square" lIns="0" tIns="0" rIns="0" bIns="0" rtlCol="0"/>
          <a:lstStyle/>
          <a:p>
            <a:endParaRPr/>
          </a:p>
        </p:txBody>
      </p:sp>
      <p:sp>
        <p:nvSpPr>
          <p:cNvPr id="8" name="object 8"/>
          <p:cNvSpPr txBox="1"/>
          <p:nvPr/>
        </p:nvSpPr>
        <p:spPr>
          <a:xfrm>
            <a:off x="4808953" y="1182083"/>
            <a:ext cx="5628640" cy="1228090"/>
          </a:xfrm>
          <a:prstGeom prst="rect">
            <a:avLst/>
          </a:prstGeom>
        </p:spPr>
        <p:txBody>
          <a:bodyPr vert="horz" wrap="square" lIns="0" tIns="12700" rIns="0" bIns="0" rtlCol="0">
            <a:spAutoFit/>
          </a:bodyPr>
          <a:lstStyle/>
          <a:p>
            <a:pPr marL="12700" marR="5080">
              <a:lnSpc>
                <a:spcPct val="150300"/>
              </a:lnSpc>
              <a:spcBef>
                <a:spcPts val="100"/>
              </a:spcBef>
            </a:pPr>
            <a:r>
              <a:rPr sz="1750" spc="-20" dirty="0">
                <a:latin typeface="Arial"/>
                <a:cs typeface="Arial"/>
              </a:rPr>
              <a:t>[boolean_exp]</a:t>
            </a:r>
            <a:r>
              <a:rPr sz="1750" dirty="0">
                <a:latin typeface="微软雅黑"/>
                <a:cs typeface="微软雅黑"/>
              </a:rPr>
              <a:t>是一个布尔表达式，结果返回真</a:t>
            </a:r>
            <a:r>
              <a:rPr sz="1750" spc="-10" dirty="0">
                <a:latin typeface="微软雅黑"/>
                <a:cs typeface="微软雅黑"/>
              </a:rPr>
              <a:t>（</a:t>
            </a:r>
            <a:r>
              <a:rPr sz="1750" spc="-10" dirty="0">
                <a:latin typeface="Arial"/>
                <a:cs typeface="Arial"/>
              </a:rPr>
              <a:t>1’b1</a:t>
            </a:r>
            <a:r>
              <a:rPr sz="1750" spc="-10" dirty="0">
                <a:latin typeface="微软雅黑"/>
                <a:cs typeface="微软雅黑"/>
              </a:rPr>
              <a:t>）</a:t>
            </a:r>
            <a:r>
              <a:rPr sz="1750" spc="-50" dirty="0">
                <a:latin typeface="微软雅黑"/>
                <a:cs typeface="微软雅黑"/>
              </a:rPr>
              <a:t>或</a:t>
            </a:r>
            <a:r>
              <a:rPr sz="1750" dirty="0">
                <a:latin typeface="微软雅黑"/>
                <a:cs typeface="微软雅黑"/>
              </a:rPr>
              <a:t>假</a:t>
            </a:r>
            <a:r>
              <a:rPr sz="1750" spc="-10" dirty="0">
                <a:latin typeface="微软雅黑"/>
                <a:cs typeface="微软雅黑"/>
              </a:rPr>
              <a:t>（</a:t>
            </a:r>
            <a:r>
              <a:rPr sz="1750" spc="-10" dirty="0">
                <a:latin typeface="Arial"/>
                <a:cs typeface="Arial"/>
              </a:rPr>
              <a:t>1’b0</a:t>
            </a:r>
            <a:r>
              <a:rPr sz="1750" spc="-10" dirty="0">
                <a:latin typeface="微软雅黑"/>
                <a:cs typeface="微软雅黑"/>
              </a:rPr>
              <a:t>），</a:t>
            </a:r>
            <a:r>
              <a:rPr sz="1750" spc="-5" dirty="0">
                <a:latin typeface="微软雅黑"/>
                <a:cs typeface="微软雅黑"/>
              </a:rPr>
              <a:t>当为真时，</a:t>
            </a:r>
            <a:r>
              <a:rPr sz="1750" spc="-20" dirty="0">
                <a:latin typeface="Arial"/>
                <a:cs typeface="Arial"/>
              </a:rPr>
              <a:t>[true_exp]</a:t>
            </a:r>
            <a:r>
              <a:rPr sz="1750" dirty="0">
                <a:latin typeface="微软雅黑"/>
                <a:cs typeface="微软雅黑"/>
              </a:rPr>
              <a:t>赋给</a:t>
            </a:r>
            <a:r>
              <a:rPr sz="1750" spc="-10" dirty="0">
                <a:latin typeface="Arial"/>
                <a:cs typeface="Arial"/>
              </a:rPr>
              <a:t>[signal],</a:t>
            </a:r>
            <a:r>
              <a:rPr sz="1750" spc="-15" dirty="0">
                <a:latin typeface="微软雅黑"/>
                <a:cs typeface="微软雅黑"/>
              </a:rPr>
              <a:t>为假则将</a:t>
            </a:r>
            <a:r>
              <a:rPr sz="1750" spc="-50" dirty="0">
                <a:latin typeface="微软雅黑"/>
                <a:cs typeface="微软雅黑"/>
              </a:rPr>
              <a:t> </a:t>
            </a:r>
            <a:r>
              <a:rPr sz="1750" spc="-20" dirty="0">
                <a:latin typeface="Arial"/>
                <a:cs typeface="Arial"/>
              </a:rPr>
              <a:t>[false_exp]</a:t>
            </a:r>
            <a:r>
              <a:rPr sz="1750" dirty="0">
                <a:latin typeface="微软雅黑"/>
                <a:cs typeface="微软雅黑"/>
              </a:rPr>
              <a:t>赋给</a:t>
            </a:r>
            <a:r>
              <a:rPr sz="1750" spc="-10" dirty="0">
                <a:latin typeface="Arial"/>
                <a:cs typeface="Arial"/>
              </a:rPr>
              <a:t>[signal]</a:t>
            </a:r>
            <a:r>
              <a:rPr sz="1750" spc="-50" dirty="0">
                <a:latin typeface="微软雅黑"/>
                <a:cs typeface="微软雅黑"/>
              </a:rPr>
              <a:t>。</a:t>
            </a:r>
            <a:endParaRPr sz="1750">
              <a:latin typeface="微软雅黑"/>
              <a:cs typeface="微软雅黑"/>
            </a:endParaRPr>
          </a:p>
        </p:txBody>
      </p:sp>
      <p:sp>
        <p:nvSpPr>
          <p:cNvPr id="10" name="object 10"/>
          <p:cNvSpPr txBox="1">
            <a:spLocks noGrp="1"/>
          </p:cNvSpPr>
          <p:nvPr>
            <p:ph type="ftr" sz="quarter" idx="5"/>
          </p:nvPr>
        </p:nvSpPr>
        <p:spPr>
          <a:prstGeom prst="rect">
            <a:avLst/>
          </a:prstGeom>
        </p:spPr>
        <p:txBody>
          <a:bodyPr vert="horz" wrap="square" lIns="0" tIns="23495" rIns="0" bIns="0" rtlCol="0">
            <a:spAutoFit/>
          </a:bodyPr>
          <a:lstStyle/>
          <a:p>
            <a:pPr marL="13335">
              <a:lnSpc>
                <a:spcPct val="100000"/>
              </a:lnSpc>
              <a:spcBef>
                <a:spcPts val="185"/>
              </a:spcBef>
            </a:pPr>
            <a:r>
              <a:rPr dirty="0"/>
              <a:t>Xilinx</a:t>
            </a:r>
            <a:r>
              <a:rPr spc="-5" dirty="0"/>
              <a:t> 大学合作部 </a:t>
            </a:r>
            <a:r>
              <a:rPr dirty="0"/>
              <a:t>&amp;</a:t>
            </a:r>
            <a:r>
              <a:rPr spc="-10" dirty="0"/>
              <a:t> 东南大学</a:t>
            </a:r>
          </a:p>
        </p:txBody>
      </p:sp>
      <p:sp>
        <p:nvSpPr>
          <p:cNvPr id="11" name="object 11"/>
          <p:cNvSpPr txBox="1">
            <a:spLocks noGrp="1"/>
          </p:cNvSpPr>
          <p:nvPr>
            <p:ph type="sldNum" sz="quarter" idx="7"/>
          </p:nvPr>
        </p:nvSpPr>
        <p:spPr>
          <a:prstGeom prst="rect">
            <a:avLst/>
          </a:prstGeom>
        </p:spPr>
        <p:txBody>
          <a:bodyPr vert="horz" wrap="square" lIns="0" tIns="4445" rIns="0" bIns="0" rtlCol="0">
            <a:spAutoFit/>
          </a:bodyPr>
          <a:lstStyle/>
          <a:p>
            <a:pPr marL="38735">
              <a:lnSpc>
                <a:spcPct val="100000"/>
              </a:lnSpc>
              <a:spcBef>
                <a:spcPts val="35"/>
              </a:spcBef>
            </a:pPr>
            <a:fld id="{81D60167-4931-47E6-BA6A-407CBD079E47}" type="slidenum">
              <a:rPr spc="-25" dirty="0"/>
              <a:t>31</a:t>
            </a:fld>
            <a:endParaRPr spc="-25" dirty="0"/>
          </a:p>
        </p:txBody>
      </p:sp>
      <p:sp>
        <p:nvSpPr>
          <p:cNvPr id="9" name="object 9"/>
          <p:cNvSpPr txBox="1"/>
          <p:nvPr/>
        </p:nvSpPr>
        <p:spPr>
          <a:xfrm>
            <a:off x="4808976" y="2785336"/>
            <a:ext cx="5588635" cy="3674724"/>
          </a:xfrm>
          <a:prstGeom prst="rect">
            <a:avLst/>
          </a:prstGeom>
        </p:spPr>
        <p:txBody>
          <a:bodyPr vert="horz" wrap="square" lIns="0" tIns="146685" rIns="0" bIns="0" rtlCol="0">
            <a:spAutoFit/>
          </a:bodyPr>
          <a:lstStyle/>
          <a:p>
            <a:pPr marL="12700">
              <a:lnSpc>
                <a:spcPct val="100000"/>
              </a:lnSpc>
              <a:spcBef>
                <a:spcPts val="1155"/>
              </a:spcBef>
            </a:pPr>
            <a:r>
              <a:rPr sz="1750" dirty="0">
                <a:latin typeface="微软雅黑"/>
                <a:cs typeface="微软雅黑"/>
              </a:rPr>
              <a:t>条件运算可以看成</a:t>
            </a:r>
            <a:r>
              <a:rPr sz="1750" spc="-10" dirty="0">
                <a:latin typeface="Arial"/>
                <a:cs typeface="Arial"/>
              </a:rPr>
              <a:t>if-</a:t>
            </a:r>
            <a:r>
              <a:rPr sz="1750" spc="-20" dirty="0">
                <a:latin typeface="Arial"/>
                <a:cs typeface="Arial"/>
              </a:rPr>
              <a:t>else</a:t>
            </a:r>
            <a:r>
              <a:rPr sz="1750" spc="-10" dirty="0">
                <a:latin typeface="微软雅黑"/>
                <a:cs typeface="微软雅黑"/>
              </a:rPr>
              <a:t>语句的简化：</a:t>
            </a:r>
            <a:endParaRPr sz="1750" dirty="0">
              <a:latin typeface="微软雅黑"/>
              <a:cs typeface="微软雅黑"/>
            </a:endParaRPr>
          </a:p>
          <a:p>
            <a:pPr marL="502920" marR="3058160" indent="-245745">
              <a:lnSpc>
                <a:spcPct val="150300"/>
              </a:lnSpc>
            </a:pPr>
            <a:r>
              <a:rPr sz="1750" dirty="0">
                <a:latin typeface="Arial"/>
                <a:cs typeface="Arial"/>
              </a:rPr>
              <a:t>i f</a:t>
            </a:r>
            <a:r>
              <a:rPr sz="1750" spc="475" dirty="0">
                <a:latin typeface="Arial"/>
                <a:cs typeface="Arial"/>
              </a:rPr>
              <a:t> </a:t>
            </a:r>
            <a:r>
              <a:rPr sz="1750" spc="-20" dirty="0">
                <a:latin typeface="Arial"/>
                <a:cs typeface="Arial"/>
              </a:rPr>
              <a:t>[boolean-</a:t>
            </a:r>
            <a:r>
              <a:rPr sz="1750" dirty="0">
                <a:latin typeface="Arial"/>
                <a:cs typeface="Arial"/>
              </a:rPr>
              <a:t>exp]</a:t>
            </a:r>
            <a:r>
              <a:rPr sz="1750" spc="15" dirty="0">
                <a:latin typeface="Arial"/>
                <a:cs typeface="Arial"/>
              </a:rPr>
              <a:t> </a:t>
            </a:r>
            <a:r>
              <a:rPr sz="1750" spc="-20" dirty="0">
                <a:latin typeface="Arial"/>
                <a:cs typeface="Arial"/>
              </a:rPr>
              <a:t>then </a:t>
            </a:r>
            <a:r>
              <a:rPr sz="1750" dirty="0">
                <a:latin typeface="Arial"/>
                <a:cs typeface="Arial"/>
              </a:rPr>
              <a:t>[signal]</a:t>
            </a:r>
            <a:r>
              <a:rPr sz="1750" spc="-20" dirty="0">
                <a:latin typeface="Arial"/>
                <a:cs typeface="Arial"/>
              </a:rPr>
              <a:t> </a:t>
            </a:r>
            <a:r>
              <a:rPr sz="1750" dirty="0">
                <a:latin typeface="Arial"/>
                <a:cs typeface="Arial"/>
              </a:rPr>
              <a:t>=</a:t>
            </a:r>
            <a:r>
              <a:rPr sz="1750" spc="-30" dirty="0">
                <a:latin typeface="Arial"/>
                <a:cs typeface="Arial"/>
              </a:rPr>
              <a:t> </a:t>
            </a:r>
            <a:r>
              <a:rPr sz="1750" spc="-20" dirty="0">
                <a:latin typeface="Arial"/>
                <a:cs typeface="Arial"/>
              </a:rPr>
              <a:t>[true-</a:t>
            </a:r>
            <a:r>
              <a:rPr sz="1750" dirty="0">
                <a:latin typeface="Arial"/>
                <a:cs typeface="Arial"/>
              </a:rPr>
              <a:t>exp]</a:t>
            </a:r>
            <a:r>
              <a:rPr sz="1750" spc="-20" dirty="0">
                <a:latin typeface="Arial"/>
                <a:cs typeface="Arial"/>
              </a:rPr>
              <a:t> </a:t>
            </a:r>
            <a:r>
              <a:rPr sz="1750" spc="-50" dirty="0">
                <a:latin typeface="Arial"/>
                <a:cs typeface="Arial"/>
              </a:rPr>
              <a:t>;</a:t>
            </a:r>
            <a:endParaRPr sz="1750" dirty="0">
              <a:latin typeface="Arial"/>
              <a:cs typeface="Arial"/>
            </a:endParaRPr>
          </a:p>
          <a:p>
            <a:pPr marL="257810">
              <a:lnSpc>
                <a:spcPct val="100000"/>
              </a:lnSpc>
              <a:spcBef>
                <a:spcPts val="1055"/>
              </a:spcBef>
            </a:pPr>
            <a:r>
              <a:rPr sz="1750" dirty="0">
                <a:latin typeface="Arial"/>
                <a:cs typeface="Arial"/>
              </a:rPr>
              <a:t>e</a:t>
            </a:r>
            <a:r>
              <a:rPr sz="1750" spc="-10" dirty="0">
                <a:latin typeface="Arial"/>
                <a:cs typeface="Arial"/>
              </a:rPr>
              <a:t> </a:t>
            </a:r>
            <a:r>
              <a:rPr sz="1750" dirty="0">
                <a:latin typeface="Arial"/>
                <a:cs typeface="Arial"/>
              </a:rPr>
              <a:t>l</a:t>
            </a:r>
            <a:r>
              <a:rPr sz="1750" spc="-10" dirty="0">
                <a:latin typeface="Arial"/>
                <a:cs typeface="Arial"/>
              </a:rPr>
              <a:t> </a:t>
            </a:r>
            <a:r>
              <a:rPr sz="1750" dirty="0">
                <a:latin typeface="Arial"/>
                <a:cs typeface="Arial"/>
              </a:rPr>
              <a:t>s</a:t>
            </a:r>
            <a:r>
              <a:rPr sz="1750" spc="-5" dirty="0">
                <a:latin typeface="Arial"/>
                <a:cs typeface="Arial"/>
              </a:rPr>
              <a:t> </a:t>
            </a:r>
            <a:r>
              <a:rPr sz="1750" spc="-50" dirty="0">
                <a:latin typeface="Arial"/>
                <a:cs typeface="Arial"/>
              </a:rPr>
              <a:t>e</a:t>
            </a:r>
            <a:endParaRPr sz="1750" dirty="0">
              <a:latin typeface="Arial"/>
              <a:cs typeface="Arial"/>
            </a:endParaRPr>
          </a:p>
          <a:p>
            <a:pPr marL="502920">
              <a:lnSpc>
                <a:spcPct val="100000"/>
              </a:lnSpc>
              <a:spcBef>
                <a:spcPts val="1055"/>
              </a:spcBef>
            </a:pPr>
            <a:r>
              <a:rPr sz="1750" dirty="0">
                <a:latin typeface="Arial"/>
                <a:cs typeface="Arial"/>
              </a:rPr>
              <a:t>[signal]</a:t>
            </a:r>
            <a:r>
              <a:rPr sz="1750" spc="5" dirty="0">
                <a:latin typeface="Arial"/>
                <a:cs typeface="Arial"/>
              </a:rPr>
              <a:t> </a:t>
            </a:r>
            <a:r>
              <a:rPr sz="1750" dirty="0">
                <a:latin typeface="Arial"/>
                <a:cs typeface="Arial"/>
              </a:rPr>
              <a:t>=</a:t>
            </a:r>
            <a:r>
              <a:rPr sz="1750" spc="-10" dirty="0">
                <a:latin typeface="Arial"/>
                <a:cs typeface="Arial"/>
              </a:rPr>
              <a:t> </a:t>
            </a:r>
            <a:r>
              <a:rPr sz="1750" spc="-20" dirty="0">
                <a:latin typeface="Arial"/>
                <a:cs typeface="Arial"/>
              </a:rPr>
              <a:t>[false-</a:t>
            </a:r>
            <a:r>
              <a:rPr sz="1750" spc="-10" dirty="0">
                <a:latin typeface="Arial"/>
                <a:cs typeface="Arial"/>
              </a:rPr>
              <a:t>exp];</a:t>
            </a:r>
            <a:endParaRPr sz="1750" dirty="0">
              <a:latin typeface="Arial"/>
              <a:cs typeface="Arial"/>
            </a:endParaRPr>
          </a:p>
          <a:p>
            <a:pPr>
              <a:lnSpc>
                <a:spcPct val="100000"/>
              </a:lnSpc>
              <a:spcBef>
                <a:spcPts val="1145"/>
              </a:spcBef>
            </a:pPr>
            <a:endParaRPr sz="1750" dirty="0">
              <a:latin typeface="Arial"/>
              <a:cs typeface="Arial"/>
            </a:endParaRPr>
          </a:p>
          <a:p>
            <a:pPr marL="12700" marR="5080">
              <a:lnSpc>
                <a:spcPct val="150300"/>
              </a:lnSpc>
            </a:pPr>
            <a:r>
              <a:rPr sz="1750" spc="-5" dirty="0" err="1">
                <a:latin typeface="微软雅黑"/>
                <a:cs typeface="微软雅黑"/>
              </a:rPr>
              <a:t>条件运算可以进行级联和嵌套来指定所需选择，例</a:t>
            </a:r>
            <a:r>
              <a:rPr lang="zh-CN" altLang="en-US" sz="1750" spc="-5" dirty="0">
                <a:latin typeface="微软雅黑"/>
                <a:cs typeface="微软雅黑"/>
              </a:rPr>
              <a:t>：</a:t>
            </a:r>
            <a:r>
              <a:rPr sz="1750" spc="-5" dirty="0" err="1">
                <a:latin typeface="微软雅黑"/>
                <a:cs typeface="微软雅黑"/>
              </a:rPr>
              <a:t>求较大</a:t>
            </a:r>
            <a:r>
              <a:rPr sz="1750" dirty="0" err="1">
                <a:latin typeface="微软雅黑"/>
                <a:cs typeface="微软雅黑"/>
              </a:rPr>
              <a:t>值电路</a:t>
            </a:r>
            <a:r>
              <a:rPr lang="zh-CN" altLang="en-US" sz="1750" dirty="0">
                <a:latin typeface="微软雅黑"/>
                <a:cs typeface="微软雅黑"/>
              </a:rPr>
              <a:t>，</a:t>
            </a:r>
            <a:r>
              <a:rPr sz="1750" dirty="0" err="1">
                <a:latin typeface="微软雅黑"/>
                <a:cs typeface="微软雅黑"/>
              </a:rPr>
              <a:t>返回</a:t>
            </a:r>
            <a:r>
              <a:rPr sz="1750" spc="-20" dirty="0" err="1">
                <a:latin typeface="Arial"/>
                <a:cs typeface="Arial"/>
              </a:rPr>
              <a:t>a,b</a:t>
            </a:r>
            <a:r>
              <a:rPr sz="1750" dirty="0" err="1">
                <a:latin typeface="微软雅黑"/>
                <a:cs typeface="微软雅黑"/>
              </a:rPr>
              <a:t>和</a:t>
            </a:r>
            <a:r>
              <a:rPr sz="1750" dirty="0" err="1">
                <a:latin typeface="Arial"/>
                <a:cs typeface="Arial"/>
              </a:rPr>
              <a:t>c</a:t>
            </a:r>
            <a:r>
              <a:rPr sz="1750" spc="-10" dirty="0" err="1">
                <a:latin typeface="微软雅黑"/>
                <a:cs typeface="微软雅黑"/>
              </a:rPr>
              <a:t>的最大值</a:t>
            </a:r>
            <a:endParaRPr sz="1750" dirty="0">
              <a:latin typeface="微软雅黑"/>
              <a:cs typeface="微软雅黑"/>
            </a:endParaRPr>
          </a:p>
          <a:p>
            <a:pPr marL="73660">
              <a:lnSpc>
                <a:spcPct val="100000"/>
              </a:lnSpc>
              <a:spcBef>
                <a:spcPts val="1055"/>
              </a:spcBef>
            </a:pPr>
            <a:r>
              <a:rPr sz="1750" b="1" dirty="0">
                <a:latin typeface="Arial"/>
                <a:cs typeface="Arial"/>
              </a:rPr>
              <a:t>assign</a:t>
            </a:r>
            <a:r>
              <a:rPr sz="1750" b="1" spc="-20" dirty="0">
                <a:latin typeface="Arial"/>
                <a:cs typeface="Arial"/>
              </a:rPr>
              <a:t> </a:t>
            </a:r>
            <a:r>
              <a:rPr sz="1750" dirty="0">
                <a:latin typeface="Arial"/>
                <a:cs typeface="Arial"/>
              </a:rPr>
              <a:t>max</a:t>
            </a:r>
            <a:r>
              <a:rPr sz="1750" spc="-35" dirty="0">
                <a:latin typeface="Arial"/>
                <a:cs typeface="Arial"/>
              </a:rPr>
              <a:t> </a:t>
            </a:r>
            <a:r>
              <a:rPr sz="1750" dirty="0">
                <a:latin typeface="Arial"/>
                <a:cs typeface="Arial"/>
              </a:rPr>
              <a:t>=</a:t>
            </a:r>
            <a:r>
              <a:rPr sz="1750" spc="-40" dirty="0">
                <a:latin typeface="Arial"/>
                <a:cs typeface="Arial"/>
              </a:rPr>
              <a:t> </a:t>
            </a:r>
            <a:r>
              <a:rPr sz="1750" dirty="0">
                <a:latin typeface="Arial"/>
                <a:cs typeface="Arial"/>
              </a:rPr>
              <a:t>(a&gt;b)</a:t>
            </a:r>
            <a:r>
              <a:rPr sz="1750" spc="-35" dirty="0">
                <a:latin typeface="Arial"/>
                <a:cs typeface="Arial"/>
              </a:rPr>
              <a:t> </a:t>
            </a:r>
            <a:r>
              <a:rPr sz="1750" dirty="0">
                <a:latin typeface="Arial"/>
                <a:cs typeface="Arial"/>
              </a:rPr>
              <a:t>?</a:t>
            </a:r>
            <a:r>
              <a:rPr sz="1750" spc="-35" dirty="0">
                <a:latin typeface="Arial"/>
                <a:cs typeface="Arial"/>
              </a:rPr>
              <a:t> </a:t>
            </a:r>
            <a:r>
              <a:rPr sz="1750" dirty="0">
                <a:latin typeface="Arial"/>
                <a:cs typeface="Arial"/>
              </a:rPr>
              <a:t>((a&gt;c)</a:t>
            </a:r>
            <a:r>
              <a:rPr sz="1750" spc="-40" dirty="0">
                <a:latin typeface="Arial"/>
                <a:cs typeface="Arial"/>
              </a:rPr>
              <a:t> </a:t>
            </a:r>
            <a:r>
              <a:rPr sz="1750" dirty="0">
                <a:latin typeface="Arial"/>
                <a:cs typeface="Arial"/>
              </a:rPr>
              <a:t>?</a:t>
            </a:r>
            <a:r>
              <a:rPr sz="1750" spc="-35" dirty="0">
                <a:latin typeface="Arial"/>
                <a:cs typeface="Arial"/>
              </a:rPr>
              <a:t> </a:t>
            </a:r>
            <a:r>
              <a:rPr sz="1750" dirty="0">
                <a:latin typeface="Arial"/>
                <a:cs typeface="Arial"/>
              </a:rPr>
              <a:t>a</a:t>
            </a:r>
            <a:r>
              <a:rPr sz="1750" spc="-35" dirty="0">
                <a:latin typeface="Arial"/>
                <a:cs typeface="Arial"/>
              </a:rPr>
              <a:t> </a:t>
            </a:r>
            <a:r>
              <a:rPr sz="1750" dirty="0">
                <a:latin typeface="Arial"/>
                <a:cs typeface="Arial"/>
              </a:rPr>
              <a:t>:</a:t>
            </a:r>
            <a:r>
              <a:rPr sz="1750" spc="-40" dirty="0">
                <a:latin typeface="Arial"/>
                <a:cs typeface="Arial"/>
              </a:rPr>
              <a:t> </a:t>
            </a:r>
            <a:r>
              <a:rPr sz="1750" dirty="0">
                <a:latin typeface="Arial"/>
                <a:cs typeface="Arial"/>
              </a:rPr>
              <a:t>c)</a:t>
            </a:r>
            <a:r>
              <a:rPr sz="1750" spc="-35" dirty="0">
                <a:latin typeface="Arial"/>
                <a:cs typeface="Arial"/>
              </a:rPr>
              <a:t> </a:t>
            </a:r>
            <a:r>
              <a:rPr sz="1750" dirty="0">
                <a:latin typeface="Arial"/>
                <a:cs typeface="Arial"/>
              </a:rPr>
              <a:t>:</a:t>
            </a:r>
            <a:r>
              <a:rPr sz="1750" spc="-40" dirty="0">
                <a:latin typeface="Arial"/>
                <a:cs typeface="Arial"/>
              </a:rPr>
              <a:t> </a:t>
            </a:r>
            <a:r>
              <a:rPr sz="1750" dirty="0">
                <a:latin typeface="Arial"/>
                <a:cs typeface="Arial"/>
              </a:rPr>
              <a:t>((b&gt;c)</a:t>
            </a:r>
            <a:r>
              <a:rPr sz="1750" spc="-35" dirty="0">
                <a:latin typeface="Arial"/>
                <a:cs typeface="Arial"/>
              </a:rPr>
              <a:t> </a:t>
            </a:r>
            <a:r>
              <a:rPr sz="1750" dirty="0">
                <a:latin typeface="Arial"/>
                <a:cs typeface="Arial"/>
              </a:rPr>
              <a:t>?</a:t>
            </a:r>
            <a:r>
              <a:rPr sz="1750" spc="-35" dirty="0">
                <a:latin typeface="Arial"/>
                <a:cs typeface="Arial"/>
              </a:rPr>
              <a:t> </a:t>
            </a:r>
            <a:r>
              <a:rPr sz="1750" dirty="0">
                <a:latin typeface="Arial"/>
                <a:cs typeface="Arial"/>
              </a:rPr>
              <a:t>b</a:t>
            </a:r>
            <a:r>
              <a:rPr sz="1750" spc="-30" dirty="0">
                <a:latin typeface="Arial"/>
                <a:cs typeface="Arial"/>
              </a:rPr>
              <a:t> </a:t>
            </a:r>
            <a:r>
              <a:rPr sz="1750" dirty="0">
                <a:latin typeface="Arial"/>
                <a:cs typeface="Arial"/>
              </a:rPr>
              <a:t>:</a:t>
            </a:r>
            <a:r>
              <a:rPr sz="1750" spc="-45" dirty="0">
                <a:latin typeface="Arial"/>
                <a:cs typeface="Arial"/>
              </a:rPr>
              <a:t> </a:t>
            </a:r>
            <a:r>
              <a:rPr sz="1750" i="1" spc="-25" dirty="0">
                <a:latin typeface="Arial"/>
                <a:cs typeface="Arial"/>
              </a:rPr>
              <a:t>c</a:t>
            </a:r>
            <a:r>
              <a:rPr sz="1750" spc="-25" dirty="0">
                <a:latin typeface="Arial"/>
                <a:cs typeface="Arial"/>
              </a:rPr>
              <a:t>)</a:t>
            </a:r>
            <a:r>
              <a:rPr sz="1750" i="1" spc="-25" dirty="0">
                <a:latin typeface="Arial"/>
                <a:cs typeface="Arial"/>
              </a:rPr>
              <a:t>;</a:t>
            </a:r>
            <a:endParaRPr sz="1750" dirty="0">
              <a:latin typeface="Arial"/>
              <a:cs typeface="Arial"/>
            </a:endParaRPr>
          </a:p>
        </p:txBody>
      </p:sp>
      <p:sp>
        <p:nvSpPr>
          <p:cNvPr id="14" name="object 3">
            <a:extLst>
              <a:ext uri="{FF2B5EF4-FFF2-40B4-BE49-F238E27FC236}">
                <a16:creationId xmlns:a16="http://schemas.microsoft.com/office/drawing/2014/main" id="{837BCF9B-E361-E4D2-B914-ACB6001A8CB0}"/>
              </a:ext>
            </a:extLst>
          </p:cNvPr>
          <p:cNvSpPr txBox="1">
            <a:spLocks/>
          </p:cNvSpPr>
          <p:nvPr/>
        </p:nvSpPr>
        <p:spPr>
          <a:xfrm>
            <a:off x="241300" y="200025"/>
            <a:ext cx="7288905" cy="524503"/>
          </a:xfrm>
          <a:prstGeom prst="rect">
            <a:avLst/>
          </a:prstGeom>
        </p:spPr>
        <p:txBody>
          <a:bodyPr vert="horz" wrap="square" lIns="0" tIns="16510" rIns="0" bIns="0" rtlCol="0">
            <a:spAutoFit/>
          </a:bodyPr>
          <a:lstStyle>
            <a:lvl1pPr>
              <a:defRPr sz="2800" b="0" i="0">
                <a:solidFill>
                  <a:srgbClr val="3F3F3F"/>
                </a:solidFill>
                <a:latin typeface="Calibri"/>
                <a:ea typeface="+mj-ea"/>
                <a:cs typeface="Calibri"/>
              </a:defRPr>
            </a:lvl1pPr>
          </a:lstStyle>
          <a:p>
            <a:pPr marL="12700">
              <a:spcBef>
                <a:spcPts val="130"/>
              </a:spcBef>
            </a:pPr>
            <a:r>
              <a:rPr lang="zh-CN" altLang="en-US" sz="3300" b="1" spc="-15" dirty="0">
                <a:solidFill>
                  <a:srgbClr val="000000"/>
                </a:solidFill>
                <a:latin typeface="宋体"/>
                <a:cs typeface="宋体"/>
              </a:rPr>
              <a:t>条件操作符</a:t>
            </a:r>
            <a:endParaRPr lang="zh-CN" altLang="en-US" sz="3300" dirty="0">
              <a:latin typeface="宋体"/>
              <a:cs typeface="宋体"/>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5533468" y="5992321"/>
            <a:ext cx="195544" cy="187545"/>
          </a:xfrm>
          <a:prstGeom prst="rect">
            <a:avLst/>
          </a:prstGeom>
        </p:spPr>
      </p:pic>
      <p:sp>
        <p:nvSpPr>
          <p:cNvPr id="4" name="object 4"/>
          <p:cNvSpPr txBox="1"/>
          <p:nvPr/>
        </p:nvSpPr>
        <p:spPr>
          <a:xfrm>
            <a:off x="5721991" y="5856985"/>
            <a:ext cx="3154045" cy="399415"/>
          </a:xfrm>
          <a:prstGeom prst="rect">
            <a:avLst/>
          </a:prstGeom>
        </p:spPr>
        <p:txBody>
          <a:bodyPr vert="horz" wrap="square" lIns="0" tIns="13335" rIns="0" bIns="0" rtlCol="0">
            <a:spAutoFit/>
          </a:bodyPr>
          <a:lstStyle/>
          <a:p>
            <a:pPr marL="12700">
              <a:lnSpc>
                <a:spcPct val="100000"/>
              </a:lnSpc>
              <a:spcBef>
                <a:spcPts val="105"/>
              </a:spcBef>
            </a:pPr>
            <a:r>
              <a:rPr sz="2450" b="1" spc="-25" dirty="0">
                <a:solidFill>
                  <a:srgbClr val="C00000"/>
                </a:solidFill>
                <a:latin typeface="宋体"/>
                <a:cs typeface="宋体"/>
              </a:rPr>
              <a:t>（）</a:t>
            </a:r>
            <a:r>
              <a:rPr sz="2450" b="1" spc="-30" dirty="0">
                <a:solidFill>
                  <a:srgbClr val="C00000"/>
                </a:solidFill>
                <a:latin typeface="宋体"/>
                <a:cs typeface="宋体"/>
              </a:rPr>
              <a:t>可用于调整优先级</a:t>
            </a:r>
            <a:endParaRPr sz="2450" dirty="0">
              <a:solidFill>
                <a:srgbClr val="C00000"/>
              </a:solidFill>
              <a:latin typeface="宋体"/>
              <a:cs typeface="宋体"/>
            </a:endParaRPr>
          </a:p>
        </p:txBody>
      </p:sp>
      <p:sp>
        <p:nvSpPr>
          <p:cNvPr id="5" name="object 5"/>
          <p:cNvSpPr txBox="1"/>
          <p:nvPr/>
        </p:nvSpPr>
        <p:spPr>
          <a:xfrm>
            <a:off x="6077845" y="1533397"/>
            <a:ext cx="1095375" cy="346710"/>
          </a:xfrm>
          <a:prstGeom prst="rect">
            <a:avLst/>
          </a:prstGeom>
        </p:spPr>
        <p:txBody>
          <a:bodyPr vert="horz" wrap="square" lIns="0" tIns="13335" rIns="0" bIns="0" rtlCol="0">
            <a:spAutoFit/>
          </a:bodyPr>
          <a:lstStyle/>
          <a:p>
            <a:pPr marL="12700">
              <a:lnSpc>
                <a:spcPct val="100000"/>
              </a:lnSpc>
              <a:spcBef>
                <a:spcPts val="105"/>
              </a:spcBef>
            </a:pPr>
            <a:r>
              <a:rPr sz="2100" spc="-15" dirty="0">
                <a:latin typeface="宋体"/>
                <a:cs typeface="宋体"/>
              </a:rPr>
              <a:t>高优先级</a:t>
            </a:r>
            <a:endParaRPr sz="2100">
              <a:latin typeface="宋体"/>
              <a:cs typeface="宋体"/>
            </a:endParaRPr>
          </a:p>
        </p:txBody>
      </p:sp>
      <p:sp>
        <p:nvSpPr>
          <p:cNvPr id="6" name="object 6"/>
          <p:cNvSpPr txBox="1"/>
          <p:nvPr/>
        </p:nvSpPr>
        <p:spPr>
          <a:xfrm>
            <a:off x="6282828" y="4557002"/>
            <a:ext cx="1095375" cy="346710"/>
          </a:xfrm>
          <a:prstGeom prst="rect">
            <a:avLst/>
          </a:prstGeom>
        </p:spPr>
        <p:txBody>
          <a:bodyPr vert="horz" wrap="square" lIns="0" tIns="13335" rIns="0" bIns="0" rtlCol="0">
            <a:spAutoFit/>
          </a:bodyPr>
          <a:lstStyle/>
          <a:p>
            <a:pPr marL="12700">
              <a:lnSpc>
                <a:spcPct val="100000"/>
              </a:lnSpc>
              <a:spcBef>
                <a:spcPts val="105"/>
              </a:spcBef>
            </a:pPr>
            <a:r>
              <a:rPr sz="2100" spc="-15" dirty="0">
                <a:latin typeface="宋体"/>
                <a:cs typeface="宋体"/>
              </a:rPr>
              <a:t>低优先级</a:t>
            </a:r>
            <a:endParaRPr sz="2100">
              <a:latin typeface="宋体"/>
              <a:cs typeface="宋体"/>
            </a:endParaRPr>
          </a:p>
        </p:txBody>
      </p:sp>
      <p:sp>
        <p:nvSpPr>
          <p:cNvPr id="7" name="object 7"/>
          <p:cNvSpPr/>
          <p:nvPr/>
        </p:nvSpPr>
        <p:spPr>
          <a:xfrm>
            <a:off x="5512598" y="1707642"/>
            <a:ext cx="338455" cy="3495040"/>
          </a:xfrm>
          <a:custGeom>
            <a:avLst/>
            <a:gdLst/>
            <a:ahLst/>
            <a:cxnLst/>
            <a:rect l="l" t="t" r="r" b="b"/>
            <a:pathLst>
              <a:path w="338454" h="3495040">
                <a:moveTo>
                  <a:pt x="169046" y="3345235"/>
                </a:moveTo>
                <a:lnTo>
                  <a:pt x="69699" y="3175254"/>
                </a:lnTo>
                <a:lnTo>
                  <a:pt x="60007" y="3164335"/>
                </a:lnTo>
                <a:lnTo>
                  <a:pt x="47029" y="3158204"/>
                </a:lnTo>
                <a:lnTo>
                  <a:pt x="32623" y="3157358"/>
                </a:lnTo>
                <a:lnTo>
                  <a:pt x="18645" y="3162300"/>
                </a:lnTo>
                <a:lnTo>
                  <a:pt x="7286" y="3171991"/>
                </a:lnTo>
                <a:lnTo>
                  <a:pt x="928" y="3184969"/>
                </a:lnTo>
                <a:lnTo>
                  <a:pt x="0" y="3199376"/>
                </a:lnTo>
                <a:lnTo>
                  <a:pt x="4929" y="3213354"/>
                </a:lnTo>
                <a:lnTo>
                  <a:pt x="131421" y="3430449"/>
                </a:lnTo>
                <a:lnTo>
                  <a:pt x="131421" y="3419856"/>
                </a:lnTo>
                <a:lnTo>
                  <a:pt x="136755" y="3419856"/>
                </a:lnTo>
                <a:lnTo>
                  <a:pt x="136755" y="3400806"/>
                </a:lnTo>
                <a:lnTo>
                  <a:pt x="169046" y="3345235"/>
                </a:lnTo>
                <a:close/>
              </a:path>
              <a:path w="338454" h="3495040">
                <a:moveTo>
                  <a:pt x="206859" y="3280161"/>
                </a:moveTo>
                <a:lnTo>
                  <a:pt x="206859" y="0"/>
                </a:lnTo>
                <a:lnTo>
                  <a:pt x="131421" y="0"/>
                </a:lnTo>
                <a:lnTo>
                  <a:pt x="131421" y="3280859"/>
                </a:lnTo>
                <a:lnTo>
                  <a:pt x="169046" y="3345235"/>
                </a:lnTo>
                <a:lnTo>
                  <a:pt x="206859" y="3280161"/>
                </a:lnTo>
                <a:close/>
              </a:path>
              <a:path w="338454" h="3495040">
                <a:moveTo>
                  <a:pt x="206859" y="3429444"/>
                </a:moveTo>
                <a:lnTo>
                  <a:pt x="206859" y="3419856"/>
                </a:lnTo>
                <a:lnTo>
                  <a:pt x="131421" y="3419856"/>
                </a:lnTo>
                <a:lnTo>
                  <a:pt x="131421" y="3430449"/>
                </a:lnTo>
                <a:lnTo>
                  <a:pt x="168759" y="3494532"/>
                </a:lnTo>
                <a:lnTo>
                  <a:pt x="206859" y="3429444"/>
                </a:lnTo>
                <a:close/>
              </a:path>
              <a:path w="338454" h="3495040">
                <a:moveTo>
                  <a:pt x="201525" y="3400806"/>
                </a:moveTo>
                <a:lnTo>
                  <a:pt x="169046" y="3345235"/>
                </a:lnTo>
                <a:lnTo>
                  <a:pt x="136755" y="3400806"/>
                </a:lnTo>
                <a:lnTo>
                  <a:pt x="201525" y="3400806"/>
                </a:lnTo>
                <a:close/>
              </a:path>
              <a:path w="338454" h="3495040">
                <a:moveTo>
                  <a:pt x="201525" y="3419856"/>
                </a:moveTo>
                <a:lnTo>
                  <a:pt x="201525" y="3400806"/>
                </a:lnTo>
                <a:lnTo>
                  <a:pt x="136755" y="3400806"/>
                </a:lnTo>
                <a:lnTo>
                  <a:pt x="136755" y="3419856"/>
                </a:lnTo>
                <a:lnTo>
                  <a:pt x="201525" y="3419856"/>
                </a:lnTo>
                <a:close/>
              </a:path>
              <a:path w="338454" h="3495040">
                <a:moveTo>
                  <a:pt x="337851" y="3199376"/>
                </a:moveTo>
                <a:lnTo>
                  <a:pt x="336780" y="3184969"/>
                </a:lnTo>
                <a:lnTo>
                  <a:pt x="330565" y="3171991"/>
                </a:lnTo>
                <a:lnTo>
                  <a:pt x="319635" y="3162300"/>
                </a:lnTo>
                <a:lnTo>
                  <a:pt x="305323" y="3157358"/>
                </a:lnTo>
                <a:lnTo>
                  <a:pt x="290869" y="3158204"/>
                </a:lnTo>
                <a:lnTo>
                  <a:pt x="277844" y="3164335"/>
                </a:lnTo>
                <a:lnTo>
                  <a:pt x="267819" y="3175254"/>
                </a:lnTo>
                <a:lnTo>
                  <a:pt x="169046" y="3345235"/>
                </a:lnTo>
                <a:lnTo>
                  <a:pt x="201525" y="3400806"/>
                </a:lnTo>
                <a:lnTo>
                  <a:pt x="201525" y="3419856"/>
                </a:lnTo>
                <a:lnTo>
                  <a:pt x="206859" y="3419856"/>
                </a:lnTo>
                <a:lnTo>
                  <a:pt x="206859" y="3429444"/>
                </a:lnTo>
                <a:lnTo>
                  <a:pt x="333351" y="3213354"/>
                </a:lnTo>
                <a:lnTo>
                  <a:pt x="337851" y="3199376"/>
                </a:lnTo>
                <a:close/>
              </a:path>
            </a:pathLst>
          </a:custGeom>
          <a:solidFill>
            <a:srgbClr val="ED3323"/>
          </a:solidFill>
        </p:spPr>
        <p:txBody>
          <a:bodyPr wrap="square" lIns="0" tIns="0" rIns="0" bIns="0" rtlCol="0"/>
          <a:lstStyle/>
          <a:p>
            <a:endParaRPr/>
          </a:p>
        </p:txBody>
      </p:sp>
      <p:graphicFrame>
        <p:nvGraphicFramePr>
          <p:cNvPr id="8" name="object 8"/>
          <p:cNvGraphicFramePr>
            <a:graphicFrameLocks noGrp="1"/>
          </p:cNvGraphicFramePr>
          <p:nvPr/>
        </p:nvGraphicFramePr>
        <p:xfrm>
          <a:off x="639965" y="1905761"/>
          <a:ext cx="4147820" cy="1447165"/>
        </p:xfrm>
        <a:graphic>
          <a:graphicData uri="http://schemas.openxmlformats.org/drawingml/2006/table">
            <a:tbl>
              <a:tblPr firstRow="1" bandRow="1">
                <a:tableStyleId>{2D5ABB26-0587-4C30-8999-92F81FD0307C}</a:tableStyleId>
              </a:tblPr>
              <a:tblGrid>
                <a:gridCol w="316230">
                  <a:extLst>
                    <a:ext uri="{9D8B030D-6E8A-4147-A177-3AD203B41FA5}">
                      <a16:colId xmlns:a16="http://schemas.microsoft.com/office/drawing/2014/main" val="20000"/>
                    </a:ext>
                  </a:extLst>
                </a:gridCol>
                <a:gridCol w="574040">
                  <a:extLst>
                    <a:ext uri="{9D8B030D-6E8A-4147-A177-3AD203B41FA5}">
                      <a16:colId xmlns:a16="http://schemas.microsoft.com/office/drawing/2014/main" val="20001"/>
                    </a:ext>
                  </a:extLst>
                </a:gridCol>
                <a:gridCol w="3257550">
                  <a:extLst>
                    <a:ext uri="{9D8B030D-6E8A-4147-A177-3AD203B41FA5}">
                      <a16:colId xmlns:a16="http://schemas.microsoft.com/office/drawing/2014/main" val="20002"/>
                    </a:ext>
                  </a:extLst>
                </a:gridCol>
              </a:tblGrid>
              <a:tr h="289560">
                <a:tc>
                  <a:txBody>
                    <a:bodyPr/>
                    <a:lstStyle/>
                    <a:p>
                      <a:pPr algn="ctr">
                        <a:lnSpc>
                          <a:spcPts val="1995"/>
                        </a:lnSpc>
                      </a:pPr>
                      <a:r>
                        <a:rPr sz="1750" dirty="0">
                          <a:latin typeface="Calibri"/>
                          <a:cs typeface="Calibri"/>
                        </a:rPr>
                        <a:t>{</a:t>
                      </a:r>
                      <a:r>
                        <a:rPr sz="1750" spc="-5" dirty="0">
                          <a:latin typeface="Calibri"/>
                          <a:cs typeface="Calibri"/>
                        </a:rPr>
                        <a:t> </a:t>
                      </a:r>
                      <a:r>
                        <a:rPr sz="1750" spc="-60" dirty="0">
                          <a:latin typeface="Calibri"/>
                          <a:cs typeface="Calibri"/>
                        </a:rPr>
                        <a:t>}</a:t>
                      </a:r>
                      <a:endParaRPr sz="1750">
                        <a:latin typeface="Calibri"/>
                        <a:cs typeface="Calibri"/>
                      </a:endParaRPr>
                    </a:p>
                  </a:txBody>
                  <a:tcPr marL="0" marR="0" marT="0" marB="0">
                    <a:lnT w="12700">
                      <a:solidFill>
                        <a:srgbClr val="000000"/>
                      </a:solidFill>
                      <a:prstDash val="solid"/>
                    </a:lnT>
                    <a:lnB w="12700">
                      <a:solidFill>
                        <a:srgbClr val="000000"/>
                      </a:solidFill>
                      <a:prstDash val="solid"/>
                    </a:lnB>
                  </a:tcPr>
                </a:tc>
                <a:tc>
                  <a:txBody>
                    <a:bodyPr/>
                    <a:lstStyle/>
                    <a:p>
                      <a:pPr marR="20320" algn="ctr">
                        <a:lnSpc>
                          <a:spcPts val="1995"/>
                        </a:lnSpc>
                      </a:pPr>
                      <a:r>
                        <a:rPr sz="1750" dirty="0">
                          <a:latin typeface="Calibri"/>
                          <a:cs typeface="Calibri"/>
                        </a:rPr>
                        <a:t>{</a:t>
                      </a:r>
                      <a:r>
                        <a:rPr sz="1750" spc="-5" dirty="0">
                          <a:latin typeface="Calibri"/>
                          <a:cs typeface="Calibri"/>
                        </a:rPr>
                        <a:t> </a:t>
                      </a:r>
                      <a:r>
                        <a:rPr sz="1750" dirty="0">
                          <a:latin typeface="Calibri"/>
                          <a:cs typeface="Calibri"/>
                        </a:rPr>
                        <a:t>{</a:t>
                      </a:r>
                      <a:r>
                        <a:rPr sz="1750" spc="-5" dirty="0">
                          <a:latin typeface="Calibri"/>
                          <a:cs typeface="Calibri"/>
                        </a:rPr>
                        <a:t> </a:t>
                      </a:r>
                      <a:r>
                        <a:rPr sz="1750" dirty="0">
                          <a:latin typeface="Calibri"/>
                          <a:cs typeface="Calibri"/>
                        </a:rPr>
                        <a:t>}</a:t>
                      </a:r>
                      <a:r>
                        <a:rPr sz="1750" spc="390" dirty="0">
                          <a:latin typeface="Calibri"/>
                          <a:cs typeface="Calibri"/>
                        </a:rPr>
                        <a:t> </a:t>
                      </a:r>
                      <a:r>
                        <a:rPr sz="1750" spc="-50" dirty="0">
                          <a:latin typeface="Calibri"/>
                          <a:cs typeface="Calibri"/>
                        </a:rPr>
                        <a:t>}</a:t>
                      </a:r>
                      <a:endParaRPr sz="1750">
                        <a:latin typeface="Calibri"/>
                        <a:cs typeface="Calibri"/>
                      </a:endParaRPr>
                    </a:p>
                  </a:txBody>
                  <a:tcPr marL="0" marR="0" marT="0" marB="0">
                    <a:lnT w="12700">
                      <a:solidFill>
                        <a:srgbClr val="000000"/>
                      </a:solidFill>
                      <a:prstDash val="solid"/>
                    </a:lnT>
                    <a:lnB w="12700">
                      <a:solidFill>
                        <a:srgbClr val="000000"/>
                      </a:solidFill>
                      <a:prstDash val="solid"/>
                    </a:lnB>
                  </a:tcPr>
                </a:tc>
                <a:tc>
                  <a:txBody>
                    <a:bodyPr/>
                    <a:lstStyle/>
                    <a:p>
                      <a:pPr marL="2030095">
                        <a:lnSpc>
                          <a:spcPts val="2025"/>
                        </a:lnSpc>
                      </a:pPr>
                      <a:r>
                        <a:rPr sz="1750" spc="-25" dirty="0">
                          <a:latin typeface="宋体"/>
                          <a:cs typeface="宋体"/>
                        </a:rPr>
                        <a:t>最高</a:t>
                      </a:r>
                      <a:endParaRPr sz="1750">
                        <a:latin typeface="宋体"/>
                        <a:cs typeface="宋体"/>
                      </a:endParaRPr>
                    </a:p>
                  </a:txBody>
                  <a:tcPr marL="0" marR="0" marT="0" marB="0">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289560">
                <a:tc>
                  <a:txBody>
                    <a:bodyPr/>
                    <a:lstStyle/>
                    <a:p>
                      <a:pPr marL="26670" algn="ctr">
                        <a:lnSpc>
                          <a:spcPts val="2025"/>
                        </a:lnSpc>
                      </a:pPr>
                      <a:r>
                        <a:rPr sz="1750" spc="-50" dirty="0">
                          <a:latin typeface="宋体"/>
                          <a:cs typeface="宋体"/>
                        </a:rPr>
                        <a:t>！</a:t>
                      </a:r>
                      <a:endParaRPr sz="1750">
                        <a:latin typeface="宋体"/>
                        <a:cs typeface="宋体"/>
                      </a:endParaRPr>
                    </a:p>
                  </a:txBody>
                  <a:tcPr marL="0" marR="0" marT="0" marB="0">
                    <a:lnT w="12700">
                      <a:solidFill>
                        <a:srgbClr val="000000"/>
                      </a:solidFill>
                      <a:prstDash val="solid"/>
                    </a:lnT>
                    <a:lnB w="12700">
                      <a:solidFill>
                        <a:srgbClr val="000000"/>
                      </a:solidFill>
                      <a:prstDash val="solid"/>
                    </a:lnB>
                  </a:tcPr>
                </a:tc>
                <a:tc>
                  <a:txBody>
                    <a:bodyPr/>
                    <a:lstStyle/>
                    <a:p>
                      <a:pPr marL="27305" algn="ctr">
                        <a:lnSpc>
                          <a:spcPts val="2025"/>
                        </a:lnSpc>
                      </a:pPr>
                      <a:r>
                        <a:rPr sz="1750" spc="-50" dirty="0">
                          <a:latin typeface="宋体"/>
                          <a:cs typeface="宋体"/>
                        </a:rPr>
                        <a:t>～</a:t>
                      </a:r>
                      <a:endParaRPr sz="1750">
                        <a:latin typeface="宋体"/>
                        <a:cs typeface="宋体"/>
                      </a:endParaRPr>
                    </a:p>
                  </a:txBody>
                  <a:tcPr marL="0" marR="0" marT="0" marB="0">
                    <a:lnT w="12700">
                      <a:solidFill>
                        <a:srgbClr val="000000"/>
                      </a:solidFill>
                      <a:prstDash val="solid"/>
                    </a:lnT>
                    <a:lnB w="12700">
                      <a:solidFill>
                        <a:srgbClr val="000000"/>
                      </a:solidFill>
                      <a:prstDash val="solid"/>
                    </a:lnB>
                  </a:tcPr>
                </a:tc>
                <a:tc>
                  <a:txBody>
                    <a:bodyPr/>
                    <a:lstStyle/>
                    <a:p>
                      <a:pPr>
                        <a:lnSpc>
                          <a:spcPct val="100000"/>
                        </a:lnSpc>
                      </a:pPr>
                      <a:endParaRPr sz="1800">
                        <a:latin typeface="Times New Roman"/>
                        <a:cs typeface="Times New Roman"/>
                      </a:endParaRPr>
                    </a:p>
                  </a:txBody>
                  <a:tcPr marL="0" marR="0" marT="0" marB="0">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566420">
                <a:tc>
                  <a:txBody>
                    <a:bodyPr/>
                    <a:lstStyle/>
                    <a:p>
                      <a:pPr marL="59690">
                        <a:lnSpc>
                          <a:spcPts val="1995"/>
                        </a:lnSpc>
                      </a:pPr>
                      <a:r>
                        <a:rPr sz="1750" spc="-25" dirty="0">
                          <a:latin typeface="Calibri"/>
                          <a:cs typeface="Calibri"/>
                        </a:rPr>
                        <a:t>**</a:t>
                      </a:r>
                      <a:endParaRPr sz="1750">
                        <a:latin typeface="Calibri"/>
                        <a:cs typeface="Calibri"/>
                      </a:endParaRPr>
                    </a:p>
                    <a:p>
                      <a:pPr marL="59690">
                        <a:lnSpc>
                          <a:spcPct val="100000"/>
                        </a:lnSpc>
                        <a:spcBef>
                          <a:spcPts val="210"/>
                        </a:spcBef>
                      </a:pPr>
                      <a:r>
                        <a:rPr sz="1750" spc="-50" dirty="0">
                          <a:latin typeface="宋体"/>
                          <a:cs typeface="宋体"/>
                        </a:rPr>
                        <a:t>＊</a:t>
                      </a:r>
                      <a:endParaRPr sz="1750">
                        <a:latin typeface="宋体"/>
                        <a:cs typeface="宋体"/>
                      </a:endParaRPr>
                    </a:p>
                  </a:txBody>
                  <a:tcPr marL="0" marR="0" marT="0" marB="0">
                    <a:lnT w="12700">
                      <a:solidFill>
                        <a:srgbClr val="000000"/>
                      </a:solidFill>
                      <a:prstDash val="solid"/>
                    </a:lnT>
                  </a:tcPr>
                </a:tc>
                <a:tc>
                  <a:txBody>
                    <a:bodyPr/>
                    <a:lstStyle/>
                    <a:p>
                      <a:pPr>
                        <a:lnSpc>
                          <a:spcPct val="100000"/>
                        </a:lnSpc>
                        <a:spcBef>
                          <a:spcPts val="190"/>
                        </a:spcBef>
                      </a:pPr>
                      <a:endParaRPr sz="1750">
                        <a:latin typeface="Times New Roman"/>
                        <a:cs typeface="Times New Roman"/>
                      </a:endParaRPr>
                    </a:p>
                    <a:p>
                      <a:pPr marL="27940" algn="ctr">
                        <a:lnSpc>
                          <a:spcPct val="100000"/>
                        </a:lnSpc>
                      </a:pPr>
                      <a:r>
                        <a:rPr sz="1750" spc="-50" dirty="0">
                          <a:latin typeface="宋体"/>
                          <a:cs typeface="宋体"/>
                        </a:rPr>
                        <a:t>／</a:t>
                      </a:r>
                      <a:endParaRPr sz="1750">
                        <a:latin typeface="宋体"/>
                        <a:cs typeface="宋体"/>
                      </a:endParaRPr>
                    </a:p>
                  </a:txBody>
                  <a:tcPr marL="0" marR="0" marT="24130" marB="0">
                    <a:lnT w="12700">
                      <a:solidFill>
                        <a:srgbClr val="000000"/>
                      </a:solidFill>
                      <a:prstDash val="solid"/>
                    </a:lnT>
                  </a:tcPr>
                </a:tc>
                <a:tc>
                  <a:txBody>
                    <a:bodyPr/>
                    <a:lstStyle/>
                    <a:p>
                      <a:pPr>
                        <a:lnSpc>
                          <a:spcPct val="100000"/>
                        </a:lnSpc>
                        <a:spcBef>
                          <a:spcPts val="190"/>
                        </a:spcBef>
                      </a:pPr>
                      <a:endParaRPr sz="1750">
                        <a:latin typeface="Times New Roman"/>
                        <a:cs typeface="Times New Roman"/>
                      </a:endParaRPr>
                    </a:p>
                    <a:p>
                      <a:pPr marL="60960">
                        <a:lnSpc>
                          <a:spcPct val="100000"/>
                        </a:lnSpc>
                      </a:pPr>
                      <a:r>
                        <a:rPr sz="1750" spc="-50" dirty="0">
                          <a:latin typeface="宋体"/>
                          <a:cs typeface="宋体"/>
                        </a:rPr>
                        <a:t>％</a:t>
                      </a:r>
                      <a:endParaRPr sz="1750">
                        <a:latin typeface="宋体"/>
                        <a:cs typeface="宋体"/>
                      </a:endParaRPr>
                    </a:p>
                  </a:txBody>
                  <a:tcPr marL="0" marR="0" marT="24130" marB="0">
                    <a:lnT w="12700">
                      <a:solidFill>
                        <a:srgbClr val="000000"/>
                      </a:solidFill>
                      <a:prstDash val="solid"/>
                    </a:lnT>
                  </a:tcPr>
                </a:tc>
                <a:extLst>
                  <a:ext uri="{0D108BD9-81ED-4DB2-BD59-A6C34878D82A}">
                    <a16:rowId xmlns:a16="http://schemas.microsoft.com/office/drawing/2014/main" val="10002"/>
                  </a:ext>
                </a:extLst>
              </a:tr>
              <a:tr h="301625">
                <a:tc>
                  <a:txBody>
                    <a:bodyPr/>
                    <a:lstStyle/>
                    <a:p>
                      <a:pPr marL="26670" algn="ctr">
                        <a:lnSpc>
                          <a:spcPct val="100000"/>
                        </a:lnSpc>
                        <a:spcBef>
                          <a:spcPts val="20"/>
                        </a:spcBef>
                      </a:pPr>
                      <a:r>
                        <a:rPr sz="1750" spc="-50" dirty="0">
                          <a:latin typeface="宋体"/>
                          <a:cs typeface="宋体"/>
                        </a:rPr>
                        <a:t>＋</a:t>
                      </a:r>
                      <a:endParaRPr sz="1750">
                        <a:latin typeface="宋体"/>
                        <a:cs typeface="宋体"/>
                      </a:endParaRPr>
                    </a:p>
                  </a:txBody>
                  <a:tcPr marL="0" marR="0" marT="2540" marB="0">
                    <a:lnB w="12700">
                      <a:solidFill>
                        <a:srgbClr val="000000"/>
                      </a:solidFill>
                      <a:prstDash val="solid"/>
                    </a:lnB>
                  </a:tcPr>
                </a:tc>
                <a:tc>
                  <a:txBody>
                    <a:bodyPr/>
                    <a:lstStyle/>
                    <a:p>
                      <a:pPr marL="27305" algn="ctr">
                        <a:lnSpc>
                          <a:spcPct val="100000"/>
                        </a:lnSpc>
                        <a:spcBef>
                          <a:spcPts val="20"/>
                        </a:spcBef>
                      </a:pPr>
                      <a:r>
                        <a:rPr sz="1750" spc="-50" dirty="0">
                          <a:latin typeface="宋体"/>
                          <a:cs typeface="宋体"/>
                        </a:rPr>
                        <a:t>－</a:t>
                      </a:r>
                      <a:endParaRPr sz="1750">
                        <a:latin typeface="宋体"/>
                        <a:cs typeface="宋体"/>
                      </a:endParaRPr>
                    </a:p>
                  </a:txBody>
                  <a:tcPr marL="0" marR="0" marT="2540" marB="0">
                    <a:lnB w="12700">
                      <a:solidFill>
                        <a:srgbClr val="000000"/>
                      </a:solidFill>
                      <a:prstDash val="solid"/>
                    </a:lnB>
                  </a:tcPr>
                </a:tc>
                <a:tc>
                  <a:txBody>
                    <a:bodyPr/>
                    <a:lstStyle/>
                    <a:p>
                      <a:pPr>
                        <a:lnSpc>
                          <a:spcPct val="100000"/>
                        </a:lnSpc>
                      </a:pPr>
                      <a:endParaRPr sz="1800">
                        <a:latin typeface="Times New Roman"/>
                        <a:cs typeface="Times New Roman"/>
                      </a:endParaRPr>
                    </a:p>
                  </a:txBody>
                  <a:tcPr marL="0" marR="0" marT="0" marB="0">
                    <a:lnB w="12700">
                      <a:solidFill>
                        <a:srgbClr val="000000"/>
                      </a:solidFill>
                      <a:prstDash val="solid"/>
                    </a:lnB>
                  </a:tcPr>
                </a:tc>
                <a:extLst>
                  <a:ext uri="{0D108BD9-81ED-4DB2-BD59-A6C34878D82A}">
                    <a16:rowId xmlns:a16="http://schemas.microsoft.com/office/drawing/2014/main" val="10003"/>
                  </a:ext>
                </a:extLst>
              </a:tr>
            </a:tbl>
          </a:graphicData>
        </a:graphic>
      </p:graphicFrame>
      <p:sp>
        <p:nvSpPr>
          <p:cNvPr id="9" name="object 9"/>
          <p:cNvSpPr/>
          <p:nvPr/>
        </p:nvSpPr>
        <p:spPr>
          <a:xfrm>
            <a:off x="639965" y="3643121"/>
            <a:ext cx="4147185" cy="0"/>
          </a:xfrm>
          <a:custGeom>
            <a:avLst/>
            <a:gdLst/>
            <a:ahLst/>
            <a:cxnLst/>
            <a:rect l="l" t="t" r="r" b="b"/>
            <a:pathLst>
              <a:path w="4147185">
                <a:moveTo>
                  <a:pt x="0" y="0"/>
                </a:moveTo>
                <a:lnTo>
                  <a:pt x="4146804" y="0"/>
                </a:lnTo>
              </a:path>
            </a:pathLst>
          </a:custGeom>
          <a:ln w="11137">
            <a:solidFill>
              <a:srgbClr val="000000"/>
            </a:solidFill>
          </a:ln>
        </p:spPr>
        <p:txBody>
          <a:bodyPr wrap="square" lIns="0" tIns="0" rIns="0" bIns="0" rtlCol="0"/>
          <a:lstStyle/>
          <a:p>
            <a:endParaRPr/>
          </a:p>
        </p:txBody>
      </p:sp>
      <p:sp>
        <p:nvSpPr>
          <p:cNvPr id="10" name="object 10"/>
          <p:cNvSpPr/>
          <p:nvPr/>
        </p:nvSpPr>
        <p:spPr>
          <a:xfrm>
            <a:off x="639965" y="4380738"/>
            <a:ext cx="4147185" cy="0"/>
          </a:xfrm>
          <a:custGeom>
            <a:avLst/>
            <a:gdLst/>
            <a:ahLst/>
            <a:cxnLst/>
            <a:rect l="l" t="t" r="r" b="b"/>
            <a:pathLst>
              <a:path w="4147185">
                <a:moveTo>
                  <a:pt x="0" y="0"/>
                </a:moveTo>
                <a:lnTo>
                  <a:pt x="4146804" y="0"/>
                </a:lnTo>
              </a:path>
            </a:pathLst>
          </a:custGeom>
          <a:ln w="11137">
            <a:solidFill>
              <a:srgbClr val="000000"/>
            </a:solidFill>
          </a:ln>
        </p:spPr>
        <p:txBody>
          <a:bodyPr wrap="square" lIns="0" tIns="0" rIns="0" bIns="0" rtlCol="0"/>
          <a:lstStyle/>
          <a:p>
            <a:endParaRPr/>
          </a:p>
        </p:txBody>
      </p:sp>
      <p:sp>
        <p:nvSpPr>
          <p:cNvPr id="11" name="object 11"/>
          <p:cNvSpPr/>
          <p:nvPr/>
        </p:nvSpPr>
        <p:spPr>
          <a:xfrm>
            <a:off x="639965" y="5249417"/>
            <a:ext cx="4147185" cy="0"/>
          </a:xfrm>
          <a:custGeom>
            <a:avLst/>
            <a:gdLst/>
            <a:ahLst/>
            <a:cxnLst/>
            <a:rect l="l" t="t" r="r" b="b"/>
            <a:pathLst>
              <a:path w="4147185">
                <a:moveTo>
                  <a:pt x="0" y="0"/>
                </a:moveTo>
                <a:lnTo>
                  <a:pt x="4146804" y="0"/>
                </a:lnTo>
              </a:path>
            </a:pathLst>
          </a:custGeom>
          <a:ln w="11137">
            <a:solidFill>
              <a:srgbClr val="000000"/>
            </a:solidFill>
          </a:ln>
        </p:spPr>
        <p:txBody>
          <a:bodyPr wrap="square" lIns="0" tIns="0" rIns="0" bIns="0" rtlCol="0"/>
          <a:lstStyle/>
          <a:p>
            <a:endParaRPr/>
          </a:p>
        </p:txBody>
      </p:sp>
      <p:sp>
        <p:nvSpPr>
          <p:cNvPr id="12" name="object 12"/>
          <p:cNvSpPr/>
          <p:nvPr/>
        </p:nvSpPr>
        <p:spPr>
          <a:xfrm>
            <a:off x="639965" y="5828538"/>
            <a:ext cx="4147185" cy="0"/>
          </a:xfrm>
          <a:custGeom>
            <a:avLst/>
            <a:gdLst/>
            <a:ahLst/>
            <a:cxnLst/>
            <a:rect l="l" t="t" r="r" b="b"/>
            <a:pathLst>
              <a:path w="4147185">
                <a:moveTo>
                  <a:pt x="0" y="0"/>
                </a:moveTo>
                <a:lnTo>
                  <a:pt x="4146804" y="0"/>
                </a:lnTo>
              </a:path>
            </a:pathLst>
          </a:custGeom>
          <a:ln w="11137">
            <a:solidFill>
              <a:srgbClr val="000000"/>
            </a:solidFill>
          </a:ln>
        </p:spPr>
        <p:txBody>
          <a:bodyPr wrap="square" lIns="0" tIns="0" rIns="0" bIns="0" rtlCol="0"/>
          <a:lstStyle/>
          <a:p>
            <a:endParaRPr/>
          </a:p>
        </p:txBody>
      </p:sp>
      <p:sp>
        <p:nvSpPr>
          <p:cNvPr id="13" name="object 13"/>
          <p:cNvSpPr/>
          <p:nvPr/>
        </p:nvSpPr>
        <p:spPr>
          <a:xfrm>
            <a:off x="639965" y="1527810"/>
            <a:ext cx="4147185" cy="0"/>
          </a:xfrm>
          <a:custGeom>
            <a:avLst/>
            <a:gdLst/>
            <a:ahLst/>
            <a:cxnLst/>
            <a:rect l="l" t="t" r="r" b="b"/>
            <a:pathLst>
              <a:path w="4147185">
                <a:moveTo>
                  <a:pt x="0" y="0"/>
                </a:moveTo>
                <a:lnTo>
                  <a:pt x="4146804" y="0"/>
                </a:lnTo>
              </a:path>
            </a:pathLst>
          </a:custGeom>
          <a:ln w="11137">
            <a:solidFill>
              <a:srgbClr val="000000"/>
            </a:solidFill>
          </a:ln>
        </p:spPr>
        <p:txBody>
          <a:bodyPr wrap="square" lIns="0" tIns="0" rIns="0" bIns="0" rtlCol="0"/>
          <a:lstStyle/>
          <a:p>
            <a:endParaRPr/>
          </a:p>
        </p:txBody>
      </p:sp>
      <p:sp>
        <p:nvSpPr>
          <p:cNvPr id="14" name="object 14"/>
          <p:cNvSpPr/>
          <p:nvPr/>
        </p:nvSpPr>
        <p:spPr>
          <a:xfrm>
            <a:off x="639965" y="6118097"/>
            <a:ext cx="4147185" cy="0"/>
          </a:xfrm>
          <a:custGeom>
            <a:avLst/>
            <a:gdLst/>
            <a:ahLst/>
            <a:cxnLst/>
            <a:rect l="l" t="t" r="r" b="b"/>
            <a:pathLst>
              <a:path w="4147185">
                <a:moveTo>
                  <a:pt x="0" y="0"/>
                </a:moveTo>
                <a:lnTo>
                  <a:pt x="4146804" y="0"/>
                </a:lnTo>
              </a:path>
            </a:pathLst>
          </a:custGeom>
          <a:ln w="11137">
            <a:solidFill>
              <a:srgbClr val="000000"/>
            </a:solidFill>
          </a:ln>
        </p:spPr>
        <p:txBody>
          <a:bodyPr wrap="square" lIns="0" tIns="0" rIns="0" bIns="0" rtlCol="0"/>
          <a:lstStyle/>
          <a:p>
            <a:endParaRPr/>
          </a:p>
        </p:txBody>
      </p:sp>
      <p:sp>
        <p:nvSpPr>
          <p:cNvPr id="15" name="object 15"/>
          <p:cNvSpPr txBox="1"/>
          <p:nvPr/>
        </p:nvSpPr>
        <p:spPr>
          <a:xfrm>
            <a:off x="1473841" y="1505204"/>
            <a:ext cx="470534" cy="292735"/>
          </a:xfrm>
          <a:prstGeom prst="rect">
            <a:avLst/>
          </a:prstGeom>
        </p:spPr>
        <p:txBody>
          <a:bodyPr vert="horz" wrap="square" lIns="0" tIns="12700" rIns="0" bIns="0" rtlCol="0">
            <a:spAutoFit/>
          </a:bodyPr>
          <a:lstStyle/>
          <a:p>
            <a:pPr marL="12700">
              <a:lnSpc>
                <a:spcPct val="100000"/>
              </a:lnSpc>
              <a:spcBef>
                <a:spcPts val="100"/>
              </a:spcBef>
            </a:pPr>
            <a:r>
              <a:rPr sz="1750" spc="-25" dirty="0">
                <a:latin typeface="宋体"/>
                <a:cs typeface="宋体"/>
              </a:rPr>
              <a:t>操作</a:t>
            </a:r>
            <a:endParaRPr sz="1750">
              <a:latin typeface="宋体"/>
              <a:cs typeface="宋体"/>
            </a:endParaRPr>
          </a:p>
        </p:txBody>
      </p:sp>
      <p:sp>
        <p:nvSpPr>
          <p:cNvPr id="22" name="object 22"/>
          <p:cNvSpPr txBox="1">
            <a:spLocks noGrp="1"/>
          </p:cNvSpPr>
          <p:nvPr>
            <p:ph type="ftr" sz="quarter" idx="5"/>
          </p:nvPr>
        </p:nvSpPr>
        <p:spPr>
          <a:prstGeom prst="rect">
            <a:avLst/>
          </a:prstGeom>
        </p:spPr>
        <p:txBody>
          <a:bodyPr vert="horz" wrap="square" lIns="0" tIns="23495" rIns="0" bIns="0" rtlCol="0">
            <a:spAutoFit/>
          </a:bodyPr>
          <a:lstStyle/>
          <a:p>
            <a:pPr marL="13335">
              <a:lnSpc>
                <a:spcPct val="100000"/>
              </a:lnSpc>
              <a:spcBef>
                <a:spcPts val="185"/>
              </a:spcBef>
            </a:pPr>
            <a:r>
              <a:rPr dirty="0"/>
              <a:t>Xilinx</a:t>
            </a:r>
            <a:r>
              <a:rPr spc="-5" dirty="0"/>
              <a:t> 大学合作部 </a:t>
            </a:r>
            <a:r>
              <a:rPr dirty="0"/>
              <a:t>&amp;</a:t>
            </a:r>
            <a:r>
              <a:rPr spc="-10" dirty="0"/>
              <a:t> 东南大学</a:t>
            </a:r>
          </a:p>
        </p:txBody>
      </p:sp>
      <p:sp>
        <p:nvSpPr>
          <p:cNvPr id="23" name="object 23"/>
          <p:cNvSpPr txBox="1">
            <a:spLocks noGrp="1"/>
          </p:cNvSpPr>
          <p:nvPr>
            <p:ph type="sldNum" sz="quarter" idx="7"/>
          </p:nvPr>
        </p:nvSpPr>
        <p:spPr>
          <a:prstGeom prst="rect">
            <a:avLst/>
          </a:prstGeom>
        </p:spPr>
        <p:txBody>
          <a:bodyPr vert="horz" wrap="square" lIns="0" tIns="4445" rIns="0" bIns="0" rtlCol="0">
            <a:spAutoFit/>
          </a:bodyPr>
          <a:lstStyle/>
          <a:p>
            <a:pPr marL="38735">
              <a:lnSpc>
                <a:spcPct val="100000"/>
              </a:lnSpc>
              <a:spcBef>
                <a:spcPts val="35"/>
              </a:spcBef>
            </a:pPr>
            <a:fld id="{81D60167-4931-47E6-BA6A-407CBD079E47}" type="slidenum">
              <a:rPr spc="-25" dirty="0"/>
              <a:t>32</a:t>
            </a:fld>
            <a:endParaRPr spc="-25" dirty="0"/>
          </a:p>
        </p:txBody>
      </p:sp>
      <p:sp>
        <p:nvSpPr>
          <p:cNvPr id="16" name="object 16"/>
          <p:cNvSpPr txBox="1"/>
          <p:nvPr/>
        </p:nvSpPr>
        <p:spPr>
          <a:xfrm>
            <a:off x="3435992" y="1505204"/>
            <a:ext cx="693420" cy="292735"/>
          </a:xfrm>
          <a:prstGeom prst="rect">
            <a:avLst/>
          </a:prstGeom>
        </p:spPr>
        <p:txBody>
          <a:bodyPr vert="horz" wrap="square" lIns="0" tIns="12700" rIns="0" bIns="0" rtlCol="0">
            <a:spAutoFit/>
          </a:bodyPr>
          <a:lstStyle/>
          <a:p>
            <a:pPr marL="12700">
              <a:lnSpc>
                <a:spcPct val="100000"/>
              </a:lnSpc>
              <a:spcBef>
                <a:spcPts val="100"/>
              </a:spcBef>
            </a:pPr>
            <a:r>
              <a:rPr sz="1750" spc="-20" dirty="0">
                <a:latin typeface="宋体"/>
                <a:cs typeface="宋体"/>
              </a:rPr>
              <a:t>优先级</a:t>
            </a:r>
            <a:endParaRPr sz="1750">
              <a:latin typeface="宋体"/>
              <a:cs typeface="宋体"/>
            </a:endParaRPr>
          </a:p>
        </p:txBody>
      </p:sp>
      <p:sp>
        <p:nvSpPr>
          <p:cNvPr id="17" name="object 17"/>
          <p:cNvSpPr txBox="1"/>
          <p:nvPr/>
        </p:nvSpPr>
        <p:spPr>
          <a:xfrm>
            <a:off x="687467" y="3308398"/>
            <a:ext cx="1492250" cy="894715"/>
          </a:xfrm>
          <a:prstGeom prst="rect">
            <a:avLst/>
          </a:prstGeom>
        </p:spPr>
        <p:txBody>
          <a:bodyPr vert="horz" wrap="square" lIns="0" tIns="35560" rIns="0" bIns="0" rtlCol="0">
            <a:spAutoFit/>
          </a:bodyPr>
          <a:lstStyle/>
          <a:p>
            <a:pPr marL="12700">
              <a:lnSpc>
                <a:spcPct val="100000"/>
              </a:lnSpc>
              <a:spcBef>
                <a:spcPts val="280"/>
              </a:spcBef>
            </a:pPr>
            <a:r>
              <a:rPr sz="1750" dirty="0">
                <a:latin typeface="Calibri"/>
                <a:cs typeface="Calibri"/>
              </a:rPr>
              <a:t>&gt;&gt;</a:t>
            </a:r>
            <a:r>
              <a:rPr sz="1750" spc="-20" dirty="0">
                <a:latin typeface="Calibri"/>
                <a:cs typeface="Calibri"/>
              </a:rPr>
              <a:t> </a:t>
            </a:r>
            <a:r>
              <a:rPr sz="1750" dirty="0">
                <a:latin typeface="Calibri"/>
                <a:cs typeface="Calibri"/>
              </a:rPr>
              <a:t>&lt;&lt;</a:t>
            </a:r>
            <a:r>
              <a:rPr sz="1750" spc="-15" dirty="0">
                <a:latin typeface="Calibri"/>
                <a:cs typeface="Calibri"/>
              </a:rPr>
              <a:t> </a:t>
            </a:r>
            <a:r>
              <a:rPr sz="1750" dirty="0">
                <a:latin typeface="Calibri"/>
                <a:cs typeface="Calibri"/>
              </a:rPr>
              <a:t>&gt;&gt;&gt;</a:t>
            </a:r>
            <a:r>
              <a:rPr sz="1750" spc="-20" dirty="0">
                <a:latin typeface="Calibri"/>
                <a:cs typeface="Calibri"/>
              </a:rPr>
              <a:t> </a:t>
            </a:r>
            <a:r>
              <a:rPr sz="1750" spc="-25" dirty="0">
                <a:latin typeface="Calibri"/>
                <a:cs typeface="Calibri"/>
              </a:rPr>
              <a:t>&lt;&lt;&lt;</a:t>
            </a:r>
            <a:endParaRPr sz="1750">
              <a:latin typeface="Calibri"/>
              <a:cs typeface="Calibri"/>
            </a:endParaRPr>
          </a:p>
          <a:p>
            <a:pPr marL="12700">
              <a:lnSpc>
                <a:spcPct val="100000"/>
              </a:lnSpc>
              <a:spcBef>
                <a:spcPts val="180"/>
              </a:spcBef>
              <a:tabLst>
                <a:tab pos="619125" algn="l"/>
              </a:tabLst>
            </a:pPr>
            <a:r>
              <a:rPr sz="1750" dirty="0">
                <a:latin typeface="Calibri"/>
                <a:cs typeface="Calibri"/>
              </a:rPr>
              <a:t>&lt;</a:t>
            </a:r>
            <a:r>
              <a:rPr sz="1750" spc="-10" dirty="0">
                <a:latin typeface="Calibri"/>
                <a:cs typeface="Calibri"/>
              </a:rPr>
              <a:t> </a:t>
            </a:r>
            <a:r>
              <a:rPr sz="1750" spc="-25" dirty="0">
                <a:latin typeface="Calibri"/>
                <a:cs typeface="Calibri"/>
              </a:rPr>
              <a:t>&lt;=</a:t>
            </a:r>
            <a:r>
              <a:rPr sz="1750" dirty="0">
                <a:latin typeface="Calibri"/>
                <a:cs typeface="Calibri"/>
              </a:rPr>
              <a:t>	&gt;</a:t>
            </a:r>
            <a:r>
              <a:rPr sz="1750" spc="-10" dirty="0">
                <a:latin typeface="Calibri"/>
                <a:cs typeface="Calibri"/>
              </a:rPr>
              <a:t> </a:t>
            </a:r>
            <a:r>
              <a:rPr sz="1750" spc="-25" dirty="0">
                <a:latin typeface="Calibri"/>
                <a:cs typeface="Calibri"/>
              </a:rPr>
              <a:t>&gt;=</a:t>
            </a:r>
            <a:endParaRPr sz="1750">
              <a:latin typeface="Calibri"/>
              <a:cs typeface="Calibri"/>
            </a:endParaRPr>
          </a:p>
          <a:p>
            <a:pPr marL="12700">
              <a:lnSpc>
                <a:spcPct val="100000"/>
              </a:lnSpc>
              <a:spcBef>
                <a:spcPts val="180"/>
              </a:spcBef>
              <a:tabLst>
                <a:tab pos="691515" algn="l"/>
              </a:tabLst>
            </a:pPr>
            <a:r>
              <a:rPr sz="1750" dirty="0">
                <a:latin typeface="Calibri"/>
                <a:cs typeface="Calibri"/>
              </a:rPr>
              <a:t>==</a:t>
            </a:r>
            <a:r>
              <a:rPr sz="1750" spc="-15" dirty="0">
                <a:latin typeface="Calibri"/>
                <a:cs typeface="Calibri"/>
              </a:rPr>
              <a:t> </a:t>
            </a:r>
            <a:r>
              <a:rPr sz="1750" spc="-25" dirty="0">
                <a:latin typeface="Calibri"/>
                <a:cs typeface="Calibri"/>
              </a:rPr>
              <a:t>!=</a:t>
            </a:r>
            <a:r>
              <a:rPr sz="1750" dirty="0">
                <a:latin typeface="Calibri"/>
                <a:cs typeface="Calibri"/>
              </a:rPr>
              <a:t>	===</a:t>
            </a:r>
            <a:r>
              <a:rPr sz="1750" spc="-30" dirty="0">
                <a:latin typeface="Calibri"/>
                <a:cs typeface="Calibri"/>
              </a:rPr>
              <a:t> </a:t>
            </a:r>
            <a:r>
              <a:rPr sz="1750" spc="-20" dirty="0">
                <a:latin typeface="Calibri"/>
                <a:cs typeface="Calibri"/>
              </a:rPr>
              <a:t>!===</a:t>
            </a:r>
            <a:endParaRPr sz="1750">
              <a:latin typeface="Calibri"/>
              <a:cs typeface="Calibri"/>
            </a:endParaRPr>
          </a:p>
        </p:txBody>
      </p:sp>
      <p:sp>
        <p:nvSpPr>
          <p:cNvPr id="18" name="object 18"/>
          <p:cNvSpPr txBox="1"/>
          <p:nvPr/>
        </p:nvSpPr>
        <p:spPr>
          <a:xfrm>
            <a:off x="687467" y="4335588"/>
            <a:ext cx="631190" cy="894715"/>
          </a:xfrm>
          <a:prstGeom prst="rect">
            <a:avLst/>
          </a:prstGeom>
        </p:spPr>
        <p:txBody>
          <a:bodyPr vert="horz" wrap="square" lIns="0" tIns="35560" rIns="0" bIns="0" rtlCol="0">
            <a:spAutoFit/>
          </a:bodyPr>
          <a:lstStyle/>
          <a:p>
            <a:pPr marL="12700">
              <a:lnSpc>
                <a:spcPct val="100000"/>
              </a:lnSpc>
              <a:spcBef>
                <a:spcPts val="280"/>
              </a:spcBef>
            </a:pPr>
            <a:r>
              <a:rPr sz="1750" dirty="0">
                <a:latin typeface="宋体"/>
                <a:cs typeface="宋体"/>
              </a:rPr>
              <a:t>＆</a:t>
            </a:r>
            <a:r>
              <a:rPr sz="1750" spc="-85" dirty="0">
                <a:latin typeface="宋体"/>
                <a:cs typeface="宋体"/>
              </a:rPr>
              <a:t> </a:t>
            </a:r>
            <a:r>
              <a:rPr sz="1750" spc="-25" dirty="0">
                <a:latin typeface="Calibri"/>
                <a:cs typeface="Calibri"/>
              </a:rPr>
              <a:t>~&amp;</a:t>
            </a:r>
            <a:endParaRPr sz="1750">
              <a:latin typeface="Calibri"/>
              <a:cs typeface="Calibri"/>
            </a:endParaRPr>
          </a:p>
          <a:p>
            <a:pPr marL="12700">
              <a:lnSpc>
                <a:spcPct val="100000"/>
              </a:lnSpc>
              <a:spcBef>
                <a:spcPts val="180"/>
              </a:spcBef>
            </a:pPr>
            <a:r>
              <a:rPr sz="1750" dirty="0">
                <a:latin typeface="宋体"/>
                <a:cs typeface="宋体"/>
              </a:rPr>
              <a:t>＾</a:t>
            </a:r>
            <a:r>
              <a:rPr sz="1750" spc="-85" dirty="0">
                <a:latin typeface="宋体"/>
                <a:cs typeface="宋体"/>
              </a:rPr>
              <a:t> </a:t>
            </a:r>
            <a:r>
              <a:rPr sz="1750" spc="-25" dirty="0">
                <a:latin typeface="Calibri"/>
                <a:cs typeface="Calibri"/>
              </a:rPr>
              <a:t>~^</a:t>
            </a:r>
            <a:endParaRPr sz="1750">
              <a:latin typeface="Calibri"/>
              <a:cs typeface="Calibri"/>
            </a:endParaRPr>
          </a:p>
          <a:p>
            <a:pPr marL="12700">
              <a:lnSpc>
                <a:spcPct val="100000"/>
              </a:lnSpc>
              <a:spcBef>
                <a:spcPts val="180"/>
              </a:spcBef>
            </a:pPr>
            <a:r>
              <a:rPr sz="1750" dirty="0">
                <a:latin typeface="宋体"/>
                <a:cs typeface="宋体"/>
              </a:rPr>
              <a:t>｜</a:t>
            </a:r>
            <a:r>
              <a:rPr sz="1750" spc="-480" dirty="0">
                <a:latin typeface="宋体"/>
                <a:cs typeface="宋体"/>
              </a:rPr>
              <a:t> </a:t>
            </a:r>
            <a:r>
              <a:rPr sz="1750" spc="-25" dirty="0">
                <a:latin typeface="Calibri"/>
                <a:cs typeface="Calibri"/>
              </a:rPr>
              <a:t>~</a:t>
            </a:r>
            <a:r>
              <a:rPr sz="1750" spc="-25" dirty="0">
                <a:latin typeface="宋体"/>
                <a:cs typeface="宋体"/>
              </a:rPr>
              <a:t>｜</a:t>
            </a:r>
            <a:endParaRPr sz="1750">
              <a:latin typeface="宋体"/>
              <a:cs typeface="宋体"/>
            </a:endParaRPr>
          </a:p>
        </p:txBody>
      </p:sp>
      <p:sp>
        <p:nvSpPr>
          <p:cNvPr id="19" name="object 19"/>
          <p:cNvSpPr txBox="1"/>
          <p:nvPr/>
        </p:nvSpPr>
        <p:spPr>
          <a:xfrm>
            <a:off x="687467" y="5200461"/>
            <a:ext cx="328930" cy="605155"/>
          </a:xfrm>
          <a:prstGeom prst="rect">
            <a:avLst/>
          </a:prstGeom>
        </p:spPr>
        <p:txBody>
          <a:bodyPr vert="horz" wrap="square" lIns="0" tIns="35560" rIns="0" bIns="0" rtlCol="0">
            <a:spAutoFit/>
          </a:bodyPr>
          <a:lstStyle/>
          <a:p>
            <a:pPr marL="12700">
              <a:lnSpc>
                <a:spcPct val="100000"/>
              </a:lnSpc>
              <a:spcBef>
                <a:spcPts val="280"/>
              </a:spcBef>
            </a:pPr>
            <a:r>
              <a:rPr sz="1750" spc="-25" dirty="0">
                <a:latin typeface="Calibri"/>
                <a:cs typeface="Calibri"/>
              </a:rPr>
              <a:t>&amp;&amp;</a:t>
            </a:r>
            <a:endParaRPr sz="1750">
              <a:latin typeface="Calibri"/>
              <a:cs typeface="Calibri"/>
            </a:endParaRPr>
          </a:p>
          <a:p>
            <a:pPr marL="12700">
              <a:lnSpc>
                <a:spcPct val="100000"/>
              </a:lnSpc>
              <a:spcBef>
                <a:spcPts val="180"/>
              </a:spcBef>
            </a:pPr>
            <a:r>
              <a:rPr sz="1750" spc="-25" dirty="0">
                <a:latin typeface="Calibri"/>
                <a:cs typeface="Calibri"/>
              </a:rPr>
              <a:t>||</a:t>
            </a:r>
            <a:endParaRPr sz="1750">
              <a:latin typeface="Calibri"/>
              <a:cs typeface="Calibri"/>
            </a:endParaRPr>
          </a:p>
        </p:txBody>
      </p:sp>
      <p:sp>
        <p:nvSpPr>
          <p:cNvPr id="20" name="object 20"/>
          <p:cNvSpPr txBox="1"/>
          <p:nvPr/>
        </p:nvSpPr>
        <p:spPr>
          <a:xfrm>
            <a:off x="687467" y="5805961"/>
            <a:ext cx="470534" cy="292735"/>
          </a:xfrm>
          <a:prstGeom prst="rect">
            <a:avLst/>
          </a:prstGeom>
        </p:spPr>
        <p:txBody>
          <a:bodyPr vert="horz" wrap="square" lIns="0" tIns="12700" rIns="0" bIns="0" rtlCol="0">
            <a:spAutoFit/>
          </a:bodyPr>
          <a:lstStyle/>
          <a:p>
            <a:pPr marL="12700">
              <a:lnSpc>
                <a:spcPct val="100000"/>
              </a:lnSpc>
              <a:spcBef>
                <a:spcPts val="100"/>
              </a:spcBef>
            </a:pPr>
            <a:r>
              <a:rPr sz="1750" spc="-25" dirty="0">
                <a:latin typeface="宋体"/>
                <a:cs typeface="宋体"/>
              </a:rPr>
              <a:t>？：</a:t>
            </a:r>
            <a:endParaRPr sz="1750">
              <a:latin typeface="宋体"/>
              <a:cs typeface="宋体"/>
            </a:endParaRPr>
          </a:p>
        </p:txBody>
      </p:sp>
      <p:sp>
        <p:nvSpPr>
          <p:cNvPr id="21" name="object 21"/>
          <p:cNvSpPr txBox="1"/>
          <p:nvPr/>
        </p:nvSpPr>
        <p:spPr>
          <a:xfrm>
            <a:off x="3547244" y="5805961"/>
            <a:ext cx="470534" cy="292735"/>
          </a:xfrm>
          <a:prstGeom prst="rect">
            <a:avLst/>
          </a:prstGeom>
        </p:spPr>
        <p:txBody>
          <a:bodyPr vert="horz" wrap="square" lIns="0" tIns="12700" rIns="0" bIns="0" rtlCol="0">
            <a:spAutoFit/>
          </a:bodyPr>
          <a:lstStyle/>
          <a:p>
            <a:pPr marL="12700">
              <a:lnSpc>
                <a:spcPct val="100000"/>
              </a:lnSpc>
              <a:spcBef>
                <a:spcPts val="100"/>
              </a:spcBef>
            </a:pPr>
            <a:r>
              <a:rPr sz="1750" spc="-25" dirty="0">
                <a:latin typeface="宋体"/>
                <a:cs typeface="宋体"/>
              </a:rPr>
              <a:t>最低</a:t>
            </a:r>
            <a:endParaRPr sz="1750">
              <a:latin typeface="宋体"/>
              <a:cs typeface="宋体"/>
            </a:endParaRPr>
          </a:p>
        </p:txBody>
      </p:sp>
      <p:sp>
        <p:nvSpPr>
          <p:cNvPr id="24" name="object 3">
            <a:extLst>
              <a:ext uri="{FF2B5EF4-FFF2-40B4-BE49-F238E27FC236}">
                <a16:creationId xmlns:a16="http://schemas.microsoft.com/office/drawing/2014/main" id="{60F05246-B9E2-A439-5AD3-E3AA99D0A8D0}"/>
              </a:ext>
            </a:extLst>
          </p:cNvPr>
          <p:cNvSpPr txBox="1">
            <a:spLocks/>
          </p:cNvSpPr>
          <p:nvPr/>
        </p:nvSpPr>
        <p:spPr>
          <a:xfrm>
            <a:off x="241300" y="200025"/>
            <a:ext cx="7288905" cy="524503"/>
          </a:xfrm>
          <a:prstGeom prst="rect">
            <a:avLst/>
          </a:prstGeom>
        </p:spPr>
        <p:txBody>
          <a:bodyPr vert="horz" wrap="square" lIns="0" tIns="16510" rIns="0" bIns="0" rtlCol="0">
            <a:spAutoFit/>
          </a:bodyPr>
          <a:lstStyle>
            <a:lvl1pPr>
              <a:defRPr sz="2800" b="0" i="0">
                <a:solidFill>
                  <a:srgbClr val="3F3F3F"/>
                </a:solidFill>
                <a:latin typeface="Calibri"/>
                <a:ea typeface="+mj-ea"/>
                <a:cs typeface="Calibri"/>
              </a:defRPr>
            </a:lvl1pPr>
          </a:lstStyle>
          <a:p>
            <a:pPr marL="12700">
              <a:spcBef>
                <a:spcPts val="130"/>
              </a:spcBef>
            </a:pPr>
            <a:r>
              <a:rPr lang="zh-CN" altLang="en-US" sz="3300" b="1" spc="-15" dirty="0">
                <a:solidFill>
                  <a:srgbClr val="000000"/>
                </a:solidFill>
                <a:latin typeface="宋体"/>
                <a:cs typeface="宋体"/>
              </a:rPr>
              <a:t>操作符的优先级</a:t>
            </a:r>
            <a:endParaRPr lang="zh-CN" altLang="en-US" sz="3300" dirty="0">
              <a:latin typeface="宋体"/>
              <a:cs typeface="宋体"/>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161883" y="1130405"/>
            <a:ext cx="4440555" cy="4776470"/>
            <a:chOff x="221627" y="1621536"/>
            <a:chExt cx="4440555" cy="4776470"/>
          </a:xfrm>
        </p:grpSpPr>
        <p:sp>
          <p:nvSpPr>
            <p:cNvPr id="4" name="object 4"/>
            <p:cNvSpPr/>
            <p:nvPr/>
          </p:nvSpPr>
          <p:spPr>
            <a:xfrm>
              <a:off x="221627" y="1621536"/>
              <a:ext cx="4440555" cy="4776470"/>
            </a:xfrm>
            <a:custGeom>
              <a:avLst/>
              <a:gdLst/>
              <a:ahLst/>
              <a:cxnLst/>
              <a:rect l="l" t="t" r="r" b="b"/>
              <a:pathLst>
                <a:path w="4440555" h="4776470">
                  <a:moveTo>
                    <a:pt x="4440174" y="4776216"/>
                  </a:moveTo>
                  <a:lnTo>
                    <a:pt x="4440174" y="0"/>
                  </a:lnTo>
                  <a:lnTo>
                    <a:pt x="0" y="0"/>
                  </a:lnTo>
                  <a:lnTo>
                    <a:pt x="0" y="4776216"/>
                  </a:lnTo>
                  <a:lnTo>
                    <a:pt x="4572" y="4776216"/>
                  </a:lnTo>
                  <a:lnTo>
                    <a:pt x="4571" y="8382"/>
                  </a:lnTo>
                  <a:lnTo>
                    <a:pt x="8381" y="4572"/>
                  </a:lnTo>
                  <a:lnTo>
                    <a:pt x="8381" y="8382"/>
                  </a:lnTo>
                  <a:lnTo>
                    <a:pt x="4431792" y="8382"/>
                  </a:lnTo>
                  <a:lnTo>
                    <a:pt x="4431792" y="4572"/>
                  </a:lnTo>
                  <a:lnTo>
                    <a:pt x="4436364" y="8382"/>
                  </a:lnTo>
                  <a:lnTo>
                    <a:pt x="4436364" y="4776216"/>
                  </a:lnTo>
                  <a:lnTo>
                    <a:pt x="4440174" y="4776216"/>
                  </a:lnTo>
                  <a:close/>
                </a:path>
                <a:path w="4440555" h="4776470">
                  <a:moveTo>
                    <a:pt x="8381" y="8382"/>
                  </a:moveTo>
                  <a:lnTo>
                    <a:pt x="8381" y="4572"/>
                  </a:lnTo>
                  <a:lnTo>
                    <a:pt x="4571" y="8382"/>
                  </a:lnTo>
                  <a:lnTo>
                    <a:pt x="8381" y="8382"/>
                  </a:lnTo>
                  <a:close/>
                </a:path>
                <a:path w="4440555" h="4776470">
                  <a:moveTo>
                    <a:pt x="8382" y="4767834"/>
                  </a:moveTo>
                  <a:lnTo>
                    <a:pt x="8381" y="8382"/>
                  </a:lnTo>
                  <a:lnTo>
                    <a:pt x="4571" y="8382"/>
                  </a:lnTo>
                  <a:lnTo>
                    <a:pt x="4572" y="4767834"/>
                  </a:lnTo>
                  <a:lnTo>
                    <a:pt x="8382" y="4767834"/>
                  </a:lnTo>
                  <a:close/>
                </a:path>
                <a:path w="4440555" h="4776470">
                  <a:moveTo>
                    <a:pt x="4436364" y="4767834"/>
                  </a:moveTo>
                  <a:lnTo>
                    <a:pt x="4572" y="4767834"/>
                  </a:lnTo>
                  <a:lnTo>
                    <a:pt x="8382" y="4771644"/>
                  </a:lnTo>
                  <a:lnTo>
                    <a:pt x="8382" y="4776216"/>
                  </a:lnTo>
                  <a:lnTo>
                    <a:pt x="4431792" y="4776216"/>
                  </a:lnTo>
                  <a:lnTo>
                    <a:pt x="4431792" y="4771644"/>
                  </a:lnTo>
                  <a:lnTo>
                    <a:pt x="4436364" y="4767834"/>
                  </a:lnTo>
                  <a:close/>
                </a:path>
                <a:path w="4440555" h="4776470">
                  <a:moveTo>
                    <a:pt x="8382" y="4776216"/>
                  </a:moveTo>
                  <a:lnTo>
                    <a:pt x="8382" y="4771644"/>
                  </a:lnTo>
                  <a:lnTo>
                    <a:pt x="4572" y="4767834"/>
                  </a:lnTo>
                  <a:lnTo>
                    <a:pt x="4572" y="4776216"/>
                  </a:lnTo>
                  <a:lnTo>
                    <a:pt x="8382" y="4776216"/>
                  </a:lnTo>
                  <a:close/>
                </a:path>
                <a:path w="4440555" h="4776470">
                  <a:moveTo>
                    <a:pt x="4436364" y="8382"/>
                  </a:moveTo>
                  <a:lnTo>
                    <a:pt x="4431792" y="4572"/>
                  </a:lnTo>
                  <a:lnTo>
                    <a:pt x="4431792" y="8382"/>
                  </a:lnTo>
                  <a:lnTo>
                    <a:pt x="4436364" y="8382"/>
                  </a:lnTo>
                  <a:close/>
                </a:path>
                <a:path w="4440555" h="4776470">
                  <a:moveTo>
                    <a:pt x="4436364" y="4767834"/>
                  </a:moveTo>
                  <a:lnTo>
                    <a:pt x="4436364" y="8382"/>
                  </a:lnTo>
                  <a:lnTo>
                    <a:pt x="4431792" y="8382"/>
                  </a:lnTo>
                  <a:lnTo>
                    <a:pt x="4431792" y="4767834"/>
                  </a:lnTo>
                  <a:lnTo>
                    <a:pt x="4436364" y="4767834"/>
                  </a:lnTo>
                  <a:close/>
                </a:path>
                <a:path w="4440555" h="4776470">
                  <a:moveTo>
                    <a:pt x="4436364" y="4776216"/>
                  </a:moveTo>
                  <a:lnTo>
                    <a:pt x="4436364" y="4767834"/>
                  </a:lnTo>
                  <a:lnTo>
                    <a:pt x="4431792" y="4771644"/>
                  </a:lnTo>
                  <a:lnTo>
                    <a:pt x="4431792" y="4776216"/>
                  </a:lnTo>
                  <a:lnTo>
                    <a:pt x="4436364" y="4776216"/>
                  </a:lnTo>
                  <a:close/>
                </a:path>
              </a:pathLst>
            </a:custGeom>
            <a:solidFill>
              <a:srgbClr val="000000"/>
            </a:solidFill>
          </p:spPr>
          <p:txBody>
            <a:bodyPr wrap="square" lIns="0" tIns="0" rIns="0" bIns="0" rtlCol="0"/>
            <a:lstStyle/>
            <a:p>
              <a:endParaRPr/>
            </a:p>
          </p:txBody>
        </p:sp>
        <p:pic>
          <p:nvPicPr>
            <p:cNvPr id="5" name="object 5"/>
            <p:cNvPicPr/>
            <p:nvPr/>
          </p:nvPicPr>
          <p:blipFill>
            <a:blip r:embed="rId2" cstate="print"/>
            <a:stretch>
              <a:fillRect/>
            </a:stretch>
          </p:blipFill>
          <p:spPr>
            <a:xfrm>
              <a:off x="300113" y="1760981"/>
              <a:ext cx="175260" cy="175260"/>
            </a:xfrm>
            <a:prstGeom prst="rect">
              <a:avLst/>
            </a:prstGeom>
          </p:spPr>
        </p:pic>
        <p:pic>
          <p:nvPicPr>
            <p:cNvPr id="6" name="object 6"/>
            <p:cNvPicPr/>
            <p:nvPr/>
          </p:nvPicPr>
          <p:blipFill>
            <a:blip r:embed="rId3" cstate="print"/>
            <a:stretch>
              <a:fillRect/>
            </a:stretch>
          </p:blipFill>
          <p:spPr>
            <a:xfrm>
              <a:off x="300113" y="3970063"/>
              <a:ext cx="175260" cy="175260"/>
            </a:xfrm>
            <a:prstGeom prst="rect">
              <a:avLst/>
            </a:prstGeom>
          </p:spPr>
        </p:pic>
        <p:pic>
          <p:nvPicPr>
            <p:cNvPr id="7" name="object 7"/>
            <p:cNvPicPr/>
            <p:nvPr/>
          </p:nvPicPr>
          <p:blipFill>
            <a:blip r:embed="rId4" cstate="print"/>
            <a:stretch>
              <a:fillRect/>
            </a:stretch>
          </p:blipFill>
          <p:spPr>
            <a:xfrm>
              <a:off x="300113" y="4815050"/>
              <a:ext cx="175260" cy="176021"/>
            </a:xfrm>
            <a:prstGeom prst="rect">
              <a:avLst/>
            </a:prstGeom>
          </p:spPr>
        </p:pic>
        <p:pic>
          <p:nvPicPr>
            <p:cNvPr id="8" name="object 8"/>
            <p:cNvPicPr/>
            <p:nvPr/>
          </p:nvPicPr>
          <p:blipFill>
            <a:blip r:embed="rId5" cstate="print"/>
            <a:stretch>
              <a:fillRect/>
            </a:stretch>
          </p:blipFill>
          <p:spPr>
            <a:xfrm>
              <a:off x="300113" y="5218113"/>
              <a:ext cx="175260" cy="175260"/>
            </a:xfrm>
            <a:prstGeom prst="rect">
              <a:avLst/>
            </a:prstGeom>
          </p:spPr>
        </p:pic>
      </p:grpSp>
      <p:sp>
        <p:nvSpPr>
          <p:cNvPr id="9" name="object 9"/>
          <p:cNvSpPr txBox="1">
            <a:spLocks noGrp="1"/>
          </p:cNvSpPr>
          <p:nvPr>
            <p:ph sz="half" idx="2"/>
          </p:nvPr>
        </p:nvSpPr>
        <p:spPr>
          <a:xfrm>
            <a:off x="434165" y="1127760"/>
            <a:ext cx="4168273" cy="4614545"/>
          </a:xfrm>
          <a:prstGeom prst="rect">
            <a:avLst/>
          </a:prstGeom>
        </p:spPr>
        <p:txBody>
          <a:bodyPr vert="horz" wrap="square" lIns="0" tIns="12700" rIns="0" bIns="0" rtlCol="0">
            <a:spAutoFit/>
          </a:bodyPr>
          <a:lstStyle/>
          <a:p>
            <a:pPr marL="12700" marR="5080" algn="just">
              <a:lnSpc>
                <a:spcPct val="110200"/>
              </a:lnSpc>
              <a:spcBef>
                <a:spcPts val="100"/>
              </a:spcBef>
            </a:pPr>
            <a:r>
              <a:rPr spc="-25" dirty="0"/>
              <a:t>在</a:t>
            </a:r>
            <a:r>
              <a:rPr spc="-10" dirty="0"/>
              <a:t>Verilog</a:t>
            </a:r>
            <a:r>
              <a:rPr spc="-30" dirty="0"/>
              <a:t>程序中，真实硬件，网</a:t>
            </a:r>
            <a:r>
              <a:rPr spc="-25" dirty="0"/>
              <a:t>络和变量的信号有不同的位数（</a:t>
            </a:r>
            <a:r>
              <a:rPr spc="-50" dirty="0"/>
              <a:t>即</a:t>
            </a:r>
            <a:r>
              <a:rPr spc="-25" dirty="0"/>
              <a:t>位长或位宽），</a:t>
            </a:r>
            <a:r>
              <a:rPr spc="-25" dirty="0" err="1"/>
              <a:t>在</a:t>
            </a:r>
            <a:r>
              <a:rPr spc="-10" dirty="0" err="1"/>
              <a:t>Verilog</a:t>
            </a:r>
            <a:r>
              <a:rPr spc="-35" dirty="0" err="1"/>
              <a:t>语句中</a:t>
            </a:r>
            <a:r>
              <a:rPr spc="-30" dirty="0" err="1"/>
              <a:t>，操作数的位宽可以不同，可有一系列隐形规则决定其调整</a:t>
            </a:r>
            <a:r>
              <a:rPr lang="zh-CN" altLang="en-US" spc="-30" dirty="0"/>
              <a:t>：</a:t>
            </a:r>
            <a:endParaRPr spc="-30" dirty="0"/>
          </a:p>
          <a:p>
            <a:pPr>
              <a:lnSpc>
                <a:spcPct val="100000"/>
              </a:lnSpc>
              <a:spcBef>
                <a:spcPts val="1445"/>
              </a:spcBef>
            </a:pPr>
            <a:endParaRPr spc="-30" dirty="0"/>
          </a:p>
          <a:p>
            <a:pPr marL="12700" marR="5080">
              <a:lnSpc>
                <a:spcPct val="110200"/>
              </a:lnSpc>
            </a:pPr>
            <a:r>
              <a:rPr spc="-30" dirty="0"/>
              <a:t>确定上下文操作数的最大位宽，包括表达式右端和左端信号。</a:t>
            </a:r>
          </a:p>
          <a:p>
            <a:pPr marL="12700">
              <a:lnSpc>
                <a:spcPct val="100000"/>
              </a:lnSpc>
              <a:spcBef>
                <a:spcPts val="960"/>
              </a:spcBef>
            </a:pPr>
            <a:r>
              <a:rPr spc="-30" dirty="0"/>
              <a:t>扩展右端表达式位宽至最大位宽。</a:t>
            </a:r>
          </a:p>
          <a:p>
            <a:pPr marL="12700" marR="5080" algn="just">
              <a:lnSpc>
                <a:spcPct val="110100"/>
              </a:lnSpc>
              <a:spcBef>
                <a:spcPts val="705"/>
              </a:spcBef>
            </a:pPr>
            <a:r>
              <a:rPr spc="-30" dirty="0"/>
              <a:t>将结果赋给左端信号，如果左端信号位宽较小，则截断相应的高位信</a:t>
            </a:r>
            <a:r>
              <a:rPr spc="-40" dirty="0"/>
              <a:t>号。</a:t>
            </a:r>
          </a:p>
        </p:txBody>
      </p:sp>
      <p:sp>
        <p:nvSpPr>
          <p:cNvPr id="10" name="object 10"/>
          <p:cNvSpPr/>
          <p:nvPr/>
        </p:nvSpPr>
        <p:spPr>
          <a:xfrm>
            <a:off x="4774577" y="4499669"/>
            <a:ext cx="5862955" cy="2008370"/>
          </a:xfrm>
          <a:custGeom>
            <a:avLst/>
            <a:gdLst/>
            <a:ahLst/>
            <a:cxnLst/>
            <a:rect l="l" t="t" r="r" b="b"/>
            <a:pathLst>
              <a:path w="5862955" h="1659254">
                <a:moveTo>
                  <a:pt x="5862828" y="1656587"/>
                </a:moveTo>
                <a:lnTo>
                  <a:pt x="5862828" y="1523"/>
                </a:lnTo>
                <a:lnTo>
                  <a:pt x="5861304" y="0"/>
                </a:lnTo>
                <a:lnTo>
                  <a:pt x="1523" y="0"/>
                </a:lnTo>
                <a:lnTo>
                  <a:pt x="0" y="1524"/>
                </a:lnTo>
                <a:lnTo>
                  <a:pt x="0" y="1656588"/>
                </a:lnTo>
                <a:lnTo>
                  <a:pt x="1524" y="1658874"/>
                </a:lnTo>
                <a:lnTo>
                  <a:pt x="3810" y="1658874"/>
                </a:lnTo>
                <a:lnTo>
                  <a:pt x="3810" y="8382"/>
                </a:lnTo>
                <a:lnTo>
                  <a:pt x="8382" y="3810"/>
                </a:lnTo>
                <a:lnTo>
                  <a:pt x="8382" y="8382"/>
                </a:lnTo>
                <a:lnTo>
                  <a:pt x="5854446" y="8381"/>
                </a:lnTo>
                <a:lnTo>
                  <a:pt x="5854446" y="3809"/>
                </a:lnTo>
                <a:lnTo>
                  <a:pt x="5859018" y="8381"/>
                </a:lnTo>
                <a:lnTo>
                  <a:pt x="5859018" y="1658873"/>
                </a:lnTo>
                <a:lnTo>
                  <a:pt x="5861304" y="1658873"/>
                </a:lnTo>
                <a:lnTo>
                  <a:pt x="5862828" y="1656587"/>
                </a:lnTo>
                <a:close/>
              </a:path>
              <a:path w="5862955" h="1659254">
                <a:moveTo>
                  <a:pt x="8382" y="8382"/>
                </a:moveTo>
                <a:lnTo>
                  <a:pt x="8382" y="3810"/>
                </a:lnTo>
                <a:lnTo>
                  <a:pt x="3810" y="8382"/>
                </a:lnTo>
                <a:lnTo>
                  <a:pt x="8382" y="8382"/>
                </a:lnTo>
                <a:close/>
              </a:path>
              <a:path w="5862955" h="1659254">
                <a:moveTo>
                  <a:pt x="8382" y="1650492"/>
                </a:moveTo>
                <a:lnTo>
                  <a:pt x="8382" y="8382"/>
                </a:lnTo>
                <a:lnTo>
                  <a:pt x="3810" y="8382"/>
                </a:lnTo>
                <a:lnTo>
                  <a:pt x="3810" y="1650492"/>
                </a:lnTo>
                <a:lnTo>
                  <a:pt x="8382" y="1650492"/>
                </a:lnTo>
                <a:close/>
              </a:path>
              <a:path w="5862955" h="1659254">
                <a:moveTo>
                  <a:pt x="5859018" y="1650491"/>
                </a:moveTo>
                <a:lnTo>
                  <a:pt x="3810" y="1650492"/>
                </a:lnTo>
                <a:lnTo>
                  <a:pt x="8382" y="1654302"/>
                </a:lnTo>
                <a:lnTo>
                  <a:pt x="8382" y="1658874"/>
                </a:lnTo>
                <a:lnTo>
                  <a:pt x="5854446" y="1658873"/>
                </a:lnTo>
                <a:lnTo>
                  <a:pt x="5854446" y="1654302"/>
                </a:lnTo>
                <a:lnTo>
                  <a:pt x="5859018" y="1650491"/>
                </a:lnTo>
                <a:close/>
              </a:path>
              <a:path w="5862955" h="1659254">
                <a:moveTo>
                  <a:pt x="8382" y="1658874"/>
                </a:moveTo>
                <a:lnTo>
                  <a:pt x="8382" y="1654302"/>
                </a:lnTo>
                <a:lnTo>
                  <a:pt x="3810" y="1650492"/>
                </a:lnTo>
                <a:lnTo>
                  <a:pt x="3810" y="1658874"/>
                </a:lnTo>
                <a:lnTo>
                  <a:pt x="8382" y="1658874"/>
                </a:lnTo>
                <a:close/>
              </a:path>
              <a:path w="5862955" h="1659254">
                <a:moveTo>
                  <a:pt x="5859018" y="8381"/>
                </a:moveTo>
                <a:lnTo>
                  <a:pt x="5854446" y="3809"/>
                </a:lnTo>
                <a:lnTo>
                  <a:pt x="5854446" y="8381"/>
                </a:lnTo>
                <a:lnTo>
                  <a:pt x="5859018" y="8381"/>
                </a:lnTo>
                <a:close/>
              </a:path>
              <a:path w="5862955" h="1659254">
                <a:moveTo>
                  <a:pt x="5859018" y="1650491"/>
                </a:moveTo>
                <a:lnTo>
                  <a:pt x="5859018" y="8381"/>
                </a:lnTo>
                <a:lnTo>
                  <a:pt x="5854446" y="8381"/>
                </a:lnTo>
                <a:lnTo>
                  <a:pt x="5854446" y="1650491"/>
                </a:lnTo>
                <a:lnTo>
                  <a:pt x="5859018" y="1650491"/>
                </a:lnTo>
                <a:close/>
              </a:path>
              <a:path w="5862955" h="1659254">
                <a:moveTo>
                  <a:pt x="5859018" y="1658873"/>
                </a:moveTo>
                <a:lnTo>
                  <a:pt x="5859018" y="1650491"/>
                </a:lnTo>
                <a:lnTo>
                  <a:pt x="5854446" y="1654302"/>
                </a:lnTo>
                <a:lnTo>
                  <a:pt x="5854446" y="1658873"/>
                </a:lnTo>
                <a:lnTo>
                  <a:pt x="5859018" y="1658873"/>
                </a:lnTo>
                <a:close/>
              </a:path>
            </a:pathLst>
          </a:custGeom>
          <a:solidFill>
            <a:srgbClr val="FF0000"/>
          </a:solidFill>
        </p:spPr>
        <p:txBody>
          <a:bodyPr wrap="square" lIns="0" tIns="0" rIns="0" bIns="0" rtlCol="0"/>
          <a:lstStyle/>
          <a:p>
            <a:endParaRPr/>
          </a:p>
        </p:txBody>
      </p:sp>
      <p:sp>
        <p:nvSpPr>
          <p:cNvPr id="11" name="object 11"/>
          <p:cNvSpPr txBox="1"/>
          <p:nvPr/>
        </p:nvSpPr>
        <p:spPr>
          <a:xfrm>
            <a:off x="4828418" y="4431964"/>
            <a:ext cx="5656580" cy="2008370"/>
          </a:xfrm>
          <a:prstGeom prst="rect">
            <a:avLst/>
          </a:prstGeom>
        </p:spPr>
        <p:txBody>
          <a:bodyPr vert="horz" wrap="square" lIns="0" tIns="12700" rIns="0" bIns="0" rtlCol="0">
            <a:spAutoFit/>
          </a:bodyPr>
          <a:lstStyle/>
          <a:p>
            <a:pPr marL="135255" marR="5080" indent="-62230">
              <a:lnSpc>
                <a:spcPct val="150300"/>
              </a:lnSpc>
              <a:spcBef>
                <a:spcPts val="100"/>
              </a:spcBef>
            </a:pPr>
            <a:r>
              <a:rPr lang="en-US" altLang="zh-CN" sz="1750" spc="-20" dirty="0">
                <a:solidFill>
                  <a:srgbClr val="31DDFF"/>
                </a:solidFill>
                <a:latin typeface="Arial"/>
                <a:cs typeface="Arial"/>
              </a:rPr>
              <a:t>//a</a:t>
            </a:r>
            <a:r>
              <a:rPr lang="zh-CN" altLang="en-US" sz="1750" spc="-20" dirty="0">
                <a:solidFill>
                  <a:srgbClr val="31DDFF"/>
                </a:solidFill>
                <a:latin typeface="微软雅黑"/>
                <a:cs typeface="微软雅黑"/>
              </a:rPr>
              <a:t>，</a:t>
            </a:r>
            <a:r>
              <a:rPr lang="en-US" altLang="zh-CN" sz="1750" spc="-20" dirty="0">
                <a:solidFill>
                  <a:srgbClr val="31DDFF"/>
                </a:solidFill>
                <a:latin typeface="Arial"/>
                <a:cs typeface="Arial"/>
              </a:rPr>
              <a:t>b</a:t>
            </a:r>
            <a:r>
              <a:rPr lang="zh-CN" altLang="en-US" sz="1750" spc="-20" dirty="0">
                <a:solidFill>
                  <a:srgbClr val="31DDFF"/>
                </a:solidFill>
                <a:latin typeface="微软雅黑"/>
                <a:cs typeface="微软雅黑"/>
              </a:rPr>
              <a:t>，</a:t>
            </a:r>
            <a:r>
              <a:rPr lang="en-US" altLang="zh-CN" sz="1750" spc="-20" dirty="0">
                <a:solidFill>
                  <a:srgbClr val="31DDFF"/>
                </a:solidFill>
                <a:latin typeface="Arial"/>
                <a:cs typeface="Arial"/>
              </a:rPr>
              <a:t>sum1</a:t>
            </a:r>
            <a:r>
              <a:rPr lang="zh-CN" altLang="en-US" sz="1750" spc="-20" dirty="0">
                <a:solidFill>
                  <a:srgbClr val="31DDFF"/>
                </a:solidFill>
                <a:latin typeface="微软雅黑"/>
                <a:cs typeface="微软雅黑"/>
              </a:rPr>
              <a:t>，</a:t>
            </a:r>
            <a:r>
              <a:rPr lang="en-US" altLang="zh-CN" sz="1750" spc="-20" dirty="0">
                <a:solidFill>
                  <a:srgbClr val="31DDFF"/>
                </a:solidFill>
                <a:latin typeface="Arial"/>
                <a:cs typeface="Arial"/>
              </a:rPr>
              <a:t>sum2</a:t>
            </a:r>
            <a:r>
              <a:rPr lang="zh-CN" altLang="en-US" sz="1750" dirty="0">
                <a:solidFill>
                  <a:srgbClr val="31DDFF"/>
                </a:solidFill>
                <a:latin typeface="微软雅黑"/>
                <a:cs typeface="微软雅黑"/>
              </a:rPr>
              <a:t>均为</a:t>
            </a:r>
            <a:r>
              <a:rPr lang="en-US" altLang="zh-CN" sz="1750" spc="-20" dirty="0">
                <a:solidFill>
                  <a:srgbClr val="31DDFF"/>
                </a:solidFill>
                <a:latin typeface="Arial"/>
                <a:cs typeface="Arial"/>
              </a:rPr>
              <a:t>8bit</a:t>
            </a:r>
            <a:endParaRPr lang="en-US" sz="1750" spc="-10" dirty="0">
              <a:solidFill>
                <a:srgbClr val="31DDFF"/>
              </a:solidFill>
              <a:latin typeface="Arial"/>
              <a:cs typeface="Arial"/>
            </a:endParaRPr>
          </a:p>
          <a:p>
            <a:pPr marL="135255" marR="5080" indent="-62230">
              <a:lnSpc>
                <a:spcPct val="150300"/>
              </a:lnSpc>
              <a:spcBef>
                <a:spcPts val="100"/>
              </a:spcBef>
            </a:pPr>
            <a:r>
              <a:rPr sz="1750" spc="-10" dirty="0">
                <a:solidFill>
                  <a:srgbClr val="31DDFF"/>
                </a:solidFill>
                <a:latin typeface="Arial"/>
                <a:cs typeface="Arial"/>
              </a:rPr>
              <a:t>// </a:t>
            </a:r>
            <a:r>
              <a:rPr sz="1750" dirty="0">
                <a:solidFill>
                  <a:srgbClr val="31DDFF"/>
                </a:solidFill>
                <a:latin typeface="Arial"/>
                <a:cs typeface="Arial"/>
              </a:rPr>
              <a:t>shift</a:t>
            </a:r>
            <a:r>
              <a:rPr sz="1750" spc="-5" dirty="0">
                <a:solidFill>
                  <a:srgbClr val="31DDFF"/>
                </a:solidFill>
                <a:latin typeface="Arial"/>
                <a:cs typeface="Arial"/>
              </a:rPr>
              <a:t> </a:t>
            </a:r>
            <a:r>
              <a:rPr sz="1750" dirty="0">
                <a:solidFill>
                  <a:srgbClr val="31DDFF"/>
                </a:solidFill>
                <a:latin typeface="Arial"/>
                <a:cs typeface="Arial"/>
              </a:rPr>
              <a:t>0</a:t>
            </a:r>
            <a:r>
              <a:rPr sz="1750" spc="-10" dirty="0">
                <a:solidFill>
                  <a:srgbClr val="31DDFF"/>
                </a:solidFill>
                <a:latin typeface="Arial"/>
                <a:cs typeface="Arial"/>
              </a:rPr>
              <a:t> </a:t>
            </a:r>
            <a:r>
              <a:rPr sz="1750" dirty="0">
                <a:solidFill>
                  <a:srgbClr val="31DDFF"/>
                </a:solidFill>
                <a:latin typeface="Arial"/>
                <a:cs typeface="Arial"/>
              </a:rPr>
              <a:t>to</a:t>
            </a:r>
            <a:r>
              <a:rPr sz="1750" spc="-5" dirty="0">
                <a:solidFill>
                  <a:srgbClr val="31DDFF"/>
                </a:solidFill>
                <a:latin typeface="Arial"/>
                <a:cs typeface="Arial"/>
              </a:rPr>
              <a:t> </a:t>
            </a:r>
            <a:r>
              <a:rPr sz="1750" dirty="0">
                <a:solidFill>
                  <a:srgbClr val="31DDFF"/>
                </a:solidFill>
                <a:latin typeface="Arial"/>
                <a:cs typeface="Arial"/>
              </a:rPr>
              <a:t>MSB</a:t>
            </a:r>
            <a:r>
              <a:rPr sz="1750" spc="-10" dirty="0">
                <a:solidFill>
                  <a:srgbClr val="31DDFF"/>
                </a:solidFill>
                <a:latin typeface="Arial"/>
                <a:cs typeface="Arial"/>
              </a:rPr>
              <a:t> </a:t>
            </a:r>
            <a:r>
              <a:rPr lang="en-US" altLang="zh-CN" sz="1750" dirty="0">
                <a:solidFill>
                  <a:srgbClr val="31DDFF"/>
                </a:solidFill>
                <a:latin typeface="Arial"/>
                <a:cs typeface="Arial"/>
              </a:rPr>
              <a:t>of</a:t>
            </a:r>
            <a:r>
              <a:rPr sz="1750" spc="-5" dirty="0">
                <a:solidFill>
                  <a:srgbClr val="31DDFF"/>
                </a:solidFill>
                <a:latin typeface="Arial"/>
                <a:cs typeface="Arial"/>
              </a:rPr>
              <a:t> </a:t>
            </a:r>
            <a:r>
              <a:rPr sz="1750" dirty="0">
                <a:solidFill>
                  <a:srgbClr val="31DDFF"/>
                </a:solidFill>
                <a:latin typeface="Arial"/>
                <a:cs typeface="Arial"/>
              </a:rPr>
              <a:t>sum1</a:t>
            </a:r>
            <a:r>
              <a:rPr sz="1750" spc="-10" dirty="0">
                <a:solidFill>
                  <a:srgbClr val="31DDFF"/>
                </a:solidFill>
                <a:latin typeface="Arial"/>
                <a:cs typeface="Arial"/>
              </a:rPr>
              <a:t> </a:t>
            </a:r>
            <a:r>
              <a:rPr sz="1750" spc="-20" dirty="0">
                <a:solidFill>
                  <a:srgbClr val="31DDFF"/>
                </a:solidFill>
                <a:latin typeface="微软雅黑"/>
                <a:cs typeface="微软雅黑"/>
              </a:rPr>
              <a:t>，</a:t>
            </a:r>
            <a:endParaRPr lang="en-US" sz="1750" spc="-20" dirty="0">
              <a:solidFill>
                <a:srgbClr val="31DDFF"/>
              </a:solidFill>
              <a:latin typeface="微软雅黑"/>
              <a:cs typeface="微软雅黑"/>
            </a:endParaRPr>
          </a:p>
          <a:p>
            <a:pPr marL="135255" marR="5080" indent="-62230">
              <a:lnSpc>
                <a:spcPct val="150300"/>
              </a:lnSpc>
              <a:spcBef>
                <a:spcPts val="100"/>
              </a:spcBef>
            </a:pPr>
            <a:r>
              <a:rPr sz="1750" dirty="0">
                <a:latin typeface="Arial"/>
                <a:cs typeface="Arial"/>
              </a:rPr>
              <a:t>assign</a:t>
            </a:r>
            <a:r>
              <a:rPr sz="1750" spc="-20" dirty="0">
                <a:latin typeface="Arial"/>
                <a:cs typeface="Arial"/>
              </a:rPr>
              <a:t> </a:t>
            </a:r>
            <a:r>
              <a:rPr sz="1750" dirty="0">
                <a:latin typeface="Arial"/>
                <a:cs typeface="Arial"/>
              </a:rPr>
              <a:t>sum1</a:t>
            </a:r>
            <a:r>
              <a:rPr sz="1750" spc="-20" dirty="0">
                <a:latin typeface="Arial"/>
                <a:cs typeface="Arial"/>
              </a:rPr>
              <a:t> = (</a:t>
            </a:r>
            <a:r>
              <a:rPr sz="1750" dirty="0">
                <a:latin typeface="Arial"/>
                <a:cs typeface="Arial"/>
              </a:rPr>
              <a:t>a</a:t>
            </a:r>
            <a:r>
              <a:rPr sz="1750" spc="-25" dirty="0">
                <a:latin typeface="Arial"/>
                <a:cs typeface="Arial"/>
              </a:rPr>
              <a:t> + </a:t>
            </a:r>
            <a:r>
              <a:rPr sz="1750" dirty="0">
                <a:latin typeface="Arial"/>
                <a:cs typeface="Arial"/>
              </a:rPr>
              <a:t>b</a:t>
            </a:r>
            <a:r>
              <a:rPr sz="1750" spc="-20" dirty="0">
                <a:latin typeface="Arial"/>
                <a:cs typeface="Arial"/>
              </a:rPr>
              <a:t>) &gt;&gt; </a:t>
            </a:r>
            <a:r>
              <a:rPr sz="1750" spc="-25" dirty="0">
                <a:latin typeface="Arial"/>
                <a:cs typeface="Arial"/>
              </a:rPr>
              <a:t>1;</a:t>
            </a:r>
            <a:endParaRPr sz="1750" dirty="0">
              <a:latin typeface="Arial"/>
              <a:cs typeface="Arial"/>
            </a:endParaRPr>
          </a:p>
          <a:p>
            <a:pPr marL="12700" marR="1534160" indent="60960">
              <a:lnSpc>
                <a:spcPct val="150300"/>
              </a:lnSpc>
            </a:pPr>
            <a:r>
              <a:rPr sz="1750" dirty="0">
                <a:solidFill>
                  <a:srgbClr val="31DDFF"/>
                </a:solidFill>
                <a:latin typeface="Arial"/>
                <a:cs typeface="Arial"/>
              </a:rPr>
              <a:t>//</a:t>
            </a:r>
            <a:r>
              <a:rPr sz="1750" spc="-30" dirty="0">
                <a:solidFill>
                  <a:srgbClr val="31DDFF"/>
                </a:solidFill>
                <a:latin typeface="Arial"/>
                <a:cs typeface="Arial"/>
              </a:rPr>
              <a:t> </a:t>
            </a:r>
            <a:r>
              <a:rPr sz="1750" dirty="0">
                <a:solidFill>
                  <a:srgbClr val="31DDFF"/>
                </a:solidFill>
                <a:latin typeface="Arial"/>
                <a:cs typeface="Arial"/>
              </a:rPr>
              <a:t>shift</a:t>
            </a:r>
            <a:r>
              <a:rPr sz="1750" spc="-15" dirty="0">
                <a:solidFill>
                  <a:srgbClr val="31DDFF"/>
                </a:solidFill>
                <a:latin typeface="Arial"/>
                <a:cs typeface="Arial"/>
              </a:rPr>
              <a:t> </a:t>
            </a:r>
            <a:r>
              <a:rPr sz="1750" spc="-20" dirty="0">
                <a:solidFill>
                  <a:srgbClr val="31DDFF"/>
                </a:solidFill>
                <a:latin typeface="Arial"/>
                <a:cs typeface="Arial"/>
              </a:rPr>
              <a:t>carry-</a:t>
            </a:r>
            <a:r>
              <a:rPr sz="1750" dirty="0">
                <a:solidFill>
                  <a:srgbClr val="31DDFF"/>
                </a:solidFill>
                <a:latin typeface="Arial"/>
                <a:cs typeface="Arial"/>
              </a:rPr>
              <a:t>out</a:t>
            </a:r>
            <a:r>
              <a:rPr sz="1750" spc="-15" dirty="0">
                <a:solidFill>
                  <a:srgbClr val="31DDFF"/>
                </a:solidFill>
                <a:latin typeface="Arial"/>
                <a:cs typeface="Arial"/>
              </a:rPr>
              <a:t> </a:t>
            </a:r>
            <a:r>
              <a:rPr lang="en-US" sz="1750" dirty="0">
                <a:solidFill>
                  <a:srgbClr val="31DDFF"/>
                </a:solidFill>
                <a:latin typeface="Arial"/>
                <a:cs typeface="Arial"/>
              </a:rPr>
              <a:t>of</a:t>
            </a:r>
            <a:r>
              <a:rPr sz="1750" spc="-15" dirty="0">
                <a:solidFill>
                  <a:srgbClr val="31DDFF"/>
                </a:solidFill>
                <a:latin typeface="Arial"/>
                <a:cs typeface="Arial"/>
              </a:rPr>
              <a:t> </a:t>
            </a:r>
            <a:r>
              <a:rPr sz="1750" dirty="0" err="1">
                <a:solidFill>
                  <a:srgbClr val="31DDFF"/>
                </a:solidFill>
                <a:latin typeface="Arial"/>
                <a:cs typeface="Arial"/>
              </a:rPr>
              <a:t>a+b</a:t>
            </a:r>
            <a:r>
              <a:rPr sz="1750" spc="-15" dirty="0">
                <a:solidFill>
                  <a:srgbClr val="31DDFF"/>
                </a:solidFill>
                <a:latin typeface="Arial"/>
                <a:cs typeface="Arial"/>
              </a:rPr>
              <a:t> </a:t>
            </a:r>
            <a:r>
              <a:rPr lang="en-US" sz="1750" dirty="0">
                <a:solidFill>
                  <a:srgbClr val="31DDFF"/>
                </a:solidFill>
                <a:latin typeface="Arial"/>
                <a:cs typeface="Arial"/>
              </a:rPr>
              <a:t>to</a:t>
            </a:r>
            <a:r>
              <a:rPr sz="1750" spc="-20" dirty="0">
                <a:solidFill>
                  <a:srgbClr val="31DDFF"/>
                </a:solidFill>
                <a:latin typeface="Arial"/>
                <a:cs typeface="Arial"/>
              </a:rPr>
              <a:t> </a:t>
            </a:r>
            <a:r>
              <a:rPr sz="1750" dirty="0">
                <a:solidFill>
                  <a:srgbClr val="31DDFF"/>
                </a:solidFill>
                <a:latin typeface="Arial"/>
                <a:cs typeface="Arial"/>
              </a:rPr>
              <a:t>MSB</a:t>
            </a:r>
            <a:r>
              <a:rPr sz="1750" spc="-15" dirty="0">
                <a:solidFill>
                  <a:srgbClr val="31DDFF"/>
                </a:solidFill>
                <a:latin typeface="Arial"/>
                <a:cs typeface="Arial"/>
              </a:rPr>
              <a:t> </a:t>
            </a:r>
            <a:r>
              <a:rPr lang="en-US" sz="1750" dirty="0">
                <a:solidFill>
                  <a:srgbClr val="31DDFF"/>
                </a:solidFill>
                <a:latin typeface="Arial"/>
                <a:cs typeface="Arial"/>
              </a:rPr>
              <a:t>of</a:t>
            </a:r>
            <a:r>
              <a:rPr sz="1750" spc="-25" dirty="0">
                <a:solidFill>
                  <a:srgbClr val="31DDFF"/>
                </a:solidFill>
                <a:latin typeface="Arial"/>
                <a:cs typeface="Arial"/>
              </a:rPr>
              <a:t> </a:t>
            </a:r>
            <a:r>
              <a:rPr sz="1750" spc="-20" dirty="0">
                <a:solidFill>
                  <a:srgbClr val="31DDFF"/>
                </a:solidFill>
                <a:latin typeface="Arial"/>
                <a:cs typeface="Arial"/>
              </a:rPr>
              <a:t>sum2 </a:t>
            </a:r>
            <a:r>
              <a:rPr sz="1750" dirty="0">
                <a:latin typeface="Arial"/>
                <a:cs typeface="Arial"/>
              </a:rPr>
              <a:t>assign</a:t>
            </a:r>
            <a:r>
              <a:rPr sz="1750" spc="-15" dirty="0">
                <a:latin typeface="Arial"/>
                <a:cs typeface="Arial"/>
              </a:rPr>
              <a:t> </a:t>
            </a:r>
            <a:r>
              <a:rPr sz="1750" dirty="0">
                <a:latin typeface="Arial"/>
                <a:cs typeface="Arial"/>
              </a:rPr>
              <a:t>sum2</a:t>
            </a:r>
            <a:r>
              <a:rPr sz="1750" spc="-30" dirty="0">
                <a:latin typeface="Arial"/>
                <a:cs typeface="Arial"/>
              </a:rPr>
              <a:t> </a:t>
            </a:r>
            <a:r>
              <a:rPr sz="1750" dirty="0">
                <a:latin typeface="Arial"/>
                <a:cs typeface="Arial"/>
              </a:rPr>
              <a:t>=</a:t>
            </a:r>
            <a:r>
              <a:rPr sz="1750" spc="-30" dirty="0">
                <a:latin typeface="Arial"/>
                <a:cs typeface="Arial"/>
              </a:rPr>
              <a:t> </a:t>
            </a:r>
            <a:r>
              <a:rPr sz="1750" dirty="0">
                <a:latin typeface="Arial"/>
                <a:cs typeface="Arial"/>
              </a:rPr>
              <a:t>(0</a:t>
            </a:r>
            <a:r>
              <a:rPr sz="1750" spc="-30" dirty="0">
                <a:latin typeface="Arial"/>
                <a:cs typeface="Arial"/>
              </a:rPr>
              <a:t> </a:t>
            </a:r>
            <a:r>
              <a:rPr sz="1750" dirty="0">
                <a:latin typeface="Arial"/>
                <a:cs typeface="Arial"/>
              </a:rPr>
              <a:t>+</a:t>
            </a:r>
            <a:r>
              <a:rPr sz="1750" spc="-30" dirty="0">
                <a:latin typeface="Arial"/>
                <a:cs typeface="Arial"/>
              </a:rPr>
              <a:t> </a:t>
            </a:r>
            <a:r>
              <a:rPr sz="1750" dirty="0">
                <a:latin typeface="Arial"/>
                <a:cs typeface="Arial"/>
              </a:rPr>
              <a:t>a</a:t>
            </a:r>
            <a:r>
              <a:rPr sz="1750" spc="-30" dirty="0">
                <a:latin typeface="Arial"/>
                <a:cs typeface="Arial"/>
              </a:rPr>
              <a:t> </a:t>
            </a:r>
            <a:r>
              <a:rPr sz="1750" dirty="0">
                <a:latin typeface="Arial"/>
                <a:cs typeface="Arial"/>
              </a:rPr>
              <a:t>+</a:t>
            </a:r>
            <a:r>
              <a:rPr sz="1750" spc="-30" dirty="0">
                <a:latin typeface="Arial"/>
                <a:cs typeface="Arial"/>
              </a:rPr>
              <a:t> </a:t>
            </a:r>
            <a:r>
              <a:rPr sz="1750" dirty="0">
                <a:latin typeface="Arial"/>
                <a:cs typeface="Arial"/>
              </a:rPr>
              <a:t>b)</a:t>
            </a:r>
            <a:r>
              <a:rPr sz="1750" spc="-30" dirty="0">
                <a:latin typeface="Arial"/>
                <a:cs typeface="Arial"/>
              </a:rPr>
              <a:t> </a:t>
            </a:r>
            <a:r>
              <a:rPr sz="1750" dirty="0">
                <a:latin typeface="Arial"/>
                <a:cs typeface="Arial"/>
              </a:rPr>
              <a:t>&gt;&gt;</a:t>
            </a:r>
            <a:r>
              <a:rPr sz="1750" spc="-25" dirty="0">
                <a:latin typeface="Arial"/>
                <a:cs typeface="Arial"/>
              </a:rPr>
              <a:t> </a:t>
            </a:r>
            <a:r>
              <a:rPr sz="1750" dirty="0">
                <a:latin typeface="Arial"/>
                <a:cs typeface="Arial"/>
              </a:rPr>
              <a:t>1</a:t>
            </a:r>
            <a:r>
              <a:rPr sz="1750" spc="-30" dirty="0">
                <a:latin typeface="Arial"/>
                <a:cs typeface="Arial"/>
              </a:rPr>
              <a:t> </a:t>
            </a:r>
            <a:r>
              <a:rPr sz="1750" spc="-50" dirty="0">
                <a:latin typeface="Arial"/>
                <a:cs typeface="Arial"/>
              </a:rPr>
              <a:t>;</a:t>
            </a:r>
            <a:endParaRPr sz="1750" dirty="0">
              <a:latin typeface="Arial"/>
              <a:cs typeface="Arial"/>
            </a:endParaRPr>
          </a:p>
        </p:txBody>
      </p:sp>
      <p:sp>
        <p:nvSpPr>
          <p:cNvPr id="12" name="object 12"/>
          <p:cNvSpPr/>
          <p:nvPr/>
        </p:nvSpPr>
        <p:spPr>
          <a:xfrm>
            <a:off x="4774577" y="2403475"/>
            <a:ext cx="5862955" cy="2063750"/>
          </a:xfrm>
          <a:custGeom>
            <a:avLst/>
            <a:gdLst/>
            <a:ahLst/>
            <a:cxnLst/>
            <a:rect l="l" t="t" r="r" b="b"/>
            <a:pathLst>
              <a:path w="5862955" h="2063750">
                <a:moveTo>
                  <a:pt x="5862828" y="2061209"/>
                </a:moveTo>
                <a:lnTo>
                  <a:pt x="5862828" y="1523"/>
                </a:lnTo>
                <a:lnTo>
                  <a:pt x="5861304" y="0"/>
                </a:lnTo>
                <a:lnTo>
                  <a:pt x="1523" y="0"/>
                </a:lnTo>
                <a:lnTo>
                  <a:pt x="0" y="1524"/>
                </a:lnTo>
                <a:lnTo>
                  <a:pt x="0" y="2061210"/>
                </a:lnTo>
                <a:lnTo>
                  <a:pt x="1524" y="2063496"/>
                </a:lnTo>
                <a:lnTo>
                  <a:pt x="3810" y="2063496"/>
                </a:lnTo>
                <a:lnTo>
                  <a:pt x="3810" y="8382"/>
                </a:lnTo>
                <a:lnTo>
                  <a:pt x="8382" y="3810"/>
                </a:lnTo>
                <a:lnTo>
                  <a:pt x="8382" y="8382"/>
                </a:lnTo>
                <a:lnTo>
                  <a:pt x="5854445" y="8381"/>
                </a:lnTo>
                <a:lnTo>
                  <a:pt x="5854445" y="3809"/>
                </a:lnTo>
                <a:lnTo>
                  <a:pt x="5859018" y="8381"/>
                </a:lnTo>
                <a:lnTo>
                  <a:pt x="5859018" y="2063495"/>
                </a:lnTo>
                <a:lnTo>
                  <a:pt x="5861304" y="2063495"/>
                </a:lnTo>
                <a:lnTo>
                  <a:pt x="5862828" y="2061209"/>
                </a:lnTo>
                <a:close/>
              </a:path>
              <a:path w="5862955" h="2063750">
                <a:moveTo>
                  <a:pt x="8382" y="8382"/>
                </a:moveTo>
                <a:lnTo>
                  <a:pt x="8382" y="3810"/>
                </a:lnTo>
                <a:lnTo>
                  <a:pt x="3810" y="8382"/>
                </a:lnTo>
                <a:lnTo>
                  <a:pt x="8382" y="8382"/>
                </a:lnTo>
                <a:close/>
              </a:path>
              <a:path w="5862955" h="2063750">
                <a:moveTo>
                  <a:pt x="8382" y="2055114"/>
                </a:moveTo>
                <a:lnTo>
                  <a:pt x="8382" y="8382"/>
                </a:lnTo>
                <a:lnTo>
                  <a:pt x="3810" y="8382"/>
                </a:lnTo>
                <a:lnTo>
                  <a:pt x="3810" y="2055114"/>
                </a:lnTo>
                <a:lnTo>
                  <a:pt x="8382" y="2055114"/>
                </a:lnTo>
                <a:close/>
              </a:path>
              <a:path w="5862955" h="2063750">
                <a:moveTo>
                  <a:pt x="5859018" y="2055114"/>
                </a:moveTo>
                <a:lnTo>
                  <a:pt x="3810" y="2055114"/>
                </a:lnTo>
                <a:lnTo>
                  <a:pt x="8382" y="2058924"/>
                </a:lnTo>
                <a:lnTo>
                  <a:pt x="8381" y="2063496"/>
                </a:lnTo>
                <a:lnTo>
                  <a:pt x="5854445" y="2063495"/>
                </a:lnTo>
                <a:lnTo>
                  <a:pt x="5854445" y="2058924"/>
                </a:lnTo>
                <a:lnTo>
                  <a:pt x="5859018" y="2055114"/>
                </a:lnTo>
                <a:close/>
              </a:path>
              <a:path w="5862955" h="2063750">
                <a:moveTo>
                  <a:pt x="8381" y="2063496"/>
                </a:moveTo>
                <a:lnTo>
                  <a:pt x="8382" y="2058924"/>
                </a:lnTo>
                <a:lnTo>
                  <a:pt x="3810" y="2055114"/>
                </a:lnTo>
                <a:lnTo>
                  <a:pt x="3810" y="2063496"/>
                </a:lnTo>
                <a:lnTo>
                  <a:pt x="8381" y="2063496"/>
                </a:lnTo>
                <a:close/>
              </a:path>
              <a:path w="5862955" h="2063750">
                <a:moveTo>
                  <a:pt x="5859018" y="8381"/>
                </a:moveTo>
                <a:lnTo>
                  <a:pt x="5854445" y="3809"/>
                </a:lnTo>
                <a:lnTo>
                  <a:pt x="5854445" y="8381"/>
                </a:lnTo>
                <a:lnTo>
                  <a:pt x="5859018" y="8381"/>
                </a:lnTo>
                <a:close/>
              </a:path>
              <a:path w="5862955" h="2063750">
                <a:moveTo>
                  <a:pt x="5859018" y="2055114"/>
                </a:moveTo>
                <a:lnTo>
                  <a:pt x="5859018" y="8381"/>
                </a:lnTo>
                <a:lnTo>
                  <a:pt x="5854445" y="8381"/>
                </a:lnTo>
                <a:lnTo>
                  <a:pt x="5854445" y="2055114"/>
                </a:lnTo>
                <a:lnTo>
                  <a:pt x="5859018" y="2055114"/>
                </a:lnTo>
                <a:close/>
              </a:path>
              <a:path w="5862955" h="2063750">
                <a:moveTo>
                  <a:pt x="5859018" y="2063495"/>
                </a:moveTo>
                <a:lnTo>
                  <a:pt x="5859018" y="2055114"/>
                </a:lnTo>
                <a:lnTo>
                  <a:pt x="5854445" y="2058924"/>
                </a:lnTo>
                <a:lnTo>
                  <a:pt x="5854445" y="2063495"/>
                </a:lnTo>
                <a:lnTo>
                  <a:pt x="5859018" y="2063495"/>
                </a:lnTo>
                <a:close/>
              </a:path>
            </a:pathLst>
          </a:custGeom>
          <a:solidFill>
            <a:srgbClr val="FF0000"/>
          </a:solidFill>
        </p:spPr>
        <p:txBody>
          <a:bodyPr wrap="square" lIns="0" tIns="0" rIns="0" bIns="0" rtlCol="0"/>
          <a:lstStyle/>
          <a:p>
            <a:endParaRPr/>
          </a:p>
        </p:txBody>
      </p:sp>
      <p:sp>
        <p:nvSpPr>
          <p:cNvPr id="13" name="object 13"/>
          <p:cNvSpPr txBox="1"/>
          <p:nvPr/>
        </p:nvSpPr>
        <p:spPr>
          <a:xfrm>
            <a:off x="4846447" y="2379644"/>
            <a:ext cx="2088514" cy="2030095"/>
          </a:xfrm>
          <a:prstGeom prst="rect">
            <a:avLst/>
          </a:prstGeom>
        </p:spPr>
        <p:txBody>
          <a:bodyPr vert="horz" wrap="square" lIns="0" tIns="12700" rIns="0" bIns="0" rtlCol="0">
            <a:spAutoFit/>
          </a:bodyPr>
          <a:lstStyle/>
          <a:p>
            <a:pPr marL="73660" marR="438150">
              <a:lnSpc>
                <a:spcPct val="150300"/>
              </a:lnSpc>
              <a:spcBef>
                <a:spcPts val="100"/>
              </a:spcBef>
            </a:pPr>
            <a:r>
              <a:rPr sz="1750" dirty="0">
                <a:latin typeface="Arial"/>
                <a:cs typeface="Arial"/>
              </a:rPr>
              <a:t>wire</a:t>
            </a:r>
            <a:r>
              <a:rPr sz="1750" spc="-30" dirty="0">
                <a:latin typeface="Arial"/>
                <a:cs typeface="Arial"/>
              </a:rPr>
              <a:t> </a:t>
            </a:r>
            <a:r>
              <a:rPr sz="1750" dirty="0">
                <a:latin typeface="Arial"/>
                <a:cs typeface="Arial"/>
              </a:rPr>
              <a:t>[7:0]</a:t>
            </a:r>
            <a:r>
              <a:rPr sz="1750" spc="-45" dirty="0">
                <a:latin typeface="Arial"/>
                <a:cs typeface="Arial"/>
              </a:rPr>
              <a:t> </a:t>
            </a:r>
            <a:r>
              <a:rPr sz="1750" dirty="0">
                <a:latin typeface="Arial"/>
                <a:cs typeface="Arial"/>
              </a:rPr>
              <a:t>a</a:t>
            </a:r>
            <a:r>
              <a:rPr sz="1750" spc="-35" dirty="0">
                <a:latin typeface="Arial"/>
                <a:cs typeface="Arial"/>
              </a:rPr>
              <a:t> </a:t>
            </a:r>
            <a:r>
              <a:rPr sz="1750" dirty="0">
                <a:latin typeface="Arial"/>
                <a:cs typeface="Arial"/>
              </a:rPr>
              <a:t>,</a:t>
            </a:r>
            <a:r>
              <a:rPr sz="1750" spc="-45" dirty="0">
                <a:latin typeface="Arial"/>
                <a:cs typeface="Arial"/>
              </a:rPr>
              <a:t> </a:t>
            </a:r>
            <a:r>
              <a:rPr sz="1750" spc="-25" dirty="0">
                <a:latin typeface="Arial"/>
                <a:cs typeface="Arial"/>
              </a:rPr>
              <a:t>b; </a:t>
            </a:r>
            <a:r>
              <a:rPr sz="1750" dirty="0">
                <a:latin typeface="Arial"/>
                <a:cs typeface="Arial"/>
              </a:rPr>
              <a:t>wire</a:t>
            </a:r>
            <a:r>
              <a:rPr sz="1750" spc="-50" dirty="0">
                <a:latin typeface="Arial"/>
                <a:cs typeface="Arial"/>
              </a:rPr>
              <a:t> </a:t>
            </a:r>
            <a:r>
              <a:rPr sz="1750" dirty="0">
                <a:latin typeface="Arial"/>
                <a:cs typeface="Arial"/>
              </a:rPr>
              <a:t>[7:0]</a:t>
            </a:r>
            <a:r>
              <a:rPr sz="1750" spc="-65" dirty="0">
                <a:latin typeface="Arial"/>
                <a:cs typeface="Arial"/>
              </a:rPr>
              <a:t> </a:t>
            </a:r>
            <a:r>
              <a:rPr sz="1750" spc="-10" dirty="0">
                <a:latin typeface="Arial"/>
                <a:cs typeface="Arial"/>
              </a:rPr>
              <a:t>sum8; </a:t>
            </a:r>
            <a:r>
              <a:rPr sz="1750" dirty="0">
                <a:latin typeface="Arial"/>
                <a:cs typeface="Arial"/>
              </a:rPr>
              <a:t>wire[8:0]</a:t>
            </a:r>
            <a:r>
              <a:rPr sz="1750" spc="-105" dirty="0">
                <a:latin typeface="Arial"/>
                <a:cs typeface="Arial"/>
              </a:rPr>
              <a:t> </a:t>
            </a:r>
            <a:r>
              <a:rPr sz="1750" spc="-10" dirty="0">
                <a:latin typeface="Arial"/>
                <a:cs typeface="Arial"/>
              </a:rPr>
              <a:t>sum9;</a:t>
            </a:r>
            <a:endParaRPr sz="1750">
              <a:latin typeface="Arial"/>
              <a:cs typeface="Arial"/>
            </a:endParaRPr>
          </a:p>
          <a:p>
            <a:pPr marL="12700" marR="5080">
              <a:lnSpc>
                <a:spcPct val="150300"/>
              </a:lnSpc>
            </a:pPr>
            <a:r>
              <a:rPr sz="1750" dirty="0">
                <a:latin typeface="Arial"/>
                <a:cs typeface="Arial"/>
              </a:rPr>
              <a:t>assign</a:t>
            </a:r>
            <a:r>
              <a:rPr sz="1750" spc="-15" dirty="0">
                <a:latin typeface="Arial"/>
                <a:cs typeface="Arial"/>
              </a:rPr>
              <a:t> </a:t>
            </a:r>
            <a:r>
              <a:rPr sz="1750" dirty="0">
                <a:latin typeface="Arial"/>
                <a:cs typeface="Arial"/>
              </a:rPr>
              <a:t>sum8</a:t>
            </a:r>
            <a:r>
              <a:rPr sz="1750" spc="-30" dirty="0">
                <a:latin typeface="Arial"/>
                <a:cs typeface="Arial"/>
              </a:rPr>
              <a:t> </a:t>
            </a:r>
            <a:r>
              <a:rPr sz="1750" dirty="0">
                <a:latin typeface="Arial"/>
                <a:cs typeface="Arial"/>
              </a:rPr>
              <a:t>=</a:t>
            </a:r>
            <a:r>
              <a:rPr sz="1750" spc="-25" dirty="0">
                <a:latin typeface="Arial"/>
                <a:cs typeface="Arial"/>
              </a:rPr>
              <a:t> </a:t>
            </a:r>
            <a:r>
              <a:rPr sz="1750" dirty="0">
                <a:latin typeface="Arial"/>
                <a:cs typeface="Arial"/>
              </a:rPr>
              <a:t>a</a:t>
            </a:r>
            <a:r>
              <a:rPr sz="1750" spc="-30" dirty="0">
                <a:latin typeface="Arial"/>
                <a:cs typeface="Arial"/>
              </a:rPr>
              <a:t> </a:t>
            </a:r>
            <a:r>
              <a:rPr sz="1750" dirty="0">
                <a:latin typeface="Arial"/>
                <a:cs typeface="Arial"/>
              </a:rPr>
              <a:t>+</a:t>
            </a:r>
            <a:r>
              <a:rPr sz="1750" spc="-35" dirty="0">
                <a:latin typeface="Arial"/>
                <a:cs typeface="Arial"/>
              </a:rPr>
              <a:t> </a:t>
            </a:r>
            <a:r>
              <a:rPr sz="1750" spc="-25" dirty="0">
                <a:latin typeface="Arial"/>
                <a:cs typeface="Arial"/>
              </a:rPr>
              <a:t>b; </a:t>
            </a:r>
            <a:r>
              <a:rPr sz="1750" dirty="0">
                <a:latin typeface="Arial"/>
                <a:cs typeface="Arial"/>
              </a:rPr>
              <a:t>assign</a:t>
            </a:r>
            <a:r>
              <a:rPr sz="1750" spc="-15" dirty="0">
                <a:latin typeface="Arial"/>
                <a:cs typeface="Arial"/>
              </a:rPr>
              <a:t> </a:t>
            </a:r>
            <a:r>
              <a:rPr sz="1750" dirty="0">
                <a:latin typeface="Arial"/>
                <a:cs typeface="Arial"/>
              </a:rPr>
              <a:t>sum9</a:t>
            </a:r>
            <a:r>
              <a:rPr sz="1750" spc="-30" dirty="0">
                <a:latin typeface="Arial"/>
                <a:cs typeface="Arial"/>
              </a:rPr>
              <a:t> </a:t>
            </a:r>
            <a:r>
              <a:rPr sz="1750" dirty="0">
                <a:latin typeface="Arial"/>
                <a:cs typeface="Arial"/>
              </a:rPr>
              <a:t>=</a:t>
            </a:r>
            <a:r>
              <a:rPr sz="1750" spc="-25" dirty="0">
                <a:latin typeface="Arial"/>
                <a:cs typeface="Arial"/>
              </a:rPr>
              <a:t> </a:t>
            </a:r>
            <a:r>
              <a:rPr sz="1750" dirty="0">
                <a:latin typeface="Arial"/>
                <a:cs typeface="Arial"/>
              </a:rPr>
              <a:t>a</a:t>
            </a:r>
            <a:r>
              <a:rPr sz="1750" spc="-30" dirty="0">
                <a:latin typeface="Arial"/>
                <a:cs typeface="Arial"/>
              </a:rPr>
              <a:t> </a:t>
            </a:r>
            <a:r>
              <a:rPr sz="1750" dirty="0">
                <a:latin typeface="Arial"/>
                <a:cs typeface="Arial"/>
              </a:rPr>
              <a:t>+</a:t>
            </a:r>
            <a:r>
              <a:rPr sz="1750" spc="-35" dirty="0">
                <a:latin typeface="Arial"/>
                <a:cs typeface="Arial"/>
              </a:rPr>
              <a:t> </a:t>
            </a:r>
            <a:r>
              <a:rPr sz="1750" spc="-25" dirty="0">
                <a:latin typeface="Arial"/>
                <a:cs typeface="Arial"/>
              </a:rPr>
              <a:t>b;</a:t>
            </a:r>
            <a:endParaRPr sz="1750">
              <a:latin typeface="Arial"/>
              <a:cs typeface="Arial"/>
            </a:endParaRPr>
          </a:p>
        </p:txBody>
      </p:sp>
      <p:sp>
        <p:nvSpPr>
          <p:cNvPr id="14" name="object 14"/>
          <p:cNvSpPr/>
          <p:nvPr/>
        </p:nvSpPr>
        <p:spPr>
          <a:xfrm>
            <a:off x="4774577" y="1127760"/>
            <a:ext cx="5862955" cy="1253490"/>
          </a:xfrm>
          <a:custGeom>
            <a:avLst/>
            <a:gdLst/>
            <a:ahLst/>
            <a:cxnLst/>
            <a:rect l="l" t="t" r="r" b="b"/>
            <a:pathLst>
              <a:path w="5862955" h="1253489">
                <a:moveTo>
                  <a:pt x="5862828" y="1251965"/>
                </a:moveTo>
                <a:lnTo>
                  <a:pt x="5862828" y="1523"/>
                </a:lnTo>
                <a:lnTo>
                  <a:pt x="5861304" y="0"/>
                </a:lnTo>
                <a:lnTo>
                  <a:pt x="1523" y="0"/>
                </a:lnTo>
                <a:lnTo>
                  <a:pt x="0" y="1524"/>
                </a:lnTo>
                <a:lnTo>
                  <a:pt x="0" y="1251966"/>
                </a:lnTo>
                <a:lnTo>
                  <a:pt x="1524" y="1253490"/>
                </a:lnTo>
                <a:lnTo>
                  <a:pt x="3809" y="1253490"/>
                </a:lnTo>
                <a:lnTo>
                  <a:pt x="3810" y="8382"/>
                </a:lnTo>
                <a:lnTo>
                  <a:pt x="8382" y="3810"/>
                </a:lnTo>
                <a:lnTo>
                  <a:pt x="8382" y="8382"/>
                </a:lnTo>
                <a:lnTo>
                  <a:pt x="5854446" y="8381"/>
                </a:lnTo>
                <a:lnTo>
                  <a:pt x="5854446" y="3809"/>
                </a:lnTo>
                <a:lnTo>
                  <a:pt x="5859018" y="8381"/>
                </a:lnTo>
                <a:lnTo>
                  <a:pt x="5859018" y="1253489"/>
                </a:lnTo>
                <a:lnTo>
                  <a:pt x="5861304" y="1253489"/>
                </a:lnTo>
                <a:lnTo>
                  <a:pt x="5862828" y="1251965"/>
                </a:lnTo>
                <a:close/>
              </a:path>
              <a:path w="5862955" h="1253489">
                <a:moveTo>
                  <a:pt x="8382" y="8382"/>
                </a:moveTo>
                <a:lnTo>
                  <a:pt x="8382" y="3810"/>
                </a:lnTo>
                <a:lnTo>
                  <a:pt x="3810" y="8382"/>
                </a:lnTo>
                <a:lnTo>
                  <a:pt x="8382" y="8382"/>
                </a:lnTo>
                <a:close/>
              </a:path>
              <a:path w="5862955" h="1253489">
                <a:moveTo>
                  <a:pt x="8382" y="1245108"/>
                </a:moveTo>
                <a:lnTo>
                  <a:pt x="8382" y="8382"/>
                </a:lnTo>
                <a:lnTo>
                  <a:pt x="3810" y="8382"/>
                </a:lnTo>
                <a:lnTo>
                  <a:pt x="3810" y="1245108"/>
                </a:lnTo>
                <a:lnTo>
                  <a:pt x="8382" y="1245108"/>
                </a:lnTo>
                <a:close/>
              </a:path>
              <a:path w="5862955" h="1253489">
                <a:moveTo>
                  <a:pt x="5859018" y="1245107"/>
                </a:moveTo>
                <a:lnTo>
                  <a:pt x="3810" y="1245108"/>
                </a:lnTo>
                <a:lnTo>
                  <a:pt x="8382" y="1249680"/>
                </a:lnTo>
                <a:lnTo>
                  <a:pt x="8381" y="1253490"/>
                </a:lnTo>
                <a:lnTo>
                  <a:pt x="5854446" y="1253489"/>
                </a:lnTo>
                <a:lnTo>
                  <a:pt x="5854446" y="1249679"/>
                </a:lnTo>
                <a:lnTo>
                  <a:pt x="5859018" y="1245107"/>
                </a:lnTo>
                <a:close/>
              </a:path>
              <a:path w="5862955" h="1253489">
                <a:moveTo>
                  <a:pt x="8381" y="1253490"/>
                </a:moveTo>
                <a:lnTo>
                  <a:pt x="8382" y="1249680"/>
                </a:lnTo>
                <a:lnTo>
                  <a:pt x="3810" y="1245108"/>
                </a:lnTo>
                <a:lnTo>
                  <a:pt x="3809" y="1253490"/>
                </a:lnTo>
                <a:lnTo>
                  <a:pt x="8381" y="1253490"/>
                </a:lnTo>
                <a:close/>
              </a:path>
              <a:path w="5862955" h="1253489">
                <a:moveTo>
                  <a:pt x="5859018" y="8381"/>
                </a:moveTo>
                <a:lnTo>
                  <a:pt x="5854446" y="3809"/>
                </a:lnTo>
                <a:lnTo>
                  <a:pt x="5854446" y="8381"/>
                </a:lnTo>
                <a:lnTo>
                  <a:pt x="5859018" y="8381"/>
                </a:lnTo>
                <a:close/>
              </a:path>
              <a:path w="5862955" h="1253489">
                <a:moveTo>
                  <a:pt x="5859018" y="1245107"/>
                </a:moveTo>
                <a:lnTo>
                  <a:pt x="5859018" y="8381"/>
                </a:lnTo>
                <a:lnTo>
                  <a:pt x="5854446" y="8381"/>
                </a:lnTo>
                <a:lnTo>
                  <a:pt x="5854446" y="1245107"/>
                </a:lnTo>
                <a:lnTo>
                  <a:pt x="5859018" y="1245107"/>
                </a:lnTo>
                <a:close/>
              </a:path>
              <a:path w="5862955" h="1253489">
                <a:moveTo>
                  <a:pt x="5859018" y="1253489"/>
                </a:moveTo>
                <a:lnTo>
                  <a:pt x="5859018" y="1245107"/>
                </a:lnTo>
                <a:lnTo>
                  <a:pt x="5854446" y="1249679"/>
                </a:lnTo>
                <a:lnTo>
                  <a:pt x="5854446" y="1253489"/>
                </a:lnTo>
                <a:lnTo>
                  <a:pt x="5859018" y="1253489"/>
                </a:lnTo>
                <a:close/>
              </a:path>
            </a:pathLst>
          </a:custGeom>
          <a:solidFill>
            <a:srgbClr val="FF0000"/>
          </a:solidFill>
        </p:spPr>
        <p:txBody>
          <a:bodyPr wrap="square" lIns="0" tIns="0" rIns="0" bIns="0" rtlCol="0"/>
          <a:lstStyle/>
          <a:p>
            <a:endParaRPr/>
          </a:p>
        </p:txBody>
      </p:sp>
      <p:sp>
        <p:nvSpPr>
          <p:cNvPr id="15" name="object 15"/>
          <p:cNvSpPr txBox="1"/>
          <p:nvPr/>
        </p:nvSpPr>
        <p:spPr>
          <a:xfrm>
            <a:off x="4907413" y="1103928"/>
            <a:ext cx="2508250" cy="1228090"/>
          </a:xfrm>
          <a:prstGeom prst="rect">
            <a:avLst/>
          </a:prstGeom>
        </p:spPr>
        <p:txBody>
          <a:bodyPr vert="horz" wrap="square" lIns="0" tIns="146685" rIns="0" bIns="0" rtlCol="0">
            <a:spAutoFit/>
          </a:bodyPr>
          <a:lstStyle/>
          <a:p>
            <a:pPr marL="12700">
              <a:lnSpc>
                <a:spcPct val="100000"/>
              </a:lnSpc>
              <a:spcBef>
                <a:spcPts val="1155"/>
              </a:spcBef>
            </a:pPr>
            <a:r>
              <a:rPr sz="1750" dirty="0">
                <a:latin typeface="Arial"/>
                <a:cs typeface="Arial"/>
              </a:rPr>
              <a:t>wire</a:t>
            </a:r>
            <a:r>
              <a:rPr sz="1750" spc="430" dirty="0">
                <a:latin typeface="Arial"/>
                <a:cs typeface="Arial"/>
              </a:rPr>
              <a:t> </a:t>
            </a:r>
            <a:r>
              <a:rPr sz="1750" dirty="0">
                <a:latin typeface="Arial"/>
                <a:cs typeface="Arial"/>
              </a:rPr>
              <a:t>[7:0]</a:t>
            </a:r>
            <a:r>
              <a:rPr sz="1750" spc="-35" dirty="0">
                <a:latin typeface="Arial"/>
                <a:cs typeface="Arial"/>
              </a:rPr>
              <a:t> </a:t>
            </a:r>
            <a:r>
              <a:rPr sz="1750" dirty="0">
                <a:latin typeface="Arial"/>
                <a:cs typeface="Arial"/>
              </a:rPr>
              <a:t>a</a:t>
            </a:r>
            <a:r>
              <a:rPr sz="1750" spc="-35" dirty="0">
                <a:latin typeface="Arial"/>
                <a:cs typeface="Arial"/>
              </a:rPr>
              <a:t> </a:t>
            </a:r>
            <a:r>
              <a:rPr sz="1750" dirty="0">
                <a:latin typeface="Arial"/>
                <a:cs typeface="Arial"/>
              </a:rPr>
              <a:t>,</a:t>
            </a:r>
            <a:r>
              <a:rPr sz="1750" spc="-30" dirty="0">
                <a:latin typeface="Arial"/>
                <a:cs typeface="Arial"/>
              </a:rPr>
              <a:t> </a:t>
            </a:r>
            <a:r>
              <a:rPr sz="1750" spc="-25" dirty="0">
                <a:latin typeface="Arial"/>
                <a:cs typeface="Arial"/>
              </a:rPr>
              <a:t>b;</a:t>
            </a:r>
            <a:endParaRPr sz="1750">
              <a:latin typeface="Arial"/>
              <a:cs typeface="Arial"/>
            </a:endParaRPr>
          </a:p>
          <a:p>
            <a:pPr marL="12700" marR="5080">
              <a:lnSpc>
                <a:spcPct val="150300"/>
              </a:lnSpc>
            </a:pPr>
            <a:r>
              <a:rPr sz="1750" dirty="0">
                <a:latin typeface="Arial"/>
                <a:cs typeface="Arial"/>
              </a:rPr>
              <a:t>assign</a:t>
            </a:r>
            <a:r>
              <a:rPr sz="1750" spc="465" dirty="0">
                <a:latin typeface="Arial"/>
                <a:cs typeface="Arial"/>
              </a:rPr>
              <a:t> </a:t>
            </a:r>
            <a:r>
              <a:rPr sz="1750" dirty="0">
                <a:latin typeface="Arial"/>
                <a:cs typeface="Arial"/>
              </a:rPr>
              <a:t>a</a:t>
            </a:r>
            <a:r>
              <a:rPr sz="1750" spc="-15" dirty="0">
                <a:latin typeface="Arial"/>
                <a:cs typeface="Arial"/>
              </a:rPr>
              <a:t> </a:t>
            </a:r>
            <a:r>
              <a:rPr sz="1750" dirty="0">
                <a:latin typeface="Arial"/>
                <a:cs typeface="Arial"/>
              </a:rPr>
              <a:t>=</a:t>
            </a:r>
            <a:r>
              <a:rPr sz="1750" spc="-25" dirty="0">
                <a:latin typeface="Arial"/>
                <a:cs typeface="Arial"/>
              </a:rPr>
              <a:t> </a:t>
            </a:r>
            <a:r>
              <a:rPr sz="1750" spc="-10" dirty="0">
                <a:latin typeface="Arial"/>
                <a:cs typeface="Arial"/>
              </a:rPr>
              <a:t>8'b00000000; </a:t>
            </a:r>
            <a:r>
              <a:rPr sz="1750" dirty="0">
                <a:latin typeface="Arial"/>
                <a:cs typeface="Arial"/>
              </a:rPr>
              <a:t>assign</a:t>
            </a:r>
            <a:r>
              <a:rPr sz="1750" spc="-20" dirty="0">
                <a:latin typeface="Arial"/>
                <a:cs typeface="Arial"/>
              </a:rPr>
              <a:t> </a:t>
            </a:r>
            <a:r>
              <a:rPr sz="1750" dirty="0">
                <a:latin typeface="Arial"/>
                <a:cs typeface="Arial"/>
              </a:rPr>
              <a:t>b</a:t>
            </a:r>
            <a:r>
              <a:rPr sz="1750" spc="-20" dirty="0">
                <a:latin typeface="Arial"/>
                <a:cs typeface="Arial"/>
              </a:rPr>
              <a:t> </a:t>
            </a:r>
            <a:r>
              <a:rPr sz="1750" dirty="0">
                <a:latin typeface="Arial"/>
                <a:cs typeface="Arial"/>
              </a:rPr>
              <a:t>=</a:t>
            </a:r>
            <a:r>
              <a:rPr sz="1750" spc="-25" dirty="0">
                <a:latin typeface="Arial"/>
                <a:cs typeface="Arial"/>
              </a:rPr>
              <a:t> 0;</a:t>
            </a:r>
            <a:endParaRPr sz="1750">
              <a:latin typeface="Arial"/>
              <a:cs typeface="Arial"/>
            </a:endParaRPr>
          </a:p>
        </p:txBody>
      </p:sp>
      <p:sp>
        <p:nvSpPr>
          <p:cNvPr id="16" name="object 16"/>
          <p:cNvSpPr txBox="1">
            <a:spLocks noGrp="1"/>
          </p:cNvSpPr>
          <p:nvPr>
            <p:ph type="ftr" sz="quarter" idx="5"/>
          </p:nvPr>
        </p:nvSpPr>
        <p:spPr>
          <a:prstGeom prst="rect">
            <a:avLst/>
          </a:prstGeom>
        </p:spPr>
        <p:txBody>
          <a:bodyPr vert="horz" wrap="square" lIns="0" tIns="23495" rIns="0" bIns="0" rtlCol="0">
            <a:spAutoFit/>
          </a:bodyPr>
          <a:lstStyle/>
          <a:p>
            <a:pPr marL="13335">
              <a:lnSpc>
                <a:spcPct val="100000"/>
              </a:lnSpc>
              <a:spcBef>
                <a:spcPts val="185"/>
              </a:spcBef>
            </a:pPr>
            <a:r>
              <a:rPr dirty="0"/>
              <a:t>Xilinx</a:t>
            </a:r>
            <a:r>
              <a:rPr spc="-5" dirty="0"/>
              <a:t> 大学合作部 </a:t>
            </a:r>
            <a:r>
              <a:rPr dirty="0"/>
              <a:t>&amp;</a:t>
            </a:r>
            <a:r>
              <a:rPr spc="-10" dirty="0"/>
              <a:t> 东南大学</a:t>
            </a:r>
          </a:p>
        </p:txBody>
      </p:sp>
      <p:sp>
        <p:nvSpPr>
          <p:cNvPr id="17" name="object 17"/>
          <p:cNvSpPr txBox="1">
            <a:spLocks noGrp="1"/>
          </p:cNvSpPr>
          <p:nvPr>
            <p:ph type="sldNum" sz="quarter" idx="7"/>
          </p:nvPr>
        </p:nvSpPr>
        <p:spPr>
          <a:prstGeom prst="rect">
            <a:avLst/>
          </a:prstGeom>
        </p:spPr>
        <p:txBody>
          <a:bodyPr vert="horz" wrap="square" lIns="0" tIns="4445" rIns="0" bIns="0" rtlCol="0">
            <a:spAutoFit/>
          </a:bodyPr>
          <a:lstStyle/>
          <a:p>
            <a:pPr marL="38735">
              <a:lnSpc>
                <a:spcPct val="100000"/>
              </a:lnSpc>
              <a:spcBef>
                <a:spcPts val="35"/>
              </a:spcBef>
            </a:pPr>
            <a:fld id="{81D60167-4931-47E6-BA6A-407CBD079E47}" type="slidenum">
              <a:rPr spc="-25" dirty="0"/>
              <a:t>33</a:t>
            </a:fld>
            <a:endParaRPr spc="-25" dirty="0"/>
          </a:p>
        </p:txBody>
      </p:sp>
      <p:sp>
        <p:nvSpPr>
          <p:cNvPr id="18" name="object 3">
            <a:extLst>
              <a:ext uri="{FF2B5EF4-FFF2-40B4-BE49-F238E27FC236}">
                <a16:creationId xmlns:a16="http://schemas.microsoft.com/office/drawing/2014/main" id="{34CD69C4-4F6D-5765-AA96-B60C419F5941}"/>
              </a:ext>
            </a:extLst>
          </p:cNvPr>
          <p:cNvSpPr txBox="1">
            <a:spLocks/>
          </p:cNvSpPr>
          <p:nvPr/>
        </p:nvSpPr>
        <p:spPr>
          <a:xfrm>
            <a:off x="241300" y="200025"/>
            <a:ext cx="7288905" cy="524503"/>
          </a:xfrm>
          <a:prstGeom prst="rect">
            <a:avLst/>
          </a:prstGeom>
        </p:spPr>
        <p:txBody>
          <a:bodyPr vert="horz" wrap="square" lIns="0" tIns="16510" rIns="0" bIns="0" rtlCol="0">
            <a:spAutoFit/>
          </a:bodyPr>
          <a:lstStyle>
            <a:lvl1pPr>
              <a:defRPr sz="2800" b="0" i="0">
                <a:solidFill>
                  <a:srgbClr val="3F3F3F"/>
                </a:solidFill>
                <a:latin typeface="Calibri"/>
                <a:ea typeface="+mj-ea"/>
                <a:cs typeface="Calibri"/>
              </a:defRPr>
            </a:lvl1pPr>
          </a:lstStyle>
          <a:p>
            <a:pPr marL="12700">
              <a:spcBef>
                <a:spcPts val="130"/>
              </a:spcBef>
            </a:pPr>
            <a:r>
              <a:rPr lang="zh-CN" altLang="en-US" sz="3300" b="1" spc="-15" dirty="0">
                <a:solidFill>
                  <a:srgbClr val="000000"/>
                </a:solidFill>
                <a:latin typeface="宋体"/>
                <a:cs typeface="宋体"/>
              </a:rPr>
              <a:t>表达式位宽调整</a:t>
            </a:r>
            <a:endParaRPr lang="zh-CN" altLang="en-US" sz="3300" dirty="0">
              <a:latin typeface="宋体"/>
              <a:cs typeface="宋体"/>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491619" y="2999719"/>
            <a:ext cx="3326181" cy="1562926"/>
          </a:xfrm>
          <a:prstGeom prst="rect">
            <a:avLst/>
          </a:prstGeom>
        </p:spPr>
      </p:pic>
      <p:sp>
        <p:nvSpPr>
          <p:cNvPr id="3" name="object 3"/>
          <p:cNvSpPr txBox="1"/>
          <p:nvPr/>
        </p:nvSpPr>
        <p:spPr>
          <a:xfrm>
            <a:off x="6317875" y="4695697"/>
            <a:ext cx="1723389" cy="292735"/>
          </a:xfrm>
          <a:prstGeom prst="rect">
            <a:avLst/>
          </a:prstGeom>
        </p:spPr>
        <p:txBody>
          <a:bodyPr vert="horz" wrap="square" lIns="0" tIns="12700" rIns="0" bIns="0" rtlCol="0">
            <a:spAutoFit/>
          </a:bodyPr>
          <a:lstStyle/>
          <a:p>
            <a:pPr marL="12700">
              <a:lnSpc>
                <a:spcPct val="100000"/>
              </a:lnSpc>
              <a:spcBef>
                <a:spcPts val="100"/>
              </a:spcBef>
            </a:pPr>
            <a:r>
              <a:rPr sz="1750" b="1" spc="-10" dirty="0">
                <a:solidFill>
                  <a:srgbClr val="3E3E3E"/>
                </a:solidFill>
                <a:latin typeface="Arial"/>
                <a:cs typeface="Arial"/>
                <a:hlinkClick r:id="rId3"/>
              </a:rPr>
              <a:t>xup@xilinx.com</a:t>
            </a:r>
            <a:endParaRPr sz="1750">
              <a:latin typeface="Arial"/>
              <a:cs typeface="Arial"/>
            </a:endParaRPr>
          </a:p>
        </p:txBody>
      </p:sp>
      <p:pic>
        <p:nvPicPr>
          <p:cNvPr id="4" name="object 4"/>
          <p:cNvPicPr/>
          <p:nvPr/>
        </p:nvPicPr>
        <p:blipFill>
          <a:blip r:embed="rId4" cstate="print"/>
          <a:stretch>
            <a:fillRect/>
          </a:stretch>
        </p:blipFill>
        <p:spPr>
          <a:xfrm>
            <a:off x="1775345" y="2769870"/>
            <a:ext cx="1887473" cy="1900427"/>
          </a:xfrm>
          <a:prstGeom prst="rect">
            <a:avLst/>
          </a:prstGeom>
        </p:spPr>
      </p:pic>
      <p:sp>
        <p:nvSpPr>
          <p:cNvPr id="5" name="object 5"/>
          <p:cNvSpPr txBox="1">
            <a:spLocks noGrp="1"/>
          </p:cNvSpPr>
          <p:nvPr>
            <p:ph type="ftr" sz="quarter" idx="5"/>
          </p:nvPr>
        </p:nvSpPr>
        <p:spPr>
          <a:prstGeom prst="rect">
            <a:avLst/>
          </a:prstGeom>
        </p:spPr>
        <p:txBody>
          <a:bodyPr vert="horz" wrap="square" lIns="0" tIns="23495" rIns="0" bIns="0" rtlCol="0">
            <a:spAutoFit/>
          </a:bodyPr>
          <a:lstStyle/>
          <a:p>
            <a:pPr marL="13335">
              <a:lnSpc>
                <a:spcPct val="100000"/>
              </a:lnSpc>
              <a:spcBef>
                <a:spcPts val="185"/>
              </a:spcBef>
            </a:pPr>
            <a:r>
              <a:rPr dirty="0"/>
              <a:t>Xilinx</a:t>
            </a:r>
            <a:r>
              <a:rPr spc="-5" dirty="0"/>
              <a:t> 大学合作部 </a:t>
            </a:r>
            <a:r>
              <a:rPr dirty="0"/>
              <a:t>&amp;</a:t>
            </a:r>
            <a:r>
              <a:rPr spc="-10" dirty="0"/>
              <a:t> 东南大学</a:t>
            </a:r>
          </a:p>
        </p:txBody>
      </p:sp>
      <p:sp>
        <p:nvSpPr>
          <p:cNvPr id="6" name="object 6"/>
          <p:cNvSpPr txBox="1">
            <a:spLocks noGrp="1"/>
          </p:cNvSpPr>
          <p:nvPr>
            <p:ph type="sldNum" sz="quarter" idx="7"/>
          </p:nvPr>
        </p:nvSpPr>
        <p:spPr>
          <a:prstGeom prst="rect">
            <a:avLst/>
          </a:prstGeom>
        </p:spPr>
        <p:txBody>
          <a:bodyPr vert="horz" wrap="square" lIns="0" tIns="4445" rIns="0" bIns="0" rtlCol="0">
            <a:spAutoFit/>
          </a:bodyPr>
          <a:lstStyle/>
          <a:p>
            <a:pPr marL="38735">
              <a:lnSpc>
                <a:spcPct val="100000"/>
              </a:lnSpc>
              <a:spcBef>
                <a:spcPts val="35"/>
              </a:spcBef>
            </a:pPr>
            <a:fld id="{81D60167-4931-47E6-BA6A-407CBD079E47}" type="slidenum">
              <a:rPr spc="-25" dirty="0"/>
              <a:t>34</a:t>
            </a:fld>
            <a:endParaRPr spc="-2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3E3E3E"/>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1908</TotalTime>
  <Words>4447</Words>
  <Application>Microsoft Office PowerPoint</Application>
  <PresentationFormat>自定义</PresentationFormat>
  <Paragraphs>584</Paragraphs>
  <Slides>34</Slides>
  <Notes>14</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34</vt:i4>
      </vt:variant>
    </vt:vector>
  </HeadingPairs>
  <TitlesOfParts>
    <vt:vector size="44" baseType="lpstr">
      <vt:lpstr>等线</vt:lpstr>
      <vt:lpstr>黑体</vt:lpstr>
      <vt:lpstr>宋体</vt:lpstr>
      <vt:lpstr>微软雅黑</vt:lpstr>
      <vt:lpstr>Arial</vt:lpstr>
      <vt:lpstr>Calibri</vt:lpstr>
      <vt:lpstr>Tahoma</vt:lpstr>
      <vt:lpstr>Times New Roman</vt:lpstr>
      <vt:lpstr>Wingdings</vt:lpstr>
      <vt:lpstr>Office Theme</vt:lpstr>
      <vt:lpstr>搭建你的数字积木</vt:lpstr>
      <vt:lpstr>Verilog HDL基础</vt:lpstr>
      <vt:lpstr>主要内容</vt:lpstr>
      <vt:lpstr>Verilog的基本设计单元——模块</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整数型常量——指定位宽的基数格式: &lt;位宽&gt;’&lt;进制&gt;&lt;数字&gt;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位拼接运算｛｝，将多个有确定位宽的操作数拼接在一起，组成一个操作数</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Microsoft PowerPoint - 1.Verilog HDL基础.pptx</dc:title>
  <dc:creator>zhang</dc:creator>
  <cp:lastModifiedBy>Tianyi Chen</cp:lastModifiedBy>
  <cp:revision>115</cp:revision>
  <dcterms:created xsi:type="dcterms:W3CDTF">2024-08-19T07:24:51Z</dcterms:created>
  <dcterms:modified xsi:type="dcterms:W3CDTF">2026-08-07T01:30:05Z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2024-06-28T00:00:00Z</vt:filetime>
  </property>
  <property fmtid="{D5CDD505-2E9C-101B-9397-08002B2CF9AE}" pid="3" name="Creator">
    <vt:lpwstr>PScript5.dll Version 5.2.2</vt:lpwstr>
  </property>
  <property fmtid="{D5CDD505-2E9C-101B-9397-08002B2CF9AE}" pid="4" name="LastSaved">
    <vt:filetime>2024-08-19T00:00:00Z</vt:filetime>
  </property>
  <property fmtid="{D5CDD505-2E9C-101B-9397-08002B2CF9AE}" pid="5" name="Producer">
    <vt:lpwstr>Acrobat Distiller 23.0 (Windows)</vt:lpwstr>
  </property>
</Properties>
</file>